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14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513795-02FA-4846-A377-7C714B141FB9}">
  <a:tblStyle styleId="{CE513795-02FA-4846-A377-7C714B141F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14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320adbb1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320adbb1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9320adbb1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320adbb1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1ea4a62ccc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1ea4a62ccc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9320adbb1a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9320adbb1a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9320adbb1a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9320adbb1a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9320adbb1a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9320adbb1a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29320adbb1a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29320adbb1a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9320adbb1a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9320adbb1a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9320adbb1a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9320adbb1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9320adbb1a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9320adbb1a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9320adbb1a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9320adbb1a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9320adbb1a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9320adbb1a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9320adbb1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9320adbb1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9320adbb1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9320adbb1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9320adbb1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9320adbb1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9320adbb1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29320adbb1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9320adbb1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9320adbb1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9320adbb1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9320adbb1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29320adbb1a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9320adbb1a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9320adbb1a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9320adbb1a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9320adbb1a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9320adbb1a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9320adbb1a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29320adbb1a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ea5f94dda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ea5f94dda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2939f1572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939f1572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9320adbb1a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9320adbb1a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9320adbb1a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9320adbb1a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1ea5f94dda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1ea5f94dda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1ea5f94dda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1ea5f94dda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2939f15723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2939f15723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2939f15723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2939f15723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934588fc8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934588fc8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2934588fc8d_3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2934588fc8d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2934588fc8d_3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934588fc8d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2934588fc8d_3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2934588fc8d_3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2934588fc8d_3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2934588fc8d_3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2934588fc8d_3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2934588fc8d_3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2934588fc8d_3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2934588fc8d_3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32.png"/><Relationship Id="rId4" Type="http://schemas.openxmlformats.org/officeDocument/2006/relationships/image" Target="../media/image84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84.png"/><Relationship Id="rId4" Type="http://schemas.openxmlformats.org/officeDocument/2006/relationships/image" Target="../media/image24.png"/><Relationship Id="rId9" Type="http://schemas.openxmlformats.org/officeDocument/2006/relationships/image" Target="../media/image15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84.png"/><Relationship Id="rId4" Type="http://schemas.openxmlformats.org/officeDocument/2006/relationships/image" Target="../media/image27.png"/><Relationship Id="rId11" Type="http://schemas.openxmlformats.org/officeDocument/2006/relationships/image" Target="../media/image15.png"/><Relationship Id="rId10" Type="http://schemas.openxmlformats.org/officeDocument/2006/relationships/image" Target="../media/image39.png"/><Relationship Id="rId9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Relationship Id="rId4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Relationship Id="rId5" Type="http://schemas.openxmlformats.org/officeDocument/2006/relationships/image" Target="../media/image50.png"/><Relationship Id="rId6" Type="http://schemas.openxmlformats.org/officeDocument/2006/relationships/image" Target="../media/image55.png"/><Relationship Id="rId7" Type="http://schemas.openxmlformats.org/officeDocument/2006/relationships/image" Target="../media/image57.png"/><Relationship Id="rId8" Type="http://schemas.openxmlformats.org/officeDocument/2006/relationships/image" Target="../media/image54.png"/><Relationship Id="rId11" Type="http://schemas.openxmlformats.org/officeDocument/2006/relationships/image" Target="../media/image58.png"/><Relationship Id="rId10" Type="http://schemas.openxmlformats.org/officeDocument/2006/relationships/image" Target="../media/image51.png"/><Relationship Id="rId12" Type="http://schemas.openxmlformats.org/officeDocument/2006/relationships/image" Target="../media/image5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Relationship Id="rId5" Type="http://schemas.openxmlformats.org/officeDocument/2006/relationships/image" Target="../media/image50.png"/><Relationship Id="rId6" Type="http://schemas.openxmlformats.org/officeDocument/2006/relationships/image" Target="../media/image55.png"/><Relationship Id="rId7" Type="http://schemas.openxmlformats.org/officeDocument/2006/relationships/image" Target="../media/image57.png"/><Relationship Id="rId8" Type="http://schemas.openxmlformats.org/officeDocument/2006/relationships/image" Target="../media/image54.png"/><Relationship Id="rId11" Type="http://schemas.openxmlformats.org/officeDocument/2006/relationships/image" Target="../media/image58.png"/><Relationship Id="rId10" Type="http://schemas.openxmlformats.org/officeDocument/2006/relationships/image" Target="../media/image51.png"/><Relationship Id="rId12" Type="http://schemas.openxmlformats.org/officeDocument/2006/relationships/image" Target="../media/image5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Relationship Id="rId5" Type="http://schemas.openxmlformats.org/officeDocument/2006/relationships/image" Target="../media/image50.png"/><Relationship Id="rId6" Type="http://schemas.openxmlformats.org/officeDocument/2006/relationships/image" Target="../media/image55.png"/><Relationship Id="rId7" Type="http://schemas.openxmlformats.org/officeDocument/2006/relationships/image" Target="../media/image57.png"/><Relationship Id="rId8" Type="http://schemas.openxmlformats.org/officeDocument/2006/relationships/image" Target="../media/image54.png"/><Relationship Id="rId11" Type="http://schemas.openxmlformats.org/officeDocument/2006/relationships/image" Target="../media/image58.png"/><Relationship Id="rId10" Type="http://schemas.openxmlformats.org/officeDocument/2006/relationships/image" Target="../media/image51.png"/><Relationship Id="rId12" Type="http://schemas.openxmlformats.org/officeDocument/2006/relationships/image" Target="../media/image5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Relationship Id="rId5" Type="http://schemas.openxmlformats.org/officeDocument/2006/relationships/image" Target="../media/image50.png"/><Relationship Id="rId6" Type="http://schemas.openxmlformats.org/officeDocument/2006/relationships/image" Target="../media/image55.png"/><Relationship Id="rId7" Type="http://schemas.openxmlformats.org/officeDocument/2006/relationships/image" Target="../media/image57.png"/><Relationship Id="rId8" Type="http://schemas.openxmlformats.org/officeDocument/2006/relationships/image" Target="../media/image54.png"/><Relationship Id="rId11" Type="http://schemas.openxmlformats.org/officeDocument/2006/relationships/image" Target="../media/image58.png"/><Relationship Id="rId10" Type="http://schemas.openxmlformats.org/officeDocument/2006/relationships/image" Target="../media/image51.png"/><Relationship Id="rId12" Type="http://schemas.openxmlformats.org/officeDocument/2006/relationships/image" Target="../media/image5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5.png"/><Relationship Id="rId4" Type="http://schemas.openxmlformats.org/officeDocument/2006/relationships/image" Target="../media/image48.png"/><Relationship Id="rId5" Type="http://schemas.openxmlformats.org/officeDocument/2006/relationships/image" Target="../media/image5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5.png"/><Relationship Id="rId4" Type="http://schemas.openxmlformats.org/officeDocument/2006/relationships/image" Target="../media/image48.png"/><Relationship Id="rId5" Type="http://schemas.openxmlformats.org/officeDocument/2006/relationships/image" Target="../media/image5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46.png"/><Relationship Id="rId5" Type="http://schemas.openxmlformats.org/officeDocument/2006/relationships/image" Target="../media/image60.png"/><Relationship Id="rId6" Type="http://schemas.openxmlformats.org/officeDocument/2006/relationships/image" Target="../media/image63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6.png"/><Relationship Id="rId4" Type="http://schemas.openxmlformats.org/officeDocument/2006/relationships/image" Target="../media/image64.png"/><Relationship Id="rId5" Type="http://schemas.openxmlformats.org/officeDocument/2006/relationships/image" Target="../media/image68.png"/><Relationship Id="rId6" Type="http://schemas.openxmlformats.org/officeDocument/2006/relationships/image" Target="../media/image67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Relationship Id="rId4" Type="http://schemas.openxmlformats.org/officeDocument/2006/relationships/image" Target="../media/image67.png"/><Relationship Id="rId9" Type="http://schemas.openxmlformats.org/officeDocument/2006/relationships/image" Target="../media/image76.png"/><Relationship Id="rId5" Type="http://schemas.openxmlformats.org/officeDocument/2006/relationships/image" Target="../media/image73.png"/><Relationship Id="rId6" Type="http://schemas.openxmlformats.org/officeDocument/2006/relationships/image" Target="../media/image75.png"/><Relationship Id="rId7" Type="http://schemas.openxmlformats.org/officeDocument/2006/relationships/image" Target="../media/image74.png"/><Relationship Id="rId8" Type="http://schemas.openxmlformats.org/officeDocument/2006/relationships/image" Target="../media/image7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9.png"/><Relationship Id="rId4" Type="http://schemas.openxmlformats.org/officeDocument/2006/relationships/image" Target="../media/image6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77.png"/><Relationship Id="rId6" Type="http://schemas.openxmlformats.org/officeDocument/2006/relationships/image" Target="../media/image4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5.png"/><Relationship Id="rId4" Type="http://schemas.openxmlformats.org/officeDocument/2006/relationships/image" Target="../media/image48.png"/><Relationship Id="rId5" Type="http://schemas.openxmlformats.org/officeDocument/2006/relationships/image" Target="../media/image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5.png"/><Relationship Id="rId4" Type="http://schemas.openxmlformats.org/officeDocument/2006/relationships/image" Target="../media/image48.png"/><Relationship Id="rId5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sequences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 can appreciate the structure of patterns and sequences.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sequence</a:t>
            </a:r>
            <a:r>
              <a:rPr lang="en-GB"/>
              <a:t> is a succession of </a:t>
            </a:r>
            <a:r>
              <a:rPr lang="en-GB"/>
              <a:t>objects</a:t>
            </a:r>
            <a:r>
              <a:rPr lang="en-GB"/>
              <a:t>, diagrams or values </a:t>
            </a:r>
            <a:r>
              <a:rPr lang="en-GB"/>
              <a:t>usually</a:t>
            </a:r>
            <a:r>
              <a:rPr lang="en-GB"/>
              <a:t> formed according to a rule.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</a:t>
            </a:r>
            <a:r>
              <a:rPr lang="en-GB"/>
              <a:t> with a constant additive pattern</a:t>
            </a:r>
            <a:endParaRPr/>
          </a:p>
        </p:txBody>
      </p:sp>
      <p:sp>
        <p:nvSpPr>
          <p:cNvPr id="772" name="Google Shape;772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Sequences with a constant multiplicative pattern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</a:t>
            </a:r>
            <a:r>
              <a:rPr lang="en-GB"/>
              <a:t>sequences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constant additive pattern</a:t>
            </a:r>
            <a:endParaRPr/>
          </a:p>
        </p:txBody>
      </p:sp>
      <p:sp>
        <p:nvSpPr>
          <p:cNvPr id="780" name="Google Shape;780;p6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</a:t>
            </a:r>
            <a:r>
              <a:rPr b="1" lang="en-GB" sz="2000"/>
              <a:t>sequence</a:t>
            </a:r>
            <a:r>
              <a:rPr lang="en-GB" sz="2000"/>
              <a:t> is a succession of objects, diagrams or values usually formed according to a rule.</a:t>
            </a:r>
            <a:endParaRPr sz="2000"/>
          </a:p>
        </p:txBody>
      </p:sp>
      <p:sp>
        <p:nvSpPr>
          <p:cNvPr id="781" name="Google Shape;781;p69"/>
          <p:cNvSpPr txBox="1"/>
          <p:nvPr>
            <p:ph idx="1" type="body"/>
          </p:nvPr>
        </p:nvSpPr>
        <p:spPr>
          <a:xfrm>
            <a:off x="324000" y="167455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Below is a </a:t>
            </a:r>
            <a:r>
              <a:rPr b="1" lang="en-GB" sz="2000"/>
              <a:t>sequence</a:t>
            </a:r>
            <a:r>
              <a:rPr lang="en-GB" sz="2000"/>
              <a:t> of numbers.  What do you notice about this </a:t>
            </a:r>
            <a:r>
              <a:rPr b="1" lang="en-GB" sz="2000"/>
              <a:t>sequence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2700000"/>
            <a:ext cx="8237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3, 6, 9, 12, …</a:t>
            </a:r>
            <a:endParaRPr sz="2400"/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24000" y="3510000"/>
            <a:ext cx="8237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you add 3 on to the previous number, you get the next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84" name="Google Shape;784;p69"/>
          <p:cNvSpPr txBox="1"/>
          <p:nvPr>
            <p:ph idx="1" type="body"/>
          </p:nvPr>
        </p:nvSpPr>
        <p:spPr>
          <a:xfrm>
            <a:off x="324000" y="4134275"/>
            <a:ext cx="8237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noticed that this is the beginning of the 3 times table.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sp>
        <p:nvSpPr>
          <p:cNvPr id="790" name="Google Shape;790;p7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Here is a section of the 2 times table on a number line. </a:t>
            </a:r>
            <a:endParaRPr sz="2000"/>
          </a:p>
        </p:txBody>
      </p:sp>
      <p:graphicFrame>
        <p:nvGraphicFramePr>
          <p:cNvPr id="791" name="Google Shape;791;p70"/>
          <p:cNvGraphicFramePr/>
          <p:nvPr/>
        </p:nvGraphicFramePr>
        <p:xfrm>
          <a:off x="674125" y="21475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{CE513795-02FA-4846-A377-7C714B141FB9}</a:tableStyleId>
              </a:tblPr>
              <a:tblGrid>
                <a:gridCol w="779575"/>
                <a:gridCol w="779575"/>
                <a:gridCol w="779575"/>
                <a:gridCol w="779575"/>
                <a:gridCol w="779575"/>
                <a:gridCol w="779575"/>
                <a:gridCol w="779575"/>
                <a:gridCol w="779575"/>
                <a:gridCol w="779575"/>
                <a:gridCol w="779575"/>
              </a:tblGrid>
              <a:tr h="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2" name="Google Shape;792;p70"/>
          <p:cNvSpPr txBox="1"/>
          <p:nvPr>
            <p:ph idx="1" type="body"/>
          </p:nvPr>
        </p:nvSpPr>
        <p:spPr>
          <a:xfrm>
            <a:off x="3665110" y="1879838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36</a:t>
            </a:r>
            <a:endParaRPr sz="2000"/>
          </a:p>
        </p:txBody>
      </p:sp>
      <p:sp>
        <p:nvSpPr>
          <p:cNvPr id="793" name="Google Shape;793;p70"/>
          <p:cNvSpPr txBox="1"/>
          <p:nvPr>
            <p:ph idx="1" type="body"/>
          </p:nvPr>
        </p:nvSpPr>
        <p:spPr>
          <a:xfrm>
            <a:off x="5213397" y="1879838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38</a:t>
            </a:r>
            <a:endParaRPr sz="2000"/>
          </a:p>
        </p:txBody>
      </p:sp>
      <p:sp>
        <p:nvSpPr>
          <p:cNvPr id="794" name="Google Shape;794;p70"/>
          <p:cNvSpPr txBox="1"/>
          <p:nvPr>
            <p:ph idx="1" type="body"/>
          </p:nvPr>
        </p:nvSpPr>
        <p:spPr>
          <a:xfrm>
            <a:off x="6765185" y="1879838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40</a:t>
            </a:r>
            <a:endParaRPr sz="2000"/>
          </a:p>
        </p:txBody>
      </p:sp>
      <p:sp>
        <p:nvSpPr>
          <p:cNvPr id="795" name="Google Shape;795;p70"/>
          <p:cNvSpPr txBox="1"/>
          <p:nvPr>
            <p:ph idx="1" type="body"/>
          </p:nvPr>
        </p:nvSpPr>
        <p:spPr>
          <a:xfrm>
            <a:off x="2116822" y="1879838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34</a:t>
            </a:r>
            <a:endParaRPr sz="2000"/>
          </a:p>
        </p:txBody>
      </p:sp>
      <p:sp>
        <p:nvSpPr>
          <p:cNvPr id="796" name="Google Shape;796;p70"/>
          <p:cNvSpPr/>
          <p:nvPr/>
        </p:nvSpPr>
        <p:spPr>
          <a:xfrm>
            <a:off x="8301440" y="1848600"/>
            <a:ext cx="360000" cy="32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70"/>
          <p:cNvSpPr txBox="1"/>
          <p:nvPr>
            <p:ph idx="1" type="body"/>
          </p:nvPr>
        </p:nvSpPr>
        <p:spPr>
          <a:xfrm>
            <a:off x="324000" y="3681700"/>
            <a:ext cx="82377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you calculate the missing value after 40?</a:t>
            </a:r>
            <a:endParaRPr sz="2000"/>
          </a:p>
        </p:txBody>
      </p:sp>
      <p:pic>
        <p:nvPicPr>
          <p:cNvPr id="798" name="Google Shape;798;p7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2010126" y="1344750"/>
            <a:ext cx="1961548" cy="570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7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3551989" y="1344750"/>
            <a:ext cx="1961548" cy="570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7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5096414" y="1344750"/>
            <a:ext cx="1961548" cy="570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7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6632589" y="1344750"/>
            <a:ext cx="1961548" cy="570523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70"/>
          <p:cNvSpPr/>
          <p:nvPr/>
        </p:nvSpPr>
        <p:spPr>
          <a:xfrm>
            <a:off x="534115" y="1848600"/>
            <a:ext cx="360000" cy="324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3" name="Google Shape;803;p7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rot="10800000">
            <a:off x="5190790" y="2577213"/>
            <a:ext cx="1961548" cy="570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7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rot="10800000">
            <a:off x="3646365" y="2577213"/>
            <a:ext cx="1961548" cy="570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7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rot="10800000">
            <a:off x="2104503" y="2577213"/>
            <a:ext cx="1961548" cy="570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rot="10800000">
            <a:off x="565585" y="2577213"/>
            <a:ext cx="1961548" cy="570523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0"/>
          <p:cNvSpPr txBox="1"/>
          <p:nvPr>
            <p:ph idx="1" type="body"/>
          </p:nvPr>
        </p:nvSpPr>
        <p:spPr>
          <a:xfrm>
            <a:off x="2851197" y="1112711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+2</a:t>
            </a:r>
            <a:endParaRPr sz="2000"/>
          </a:p>
        </p:txBody>
      </p:sp>
      <p:sp>
        <p:nvSpPr>
          <p:cNvPr id="808" name="Google Shape;808;p70"/>
          <p:cNvSpPr txBox="1"/>
          <p:nvPr>
            <p:ph idx="1" type="body"/>
          </p:nvPr>
        </p:nvSpPr>
        <p:spPr>
          <a:xfrm>
            <a:off x="4384647" y="1112711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+2</a:t>
            </a:r>
            <a:endParaRPr sz="2000"/>
          </a:p>
        </p:txBody>
      </p:sp>
      <p:sp>
        <p:nvSpPr>
          <p:cNvPr id="809" name="Google Shape;809;p70"/>
          <p:cNvSpPr txBox="1"/>
          <p:nvPr>
            <p:ph idx="1" type="body"/>
          </p:nvPr>
        </p:nvSpPr>
        <p:spPr>
          <a:xfrm>
            <a:off x="5918097" y="1112711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+2</a:t>
            </a:r>
            <a:endParaRPr sz="2000"/>
          </a:p>
        </p:txBody>
      </p:sp>
      <p:sp>
        <p:nvSpPr>
          <p:cNvPr id="810" name="Google Shape;810;p70"/>
          <p:cNvSpPr txBox="1"/>
          <p:nvPr>
            <p:ph idx="1" type="body"/>
          </p:nvPr>
        </p:nvSpPr>
        <p:spPr>
          <a:xfrm>
            <a:off x="7501872" y="1112711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+2</a:t>
            </a:r>
            <a:endParaRPr sz="2000"/>
          </a:p>
        </p:txBody>
      </p:sp>
      <p:sp>
        <p:nvSpPr>
          <p:cNvPr id="811" name="Google Shape;811;p70"/>
          <p:cNvSpPr txBox="1"/>
          <p:nvPr>
            <p:ph idx="1" type="body"/>
          </p:nvPr>
        </p:nvSpPr>
        <p:spPr>
          <a:xfrm>
            <a:off x="5918097" y="3097211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−</a:t>
            </a:r>
            <a:r>
              <a:rPr lang="en-GB" sz="2000"/>
              <a:t>2</a:t>
            </a:r>
            <a:endParaRPr sz="2000"/>
          </a:p>
        </p:txBody>
      </p:sp>
      <p:sp>
        <p:nvSpPr>
          <p:cNvPr id="812" name="Google Shape;812;p70"/>
          <p:cNvSpPr txBox="1"/>
          <p:nvPr>
            <p:ph idx="1" type="body"/>
          </p:nvPr>
        </p:nvSpPr>
        <p:spPr>
          <a:xfrm>
            <a:off x="4384647" y="3097211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−</a:t>
            </a:r>
            <a:r>
              <a:rPr lang="en-GB" sz="2000"/>
              <a:t>2</a:t>
            </a:r>
            <a:endParaRPr sz="2000"/>
          </a:p>
        </p:txBody>
      </p:sp>
      <p:sp>
        <p:nvSpPr>
          <p:cNvPr id="813" name="Google Shape;813;p70"/>
          <p:cNvSpPr txBox="1"/>
          <p:nvPr>
            <p:ph idx="1" type="body"/>
          </p:nvPr>
        </p:nvSpPr>
        <p:spPr>
          <a:xfrm>
            <a:off x="2803547" y="3097211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−</a:t>
            </a:r>
            <a:r>
              <a:rPr lang="en-GB" sz="2000"/>
              <a:t>2</a:t>
            </a:r>
            <a:endParaRPr sz="2000"/>
          </a:p>
        </p:txBody>
      </p:sp>
      <p:sp>
        <p:nvSpPr>
          <p:cNvPr id="814" name="Google Shape;814;p70"/>
          <p:cNvSpPr txBox="1"/>
          <p:nvPr>
            <p:ph idx="1" type="body"/>
          </p:nvPr>
        </p:nvSpPr>
        <p:spPr>
          <a:xfrm>
            <a:off x="1310097" y="3097211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−</a:t>
            </a:r>
            <a:r>
              <a:rPr lang="en-GB" sz="2000"/>
              <a:t>2</a:t>
            </a:r>
            <a:endParaRPr sz="2000"/>
          </a:p>
        </p:txBody>
      </p:sp>
      <p:sp>
        <p:nvSpPr>
          <p:cNvPr id="815" name="Google Shape;815;p70"/>
          <p:cNvSpPr txBox="1"/>
          <p:nvPr>
            <p:ph idx="1" type="body"/>
          </p:nvPr>
        </p:nvSpPr>
        <p:spPr>
          <a:xfrm>
            <a:off x="8316942" y="1850238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42</a:t>
            </a:r>
            <a:endParaRPr sz="2000"/>
          </a:p>
        </p:txBody>
      </p:sp>
      <p:sp>
        <p:nvSpPr>
          <p:cNvPr id="816" name="Google Shape;816;p70"/>
          <p:cNvSpPr txBox="1"/>
          <p:nvPr>
            <p:ph idx="1" type="body"/>
          </p:nvPr>
        </p:nvSpPr>
        <p:spPr>
          <a:xfrm>
            <a:off x="563002" y="1850238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32</a:t>
            </a:r>
            <a:endParaRPr sz="2000"/>
          </a:p>
        </p:txBody>
      </p:sp>
      <p:sp>
        <p:nvSpPr>
          <p:cNvPr id="817" name="Google Shape;817;p70"/>
          <p:cNvSpPr txBox="1"/>
          <p:nvPr/>
        </p:nvSpPr>
        <p:spPr>
          <a:xfrm>
            <a:off x="308925" y="4163700"/>
            <a:ext cx="78852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could you calculate the missing value before 34?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sp>
        <p:nvSpPr>
          <p:cNvPr id="823" name="Google Shape;823;p71"/>
          <p:cNvSpPr txBox="1"/>
          <p:nvPr>
            <p:ph idx="1" type="body"/>
          </p:nvPr>
        </p:nvSpPr>
        <p:spPr>
          <a:xfrm>
            <a:off x="324000" y="759300"/>
            <a:ext cx="8237700" cy="12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Jacob is writing his 4 times table and has got to the values below: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… 224, 228, 230, 234…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do you know he has made a mistake?</a:t>
            </a:r>
            <a:endParaRPr sz="1800"/>
          </a:p>
        </p:txBody>
      </p:sp>
      <p:sp>
        <p:nvSpPr>
          <p:cNvPr id="824" name="Google Shape;824;p71"/>
          <p:cNvSpPr txBox="1"/>
          <p:nvPr>
            <p:ph idx="1" type="body"/>
          </p:nvPr>
        </p:nvSpPr>
        <p:spPr>
          <a:xfrm>
            <a:off x="324000" y="2070600"/>
            <a:ext cx="8237700" cy="7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numbers in the 4 times table increase by 4 each time. The difference between 228 and 230 is not 4.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5" name="Google Shape;825;p71"/>
          <p:cNvSpPr txBox="1"/>
          <p:nvPr>
            <p:ph idx="1" type="body"/>
          </p:nvPr>
        </p:nvSpPr>
        <p:spPr>
          <a:xfrm>
            <a:off x="324000" y="2922600"/>
            <a:ext cx="8496000" cy="3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Multiplication </a:t>
            </a:r>
            <a:r>
              <a:rPr lang="en-GB" sz="1800"/>
              <a:t>tables</a:t>
            </a:r>
            <a:r>
              <a:rPr lang="en-GB" sz="1800"/>
              <a:t> are an example of a </a:t>
            </a:r>
            <a:r>
              <a:rPr b="1" lang="en-GB" sz="1800"/>
              <a:t>sequence</a:t>
            </a:r>
            <a:r>
              <a:rPr lang="en-GB" sz="1800"/>
              <a:t> with a constant </a:t>
            </a:r>
            <a:r>
              <a:rPr lang="en-GB" sz="1800">
                <a:solidFill>
                  <a:schemeClr val="accent4"/>
                </a:solidFill>
              </a:rPr>
              <a:t>additive </a:t>
            </a:r>
            <a:r>
              <a:rPr lang="en-GB" sz="1800"/>
              <a:t>relationship.</a:t>
            </a:r>
            <a:endParaRPr sz="1800"/>
          </a:p>
        </p:txBody>
      </p:sp>
      <p:sp>
        <p:nvSpPr>
          <p:cNvPr id="826" name="Google Shape;826;p71"/>
          <p:cNvSpPr txBox="1"/>
          <p:nvPr>
            <p:ph idx="1" type="body"/>
          </p:nvPr>
        </p:nvSpPr>
        <p:spPr>
          <a:xfrm>
            <a:off x="324000" y="3587250"/>
            <a:ext cx="8237700" cy="3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Successive numbers in the 2 times table have a difference of 2</a:t>
            </a:r>
            <a:endParaRPr sz="1800"/>
          </a:p>
        </p:txBody>
      </p:sp>
      <p:sp>
        <p:nvSpPr>
          <p:cNvPr id="827" name="Google Shape;827;p71"/>
          <p:cNvSpPr txBox="1"/>
          <p:nvPr>
            <p:ph idx="1" type="body"/>
          </p:nvPr>
        </p:nvSpPr>
        <p:spPr>
          <a:xfrm>
            <a:off x="324000" y="4036475"/>
            <a:ext cx="8237700" cy="3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Su</a:t>
            </a:r>
            <a:r>
              <a:rPr lang="en-GB" sz="1800"/>
              <a:t>ccessive numbers in the 3 times table have a difference of 3</a:t>
            </a:r>
            <a:endParaRPr sz="1800"/>
          </a:p>
        </p:txBody>
      </p:sp>
      <p:sp>
        <p:nvSpPr>
          <p:cNvPr id="828" name="Google Shape;828;p71"/>
          <p:cNvSpPr txBox="1"/>
          <p:nvPr>
            <p:ph idx="1" type="body"/>
          </p:nvPr>
        </p:nvSpPr>
        <p:spPr>
          <a:xfrm>
            <a:off x="324000" y="4485700"/>
            <a:ext cx="8237700" cy="38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Successive numbers in the 4 times table have a difference of 4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2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Each </a:t>
            </a:r>
            <a:r>
              <a:rPr b="1" lang="en-GB" sz="2000"/>
              <a:t>sequence</a:t>
            </a:r>
            <a:r>
              <a:rPr lang="en-GB" sz="2000"/>
              <a:t> is a section of a multiplication table.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Match the </a:t>
            </a:r>
            <a:r>
              <a:rPr b="1" lang="en-GB" sz="2000"/>
              <a:t>sequence</a:t>
            </a:r>
            <a:r>
              <a:rPr lang="en-GB" sz="2000"/>
              <a:t> with the multiplication table it is part of. </a:t>
            </a:r>
            <a:endParaRPr sz="2000"/>
          </a:p>
        </p:txBody>
      </p:sp>
      <p:sp>
        <p:nvSpPr>
          <p:cNvPr id="834" name="Google Shape;83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sp>
        <p:nvSpPr>
          <p:cNvPr id="835" name="Google Shape;835;p72"/>
          <p:cNvSpPr txBox="1"/>
          <p:nvPr>
            <p:ph idx="1" type="body"/>
          </p:nvPr>
        </p:nvSpPr>
        <p:spPr>
          <a:xfrm>
            <a:off x="324000" y="1620000"/>
            <a:ext cx="42480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… 392, 399, 406, 413, …</a:t>
            </a:r>
            <a:br>
              <a:rPr lang="en-GB" sz="2000"/>
            </a:br>
            <a:br>
              <a:rPr lang="en-GB" sz="2000"/>
            </a:b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…230, 235, 240, 245, …</a:t>
            </a:r>
            <a:br>
              <a:rPr lang="en-GB" sz="2000"/>
            </a:br>
            <a:br>
              <a:rPr lang="en-GB" sz="2000"/>
            </a:b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… 264, 275, 286, 297, …</a:t>
            </a:r>
            <a:br>
              <a:rPr lang="en-GB" sz="2000"/>
            </a:br>
            <a:br>
              <a:rPr lang="en-GB" sz="2000"/>
            </a:b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… 189, 198, 207, 216, …</a:t>
            </a:r>
            <a:endParaRPr sz="2000"/>
          </a:p>
        </p:txBody>
      </p:sp>
      <p:sp>
        <p:nvSpPr>
          <p:cNvPr id="836" name="Google Shape;836;p72"/>
          <p:cNvSpPr txBox="1"/>
          <p:nvPr>
            <p:ph idx="1" type="body"/>
          </p:nvPr>
        </p:nvSpPr>
        <p:spPr>
          <a:xfrm>
            <a:off x="4572000" y="1639800"/>
            <a:ext cx="42480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 times table</a:t>
            </a:r>
            <a:br>
              <a:rPr lang="en-GB" sz="2000"/>
            </a:br>
            <a:br>
              <a:rPr lang="en-GB" sz="2000"/>
            </a:b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7 times table</a:t>
            </a:r>
            <a:br>
              <a:rPr lang="en-GB" sz="2000"/>
            </a:br>
            <a:br>
              <a:rPr lang="en-GB" sz="2000"/>
            </a:b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9 times table </a:t>
            </a:r>
            <a:br>
              <a:rPr lang="en-GB" sz="2000"/>
            </a:br>
            <a:br>
              <a:rPr lang="en-GB" sz="2000"/>
            </a:b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11 times table </a:t>
            </a:r>
            <a:endParaRPr sz="2000"/>
          </a:p>
        </p:txBody>
      </p:sp>
      <p:cxnSp>
        <p:nvCxnSpPr>
          <p:cNvPr id="837" name="Google Shape;837;p72"/>
          <p:cNvCxnSpPr/>
          <p:nvPr/>
        </p:nvCxnSpPr>
        <p:spPr>
          <a:xfrm>
            <a:off x="3499775" y="1793150"/>
            <a:ext cx="975300" cy="93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72"/>
          <p:cNvCxnSpPr/>
          <p:nvPr/>
        </p:nvCxnSpPr>
        <p:spPr>
          <a:xfrm rot="5400000">
            <a:off x="3565650" y="1793150"/>
            <a:ext cx="975300" cy="93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72"/>
          <p:cNvCxnSpPr/>
          <p:nvPr/>
        </p:nvCxnSpPr>
        <p:spPr>
          <a:xfrm>
            <a:off x="3476663" y="3652175"/>
            <a:ext cx="975300" cy="93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72"/>
          <p:cNvCxnSpPr/>
          <p:nvPr/>
        </p:nvCxnSpPr>
        <p:spPr>
          <a:xfrm rot="5400000">
            <a:off x="3542538" y="3652175"/>
            <a:ext cx="975300" cy="936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3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Below is a 100 square. Lucas has shaded all the numbers in the 10 times table which are on the 100 square.</a:t>
            </a:r>
            <a:endParaRPr sz="2000"/>
          </a:p>
        </p:txBody>
      </p:sp>
      <p:sp>
        <p:nvSpPr>
          <p:cNvPr id="846" name="Google Shape;84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graphicFrame>
        <p:nvGraphicFramePr>
          <p:cNvPr id="847" name="Google Shape;847;p73"/>
          <p:cNvGraphicFramePr/>
          <p:nvPr/>
        </p:nvGraphicFramePr>
        <p:xfrm>
          <a:off x="441300" y="176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{CE513795-02FA-4846-A377-7C714B141FB9}</a:tableStyleId>
              </a:tblPr>
              <a:tblGrid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848" name="Google Shape;848;p73"/>
          <p:cNvSpPr txBox="1"/>
          <p:nvPr>
            <p:ph idx="1" type="body"/>
          </p:nvPr>
        </p:nvSpPr>
        <p:spPr>
          <a:xfrm>
            <a:off x="3369600" y="1765800"/>
            <a:ext cx="5450400" cy="22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If he writes these in ascending order, they form a </a:t>
            </a:r>
            <a:r>
              <a:rPr b="1" lang="en-GB" sz="2000"/>
              <a:t>sequence</a:t>
            </a:r>
            <a:r>
              <a:rPr lang="en-GB" sz="2000"/>
              <a:t> with a difference of 10 between each value.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10, 20, 30, 40 …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This </a:t>
            </a:r>
            <a:r>
              <a:rPr b="1" lang="en-GB" sz="2000"/>
              <a:t>sequence</a:t>
            </a:r>
            <a:r>
              <a:rPr lang="en-GB" sz="2000"/>
              <a:t> follows a constant </a:t>
            </a:r>
            <a:r>
              <a:rPr lang="en-GB" sz="2000">
                <a:solidFill>
                  <a:schemeClr val="accent4"/>
                </a:solidFill>
              </a:rPr>
              <a:t>additive </a:t>
            </a:r>
            <a:r>
              <a:rPr lang="en-GB" sz="2000"/>
              <a:t>rule, </a:t>
            </a:r>
            <a:r>
              <a:rPr lang="en-GB" sz="2000"/>
              <a:t>where to get the next number you always </a:t>
            </a:r>
            <a:r>
              <a:rPr lang="en-GB" sz="2000">
                <a:solidFill>
                  <a:schemeClr val="accent4"/>
                </a:solidFill>
              </a:rPr>
              <a:t>add 10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4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 has shaded a different set of numbers. </a:t>
            </a:r>
            <a:endParaRPr/>
          </a:p>
        </p:txBody>
      </p:sp>
      <p:sp>
        <p:nvSpPr>
          <p:cNvPr id="854" name="Google Shape;85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graphicFrame>
        <p:nvGraphicFramePr>
          <p:cNvPr id="855" name="Google Shape;855;p74"/>
          <p:cNvGraphicFramePr/>
          <p:nvPr/>
        </p:nvGraphicFramePr>
        <p:xfrm>
          <a:off x="441300" y="138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{CE513795-02FA-4846-A377-7C714B141FB9}</a:tableStyleId>
              </a:tblPr>
              <a:tblGrid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56" name="Google Shape;85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99574" y="146676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4"/>
          <p:cNvSpPr txBox="1"/>
          <p:nvPr/>
        </p:nvSpPr>
        <p:spPr>
          <a:xfrm>
            <a:off x="7640096" y="2452049"/>
            <a:ext cx="979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8" name="Google Shape;858;p74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5119898" y="1334075"/>
            <a:ext cx="2447427" cy="1365924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4"/>
          <p:cNvSpPr/>
          <p:nvPr/>
        </p:nvSpPr>
        <p:spPr>
          <a:xfrm>
            <a:off x="5202900" y="1542075"/>
            <a:ext cx="21915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have shaded the 9 times table.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4"/>
          <p:cNvSpPr txBox="1"/>
          <p:nvPr>
            <p:ph idx="1" type="body"/>
          </p:nvPr>
        </p:nvSpPr>
        <p:spPr>
          <a:xfrm>
            <a:off x="3369600" y="2664450"/>
            <a:ext cx="202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 Jun correct?</a:t>
            </a:r>
            <a:endParaRPr sz="2000"/>
          </a:p>
        </p:txBody>
      </p:sp>
      <p:sp>
        <p:nvSpPr>
          <p:cNvPr id="861" name="Google Shape;861;p74"/>
          <p:cNvSpPr txBox="1"/>
          <p:nvPr>
            <p:ph idx="1" type="body"/>
          </p:nvPr>
        </p:nvSpPr>
        <p:spPr>
          <a:xfrm>
            <a:off x="3407500" y="3190150"/>
            <a:ext cx="5450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the first number he has shaded is 9 but the second number is 19 which is not in the 9 times table.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5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 has shaded a different set of numbers. </a:t>
            </a:r>
            <a:endParaRPr/>
          </a:p>
        </p:txBody>
      </p:sp>
      <p:sp>
        <p:nvSpPr>
          <p:cNvPr id="867" name="Google Shape;867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graphicFrame>
        <p:nvGraphicFramePr>
          <p:cNvPr id="868" name="Google Shape;868;p75"/>
          <p:cNvGraphicFramePr/>
          <p:nvPr/>
        </p:nvGraphicFramePr>
        <p:xfrm>
          <a:off x="441300" y="138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{CE513795-02FA-4846-A377-7C714B141FB9}</a:tableStyleId>
              </a:tblPr>
              <a:tblGrid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9" name="Google Shape;869;p75"/>
          <p:cNvSpPr txBox="1"/>
          <p:nvPr>
            <p:ph idx="1" type="body"/>
          </p:nvPr>
        </p:nvSpPr>
        <p:spPr>
          <a:xfrm>
            <a:off x="3369600" y="1299300"/>
            <a:ext cx="5450400" cy="7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Do the numbers Jun has shaded form a </a:t>
            </a:r>
            <a:r>
              <a:rPr b="1" lang="en-GB" sz="2000"/>
              <a:t>sequence</a:t>
            </a:r>
            <a:r>
              <a:rPr lang="en-GB" sz="2000"/>
              <a:t> with a constant </a:t>
            </a:r>
            <a:r>
              <a:rPr lang="en-GB" sz="2000">
                <a:solidFill>
                  <a:schemeClr val="accent4"/>
                </a:solidFill>
              </a:rPr>
              <a:t>additive </a:t>
            </a:r>
            <a:r>
              <a:rPr lang="en-GB" sz="2000"/>
              <a:t>rule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870" name="Google Shape;870;p75"/>
          <p:cNvSpPr txBox="1"/>
          <p:nvPr>
            <p:ph idx="1" type="body"/>
          </p:nvPr>
        </p:nvSpPr>
        <p:spPr>
          <a:xfrm>
            <a:off x="3369600" y="2160000"/>
            <a:ext cx="5450400" cy="21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he has shaded: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9, 19, 29, 39, 49, …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sequence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numbers is formed by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adding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 each time.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Successive numbers in the </a:t>
            </a:r>
            <a:r>
              <a:rPr b="1" lang="en-GB" sz="2000"/>
              <a:t>sequence</a:t>
            </a:r>
            <a:r>
              <a:rPr lang="en-GB" sz="2000"/>
              <a:t> have a difference of 10.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6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we calculate the difference between successive values in these </a:t>
            </a:r>
            <a:r>
              <a:rPr b="1" lang="en-GB" sz="2000"/>
              <a:t>sequences</a:t>
            </a:r>
            <a:r>
              <a:rPr lang="en-GB" sz="2000"/>
              <a:t> formed by constant additive rules?</a:t>
            </a:r>
            <a:endParaRPr sz="2000"/>
          </a:p>
        </p:txBody>
      </p:sp>
      <p:sp>
        <p:nvSpPr>
          <p:cNvPr id="876" name="Google Shape;87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sp>
        <p:nvSpPr>
          <p:cNvPr id="877" name="Google Shape;877;p76"/>
          <p:cNvSpPr txBox="1"/>
          <p:nvPr>
            <p:ph idx="1" type="body"/>
          </p:nvPr>
        </p:nvSpPr>
        <p:spPr>
          <a:xfrm>
            <a:off x="324000" y="2070600"/>
            <a:ext cx="4248000" cy="25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29, 31, 33, …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258, 584, 910, …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7.8,  9.2, 10.6, … </a:t>
            </a:r>
            <a:endParaRPr/>
          </a:p>
        </p:txBody>
      </p:sp>
      <p:sp>
        <p:nvSpPr>
          <p:cNvPr id="878" name="Google Shape;878;p76"/>
          <p:cNvSpPr txBox="1"/>
          <p:nvPr>
            <p:ph idx="1" type="body"/>
          </p:nvPr>
        </p:nvSpPr>
        <p:spPr>
          <a:xfrm>
            <a:off x="4191000" y="2070600"/>
            <a:ext cx="1467600" cy="3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31 − 29 = 2 </a:t>
            </a:r>
            <a:endParaRPr/>
          </a:p>
        </p:txBody>
      </p:sp>
      <p:sp>
        <p:nvSpPr>
          <p:cNvPr id="879" name="Google Shape;879;p76"/>
          <p:cNvSpPr txBox="1"/>
          <p:nvPr>
            <p:ph idx="1" type="body"/>
          </p:nvPr>
        </p:nvSpPr>
        <p:spPr>
          <a:xfrm>
            <a:off x="4146201" y="3101934"/>
            <a:ext cx="1684800" cy="3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584 − 258</a:t>
            </a:r>
            <a:r>
              <a:rPr lang="en-GB"/>
              <a:t> </a:t>
            </a:r>
            <a:endParaRPr/>
          </a:p>
        </p:txBody>
      </p:sp>
      <p:sp>
        <p:nvSpPr>
          <p:cNvPr id="880" name="Google Shape;880;p76"/>
          <p:cNvSpPr txBox="1"/>
          <p:nvPr>
            <p:ph idx="1" type="body"/>
          </p:nvPr>
        </p:nvSpPr>
        <p:spPr>
          <a:xfrm>
            <a:off x="6104400" y="2454300"/>
            <a:ext cx="1684800" cy="9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−</a:t>
            </a:r>
            <a:r>
              <a:rPr lang="en-GB" sz="600"/>
              <a:t> </a:t>
            </a:r>
            <a:r>
              <a:rPr lang="en-GB" sz="2400"/>
              <a:t>5</a:t>
            </a:r>
            <a:r>
              <a:rPr lang="en-GB" sz="600"/>
              <a:t> </a:t>
            </a:r>
            <a:r>
              <a:rPr lang="en-GB" sz="2400"/>
              <a:t>8</a:t>
            </a:r>
            <a:r>
              <a:rPr lang="en-GB" sz="600"/>
              <a:t> </a:t>
            </a:r>
            <a:r>
              <a:rPr lang="en-GB" sz="2400"/>
              <a:t>4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−</a:t>
            </a:r>
            <a:r>
              <a:rPr lang="en-GB" sz="600"/>
              <a:t> </a:t>
            </a:r>
            <a:r>
              <a:rPr lang="en-GB" sz="2400"/>
              <a:t>2</a:t>
            </a:r>
            <a:r>
              <a:rPr lang="en-GB" sz="600"/>
              <a:t> </a:t>
            </a:r>
            <a:r>
              <a:rPr lang="en-GB" sz="2400"/>
              <a:t>5</a:t>
            </a:r>
            <a:r>
              <a:rPr lang="en-GB" sz="600"/>
              <a:t> </a:t>
            </a:r>
            <a:r>
              <a:rPr lang="en-GB" sz="2400"/>
              <a:t>8 </a:t>
            </a:r>
            <a:endParaRPr sz="2400"/>
          </a:p>
        </p:txBody>
      </p:sp>
      <p:grpSp>
        <p:nvGrpSpPr>
          <p:cNvPr id="881" name="Google Shape;881;p76"/>
          <p:cNvGrpSpPr/>
          <p:nvPr/>
        </p:nvGrpSpPr>
        <p:grpSpPr>
          <a:xfrm>
            <a:off x="6033448" y="3222423"/>
            <a:ext cx="861773" cy="320711"/>
            <a:chOff x="6262285" y="3222174"/>
            <a:chExt cx="743100" cy="292860"/>
          </a:xfrm>
        </p:grpSpPr>
        <p:cxnSp>
          <p:nvCxnSpPr>
            <p:cNvPr id="882" name="Google Shape;882;p76"/>
            <p:cNvCxnSpPr/>
            <p:nvPr/>
          </p:nvCxnSpPr>
          <p:spPr>
            <a:xfrm rot="10800000">
              <a:off x="6262285" y="3222174"/>
              <a:ext cx="743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3" name="Google Shape;883;p76"/>
            <p:cNvCxnSpPr/>
            <p:nvPr/>
          </p:nvCxnSpPr>
          <p:spPr>
            <a:xfrm rot="10800000">
              <a:off x="6262285" y="3515034"/>
              <a:ext cx="743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84" name="Google Shape;884;p76"/>
          <p:cNvCxnSpPr/>
          <p:nvPr/>
        </p:nvCxnSpPr>
        <p:spPr>
          <a:xfrm flipH="1">
            <a:off x="6463050" y="2520705"/>
            <a:ext cx="240600" cy="261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5" name="Google Shape;885;p76"/>
          <p:cNvSpPr txBox="1"/>
          <p:nvPr>
            <p:ph idx="1" type="body"/>
          </p:nvPr>
        </p:nvSpPr>
        <p:spPr>
          <a:xfrm>
            <a:off x="6445665" y="2285265"/>
            <a:ext cx="195000" cy="2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7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6" name="Google Shape;886;p76"/>
          <p:cNvSpPr txBox="1"/>
          <p:nvPr>
            <p:ph idx="1" type="body"/>
          </p:nvPr>
        </p:nvSpPr>
        <p:spPr>
          <a:xfrm>
            <a:off x="6671903" y="2285272"/>
            <a:ext cx="195000" cy="2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1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7" name="Google Shape;887;p76"/>
          <p:cNvSpPr txBox="1"/>
          <p:nvPr>
            <p:ph idx="1" type="body"/>
          </p:nvPr>
        </p:nvSpPr>
        <p:spPr>
          <a:xfrm>
            <a:off x="6682201" y="3204885"/>
            <a:ext cx="313200" cy="3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6</a:t>
            </a:r>
            <a:r>
              <a:rPr lang="en-GB" sz="2400"/>
              <a:t> </a:t>
            </a:r>
            <a:endParaRPr sz="2400"/>
          </a:p>
        </p:txBody>
      </p:sp>
      <p:sp>
        <p:nvSpPr>
          <p:cNvPr id="888" name="Google Shape;888;p76"/>
          <p:cNvSpPr txBox="1"/>
          <p:nvPr>
            <p:ph idx="1" type="body"/>
          </p:nvPr>
        </p:nvSpPr>
        <p:spPr>
          <a:xfrm>
            <a:off x="6478294" y="3204875"/>
            <a:ext cx="240600" cy="3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2</a:t>
            </a:r>
            <a:r>
              <a:rPr lang="en-GB" sz="2400"/>
              <a:t> </a:t>
            </a:r>
            <a:endParaRPr sz="2400"/>
          </a:p>
        </p:txBody>
      </p:sp>
      <p:sp>
        <p:nvSpPr>
          <p:cNvPr id="889" name="Google Shape;889;p76"/>
          <p:cNvSpPr txBox="1"/>
          <p:nvPr>
            <p:ph idx="1" type="body"/>
          </p:nvPr>
        </p:nvSpPr>
        <p:spPr>
          <a:xfrm>
            <a:off x="6289445" y="3204875"/>
            <a:ext cx="195000" cy="3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/>
              <a:t>3</a:t>
            </a:r>
            <a:r>
              <a:rPr lang="en-GB" sz="2400"/>
              <a:t> </a:t>
            </a:r>
            <a:endParaRPr sz="2400"/>
          </a:p>
        </p:txBody>
      </p:sp>
      <p:sp>
        <p:nvSpPr>
          <p:cNvPr id="890" name="Google Shape;890;p76"/>
          <p:cNvSpPr txBox="1"/>
          <p:nvPr>
            <p:ph idx="1" type="body"/>
          </p:nvPr>
        </p:nvSpPr>
        <p:spPr>
          <a:xfrm>
            <a:off x="4191000" y="4133250"/>
            <a:ext cx="1910400" cy="3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9.2 − 7.8 = 1.4 </a:t>
            </a:r>
            <a:r>
              <a:rPr lang="en-GB"/>
              <a:t> </a:t>
            </a:r>
            <a:endParaRPr/>
          </a:p>
        </p:txBody>
      </p:sp>
      <p:pic>
        <p:nvPicPr>
          <p:cNvPr id="891" name="Google Shape;891;p76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324000" y="1764449"/>
            <a:ext cx="670200" cy="3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6"/>
          <p:cNvSpPr txBox="1"/>
          <p:nvPr>
            <p:ph idx="1" type="body"/>
          </p:nvPr>
        </p:nvSpPr>
        <p:spPr>
          <a:xfrm>
            <a:off x="566409" y="1534285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+2</a:t>
            </a:r>
            <a:endParaRPr sz="1800"/>
          </a:p>
        </p:txBody>
      </p:sp>
      <p:pic>
        <p:nvPicPr>
          <p:cNvPr id="893" name="Google Shape;893;p76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818875" y="1764449"/>
            <a:ext cx="670200" cy="3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76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371725" y="2775750"/>
            <a:ext cx="831976" cy="3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76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1046525" y="2775750"/>
            <a:ext cx="831976" cy="3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76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413600" y="3787050"/>
            <a:ext cx="743100" cy="3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76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1046526" y="3787050"/>
            <a:ext cx="743100" cy="3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76"/>
          <p:cNvSpPr txBox="1"/>
          <p:nvPr>
            <p:ph idx="1" type="body"/>
          </p:nvPr>
        </p:nvSpPr>
        <p:spPr>
          <a:xfrm>
            <a:off x="1042834" y="1534285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+2</a:t>
            </a:r>
            <a:endParaRPr sz="1800"/>
          </a:p>
        </p:txBody>
      </p:sp>
      <p:sp>
        <p:nvSpPr>
          <p:cNvPr id="899" name="Google Shape;899;p76"/>
          <p:cNvSpPr txBox="1"/>
          <p:nvPr>
            <p:ph idx="1" type="body"/>
          </p:nvPr>
        </p:nvSpPr>
        <p:spPr>
          <a:xfrm>
            <a:off x="522808" y="2543175"/>
            <a:ext cx="56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+326</a:t>
            </a:r>
            <a:endParaRPr sz="1800"/>
          </a:p>
        </p:txBody>
      </p:sp>
      <p:sp>
        <p:nvSpPr>
          <p:cNvPr id="900" name="Google Shape;900;p76"/>
          <p:cNvSpPr txBox="1"/>
          <p:nvPr>
            <p:ph idx="1" type="body"/>
          </p:nvPr>
        </p:nvSpPr>
        <p:spPr>
          <a:xfrm>
            <a:off x="1203966" y="2543175"/>
            <a:ext cx="670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+326</a:t>
            </a:r>
            <a:endParaRPr sz="1800"/>
          </a:p>
        </p:txBody>
      </p:sp>
      <p:sp>
        <p:nvSpPr>
          <p:cNvPr id="901" name="Google Shape;901;p76"/>
          <p:cNvSpPr txBox="1"/>
          <p:nvPr>
            <p:ph idx="1" type="body"/>
          </p:nvPr>
        </p:nvSpPr>
        <p:spPr>
          <a:xfrm>
            <a:off x="566408" y="3552075"/>
            <a:ext cx="56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+1.4</a:t>
            </a:r>
            <a:endParaRPr sz="1800"/>
          </a:p>
        </p:txBody>
      </p:sp>
      <p:sp>
        <p:nvSpPr>
          <p:cNvPr id="902" name="Google Shape;902;p76"/>
          <p:cNvSpPr txBox="1"/>
          <p:nvPr>
            <p:ph idx="1" type="body"/>
          </p:nvPr>
        </p:nvSpPr>
        <p:spPr>
          <a:xfrm>
            <a:off x="1252208" y="3552075"/>
            <a:ext cx="565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+1.4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7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Forming a </a:t>
            </a:r>
            <a:r>
              <a:rPr b="1" lang="en-GB" sz="2000"/>
              <a:t>sequence</a:t>
            </a:r>
            <a:r>
              <a:rPr lang="en-GB" sz="2000"/>
              <a:t> by adding a negative value will create a decreasing </a:t>
            </a:r>
            <a:r>
              <a:rPr b="1" lang="en-GB" sz="2000"/>
              <a:t>sequence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08" name="Google Shape;90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sp>
        <p:nvSpPr>
          <p:cNvPr id="909" name="Google Shape;909;p77"/>
          <p:cNvSpPr/>
          <p:nvPr/>
        </p:nvSpPr>
        <p:spPr>
          <a:xfrm>
            <a:off x="3411257" y="2061925"/>
            <a:ext cx="871500" cy="52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7"/>
          <p:cNvSpPr/>
          <p:nvPr/>
        </p:nvSpPr>
        <p:spPr>
          <a:xfrm>
            <a:off x="4866845" y="2061925"/>
            <a:ext cx="871500" cy="52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7"/>
          <p:cNvSpPr/>
          <p:nvPr/>
        </p:nvSpPr>
        <p:spPr>
          <a:xfrm>
            <a:off x="6322432" y="2061925"/>
            <a:ext cx="871500" cy="52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7"/>
          <p:cNvSpPr/>
          <p:nvPr/>
        </p:nvSpPr>
        <p:spPr>
          <a:xfrm>
            <a:off x="1261919" y="2124501"/>
            <a:ext cx="585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7"/>
          <p:cNvSpPr/>
          <p:nvPr/>
        </p:nvSpPr>
        <p:spPr>
          <a:xfrm>
            <a:off x="7205519" y="2124501"/>
            <a:ext cx="585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4" name="Google Shape;914;p77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5194813" y="1493750"/>
            <a:ext cx="1935564" cy="57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7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3606288" y="1493750"/>
            <a:ext cx="1935564" cy="57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7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rot="10800000">
            <a:off x="2113625" y="2619661"/>
            <a:ext cx="1935564" cy="570499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7"/>
          <p:cNvSpPr txBox="1"/>
          <p:nvPr>
            <p:ph idx="1" type="body"/>
          </p:nvPr>
        </p:nvSpPr>
        <p:spPr>
          <a:xfrm>
            <a:off x="2832192" y="3079949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+4</a:t>
            </a:r>
            <a:endParaRPr sz="2000"/>
          </a:p>
        </p:txBody>
      </p:sp>
      <p:sp>
        <p:nvSpPr>
          <p:cNvPr id="918" name="Google Shape;918;p77"/>
          <p:cNvSpPr/>
          <p:nvPr/>
        </p:nvSpPr>
        <p:spPr>
          <a:xfrm>
            <a:off x="1955657" y="2061925"/>
            <a:ext cx="871500" cy="52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7"/>
          <p:cNvSpPr txBox="1"/>
          <p:nvPr>
            <p:ph idx="1" type="body"/>
          </p:nvPr>
        </p:nvSpPr>
        <p:spPr>
          <a:xfrm>
            <a:off x="4307617" y="1265725"/>
            <a:ext cx="935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+ (−4)</a:t>
            </a:r>
            <a:endParaRPr sz="2000"/>
          </a:p>
        </p:txBody>
      </p:sp>
      <p:sp>
        <p:nvSpPr>
          <p:cNvPr id="920" name="Google Shape;920;p77"/>
          <p:cNvSpPr txBox="1"/>
          <p:nvPr>
            <p:ph idx="1" type="body"/>
          </p:nvPr>
        </p:nvSpPr>
        <p:spPr>
          <a:xfrm>
            <a:off x="326075" y="3586250"/>
            <a:ext cx="84960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Adding −4 is the same as subtracting 4</a:t>
            </a:r>
            <a:endParaRPr sz="2000"/>
          </a:p>
        </p:txBody>
      </p:sp>
      <p:sp>
        <p:nvSpPr>
          <p:cNvPr id="921" name="Google Shape;921;p77"/>
          <p:cNvSpPr txBox="1"/>
          <p:nvPr>
            <p:ph idx="1" type="body"/>
          </p:nvPr>
        </p:nvSpPr>
        <p:spPr>
          <a:xfrm>
            <a:off x="6067524" y="1265725"/>
            <a:ext cx="87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−</a:t>
            </a:r>
            <a:r>
              <a:rPr lang="en-GB" sz="2000"/>
              <a:t>4</a:t>
            </a:r>
            <a:endParaRPr sz="2000"/>
          </a:p>
        </p:txBody>
      </p:sp>
      <p:sp>
        <p:nvSpPr>
          <p:cNvPr id="922" name="Google Shape;922;p77"/>
          <p:cNvSpPr txBox="1"/>
          <p:nvPr>
            <p:ph idx="1" type="body"/>
          </p:nvPr>
        </p:nvSpPr>
        <p:spPr>
          <a:xfrm>
            <a:off x="4620676" y="1265725"/>
            <a:ext cx="87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−</a:t>
            </a:r>
            <a:r>
              <a:rPr lang="en-GB" sz="2000"/>
              <a:t>4</a:t>
            </a:r>
            <a:endParaRPr sz="2000"/>
          </a:p>
        </p:txBody>
      </p:sp>
      <p:sp>
        <p:nvSpPr>
          <p:cNvPr id="923" name="Google Shape;923;p77"/>
          <p:cNvSpPr txBox="1"/>
          <p:nvPr>
            <p:ph idx="1" type="body"/>
          </p:nvPr>
        </p:nvSpPr>
        <p:spPr>
          <a:xfrm>
            <a:off x="326075" y="403415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subtract 4 from 19 to get the next number.</a:t>
            </a:r>
            <a:endParaRPr sz="2000"/>
          </a:p>
        </p:txBody>
      </p:sp>
      <p:sp>
        <p:nvSpPr>
          <p:cNvPr id="924" name="Google Shape;924;p77"/>
          <p:cNvSpPr txBox="1"/>
          <p:nvPr>
            <p:ph idx="1" type="body"/>
          </p:nvPr>
        </p:nvSpPr>
        <p:spPr>
          <a:xfrm>
            <a:off x="324000" y="44997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 can add 4 to 23 to get the previous number.</a:t>
            </a:r>
            <a:endParaRPr sz="2000"/>
          </a:p>
        </p:txBody>
      </p:sp>
      <p:sp>
        <p:nvSpPr>
          <p:cNvPr id="925" name="Google Shape;925;p77"/>
          <p:cNvSpPr txBox="1"/>
          <p:nvPr>
            <p:ph idx="1" type="body"/>
          </p:nvPr>
        </p:nvSpPr>
        <p:spPr>
          <a:xfrm>
            <a:off x="6611826" y="2172683"/>
            <a:ext cx="30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15</a:t>
            </a:r>
            <a:endParaRPr sz="2000"/>
          </a:p>
        </p:txBody>
      </p:sp>
      <p:sp>
        <p:nvSpPr>
          <p:cNvPr id="926" name="Google Shape;926;p77"/>
          <p:cNvSpPr txBox="1"/>
          <p:nvPr>
            <p:ph idx="1" type="body"/>
          </p:nvPr>
        </p:nvSpPr>
        <p:spPr>
          <a:xfrm>
            <a:off x="2237951" y="2163483"/>
            <a:ext cx="30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27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8"/>
          <p:cNvSpPr txBox="1"/>
          <p:nvPr>
            <p:ph idx="1" type="subTitle"/>
          </p:nvPr>
        </p:nvSpPr>
        <p:spPr>
          <a:xfrm>
            <a:off x="980575" y="405818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27, 41 and 57 are not in the same times table.</a:t>
            </a:r>
            <a:endParaRPr/>
          </a:p>
        </p:txBody>
      </p:sp>
      <p:sp>
        <p:nvSpPr>
          <p:cNvPr id="932" name="Google Shape;93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sp>
        <p:nvSpPr>
          <p:cNvPr id="933" name="Google Shape;933;p78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values 27, 41, 57, … form a </a:t>
            </a:r>
            <a:r>
              <a:rPr b="1" lang="en-GB"/>
              <a:t>sequence</a:t>
            </a:r>
            <a:r>
              <a:rPr lang="en-GB"/>
              <a:t> that follows a constant additive rule.</a:t>
            </a:r>
            <a:endParaRPr/>
          </a:p>
        </p:txBody>
      </p:sp>
      <p:sp>
        <p:nvSpPr>
          <p:cNvPr id="934" name="Google Shape;934;p78"/>
          <p:cNvSpPr txBox="1"/>
          <p:nvPr>
            <p:ph idx="3" type="subTitle"/>
          </p:nvPr>
        </p:nvSpPr>
        <p:spPr>
          <a:xfrm>
            <a:off x="980575" y="3156251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same value hasn’t been added to 27 and to 41</a:t>
            </a:r>
            <a:r>
              <a:rPr lang="en-GB"/>
              <a:t> </a:t>
            </a:r>
            <a:endParaRPr/>
          </a:p>
        </p:txBody>
      </p:sp>
      <p:pic>
        <p:nvPicPr>
          <p:cNvPr id="935" name="Google Shape;93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8"/>
          <p:cNvSpPr txBox="1"/>
          <p:nvPr/>
        </p:nvSpPr>
        <p:spPr>
          <a:xfrm>
            <a:off x="868500" y="3485500"/>
            <a:ext cx="500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41 - 27 = 14 but 57 - 41 = 16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7" name="Google Shape;937;p78"/>
          <p:cNvSpPr txBox="1"/>
          <p:nvPr/>
        </p:nvSpPr>
        <p:spPr>
          <a:xfrm>
            <a:off x="811725" y="4393275"/>
            <a:ext cx="854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is not just the multiplication tables which form additive </a:t>
            </a:r>
            <a:r>
              <a:rPr b="1"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sequences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38" name="Google Shape;93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6458" y="31562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9"/>
          <p:cNvSpPr txBox="1"/>
          <p:nvPr>
            <p:ph idx="1" type="body"/>
          </p:nvPr>
        </p:nvSpPr>
        <p:spPr>
          <a:xfrm>
            <a:off x="324000" y="746365"/>
            <a:ext cx="82377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These </a:t>
            </a:r>
            <a:r>
              <a:rPr b="1" lang="en-GB"/>
              <a:t>sequences</a:t>
            </a:r>
            <a:r>
              <a:rPr lang="en-GB"/>
              <a:t> continue in equal steps.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previous number in each </a:t>
            </a:r>
            <a:r>
              <a:rPr b="1" lang="en-GB"/>
              <a:t>sequence</a:t>
            </a:r>
            <a:r>
              <a:rPr lang="en-GB"/>
              <a:t>?</a:t>
            </a:r>
            <a:r>
              <a:rPr lang="en-GB"/>
              <a:t> </a:t>
            </a:r>
            <a:endParaRPr/>
          </a:p>
        </p:txBody>
      </p:sp>
      <p:sp>
        <p:nvSpPr>
          <p:cNvPr id="944" name="Google Shape;944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sp>
        <p:nvSpPr>
          <p:cNvPr id="945" name="Google Shape;945;p79"/>
          <p:cNvSpPr txBox="1"/>
          <p:nvPr>
            <p:ph idx="1" type="body"/>
          </p:nvPr>
        </p:nvSpPr>
        <p:spPr>
          <a:xfrm>
            <a:off x="324000" y="1952125"/>
            <a:ext cx="4248000" cy="3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…,</a:t>
            </a:r>
            <a:r>
              <a:rPr lang="en-GB" u="sng"/>
              <a:t>      </a:t>
            </a:r>
            <a:r>
              <a:rPr lang="en-GB"/>
              <a:t>, 29, 32, …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…,</a:t>
            </a:r>
            <a:r>
              <a:rPr lang="en-GB" u="sng"/>
              <a:t>      </a:t>
            </a:r>
            <a:r>
              <a:rPr lang="en-GB"/>
              <a:t>, 12.7, 13.3, …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…,</a:t>
            </a:r>
            <a:r>
              <a:rPr lang="en-GB" u="sng"/>
              <a:t>      </a:t>
            </a:r>
            <a:r>
              <a:rPr lang="en-GB"/>
              <a:t>, 4.8, 2.9, …</a:t>
            </a:r>
            <a:r>
              <a:rPr lang="en-GB"/>
              <a:t> </a:t>
            </a:r>
            <a:endParaRPr/>
          </a:p>
        </p:txBody>
      </p:sp>
      <p:sp>
        <p:nvSpPr>
          <p:cNvPr id="946" name="Google Shape;946;p79"/>
          <p:cNvSpPr txBox="1"/>
          <p:nvPr>
            <p:ph idx="1" type="body"/>
          </p:nvPr>
        </p:nvSpPr>
        <p:spPr>
          <a:xfrm>
            <a:off x="4572000" y="1996350"/>
            <a:ext cx="4341000" cy="3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29 − 3= 26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12.7 − 0.6 = 12.1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4.8 −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1.9 = 6.7 or 4.8 + 1.9 = 6.7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47" name="Google Shape;947;p79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1684800" y="1696686"/>
            <a:ext cx="691224" cy="384906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9"/>
          <p:cNvSpPr txBox="1"/>
          <p:nvPr>
            <p:ph idx="1" type="body"/>
          </p:nvPr>
        </p:nvSpPr>
        <p:spPr>
          <a:xfrm>
            <a:off x="1915475" y="1500966"/>
            <a:ext cx="380700" cy="2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+3</a:t>
            </a:r>
            <a:endParaRPr sz="2000"/>
          </a:p>
        </p:txBody>
      </p:sp>
      <p:pic>
        <p:nvPicPr>
          <p:cNvPr id="949" name="Google Shape;949;p79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1684800" y="2687294"/>
            <a:ext cx="900552" cy="384906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79"/>
          <p:cNvSpPr txBox="1"/>
          <p:nvPr>
            <p:ph idx="1" type="body"/>
          </p:nvPr>
        </p:nvSpPr>
        <p:spPr>
          <a:xfrm>
            <a:off x="1912054" y="2491575"/>
            <a:ext cx="691200" cy="2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+0.6</a:t>
            </a:r>
            <a:endParaRPr sz="2000"/>
          </a:p>
        </p:txBody>
      </p:sp>
      <p:pic>
        <p:nvPicPr>
          <p:cNvPr id="951" name="Google Shape;951;p79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1646600" y="3734226"/>
            <a:ext cx="900552" cy="384906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79"/>
          <p:cNvSpPr txBox="1"/>
          <p:nvPr>
            <p:ph idx="1" type="body"/>
          </p:nvPr>
        </p:nvSpPr>
        <p:spPr>
          <a:xfrm>
            <a:off x="1873849" y="3538507"/>
            <a:ext cx="952200" cy="2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+ </a:t>
            </a:r>
            <a:r>
              <a:rPr lang="en-GB"/>
              <a:t>−</a:t>
            </a:r>
            <a:r>
              <a:rPr lang="en-GB" sz="2000"/>
              <a:t>1.9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0"/>
          <p:cNvSpPr txBox="1"/>
          <p:nvPr>
            <p:ph idx="1" type="body"/>
          </p:nvPr>
        </p:nvSpPr>
        <p:spPr>
          <a:xfrm>
            <a:off x="324000" y="649200"/>
            <a:ext cx="8496000" cy="41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These pupils are making number patterns from a rule.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Aisha says any number, Andeep adds a number to it. Each pupil then adds the same number Andeep added. For each question, justify your answer.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If Aisha says 6 and Andeep says 10, what will Izzy say?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If Aisha says 6 and Andeep says 10, what will Sofia say?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After a different starting number Sam says 17 and Alex says 19. What did Aisha say?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If A</a:t>
            </a:r>
            <a:r>
              <a:rPr lang="en-GB" sz="1800"/>
              <a:t>isha</a:t>
            </a:r>
            <a:r>
              <a:rPr lang="en-GB" sz="1800"/>
              <a:t> says 4 to</a:t>
            </a:r>
            <a:r>
              <a:rPr lang="en-GB" sz="1800"/>
              <a:t> start </a:t>
            </a:r>
            <a:r>
              <a:rPr lang="en-GB" sz="1800"/>
              <a:t>and Jun says 40, what will Lucas say?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Aisha starts with 10 and only Lucas’ number is another integer. What could Andeep have said?</a:t>
            </a:r>
            <a:endParaRPr sz="1800"/>
          </a:p>
        </p:txBody>
      </p:sp>
      <p:sp>
        <p:nvSpPr>
          <p:cNvPr id="958" name="Google Shape;958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Sequences with a constant additive pattern</a:t>
            </a:r>
            <a:endParaRPr/>
          </a:p>
        </p:txBody>
      </p:sp>
      <p:pic>
        <p:nvPicPr>
          <p:cNvPr id="959" name="Google Shape;95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732" y="1008650"/>
            <a:ext cx="616302" cy="5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822" y="1025721"/>
            <a:ext cx="436041" cy="56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9648" y="1134208"/>
            <a:ext cx="402207" cy="49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5054" y="1101442"/>
            <a:ext cx="402206" cy="502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934" y="1032812"/>
            <a:ext cx="344778" cy="651056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80"/>
          <p:cNvSpPr txBox="1"/>
          <p:nvPr/>
        </p:nvSpPr>
        <p:spPr>
          <a:xfrm>
            <a:off x="4040747" y="1623775"/>
            <a:ext cx="778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0"/>
          <p:cNvSpPr txBox="1"/>
          <p:nvPr/>
        </p:nvSpPr>
        <p:spPr>
          <a:xfrm>
            <a:off x="2219424" y="1623775"/>
            <a:ext cx="91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80"/>
          <p:cNvSpPr txBox="1"/>
          <p:nvPr/>
        </p:nvSpPr>
        <p:spPr>
          <a:xfrm>
            <a:off x="324000" y="1623775"/>
            <a:ext cx="838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0"/>
          <p:cNvSpPr txBox="1"/>
          <p:nvPr/>
        </p:nvSpPr>
        <p:spPr>
          <a:xfrm>
            <a:off x="1308762" y="1623775"/>
            <a:ext cx="91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0"/>
          <p:cNvSpPr txBox="1"/>
          <p:nvPr/>
        </p:nvSpPr>
        <p:spPr>
          <a:xfrm>
            <a:off x="3130086" y="1623775"/>
            <a:ext cx="91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0"/>
          <p:cNvSpPr txBox="1"/>
          <p:nvPr/>
        </p:nvSpPr>
        <p:spPr>
          <a:xfrm>
            <a:off x="8135357" y="1623775"/>
            <a:ext cx="77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80"/>
          <p:cNvSpPr txBox="1"/>
          <p:nvPr/>
        </p:nvSpPr>
        <p:spPr>
          <a:xfrm>
            <a:off x="6473633" y="1623775"/>
            <a:ext cx="9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0"/>
          <p:cNvSpPr txBox="1"/>
          <p:nvPr/>
        </p:nvSpPr>
        <p:spPr>
          <a:xfrm>
            <a:off x="4889309" y="1623775"/>
            <a:ext cx="75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0"/>
          <p:cNvSpPr txBox="1"/>
          <p:nvPr/>
        </p:nvSpPr>
        <p:spPr>
          <a:xfrm>
            <a:off x="5655529" y="1623775"/>
            <a:ext cx="9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80"/>
          <p:cNvSpPr txBox="1"/>
          <p:nvPr/>
        </p:nvSpPr>
        <p:spPr>
          <a:xfrm>
            <a:off x="7228295" y="1623775"/>
            <a:ext cx="9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4" name="Google Shape;974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45454" y="1111228"/>
            <a:ext cx="439792" cy="493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05983" y="1079641"/>
            <a:ext cx="444992" cy="582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8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31772" y="1082223"/>
            <a:ext cx="428053" cy="49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8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00669" y="1054539"/>
            <a:ext cx="444995" cy="493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8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05142" y="1082216"/>
            <a:ext cx="388903" cy="560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81"/>
          <p:cNvSpPr txBox="1"/>
          <p:nvPr>
            <p:ph idx="1" type="body"/>
          </p:nvPr>
        </p:nvSpPr>
        <p:spPr>
          <a:xfrm>
            <a:off x="324000" y="648000"/>
            <a:ext cx="84960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These pupils are making number patterns from a rule.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Aisha says any number, Andeep adds a number to it. Each pupil then adds the same number Andeep added. For each question, justify your answer.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If Aisha says 6 and Andeep says 10, what will Izzy say?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Izzy will say 14 as Andeep added 4 to Aisha’s number and 10 + 4 = 14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If Aisha says 6 and Andeep says 10, what will Sofia say?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Sofia will say 42 as 4 will have been added another 8 times after Andeep says 10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4" name="Google Shape;984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pic>
        <p:nvPicPr>
          <p:cNvPr id="985" name="Google Shape;98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732" y="1008650"/>
            <a:ext cx="616302" cy="5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822" y="1025721"/>
            <a:ext cx="436041" cy="56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9648" y="1134208"/>
            <a:ext cx="402207" cy="49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5054" y="1101442"/>
            <a:ext cx="402206" cy="502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934" y="1032812"/>
            <a:ext cx="344778" cy="651056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1"/>
          <p:cNvSpPr txBox="1"/>
          <p:nvPr/>
        </p:nvSpPr>
        <p:spPr>
          <a:xfrm>
            <a:off x="4040747" y="1623775"/>
            <a:ext cx="778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81"/>
          <p:cNvSpPr txBox="1"/>
          <p:nvPr/>
        </p:nvSpPr>
        <p:spPr>
          <a:xfrm>
            <a:off x="2219424" y="1623775"/>
            <a:ext cx="91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1"/>
          <p:cNvSpPr txBox="1"/>
          <p:nvPr/>
        </p:nvSpPr>
        <p:spPr>
          <a:xfrm>
            <a:off x="324000" y="1623775"/>
            <a:ext cx="838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81"/>
          <p:cNvSpPr txBox="1"/>
          <p:nvPr/>
        </p:nvSpPr>
        <p:spPr>
          <a:xfrm>
            <a:off x="1308762" y="1623775"/>
            <a:ext cx="91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1"/>
          <p:cNvSpPr txBox="1"/>
          <p:nvPr/>
        </p:nvSpPr>
        <p:spPr>
          <a:xfrm>
            <a:off x="3130086" y="1623775"/>
            <a:ext cx="91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1"/>
          <p:cNvSpPr txBox="1"/>
          <p:nvPr/>
        </p:nvSpPr>
        <p:spPr>
          <a:xfrm>
            <a:off x="8135357" y="1623775"/>
            <a:ext cx="77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1"/>
          <p:cNvSpPr txBox="1"/>
          <p:nvPr/>
        </p:nvSpPr>
        <p:spPr>
          <a:xfrm>
            <a:off x="6473633" y="1623775"/>
            <a:ext cx="9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1"/>
          <p:cNvSpPr txBox="1"/>
          <p:nvPr/>
        </p:nvSpPr>
        <p:spPr>
          <a:xfrm>
            <a:off x="4889309" y="1623775"/>
            <a:ext cx="75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1"/>
          <p:cNvSpPr txBox="1"/>
          <p:nvPr/>
        </p:nvSpPr>
        <p:spPr>
          <a:xfrm>
            <a:off x="5655529" y="1623775"/>
            <a:ext cx="9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1"/>
          <p:cNvSpPr txBox="1"/>
          <p:nvPr/>
        </p:nvSpPr>
        <p:spPr>
          <a:xfrm>
            <a:off x="7228295" y="1623775"/>
            <a:ext cx="9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0" name="Google Shape;1000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45454" y="1111228"/>
            <a:ext cx="439792" cy="493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05983" y="1079641"/>
            <a:ext cx="444992" cy="582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8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31772" y="1082223"/>
            <a:ext cx="428053" cy="49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8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00669" y="1054539"/>
            <a:ext cx="444995" cy="493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8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05142" y="1082216"/>
            <a:ext cx="388903" cy="560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82"/>
          <p:cNvSpPr txBox="1"/>
          <p:nvPr>
            <p:ph idx="1" type="body"/>
          </p:nvPr>
        </p:nvSpPr>
        <p:spPr>
          <a:xfrm>
            <a:off x="324000" y="648000"/>
            <a:ext cx="84960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These pupils are making number patterns from a rule.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Aisha says any number, Andeep adds a number to it. Each pupil then adds the same number Andeep added. For each question, justify your answer.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 startAt="3"/>
            </a:pPr>
            <a:r>
              <a:rPr lang="en-GB" sz="1800"/>
              <a:t>After a different starting number Sam says 17 and Alex says 19. What did Aisha say?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 said 3. Each pupil is adding 2. Subtracting 2 seven times from 17 is 3.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 startAt="3"/>
            </a:pPr>
            <a:r>
              <a:rPr lang="en-GB" sz="1800"/>
              <a:t>If Aisha says 4 to start and Jun says 40, what will Lucas say?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 says 49. A number has to be added 4 times to get from Aisha to Jun. The difference between their numbers is 36 so each pupil adds 9.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0" name="Google Shape;1010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pic>
        <p:nvPicPr>
          <p:cNvPr id="1011" name="Google Shape;101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732" y="1008650"/>
            <a:ext cx="616302" cy="5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822" y="1025721"/>
            <a:ext cx="436041" cy="56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9648" y="1134208"/>
            <a:ext cx="402207" cy="49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5054" y="1101442"/>
            <a:ext cx="402206" cy="502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934" y="1032812"/>
            <a:ext cx="344778" cy="651056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82"/>
          <p:cNvSpPr txBox="1"/>
          <p:nvPr/>
        </p:nvSpPr>
        <p:spPr>
          <a:xfrm>
            <a:off x="4040747" y="1623775"/>
            <a:ext cx="778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82"/>
          <p:cNvSpPr txBox="1"/>
          <p:nvPr/>
        </p:nvSpPr>
        <p:spPr>
          <a:xfrm>
            <a:off x="2219424" y="1623775"/>
            <a:ext cx="91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82"/>
          <p:cNvSpPr txBox="1"/>
          <p:nvPr/>
        </p:nvSpPr>
        <p:spPr>
          <a:xfrm>
            <a:off x="324000" y="1623775"/>
            <a:ext cx="838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2"/>
          <p:cNvSpPr txBox="1"/>
          <p:nvPr/>
        </p:nvSpPr>
        <p:spPr>
          <a:xfrm>
            <a:off x="1308762" y="1623775"/>
            <a:ext cx="91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2"/>
          <p:cNvSpPr txBox="1"/>
          <p:nvPr/>
        </p:nvSpPr>
        <p:spPr>
          <a:xfrm>
            <a:off x="3130086" y="1623775"/>
            <a:ext cx="91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2"/>
          <p:cNvSpPr txBox="1"/>
          <p:nvPr/>
        </p:nvSpPr>
        <p:spPr>
          <a:xfrm>
            <a:off x="8135357" y="1623775"/>
            <a:ext cx="77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2"/>
          <p:cNvSpPr txBox="1"/>
          <p:nvPr/>
        </p:nvSpPr>
        <p:spPr>
          <a:xfrm>
            <a:off x="6473633" y="1623775"/>
            <a:ext cx="9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2"/>
          <p:cNvSpPr txBox="1"/>
          <p:nvPr/>
        </p:nvSpPr>
        <p:spPr>
          <a:xfrm>
            <a:off x="4889309" y="1623775"/>
            <a:ext cx="75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82"/>
          <p:cNvSpPr txBox="1"/>
          <p:nvPr/>
        </p:nvSpPr>
        <p:spPr>
          <a:xfrm>
            <a:off x="5655529" y="1623775"/>
            <a:ext cx="9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2"/>
          <p:cNvSpPr txBox="1"/>
          <p:nvPr/>
        </p:nvSpPr>
        <p:spPr>
          <a:xfrm>
            <a:off x="7228295" y="1623775"/>
            <a:ext cx="9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6" name="Google Shape;1026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45454" y="1111228"/>
            <a:ext cx="439792" cy="493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05983" y="1079641"/>
            <a:ext cx="444992" cy="582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31772" y="1082223"/>
            <a:ext cx="428053" cy="49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8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00669" y="1054539"/>
            <a:ext cx="444995" cy="493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8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05142" y="1082216"/>
            <a:ext cx="388903" cy="560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83"/>
          <p:cNvSpPr txBox="1"/>
          <p:nvPr>
            <p:ph idx="1" type="body"/>
          </p:nvPr>
        </p:nvSpPr>
        <p:spPr>
          <a:xfrm>
            <a:off x="324000" y="648000"/>
            <a:ext cx="84960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These pupils are making number patterns from a rule.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Aisha says any number, Andeep adds a number to it. Each pupil then adds the same number Andeep added. For each question, justify your answer.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 startAt="5"/>
            </a:pPr>
            <a:r>
              <a:rPr lang="en-GB" sz="1800"/>
              <a:t>Aisha starts with 10 and only Lucas’ number is another integer. What could Andeep have said?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Andeep could have added any non-integer value which is a multiple of 0.2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10 + 0.4 = 10.4 or 10 + 5.6 = 15.6 or 10 + 3.2 = 13.2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5 additions between Aisha and Lucas if Lucas said 11 then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÷ 5 = 0.2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If Lucas said 12 then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÷ 5 = 0.4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6" name="Google Shape;1036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Sequences with </a:t>
            </a:r>
            <a:r>
              <a:rPr lang="en-GB"/>
              <a:t>a constant </a:t>
            </a:r>
            <a:r>
              <a:rPr lang="en-GB"/>
              <a:t>additive pattern</a:t>
            </a:r>
            <a:endParaRPr/>
          </a:p>
        </p:txBody>
      </p:sp>
      <p:pic>
        <p:nvPicPr>
          <p:cNvPr id="1037" name="Google Shape;103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732" y="1008650"/>
            <a:ext cx="616302" cy="59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822" y="1025721"/>
            <a:ext cx="436041" cy="56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9648" y="1134208"/>
            <a:ext cx="402207" cy="49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5054" y="1101442"/>
            <a:ext cx="402206" cy="502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934" y="1032812"/>
            <a:ext cx="344778" cy="651056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83"/>
          <p:cNvSpPr txBox="1"/>
          <p:nvPr/>
        </p:nvSpPr>
        <p:spPr>
          <a:xfrm>
            <a:off x="4040747" y="1623775"/>
            <a:ext cx="778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3"/>
          <p:cNvSpPr txBox="1"/>
          <p:nvPr/>
        </p:nvSpPr>
        <p:spPr>
          <a:xfrm>
            <a:off x="2219424" y="1623775"/>
            <a:ext cx="91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3"/>
          <p:cNvSpPr txBox="1"/>
          <p:nvPr/>
        </p:nvSpPr>
        <p:spPr>
          <a:xfrm>
            <a:off x="324000" y="1623775"/>
            <a:ext cx="838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3"/>
          <p:cNvSpPr txBox="1"/>
          <p:nvPr/>
        </p:nvSpPr>
        <p:spPr>
          <a:xfrm>
            <a:off x="1308762" y="1623775"/>
            <a:ext cx="91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83"/>
          <p:cNvSpPr txBox="1"/>
          <p:nvPr/>
        </p:nvSpPr>
        <p:spPr>
          <a:xfrm>
            <a:off x="3130086" y="1623775"/>
            <a:ext cx="916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83"/>
          <p:cNvSpPr txBox="1"/>
          <p:nvPr/>
        </p:nvSpPr>
        <p:spPr>
          <a:xfrm>
            <a:off x="8135357" y="1623775"/>
            <a:ext cx="77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3"/>
          <p:cNvSpPr txBox="1"/>
          <p:nvPr/>
        </p:nvSpPr>
        <p:spPr>
          <a:xfrm>
            <a:off x="6473633" y="1623775"/>
            <a:ext cx="9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3"/>
          <p:cNvSpPr txBox="1"/>
          <p:nvPr/>
        </p:nvSpPr>
        <p:spPr>
          <a:xfrm>
            <a:off x="4889309" y="1623775"/>
            <a:ext cx="75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3"/>
          <p:cNvSpPr txBox="1"/>
          <p:nvPr/>
        </p:nvSpPr>
        <p:spPr>
          <a:xfrm>
            <a:off x="5655529" y="1623775"/>
            <a:ext cx="9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3"/>
          <p:cNvSpPr txBox="1"/>
          <p:nvPr/>
        </p:nvSpPr>
        <p:spPr>
          <a:xfrm>
            <a:off x="7228295" y="1623775"/>
            <a:ext cx="9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2" name="Google Shape;105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45454" y="1111228"/>
            <a:ext cx="439792" cy="493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05983" y="1079641"/>
            <a:ext cx="444992" cy="582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8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31772" y="1082223"/>
            <a:ext cx="428053" cy="49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8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00669" y="1054539"/>
            <a:ext cx="444995" cy="493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8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05142" y="1082216"/>
            <a:ext cx="388903" cy="560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constant additive pattern</a:t>
            </a:r>
            <a:endParaRPr/>
          </a:p>
        </p:txBody>
      </p:sp>
      <p:sp>
        <p:nvSpPr>
          <p:cNvPr id="1062" name="Google Shape;1062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constant multiplicative pattern</a:t>
            </a:r>
            <a:endParaRPr/>
          </a:p>
        </p:txBody>
      </p:sp>
      <p:sp>
        <p:nvSpPr>
          <p:cNvPr id="1063" name="Google Shape;1063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sequences</a:t>
            </a:r>
            <a:endParaRPr/>
          </a:p>
        </p:txBody>
      </p:sp>
      <p:pic>
        <p:nvPicPr>
          <p:cNvPr id="1064" name="Google Shape;106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50" y="299036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constant multiplicative pattern</a:t>
            </a:r>
            <a:endParaRPr/>
          </a:p>
        </p:txBody>
      </p:sp>
      <p:sp>
        <p:nvSpPr>
          <p:cNvPr id="1070" name="Google Shape;1070;p85"/>
          <p:cNvSpPr txBox="1"/>
          <p:nvPr>
            <p:ph idx="1" type="body"/>
          </p:nvPr>
        </p:nvSpPr>
        <p:spPr>
          <a:xfrm>
            <a:off x="324000" y="7596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Jacob has </a:t>
            </a:r>
            <a:r>
              <a:rPr lang="en-GB"/>
              <a:t>written</a:t>
            </a:r>
            <a:r>
              <a:rPr lang="en-GB"/>
              <a:t> the values:  2, 4, 8</a:t>
            </a:r>
            <a:endParaRPr/>
          </a:p>
        </p:txBody>
      </p:sp>
      <p:pic>
        <p:nvPicPr>
          <p:cNvPr id="1071" name="Google Shape;107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187" y="2068310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5"/>
          <p:cNvSpPr txBox="1"/>
          <p:nvPr/>
        </p:nvSpPr>
        <p:spPr>
          <a:xfrm>
            <a:off x="300625" y="285010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3" name="Google Shape;1073;p85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347275" y="1207210"/>
            <a:ext cx="2901100" cy="15491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85"/>
          <p:cNvSpPr/>
          <p:nvPr/>
        </p:nvSpPr>
        <p:spPr>
          <a:xfrm flipH="1">
            <a:off x="1621275" y="1352999"/>
            <a:ext cx="25503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These could be the first 3 numbers in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sequence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5"/>
          <p:cNvSpPr txBox="1"/>
          <p:nvPr/>
        </p:nvSpPr>
        <p:spPr>
          <a:xfrm flipH="1">
            <a:off x="7303750" y="2779095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6" name="Google Shape;1076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17538" y="1905123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85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4636226" y="1129248"/>
            <a:ext cx="3013924" cy="1709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85"/>
          <p:cNvSpPr/>
          <p:nvPr/>
        </p:nvSpPr>
        <p:spPr>
          <a:xfrm>
            <a:off x="4723475" y="1243773"/>
            <a:ext cx="2740200" cy="1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Jacob was writing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sequence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, he has missed out the number 6.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85"/>
          <p:cNvSpPr txBox="1"/>
          <p:nvPr>
            <p:ph idx="1" type="body"/>
          </p:nvPr>
        </p:nvSpPr>
        <p:spPr>
          <a:xfrm>
            <a:off x="276975" y="3404350"/>
            <a:ext cx="5774400" cy="5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you agree with either statement?</a:t>
            </a:r>
            <a:endParaRPr/>
          </a:p>
        </p:txBody>
      </p:sp>
      <p:sp>
        <p:nvSpPr>
          <p:cNvPr id="1080" name="Google Shape;1080;p85"/>
          <p:cNvSpPr txBox="1"/>
          <p:nvPr/>
        </p:nvSpPr>
        <p:spPr>
          <a:xfrm>
            <a:off x="182900" y="3941275"/>
            <a:ext cx="8876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Lucas is thinking of the </a:t>
            </a: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sequence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2, 4, 6, 8 which is formed by using a constant additive rule of plus 2 each time.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sp>
        <p:nvSpPr>
          <p:cNvPr id="1086" name="Google Shape;1086;p86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Jacob has written the values:  2, 4, 8</a:t>
            </a:r>
            <a:endParaRPr/>
          </a:p>
        </p:txBody>
      </p:sp>
      <p:pic>
        <p:nvPicPr>
          <p:cNvPr id="1087" name="Google Shape;108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112" y="254918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86"/>
          <p:cNvSpPr txBox="1"/>
          <p:nvPr/>
        </p:nvSpPr>
        <p:spPr>
          <a:xfrm>
            <a:off x="333213" y="3383773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9" name="Google Shape;1089;p86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347275" y="1458113"/>
            <a:ext cx="2901100" cy="15491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86"/>
          <p:cNvSpPr/>
          <p:nvPr/>
        </p:nvSpPr>
        <p:spPr>
          <a:xfrm flipH="1">
            <a:off x="1621275" y="1603901"/>
            <a:ext cx="25503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These could be the first 3 numbers in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sequence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6"/>
          <p:cNvSpPr txBox="1"/>
          <p:nvPr/>
        </p:nvSpPr>
        <p:spPr>
          <a:xfrm flipH="1">
            <a:off x="7173075" y="322782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2" name="Google Shape;1092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463613" y="2212225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86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4636226" y="1380150"/>
            <a:ext cx="3013924" cy="1709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86"/>
          <p:cNvSpPr/>
          <p:nvPr/>
        </p:nvSpPr>
        <p:spPr>
          <a:xfrm>
            <a:off x="4723475" y="1494675"/>
            <a:ext cx="2740200" cy="1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If Jacob was writing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sequence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, he has missed out the number 6.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6"/>
          <p:cNvSpPr txBox="1"/>
          <p:nvPr>
            <p:ph idx="1" type="body"/>
          </p:nvPr>
        </p:nvSpPr>
        <p:spPr>
          <a:xfrm>
            <a:off x="324000" y="3923700"/>
            <a:ext cx="84960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 is thinking of a different rule that could make this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sequence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Sequences</a:t>
            </a:r>
            <a:r>
              <a:rPr lang="en-GB" sz="1800"/>
              <a:t> don’t have to </a:t>
            </a:r>
            <a:r>
              <a:rPr lang="en-GB" sz="1800"/>
              <a:t>follow</a:t>
            </a:r>
            <a:r>
              <a:rPr lang="en-GB" sz="1800"/>
              <a:t> a rule but there are patterns other than additive ones that we can find and use.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sp>
        <p:nvSpPr>
          <p:cNvPr id="1101" name="Google Shape;1101;p87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 </a:t>
            </a:r>
            <a:r>
              <a:rPr b="1" lang="en-GB"/>
              <a:t>sequences</a:t>
            </a:r>
            <a:r>
              <a:rPr lang="en-GB"/>
              <a:t> </a:t>
            </a:r>
            <a:r>
              <a:rPr lang="en-GB"/>
              <a:t>follow</a:t>
            </a:r>
            <a:r>
              <a:rPr lang="en-GB"/>
              <a:t> a multiplicative rule.</a:t>
            </a:r>
            <a:endParaRPr/>
          </a:p>
        </p:txBody>
      </p:sp>
      <p:sp>
        <p:nvSpPr>
          <p:cNvPr id="1102" name="Google Shape;1102;p87"/>
          <p:cNvSpPr txBox="1"/>
          <p:nvPr>
            <p:ph idx="1" type="body"/>
          </p:nvPr>
        </p:nvSpPr>
        <p:spPr>
          <a:xfrm>
            <a:off x="324000" y="129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could continue Jacob’s </a:t>
            </a:r>
            <a:r>
              <a:rPr b="1" lang="en-GB"/>
              <a:t>sequence</a:t>
            </a:r>
            <a:r>
              <a:rPr lang="en-GB"/>
              <a:t> by following a constant multiplicative pattern.</a:t>
            </a:r>
            <a:endParaRPr/>
          </a:p>
        </p:txBody>
      </p:sp>
      <p:sp>
        <p:nvSpPr>
          <p:cNvPr id="1103" name="Google Shape;1103;p87"/>
          <p:cNvSpPr/>
          <p:nvPr/>
        </p:nvSpPr>
        <p:spPr>
          <a:xfrm>
            <a:off x="3411257" y="2976325"/>
            <a:ext cx="871500" cy="52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7"/>
          <p:cNvSpPr/>
          <p:nvPr/>
        </p:nvSpPr>
        <p:spPr>
          <a:xfrm>
            <a:off x="4866845" y="2976325"/>
            <a:ext cx="871500" cy="52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7"/>
          <p:cNvSpPr/>
          <p:nvPr/>
        </p:nvSpPr>
        <p:spPr>
          <a:xfrm>
            <a:off x="6322432" y="2976325"/>
            <a:ext cx="871500" cy="52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16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7"/>
          <p:cNvSpPr/>
          <p:nvPr/>
        </p:nvSpPr>
        <p:spPr>
          <a:xfrm>
            <a:off x="1955657" y="2976300"/>
            <a:ext cx="871500" cy="52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7" name="Google Shape;1107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2197800" y="2372700"/>
            <a:ext cx="1758752" cy="63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3763250" y="2372700"/>
            <a:ext cx="1758752" cy="63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8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5224050" y="2372700"/>
            <a:ext cx="1758752" cy="632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87"/>
          <p:cNvSpPr txBox="1"/>
          <p:nvPr>
            <p:ph idx="1" type="body"/>
          </p:nvPr>
        </p:nvSpPr>
        <p:spPr>
          <a:xfrm>
            <a:off x="2827149" y="2052000"/>
            <a:ext cx="87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×</a:t>
            </a:r>
            <a:r>
              <a:rPr lang="en-GB"/>
              <a:t>2</a:t>
            </a:r>
            <a:endParaRPr/>
          </a:p>
        </p:txBody>
      </p:sp>
      <p:sp>
        <p:nvSpPr>
          <p:cNvPr id="1111" name="Google Shape;1111;p87"/>
          <p:cNvSpPr txBox="1"/>
          <p:nvPr>
            <p:ph idx="1" type="body"/>
          </p:nvPr>
        </p:nvSpPr>
        <p:spPr>
          <a:xfrm>
            <a:off x="4472399" y="2052000"/>
            <a:ext cx="87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×</a:t>
            </a:r>
            <a:r>
              <a:rPr lang="en-GB"/>
              <a:t>2</a:t>
            </a:r>
            <a:endParaRPr/>
          </a:p>
        </p:txBody>
      </p:sp>
      <p:sp>
        <p:nvSpPr>
          <p:cNvPr id="1112" name="Google Shape;1112;p87"/>
          <p:cNvSpPr txBox="1"/>
          <p:nvPr>
            <p:ph idx="1" type="body"/>
          </p:nvPr>
        </p:nvSpPr>
        <p:spPr>
          <a:xfrm>
            <a:off x="5907749" y="2052000"/>
            <a:ext cx="87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×</a:t>
            </a:r>
            <a:r>
              <a:rPr lang="en-GB"/>
              <a:t>2</a:t>
            </a:r>
            <a:endParaRPr/>
          </a:p>
        </p:txBody>
      </p:sp>
      <p:sp>
        <p:nvSpPr>
          <p:cNvPr id="1113" name="Google Shape;1113;p87"/>
          <p:cNvSpPr/>
          <p:nvPr/>
        </p:nvSpPr>
        <p:spPr>
          <a:xfrm>
            <a:off x="7253144" y="3010326"/>
            <a:ext cx="585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sp>
        <p:nvSpPr>
          <p:cNvPr id="1119" name="Google Shape;1119;p88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calculate the next value in a </a:t>
            </a:r>
            <a:r>
              <a:rPr b="1" lang="en-GB" sz="2000"/>
              <a:t>sequence</a:t>
            </a:r>
            <a:r>
              <a:rPr lang="en-GB" sz="2000"/>
              <a:t> with a constant multiplicative pattern by first calculating the multiplier.</a:t>
            </a:r>
            <a:endParaRPr sz="2000"/>
          </a:p>
        </p:txBody>
      </p:sp>
      <p:sp>
        <p:nvSpPr>
          <p:cNvPr id="1120" name="Google Shape;1120;p88"/>
          <p:cNvSpPr txBox="1"/>
          <p:nvPr>
            <p:ph idx="1" type="body"/>
          </p:nvPr>
        </p:nvSpPr>
        <p:spPr>
          <a:xfrm>
            <a:off x="324000" y="3282988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Calculating </a:t>
            </a:r>
            <a:r>
              <a:rPr lang="en-GB" sz="2000"/>
              <a:t>50 </a:t>
            </a:r>
            <a:r>
              <a:rPr lang="en-GB" sz="2000">
                <a:solidFill>
                  <a:srgbClr val="222222"/>
                </a:solidFill>
              </a:rPr>
              <a:t>× 5 will find the next number in the </a:t>
            </a:r>
            <a:r>
              <a:rPr b="1" lang="en-GB" sz="2000">
                <a:solidFill>
                  <a:srgbClr val="222222"/>
                </a:solidFill>
              </a:rPr>
              <a:t>sequence.</a:t>
            </a:r>
            <a:endParaRPr b="1" sz="2000"/>
          </a:p>
        </p:txBody>
      </p:sp>
      <p:pic>
        <p:nvPicPr>
          <p:cNvPr id="1121" name="Google Shape;1121;p88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2197793" y="1768277"/>
            <a:ext cx="1758752" cy="544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88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3763243" y="1768277"/>
            <a:ext cx="1758752" cy="544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88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5224043" y="1768277"/>
            <a:ext cx="1758752" cy="54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88"/>
          <p:cNvSpPr txBox="1"/>
          <p:nvPr>
            <p:ph idx="1" type="body"/>
          </p:nvPr>
        </p:nvSpPr>
        <p:spPr>
          <a:xfrm>
            <a:off x="2827142" y="1492400"/>
            <a:ext cx="8715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×</a:t>
            </a:r>
            <a:r>
              <a:rPr lang="en-GB"/>
              <a:t>5</a:t>
            </a:r>
            <a:endParaRPr/>
          </a:p>
        </p:txBody>
      </p:sp>
      <p:sp>
        <p:nvSpPr>
          <p:cNvPr id="1125" name="Google Shape;1125;p88"/>
          <p:cNvSpPr txBox="1"/>
          <p:nvPr>
            <p:ph idx="1" type="body"/>
          </p:nvPr>
        </p:nvSpPr>
        <p:spPr>
          <a:xfrm>
            <a:off x="4472392" y="1492400"/>
            <a:ext cx="8715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×</a:t>
            </a:r>
            <a:r>
              <a:rPr lang="en-GB"/>
              <a:t>5</a:t>
            </a:r>
            <a:endParaRPr/>
          </a:p>
        </p:txBody>
      </p:sp>
      <p:sp>
        <p:nvSpPr>
          <p:cNvPr id="1126" name="Google Shape;1126;p88"/>
          <p:cNvSpPr txBox="1"/>
          <p:nvPr>
            <p:ph idx="1" type="body"/>
          </p:nvPr>
        </p:nvSpPr>
        <p:spPr>
          <a:xfrm>
            <a:off x="5907742" y="1492400"/>
            <a:ext cx="8715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×</a:t>
            </a:r>
            <a:r>
              <a:rPr lang="en-GB"/>
              <a:t>5</a:t>
            </a:r>
            <a:endParaRPr/>
          </a:p>
        </p:txBody>
      </p:sp>
      <p:sp>
        <p:nvSpPr>
          <p:cNvPr id="1127" name="Google Shape;1127;p88"/>
          <p:cNvSpPr txBox="1"/>
          <p:nvPr>
            <p:ph idx="1" type="body"/>
          </p:nvPr>
        </p:nvSpPr>
        <p:spPr>
          <a:xfrm>
            <a:off x="324000" y="2917738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calculation 10 </a:t>
            </a:r>
            <a:r>
              <a:rPr lang="en-GB" sz="2000">
                <a:solidFill>
                  <a:srgbClr val="222222"/>
                </a:solidFill>
              </a:rPr>
              <a:t>÷ 2 or 50 ÷ 10 tells us the multiplier is 5</a:t>
            </a:r>
            <a:endParaRPr sz="2000"/>
          </a:p>
        </p:txBody>
      </p:sp>
      <p:sp>
        <p:nvSpPr>
          <p:cNvPr id="1128" name="Google Shape;1128;p88"/>
          <p:cNvSpPr txBox="1"/>
          <p:nvPr>
            <p:ph idx="1" type="body"/>
          </p:nvPr>
        </p:nvSpPr>
        <p:spPr>
          <a:xfrm>
            <a:off x="1373925" y="3843750"/>
            <a:ext cx="87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</a:t>
            </a:r>
            <a:r>
              <a:rPr lang="en-GB">
                <a:solidFill>
                  <a:srgbClr val="222222"/>
                </a:solidFill>
              </a:rPr>
              <a:t>× 10 </a:t>
            </a:r>
            <a:endParaRPr/>
          </a:p>
        </p:txBody>
      </p:sp>
      <p:sp>
        <p:nvSpPr>
          <p:cNvPr id="1129" name="Google Shape;1129;p88"/>
          <p:cNvSpPr txBox="1"/>
          <p:nvPr>
            <p:ph idx="1" type="body"/>
          </p:nvPr>
        </p:nvSpPr>
        <p:spPr>
          <a:xfrm>
            <a:off x="2460975" y="3847550"/>
            <a:ext cx="871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× 5</a:t>
            </a:r>
            <a:r>
              <a:rPr lang="en-GB">
                <a:solidFill>
                  <a:srgbClr val="222222"/>
                </a:solidFill>
              </a:rPr>
              <a:t> </a:t>
            </a:r>
            <a:endParaRPr/>
          </a:p>
        </p:txBody>
      </p:sp>
      <p:sp>
        <p:nvSpPr>
          <p:cNvPr id="1130" name="Google Shape;1130;p88"/>
          <p:cNvSpPr txBox="1"/>
          <p:nvPr>
            <p:ph idx="1" type="body"/>
          </p:nvPr>
        </p:nvSpPr>
        <p:spPr>
          <a:xfrm>
            <a:off x="1373925" y="4148550"/>
            <a:ext cx="1407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</a:t>
            </a:r>
            <a:r>
              <a:rPr lang="en-GB">
                <a:solidFill>
                  <a:srgbClr val="222222"/>
                </a:solidFill>
              </a:rPr>
              <a:t>× 5 × 10 </a:t>
            </a:r>
            <a:endParaRPr/>
          </a:p>
        </p:txBody>
      </p:sp>
      <p:sp>
        <p:nvSpPr>
          <p:cNvPr id="1131" name="Google Shape;1131;p88"/>
          <p:cNvSpPr txBox="1"/>
          <p:nvPr>
            <p:ph idx="1" type="body"/>
          </p:nvPr>
        </p:nvSpPr>
        <p:spPr>
          <a:xfrm>
            <a:off x="1225750" y="4469250"/>
            <a:ext cx="244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</a:t>
            </a:r>
            <a:r>
              <a:rPr lang="en-GB">
                <a:solidFill>
                  <a:srgbClr val="222222"/>
                </a:solidFill>
              </a:rPr>
              <a:t> × 10 = 250</a:t>
            </a:r>
            <a:endParaRPr/>
          </a:p>
        </p:txBody>
      </p:sp>
      <p:sp>
        <p:nvSpPr>
          <p:cNvPr id="1132" name="Google Shape;1132;p88"/>
          <p:cNvSpPr/>
          <p:nvPr/>
        </p:nvSpPr>
        <p:spPr>
          <a:xfrm>
            <a:off x="6330985" y="2287522"/>
            <a:ext cx="871500" cy="450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250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3" name="Google Shape;1133;p88"/>
          <p:cNvCxnSpPr/>
          <p:nvPr/>
        </p:nvCxnSpPr>
        <p:spPr>
          <a:xfrm flipH="1">
            <a:off x="1619175" y="3555350"/>
            <a:ext cx="304800" cy="302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4" name="Google Shape;1134;p88"/>
          <p:cNvCxnSpPr/>
          <p:nvPr/>
        </p:nvCxnSpPr>
        <p:spPr>
          <a:xfrm>
            <a:off x="2350200" y="3542300"/>
            <a:ext cx="304800" cy="302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35" name="Google Shape;1135;p88"/>
          <p:cNvGrpSpPr/>
          <p:nvPr/>
        </p:nvGrpSpPr>
        <p:grpSpPr>
          <a:xfrm>
            <a:off x="1955650" y="2287513"/>
            <a:ext cx="5873569" cy="526813"/>
            <a:chOff x="1955650" y="2287513"/>
            <a:chExt cx="5873569" cy="526813"/>
          </a:xfrm>
        </p:grpSpPr>
        <p:sp>
          <p:nvSpPr>
            <p:cNvPr id="1136" name="Google Shape;1136;p88"/>
            <p:cNvSpPr/>
            <p:nvPr/>
          </p:nvSpPr>
          <p:spPr>
            <a:xfrm>
              <a:off x="3411250" y="2287535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7" name="Google Shape;1137;p88"/>
            <p:cNvSpPr/>
            <p:nvPr/>
          </p:nvSpPr>
          <p:spPr>
            <a:xfrm>
              <a:off x="4866838" y="2287535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8" name="Google Shape;1138;p88"/>
            <p:cNvSpPr/>
            <p:nvPr/>
          </p:nvSpPr>
          <p:spPr>
            <a:xfrm>
              <a:off x="6322425" y="2287535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9" name="Google Shape;1139;p88"/>
            <p:cNvSpPr/>
            <p:nvPr/>
          </p:nvSpPr>
          <p:spPr>
            <a:xfrm>
              <a:off x="1955650" y="2287513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0" name="Google Shape;1140;p88"/>
            <p:cNvSpPr/>
            <p:nvPr/>
          </p:nvSpPr>
          <p:spPr>
            <a:xfrm>
              <a:off x="7243619" y="2290526"/>
              <a:ext cx="585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…</a:t>
              </a:r>
              <a:endParaRPr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</a:t>
            </a:r>
            <a:endParaRPr/>
          </a:p>
        </p:txBody>
      </p:sp>
      <p:sp>
        <p:nvSpPr>
          <p:cNvPr id="1146" name="Google Shape;1146;p8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constant multiplicative pattern</a:t>
            </a:r>
            <a:endParaRPr/>
          </a:p>
        </p:txBody>
      </p:sp>
      <p:sp>
        <p:nvSpPr>
          <p:cNvPr id="1147" name="Google Shape;1147;p89"/>
          <p:cNvSpPr txBox="1"/>
          <p:nvPr>
            <p:ph type="title"/>
          </p:nvPr>
        </p:nvSpPr>
        <p:spPr>
          <a:xfrm>
            <a:off x="324000" y="810000"/>
            <a:ext cx="54504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</a:t>
            </a:r>
            <a:r>
              <a:rPr b="1" lang="en-GB" sz="2000"/>
              <a:t>sequence</a:t>
            </a:r>
            <a:r>
              <a:rPr lang="en-GB" sz="2000"/>
              <a:t> has a constant multiplicative pattern. What is the multiplier?</a:t>
            </a:r>
            <a:r>
              <a:rPr lang="en-GB"/>
              <a:t> </a:t>
            </a:r>
            <a:endParaRPr/>
          </a:p>
        </p:txBody>
      </p:sp>
      <p:sp>
        <p:nvSpPr>
          <p:cNvPr id="1148" name="Google Shape;1148;p8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/>
              <a:t>3</a:t>
            </a:r>
            <a:endParaRPr/>
          </a:p>
        </p:txBody>
      </p:sp>
      <p:sp>
        <p:nvSpPr>
          <p:cNvPr id="1149" name="Google Shape;1149;p8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26</a:t>
            </a:r>
            <a:endParaRPr/>
          </a:p>
        </p:txBody>
      </p:sp>
      <p:sp>
        <p:nvSpPr>
          <p:cNvPr id="1150" name="Google Shape;1150;p8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96</a:t>
            </a:r>
            <a:endParaRPr/>
          </a:p>
        </p:txBody>
      </p:sp>
      <p:pic>
        <p:nvPicPr>
          <p:cNvPr id="1151" name="Google Shape;115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783" y="239573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89"/>
          <p:cNvSpPr/>
          <p:nvPr/>
        </p:nvSpPr>
        <p:spPr>
          <a:xfrm>
            <a:off x="6053700" y="932400"/>
            <a:ext cx="2652000" cy="48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…, 8, 104, …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90"/>
          <p:cNvSpPr txBox="1"/>
          <p:nvPr>
            <p:ph idx="1" type="body"/>
          </p:nvPr>
        </p:nvSpPr>
        <p:spPr>
          <a:xfrm>
            <a:off x="324000" y="711975"/>
            <a:ext cx="5932800" cy="9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have seen how the </a:t>
            </a:r>
            <a:r>
              <a:rPr b="1" lang="en-GB" sz="2000"/>
              <a:t>sequence </a:t>
            </a:r>
            <a:r>
              <a:rPr lang="en-GB" sz="2000"/>
              <a:t>2, 4, 8, 16, … has a </a:t>
            </a:r>
            <a:r>
              <a:rPr lang="en-GB" sz="2000"/>
              <a:t>constant </a:t>
            </a:r>
            <a:r>
              <a:rPr lang="en-GB" sz="2000"/>
              <a:t>multiplicative pattern.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58" name="Google Shape;115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2},\ \frac{1}{4},\ \frac{1}{8},\frac{1}{16},\ ...&quot;&gt;&lt;mfrac&gt;&lt;mn&gt;1&lt;/mn&gt;&lt;mn&gt;2&lt;/mn&gt;&lt;/mfrac&gt;&lt;mo&gt;,&lt;/mo&gt;&lt;mtext&gt;&lt;/mtext&gt;&lt;mfrac&gt;&lt;mn&gt;1&lt;/mn&gt;&lt;mn&gt;4&lt;/mn&gt;&lt;/mfrac&gt;&lt;mo&gt;,&lt;/mo&gt;&lt;mtext&gt;&lt;/mtext&gt;&lt;mfrac&gt;&lt;mn&gt;1&lt;/mn&gt;&lt;mn&gt;8&lt;/mn&gt;&lt;/mfrac&gt;&lt;mo&gt;,&lt;/mo&gt;&lt;mfrac&gt;&lt;mn&gt;1&lt;/mn&gt;&lt;mn&gt;16&lt;/mn&gt;&lt;/mfrac&gt;&lt;mo&gt;,&lt;/mo&gt;&lt;mtext&gt;&lt;/mtext&gt;&lt;mo&gt;.&lt;/mo&gt;&lt;mo&gt;.&lt;/mo&gt;&lt;mo&gt;.&lt;/mo&gt;&lt;/math&gt;" id="1159" name="Google Shape;1159;p90" title="one half comma one fourth comma one eighth comma 1 over 16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878075"/>
            <a:ext cx="1980350" cy="5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90"/>
          <p:cNvSpPr/>
          <p:nvPr/>
        </p:nvSpPr>
        <p:spPr>
          <a:xfrm>
            <a:off x="6276025" y="2375125"/>
            <a:ext cx="1800000" cy="1800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1" name="Google Shape;1161;p90"/>
          <p:cNvGrpSpPr/>
          <p:nvPr/>
        </p:nvGrpSpPr>
        <p:grpSpPr>
          <a:xfrm>
            <a:off x="6293163" y="2375125"/>
            <a:ext cx="882863" cy="1800000"/>
            <a:chOff x="6293163" y="2375125"/>
            <a:chExt cx="882863" cy="1800000"/>
          </a:xfrm>
        </p:grpSpPr>
        <p:cxnSp>
          <p:nvCxnSpPr>
            <p:cNvPr id="1162" name="Google Shape;1162;p90"/>
            <p:cNvCxnSpPr>
              <a:stCxn id="1160" idx="0"/>
              <a:endCxn id="1160" idx="2"/>
            </p:cNvCxnSpPr>
            <p:nvPr/>
          </p:nvCxnSpPr>
          <p:spPr>
            <a:xfrm>
              <a:off x="7176025" y="2375125"/>
              <a:ext cx="0" cy="18000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3" name="Google Shape;1163;p90"/>
            <p:cNvSpPr/>
            <p:nvPr/>
          </p:nvSpPr>
          <p:spPr>
            <a:xfrm>
              <a:off x="6293163" y="2398825"/>
              <a:ext cx="864000" cy="1761600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164" name="Google Shape;1164;p90" title="one half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86425" y="2833063"/>
              <a:ext cx="277500" cy="8841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5" name="Google Shape;1165;p90"/>
          <p:cNvGrpSpPr/>
          <p:nvPr/>
        </p:nvGrpSpPr>
        <p:grpSpPr>
          <a:xfrm>
            <a:off x="7192825" y="3275125"/>
            <a:ext cx="879641" cy="882827"/>
            <a:chOff x="7192825" y="3275125"/>
            <a:chExt cx="879641" cy="882827"/>
          </a:xfrm>
        </p:grpSpPr>
        <p:cxnSp>
          <p:nvCxnSpPr>
            <p:cNvPr id="1166" name="Google Shape;1166;p90"/>
            <p:cNvCxnSpPr/>
            <p:nvPr/>
          </p:nvCxnSpPr>
          <p:spPr>
            <a:xfrm rot="10800000">
              <a:off x="7196166" y="3275125"/>
              <a:ext cx="876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7" name="Google Shape;1167;p90"/>
            <p:cNvSpPr/>
            <p:nvPr/>
          </p:nvSpPr>
          <p:spPr>
            <a:xfrm>
              <a:off x="7192825" y="3293952"/>
              <a:ext cx="864000" cy="864000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4}&quot;&gt;&lt;mfrac&gt;&lt;mn&gt;1&lt;/mn&gt;&lt;mn&gt;4&lt;/mn&gt;&lt;/mfrac&gt;&lt;/math&gt;" id="1168" name="Google Shape;1168;p90" title="one four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25650" y="3379728"/>
              <a:ext cx="217325" cy="692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9" name="Google Shape;1169;p90"/>
          <p:cNvGrpSpPr/>
          <p:nvPr/>
        </p:nvGrpSpPr>
        <p:grpSpPr>
          <a:xfrm>
            <a:off x="7194875" y="2392300"/>
            <a:ext cx="439441" cy="878063"/>
            <a:chOff x="7194875" y="2392300"/>
            <a:chExt cx="439441" cy="878063"/>
          </a:xfrm>
        </p:grpSpPr>
        <p:cxnSp>
          <p:nvCxnSpPr>
            <p:cNvPr id="1170" name="Google Shape;1170;p90"/>
            <p:cNvCxnSpPr/>
            <p:nvPr/>
          </p:nvCxnSpPr>
          <p:spPr>
            <a:xfrm rot="-5400000">
              <a:off x="7196166" y="2832213"/>
              <a:ext cx="876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1" name="Google Shape;1171;p90"/>
            <p:cNvSpPr/>
            <p:nvPr/>
          </p:nvSpPr>
          <p:spPr>
            <a:xfrm>
              <a:off x="7194875" y="2392300"/>
              <a:ext cx="418200" cy="864000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8}&quot;&gt;&lt;mfrac&gt;&lt;mn&gt;1&lt;/mn&gt;&lt;mn&gt;8&lt;/mn&gt;&lt;/mfrac&gt;&lt;/math&gt;" id="1172" name="Google Shape;1172;p90" title="one eight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327675" y="2540488"/>
              <a:ext cx="171511" cy="567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3" name="Google Shape;1173;p90"/>
          <p:cNvGrpSpPr/>
          <p:nvPr/>
        </p:nvGrpSpPr>
        <p:grpSpPr>
          <a:xfrm>
            <a:off x="7634316" y="2392300"/>
            <a:ext cx="461100" cy="444675"/>
            <a:chOff x="7634316" y="2392300"/>
            <a:chExt cx="461100" cy="444675"/>
          </a:xfrm>
        </p:grpSpPr>
        <p:cxnSp>
          <p:nvCxnSpPr>
            <p:cNvPr id="1174" name="Google Shape;1174;p90"/>
            <p:cNvCxnSpPr/>
            <p:nvPr/>
          </p:nvCxnSpPr>
          <p:spPr>
            <a:xfrm>
              <a:off x="7634316" y="2836975"/>
              <a:ext cx="4611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5" name="Google Shape;1175;p90"/>
            <p:cNvSpPr/>
            <p:nvPr/>
          </p:nvSpPr>
          <p:spPr>
            <a:xfrm>
              <a:off x="7650813" y="2392300"/>
              <a:ext cx="418200" cy="427200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16}&quot;&gt;&lt;mfrac&gt;&lt;mn&gt;1&lt;/mn&gt;&lt;mn&gt;16&lt;/mn&gt;&lt;/mfrac&gt;&lt;/math&gt;" id="1176" name="Google Shape;1176;p90" title="1 over 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748322" y="2406454"/>
              <a:ext cx="217325" cy="3964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7" name="Google Shape;1177;p90"/>
          <p:cNvSpPr txBox="1"/>
          <p:nvPr>
            <p:ph idx="1" type="body"/>
          </p:nvPr>
        </p:nvSpPr>
        <p:spPr>
          <a:xfrm>
            <a:off x="263525" y="1718238"/>
            <a:ext cx="8237700" cy="4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How could we describe this </a:t>
            </a:r>
            <a:r>
              <a:rPr b="1" lang="en-GB" sz="2000"/>
              <a:t>sequence</a:t>
            </a:r>
            <a:r>
              <a:rPr lang="en-GB" sz="2000"/>
              <a:t>?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8" name="Google Shape;1178;p90"/>
          <p:cNvSpPr txBox="1"/>
          <p:nvPr>
            <p:ph idx="1" type="body"/>
          </p:nvPr>
        </p:nvSpPr>
        <p:spPr>
          <a:xfrm>
            <a:off x="263545" y="3637425"/>
            <a:ext cx="4801200" cy="4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value is halving each time.</a:t>
            </a:r>
            <a:r>
              <a:rPr lang="en-GB" sz="2000"/>
              <a:t>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9" name="Google Shape;1179;p90"/>
          <p:cNvSpPr txBox="1"/>
          <p:nvPr>
            <p:ph idx="1" type="body"/>
          </p:nvPr>
        </p:nvSpPr>
        <p:spPr>
          <a:xfrm>
            <a:off x="263538" y="4242425"/>
            <a:ext cx="8237700" cy="4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can be written as </a:t>
            </a:r>
            <a:r>
              <a:rPr lang="en-GB" sz="2000">
                <a:solidFill>
                  <a:srgbClr val="222222"/>
                </a:solidFill>
              </a:rPr>
              <a:t>÷ 2 or </a:t>
            </a:r>
            <a:r>
              <a:rPr lang="en-GB" sz="2000"/>
              <a:t>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180" name="Google Shape;1180;p90" title="times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87429" y="4173678"/>
            <a:ext cx="297601" cy="44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90"/>
          <p:cNvPicPr preferRelativeResize="0"/>
          <p:nvPr/>
        </p:nvPicPr>
        <p:blipFill rotWithShape="1">
          <a:blip r:embed="rId9">
            <a:alphaModFix/>
          </a:blip>
          <a:srcRect b="59597" l="61559" r="13951" t="27330"/>
          <a:stretch/>
        </p:blipFill>
        <p:spPr>
          <a:xfrm>
            <a:off x="322508" y="2625050"/>
            <a:ext cx="572576" cy="29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182" name="Google Shape;1182;p90" title="times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0001" y="2155916"/>
            <a:ext cx="297600" cy="44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90"/>
          <p:cNvPicPr preferRelativeResize="0"/>
          <p:nvPr/>
        </p:nvPicPr>
        <p:blipFill rotWithShape="1">
          <a:blip r:embed="rId9">
            <a:alphaModFix/>
          </a:blip>
          <a:srcRect b="59597" l="61559" r="13951" t="27330"/>
          <a:stretch/>
        </p:blipFill>
        <p:spPr>
          <a:xfrm>
            <a:off x="773354" y="2625050"/>
            <a:ext cx="572576" cy="29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184" name="Google Shape;1184;p90" title="times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0847" y="2155916"/>
            <a:ext cx="297600" cy="44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90"/>
          <p:cNvPicPr preferRelativeResize="0"/>
          <p:nvPr/>
        </p:nvPicPr>
        <p:blipFill rotWithShape="1">
          <a:blip r:embed="rId9">
            <a:alphaModFix/>
          </a:blip>
          <a:srcRect b="59597" l="61559" r="13951" t="27330"/>
          <a:stretch/>
        </p:blipFill>
        <p:spPr>
          <a:xfrm>
            <a:off x="1230554" y="2625050"/>
            <a:ext cx="572576" cy="29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186" name="Google Shape;1186;p90" title="times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68047" y="2155916"/>
            <a:ext cx="297600" cy="449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sp>
        <p:nvSpPr>
          <p:cNvPr id="1192" name="Google Shape;1192;p91"/>
          <p:cNvSpPr txBox="1"/>
          <p:nvPr>
            <p:ph idx="1" type="body"/>
          </p:nvPr>
        </p:nvSpPr>
        <p:spPr>
          <a:xfrm>
            <a:off x="177650" y="6864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Sequences</a:t>
            </a:r>
            <a:r>
              <a:rPr lang="en-GB" sz="2000"/>
              <a:t> can have decimal or fractional multipliers. </a:t>
            </a:r>
            <a:endParaRPr sz="2000"/>
          </a:p>
        </p:txBody>
      </p:sp>
      <p:pic>
        <p:nvPicPr>
          <p:cNvPr id="1193" name="Google Shape;1193;p9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3695705" y="1542977"/>
            <a:ext cx="1758752" cy="54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91"/>
          <p:cNvSpPr txBox="1"/>
          <p:nvPr>
            <p:ph idx="1" type="body"/>
          </p:nvPr>
        </p:nvSpPr>
        <p:spPr>
          <a:xfrm>
            <a:off x="324000" y="2669188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Calculating 12 </a:t>
            </a:r>
            <a:r>
              <a:rPr lang="en-GB" sz="2000">
                <a:solidFill>
                  <a:srgbClr val="222222"/>
                </a:solidFill>
              </a:rPr>
              <a:t>÷</a:t>
            </a:r>
            <a:r>
              <a:rPr lang="en-GB" sz="2000">
                <a:solidFill>
                  <a:srgbClr val="222222"/>
                </a:solidFill>
              </a:rPr>
              <a:t> 8 will find the multiplier.</a:t>
            </a:r>
            <a:endParaRPr sz="2000"/>
          </a:p>
        </p:txBody>
      </p:sp>
      <p:grpSp>
        <p:nvGrpSpPr>
          <p:cNvPr id="1195" name="Google Shape;1195;p91"/>
          <p:cNvGrpSpPr/>
          <p:nvPr/>
        </p:nvGrpSpPr>
        <p:grpSpPr>
          <a:xfrm>
            <a:off x="1089607" y="1974676"/>
            <a:ext cx="6672075" cy="614350"/>
            <a:chOff x="1157144" y="2047576"/>
            <a:chExt cx="6672075" cy="614350"/>
          </a:xfrm>
        </p:grpSpPr>
        <p:sp>
          <p:nvSpPr>
            <p:cNvPr id="1196" name="Google Shape;1196;p91"/>
            <p:cNvSpPr/>
            <p:nvPr/>
          </p:nvSpPr>
          <p:spPr>
            <a:xfrm>
              <a:off x="3411250" y="2135135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7" name="Google Shape;1197;p91"/>
            <p:cNvSpPr/>
            <p:nvPr/>
          </p:nvSpPr>
          <p:spPr>
            <a:xfrm>
              <a:off x="4866838" y="2135135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8" name="Google Shape;1198;p91"/>
            <p:cNvSpPr/>
            <p:nvPr/>
          </p:nvSpPr>
          <p:spPr>
            <a:xfrm>
              <a:off x="6322425" y="2135135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9" name="Google Shape;1199;p91"/>
            <p:cNvSpPr/>
            <p:nvPr/>
          </p:nvSpPr>
          <p:spPr>
            <a:xfrm>
              <a:off x="1955650" y="2135113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0" name="Google Shape;1200;p91"/>
            <p:cNvSpPr/>
            <p:nvPr/>
          </p:nvSpPr>
          <p:spPr>
            <a:xfrm>
              <a:off x="7243619" y="2138126"/>
              <a:ext cx="585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…</a:t>
              </a:r>
              <a:endParaRPr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1" name="Google Shape;1201;p91"/>
            <p:cNvSpPr/>
            <p:nvPr/>
          </p:nvSpPr>
          <p:spPr>
            <a:xfrm>
              <a:off x="1157144" y="2047576"/>
              <a:ext cx="585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…</a:t>
              </a:r>
              <a:endParaRPr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2}{8}=\frac{3}{2}&quot;&gt;&lt;mfrac&gt;&lt;mn&gt;12&lt;/mn&gt;&lt;mn&gt;8&lt;/mn&gt;&lt;/mfrac&gt;&lt;mo&gt;=&lt;/mo&gt;&lt;mfrac&gt;&lt;mn&gt;3&lt;/mn&gt;&lt;mn&gt;2&lt;/mn&gt;&lt;/mfrac&gt;&lt;/math&gt;" id="1202" name="Google Shape;1202;p91" title="twelve eighths equals thre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7350" y="2547600"/>
            <a:ext cx="676740" cy="422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}=\ 1\ \frac{1}{2}=1.5&quot;&gt;&lt;mfrac&gt;&lt;mn&gt;3&lt;/mn&gt;&lt;mn&gt;2&lt;/mn&gt;&lt;/mfrac&gt;&lt;mo&gt;=&lt;/mo&gt;&lt;mtext&gt;&lt;/mtext&gt;&lt;mn&gt;1&lt;/mn&gt;&lt;mtext&gt;&lt;/mtext&gt;&lt;mfrac&gt;&lt;mn&gt;1&lt;/mn&gt;&lt;mn&gt;2&lt;/mn&gt;&lt;/mfrac&gt;&lt;mo&gt;=&lt;/mo&gt;&lt;mn&gt;1.5&lt;/mn&gt;&lt;/math&gt;" id="1203" name="Google Shape;1203;p91" title="three halves equals 1 one half equals 1.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1075" y="3131810"/>
            <a:ext cx="1286175" cy="410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2}&quot;&gt;&lt;mo&gt;×&lt;/mo&gt;&lt;mfrac&gt;&lt;mn&gt;3&lt;/mn&gt;&lt;mn&gt;2&lt;/mn&gt;&lt;/mfrac&gt;&lt;/math&gt;" id="1204" name="Google Shape;1204;p91" title="times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24411" y="1007100"/>
            <a:ext cx="360099" cy="5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91"/>
          <p:cNvSpPr txBox="1"/>
          <p:nvPr>
            <p:ph idx="1" type="body"/>
          </p:nvPr>
        </p:nvSpPr>
        <p:spPr>
          <a:xfrm>
            <a:off x="324000" y="366558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Calculating              </a:t>
            </a:r>
            <a:r>
              <a:rPr lang="en-GB" sz="2000">
                <a:solidFill>
                  <a:srgbClr val="222222"/>
                </a:solidFill>
              </a:rPr>
              <a:t>will find the next number in the </a:t>
            </a:r>
            <a:r>
              <a:rPr b="1" lang="en-GB" sz="2000">
                <a:solidFill>
                  <a:srgbClr val="222222"/>
                </a:solidFill>
              </a:rPr>
              <a:t>sequence</a:t>
            </a:r>
            <a:r>
              <a:rPr lang="en-GB" sz="2000">
                <a:solidFill>
                  <a:srgbClr val="222222"/>
                </a:solidFill>
              </a:rPr>
              <a:t>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12\times\frac{3}{2}&quot;&gt;&lt;mn&gt;12&lt;/mn&gt;&lt;mo&gt;×&lt;/mo&gt;&lt;mfrac&gt;&lt;mn&gt;3&lt;/mn&gt;&lt;mn&gt;2&lt;/mn&gt;&lt;/mfrac&gt;&lt;/math&gt;" id="1206" name="Google Shape;1206;p91" title="12 times three halve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78875" y="3519192"/>
            <a:ext cx="806068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6}{2}=18&quot;&gt;&lt;mfrac&gt;&lt;mn&gt;36&lt;/mn&gt;&lt;mn&gt;2&lt;/mn&gt;&lt;/mfrac&gt;&lt;mo&gt;=&lt;/mo&gt;&lt;mn&gt;18&lt;/mn&gt;&lt;/math&gt;" id="1207" name="Google Shape;1207;p91" title="36 over 2 equals 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62162" y="4149400"/>
            <a:ext cx="102546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9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-139632">
            <a:off x="5182467" y="1615877"/>
            <a:ext cx="1758751" cy="544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2}&quot;&gt;&lt;mo&gt;×&lt;/mo&gt;&lt;mfrac&gt;&lt;mn&gt;3&lt;/mn&gt;&lt;mn&gt;2&lt;/mn&gt;&lt;/mfrac&gt;&lt;/math&gt;" id="1209" name="Google Shape;1209;p91" title="times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9749" y="1080000"/>
            <a:ext cx="360099" cy="54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sp>
        <p:nvSpPr>
          <p:cNvPr id="1215" name="Google Shape;1215;p92"/>
          <p:cNvSpPr/>
          <p:nvPr/>
        </p:nvSpPr>
        <p:spPr>
          <a:xfrm>
            <a:off x="1955650" y="1554938"/>
            <a:ext cx="871500" cy="642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6" name="Google Shape;1216;p92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3763243" y="1150812"/>
            <a:ext cx="1758752" cy="54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92"/>
          <p:cNvSpPr txBox="1"/>
          <p:nvPr>
            <p:ph idx="1" type="body"/>
          </p:nvPr>
        </p:nvSpPr>
        <p:spPr>
          <a:xfrm>
            <a:off x="324000" y="3230688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Calculating           </a:t>
            </a:r>
            <a:r>
              <a:rPr lang="en-GB" sz="1800">
                <a:solidFill>
                  <a:srgbClr val="222222"/>
                </a:solidFill>
              </a:rPr>
              <a:t>will find the previous number in the </a:t>
            </a:r>
            <a:r>
              <a:rPr b="1" lang="en-GB" sz="1800">
                <a:solidFill>
                  <a:srgbClr val="222222"/>
                </a:solidFill>
              </a:rPr>
              <a:t>sequence</a:t>
            </a:r>
            <a:r>
              <a:rPr lang="en-GB" sz="1800">
                <a:solidFill>
                  <a:srgbClr val="222222"/>
                </a:solidFill>
              </a:rPr>
              <a:t>.</a:t>
            </a:r>
            <a:endParaRPr sz="1800"/>
          </a:p>
        </p:txBody>
      </p:sp>
      <p:pic>
        <p:nvPicPr>
          <p:cNvPr id="1218" name="Google Shape;1218;p92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10800000">
            <a:off x="2131118" y="2120662"/>
            <a:ext cx="1758752" cy="544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2}&quot;&gt;&lt;mo&gt;×&lt;/mo&gt;&lt;mfrac&gt;&lt;mn&gt;3&lt;/mn&gt;&lt;mn&gt;2&lt;/mn&gt;&lt;/mfrac&gt;&lt;/math&gt;" id="1219" name="Google Shape;1219;p92" title="times thre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7643" y="655260"/>
            <a:ext cx="328721" cy="495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92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5182468" y="1150812"/>
            <a:ext cx="1758752" cy="544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2}&quot;&gt;&lt;mo&gt;×&lt;/mo&gt;&lt;mfrac&gt;&lt;mn&gt;3&lt;/mn&gt;&lt;mn&gt;2&lt;/mn&gt;&lt;/mfrac&gt;&lt;/math&gt;" id="1221" name="Google Shape;1221;p92" title="times thre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7487" y="655260"/>
            <a:ext cx="328721" cy="495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div\frac{3}{2}&quot;&gt;&lt;mn&gt;8&lt;/mn&gt;&lt;mo&gt;÷&lt;/mo&gt;&lt;mfrac&gt;&lt;mn&gt;3&lt;/mn&gt;&lt;mn&gt;2&lt;/mn&gt;&lt;/mfrac&gt;&lt;/math&gt;" id="1222" name="Google Shape;1222;p92" title="8 divided by three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6375" y="3151750"/>
            <a:ext cx="510032" cy="47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 \times\frac{2}{3}&quot;&gt;&lt;mn&gt;8&lt;/mn&gt;&lt;mtext&gt;&lt;/mtext&gt;&lt;mo&gt;×&lt;/mo&gt;&lt;mfrac&gt;&lt;mn&gt;2&lt;/mn&gt;&lt;mn&gt;3&lt;/mn&gt;&lt;/mfrac&gt;&lt;/math&gt;" id="1223" name="Google Shape;1223;p92" title="8 times 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60800" y="3705206"/>
            <a:ext cx="585600" cy="4816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3}=5\ \frac{1}{3}&quot;&gt;&lt;mfrac&gt;&lt;mn&gt;16&lt;/mn&gt;&lt;mn&gt;3&lt;/mn&gt;&lt;/mfrac&gt;&lt;mo&gt;=&lt;/mo&gt;&lt;mn&gt;5&lt;/mn&gt;&lt;mtext&gt;&lt;/mtext&gt;&lt;mfrac&gt;&lt;mn&gt;1&lt;/mn&gt;&lt;mn&gt;3&lt;/mn&gt;&lt;/mfrac&gt;&lt;/math&gt;" id="1224" name="Google Shape;1224;p92" title="sixteen thirds equals 5 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1475" y="4306750"/>
            <a:ext cx="921691" cy="48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div\frac{3}{2}&quot;&gt;&lt;mo&gt;÷&lt;/mo&gt;&lt;mfrac&gt;&lt;mn&gt;3&lt;/mn&gt;&lt;mn&gt;2&lt;/mn&gt;&lt;/mfrac&gt;&lt;/math&gt;" id="1225" name="Google Shape;1225;p92" title="division sign three halve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87208" y="2664805"/>
            <a:ext cx="328722" cy="518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6}{3}&quot;&gt;&lt;mfrac&gt;&lt;mn&gt;16&lt;/mn&gt;&lt;mn&gt;3&lt;/mn&gt;&lt;/mfrac&gt;&lt;/math&gt;" id="1226" name="Google Shape;1226;p92" title="sixteen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68400" y="1602025"/>
            <a:ext cx="279828" cy="518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7" name="Google Shape;1227;p92"/>
          <p:cNvGrpSpPr/>
          <p:nvPr/>
        </p:nvGrpSpPr>
        <p:grpSpPr>
          <a:xfrm>
            <a:off x="1157144" y="1600649"/>
            <a:ext cx="6672075" cy="614350"/>
            <a:chOff x="1157144" y="1582511"/>
            <a:chExt cx="6672075" cy="614350"/>
          </a:xfrm>
        </p:grpSpPr>
        <p:sp>
          <p:nvSpPr>
            <p:cNvPr id="1228" name="Google Shape;1228;p92"/>
            <p:cNvSpPr/>
            <p:nvPr/>
          </p:nvSpPr>
          <p:spPr>
            <a:xfrm>
              <a:off x="3411250" y="1670070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9" name="Google Shape;1229;p92"/>
            <p:cNvSpPr/>
            <p:nvPr/>
          </p:nvSpPr>
          <p:spPr>
            <a:xfrm>
              <a:off x="4866838" y="1670070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0" name="Google Shape;1230;p92"/>
            <p:cNvSpPr/>
            <p:nvPr/>
          </p:nvSpPr>
          <p:spPr>
            <a:xfrm>
              <a:off x="6322450" y="1670070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18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1" name="Google Shape;1231;p92"/>
            <p:cNvSpPr/>
            <p:nvPr/>
          </p:nvSpPr>
          <p:spPr>
            <a:xfrm>
              <a:off x="7243619" y="1673061"/>
              <a:ext cx="585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…</a:t>
              </a:r>
              <a:endParaRPr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2" name="Google Shape;1232;p92"/>
            <p:cNvSpPr/>
            <p:nvPr/>
          </p:nvSpPr>
          <p:spPr>
            <a:xfrm>
              <a:off x="1157144" y="1582511"/>
              <a:ext cx="585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…</a:t>
              </a:r>
              <a:endParaRPr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3" name="Google Shape;1233;p92"/>
          <p:cNvSpPr/>
          <p:nvPr/>
        </p:nvSpPr>
        <p:spPr>
          <a:xfrm>
            <a:off x="1955650" y="1657335"/>
            <a:ext cx="871500" cy="450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constant multiplicative pattern</a:t>
            </a:r>
            <a:endParaRPr/>
          </a:p>
        </p:txBody>
      </p:sp>
      <p:sp>
        <p:nvSpPr>
          <p:cNvPr id="1239" name="Google Shape;1239;p93"/>
          <p:cNvSpPr txBox="1"/>
          <p:nvPr>
            <p:ph type="title"/>
          </p:nvPr>
        </p:nvSpPr>
        <p:spPr>
          <a:xfrm>
            <a:off x="324000" y="810000"/>
            <a:ext cx="55086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</a:t>
            </a:r>
            <a:r>
              <a:rPr b="1" lang="en-GB" sz="2000"/>
              <a:t>sequence</a:t>
            </a:r>
            <a:r>
              <a:rPr lang="en-GB" sz="2000"/>
              <a:t> has a constant multiplicative pattern. What is the multiplier?</a:t>
            </a:r>
            <a:endParaRPr sz="2000"/>
          </a:p>
        </p:txBody>
      </p:sp>
      <p:sp>
        <p:nvSpPr>
          <p:cNvPr id="1240" name="Google Shape;1240;p9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1241" name="Google Shape;1241;p9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/>
              <a:t>2</a:t>
            </a:r>
            <a:endParaRPr/>
          </a:p>
        </p:txBody>
      </p:sp>
      <p:sp>
        <p:nvSpPr>
          <p:cNvPr id="1242" name="Google Shape;1242;p9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/>
              <a:t>21</a:t>
            </a:r>
            <a:endParaRPr/>
          </a:p>
        </p:txBody>
      </p:sp>
      <p:pic>
        <p:nvPicPr>
          <p:cNvPr id="1243" name="Google Shape;124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8" y="16849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244" name="Google Shape;1244;p93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425" y="1587768"/>
            <a:ext cx="192558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93"/>
          <p:cNvSpPr/>
          <p:nvPr/>
        </p:nvSpPr>
        <p:spPr>
          <a:xfrm>
            <a:off x="6053700" y="932400"/>
            <a:ext cx="2652000" cy="48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…, 42, 21, …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constant multiplicative pattern</a:t>
            </a:r>
            <a:endParaRPr/>
          </a:p>
        </p:txBody>
      </p:sp>
      <p:sp>
        <p:nvSpPr>
          <p:cNvPr id="1251" name="Google Shape;1251;p94"/>
          <p:cNvSpPr txBox="1"/>
          <p:nvPr>
            <p:ph type="title"/>
          </p:nvPr>
        </p:nvSpPr>
        <p:spPr>
          <a:xfrm>
            <a:off x="324000" y="810000"/>
            <a:ext cx="5515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</a:t>
            </a:r>
            <a:r>
              <a:rPr b="1" lang="en-GB" sz="2000"/>
              <a:t>sequence</a:t>
            </a:r>
            <a:r>
              <a:rPr lang="en-GB" sz="2000"/>
              <a:t> has a constant multiplicative pattern. What is the multiplier?  </a:t>
            </a:r>
            <a:endParaRPr sz="2000"/>
          </a:p>
        </p:txBody>
      </p:sp>
      <p:sp>
        <p:nvSpPr>
          <p:cNvPr id="1252" name="Google Shape;1252;p94"/>
          <p:cNvSpPr txBox="1"/>
          <p:nvPr>
            <p:ph idx="4" type="subTitle"/>
          </p:nvPr>
        </p:nvSpPr>
        <p:spPr>
          <a:xfrm>
            <a:off x="1034425" y="1716486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/>
              <a:t>2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253" name="Google Shape;1253;p94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813" y="3120486"/>
            <a:ext cx="190875" cy="6135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3}&quot;&gt;&lt;mfrac&gt;&lt;mn&gt;5&lt;/mn&gt;&lt;mn&gt;3&lt;/mn&gt;&lt;/mfrac&gt;&lt;/math&gt;" id="1254" name="Google Shape;1254;p94" title="five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813" y="3957863"/>
            <a:ext cx="190875" cy="613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255" name="Google Shape;1255;p94" title="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7813" y="2317050"/>
            <a:ext cx="19086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84808" y="32177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p94"/>
          <p:cNvSpPr/>
          <p:nvPr/>
        </p:nvSpPr>
        <p:spPr>
          <a:xfrm>
            <a:off x="6053700" y="932400"/>
            <a:ext cx="2652000" cy="489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…, 5, 3, …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95"/>
          <p:cNvSpPr txBox="1"/>
          <p:nvPr>
            <p:ph idx="1" type="body"/>
          </p:nvPr>
        </p:nvSpPr>
        <p:spPr>
          <a:xfrm>
            <a:off x="324000" y="759300"/>
            <a:ext cx="43041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Jun has written the numbers: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1, −1, 1, −1, …</a:t>
            </a:r>
            <a:endParaRPr/>
          </a:p>
        </p:txBody>
      </p:sp>
      <p:sp>
        <p:nvSpPr>
          <p:cNvPr id="1263" name="Google Shape;1263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pic>
        <p:nvPicPr>
          <p:cNvPr id="1264" name="Google Shape;126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37" y="29031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95"/>
          <p:cNvSpPr txBox="1"/>
          <p:nvPr/>
        </p:nvSpPr>
        <p:spPr>
          <a:xfrm>
            <a:off x="493350" y="3780000"/>
            <a:ext cx="7737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6" name="Google Shape;1266;p95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187275" y="1812050"/>
            <a:ext cx="3260800" cy="1821424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95"/>
          <p:cNvSpPr/>
          <p:nvPr/>
        </p:nvSpPr>
        <p:spPr>
          <a:xfrm flipH="1">
            <a:off x="1461000" y="1947450"/>
            <a:ext cx="28590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is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sequence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with a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constant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additive pattern as 1 and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 have a difference of 2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95"/>
          <p:cNvSpPr txBox="1"/>
          <p:nvPr>
            <p:ph idx="1" type="body"/>
          </p:nvPr>
        </p:nvSpPr>
        <p:spPr>
          <a:xfrm>
            <a:off x="1413325" y="3660025"/>
            <a:ext cx="5898300" cy="5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you agree with Jun?</a:t>
            </a:r>
            <a:endParaRPr/>
          </a:p>
        </p:txBody>
      </p:sp>
      <p:sp>
        <p:nvSpPr>
          <p:cNvPr id="1269" name="Google Shape;1269;p95"/>
          <p:cNvSpPr/>
          <p:nvPr/>
        </p:nvSpPr>
        <p:spPr>
          <a:xfrm>
            <a:off x="5767121" y="1583421"/>
            <a:ext cx="773700" cy="399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95"/>
          <p:cNvSpPr/>
          <p:nvPr/>
        </p:nvSpPr>
        <p:spPr>
          <a:xfrm>
            <a:off x="6754633" y="1583421"/>
            <a:ext cx="773700" cy="399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95"/>
          <p:cNvSpPr/>
          <p:nvPr/>
        </p:nvSpPr>
        <p:spPr>
          <a:xfrm>
            <a:off x="7742145" y="1583421"/>
            <a:ext cx="773700" cy="399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−1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5"/>
          <p:cNvSpPr/>
          <p:nvPr/>
        </p:nvSpPr>
        <p:spPr>
          <a:xfrm>
            <a:off x="4779598" y="1583402"/>
            <a:ext cx="773700" cy="399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95"/>
          <p:cNvSpPr/>
          <p:nvPr/>
        </p:nvSpPr>
        <p:spPr>
          <a:xfrm>
            <a:off x="8413618" y="1500311"/>
            <a:ext cx="585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95"/>
          <p:cNvSpPr txBox="1"/>
          <p:nvPr>
            <p:ph idx="1" type="body"/>
          </p:nvPr>
        </p:nvSpPr>
        <p:spPr>
          <a:xfrm>
            <a:off x="5453750" y="883060"/>
            <a:ext cx="727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+(−2)</a:t>
            </a:r>
            <a:endParaRPr sz="2000"/>
          </a:p>
        </p:txBody>
      </p:sp>
      <p:pic>
        <p:nvPicPr>
          <p:cNvPr id="1275" name="Google Shape;1275;p95"/>
          <p:cNvPicPr preferRelativeResize="0"/>
          <p:nvPr/>
        </p:nvPicPr>
        <p:blipFill rotWithShape="1">
          <a:blip r:embed="rId5">
            <a:alphaModFix/>
          </a:blip>
          <a:srcRect b="59597" l="61559" r="13951" t="27330"/>
          <a:stretch/>
        </p:blipFill>
        <p:spPr>
          <a:xfrm>
            <a:off x="5027348" y="1184110"/>
            <a:ext cx="1227524" cy="399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95"/>
          <p:cNvPicPr preferRelativeResize="0"/>
          <p:nvPr/>
        </p:nvPicPr>
        <p:blipFill rotWithShape="1">
          <a:blip r:embed="rId5">
            <a:alphaModFix/>
          </a:blip>
          <a:srcRect b="59597" l="61559" r="13951" t="27330"/>
          <a:stretch/>
        </p:blipFill>
        <p:spPr>
          <a:xfrm>
            <a:off x="6084198" y="1184110"/>
            <a:ext cx="1227524" cy="399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p95"/>
          <p:cNvPicPr preferRelativeResize="0"/>
          <p:nvPr/>
        </p:nvPicPr>
        <p:blipFill rotWithShape="1">
          <a:blip r:embed="rId5">
            <a:alphaModFix/>
          </a:blip>
          <a:srcRect b="59597" l="61559" r="13951" t="27330"/>
          <a:stretch/>
        </p:blipFill>
        <p:spPr>
          <a:xfrm>
            <a:off x="7115323" y="1184110"/>
            <a:ext cx="1227524" cy="399298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95"/>
          <p:cNvSpPr txBox="1"/>
          <p:nvPr>
            <p:ph idx="1" type="body"/>
          </p:nvPr>
        </p:nvSpPr>
        <p:spPr>
          <a:xfrm>
            <a:off x="7516699" y="883060"/>
            <a:ext cx="66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+(−2)</a:t>
            </a:r>
            <a:endParaRPr sz="2000"/>
          </a:p>
        </p:txBody>
      </p:sp>
      <p:sp>
        <p:nvSpPr>
          <p:cNvPr id="1279" name="Google Shape;1279;p95"/>
          <p:cNvSpPr txBox="1"/>
          <p:nvPr>
            <p:ph idx="1" type="body"/>
          </p:nvPr>
        </p:nvSpPr>
        <p:spPr>
          <a:xfrm>
            <a:off x="6510621" y="883072"/>
            <a:ext cx="3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+2</a:t>
            </a:r>
            <a:endParaRPr sz="2000"/>
          </a:p>
        </p:txBody>
      </p:sp>
      <p:sp>
        <p:nvSpPr>
          <p:cNvPr id="1280" name="Google Shape;1280;p95"/>
          <p:cNvSpPr txBox="1"/>
          <p:nvPr>
            <p:ph idx="1" type="body"/>
          </p:nvPr>
        </p:nvSpPr>
        <p:spPr>
          <a:xfrm>
            <a:off x="4746923" y="2228960"/>
            <a:ext cx="4130700" cy="11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amount being added each time is different so this is not a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sequence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with a constant additive pattern.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1" name="Google Shape;1281;p95"/>
          <p:cNvSpPr txBox="1"/>
          <p:nvPr/>
        </p:nvSpPr>
        <p:spPr>
          <a:xfrm>
            <a:off x="1334900" y="4008025"/>
            <a:ext cx="6899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see another relationship between successive numbers in this pattern?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96"/>
          <p:cNvSpPr txBox="1"/>
          <p:nvPr>
            <p:ph idx="1" type="body"/>
          </p:nvPr>
        </p:nvSpPr>
        <p:spPr>
          <a:xfrm>
            <a:off x="324000" y="759300"/>
            <a:ext cx="82377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Jacob has written the numbers: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1, −1, 1, −1, …</a:t>
            </a:r>
            <a:endParaRPr/>
          </a:p>
        </p:txBody>
      </p:sp>
      <p:sp>
        <p:nvSpPr>
          <p:cNvPr id="1287" name="Google Shape;1287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pic>
        <p:nvPicPr>
          <p:cNvPr id="1288" name="Google Shape;128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37" y="29031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96"/>
          <p:cNvSpPr txBox="1"/>
          <p:nvPr/>
        </p:nvSpPr>
        <p:spPr>
          <a:xfrm>
            <a:off x="286038" y="38900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0" name="Google Shape;1290;p96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187275" y="1812050"/>
            <a:ext cx="3132723" cy="1821424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96"/>
          <p:cNvSpPr/>
          <p:nvPr/>
        </p:nvSpPr>
        <p:spPr>
          <a:xfrm flipH="1">
            <a:off x="1461000" y="1947450"/>
            <a:ext cx="27402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is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sequence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with an additive pattern as 1 and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 have a difference of 2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96"/>
          <p:cNvSpPr/>
          <p:nvPr/>
        </p:nvSpPr>
        <p:spPr>
          <a:xfrm>
            <a:off x="5709623" y="1620011"/>
            <a:ext cx="773700" cy="399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6"/>
          <p:cNvSpPr/>
          <p:nvPr/>
        </p:nvSpPr>
        <p:spPr>
          <a:xfrm>
            <a:off x="6697135" y="1620011"/>
            <a:ext cx="773700" cy="399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6"/>
          <p:cNvSpPr/>
          <p:nvPr/>
        </p:nvSpPr>
        <p:spPr>
          <a:xfrm>
            <a:off x="7684646" y="1620011"/>
            <a:ext cx="773700" cy="399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6"/>
          <p:cNvSpPr/>
          <p:nvPr/>
        </p:nvSpPr>
        <p:spPr>
          <a:xfrm>
            <a:off x="4722100" y="1619992"/>
            <a:ext cx="773700" cy="399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6"/>
          <p:cNvSpPr/>
          <p:nvPr/>
        </p:nvSpPr>
        <p:spPr>
          <a:xfrm>
            <a:off x="8356119" y="1536901"/>
            <a:ext cx="585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97" name="Google Shape;1297;p96"/>
          <p:cNvPicPr preferRelativeResize="0"/>
          <p:nvPr/>
        </p:nvPicPr>
        <p:blipFill rotWithShape="1">
          <a:blip r:embed="rId5">
            <a:alphaModFix/>
          </a:blip>
          <a:srcRect b="59597" l="61559" r="13951" t="27330"/>
          <a:stretch/>
        </p:blipFill>
        <p:spPr>
          <a:xfrm>
            <a:off x="4969850" y="1220700"/>
            <a:ext cx="1227524" cy="399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96"/>
          <p:cNvPicPr preferRelativeResize="0"/>
          <p:nvPr/>
        </p:nvPicPr>
        <p:blipFill rotWithShape="1">
          <a:blip r:embed="rId5">
            <a:alphaModFix/>
          </a:blip>
          <a:srcRect b="59597" l="61559" r="13951" t="27330"/>
          <a:stretch/>
        </p:blipFill>
        <p:spPr>
          <a:xfrm>
            <a:off x="6026700" y="1220700"/>
            <a:ext cx="1227524" cy="399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96"/>
          <p:cNvPicPr preferRelativeResize="0"/>
          <p:nvPr/>
        </p:nvPicPr>
        <p:blipFill rotWithShape="1">
          <a:blip r:embed="rId5">
            <a:alphaModFix/>
          </a:blip>
          <a:srcRect b="59597" l="61559" r="13951" t="27330"/>
          <a:stretch/>
        </p:blipFill>
        <p:spPr>
          <a:xfrm>
            <a:off x="7057825" y="1220700"/>
            <a:ext cx="1227524" cy="3992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96"/>
          <p:cNvSpPr txBox="1"/>
          <p:nvPr>
            <p:ph idx="1" type="body"/>
          </p:nvPr>
        </p:nvSpPr>
        <p:spPr>
          <a:xfrm>
            <a:off x="4689425" y="2265550"/>
            <a:ext cx="4130700" cy="11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value has been multiplied by −1 to get the next 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sequence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alternates between positive and negative values.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1" name="Google Shape;1301;p96"/>
          <p:cNvSpPr txBox="1"/>
          <p:nvPr>
            <p:ph idx="1" type="body"/>
          </p:nvPr>
        </p:nvSpPr>
        <p:spPr>
          <a:xfrm>
            <a:off x="5290810" y="942000"/>
            <a:ext cx="5856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×</a:t>
            </a:r>
            <a:r>
              <a:rPr lang="en-GB"/>
              <a:t>−</a:t>
            </a:r>
            <a:r>
              <a:rPr lang="en-GB"/>
              <a:t>1</a:t>
            </a:r>
            <a:endParaRPr/>
          </a:p>
        </p:txBody>
      </p:sp>
      <p:sp>
        <p:nvSpPr>
          <p:cNvPr id="1302" name="Google Shape;1302;p96"/>
          <p:cNvSpPr txBox="1"/>
          <p:nvPr>
            <p:ph idx="1" type="body"/>
          </p:nvPr>
        </p:nvSpPr>
        <p:spPr>
          <a:xfrm>
            <a:off x="6347673" y="942000"/>
            <a:ext cx="5856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×</a:t>
            </a:r>
            <a:r>
              <a:rPr lang="en-GB"/>
              <a:t>−</a:t>
            </a:r>
            <a:r>
              <a:rPr lang="en-GB"/>
              <a:t>1</a:t>
            </a:r>
            <a:endParaRPr/>
          </a:p>
        </p:txBody>
      </p:sp>
      <p:sp>
        <p:nvSpPr>
          <p:cNvPr id="1303" name="Google Shape;1303;p96"/>
          <p:cNvSpPr txBox="1"/>
          <p:nvPr>
            <p:ph idx="1" type="body"/>
          </p:nvPr>
        </p:nvSpPr>
        <p:spPr>
          <a:xfrm>
            <a:off x="7404548" y="942000"/>
            <a:ext cx="585600" cy="2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×</a:t>
            </a:r>
            <a:r>
              <a:rPr lang="en-GB"/>
              <a:t>−</a:t>
            </a:r>
            <a:r>
              <a:rPr lang="en-GB"/>
              <a:t>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sp>
        <p:nvSpPr>
          <p:cNvPr id="1309" name="Google Shape;1309;p97"/>
          <p:cNvSpPr txBox="1"/>
          <p:nvPr>
            <p:ph idx="1" type="body"/>
          </p:nvPr>
        </p:nvSpPr>
        <p:spPr>
          <a:xfrm>
            <a:off x="208975" y="724187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Sequences</a:t>
            </a:r>
            <a:r>
              <a:rPr lang="en-GB" sz="1800"/>
              <a:t> can have negative multipliers.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1310" name="Google Shape;1310;p9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3614894" y="1353545"/>
            <a:ext cx="1649984" cy="483442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97"/>
          <p:cNvSpPr txBox="1"/>
          <p:nvPr>
            <p:ph idx="1" type="body"/>
          </p:nvPr>
        </p:nvSpPr>
        <p:spPr>
          <a:xfrm>
            <a:off x="355350" y="2938425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Calculating (−30) </a:t>
            </a:r>
            <a:r>
              <a:rPr lang="en-GB">
                <a:solidFill>
                  <a:srgbClr val="222222"/>
                </a:solidFill>
              </a:rPr>
              <a:t>×</a:t>
            </a:r>
            <a:r>
              <a:rPr lang="en-GB" sz="2000">
                <a:solidFill>
                  <a:srgbClr val="222222"/>
                </a:solidFill>
              </a:rPr>
              <a:t> (−5) will find the next number in the </a:t>
            </a:r>
            <a:r>
              <a:rPr b="1" lang="en-GB" sz="2000">
                <a:solidFill>
                  <a:srgbClr val="222222"/>
                </a:solidFill>
              </a:rPr>
              <a:t>sequence</a:t>
            </a:r>
            <a:r>
              <a:rPr lang="en-GB" sz="2000">
                <a:solidFill>
                  <a:srgbClr val="222222"/>
                </a:solidFill>
              </a:rPr>
              <a:t>.</a:t>
            </a:r>
            <a:endParaRPr sz="2000"/>
          </a:p>
        </p:txBody>
      </p:sp>
      <p:sp>
        <p:nvSpPr>
          <p:cNvPr id="1312" name="Google Shape;1312;p97"/>
          <p:cNvSpPr txBox="1"/>
          <p:nvPr>
            <p:ph idx="1" type="body"/>
          </p:nvPr>
        </p:nvSpPr>
        <p:spPr>
          <a:xfrm>
            <a:off x="4137220" y="1060588"/>
            <a:ext cx="869100" cy="24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× (</a:t>
            </a:r>
            <a:r>
              <a:rPr lang="en-GB"/>
              <a:t>−5)</a:t>
            </a:r>
            <a:endParaRPr/>
          </a:p>
        </p:txBody>
      </p:sp>
      <p:pic>
        <p:nvPicPr>
          <p:cNvPr id="1313" name="Google Shape;1313;p9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>
            <a:off x="5070209" y="1353545"/>
            <a:ext cx="1649984" cy="483442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97"/>
          <p:cNvSpPr txBox="1"/>
          <p:nvPr>
            <p:ph idx="1" type="body"/>
          </p:nvPr>
        </p:nvSpPr>
        <p:spPr>
          <a:xfrm>
            <a:off x="5501674" y="1060588"/>
            <a:ext cx="817500" cy="24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22222"/>
                </a:solidFill>
              </a:rPr>
              <a:t>× (</a:t>
            </a:r>
            <a:r>
              <a:rPr lang="en-GB"/>
              <a:t>−</a:t>
            </a:r>
            <a:r>
              <a:rPr lang="en-GB"/>
              <a:t>5)</a:t>
            </a:r>
            <a:endParaRPr/>
          </a:p>
        </p:txBody>
      </p:sp>
      <p:grpSp>
        <p:nvGrpSpPr>
          <p:cNvPr id="1315" name="Google Shape;1315;p97"/>
          <p:cNvGrpSpPr/>
          <p:nvPr/>
        </p:nvGrpSpPr>
        <p:grpSpPr>
          <a:xfrm>
            <a:off x="1369760" y="1777408"/>
            <a:ext cx="6089434" cy="470439"/>
            <a:chOff x="1370044" y="1940451"/>
            <a:chExt cx="6490550" cy="529475"/>
          </a:xfrm>
        </p:grpSpPr>
        <p:sp>
          <p:nvSpPr>
            <p:cNvPr id="1316" name="Google Shape;1316;p97"/>
            <p:cNvSpPr/>
            <p:nvPr/>
          </p:nvSpPr>
          <p:spPr>
            <a:xfrm>
              <a:off x="6372125" y="1982735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7" name="Google Shape;1317;p97"/>
            <p:cNvSpPr/>
            <p:nvPr/>
          </p:nvSpPr>
          <p:spPr>
            <a:xfrm>
              <a:off x="3411250" y="1982735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8" name="Google Shape;1318;p97"/>
            <p:cNvSpPr/>
            <p:nvPr/>
          </p:nvSpPr>
          <p:spPr>
            <a:xfrm>
              <a:off x="4866838" y="1982735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−30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9" name="Google Shape;1319;p97"/>
            <p:cNvSpPr/>
            <p:nvPr/>
          </p:nvSpPr>
          <p:spPr>
            <a:xfrm>
              <a:off x="1955650" y="1982713"/>
              <a:ext cx="871500" cy="450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0" name="Google Shape;1320;p97"/>
            <p:cNvSpPr/>
            <p:nvPr/>
          </p:nvSpPr>
          <p:spPr>
            <a:xfrm>
              <a:off x="7274994" y="1946126"/>
              <a:ext cx="585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…</a:t>
              </a:r>
              <a:endParaRPr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1" name="Google Shape;1321;p97"/>
            <p:cNvSpPr/>
            <p:nvPr/>
          </p:nvSpPr>
          <p:spPr>
            <a:xfrm>
              <a:off x="1370044" y="1940451"/>
              <a:ext cx="585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…</a:t>
              </a:r>
              <a:endParaRPr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22" name="Google Shape;1322;p97"/>
          <p:cNvSpPr/>
          <p:nvPr/>
        </p:nvSpPr>
        <p:spPr>
          <a:xfrm>
            <a:off x="6062425" y="1809827"/>
            <a:ext cx="817500" cy="40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150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97"/>
          <p:cNvSpPr txBox="1"/>
          <p:nvPr>
            <p:ph idx="1" type="body"/>
          </p:nvPr>
        </p:nvSpPr>
        <p:spPr>
          <a:xfrm>
            <a:off x="324000" y="3438888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Calculating 6 </a:t>
            </a:r>
            <a:r>
              <a:rPr lang="en-GB" sz="2000">
                <a:solidFill>
                  <a:srgbClr val="222222"/>
                </a:solidFill>
              </a:rPr>
              <a:t>÷ (</a:t>
            </a:r>
            <a:r>
              <a:rPr lang="en-GB" sz="2000"/>
              <a:t>−5)</a:t>
            </a:r>
            <a:r>
              <a:rPr lang="en-GB" sz="2000">
                <a:solidFill>
                  <a:srgbClr val="222222"/>
                </a:solidFill>
              </a:rPr>
              <a:t> will find the previous number in the </a:t>
            </a:r>
            <a:r>
              <a:rPr b="1" lang="en-GB" sz="2000">
                <a:solidFill>
                  <a:srgbClr val="222222"/>
                </a:solidFill>
              </a:rPr>
              <a:t>sequence</a:t>
            </a:r>
            <a:r>
              <a:rPr lang="en-GB" sz="2000">
                <a:solidFill>
                  <a:srgbClr val="222222"/>
                </a:solidFill>
              </a:rPr>
              <a:t>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6}{-5}=\frac{12}{-10}&quot;&gt;&lt;mfrac&gt;&lt;mn&gt;6&lt;/mn&gt;&lt;mrow&gt;&lt;mo&gt;−&lt;/mo&gt;&lt;mn&gt;5&lt;/mn&gt;&lt;/mrow&gt;&lt;/mfrac&gt;&lt;mo&gt;=&lt;/mo&gt;&lt;mfrac&gt;&lt;mn&gt;12&lt;/mn&gt;&lt;mrow&gt;&lt;mo&gt;−&lt;/mo&gt;&lt;mn&gt;10&lt;/mn&gt;&lt;/mrow&gt;&lt;/mfrac&gt;&lt;/math&gt;" id="1324" name="Google Shape;1324;p97" title="6 over negative 5 equals 12 over negative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4800" y="3812637"/>
            <a:ext cx="1193271" cy="544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-10}=-1.2&quot;&gt;&lt;mfrac&gt;&lt;mn&gt;12&lt;/mn&gt;&lt;mrow&gt;&lt;mo&gt;−&lt;/mo&gt;&lt;mn&gt;10&lt;/mn&gt;&lt;/mrow&gt;&lt;/mfrac&gt;&lt;mo&gt;=&lt;/mo&gt;&lt;mo&gt;−&lt;/mo&gt;&lt;mn&gt;1.2&lt;/mn&gt;&lt;/math&gt;" id="1325" name="Google Shape;1325;p97" title="12 over negative 10 equals negative 1.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0810" y="4439850"/>
            <a:ext cx="1281247" cy="52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" name="Google Shape;1326;p97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rot="10800000">
            <a:off x="2083706" y="2101247"/>
            <a:ext cx="1649984" cy="483442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97"/>
          <p:cNvSpPr txBox="1"/>
          <p:nvPr>
            <p:ph idx="1" type="body"/>
          </p:nvPr>
        </p:nvSpPr>
        <p:spPr>
          <a:xfrm>
            <a:off x="2626010" y="2513550"/>
            <a:ext cx="817500" cy="24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</a:rPr>
              <a:t>÷ </a:t>
            </a:r>
            <a:r>
              <a:rPr lang="en-GB">
                <a:solidFill>
                  <a:srgbClr val="222222"/>
                </a:solidFill>
              </a:rPr>
              <a:t>(</a:t>
            </a:r>
            <a:r>
              <a:rPr lang="en-GB"/>
              <a:t>−5)</a:t>
            </a:r>
            <a:endParaRPr/>
          </a:p>
        </p:txBody>
      </p:sp>
      <p:sp>
        <p:nvSpPr>
          <p:cNvPr id="1328" name="Google Shape;1328;p97"/>
          <p:cNvSpPr txBox="1"/>
          <p:nvPr/>
        </p:nvSpPr>
        <p:spPr>
          <a:xfrm>
            <a:off x="781438" y="17636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−1.2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98"/>
          <p:cNvSpPr txBox="1"/>
          <p:nvPr>
            <p:ph idx="1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 </a:t>
            </a:r>
            <a:r>
              <a:rPr b="1" lang="en-GB" sz="2100"/>
              <a:t>sequence</a:t>
            </a:r>
            <a:r>
              <a:rPr lang="en-GB" sz="2100"/>
              <a:t> with a constant multiplicative pattern can decrease.</a:t>
            </a:r>
            <a:endParaRPr sz="2100"/>
          </a:p>
        </p:txBody>
      </p:sp>
      <p:sp>
        <p:nvSpPr>
          <p:cNvPr id="1334" name="Google Shape;1334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sp>
        <p:nvSpPr>
          <p:cNvPr id="1335" name="Google Shape;1335;p98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Multiplying by any decimal will give a number less than the previous one.</a:t>
            </a:r>
            <a:endParaRPr sz="2100"/>
          </a:p>
        </p:txBody>
      </p:sp>
      <p:sp>
        <p:nvSpPr>
          <p:cNvPr id="1336" name="Google Shape;1336;p9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Multiplying</a:t>
            </a:r>
            <a:r>
              <a:rPr lang="en-GB" sz="2100"/>
              <a:t> by a value between 0 and 1 will give a </a:t>
            </a:r>
            <a:r>
              <a:rPr lang="en-GB" sz="2100"/>
              <a:t>number less than the previous one.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337" name="Google Shape;133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433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8" name="Google Shape;1338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208" y="40758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99"/>
          <p:cNvSpPr txBox="1"/>
          <p:nvPr>
            <p:ph idx="1" type="subTitle"/>
          </p:nvPr>
        </p:nvSpPr>
        <p:spPr>
          <a:xfrm>
            <a:off x="324000" y="1040675"/>
            <a:ext cx="84960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</a:t>
            </a:r>
            <a:r>
              <a:rPr b="1" lang="en-GB" sz="2000"/>
              <a:t>sequence</a:t>
            </a:r>
            <a:r>
              <a:rPr lang="en-GB" sz="2000"/>
              <a:t> with a </a:t>
            </a:r>
            <a:r>
              <a:rPr lang="en-GB" sz="2000"/>
              <a:t>constant </a:t>
            </a:r>
            <a:r>
              <a:rPr lang="en-GB" sz="2000"/>
              <a:t>multiplicative pattern can contain both positive and negative numbers. </a:t>
            </a:r>
            <a:endParaRPr sz="2000"/>
          </a:p>
        </p:txBody>
      </p:sp>
      <p:sp>
        <p:nvSpPr>
          <p:cNvPr id="1344" name="Google Shape;1344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sp>
        <p:nvSpPr>
          <p:cNvPr id="1345" name="Google Shape;1345;p99"/>
          <p:cNvSpPr txBox="1"/>
          <p:nvPr>
            <p:ph idx="2" type="subTitle"/>
          </p:nvPr>
        </p:nvSpPr>
        <p:spPr>
          <a:xfrm>
            <a:off x="980575" y="31199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a positive number by a negative multiplier gives a negative number. </a:t>
            </a:r>
            <a:endParaRPr sz="2000"/>
          </a:p>
        </p:txBody>
      </p:sp>
      <p:sp>
        <p:nvSpPr>
          <p:cNvPr id="1346" name="Google Shape;1346;p9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you multiply by a fractional multiplier enough times eventually you will get a negative number.</a:t>
            </a:r>
            <a:endParaRPr sz="2000"/>
          </a:p>
        </p:txBody>
      </p:sp>
      <p:pic>
        <p:nvPicPr>
          <p:cNvPr id="1347" name="Google Shape;1347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7958" y="18108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63733" y="303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10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Sort these </a:t>
            </a:r>
            <a:r>
              <a:rPr b="1" lang="en-GB"/>
              <a:t>sequences</a:t>
            </a:r>
            <a:r>
              <a:rPr lang="en-GB"/>
              <a:t> into the correct column. </a:t>
            </a:r>
            <a:endParaRPr/>
          </a:p>
        </p:txBody>
      </p:sp>
      <p:sp>
        <p:nvSpPr>
          <p:cNvPr id="1354" name="Google Shape;1354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Sequences with a constant multiplicative pattern</a:t>
            </a:r>
            <a:endParaRPr/>
          </a:p>
        </p:txBody>
      </p:sp>
      <p:graphicFrame>
        <p:nvGraphicFramePr>
          <p:cNvPr id="1355" name="Google Shape;1355;p100"/>
          <p:cNvGraphicFramePr/>
          <p:nvPr/>
        </p:nvGraphicFramePr>
        <p:xfrm>
          <a:off x="324000" y="136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{CE513795-02FA-4846-A377-7C714B141FB9}</a:tableStyleId>
              </a:tblPr>
              <a:tblGrid>
                <a:gridCol w="4248000"/>
                <a:gridCol w="4248000"/>
              </a:tblGrid>
              <a:tr h="61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Sequences with a constant additive relationship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Sequences with a constant multiplicative relationship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6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6" name="Google Shape;1356;p100"/>
          <p:cNvSpPr txBox="1"/>
          <p:nvPr>
            <p:ph idx="1" type="body"/>
          </p:nvPr>
        </p:nvSpPr>
        <p:spPr>
          <a:xfrm>
            <a:off x="324000" y="3740677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5, 10, 15, 20, …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357" name="Google Shape;1357;p100"/>
          <p:cNvSpPr txBox="1"/>
          <p:nvPr>
            <p:ph idx="1" type="body"/>
          </p:nvPr>
        </p:nvSpPr>
        <p:spPr>
          <a:xfrm>
            <a:off x="324000" y="4094377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r>
              <a:rPr lang="en-GB" sz="1800"/>
              <a:t>, 2, 4, 8, … </a:t>
            </a:r>
            <a:endParaRPr sz="1800"/>
          </a:p>
        </p:txBody>
      </p:sp>
      <p:sp>
        <p:nvSpPr>
          <p:cNvPr id="1358" name="Google Shape;1358;p100"/>
          <p:cNvSpPr txBox="1"/>
          <p:nvPr>
            <p:ph idx="1" type="body"/>
          </p:nvPr>
        </p:nvSpPr>
        <p:spPr>
          <a:xfrm>
            <a:off x="324000" y="4447800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, 30, 300, 3000, … </a:t>
            </a:r>
            <a:endParaRPr sz="1800"/>
          </a:p>
        </p:txBody>
      </p:sp>
      <p:sp>
        <p:nvSpPr>
          <p:cNvPr id="1359" name="Google Shape;1359;p100"/>
          <p:cNvSpPr txBox="1"/>
          <p:nvPr>
            <p:ph idx="1" type="body"/>
          </p:nvPr>
        </p:nvSpPr>
        <p:spPr>
          <a:xfrm>
            <a:off x="3064800" y="3780002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5.7, 8.1, 10.5, 12.9, … </a:t>
            </a:r>
            <a:endParaRPr sz="1800"/>
          </a:p>
        </p:txBody>
      </p:sp>
      <p:sp>
        <p:nvSpPr>
          <p:cNvPr id="1360" name="Google Shape;1360;p100"/>
          <p:cNvSpPr txBox="1"/>
          <p:nvPr>
            <p:ph idx="1" type="body"/>
          </p:nvPr>
        </p:nvSpPr>
        <p:spPr>
          <a:xfrm>
            <a:off x="3064800" y="4094377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48</a:t>
            </a:r>
            <a:r>
              <a:rPr lang="en-GB" sz="1800"/>
              <a:t>, 24, 12, 6, … </a:t>
            </a:r>
            <a:endParaRPr sz="1800"/>
          </a:p>
        </p:txBody>
      </p:sp>
      <p:sp>
        <p:nvSpPr>
          <p:cNvPr id="1361" name="Google Shape;1361;p100"/>
          <p:cNvSpPr txBox="1"/>
          <p:nvPr>
            <p:ph idx="1" type="body"/>
          </p:nvPr>
        </p:nvSpPr>
        <p:spPr>
          <a:xfrm>
            <a:off x="3064800" y="4447802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1.5</a:t>
            </a:r>
            <a:r>
              <a:rPr lang="en-GB" sz="1800"/>
              <a:t>, 0.5, -0.5, -1.5, … </a:t>
            </a:r>
            <a:endParaRPr sz="1800"/>
          </a:p>
        </p:txBody>
      </p:sp>
      <p:sp>
        <p:nvSpPr>
          <p:cNvPr id="1362" name="Google Shape;1362;p100"/>
          <p:cNvSpPr txBox="1"/>
          <p:nvPr>
            <p:ph idx="1" type="body"/>
          </p:nvPr>
        </p:nvSpPr>
        <p:spPr>
          <a:xfrm>
            <a:off x="5774400" y="3799802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, -6, 12, -24 … </a:t>
            </a:r>
            <a:endParaRPr sz="1800"/>
          </a:p>
        </p:txBody>
      </p:sp>
      <p:sp>
        <p:nvSpPr>
          <p:cNvPr id="1363" name="Google Shape;1363;p100"/>
          <p:cNvSpPr txBox="1"/>
          <p:nvPr>
            <p:ph idx="1" type="body"/>
          </p:nvPr>
        </p:nvSpPr>
        <p:spPr>
          <a:xfrm>
            <a:off x="5774400" y="4114177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r>
              <a:rPr lang="en-GB" sz="1800"/>
              <a:t>, 48, 90, 132, … </a:t>
            </a:r>
            <a:endParaRPr sz="1800"/>
          </a:p>
        </p:txBody>
      </p:sp>
      <p:sp>
        <p:nvSpPr>
          <p:cNvPr id="1364" name="Google Shape;1364;p100"/>
          <p:cNvSpPr txBox="1"/>
          <p:nvPr>
            <p:ph idx="1" type="body"/>
          </p:nvPr>
        </p:nvSpPr>
        <p:spPr>
          <a:xfrm>
            <a:off x="5774400" y="4467602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0.5</a:t>
            </a:r>
            <a:r>
              <a:rPr lang="en-GB" sz="1800"/>
              <a:t>, 1.5, 4.5, 13.5, … </a:t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01"/>
          <p:cNvSpPr txBox="1"/>
          <p:nvPr>
            <p:ph idx="1" type="body"/>
          </p:nvPr>
        </p:nvSpPr>
        <p:spPr>
          <a:xfrm>
            <a:off x="324000" y="759300"/>
            <a:ext cx="8496000" cy="7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 Find the missing numbers in these </a:t>
            </a:r>
            <a:r>
              <a:rPr b="1" lang="en-GB" sz="2000"/>
              <a:t>sequences</a:t>
            </a:r>
            <a:r>
              <a:rPr lang="en-GB" sz="2000"/>
              <a:t> with constant multiplicative patterns.</a:t>
            </a:r>
            <a:r>
              <a:rPr lang="en-GB" sz="2000"/>
              <a:t> </a:t>
            </a:r>
            <a:endParaRPr sz="1900"/>
          </a:p>
        </p:txBody>
      </p:sp>
      <p:sp>
        <p:nvSpPr>
          <p:cNvPr id="1370" name="Google Shape;1370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sp>
        <p:nvSpPr>
          <p:cNvPr id="1371" name="Google Shape;1371;p101"/>
          <p:cNvSpPr txBox="1"/>
          <p:nvPr>
            <p:ph idx="1" type="body"/>
          </p:nvPr>
        </p:nvSpPr>
        <p:spPr>
          <a:xfrm>
            <a:off x="324000" y="1696200"/>
            <a:ext cx="3996000" cy="32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6, 12, 24,</a:t>
            </a:r>
            <a:r>
              <a:rPr lang="en-GB" sz="2000" u="sng"/>
              <a:t>      </a:t>
            </a:r>
            <a:r>
              <a:rPr lang="en-GB" sz="2000"/>
              <a:t>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5, 30,</a:t>
            </a:r>
            <a:r>
              <a:rPr lang="en-GB" sz="2000" u="sng"/>
              <a:t>      </a:t>
            </a:r>
            <a:r>
              <a:rPr lang="en-GB" sz="2000"/>
              <a:t>, 1080,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160, 80, 40,</a:t>
            </a:r>
            <a:r>
              <a:rPr lang="en-GB" sz="2000" u="sng"/>
              <a:t>      </a:t>
            </a:r>
            <a:r>
              <a:rPr lang="en-GB" sz="2000"/>
              <a:t>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0.3, -3, 30, </a:t>
            </a:r>
            <a:r>
              <a:rPr lang="en-GB" sz="2000" u="sng"/>
              <a:t>      </a:t>
            </a:r>
            <a:r>
              <a:rPr lang="en-GB" sz="2000"/>
              <a:t>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72" name="Google Shape;1372;p101"/>
          <p:cNvSpPr txBox="1"/>
          <p:nvPr>
            <p:ph idx="1" type="body"/>
          </p:nvPr>
        </p:nvSpPr>
        <p:spPr>
          <a:xfrm>
            <a:off x="4572000" y="1701600"/>
            <a:ext cx="3996000" cy="32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e)   </a:t>
            </a:r>
            <a:r>
              <a:rPr lang="en-GB" sz="2000" u="sng"/>
              <a:t> </a:t>
            </a:r>
            <a:r>
              <a:rPr lang="en-GB" sz="2000" u="sng"/>
              <a:t>      </a:t>
            </a:r>
            <a:r>
              <a:rPr lang="en-GB" sz="2000"/>
              <a:t>, 21</a:t>
            </a:r>
            <a:r>
              <a:rPr lang="en-GB" sz="2000"/>
              <a:t>, 63, 189,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f)   1, 0.2, 0.04, </a:t>
            </a:r>
            <a:r>
              <a:rPr lang="en-GB" sz="2000" u="sng"/>
              <a:t>      </a:t>
            </a:r>
            <a:r>
              <a:rPr lang="en-GB" sz="2000"/>
              <a:t>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g)   </a:t>
            </a:r>
            <a:r>
              <a:rPr lang="en-GB" sz="2000" u="sng"/>
              <a:t>      </a:t>
            </a:r>
            <a:r>
              <a:rPr lang="en-GB" sz="2000"/>
              <a:t>,8</a:t>
            </a:r>
            <a:r>
              <a:rPr lang="en-GB" sz="2000"/>
              <a:t>, 160, </a:t>
            </a:r>
            <a:r>
              <a:rPr lang="en-GB" sz="2000" u="sng"/>
              <a:t>           </a:t>
            </a:r>
            <a:r>
              <a:rPr lang="en-GB" sz="2000"/>
              <a:t>,64 000</a:t>
            </a:r>
            <a:r>
              <a:rPr lang="en-GB" sz="2000"/>
              <a:t>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h)   </a:t>
            </a:r>
            <a:r>
              <a:rPr lang="en-GB" sz="2000" u="sng"/>
              <a:t>      </a:t>
            </a:r>
            <a:r>
              <a:rPr lang="en-GB" sz="2000"/>
              <a:t>,</a:t>
            </a:r>
            <a:r>
              <a:rPr lang="en-GB" sz="2000"/>
              <a:t> 6, 8,      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32}{3}&quot;&gt;&lt;mfrac&gt;&lt;mn&gt;32&lt;/mn&gt;&lt;mn&gt;3&lt;/mn&gt;&lt;/mfrac&gt;&lt;/math&gt;" id="1373" name="Google Shape;1373;p101" title="32 over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0310" y="3955387"/>
            <a:ext cx="291625" cy="5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Sort these </a:t>
            </a:r>
            <a:r>
              <a:rPr b="1" lang="en-GB"/>
              <a:t>sequences</a:t>
            </a:r>
            <a:r>
              <a:rPr lang="en-GB"/>
              <a:t> into the correct column. </a:t>
            </a:r>
            <a:endParaRPr/>
          </a:p>
        </p:txBody>
      </p:sp>
      <p:sp>
        <p:nvSpPr>
          <p:cNvPr id="1379" name="Google Shape;1379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graphicFrame>
        <p:nvGraphicFramePr>
          <p:cNvPr id="1380" name="Google Shape;1380;p102"/>
          <p:cNvGraphicFramePr/>
          <p:nvPr/>
        </p:nvGraphicFramePr>
        <p:xfrm>
          <a:off x="324000" y="136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{CE513795-02FA-4846-A377-7C714B141FB9}</a:tableStyleId>
              </a:tblPr>
              <a:tblGrid>
                <a:gridCol w="4248000"/>
                <a:gridCol w="4248000"/>
              </a:tblGrid>
              <a:tr h="61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Sequences with a constant additive relationship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Sequences with a constant multiplicative relationship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6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1" name="Google Shape;1381;p102"/>
          <p:cNvSpPr txBox="1"/>
          <p:nvPr>
            <p:ph idx="1" type="body"/>
          </p:nvPr>
        </p:nvSpPr>
        <p:spPr>
          <a:xfrm>
            <a:off x="400200" y="2057752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5, 10, 15, 20, …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2" name="Google Shape;1382;p102"/>
          <p:cNvSpPr txBox="1"/>
          <p:nvPr>
            <p:ph idx="1" type="body"/>
          </p:nvPr>
        </p:nvSpPr>
        <p:spPr>
          <a:xfrm>
            <a:off x="4644325" y="1981552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1, 2, 4, 8, …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3" name="Google Shape;1383;p102"/>
          <p:cNvSpPr txBox="1"/>
          <p:nvPr>
            <p:ph idx="1" type="body"/>
          </p:nvPr>
        </p:nvSpPr>
        <p:spPr>
          <a:xfrm>
            <a:off x="4644325" y="2319093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3, 30, 300, 3000, …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4" name="Google Shape;1384;p102"/>
          <p:cNvSpPr txBox="1"/>
          <p:nvPr>
            <p:ph idx="1" type="body"/>
          </p:nvPr>
        </p:nvSpPr>
        <p:spPr>
          <a:xfrm>
            <a:off x="400200" y="2454381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5.7, 8.1, 10.5, 12.9, …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5" name="Google Shape;1385;p102"/>
          <p:cNvSpPr txBox="1"/>
          <p:nvPr>
            <p:ph idx="1" type="body"/>
          </p:nvPr>
        </p:nvSpPr>
        <p:spPr>
          <a:xfrm>
            <a:off x="4644325" y="2656634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48, 24, 12, 6, …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6" name="Google Shape;1386;p102"/>
          <p:cNvSpPr txBox="1"/>
          <p:nvPr>
            <p:ph idx="1" type="body"/>
          </p:nvPr>
        </p:nvSpPr>
        <p:spPr>
          <a:xfrm>
            <a:off x="400200" y="2851010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1.5, 0.5, -0.5, -1.5, …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7" name="Google Shape;1387;p102"/>
          <p:cNvSpPr txBox="1"/>
          <p:nvPr>
            <p:ph idx="1" type="body"/>
          </p:nvPr>
        </p:nvSpPr>
        <p:spPr>
          <a:xfrm>
            <a:off x="4644325" y="2994175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3, -6, 12, -24 …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8" name="Google Shape;1388;p102"/>
          <p:cNvSpPr txBox="1"/>
          <p:nvPr>
            <p:ph idx="1" type="body"/>
          </p:nvPr>
        </p:nvSpPr>
        <p:spPr>
          <a:xfrm>
            <a:off x="400200" y="3247639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6, 48, 90, 132, …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9" name="Google Shape;1389;p102"/>
          <p:cNvSpPr txBox="1"/>
          <p:nvPr>
            <p:ph idx="1" type="body"/>
          </p:nvPr>
        </p:nvSpPr>
        <p:spPr>
          <a:xfrm>
            <a:off x="4644325" y="3331716"/>
            <a:ext cx="25632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0.5, 1.5, 4.5, 13.5 …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03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Find the missing numbers in these </a:t>
            </a:r>
            <a:r>
              <a:rPr b="1" lang="en-GB" sz="2000"/>
              <a:t>sequences</a:t>
            </a:r>
            <a:r>
              <a:rPr lang="en-GB" sz="2000"/>
              <a:t> with constant multiplicative patterns.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95" name="Google Shape;1395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Sequences with a </a:t>
            </a:r>
            <a:r>
              <a:rPr lang="en-GB"/>
              <a:t>constant </a:t>
            </a:r>
            <a:r>
              <a:rPr lang="en-GB"/>
              <a:t>multiplicative pattern</a:t>
            </a:r>
            <a:endParaRPr/>
          </a:p>
        </p:txBody>
      </p:sp>
      <p:sp>
        <p:nvSpPr>
          <p:cNvPr id="1396" name="Google Shape;1396;p103"/>
          <p:cNvSpPr txBox="1"/>
          <p:nvPr>
            <p:ph idx="1" type="body"/>
          </p:nvPr>
        </p:nvSpPr>
        <p:spPr>
          <a:xfrm>
            <a:off x="324000" y="1696200"/>
            <a:ext cx="3996000" cy="32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6, 12, 24,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48</a:t>
            </a:r>
            <a:r>
              <a:rPr lang="en-GB" sz="2000"/>
              <a:t>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5, 30,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180</a:t>
            </a:r>
            <a:r>
              <a:rPr lang="en-GB" sz="2000"/>
              <a:t>, 1080,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160, 80, 40,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2000"/>
              <a:t>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0.3, -3, 30,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-300</a:t>
            </a:r>
            <a:r>
              <a:rPr lang="en-GB" sz="2000"/>
              <a:t>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97" name="Google Shape;1397;p103"/>
          <p:cNvSpPr txBox="1"/>
          <p:nvPr>
            <p:ph idx="1" type="body"/>
          </p:nvPr>
        </p:nvSpPr>
        <p:spPr>
          <a:xfrm>
            <a:off x="4572000" y="1701600"/>
            <a:ext cx="3996000" cy="32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e)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2000"/>
              <a:t>, 21, 63, 189,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f)   </a:t>
            </a:r>
            <a:r>
              <a:rPr lang="en-GB" sz="2000"/>
              <a:t>1, 0.2, 0.04,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0.008</a:t>
            </a:r>
            <a:r>
              <a:rPr lang="en-GB" sz="2000"/>
              <a:t>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g)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0.4</a:t>
            </a:r>
            <a:r>
              <a:rPr lang="en-GB" sz="2000"/>
              <a:t>, 8, 160,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3200</a:t>
            </a:r>
            <a:r>
              <a:rPr lang="en-GB" sz="2000"/>
              <a:t>,64 000,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h)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4.5</a:t>
            </a:r>
            <a:r>
              <a:rPr lang="en-GB" sz="2000"/>
              <a:t>, 6, 8,      , …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32}{3}&quot;&gt;&lt;mfrac&gt;&lt;mn&gt;32&lt;/mn&gt;&lt;mn&gt;3&lt;/mn&gt;&lt;/mfrac&gt;&lt;/math&gt;" id="1398" name="Google Shape;1398;p103" title="32 over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2026" y="3955387"/>
            <a:ext cx="291625" cy="5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104"/>
          <p:cNvSpPr txBox="1"/>
          <p:nvPr>
            <p:ph idx="1" type="body"/>
          </p:nvPr>
        </p:nvSpPr>
        <p:spPr>
          <a:xfrm>
            <a:off x="324000" y="1080000"/>
            <a:ext cx="8496000" cy="23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Sequences</a:t>
            </a:r>
            <a:r>
              <a:rPr lang="en-GB"/>
              <a:t> can be formed with an additive pattern.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/>
              <a:t>Sequences</a:t>
            </a:r>
            <a:r>
              <a:rPr lang="en-GB"/>
              <a:t> with a multiplicative relationship have a specific multiplier which can be found.</a:t>
            </a:r>
            <a:endParaRPr/>
          </a:p>
        </p:txBody>
      </p:sp>
      <p:sp>
        <p:nvSpPr>
          <p:cNvPr id="1404" name="Google Shape;1404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sequences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10" name="Google Shape;1410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