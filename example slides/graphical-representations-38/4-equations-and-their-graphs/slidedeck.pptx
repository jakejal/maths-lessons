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F20B67-816A-4073-89FE-23FAF73FBE29}">
  <a:tblStyle styleId="{75F20B67-816A-4073-89FE-23FAF73FBE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b671fd33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b671fd33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2b671fd330f_0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b671fd330f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b671fd330f_0_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b671fd330f_0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b671fd330f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b671fd330f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b671fd330f_0_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b671fd330f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b671fd330f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b671fd330f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b671fd330f_0_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2b671fd330f_0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b671fd330f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b671fd330f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2b671fd330f_0_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2b671fd330f_0_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b671fd330f_0_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b671fd330f_0_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b671fd330f_0_1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b671fd330f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2b671fd330f_0_1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2b671fd330f_0_1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2b671fd330f_0_1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2b671fd330f_0_1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2b671fd330f_0_1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2b671fd330f_0_1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b671fd330f_0_1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b671fd330f_0_1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2b671fd330f_0_1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2b671fd330f_0_1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2b671fd330f_0_1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b671fd330f_0_1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b671fd330f_0_1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b671fd330f_0_1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2b671fd330f_0_1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2b671fd330f_0_1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2b671fd330f_0_1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2b671fd330f_0_1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2b671fd330f_0_1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2b671fd330f_0_1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b671fd330f_0_1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b671fd330f_0_1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2b671fd330f_0_1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2b671fd330f_0_1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2b671fd330f_0_1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2b671fd330f_0_1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2b671fd330f_0_1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2b671fd330f_0_1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2b671fd330f_0_1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2b671fd330f_0_1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2b671fd330f_0_1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2b671fd330f_0_1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2b671fd330f_0_1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2b671fd330f_0_1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2b671fd330f_0_1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2b671fd330f_0_1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b671fd330f_0_1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b671fd330f_0_1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2b671fd330f_0_1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2b671fd330f_0_1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2b671fd330f_0_1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2b671fd330f_0_1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2b671fd330f_0_1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2b671fd330f_0_1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2b671fd330f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2b671fd330f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2b671fd330f_0_1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2b671fd330f_0_1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2b671fd330f_0_1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2b671fd330f_0_1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2b671fd330f_0_1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g2b671fd330f_0_1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2b671fd330f_0_1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4" name="Google Shape;1394;g2b671fd330f_0_1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2b671fd330f_0_18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2b671fd330f_0_1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2b671fd330f_0_1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2b671fd330f_0_1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5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8.png"/><Relationship Id="rId4" Type="http://schemas.openxmlformats.org/officeDocument/2006/relationships/image" Target="../media/image69.png"/><Relationship Id="rId5" Type="http://schemas.openxmlformats.org/officeDocument/2006/relationships/image" Target="../media/image26.png"/><Relationship Id="rId6" Type="http://schemas.openxmlformats.org/officeDocument/2006/relationships/image" Target="../media/image32.png"/><Relationship Id="rId7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9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18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3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9.png"/><Relationship Id="rId4" Type="http://schemas.openxmlformats.org/officeDocument/2006/relationships/image" Target="../media/image31.png"/><Relationship Id="rId11" Type="http://schemas.openxmlformats.org/officeDocument/2006/relationships/image" Target="../media/image23.png"/><Relationship Id="rId10" Type="http://schemas.openxmlformats.org/officeDocument/2006/relationships/image" Target="../media/image37.png"/><Relationship Id="rId9" Type="http://schemas.openxmlformats.org/officeDocument/2006/relationships/image" Target="../media/image32.png"/><Relationship Id="rId5" Type="http://schemas.openxmlformats.org/officeDocument/2006/relationships/image" Target="../media/image24.png"/><Relationship Id="rId6" Type="http://schemas.openxmlformats.org/officeDocument/2006/relationships/image" Target="../media/image18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1.png"/><Relationship Id="rId4" Type="http://schemas.openxmlformats.org/officeDocument/2006/relationships/image" Target="../media/image55.png"/><Relationship Id="rId5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Relationship Id="rId4" Type="http://schemas.openxmlformats.org/officeDocument/2006/relationships/image" Target="../media/image54.png"/><Relationship Id="rId5" Type="http://schemas.openxmlformats.org/officeDocument/2006/relationships/image" Target="../media/image5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9.png"/><Relationship Id="rId4" Type="http://schemas.openxmlformats.org/officeDocument/2006/relationships/image" Target="../media/image57.png"/><Relationship Id="rId5" Type="http://schemas.openxmlformats.org/officeDocument/2006/relationships/image" Target="../media/image5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9.png"/><Relationship Id="rId4" Type="http://schemas.openxmlformats.org/officeDocument/2006/relationships/image" Target="../media/image57.png"/><Relationship Id="rId5" Type="http://schemas.openxmlformats.org/officeDocument/2006/relationships/image" Target="../media/image5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Relationship Id="rId5" Type="http://schemas.openxmlformats.org/officeDocument/2006/relationships/image" Target="../media/image6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8.png"/><Relationship Id="rId4" Type="http://schemas.openxmlformats.org/officeDocument/2006/relationships/image" Target="../media/image66.png"/><Relationship Id="rId5" Type="http://schemas.openxmlformats.org/officeDocument/2006/relationships/image" Target="../media/image62.png"/><Relationship Id="rId6" Type="http://schemas.openxmlformats.org/officeDocument/2006/relationships/image" Target="../media/image6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7.png"/><Relationship Id="rId4" Type="http://schemas.openxmlformats.org/officeDocument/2006/relationships/image" Target="../media/image67.png"/><Relationship Id="rId5" Type="http://schemas.openxmlformats.org/officeDocument/2006/relationships/image" Target="../media/image52.png"/><Relationship Id="rId6" Type="http://schemas.openxmlformats.org/officeDocument/2006/relationships/image" Target="../media/image64.png"/><Relationship Id="rId7" Type="http://schemas.openxmlformats.org/officeDocument/2006/relationships/image" Target="../media/image63.png"/><Relationship Id="rId8" Type="http://schemas.openxmlformats.org/officeDocument/2006/relationships/image" Target="../media/image7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1.png"/><Relationship Id="rId4" Type="http://schemas.openxmlformats.org/officeDocument/2006/relationships/image" Target="../media/image78.png"/><Relationship Id="rId5" Type="http://schemas.openxmlformats.org/officeDocument/2006/relationships/image" Target="../media/image7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7.png"/><Relationship Id="rId4" Type="http://schemas.openxmlformats.org/officeDocument/2006/relationships/image" Target="../media/image74.png"/><Relationship Id="rId5" Type="http://schemas.openxmlformats.org/officeDocument/2006/relationships/image" Target="../media/image72.png"/><Relationship Id="rId6" Type="http://schemas.openxmlformats.org/officeDocument/2006/relationships/image" Target="../media/image7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1.png"/><Relationship Id="rId4" Type="http://schemas.openxmlformats.org/officeDocument/2006/relationships/image" Target="../media/image78.png"/><Relationship Id="rId5" Type="http://schemas.openxmlformats.org/officeDocument/2006/relationships/image" Target="../media/image7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8.png"/><Relationship Id="rId4" Type="http://schemas.openxmlformats.org/officeDocument/2006/relationships/image" Target="../media/image7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7.png"/><Relationship Id="rId4" Type="http://schemas.openxmlformats.org/officeDocument/2006/relationships/image" Target="../media/image74.png"/><Relationship Id="rId5" Type="http://schemas.openxmlformats.org/officeDocument/2006/relationships/image" Target="../media/image72.png"/><Relationship Id="rId6" Type="http://schemas.openxmlformats.org/officeDocument/2006/relationships/image" Target="../media/image7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7.png"/><Relationship Id="rId4" Type="http://schemas.openxmlformats.org/officeDocument/2006/relationships/image" Target="../media/image74.png"/><Relationship Id="rId5" Type="http://schemas.openxmlformats.org/officeDocument/2006/relationships/image" Target="../media/image72.png"/><Relationship Id="rId6" Type="http://schemas.openxmlformats.org/officeDocument/2006/relationships/image" Target="../media/image70.png"/><Relationship Id="rId7" Type="http://schemas.openxmlformats.org/officeDocument/2006/relationships/image" Target="../media/image8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4.png"/><Relationship Id="rId4" Type="http://schemas.openxmlformats.org/officeDocument/2006/relationships/image" Target="../media/image8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2.png"/><Relationship Id="rId4" Type="http://schemas.openxmlformats.org/officeDocument/2006/relationships/image" Target="../media/image83.png"/><Relationship Id="rId5" Type="http://schemas.openxmlformats.org/officeDocument/2006/relationships/image" Target="../media/image82.png"/><Relationship Id="rId6" Type="http://schemas.openxmlformats.org/officeDocument/2006/relationships/image" Target="../media/image8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2.png"/><Relationship Id="rId4" Type="http://schemas.openxmlformats.org/officeDocument/2006/relationships/image" Target="../media/image83.png"/><Relationship Id="rId5" Type="http://schemas.openxmlformats.org/officeDocument/2006/relationships/image" Target="../media/image82.png"/><Relationship Id="rId6" Type="http://schemas.openxmlformats.org/officeDocument/2006/relationships/image" Target="../media/image8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3.png"/><Relationship Id="rId4" Type="http://schemas.openxmlformats.org/officeDocument/2006/relationships/image" Target="../media/image82.png"/><Relationship Id="rId5" Type="http://schemas.openxmlformats.org/officeDocument/2006/relationships/image" Target="../media/image80.png"/><Relationship Id="rId6" Type="http://schemas.openxmlformats.org/officeDocument/2006/relationships/image" Target="../media/image7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6.png"/><Relationship Id="rId4" Type="http://schemas.openxmlformats.org/officeDocument/2006/relationships/image" Target="../media/image57.png"/><Relationship Id="rId5" Type="http://schemas.openxmlformats.org/officeDocument/2006/relationships/image" Target="../media/image5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6.png"/><Relationship Id="rId4" Type="http://schemas.openxmlformats.org/officeDocument/2006/relationships/image" Target="../media/image57.png"/><Relationship Id="rId5" Type="http://schemas.openxmlformats.org/officeDocument/2006/relationships/image" Target="../media/image5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2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0.png"/><Relationship Id="rId4" Type="http://schemas.openxmlformats.org/officeDocument/2006/relationships/image" Target="../media/image9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2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Equations and their graphs</a:t>
            </a:r>
            <a:endParaRPr/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recognise the determining features of the shape of a graph from its equation.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"/>
          <p:cNvSpPr txBox="1"/>
          <p:nvPr/>
        </p:nvSpPr>
        <p:spPr>
          <a:xfrm>
            <a:off x="324000" y="1007828"/>
            <a:ext cx="8496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relationship between two variables is linear if, when plotted on a pair of axes, a straight line is formed.</a:t>
            </a:r>
            <a:endParaRPr sz="2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p65"/>
          <p:cNvSpPr txBox="1"/>
          <p:nvPr/>
        </p:nvSpPr>
        <p:spPr>
          <a:xfrm>
            <a:off x="324000" y="2227025"/>
            <a:ext cx="6652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gradient is a measure of how steep a line is.</a:t>
            </a:r>
            <a:endParaRPr sz="2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4" name="Google Shape;764;p65"/>
          <p:cNvSpPr txBox="1"/>
          <p:nvPr/>
        </p:nvSpPr>
        <p:spPr>
          <a:xfrm>
            <a:off x="324000" y="3065225"/>
            <a:ext cx="84960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An intercept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is the coordinate where a line or curve meets a given axis.</a:t>
            </a:r>
            <a:endParaRPr sz="2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</a:t>
            </a:r>
            <a:r>
              <a:rPr lang="en-GB"/>
              <a:t> features of linear graphs</a:t>
            </a:r>
            <a:endParaRPr/>
          </a:p>
        </p:txBody>
      </p:sp>
      <p:sp>
        <p:nvSpPr>
          <p:cNvPr id="770" name="Google Shape;770;p6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linear graphs</a:t>
            </a:r>
            <a:endParaRPr/>
          </a:p>
        </p:txBody>
      </p:sp>
      <p:sp>
        <p:nvSpPr>
          <p:cNvPr id="771" name="Google Shape;771;p6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Equations</a:t>
            </a:r>
            <a:r>
              <a:rPr lang="en-GB"/>
              <a:t> and their graphs</a:t>
            </a:r>
            <a:endParaRPr/>
          </a:p>
        </p:txBody>
      </p:sp>
      <p:pic>
        <p:nvPicPr>
          <p:cNvPr id="772" name="Google Shape;77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337" y="206150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7" name="Google Shape;777;p67"/>
          <p:cNvGraphicFramePr/>
          <p:nvPr/>
        </p:nvGraphicFramePr>
        <p:xfrm>
          <a:off x="1676363" y="36613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{75F20B67-816A-4073-89FE-23FAF73FBE29}</a:tableStyleId>
              </a:tblPr>
              <a:tblGrid>
                <a:gridCol w="310925"/>
                <a:gridCol w="372100"/>
                <a:gridCol w="372100"/>
                <a:gridCol w="372100"/>
                <a:gridCol w="372100"/>
                <a:gridCol w="372100"/>
                <a:gridCol w="372100"/>
                <a:gridCol w="372100"/>
              </a:tblGrid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78" name="Google Shape;778;p67"/>
          <p:cNvSpPr txBox="1"/>
          <p:nvPr>
            <p:ph idx="1" type="body"/>
          </p:nvPr>
        </p:nvSpPr>
        <p:spPr>
          <a:xfrm>
            <a:off x="324000" y="759300"/>
            <a:ext cx="5144700" cy="10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plot the graphs of equations. </a:t>
            </a:r>
            <a:r>
              <a:rPr lang="en-GB"/>
              <a:t>One method is to populate a table of values.</a:t>
            </a:r>
            <a:endParaRPr/>
          </a:p>
        </p:txBody>
      </p:sp>
      <p:sp>
        <p:nvSpPr>
          <p:cNvPr id="779" name="Google Shape;779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780" name="Google Shape;780;p67"/>
          <p:cNvSpPr txBox="1"/>
          <p:nvPr/>
        </p:nvSpPr>
        <p:spPr>
          <a:xfrm>
            <a:off x="334973" y="2068907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781" name="Google Shape;781;p67"/>
          <p:cNvSpPr txBox="1"/>
          <p:nvPr/>
        </p:nvSpPr>
        <p:spPr>
          <a:xfrm>
            <a:off x="334973" y="3597260"/>
            <a:ext cx="87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graphicFrame>
        <p:nvGraphicFramePr>
          <p:cNvPr id="782" name="Google Shape;782;p67"/>
          <p:cNvGraphicFramePr/>
          <p:nvPr/>
        </p:nvGraphicFramePr>
        <p:xfrm>
          <a:off x="1676363" y="21516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{75F20B67-816A-4073-89FE-23FAF73FBE29}</a:tableStyleId>
              </a:tblPr>
              <a:tblGrid>
                <a:gridCol w="310925"/>
                <a:gridCol w="372100"/>
                <a:gridCol w="372100"/>
                <a:gridCol w="372100"/>
                <a:gridCol w="372100"/>
                <a:gridCol w="372100"/>
                <a:gridCol w="372100"/>
                <a:gridCol w="372100"/>
              </a:tblGrid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83" name="Google Shape;78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5063" y="1080000"/>
            <a:ext cx="2045611" cy="374002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" name="Google Shape;788;p68"/>
          <p:cNvGraphicFramePr/>
          <p:nvPr/>
        </p:nvGraphicFramePr>
        <p:xfrm>
          <a:off x="1676363" y="36613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{75F20B67-816A-4073-89FE-23FAF73FBE29}</a:tableStyleId>
              </a:tblPr>
              <a:tblGrid>
                <a:gridCol w="310925"/>
                <a:gridCol w="372100"/>
                <a:gridCol w="372100"/>
                <a:gridCol w="372100"/>
                <a:gridCol w="372100"/>
                <a:gridCol w="372100"/>
                <a:gridCol w="372100"/>
                <a:gridCol w="372100"/>
              </a:tblGrid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89" name="Google Shape;789;p68"/>
          <p:cNvGraphicFramePr/>
          <p:nvPr/>
        </p:nvGraphicFramePr>
        <p:xfrm>
          <a:off x="1676363" y="36613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{75F20B67-816A-4073-89FE-23FAF73FBE29}</a:tableStyleId>
              </a:tblPr>
              <a:tblGrid>
                <a:gridCol w="310925"/>
                <a:gridCol w="372100"/>
                <a:gridCol w="372100"/>
                <a:gridCol w="372100"/>
                <a:gridCol w="372100"/>
                <a:gridCol w="372100"/>
                <a:gridCol w="372100"/>
                <a:gridCol w="372100"/>
              </a:tblGrid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0" name="Google Shape;790;p68"/>
          <p:cNvSpPr txBox="1"/>
          <p:nvPr>
            <p:ph idx="1" type="body"/>
          </p:nvPr>
        </p:nvSpPr>
        <p:spPr>
          <a:xfrm>
            <a:off x="324000" y="759300"/>
            <a:ext cx="5144700" cy="10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plot the graphs of equations. One method is to populate a table of values.</a:t>
            </a:r>
            <a:endParaRPr/>
          </a:p>
        </p:txBody>
      </p:sp>
      <p:sp>
        <p:nvSpPr>
          <p:cNvPr id="791" name="Google Shape;791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792" name="Google Shape;792;p68"/>
          <p:cNvSpPr txBox="1"/>
          <p:nvPr/>
        </p:nvSpPr>
        <p:spPr>
          <a:xfrm>
            <a:off x="334973" y="2068907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793" name="Google Shape;793;p68"/>
          <p:cNvSpPr txBox="1"/>
          <p:nvPr/>
        </p:nvSpPr>
        <p:spPr>
          <a:xfrm>
            <a:off x="334973" y="3597260"/>
            <a:ext cx="87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graphicFrame>
        <p:nvGraphicFramePr>
          <p:cNvPr id="794" name="Google Shape;794;p68"/>
          <p:cNvGraphicFramePr/>
          <p:nvPr/>
        </p:nvGraphicFramePr>
        <p:xfrm>
          <a:off x="1676363" y="21516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{75F20B67-816A-4073-89FE-23FAF73FBE29}</a:tableStyleId>
              </a:tblPr>
              <a:tblGrid>
                <a:gridCol w="310925"/>
                <a:gridCol w="372100"/>
                <a:gridCol w="372100"/>
                <a:gridCol w="372100"/>
                <a:gridCol w="372100"/>
                <a:gridCol w="372100"/>
                <a:gridCol w="372100"/>
                <a:gridCol w="372100"/>
              </a:tblGrid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−6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95" name="Google Shape;79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5063" y="1080000"/>
            <a:ext cx="2045611" cy="374002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6" name="Google Shape;796;p68"/>
          <p:cNvSpPr txBox="1"/>
          <p:nvPr>
            <p:ph idx="1" type="body"/>
          </p:nvPr>
        </p:nvSpPr>
        <p:spPr>
          <a:xfrm>
            <a:off x="324000" y="3053995"/>
            <a:ext cx="3764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Linear equation, linear graph.</a:t>
            </a:r>
            <a:endParaRPr sz="2000"/>
          </a:p>
        </p:txBody>
      </p:sp>
      <p:pic>
        <p:nvPicPr>
          <p:cNvPr id="797" name="Google Shape;79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4162" y="1076250"/>
            <a:ext cx="2051275" cy="373826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8" name="Google Shape;798;p68"/>
          <p:cNvSpPr txBox="1"/>
          <p:nvPr/>
        </p:nvSpPr>
        <p:spPr>
          <a:xfrm>
            <a:off x="6267068" y="3627230"/>
            <a:ext cx="7191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chemeClr val="accent4"/>
              </a:solidFill>
            </a:endParaRPr>
          </a:p>
        </p:txBody>
      </p:sp>
      <p:pic>
        <p:nvPicPr>
          <p:cNvPr id="799" name="Google Shape;799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9490" y="1065000"/>
            <a:ext cx="2045601" cy="37506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0" name="Google Shape;800;p68"/>
          <p:cNvSpPr txBox="1"/>
          <p:nvPr/>
        </p:nvSpPr>
        <p:spPr>
          <a:xfrm>
            <a:off x="5962268" y="1768450"/>
            <a:ext cx="6549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/>
          </a:p>
        </p:txBody>
      </p:sp>
      <p:sp>
        <p:nvSpPr>
          <p:cNvPr id="801" name="Google Shape;801;p68"/>
          <p:cNvSpPr txBox="1"/>
          <p:nvPr/>
        </p:nvSpPr>
        <p:spPr>
          <a:xfrm>
            <a:off x="6267068" y="3627230"/>
            <a:ext cx="7191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chemeClr val="accent4"/>
              </a:solidFill>
            </a:endParaRPr>
          </a:p>
        </p:txBody>
      </p:sp>
      <p:sp>
        <p:nvSpPr>
          <p:cNvPr id="802" name="Google Shape;802;p68"/>
          <p:cNvSpPr txBox="1"/>
          <p:nvPr>
            <p:ph idx="1" type="body"/>
          </p:nvPr>
        </p:nvSpPr>
        <p:spPr>
          <a:xfrm>
            <a:off x="324000" y="4529159"/>
            <a:ext cx="6054000" cy="320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Quadratic equation, non-linear graph (parabola).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7" name="Google Shape;807;p69"/>
          <p:cNvGraphicFramePr/>
          <p:nvPr/>
        </p:nvGraphicFramePr>
        <p:xfrm>
          <a:off x="1676363" y="36613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{75F20B67-816A-4073-89FE-23FAF73FBE29}</a:tableStyleId>
              </a:tblPr>
              <a:tblGrid>
                <a:gridCol w="310925"/>
                <a:gridCol w="372100"/>
                <a:gridCol w="372100"/>
                <a:gridCol w="372100"/>
                <a:gridCol w="372100"/>
                <a:gridCol w="372100"/>
                <a:gridCol w="372100"/>
                <a:gridCol w="372100"/>
              </a:tblGrid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8" name="Google Shape;808;p69"/>
          <p:cNvSpPr txBox="1"/>
          <p:nvPr>
            <p:ph idx="1" type="body"/>
          </p:nvPr>
        </p:nvSpPr>
        <p:spPr>
          <a:xfrm>
            <a:off x="324000" y="759300"/>
            <a:ext cx="51447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Key features of</a:t>
            </a:r>
            <a:r>
              <a:rPr lang="en-GB"/>
              <a:t> the equations affect the shape of the graph that is formed.</a:t>
            </a:r>
            <a:endParaRPr/>
          </a:p>
        </p:txBody>
      </p:sp>
      <p:sp>
        <p:nvSpPr>
          <p:cNvPr id="809" name="Google Shape;80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810" name="Google Shape;810;p69"/>
          <p:cNvSpPr txBox="1"/>
          <p:nvPr/>
        </p:nvSpPr>
        <p:spPr>
          <a:xfrm>
            <a:off x="334973" y="2068907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811" name="Google Shape;811;p69"/>
          <p:cNvSpPr txBox="1"/>
          <p:nvPr/>
        </p:nvSpPr>
        <p:spPr>
          <a:xfrm>
            <a:off x="334973" y="3597260"/>
            <a:ext cx="87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graphicFrame>
        <p:nvGraphicFramePr>
          <p:cNvPr id="812" name="Google Shape;812;p69"/>
          <p:cNvGraphicFramePr/>
          <p:nvPr/>
        </p:nvGraphicFramePr>
        <p:xfrm>
          <a:off x="1676363" y="21516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{75F20B67-816A-4073-89FE-23FAF73FBE29}</a:tableStyleId>
              </a:tblPr>
              <a:tblGrid>
                <a:gridCol w="310925"/>
                <a:gridCol w="372100"/>
                <a:gridCol w="372100"/>
                <a:gridCol w="372100"/>
                <a:gridCol w="372100"/>
                <a:gridCol w="372100"/>
                <a:gridCol w="372100"/>
                <a:gridCol w="372100"/>
              </a:tblGrid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−6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3" name="Google Shape;813;p69"/>
          <p:cNvSpPr txBox="1"/>
          <p:nvPr>
            <p:ph idx="1" type="body"/>
          </p:nvPr>
        </p:nvSpPr>
        <p:spPr>
          <a:xfrm>
            <a:off x="324000" y="3053995"/>
            <a:ext cx="3764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Linear equation, linear graph.</a:t>
            </a:r>
            <a:endParaRPr sz="2000"/>
          </a:p>
        </p:txBody>
      </p:sp>
      <p:pic>
        <p:nvPicPr>
          <p:cNvPr id="814" name="Google Shape;81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9490" y="1065000"/>
            <a:ext cx="2045601" cy="37506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5" name="Google Shape;815;p69"/>
          <p:cNvSpPr txBox="1"/>
          <p:nvPr/>
        </p:nvSpPr>
        <p:spPr>
          <a:xfrm>
            <a:off x="5962268" y="1768450"/>
            <a:ext cx="6549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/>
          </a:p>
        </p:txBody>
      </p:sp>
      <p:sp>
        <p:nvSpPr>
          <p:cNvPr id="816" name="Google Shape;816;p69"/>
          <p:cNvSpPr txBox="1"/>
          <p:nvPr/>
        </p:nvSpPr>
        <p:spPr>
          <a:xfrm>
            <a:off x="6267068" y="3627230"/>
            <a:ext cx="7191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chemeClr val="accent4"/>
              </a:solidFill>
            </a:endParaRPr>
          </a:p>
        </p:txBody>
      </p:sp>
      <p:sp>
        <p:nvSpPr>
          <p:cNvPr id="817" name="Google Shape;817;p69"/>
          <p:cNvSpPr txBox="1"/>
          <p:nvPr>
            <p:ph idx="1" type="body"/>
          </p:nvPr>
        </p:nvSpPr>
        <p:spPr>
          <a:xfrm>
            <a:off x="324000" y="4529159"/>
            <a:ext cx="6054000" cy="320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Quadratic equation, non-linear graph (parabola).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0"/>
          <p:cNvSpPr txBox="1"/>
          <p:nvPr>
            <p:ph idx="1" type="body"/>
          </p:nvPr>
        </p:nvSpPr>
        <p:spPr>
          <a:xfrm>
            <a:off x="324000" y="759300"/>
            <a:ext cx="51447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Key features of the equations affect the shape of the graph that is formed.</a:t>
            </a:r>
            <a:endParaRPr/>
          </a:p>
        </p:txBody>
      </p:sp>
      <p:sp>
        <p:nvSpPr>
          <p:cNvPr id="823" name="Google Shape;82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824" name="Google Shape;824;p70"/>
          <p:cNvSpPr txBox="1"/>
          <p:nvPr/>
        </p:nvSpPr>
        <p:spPr>
          <a:xfrm>
            <a:off x="334973" y="2068907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825" name="Google Shape;825;p70"/>
          <p:cNvSpPr txBox="1"/>
          <p:nvPr/>
        </p:nvSpPr>
        <p:spPr>
          <a:xfrm>
            <a:off x="334973" y="3597260"/>
            <a:ext cx="87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826" name="Google Shape;826;p70"/>
          <p:cNvSpPr txBox="1"/>
          <p:nvPr>
            <p:ph idx="1" type="body"/>
          </p:nvPr>
        </p:nvSpPr>
        <p:spPr>
          <a:xfrm>
            <a:off x="324000" y="3053995"/>
            <a:ext cx="3764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Linear equation, linear graph.</a:t>
            </a:r>
            <a:endParaRPr sz="2000"/>
          </a:p>
        </p:txBody>
      </p:sp>
      <p:pic>
        <p:nvPicPr>
          <p:cNvPr id="827" name="Google Shape;82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9490" y="1065000"/>
            <a:ext cx="2045601" cy="37506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8" name="Google Shape;828;p70"/>
          <p:cNvSpPr txBox="1"/>
          <p:nvPr/>
        </p:nvSpPr>
        <p:spPr>
          <a:xfrm>
            <a:off x="5962268" y="1768450"/>
            <a:ext cx="6549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/>
          </a:p>
        </p:txBody>
      </p:sp>
      <p:sp>
        <p:nvSpPr>
          <p:cNvPr id="829" name="Google Shape;829;p70"/>
          <p:cNvSpPr txBox="1"/>
          <p:nvPr/>
        </p:nvSpPr>
        <p:spPr>
          <a:xfrm>
            <a:off x="6267068" y="3627230"/>
            <a:ext cx="7191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chemeClr val="accent4"/>
              </a:solidFill>
            </a:endParaRPr>
          </a:p>
        </p:txBody>
      </p:sp>
      <p:sp>
        <p:nvSpPr>
          <p:cNvPr id="830" name="Google Shape;830;p70"/>
          <p:cNvSpPr txBox="1"/>
          <p:nvPr>
            <p:ph idx="1" type="body"/>
          </p:nvPr>
        </p:nvSpPr>
        <p:spPr>
          <a:xfrm>
            <a:off x="1676934" y="2063400"/>
            <a:ext cx="318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exponent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/>
              <a:t> gave us a linear graph.</a:t>
            </a:r>
            <a:endParaRPr sz="2000"/>
          </a:p>
        </p:txBody>
      </p:sp>
      <p:sp>
        <p:nvSpPr>
          <p:cNvPr id="831" name="Google Shape;831;p70"/>
          <p:cNvSpPr/>
          <p:nvPr/>
        </p:nvSpPr>
        <p:spPr>
          <a:xfrm>
            <a:off x="734194" y="2085652"/>
            <a:ext cx="394200" cy="379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0"/>
          <p:cNvSpPr/>
          <p:nvPr/>
        </p:nvSpPr>
        <p:spPr>
          <a:xfrm>
            <a:off x="6624607" y="3621159"/>
            <a:ext cx="394200" cy="379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0"/>
          <p:cNvSpPr txBox="1"/>
          <p:nvPr>
            <p:ph idx="1" type="body"/>
          </p:nvPr>
        </p:nvSpPr>
        <p:spPr>
          <a:xfrm>
            <a:off x="1676925" y="3587400"/>
            <a:ext cx="3704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exponent that is not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/>
              <a:t> gave us a non-linear graph.</a:t>
            </a:r>
            <a:endParaRPr sz="2000"/>
          </a:p>
        </p:txBody>
      </p:sp>
      <p:sp>
        <p:nvSpPr>
          <p:cNvPr id="834" name="Google Shape;834;p70"/>
          <p:cNvSpPr/>
          <p:nvPr/>
        </p:nvSpPr>
        <p:spPr>
          <a:xfrm>
            <a:off x="711180" y="3598145"/>
            <a:ext cx="394200" cy="3795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0"/>
          <p:cNvSpPr/>
          <p:nvPr/>
        </p:nvSpPr>
        <p:spPr>
          <a:xfrm>
            <a:off x="6303953" y="1769345"/>
            <a:ext cx="394200" cy="3795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0"/>
          <p:cNvSpPr txBox="1"/>
          <p:nvPr>
            <p:ph idx="1" type="body"/>
          </p:nvPr>
        </p:nvSpPr>
        <p:spPr>
          <a:xfrm>
            <a:off x="324000" y="4529159"/>
            <a:ext cx="6054000" cy="320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Quadratic equation, non-linear graph (parabola).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1"/>
          <p:cNvSpPr txBox="1"/>
          <p:nvPr>
            <p:ph type="title"/>
          </p:nvPr>
        </p:nvSpPr>
        <p:spPr>
          <a:xfrm>
            <a:off x="324000" y="748775"/>
            <a:ext cx="6916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equations will form a linear graph?</a:t>
            </a:r>
            <a:endParaRPr/>
          </a:p>
        </p:txBody>
      </p:sp>
      <p:sp>
        <p:nvSpPr>
          <p:cNvPr id="842" name="Google Shape;842;p7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843" name="Google Shape;843;p71"/>
          <p:cNvSpPr txBox="1"/>
          <p:nvPr>
            <p:ph idx="1" type="subTitle"/>
          </p:nvPr>
        </p:nvSpPr>
        <p:spPr>
          <a:xfrm>
            <a:off x="1034425" y="1837775"/>
            <a:ext cx="1396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/>
          </a:p>
        </p:txBody>
      </p:sp>
      <p:sp>
        <p:nvSpPr>
          <p:cNvPr id="844" name="Google Shape;844;p71"/>
          <p:cNvSpPr txBox="1"/>
          <p:nvPr>
            <p:ph idx="3" type="subTitle"/>
          </p:nvPr>
        </p:nvSpPr>
        <p:spPr>
          <a:xfrm>
            <a:off x="1034425" y="2794250"/>
            <a:ext cx="1339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aseline="30000" sz="2400">
              <a:solidFill>
                <a:srgbClr val="28282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5" name="Google Shape;845;p71"/>
          <p:cNvSpPr txBox="1"/>
          <p:nvPr>
            <p:ph idx="4" type="subTitle"/>
          </p:nvPr>
        </p:nvSpPr>
        <p:spPr>
          <a:xfrm>
            <a:off x="1034425" y="3766975"/>
            <a:ext cx="1465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/>
          </a:p>
        </p:txBody>
      </p:sp>
      <p:pic>
        <p:nvPicPr>
          <p:cNvPr id="846" name="Google Shape;84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7783" y="18531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4738" y="2813244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7783" y="379267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71"/>
          <p:cNvSpPr txBox="1"/>
          <p:nvPr/>
        </p:nvSpPr>
        <p:spPr>
          <a:xfrm>
            <a:off x="3360493" y="1870100"/>
            <a:ext cx="51501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exponent of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Linear equation, linear graph.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0" name="Google Shape;850;p71"/>
          <p:cNvSpPr txBox="1"/>
          <p:nvPr/>
        </p:nvSpPr>
        <p:spPr>
          <a:xfrm>
            <a:off x="3360500" y="2807513"/>
            <a:ext cx="5150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exponent not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Non-linear graph.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1" name="Google Shape;851;p71"/>
          <p:cNvSpPr txBox="1"/>
          <p:nvPr/>
        </p:nvSpPr>
        <p:spPr>
          <a:xfrm>
            <a:off x="3360500" y="3816776"/>
            <a:ext cx="5150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exponent of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Linear equation, linear graph.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6" name="Google Shape;85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4434" y="810000"/>
            <a:ext cx="1706046" cy="40100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57" name="Google Shape;85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7910" y="810000"/>
            <a:ext cx="1705725" cy="401264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858" name="Google Shape;858;p72"/>
          <p:cNvGraphicFramePr/>
          <p:nvPr/>
        </p:nvGraphicFramePr>
        <p:xfrm>
          <a:off x="1904963" y="32457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{75F20B67-816A-4073-89FE-23FAF73FBE29}</a:tableStyleId>
              </a:tblPr>
              <a:tblGrid>
                <a:gridCol w="331975"/>
                <a:gridCol w="397275"/>
                <a:gridCol w="397275"/>
                <a:gridCol w="397275"/>
                <a:gridCol w="397275"/>
                <a:gridCol w="397275"/>
              </a:tblGrid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−8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9" name="Google Shape;859;p72"/>
          <p:cNvGraphicFramePr/>
          <p:nvPr/>
        </p:nvGraphicFramePr>
        <p:xfrm>
          <a:off x="1904963" y="16067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{75F20B67-816A-4073-89FE-23FAF73FBE29}</a:tableStyleId>
              </a:tblPr>
              <a:tblGrid>
                <a:gridCol w="331975"/>
                <a:gridCol w="397275"/>
                <a:gridCol w="397275"/>
                <a:gridCol w="397275"/>
                <a:gridCol w="397275"/>
                <a:gridCol w="397275"/>
              </a:tblGrid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0" name="Google Shape;860;p72"/>
          <p:cNvSpPr txBox="1"/>
          <p:nvPr>
            <p:ph idx="1" type="body"/>
          </p:nvPr>
        </p:nvSpPr>
        <p:spPr>
          <a:xfrm>
            <a:off x="324000" y="759300"/>
            <a:ext cx="4340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</a:t>
            </a:r>
            <a:r>
              <a:rPr lang="en-GB" sz="2000"/>
              <a:t>will</a:t>
            </a:r>
            <a:r>
              <a:rPr lang="en-GB" sz="2000"/>
              <a:t> these two linear graphs look </a:t>
            </a:r>
            <a:r>
              <a:rPr lang="en-GB" sz="2000"/>
              <a:t>the same/</a:t>
            </a:r>
            <a:r>
              <a:rPr lang="en-GB" sz="2000"/>
              <a:t>different?</a:t>
            </a:r>
            <a:endParaRPr sz="2000"/>
          </a:p>
        </p:txBody>
      </p:sp>
      <p:sp>
        <p:nvSpPr>
          <p:cNvPr id="861" name="Google Shape;86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862" name="Google Shape;862;p72"/>
          <p:cNvSpPr txBox="1"/>
          <p:nvPr/>
        </p:nvSpPr>
        <p:spPr>
          <a:xfrm>
            <a:off x="334975" y="1547007"/>
            <a:ext cx="124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1200"/>
          </a:p>
        </p:txBody>
      </p:sp>
      <p:sp>
        <p:nvSpPr>
          <p:cNvPr id="863" name="Google Shape;863;p72"/>
          <p:cNvSpPr txBox="1"/>
          <p:nvPr/>
        </p:nvSpPr>
        <p:spPr>
          <a:xfrm>
            <a:off x="334975" y="3151557"/>
            <a:ext cx="116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 sz="1200"/>
          </a:p>
        </p:txBody>
      </p:sp>
      <p:graphicFrame>
        <p:nvGraphicFramePr>
          <p:cNvPr id="864" name="Google Shape;864;p72"/>
          <p:cNvGraphicFramePr/>
          <p:nvPr/>
        </p:nvGraphicFramePr>
        <p:xfrm>
          <a:off x="1904963" y="16067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{75F20B67-816A-4073-89FE-23FAF73FBE29}</a:tableStyleId>
              </a:tblPr>
              <a:tblGrid>
                <a:gridCol w="331975"/>
                <a:gridCol w="397275"/>
                <a:gridCol w="397275"/>
                <a:gridCol w="397275"/>
                <a:gridCol w="397275"/>
                <a:gridCol w="397275"/>
              </a:tblGrid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65" name="Google Shape;865;p72"/>
          <p:cNvGraphicFramePr/>
          <p:nvPr/>
        </p:nvGraphicFramePr>
        <p:xfrm>
          <a:off x="1904963" y="32457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{75F20B67-816A-4073-89FE-23FAF73FBE29}</a:tableStyleId>
              </a:tblPr>
              <a:tblGrid>
                <a:gridCol w="331975"/>
                <a:gridCol w="397275"/>
                <a:gridCol w="397275"/>
                <a:gridCol w="397275"/>
                <a:gridCol w="397275"/>
                <a:gridCol w="397275"/>
              </a:tblGrid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66" name="Google Shape;866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0943" y="808993"/>
            <a:ext cx="1705724" cy="40044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7" name="Google Shape;867;p72"/>
          <p:cNvSpPr txBox="1"/>
          <p:nvPr/>
        </p:nvSpPr>
        <p:spPr>
          <a:xfrm>
            <a:off x="6202375" y="3913550"/>
            <a:ext cx="10923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 sz="1000"/>
          </a:p>
        </p:txBody>
      </p:sp>
      <p:sp>
        <p:nvSpPr>
          <p:cNvPr id="868" name="Google Shape;868;p72"/>
          <p:cNvSpPr txBox="1"/>
          <p:nvPr/>
        </p:nvSpPr>
        <p:spPr>
          <a:xfrm>
            <a:off x="5089548" y="2004200"/>
            <a:ext cx="10923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1000">
              <a:solidFill>
                <a:schemeClr val="accent4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0943" y="808993"/>
            <a:ext cx="1705724" cy="40044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4" name="Google Shape;874;p73"/>
          <p:cNvSpPr txBox="1"/>
          <p:nvPr>
            <p:ph idx="1" type="body"/>
          </p:nvPr>
        </p:nvSpPr>
        <p:spPr>
          <a:xfrm>
            <a:off x="324000" y="759300"/>
            <a:ext cx="4340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will these two linear graphs look the same/different?</a:t>
            </a:r>
            <a:endParaRPr sz="2000"/>
          </a:p>
        </p:txBody>
      </p:sp>
      <p:sp>
        <p:nvSpPr>
          <p:cNvPr id="875" name="Google Shape;87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876" name="Google Shape;876;p73"/>
          <p:cNvSpPr txBox="1"/>
          <p:nvPr/>
        </p:nvSpPr>
        <p:spPr>
          <a:xfrm>
            <a:off x="334975" y="1547007"/>
            <a:ext cx="124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1200"/>
          </a:p>
        </p:txBody>
      </p:sp>
      <p:sp>
        <p:nvSpPr>
          <p:cNvPr id="877" name="Google Shape;877;p73"/>
          <p:cNvSpPr txBox="1"/>
          <p:nvPr/>
        </p:nvSpPr>
        <p:spPr>
          <a:xfrm>
            <a:off x="334975" y="3151557"/>
            <a:ext cx="116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 sz="1200"/>
          </a:p>
        </p:txBody>
      </p:sp>
      <p:sp>
        <p:nvSpPr>
          <p:cNvPr id="878" name="Google Shape;878;p73"/>
          <p:cNvSpPr txBox="1"/>
          <p:nvPr/>
        </p:nvSpPr>
        <p:spPr>
          <a:xfrm>
            <a:off x="5089548" y="2004200"/>
            <a:ext cx="10923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1000">
              <a:solidFill>
                <a:schemeClr val="accent4"/>
              </a:solidFill>
            </a:endParaRPr>
          </a:p>
        </p:txBody>
      </p:sp>
      <p:sp>
        <p:nvSpPr>
          <p:cNvPr id="879" name="Google Shape;879;p73"/>
          <p:cNvSpPr txBox="1"/>
          <p:nvPr/>
        </p:nvSpPr>
        <p:spPr>
          <a:xfrm>
            <a:off x="6202375" y="3913550"/>
            <a:ext cx="10923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 sz="1000"/>
          </a:p>
        </p:txBody>
      </p:sp>
      <p:grpSp>
        <p:nvGrpSpPr>
          <p:cNvPr id="880" name="Google Shape;880;p73"/>
          <p:cNvGrpSpPr/>
          <p:nvPr/>
        </p:nvGrpSpPr>
        <p:grpSpPr>
          <a:xfrm>
            <a:off x="6359088" y="1635688"/>
            <a:ext cx="237000" cy="725063"/>
            <a:chOff x="4073088" y="1864288"/>
            <a:chExt cx="237000" cy="725063"/>
          </a:xfrm>
        </p:grpSpPr>
        <p:cxnSp>
          <p:nvCxnSpPr>
            <p:cNvPr id="881" name="Google Shape;881;p73"/>
            <p:cNvCxnSpPr/>
            <p:nvPr/>
          </p:nvCxnSpPr>
          <p:spPr>
            <a:xfrm flipH="1" rot="10800000">
              <a:off x="4073088" y="2588150"/>
              <a:ext cx="237000" cy="1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82" name="Google Shape;882;p73"/>
            <p:cNvCxnSpPr/>
            <p:nvPr/>
          </p:nvCxnSpPr>
          <p:spPr>
            <a:xfrm rot="10800000">
              <a:off x="4305250" y="1864288"/>
              <a:ext cx="1200" cy="72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883" name="Google Shape;883;p73"/>
          <p:cNvGrpSpPr/>
          <p:nvPr/>
        </p:nvGrpSpPr>
        <p:grpSpPr>
          <a:xfrm>
            <a:off x="6359088" y="2603274"/>
            <a:ext cx="237000" cy="725062"/>
            <a:chOff x="4073088" y="1864288"/>
            <a:chExt cx="237000" cy="725063"/>
          </a:xfrm>
        </p:grpSpPr>
        <p:cxnSp>
          <p:nvCxnSpPr>
            <p:cNvPr id="884" name="Google Shape;884;p73"/>
            <p:cNvCxnSpPr/>
            <p:nvPr/>
          </p:nvCxnSpPr>
          <p:spPr>
            <a:xfrm flipH="1" rot="10800000">
              <a:off x="4073088" y="2588150"/>
              <a:ext cx="237000" cy="1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85" name="Google Shape;885;p73"/>
            <p:cNvCxnSpPr/>
            <p:nvPr/>
          </p:nvCxnSpPr>
          <p:spPr>
            <a:xfrm rot="10800000">
              <a:off x="4305250" y="1864288"/>
              <a:ext cx="1200" cy="72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86" name="Google Shape;886;p73"/>
          <p:cNvSpPr txBox="1"/>
          <p:nvPr>
            <p:ph idx="1" type="body"/>
          </p:nvPr>
        </p:nvSpPr>
        <p:spPr>
          <a:xfrm>
            <a:off x="324000" y="2234450"/>
            <a:ext cx="49377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1800"/>
              <a:t>Both graphs have the same gradient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1" name="Google Shape;89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0943" y="808993"/>
            <a:ext cx="1705724" cy="40044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2" name="Google Shape;892;p74"/>
          <p:cNvSpPr txBox="1"/>
          <p:nvPr>
            <p:ph idx="1" type="body"/>
          </p:nvPr>
        </p:nvSpPr>
        <p:spPr>
          <a:xfrm>
            <a:off x="324000" y="759300"/>
            <a:ext cx="4340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will these two linear graphs look the same/different?</a:t>
            </a:r>
            <a:endParaRPr sz="2000"/>
          </a:p>
        </p:txBody>
      </p:sp>
      <p:sp>
        <p:nvSpPr>
          <p:cNvPr id="893" name="Google Shape;893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894" name="Google Shape;894;p74"/>
          <p:cNvSpPr txBox="1"/>
          <p:nvPr/>
        </p:nvSpPr>
        <p:spPr>
          <a:xfrm>
            <a:off x="334975" y="1547007"/>
            <a:ext cx="124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1200"/>
          </a:p>
        </p:txBody>
      </p:sp>
      <p:sp>
        <p:nvSpPr>
          <p:cNvPr id="895" name="Google Shape;895;p74"/>
          <p:cNvSpPr txBox="1"/>
          <p:nvPr/>
        </p:nvSpPr>
        <p:spPr>
          <a:xfrm>
            <a:off x="334975" y="3151557"/>
            <a:ext cx="116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 sz="1200"/>
          </a:p>
        </p:txBody>
      </p:sp>
      <p:sp>
        <p:nvSpPr>
          <p:cNvPr id="896" name="Google Shape;896;p74"/>
          <p:cNvSpPr txBox="1"/>
          <p:nvPr/>
        </p:nvSpPr>
        <p:spPr>
          <a:xfrm>
            <a:off x="5089548" y="2004200"/>
            <a:ext cx="10923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1000">
              <a:solidFill>
                <a:schemeClr val="accent4"/>
              </a:solidFill>
            </a:endParaRPr>
          </a:p>
        </p:txBody>
      </p:sp>
      <p:sp>
        <p:nvSpPr>
          <p:cNvPr id="897" name="Google Shape;897;p74"/>
          <p:cNvSpPr txBox="1"/>
          <p:nvPr/>
        </p:nvSpPr>
        <p:spPr>
          <a:xfrm>
            <a:off x="6202375" y="3913550"/>
            <a:ext cx="10923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 sz="1000"/>
          </a:p>
        </p:txBody>
      </p:sp>
      <p:sp>
        <p:nvSpPr>
          <p:cNvPr id="898" name="Google Shape;898;p74"/>
          <p:cNvSpPr txBox="1"/>
          <p:nvPr>
            <p:ph idx="1" type="body"/>
          </p:nvPr>
        </p:nvSpPr>
        <p:spPr>
          <a:xfrm>
            <a:off x="324000" y="2234450"/>
            <a:ext cx="49377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1800"/>
              <a:t>Both graphs have the same gradient</a:t>
            </a:r>
            <a:endParaRPr sz="1800"/>
          </a:p>
        </p:txBody>
      </p:sp>
      <p:sp>
        <p:nvSpPr>
          <p:cNvPr id="899" name="Google Shape;899;p74"/>
          <p:cNvSpPr txBox="1"/>
          <p:nvPr>
            <p:ph idx="1" type="body"/>
          </p:nvPr>
        </p:nvSpPr>
        <p:spPr>
          <a:xfrm>
            <a:off x="324000" y="3682250"/>
            <a:ext cx="49377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1800"/>
              <a:t>The</a:t>
            </a:r>
            <a:r>
              <a:rPr lang="en-GB" sz="1800"/>
              <a:t> graphs have </a:t>
            </a:r>
            <a:r>
              <a:rPr lang="en-GB" sz="1800"/>
              <a:t>different</a:t>
            </a:r>
            <a:r>
              <a:rPr lang="en-GB" sz="1800"/>
              <a:t>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-intercepts</a:t>
            </a:r>
            <a:endParaRPr sz="1800"/>
          </a:p>
        </p:txBody>
      </p:sp>
      <p:sp>
        <p:nvSpPr>
          <p:cNvPr id="900" name="Google Shape;900;p74"/>
          <p:cNvSpPr/>
          <p:nvPr/>
        </p:nvSpPr>
        <p:spPr>
          <a:xfrm>
            <a:off x="6091207" y="3117932"/>
            <a:ext cx="394200" cy="379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4"/>
          <p:cNvSpPr/>
          <p:nvPr/>
        </p:nvSpPr>
        <p:spPr>
          <a:xfrm>
            <a:off x="6091207" y="2161852"/>
            <a:ext cx="394200" cy="379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4"/>
          <p:cNvSpPr txBox="1"/>
          <p:nvPr>
            <p:ph idx="1" type="body"/>
          </p:nvPr>
        </p:nvSpPr>
        <p:spPr>
          <a:xfrm>
            <a:off x="1009800" y="4192637"/>
            <a:ext cx="39960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Gradient</a:t>
            </a:r>
            <a:r>
              <a:rPr lang="en-GB" sz="1800"/>
              <a:t> and </a:t>
            </a: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accent4"/>
                </a:solidFill>
              </a:rPr>
              <a:t>-intercept</a:t>
            </a:r>
            <a:r>
              <a:rPr lang="en-GB" sz="1800"/>
              <a:t> are two key features of a linear graph.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75"/>
          <p:cNvSpPr txBox="1"/>
          <p:nvPr>
            <p:ph idx="1" type="body"/>
          </p:nvPr>
        </p:nvSpPr>
        <p:spPr>
          <a:xfrm>
            <a:off x="324000" y="3814460"/>
            <a:ext cx="4340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 is visible not just on the graph but in the table of values and the equation itself.</a:t>
            </a:r>
            <a:endParaRPr sz="2000"/>
          </a:p>
        </p:txBody>
      </p:sp>
      <p:sp>
        <p:nvSpPr>
          <p:cNvPr id="908" name="Google Shape;908;p75"/>
          <p:cNvSpPr txBox="1"/>
          <p:nvPr>
            <p:ph idx="1" type="body"/>
          </p:nvPr>
        </p:nvSpPr>
        <p:spPr>
          <a:xfrm>
            <a:off x="324000" y="2892888"/>
            <a:ext cx="42480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g</a:t>
            </a:r>
            <a:r>
              <a:rPr lang="en-GB" sz="2000"/>
              <a:t>radient of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GB" sz="2000"/>
              <a:t>means a change of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/>
              <a:t> in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/>
              <a:t>for every change of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GB" sz="2000"/>
              <a:t>in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/>
          </a:p>
        </p:txBody>
      </p:sp>
      <p:pic>
        <p:nvPicPr>
          <p:cNvPr id="909" name="Google Shape;909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7910" y="810000"/>
            <a:ext cx="1705725" cy="401264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0" name="Google Shape;910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911" name="Google Shape;911;p75"/>
          <p:cNvSpPr txBox="1"/>
          <p:nvPr/>
        </p:nvSpPr>
        <p:spPr>
          <a:xfrm>
            <a:off x="5089548" y="2004200"/>
            <a:ext cx="10923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1000">
              <a:solidFill>
                <a:schemeClr val="accent4"/>
              </a:solidFill>
            </a:endParaRPr>
          </a:p>
        </p:txBody>
      </p:sp>
      <p:graphicFrame>
        <p:nvGraphicFramePr>
          <p:cNvPr id="912" name="Google Shape;912;p75"/>
          <p:cNvGraphicFramePr/>
          <p:nvPr/>
        </p:nvGraphicFramePr>
        <p:xfrm>
          <a:off x="1904963" y="16067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{75F20B67-816A-4073-89FE-23FAF73FBE29}</a:tableStyleId>
              </a:tblPr>
              <a:tblGrid>
                <a:gridCol w="331975"/>
                <a:gridCol w="397275"/>
                <a:gridCol w="397275"/>
                <a:gridCol w="397275"/>
                <a:gridCol w="397275"/>
                <a:gridCol w="397275"/>
              </a:tblGrid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13" name="Google Shape;913;p75"/>
          <p:cNvGraphicFramePr/>
          <p:nvPr/>
        </p:nvGraphicFramePr>
        <p:xfrm>
          <a:off x="1904963" y="16067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{75F20B67-816A-4073-89FE-23FAF73FBE29}</a:tableStyleId>
              </a:tblPr>
              <a:tblGrid>
                <a:gridCol w="331975"/>
                <a:gridCol w="397275"/>
                <a:gridCol w="397275"/>
                <a:gridCol w="397275"/>
                <a:gridCol w="397275"/>
                <a:gridCol w="397275"/>
              </a:tblGrid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4" name="Google Shape;914;p75"/>
          <p:cNvSpPr txBox="1"/>
          <p:nvPr>
            <p:ph idx="1" type="body"/>
          </p:nvPr>
        </p:nvSpPr>
        <p:spPr>
          <a:xfrm>
            <a:off x="324000" y="812487"/>
            <a:ext cx="4340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sz="2000"/>
              <a:t>, a linear graph with gradient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GB" sz="2000"/>
              <a:t>and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-intercept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(0, 2)</a:t>
            </a:r>
            <a:endParaRPr sz="2000"/>
          </a:p>
        </p:txBody>
      </p:sp>
      <p:grpSp>
        <p:nvGrpSpPr>
          <p:cNvPr id="915" name="Google Shape;915;p75"/>
          <p:cNvGrpSpPr/>
          <p:nvPr/>
        </p:nvGrpSpPr>
        <p:grpSpPr>
          <a:xfrm>
            <a:off x="2418474" y="2284844"/>
            <a:ext cx="1627603" cy="604961"/>
            <a:chOff x="2418474" y="2284844"/>
            <a:chExt cx="1627603" cy="604961"/>
          </a:xfrm>
        </p:grpSpPr>
        <p:sp>
          <p:nvSpPr>
            <p:cNvPr id="916" name="Google Shape;916;p75"/>
            <p:cNvSpPr/>
            <p:nvPr/>
          </p:nvSpPr>
          <p:spPr>
            <a:xfrm flipH="1" rot="10800000">
              <a:off x="2418474" y="2284844"/>
              <a:ext cx="380100" cy="339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75"/>
            <p:cNvSpPr txBox="1"/>
            <p:nvPr/>
          </p:nvSpPr>
          <p:spPr>
            <a:xfrm>
              <a:off x="2441712" y="2616205"/>
              <a:ext cx="380100" cy="27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i="1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8" name="Google Shape;918;p75"/>
            <p:cNvSpPr/>
            <p:nvPr/>
          </p:nvSpPr>
          <p:spPr>
            <a:xfrm flipH="1" rot="10800000">
              <a:off x="2826562" y="2284844"/>
              <a:ext cx="380100" cy="339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75"/>
            <p:cNvSpPr txBox="1"/>
            <p:nvPr/>
          </p:nvSpPr>
          <p:spPr>
            <a:xfrm>
              <a:off x="2849800" y="2616205"/>
              <a:ext cx="380100" cy="27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i="1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0" name="Google Shape;920;p75"/>
            <p:cNvSpPr/>
            <p:nvPr/>
          </p:nvSpPr>
          <p:spPr>
            <a:xfrm flipH="1" rot="10800000">
              <a:off x="3234650" y="2284844"/>
              <a:ext cx="380100" cy="339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75"/>
            <p:cNvSpPr txBox="1"/>
            <p:nvPr/>
          </p:nvSpPr>
          <p:spPr>
            <a:xfrm>
              <a:off x="3257888" y="2616205"/>
              <a:ext cx="380100" cy="27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i="1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2" name="Google Shape;922;p75"/>
            <p:cNvSpPr/>
            <p:nvPr/>
          </p:nvSpPr>
          <p:spPr>
            <a:xfrm flipH="1" rot="10800000">
              <a:off x="3642739" y="2284844"/>
              <a:ext cx="380100" cy="3396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75"/>
            <p:cNvSpPr txBox="1"/>
            <p:nvPr/>
          </p:nvSpPr>
          <p:spPr>
            <a:xfrm>
              <a:off x="3665977" y="2616205"/>
              <a:ext cx="380100" cy="27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i="1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24" name="Google Shape;924;p75"/>
          <p:cNvGrpSpPr/>
          <p:nvPr/>
        </p:nvGrpSpPr>
        <p:grpSpPr>
          <a:xfrm>
            <a:off x="6107474" y="2321488"/>
            <a:ext cx="562679" cy="725063"/>
            <a:chOff x="6107474" y="2321488"/>
            <a:chExt cx="562679" cy="725063"/>
          </a:xfrm>
        </p:grpSpPr>
        <p:grpSp>
          <p:nvGrpSpPr>
            <p:cNvPr id="925" name="Google Shape;925;p75"/>
            <p:cNvGrpSpPr/>
            <p:nvPr/>
          </p:nvGrpSpPr>
          <p:grpSpPr>
            <a:xfrm>
              <a:off x="6107474" y="2321488"/>
              <a:ext cx="237000" cy="725063"/>
              <a:chOff x="4073088" y="1864288"/>
              <a:chExt cx="237000" cy="725063"/>
            </a:xfrm>
          </p:grpSpPr>
          <p:cxnSp>
            <p:nvCxnSpPr>
              <p:cNvPr id="926" name="Google Shape;926;p75"/>
              <p:cNvCxnSpPr/>
              <p:nvPr/>
            </p:nvCxnSpPr>
            <p:spPr>
              <a:xfrm flipH="1" rot="10800000">
                <a:off x="4073088" y="2588150"/>
                <a:ext cx="237000" cy="1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927" name="Google Shape;927;p75"/>
              <p:cNvCxnSpPr/>
              <p:nvPr/>
            </p:nvCxnSpPr>
            <p:spPr>
              <a:xfrm rot="10800000">
                <a:off x="4305250" y="1864288"/>
                <a:ext cx="1200" cy="72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928" name="Google Shape;928;p75"/>
            <p:cNvSpPr txBox="1"/>
            <p:nvPr/>
          </p:nvSpPr>
          <p:spPr>
            <a:xfrm>
              <a:off x="6374353" y="2604663"/>
              <a:ext cx="295800" cy="273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i="1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29" name="Google Shape;929;p75"/>
          <p:cNvGrpSpPr/>
          <p:nvPr/>
        </p:nvGrpSpPr>
        <p:grpSpPr>
          <a:xfrm>
            <a:off x="5878874" y="3083488"/>
            <a:ext cx="562679" cy="725063"/>
            <a:chOff x="5878874" y="3083488"/>
            <a:chExt cx="562679" cy="725063"/>
          </a:xfrm>
        </p:grpSpPr>
        <p:grpSp>
          <p:nvGrpSpPr>
            <p:cNvPr id="930" name="Google Shape;930;p75"/>
            <p:cNvGrpSpPr/>
            <p:nvPr/>
          </p:nvGrpSpPr>
          <p:grpSpPr>
            <a:xfrm>
              <a:off x="5878874" y="3083488"/>
              <a:ext cx="237000" cy="725063"/>
              <a:chOff x="4073088" y="1864288"/>
              <a:chExt cx="237000" cy="725063"/>
            </a:xfrm>
          </p:grpSpPr>
          <p:cxnSp>
            <p:nvCxnSpPr>
              <p:cNvPr id="931" name="Google Shape;931;p75"/>
              <p:cNvCxnSpPr/>
              <p:nvPr/>
            </p:nvCxnSpPr>
            <p:spPr>
              <a:xfrm flipH="1" rot="10800000">
                <a:off x="4073088" y="2588150"/>
                <a:ext cx="237000" cy="1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932" name="Google Shape;932;p75"/>
              <p:cNvCxnSpPr/>
              <p:nvPr/>
            </p:nvCxnSpPr>
            <p:spPr>
              <a:xfrm rot="10800000">
                <a:off x="4305250" y="1864288"/>
                <a:ext cx="1200" cy="72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933" name="Google Shape;933;p75"/>
            <p:cNvSpPr txBox="1"/>
            <p:nvPr/>
          </p:nvSpPr>
          <p:spPr>
            <a:xfrm>
              <a:off x="6145753" y="3366663"/>
              <a:ext cx="295800" cy="273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i="1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34" name="Google Shape;934;p75"/>
          <p:cNvGrpSpPr/>
          <p:nvPr/>
        </p:nvGrpSpPr>
        <p:grpSpPr>
          <a:xfrm>
            <a:off x="6336074" y="1635688"/>
            <a:ext cx="562679" cy="725063"/>
            <a:chOff x="6336074" y="1635688"/>
            <a:chExt cx="562679" cy="725063"/>
          </a:xfrm>
        </p:grpSpPr>
        <p:grpSp>
          <p:nvGrpSpPr>
            <p:cNvPr id="935" name="Google Shape;935;p75"/>
            <p:cNvGrpSpPr/>
            <p:nvPr/>
          </p:nvGrpSpPr>
          <p:grpSpPr>
            <a:xfrm>
              <a:off x="6336074" y="1635688"/>
              <a:ext cx="237000" cy="725063"/>
              <a:chOff x="4073088" y="1864288"/>
              <a:chExt cx="237000" cy="725063"/>
            </a:xfrm>
          </p:grpSpPr>
          <p:cxnSp>
            <p:nvCxnSpPr>
              <p:cNvPr id="936" name="Google Shape;936;p75"/>
              <p:cNvCxnSpPr/>
              <p:nvPr/>
            </p:nvCxnSpPr>
            <p:spPr>
              <a:xfrm flipH="1" rot="10800000">
                <a:off x="4073088" y="2588150"/>
                <a:ext cx="237000" cy="1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937" name="Google Shape;937;p75"/>
              <p:cNvCxnSpPr/>
              <p:nvPr/>
            </p:nvCxnSpPr>
            <p:spPr>
              <a:xfrm rot="10800000">
                <a:off x="4305250" y="1864288"/>
                <a:ext cx="1200" cy="72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938" name="Google Shape;938;p75"/>
            <p:cNvSpPr txBox="1"/>
            <p:nvPr/>
          </p:nvSpPr>
          <p:spPr>
            <a:xfrm>
              <a:off x="6602953" y="1918863"/>
              <a:ext cx="295800" cy="273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i="1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39" name="Google Shape;939;p75"/>
          <p:cNvSpPr/>
          <p:nvPr/>
        </p:nvSpPr>
        <p:spPr>
          <a:xfrm>
            <a:off x="657994" y="813265"/>
            <a:ext cx="394200" cy="379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76"/>
          <p:cNvSpPr txBox="1"/>
          <p:nvPr>
            <p:ph idx="1" type="body"/>
          </p:nvPr>
        </p:nvSpPr>
        <p:spPr>
          <a:xfrm>
            <a:off x="324000" y="2892910"/>
            <a:ext cx="4500000" cy="7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-intercept</a:t>
            </a:r>
            <a:r>
              <a:rPr lang="en-GB" sz="2000"/>
              <a:t>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(0, 2)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means the graph cuts the</a:t>
            </a:r>
            <a:r>
              <a:rPr lang="en-GB" sz="2000"/>
              <a:t>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-axis at this coordinate.</a:t>
            </a:r>
            <a:endParaRPr sz="2000"/>
          </a:p>
        </p:txBody>
      </p:sp>
      <p:pic>
        <p:nvPicPr>
          <p:cNvPr id="945" name="Google Shape;94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7910" y="810000"/>
            <a:ext cx="1705725" cy="401264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6" name="Google Shape;94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947" name="Google Shape;947;p76"/>
          <p:cNvSpPr txBox="1"/>
          <p:nvPr/>
        </p:nvSpPr>
        <p:spPr>
          <a:xfrm>
            <a:off x="5089548" y="2004200"/>
            <a:ext cx="10923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1000">
              <a:solidFill>
                <a:schemeClr val="accent4"/>
              </a:solidFill>
            </a:endParaRPr>
          </a:p>
        </p:txBody>
      </p:sp>
      <p:graphicFrame>
        <p:nvGraphicFramePr>
          <p:cNvPr id="948" name="Google Shape;948;p76"/>
          <p:cNvGraphicFramePr/>
          <p:nvPr/>
        </p:nvGraphicFramePr>
        <p:xfrm>
          <a:off x="1904963" y="16067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{75F20B67-816A-4073-89FE-23FAF73FBE29}</a:tableStyleId>
              </a:tblPr>
              <a:tblGrid>
                <a:gridCol w="331975"/>
                <a:gridCol w="397275"/>
                <a:gridCol w="397275"/>
                <a:gridCol w="397275"/>
                <a:gridCol w="397275"/>
                <a:gridCol w="397275"/>
              </a:tblGrid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49" name="Google Shape;949;p76"/>
          <p:cNvGraphicFramePr/>
          <p:nvPr/>
        </p:nvGraphicFramePr>
        <p:xfrm>
          <a:off x="1904963" y="16067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{75F20B67-816A-4073-89FE-23FAF73FBE29}</a:tableStyleId>
              </a:tblPr>
              <a:tblGrid>
                <a:gridCol w="331975"/>
                <a:gridCol w="397275"/>
                <a:gridCol w="397275"/>
                <a:gridCol w="397275"/>
                <a:gridCol w="397275"/>
                <a:gridCol w="397275"/>
              </a:tblGrid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50" name="Google Shape;950;p76"/>
          <p:cNvSpPr txBox="1"/>
          <p:nvPr>
            <p:ph idx="1" type="body"/>
          </p:nvPr>
        </p:nvSpPr>
        <p:spPr>
          <a:xfrm>
            <a:off x="324000" y="812487"/>
            <a:ext cx="4340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sz="2000"/>
              <a:t>, a linear graph with gradient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GB" sz="2000"/>
              <a:t>and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-intercept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(0, 2)</a:t>
            </a:r>
            <a:endParaRPr sz="2000"/>
          </a:p>
        </p:txBody>
      </p:sp>
      <p:sp>
        <p:nvSpPr>
          <p:cNvPr id="951" name="Google Shape;951;p76"/>
          <p:cNvSpPr/>
          <p:nvPr/>
        </p:nvSpPr>
        <p:spPr>
          <a:xfrm>
            <a:off x="1122353" y="801759"/>
            <a:ext cx="394200" cy="379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6"/>
          <p:cNvSpPr txBox="1"/>
          <p:nvPr>
            <p:ph idx="1" type="body"/>
          </p:nvPr>
        </p:nvSpPr>
        <p:spPr>
          <a:xfrm>
            <a:off x="6214413" y="2176915"/>
            <a:ext cx="3048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300">
                <a:solidFill>
                  <a:schemeClr val="accent4"/>
                </a:solidFill>
              </a:rPr>
              <a:t>✖</a:t>
            </a:r>
            <a:endParaRPr b="1" sz="2300">
              <a:solidFill>
                <a:schemeClr val="accent4"/>
              </a:solidFill>
            </a:endParaRPr>
          </a:p>
        </p:txBody>
      </p:sp>
      <p:sp>
        <p:nvSpPr>
          <p:cNvPr id="953" name="Google Shape;953;p76"/>
          <p:cNvSpPr txBox="1"/>
          <p:nvPr>
            <p:ph idx="1" type="body"/>
          </p:nvPr>
        </p:nvSpPr>
        <p:spPr>
          <a:xfrm>
            <a:off x="324000" y="3814436"/>
            <a:ext cx="4340400" cy="9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 is visible not just on the graph but in the table of values and the equation itself.</a:t>
            </a:r>
            <a:endParaRPr sz="2000"/>
          </a:p>
        </p:txBody>
      </p:sp>
      <p:sp>
        <p:nvSpPr>
          <p:cNvPr id="954" name="Google Shape;954;p76"/>
          <p:cNvSpPr/>
          <p:nvPr/>
        </p:nvSpPr>
        <p:spPr>
          <a:xfrm>
            <a:off x="2994888" y="1540755"/>
            <a:ext cx="472800" cy="955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9" name="Google Shape;95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600" y="1077972"/>
            <a:ext cx="2430000" cy="37305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60" name="Google Shape;960;p7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961" name="Google Shape;961;p77"/>
          <p:cNvSpPr txBox="1"/>
          <p:nvPr>
            <p:ph idx="1" type="subTitle"/>
          </p:nvPr>
        </p:nvSpPr>
        <p:spPr>
          <a:xfrm>
            <a:off x="1034425" y="1814762"/>
            <a:ext cx="338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/>
          </a:p>
        </p:txBody>
      </p:sp>
      <p:sp>
        <p:nvSpPr>
          <p:cNvPr id="962" name="Google Shape;962;p77"/>
          <p:cNvSpPr txBox="1"/>
          <p:nvPr>
            <p:ph type="title"/>
          </p:nvPr>
        </p:nvSpPr>
        <p:spPr>
          <a:xfrm>
            <a:off x="324000" y="824975"/>
            <a:ext cx="5163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Identify the gradient of this linear graph.</a:t>
            </a:r>
            <a:endParaRPr/>
          </a:p>
        </p:txBody>
      </p:sp>
      <p:sp>
        <p:nvSpPr>
          <p:cNvPr id="963" name="Google Shape;963;p77"/>
          <p:cNvSpPr txBox="1"/>
          <p:nvPr>
            <p:ph idx="1" type="subTitle"/>
          </p:nvPr>
        </p:nvSpPr>
        <p:spPr>
          <a:xfrm>
            <a:off x="1034425" y="2793855"/>
            <a:ext cx="338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964" name="Google Shape;964;p77"/>
          <p:cNvSpPr txBox="1"/>
          <p:nvPr>
            <p:ph idx="1" type="subTitle"/>
          </p:nvPr>
        </p:nvSpPr>
        <p:spPr>
          <a:xfrm>
            <a:off x="1034425" y="3788802"/>
            <a:ext cx="338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pic>
        <p:nvPicPr>
          <p:cNvPr id="965" name="Google Shape;965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2458" y="1822644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0436" y="2790564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0231" y="3803844"/>
            <a:ext cx="396000" cy="4197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8" name="Google Shape;968;p77"/>
          <p:cNvGrpSpPr/>
          <p:nvPr/>
        </p:nvGrpSpPr>
        <p:grpSpPr>
          <a:xfrm>
            <a:off x="7166923" y="1985542"/>
            <a:ext cx="798497" cy="668653"/>
            <a:chOff x="5878874" y="3083488"/>
            <a:chExt cx="562679" cy="725063"/>
          </a:xfrm>
        </p:grpSpPr>
        <p:grpSp>
          <p:nvGrpSpPr>
            <p:cNvPr id="969" name="Google Shape;969;p77"/>
            <p:cNvGrpSpPr/>
            <p:nvPr/>
          </p:nvGrpSpPr>
          <p:grpSpPr>
            <a:xfrm>
              <a:off x="5878874" y="3083488"/>
              <a:ext cx="237000" cy="725063"/>
              <a:chOff x="4073088" y="1864288"/>
              <a:chExt cx="237000" cy="725063"/>
            </a:xfrm>
          </p:grpSpPr>
          <p:cxnSp>
            <p:nvCxnSpPr>
              <p:cNvPr id="970" name="Google Shape;970;p77"/>
              <p:cNvCxnSpPr/>
              <p:nvPr/>
            </p:nvCxnSpPr>
            <p:spPr>
              <a:xfrm flipH="1" rot="10800000">
                <a:off x="4073088" y="2588150"/>
                <a:ext cx="237000" cy="1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971" name="Google Shape;971;p77"/>
              <p:cNvCxnSpPr/>
              <p:nvPr/>
            </p:nvCxnSpPr>
            <p:spPr>
              <a:xfrm rot="10800000">
                <a:off x="4305250" y="1864288"/>
                <a:ext cx="1200" cy="72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972" name="Google Shape;972;p77"/>
            <p:cNvSpPr txBox="1"/>
            <p:nvPr/>
          </p:nvSpPr>
          <p:spPr>
            <a:xfrm>
              <a:off x="6145753" y="3366663"/>
              <a:ext cx="295800" cy="273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i="1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73" name="Google Shape;973;p77"/>
          <p:cNvGrpSpPr/>
          <p:nvPr/>
        </p:nvGrpSpPr>
        <p:grpSpPr>
          <a:xfrm>
            <a:off x="7506243" y="1288235"/>
            <a:ext cx="798497" cy="668653"/>
            <a:chOff x="5878874" y="3083488"/>
            <a:chExt cx="562679" cy="725063"/>
          </a:xfrm>
        </p:grpSpPr>
        <p:grpSp>
          <p:nvGrpSpPr>
            <p:cNvPr id="974" name="Google Shape;974;p77"/>
            <p:cNvGrpSpPr/>
            <p:nvPr/>
          </p:nvGrpSpPr>
          <p:grpSpPr>
            <a:xfrm>
              <a:off x="5878874" y="3083488"/>
              <a:ext cx="237000" cy="725063"/>
              <a:chOff x="4073088" y="1864288"/>
              <a:chExt cx="237000" cy="725063"/>
            </a:xfrm>
          </p:grpSpPr>
          <p:cxnSp>
            <p:nvCxnSpPr>
              <p:cNvPr id="975" name="Google Shape;975;p77"/>
              <p:cNvCxnSpPr/>
              <p:nvPr/>
            </p:nvCxnSpPr>
            <p:spPr>
              <a:xfrm flipH="1" rot="10800000">
                <a:off x="4073088" y="2588150"/>
                <a:ext cx="237000" cy="1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976" name="Google Shape;976;p77"/>
              <p:cNvCxnSpPr/>
              <p:nvPr/>
            </p:nvCxnSpPr>
            <p:spPr>
              <a:xfrm rot="10800000">
                <a:off x="4305250" y="1864288"/>
                <a:ext cx="1200" cy="72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977" name="Google Shape;977;p77"/>
            <p:cNvSpPr txBox="1"/>
            <p:nvPr/>
          </p:nvSpPr>
          <p:spPr>
            <a:xfrm>
              <a:off x="6145753" y="3366663"/>
              <a:ext cx="295800" cy="273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i="1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78" name="Google Shape;978;p77"/>
          <p:cNvSpPr txBox="1"/>
          <p:nvPr/>
        </p:nvSpPr>
        <p:spPr>
          <a:xfrm>
            <a:off x="2217500" y="2655125"/>
            <a:ext cx="28707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 change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 </a:t>
            </a: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for every change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 </a:t>
            </a: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oogle Shape;98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600" y="1077972"/>
            <a:ext cx="2430000" cy="37305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4" name="Google Shape;984;p7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985" name="Google Shape;985;p78"/>
          <p:cNvSpPr txBox="1"/>
          <p:nvPr>
            <p:ph idx="1" type="subTitle"/>
          </p:nvPr>
        </p:nvSpPr>
        <p:spPr>
          <a:xfrm>
            <a:off x="1034425" y="1837775"/>
            <a:ext cx="982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(0, 4)</a:t>
            </a:r>
            <a:endParaRPr sz="2000"/>
          </a:p>
        </p:txBody>
      </p:sp>
      <p:sp>
        <p:nvSpPr>
          <p:cNvPr id="986" name="Google Shape;986;p78"/>
          <p:cNvSpPr txBox="1"/>
          <p:nvPr>
            <p:ph idx="3" type="subTitle"/>
          </p:nvPr>
        </p:nvSpPr>
        <p:spPr>
          <a:xfrm>
            <a:off x="7035559" y="2466437"/>
            <a:ext cx="338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300"/>
              <a:t>✖</a:t>
            </a:r>
            <a:endParaRPr b="1" sz="2300"/>
          </a:p>
        </p:txBody>
      </p:sp>
      <p:sp>
        <p:nvSpPr>
          <p:cNvPr id="987" name="Google Shape;987;p78"/>
          <p:cNvSpPr txBox="1"/>
          <p:nvPr>
            <p:ph type="title"/>
          </p:nvPr>
        </p:nvSpPr>
        <p:spPr>
          <a:xfrm>
            <a:off x="324000" y="824975"/>
            <a:ext cx="5501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Identify the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-intercept of the same graph.</a:t>
            </a:r>
            <a:endParaRPr/>
          </a:p>
        </p:txBody>
      </p:sp>
      <p:sp>
        <p:nvSpPr>
          <p:cNvPr id="988" name="Google Shape;988;p78"/>
          <p:cNvSpPr txBox="1"/>
          <p:nvPr>
            <p:ph idx="1" type="subTitle"/>
          </p:nvPr>
        </p:nvSpPr>
        <p:spPr>
          <a:xfrm>
            <a:off x="1034425" y="2828375"/>
            <a:ext cx="982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(−2, 0)</a:t>
            </a:r>
            <a:endParaRPr sz="2000"/>
          </a:p>
        </p:txBody>
      </p:sp>
      <p:sp>
        <p:nvSpPr>
          <p:cNvPr id="989" name="Google Shape;989;p78"/>
          <p:cNvSpPr txBox="1"/>
          <p:nvPr>
            <p:ph idx="1" type="subTitle"/>
          </p:nvPr>
        </p:nvSpPr>
        <p:spPr>
          <a:xfrm>
            <a:off x="1034425" y="3795962"/>
            <a:ext cx="982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(4, 0)</a:t>
            </a:r>
            <a:endParaRPr sz="2000"/>
          </a:p>
        </p:txBody>
      </p:sp>
      <p:pic>
        <p:nvPicPr>
          <p:cNvPr id="990" name="Google Shape;990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6471" y="2813244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1436" y="1822977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1231" y="3803844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78"/>
          <p:cNvSpPr txBox="1"/>
          <p:nvPr/>
        </p:nvSpPr>
        <p:spPr>
          <a:xfrm>
            <a:off x="2598500" y="1740725"/>
            <a:ext cx="1973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line cuts the </a:t>
            </a: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-axis at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(0, 4)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999" name="Google Shape;999;p79"/>
          <p:cNvSpPr txBox="1"/>
          <p:nvPr>
            <p:ph idx="1" type="body"/>
          </p:nvPr>
        </p:nvSpPr>
        <p:spPr>
          <a:xfrm>
            <a:off x="324000" y="759300"/>
            <a:ext cx="5450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 </a:t>
            </a:r>
            <a:r>
              <a:rPr lang="en-GB" sz="2000"/>
              <a:t>gradient</a:t>
            </a:r>
            <a:r>
              <a:rPr lang="en-GB" sz="2000"/>
              <a:t> of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/>
              <a:t> and a</a:t>
            </a:r>
            <a:r>
              <a:rPr lang="en-GB" sz="2000"/>
              <a:t>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-intercept of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(0, 4) </a:t>
            </a:r>
            <a:r>
              <a:rPr lang="en-GB" sz="2000"/>
              <a:t>is unique to this line and no other line.</a:t>
            </a:r>
            <a:endParaRPr/>
          </a:p>
        </p:txBody>
      </p:sp>
      <p:sp>
        <p:nvSpPr>
          <p:cNvPr id="1000" name="Google Shape;1000;p79"/>
          <p:cNvSpPr txBox="1"/>
          <p:nvPr>
            <p:ph idx="1" type="body"/>
          </p:nvPr>
        </p:nvSpPr>
        <p:spPr>
          <a:xfrm>
            <a:off x="324000" y="2047540"/>
            <a:ext cx="5450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gradient of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/>
              <a:t> and a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-intercept of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(0, 4) </a:t>
            </a:r>
            <a:r>
              <a:rPr lang="en-GB" sz="2000"/>
              <a:t>makes this line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endParaRPr/>
          </a:p>
        </p:txBody>
      </p:sp>
      <p:sp>
        <p:nvSpPr>
          <p:cNvPr id="1001" name="Google Shape;1001;p79"/>
          <p:cNvSpPr txBox="1"/>
          <p:nvPr>
            <p:ph idx="1" type="body"/>
          </p:nvPr>
        </p:nvSpPr>
        <p:spPr>
          <a:xfrm>
            <a:off x="324000" y="3458022"/>
            <a:ext cx="4914600" cy="136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the form</a:t>
            </a:r>
            <a:r>
              <a:rPr lang="en-GB" sz="2000"/>
              <a:t>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000"/>
              <a:t> it is the value of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lang="en-GB" sz="2000"/>
              <a:t>which defines our gradient and the value of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000"/>
              <a:t>which defines our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-intercept.</a:t>
            </a:r>
            <a:endParaRPr b="1" i="1"/>
          </a:p>
        </p:txBody>
      </p:sp>
      <p:grpSp>
        <p:nvGrpSpPr>
          <p:cNvPr id="1002" name="Google Shape;1002;p79"/>
          <p:cNvGrpSpPr/>
          <p:nvPr/>
        </p:nvGrpSpPr>
        <p:grpSpPr>
          <a:xfrm>
            <a:off x="1895860" y="2066986"/>
            <a:ext cx="1061334" cy="836700"/>
            <a:chOff x="1895860" y="1891572"/>
            <a:chExt cx="1061334" cy="836700"/>
          </a:xfrm>
        </p:grpSpPr>
        <p:sp>
          <p:nvSpPr>
            <p:cNvPr id="1003" name="Google Shape;1003;p79"/>
            <p:cNvSpPr/>
            <p:nvPr/>
          </p:nvSpPr>
          <p:spPr>
            <a:xfrm>
              <a:off x="1895860" y="1891572"/>
              <a:ext cx="394200" cy="3795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4" name="Google Shape;1004;p79"/>
            <p:cNvSpPr/>
            <p:nvPr/>
          </p:nvSpPr>
          <p:spPr>
            <a:xfrm>
              <a:off x="2562994" y="2348772"/>
              <a:ext cx="394200" cy="3795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5" name="Google Shape;1005;p79"/>
          <p:cNvGrpSpPr/>
          <p:nvPr/>
        </p:nvGrpSpPr>
        <p:grpSpPr>
          <a:xfrm>
            <a:off x="3073380" y="2066986"/>
            <a:ext cx="2359546" cy="836700"/>
            <a:chOff x="2562994" y="1891572"/>
            <a:chExt cx="2359546" cy="836700"/>
          </a:xfrm>
        </p:grpSpPr>
        <p:sp>
          <p:nvSpPr>
            <p:cNvPr id="1006" name="Google Shape;1006;p79"/>
            <p:cNvSpPr/>
            <p:nvPr/>
          </p:nvSpPr>
          <p:spPr>
            <a:xfrm>
              <a:off x="4528340" y="1891572"/>
              <a:ext cx="394200" cy="3795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7" name="Google Shape;1007;p79"/>
            <p:cNvSpPr/>
            <p:nvPr/>
          </p:nvSpPr>
          <p:spPr>
            <a:xfrm>
              <a:off x="2562994" y="2348772"/>
              <a:ext cx="394200" cy="3795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08" name="Google Shape;100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600" y="1077972"/>
            <a:ext cx="2430000" cy="37305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009" name="Google Shape;1009;p79"/>
          <p:cNvGrpSpPr/>
          <p:nvPr/>
        </p:nvGrpSpPr>
        <p:grpSpPr>
          <a:xfrm>
            <a:off x="7166923" y="1985542"/>
            <a:ext cx="798497" cy="668653"/>
            <a:chOff x="5878874" y="3083488"/>
            <a:chExt cx="562679" cy="725063"/>
          </a:xfrm>
        </p:grpSpPr>
        <p:grpSp>
          <p:nvGrpSpPr>
            <p:cNvPr id="1010" name="Google Shape;1010;p79"/>
            <p:cNvGrpSpPr/>
            <p:nvPr/>
          </p:nvGrpSpPr>
          <p:grpSpPr>
            <a:xfrm>
              <a:off x="5878874" y="3083488"/>
              <a:ext cx="237000" cy="725063"/>
              <a:chOff x="4073088" y="1864288"/>
              <a:chExt cx="237000" cy="725063"/>
            </a:xfrm>
          </p:grpSpPr>
          <p:cxnSp>
            <p:nvCxnSpPr>
              <p:cNvPr id="1011" name="Google Shape;1011;p79"/>
              <p:cNvCxnSpPr/>
              <p:nvPr/>
            </p:nvCxnSpPr>
            <p:spPr>
              <a:xfrm flipH="1" rot="10800000">
                <a:off x="4073088" y="2588150"/>
                <a:ext cx="237000" cy="1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012" name="Google Shape;1012;p79"/>
              <p:cNvCxnSpPr/>
              <p:nvPr/>
            </p:nvCxnSpPr>
            <p:spPr>
              <a:xfrm rot="10800000">
                <a:off x="4305250" y="1864288"/>
                <a:ext cx="1200" cy="72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013" name="Google Shape;1013;p79"/>
            <p:cNvSpPr txBox="1"/>
            <p:nvPr/>
          </p:nvSpPr>
          <p:spPr>
            <a:xfrm>
              <a:off x="6145753" y="3366663"/>
              <a:ext cx="295800" cy="273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i="1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14" name="Google Shape;1014;p79"/>
          <p:cNvGrpSpPr/>
          <p:nvPr/>
        </p:nvGrpSpPr>
        <p:grpSpPr>
          <a:xfrm>
            <a:off x="7506243" y="1288235"/>
            <a:ext cx="798497" cy="668653"/>
            <a:chOff x="5878874" y="3083488"/>
            <a:chExt cx="562679" cy="725063"/>
          </a:xfrm>
        </p:grpSpPr>
        <p:grpSp>
          <p:nvGrpSpPr>
            <p:cNvPr id="1015" name="Google Shape;1015;p79"/>
            <p:cNvGrpSpPr/>
            <p:nvPr/>
          </p:nvGrpSpPr>
          <p:grpSpPr>
            <a:xfrm>
              <a:off x="5878874" y="3083488"/>
              <a:ext cx="237000" cy="725063"/>
              <a:chOff x="4073088" y="1864288"/>
              <a:chExt cx="237000" cy="725063"/>
            </a:xfrm>
          </p:grpSpPr>
          <p:cxnSp>
            <p:nvCxnSpPr>
              <p:cNvPr id="1016" name="Google Shape;1016;p79"/>
              <p:cNvCxnSpPr/>
              <p:nvPr/>
            </p:nvCxnSpPr>
            <p:spPr>
              <a:xfrm flipH="1" rot="10800000">
                <a:off x="4073088" y="2588150"/>
                <a:ext cx="237000" cy="1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017" name="Google Shape;1017;p79"/>
              <p:cNvCxnSpPr/>
              <p:nvPr/>
            </p:nvCxnSpPr>
            <p:spPr>
              <a:xfrm rot="10800000">
                <a:off x="4305250" y="1864288"/>
                <a:ext cx="1200" cy="72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018" name="Google Shape;1018;p79"/>
            <p:cNvSpPr txBox="1"/>
            <p:nvPr/>
          </p:nvSpPr>
          <p:spPr>
            <a:xfrm>
              <a:off x="6145753" y="3366663"/>
              <a:ext cx="295800" cy="273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i="1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19" name="Google Shape;1019;p79"/>
          <p:cNvSpPr txBox="1"/>
          <p:nvPr>
            <p:ph idx="4294967295" type="subTitle"/>
          </p:nvPr>
        </p:nvSpPr>
        <p:spPr>
          <a:xfrm>
            <a:off x="7035559" y="2466437"/>
            <a:ext cx="338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300"/>
              <a:t>✖</a:t>
            </a:r>
            <a:endParaRPr b="1" sz="2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" name="Google Shape;102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975" y="1088825"/>
            <a:ext cx="2049017" cy="37305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5" name="Google Shape;1025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grpSp>
        <p:nvGrpSpPr>
          <p:cNvPr id="1026" name="Google Shape;1026;p80"/>
          <p:cNvGrpSpPr/>
          <p:nvPr/>
        </p:nvGrpSpPr>
        <p:grpSpPr>
          <a:xfrm>
            <a:off x="7159748" y="3018344"/>
            <a:ext cx="798497" cy="1368018"/>
            <a:chOff x="5878874" y="3807350"/>
            <a:chExt cx="562678" cy="729765"/>
          </a:xfrm>
        </p:grpSpPr>
        <p:grpSp>
          <p:nvGrpSpPr>
            <p:cNvPr id="1027" name="Google Shape;1027;p80"/>
            <p:cNvGrpSpPr/>
            <p:nvPr/>
          </p:nvGrpSpPr>
          <p:grpSpPr>
            <a:xfrm>
              <a:off x="5878874" y="3807350"/>
              <a:ext cx="237000" cy="729765"/>
              <a:chOff x="4073088" y="2588150"/>
              <a:chExt cx="237000" cy="729765"/>
            </a:xfrm>
          </p:grpSpPr>
          <p:cxnSp>
            <p:nvCxnSpPr>
              <p:cNvPr id="1028" name="Google Shape;1028;p80"/>
              <p:cNvCxnSpPr/>
              <p:nvPr/>
            </p:nvCxnSpPr>
            <p:spPr>
              <a:xfrm flipH="1" rot="10800000">
                <a:off x="4073088" y="2588150"/>
                <a:ext cx="237000" cy="1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029" name="Google Shape;1029;p80"/>
              <p:cNvCxnSpPr/>
              <p:nvPr/>
            </p:nvCxnSpPr>
            <p:spPr>
              <a:xfrm flipH="1">
                <a:off x="4305250" y="2597615"/>
                <a:ext cx="1200" cy="72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030" name="Google Shape;1030;p80"/>
            <p:cNvSpPr txBox="1"/>
            <p:nvPr/>
          </p:nvSpPr>
          <p:spPr>
            <a:xfrm>
              <a:off x="6145752" y="4057342"/>
              <a:ext cx="295800" cy="151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−4</a:t>
              </a:r>
              <a:endParaRPr i="1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31" name="Google Shape;1031;p80"/>
          <p:cNvSpPr txBox="1"/>
          <p:nvPr>
            <p:ph idx="4294967295" type="subTitle"/>
          </p:nvPr>
        </p:nvSpPr>
        <p:spPr>
          <a:xfrm>
            <a:off x="6666065" y="1475837"/>
            <a:ext cx="338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300"/>
              <a:t>✖</a:t>
            </a:r>
            <a:endParaRPr b="1" sz="2300"/>
          </a:p>
        </p:txBody>
      </p:sp>
      <p:sp>
        <p:nvSpPr>
          <p:cNvPr id="1032" name="Google Shape;1032;p80"/>
          <p:cNvSpPr txBox="1"/>
          <p:nvPr>
            <p:ph idx="1" type="body"/>
          </p:nvPr>
        </p:nvSpPr>
        <p:spPr>
          <a:xfrm>
            <a:off x="324000" y="1068450"/>
            <a:ext cx="18195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G</a:t>
            </a:r>
            <a:r>
              <a:rPr lang="en-GB" sz="2000"/>
              <a:t>radient:</a:t>
            </a:r>
            <a:r>
              <a:rPr lang="en-GB" sz="2000"/>
              <a:t>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033" name="Google Shape;1033;p80"/>
          <p:cNvSpPr txBox="1"/>
          <p:nvPr>
            <p:ph idx="1" type="body"/>
          </p:nvPr>
        </p:nvSpPr>
        <p:spPr>
          <a:xfrm>
            <a:off x="324000" y="3458022"/>
            <a:ext cx="4914600" cy="136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the form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000"/>
              <a:t> it is the value of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lang="en-GB" sz="2000"/>
              <a:t>which defines our gradient and the value of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000"/>
              <a:t>which defines our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-intercept.</a:t>
            </a:r>
            <a:endParaRPr b="1" i="1"/>
          </a:p>
        </p:txBody>
      </p:sp>
      <p:sp>
        <p:nvSpPr>
          <p:cNvPr id="1034" name="Google Shape;1034;p80"/>
          <p:cNvSpPr txBox="1"/>
          <p:nvPr>
            <p:ph idx="1" type="body"/>
          </p:nvPr>
        </p:nvSpPr>
        <p:spPr>
          <a:xfrm>
            <a:off x="324000" y="1678050"/>
            <a:ext cx="22797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-intercept:</a:t>
            </a:r>
            <a:r>
              <a:rPr lang="en-GB" sz="2000"/>
              <a:t>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035" name="Google Shape;1035;p80"/>
          <p:cNvSpPr txBox="1"/>
          <p:nvPr>
            <p:ph idx="1" type="body"/>
          </p:nvPr>
        </p:nvSpPr>
        <p:spPr>
          <a:xfrm>
            <a:off x="324000" y="1068450"/>
            <a:ext cx="18195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Gradient: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−4</a:t>
            </a:r>
            <a:endParaRPr/>
          </a:p>
        </p:txBody>
      </p:sp>
      <p:sp>
        <p:nvSpPr>
          <p:cNvPr id="1036" name="Google Shape;1036;p80"/>
          <p:cNvSpPr txBox="1"/>
          <p:nvPr>
            <p:ph idx="1" type="body"/>
          </p:nvPr>
        </p:nvSpPr>
        <p:spPr>
          <a:xfrm>
            <a:off x="324000" y="1678050"/>
            <a:ext cx="22797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-intercept: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(0, 7)</a:t>
            </a:r>
            <a:endParaRPr/>
          </a:p>
        </p:txBody>
      </p:sp>
      <p:sp>
        <p:nvSpPr>
          <p:cNvPr id="1037" name="Google Shape;1037;p80"/>
          <p:cNvSpPr txBox="1"/>
          <p:nvPr>
            <p:ph idx="1" type="body"/>
          </p:nvPr>
        </p:nvSpPr>
        <p:spPr>
          <a:xfrm>
            <a:off x="324000" y="2467425"/>
            <a:ext cx="2440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line</a:t>
            </a:r>
            <a:r>
              <a:rPr lang="en-GB" sz="2000"/>
              <a:t>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−4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+ 7</a:t>
            </a:r>
            <a:endParaRPr b="1" i="1"/>
          </a:p>
        </p:txBody>
      </p:sp>
      <p:sp>
        <p:nvSpPr>
          <p:cNvPr id="1038" name="Google Shape;1038;p80"/>
          <p:cNvSpPr txBox="1"/>
          <p:nvPr>
            <p:ph idx="1" type="body"/>
          </p:nvPr>
        </p:nvSpPr>
        <p:spPr>
          <a:xfrm>
            <a:off x="3360493" y="2467425"/>
            <a:ext cx="1600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7 − 4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1" i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3" name="Google Shape;104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1996" y="3804177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6071" y="184565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1175" y="1085147"/>
            <a:ext cx="1578921" cy="37305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46" name="Google Shape;1046;p8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1047" name="Google Shape;1047;p81"/>
          <p:cNvSpPr txBox="1"/>
          <p:nvPr>
            <p:ph idx="1" type="subTitle"/>
          </p:nvPr>
        </p:nvSpPr>
        <p:spPr>
          <a:xfrm>
            <a:off x="1034425" y="1837775"/>
            <a:ext cx="1362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−4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 sz="2000"/>
          </a:p>
        </p:txBody>
      </p:sp>
      <p:sp>
        <p:nvSpPr>
          <p:cNvPr id="1048" name="Google Shape;1048;p81"/>
          <p:cNvSpPr txBox="1"/>
          <p:nvPr>
            <p:ph type="title"/>
          </p:nvPr>
        </p:nvSpPr>
        <p:spPr>
          <a:xfrm>
            <a:off x="324000" y="824975"/>
            <a:ext cx="5501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line has </a:t>
            </a:r>
            <a:r>
              <a:rPr lang="en-GB" sz="2000"/>
              <a:t>gradient</a:t>
            </a:r>
            <a:r>
              <a:rPr lang="en-GB" sz="2000"/>
              <a:t> of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/>
              <a:t> and a</a:t>
            </a:r>
            <a:r>
              <a:rPr lang="en-GB" sz="2000"/>
              <a:t>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-intercept of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−4)</a:t>
            </a:r>
            <a:r>
              <a:rPr lang="en-GB" sz="2000"/>
              <a:t>. What is the line?</a:t>
            </a:r>
            <a:endParaRPr/>
          </a:p>
        </p:txBody>
      </p:sp>
      <p:sp>
        <p:nvSpPr>
          <p:cNvPr id="1049" name="Google Shape;1049;p81"/>
          <p:cNvSpPr txBox="1"/>
          <p:nvPr>
            <p:ph idx="1" type="subTitle"/>
          </p:nvPr>
        </p:nvSpPr>
        <p:spPr>
          <a:xfrm>
            <a:off x="1034425" y="2828369"/>
            <a:ext cx="1362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endParaRPr sz="2000"/>
          </a:p>
        </p:txBody>
      </p:sp>
      <p:sp>
        <p:nvSpPr>
          <p:cNvPr id="1050" name="Google Shape;1050;p81"/>
          <p:cNvSpPr txBox="1"/>
          <p:nvPr>
            <p:ph idx="1" type="subTitle"/>
          </p:nvPr>
        </p:nvSpPr>
        <p:spPr>
          <a:xfrm>
            <a:off x="1034425" y="3795950"/>
            <a:ext cx="1362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endParaRPr sz="2000"/>
          </a:p>
        </p:txBody>
      </p:sp>
      <p:pic>
        <p:nvPicPr>
          <p:cNvPr id="1051" name="Google Shape;1051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4631" y="2813244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81"/>
          <p:cNvSpPr txBox="1"/>
          <p:nvPr>
            <p:ph idx="1" type="subTitle"/>
          </p:nvPr>
        </p:nvSpPr>
        <p:spPr>
          <a:xfrm>
            <a:off x="3853825" y="3262550"/>
            <a:ext cx="1362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endParaRPr/>
          </a:p>
        </p:txBody>
      </p:sp>
      <p:sp>
        <p:nvSpPr>
          <p:cNvPr id="1053" name="Google Shape;1053;p81"/>
          <p:cNvSpPr txBox="1"/>
          <p:nvPr/>
        </p:nvSpPr>
        <p:spPr>
          <a:xfrm>
            <a:off x="3372007" y="4121575"/>
            <a:ext cx="987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Gradient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54" name="Google Shape;1054;p81"/>
          <p:cNvCxnSpPr/>
          <p:nvPr/>
        </p:nvCxnSpPr>
        <p:spPr>
          <a:xfrm flipH="1" rot="10800000">
            <a:off x="4053500" y="3639875"/>
            <a:ext cx="316500" cy="47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5" name="Google Shape;1055;p81"/>
          <p:cNvCxnSpPr/>
          <p:nvPr/>
        </p:nvCxnSpPr>
        <p:spPr>
          <a:xfrm rot="10800000">
            <a:off x="4967900" y="3639875"/>
            <a:ext cx="316500" cy="47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6" name="Google Shape;1056;p81"/>
          <p:cNvSpPr txBox="1"/>
          <p:nvPr/>
        </p:nvSpPr>
        <p:spPr>
          <a:xfrm>
            <a:off x="4960700" y="4121575"/>
            <a:ext cx="1230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-intercept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Google Shape;106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5507" y="1217440"/>
            <a:ext cx="3463848" cy="30968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2" name="Google Shape;106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1063" name="Google Shape;1063;p82"/>
          <p:cNvSpPr txBox="1"/>
          <p:nvPr>
            <p:ph idx="1" type="body"/>
          </p:nvPr>
        </p:nvSpPr>
        <p:spPr>
          <a:xfrm>
            <a:off x="324000" y="759300"/>
            <a:ext cx="4845600" cy="15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gradient won’t always be an integer. The gradient is calculated by finding the rate of change in the </a:t>
            </a:r>
            <a:r>
              <a:rPr i="1"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900"/>
              <a:t>-direction with respect to the positive </a:t>
            </a:r>
            <a:r>
              <a:rPr i="1"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/>
              <a:t>-direction.</a:t>
            </a:r>
            <a:endParaRPr sz="2100"/>
          </a:p>
        </p:txBody>
      </p:sp>
      <p:sp>
        <p:nvSpPr>
          <p:cNvPr id="1064" name="Google Shape;1064;p82"/>
          <p:cNvSpPr txBox="1"/>
          <p:nvPr>
            <p:ph idx="4294967295" type="subTitle"/>
          </p:nvPr>
        </p:nvSpPr>
        <p:spPr>
          <a:xfrm>
            <a:off x="6021945" y="3408197"/>
            <a:ext cx="338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✖</a:t>
            </a:r>
            <a:endParaRPr sz="2300"/>
          </a:p>
        </p:txBody>
      </p:sp>
      <p:sp>
        <p:nvSpPr>
          <p:cNvPr id="1065" name="Google Shape;1065;p82"/>
          <p:cNvSpPr txBox="1"/>
          <p:nvPr>
            <p:ph idx="4294967295" type="subTitle"/>
          </p:nvPr>
        </p:nvSpPr>
        <p:spPr>
          <a:xfrm>
            <a:off x="8515066" y="1533370"/>
            <a:ext cx="338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✖</a:t>
            </a:r>
            <a:endParaRPr sz="2300"/>
          </a:p>
        </p:txBody>
      </p:sp>
      <p:sp>
        <p:nvSpPr>
          <p:cNvPr id="1066" name="Google Shape;1066;p82"/>
          <p:cNvSpPr txBox="1"/>
          <p:nvPr>
            <p:ph idx="1" type="body"/>
          </p:nvPr>
        </p:nvSpPr>
        <p:spPr>
          <a:xfrm>
            <a:off x="324000" y="2511900"/>
            <a:ext cx="46041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accent4"/>
                </a:solidFill>
              </a:rPr>
              <a:t>Any</a:t>
            </a:r>
            <a:r>
              <a:rPr lang="en-GB" sz="1900"/>
              <a:t> two known coordinates enables us to find the gradient.</a:t>
            </a:r>
            <a:endParaRPr sz="2100"/>
          </a:p>
        </p:txBody>
      </p:sp>
      <p:grpSp>
        <p:nvGrpSpPr>
          <p:cNvPr id="1067" name="Google Shape;1067;p82"/>
          <p:cNvGrpSpPr/>
          <p:nvPr/>
        </p:nvGrpSpPr>
        <p:grpSpPr>
          <a:xfrm>
            <a:off x="6186113" y="1755268"/>
            <a:ext cx="2504555" cy="2103812"/>
            <a:chOff x="6186113" y="1755268"/>
            <a:chExt cx="2504555" cy="2103812"/>
          </a:xfrm>
        </p:grpSpPr>
        <p:grpSp>
          <p:nvGrpSpPr>
            <p:cNvPr id="1068" name="Google Shape;1068;p82"/>
            <p:cNvGrpSpPr/>
            <p:nvPr/>
          </p:nvGrpSpPr>
          <p:grpSpPr>
            <a:xfrm>
              <a:off x="6186113" y="1755268"/>
              <a:ext cx="2504555" cy="1836357"/>
              <a:chOff x="5897823" y="1817284"/>
              <a:chExt cx="1031700" cy="1991278"/>
            </a:xfrm>
          </p:grpSpPr>
          <p:grpSp>
            <p:nvGrpSpPr>
              <p:cNvPr id="1069" name="Google Shape;1069;p82"/>
              <p:cNvGrpSpPr/>
              <p:nvPr/>
            </p:nvGrpSpPr>
            <p:grpSpPr>
              <a:xfrm>
                <a:off x="5897823" y="1817284"/>
                <a:ext cx="1031700" cy="1991278"/>
                <a:chOff x="4092037" y="598084"/>
                <a:chExt cx="1031700" cy="1991278"/>
              </a:xfrm>
            </p:grpSpPr>
            <p:cxnSp>
              <p:nvCxnSpPr>
                <p:cNvPr id="1070" name="Google Shape;1070;p82"/>
                <p:cNvCxnSpPr/>
                <p:nvPr/>
              </p:nvCxnSpPr>
              <p:spPr>
                <a:xfrm flipH="1" rot="10800000">
                  <a:off x="4092037" y="2585762"/>
                  <a:ext cx="1031700" cy="36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1071" name="Google Shape;1071;p82"/>
                <p:cNvCxnSpPr/>
                <p:nvPr/>
              </p:nvCxnSpPr>
              <p:spPr>
                <a:xfrm rot="10800000">
                  <a:off x="5102539" y="598084"/>
                  <a:ext cx="5400" cy="19782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1072" name="Google Shape;1072;p82"/>
              <p:cNvSpPr txBox="1"/>
              <p:nvPr/>
            </p:nvSpPr>
            <p:spPr>
              <a:xfrm>
                <a:off x="6745940" y="2718106"/>
                <a:ext cx="139200" cy="273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000">
                    <a:solidFill>
                      <a:srgbClr val="845AD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+6</a:t>
                </a:r>
                <a:endParaRPr i="1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073" name="Google Shape;1073;p82"/>
            <p:cNvSpPr txBox="1"/>
            <p:nvPr/>
          </p:nvSpPr>
          <p:spPr>
            <a:xfrm>
              <a:off x="7321907" y="3606780"/>
              <a:ext cx="337800" cy="2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+8</a:t>
              </a:r>
              <a:endParaRPr i="1" sz="20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74" name="Google Shape;1074;p82"/>
          <p:cNvSpPr txBox="1"/>
          <p:nvPr>
            <p:ph idx="1" type="body"/>
          </p:nvPr>
        </p:nvSpPr>
        <p:spPr>
          <a:xfrm>
            <a:off x="324000" y="3548527"/>
            <a:ext cx="13608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Gradient =</a:t>
            </a:r>
            <a:endParaRPr sz="2100"/>
          </a:p>
        </p:txBody>
      </p:sp>
      <p:sp>
        <p:nvSpPr>
          <p:cNvPr id="1075" name="Google Shape;1075;p82"/>
          <p:cNvSpPr txBox="1"/>
          <p:nvPr>
            <p:ph idx="1" type="body"/>
          </p:nvPr>
        </p:nvSpPr>
        <p:spPr>
          <a:xfrm>
            <a:off x="1707107" y="3350100"/>
            <a:ext cx="14958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Change in </a:t>
            </a:r>
            <a:r>
              <a:rPr i="1"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100"/>
          </a:p>
        </p:txBody>
      </p:sp>
      <p:sp>
        <p:nvSpPr>
          <p:cNvPr id="1076" name="Google Shape;1076;p82"/>
          <p:cNvSpPr txBox="1"/>
          <p:nvPr>
            <p:ph idx="1" type="body"/>
          </p:nvPr>
        </p:nvSpPr>
        <p:spPr>
          <a:xfrm>
            <a:off x="1707107" y="3731100"/>
            <a:ext cx="14958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Change in </a:t>
            </a:r>
            <a:r>
              <a:rPr i="1"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100"/>
          </a:p>
        </p:txBody>
      </p:sp>
      <p:cxnSp>
        <p:nvCxnSpPr>
          <p:cNvPr id="1077" name="Google Shape;1077;p82"/>
          <p:cNvCxnSpPr/>
          <p:nvPr/>
        </p:nvCxnSpPr>
        <p:spPr>
          <a:xfrm flipH="1" rot="10800000">
            <a:off x="1664068" y="3721100"/>
            <a:ext cx="1484700" cy="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=\frac{3}{4}&quot;&gt;&lt;mo&gt;=&lt;/mo&gt;&lt;mfrac&gt;&lt;mn&gt;3&lt;/mn&gt;&lt;mn&gt;4&lt;/mn&gt;&lt;/mfrac&gt;&lt;/math&gt;" id="1078" name="Google Shape;1078;p82" title="equals 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3567" y="3456473"/>
            <a:ext cx="414454" cy="51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6}{8}&quot;&gt;&lt;mo&gt;=&lt;/mo&gt;&lt;mfrac&gt;&lt;mn&gt;6&lt;/mn&gt;&lt;mn&gt;8&lt;/mn&gt;&lt;/mfrac&gt;&lt;/math&gt;" id="1079" name="Google Shape;1079;p82" title="equals six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4751" y="3453748"/>
            <a:ext cx="414450" cy="51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frac{3}{4}x+1&quot;&gt;&lt;mi&gt;y&lt;/mi&gt;&lt;mo&gt;=&lt;/mo&gt;&lt;mfrac&gt;&lt;mn&gt;3&lt;/mn&gt;&lt;mn&gt;4&lt;/mn&gt;&lt;/mfrac&gt;&lt;mi&gt;x&lt;/mi&gt;&lt;mo&gt;+&lt;/mo&gt;&lt;mn&gt;1&lt;/mn&gt;&lt;/math&gt;" id="1080" name="Google Shape;1080;p82" title="y equals three fourths x plus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45561" y="4292624"/>
            <a:ext cx="1164266" cy="51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82"/>
          <p:cNvSpPr txBox="1"/>
          <p:nvPr>
            <p:ph idx="1" type="body"/>
          </p:nvPr>
        </p:nvSpPr>
        <p:spPr>
          <a:xfrm>
            <a:off x="1573373" y="4409740"/>
            <a:ext cx="13608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line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738" y="2847764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4900" y="1237500"/>
            <a:ext cx="4104198" cy="30677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8" name="Google Shape;1088;p8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1089" name="Google Shape;1089;p83"/>
          <p:cNvSpPr txBox="1"/>
          <p:nvPr>
            <p:ph type="title"/>
          </p:nvPr>
        </p:nvSpPr>
        <p:spPr>
          <a:xfrm>
            <a:off x="324000" y="824975"/>
            <a:ext cx="5163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Identify the gradient of this linear graph.</a:t>
            </a:r>
            <a:endParaRPr/>
          </a:p>
        </p:txBody>
      </p:sp>
      <p:pic>
        <p:nvPicPr>
          <p:cNvPr id="1090" name="Google Shape;1090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3450" y="1799964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231" y="3803844"/>
            <a:ext cx="396000" cy="4197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2" name="Google Shape;1092;p83"/>
          <p:cNvGrpSpPr/>
          <p:nvPr/>
        </p:nvGrpSpPr>
        <p:grpSpPr>
          <a:xfrm>
            <a:off x="5357083" y="2115415"/>
            <a:ext cx="963381" cy="675179"/>
            <a:chOff x="4073088" y="2588150"/>
            <a:chExt cx="237000" cy="729765"/>
          </a:xfrm>
        </p:grpSpPr>
        <p:cxnSp>
          <p:nvCxnSpPr>
            <p:cNvPr id="1093" name="Google Shape;1093;p83"/>
            <p:cNvCxnSpPr/>
            <p:nvPr/>
          </p:nvCxnSpPr>
          <p:spPr>
            <a:xfrm flipH="1" rot="10800000">
              <a:off x="4073088" y="2588150"/>
              <a:ext cx="237000" cy="1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94" name="Google Shape;1094;p83"/>
            <p:cNvCxnSpPr/>
            <p:nvPr/>
          </p:nvCxnSpPr>
          <p:spPr>
            <a:xfrm flipH="1">
              <a:off x="4305250" y="2597615"/>
              <a:ext cx="1200" cy="72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95" name="Google Shape;1095;p83"/>
          <p:cNvSpPr txBox="1"/>
          <p:nvPr/>
        </p:nvSpPr>
        <p:spPr>
          <a:xfrm>
            <a:off x="6358732" y="2244780"/>
            <a:ext cx="338100" cy="28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 i="1" sz="2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6" name="Google Shape;1096;p83"/>
          <p:cNvSpPr txBox="1"/>
          <p:nvPr/>
        </p:nvSpPr>
        <p:spPr>
          <a:xfrm>
            <a:off x="5730471" y="1794750"/>
            <a:ext cx="182700" cy="28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i="1" sz="2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-\frac{2}{3}&quot;&gt;&lt;mo&gt;−&lt;/mo&gt;&lt;mfrac&gt;&lt;mn&gt;2&lt;/mn&gt;&lt;mn&gt;3&lt;/mn&gt;&lt;/mfrac&gt;&lt;/math&gt;" id="1097" name="Google Shape;1097;p83" title="negative 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5504" y="1707250"/>
            <a:ext cx="406057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098" name="Google Shape;1098;p83" title="two third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80198" y="2719310"/>
            <a:ext cx="180420" cy="5970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3}{2}&quot;&gt;&lt;mo&gt;−&lt;/mo&gt;&lt;mfrac&gt;&lt;mn&gt;3&lt;/mn&gt;&lt;mn&gt;2&lt;/mn&gt;&lt;/mfrac&gt;&lt;/math&gt;" id="1099" name="Google Shape;1099;p83" title="negative three halve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5344" y="3682609"/>
            <a:ext cx="406056" cy="606856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83"/>
          <p:cNvSpPr txBox="1"/>
          <p:nvPr>
            <p:ph idx="4294967295" type="body"/>
          </p:nvPr>
        </p:nvSpPr>
        <p:spPr>
          <a:xfrm>
            <a:off x="2164307" y="1391913"/>
            <a:ext cx="14958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Change in</a:t>
            </a:r>
            <a:r>
              <a:rPr lang="en-GB" sz="1900"/>
              <a:t> </a:t>
            </a:r>
            <a:r>
              <a:rPr i="1"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100"/>
          </a:p>
        </p:txBody>
      </p:sp>
      <p:sp>
        <p:nvSpPr>
          <p:cNvPr id="1101" name="Google Shape;1101;p83"/>
          <p:cNvSpPr txBox="1"/>
          <p:nvPr>
            <p:ph idx="4294967295" type="body"/>
          </p:nvPr>
        </p:nvSpPr>
        <p:spPr>
          <a:xfrm>
            <a:off x="2164307" y="1772913"/>
            <a:ext cx="14958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Change in</a:t>
            </a:r>
            <a:r>
              <a:rPr lang="en-GB" sz="1900"/>
              <a:t> </a:t>
            </a:r>
            <a:r>
              <a:rPr i="1"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100"/>
          </a:p>
        </p:txBody>
      </p:sp>
      <p:cxnSp>
        <p:nvCxnSpPr>
          <p:cNvPr id="1102" name="Google Shape;1102;p83"/>
          <p:cNvCxnSpPr/>
          <p:nvPr/>
        </p:nvCxnSpPr>
        <p:spPr>
          <a:xfrm flipH="1" rot="10800000">
            <a:off x="2121268" y="1762913"/>
            <a:ext cx="1484700" cy="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3" name="Google Shape;1103;p83"/>
          <p:cNvSpPr txBox="1"/>
          <p:nvPr>
            <p:ph idx="4294967295" type="body"/>
          </p:nvPr>
        </p:nvSpPr>
        <p:spPr>
          <a:xfrm>
            <a:off x="2164296" y="2283312"/>
            <a:ext cx="23316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With respect to the positive</a:t>
            </a:r>
            <a:r>
              <a:rPr lang="en-GB" sz="1900"/>
              <a:t> </a:t>
            </a:r>
            <a:r>
              <a:rPr i="1"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-direction.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84"/>
          <p:cNvSpPr txBox="1"/>
          <p:nvPr>
            <p:ph idx="1" type="body"/>
          </p:nvPr>
        </p:nvSpPr>
        <p:spPr>
          <a:xfrm>
            <a:off x="324000" y="759300"/>
            <a:ext cx="69513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G</a:t>
            </a:r>
            <a:r>
              <a:rPr lang="en-GB" sz="1900"/>
              <a:t>radient of </a:t>
            </a:r>
            <a:r>
              <a:rPr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900"/>
              <a:t> and a </a:t>
            </a:r>
            <a:r>
              <a:rPr i="1"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900"/>
              <a:t>-intercept of </a:t>
            </a:r>
            <a:r>
              <a:rPr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−2)</a:t>
            </a:r>
            <a:r>
              <a:rPr lang="en-GB" sz="1900"/>
              <a:t> is a description unique to graph (a). Write descriptions for b) and c)</a:t>
            </a:r>
            <a:endParaRPr sz="2100"/>
          </a:p>
        </p:txBody>
      </p:sp>
      <p:sp>
        <p:nvSpPr>
          <p:cNvPr id="1109" name="Google Shape;1109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pic>
        <p:nvPicPr>
          <p:cNvPr id="1110" name="Google Shape;111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948" y="1620000"/>
            <a:ext cx="1745127" cy="318852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1" name="Google Shape;1111;p84"/>
          <p:cNvSpPr txBox="1"/>
          <p:nvPr>
            <p:ph idx="1" type="body"/>
          </p:nvPr>
        </p:nvSpPr>
        <p:spPr>
          <a:xfrm>
            <a:off x="324000" y="1555820"/>
            <a:ext cx="3351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/>
          </a:p>
        </p:txBody>
      </p:sp>
      <p:sp>
        <p:nvSpPr>
          <p:cNvPr id="1112" name="Google Shape;1112;p84"/>
          <p:cNvSpPr txBox="1"/>
          <p:nvPr>
            <p:ph idx="1" type="body"/>
          </p:nvPr>
        </p:nvSpPr>
        <p:spPr>
          <a:xfrm>
            <a:off x="2991000" y="1555820"/>
            <a:ext cx="3351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r>
              <a:rPr lang="en-GB" sz="2000"/>
              <a:t>)</a:t>
            </a:r>
            <a:endParaRPr/>
          </a:p>
        </p:txBody>
      </p:sp>
      <p:sp>
        <p:nvSpPr>
          <p:cNvPr id="1113" name="Google Shape;1113;p84"/>
          <p:cNvSpPr txBox="1"/>
          <p:nvPr>
            <p:ph idx="1" type="body"/>
          </p:nvPr>
        </p:nvSpPr>
        <p:spPr>
          <a:xfrm>
            <a:off x="5734200" y="1555820"/>
            <a:ext cx="3351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r>
              <a:rPr lang="en-GB" sz="2000"/>
              <a:t>)</a:t>
            </a:r>
            <a:endParaRPr/>
          </a:p>
        </p:txBody>
      </p:sp>
      <p:pic>
        <p:nvPicPr>
          <p:cNvPr id="1114" name="Google Shape;1114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6100" y="1643100"/>
            <a:ext cx="1887154" cy="31654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5" name="Google Shape;1115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5250" y="1643100"/>
            <a:ext cx="1887150" cy="316019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85"/>
          <p:cNvSpPr txBox="1"/>
          <p:nvPr>
            <p:ph idx="1" type="body"/>
          </p:nvPr>
        </p:nvSpPr>
        <p:spPr>
          <a:xfrm>
            <a:off x="324000" y="759300"/>
            <a:ext cx="63300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</a:t>
            </a:r>
            <a:r>
              <a:rPr lang="en-GB" sz="1900"/>
              <a:t>) Match the linear equations to their respective lines.</a:t>
            </a:r>
            <a:endParaRPr sz="2100"/>
          </a:p>
        </p:txBody>
      </p:sp>
      <p:sp>
        <p:nvSpPr>
          <p:cNvPr id="1121" name="Google Shape;1121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1122" name="Google Shape;1122;p85"/>
          <p:cNvSpPr txBox="1"/>
          <p:nvPr>
            <p:ph idx="1" type="body"/>
          </p:nvPr>
        </p:nvSpPr>
        <p:spPr>
          <a:xfrm>
            <a:off x="324000" y="1338732"/>
            <a:ext cx="16584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r>
              <a:rPr lang="en-GB" sz="2000"/>
              <a:t>)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endParaRPr/>
          </a:p>
        </p:txBody>
      </p:sp>
      <p:sp>
        <p:nvSpPr>
          <p:cNvPr id="1123" name="Google Shape;1123;p85"/>
          <p:cNvSpPr txBox="1"/>
          <p:nvPr>
            <p:ph idx="1" type="body"/>
          </p:nvPr>
        </p:nvSpPr>
        <p:spPr>
          <a:xfrm>
            <a:off x="324000" y="2057604"/>
            <a:ext cx="16584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3 − 2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124" name="Google Shape;1124;p85"/>
          <p:cNvSpPr txBox="1"/>
          <p:nvPr>
            <p:ph idx="1" type="body"/>
          </p:nvPr>
        </p:nvSpPr>
        <p:spPr>
          <a:xfrm>
            <a:off x="324000" y="2776477"/>
            <a:ext cx="16008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r>
              <a:rPr lang="en-GB" sz="2000"/>
              <a:t>)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−3 − 2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125" name="Google Shape;1125;p85"/>
          <p:cNvSpPr txBox="1"/>
          <p:nvPr>
            <p:ph idx="1" type="body"/>
          </p:nvPr>
        </p:nvSpPr>
        <p:spPr>
          <a:xfrm>
            <a:off x="324000" y="3495350"/>
            <a:ext cx="16584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r>
              <a:rPr lang="en-GB" sz="2000"/>
              <a:t>) 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/>
          </a:p>
        </p:txBody>
      </p:sp>
      <p:pic>
        <p:nvPicPr>
          <p:cNvPr id="1126" name="Google Shape;112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2838" y="1169827"/>
            <a:ext cx="2786186" cy="36204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86"/>
          <p:cNvSpPr txBox="1"/>
          <p:nvPr>
            <p:ph idx="1" type="body"/>
          </p:nvPr>
        </p:nvSpPr>
        <p:spPr>
          <a:xfrm>
            <a:off x="324000" y="759300"/>
            <a:ext cx="39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</a:t>
            </a:r>
            <a:r>
              <a:rPr lang="en-GB" sz="2000"/>
              <a:t> Laura is writing the equation of this linear graph.</a:t>
            </a:r>
            <a:endParaRPr sz="2000"/>
          </a:p>
        </p:txBody>
      </p:sp>
      <p:sp>
        <p:nvSpPr>
          <p:cNvPr id="1132" name="Google Shape;1132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pic>
        <p:nvPicPr>
          <p:cNvPr id="1133" name="Google Shape;1133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2150" y="835025"/>
            <a:ext cx="2917322" cy="34076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134" name="Google Shape;1134;p86"/>
          <p:cNvGrpSpPr/>
          <p:nvPr/>
        </p:nvGrpSpPr>
        <p:grpSpPr>
          <a:xfrm>
            <a:off x="6218549" y="1538590"/>
            <a:ext cx="668381" cy="977948"/>
            <a:chOff x="3511650" y="1061825"/>
            <a:chExt cx="1008725" cy="1475925"/>
          </a:xfrm>
        </p:grpSpPr>
        <p:cxnSp>
          <p:nvCxnSpPr>
            <p:cNvPr id="1135" name="Google Shape;1135;p86"/>
            <p:cNvCxnSpPr/>
            <p:nvPr/>
          </p:nvCxnSpPr>
          <p:spPr>
            <a:xfrm>
              <a:off x="3511650" y="1061825"/>
              <a:ext cx="1008600" cy="3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6" name="Google Shape;1136;p86"/>
            <p:cNvCxnSpPr/>
            <p:nvPr/>
          </p:nvCxnSpPr>
          <p:spPr>
            <a:xfrm flipH="1" rot="10800000">
              <a:off x="4513775" y="1065650"/>
              <a:ext cx="6600" cy="1472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137" name="Google Shape;1137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796" y="3184802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86"/>
          <p:cNvPicPr preferRelativeResize="0"/>
          <p:nvPr/>
        </p:nvPicPr>
        <p:blipFill rotWithShape="1">
          <a:blip r:embed="rId5">
            <a:alphaModFix/>
          </a:blip>
          <a:srcRect b="4760" l="40550" r="0" t="13015"/>
          <a:stretch/>
        </p:blipFill>
        <p:spPr>
          <a:xfrm>
            <a:off x="355500" y="1572825"/>
            <a:ext cx="4586373" cy="174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86"/>
          <p:cNvSpPr txBox="1"/>
          <p:nvPr/>
        </p:nvSpPr>
        <p:spPr>
          <a:xfrm>
            <a:off x="753875" y="1673700"/>
            <a:ext cx="40965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I see a change of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in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a change of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and and intercept of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this is the line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frac{3}{2}x+4&quot;&gt;&lt;mi&gt;y&lt;/mi&gt;&lt;mo&gt;=&lt;/mo&gt;&lt;mfrac&gt;&lt;mn&gt;3&lt;/mn&gt;&lt;mn&gt;2&lt;/mn&gt;&lt;/mfrac&gt;&lt;mi&gt;x&lt;/mi&gt;&lt;mo&gt;+&lt;/mo&gt;&lt;mn&gt;4&lt;/mn&gt;&lt;/math&gt;" id="1140" name="Google Shape;1140;p86" title="y equals three halves x plus 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4190" y="2371913"/>
            <a:ext cx="1285950" cy="55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86"/>
          <p:cNvSpPr txBox="1"/>
          <p:nvPr>
            <p:ph idx="1" type="body"/>
          </p:nvPr>
        </p:nvSpPr>
        <p:spPr>
          <a:xfrm>
            <a:off x="1467000" y="4245834"/>
            <a:ext cx="6855300" cy="6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Write at least two sentences to explain Laura’s errors to her. You may choose to annotate the graph in your explanation.</a:t>
            </a:r>
            <a:endParaRPr sz="1800"/>
          </a:p>
        </p:txBody>
      </p:sp>
      <p:sp>
        <p:nvSpPr>
          <p:cNvPr id="1142" name="Google Shape;1142;p86"/>
          <p:cNvSpPr txBox="1"/>
          <p:nvPr>
            <p:ph idx="4294967295" type="subTitle"/>
          </p:nvPr>
        </p:nvSpPr>
        <p:spPr>
          <a:xfrm>
            <a:off x="7423718" y="3343504"/>
            <a:ext cx="338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/>
              <a:t>✖</a:t>
            </a:r>
            <a:endParaRPr sz="2300"/>
          </a:p>
        </p:txBody>
      </p:sp>
      <p:sp>
        <p:nvSpPr>
          <p:cNvPr id="1143" name="Google Shape;1143;p86"/>
          <p:cNvSpPr txBox="1"/>
          <p:nvPr/>
        </p:nvSpPr>
        <p:spPr>
          <a:xfrm>
            <a:off x="6949671" y="1813416"/>
            <a:ext cx="182700" cy="28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i="1" sz="2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4" name="Google Shape;1144;p86"/>
          <p:cNvSpPr txBox="1"/>
          <p:nvPr/>
        </p:nvSpPr>
        <p:spPr>
          <a:xfrm>
            <a:off x="6492471" y="1203816"/>
            <a:ext cx="182700" cy="28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87"/>
          <p:cNvSpPr txBox="1"/>
          <p:nvPr>
            <p:ph idx="1" type="body"/>
          </p:nvPr>
        </p:nvSpPr>
        <p:spPr>
          <a:xfrm>
            <a:off x="324000" y="759300"/>
            <a:ext cx="6963000" cy="6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Gradient of </a:t>
            </a:r>
            <a:r>
              <a:rPr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900"/>
              <a:t> and a </a:t>
            </a:r>
            <a:r>
              <a:rPr i="1"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900"/>
              <a:t>-intercept of </a:t>
            </a:r>
            <a:r>
              <a:rPr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−2)</a:t>
            </a:r>
            <a:r>
              <a:rPr lang="en-GB" sz="1900"/>
              <a:t> is a description unique to graph (a). Write descriptions for b) and c)</a:t>
            </a:r>
            <a:endParaRPr sz="2100"/>
          </a:p>
        </p:txBody>
      </p:sp>
      <p:sp>
        <p:nvSpPr>
          <p:cNvPr id="1150" name="Google Shape;1150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pic>
        <p:nvPicPr>
          <p:cNvPr id="1151" name="Google Shape;1151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948" y="1620000"/>
            <a:ext cx="1745127" cy="318852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2" name="Google Shape;1152;p87"/>
          <p:cNvSpPr txBox="1"/>
          <p:nvPr>
            <p:ph idx="1" type="body"/>
          </p:nvPr>
        </p:nvSpPr>
        <p:spPr>
          <a:xfrm>
            <a:off x="324000" y="1555820"/>
            <a:ext cx="3351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/>
          </a:p>
        </p:txBody>
      </p:sp>
      <p:sp>
        <p:nvSpPr>
          <p:cNvPr id="1153" name="Google Shape;1153;p87"/>
          <p:cNvSpPr txBox="1"/>
          <p:nvPr>
            <p:ph idx="1" type="body"/>
          </p:nvPr>
        </p:nvSpPr>
        <p:spPr>
          <a:xfrm>
            <a:off x="2991000" y="1555820"/>
            <a:ext cx="3351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/>
          </a:p>
        </p:txBody>
      </p:sp>
      <p:sp>
        <p:nvSpPr>
          <p:cNvPr id="1154" name="Google Shape;1154;p87"/>
          <p:cNvSpPr txBox="1"/>
          <p:nvPr>
            <p:ph idx="1" type="body"/>
          </p:nvPr>
        </p:nvSpPr>
        <p:spPr>
          <a:xfrm>
            <a:off x="5734200" y="1555820"/>
            <a:ext cx="3351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/>
          </a:p>
        </p:txBody>
      </p:sp>
      <p:pic>
        <p:nvPicPr>
          <p:cNvPr id="1155" name="Google Shape;1155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6100" y="1643100"/>
            <a:ext cx="1887154" cy="31654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6" name="Google Shape;1156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5250" y="1643100"/>
            <a:ext cx="1887150" cy="316019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88"/>
          <p:cNvSpPr txBox="1"/>
          <p:nvPr>
            <p:ph idx="1" type="body"/>
          </p:nvPr>
        </p:nvSpPr>
        <p:spPr>
          <a:xfrm>
            <a:off x="324000" y="759300"/>
            <a:ext cx="6928500" cy="6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Gradient of </a:t>
            </a:r>
            <a:r>
              <a:rPr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900"/>
              <a:t> and a </a:t>
            </a:r>
            <a:r>
              <a:rPr i="1"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900"/>
              <a:t>-intercept of </a:t>
            </a:r>
            <a:r>
              <a:rPr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−2)</a:t>
            </a:r>
            <a:r>
              <a:rPr lang="en-GB" sz="1900"/>
              <a:t> is a description unique to graph (a). Write descriptions for b) and c)</a:t>
            </a:r>
            <a:endParaRPr sz="2100"/>
          </a:p>
        </p:txBody>
      </p:sp>
      <p:sp>
        <p:nvSpPr>
          <p:cNvPr id="1162" name="Google Shape;1162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1163" name="Google Shape;1163;p88"/>
          <p:cNvSpPr txBox="1"/>
          <p:nvPr>
            <p:ph idx="1" type="body"/>
          </p:nvPr>
        </p:nvSpPr>
        <p:spPr>
          <a:xfrm>
            <a:off x="2076600" y="1555820"/>
            <a:ext cx="3351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/>
          </a:p>
        </p:txBody>
      </p:sp>
      <p:sp>
        <p:nvSpPr>
          <p:cNvPr id="1164" name="Google Shape;1164;p88"/>
          <p:cNvSpPr txBox="1"/>
          <p:nvPr>
            <p:ph idx="1" type="body"/>
          </p:nvPr>
        </p:nvSpPr>
        <p:spPr>
          <a:xfrm>
            <a:off x="6191400" y="1555820"/>
            <a:ext cx="3351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/>
          </a:p>
        </p:txBody>
      </p:sp>
      <p:pic>
        <p:nvPicPr>
          <p:cNvPr id="1165" name="Google Shape;116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1700" y="1643100"/>
            <a:ext cx="1887154" cy="31654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6" name="Google Shape;1166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2450" y="1643100"/>
            <a:ext cx="1887150" cy="316019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7" name="Google Shape;1167;p88"/>
          <p:cNvSpPr txBox="1"/>
          <p:nvPr>
            <p:ph idx="1" type="body"/>
          </p:nvPr>
        </p:nvSpPr>
        <p:spPr>
          <a:xfrm>
            <a:off x="324000" y="2435700"/>
            <a:ext cx="2110200" cy="6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</a:t>
            </a:r>
            <a:r>
              <a:rPr lang="en-GB" sz="1900"/>
              <a:t>) Gradient of </a:t>
            </a:r>
            <a:r>
              <a:rPr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/>
              <a:t> and a </a:t>
            </a:r>
            <a:r>
              <a:rPr i="1"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900"/>
              <a:t>-intercept of </a:t>
            </a:r>
            <a:r>
              <a:rPr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−1)</a:t>
            </a:r>
            <a:endParaRPr sz="2100"/>
          </a:p>
        </p:txBody>
      </p:sp>
      <p:sp>
        <p:nvSpPr>
          <p:cNvPr id="1168" name="Google Shape;1168;p88"/>
          <p:cNvSpPr txBox="1"/>
          <p:nvPr>
            <p:ph idx="1" type="body"/>
          </p:nvPr>
        </p:nvSpPr>
        <p:spPr>
          <a:xfrm>
            <a:off x="4438800" y="2435700"/>
            <a:ext cx="2110200" cy="6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c</a:t>
            </a:r>
            <a:r>
              <a:rPr lang="en-GB" sz="1900"/>
              <a:t>) Gradient of </a:t>
            </a:r>
            <a:r>
              <a:rPr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r>
              <a:rPr lang="en-GB" sz="1900"/>
              <a:t> and a </a:t>
            </a:r>
            <a:r>
              <a:rPr i="1"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900"/>
              <a:t>-intercept of </a:t>
            </a:r>
            <a:r>
              <a:rPr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(0, 2)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89"/>
          <p:cNvSpPr txBox="1"/>
          <p:nvPr>
            <p:ph idx="1" type="body"/>
          </p:nvPr>
        </p:nvSpPr>
        <p:spPr>
          <a:xfrm>
            <a:off x="324000" y="759300"/>
            <a:ext cx="64107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2) Match the linear equations to their respective lines.</a:t>
            </a:r>
            <a:endParaRPr sz="2100"/>
          </a:p>
        </p:txBody>
      </p:sp>
      <p:sp>
        <p:nvSpPr>
          <p:cNvPr id="1174" name="Google Shape;1174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1175" name="Google Shape;1175;p89"/>
          <p:cNvSpPr txBox="1"/>
          <p:nvPr>
            <p:ph idx="1" type="body"/>
          </p:nvPr>
        </p:nvSpPr>
        <p:spPr>
          <a:xfrm>
            <a:off x="324000" y="1338732"/>
            <a:ext cx="1658400" cy="288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endParaRPr/>
          </a:p>
        </p:txBody>
      </p:sp>
      <p:sp>
        <p:nvSpPr>
          <p:cNvPr id="1176" name="Google Shape;1176;p89"/>
          <p:cNvSpPr txBox="1"/>
          <p:nvPr>
            <p:ph idx="1" type="body"/>
          </p:nvPr>
        </p:nvSpPr>
        <p:spPr>
          <a:xfrm>
            <a:off x="324000" y="2057604"/>
            <a:ext cx="1658400" cy="288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3 − 2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177" name="Google Shape;1177;p89"/>
          <p:cNvSpPr txBox="1"/>
          <p:nvPr>
            <p:ph idx="1" type="body"/>
          </p:nvPr>
        </p:nvSpPr>
        <p:spPr>
          <a:xfrm>
            <a:off x="324000" y="2776477"/>
            <a:ext cx="1600800" cy="288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−3 − 2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178" name="Google Shape;1178;p89"/>
          <p:cNvSpPr txBox="1"/>
          <p:nvPr>
            <p:ph idx="1" type="body"/>
          </p:nvPr>
        </p:nvSpPr>
        <p:spPr>
          <a:xfrm>
            <a:off x="324000" y="3495350"/>
            <a:ext cx="1658400" cy="288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d) 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/>
          </a:p>
        </p:txBody>
      </p:sp>
      <p:pic>
        <p:nvPicPr>
          <p:cNvPr id="1179" name="Google Shape;117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2838" y="1169827"/>
            <a:ext cx="2786186" cy="36204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80" name="Google Shape;1180;p89"/>
          <p:cNvSpPr txBox="1"/>
          <p:nvPr>
            <p:ph idx="1" type="body"/>
          </p:nvPr>
        </p:nvSpPr>
        <p:spPr>
          <a:xfrm rot="-3711815">
            <a:off x="2290549" y="3850254"/>
            <a:ext cx="1360130" cy="288159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endParaRPr sz="2000"/>
          </a:p>
        </p:txBody>
      </p:sp>
      <p:sp>
        <p:nvSpPr>
          <p:cNvPr id="1181" name="Google Shape;1181;p89"/>
          <p:cNvSpPr txBox="1"/>
          <p:nvPr>
            <p:ph idx="1" type="body"/>
          </p:nvPr>
        </p:nvSpPr>
        <p:spPr>
          <a:xfrm rot="3757707">
            <a:off x="4910526" y="4004462"/>
            <a:ext cx="1506007" cy="288214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3 − 2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/>
          </a:p>
        </p:txBody>
      </p:sp>
      <p:sp>
        <p:nvSpPr>
          <p:cNvPr id="1182" name="Google Shape;1182;p89"/>
          <p:cNvSpPr txBox="1"/>
          <p:nvPr>
            <p:ph idx="1" type="body"/>
          </p:nvPr>
        </p:nvSpPr>
        <p:spPr>
          <a:xfrm rot="3757878">
            <a:off x="2205726" y="1721021"/>
            <a:ext cx="1453945" cy="288214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−3 − 2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/>
          </a:p>
        </p:txBody>
      </p:sp>
      <p:sp>
        <p:nvSpPr>
          <p:cNvPr id="1183" name="Google Shape;1183;p89"/>
          <p:cNvSpPr txBox="1"/>
          <p:nvPr>
            <p:ph idx="1" type="body"/>
          </p:nvPr>
        </p:nvSpPr>
        <p:spPr>
          <a:xfrm rot="-3712188">
            <a:off x="4930927" y="1704525"/>
            <a:ext cx="1453942" cy="288159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90"/>
          <p:cNvSpPr txBox="1"/>
          <p:nvPr>
            <p:ph idx="1" type="body"/>
          </p:nvPr>
        </p:nvSpPr>
        <p:spPr>
          <a:xfrm>
            <a:off x="324000" y="759300"/>
            <a:ext cx="3996000" cy="72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Laura is writing the equation of this linear graph.</a:t>
            </a:r>
            <a:endParaRPr sz="2000"/>
          </a:p>
        </p:txBody>
      </p:sp>
      <p:sp>
        <p:nvSpPr>
          <p:cNvPr id="1189" name="Google Shape;1189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pic>
        <p:nvPicPr>
          <p:cNvPr id="1190" name="Google Shape;1190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2150" y="835025"/>
            <a:ext cx="2917322" cy="34076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191" name="Google Shape;1191;p90"/>
          <p:cNvGrpSpPr/>
          <p:nvPr/>
        </p:nvGrpSpPr>
        <p:grpSpPr>
          <a:xfrm>
            <a:off x="6218549" y="1538590"/>
            <a:ext cx="668381" cy="977948"/>
            <a:chOff x="3511650" y="1061825"/>
            <a:chExt cx="1008725" cy="1475925"/>
          </a:xfrm>
        </p:grpSpPr>
        <p:cxnSp>
          <p:nvCxnSpPr>
            <p:cNvPr id="1192" name="Google Shape;1192;p90"/>
            <p:cNvCxnSpPr/>
            <p:nvPr/>
          </p:nvCxnSpPr>
          <p:spPr>
            <a:xfrm>
              <a:off x="3511650" y="1061825"/>
              <a:ext cx="1008600" cy="3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3" name="Google Shape;1193;p90"/>
            <p:cNvCxnSpPr/>
            <p:nvPr/>
          </p:nvCxnSpPr>
          <p:spPr>
            <a:xfrm flipH="1" rot="10800000">
              <a:off x="4513775" y="1065650"/>
              <a:ext cx="6600" cy="1472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194" name="Google Shape;1194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796" y="3184802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90"/>
          <p:cNvPicPr preferRelativeResize="0"/>
          <p:nvPr/>
        </p:nvPicPr>
        <p:blipFill rotWithShape="1">
          <a:blip r:embed="rId5">
            <a:alphaModFix/>
          </a:blip>
          <a:srcRect b="4760" l="40550" r="0" t="13015"/>
          <a:stretch/>
        </p:blipFill>
        <p:spPr>
          <a:xfrm>
            <a:off x="355500" y="1572825"/>
            <a:ext cx="4586373" cy="174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90"/>
          <p:cNvSpPr txBox="1"/>
          <p:nvPr/>
        </p:nvSpPr>
        <p:spPr>
          <a:xfrm>
            <a:off x="753875" y="1673700"/>
            <a:ext cx="40965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I see a change of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in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a change of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and and intercept of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this is the line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frac{3}{2}x+4&quot;&gt;&lt;mi&gt;y&lt;/mi&gt;&lt;mo&gt;=&lt;/mo&gt;&lt;mfrac&gt;&lt;mn&gt;3&lt;/mn&gt;&lt;mn&gt;2&lt;/mn&gt;&lt;/mfrac&gt;&lt;mi&gt;x&lt;/mi&gt;&lt;mo&gt;+&lt;/mo&gt;&lt;mn&gt;4&lt;/mn&gt;&lt;/math&gt;" id="1197" name="Google Shape;1197;p90" title="y equals three halves x plus 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4190" y="2371913"/>
            <a:ext cx="1285950" cy="55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90"/>
          <p:cNvSpPr txBox="1"/>
          <p:nvPr>
            <p:ph idx="1" type="body"/>
          </p:nvPr>
        </p:nvSpPr>
        <p:spPr>
          <a:xfrm>
            <a:off x="1467000" y="4245834"/>
            <a:ext cx="6855300" cy="6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Write at least two sentences to explain Laura’s errors to her. You may choose to annotate the graph in your explanation.</a:t>
            </a:r>
            <a:endParaRPr sz="1800"/>
          </a:p>
        </p:txBody>
      </p:sp>
      <p:sp>
        <p:nvSpPr>
          <p:cNvPr id="1199" name="Google Shape;1199;p90"/>
          <p:cNvSpPr txBox="1"/>
          <p:nvPr>
            <p:ph idx="4294967295" type="subTitle"/>
          </p:nvPr>
        </p:nvSpPr>
        <p:spPr>
          <a:xfrm>
            <a:off x="7423718" y="3343504"/>
            <a:ext cx="338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/>
              <a:t>✖</a:t>
            </a:r>
            <a:endParaRPr sz="2300"/>
          </a:p>
        </p:txBody>
      </p:sp>
      <p:sp>
        <p:nvSpPr>
          <p:cNvPr id="1200" name="Google Shape;1200;p90"/>
          <p:cNvSpPr txBox="1"/>
          <p:nvPr/>
        </p:nvSpPr>
        <p:spPr>
          <a:xfrm>
            <a:off x="6949671" y="1813416"/>
            <a:ext cx="182700" cy="28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i="1" sz="2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1" name="Google Shape;1201;p90"/>
          <p:cNvSpPr txBox="1"/>
          <p:nvPr/>
        </p:nvSpPr>
        <p:spPr>
          <a:xfrm>
            <a:off x="6492471" y="1203816"/>
            <a:ext cx="182700" cy="28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91"/>
          <p:cNvSpPr txBox="1"/>
          <p:nvPr>
            <p:ph idx="1" type="body"/>
          </p:nvPr>
        </p:nvSpPr>
        <p:spPr>
          <a:xfrm>
            <a:off x="324000" y="759300"/>
            <a:ext cx="288900" cy="28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</a:t>
            </a:r>
            <a:endParaRPr sz="2000"/>
          </a:p>
        </p:txBody>
      </p:sp>
      <p:sp>
        <p:nvSpPr>
          <p:cNvPr id="1207" name="Google Shape;1207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pic>
        <p:nvPicPr>
          <p:cNvPr id="1208" name="Google Shape;120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2150" y="835025"/>
            <a:ext cx="2917322" cy="34076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209" name="Google Shape;1209;p91"/>
          <p:cNvGrpSpPr/>
          <p:nvPr/>
        </p:nvGrpSpPr>
        <p:grpSpPr>
          <a:xfrm>
            <a:off x="6218549" y="1538590"/>
            <a:ext cx="668381" cy="977948"/>
            <a:chOff x="3511650" y="1061825"/>
            <a:chExt cx="1008725" cy="1475925"/>
          </a:xfrm>
        </p:grpSpPr>
        <p:cxnSp>
          <p:nvCxnSpPr>
            <p:cNvPr id="1210" name="Google Shape;1210;p91"/>
            <p:cNvCxnSpPr/>
            <p:nvPr/>
          </p:nvCxnSpPr>
          <p:spPr>
            <a:xfrm>
              <a:off x="3511650" y="1061825"/>
              <a:ext cx="1008600" cy="3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1" name="Google Shape;1211;p91"/>
            <p:cNvCxnSpPr/>
            <p:nvPr/>
          </p:nvCxnSpPr>
          <p:spPr>
            <a:xfrm flipH="1" rot="10800000">
              <a:off x="4513775" y="1065650"/>
              <a:ext cx="6600" cy="1472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212" name="Google Shape;1212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796" y="2346602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91"/>
          <p:cNvPicPr preferRelativeResize="0"/>
          <p:nvPr/>
        </p:nvPicPr>
        <p:blipFill rotWithShape="1">
          <a:blip r:embed="rId5">
            <a:alphaModFix/>
          </a:blip>
          <a:srcRect b="4760" l="40550" r="0" t="13015"/>
          <a:stretch/>
        </p:blipFill>
        <p:spPr>
          <a:xfrm>
            <a:off x="355500" y="734625"/>
            <a:ext cx="4586373" cy="174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91"/>
          <p:cNvSpPr txBox="1"/>
          <p:nvPr/>
        </p:nvSpPr>
        <p:spPr>
          <a:xfrm>
            <a:off x="753875" y="835500"/>
            <a:ext cx="40965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I see a change of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in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a change of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and and intercept of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this is the line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frac{3}{2}x+4&quot;&gt;&lt;mi&gt;y&lt;/mi&gt;&lt;mo&gt;=&lt;/mo&gt;&lt;mfrac&gt;&lt;mn&gt;3&lt;/mn&gt;&lt;mn&gt;2&lt;/mn&gt;&lt;/mfrac&gt;&lt;mi&gt;x&lt;/mi&gt;&lt;mo&gt;+&lt;/mo&gt;&lt;mn&gt;4&lt;/mn&gt;&lt;/math&gt;" id="1215" name="Google Shape;1215;p91" title="y equals three halves x plus 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4190" y="1533713"/>
            <a:ext cx="1285950" cy="55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6" name="Google Shape;1216;p91"/>
          <p:cNvSpPr txBox="1"/>
          <p:nvPr>
            <p:ph idx="1" type="body"/>
          </p:nvPr>
        </p:nvSpPr>
        <p:spPr>
          <a:xfrm>
            <a:off x="1467000" y="2527745"/>
            <a:ext cx="3640800" cy="6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gradient is the change in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divided by the change in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but with respect to the </a:t>
            </a:r>
            <a:r>
              <a:rPr lang="en-GB" sz="1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positive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-direction.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7" name="Google Shape;1217;p91"/>
          <p:cNvSpPr txBox="1"/>
          <p:nvPr>
            <p:ph idx="4294967295" type="subTitle"/>
          </p:nvPr>
        </p:nvSpPr>
        <p:spPr>
          <a:xfrm>
            <a:off x="7423718" y="3343504"/>
            <a:ext cx="338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/>
              <a:t>✖</a:t>
            </a:r>
            <a:endParaRPr sz="2300"/>
          </a:p>
        </p:txBody>
      </p:sp>
      <p:sp>
        <p:nvSpPr>
          <p:cNvPr id="1218" name="Google Shape;1218;p91"/>
          <p:cNvSpPr txBox="1"/>
          <p:nvPr/>
        </p:nvSpPr>
        <p:spPr>
          <a:xfrm>
            <a:off x="6949671" y="1813416"/>
            <a:ext cx="182700" cy="28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i="1" sz="2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9" name="Google Shape;1219;p91"/>
          <p:cNvSpPr txBox="1"/>
          <p:nvPr/>
        </p:nvSpPr>
        <p:spPr>
          <a:xfrm>
            <a:off x="6492471" y="1203816"/>
            <a:ext cx="182700" cy="28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0" name="Google Shape;122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2150" y="835025"/>
            <a:ext cx="2917322" cy="34076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1" name="Google Shape;1221;p91"/>
          <p:cNvSpPr txBox="1"/>
          <p:nvPr>
            <p:ph idx="4294967295" type="subTitle"/>
          </p:nvPr>
        </p:nvSpPr>
        <p:spPr>
          <a:xfrm>
            <a:off x="7423718" y="3343504"/>
            <a:ext cx="338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/>
              <a:t>✖</a:t>
            </a:r>
            <a:endParaRPr sz="2300"/>
          </a:p>
        </p:txBody>
      </p:sp>
      <p:sp>
        <p:nvSpPr>
          <p:cNvPr id="1222" name="Google Shape;1222;p91"/>
          <p:cNvSpPr txBox="1"/>
          <p:nvPr/>
        </p:nvSpPr>
        <p:spPr>
          <a:xfrm>
            <a:off x="6492471" y="1203816"/>
            <a:ext cx="182700" cy="28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1" sz="2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23" name="Google Shape;1223;p91"/>
          <p:cNvGrpSpPr/>
          <p:nvPr/>
        </p:nvGrpSpPr>
        <p:grpSpPr>
          <a:xfrm>
            <a:off x="6222256" y="1540280"/>
            <a:ext cx="668364" cy="977959"/>
            <a:chOff x="4073088" y="2588150"/>
            <a:chExt cx="237000" cy="729765"/>
          </a:xfrm>
        </p:grpSpPr>
        <p:cxnSp>
          <p:nvCxnSpPr>
            <p:cNvPr id="1224" name="Google Shape;1224;p91"/>
            <p:cNvCxnSpPr/>
            <p:nvPr/>
          </p:nvCxnSpPr>
          <p:spPr>
            <a:xfrm flipH="1" rot="10800000">
              <a:off x="4073088" y="2588150"/>
              <a:ext cx="237000" cy="1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25" name="Google Shape;1225;p91"/>
            <p:cNvCxnSpPr/>
            <p:nvPr/>
          </p:nvCxnSpPr>
          <p:spPr>
            <a:xfrm flipH="1">
              <a:off x="4305250" y="2597615"/>
              <a:ext cx="1200" cy="72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226" name="Google Shape;1226;p91"/>
          <p:cNvSpPr txBox="1"/>
          <p:nvPr/>
        </p:nvSpPr>
        <p:spPr>
          <a:xfrm>
            <a:off x="6945319" y="1819287"/>
            <a:ext cx="338100" cy="28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endParaRPr i="1" sz="2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7" name="Google Shape;1227;p91"/>
          <p:cNvSpPr txBox="1"/>
          <p:nvPr>
            <p:ph idx="1" type="body"/>
          </p:nvPr>
        </p:nvSpPr>
        <p:spPr>
          <a:xfrm>
            <a:off x="403025" y="3571537"/>
            <a:ext cx="4371300" cy="6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In the form </a:t>
            </a: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mx </a:t>
            </a: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the </a:t>
            </a: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relates to the </a:t>
            </a:r>
            <a:r>
              <a:rPr i="1"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-intercept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, not that of the </a:t>
            </a: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axis.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8" name="Google Shape;1228;p91"/>
          <p:cNvSpPr txBox="1"/>
          <p:nvPr>
            <p:ph idx="4294967295" type="subTitle"/>
          </p:nvPr>
        </p:nvSpPr>
        <p:spPr>
          <a:xfrm>
            <a:off x="6105305" y="1362304"/>
            <a:ext cx="338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/>
              <a:t>✖</a:t>
            </a:r>
            <a:endParaRPr sz="2300"/>
          </a:p>
        </p:txBody>
      </p:sp>
      <p:sp>
        <p:nvSpPr>
          <p:cNvPr id="1229" name="Google Shape;1229;p91"/>
          <p:cNvSpPr txBox="1"/>
          <p:nvPr>
            <p:ph idx="1" type="body"/>
          </p:nvPr>
        </p:nvSpPr>
        <p:spPr>
          <a:xfrm>
            <a:off x="391521" y="4440050"/>
            <a:ext cx="1614000" cy="28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This is the line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6-\frac{3}{2}x&quot;&gt;&lt;mi&gt;y&lt;/mi&gt;&lt;mo&gt;=&lt;/mo&gt;&lt;mn&gt;6&lt;/mn&gt;&lt;mo&gt;−&lt;/mo&gt;&lt;mfrac&gt;&lt;mn&gt;3&lt;/mn&gt;&lt;mn&gt;2&lt;/mn&gt;&lt;/mfrac&gt;&lt;mi&gt;x&lt;/mi&gt;&lt;/math&gt;" id="1230" name="Google Shape;1230;p91" title="y equals 6 minus three halves 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05425" y="4319999"/>
            <a:ext cx="1156112" cy="5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9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features of linear graphs</a:t>
            </a:r>
            <a:endParaRPr/>
          </a:p>
        </p:txBody>
      </p:sp>
      <p:sp>
        <p:nvSpPr>
          <p:cNvPr id="1236" name="Google Shape;1236;p92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linear graphs</a:t>
            </a:r>
            <a:endParaRPr/>
          </a:p>
        </p:txBody>
      </p:sp>
      <p:sp>
        <p:nvSpPr>
          <p:cNvPr id="1237" name="Google Shape;1237;p9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Equations and their graphs</a:t>
            </a:r>
            <a:endParaRPr/>
          </a:p>
        </p:txBody>
      </p:sp>
      <p:pic>
        <p:nvPicPr>
          <p:cNvPr id="1238" name="Google Shape;123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98741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3" name="Google Shape;124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8707" y="1620000"/>
            <a:ext cx="3256300" cy="31972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4" name="Google Shape;1244;p93"/>
          <p:cNvGrpSpPr/>
          <p:nvPr/>
        </p:nvGrpSpPr>
        <p:grpSpPr>
          <a:xfrm>
            <a:off x="4824000" y="1620000"/>
            <a:ext cx="3232266" cy="3197252"/>
            <a:chOff x="4900200" y="1620000"/>
            <a:chExt cx="3232266" cy="3197252"/>
          </a:xfrm>
        </p:grpSpPr>
        <p:pic>
          <p:nvPicPr>
            <p:cNvPr id="1245" name="Google Shape;1245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00200" y="1620000"/>
              <a:ext cx="3232266" cy="319725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46" name="Google Shape;1246;p93"/>
            <p:cNvCxnSpPr/>
            <p:nvPr/>
          </p:nvCxnSpPr>
          <p:spPr>
            <a:xfrm flipH="1" rot="10800000">
              <a:off x="6483725" y="1628775"/>
              <a:ext cx="816900" cy="31758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47" name="Google Shape;1247;p93"/>
          <p:cNvSpPr txBox="1"/>
          <p:nvPr>
            <p:ph idx="1" type="body"/>
          </p:nvPr>
        </p:nvSpPr>
        <p:spPr>
          <a:xfrm>
            <a:off x="324000" y="759300"/>
            <a:ext cx="7135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Having a good understanding of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mx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enables us to quickly </a:t>
            </a:r>
            <a:r>
              <a:rPr lang="en-GB">
                <a:solidFill>
                  <a:schemeClr val="accent5"/>
                </a:solidFill>
              </a:rPr>
              <a:t>sketch </a:t>
            </a:r>
            <a:r>
              <a:rPr lang="en-GB"/>
              <a:t>linear graphs.</a:t>
            </a:r>
            <a:endParaRPr sz="2800"/>
          </a:p>
        </p:txBody>
      </p:sp>
      <p:sp>
        <p:nvSpPr>
          <p:cNvPr id="1248" name="Google Shape;1248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linear graphs</a:t>
            </a:r>
            <a:endParaRPr/>
          </a:p>
        </p:txBody>
      </p:sp>
      <p:sp>
        <p:nvSpPr>
          <p:cNvPr id="1249" name="Google Shape;1249;p93"/>
          <p:cNvSpPr txBox="1"/>
          <p:nvPr>
            <p:ph idx="4294967295" type="body"/>
          </p:nvPr>
        </p:nvSpPr>
        <p:spPr>
          <a:xfrm>
            <a:off x="2079416" y="2005875"/>
            <a:ext cx="1230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</a:t>
            </a:r>
            <a:endParaRPr sz="2400"/>
          </a:p>
        </p:txBody>
      </p:sp>
      <p:sp>
        <p:nvSpPr>
          <p:cNvPr id="1250" name="Google Shape;1250;p93"/>
          <p:cNvSpPr txBox="1"/>
          <p:nvPr>
            <p:ph idx="4294967295" type="body"/>
          </p:nvPr>
        </p:nvSpPr>
        <p:spPr>
          <a:xfrm>
            <a:off x="6457333" y="1320075"/>
            <a:ext cx="171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/>
          </a:p>
        </p:txBody>
      </p:sp>
      <p:sp>
        <p:nvSpPr>
          <p:cNvPr id="1251" name="Google Shape;1251;p93"/>
          <p:cNvSpPr txBox="1"/>
          <p:nvPr>
            <p:ph idx="4294967295" type="body"/>
          </p:nvPr>
        </p:nvSpPr>
        <p:spPr>
          <a:xfrm>
            <a:off x="8198427" y="3072675"/>
            <a:ext cx="171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1252" name="Google Shape;1252;p93"/>
          <p:cNvSpPr txBox="1"/>
          <p:nvPr/>
        </p:nvSpPr>
        <p:spPr>
          <a:xfrm>
            <a:off x="1543207" y="2902375"/>
            <a:ext cx="987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Gradient of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53" name="Google Shape;1253;p93"/>
          <p:cNvCxnSpPr/>
          <p:nvPr/>
        </p:nvCxnSpPr>
        <p:spPr>
          <a:xfrm flipH="1" rot="10800000">
            <a:off x="2224700" y="2420675"/>
            <a:ext cx="316500" cy="47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4" name="Google Shape;1254;p93"/>
          <p:cNvCxnSpPr/>
          <p:nvPr/>
        </p:nvCxnSpPr>
        <p:spPr>
          <a:xfrm rot="10800000">
            <a:off x="3291500" y="2420675"/>
            <a:ext cx="316500" cy="47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5" name="Google Shape;1255;p93"/>
          <p:cNvSpPr txBox="1"/>
          <p:nvPr/>
        </p:nvSpPr>
        <p:spPr>
          <a:xfrm>
            <a:off x="3284300" y="2902375"/>
            <a:ext cx="1230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-intercept of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93"/>
          <p:cNvSpPr txBox="1"/>
          <p:nvPr/>
        </p:nvSpPr>
        <p:spPr>
          <a:xfrm>
            <a:off x="342674" y="3671535"/>
            <a:ext cx="32322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-intercept in the negatives.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Steep, positive gradient.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93"/>
          <p:cNvSpPr txBox="1"/>
          <p:nvPr/>
        </p:nvSpPr>
        <p:spPr>
          <a:xfrm>
            <a:off x="5775887" y="4003695"/>
            <a:ext cx="7050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(0,−5)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93"/>
          <p:cNvSpPr txBox="1"/>
          <p:nvPr>
            <p:ph idx="4294967295" type="subTitle"/>
          </p:nvPr>
        </p:nvSpPr>
        <p:spPr>
          <a:xfrm>
            <a:off x="6410105" y="4181704"/>
            <a:ext cx="338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/>
              <a:t>✖</a:t>
            </a:r>
            <a:endParaRPr sz="2300"/>
          </a:p>
        </p:txBody>
      </p:sp>
      <p:sp>
        <p:nvSpPr>
          <p:cNvPr id="1259" name="Google Shape;1259;p93"/>
          <p:cNvSpPr txBox="1"/>
          <p:nvPr/>
        </p:nvSpPr>
        <p:spPr>
          <a:xfrm>
            <a:off x="342675" y="4486712"/>
            <a:ext cx="5137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sketching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graphs we label key features.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4" name="Google Shape;1264;p94"/>
          <p:cNvGrpSpPr/>
          <p:nvPr/>
        </p:nvGrpSpPr>
        <p:grpSpPr>
          <a:xfrm>
            <a:off x="4824000" y="1620000"/>
            <a:ext cx="3232266" cy="3197252"/>
            <a:chOff x="4900200" y="1620000"/>
            <a:chExt cx="3232266" cy="3197252"/>
          </a:xfrm>
        </p:grpSpPr>
        <p:pic>
          <p:nvPicPr>
            <p:cNvPr id="1265" name="Google Shape;1265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00200" y="1620000"/>
              <a:ext cx="3232266" cy="319725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66" name="Google Shape;1266;p94"/>
            <p:cNvCxnSpPr/>
            <p:nvPr/>
          </p:nvCxnSpPr>
          <p:spPr>
            <a:xfrm flipH="1" rot="10800000">
              <a:off x="6483725" y="1628775"/>
              <a:ext cx="816900" cy="31758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67" name="Google Shape;1267;p94"/>
          <p:cNvSpPr txBox="1"/>
          <p:nvPr>
            <p:ph idx="1" type="body"/>
          </p:nvPr>
        </p:nvSpPr>
        <p:spPr>
          <a:xfrm>
            <a:off x="324000" y="759300"/>
            <a:ext cx="54519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r>
              <a:rPr lang="en-GB" sz="2000"/>
              <a:t> </a:t>
            </a:r>
            <a:r>
              <a:rPr lang="en-GB" sz="2000">
                <a:solidFill>
                  <a:schemeClr val="accent5"/>
                </a:solidFill>
              </a:rPr>
              <a:t>sketch </a:t>
            </a:r>
            <a:r>
              <a:rPr lang="en-GB" sz="2000"/>
              <a:t>i</a:t>
            </a:r>
            <a:r>
              <a:rPr lang="en-GB" sz="2000"/>
              <a:t>s not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100%</a:t>
            </a:r>
            <a:r>
              <a:rPr lang="en-GB" sz="2000"/>
              <a:t> accurate. It is just an approximate representation that we draw to help us visualise or solve problems.</a:t>
            </a:r>
            <a:endParaRPr sz="2600"/>
          </a:p>
        </p:txBody>
      </p:sp>
      <p:sp>
        <p:nvSpPr>
          <p:cNvPr id="1268" name="Google Shape;1268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linear graphs</a:t>
            </a:r>
            <a:endParaRPr/>
          </a:p>
        </p:txBody>
      </p:sp>
      <p:sp>
        <p:nvSpPr>
          <p:cNvPr id="1269" name="Google Shape;1269;p94"/>
          <p:cNvSpPr txBox="1"/>
          <p:nvPr>
            <p:ph idx="4294967295" type="body"/>
          </p:nvPr>
        </p:nvSpPr>
        <p:spPr>
          <a:xfrm>
            <a:off x="2079416" y="2005875"/>
            <a:ext cx="1230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endParaRPr sz="2400"/>
          </a:p>
        </p:txBody>
      </p:sp>
      <p:sp>
        <p:nvSpPr>
          <p:cNvPr id="1270" name="Google Shape;1270;p94"/>
          <p:cNvSpPr txBox="1"/>
          <p:nvPr>
            <p:ph idx="4294967295" type="body"/>
          </p:nvPr>
        </p:nvSpPr>
        <p:spPr>
          <a:xfrm>
            <a:off x="6457333" y="1320075"/>
            <a:ext cx="171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/>
          </a:p>
        </p:txBody>
      </p:sp>
      <p:sp>
        <p:nvSpPr>
          <p:cNvPr id="1271" name="Google Shape;1271;p94"/>
          <p:cNvSpPr txBox="1"/>
          <p:nvPr>
            <p:ph idx="4294967295" type="body"/>
          </p:nvPr>
        </p:nvSpPr>
        <p:spPr>
          <a:xfrm>
            <a:off x="8198427" y="3072675"/>
            <a:ext cx="171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1272" name="Google Shape;1272;p94"/>
          <p:cNvSpPr txBox="1"/>
          <p:nvPr/>
        </p:nvSpPr>
        <p:spPr>
          <a:xfrm>
            <a:off x="1543207" y="2902375"/>
            <a:ext cx="987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Gradient of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3" name="Google Shape;1273;p94"/>
          <p:cNvCxnSpPr/>
          <p:nvPr/>
        </p:nvCxnSpPr>
        <p:spPr>
          <a:xfrm flipH="1" rot="10800000">
            <a:off x="2224700" y="2420675"/>
            <a:ext cx="316500" cy="47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4" name="Google Shape;1274;p94"/>
          <p:cNvCxnSpPr/>
          <p:nvPr/>
        </p:nvCxnSpPr>
        <p:spPr>
          <a:xfrm rot="10800000">
            <a:off x="3291500" y="2420675"/>
            <a:ext cx="316500" cy="47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5" name="Google Shape;1275;p94"/>
          <p:cNvSpPr txBox="1"/>
          <p:nvPr/>
        </p:nvSpPr>
        <p:spPr>
          <a:xfrm>
            <a:off x="3284300" y="2902375"/>
            <a:ext cx="1230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-intercept of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94"/>
          <p:cNvSpPr txBox="1"/>
          <p:nvPr/>
        </p:nvSpPr>
        <p:spPr>
          <a:xfrm>
            <a:off x="342674" y="3671535"/>
            <a:ext cx="32322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-intercept in the negatives.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Steep, positive gradient.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94"/>
          <p:cNvSpPr txBox="1"/>
          <p:nvPr/>
        </p:nvSpPr>
        <p:spPr>
          <a:xfrm>
            <a:off x="342675" y="4486712"/>
            <a:ext cx="5137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sketching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graphs we label key features.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94"/>
          <p:cNvSpPr txBox="1"/>
          <p:nvPr/>
        </p:nvSpPr>
        <p:spPr>
          <a:xfrm>
            <a:off x="5775887" y="4003695"/>
            <a:ext cx="7050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(0,−5)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94"/>
          <p:cNvSpPr txBox="1"/>
          <p:nvPr>
            <p:ph idx="4294967295" type="subTitle"/>
          </p:nvPr>
        </p:nvSpPr>
        <p:spPr>
          <a:xfrm>
            <a:off x="6410105" y="4181704"/>
            <a:ext cx="338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/>
              <a:t>✖</a:t>
            </a:r>
            <a:endParaRPr sz="23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4" name="Google Shape;1284;p9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585544" y="1211412"/>
            <a:ext cx="3845949" cy="175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3600" y="1375500"/>
            <a:ext cx="3024600" cy="30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95"/>
          <p:cNvSpPr txBox="1"/>
          <p:nvPr>
            <p:ph idx="1" type="body"/>
          </p:nvPr>
        </p:nvSpPr>
        <p:spPr>
          <a:xfrm>
            <a:off x="324000" y="805325"/>
            <a:ext cx="5984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Jun and Sofia are discussing this linear graph.</a:t>
            </a:r>
            <a:endParaRPr sz="2600"/>
          </a:p>
        </p:txBody>
      </p:sp>
      <p:sp>
        <p:nvSpPr>
          <p:cNvPr id="1287" name="Google Shape;1287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linear graphs</a:t>
            </a:r>
            <a:endParaRPr/>
          </a:p>
        </p:txBody>
      </p:sp>
      <p:sp>
        <p:nvSpPr>
          <p:cNvPr id="1288" name="Google Shape;1288;p95"/>
          <p:cNvSpPr txBox="1"/>
          <p:nvPr>
            <p:ph idx="4294967295" type="body"/>
          </p:nvPr>
        </p:nvSpPr>
        <p:spPr>
          <a:xfrm>
            <a:off x="6861347" y="1038288"/>
            <a:ext cx="171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/>
          </a:p>
        </p:txBody>
      </p:sp>
      <p:sp>
        <p:nvSpPr>
          <p:cNvPr id="1289" name="Google Shape;1289;p95"/>
          <p:cNvSpPr txBox="1"/>
          <p:nvPr>
            <p:ph idx="4294967295" type="body"/>
          </p:nvPr>
        </p:nvSpPr>
        <p:spPr>
          <a:xfrm>
            <a:off x="8549253" y="2984968"/>
            <a:ext cx="171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1290" name="Google Shape;1290;p95"/>
          <p:cNvSpPr txBox="1"/>
          <p:nvPr/>
        </p:nvSpPr>
        <p:spPr>
          <a:xfrm>
            <a:off x="933600" y="1279162"/>
            <a:ext cx="3350400" cy="12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looks perfectly diagonal, that’s a 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radient of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That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-intercept looks about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think this is the line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91" name="Google Shape;1291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799" y="2740794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2" name="Google Shape;1292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23603" y="3919846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3" name="Google Shape;1293;p9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336041" y="2998025"/>
            <a:ext cx="3128402" cy="1321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94" name="Google Shape;1294;p95"/>
          <p:cNvSpPr txBox="1"/>
          <p:nvPr/>
        </p:nvSpPr>
        <p:spPr>
          <a:xfrm>
            <a:off x="1619400" y="3054775"/>
            <a:ext cx="2664600" cy="9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might be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but it could be anything! We have to be careful!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95"/>
          <p:cNvSpPr txBox="1"/>
          <p:nvPr>
            <p:ph idx="1" type="body"/>
          </p:nvPr>
        </p:nvSpPr>
        <p:spPr>
          <a:xfrm>
            <a:off x="2533800" y="4485938"/>
            <a:ext cx="3128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Who do you agree with?</a:t>
            </a:r>
            <a:endParaRPr sz="2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" name="Google Shape;1300;p9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585544" y="1211412"/>
            <a:ext cx="3845949" cy="175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1" name="Google Shape;1301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3600" y="1375500"/>
            <a:ext cx="3024600" cy="30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96"/>
          <p:cNvSpPr txBox="1"/>
          <p:nvPr>
            <p:ph idx="1" type="body"/>
          </p:nvPr>
        </p:nvSpPr>
        <p:spPr>
          <a:xfrm>
            <a:off x="324000" y="805325"/>
            <a:ext cx="5984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Jun and Sofia are discussing this linear graph.</a:t>
            </a:r>
            <a:endParaRPr sz="2600"/>
          </a:p>
        </p:txBody>
      </p:sp>
      <p:sp>
        <p:nvSpPr>
          <p:cNvPr id="1303" name="Google Shape;1303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linear graphs</a:t>
            </a:r>
            <a:endParaRPr/>
          </a:p>
        </p:txBody>
      </p:sp>
      <p:sp>
        <p:nvSpPr>
          <p:cNvPr id="1304" name="Google Shape;1304;p96"/>
          <p:cNvSpPr txBox="1"/>
          <p:nvPr>
            <p:ph idx="4294967295" type="body"/>
          </p:nvPr>
        </p:nvSpPr>
        <p:spPr>
          <a:xfrm>
            <a:off x="6861347" y="1038288"/>
            <a:ext cx="171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/>
          </a:p>
        </p:txBody>
      </p:sp>
      <p:sp>
        <p:nvSpPr>
          <p:cNvPr id="1305" name="Google Shape;1305;p96"/>
          <p:cNvSpPr txBox="1"/>
          <p:nvPr>
            <p:ph idx="4294967295" type="body"/>
          </p:nvPr>
        </p:nvSpPr>
        <p:spPr>
          <a:xfrm>
            <a:off x="8549253" y="2984968"/>
            <a:ext cx="171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1306" name="Google Shape;1306;p96"/>
          <p:cNvSpPr txBox="1"/>
          <p:nvPr/>
        </p:nvSpPr>
        <p:spPr>
          <a:xfrm>
            <a:off x="933600" y="1279162"/>
            <a:ext cx="3350400" cy="12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looks perfectly diagonal, that’s a gradient of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That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-intercept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looks about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think this is the line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7" name="Google Shape;1307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799" y="2740794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8" name="Google Shape;1308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23603" y="3919846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p96"/>
          <p:cNvSpPr txBox="1"/>
          <p:nvPr>
            <p:ph idx="1" type="body"/>
          </p:nvPr>
        </p:nvSpPr>
        <p:spPr>
          <a:xfrm>
            <a:off x="1545025" y="2844075"/>
            <a:ext cx="4809900" cy="1670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Jun may be right but, we do not have </a:t>
            </a:r>
            <a:r>
              <a:rPr lang="en-GB" sz="1800"/>
              <a:t>enough</a:t>
            </a:r>
            <a:r>
              <a:rPr lang="en-GB" sz="1800"/>
              <a:t> information to be sure. The only thing we know is that the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-intercept has a positive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coordinate and that the gradient is positive. He had that right however, the scale on these axes could be anything.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4" name="Google Shape;131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3600" y="1375500"/>
            <a:ext cx="3024600" cy="30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97"/>
          <p:cNvSpPr txBox="1"/>
          <p:nvPr>
            <p:ph idx="1" type="body"/>
          </p:nvPr>
        </p:nvSpPr>
        <p:spPr>
          <a:xfrm>
            <a:off x="324000" y="805325"/>
            <a:ext cx="5984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Jun and Sofia are discussing this linear graph.</a:t>
            </a:r>
            <a:endParaRPr sz="2600"/>
          </a:p>
        </p:txBody>
      </p:sp>
      <p:sp>
        <p:nvSpPr>
          <p:cNvPr id="1316" name="Google Shape;1316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linear graphs</a:t>
            </a:r>
            <a:endParaRPr/>
          </a:p>
        </p:txBody>
      </p:sp>
      <p:sp>
        <p:nvSpPr>
          <p:cNvPr id="1317" name="Google Shape;1317;p97"/>
          <p:cNvSpPr txBox="1"/>
          <p:nvPr>
            <p:ph idx="4294967295" type="body"/>
          </p:nvPr>
        </p:nvSpPr>
        <p:spPr>
          <a:xfrm>
            <a:off x="6861347" y="1038288"/>
            <a:ext cx="171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/>
          </a:p>
        </p:txBody>
      </p:sp>
      <p:sp>
        <p:nvSpPr>
          <p:cNvPr id="1318" name="Google Shape;1318;p97"/>
          <p:cNvSpPr txBox="1"/>
          <p:nvPr>
            <p:ph idx="4294967295" type="body"/>
          </p:nvPr>
        </p:nvSpPr>
        <p:spPr>
          <a:xfrm>
            <a:off x="8549253" y="2984968"/>
            <a:ext cx="171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pic>
        <p:nvPicPr>
          <p:cNvPr id="1319" name="Google Shape;1319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799" y="2740794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0" name="Google Shape;1320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23603" y="3919846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97"/>
          <p:cNvSpPr txBox="1"/>
          <p:nvPr>
            <p:ph idx="1" type="body"/>
          </p:nvPr>
        </p:nvSpPr>
        <p:spPr>
          <a:xfrm>
            <a:off x="1249900" y="1243875"/>
            <a:ext cx="4601700" cy="1670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Sofia was</a:t>
            </a:r>
            <a:r>
              <a:rPr lang="en-GB" sz="1800"/>
              <a:t> right to issue caution over exact accuracy. However, she is wrong to say it could be ‘anything’. The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-intercept has a positive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coordinate and the gradient is positive.</a:t>
            </a:r>
            <a:endParaRPr sz="2400"/>
          </a:p>
        </p:txBody>
      </p:sp>
      <p:pic>
        <p:nvPicPr>
          <p:cNvPr id="1322" name="Google Shape;1322;p97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1336041" y="2998025"/>
            <a:ext cx="3128402" cy="1321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23" name="Google Shape;1323;p97"/>
          <p:cNvSpPr txBox="1"/>
          <p:nvPr/>
        </p:nvSpPr>
        <p:spPr>
          <a:xfrm>
            <a:off x="1619400" y="3054775"/>
            <a:ext cx="2664600" cy="9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might be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but it could be anything! We have to be careful!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8" name="Google Shape;1328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3600" y="1375500"/>
            <a:ext cx="3024600" cy="30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98"/>
          <p:cNvSpPr txBox="1"/>
          <p:nvPr>
            <p:ph idx="1" type="body"/>
          </p:nvPr>
        </p:nvSpPr>
        <p:spPr>
          <a:xfrm>
            <a:off x="324000" y="805325"/>
            <a:ext cx="5984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we </a:t>
            </a:r>
            <a:r>
              <a:rPr lang="en-GB" sz="2000">
                <a:solidFill>
                  <a:schemeClr val="accent6"/>
                </a:solidFill>
              </a:rPr>
              <a:t>know</a:t>
            </a:r>
            <a:r>
              <a:rPr lang="en-GB" sz="2000"/>
              <a:t> one line, it can help us to know something about another.</a:t>
            </a:r>
            <a:endParaRPr sz="2600"/>
          </a:p>
        </p:txBody>
      </p:sp>
      <p:sp>
        <p:nvSpPr>
          <p:cNvPr id="1330" name="Google Shape;1330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linear graphs</a:t>
            </a:r>
            <a:endParaRPr/>
          </a:p>
        </p:txBody>
      </p:sp>
      <p:sp>
        <p:nvSpPr>
          <p:cNvPr id="1331" name="Google Shape;1331;p98"/>
          <p:cNvSpPr txBox="1"/>
          <p:nvPr>
            <p:ph idx="4294967295" type="body"/>
          </p:nvPr>
        </p:nvSpPr>
        <p:spPr>
          <a:xfrm>
            <a:off x="6861347" y="1038288"/>
            <a:ext cx="171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/>
          </a:p>
        </p:txBody>
      </p:sp>
      <p:sp>
        <p:nvSpPr>
          <p:cNvPr id="1332" name="Google Shape;1332;p98"/>
          <p:cNvSpPr txBox="1"/>
          <p:nvPr>
            <p:ph idx="4294967295" type="body"/>
          </p:nvPr>
        </p:nvSpPr>
        <p:spPr>
          <a:xfrm>
            <a:off x="8549253" y="2984968"/>
            <a:ext cx="171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1333" name="Google Shape;1333;p98"/>
          <p:cNvSpPr txBox="1"/>
          <p:nvPr/>
        </p:nvSpPr>
        <p:spPr>
          <a:xfrm>
            <a:off x="6348154" y="2022500"/>
            <a:ext cx="5847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98"/>
          <p:cNvSpPr txBox="1"/>
          <p:nvPr>
            <p:ph idx="4294967295" type="subTitle"/>
          </p:nvPr>
        </p:nvSpPr>
        <p:spPr>
          <a:xfrm>
            <a:off x="6837132" y="2223517"/>
            <a:ext cx="338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✖</a:t>
            </a:r>
            <a:endParaRPr sz="2000"/>
          </a:p>
        </p:txBody>
      </p:sp>
      <p:sp>
        <p:nvSpPr>
          <p:cNvPr id="1335" name="Google Shape;1335;p98"/>
          <p:cNvSpPr txBox="1"/>
          <p:nvPr/>
        </p:nvSpPr>
        <p:spPr>
          <a:xfrm>
            <a:off x="324000" y="1759375"/>
            <a:ext cx="4500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If we 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knew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this line was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…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6" name="Google Shape;1336;p98"/>
          <p:cNvCxnSpPr/>
          <p:nvPr/>
        </p:nvCxnSpPr>
        <p:spPr>
          <a:xfrm flipH="1" rot="10800000">
            <a:off x="5433600" y="1893512"/>
            <a:ext cx="2946300" cy="1001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7" name="Google Shape;1337;p98"/>
          <p:cNvSpPr txBox="1"/>
          <p:nvPr/>
        </p:nvSpPr>
        <p:spPr>
          <a:xfrm>
            <a:off x="933600" y="2749975"/>
            <a:ext cx="45000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…w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hat do we know about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this line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98"/>
          <p:cNvSpPr txBox="1"/>
          <p:nvPr/>
        </p:nvSpPr>
        <p:spPr>
          <a:xfrm>
            <a:off x="324003" y="4045375"/>
            <a:ext cx="32094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Gradient of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&lt; </a:t>
            </a: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98"/>
          <p:cNvSpPr txBox="1"/>
          <p:nvPr/>
        </p:nvSpPr>
        <p:spPr>
          <a:xfrm>
            <a:off x="315908" y="3435775"/>
            <a:ext cx="38067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-intercept of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4" name="Google Shape;1344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3776" y="1326718"/>
            <a:ext cx="2454274" cy="31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99"/>
          <p:cNvSpPr txBox="1"/>
          <p:nvPr>
            <p:ph type="title"/>
          </p:nvPr>
        </p:nvSpPr>
        <p:spPr>
          <a:xfrm>
            <a:off x="324000" y="810000"/>
            <a:ext cx="6619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could the equation of this line be?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linear graphs</a:t>
            </a:r>
            <a:endParaRPr/>
          </a:p>
        </p:txBody>
      </p:sp>
      <p:sp>
        <p:nvSpPr>
          <p:cNvPr id="1347" name="Google Shape;1347;p99"/>
          <p:cNvSpPr txBox="1"/>
          <p:nvPr>
            <p:ph idx="1" type="subTitle"/>
          </p:nvPr>
        </p:nvSpPr>
        <p:spPr>
          <a:xfrm>
            <a:off x="1034425" y="1685375"/>
            <a:ext cx="1224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348" name="Google Shape;1348;p99"/>
          <p:cNvSpPr txBox="1"/>
          <p:nvPr>
            <p:ph idx="3" type="subTitle"/>
          </p:nvPr>
        </p:nvSpPr>
        <p:spPr>
          <a:xfrm>
            <a:off x="1034425" y="2489443"/>
            <a:ext cx="1224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34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349" name="Google Shape;1349;p99"/>
          <p:cNvSpPr txBox="1"/>
          <p:nvPr>
            <p:ph idx="4" type="subTitle"/>
          </p:nvPr>
        </p:nvSpPr>
        <p:spPr>
          <a:xfrm>
            <a:off x="1034425" y="3309757"/>
            <a:ext cx="1217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17 − 3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350" name="Google Shape;1350;p99"/>
          <p:cNvSpPr txBox="1"/>
          <p:nvPr>
            <p:ph idx="5" type="subTitle"/>
          </p:nvPr>
        </p:nvSpPr>
        <p:spPr>
          <a:xfrm>
            <a:off x="1034425" y="4113825"/>
            <a:ext cx="14541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− 17</a:t>
            </a:r>
            <a:endParaRPr/>
          </a:p>
        </p:txBody>
      </p:sp>
      <p:sp>
        <p:nvSpPr>
          <p:cNvPr id="1351" name="Google Shape;1351;p99"/>
          <p:cNvSpPr txBox="1"/>
          <p:nvPr>
            <p:ph idx="4294967295" type="body"/>
          </p:nvPr>
        </p:nvSpPr>
        <p:spPr>
          <a:xfrm>
            <a:off x="6861347" y="1308568"/>
            <a:ext cx="171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/>
          </a:p>
        </p:txBody>
      </p:sp>
      <p:sp>
        <p:nvSpPr>
          <p:cNvPr id="1352" name="Google Shape;1352;p99"/>
          <p:cNvSpPr txBox="1"/>
          <p:nvPr>
            <p:ph idx="4294967295" type="body"/>
          </p:nvPr>
        </p:nvSpPr>
        <p:spPr>
          <a:xfrm>
            <a:off x="8061880" y="3056821"/>
            <a:ext cx="171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pic>
        <p:nvPicPr>
          <p:cNvPr id="1353" name="Google Shape;1353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3738" y="1628564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99"/>
          <p:cNvSpPr txBox="1"/>
          <p:nvPr>
            <p:ph idx="4294967295" type="body"/>
          </p:nvPr>
        </p:nvSpPr>
        <p:spPr>
          <a:xfrm>
            <a:off x="2796925" y="1544325"/>
            <a:ext cx="24543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Our line does not have a </a:t>
            </a:r>
            <a:r>
              <a:rPr i="1"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-intercept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endParaRPr sz="2100"/>
          </a:p>
        </p:txBody>
      </p:sp>
      <p:pic>
        <p:nvPicPr>
          <p:cNvPr id="1355" name="Google Shape;1355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7850" y="3270777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99"/>
          <p:cNvSpPr txBox="1"/>
          <p:nvPr>
            <p:ph idx="4294967295" type="body"/>
          </p:nvPr>
        </p:nvSpPr>
        <p:spPr>
          <a:xfrm>
            <a:off x="2796927" y="3220725"/>
            <a:ext cx="22137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Nega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tive</a:t>
            </a:r>
            <a:r>
              <a:rPr lang="en-GB" sz="19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gradient, </a:t>
            </a:r>
            <a:r>
              <a:rPr i="1"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-intercept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(0, 17)</a:t>
            </a:r>
            <a:endParaRPr sz="2100"/>
          </a:p>
        </p:txBody>
      </p:sp>
      <p:sp>
        <p:nvSpPr>
          <p:cNvPr id="1357" name="Google Shape;1357;p99"/>
          <p:cNvSpPr txBox="1"/>
          <p:nvPr/>
        </p:nvSpPr>
        <p:spPr>
          <a:xfrm>
            <a:off x="7140324" y="1676025"/>
            <a:ext cx="744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(0, 17)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99"/>
          <p:cNvSpPr txBox="1"/>
          <p:nvPr>
            <p:ph idx="3" type="subTitle"/>
          </p:nvPr>
        </p:nvSpPr>
        <p:spPr>
          <a:xfrm>
            <a:off x="6943505" y="1877037"/>
            <a:ext cx="338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✖</a:t>
            </a:r>
            <a:endParaRPr sz="2000"/>
          </a:p>
        </p:txBody>
      </p:sp>
      <p:pic>
        <p:nvPicPr>
          <p:cNvPr id="1359" name="Google Shape;1359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6138" y="244375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0" name="Google Shape;1360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4738" y="4108644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61" name="Google Shape;1361;p99"/>
          <p:cNvSpPr txBox="1"/>
          <p:nvPr>
            <p:ph idx="4294967295" type="body"/>
          </p:nvPr>
        </p:nvSpPr>
        <p:spPr>
          <a:xfrm>
            <a:off x="2873125" y="2382525"/>
            <a:ext cx="26241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Our line does not have a </a:t>
            </a:r>
            <a:r>
              <a:rPr i="1"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-intercept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(0, 34)</a:t>
            </a:r>
            <a:endParaRPr sz="2100"/>
          </a:p>
        </p:txBody>
      </p:sp>
      <p:sp>
        <p:nvSpPr>
          <p:cNvPr id="1362" name="Google Shape;1362;p99"/>
          <p:cNvSpPr txBox="1"/>
          <p:nvPr>
            <p:ph idx="4294967295" type="body"/>
          </p:nvPr>
        </p:nvSpPr>
        <p:spPr>
          <a:xfrm>
            <a:off x="3025525" y="4058925"/>
            <a:ext cx="24543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Our line does not have a </a:t>
            </a:r>
            <a:r>
              <a:rPr i="1"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-intercept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−17)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7" name="Google Shape;136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3776" y="1326718"/>
            <a:ext cx="2454274" cy="31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100"/>
          <p:cNvSpPr txBox="1"/>
          <p:nvPr>
            <p:ph type="title"/>
          </p:nvPr>
        </p:nvSpPr>
        <p:spPr>
          <a:xfrm>
            <a:off x="324000" y="810000"/>
            <a:ext cx="6078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could the equation of this line be?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linear graphs</a:t>
            </a:r>
            <a:endParaRPr/>
          </a:p>
        </p:txBody>
      </p:sp>
      <p:sp>
        <p:nvSpPr>
          <p:cNvPr id="1370" name="Google Shape;1370;p100"/>
          <p:cNvSpPr txBox="1"/>
          <p:nvPr>
            <p:ph idx="1" type="subTitle"/>
          </p:nvPr>
        </p:nvSpPr>
        <p:spPr>
          <a:xfrm>
            <a:off x="1034425" y="1685375"/>
            <a:ext cx="1224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5 − 3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371" name="Google Shape;1371;p100"/>
          <p:cNvSpPr txBox="1"/>
          <p:nvPr>
            <p:ph idx="3" type="subTitle"/>
          </p:nvPr>
        </p:nvSpPr>
        <p:spPr>
          <a:xfrm>
            <a:off x="1034425" y="2489443"/>
            <a:ext cx="1224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34 − 3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372" name="Google Shape;1372;p100"/>
          <p:cNvSpPr txBox="1"/>
          <p:nvPr>
            <p:ph idx="4" type="subTitle"/>
          </p:nvPr>
        </p:nvSpPr>
        <p:spPr>
          <a:xfrm>
            <a:off x="1034425" y="3309757"/>
            <a:ext cx="1217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17 − 3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373" name="Google Shape;1373;p100"/>
          <p:cNvSpPr txBox="1"/>
          <p:nvPr>
            <p:ph idx="5" type="subTitle"/>
          </p:nvPr>
        </p:nvSpPr>
        <p:spPr>
          <a:xfrm>
            <a:off x="1034425" y="4113825"/>
            <a:ext cx="14541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− 3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− 17</a:t>
            </a:r>
            <a:endParaRPr/>
          </a:p>
        </p:txBody>
      </p:sp>
      <p:sp>
        <p:nvSpPr>
          <p:cNvPr id="1374" name="Google Shape;1374;p100"/>
          <p:cNvSpPr txBox="1"/>
          <p:nvPr>
            <p:ph idx="4294967295" type="body"/>
          </p:nvPr>
        </p:nvSpPr>
        <p:spPr>
          <a:xfrm>
            <a:off x="6861347" y="1308568"/>
            <a:ext cx="171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/>
          </a:p>
        </p:txBody>
      </p:sp>
      <p:sp>
        <p:nvSpPr>
          <p:cNvPr id="1375" name="Google Shape;1375;p100"/>
          <p:cNvSpPr txBox="1"/>
          <p:nvPr>
            <p:ph idx="4294967295" type="body"/>
          </p:nvPr>
        </p:nvSpPr>
        <p:spPr>
          <a:xfrm>
            <a:off x="8061880" y="3056821"/>
            <a:ext cx="171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pic>
        <p:nvPicPr>
          <p:cNvPr id="1376" name="Google Shape;1376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3738" y="1628564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7" name="Google Shape;1377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7850" y="3270777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0"/>
          <p:cNvSpPr txBox="1"/>
          <p:nvPr/>
        </p:nvSpPr>
        <p:spPr>
          <a:xfrm>
            <a:off x="7140324" y="1676025"/>
            <a:ext cx="744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(0, 17)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100"/>
          <p:cNvSpPr txBox="1"/>
          <p:nvPr>
            <p:ph idx="3" type="subTitle"/>
          </p:nvPr>
        </p:nvSpPr>
        <p:spPr>
          <a:xfrm>
            <a:off x="6943505" y="1877037"/>
            <a:ext cx="338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✖</a:t>
            </a:r>
            <a:endParaRPr sz="2000"/>
          </a:p>
        </p:txBody>
      </p:sp>
      <p:pic>
        <p:nvPicPr>
          <p:cNvPr id="1380" name="Google Shape;1380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6138" y="244375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1" name="Google Shape;1381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4738" y="4108644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Google Shape;1382;p100"/>
          <p:cNvSpPr txBox="1"/>
          <p:nvPr>
            <p:ph idx="4294967295" type="body"/>
          </p:nvPr>
        </p:nvSpPr>
        <p:spPr>
          <a:xfrm>
            <a:off x="2861618" y="1315725"/>
            <a:ext cx="3109200" cy="181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four equations had a gradient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which this line could be but, only one had the correct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-intercept.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why we label sketches.</a:t>
            </a:r>
            <a:endParaRPr sz="2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1208" y="1650050"/>
            <a:ext cx="3006316" cy="317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01"/>
          <p:cNvSpPr txBox="1"/>
          <p:nvPr>
            <p:ph idx="1" type="body"/>
          </p:nvPr>
        </p:nvSpPr>
        <p:spPr>
          <a:xfrm>
            <a:off x="324000" y="759300"/>
            <a:ext cx="6985800" cy="6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Sketch the lines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+ 10</a:t>
            </a:r>
            <a:r>
              <a:rPr lang="en-GB" sz="2000"/>
              <a:t>,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, and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r>
              <a:rPr lang="en-GB" sz="2000"/>
              <a:t> on the below axes.</a:t>
            </a:r>
            <a:endParaRPr sz="2000"/>
          </a:p>
        </p:txBody>
      </p:sp>
      <p:sp>
        <p:nvSpPr>
          <p:cNvPr id="1389" name="Google Shape;1389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linear graphs</a:t>
            </a:r>
            <a:endParaRPr/>
          </a:p>
        </p:txBody>
      </p:sp>
      <p:sp>
        <p:nvSpPr>
          <p:cNvPr id="1390" name="Google Shape;1390;p101"/>
          <p:cNvSpPr txBox="1"/>
          <p:nvPr>
            <p:ph idx="1" type="body"/>
          </p:nvPr>
        </p:nvSpPr>
        <p:spPr>
          <a:xfrm>
            <a:off x="6586720" y="1308568"/>
            <a:ext cx="171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/>
          </a:p>
        </p:txBody>
      </p:sp>
      <p:sp>
        <p:nvSpPr>
          <p:cNvPr id="1391" name="Google Shape;1391;p101"/>
          <p:cNvSpPr txBox="1"/>
          <p:nvPr>
            <p:ph idx="1" type="body"/>
          </p:nvPr>
        </p:nvSpPr>
        <p:spPr>
          <a:xfrm>
            <a:off x="8149587" y="3243741"/>
            <a:ext cx="1719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6" name="Google Shape;1396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500" y="1792690"/>
            <a:ext cx="2916004" cy="3027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linear graphs</a:t>
            </a:r>
            <a:endParaRPr/>
          </a:p>
        </p:txBody>
      </p:sp>
      <p:sp>
        <p:nvSpPr>
          <p:cNvPr id="1398" name="Google Shape;1398;p102"/>
          <p:cNvSpPr txBox="1"/>
          <p:nvPr>
            <p:ph idx="1" type="body"/>
          </p:nvPr>
        </p:nvSpPr>
        <p:spPr>
          <a:xfrm>
            <a:off x="2353318" y="1556725"/>
            <a:ext cx="159900" cy="267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/>
          </a:p>
        </p:txBody>
      </p:sp>
      <p:sp>
        <p:nvSpPr>
          <p:cNvPr id="1399" name="Google Shape;1399;p102"/>
          <p:cNvSpPr txBox="1"/>
          <p:nvPr>
            <p:ph idx="1" type="body"/>
          </p:nvPr>
        </p:nvSpPr>
        <p:spPr>
          <a:xfrm>
            <a:off x="3670772" y="3425968"/>
            <a:ext cx="159900" cy="267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1400" name="Google Shape;1400;p102"/>
          <p:cNvSpPr txBox="1"/>
          <p:nvPr>
            <p:ph idx="1" type="body"/>
          </p:nvPr>
        </p:nvSpPr>
        <p:spPr>
          <a:xfrm>
            <a:off x="324000" y="759300"/>
            <a:ext cx="63300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2) Match the linear equations to their respective lines.</a:t>
            </a:r>
            <a:endParaRPr sz="2100"/>
          </a:p>
        </p:txBody>
      </p:sp>
      <p:sp>
        <p:nvSpPr>
          <p:cNvPr id="1401" name="Google Shape;1401;p102"/>
          <p:cNvSpPr txBox="1"/>
          <p:nvPr>
            <p:ph idx="1" type="body"/>
          </p:nvPr>
        </p:nvSpPr>
        <p:spPr>
          <a:xfrm>
            <a:off x="335505" y="1110125"/>
            <a:ext cx="4581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r>
              <a:rPr lang="en-GB" sz="2000"/>
              <a:t>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402" name="Google Shape;1402;p102"/>
          <p:cNvSpPr txBox="1"/>
          <p:nvPr>
            <p:ph idx="1" type="body"/>
          </p:nvPr>
        </p:nvSpPr>
        <p:spPr>
          <a:xfrm>
            <a:off x="2539107" y="1110132"/>
            <a:ext cx="16584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18 − 2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403" name="Google Shape;1403;p102"/>
          <p:cNvSpPr txBox="1"/>
          <p:nvPr>
            <p:ph idx="1" type="body"/>
          </p:nvPr>
        </p:nvSpPr>
        <p:spPr>
          <a:xfrm>
            <a:off x="4742699" y="1110125"/>
            <a:ext cx="18423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−5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+ 18</a:t>
            </a:r>
            <a:endParaRPr/>
          </a:p>
        </p:txBody>
      </p:sp>
      <p:sp>
        <p:nvSpPr>
          <p:cNvPr id="1404" name="Google Shape;1404;p102"/>
          <p:cNvSpPr txBox="1"/>
          <p:nvPr>
            <p:ph idx="1" type="body"/>
          </p:nvPr>
        </p:nvSpPr>
        <p:spPr>
          <a:xfrm>
            <a:off x="6888705" y="1110125"/>
            <a:ext cx="5706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d) 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1405" name="Google Shape;1405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5767" y="1792326"/>
            <a:ext cx="2871991" cy="30277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6" name="Google Shape;1406;p102"/>
          <p:cNvSpPr txBox="1"/>
          <p:nvPr>
            <p:ph idx="1" type="body"/>
          </p:nvPr>
        </p:nvSpPr>
        <p:spPr>
          <a:xfrm>
            <a:off x="6262531" y="1556725"/>
            <a:ext cx="159900" cy="267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/>
          </a:p>
        </p:txBody>
      </p:sp>
      <p:sp>
        <p:nvSpPr>
          <p:cNvPr id="1407" name="Google Shape;1407;p102"/>
          <p:cNvSpPr txBox="1"/>
          <p:nvPr>
            <p:ph idx="1" type="body"/>
          </p:nvPr>
        </p:nvSpPr>
        <p:spPr>
          <a:xfrm>
            <a:off x="7649026" y="3128327"/>
            <a:ext cx="159900" cy="267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y=2x-\frac{1}{4}&quot;&gt;&lt;mi&gt;y&lt;/mi&gt;&lt;mo&gt;=&lt;/mo&gt;&lt;mn&gt;2&lt;/mn&gt;&lt;mi&gt;x&lt;/mi&gt;&lt;mo&gt;−&lt;/mo&gt;&lt;mfrac&gt;&lt;mn&gt;1&lt;/mn&gt;&lt;mn&gt;4&lt;/mn&gt;&lt;/mfrac&gt;&lt;/math&gt;" id="1408" name="Google Shape;1408;p102" title="y equals 2 x minus one four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784" y="1036242"/>
            <a:ext cx="1178125" cy="524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frac{1}{4}x-2&quot;&gt;&lt;mi&gt;y&lt;/mi&gt;&lt;mo&gt;=&lt;/mo&gt;&lt;mfrac&gt;&lt;mn&gt;1&lt;/mn&gt;&lt;mn&gt;4&lt;/mn&gt;&lt;/mfrac&gt;&lt;mi&gt;x&lt;/mi&gt;&lt;mo&gt;−&lt;/mo&gt;&lt;mn&gt;2&lt;/mn&gt;&lt;/math&gt;" id="1409" name="Google Shape;1409;p102" title="y equals one fourth x minus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2623" y="1036242"/>
            <a:ext cx="1204900" cy="5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1208" y="1650050"/>
            <a:ext cx="3006316" cy="317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03"/>
          <p:cNvSpPr txBox="1"/>
          <p:nvPr>
            <p:ph idx="1" type="body"/>
          </p:nvPr>
        </p:nvSpPr>
        <p:spPr>
          <a:xfrm>
            <a:off x="324000" y="759300"/>
            <a:ext cx="67902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Sketch the lines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+ 10</a:t>
            </a:r>
            <a:r>
              <a:rPr lang="en-GB" sz="2000"/>
              <a:t>,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, and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r>
              <a:rPr lang="en-GB" sz="2000"/>
              <a:t> on the below axes.</a:t>
            </a:r>
            <a:endParaRPr sz="2000"/>
          </a:p>
        </p:txBody>
      </p:sp>
      <p:sp>
        <p:nvSpPr>
          <p:cNvPr id="1416" name="Google Shape;1416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linear graphs</a:t>
            </a:r>
            <a:endParaRPr/>
          </a:p>
        </p:txBody>
      </p:sp>
      <p:pic>
        <p:nvPicPr>
          <p:cNvPr id="1417" name="Google Shape;1417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2213" y="1630880"/>
            <a:ext cx="3006324" cy="3180447"/>
          </a:xfrm>
          <a:prstGeom prst="rect">
            <a:avLst/>
          </a:prstGeom>
          <a:noFill/>
          <a:ln>
            <a:noFill/>
          </a:ln>
        </p:spPr>
      </p:pic>
      <p:sp>
        <p:nvSpPr>
          <p:cNvPr id="1418" name="Google Shape;1418;p103"/>
          <p:cNvSpPr txBox="1"/>
          <p:nvPr>
            <p:ph idx="1" type="body"/>
          </p:nvPr>
        </p:nvSpPr>
        <p:spPr>
          <a:xfrm>
            <a:off x="8050374" y="3255248"/>
            <a:ext cx="171900" cy="288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sp>
        <p:nvSpPr>
          <p:cNvPr id="1419" name="Google Shape;1419;p103"/>
          <p:cNvSpPr txBox="1"/>
          <p:nvPr>
            <p:ph idx="1" type="body"/>
          </p:nvPr>
        </p:nvSpPr>
        <p:spPr>
          <a:xfrm>
            <a:off x="6503360" y="1400622"/>
            <a:ext cx="171900" cy="288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/>
          </a:p>
        </p:txBody>
      </p:sp>
      <p:sp>
        <p:nvSpPr>
          <p:cNvPr id="1420" name="Google Shape;1420;p103"/>
          <p:cNvSpPr txBox="1"/>
          <p:nvPr/>
        </p:nvSpPr>
        <p:spPr>
          <a:xfrm>
            <a:off x="6701800" y="1653000"/>
            <a:ext cx="677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103"/>
          <p:cNvSpPr txBox="1"/>
          <p:nvPr>
            <p:ph idx="4294967295" type="subTitle"/>
          </p:nvPr>
        </p:nvSpPr>
        <p:spPr>
          <a:xfrm>
            <a:off x="6516482" y="1724638"/>
            <a:ext cx="1968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✖</a:t>
            </a:r>
            <a:endParaRPr sz="1600"/>
          </a:p>
        </p:txBody>
      </p:sp>
      <p:sp>
        <p:nvSpPr>
          <p:cNvPr id="1422" name="Google Shape;1422;p103"/>
          <p:cNvSpPr txBox="1"/>
          <p:nvPr/>
        </p:nvSpPr>
        <p:spPr>
          <a:xfrm>
            <a:off x="6701800" y="2415000"/>
            <a:ext cx="677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03"/>
          <p:cNvSpPr txBox="1"/>
          <p:nvPr>
            <p:ph idx="4294967295" type="subTitle"/>
          </p:nvPr>
        </p:nvSpPr>
        <p:spPr>
          <a:xfrm>
            <a:off x="6516482" y="2486638"/>
            <a:ext cx="1968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✖</a:t>
            </a:r>
            <a:endParaRPr sz="1600"/>
          </a:p>
        </p:txBody>
      </p:sp>
      <p:sp>
        <p:nvSpPr>
          <p:cNvPr id="1424" name="Google Shape;1424;p103"/>
          <p:cNvSpPr txBox="1"/>
          <p:nvPr/>
        </p:nvSpPr>
        <p:spPr>
          <a:xfrm>
            <a:off x="5939800" y="3809625"/>
            <a:ext cx="659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(0,−5)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103"/>
          <p:cNvSpPr txBox="1"/>
          <p:nvPr>
            <p:ph idx="4294967295" type="subTitle"/>
          </p:nvPr>
        </p:nvSpPr>
        <p:spPr>
          <a:xfrm>
            <a:off x="6516482" y="4033652"/>
            <a:ext cx="1968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✖</a:t>
            </a:r>
            <a:endParaRPr sz="1600"/>
          </a:p>
        </p:txBody>
      </p:sp>
      <p:sp>
        <p:nvSpPr>
          <p:cNvPr id="1426" name="Google Shape;1426;p103"/>
          <p:cNvSpPr txBox="1"/>
          <p:nvPr>
            <p:ph idx="4294967295" type="body"/>
          </p:nvPr>
        </p:nvSpPr>
        <p:spPr>
          <a:xfrm>
            <a:off x="324000" y="1544325"/>
            <a:ext cx="52140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-intercepts should be labelled and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(0, 10)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should be twice as far from the origin as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endParaRPr sz="2000">
              <a:solidFill>
                <a:srgbClr val="28282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7" name="Google Shape;1427;p103"/>
          <p:cNvSpPr txBox="1"/>
          <p:nvPr>
            <p:ph idx="4294967295" type="body"/>
          </p:nvPr>
        </p:nvSpPr>
        <p:spPr>
          <a:xfrm>
            <a:off x="324000" y="2359512"/>
            <a:ext cx="39960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−5)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should be the same distance from the origin as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endParaRPr sz="2000">
              <a:solidFill>
                <a:srgbClr val="28282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8" name="Google Shape;1428;p103"/>
          <p:cNvSpPr txBox="1"/>
          <p:nvPr>
            <p:ph idx="4294967295" type="body"/>
          </p:nvPr>
        </p:nvSpPr>
        <p:spPr>
          <a:xfrm>
            <a:off x="324000" y="3133018"/>
            <a:ext cx="37065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+ 10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nd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should have the same gradient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therefore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look parallel in your sketch.</a:t>
            </a:r>
            <a:endParaRPr sz="2000">
              <a:solidFill>
                <a:srgbClr val="28282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9" name="Google Shape;1429;p103"/>
          <p:cNvSpPr txBox="1"/>
          <p:nvPr>
            <p:ph idx="4294967295" type="body"/>
          </p:nvPr>
        </p:nvSpPr>
        <p:spPr>
          <a:xfrm>
            <a:off x="324000" y="4206978"/>
            <a:ext cx="37065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a steeper gradient. This should be visibly obvious.</a:t>
            </a:r>
            <a:endParaRPr sz="2000">
              <a:solidFill>
                <a:srgbClr val="28282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" name="Google Shape;1434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500" y="1792690"/>
            <a:ext cx="2916004" cy="3027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linear graphs</a:t>
            </a:r>
            <a:endParaRPr/>
          </a:p>
        </p:txBody>
      </p:sp>
      <p:sp>
        <p:nvSpPr>
          <p:cNvPr id="1436" name="Google Shape;1436;p104"/>
          <p:cNvSpPr txBox="1"/>
          <p:nvPr>
            <p:ph idx="1" type="body"/>
          </p:nvPr>
        </p:nvSpPr>
        <p:spPr>
          <a:xfrm>
            <a:off x="324000" y="759300"/>
            <a:ext cx="63300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2) Match the linear equations to their respective lines.</a:t>
            </a:r>
            <a:endParaRPr sz="2100"/>
          </a:p>
        </p:txBody>
      </p:sp>
      <p:sp>
        <p:nvSpPr>
          <p:cNvPr id="1437" name="Google Shape;1437;p104"/>
          <p:cNvSpPr txBox="1"/>
          <p:nvPr>
            <p:ph idx="1" type="body"/>
          </p:nvPr>
        </p:nvSpPr>
        <p:spPr>
          <a:xfrm>
            <a:off x="335505" y="1110125"/>
            <a:ext cx="458100" cy="288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438" name="Google Shape;1438;p104"/>
          <p:cNvSpPr txBox="1"/>
          <p:nvPr>
            <p:ph idx="1" type="body"/>
          </p:nvPr>
        </p:nvSpPr>
        <p:spPr>
          <a:xfrm>
            <a:off x="2539107" y="1110132"/>
            <a:ext cx="1658400" cy="288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18 − 2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439" name="Google Shape;1439;p104"/>
          <p:cNvSpPr txBox="1"/>
          <p:nvPr>
            <p:ph idx="1" type="body"/>
          </p:nvPr>
        </p:nvSpPr>
        <p:spPr>
          <a:xfrm>
            <a:off x="4742699" y="1110125"/>
            <a:ext cx="1842300" cy="288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−5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+ 18</a:t>
            </a:r>
            <a:endParaRPr/>
          </a:p>
        </p:txBody>
      </p:sp>
      <p:sp>
        <p:nvSpPr>
          <p:cNvPr id="1440" name="Google Shape;1440;p104"/>
          <p:cNvSpPr txBox="1"/>
          <p:nvPr>
            <p:ph idx="1" type="body"/>
          </p:nvPr>
        </p:nvSpPr>
        <p:spPr>
          <a:xfrm>
            <a:off x="6888705" y="1110125"/>
            <a:ext cx="570600" cy="288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d) 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1441" name="Google Shape;1441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5767" y="1792326"/>
            <a:ext cx="2871991" cy="30277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2" name="Google Shape;1442;p104"/>
          <p:cNvSpPr txBox="1"/>
          <p:nvPr>
            <p:ph idx="1" type="body"/>
          </p:nvPr>
        </p:nvSpPr>
        <p:spPr>
          <a:xfrm>
            <a:off x="6262531" y="1556725"/>
            <a:ext cx="159900" cy="267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/>
          </a:p>
        </p:txBody>
      </p:sp>
      <p:sp>
        <p:nvSpPr>
          <p:cNvPr id="1443" name="Google Shape;1443;p104"/>
          <p:cNvSpPr txBox="1"/>
          <p:nvPr>
            <p:ph idx="1" type="body"/>
          </p:nvPr>
        </p:nvSpPr>
        <p:spPr>
          <a:xfrm>
            <a:off x="7649026" y="3128327"/>
            <a:ext cx="159900" cy="267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y=2x-\frac{1}{4}&quot;&gt;&lt;mi&gt;y&lt;/mi&gt;&lt;mo&gt;=&lt;/mo&gt;&lt;mn&gt;2&lt;/mn&gt;&lt;mi&gt;x&lt;/mi&gt;&lt;mo&gt;−&lt;/mo&gt;&lt;mfrac&gt;&lt;mn&gt;1&lt;/mn&gt;&lt;mn&gt;4&lt;/mn&gt;&lt;/mfrac&gt;&lt;/math&gt;" id="1444" name="Google Shape;1444;p104" title="y equals 2 x minus one four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784" y="1036242"/>
            <a:ext cx="1178125" cy="524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frac{1}{4}x-2&quot;&gt;&lt;mi&gt;y&lt;/mi&gt;&lt;mo&gt;=&lt;/mo&gt;&lt;mfrac&gt;&lt;mn&gt;1&lt;/mn&gt;&lt;mn&gt;4&lt;/mn&gt;&lt;/mfrac&gt;&lt;mi&gt;x&lt;/mi&gt;&lt;mo&gt;−&lt;/mo&gt;&lt;mn&gt;2&lt;/mn&gt;&lt;/math&gt;" id="1445" name="Google Shape;1445;p104" title="y equals one fourth x minus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2623" y="1036242"/>
            <a:ext cx="1204900" cy="5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6" name="Google Shape;1446;p104"/>
          <p:cNvSpPr txBox="1"/>
          <p:nvPr>
            <p:ph idx="1" type="body"/>
          </p:nvPr>
        </p:nvSpPr>
        <p:spPr>
          <a:xfrm>
            <a:off x="2353318" y="1556725"/>
            <a:ext cx="159900" cy="267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/>
          </a:p>
        </p:txBody>
      </p:sp>
      <p:sp>
        <p:nvSpPr>
          <p:cNvPr id="1447" name="Google Shape;1447;p104"/>
          <p:cNvSpPr txBox="1"/>
          <p:nvPr>
            <p:ph idx="1" type="body"/>
          </p:nvPr>
        </p:nvSpPr>
        <p:spPr>
          <a:xfrm rot="-1866">
            <a:off x="3102618" y="3677784"/>
            <a:ext cx="1658400" cy="288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18 − 2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448" name="Google Shape;1448;p104"/>
          <p:cNvSpPr txBox="1"/>
          <p:nvPr>
            <p:ph idx="1" type="body"/>
          </p:nvPr>
        </p:nvSpPr>
        <p:spPr>
          <a:xfrm>
            <a:off x="6918878" y="2253125"/>
            <a:ext cx="458100" cy="288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2x-\frac{1}{4}&quot;&gt;&lt;mi&gt;y&lt;/mi&gt;&lt;mo&gt;=&lt;/mo&gt;&lt;mn&gt;2&lt;/mn&gt;&lt;mi&gt;x&lt;/mi&gt;&lt;mo&gt;−&lt;/mo&gt;&lt;mfrac&gt;&lt;mn&gt;1&lt;/mn&gt;&lt;mn&gt;4&lt;/mn&gt;&lt;/mfrac&gt;&lt;/math&gt;" id="1449" name="Google Shape;1449;p104" title="y equals 2 x minus one four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0157" y="2179242"/>
            <a:ext cx="1178125" cy="5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0" name="Google Shape;1450;p104"/>
          <p:cNvSpPr txBox="1"/>
          <p:nvPr>
            <p:ph idx="1" type="body"/>
          </p:nvPr>
        </p:nvSpPr>
        <p:spPr>
          <a:xfrm>
            <a:off x="962872" y="4520459"/>
            <a:ext cx="1842300" cy="28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−5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+ 18</a:t>
            </a:r>
            <a:endParaRPr/>
          </a:p>
        </p:txBody>
      </p:sp>
      <p:sp>
        <p:nvSpPr>
          <p:cNvPr id="1451" name="Google Shape;1451;p104"/>
          <p:cNvSpPr txBox="1"/>
          <p:nvPr>
            <p:ph idx="1" type="body"/>
          </p:nvPr>
        </p:nvSpPr>
        <p:spPr>
          <a:xfrm>
            <a:off x="6660105" y="4234325"/>
            <a:ext cx="570600" cy="288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d)  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\frac{1}{4}x-2&quot;&gt;&lt;mi&gt;y&lt;/mi&gt;&lt;mo&gt;=&lt;/mo&gt;&lt;mfrac&gt;&lt;mn&gt;1&lt;/mn&gt;&lt;mn&gt;4&lt;/mn&gt;&lt;/mfrac&gt;&lt;mi&gt;x&lt;/mi&gt;&lt;mo&gt;−&lt;/mo&gt;&lt;mn&gt;2&lt;/mn&gt;&lt;/math&gt;" id="1452" name="Google Shape;1452;p104" title="y equals one fourth x minus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4023" y="4160442"/>
            <a:ext cx="1204900" cy="5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104"/>
          <p:cNvSpPr txBox="1"/>
          <p:nvPr>
            <p:ph idx="1" type="body"/>
          </p:nvPr>
        </p:nvSpPr>
        <p:spPr>
          <a:xfrm>
            <a:off x="3644676" y="3409427"/>
            <a:ext cx="159900" cy="267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05"/>
          <p:cNvSpPr txBox="1"/>
          <p:nvPr>
            <p:ph idx="1" type="body"/>
          </p:nvPr>
        </p:nvSpPr>
        <p:spPr>
          <a:xfrm>
            <a:off x="324000" y="1232400"/>
            <a:ext cx="8055900" cy="20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</a:t>
            </a:r>
            <a:r>
              <a:rPr lang="en-GB" sz="2000"/>
              <a:t> can recognise the determining features of the shape of a graph from its equation.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For example, we know that with an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exponent of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/>
              <a:t>, the graph of the equation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8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+ 23</a:t>
            </a:r>
            <a:r>
              <a:rPr lang="en-GB" sz="2000"/>
              <a:t> will be a straight line with gradient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000"/>
              <a:t> and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-intercept of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23).</a:t>
            </a:r>
            <a:endParaRPr/>
          </a:p>
        </p:txBody>
      </p:sp>
      <p:sp>
        <p:nvSpPr>
          <p:cNvPr id="1459" name="Google Shape;1459;p105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Equations and their graphs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65" name="Google Shape;1465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