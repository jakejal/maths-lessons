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3"/>
    <p:sldMasterId id="21474837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b5957eb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b5957eb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bb2ba00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bb2ba00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b5957eb857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b5957eb857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b5957eb857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b5957eb857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b5957eb857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b5957eb857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2b5957eb857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b5957eb857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b5957eb857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b5957eb857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2b5957eb857_0_1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2b5957eb857_0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8ebcc34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8ebcc34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28ebcc34ea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8ebcc34ea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8ebcc34eaf_3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8ebcc34eaf_3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28ebcc34ea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28ebcc34ea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8ebcc34eaf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8ebcc34eaf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8ebcc34eaf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8ebcc34eaf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28ebcc34ea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28ebcc34ea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28ebcc34eaf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28ebcc34eaf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28ebcc34eaf_3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28ebcc34eaf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8ebcc34eaf_3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8ebcc34eaf_3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8ebcc34eaf_3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8ebcc34eaf_3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8ebcc34eaf_3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8ebcc34eaf_3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8ebcc34eaf_3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28ebcc34eaf_3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28ebcc34eaf_3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28ebcc34eaf_3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8ebcc34eaf_3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8ebcc34eaf_3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28ebcc34eaf_3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28ebcc34eaf_3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8ebcc34eaf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8ebcc34eaf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28ebcc34eaf_3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28ebcc34eaf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28ebcc34eaf_3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28ebcc34eaf_3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28ebcc34eaf_3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28ebcc34eaf_3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8ebcc34eaf_3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8ebcc34eaf_3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8ebcc34eaf_3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8ebcc34eaf_3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28ebcc34eaf_3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28ebcc34eaf_3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28ebcc34eaf_3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28ebcc34eaf_3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8ebcc34eaf_3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8ebcc34eaf_3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28ebcc34eaf_3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28ebcc34eaf_3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8ebcc34eaf_3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8ebcc34eaf_3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28ebcc34eaf_3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28ebcc34eaf_3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28ebcc34eaf_3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7" name="Google Shape;2007;g28ebcc34eaf_3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28ebcc34eaf_3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28ebcc34eaf_3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28ebcc34eaf_3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28ebcc34eaf_3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28ebcc34eaf_3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28ebcc34eaf_3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8ebcc34eaf_3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8ebcc34eaf_3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2b67dd9113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2b67dd9113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b67dd9113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b67dd9113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2b67dd9113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b67dd9113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5.png"/><Relationship Id="rId4" Type="http://schemas.openxmlformats.org/officeDocument/2006/relationships/image" Target="../media/image84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28.png"/><Relationship Id="rId11" Type="http://schemas.openxmlformats.org/officeDocument/2006/relationships/image" Target="../media/image23.png"/><Relationship Id="rId10" Type="http://schemas.openxmlformats.org/officeDocument/2006/relationships/image" Target="../media/image41.png"/><Relationship Id="rId9" Type="http://schemas.openxmlformats.org/officeDocument/2006/relationships/image" Target="../media/image32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25.png"/><Relationship Id="rId4" Type="http://schemas.openxmlformats.org/officeDocument/2006/relationships/image" Target="../media/image84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28.png"/><Relationship Id="rId11" Type="http://schemas.openxmlformats.org/officeDocument/2006/relationships/image" Target="../media/image23.png"/><Relationship Id="rId10" Type="http://schemas.openxmlformats.org/officeDocument/2006/relationships/image" Target="../media/image41.png"/><Relationship Id="rId9" Type="http://schemas.openxmlformats.org/officeDocument/2006/relationships/image" Target="../media/image32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5" name="Google Shape;1295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8" name="Google Shape;130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1" name="Google Shape;1311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4" name="Google Shape;1314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7" name="Google Shape;132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0" name="Google Shape;1330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3" name="Google Shape;133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0" name="Google Shape;134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1" name="Google Shape;134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6" name="Google Shape;134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9" name="Google Shape;1349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2" name="Google Shape;1352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2" name="Google Shape;137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9" name="Google Shape;137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3" name="Google Shape;1393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5" name="Google Shape;139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5" name="Google Shape;1435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3" name="Google Shape;1463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1.png"/><Relationship Id="rId4" Type="http://schemas.openxmlformats.org/officeDocument/2006/relationships/image" Target="../media/image10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5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8.png"/><Relationship Id="rId6" Type="http://schemas.openxmlformats.org/officeDocument/2006/relationships/image" Target="../media/image10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0.png"/><Relationship Id="rId4" Type="http://schemas.openxmlformats.org/officeDocument/2006/relationships/image" Target="../media/image1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2.png"/><Relationship Id="rId4" Type="http://schemas.openxmlformats.org/officeDocument/2006/relationships/image" Target="../media/image119.png"/><Relationship Id="rId5" Type="http://schemas.openxmlformats.org/officeDocument/2006/relationships/image" Target="../media/image1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4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5.png"/><Relationship Id="rId4" Type="http://schemas.openxmlformats.org/officeDocument/2006/relationships/image" Target="../media/image1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2.png"/><Relationship Id="rId4" Type="http://schemas.openxmlformats.org/officeDocument/2006/relationships/image" Target="../media/image131.png"/><Relationship Id="rId5" Type="http://schemas.openxmlformats.org/officeDocument/2006/relationships/image" Target="../media/image1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2.png"/><Relationship Id="rId4" Type="http://schemas.openxmlformats.org/officeDocument/2006/relationships/image" Target="../media/image131.png"/><Relationship Id="rId5" Type="http://schemas.openxmlformats.org/officeDocument/2006/relationships/image" Target="../media/image1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2.png"/><Relationship Id="rId4" Type="http://schemas.openxmlformats.org/officeDocument/2006/relationships/image" Target="../media/image131.png"/><Relationship Id="rId5" Type="http://schemas.openxmlformats.org/officeDocument/2006/relationships/image" Target="../media/image1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2.png"/><Relationship Id="rId4" Type="http://schemas.openxmlformats.org/officeDocument/2006/relationships/image" Target="../media/image131.png"/><Relationship Id="rId5" Type="http://schemas.openxmlformats.org/officeDocument/2006/relationships/image" Target="../media/image133.png"/><Relationship Id="rId6" Type="http://schemas.openxmlformats.org/officeDocument/2006/relationships/image" Target="../media/image1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5.png"/><Relationship Id="rId4" Type="http://schemas.openxmlformats.org/officeDocument/2006/relationships/image" Target="../media/image1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6.png"/><Relationship Id="rId4" Type="http://schemas.openxmlformats.org/officeDocument/2006/relationships/image" Target="../media/image138.png"/><Relationship Id="rId5" Type="http://schemas.openxmlformats.org/officeDocument/2006/relationships/image" Target="../media/image1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6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3.png"/><Relationship Id="rId4" Type="http://schemas.openxmlformats.org/officeDocument/2006/relationships/image" Target="../media/image141.png"/><Relationship Id="rId5" Type="http://schemas.openxmlformats.org/officeDocument/2006/relationships/image" Target="../media/image146.png"/><Relationship Id="rId6" Type="http://schemas.openxmlformats.org/officeDocument/2006/relationships/image" Target="../media/image1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9.png"/><Relationship Id="rId4" Type="http://schemas.openxmlformats.org/officeDocument/2006/relationships/image" Target="../media/image145.png"/><Relationship Id="rId5" Type="http://schemas.openxmlformats.org/officeDocument/2006/relationships/image" Target="../media/image14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8.png"/><Relationship Id="rId4" Type="http://schemas.openxmlformats.org/officeDocument/2006/relationships/image" Target="../media/image151.png"/><Relationship Id="rId5" Type="http://schemas.openxmlformats.org/officeDocument/2006/relationships/image" Target="../media/image1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3.png"/><Relationship Id="rId4" Type="http://schemas.openxmlformats.org/officeDocument/2006/relationships/image" Target="../media/image155.png"/><Relationship Id="rId5" Type="http://schemas.openxmlformats.org/officeDocument/2006/relationships/image" Target="../media/image1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sp>
        <p:nvSpPr>
          <p:cNvPr id="1488" name="Google Shape;1488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26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different types of equations give rise to different graph shapes, identifying quadratics in particular.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8"/>
          <p:cNvSpPr txBox="1"/>
          <p:nvPr/>
        </p:nvSpPr>
        <p:spPr>
          <a:xfrm>
            <a:off x="324000" y="1007828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relationship between two variables is linear if, when plotted on a pair of axes, a straight line is formed.</a:t>
            </a:r>
            <a:endParaRPr sz="25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28"/>
          <p:cNvSpPr txBox="1"/>
          <p:nvPr/>
        </p:nvSpPr>
        <p:spPr>
          <a:xfrm>
            <a:off x="324000" y="2086135"/>
            <a:ext cx="84960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quadratic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is an equation whereby the highest exponent of the variable is 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; the graph of which forms a </a:t>
            </a:r>
            <a:r>
              <a:rPr b="1"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quadratic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where as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not.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ne of symmetry &#10;focus I &#10;parabola &#10;directrix " id="1509" name="Google Shape;1509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951" y="810000"/>
            <a:ext cx="3935107" cy="400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29"/>
          <p:cNvSpPr txBox="1"/>
          <p:nvPr/>
        </p:nvSpPr>
        <p:spPr>
          <a:xfrm>
            <a:off x="324000" y="810000"/>
            <a:ext cx="3772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is a curve where any point on the curve is an equal distance from: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fixed point (the focus), and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fixed straight line (the directrix)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The line of symmetry goes through the focus, at right angles to the directrix.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3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516" name="Google Shape;1516;p13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517" name="Google Shape;1517;p13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pic>
        <p:nvPicPr>
          <p:cNvPr id="1518" name="Google Shape;1518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206233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</a:t>
            </a:r>
            <a:r>
              <a:rPr lang="en-GB"/>
              <a:t>ing plotting graphs of equations</a:t>
            </a:r>
            <a:endParaRPr/>
          </a:p>
        </p:txBody>
      </p:sp>
      <p:sp>
        <p:nvSpPr>
          <p:cNvPr id="1524" name="Google Shape;1524;p131"/>
          <p:cNvSpPr txBox="1"/>
          <p:nvPr/>
        </p:nvSpPr>
        <p:spPr>
          <a:xfrm>
            <a:off x="324000" y="759300"/>
            <a:ext cx="71859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started: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Open up a web browser and go to </a:t>
            </a:r>
            <a:r>
              <a:rPr lang="en-GB" sz="2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desmos.com</a:t>
            </a:r>
            <a:endParaRPr sz="2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and press the ‘</a:t>
            </a:r>
            <a:r>
              <a:rPr lang="en-GB" sz="2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graphing calculator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 button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Your screen should look like this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5" name="Google Shape;1525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875" y="2453268"/>
            <a:ext cx="5187405" cy="23555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grpSp>
        <p:nvGrpSpPr>
          <p:cNvPr id="1531" name="Google Shape;1531;p132"/>
          <p:cNvGrpSpPr/>
          <p:nvPr/>
        </p:nvGrpSpPr>
        <p:grpSpPr>
          <a:xfrm>
            <a:off x="5774481" y="1090602"/>
            <a:ext cx="3026183" cy="2058327"/>
            <a:chOff x="6031275" y="2931100"/>
            <a:chExt cx="2441454" cy="1439088"/>
          </a:xfrm>
        </p:grpSpPr>
        <p:pic>
          <p:nvPicPr>
            <p:cNvPr id="1532" name="Google Shape;1532;p132"/>
            <p:cNvPicPr preferRelativeResize="0"/>
            <p:nvPr/>
          </p:nvPicPr>
          <p:blipFill rotWithShape="1">
            <a:blip r:embed="rId3">
              <a:alphaModFix/>
            </a:blip>
            <a:srcRect b="46320" l="37965" r="0" t="0"/>
            <a:stretch/>
          </p:blipFill>
          <p:spPr>
            <a:xfrm>
              <a:off x="6060954" y="2939863"/>
              <a:ext cx="2411775" cy="14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32"/>
            <p:cNvSpPr/>
            <p:nvPr/>
          </p:nvSpPr>
          <p:spPr>
            <a:xfrm>
              <a:off x="6031275" y="2931100"/>
              <a:ext cx="2441400" cy="1430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4" name="Google Shape;1534;p132"/>
          <p:cNvSpPr txBox="1"/>
          <p:nvPr>
            <p:ph idx="1" type="body"/>
          </p:nvPr>
        </p:nvSpPr>
        <p:spPr>
          <a:xfrm>
            <a:off x="324000" y="824275"/>
            <a:ext cx="4608300" cy="7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on the ‘</a:t>
            </a:r>
            <a:r>
              <a:rPr lang="en-GB">
                <a:solidFill>
                  <a:schemeClr val="accent4"/>
                </a:solidFill>
              </a:rPr>
              <a:t>graph settings</a:t>
            </a:r>
            <a:r>
              <a:rPr lang="en-GB"/>
              <a:t>’ menu in the top right of your screen.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535" name="Google Shape;1535;p132"/>
          <p:cNvCxnSpPr>
            <a:stCxn id="1534" idx="3"/>
          </p:cNvCxnSpPr>
          <p:nvPr/>
        </p:nvCxnSpPr>
        <p:spPr>
          <a:xfrm>
            <a:off x="4932300" y="1189225"/>
            <a:ext cx="3526500" cy="129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600" y="1102461"/>
            <a:ext cx="2690100" cy="370653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1" name="Google Shape;1541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542" name="Google Shape;1542;p133"/>
          <p:cNvSpPr txBox="1"/>
          <p:nvPr>
            <p:ph idx="1" type="body"/>
          </p:nvPr>
        </p:nvSpPr>
        <p:spPr>
          <a:xfrm>
            <a:off x="324000" y="1288160"/>
            <a:ext cx="3996000" cy="3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Turn off ‘</a:t>
            </a:r>
            <a:r>
              <a:rPr lang="en-GB" sz="2000">
                <a:solidFill>
                  <a:schemeClr val="accent4"/>
                </a:solidFill>
              </a:rPr>
              <a:t>minor gridlines</a:t>
            </a:r>
            <a:r>
              <a:rPr lang="en-GB" sz="2000"/>
              <a:t>’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133"/>
          <p:cNvSpPr txBox="1"/>
          <p:nvPr>
            <p:ph idx="1" type="body"/>
          </p:nvPr>
        </p:nvSpPr>
        <p:spPr>
          <a:xfrm>
            <a:off x="324000" y="759300"/>
            <a:ext cx="6332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‘</a:t>
            </a:r>
            <a:r>
              <a:rPr lang="en-GB">
                <a:solidFill>
                  <a:schemeClr val="accent4"/>
                </a:solidFill>
              </a:rPr>
              <a:t>graph settings</a:t>
            </a:r>
            <a:r>
              <a:rPr lang="en-GB"/>
              <a:t>’ menu should look like this.</a:t>
            </a:r>
            <a:endParaRPr/>
          </a:p>
        </p:txBody>
      </p:sp>
      <p:sp>
        <p:nvSpPr>
          <p:cNvPr id="1544" name="Google Shape;1544;p133"/>
          <p:cNvSpPr txBox="1"/>
          <p:nvPr>
            <p:ph idx="1" type="body"/>
          </p:nvPr>
        </p:nvSpPr>
        <p:spPr>
          <a:xfrm>
            <a:off x="324000" y="1768425"/>
            <a:ext cx="39960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/>
              <a:t>Type in ‘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’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-axis label box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545" name="Google Shape;1545;p133"/>
          <p:cNvCxnSpPr>
            <a:stCxn id="1542" idx="3"/>
          </p:cNvCxnSpPr>
          <p:nvPr/>
        </p:nvCxnSpPr>
        <p:spPr>
          <a:xfrm>
            <a:off x="4320000" y="1453310"/>
            <a:ext cx="2348100" cy="922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133"/>
          <p:cNvCxnSpPr>
            <a:stCxn id="1544" idx="3"/>
          </p:cNvCxnSpPr>
          <p:nvPr/>
        </p:nvCxnSpPr>
        <p:spPr>
          <a:xfrm>
            <a:off x="4320000" y="2104125"/>
            <a:ext cx="2648100" cy="910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7" name="Google Shape;1547;p133"/>
          <p:cNvSpPr txBox="1"/>
          <p:nvPr>
            <p:ph idx="1" type="body"/>
          </p:nvPr>
        </p:nvSpPr>
        <p:spPr>
          <a:xfrm>
            <a:off x="324000" y="3537085"/>
            <a:ext cx="39960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/>
              <a:t>Change the ‘</a:t>
            </a:r>
            <a:r>
              <a:rPr lang="en-GB" sz="2000">
                <a:solidFill>
                  <a:schemeClr val="accent4"/>
                </a:solidFill>
              </a:rPr>
              <a:t>step</a:t>
            </a:r>
            <a:r>
              <a:rPr lang="en-GB" sz="2000"/>
              <a:t>’ on both axes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48" name="Google Shape;1548;p133"/>
          <p:cNvCxnSpPr>
            <a:stCxn id="1547" idx="3"/>
          </p:cNvCxnSpPr>
          <p:nvPr/>
        </p:nvCxnSpPr>
        <p:spPr>
          <a:xfrm>
            <a:off x="4320000" y="3913885"/>
            <a:ext cx="3060600" cy="9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133"/>
          <p:cNvCxnSpPr>
            <a:stCxn id="1547" idx="3"/>
          </p:cNvCxnSpPr>
          <p:nvPr/>
        </p:nvCxnSpPr>
        <p:spPr>
          <a:xfrm flipH="1" rot="10800000">
            <a:off x="4320000" y="3306085"/>
            <a:ext cx="3038100" cy="607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0" name="Google Shape;1550;p133"/>
          <p:cNvSpPr txBox="1"/>
          <p:nvPr>
            <p:ph idx="1" type="body"/>
          </p:nvPr>
        </p:nvSpPr>
        <p:spPr>
          <a:xfrm>
            <a:off x="324000" y="2682825"/>
            <a:ext cx="39960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/>
              <a:t>Type in ‘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’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-axis label box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551" name="Google Shape;1551;p133"/>
          <p:cNvCxnSpPr>
            <a:stCxn id="1550" idx="3"/>
          </p:cNvCxnSpPr>
          <p:nvPr/>
        </p:nvCxnSpPr>
        <p:spPr>
          <a:xfrm>
            <a:off x="4320000" y="3018525"/>
            <a:ext cx="2690100" cy="613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557" name="Google Shape;1557;p134"/>
          <p:cNvSpPr txBox="1"/>
          <p:nvPr>
            <p:ph idx="1" type="body"/>
          </p:nvPr>
        </p:nvSpPr>
        <p:spPr>
          <a:xfrm>
            <a:off x="4591200" y="1059550"/>
            <a:ext cx="4224600" cy="3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1900"/>
              <a:t>You can zoom in and out using these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+/−</a:t>
            </a:r>
            <a:r>
              <a:rPr lang="en-GB" sz="1900"/>
              <a:t> buttons</a:t>
            </a:r>
            <a:endParaRPr sz="2100"/>
          </a:p>
        </p:txBody>
      </p:sp>
      <p:sp>
        <p:nvSpPr>
          <p:cNvPr id="1558" name="Google Shape;1558;p134"/>
          <p:cNvSpPr txBox="1"/>
          <p:nvPr>
            <p:ph idx="1" type="body"/>
          </p:nvPr>
        </p:nvSpPr>
        <p:spPr>
          <a:xfrm>
            <a:off x="4591200" y="1920821"/>
            <a:ext cx="42246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1900"/>
              <a:t>Alternatively zoom by holding shift, clicking and holding your mouse button, and moving the mouse back and forth</a:t>
            </a:r>
            <a:endParaRPr sz="1900"/>
          </a:p>
        </p:txBody>
      </p:sp>
      <p:pic>
        <p:nvPicPr>
          <p:cNvPr id="1559" name="Google Shape;1559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75" y="1102450"/>
            <a:ext cx="3766650" cy="370654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0" name="Google Shape;1560;p134"/>
          <p:cNvSpPr txBox="1"/>
          <p:nvPr>
            <p:ph idx="1" type="body"/>
          </p:nvPr>
        </p:nvSpPr>
        <p:spPr>
          <a:xfrm>
            <a:off x="4591200" y="3444825"/>
            <a:ext cx="42246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1900"/>
              <a:t>By clicking and holding the mouse button you can drag your axes around your screen</a:t>
            </a:r>
            <a:endParaRPr sz="1900"/>
          </a:p>
        </p:txBody>
      </p:sp>
      <p:cxnSp>
        <p:nvCxnSpPr>
          <p:cNvPr id="1561" name="Google Shape;1561;p134"/>
          <p:cNvCxnSpPr>
            <a:endCxn id="1557" idx="1"/>
          </p:cNvCxnSpPr>
          <p:nvPr/>
        </p:nvCxnSpPr>
        <p:spPr>
          <a:xfrm flipH="1" rot="10800000">
            <a:off x="4078800" y="1224700"/>
            <a:ext cx="512400" cy="26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654" y="1080000"/>
            <a:ext cx="3686581" cy="32399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67" name="Google Shape;1567;p135"/>
          <p:cNvGrpSpPr/>
          <p:nvPr/>
        </p:nvGrpSpPr>
        <p:grpSpPr>
          <a:xfrm>
            <a:off x="5126454" y="1086750"/>
            <a:ext cx="3648204" cy="3239999"/>
            <a:chOff x="5137961" y="1086750"/>
            <a:chExt cx="3648204" cy="3239999"/>
          </a:xfrm>
        </p:grpSpPr>
        <p:pic>
          <p:nvPicPr>
            <p:cNvPr id="1568" name="Google Shape;1568;p1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37961" y="1086750"/>
              <a:ext cx="3648204" cy="32399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569" name="Google Shape;1569;p135"/>
            <p:cNvSpPr/>
            <p:nvPr/>
          </p:nvSpPr>
          <p:spPr>
            <a:xfrm>
              <a:off x="5152825" y="2185688"/>
              <a:ext cx="1596000" cy="509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0" name="Google Shape;1570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571" name="Google Shape;1571;p135"/>
          <p:cNvSpPr txBox="1"/>
          <p:nvPr/>
        </p:nvSpPr>
        <p:spPr>
          <a:xfrm>
            <a:off x="324000" y="759300"/>
            <a:ext cx="7185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We’re now ready to explore plotting graphs of equations.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35"/>
          <p:cNvSpPr txBox="1"/>
          <p:nvPr/>
        </p:nvSpPr>
        <p:spPr>
          <a:xfrm>
            <a:off x="324000" y="1292700"/>
            <a:ext cx="43275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Zoom and drag so your screen is scaled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visible on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-axis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the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5"/>
          <p:cNvSpPr txBox="1"/>
          <p:nvPr/>
        </p:nvSpPr>
        <p:spPr>
          <a:xfrm>
            <a:off x="324000" y="2488877"/>
            <a:ext cx="4327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We’ll use the table function to plot our first graph so click on the ‘add item’ button and click ‘table’.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4" name="Google Shape;1574;p135"/>
          <p:cNvGrpSpPr/>
          <p:nvPr/>
        </p:nvGrpSpPr>
        <p:grpSpPr>
          <a:xfrm>
            <a:off x="4444809" y="1041866"/>
            <a:ext cx="1003971" cy="1415324"/>
            <a:chOff x="4444809" y="1041866"/>
            <a:chExt cx="1003971" cy="1415324"/>
          </a:xfrm>
        </p:grpSpPr>
        <p:cxnSp>
          <p:nvCxnSpPr>
            <p:cNvPr id="1575" name="Google Shape;1575;p135"/>
            <p:cNvCxnSpPr>
              <a:endCxn id="1576" idx="3"/>
            </p:cNvCxnSpPr>
            <p:nvPr/>
          </p:nvCxnSpPr>
          <p:spPr>
            <a:xfrm flipH="1" rot="10800000">
              <a:off x="4444809" y="1365789"/>
              <a:ext cx="667500" cy="109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6" name="Google Shape;1576;p135"/>
            <p:cNvSpPr/>
            <p:nvPr/>
          </p:nvSpPr>
          <p:spPr>
            <a:xfrm>
              <a:off x="5054580" y="1041866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7" name="Google Shape;1577;p135"/>
          <p:cNvSpPr txBox="1"/>
          <p:nvPr/>
        </p:nvSpPr>
        <p:spPr>
          <a:xfrm>
            <a:off x="324000" y="3555675"/>
            <a:ext cx="4500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enter coordinate values into this table.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8" name="Google Shape;1578;p135"/>
          <p:cNvGrpSpPr/>
          <p:nvPr/>
        </p:nvGrpSpPr>
        <p:grpSpPr>
          <a:xfrm>
            <a:off x="4341180" y="1410093"/>
            <a:ext cx="1904148" cy="2100354"/>
            <a:chOff x="4385414" y="994091"/>
            <a:chExt cx="1093082" cy="1453733"/>
          </a:xfrm>
        </p:grpSpPr>
        <p:cxnSp>
          <p:nvCxnSpPr>
            <p:cNvPr id="1579" name="Google Shape;1579;p135"/>
            <p:cNvCxnSpPr>
              <a:endCxn id="1580" idx="3"/>
            </p:cNvCxnSpPr>
            <p:nvPr/>
          </p:nvCxnSpPr>
          <p:spPr>
            <a:xfrm flipH="1" rot="10800000">
              <a:off x="4385414" y="1356424"/>
              <a:ext cx="667500" cy="109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0" name="Google Shape;1580;p135"/>
            <p:cNvSpPr/>
            <p:nvPr/>
          </p:nvSpPr>
          <p:spPr>
            <a:xfrm>
              <a:off x="4979896" y="994091"/>
              <a:ext cx="498600" cy="424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5" name="Google Shape;1585;p136"/>
          <p:cNvGrpSpPr/>
          <p:nvPr/>
        </p:nvGrpSpPr>
        <p:grpSpPr>
          <a:xfrm>
            <a:off x="5126454" y="1086750"/>
            <a:ext cx="3648204" cy="3239999"/>
            <a:chOff x="5137961" y="1086750"/>
            <a:chExt cx="3648204" cy="3239999"/>
          </a:xfrm>
        </p:grpSpPr>
        <p:pic>
          <p:nvPicPr>
            <p:cNvPr id="1586" name="Google Shape;1586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37961" y="1086750"/>
              <a:ext cx="3648204" cy="32399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587" name="Google Shape;1587;p136"/>
            <p:cNvSpPr/>
            <p:nvPr/>
          </p:nvSpPr>
          <p:spPr>
            <a:xfrm>
              <a:off x="5152825" y="2185688"/>
              <a:ext cx="1596000" cy="509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8" name="Google Shape;1588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589" name="Google Shape;1589;p136"/>
          <p:cNvSpPr txBox="1"/>
          <p:nvPr/>
        </p:nvSpPr>
        <p:spPr>
          <a:xfrm>
            <a:off x="324000" y="75930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6"/>
          <p:cNvSpPr txBox="1"/>
          <p:nvPr/>
        </p:nvSpPr>
        <p:spPr>
          <a:xfrm>
            <a:off x="324000" y="2336475"/>
            <a:ext cx="3996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need to find the respective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coordinate for these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coordinates.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1" name="Google Shape;1591;p136"/>
          <p:cNvCxnSpPr>
            <a:stCxn id="1592" idx="3"/>
            <a:endCxn id="1593" idx="2"/>
          </p:cNvCxnSpPr>
          <p:nvPr/>
        </p:nvCxnSpPr>
        <p:spPr>
          <a:xfrm>
            <a:off x="3535800" y="1701675"/>
            <a:ext cx="1875600" cy="256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136"/>
          <p:cNvSpPr/>
          <p:nvPr/>
        </p:nvSpPr>
        <p:spPr>
          <a:xfrm>
            <a:off x="5411300" y="1345323"/>
            <a:ext cx="868500" cy="122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36"/>
          <p:cNvSpPr txBox="1"/>
          <p:nvPr/>
        </p:nvSpPr>
        <p:spPr>
          <a:xfrm>
            <a:off x="324000" y="1544325"/>
            <a:ext cx="3211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Type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column.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4" name="Google Shape;1594;p136"/>
          <p:cNvGrpSpPr/>
          <p:nvPr/>
        </p:nvGrpSpPr>
        <p:grpSpPr>
          <a:xfrm>
            <a:off x="4980343" y="1086750"/>
            <a:ext cx="3843398" cy="3240001"/>
            <a:chOff x="4927157" y="1086750"/>
            <a:chExt cx="3843398" cy="3240001"/>
          </a:xfrm>
        </p:grpSpPr>
        <p:pic>
          <p:nvPicPr>
            <p:cNvPr id="1595" name="Google Shape;1595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27157" y="1086750"/>
              <a:ext cx="3843398" cy="32400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596" name="Google Shape;1596;p136"/>
            <p:cNvSpPr/>
            <p:nvPr/>
          </p:nvSpPr>
          <p:spPr>
            <a:xfrm>
              <a:off x="4938650" y="3387625"/>
              <a:ext cx="17985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7" name="Google Shape;1597;p136"/>
          <p:cNvSpPr txBox="1"/>
          <p:nvPr/>
        </p:nvSpPr>
        <p:spPr>
          <a:xfrm>
            <a:off x="324000" y="1913807"/>
            <a:ext cx="3996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Hint: Hit ‘enter’ after typing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6"/>
          <p:cNvSpPr txBox="1"/>
          <p:nvPr/>
        </p:nvSpPr>
        <p:spPr>
          <a:xfrm>
            <a:off x="324000" y="31560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2(0)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 = −5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6"/>
          <p:cNvSpPr txBox="1"/>
          <p:nvPr/>
        </p:nvSpPr>
        <p:spPr>
          <a:xfrm>
            <a:off x="3891081" y="3156045"/>
            <a:ext cx="772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36"/>
          <p:cNvSpPr txBox="1"/>
          <p:nvPr/>
        </p:nvSpPr>
        <p:spPr>
          <a:xfrm>
            <a:off x="324000" y="36894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2(1)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 = −3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36"/>
          <p:cNvSpPr txBox="1"/>
          <p:nvPr/>
        </p:nvSpPr>
        <p:spPr>
          <a:xfrm>
            <a:off x="3891081" y="3689445"/>
            <a:ext cx="772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−3)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36"/>
          <p:cNvSpPr txBox="1"/>
          <p:nvPr/>
        </p:nvSpPr>
        <p:spPr>
          <a:xfrm>
            <a:off x="324000" y="4165275"/>
            <a:ext cx="3996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ind the remaining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coordinates and add them to the table.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3" name="Google Shape;1603;p136"/>
          <p:cNvGrpSpPr/>
          <p:nvPr/>
        </p:nvGrpSpPr>
        <p:grpSpPr>
          <a:xfrm>
            <a:off x="4971427" y="1086750"/>
            <a:ext cx="3843400" cy="3246866"/>
            <a:chOff x="4936907" y="1086750"/>
            <a:chExt cx="3843400" cy="3246866"/>
          </a:xfrm>
        </p:grpSpPr>
        <p:pic>
          <p:nvPicPr>
            <p:cNvPr id="1604" name="Google Shape;1604;p1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36907" y="1086750"/>
              <a:ext cx="3843400" cy="324686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05" name="Google Shape;1605;p136"/>
            <p:cNvSpPr/>
            <p:nvPr/>
          </p:nvSpPr>
          <p:spPr>
            <a:xfrm>
              <a:off x="4945810" y="3378931"/>
              <a:ext cx="17985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0" name="Google Shape;1610;p137"/>
          <p:cNvGrpSpPr/>
          <p:nvPr/>
        </p:nvGrpSpPr>
        <p:grpSpPr>
          <a:xfrm>
            <a:off x="4971427" y="1086750"/>
            <a:ext cx="3843400" cy="3246866"/>
            <a:chOff x="4936907" y="1086750"/>
            <a:chExt cx="3843400" cy="3246866"/>
          </a:xfrm>
        </p:grpSpPr>
        <p:pic>
          <p:nvPicPr>
            <p:cNvPr id="1611" name="Google Shape;1611;p1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36907" y="1086750"/>
              <a:ext cx="3843400" cy="324686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12" name="Google Shape;1612;p137"/>
            <p:cNvSpPr/>
            <p:nvPr/>
          </p:nvSpPr>
          <p:spPr>
            <a:xfrm>
              <a:off x="4945810" y="3378931"/>
              <a:ext cx="17985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3" name="Google Shape;1613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614" name="Google Shape;1614;p137"/>
          <p:cNvSpPr txBox="1"/>
          <p:nvPr/>
        </p:nvSpPr>
        <p:spPr>
          <a:xfrm>
            <a:off x="324000" y="75930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5" name="Google Shape;1615;p137"/>
          <p:cNvGrpSpPr/>
          <p:nvPr/>
        </p:nvGrpSpPr>
        <p:grpSpPr>
          <a:xfrm>
            <a:off x="4975125" y="1082675"/>
            <a:ext cx="3843399" cy="3247698"/>
            <a:chOff x="4975125" y="1082675"/>
            <a:chExt cx="3843399" cy="3247698"/>
          </a:xfrm>
        </p:grpSpPr>
        <p:pic>
          <p:nvPicPr>
            <p:cNvPr id="1616" name="Google Shape;1616;p1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5125" y="1082675"/>
              <a:ext cx="3843399" cy="324769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17" name="Google Shape;1617;p137"/>
            <p:cNvSpPr/>
            <p:nvPr/>
          </p:nvSpPr>
          <p:spPr>
            <a:xfrm>
              <a:off x="4991837" y="3390438"/>
              <a:ext cx="17985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8" name="Google Shape;1618;p137"/>
          <p:cNvSpPr txBox="1"/>
          <p:nvPr/>
        </p:nvSpPr>
        <p:spPr>
          <a:xfrm>
            <a:off x="324000" y="1650675"/>
            <a:ext cx="3786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lick and hold here to change dots to crosses.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9" name="Google Shape;1619;p137"/>
          <p:cNvGrpSpPr/>
          <p:nvPr/>
        </p:nvGrpSpPr>
        <p:grpSpPr>
          <a:xfrm>
            <a:off x="4110900" y="1434372"/>
            <a:ext cx="1917307" cy="387303"/>
            <a:chOff x="3760073" y="2184866"/>
            <a:chExt cx="1917307" cy="387303"/>
          </a:xfrm>
        </p:grpSpPr>
        <p:cxnSp>
          <p:nvCxnSpPr>
            <p:cNvPr id="1620" name="Google Shape;1620;p137"/>
            <p:cNvCxnSpPr>
              <a:stCxn id="1618" idx="3"/>
              <a:endCxn id="1621" idx="2"/>
            </p:cNvCxnSpPr>
            <p:nvPr/>
          </p:nvCxnSpPr>
          <p:spPr>
            <a:xfrm flipH="1" rot="10800000">
              <a:off x="3760073" y="2374468"/>
              <a:ext cx="1523100" cy="197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1" name="Google Shape;1621;p137"/>
            <p:cNvSpPr/>
            <p:nvPr/>
          </p:nvSpPr>
          <p:spPr>
            <a:xfrm>
              <a:off x="5283180" y="2184866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2" name="Google Shape;1622;p137"/>
          <p:cNvGrpSpPr/>
          <p:nvPr/>
        </p:nvGrpSpPr>
        <p:grpSpPr>
          <a:xfrm>
            <a:off x="4932073" y="1071099"/>
            <a:ext cx="3890700" cy="3257199"/>
            <a:chOff x="4932073" y="1071099"/>
            <a:chExt cx="3890700" cy="3257199"/>
          </a:xfrm>
        </p:grpSpPr>
        <p:pic>
          <p:nvPicPr>
            <p:cNvPr id="1623" name="Google Shape;1623;p1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32073" y="1071099"/>
              <a:ext cx="3890700" cy="32571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24" name="Google Shape;1624;p137"/>
            <p:cNvSpPr/>
            <p:nvPr/>
          </p:nvSpPr>
          <p:spPr>
            <a:xfrm>
              <a:off x="4945810" y="3390438"/>
              <a:ext cx="17985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5" name="Google Shape;1625;p137"/>
          <p:cNvSpPr txBox="1"/>
          <p:nvPr/>
        </p:nvSpPr>
        <p:spPr>
          <a:xfrm>
            <a:off x="324000" y="2511900"/>
            <a:ext cx="3996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Note that the coordinates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form a line. Click and hold here to turn ‘lines’ on.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37"/>
          <p:cNvSpPr txBox="1"/>
          <p:nvPr/>
        </p:nvSpPr>
        <p:spPr>
          <a:xfrm>
            <a:off x="324000" y="3777127"/>
            <a:ext cx="366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 given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7" name="Google Shape;1627;p137"/>
          <p:cNvGrpSpPr/>
          <p:nvPr/>
        </p:nvGrpSpPr>
        <p:grpSpPr>
          <a:xfrm>
            <a:off x="4320000" y="1434372"/>
            <a:ext cx="1673687" cy="1210578"/>
            <a:chOff x="4003693" y="2184866"/>
            <a:chExt cx="1673687" cy="1210578"/>
          </a:xfrm>
        </p:grpSpPr>
        <p:cxnSp>
          <p:nvCxnSpPr>
            <p:cNvPr id="1628" name="Google Shape;1628;p137"/>
            <p:cNvCxnSpPr>
              <a:stCxn id="1625" idx="3"/>
              <a:endCxn id="1629" idx="3"/>
            </p:cNvCxnSpPr>
            <p:nvPr/>
          </p:nvCxnSpPr>
          <p:spPr>
            <a:xfrm flipH="1" rot="10800000">
              <a:off x="4003693" y="2508643"/>
              <a:ext cx="1337100" cy="886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9" name="Google Shape;1629;p137"/>
            <p:cNvSpPr/>
            <p:nvPr/>
          </p:nvSpPr>
          <p:spPr>
            <a:xfrm>
              <a:off x="5283180" y="2184866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0" name="Google Shape;1630;p137"/>
          <p:cNvGrpSpPr/>
          <p:nvPr/>
        </p:nvGrpSpPr>
        <p:grpSpPr>
          <a:xfrm>
            <a:off x="4957261" y="1061500"/>
            <a:ext cx="3843400" cy="3256935"/>
            <a:chOff x="4957261" y="1061500"/>
            <a:chExt cx="3843400" cy="3256935"/>
          </a:xfrm>
        </p:grpSpPr>
        <p:pic>
          <p:nvPicPr>
            <p:cNvPr id="1631" name="Google Shape;1631;p1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57261" y="1061500"/>
              <a:ext cx="3843400" cy="325693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32" name="Google Shape;1632;p137"/>
            <p:cNvSpPr/>
            <p:nvPr/>
          </p:nvSpPr>
          <p:spPr>
            <a:xfrm>
              <a:off x="4968823" y="3390438"/>
              <a:ext cx="17985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38"/>
          <p:cNvSpPr txBox="1"/>
          <p:nvPr>
            <p:ph type="title"/>
          </p:nvPr>
        </p:nvSpPr>
        <p:spPr>
          <a:xfrm>
            <a:off x="324000" y="-270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638" name="Google Shape;1638;p138"/>
          <p:cNvSpPr txBox="1"/>
          <p:nvPr/>
        </p:nvSpPr>
        <p:spPr>
          <a:xfrm>
            <a:off x="324000" y="75930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38"/>
          <p:cNvSpPr txBox="1"/>
          <p:nvPr/>
        </p:nvSpPr>
        <p:spPr>
          <a:xfrm>
            <a:off x="324000" y="3777127"/>
            <a:ext cx="366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 given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0" name="Google Shape;1640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737" y="1140224"/>
            <a:ext cx="1327675" cy="30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8388" y="1061499"/>
            <a:ext cx="2050520" cy="3278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42" name="Google Shape;1642;p138"/>
          <p:cNvGrpSpPr/>
          <p:nvPr/>
        </p:nvGrpSpPr>
        <p:grpSpPr>
          <a:xfrm>
            <a:off x="5540648" y="1857500"/>
            <a:ext cx="492000" cy="2095460"/>
            <a:chOff x="5540648" y="1857500"/>
            <a:chExt cx="492000" cy="2095460"/>
          </a:xfrm>
        </p:grpSpPr>
        <p:sp>
          <p:nvSpPr>
            <p:cNvPr id="1643" name="Google Shape;1643;p138"/>
            <p:cNvSpPr/>
            <p:nvPr/>
          </p:nvSpPr>
          <p:spPr>
            <a:xfrm rot="5400000">
              <a:off x="5584898" y="1813250"/>
              <a:ext cx="403500" cy="492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38"/>
            <p:cNvSpPr/>
            <p:nvPr/>
          </p:nvSpPr>
          <p:spPr>
            <a:xfrm rot="5400000">
              <a:off x="5584898" y="2236240"/>
              <a:ext cx="403500" cy="492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38"/>
            <p:cNvSpPr/>
            <p:nvPr/>
          </p:nvSpPr>
          <p:spPr>
            <a:xfrm rot="5400000">
              <a:off x="5584898" y="2659230"/>
              <a:ext cx="403500" cy="492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38"/>
            <p:cNvSpPr/>
            <p:nvPr/>
          </p:nvSpPr>
          <p:spPr>
            <a:xfrm rot="5400000">
              <a:off x="5584898" y="3082220"/>
              <a:ext cx="403500" cy="492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38"/>
            <p:cNvSpPr/>
            <p:nvPr/>
          </p:nvSpPr>
          <p:spPr>
            <a:xfrm rot="5400000">
              <a:off x="5584898" y="3505210"/>
              <a:ext cx="403500" cy="492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8" name="Google Shape;1648;p138"/>
          <p:cNvSpPr txBox="1"/>
          <p:nvPr/>
        </p:nvSpPr>
        <p:spPr>
          <a:xfrm>
            <a:off x="324000" y="1872125"/>
            <a:ext cx="26709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What do you notice?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38"/>
          <p:cNvSpPr txBox="1"/>
          <p:nvPr/>
        </p:nvSpPr>
        <p:spPr>
          <a:xfrm>
            <a:off x="324000" y="2405525"/>
            <a:ext cx="389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 common, constant difference. Hence, a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graph.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38"/>
          <p:cNvSpPr txBox="1"/>
          <p:nvPr/>
        </p:nvSpPr>
        <p:spPr>
          <a:xfrm>
            <a:off x="324000" y="75930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8"/>
          <p:cNvSpPr txBox="1"/>
          <p:nvPr/>
        </p:nvSpPr>
        <p:spPr>
          <a:xfrm>
            <a:off x="324000" y="3777127"/>
            <a:ext cx="366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 given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8"/>
          <p:cNvSpPr txBox="1"/>
          <p:nvPr/>
        </p:nvSpPr>
        <p:spPr>
          <a:xfrm>
            <a:off x="6062013" y="1883632"/>
            <a:ext cx="357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8"/>
          <p:cNvSpPr txBox="1"/>
          <p:nvPr/>
        </p:nvSpPr>
        <p:spPr>
          <a:xfrm>
            <a:off x="6062013" y="2340832"/>
            <a:ext cx="357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8"/>
          <p:cNvSpPr txBox="1"/>
          <p:nvPr/>
        </p:nvSpPr>
        <p:spPr>
          <a:xfrm>
            <a:off x="6062013" y="2740498"/>
            <a:ext cx="357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38"/>
          <p:cNvSpPr txBox="1"/>
          <p:nvPr/>
        </p:nvSpPr>
        <p:spPr>
          <a:xfrm>
            <a:off x="6062013" y="3163178"/>
            <a:ext cx="357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8"/>
          <p:cNvSpPr txBox="1"/>
          <p:nvPr/>
        </p:nvSpPr>
        <p:spPr>
          <a:xfrm>
            <a:off x="6062013" y="3597365"/>
            <a:ext cx="357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662" name="Google Shape;1662;p139"/>
          <p:cNvSpPr txBox="1"/>
          <p:nvPr/>
        </p:nvSpPr>
        <p:spPr>
          <a:xfrm>
            <a:off x="324000" y="75930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9"/>
          <p:cNvSpPr txBox="1"/>
          <p:nvPr/>
        </p:nvSpPr>
        <p:spPr>
          <a:xfrm>
            <a:off x="324000" y="17082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(0)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9"/>
          <p:cNvSpPr txBox="1"/>
          <p:nvPr/>
        </p:nvSpPr>
        <p:spPr>
          <a:xfrm>
            <a:off x="324000" y="22416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(1) =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5" name="Google Shape;1665;p139"/>
          <p:cNvGrpSpPr/>
          <p:nvPr/>
        </p:nvGrpSpPr>
        <p:grpSpPr>
          <a:xfrm>
            <a:off x="4963863" y="1076563"/>
            <a:ext cx="3842907" cy="3246874"/>
            <a:chOff x="4986877" y="1076563"/>
            <a:chExt cx="3842907" cy="3246874"/>
          </a:xfrm>
        </p:grpSpPr>
        <p:pic>
          <p:nvPicPr>
            <p:cNvPr id="1666" name="Google Shape;1666;p1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86877" y="1076563"/>
              <a:ext cx="3842907" cy="324687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67" name="Google Shape;1667;p139"/>
            <p:cNvSpPr/>
            <p:nvPr/>
          </p:nvSpPr>
          <p:spPr>
            <a:xfrm>
              <a:off x="4999000" y="3180499"/>
              <a:ext cx="1798500" cy="9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8" name="Google Shape;1668;p139"/>
          <p:cNvSpPr txBox="1"/>
          <p:nvPr/>
        </p:nvSpPr>
        <p:spPr>
          <a:xfrm>
            <a:off x="324000" y="377278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What shape does the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graph make and why?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674" name="Google Shape;1674;p140"/>
          <p:cNvSpPr txBox="1"/>
          <p:nvPr/>
        </p:nvSpPr>
        <p:spPr>
          <a:xfrm>
            <a:off x="324000" y="75930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40"/>
          <p:cNvSpPr txBox="1"/>
          <p:nvPr/>
        </p:nvSpPr>
        <p:spPr>
          <a:xfrm>
            <a:off x="312500" y="2779365"/>
            <a:ext cx="351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 given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4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40"/>
          <p:cNvSpPr txBox="1"/>
          <p:nvPr/>
        </p:nvSpPr>
        <p:spPr>
          <a:xfrm>
            <a:off x="324000" y="17082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(0) = 4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40"/>
          <p:cNvSpPr txBox="1"/>
          <p:nvPr/>
        </p:nvSpPr>
        <p:spPr>
          <a:xfrm>
            <a:off x="324000" y="22416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(1) =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8" name="Google Shape;1678;p140"/>
          <p:cNvGrpSpPr/>
          <p:nvPr/>
        </p:nvGrpSpPr>
        <p:grpSpPr>
          <a:xfrm>
            <a:off x="4963863" y="1076563"/>
            <a:ext cx="3842907" cy="3246874"/>
            <a:chOff x="4986877" y="1076563"/>
            <a:chExt cx="3842907" cy="3246874"/>
          </a:xfrm>
        </p:grpSpPr>
        <p:pic>
          <p:nvPicPr>
            <p:cNvPr id="1679" name="Google Shape;1679;p1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86877" y="1076563"/>
              <a:ext cx="3842907" cy="324687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80" name="Google Shape;1680;p140"/>
            <p:cNvSpPr/>
            <p:nvPr/>
          </p:nvSpPr>
          <p:spPr>
            <a:xfrm>
              <a:off x="4999000" y="3180499"/>
              <a:ext cx="1798500" cy="9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1" name="Google Shape;1681;p140"/>
          <p:cNvSpPr txBox="1"/>
          <p:nvPr/>
        </p:nvSpPr>
        <p:spPr>
          <a:xfrm>
            <a:off x="324000" y="224164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(1) = 3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2" name="Google Shape;1682;p140"/>
          <p:cNvGrpSpPr/>
          <p:nvPr/>
        </p:nvGrpSpPr>
        <p:grpSpPr>
          <a:xfrm>
            <a:off x="4961095" y="1091507"/>
            <a:ext cx="3842901" cy="3235576"/>
            <a:chOff x="4961095" y="1091507"/>
            <a:chExt cx="3842901" cy="3235576"/>
          </a:xfrm>
        </p:grpSpPr>
        <p:pic>
          <p:nvPicPr>
            <p:cNvPr id="1683" name="Google Shape;1683;p1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61095" y="1091507"/>
              <a:ext cx="3842901" cy="32355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84" name="Google Shape;1684;p140"/>
            <p:cNvSpPr/>
            <p:nvPr/>
          </p:nvSpPr>
          <p:spPr>
            <a:xfrm>
              <a:off x="4980325" y="3191996"/>
              <a:ext cx="1798500" cy="1037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5" name="Google Shape;1685;p140"/>
          <p:cNvSpPr txBox="1"/>
          <p:nvPr/>
        </p:nvSpPr>
        <p:spPr>
          <a:xfrm>
            <a:off x="324000" y="3772780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What shape does the graph make and why?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40"/>
          <p:cNvSpPr txBox="1"/>
          <p:nvPr/>
        </p:nvSpPr>
        <p:spPr>
          <a:xfrm>
            <a:off x="324000" y="4460912"/>
            <a:ext cx="78852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 straight line because of the constant, common difference.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692" name="Google Shape;1692;p141"/>
          <p:cNvSpPr txBox="1"/>
          <p:nvPr/>
        </p:nvSpPr>
        <p:spPr>
          <a:xfrm>
            <a:off x="324000" y="812477"/>
            <a:ext cx="4500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technology means we don’t have to work out the coordinates ourselves.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41"/>
          <p:cNvSpPr txBox="1"/>
          <p:nvPr/>
        </p:nvSpPr>
        <p:spPr>
          <a:xfrm>
            <a:off x="324000" y="4070425"/>
            <a:ext cx="2394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Type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 table headers.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41"/>
          <p:cNvSpPr txBox="1"/>
          <p:nvPr/>
        </p:nvSpPr>
        <p:spPr>
          <a:xfrm>
            <a:off x="324000" y="1696729"/>
            <a:ext cx="38907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steps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5" name="Google Shape;1695;p141"/>
          <p:cNvGrpSpPr/>
          <p:nvPr/>
        </p:nvGrpSpPr>
        <p:grpSpPr>
          <a:xfrm>
            <a:off x="4959024" y="1068482"/>
            <a:ext cx="3843400" cy="3241655"/>
            <a:chOff x="4959024" y="1068482"/>
            <a:chExt cx="3843400" cy="3241655"/>
          </a:xfrm>
        </p:grpSpPr>
        <p:pic>
          <p:nvPicPr>
            <p:cNvPr id="1696" name="Google Shape;1696;p1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9024" y="1068482"/>
              <a:ext cx="3843400" cy="324165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97" name="Google Shape;1697;p141"/>
            <p:cNvSpPr/>
            <p:nvPr/>
          </p:nvSpPr>
          <p:spPr>
            <a:xfrm>
              <a:off x="4968825" y="3780000"/>
              <a:ext cx="1798500" cy="52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8" name="Google Shape;1698;p141"/>
          <p:cNvSpPr txBox="1"/>
          <p:nvPr/>
        </p:nvSpPr>
        <p:spPr>
          <a:xfrm>
            <a:off x="324000" y="3086980"/>
            <a:ext cx="4248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really don’t want to have to work out all of those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coordinates!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9" name="Google Shape;1699;p141"/>
          <p:cNvGrpSpPr/>
          <p:nvPr/>
        </p:nvGrpSpPr>
        <p:grpSpPr>
          <a:xfrm>
            <a:off x="2718600" y="1434375"/>
            <a:ext cx="3549697" cy="2776750"/>
            <a:chOff x="2402293" y="2184868"/>
            <a:chExt cx="3549697" cy="2776750"/>
          </a:xfrm>
        </p:grpSpPr>
        <p:cxnSp>
          <p:nvCxnSpPr>
            <p:cNvPr id="1700" name="Google Shape;1700;p141"/>
            <p:cNvCxnSpPr>
              <a:stCxn id="1693" idx="3"/>
              <a:endCxn id="1701" idx="3"/>
            </p:cNvCxnSpPr>
            <p:nvPr/>
          </p:nvCxnSpPr>
          <p:spPr>
            <a:xfrm flipH="1" rot="10800000">
              <a:off x="2402293" y="2508818"/>
              <a:ext cx="2837700" cy="2452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1" name="Google Shape;1701;p141"/>
            <p:cNvSpPr/>
            <p:nvPr/>
          </p:nvSpPr>
          <p:spPr>
            <a:xfrm>
              <a:off x="5117990" y="2184868"/>
              <a:ext cx="834000" cy="3795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707" name="Google Shape;1707;p142"/>
          <p:cNvSpPr txBox="1"/>
          <p:nvPr/>
        </p:nvSpPr>
        <p:spPr>
          <a:xfrm>
            <a:off x="324000" y="812477"/>
            <a:ext cx="4500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technology means we don’t have to work out the coordinates ourselves.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2"/>
          <p:cNvSpPr txBox="1"/>
          <p:nvPr/>
        </p:nvSpPr>
        <p:spPr>
          <a:xfrm>
            <a:off x="324000" y="1696729"/>
            <a:ext cx="38907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steps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42"/>
          <p:cNvSpPr txBox="1"/>
          <p:nvPr/>
        </p:nvSpPr>
        <p:spPr>
          <a:xfrm>
            <a:off x="324000" y="3086980"/>
            <a:ext cx="4248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really don’t want to have to work out all of those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coordinates!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42"/>
          <p:cNvSpPr txBox="1"/>
          <p:nvPr/>
        </p:nvSpPr>
        <p:spPr>
          <a:xfrm>
            <a:off x="324000" y="4070425"/>
            <a:ext cx="2394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Type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 table headers.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1" name="Google Shape;1711;p142"/>
          <p:cNvGrpSpPr/>
          <p:nvPr/>
        </p:nvGrpSpPr>
        <p:grpSpPr>
          <a:xfrm>
            <a:off x="5502620" y="1062275"/>
            <a:ext cx="3295779" cy="3241649"/>
            <a:chOff x="5502620" y="1062275"/>
            <a:chExt cx="3295779" cy="3241649"/>
          </a:xfrm>
        </p:grpSpPr>
        <p:pic>
          <p:nvPicPr>
            <p:cNvPr id="1712" name="Google Shape;1712;p1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02620" y="1062275"/>
              <a:ext cx="3295779" cy="324164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13" name="Google Shape;1713;p142"/>
            <p:cNvSpPr/>
            <p:nvPr/>
          </p:nvSpPr>
          <p:spPr>
            <a:xfrm>
              <a:off x="5520896" y="3616068"/>
              <a:ext cx="1520100" cy="670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4" name="Google Shape;1714;p142"/>
          <p:cNvGrpSpPr/>
          <p:nvPr/>
        </p:nvGrpSpPr>
        <p:grpSpPr>
          <a:xfrm>
            <a:off x="5515319" y="1068475"/>
            <a:ext cx="3282177" cy="3241649"/>
            <a:chOff x="5515319" y="1068475"/>
            <a:chExt cx="3282177" cy="3241649"/>
          </a:xfrm>
        </p:grpSpPr>
        <p:pic>
          <p:nvPicPr>
            <p:cNvPr id="1715" name="Google Shape;1715;p1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15319" y="1068475"/>
              <a:ext cx="3282177" cy="324164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16" name="Google Shape;1716;p142"/>
            <p:cNvSpPr/>
            <p:nvPr/>
          </p:nvSpPr>
          <p:spPr>
            <a:xfrm>
              <a:off x="5536750" y="3627575"/>
              <a:ext cx="1520100" cy="670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1" name="Google Shape;1721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459" y="1080000"/>
            <a:ext cx="3931690" cy="3225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2" name="Google Shape;1722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723" name="Google Shape;1723;p143"/>
          <p:cNvSpPr txBox="1"/>
          <p:nvPr/>
        </p:nvSpPr>
        <p:spPr>
          <a:xfrm>
            <a:off x="324000" y="816845"/>
            <a:ext cx="42480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Plot 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steps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4" name="Google Shape;1724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300" y="1058861"/>
            <a:ext cx="3931701" cy="324643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25" name="Google Shape;1725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0000" y="1053211"/>
            <a:ext cx="3931698" cy="325208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6" name="Google Shape;1726;p143"/>
          <p:cNvSpPr txBox="1"/>
          <p:nvPr/>
        </p:nvSpPr>
        <p:spPr>
          <a:xfrm>
            <a:off x="312500" y="2557925"/>
            <a:ext cx="368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− 0.5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 given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3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732" name="Google Shape;1732;p144"/>
          <p:cNvSpPr txBox="1"/>
          <p:nvPr/>
        </p:nvSpPr>
        <p:spPr>
          <a:xfrm>
            <a:off x="324000" y="812475"/>
            <a:ext cx="42480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technology can plot these lines even more quickly for us.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44"/>
          <p:cNvSpPr txBox="1"/>
          <p:nvPr/>
        </p:nvSpPr>
        <p:spPr>
          <a:xfrm>
            <a:off x="324000" y="2493250"/>
            <a:ext cx="2647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Type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9 − 2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here.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44"/>
          <p:cNvSpPr txBox="1"/>
          <p:nvPr/>
        </p:nvSpPr>
        <p:spPr>
          <a:xfrm>
            <a:off x="324000" y="1597525"/>
            <a:ext cx="42480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don’t have to plot the individual coordinates with a table.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5" name="Google Shape;1735;p144"/>
          <p:cNvGrpSpPr/>
          <p:nvPr/>
        </p:nvGrpSpPr>
        <p:grpSpPr>
          <a:xfrm>
            <a:off x="5008234" y="1080000"/>
            <a:ext cx="3800235" cy="3236550"/>
            <a:chOff x="5008234" y="1080000"/>
            <a:chExt cx="3800235" cy="3236550"/>
          </a:xfrm>
        </p:grpSpPr>
        <p:pic>
          <p:nvPicPr>
            <p:cNvPr id="1736" name="Google Shape;1736;p1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08234" y="1080000"/>
              <a:ext cx="3800235" cy="323655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37" name="Google Shape;1737;p144"/>
            <p:cNvSpPr/>
            <p:nvPr/>
          </p:nvSpPr>
          <p:spPr>
            <a:xfrm>
              <a:off x="5016125" y="1683732"/>
              <a:ext cx="1638000" cy="80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8" name="Google Shape;1738;p144"/>
          <p:cNvGrpSpPr/>
          <p:nvPr/>
        </p:nvGrpSpPr>
        <p:grpSpPr>
          <a:xfrm>
            <a:off x="2971800" y="1376825"/>
            <a:ext cx="3358500" cy="1279175"/>
            <a:chOff x="2655498" y="1035839"/>
            <a:chExt cx="3358500" cy="1280968"/>
          </a:xfrm>
        </p:grpSpPr>
        <p:cxnSp>
          <p:nvCxnSpPr>
            <p:cNvPr id="1739" name="Google Shape;1739;p144"/>
            <p:cNvCxnSpPr>
              <a:stCxn id="1733" idx="3"/>
              <a:endCxn id="1740" idx="3"/>
            </p:cNvCxnSpPr>
            <p:nvPr/>
          </p:nvCxnSpPr>
          <p:spPr>
            <a:xfrm flipH="1" rot="10800000">
              <a:off x="2655498" y="1273407"/>
              <a:ext cx="2396100" cy="1043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0" name="Google Shape;1740;p144"/>
            <p:cNvSpPr/>
            <p:nvPr/>
          </p:nvSpPr>
          <p:spPr>
            <a:xfrm>
              <a:off x="4886598" y="1035839"/>
              <a:ext cx="1127400" cy="2784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1" name="Google Shape;1741;p144"/>
          <p:cNvGrpSpPr/>
          <p:nvPr/>
        </p:nvGrpSpPr>
        <p:grpSpPr>
          <a:xfrm>
            <a:off x="5016125" y="1082657"/>
            <a:ext cx="3803648" cy="3228667"/>
            <a:chOff x="5016125" y="1082657"/>
            <a:chExt cx="3803648" cy="3228667"/>
          </a:xfrm>
        </p:grpSpPr>
        <p:pic>
          <p:nvPicPr>
            <p:cNvPr id="1742" name="Google Shape;1742;p1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19525" y="1082657"/>
              <a:ext cx="3800248" cy="322866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43" name="Google Shape;1743;p144"/>
            <p:cNvSpPr/>
            <p:nvPr/>
          </p:nvSpPr>
          <p:spPr>
            <a:xfrm>
              <a:off x="5016125" y="1702399"/>
              <a:ext cx="1638000" cy="80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4" name="Google Shape;1744;p144"/>
          <p:cNvSpPr txBox="1"/>
          <p:nvPr/>
        </p:nvSpPr>
        <p:spPr>
          <a:xfrm>
            <a:off x="312500" y="3167525"/>
            <a:ext cx="42480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linear graph of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9 − 2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 no restriction on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. This is the true nature of this graph; it has no beginning and no end.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plotting graphs of equations</a:t>
            </a:r>
            <a:endParaRPr/>
          </a:p>
        </p:txBody>
      </p:sp>
      <p:grpSp>
        <p:nvGrpSpPr>
          <p:cNvPr id="1750" name="Google Shape;1750;p145"/>
          <p:cNvGrpSpPr/>
          <p:nvPr/>
        </p:nvGrpSpPr>
        <p:grpSpPr>
          <a:xfrm>
            <a:off x="4572000" y="1609358"/>
            <a:ext cx="4227425" cy="2423341"/>
            <a:chOff x="4572000" y="1609358"/>
            <a:chExt cx="4227425" cy="2423341"/>
          </a:xfrm>
        </p:grpSpPr>
        <p:pic>
          <p:nvPicPr>
            <p:cNvPr id="1751" name="Google Shape;1751;p1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72000" y="1609358"/>
              <a:ext cx="4227425" cy="242334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52" name="Google Shape;1752;p145"/>
            <p:cNvSpPr/>
            <p:nvPr/>
          </p:nvSpPr>
          <p:spPr>
            <a:xfrm>
              <a:off x="4576322" y="2159725"/>
              <a:ext cx="11982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3" name="Google Shape;1753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189" y="1823238"/>
            <a:ext cx="3309938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145"/>
          <p:cNvSpPr txBox="1"/>
          <p:nvPr/>
        </p:nvSpPr>
        <p:spPr>
          <a:xfrm>
            <a:off x="324000" y="824025"/>
            <a:ext cx="3683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can limit the range when plotting linear graphs this way.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5"/>
          <p:cNvSpPr txBox="1"/>
          <p:nvPr/>
        </p:nvSpPr>
        <p:spPr>
          <a:xfrm>
            <a:off x="324000" y="1883650"/>
            <a:ext cx="3683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Typing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{−1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3}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immediately after the function will give the range these limits.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6" name="Google Shape;1756;p145"/>
          <p:cNvGrpSpPr/>
          <p:nvPr/>
        </p:nvGrpSpPr>
        <p:grpSpPr>
          <a:xfrm>
            <a:off x="4572000" y="1325084"/>
            <a:ext cx="4249252" cy="2705591"/>
            <a:chOff x="4572000" y="1325084"/>
            <a:chExt cx="4249252" cy="2705591"/>
          </a:xfrm>
        </p:grpSpPr>
        <p:pic>
          <p:nvPicPr>
            <p:cNvPr id="1757" name="Google Shape;1757;p1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72000" y="1325084"/>
              <a:ext cx="4249252" cy="270559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58" name="Google Shape;1758;p145"/>
            <p:cNvSpPr/>
            <p:nvPr/>
          </p:nvSpPr>
          <p:spPr>
            <a:xfrm>
              <a:off x="4587824" y="1972800"/>
              <a:ext cx="13989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9" name="Google Shape;1759;p145"/>
          <p:cNvSpPr txBox="1"/>
          <p:nvPr/>
        </p:nvSpPr>
        <p:spPr>
          <a:xfrm>
            <a:off x="312500" y="3243725"/>
            <a:ext cx="368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linear graph of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the given range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 ≤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3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3-\frac{1}{3}x&quot;&gt;&lt;mi&gt;y&lt;/mi&gt;&lt;mo&gt;=&lt;/mo&gt;&lt;mn&gt;3&lt;/mn&gt;&lt;mo&gt;−&lt;/mo&gt;&lt;mfrac&gt;&lt;mn&gt;1&lt;/mn&gt;&lt;mn&gt;3&lt;/mn&gt;&lt;/mfrac&gt;&lt;mi&gt;x&lt;/mi&gt;&lt;/math&gt;" id="1760" name="Google Shape;1760;p145" title="y equals 3 minus one third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6050" y="3104006"/>
            <a:ext cx="1213417" cy="5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46"/>
          <p:cNvSpPr txBox="1"/>
          <p:nvPr>
            <p:ph idx="1" type="body"/>
          </p:nvPr>
        </p:nvSpPr>
        <p:spPr>
          <a:xfrm>
            <a:off x="324000" y="759300"/>
            <a:ext cx="4500000" cy="15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Create a table of values to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11 − 5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/>
              <a:t>for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-values in the range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−2 ≤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≤ 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in steps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/>
          </a:p>
        </p:txBody>
      </p:sp>
      <p:sp>
        <p:nvSpPr>
          <p:cNvPr id="1766" name="Google Shape;1766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147"/>
          <p:cNvSpPr txBox="1"/>
          <p:nvPr>
            <p:ph idx="1" type="body"/>
          </p:nvPr>
        </p:nvSpPr>
        <p:spPr>
          <a:xfrm>
            <a:off x="324000" y="759300"/>
            <a:ext cx="3706500" cy="12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lang="en-GB" sz="2000"/>
              <a:t>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Without using a table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772" name="Google Shape;1772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773" name="Google Shape;1773;p147"/>
          <p:cNvSpPr txBox="1"/>
          <p:nvPr>
            <p:ph idx="1" type="body"/>
          </p:nvPr>
        </p:nvSpPr>
        <p:spPr>
          <a:xfrm>
            <a:off x="324000" y="2207100"/>
            <a:ext cx="36489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Without using a table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endParaRPr/>
          </a:p>
        </p:txBody>
      </p:sp>
      <p:sp>
        <p:nvSpPr>
          <p:cNvPr id="1774" name="Google Shape;1774;p147"/>
          <p:cNvSpPr txBox="1"/>
          <p:nvPr>
            <p:ph idx="1" type="body"/>
          </p:nvPr>
        </p:nvSpPr>
        <p:spPr>
          <a:xfrm>
            <a:off x="324000" y="3273900"/>
            <a:ext cx="36489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</a:t>
            </a:r>
            <a:r>
              <a:rPr lang="en-GB" sz="2000"/>
              <a:t>) What do you notice about the shape of the two graphs?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Write a sentence.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148"/>
          <p:cNvSpPr txBox="1"/>
          <p:nvPr>
            <p:ph idx="1" type="body"/>
          </p:nvPr>
        </p:nvSpPr>
        <p:spPr>
          <a:xfrm>
            <a:off x="324000" y="759300"/>
            <a:ext cx="4500000" cy="15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Create a table of values to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11 − 5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for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-values in the range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−2 ≤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≤ 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in steps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/>
          </a:p>
        </p:txBody>
      </p:sp>
      <p:sp>
        <p:nvSpPr>
          <p:cNvPr id="1780" name="Google Shape;1780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  <p:pic>
        <p:nvPicPr>
          <p:cNvPr id="1781" name="Google Shape;178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507" y="800524"/>
            <a:ext cx="3228065" cy="3519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82" name="Google Shape;1782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269" y="1085100"/>
            <a:ext cx="1590575" cy="37353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49"/>
          <p:cNvSpPr txBox="1"/>
          <p:nvPr>
            <p:ph idx="1" type="body"/>
          </p:nvPr>
        </p:nvSpPr>
        <p:spPr>
          <a:xfrm>
            <a:off x="324000" y="759300"/>
            <a:ext cx="3786900" cy="11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Without using a table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788" name="Google Shape;1788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789" name="Google Shape;1789;p149"/>
          <p:cNvSpPr txBox="1"/>
          <p:nvPr>
            <p:ph idx="1" type="body"/>
          </p:nvPr>
        </p:nvSpPr>
        <p:spPr>
          <a:xfrm>
            <a:off x="324000" y="2207100"/>
            <a:ext cx="37869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Without using a table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/>
          </a:p>
        </p:txBody>
      </p:sp>
      <p:sp>
        <p:nvSpPr>
          <p:cNvPr id="1790" name="Google Shape;1790;p149"/>
          <p:cNvSpPr txBox="1"/>
          <p:nvPr>
            <p:ph idx="1" type="body"/>
          </p:nvPr>
        </p:nvSpPr>
        <p:spPr>
          <a:xfrm>
            <a:off x="324000" y="3273900"/>
            <a:ext cx="36606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c) What do you notice about the shape of the two graphs?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Write a sentence.</a:t>
            </a:r>
            <a:endParaRPr sz="2000"/>
          </a:p>
        </p:txBody>
      </p:sp>
      <p:grpSp>
        <p:nvGrpSpPr>
          <p:cNvPr id="1791" name="Google Shape;1791;p149"/>
          <p:cNvGrpSpPr/>
          <p:nvPr/>
        </p:nvGrpSpPr>
        <p:grpSpPr>
          <a:xfrm>
            <a:off x="3984600" y="803326"/>
            <a:ext cx="4824428" cy="3123625"/>
            <a:chOff x="3984600" y="803326"/>
            <a:chExt cx="4824428" cy="3123625"/>
          </a:xfrm>
        </p:grpSpPr>
        <p:pic>
          <p:nvPicPr>
            <p:cNvPr id="1792" name="Google Shape;1792;p1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84600" y="803326"/>
              <a:ext cx="4824428" cy="31236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93" name="Google Shape;1793;p149"/>
            <p:cNvSpPr/>
            <p:nvPr/>
          </p:nvSpPr>
          <p:spPr>
            <a:xfrm>
              <a:off x="3989725" y="1691025"/>
              <a:ext cx="16632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50"/>
          <p:cNvSpPr txBox="1"/>
          <p:nvPr>
            <p:ph idx="1" type="body"/>
          </p:nvPr>
        </p:nvSpPr>
        <p:spPr>
          <a:xfrm>
            <a:off x="324000" y="759300"/>
            <a:ext cx="3786900" cy="11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Without using a table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7 −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799" name="Google Shape;1799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800" name="Google Shape;1800;p150"/>
          <p:cNvSpPr txBox="1"/>
          <p:nvPr>
            <p:ph idx="1" type="body"/>
          </p:nvPr>
        </p:nvSpPr>
        <p:spPr>
          <a:xfrm>
            <a:off x="324000" y="2207100"/>
            <a:ext cx="37869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Without using a table plot the linear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/>
          </a:p>
        </p:txBody>
      </p:sp>
      <p:sp>
        <p:nvSpPr>
          <p:cNvPr id="1801" name="Google Shape;1801;p150"/>
          <p:cNvSpPr txBox="1"/>
          <p:nvPr>
            <p:ph idx="1" type="body"/>
          </p:nvPr>
        </p:nvSpPr>
        <p:spPr>
          <a:xfrm>
            <a:off x="324000" y="4481800"/>
            <a:ext cx="7135200" cy="3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 of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that makes them both linear equations.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2" name="Google Shape;1802;p150"/>
          <p:cNvSpPr txBox="1"/>
          <p:nvPr>
            <p:ph idx="1" type="body"/>
          </p:nvPr>
        </p:nvSpPr>
        <p:spPr>
          <a:xfrm>
            <a:off x="324000" y="3696575"/>
            <a:ext cx="8484900" cy="7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are linear graphs. Both have 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making them parallel.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03" name="Google Shape;1803;p150"/>
          <p:cNvGrpSpPr/>
          <p:nvPr/>
        </p:nvGrpSpPr>
        <p:grpSpPr>
          <a:xfrm>
            <a:off x="3984600" y="803326"/>
            <a:ext cx="4824428" cy="3123625"/>
            <a:chOff x="3984600" y="803326"/>
            <a:chExt cx="4824428" cy="3123625"/>
          </a:xfrm>
        </p:grpSpPr>
        <p:pic>
          <p:nvPicPr>
            <p:cNvPr id="1804" name="Google Shape;1804;p1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84600" y="803326"/>
              <a:ext cx="4824428" cy="31236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05" name="Google Shape;1805;p150"/>
            <p:cNvSpPr/>
            <p:nvPr/>
          </p:nvSpPr>
          <p:spPr>
            <a:xfrm>
              <a:off x="3989725" y="1691025"/>
              <a:ext cx="16632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6" name="Google Shape;1806;p150"/>
          <p:cNvSpPr txBox="1"/>
          <p:nvPr>
            <p:ph idx="1" type="body"/>
          </p:nvPr>
        </p:nvSpPr>
        <p:spPr>
          <a:xfrm>
            <a:off x="1855160" y="2969100"/>
            <a:ext cx="1830900" cy="3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807" name="Google Shape;1807;p150"/>
          <p:cNvSpPr txBox="1"/>
          <p:nvPr>
            <p:ph idx="1" type="body"/>
          </p:nvPr>
        </p:nvSpPr>
        <p:spPr>
          <a:xfrm>
            <a:off x="2693361" y="3384620"/>
            <a:ext cx="1110300" cy="3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5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 of equations</a:t>
            </a:r>
            <a:endParaRPr/>
          </a:p>
        </p:txBody>
      </p:sp>
      <p:sp>
        <p:nvSpPr>
          <p:cNvPr id="1813" name="Google Shape;1813;p15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14" name="Google Shape;1814;p15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pic>
        <p:nvPicPr>
          <p:cNvPr id="1815" name="Google Shape;1815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299974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52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many different types of equations and certain types of equations make graphs of certain shapes.</a:t>
            </a:r>
            <a:endParaRPr/>
          </a:p>
        </p:txBody>
      </p:sp>
      <p:sp>
        <p:nvSpPr>
          <p:cNvPr id="1821" name="Google Shape;1821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22" name="Google Shape;1822;p152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3" name="Google Shape;1823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441" y="1615676"/>
            <a:ext cx="1430210" cy="32047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4" name="Google Shape;1824;p152"/>
          <p:cNvSpPr txBox="1"/>
          <p:nvPr/>
        </p:nvSpPr>
        <p:spPr>
          <a:xfrm>
            <a:off x="324000" y="311436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0,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(0)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52"/>
          <p:cNvSpPr txBox="1"/>
          <p:nvPr/>
        </p:nvSpPr>
        <p:spPr>
          <a:xfrm>
            <a:off x="324000" y="3659272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31" name="Google Shape;1831;p153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2" name="Google Shape;1832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457" y="1633975"/>
            <a:ext cx="1285294" cy="31864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33" name="Google Shape;1833;p153"/>
          <p:cNvGrpSpPr/>
          <p:nvPr/>
        </p:nvGrpSpPr>
        <p:grpSpPr>
          <a:xfrm>
            <a:off x="4582394" y="826701"/>
            <a:ext cx="3767188" cy="3993701"/>
            <a:chOff x="4582394" y="826701"/>
            <a:chExt cx="3767188" cy="3993701"/>
          </a:xfrm>
        </p:grpSpPr>
        <p:pic>
          <p:nvPicPr>
            <p:cNvPr id="1834" name="Google Shape;1834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82394" y="826701"/>
              <a:ext cx="3767188" cy="3993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35" name="Google Shape;1835;p153"/>
            <p:cNvSpPr/>
            <p:nvPr/>
          </p:nvSpPr>
          <p:spPr>
            <a:xfrm>
              <a:off x="4594975" y="3062618"/>
              <a:ext cx="1759800" cy="174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6" name="Google Shape;1836;p153"/>
          <p:cNvSpPr txBox="1"/>
          <p:nvPr/>
        </p:nvSpPr>
        <p:spPr>
          <a:xfrm>
            <a:off x="324000" y="4008549"/>
            <a:ext cx="39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 do we connect these points with straight lines?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7" name="Google Shape;1837;p153"/>
          <p:cNvGrpSpPr/>
          <p:nvPr/>
        </p:nvGrpSpPr>
        <p:grpSpPr>
          <a:xfrm>
            <a:off x="4583599" y="830601"/>
            <a:ext cx="3754733" cy="3993702"/>
            <a:chOff x="4583599" y="830601"/>
            <a:chExt cx="3754733" cy="3993702"/>
          </a:xfrm>
        </p:grpSpPr>
        <p:pic>
          <p:nvPicPr>
            <p:cNvPr id="1838" name="Google Shape;1838;p15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83599" y="830601"/>
              <a:ext cx="3754733" cy="399370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39" name="Google Shape;1839;p153"/>
            <p:cNvSpPr/>
            <p:nvPr/>
          </p:nvSpPr>
          <p:spPr>
            <a:xfrm>
              <a:off x="4597788" y="3074125"/>
              <a:ext cx="1759800" cy="174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0" name="Google Shape;1840;p153"/>
          <p:cNvSpPr txBox="1"/>
          <p:nvPr/>
        </p:nvSpPr>
        <p:spPr>
          <a:xfrm>
            <a:off x="324000" y="3094150"/>
            <a:ext cx="4166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hese points are not in a straight line. This is a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non-linear graph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46" name="Google Shape;1846;p154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7" name="Google Shape;1847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457" y="1633975"/>
            <a:ext cx="1285294" cy="3186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8" name="Google Shape;1848;p154"/>
          <p:cNvGrpSpPr/>
          <p:nvPr/>
        </p:nvGrpSpPr>
        <p:grpSpPr>
          <a:xfrm>
            <a:off x="4582394" y="826701"/>
            <a:ext cx="3767188" cy="3993701"/>
            <a:chOff x="4582394" y="826701"/>
            <a:chExt cx="3767188" cy="3993701"/>
          </a:xfrm>
        </p:grpSpPr>
        <p:pic>
          <p:nvPicPr>
            <p:cNvPr id="1849" name="Google Shape;1849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82394" y="826701"/>
              <a:ext cx="3767188" cy="3993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50" name="Google Shape;1850;p154"/>
            <p:cNvSpPr/>
            <p:nvPr/>
          </p:nvSpPr>
          <p:spPr>
            <a:xfrm>
              <a:off x="4594975" y="3062618"/>
              <a:ext cx="1759800" cy="174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1" name="Google Shape;1851;p154"/>
          <p:cNvSpPr txBox="1"/>
          <p:nvPr/>
        </p:nvSpPr>
        <p:spPr>
          <a:xfrm>
            <a:off x="324000" y="2923082"/>
            <a:ext cx="39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take shorter steps in our table to understand the shape of this function.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2" name="Google Shape;1852;p154"/>
          <p:cNvGrpSpPr/>
          <p:nvPr/>
        </p:nvGrpSpPr>
        <p:grpSpPr>
          <a:xfrm>
            <a:off x="4572001" y="810425"/>
            <a:ext cx="3780151" cy="4005276"/>
            <a:chOff x="4572001" y="810425"/>
            <a:chExt cx="3780151" cy="4005276"/>
          </a:xfrm>
        </p:grpSpPr>
        <p:pic>
          <p:nvPicPr>
            <p:cNvPr id="1853" name="Google Shape;1853;p1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72001" y="810425"/>
              <a:ext cx="3780151" cy="40052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54" name="Google Shape;1854;p154"/>
            <p:cNvSpPr/>
            <p:nvPr/>
          </p:nvSpPr>
          <p:spPr>
            <a:xfrm>
              <a:off x="4586275" y="4148700"/>
              <a:ext cx="1670400" cy="66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5" name="Google Shape;1855;p154"/>
          <p:cNvSpPr txBox="1"/>
          <p:nvPr/>
        </p:nvSpPr>
        <p:spPr>
          <a:xfrm>
            <a:off x="324000" y="4142275"/>
            <a:ext cx="39960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teps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0.5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to show the graph’s true shape.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6" name="Google Shape;1856;p154"/>
          <p:cNvSpPr txBox="1"/>
          <p:nvPr/>
        </p:nvSpPr>
        <p:spPr>
          <a:xfrm>
            <a:off x="324000" y="789475"/>
            <a:ext cx="340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typed in as column headers.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7" name="Google Shape;1857;p154"/>
          <p:cNvGrpSpPr/>
          <p:nvPr/>
        </p:nvGrpSpPr>
        <p:grpSpPr>
          <a:xfrm>
            <a:off x="3731400" y="1005175"/>
            <a:ext cx="2186168" cy="485760"/>
            <a:chOff x="3613525" y="827804"/>
            <a:chExt cx="2186168" cy="486441"/>
          </a:xfrm>
        </p:grpSpPr>
        <p:cxnSp>
          <p:nvCxnSpPr>
            <p:cNvPr id="1858" name="Google Shape;1858;p154"/>
            <p:cNvCxnSpPr>
              <a:stCxn id="1856" idx="3"/>
              <a:endCxn id="1859" idx="2"/>
            </p:cNvCxnSpPr>
            <p:nvPr/>
          </p:nvCxnSpPr>
          <p:spPr>
            <a:xfrm>
              <a:off x="3613525" y="827804"/>
              <a:ext cx="1261500" cy="347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9" name="Google Shape;1859;p154"/>
            <p:cNvSpPr/>
            <p:nvPr/>
          </p:nvSpPr>
          <p:spPr>
            <a:xfrm>
              <a:off x="4875093" y="1035845"/>
              <a:ext cx="924600" cy="2784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65" name="Google Shape;1865;p155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6" name="Google Shape;186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457" y="1633975"/>
            <a:ext cx="1285294" cy="3186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7" name="Google Shape;1867;p155"/>
          <p:cNvGrpSpPr/>
          <p:nvPr/>
        </p:nvGrpSpPr>
        <p:grpSpPr>
          <a:xfrm>
            <a:off x="4582394" y="826701"/>
            <a:ext cx="3767188" cy="3993701"/>
            <a:chOff x="4582394" y="826701"/>
            <a:chExt cx="3767188" cy="3993701"/>
          </a:xfrm>
        </p:grpSpPr>
        <p:pic>
          <p:nvPicPr>
            <p:cNvPr id="1868" name="Google Shape;1868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82394" y="826701"/>
              <a:ext cx="3767188" cy="3993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69" name="Google Shape;1869;p155"/>
            <p:cNvSpPr/>
            <p:nvPr/>
          </p:nvSpPr>
          <p:spPr>
            <a:xfrm>
              <a:off x="4594975" y="3062618"/>
              <a:ext cx="1759800" cy="174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0" name="Google Shape;1870;p155"/>
          <p:cNvGrpSpPr/>
          <p:nvPr/>
        </p:nvGrpSpPr>
        <p:grpSpPr>
          <a:xfrm>
            <a:off x="4572001" y="810425"/>
            <a:ext cx="3780151" cy="4005276"/>
            <a:chOff x="4572001" y="810425"/>
            <a:chExt cx="3780151" cy="4005276"/>
          </a:xfrm>
        </p:grpSpPr>
        <p:pic>
          <p:nvPicPr>
            <p:cNvPr id="1871" name="Google Shape;1871;p1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72001" y="810425"/>
              <a:ext cx="3780151" cy="40052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72" name="Google Shape;1872;p155"/>
            <p:cNvSpPr/>
            <p:nvPr/>
          </p:nvSpPr>
          <p:spPr>
            <a:xfrm>
              <a:off x="4586275" y="4148700"/>
              <a:ext cx="1670400" cy="66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3" name="Google Shape;1873;p155"/>
          <p:cNvSpPr txBox="1"/>
          <p:nvPr/>
        </p:nvSpPr>
        <p:spPr>
          <a:xfrm>
            <a:off x="324000" y="3163182"/>
            <a:ext cx="39960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Use 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teps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0.25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show more clearly the graph’s true shape.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4" name="Google Shape;1874;p155"/>
          <p:cNvSpPr txBox="1"/>
          <p:nvPr/>
        </p:nvSpPr>
        <p:spPr>
          <a:xfrm>
            <a:off x="324000" y="789475"/>
            <a:ext cx="340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typed in as column headers.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5" name="Google Shape;1875;p155"/>
          <p:cNvGrpSpPr/>
          <p:nvPr/>
        </p:nvGrpSpPr>
        <p:grpSpPr>
          <a:xfrm>
            <a:off x="3731400" y="1005175"/>
            <a:ext cx="2186168" cy="485760"/>
            <a:chOff x="3613525" y="827804"/>
            <a:chExt cx="2186168" cy="486441"/>
          </a:xfrm>
        </p:grpSpPr>
        <p:cxnSp>
          <p:nvCxnSpPr>
            <p:cNvPr id="1876" name="Google Shape;1876;p155"/>
            <p:cNvCxnSpPr>
              <a:stCxn id="1874" idx="3"/>
              <a:endCxn id="1877" idx="2"/>
            </p:cNvCxnSpPr>
            <p:nvPr/>
          </p:nvCxnSpPr>
          <p:spPr>
            <a:xfrm>
              <a:off x="3613525" y="827804"/>
              <a:ext cx="1261500" cy="347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77" name="Google Shape;1877;p155"/>
            <p:cNvSpPr/>
            <p:nvPr/>
          </p:nvSpPr>
          <p:spPr>
            <a:xfrm>
              <a:off x="4875093" y="1035845"/>
              <a:ext cx="924600" cy="2784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83" name="Google Shape;1883;p156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4" name="Google Shape;1884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457" y="1633975"/>
            <a:ext cx="1285294" cy="3186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5" name="Google Shape;1885;p156"/>
          <p:cNvGrpSpPr/>
          <p:nvPr/>
        </p:nvGrpSpPr>
        <p:grpSpPr>
          <a:xfrm>
            <a:off x="4582394" y="826701"/>
            <a:ext cx="3767188" cy="3993701"/>
            <a:chOff x="4582394" y="826701"/>
            <a:chExt cx="3767188" cy="3993701"/>
          </a:xfrm>
        </p:grpSpPr>
        <p:pic>
          <p:nvPicPr>
            <p:cNvPr id="1886" name="Google Shape;1886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82394" y="826701"/>
              <a:ext cx="3767188" cy="3993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87" name="Google Shape;1887;p156"/>
            <p:cNvSpPr/>
            <p:nvPr/>
          </p:nvSpPr>
          <p:spPr>
            <a:xfrm>
              <a:off x="4594975" y="3062618"/>
              <a:ext cx="1759800" cy="174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156"/>
          <p:cNvGrpSpPr/>
          <p:nvPr/>
        </p:nvGrpSpPr>
        <p:grpSpPr>
          <a:xfrm>
            <a:off x="4572001" y="810425"/>
            <a:ext cx="3780151" cy="4005276"/>
            <a:chOff x="4572001" y="810425"/>
            <a:chExt cx="3780151" cy="4005276"/>
          </a:xfrm>
        </p:grpSpPr>
        <p:pic>
          <p:nvPicPr>
            <p:cNvPr id="1889" name="Google Shape;1889;p1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72001" y="810425"/>
              <a:ext cx="3780151" cy="40052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90" name="Google Shape;1890;p156"/>
            <p:cNvSpPr/>
            <p:nvPr/>
          </p:nvSpPr>
          <p:spPr>
            <a:xfrm>
              <a:off x="4586275" y="4148700"/>
              <a:ext cx="1670400" cy="664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1" name="Google Shape;1891;p156"/>
          <p:cNvSpPr txBox="1"/>
          <p:nvPr/>
        </p:nvSpPr>
        <p:spPr>
          <a:xfrm>
            <a:off x="324000" y="2987750"/>
            <a:ext cx="30456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teps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0.25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show that the graph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makes an upward curve of increasing gradient.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2" name="Google Shape;1892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3424" y="815712"/>
            <a:ext cx="3780150" cy="399996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57"/>
          <p:cNvSpPr txBox="1"/>
          <p:nvPr>
            <p:ph idx="1" type="body"/>
          </p:nvPr>
        </p:nvSpPr>
        <p:spPr>
          <a:xfrm>
            <a:off x="324000" y="759300"/>
            <a:ext cx="7710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 like our linear graphs we can input negative values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too.</a:t>
            </a:r>
            <a:endParaRPr/>
          </a:p>
        </p:txBody>
      </p:sp>
      <p:sp>
        <p:nvSpPr>
          <p:cNvPr id="1898" name="Google Shape;1898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899" name="Google Shape;1899;p157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4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57"/>
          <p:cNvSpPr txBox="1"/>
          <p:nvPr/>
        </p:nvSpPr>
        <p:spPr>
          <a:xfrm>
            <a:off x="324000" y="311436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57"/>
          <p:cNvSpPr txBox="1"/>
          <p:nvPr/>
        </p:nvSpPr>
        <p:spPr>
          <a:xfrm>
            <a:off x="324000" y="3659272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2" name="Google Shape;1902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199" y="1151424"/>
            <a:ext cx="1166075" cy="36685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03" name="Google Shape;1903;p157"/>
          <p:cNvSpPr txBox="1"/>
          <p:nvPr/>
        </p:nvSpPr>
        <p:spPr>
          <a:xfrm>
            <a:off x="324000" y="3114365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−4,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57"/>
          <p:cNvSpPr txBox="1"/>
          <p:nvPr/>
        </p:nvSpPr>
        <p:spPr>
          <a:xfrm>
            <a:off x="324000" y="3659272"/>
            <a:ext cx="34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−3, 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5" name="Google Shape;1905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319" y="1147075"/>
            <a:ext cx="1166075" cy="366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0" name="Google Shape;1910;p158"/>
          <p:cNvPicPr preferRelativeResize="0"/>
          <p:nvPr/>
        </p:nvPicPr>
        <p:blipFill rotWithShape="1">
          <a:blip r:embed="rId3">
            <a:alphaModFix/>
          </a:blip>
          <a:srcRect b="60240" l="12364" r="63145" t="26686"/>
          <a:stretch/>
        </p:blipFill>
        <p:spPr>
          <a:xfrm rot="5400000">
            <a:off x="5066724" y="2540776"/>
            <a:ext cx="3871048" cy="16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158"/>
          <p:cNvPicPr preferRelativeResize="0"/>
          <p:nvPr/>
        </p:nvPicPr>
        <p:blipFill rotWithShape="1">
          <a:blip r:embed="rId3">
            <a:alphaModFix/>
          </a:blip>
          <a:srcRect b="60240" l="12364" r="63145" t="26686"/>
          <a:stretch/>
        </p:blipFill>
        <p:spPr>
          <a:xfrm rot="5400000">
            <a:off x="5366616" y="2715892"/>
            <a:ext cx="2926052" cy="1282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58"/>
          <p:cNvPicPr preferRelativeResize="0"/>
          <p:nvPr/>
        </p:nvPicPr>
        <p:blipFill rotWithShape="1">
          <a:blip r:embed="rId3">
            <a:alphaModFix/>
          </a:blip>
          <a:srcRect b="60240" l="12364" r="63145" t="26686"/>
          <a:stretch/>
        </p:blipFill>
        <p:spPr>
          <a:xfrm rot="5400000">
            <a:off x="5681239" y="2874325"/>
            <a:ext cx="1928600" cy="8454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158"/>
          <p:cNvSpPr txBox="1"/>
          <p:nvPr>
            <p:ph idx="1" type="body"/>
          </p:nvPr>
        </p:nvSpPr>
        <p:spPr>
          <a:xfrm>
            <a:off x="324000" y="759300"/>
            <a:ext cx="7710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 like our linear graphs we can input negative values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too.</a:t>
            </a:r>
            <a:endParaRPr/>
          </a:p>
        </p:txBody>
      </p:sp>
      <p:sp>
        <p:nvSpPr>
          <p:cNvPr id="1914" name="Google Shape;1914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915" name="Google Shape;1915;p158"/>
          <p:cNvSpPr txBox="1"/>
          <p:nvPr/>
        </p:nvSpPr>
        <p:spPr>
          <a:xfrm>
            <a:off x="324000" y="1703873"/>
            <a:ext cx="38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Make a table of values for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4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6" name="Google Shape;1916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199" y="1151424"/>
            <a:ext cx="1166075" cy="36685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7" name="Google Shape;1917;p158"/>
          <p:cNvSpPr txBox="1"/>
          <p:nvPr/>
        </p:nvSpPr>
        <p:spPr>
          <a:xfrm>
            <a:off x="324000" y="2996488"/>
            <a:ext cx="2751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notice?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8" name="Google Shape;1918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8319" y="1147075"/>
            <a:ext cx="1166075" cy="366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9" name="Google Shape;1919;p158"/>
          <p:cNvPicPr preferRelativeResize="0"/>
          <p:nvPr/>
        </p:nvPicPr>
        <p:blipFill rotWithShape="1">
          <a:blip r:embed="rId3">
            <a:alphaModFix/>
          </a:blip>
          <a:srcRect b="60240" l="12364" r="63145" t="26686"/>
          <a:stretch/>
        </p:blipFill>
        <p:spPr>
          <a:xfrm rot="5400000">
            <a:off x="5983272" y="3025218"/>
            <a:ext cx="986152" cy="43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158"/>
          <p:cNvSpPr txBox="1"/>
          <p:nvPr/>
        </p:nvSpPr>
        <p:spPr>
          <a:xfrm>
            <a:off x="324000" y="3495357"/>
            <a:ext cx="3996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Symmetry in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-values.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58"/>
          <p:cNvSpPr txBox="1"/>
          <p:nvPr/>
        </p:nvSpPr>
        <p:spPr>
          <a:xfrm>
            <a:off x="1859507" y="3918048"/>
            <a:ext cx="14397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58"/>
          <p:cNvSpPr txBox="1"/>
          <p:nvPr/>
        </p:nvSpPr>
        <p:spPr>
          <a:xfrm>
            <a:off x="1859507" y="4375248"/>
            <a:ext cx="14397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(2)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58"/>
          <p:cNvSpPr txBox="1"/>
          <p:nvPr/>
        </p:nvSpPr>
        <p:spPr>
          <a:xfrm>
            <a:off x="324000" y="3952550"/>
            <a:ext cx="1543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Because..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pic>
        <p:nvPicPr>
          <p:cNvPr id="1929" name="Google Shape;1929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044" y="805375"/>
            <a:ext cx="4519170" cy="35146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0" name="Google Shape;1930;p159"/>
          <p:cNvSpPr txBox="1"/>
          <p:nvPr/>
        </p:nvSpPr>
        <p:spPr>
          <a:xfrm>
            <a:off x="324000" y="786700"/>
            <a:ext cx="38217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plot these coordinates to see how the graph of this looks.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1" name="Google Shape;1931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2406" y="792544"/>
            <a:ext cx="4507103" cy="35146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2" name="Google Shape;1932;p159"/>
          <p:cNvSpPr/>
          <p:nvPr/>
        </p:nvSpPr>
        <p:spPr>
          <a:xfrm>
            <a:off x="4313200" y="3565850"/>
            <a:ext cx="1765500" cy="73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3" name="Google Shape;1933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9439" y="1135568"/>
            <a:ext cx="1166075" cy="366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934" name="Google Shape;1934;p159"/>
          <p:cNvCxnSpPr/>
          <p:nvPr/>
        </p:nvCxnSpPr>
        <p:spPr>
          <a:xfrm>
            <a:off x="7482488" y="548622"/>
            <a:ext cx="11400" cy="42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5" name="Google Shape;1935;p159"/>
          <p:cNvSpPr txBox="1"/>
          <p:nvPr/>
        </p:nvSpPr>
        <p:spPr>
          <a:xfrm>
            <a:off x="324000" y="2158300"/>
            <a:ext cx="38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 is like a line of symmetry reflecting each coordinate.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941" name="Google Shape;1941;p160"/>
          <p:cNvSpPr txBox="1"/>
          <p:nvPr/>
        </p:nvSpPr>
        <p:spPr>
          <a:xfrm>
            <a:off x="324000" y="789475"/>
            <a:ext cx="3683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technology will quickly plot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infinite points of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us quickly.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2" name="Google Shape;1942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044" y="805375"/>
            <a:ext cx="4519170" cy="35146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43" name="Google Shape;1943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0900" y="804051"/>
            <a:ext cx="4507103" cy="35146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44" name="Google Shape;1944;p160"/>
          <p:cNvSpPr/>
          <p:nvPr/>
        </p:nvSpPr>
        <p:spPr>
          <a:xfrm>
            <a:off x="4313200" y="3565850"/>
            <a:ext cx="1765500" cy="73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60"/>
          <p:cNvSpPr txBox="1"/>
          <p:nvPr/>
        </p:nvSpPr>
        <p:spPr>
          <a:xfrm>
            <a:off x="324000" y="2149575"/>
            <a:ext cx="22911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Type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here.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6" name="Google Shape;1946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9416" y="805375"/>
            <a:ext cx="4472251" cy="35146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947" name="Google Shape;1947;p160"/>
          <p:cNvCxnSpPr/>
          <p:nvPr/>
        </p:nvCxnSpPr>
        <p:spPr>
          <a:xfrm>
            <a:off x="7330088" y="548622"/>
            <a:ext cx="11400" cy="426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48" name="Google Shape;1948;p160"/>
          <p:cNvGrpSpPr/>
          <p:nvPr/>
        </p:nvGrpSpPr>
        <p:grpSpPr>
          <a:xfrm>
            <a:off x="4297100" y="805600"/>
            <a:ext cx="4507101" cy="3545611"/>
            <a:chOff x="4297100" y="805600"/>
            <a:chExt cx="4507101" cy="3545611"/>
          </a:xfrm>
        </p:grpSpPr>
        <p:pic>
          <p:nvPicPr>
            <p:cNvPr id="1949" name="Google Shape;1949;p16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97100" y="805600"/>
              <a:ext cx="4507101" cy="354561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50" name="Google Shape;1950;p160"/>
            <p:cNvSpPr/>
            <p:nvPr/>
          </p:nvSpPr>
          <p:spPr>
            <a:xfrm>
              <a:off x="4303125" y="1461575"/>
              <a:ext cx="1736100" cy="850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1" name="Google Shape;1951;p160"/>
          <p:cNvGrpSpPr/>
          <p:nvPr/>
        </p:nvGrpSpPr>
        <p:grpSpPr>
          <a:xfrm>
            <a:off x="2615100" y="1136725"/>
            <a:ext cx="3095477" cy="1179800"/>
            <a:chOff x="2954425" y="1035845"/>
            <a:chExt cx="3095477" cy="1181454"/>
          </a:xfrm>
        </p:grpSpPr>
        <p:cxnSp>
          <p:nvCxnSpPr>
            <p:cNvPr id="1952" name="Google Shape;1952;p160"/>
            <p:cNvCxnSpPr>
              <a:stCxn id="1945" idx="3"/>
              <a:endCxn id="1953" idx="3"/>
            </p:cNvCxnSpPr>
            <p:nvPr/>
          </p:nvCxnSpPr>
          <p:spPr>
            <a:xfrm flipH="1" rot="10800000">
              <a:off x="2954425" y="1273499"/>
              <a:ext cx="2092800" cy="943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3" name="Google Shape;1953;p160"/>
            <p:cNvSpPr/>
            <p:nvPr/>
          </p:nvSpPr>
          <p:spPr>
            <a:xfrm>
              <a:off x="4875102" y="1035845"/>
              <a:ext cx="1174800" cy="2784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4" name="Google Shape;1954;p160"/>
          <p:cNvSpPr txBox="1"/>
          <p:nvPr/>
        </p:nvSpPr>
        <p:spPr>
          <a:xfrm>
            <a:off x="324000" y="2835375"/>
            <a:ext cx="22911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Typing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^2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will generate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5" name="Google Shape;1955;p160"/>
          <p:cNvSpPr txBox="1"/>
          <p:nvPr/>
        </p:nvSpPr>
        <p:spPr>
          <a:xfrm>
            <a:off x="324000" y="3825975"/>
            <a:ext cx="22911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^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‘shift’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most keyboards.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961" name="Google Shape;1961;p161"/>
          <p:cNvSpPr txBox="1"/>
          <p:nvPr/>
        </p:nvSpPr>
        <p:spPr>
          <a:xfrm>
            <a:off x="324000" y="789475"/>
            <a:ext cx="3683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technology will quickly plot the infinite points of the equation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us quickly.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2" name="Google Shape;1962;p161"/>
          <p:cNvGrpSpPr/>
          <p:nvPr/>
        </p:nvGrpSpPr>
        <p:grpSpPr>
          <a:xfrm>
            <a:off x="4343138" y="828838"/>
            <a:ext cx="4444198" cy="3498925"/>
            <a:chOff x="4343138" y="828838"/>
            <a:chExt cx="4444198" cy="3498925"/>
          </a:xfrm>
        </p:grpSpPr>
        <p:pic>
          <p:nvPicPr>
            <p:cNvPr id="1963" name="Google Shape;1963;p1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3138" y="828838"/>
              <a:ext cx="4444198" cy="3498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64" name="Google Shape;1964;p161"/>
            <p:cNvSpPr/>
            <p:nvPr/>
          </p:nvSpPr>
          <p:spPr>
            <a:xfrm>
              <a:off x="4347725" y="1550125"/>
              <a:ext cx="17361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5" name="Google Shape;1965;p161"/>
          <p:cNvSpPr txBox="1"/>
          <p:nvPr/>
        </p:nvSpPr>
        <p:spPr>
          <a:xfrm>
            <a:off x="324000" y="2084855"/>
            <a:ext cx="32922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graph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forms a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This is a special curve, symmetrical and bowl-like in appearance.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62"/>
          <p:cNvSpPr/>
          <p:nvPr/>
        </p:nvSpPr>
        <p:spPr>
          <a:xfrm>
            <a:off x="218193" y="3981957"/>
            <a:ext cx="1554600" cy="495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62"/>
          <p:cNvSpPr/>
          <p:nvPr/>
        </p:nvSpPr>
        <p:spPr>
          <a:xfrm>
            <a:off x="252713" y="3448550"/>
            <a:ext cx="981600" cy="495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973" name="Google Shape;1973;p162"/>
          <p:cNvSpPr txBox="1"/>
          <p:nvPr/>
        </p:nvSpPr>
        <p:spPr>
          <a:xfrm>
            <a:off x="324000" y="812475"/>
            <a:ext cx="3045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graph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forms a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a special, symmetrical curve.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4" name="Google Shape;1974;p162"/>
          <p:cNvGrpSpPr/>
          <p:nvPr/>
        </p:nvGrpSpPr>
        <p:grpSpPr>
          <a:xfrm>
            <a:off x="4343138" y="828838"/>
            <a:ext cx="4444198" cy="3498925"/>
            <a:chOff x="4343138" y="828838"/>
            <a:chExt cx="4444198" cy="3498925"/>
          </a:xfrm>
        </p:grpSpPr>
        <p:pic>
          <p:nvPicPr>
            <p:cNvPr id="1975" name="Google Shape;1975;p1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3138" y="828838"/>
              <a:ext cx="4444198" cy="3498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76" name="Google Shape;1976;p162"/>
            <p:cNvSpPr/>
            <p:nvPr/>
          </p:nvSpPr>
          <p:spPr>
            <a:xfrm>
              <a:off x="4347725" y="1550125"/>
              <a:ext cx="1736100" cy="73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7" name="Google Shape;1977;p162"/>
          <p:cNvSpPr txBox="1"/>
          <p:nvPr/>
        </p:nvSpPr>
        <p:spPr>
          <a:xfrm>
            <a:off x="324000" y="2169750"/>
            <a:ext cx="3683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Will these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graphs form other, different, special shapes?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8" name="Google Shape;1978;p162"/>
          <p:cNvSpPr txBox="1"/>
          <p:nvPr/>
        </p:nvSpPr>
        <p:spPr>
          <a:xfrm>
            <a:off x="324000" y="2961934"/>
            <a:ext cx="1163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9" name="Google Shape;1979;p162"/>
          <p:cNvSpPr txBox="1"/>
          <p:nvPr/>
        </p:nvSpPr>
        <p:spPr>
          <a:xfrm>
            <a:off x="324000" y="3506850"/>
            <a:ext cx="8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0" name="Google Shape;1980;p162"/>
          <p:cNvSpPr txBox="1"/>
          <p:nvPr/>
        </p:nvSpPr>
        <p:spPr>
          <a:xfrm>
            <a:off x="324000" y="4040250"/>
            <a:ext cx="1293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81" name="Google Shape;1981;p162"/>
          <p:cNvGrpSpPr/>
          <p:nvPr/>
        </p:nvGrpSpPr>
        <p:grpSpPr>
          <a:xfrm>
            <a:off x="4147806" y="825050"/>
            <a:ext cx="4645293" cy="3498924"/>
            <a:chOff x="4147806" y="825050"/>
            <a:chExt cx="4645293" cy="3498924"/>
          </a:xfrm>
        </p:grpSpPr>
        <p:pic>
          <p:nvPicPr>
            <p:cNvPr id="1982" name="Google Shape;1982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47806" y="825050"/>
              <a:ext cx="4645293" cy="34989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83" name="Google Shape;1983;p162"/>
            <p:cNvSpPr/>
            <p:nvPr/>
          </p:nvSpPr>
          <p:spPr>
            <a:xfrm>
              <a:off x="4166432" y="1538669"/>
              <a:ext cx="1798500" cy="2769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4" name="Google Shape;1984;p162"/>
          <p:cNvSpPr/>
          <p:nvPr/>
        </p:nvSpPr>
        <p:spPr>
          <a:xfrm>
            <a:off x="169354" y="2915157"/>
            <a:ext cx="1448100" cy="49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5" name="Google Shape;1985;p162"/>
          <p:cNvGrpSpPr/>
          <p:nvPr/>
        </p:nvGrpSpPr>
        <p:grpSpPr>
          <a:xfrm>
            <a:off x="4162168" y="830082"/>
            <a:ext cx="4622918" cy="3498925"/>
            <a:chOff x="4162168" y="830082"/>
            <a:chExt cx="4622918" cy="3498925"/>
          </a:xfrm>
        </p:grpSpPr>
        <p:pic>
          <p:nvPicPr>
            <p:cNvPr id="1986" name="Google Shape;1986;p1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62168" y="830082"/>
              <a:ext cx="4622918" cy="3498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87" name="Google Shape;1987;p162"/>
            <p:cNvSpPr/>
            <p:nvPr/>
          </p:nvSpPr>
          <p:spPr>
            <a:xfrm>
              <a:off x="4173591" y="1538669"/>
              <a:ext cx="1798500" cy="2769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8" name="Google Shape;1988;p162"/>
          <p:cNvGrpSpPr/>
          <p:nvPr/>
        </p:nvGrpSpPr>
        <p:grpSpPr>
          <a:xfrm>
            <a:off x="4165247" y="817644"/>
            <a:ext cx="4634969" cy="3498925"/>
            <a:chOff x="4165247" y="817644"/>
            <a:chExt cx="4634969" cy="3498925"/>
          </a:xfrm>
        </p:grpSpPr>
        <p:pic>
          <p:nvPicPr>
            <p:cNvPr id="1989" name="Google Shape;1989;p16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65247" y="817644"/>
              <a:ext cx="4634969" cy="3498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90" name="Google Shape;1990;p162"/>
            <p:cNvSpPr/>
            <p:nvPr/>
          </p:nvSpPr>
          <p:spPr>
            <a:xfrm>
              <a:off x="4175126" y="1538669"/>
              <a:ext cx="1798500" cy="2769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5" name="Google Shape;1995;p163"/>
          <p:cNvGrpSpPr/>
          <p:nvPr/>
        </p:nvGrpSpPr>
        <p:grpSpPr>
          <a:xfrm>
            <a:off x="4150925" y="824425"/>
            <a:ext cx="4645300" cy="3507410"/>
            <a:chOff x="4150925" y="824425"/>
            <a:chExt cx="4645300" cy="3507410"/>
          </a:xfrm>
        </p:grpSpPr>
        <p:pic>
          <p:nvPicPr>
            <p:cNvPr id="1996" name="Google Shape;1996;p1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50925" y="824425"/>
              <a:ext cx="4645300" cy="35074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97" name="Google Shape;1997;p163"/>
            <p:cNvSpPr/>
            <p:nvPr/>
          </p:nvSpPr>
          <p:spPr>
            <a:xfrm>
              <a:off x="4166425" y="2783250"/>
              <a:ext cx="1798500" cy="1524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8" name="Google Shape;1998;p16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1999" name="Google Shape;1999;p163"/>
          <p:cNvSpPr txBox="1"/>
          <p:nvPr/>
        </p:nvSpPr>
        <p:spPr>
          <a:xfrm>
            <a:off x="324000" y="812475"/>
            <a:ext cx="3045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graph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forms a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a special, symmetrical curve.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0" name="Google Shape;2000;p163"/>
          <p:cNvSpPr txBox="1"/>
          <p:nvPr/>
        </p:nvSpPr>
        <p:spPr>
          <a:xfrm>
            <a:off x="324000" y="2169750"/>
            <a:ext cx="3683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Will these graphs form other, different, special shapes?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1" name="Google Shape;2001;p163"/>
          <p:cNvSpPr txBox="1"/>
          <p:nvPr/>
        </p:nvSpPr>
        <p:spPr>
          <a:xfrm>
            <a:off x="324000" y="2961934"/>
            <a:ext cx="1163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p163"/>
          <p:cNvSpPr txBox="1"/>
          <p:nvPr/>
        </p:nvSpPr>
        <p:spPr>
          <a:xfrm>
            <a:off x="324000" y="3506850"/>
            <a:ext cx="8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3" name="Google Shape;2003;p163"/>
          <p:cNvSpPr txBox="1"/>
          <p:nvPr/>
        </p:nvSpPr>
        <p:spPr>
          <a:xfrm>
            <a:off x="324000" y="4040250"/>
            <a:ext cx="1293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4" name="Google Shape;2004;p163"/>
          <p:cNvSpPr txBox="1"/>
          <p:nvPr/>
        </p:nvSpPr>
        <p:spPr>
          <a:xfrm>
            <a:off x="324000" y="4476410"/>
            <a:ext cx="7641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They all form the same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special shape;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16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010" name="Google Shape;2010;p164"/>
          <p:cNvSpPr txBox="1"/>
          <p:nvPr/>
        </p:nvSpPr>
        <p:spPr>
          <a:xfrm>
            <a:off x="324000" y="789450"/>
            <a:ext cx="73197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graph of the line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forms a __________.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164"/>
          <p:cNvSpPr txBox="1"/>
          <p:nvPr>
            <p:ph idx="1" type="subTitle"/>
          </p:nvPr>
        </p:nvSpPr>
        <p:spPr>
          <a:xfrm>
            <a:off x="1034425" y="18377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straight line.</a:t>
            </a:r>
            <a:endParaRPr/>
          </a:p>
        </p:txBody>
      </p:sp>
      <p:sp>
        <p:nvSpPr>
          <p:cNvPr id="2012" name="Google Shape;2012;p164"/>
          <p:cNvSpPr txBox="1"/>
          <p:nvPr>
            <p:ph idx="3" type="subTitle"/>
          </p:nvPr>
        </p:nvSpPr>
        <p:spPr>
          <a:xfrm>
            <a:off x="1034425" y="2794251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circle.</a:t>
            </a:r>
            <a:endParaRPr/>
          </a:p>
        </p:txBody>
      </p:sp>
      <p:sp>
        <p:nvSpPr>
          <p:cNvPr id="2013" name="Google Shape;2013;p164"/>
          <p:cNvSpPr txBox="1"/>
          <p:nvPr>
            <p:ph idx="4" type="subTitle"/>
          </p:nvPr>
        </p:nvSpPr>
        <p:spPr>
          <a:xfrm>
            <a:off x="1034425" y="3766974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</a:t>
            </a:r>
            <a:r>
              <a:rPr b="1" lang="en-GB"/>
              <a:t>arabola</a:t>
            </a:r>
            <a:r>
              <a:rPr lang="en-GB"/>
              <a:t>.</a:t>
            </a:r>
            <a:endParaRPr/>
          </a:p>
        </p:txBody>
      </p:sp>
      <p:pic>
        <p:nvPicPr>
          <p:cNvPr id="2014" name="Google Shape;2014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8666" y="1196683"/>
            <a:ext cx="2443560" cy="360033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5" name="Google Shape;2015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7783" y="373513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4058" y="181829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7" name="Google Shape;2017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2325" y="2755710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2" name="Google Shape;2022;p165"/>
          <p:cNvGrpSpPr/>
          <p:nvPr/>
        </p:nvGrpSpPr>
        <p:grpSpPr>
          <a:xfrm>
            <a:off x="3984452" y="1406599"/>
            <a:ext cx="4814623" cy="2929225"/>
            <a:chOff x="3984452" y="1406599"/>
            <a:chExt cx="4814623" cy="2929225"/>
          </a:xfrm>
        </p:grpSpPr>
        <p:pic>
          <p:nvPicPr>
            <p:cNvPr id="2023" name="Google Shape;2023;p1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84452" y="1406599"/>
              <a:ext cx="4814623" cy="29292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24" name="Google Shape;2024;p165"/>
            <p:cNvSpPr/>
            <p:nvPr/>
          </p:nvSpPr>
          <p:spPr>
            <a:xfrm>
              <a:off x="3998175" y="2008450"/>
              <a:ext cx="1574100" cy="231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25" name="Google Shape;2025;p16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026" name="Google Shape;2026;p165"/>
          <p:cNvSpPr txBox="1"/>
          <p:nvPr/>
        </p:nvSpPr>
        <p:spPr>
          <a:xfrm>
            <a:off x="324000" y="812475"/>
            <a:ext cx="71352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It is a special type of equation which forms 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165"/>
          <p:cNvSpPr txBox="1"/>
          <p:nvPr/>
        </p:nvSpPr>
        <p:spPr>
          <a:xfrm>
            <a:off x="324000" y="2306307"/>
            <a:ext cx="1163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165"/>
          <p:cNvSpPr txBox="1"/>
          <p:nvPr/>
        </p:nvSpPr>
        <p:spPr>
          <a:xfrm>
            <a:off x="324000" y="2906573"/>
            <a:ext cx="8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9" name="Google Shape;2029;p165"/>
          <p:cNvSpPr txBox="1"/>
          <p:nvPr/>
        </p:nvSpPr>
        <p:spPr>
          <a:xfrm>
            <a:off x="324000" y="3506838"/>
            <a:ext cx="910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165"/>
          <p:cNvSpPr txBox="1"/>
          <p:nvPr/>
        </p:nvSpPr>
        <p:spPr>
          <a:xfrm>
            <a:off x="324000" y="1368900"/>
            <a:ext cx="3045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hat shape do each of these equations make?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165"/>
          <p:cNvSpPr txBox="1"/>
          <p:nvPr/>
        </p:nvSpPr>
        <p:spPr>
          <a:xfrm>
            <a:off x="1676934" y="2345220"/>
            <a:ext cx="1425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Straight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line.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2" name="Google Shape;2032;p165"/>
          <p:cNvSpPr txBox="1"/>
          <p:nvPr/>
        </p:nvSpPr>
        <p:spPr>
          <a:xfrm>
            <a:off x="1688440" y="2943313"/>
            <a:ext cx="1425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3" name="Google Shape;2033;p165"/>
          <p:cNvSpPr txBox="1"/>
          <p:nvPr/>
        </p:nvSpPr>
        <p:spPr>
          <a:xfrm>
            <a:off x="1676934" y="3552913"/>
            <a:ext cx="1425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Cubic curve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34" name="Google Shape;2034;p165"/>
          <p:cNvGrpSpPr/>
          <p:nvPr/>
        </p:nvGrpSpPr>
        <p:grpSpPr>
          <a:xfrm>
            <a:off x="4001111" y="1394500"/>
            <a:ext cx="4795387" cy="2929226"/>
            <a:chOff x="4001111" y="1394500"/>
            <a:chExt cx="4795387" cy="2929226"/>
          </a:xfrm>
        </p:grpSpPr>
        <p:pic>
          <p:nvPicPr>
            <p:cNvPr id="2035" name="Google Shape;2035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1111" y="1394500"/>
              <a:ext cx="4795387" cy="292922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36" name="Google Shape;2036;p165"/>
            <p:cNvSpPr/>
            <p:nvPr/>
          </p:nvSpPr>
          <p:spPr>
            <a:xfrm>
              <a:off x="4005335" y="2001290"/>
              <a:ext cx="1574100" cy="231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7" name="Google Shape;2037;p165"/>
          <p:cNvGrpSpPr/>
          <p:nvPr/>
        </p:nvGrpSpPr>
        <p:grpSpPr>
          <a:xfrm>
            <a:off x="3998282" y="1401201"/>
            <a:ext cx="4795402" cy="2929245"/>
            <a:chOff x="3998282" y="1401201"/>
            <a:chExt cx="4795402" cy="2929245"/>
          </a:xfrm>
        </p:grpSpPr>
        <p:pic>
          <p:nvPicPr>
            <p:cNvPr id="2038" name="Google Shape;2038;p16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98282" y="1401201"/>
              <a:ext cx="4795402" cy="292924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39" name="Google Shape;2039;p165"/>
            <p:cNvSpPr/>
            <p:nvPr/>
          </p:nvSpPr>
          <p:spPr>
            <a:xfrm>
              <a:off x="4005335" y="2005637"/>
              <a:ext cx="1574100" cy="231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66"/>
          <p:cNvSpPr txBox="1"/>
          <p:nvPr>
            <p:ph idx="1" type="body"/>
          </p:nvPr>
        </p:nvSpPr>
        <p:spPr>
          <a:xfrm>
            <a:off x="324000" y="759300"/>
            <a:ext cx="8237700" cy="7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Categorise these equations into </a:t>
            </a:r>
            <a:r>
              <a:rPr b="1" lang="en-GB"/>
              <a:t>quadratic</a:t>
            </a:r>
            <a:r>
              <a:rPr lang="en-GB"/>
              <a:t>, linear, and ‘other’.</a:t>
            </a:r>
            <a:endParaRPr/>
          </a:p>
        </p:txBody>
      </p:sp>
      <p:sp>
        <p:nvSpPr>
          <p:cNvPr id="2045" name="Google Shape;2045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046" name="Google Shape;2046;p166"/>
          <p:cNvSpPr txBox="1"/>
          <p:nvPr>
            <p:ph idx="4294967295" type="subTitle"/>
          </p:nvPr>
        </p:nvSpPr>
        <p:spPr>
          <a:xfrm>
            <a:off x="348625" y="1551641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/>
              <a:t> </a:t>
            </a:r>
            <a:r>
              <a:rPr lang="en-GB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047" name="Google Shape;2047;p166"/>
          <p:cNvSpPr txBox="1"/>
          <p:nvPr>
            <p:ph idx="4294967295" type="subTitle"/>
          </p:nvPr>
        </p:nvSpPr>
        <p:spPr>
          <a:xfrm>
            <a:off x="3362105" y="1551641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048" name="Google Shape;2048;p166"/>
          <p:cNvSpPr txBox="1"/>
          <p:nvPr>
            <p:ph idx="4294967295" type="subTitle"/>
          </p:nvPr>
        </p:nvSpPr>
        <p:spPr>
          <a:xfrm>
            <a:off x="6250545" y="1551641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049" name="Google Shape;2049;p166"/>
          <p:cNvSpPr txBox="1"/>
          <p:nvPr>
            <p:ph idx="4294967295" type="subTitle"/>
          </p:nvPr>
        </p:nvSpPr>
        <p:spPr>
          <a:xfrm>
            <a:off x="348625" y="2237432"/>
            <a:ext cx="208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/>
          </a:p>
        </p:txBody>
      </p:sp>
      <p:sp>
        <p:nvSpPr>
          <p:cNvPr id="2050" name="Google Shape;2050;p166"/>
          <p:cNvSpPr txBox="1"/>
          <p:nvPr>
            <p:ph idx="4294967295" type="subTitle"/>
          </p:nvPr>
        </p:nvSpPr>
        <p:spPr>
          <a:xfrm>
            <a:off x="3362100" y="2237432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051" name="Google Shape;2051;p166"/>
          <p:cNvSpPr txBox="1"/>
          <p:nvPr>
            <p:ph idx="4294967295" type="subTitle"/>
          </p:nvPr>
        </p:nvSpPr>
        <p:spPr>
          <a:xfrm>
            <a:off x="6250550" y="2237432"/>
            <a:ext cx="208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/>
          </a:p>
        </p:txBody>
      </p:sp>
      <p:sp>
        <p:nvSpPr>
          <p:cNvPr id="2052" name="Google Shape;2052;p166"/>
          <p:cNvSpPr txBox="1"/>
          <p:nvPr>
            <p:ph idx="4294967295" type="subTitle"/>
          </p:nvPr>
        </p:nvSpPr>
        <p:spPr>
          <a:xfrm>
            <a:off x="348625" y="2923241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053" name="Google Shape;2053;p166"/>
          <p:cNvSpPr txBox="1"/>
          <p:nvPr>
            <p:ph idx="4294967295" type="subTitle"/>
          </p:nvPr>
        </p:nvSpPr>
        <p:spPr>
          <a:xfrm>
            <a:off x="3362105" y="2923241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054" name="Google Shape;2054;p166"/>
          <p:cNvSpPr txBox="1"/>
          <p:nvPr>
            <p:ph idx="4294967295" type="subTitle"/>
          </p:nvPr>
        </p:nvSpPr>
        <p:spPr>
          <a:xfrm>
            <a:off x="6250545" y="2923241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055" name="Google Shape;2055;p166"/>
          <p:cNvSpPr txBox="1"/>
          <p:nvPr>
            <p:ph idx="4294967295" type="subTitle"/>
          </p:nvPr>
        </p:nvSpPr>
        <p:spPr>
          <a:xfrm>
            <a:off x="348625" y="3609032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/>
          </a:p>
        </p:txBody>
      </p:sp>
      <p:sp>
        <p:nvSpPr>
          <p:cNvPr id="2056" name="Google Shape;2056;p166"/>
          <p:cNvSpPr txBox="1"/>
          <p:nvPr>
            <p:ph idx="4294967295" type="subTitle"/>
          </p:nvPr>
        </p:nvSpPr>
        <p:spPr>
          <a:xfrm>
            <a:off x="3362099" y="3609032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/>
          </a:p>
        </p:txBody>
      </p:sp>
      <p:sp>
        <p:nvSpPr>
          <p:cNvPr id="2057" name="Google Shape;2057;p166"/>
          <p:cNvSpPr txBox="1"/>
          <p:nvPr>
            <p:ph idx="4294967295" type="subTitle"/>
          </p:nvPr>
        </p:nvSpPr>
        <p:spPr>
          <a:xfrm>
            <a:off x="6250551" y="3609032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058" name="Google Shape;2058;p166"/>
          <p:cNvSpPr txBox="1"/>
          <p:nvPr>
            <p:ph idx="1" type="body"/>
          </p:nvPr>
        </p:nvSpPr>
        <p:spPr>
          <a:xfrm>
            <a:off x="324000" y="4107650"/>
            <a:ext cx="8237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Hint: Use </a:t>
            </a:r>
            <a:r>
              <a:rPr lang="en-GB">
                <a:solidFill>
                  <a:schemeClr val="accent5"/>
                </a:solidFill>
              </a:rPr>
              <a:t>Desmos</a:t>
            </a:r>
            <a:r>
              <a:rPr lang="en-GB"/>
              <a:t> to check if you’re unsure. If the graph forms a </a:t>
            </a:r>
            <a:r>
              <a:rPr b="1" lang="en-GB"/>
              <a:t>parabola</a:t>
            </a:r>
            <a:r>
              <a:rPr lang="en-GB"/>
              <a:t> it is </a:t>
            </a:r>
            <a:r>
              <a:rPr b="1" lang="en-GB"/>
              <a:t>quadratic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67"/>
          <p:cNvSpPr txBox="1"/>
          <p:nvPr>
            <p:ph idx="1" type="body"/>
          </p:nvPr>
        </p:nvSpPr>
        <p:spPr>
          <a:xfrm>
            <a:off x="324000" y="759300"/>
            <a:ext cx="8237700" cy="7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Use technology to plot the graphs of these quadratic </a:t>
            </a:r>
            <a:r>
              <a:rPr b="1" lang="en-GB"/>
              <a:t>equations</a:t>
            </a:r>
            <a:r>
              <a:rPr lang="en-GB"/>
              <a:t>. They all form </a:t>
            </a:r>
            <a:r>
              <a:rPr b="1" lang="en-GB"/>
              <a:t>parabolas</a:t>
            </a:r>
            <a:r>
              <a:rPr lang="en-GB"/>
              <a:t>. Spot the odd one out.</a:t>
            </a:r>
            <a:endParaRPr/>
          </a:p>
        </p:txBody>
      </p:sp>
      <p:sp>
        <p:nvSpPr>
          <p:cNvPr id="2064" name="Google Shape;2064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065" name="Google Shape;2065;p167"/>
          <p:cNvSpPr txBox="1"/>
          <p:nvPr>
            <p:ph idx="4294967295" type="subTitle"/>
          </p:nvPr>
        </p:nvSpPr>
        <p:spPr>
          <a:xfrm>
            <a:off x="348625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2066" name="Google Shape;2066;p167"/>
          <p:cNvSpPr txBox="1"/>
          <p:nvPr>
            <p:ph idx="4294967295" type="subTitle"/>
          </p:nvPr>
        </p:nvSpPr>
        <p:spPr>
          <a:xfrm>
            <a:off x="4686740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2067" name="Google Shape;2067;p167"/>
          <p:cNvSpPr txBox="1"/>
          <p:nvPr>
            <p:ph idx="4294967295" type="subTitle"/>
          </p:nvPr>
        </p:nvSpPr>
        <p:spPr>
          <a:xfrm>
            <a:off x="2517683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068" name="Google Shape;2068;p167"/>
          <p:cNvSpPr txBox="1"/>
          <p:nvPr>
            <p:ph idx="4294967295" type="subTitle"/>
          </p:nvPr>
        </p:nvSpPr>
        <p:spPr>
          <a:xfrm>
            <a:off x="6855798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68"/>
          <p:cNvSpPr/>
          <p:nvPr/>
        </p:nvSpPr>
        <p:spPr>
          <a:xfrm>
            <a:off x="348350" y="3424520"/>
            <a:ext cx="8471700" cy="988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68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Categorise these equations into </a:t>
            </a:r>
            <a:r>
              <a:rPr b="1" lang="en-GB" sz="2100"/>
              <a:t>quadratic</a:t>
            </a:r>
            <a:r>
              <a:rPr lang="en-GB" sz="2100"/>
              <a:t>, linear, and ‘other’.</a:t>
            </a:r>
            <a:endParaRPr sz="2100"/>
          </a:p>
        </p:txBody>
      </p:sp>
      <p:sp>
        <p:nvSpPr>
          <p:cNvPr id="2075" name="Google Shape;2075;p1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076" name="Google Shape;2076;p168"/>
          <p:cNvSpPr/>
          <p:nvPr/>
        </p:nvSpPr>
        <p:spPr>
          <a:xfrm>
            <a:off x="348350" y="1168450"/>
            <a:ext cx="8471700" cy="988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68"/>
          <p:cNvSpPr/>
          <p:nvPr/>
        </p:nvSpPr>
        <p:spPr>
          <a:xfrm>
            <a:off x="348350" y="2293927"/>
            <a:ext cx="8471700" cy="988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68"/>
          <p:cNvSpPr txBox="1"/>
          <p:nvPr/>
        </p:nvSpPr>
        <p:spPr>
          <a:xfrm>
            <a:off x="381507" y="1186375"/>
            <a:ext cx="11232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uadratic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9" name="Google Shape;2079;p168"/>
          <p:cNvSpPr txBox="1"/>
          <p:nvPr/>
        </p:nvSpPr>
        <p:spPr>
          <a:xfrm>
            <a:off x="393014" y="2329375"/>
            <a:ext cx="7422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Linear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0" name="Google Shape;2080;p168"/>
          <p:cNvSpPr txBox="1"/>
          <p:nvPr/>
        </p:nvSpPr>
        <p:spPr>
          <a:xfrm>
            <a:off x="370001" y="3449362"/>
            <a:ext cx="7422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‘Other’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1" name="Google Shape;2081;p168"/>
          <p:cNvSpPr txBox="1"/>
          <p:nvPr>
            <p:ph idx="4294967295" type="subTitle"/>
          </p:nvPr>
        </p:nvSpPr>
        <p:spPr>
          <a:xfrm>
            <a:off x="1685705" y="23021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082" name="Google Shape;2082;p168"/>
          <p:cNvSpPr txBox="1"/>
          <p:nvPr>
            <p:ph idx="4294967295" type="subTitle"/>
          </p:nvPr>
        </p:nvSpPr>
        <p:spPr>
          <a:xfrm>
            <a:off x="1685705" y="1189308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083" name="Google Shape;2083;p168"/>
          <p:cNvSpPr txBox="1"/>
          <p:nvPr>
            <p:ph idx="4294967295" type="subTitle"/>
          </p:nvPr>
        </p:nvSpPr>
        <p:spPr>
          <a:xfrm>
            <a:off x="1701559" y="3447947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084" name="Google Shape;2084;p168"/>
          <p:cNvSpPr txBox="1"/>
          <p:nvPr>
            <p:ph idx="4294967295" type="subTitle"/>
          </p:nvPr>
        </p:nvSpPr>
        <p:spPr>
          <a:xfrm>
            <a:off x="4017732" y="1182138"/>
            <a:ext cx="208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/>
          </a:p>
        </p:txBody>
      </p:sp>
      <p:sp>
        <p:nvSpPr>
          <p:cNvPr id="2085" name="Google Shape;2085;p168"/>
          <p:cNvSpPr txBox="1"/>
          <p:nvPr>
            <p:ph idx="4294967295" type="subTitle"/>
          </p:nvPr>
        </p:nvSpPr>
        <p:spPr>
          <a:xfrm>
            <a:off x="6253353" y="1182138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086" name="Google Shape;2086;p168"/>
          <p:cNvSpPr txBox="1"/>
          <p:nvPr>
            <p:ph idx="4294967295" type="subTitle"/>
          </p:nvPr>
        </p:nvSpPr>
        <p:spPr>
          <a:xfrm>
            <a:off x="1678550" y="1616325"/>
            <a:ext cx="208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/>
          </a:p>
        </p:txBody>
      </p:sp>
      <p:sp>
        <p:nvSpPr>
          <p:cNvPr id="2087" name="Google Shape;2087;p168"/>
          <p:cNvSpPr txBox="1"/>
          <p:nvPr>
            <p:ph idx="4294967295" type="subTitle"/>
          </p:nvPr>
        </p:nvSpPr>
        <p:spPr>
          <a:xfrm>
            <a:off x="4013385" y="23021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088" name="Google Shape;2088;p168"/>
          <p:cNvSpPr txBox="1"/>
          <p:nvPr>
            <p:ph idx="4294967295" type="subTitle"/>
          </p:nvPr>
        </p:nvSpPr>
        <p:spPr>
          <a:xfrm>
            <a:off x="4024891" y="16163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089" name="Google Shape;2089;p168"/>
          <p:cNvSpPr txBox="1"/>
          <p:nvPr>
            <p:ph idx="4294967295" type="subTitle"/>
          </p:nvPr>
        </p:nvSpPr>
        <p:spPr>
          <a:xfrm>
            <a:off x="4116945" y="34451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090" name="Google Shape;2090;p168"/>
          <p:cNvSpPr txBox="1"/>
          <p:nvPr>
            <p:ph idx="4294967295" type="subTitle"/>
          </p:nvPr>
        </p:nvSpPr>
        <p:spPr>
          <a:xfrm>
            <a:off x="6266399" y="2309285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/>
          </a:p>
        </p:txBody>
      </p:sp>
      <p:sp>
        <p:nvSpPr>
          <p:cNvPr id="2091" name="Google Shape;2091;p168"/>
          <p:cNvSpPr txBox="1"/>
          <p:nvPr>
            <p:ph idx="4294967295" type="subTitle"/>
          </p:nvPr>
        </p:nvSpPr>
        <p:spPr>
          <a:xfrm>
            <a:off x="6246193" y="1616325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/>
          </a:p>
        </p:txBody>
      </p:sp>
      <p:sp>
        <p:nvSpPr>
          <p:cNvPr id="2092" name="Google Shape;2092;p168"/>
          <p:cNvSpPr txBox="1"/>
          <p:nvPr>
            <p:ph idx="4294967295" type="subTitle"/>
          </p:nvPr>
        </p:nvSpPr>
        <p:spPr>
          <a:xfrm>
            <a:off x="6250551" y="3445125"/>
            <a:ext cx="177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169"/>
          <p:cNvSpPr/>
          <p:nvPr/>
        </p:nvSpPr>
        <p:spPr>
          <a:xfrm>
            <a:off x="325325" y="1602900"/>
            <a:ext cx="3659100" cy="329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69"/>
          <p:cNvSpPr txBox="1"/>
          <p:nvPr>
            <p:ph idx="1" type="body"/>
          </p:nvPr>
        </p:nvSpPr>
        <p:spPr>
          <a:xfrm>
            <a:off x="324000" y="759300"/>
            <a:ext cx="82377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Use technology to plot the graphs of these quadratic </a:t>
            </a:r>
            <a:r>
              <a:rPr b="1" lang="en-GB"/>
              <a:t>equations</a:t>
            </a:r>
            <a:r>
              <a:rPr lang="en-GB"/>
              <a:t>. They all form </a:t>
            </a:r>
            <a:r>
              <a:rPr b="1" lang="en-GB"/>
              <a:t>parabolas</a:t>
            </a:r>
            <a:r>
              <a:rPr lang="en-GB"/>
              <a:t>. Spot the odd one out.</a:t>
            </a:r>
            <a:endParaRPr/>
          </a:p>
        </p:txBody>
      </p:sp>
      <p:sp>
        <p:nvSpPr>
          <p:cNvPr id="2099" name="Google Shape;2099;p16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100" name="Google Shape;2100;p169"/>
          <p:cNvSpPr txBox="1"/>
          <p:nvPr>
            <p:ph idx="4294967295" type="subTitle"/>
          </p:nvPr>
        </p:nvSpPr>
        <p:spPr>
          <a:xfrm>
            <a:off x="436332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2101" name="Google Shape;2101;p169"/>
          <p:cNvSpPr txBox="1"/>
          <p:nvPr>
            <p:ph idx="4294967295" type="subTitle"/>
          </p:nvPr>
        </p:nvSpPr>
        <p:spPr>
          <a:xfrm>
            <a:off x="4230478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2102" name="Google Shape;2102;p169"/>
          <p:cNvSpPr txBox="1"/>
          <p:nvPr>
            <p:ph idx="4294967295" type="subTitle"/>
          </p:nvPr>
        </p:nvSpPr>
        <p:spPr>
          <a:xfrm>
            <a:off x="2329825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03" name="Google Shape;2103;p169"/>
          <p:cNvSpPr txBox="1"/>
          <p:nvPr>
            <p:ph idx="4294967295" type="subTitle"/>
          </p:nvPr>
        </p:nvSpPr>
        <p:spPr>
          <a:xfrm>
            <a:off x="6269212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04" name="Google Shape;2104;p169"/>
          <p:cNvSpPr txBox="1"/>
          <p:nvPr/>
        </p:nvSpPr>
        <p:spPr>
          <a:xfrm>
            <a:off x="2344080" y="2234500"/>
            <a:ext cx="14541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a) and b) Addition is commutative, hence the same graph.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05" name="Google Shape;2105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56" y="2159998"/>
            <a:ext cx="1662455" cy="265135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6" name="Google Shape;2106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1035" y="2153693"/>
            <a:ext cx="1662449" cy="26602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7" name="Google Shape;2107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475" y="2169525"/>
            <a:ext cx="1662449" cy="263718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170"/>
          <p:cNvSpPr txBox="1"/>
          <p:nvPr>
            <p:ph idx="1" type="body"/>
          </p:nvPr>
        </p:nvSpPr>
        <p:spPr>
          <a:xfrm>
            <a:off x="324000" y="759300"/>
            <a:ext cx="82377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Use technology to plot the graphs of these quadratic </a:t>
            </a:r>
            <a:r>
              <a:rPr b="1" lang="en-GB"/>
              <a:t>equations</a:t>
            </a:r>
            <a:r>
              <a:rPr lang="en-GB"/>
              <a:t>. They all form </a:t>
            </a:r>
            <a:r>
              <a:rPr b="1" lang="en-GB"/>
              <a:t>parabolas</a:t>
            </a:r>
            <a:r>
              <a:rPr lang="en-GB"/>
              <a:t>. Spot the odd one out.</a:t>
            </a:r>
            <a:endParaRPr/>
          </a:p>
        </p:txBody>
      </p:sp>
      <p:sp>
        <p:nvSpPr>
          <p:cNvPr id="2113" name="Google Shape;2113;p17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114" name="Google Shape;2114;p170"/>
          <p:cNvSpPr txBox="1"/>
          <p:nvPr>
            <p:ph idx="4294967295" type="subTitle"/>
          </p:nvPr>
        </p:nvSpPr>
        <p:spPr>
          <a:xfrm>
            <a:off x="436332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2115" name="Google Shape;2115;p170"/>
          <p:cNvSpPr txBox="1"/>
          <p:nvPr>
            <p:ph idx="4294967295" type="subTitle"/>
          </p:nvPr>
        </p:nvSpPr>
        <p:spPr>
          <a:xfrm>
            <a:off x="4230478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2116" name="Google Shape;2116;p170"/>
          <p:cNvSpPr txBox="1"/>
          <p:nvPr>
            <p:ph idx="4294967295" type="subTitle"/>
          </p:nvPr>
        </p:nvSpPr>
        <p:spPr>
          <a:xfrm>
            <a:off x="2329825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17" name="Google Shape;2117;p170"/>
          <p:cNvSpPr txBox="1"/>
          <p:nvPr>
            <p:ph idx="4294967295" type="subTitle"/>
          </p:nvPr>
        </p:nvSpPr>
        <p:spPr>
          <a:xfrm>
            <a:off x="6269212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18" name="Google Shape;2118;p170"/>
          <p:cNvSpPr txBox="1"/>
          <p:nvPr/>
        </p:nvSpPr>
        <p:spPr>
          <a:xfrm>
            <a:off x="324000" y="3225100"/>
            <a:ext cx="37524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might have said, “c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 is the odd one out because it is the only one with a 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-intercept”.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19" name="Google Shape;2119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035" y="2153693"/>
            <a:ext cx="1662449" cy="26602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0" name="Google Shape;2120;p170"/>
          <p:cNvSpPr txBox="1"/>
          <p:nvPr>
            <p:ph idx="1" type="body"/>
          </p:nvPr>
        </p:nvSpPr>
        <p:spPr>
          <a:xfrm>
            <a:off x="4972200" y="3643404"/>
            <a:ext cx="332100" cy="5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3500"/>
              <a:t>×</a:t>
            </a:r>
            <a:endParaRPr b="1" sz="3500"/>
          </a:p>
        </p:txBody>
      </p:sp>
      <p:cxnSp>
        <p:nvCxnSpPr>
          <p:cNvPr id="2121" name="Google Shape;2121;p170"/>
          <p:cNvCxnSpPr>
            <a:stCxn id="2118" idx="3"/>
            <a:endCxn id="2120" idx="1"/>
          </p:cNvCxnSpPr>
          <p:nvPr/>
        </p:nvCxnSpPr>
        <p:spPr>
          <a:xfrm>
            <a:off x="4076400" y="3690400"/>
            <a:ext cx="895800" cy="21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71"/>
          <p:cNvSpPr txBox="1"/>
          <p:nvPr>
            <p:ph idx="1" type="body"/>
          </p:nvPr>
        </p:nvSpPr>
        <p:spPr>
          <a:xfrm>
            <a:off x="324000" y="759300"/>
            <a:ext cx="82377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Use technology to plot the graphs of these quadratic </a:t>
            </a:r>
            <a:r>
              <a:rPr b="1" lang="en-GB"/>
              <a:t>equations</a:t>
            </a:r>
            <a:r>
              <a:rPr lang="en-GB"/>
              <a:t>. They all form </a:t>
            </a:r>
            <a:r>
              <a:rPr b="1" lang="en-GB"/>
              <a:t>parabolas</a:t>
            </a:r>
            <a:r>
              <a:rPr lang="en-GB"/>
              <a:t>. Spot the odd one out.</a:t>
            </a:r>
            <a:endParaRPr/>
          </a:p>
        </p:txBody>
      </p:sp>
      <p:sp>
        <p:nvSpPr>
          <p:cNvPr id="2127" name="Google Shape;2127;p17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quadratic graphs</a:t>
            </a:r>
            <a:endParaRPr/>
          </a:p>
        </p:txBody>
      </p:sp>
      <p:sp>
        <p:nvSpPr>
          <p:cNvPr id="2128" name="Google Shape;2128;p171"/>
          <p:cNvSpPr txBox="1"/>
          <p:nvPr>
            <p:ph idx="4294967295" type="subTitle"/>
          </p:nvPr>
        </p:nvSpPr>
        <p:spPr>
          <a:xfrm>
            <a:off x="436332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2129" name="Google Shape;2129;p171"/>
          <p:cNvSpPr txBox="1"/>
          <p:nvPr>
            <p:ph idx="4294967295" type="subTitle"/>
          </p:nvPr>
        </p:nvSpPr>
        <p:spPr>
          <a:xfrm>
            <a:off x="4230478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2130" name="Google Shape;2130;p171"/>
          <p:cNvSpPr txBox="1"/>
          <p:nvPr>
            <p:ph idx="4294967295" type="subTitle"/>
          </p:nvPr>
        </p:nvSpPr>
        <p:spPr>
          <a:xfrm>
            <a:off x="2329825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31" name="Google Shape;2131;p171"/>
          <p:cNvSpPr txBox="1"/>
          <p:nvPr>
            <p:ph idx="4294967295" type="subTitle"/>
          </p:nvPr>
        </p:nvSpPr>
        <p:spPr>
          <a:xfrm>
            <a:off x="6269212" y="1768735"/>
            <a:ext cx="158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32" name="Google Shape;2132;p171"/>
          <p:cNvSpPr txBox="1"/>
          <p:nvPr/>
        </p:nvSpPr>
        <p:spPr>
          <a:xfrm>
            <a:off x="489225" y="2615500"/>
            <a:ext cx="56844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might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have said,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“d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 is the one out. It is upside down”.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Whilst it is very different it is still a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 It looks upside down but we would tend to say it “Opens downwards” or is ‘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⋂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-shaped’. I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mportantly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we still have a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quadratic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equation and a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parabola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3" name="Google Shape;2133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475" y="2169525"/>
            <a:ext cx="1662449" cy="263718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72"/>
          <p:cNvSpPr txBox="1"/>
          <p:nvPr>
            <p:ph idx="1" type="body"/>
          </p:nvPr>
        </p:nvSpPr>
        <p:spPr>
          <a:xfrm>
            <a:off x="324000" y="1232400"/>
            <a:ext cx="8113800" cy="19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</a:t>
            </a:r>
            <a:r>
              <a:rPr lang="en-GB"/>
              <a:t>ifferent types of equations give rise to different graph shapes.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Linear equations like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 + 2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form a straight line whereas </a:t>
            </a:r>
            <a:r>
              <a:rPr b="1" lang="en-GB"/>
              <a:t>quadratic</a:t>
            </a:r>
            <a:r>
              <a:rPr lang="en-GB"/>
              <a:t> equations like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/>
              <a:t> form a </a:t>
            </a:r>
            <a:r>
              <a:rPr b="1" lang="en-GB"/>
              <a:t>parabola</a:t>
            </a:r>
            <a:r>
              <a:rPr lang="en-GB"/>
              <a:t>.</a:t>
            </a:r>
            <a:endParaRPr sz="2400"/>
          </a:p>
        </p:txBody>
      </p:sp>
      <p:sp>
        <p:nvSpPr>
          <p:cNvPr id="2139" name="Google Shape;2139;p172"/>
          <p:cNvSpPr txBox="1"/>
          <p:nvPr>
            <p:ph type="title"/>
          </p:nvPr>
        </p:nvSpPr>
        <p:spPr>
          <a:xfrm>
            <a:off x="1696307" y="3486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7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45" name="Google Shape;2145;p1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