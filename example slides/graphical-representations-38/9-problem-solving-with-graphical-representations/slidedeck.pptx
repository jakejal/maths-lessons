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9144000" cy="5143500"/>
  <p:notesSz cx="6858000" cy="9144000"/>
  <p:embeddedFontLst>
    <p:embeddedFont>
      <p:font typeface="Lexend" panose="00000000000000000000"/>
      <p:regular r:id="rId45"/>
    </p:embeddedFont>
    <p:embeddedFont>
      <p:font typeface="Lexend Medium" panose="00000000000000000000"/>
      <p:regular r:id="rId46"/>
    </p:embeddedFont>
    <p:embeddedFont>
      <p:font typeface="Kalam" panose="02000000000000000000"/>
      <p:regular r:id="rId47"/>
    </p:embeddedFont>
    <p:embeddedFont>
      <p:font typeface="Lexend Light" panose="00000000000000000000"/>
      <p:regular r:id="rId48"/>
    </p:embeddedFont>
  </p:embeddedFontLst>
  <p:custDataLst>
    <p:tags r:id="rId44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tags" Target="tags/tag1.xml" /><Relationship Id="rId45" Type="http://schemas.openxmlformats.org/officeDocument/2006/relationships/font" Target="fonts/font1.fntdata" /><Relationship Id="rId46" Type="http://schemas.openxmlformats.org/officeDocument/2006/relationships/font" Target="fonts/font2.fntdata" /><Relationship Id="rId47" Type="http://schemas.openxmlformats.org/officeDocument/2006/relationships/font" Target="fonts/font3.fntdata" /><Relationship Id="rId48" Type="http://schemas.openxmlformats.org/officeDocument/2006/relationships/font" Target="fonts/font4.fntdata" /><Relationship Id="rId49" Type="http://schemas.openxmlformats.org/officeDocument/2006/relationships/presProps" Target="presProps.xml" /><Relationship Id="rId5" Type="http://schemas.openxmlformats.org/officeDocument/2006/relationships/slide" Target="slides/slide3.xml" /><Relationship Id="rId50" Type="http://schemas.openxmlformats.org/officeDocument/2006/relationships/viewProps" Target="viewProps.xml" /><Relationship Id="rId51" Type="http://schemas.openxmlformats.org/officeDocument/2006/relationships/theme" Target="theme/theme1.xml" /><Relationship Id="rId52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8" name="Shape 748"/>
        <p:cNvGrpSpPr/>
        <p:nvPr/>
      </p:nvGrpSpPr>
      <p:grpSpPr>
        <a:xfrm>
          <a:off x="0" y="0"/>
          <a:ext cx="0" cy="0"/>
        </a:xfrm>
      </p:grpSpPr>
      <p:sp>
        <p:nvSpPr>
          <p:cNvPr id="749" name="Google Shape;749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3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8" name="Shape 758"/>
        <p:cNvGrpSpPr/>
        <p:nvPr/>
      </p:nvGrpSpPr>
      <p:grpSpPr>
        <a:xfrm>
          <a:off x="0" y="0"/>
          <a:ext cx="0" cy="0"/>
        </a:xfrm>
      </p:grpSpPr>
      <p:sp>
        <p:nvSpPr>
          <p:cNvPr id="759" name="Google Shape;759;g1f0c0219820_0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1f0c0219820_0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g2bd48adb1e6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d48adb1e6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sp>
        <p:nvSpPr>
          <p:cNvPr id="772" name="Google Shape;772;g1f0c0219820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1f0c0219820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9" name="Shape 779"/>
        <p:cNvGrpSpPr/>
        <p:nvPr/>
      </p:nvGrpSpPr>
      <p:grpSpPr>
        <a:xfrm>
          <a:off x="0" y="0"/>
          <a:ext cx="0" cy="0"/>
        </a:xfrm>
      </p:grpSpPr>
      <p:sp>
        <p:nvSpPr>
          <p:cNvPr id="780" name="Google Shape;780;g1f0c0219820_0_7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1f0c0219820_0_7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5" name="Shape 795"/>
        <p:cNvGrpSpPr/>
        <p:nvPr/>
      </p:nvGrpSpPr>
      <p:grpSpPr>
        <a:xfrm>
          <a:off x="0" y="0"/>
          <a:ext cx="0" cy="0"/>
        </a:xfrm>
      </p:grpSpPr>
      <p:sp>
        <p:nvSpPr>
          <p:cNvPr id="796" name="Google Shape;796;g1f0c0219820_0_7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1f0c0219820_0_7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1" name="Shape 811"/>
        <p:cNvGrpSpPr/>
        <p:nvPr/>
      </p:nvGrpSpPr>
      <p:grpSpPr>
        <a:xfrm>
          <a:off x="0" y="0"/>
          <a:ext cx="0" cy="0"/>
        </a:xfrm>
      </p:grpSpPr>
      <p:sp>
        <p:nvSpPr>
          <p:cNvPr id="812" name="Google Shape;812;g1f0c0219820_0_8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1f0c0219820_0_8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4" name="Shape 834"/>
        <p:cNvGrpSpPr/>
        <p:nvPr/>
      </p:nvGrpSpPr>
      <p:grpSpPr>
        <a:xfrm>
          <a:off x="0" y="0"/>
          <a:ext cx="0" cy="0"/>
        </a:xfrm>
      </p:grpSpPr>
      <p:sp>
        <p:nvSpPr>
          <p:cNvPr id="835" name="Google Shape;835;g1f0c0219820_0_8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1f0c0219820_0_8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4" name="Shape 854"/>
        <p:cNvGrpSpPr/>
        <p:nvPr/>
      </p:nvGrpSpPr>
      <p:grpSpPr>
        <a:xfrm>
          <a:off x="0" y="0"/>
          <a:ext cx="0" cy="0"/>
        </a:xfrm>
      </p:grpSpPr>
      <p:sp>
        <p:nvSpPr>
          <p:cNvPr id="855" name="Google Shape;855;g1f0c0219820_0_9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f0c0219820_0_9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5" name="Shape 875"/>
        <p:cNvGrpSpPr/>
        <p:nvPr/>
      </p:nvGrpSpPr>
      <p:grpSpPr>
        <a:xfrm>
          <a:off x="0" y="0"/>
          <a:ext cx="0" cy="0"/>
        </a:xfrm>
      </p:grpSpPr>
      <p:sp>
        <p:nvSpPr>
          <p:cNvPr id="876" name="Google Shape;876;g1f0c0219820_0_9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1f0c0219820_0_9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8" name="Shape 898"/>
        <p:cNvGrpSpPr/>
        <p:nvPr/>
      </p:nvGrpSpPr>
      <p:grpSpPr>
        <a:xfrm>
          <a:off x="0" y="0"/>
          <a:ext cx="0" cy="0"/>
        </a:xfrm>
      </p:grpSpPr>
      <p:sp>
        <p:nvSpPr>
          <p:cNvPr id="899" name="Google Shape;899;g1f0c0219820_0_9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1f0c0219820_0_9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6" name="Shape 926"/>
        <p:cNvGrpSpPr/>
        <p:nvPr/>
      </p:nvGrpSpPr>
      <p:grpSpPr>
        <a:xfrm>
          <a:off x="0" y="0"/>
          <a:ext cx="0" cy="0"/>
        </a:xfrm>
      </p:grpSpPr>
      <p:sp>
        <p:nvSpPr>
          <p:cNvPr id="927" name="Google Shape;927;g1f0c0219820_0_10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1f0c0219820_0_10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3" name="Shape 953"/>
        <p:cNvGrpSpPr/>
        <p:nvPr/>
      </p:nvGrpSpPr>
      <p:grpSpPr>
        <a:xfrm>
          <a:off x="0" y="0"/>
          <a:ext cx="0" cy="0"/>
        </a:xfrm>
      </p:grpSpPr>
      <p:sp>
        <p:nvSpPr>
          <p:cNvPr id="954" name="Google Shape;954;g1f0c0219820_0_10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1f0c0219820_0_10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0" name="Shape 980"/>
        <p:cNvGrpSpPr/>
        <p:nvPr/>
      </p:nvGrpSpPr>
      <p:grpSpPr>
        <a:xfrm>
          <a:off x="0" y="0"/>
          <a:ext cx="0" cy="0"/>
        </a:xfrm>
      </p:grpSpPr>
      <p:sp>
        <p:nvSpPr>
          <p:cNvPr id="981" name="Google Shape;981;g1f0c0219820_0_10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f0c0219820_0_10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9" name="Shape 999"/>
        <p:cNvGrpSpPr/>
        <p:nvPr/>
      </p:nvGrpSpPr>
      <p:grpSpPr>
        <a:xfrm>
          <a:off x="0" y="0"/>
          <a:ext cx="0" cy="0"/>
        </a:xfrm>
      </p:grpSpPr>
      <p:sp>
        <p:nvSpPr>
          <p:cNvPr id="1000" name="Google Shape;1000;g1f0c0219820_0_11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1f0c0219820_0_1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1" name="Shape 1021"/>
        <p:cNvGrpSpPr/>
        <p:nvPr/>
      </p:nvGrpSpPr>
      <p:grpSpPr>
        <a:xfrm>
          <a:off x="0" y="0"/>
          <a:ext cx="0" cy="0"/>
        </a:xfrm>
      </p:grpSpPr>
      <p:sp>
        <p:nvSpPr>
          <p:cNvPr id="1022" name="Google Shape;1022;g1f0c0219820_0_11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1f0c0219820_0_11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1" name="Shape 1041"/>
        <p:cNvGrpSpPr/>
        <p:nvPr/>
      </p:nvGrpSpPr>
      <p:grpSpPr>
        <a:xfrm>
          <a:off x="0" y="0"/>
          <a:ext cx="0" cy="0"/>
        </a:xfrm>
      </p:grpSpPr>
      <p:sp>
        <p:nvSpPr>
          <p:cNvPr id="1042" name="Google Shape;1042;g1f0c0219820_0_11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1f0c0219820_0_11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0" name="Shape 1050"/>
        <p:cNvGrpSpPr/>
        <p:nvPr/>
      </p:nvGrpSpPr>
      <p:grpSpPr>
        <a:xfrm>
          <a:off x="0" y="0"/>
          <a:ext cx="0" cy="0"/>
        </a:xfrm>
      </p:grpSpPr>
      <p:sp>
        <p:nvSpPr>
          <p:cNvPr id="1051" name="Google Shape;1051;g1f0c0219820_0_12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1f0c0219820_0_12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2" name="Shape 1072"/>
        <p:cNvGrpSpPr/>
        <p:nvPr/>
      </p:nvGrpSpPr>
      <p:grpSpPr>
        <a:xfrm>
          <a:off x="0" y="0"/>
          <a:ext cx="0" cy="0"/>
        </a:xfrm>
      </p:grpSpPr>
      <p:sp>
        <p:nvSpPr>
          <p:cNvPr id="1073" name="Google Shape;1073;g1f0c0219820_0_13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1f0c0219820_0_13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2" name="Shape 1092"/>
        <p:cNvGrpSpPr/>
        <p:nvPr/>
      </p:nvGrpSpPr>
      <p:grpSpPr>
        <a:xfrm>
          <a:off x="0" y="0"/>
          <a:ext cx="0" cy="0"/>
        </a:xfrm>
      </p:grpSpPr>
      <p:sp>
        <p:nvSpPr>
          <p:cNvPr id="1093" name="Google Shape;1093;g1f0c0219820_0_12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1f0c0219820_0_12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2" name="Shape 1122"/>
        <p:cNvGrpSpPr/>
        <p:nvPr/>
      </p:nvGrpSpPr>
      <p:grpSpPr>
        <a:xfrm>
          <a:off x="0" y="0"/>
          <a:ext cx="0" cy="0"/>
        </a:xfrm>
      </p:grpSpPr>
      <p:sp>
        <p:nvSpPr>
          <p:cNvPr id="1123" name="Google Shape;1123;g1f0c0219820_0_13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1f0c0219820_0_13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9" name="Shape 1149"/>
        <p:cNvGrpSpPr/>
        <p:nvPr/>
      </p:nvGrpSpPr>
      <p:grpSpPr>
        <a:xfrm>
          <a:off x="0" y="0"/>
          <a:ext cx="0" cy="0"/>
        </a:xfrm>
      </p:grpSpPr>
      <p:sp>
        <p:nvSpPr>
          <p:cNvPr id="1150" name="Google Shape;1150;g1f0c0219820_0_14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1f0c0219820_0_14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2" name="Shape 1182"/>
        <p:cNvGrpSpPr/>
        <p:nvPr/>
      </p:nvGrpSpPr>
      <p:grpSpPr>
        <a:xfrm>
          <a:off x="0" y="0"/>
          <a:ext cx="0" cy="0"/>
        </a:xfrm>
      </p:grpSpPr>
      <p:sp>
        <p:nvSpPr>
          <p:cNvPr id="1183" name="Google Shape;1183;g1f0c0219820_0_14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1f0c0219820_0_14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0" name="Shape 1190"/>
        <p:cNvGrpSpPr/>
        <p:nvPr/>
      </p:nvGrpSpPr>
      <p:grpSpPr>
        <a:xfrm>
          <a:off x="0" y="0"/>
          <a:ext cx="0" cy="0"/>
        </a:xfrm>
      </p:grpSpPr>
      <p:sp>
        <p:nvSpPr>
          <p:cNvPr id="1191" name="Google Shape;1191;g1f0c0219820_0_14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1f0c0219820_0_14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4" name="Shape 1204"/>
        <p:cNvGrpSpPr/>
        <p:nvPr/>
      </p:nvGrpSpPr>
      <p:grpSpPr>
        <a:xfrm>
          <a:off x="0" y="0"/>
          <a:ext cx="0" cy="0"/>
        </a:xfrm>
      </p:grpSpPr>
      <p:sp>
        <p:nvSpPr>
          <p:cNvPr id="1205" name="Google Shape;1205;g1f0c0219820_0_14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1f0c0219820_0_14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0" name="Shape 1220"/>
        <p:cNvGrpSpPr/>
        <p:nvPr/>
      </p:nvGrpSpPr>
      <p:grpSpPr>
        <a:xfrm>
          <a:off x="0" y="0"/>
          <a:ext cx="0" cy="0"/>
        </a:xfrm>
      </p:grpSpPr>
      <p:sp>
        <p:nvSpPr>
          <p:cNvPr id="1221" name="Google Shape;1221;g1f0c0219820_0_15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1f0c0219820_0_15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4" name="Shape 1234"/>
        <p:cNvGrpSpPr/>
        <p:nvPr/>
      </p:nvGrpSpPr>
      <p:grpSpPr>
        <a:xfrm>
          <a:off x="0" y="0"/>
          <a:ext cx="0" cy="0"/>
        </a:xfrm>
      </p:grpSpPr>
      <p:sp>
        <p:nvSpPr>
          <p:cNvPr id="1235" name="Google Shape;1235;g1f0c0219820_0_15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1f0c0219820_0_15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8" name="Shape 1248"/>
        <p:cNvGrpSpPr/>
        <p:nvPr/>
      </p:nvGrpSpPr>
      <p:grpSpPr>
        <a:xfrm>
          <a:off x="0" y="0"/>
          <a:ext cx="0" cy="0"/>
        </a:xfrm>
      </p:grpSpPr>
      <p:sp>
        <p:nvSpPr>
          <p:cNvPr id="1249" name="Google Shape;1249;g1f0c0219820_0_15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1f0c0219820_0_15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9" name="Shape 1279"/>
        <p:cNvGrpSpPr/>
        <p:nvPr/>
      </p:nvGrpSpPr>
      <p:grpSpPr>
        <a:xfrm>
          <a:off x="0" y="0"/>
          <a:ext cx="0" cy="0"/>
        </a:xfrm>
      </p:grpSpPr>
      <p:sp>
        <p:nvSpPr>
          <p:cNvPr id="1280" name="Google Shape;1280;g1f0c0219820_0_16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1f0c0219820_0_16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0" name="Shape 1300"/>
        <p:cNvGrpSpPr/>
        <p:nvPr/>
      </p:nvGrpSpPr>
      <p:grpSpPr>
        <a:xfrm>
          <a:off x="0" y="0"/>
          <a:ext cx="0" cy="0"/>
        </a:xfrm>
      </p:grpSpPr>
      <p:sp>
        <p:nvSpPr>
          <p:cNvPr id="1301" name="Google Shape;1301;g1f0c0219820_0_16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1f0c0219820_0_16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17" name="Shape 1317"/>
        <p:cNvGrpSpPr/>
        <p:nvPr/>
      </p:nvGrpSpPr>
      <p:grpSpPr>
        <a:xfrm>
          <a:off x="0" y="0"/>
          <a:ext cx="0" cy="0"/>
        </a:xfrm>
      </p:grpSpPr>
      <p:sp>
        <p:nvSpPr>
          <p:cNvPr id="1318" name="Google Shape;1318;g1f0c0219820_0_16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1f0c0219820_0_16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5" name="Shape 1335"/>
        <p:cNvGrpSpPr/>
        <p:nvPr/>
      </p:nvGrpSpPr>
      <p:grpSpPr>
        <a:xfrm>
          <a:off x="0" y="0"/>
          <a:ext cx="0" cy="0"/>
        </a:xfrm>
      </p:grpSpPr>
      <p:sp>
        <p:nvSpPr>
          <p:cNvPr id="1336" name="Google Shape;1336;g1f0c0219820_0_17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1f0c0219820_0_17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51" name="Shape 1351"/>
        <p:cNvGrpSpPr/>
        <p:nvPr/>
      </p:nvGrpSpPr>
      <p:grpSpPr>
        <a:xfrm>
          <a:off x="0" y="0"/>
          <a:ext cx="0" cy="0"/>
        </a:xfrm>
      </p:grpSpPr>
      <p:sp>
        <p:nvSpPr>
          <p:cNvPr id="1352" name="Google Shape;1352;g1f0c0219820_0_17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1f0c0219820_0_17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65" name="Shape 1365"/>
        <p:cNvGrpSpPr/>
        <p:nvPr/>
      </p:nvGrpSpPr>
      <p:grpSpPr>
        <a:xfrm>
          <a:off x="0" y="0"/>
          <a:ext cx="0" cy="0"/>
        </a:xfrm>
      </p:grpSpPr>
      <p:sp>
        <p:nvSpPr>
          <p:cNvPr id="1366" name="Google Shape;1366;g1f0c0219820_0_17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1f0c0219820_0_17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82" name="Shape 1382"/>
        <p:cNvGrpSpPr/>
        <p:nvPr/>
      </p:nvGrpSpPr>
      <p:grpSpPr>
        <a:xfrm>
          <a:off x="0" y="0"/>
          <a:ext cx="0" cy="0"/>
        </a:xfrm>
      </p:grpSpPr>
      <p:sp>
        <p:nvSpPr>
          <p:cNvPr id="1383" name="Google Shape;1383;g1f0c0219820_0_16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1f0c0219820_0_16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4" name="Shape 1404"/>
        <p:cNvGrpSpPr/>
        <p:nvPr/>
      </p:nvGrpSpPr>
      <p:grpSpPr>
        <a:xfrm>
          <a:off x="0" y="0"/>
          <a:ext cx="0" cy="0"/>
        </a:xfrm>
      </p:grpSpPr>
      <p:sp>
        <p:nvSpPr>
          <p:cNvPr id="1405" name="Google Shape;1405;g1f0c0219820_0_18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1f0c0219820_0_18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28" name="Shape 1428"/>
        <p:cNvGrpSpPr/>
        <p:nvPr/>
      </p:nvGrpSpPr>
      <p:grpSpPr>
        <a:xfrm>
          <a:off x="0" y="0"/>
          <a:ext cx="0" cy="0"/>
        </a:xfrm>
      </p:grpSpPr>
      <p:sp>
        <p:nvSpPr>
          <p:cNvPr id="1429" name="Google Shape;1429;g1f0c0219820_0_1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g1f0c0219820_0_1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49" name="Shape 1449"/>
        <p:cNvGrpSpPr/>
        <p:nvPr/>
      </p:nvGrpSpPr>
      <p:grpSpPr>
        <a:xfrm>
          <a:off x="0" y="0"/>
          <a:ext cx="0" cy="0"/>
        </a:xfrm>
      </p:grpSpPr>
      <p:sp>
        <p:nvSpPr>
          <p:cNvPr id="1450" name="Google Shape;1450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5" name="Shape 1455"/>
        <p:cNvGrpSpPr/>
        <p:nvPr/>
      </p:nvGrpSpPr>
      <p:grpSpPr>
        <a:xfrm>
          <a:off x="0" y="0"/>
          <a:ext cx="0" cy="0"/>
        </a:xfrm>
      </p:grpSpPr>
      <p:sp>
        <p:nvSpPr>
          <p:cNvPr id="1456" name="Google Shape;1456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image" Target="../media/image42.png" /><Relationship Id="rId62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5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8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8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8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9.png" /><Relationship Id="rId4" Type="http://schemas.openxmlformats.org/officeDocument/2006/relationships/image" Target="../media/image50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44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47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47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53.png" /><Relationship Id="rId4" Type="http://schemas.openxmlformats.org/officeDocument/2006/relationships/image" Target="../media/image54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53.png" /><Relationship Id="rId4" Type="http://schemas.openxmlformats.org/officeDocument/2006/relationships/image" Target="../media/image54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53.png" /><Relationship Id="rId4" Type="http://schemas.openxmlformats.org/officeDocument/2006/relationships/image" Target="../media/image54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2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55.png" /><Relationship Id="rId4" Type="http://schemas.openxmlformats.org/officeDocument/2006/relationships/image" Target="../media/image39.png" /><Relationship Id="rId5" Type="http://schemas.openxmlformats.org/officeDocument/2006/relationships/image" Target="../media/image48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2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56.png" /><Relationship Id="rId4" Type="http://schemas.openxmlformats.org/officeDocument/2006/relationships/image" Target="../media/image48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1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5" name="Shape 745"/>
        <p:cNvGrpSpPr/>
        <p:nvPr/>
      </p:nvGrpSpPr>
      <p:grpSpPr>
        <a:xfrm>
          <a:off x="0" y="0"/>
          <a: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</a:t>
            </a:r>
            <a:endParaRPr/>
          </a:p>
        </p:txBody>
      </p:sp>
      <p:sp>
        <p:nvSpPr>
          <p:cNvPr id="747" name="Google Shape;747;p62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representations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1" name="Shape 751"/>
        <p:cNvGrpSpPr/>
        <p:nvPr/>
      </p:nvGrpSpPr>
      <p:grpSpPr>
        <a:xfrm>
          <a:off x="0" y="0"/>
          <a: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6" name="Shape 756"/>
        <p:cNvGrpSpPr/>
        <p:nvPr/>
      </p:nvGrpSpPr>
      <p:grpSpPr>
        <a:xfrm>
          <a:off x="0" y="0"/>
          <a:ext cx="0" cy="0"/>
        </a:xfrm>
      </p:grpSpPr>
      <p:sp>
        <p:nvSpPr>
          <p:cNvPr id="757" name="Google Shape;757;p64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use my knowledge of graphical representations to solve problems.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1" name="Shape 761"/>
        <p:cNvGrpSpPr/>
        <p:nvPr/>
      </p:nvGrpSpPr>
      <p:grpSpPr>
        <a:xfrm>
          <a:off x="0" y="0"/>
          <a:ext cx="0" cy="0"/>
        </a:xfrm>
      </p:grpSpPr>
      <p:sp>
        <p:nvSpPr>
          <p:cNvPr id="762" name="Google Shape;762;p65"/>
          <p:cNvSpPr txBox="1"/>
          <p:nvPr/>
        </p:nvSpPr>
        <p:spPr>
          <a:xfrm>
            <a:off x="324000" y="1007828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relationship between two variables is linear if, when plotted on a pair of axes, a straight line is formed.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5"/>
          <p:cNvSpPr txBox="1"/>
          <p:nvPr/>
        </p:nvSpPr>
        <p:spPr>
          <a:xfrm>
            <a:off x="324000" y="2074625"/>
            <a:ext cx="66522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gradient is a measure of how steep a line is.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4" name="Google Shape;764;p65"/>
          <p:cNvSpPr txBox="1"/>
          <p:nvPr/>
        </p:nvSpPr>
        <p:spPr>
          <a:xfrm>
            <a:off x="324000" y="2730252"/>
            <a:ext cx="84960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intercept is the coordinate where a line or curve meets a given axis.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pic>
        <p:nvPicPr>
          <p:cNvPr id="769" name="Google Shape;769;p66" descr="line of symmetry &#10;focus I &#10;parabola &#10;directrix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6951" y="810000"/>
            <a:ext cx="3935107" cy="4008901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6"/>
          <p:cNvSpPr txBox="1"/>
          <p:nvPr/>
        </p:nvSpPr>
        <p:spPr>
          <a:xfrm>
            <a:off x="324000" y="810000"/>
            <a:ext cx="37728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A parabola is a curve where any point on the curve is an equal distance from: </a:t>
            </a:r>
            <a:endParaRPr sz="18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68580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Font typeface="Lexend"/>
              <a:buChar char="●"/>
            </a:pP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a fixed point (the focus), and </a:t>
            </a:r>
            <a:endParaRPr sz="18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68580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Font typeface="Lexend"/>
              <a:buChar char="●"/>
            </a:pP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a fixed straight line (the directrix) </a:t>
            </a:r>
            <a:endParaRPr sz="18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The line of symmetry goes through the focus, at right angles to the directrix. </a:t>
            </a:r>
            <a:endParaRPr sz="18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4" name="Shape 774"/>
        <p:cNvGrpSpPr/>
        <p:nvPr/>
      </p:nvGrpSpPr>
      <p:grpSpPr>
        <a:xfrm>
          <a:off x="0" y="0"/>
          <a: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</a:t>
            </a:r>
            <a:endParaRPr/>
          </a:p>
        </p:txBody>
      </p:sp>
      <p:sp>
        <p:nvSpPr>
          <p:cNvPr id="776" name="Google Shape;776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777" name="Google Shape;777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</a:t>
            </a:r>
            <a:endParaRPr/>
          </a:p>
        </p:txBody>
      </p:sp>
      <p:pic>
        <p:nvPicPr>
          <p:cNvPr id="778" name="Google Shape;77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337" y="206150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2" name="Shape 782"/>
        <p:cNvGrpSpPr/>
        <p:nvPr/>
      </p:nvGrpSpPr>
      <p:grpSpPr>
        <a:xfrm>
          <a:off x="0" y="0"/>
          <a:ext cx="0" cy="0"/>
        </a:xfrm>
      </p:grpSpPr>
      <p:sp>
        <p:nvSpPr>
          <p:cNvPr id="783" name="Google Shape;783;p68"/>
          <p:cNvSpPr txBox="1"/>
          <p:nvPr>
            <p:ph type="body" idx="1"/>
          </p:nvPr>
        </p:nvSpPr>
        <p:spPr>
          <a:xfrm>
            <a:off x="324000" y="759300"/>
            <a:ext cx="54504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Andeep and Jun are solving equations.</a:t>
            </a:r>
            <a:endParaRPr/>
          </a:p>
        </p:txBody>
      </p:sp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 </a:t>
            </a:r>
            <a:endParaRPr/>
          </a:p>
        </p:txBody>
      </p:sp>
      <p:pic>
        <p:nvPicPr>
          <p:cNvPr id="785" name="Google Shape;78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65441" y="265308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396" y="30160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8"/>
          <p:cNvSpPr txBox="1"/>
          <p:nvPr/>
        </p:nvSpPr>
        <p:spPr>
          <a:xfrm>
            <a:off x="3219600" y="1216500"/>
            <a:ext cx="21378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68 − 3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8" name="Google Shape;788;p68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863002" y="1626925"/>
            <a:ext cx="2216873" cy="955576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68"/>
          <p:cNvSpPr txBox="1"/>
          <p:nvPr/>
        </p:nvSpPr>
        <p:spPr>
          <a:xfrm>
            <a:off x="1104675" y="1680850"/>
            <a:ext cx="18990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I’ve got the 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solution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8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5839013" y="1703125"/>
            <a:ext cx="2495749" cy="955576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8"/>
          <p:cNvSpPr txBox="1"/>
          <p:nvPr/>
        </p:nvSpPr>
        <p:spPr>
          <a:xfrm>
            <a:off x="5981475" y="1757050"/>
            <a:ext cx="22170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But, I’ve got the 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solution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2" name="Google Shape;792;p68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1320198" y="2476632"/>
            <a:ext cx="3454377" cy="1219201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68"/>
          <p:cNvSpPr txBox="1"/>
          <p:nvPr/>
        </p:nvSpPr>
        <p:spPr>
          <a:xfrm>
            <a:off x="1642575" y="2519050"/>
            <a:ext cx="30783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Our teacher has told us that one of us is right but we’re not sure who!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8"/>
          <p:cNvSpPr txBox="1"/>
          <p:nvPr>
            <p:ph type="body" idx="1"/>
          </p:nvPr>
        </p:nvSpPr>
        <p:spPr>
          <a:xfrm>
            <a:off x="2401601" y="3948193"/>
            <a:ext cx="37611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would you help them?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8" name="Shape 798"/>
        <p:cNvGrpSpPr/>
        <p:nvPr/>
      </p:nvGrpSpPr>
      <p:grpSpPr>
        <a:xfrm>
          <a:off x="0" y="0"/>
          <a:ext cx="0" cy="0"/>
        </a:xfrm>
      </p:grpSpPr>
      <p:sp>
        <p:nvSpPr>
          <p:cNvPr id="799" name="Google Shape;799;p69"/>
          <p:cNvSpPr txBox="1"/>
          <p:nvPr>
            <p:ph type="body" idx="1"/>
          </p:nvPr>
        </p:nvSpPr>
        <p:spPr>
          <a:xfrm>
            <a:off x="324000" y="759300"/>
            <a:ext cx="54504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Andeep and Jun are solving equations.</a:t>
            </a:r>
            <a:endParaRPr/>
          </a:p>
        </p:txBody>
      </p:sp>
      <p:sp>
        <p:nvSpPr>
          <p:cNvPr id="800" name="Google Shape;80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 </a:t>
            </a:r>
            <a:endParaRPr/>
          </a:p>
        </p:txBody>
      </p:sp>
      <p:pic>
        <p:nvPicPr>
          <p:cNvPr id="801" name="Google Shape;80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65441" y="265308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396" y="30160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9"/>
          <p:cNvSpPr txBox="1"/>
          <p:nvPr/>
        </p:nvSpPr>
        <p:spPr>
          <a:xfrm>
            <a:off x="3219600" y="1216500"/>
            <a:ext cx="21378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68 − 3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4" name="Google Shape;804;p69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863002" y="1626925"/>
            <a:ext cx="2216873" cy="955576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9"/>
          <p:cNvSpPr txBox="1"/>
          <p:nvPr/>
        </p:nvSpPr>
        <p:spPr>
          <a:xfrm>
            <a:off x="1104675" y="1680850"/>
            <a:ext cx="18990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I’ve got the 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solution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6" name="Google Shape;806;p69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5839013" y="1703125"/>
            <a:ext cx="2495749" cy="955576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69"/>
          <p:cNvSpPr txBox="1"/>
          <p:nvPr/>
        </p:nvSpPr>
        <p:spPr>
          <a:xfrm>
            <a:off x="5981475" y="1757050"/>
            <a:ext cx="22170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But, I’ve got the 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solution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69"/>
          <p:cNvSpPr txBox="1"/>
          <p:nvPr>
            <p:ph type="body" idx="1"/>
          </p:nvPr>
        </p:nvSpPr>
        <p:spPr>
          <a:xfrm>
            <a:off x="1487200" y="2588107"/>
            <a:ext cx="49167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Substitution is one way to help identify who is right. Only Andeep’s solution makes the equation balance.</a:t>
            </a:r>
            <a:endParaRPr sz="2000"/>
          </a:p>
        </p:txBody>
      </p:sp>
      <p:sp>
        <p:nvSpPr>
          <p:cNvPr id="809" name="Google Shape;809;p69"/>
          <p:cNvSpPr txBox="1"/>
          <p:nvPr/>
        </p:nvSpPr>
        <p:spPr>
          <a:xfrm>
            <a:off x="2686200" y="3689420"/>
            <a:ext cx="27324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68 − 3(10)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(10)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9"/>
          <p:cNvSpPr txBox="1"/>
          <p:nvPr>
            <p:ph type="body" idx="1"/>
          </p:nvPr>
        </p:nvSpPr>
        <p:spPr>
          <a:xfrm>
            <a:off x="1487200" y="4169650"/>
            <a:ext cx="6507600" cy="63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But there is another way. And we mathematicians like multiple methods for solving the same problem!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4" name="Shape 814"/>
        <p:cNvGrpSpPr/>
        <p:nvPr/>
      </p:nvGrpSpPr>
      <p:grpSpPr>
        <a:xfrm>
          <a:off x="0" y="0"/>
          <a:ext cx="0" cy="0"/>
        </a:xfrm>
      </p:grpSpPr>
      <p:sp>
        <p:nvSpPr>
          <p:cNvPr id="815" name="Google Shape;81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 </a:t>
            </a:r>
            <a:endParaRPr/>
          </a:p>
        </p:txBody>
      </p:sp>
      <p:sp>
        <p:nvSpPr>
          <p:cNvPr id="816" name="Google Shape;816;p70"/>
          <p:cNvSpPr txBox="1"/>
          <p:nvPr/>
        </p:nvSpPr>
        <p:spPr>
          <a:xfrm>
            <a:off x="3219600" y="1544313"/>
            <a:ext cx="21378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68 − 3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0"/>
          <p:cNvSpPr txBox="1"/>
          <p:nvPr>
            <p:ph type="body" idx="1"/>
          </p:nvPr>
        </p:nvSpPr>
        <p:spPr>
          <a:xfrm>
            <a:off x="324000" y="770807"/>
            <a:ext cx="84960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simple sketch of these two equations will help us to approximately locate the solution.</a:t>
            </a:r>
            <a:endParaRPr/>
          </a:p>
        </p:txBody>
      </p:sp>
      <p:sp>
        <p:nvSpPr>
          <p:cNvPr id="818" name="Google Shape;818;p70"/>
          <p:cNvSpPr txBox="1"/>
          <p:nvPr/>
        </p:nvSpPr>
        <p:spPr>
          <a:xfrm>
            <a:off x="324000" y="1890793"/>
            <a:ext cx="14520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 txBox="1"/>
          <p:nvPr/>
        </p:nvSpPr>
        <p:spPr>
          <a:xfrm>
            <a:off x="324000" y="3414793"/>
            <a:ext cx="14520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68 − 3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0"/>
          <p:cNvSpPr txBox="1"/>
          <p:nvPr/>
        </p:nvSpPr>
        <p:spPr>
          <a:xfrm>
            <a:off x="324000" y="2321403"/>
            <a:ext cx="19575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-intercept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(0, 18)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 txBox="1"/>
          <p:nvPr/>
        </p:nvSpPr>
        <p:spPr>
          <a:xfrm>
            <a:off x="324000" y="3845403"/>
            <a:ext cx="19575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-intercept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(0, 68)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 txBox="1"/>
          <p:nvPr/>
        </p:nvSpPr>
        <p:spPr>
          <a:xfrm>
            <a:off x="324000" y="2752013"/>
            <a:ext cx="19575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Gradient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 txBox="1"/>
          <p:nvPr/>
        </p:nvSpPr>
        <p:spPr>
          <a:xfrm>
            <a:off x="324000" y="4276013"/>
            <a:ext cx="19575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Gradient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 txBox="1"/>
          <p:nvPr/>
        </p:nvSpPr>
        <p:spPr>
          <a:xfrm>
            <a:off x="5691160" y="1764205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 txBox="1"/>
          <p:nvPr/>
        </p:nvSpPr>
        <p:spPr>
          <a:xfrm>
            <a:off x="7356050" y="3919085"/>
            <a:ext cx="1599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6" name="Google Shape;826;p70"/>
          <p:cNvCxnSpPr/>
          <p:nvPr/>
        </p:nvCxnSpPr>
        <p:spPr>
          <a:xfrm rot="10800000" flipH="1">
            <a:off x="5762123" y="2132700"/>
            <a:ext cx="0" cy="2687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7" name="Google Shape;827;p70"/>
          <p:cNvCxnSpPr/>
          <p:nvPr/>
        </p:nvCxnSpPr>
        <p:spPr>
          <a:xfrm>
            <a:off x="4390525" y="4144307"/>
            <a:ext cx="29310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8" name="Google Shape;828;p70"/>
          <p:cNvSpPr txBox="1"/>
          <p:nvPr/>
        </p:nvSpPr>
        <p:spPr>
          <a:xfrm>
            <a:off x="5651320" y="34589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9" name="Google Shape;829;p70"/>
          <p:cNvCxnSpPr/>
          <p:nvPr/>
        </p:nvCxnSpPr>
        <p:spPr>
          <a:xfrm rot="10800000" flipH="1">
            <a:off x="5089100" y="2317175"/>
            <a:ext cx="1442100" cy="2475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0" name="Google Shape;830;p70"/>
          <p:cNvSpPr txBox="1"/>
          <p:nvPr/>
        </p:nvSpPr>
        <p:spPr>
          <a:xfrm>
            <a:off x="5025387" y="3312000"/>
            <a:ext cx="648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(0, 18)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0"/>
          <p:cNvSpPr txBox="1"/>
          <p:nvPr/>
        </p:nvSpPr>
        <p:spPr>
          <a:xfrm>
            <a:off x="5651320" y="25445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0"/>
          <p:cNvSpPr txBox="1"/>
          <p:nvPr/>
        </p:nvSpPr>
        <p:spPr>
          <a:xfrm>
            <a:off x="5025387" y="2397600"/>
            <a:ext cx="648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(0, 68)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3" name="Google Shape;833;p70"/>
          <p:cNvCxnSpPr/>
          <p:nvPr/>
        </p:nvCxnSpPr>
        <p:spPr>
          <a:xfrm rot="10800000">
            <a:off x="5600768" y="2317050"/>
            <a:ext cx="995100" cy="2464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7" name="Shape 837"/>
        <p:cNvGrpSpPr/>
        <p:nvPr/>
      </p:nvGrpSpPr>
      <p:grpSpPr>
        <a:xfrm>
          <a:off x="0" y="0"/>
          <a:ext cx="0" cy="0"/>
        </a:xfrm>
      </p:grpSpPr>
      <p:sp>
        <p:nvSpPr>
          <p:cNvPr id="838" name="Google Shape;83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 </a:t>
            </a:r>
            <a:endParaRPr/>
          </a:p>
        </p:txBody>
      </p:sp>
      <p:sp>
        <p:nvSpPr>
          <p:cNvPr id="839" name="Google Shape;839;p71"/>
          <p:cNvSpPr txBox="1"/>
          <p:nvPr/>
        </p:nvSpPr>
        <p:spPr>
          <a:xfrm>
            <a:off x="3219600" y="1544313"/>
            <a:ext cx="21378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68 − 3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1"/>
          <p:cNvSpPr txBox="1"/>
          <p:nvPr>
            <p:ph type="body" idx="1"/>
          </p:nvPr>
        </p:nvSpPr>
        <p:spPr>
          <a:xfrm>
            <a:off x="324000" y="770807"/>
            <a:ext cx="84960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simple sketch of these two equations will help us to approximately locate the solution.</a:t>
            </a:r>
            <a:endParaRPr/>
          </a:p>
        </p:txBody>
      </p:sp>
      <p:sp>
        <p:nvSpPr>
          <p:cNvPr id="841" name="Google Shape;841;p71"/>
          <p:cNvSpPr txBox="1"/>
          <p:nvPr/>
        </p:nvSpPr>
        <p:spPr>
          <a:xfrm>
            <a:off x="5691160" y="1764205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1"/>
          <p:cNvSpPr txBox="1"/>
          <p:nvPr/>
        </p:nvSpPr>
        <p:spPr>
          <a:xfrm>
            <a:off x="7356050" y="3919085"/>
            <a:ext cx="1599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3" name="Google Shape;843;p71"/>
          <p:cNvCxnSpPr/>
          <p:nvPr/>
        </p:nvCxnSpPr>
        <p:spPr>
          <a:xfrm rot="10800000" flipH="1">
            <a:off x="5762123" y="2132700"/>
            <a:ext cx="0" cy="2687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4" name="Google Shape;844;p71"/>
          <p:cNvCxnSpPr/>
          <p:nvPr/>
        </p:nvCxnSpPr>
        <p:spPr>
          <a:xfrm>
            <a:off x="4390525" y="4144307"/>
            <a:ext cx="29310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5" name="Google Shape;845;p71"/>
          <p:cNvSpPr txBox="1"/>
          <p:nvPr/>
        </p:nvSpPr>
        <p:spPr>
          <a:xfrm>
            <a:off x="5651320" y="34589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6" name="Google Shape;846;p71"/>
          <p:cNvCxnSpPr/>
          <p:nvPr/>
        </p:nvCxnSpPr>
        <p:spPr>
          <a:xfrm rot="10800000" flipH="1">
            <a:off x="5089100" y="2317175"/>
            <a:ext cx="1442100" cy="2475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7" name="Google Shape;847;p71"/>
          <p:cNvSpPr txBox="1"/>
          <p:nvPr/>
        </p:nvSpPr>
        <p:spPr>
          <a:xfrm>
            <a:off x="5025387" y="3312000"/>
            <a:ext cx="648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(0, 18)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1"/>
          <p:cNvSpPr txBox="1"/>
          <p:nvPr/>
        </p:nvSpPr>
        <p:spPr>
          <a:xfrm>
            <a:off x="5651320" y="25445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1"/>
          <p:cNvSpPr txBox="1"/>
          <p:nvPr/>
        </p:nvSpPr>
        <p:spPr>
          <a:xfrm>
            <a:off x="5025387" y="2397600"/>
            <a:ext cx="648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(0, 68)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0" name="Google Shape;850;p71"/>
          <p:cNvCxnSpPr/>
          <p:nvPr/>
        </p:nvCxnSpPr>
        <p:spPr>
          <a:xfrm rot="10800000">
            <a:off x="5600768" y="2317050"/>
            <a:ext cx="995100" cy="2464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1" name="Google Shape;851;p71"/>
          <p:cNvSpPr txBox="1"/>
          <p:nvPr>
            <p:ph type="body" idx="1"/>
          </p:nvPr>
        </p:nvSpPr>
        <p:spPr>
          <a:xfrm>
            <a:off x="324000" y="2523400"/>
            <a:ext cx="39960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Our sketch shows us that the lines intersect in the first quadrant</a:t>
            </a:r>
            <a:endParaRPr/>
          </a:p>
        </p:txBody>
      </p:sp>
      <p:sp>
        <p:nvSpPr>
          <p:cNvPr id="852" name="Google Shape;852;p71"/>
          <p:cNvSpPr txBox="1"/>
          <p:nvPr>
            <p:ph type="body" idx="1"/>
          </p:nvPr>
        </p:nvSpPr>
        <p:spPr>
          <a:xfrm>
            <a:off x="324000" y="2523400"/>
            <a:ext cx="3996000" cy="144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Our sketch shows us that the lines intersect in the first quadrant therefore the solution must be positive.</a:t>
            </a:r>
            <a:endParaRPr/>
          </a:p>
        </p:txBody>
      </p:sp>
      <p:sp>
        <p:nvSpPr>
          <p:cNvPr id="853" name="Google Shape;853;p71"/>
          <p:cNvSpPr/>
          <p:nvPr/>
        </p:nvSpPr>
        <p:spPr>
          <a:xfrm>
            <a:off x="5802525" y="2323475"/>
            <a:ext cx="851400" cy="1779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7" name="Shape 857"/>
        <p:cNvGrpSpPr/>
        <p:nvPr/>
      </p:nvGrpSpPr>
      <p:grpSpPr>
        <a:xfrm>
          <a:off x="0" y="0"/>
          <a:ext cx="0" cy="0"/>
        </a:xfrm>
      </p:grpSpPr>
      <p:sp>
        <p:nvSpPr>
          <p:cNvPr id="858" name="Google Shape;85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 </a:t>
            </a:r>
            <a:endParaRPr/>
          </a:p>
        </p:txBody>
      </p:sp>
      <p:sp>
        <p:nvSpPr>
          <p:cNvPr id="859" name="Google Shape;859;p72"/>
          <p:cNvSpPr txBox="1"/>
          <p:nvPr/>
        </p:nvSpPr>
        <p:spPr>
          <a:xfrm>
            <a:off x="3219600" y="1544313"/>
            <a:ext cx="21378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68 − 3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2"/>
          <p:cNvSpPr txBox="1"/>
          <p:nvPr>
            <p:ph type="body" idx="1"/>
          </p:nvPr>
        </p:nvSpPr>
        <p:spPr>
          <a:xfrm>
            <a:off x="324000" y="770807"/>
            <a:ext cx="84960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simple sketch of these two equations will help us to approximately locate the solution.</a:t>
            </a:r>
            <a:endParaRPr/>
          </a:p>
        </p:txBody>
      </p:sp>
      <p:sp>
        <p:nvSpPr>
          <p:cNvPr id="861" name="Google Shape;861;p72"/>
          <p:cNvSpPr txBox="1"/>
          <p:nvPr/>
        </p:nvSpPr>
        <p:spPr>
          <a:xfrm>
            <a:off x="5691160" y="1764205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2"/>
          <p:cNvSpPr txBox="1"/>
          <p:nvPr/>
        </p:nvSpPr>
        <p:spPr>
          <a:xfrm>
            <a:off x="7356050" y="3919085"/>
            <a:ext cx="1599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3" name="Google Shape;863;p72"/>
          <p:cNvCxnSpPr/>
          <p:nvPr/>
        </p:nvCxnSpPr>
        <p:spPr>
          <a:xfrm rot="10800000" flipH="1">
            <a:off x="5762123" y="2132700"/>
            <a:ext cx="0" cy="2687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4" name="Google Shape;864;p72"/>
          <p:cNvCxnSpPr/>
          <p:nvPr/>
        </p:nvCxnSpPr>
        <p:spPr>
          <a:xfrm>
            <a:off x="4390525" y="4144307"/>
            <a:ext cx="29310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5" name="Google Shape;865;p72"/>
          <p:cNvSpPr txBox="1"/>
          <p:nvPr/>
        </p:nvSpPr>
        <p:spPr>
          <a:xfrm>
            <a:off x="5651320" y="34589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6" name="Google Shape;866;p72"/>
          <p:cNvCxnSpPr/>
          <p:nvPr/>
        </p:nvCxnSpPr>
        <p:spPr>
          <a:xfrm rot="10800000" flipH="1">
            <a:off x="5089100" y="2317175"/>
            <a:ext cx="1442100" cy="2475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7" name="Google Shape;867;p72"/>
          <p:cNvSpPr txBox="1"/>
          <p:nvPr/>
        </p:nvSpPr>
        <p:spPr>
          <a:xfrm>
            <a:off x="5025387" y="3312000"/>
            <a:ext cx="648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(0, 18)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2"/>
          <p:cNvSpPr txBox="1"/>
          <p:nvPr/>
        </p:nvSpPr>
        <p:spPr>
          <a:xfrm>
            <a:off x="5651320" y="25445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2"/>
          <p:cNvSpPr txBox="1"/>
          <p:nvPr/>
        </p:nvSpPr>
        <p:spPr>
          <a:xfrm>
            <a:off x="5025387" y="2397600"/>
            <a:ext cx="648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(0, 68)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0" name="Google Shape;870;p72"/>
          <p:cNvCxnSpPr/>
          <p:nvPr/>
        </p:nvCxnSpPr>
        <p:spPr>
          <a:xfrm rot="10800000">
            <a:off x="5600768" y="2317050"/>
            <a:ext cx="995100" cy="2464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71" name="Google Shape;87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396" y="2997383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72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1091600" y="2007917"/>
            <a:ext cx="2877000" cy="1655662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2"/>
          <p:cNvSpPr txBox="1"/>
          <p:nvPr/>
        </p:nvSpPr>
        <p:spPr>
          <a:xfrm>
            <a:off x="1403125" y="2061850"/>
            <a:ext cx="23973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can see that the 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solution has to be positive. It must be mine,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4" name="Google Shape;874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6041" y="3796087"/>
            <a:ext cx="727174" cy="90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8" name="Shape 878"/>
        <p:cNvGrpSpPr/>
        <p:nvPr/>
      </p:nvGrpSpPr>
      <p:grpSpPr>
        <a:xfrm>
          <a:off x="0" y="0"/>
          <a:ext cx="0" cy="0"/>
        </a:xfrm>
      </p:grpSpPr>
      <p:sp>
        <p:nvSpPr>
          <p:cNvPr id="879" name="Google Shape;879;p7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 </a:t>
            </a:r>
            <a:endParaRPr/>
          </a:p>
        </p:txBody>
      </p:sp>
      <p:sp>
        <p:nvSpPr>
          <p:cNvPr id="880" name="Google Shape;880;p73"/>
          <p:cNvSpPr txBox="1"/>
          <p:nvPr/>
        </p:nvSpPr>
        <p:spPr>
          <a:xfrm>
            <a:off x="3219600" y="1087113"/>
            <a:ext cx="21378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+ 128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39 − 4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3"/>
          <p:cNvSpPr txBox="1"/>
          <p:nvPr>
            <p:ph type="subTitle" idx="1"/>
          </p:nvPr>
        </p:nvSpPr>
        <p:spPr>
          <a:xfrm>
            <a:off x="1034425" y="1837775"/>
            <a:ext cx="3111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solution is positive.</a:t>
            </a:r>
            <a:endParaRPr sz="2000"/>
          </a:p>
        </p:txBody>
      </p:sp>
      <p:sp>
        <p:nvSpPr>
          <p:cNvPr id="882" name="Google Shape;882;p73"/>
          <p:cNvSpPr txBox="1"/>
          <p:nvPr/>
        </p:nvSpPr>
        <p:spPr>
          <a:xfrm>
            <a:off x="6986560" y="1611805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3"/>
          <p:cNvSpPr txBox="1"/>
          <p:nvPr/>
        </p:nvSpPr>
        <p:spPr>
          <a:xfrm>
            <a:off x="8651450" y="3766685"/>
            <a:ext cx="1599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4" name="Google Shape;884;p73"/>
          <p:cNvCxnSpPr/>
          <p:nvPr/>
        </p:nvCxnSpPr>
        <p:spPr>
          <a:xfrm rot="10800000" flipH="1">
            <a:off x="7057523" y="1980300"/>
            <a:ext cx="0" cy="2687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5" name="Google Shape;885;p73"/>
          <p:cNvCxnSpPr/>
          <p:nvPr/>
        </p:nvCxnSpPr>
        <p:spPr>
          <a:xfrm>
            <a:off x="5685925" y="3991907"/>
            <a:ext cx="29310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6" name="Google Shape;886;p73"/>
          <p:cNvSpPr txBox="1"/>
          <p:nvPr/>
        </p:nvSpPr>
        <p:spPr>
          <a:xfrm>
            <a:off x="6946720" y="2380691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7" name="Google Shape;887;p73"/>
          <p:cNvCxnSpPr/>
          <p:nvPr/>
        </p:nvCxnSpPr>
        <p:spPr>
          <a:xfrm rot="10800000" flipH="1">
            <a:off x="6412375" y="2165000"/>
            <a:ext cx="770100" cy="24900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8" name="Google Shape;888;p73"/>
          <p:cNvSpPr txBox="1"/>
          <p:nvPr/>
        </p:nvSpPr>
        <p:spPr>
          <a:xfrm>
            <a:off x="7213998" y="2309893"/>
            <a:ext cx="7455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(0, 128)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3"/>
          <p:cNvSpPr txBox="1"/>
          <p:nvPr/>
        </p:nvSpPr>
        <p:spPr>
          <a:xfrm>
            <a:off x="6946720" y="31541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3"/>
          <p:cNvSpPr txBox="1"/>
          <p:nvPr/>
        </p:nvSpPr>
        <p:spPr>
          <a:xfrm>
            <a:off x="7235187" y="3083400"/>
            <a:ext cx="648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(0, 39)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1" name="Google Shape;891;p73"/>
          <p:cNvCxnSpPr/>
          <p:nvPr/>
        </p:nvCxnSpPr>
        <p:spPr>
          <a:xfrm rot="10800000">
            <a:off x="6263662" y="2164400"/>
            <a:ext cx="1679100" cy="2490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2" name="Google Shape;892;p73"/>
          <p:cNvSpPr txBox="1"/>
          <p:nvPr>
            <p:ph type="title"/>
          </p:nvPr>
        </p:nvSpPr>
        <p:spPr>
          <a:xfrm>
            <a:off x="324000" y="748775"/>
            <a:ext cx="75066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This sketch tells us what about the solution to this equation?</a:t>
            </a:r>
            <a:endParaRPr sz="2000"/>
          </a:p>
        </p:txBody>
      </p:sp>
      <p:sp>
        <p:nvSpPr>
          <p:cNvPr id="893" name="Google Shape;893;p73"/>
          <p:cNvSpPr txBox="1"/>
          <p:nvPr>
            <p:ph type="subTitle" idx="1"/>
          </p:nvPr>
        </p:nvSpPr>
        <p:spPr>
          <a:xfrm>
            <a:off x="1034425" y="2828375"/>
            <a:ext cx="3111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solution is negative.</a:t>
            </a:r>
            <a:endParaRPr sz="2000"/>
          </a:p>
        </p:txBody>
      </p:sp>
      <p:sp>
        <p:nvSpPr>
          <p:cNvPr id="894" name="Google Shape;894;p73"/>
          <p:cNvSpPr txBox="1"/>
          <p:nvPr>
            <p:ph type="subTitle" idx="1"/>
          </p:nvPr>
        </p:nvSpPr>
        <p:spPr>
          <a:xfrm>
            <a:off x="1034425" y="3807475"/>
            <a:ext cx="2628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There is no solution.</a:t>
            </a:r>
            <a:endParaRPr sz="2000"/>
          </a:p>
        </p:txBody>
      </p:sp>
      <p:pic>
        <p:nvPicPr>
          <p:cNvPr id="895" name="Google Shape;89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303" y="279056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73"/>
          <p:cNvSpPr/>
          <p:nvPr/>
        </p:nvSpPr>
        <p:spPr>
          <a:xfrm>
            <a:off x="6259250" y="2171075"/>
            <a:ext cx="745500" cy="1779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3"/>
          <p:cNvSpPr txBox="1"/>
          <p:nvPr/>
        </p:nvSpPr>
        <p:spPr>
          <a:xfrm>
            <a:off x="3543075" y="3225050"/>
            <a:ext cx="21942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values in the second quadrant are negative.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1" name="Shape 901"/>
        <p:cNvGrpSpPr/>
        <p:nvPr/>
      </p:nvGrpSpPr>
      <p:grpSpPr>
        <a:xfrm>
          <a:off x="0" y="0"/>
          <a:ext cx="0" cy="0"/>
        </a:xfrm>
      </p:grpSpPr>
      <p:sp>
        <p:nvSpPr>
          <p:cNvPr id="902" name="Google Shape;90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 </a:t>
            </a:r>
            <a:endParaRPr/>
          </a:p>
        </p:txBody>
      </p:sp>
      <p:sp>
        <p:nvSpPr>
          <p:cNvPr id="903" name="Google Shape;903;p74"/>
          <p:cNvSpPr txBox="1"/>
          <p:nvPr>
            <p:ph type="body" idx="1"/>
          </p:nvPr>
        </p:nvSpPr>
        <p:spPr>
          <a:xfrm>
            <a:off x="324000" y="770800"/>
            <a:ext cx="78375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A sketch can also help us to approximate the location of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intersection when solving pairs of simultaneous equations.</a:t>
            </a:r>
            <a:endParaRPr sz="2000"/>
          </a:p>
        </p:txBody>
      </p:sp>
      <p:sp>
        <p:nvSpPr>
          <p:cNvPr id="904" name="Google Shape;904;p74"/>
          <p:cNvSpPr txBox="1"/>
          <p:nvPr/>
        </p:nvSpPr>
        <p:spPr>
          <a:xfrm>
            <a:off x="324000" y="1620520"/>
            <a:ext cx="1761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4"/>
          <p:cNvSpPr txBox="1"/>
          <p:nvPr/>
        </p:nvSpPr>
        <p:spPr>
          <a:xfrm>
            <a:off x="6960045" y="1548175"/>
            <a:ext cx="246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4"/>
          <p:cNvSpPr txBox="1"/>
          <p:nvPr/>
        </p:nvSpPr>
        <p:spPr>
          <a:xfrm>
            <a:off x="8642449" y="3321974"/>
            <a:ext cx="16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7" name="Google Shape;907;p74"/>
          <p:cNvCxnSpPr/>
          <p:nvPr/>
        </p:nvCxnSpPr>
        <p:spPr>
          <a:xfrm rot="10800000" flipH="1">
            <a:off x="7035003" y="1942800"/>
            <a:ext cx="0" cy="287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8" name="Google Shape;908;p74"/>
          <p:cNvCxnSpPr/>
          <p:nvPr/>
        </p:nvCxnSpPr>
        <p:spPr>
          <a:xfrm>
            <a:off x="5510000" y="3563116"/>
            <a:ext cx="30960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9" name="Google Shape;909;p74"/>
          <p:cNvSpPr txBox="1"/>
          <p:nvPr/>
        </p:nvSpPr>
        <p:spPr>
          <a:xfrm>
            <a:off x="6917963" y="2219766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0" name="Google Shape;910;p74"/>
          <p:cNvCxnSpPr/>
          <p:nvPr/>
        </p:nvCxnSpPr>
        <p:spPr>
          <a:xfrm rot="10800000">
            <a:off x="6867863" y="2166066"/>
            <a:ext cx="1581300" cy="23394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1" name="Google Shape;911;p74"/>
          <p:cNvSpPr txBox="1"/>
          <p:nvPr/>
        </p:nvSpPr>
        <p:spPr>
          <a:xfrm>
            <a:off x="6379024" y="3938802"/>
            <a:ext cx="684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4"/>
          <p:cNvSpPr txBox="1"/>
          <p:nvPr/>
        </p:nvSpPr>
        <p:spPr>
          <a:xfrm>
            <a:off x="6917963" y="3726756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4"/>
          <p:cNvSpPr txBox="1"/>
          <p:nvPr/>
        </p:nvSpPr>
        <p:spPr>
          <a:xfrm>
            <a:off x="7247399" y="2150150"/>
            <a:ext cx="5292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4" name="Google Shape;914;p74"/>
          <p:cNvCxnSpPr/>
          <p:nvPr/>
        </p:nvCxnSpPr>
        <p:spPr>
          <a:xfrm rot="10800000">
            <a:off x="5542575" y="3500550"/>
            <a:ext cx="3024300" cy="823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5" name="Google Shape;915;p74"/>
          <p:cNvSpPr txBox="1"/>
          <p:nvPr/>
        </p:nvSpPr>
        <p:spPr>
          <a:xfrm>
            <a:off x="324000" y="2435707"/>
            <a:ext cx="1761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4"/>
          <p:cNvSpPr txBox="1"/>
          <p:nvPr/>
        </p:nvSpPr>
        <p:spPr>
          <a:xfrm>
            <a:off x="2305200" y="1620525"/>
            <a:ext cx="22668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0,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4"/>
          <p:cNvSpPr txBox="1"/>
          <p:nvPr/>
        </p:nvSpPr>
        <p:spPr>
          <a:xfrm>
            <a:off x="2305200" y="2001525"/>
            <a:ext cx="22668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0,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4"/>
          <p:cNvSpPr txBox="1"/>
          <p:nvPr/>
        </p:nvSpPr>
        <p:spPr>
          <a:xfrm>
            <a:off x="7691470" y="3385780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4"/>
          <p:cNvSpPr txBox="1"/>
          <p:nvPr/>
        </p:nvSpPr>
        <p:spPr>
          <a:xfrm>
            <a:off x="7944706" y="3251470"/>
            <a:ext cx="5292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(3, 0)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4"/>
          <p:cNvSpPr txBox="1"/>
          <p:nvPr/>
        </p:nvSpPr>
        <p:spPr>
          <a:xfrm>
            <a:off x="2305200" y="2435712"/>
            <a:ext cx="22668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0,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4"/>
          <p:cNvSpPr txBox="1"/>
          <p:nvPr/>
        </p:nvSpPr>
        <p:spPr>
          <a:xfrm>
            <a:off x="2305200" y="2816712"/>
            <a:ext cx="22668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0,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4"/>
          <p:cNvSpPr txBox="1"/>
          <p:nvPr/>
        </p:nvSpPr>
        <p:spPr>
          <a:xfrm>
            <a:off x="5083624" y="3597884"/>
            <a:ext cx="684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5, 0)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4"/>
          <p:cNvSpPr txBox="1"/>
          <p:nvPr/>
        </p:nvSpPr>
        <p:spPr>
          <a:xfrm>
            <a:off x="5622563" y="3385838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4"/>
          <p:cNvSpPr txBox="1"/>
          <p:nvPr>
            <p:ph type="body" idx="1"/>
          </p:nvPr>
        </p:nvSpPr>
        <p:spPr>
          <a:xfrm>
            <a:off x="324000" y="3232225"/>
            <a:ext cx="44622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Our sketch locates the intersection in the fourth quadrant.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solution to this pair of simultaneous equations must be a positive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value and a negative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value.</a:t>
            </a:r>
            <a:endParaRPr sz="1800"/>
          </a:p>
        </p:txBody>
      </p:sp>
      <p:sp>
        <p:nvSpPr>
          <p:cNvPr id="925" name="Google Shape;925;p74"/>
          <p:cNvSpPr/>
          <p:nvPr/>
        </p:nvSpPr>
        <p:spPr>
          <a:xfrm>
            <a:off x="7150625" y="3630375"/>
            <a:ext cx="1323300" cy="1099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9" name="Shape 929"/>
        <p:cNvGrpSpPr/>
        <p:nvPr/>
      </p:nvGrpSpPr>
      <p:grpSpPr>
        <a:xfrm>
          <a:off x="0" y="0"/>
          <a:ext cx="0" cy="0"/>
        </a:xfrm>
      </p:grpSpPr>
      <p:sp>
        <p:nvSpPr>
          <p:cNvPr id="930" name="Google Shape;930;p75"/>
          <p:cNvSpPr txBox="1"/>
          <p:nvPr>
            <p:ph type="title"/>
          </p:nvPr>
        </p:nvSpPr>
        <p:spPr>
          <a:xfrm>
            <a:off x="324000" y="748775"/>
            <a:ext cx="84873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solution to this pair of simultaneous equations is in which quadrant?</a:t>
            </a:r>
            <a:endParaRPr sz="1800"/>
          </a:p>
        </p:txBody>
      </p:sp>
      <p:sp>
        <p:nvSpPr>
          <p:cNvPr id="931" name="Google Shape;931;p7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 </a:t>
            </a:r>
            <a:endParaRPr/>
          </a:p>
        </p:txBody>
      </p:sp>
      <p:sp>
        <p:nvSpPr>
          <p:cNvPr id="932" name="Google Shape;932;p75"/>
          <p:cNvSpPr txBox="1"/>
          <p:nvPr>
            <p:ph type="subTitle" idx="1"/>
          </p:nvPr>
        </p:nvSpPr>
        <p:spPr>
          <a:xfrm>
            <a:off x="1034425" y="1837775"/>
            <a:ext cx="3111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second quadrant.</a:t>
            </a:r>
            <a:endParaRPr sz="2000"/>
          </a:p>
        </p:txBody>
      </p:sp>
      <p:sp>
        <p:nvSpPr>
          <p:cNvPr id="933" name="Google Shape;933;p75"/>
          <p:cNvSpPr txBox="1"/>
          <p:nvPr>
            <p:ph type="subTitle" idx="1"/>
          </p:nvPr>
        </p:nvSpPr>
        <p:spPr>
          <a:xfrm>
            <a:off x="1034425" y="2828375"/>
            <a:ext cx="3111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third quadrant.</a:t>
            </a:r>
            <a:endParaRPr sz="2000"/>
          </a:p>
        </p:txBody>
      </p:sp>
      <p:sp>
        <p:nvSpPr>
          <p:cNvPr id="934" name="Google Shape;934;p75"/>
          <p:cNvSpPr txBox="1"/>
          <p:nvPr>
            <p:ph type="subTitle" idx="1"/>
          </p:nvPr>
        </p:nvSpPr>
        <p:spPr>
          <a:xfrm>
            <a:off x="1034425" y="3807475"/>
            <a:ext cx="2628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fourth quadrant.</a:t>
            </a:r>
            <a:endParaRPr sz="2000"/>
          </a:p>
        </p:txBody>
      </p:sp>
      <p:pic>
        <p:nvPicPr>
          <p:cNvPr id="935" name="Google Shape;93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6703" y="279056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5"/>
          <p:cNvSpPr txBox="1"/>
          <p:nvPr/>
        </p:nvSpPr>
        <p:spPr>
          <a:xfrm>
            <a:off x="3372000" y="1087120"/>
            <a:ext cx="1761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− 10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5"/>
          <p:cNvSpPr txBox="1"/>
          <p:nvPr/>
        </p:nvSpPr>
        <p:spPr>
          <a:xfrm>
            <a:off x="3501387" y="1445107"/>
            <a:ext cx="1761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5"/>
          <p:cNvSpPr txBox="1"/>
          <p:nvPr/>
        </p:nvSpPr>
        <p:spPr>
          <a:xfrm>
            <a:off x="6960045" y="1090975"/>
            <a:ext cx="246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9" name="Google Shape;939;p75"/>
          <p:cNvCxnSpPr/>
          <p:nvPr/>
        </p:nvCxnSpPr>
        <p:spPr>
          <a:xfrm rot="10800000" flipH="1">
            <a:off x="7035003" y="1485600"/>
            <a:ext cx="0" cy="287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0" name="Google Shape;940;p75"/>
          <p:cNvCxnSpPr/>
          <p:nvPr/>
        </p:nvCxnSpPr>
        <p:spPr>
          <a:xfrm>
            <a:off x="5510000" y="3105916"/>
            <a:ext cx="30960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1" name="Google Shape;941;p75"/>
          <p:cNvSpPr txBox="1"/>
          <p:nvPr/>
        </p:nvSpPr>
        <p:spPr>
          <a:xfrm>
            <a:off x="6917963" y="2014180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2" name="Google Shape;942;p75"/>
          <p:cNvCxnSpPr/>
          <p:nvPr/>
        </p:nvCxnSpPr>
        <p:spPr>
          <a:xfrm rot="10800000" flipH="1">
            <a:off x="5778050" y="1708866"/>
            <a:ext cx="1581300" cy="23394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3" name="Google Shape;943;p75"/>
          <p:cNvSpPr txBox="1"/>
          <p:nvPr/>
        </p:nvSpPr>
        <p:spPr>
          <a:xfrm>
            <a:off x="6379024" y="3481602"/>
            <a:ext cx="684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5"/>
          <p:cNvSpPr txBox="1"/>
          <p:nvPr/>
        </p:nvSpPr>
        <p:spPr>
          <a:xfrm>
            <a:off x="6917963" y="3269556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5"/>
          <p:cNvSpPr txBox="1"/>
          <p:nvPr/>
        </p:nvSpPr>
        <p:spPr>
          <a:xfrm>
            <a:off x="7247399" y="1944563"/>
            <a:ext cx="5292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6" name="Google Shape;946;p75"/>
          <p:cNvCxnSpPr/>
          <p:nvPr/>
        </p:nvCxnSpPr>
        <p:spPr>
          <a:xfrm rot="10800000">
            <a:off x="5542575" y="3043350"/>
            <a:ext cx="3024300" cy="823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7" name="Google Shape;947;p75"/>
          <p:cNvSpPr txBox="1"/>
          <p:nvPr/>
        </p:nvSpPr>
        <p:spPr>
          <a:xfrm>
            <a:off x="6308363" y="2928580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5"/>
          <p:cNvSpPr txBox="1"/>
          <p:nvPr/>
        </p:nvSpPr>
        <p:spPr>
          <a:xfrm>
            <a:off x="5799592" y="2718075"/>
            <a:ext cx="684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3, 0)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5"/>
          <p:cNvSpPr txBox="1"/>
          <p:nvPr/>
        </p:nvSpPr>
        <p:spPr>
          <a:xfrm>
            <a:off x="5622563" y="2928638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5"/>
          <p:cNvSpPr/>
          <p:nvPr/>
        </p:nvSpPr>
        <p:spPr>
          <a:xfrm>
            <a:off x="5592105" y="3173175"/>
            <a:ext cx="1323300" cy="10998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5"/>
          <p:cNvSpPr txBox="1"/>
          <p:nvPr/>
        </p:nvSpPr>
        <p:spPr>
          <a:xfrm>
            <a:off x="8642449" y="2894947"/>
            <a:ext cx="16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5"/>
          <p:cNvSpPr txBox="1"/>
          <p:nvPr/>
        </p:nvSpPr>
        <p:spPr>
          <a:xfrm>
            <a:off x="5312224" y="3216884"/>
            <a:ext cx="684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5, 0)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6" name="Shape 956"/>
        <p:cNvGrpSpPr/>
        <p:nvPr/>
      </p:nvGrpSpPr>
      <p:grpSpPr>
        <a:xfrm>
          <a:off x="0" y="0"/>
          <a:ext cx="0" cy="0"/>
        </a:xfrm>
      </p:grpSpPr>
      <p:sp>
        <p:nvSpPr>
          <p:cNvPr id="957" name="Google Shape;957;p76"/>
          <p:cNvSpPr txBox="1"/>
          <p:nvPr>
            <p:ph type="title"/>
          </p:nvPr>
        </p:nvSpPr>
        <p:spPr>
          <a:xfrm>
            <a:off x="324000" y="748775"/>
            <a:ext cx="7135200" cy="37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Our solution is in the third quadrant. What does that tell us about our solution?</a:t>
            </a:r>
            <a:endParaRPr sz="2000"/>
          </a:p>
        </p:txBody>
      </p:sp>
      <p:sp>
        <p:nvSpPr>
          <p:cNvPr id="958" name="Google Shape;958;p7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 </a:t>
            </a:r>
            <a:endParaRPr/>
          </a:p>
        </p:txBody>
      </p:sp>
      <p:sp>
        <p:nvSpPr>
          <p:cNvPr id="959" name="Google Shape;959;p76"/>
          <p:cNvSpPr txBox="1"/>
          <p:nvPr>
            <p:ph type="subTitle" idx="1"/>
          </p:nvPr>
        </p:nvSpPr>
        <p:spPr>
          <a:xfrm>
            <a:off x="912198" y="1750068"/>
            <a:ext cx="2938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value is negative,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is positive.</a:t>
            </a:r>
            <a:endParaRPr/>
          </a:p>
        </p:txBody>
      </p:sp>
      <p:pic>
        <p:nvPicPr>
          <p:cNvPr id="960" name="Google Shape;96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3903" y="263816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76"/>
          <p:cNvSpPr txBox="1"/>
          <p:nvPr/>
        </p:nvSpPr>
        <p:spPr>
          <a:xfrm>
            <a:off x="3372000" y="1087120"/>
            <a:ext cx="1761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− 10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6"/>
          <p:cNvSpPr txBox="1"/>
          <p:nvPr/>
        </p:nvSpPr>
        <p:spPr>
          <a:xfrm>
            <a:off x="3501387" y="1445107"/>
            <a:ext cx="1761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6"/>
          <p:cNvSpPr txBox="1"/>
          <p:nvPr/>
        </p:nvSpPr>
        <p:spPr>
          <a:xfrm>
            <a:off x="6960045" y="1090975"/>
            <a:ext cx="246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4" name="Google Shape;964;p76"/>
          <p:cNvCxnSpPr/>
          <p:nvPr/>
        </p:nvCxnSpPr>
        <p:spPr>
          <a:xfrm rot="10800000" flipH="1">
            <a:off x="7035003" y="1485600"/>
            <a:ext cx="0" cy="287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5" name="Google Shape;965;p76"/>
          <p:cNvCxnSpPr/>
          <p:nvPr/>
        </p:nvCxnSpPr>
        <p:spPr>
          <a:xfrm>
            <a:off x="5510000" y="3105916"/>
            <a:ext cx="30960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6" name="Google Shape;966;p76"/>
          <p:cNvSpPr txBox="1"/>
          <p:nvPr/>
        </p:nvSpPr>
        <p:spPr>
          <a:xfrm>
            <a:off x="6917963" y="2014180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7" name="Google Shape;967;p76"/>
          <p:cNvCxnSpPr/>
          <p:nvPr/>
        </p:nvCxnSpPr>
        <p:spPr>
          <a:xfrm rot="10800000" flipH="1">
            <a:off x="5778050" y="1708866"/>
            <a:ext cx="1581300" cy="23394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8" name="Google Shape;968;p76"/>
          <p:cNvSpPr txBox="1"/>
          <p:nvPr/>
        </p:nvSpPr>
        <p:spPr>
          <a:xfrm>
            <a:off x="6379024" y="3481602"/>
            <a:ext cx="684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6"/>
          <p:cNvSpPr txBox="1"/>
          <p:nvPr/>
        </p:nvSpPr>
        <p:spPr>
          <a:xfrm>
            <a:off x="6917963" y="3269556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6"/>
          <p:cNvSpPr txBox="1"/>
          <p:nvPr/>
        </p:nvSpPr>
        <p:spPr>
          <a:xfrm>
            <a:off x="7247399" y="1944563"/>
            <a:ext cx="5292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1" name="Google Shape;971;p76"/>
          <p:cNvCxnSpPr/>
          <p:nvPr/>
        </p:nvCxnSpPr>
        <p:spPr>
          <a:xfrm rot="10800000">
            <a:off x="5542575" y="3043350"/>
            <a:ext cx="3024300" cy="823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2" name="Google Shape;972;p76"/>
          <p:cNvSpPr txBox="1"/>
          <p:nvPr/>
        </p:nvSpPr>
        <p:spPr>
          <a:xfrm>
            <a:off x="6308363" y="2928580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6"/>
          <p:cNvSpPr txBox="1"/>
          <p:nvPr/>
        </p:nvSpPr>
        <p:spPr>
          <a:xfrm>
            <a:off x="5799592" y="2718075"/>
            <a:ext cx="684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3, 0)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6"/>
          <p:cNvSpPr txBox="1"/>
          <p:nvPr/>
        </p:nvSpPr>
        <p:spPr>
          <a:xfrm>
            <a:off x="5312224" y="3216884"/>
            <a:ext cx="684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5, 0)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6"/>
          <p:cNvSpPr txBox="1"/>
          <p:nvPr/>
        </p:nvSpPr>
        <p:spPr>
          <a:xfrm>
            <a:off x="5622563" y="2928638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6"/>
          <p:cNvSpPr txBox="1"/>
          <p:nvPr>
            <p:ph type="subTitle" idx="1"/>
          </p:nvPr>
        </p:nvSpPr>
        <p:spPr>
          <a:xfrm>
            <a:off x="912198" y="2664468"/>
            <a:ext cx="2938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value is negative,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is negative.</a:t>
            </a:r>
            <a:endParaRPr/>
          </a:p>
        </p:txBody>
      </p:sp>
      <p:sp>
        <p:nvSpPr>
          <p:cNvPr id="977" name="Google Shape;977;p76"/>
          <p:cNvSpPr txBox="1"/>
          <p:nvPr>
            <p:ph type="subTitle" idx="1"/>
          </p:nvPr>
        </p:nvSpPr>
        <p:spPr>
          <a:xfrm>
            <a:off x="912198" y="3601882"/>
            <a:ext cx="2938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value is positive,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is negative.</a:t>
            </a:r>
            <a:endParaRPr/>
          </a:p>
        </p:txBody>
      </p:sp>
      <p:sp>
        <p:nvSpPr>
          <p:cNvPr id="978" name="Google Shape;978;p76"/>
          <p:cNvSpPr txBox="1"/>
          <p:nvPr/>
        </p:nvSpPr>
        <p:spPr>
          <a:xfrm>
            <a:off x="2649687" y="3049637"/>
            <a:ext cx="26853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values are negative in the third quadrant.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9" name="Google Shape;979;p76"/>
          <p:cNvSpPr txBox="1"/>
          <p:nvPr/>
        </p:nvSpPr>
        <p:spPr>
          <a:xfrm>
            <a:off x="8642449" y="2894947"/>
            <a:ext cx="16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3" name="Shape 983"/>
        <p:cNvGrpSpPr/>
        <p:nvPr/>
      </p:nvGrpSpPr>
      <p:grpSpPr>
        <a:xfrm>
          <a:off x="0" y="0"/>
          <a:ext cx="0" cy="0"/>
        </a:xfrm>
      </p:grpSpPr>
      <p:pic>
        <p:nvPicPr>
          <p:cNvPr id="984" name="Google Shape;98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0613" y="1929124"/>
            <a:ext cx="5137527" cy="2035263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sketches to locate intersections </a:t>
            </a:r>
            <a:endParaRPr/>
          </a:p>
        </p:txBody>
      </p:sp>
      <p:sp>
        <p:nvSpPr>
          <p:cNvPr id="986" name="Google Shape;986;p77"/>
          <p:cNvSpPr txBox="1"/>
          <p:nvPr/>
        </p:nvSpPr>
        <p:spPr>
          <a:xfrm>
            <a:off x="324000" y="823993"/>
            <a:ext cx="8087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It’s not just sketches of linear equations that solve problems.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7"/>
          <p:cNvSpPr txBox="1"/>
          <p:nvPr/>
        </p:nvSpPr>
        <p:spPr>
          <a:xfrm>
            <a:off x="8595570" y="4052450"/>
            <a:ext cx="2688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7"/>
          <p:cNvSpPr txBox="1"/>
          <p:nvPr/>
        </p:nvSpPr>
        <p:spPr>
          <a:xfrm>
            <a:off x="3448275" y="1766650"/>
            <a:ext cx="1869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7"/>
          <p:cNvSpPr/>
          <p:nvPr/>
        </p:nvSpPr>
        <p:spPr>
          <a:xfrm>
            <a:off x="4640281" y="2363185"/>
            <a:ext cx="249600" cy="27450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7"/>
          <p:cNvSpPr txBox="1"/>
          <p:nvPr/>
        </p:nvSpPr>
        <p:spPr>
          <a:xfrm>
            <a:off x="324000" y="1357425"/>
            <a:ext cx="2563200" cy="11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Laura sketches this parabola to model her throw of a cricket ball.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1" name="Google Shape;99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4196" y="3034602"/>
            <a:ext cx="542183" cy="14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77"/>
          <p:cNvSpPr txBox="1"/>
          <p:nvPr/>
        </p:nvSpPr>
        <p:spPr>
          <a:xfrm>
            <a:off x="3841404" y="3239900"/>
            <a:ext cx="764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7"/>
          <p:cNvSpPr txBox="1"/>
          <p:nvPr/>
        </p:nvSpPr>
        <p:spPr>
          <a:xfrm>
            <a:off x="3588177" y="3168745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7"/>
          <p:cNvSpPr txBox="1"/>
          <p:nvPr/>
        </p:nvSpPr>
        <p:spPr>
          <a:xfrm>
            <a:off x="5774963" y="2007078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7"/>
          <p:cNvSpPr txBox="1"/>
          <p:nvPr/>
        </p:nvSpPr>
        <p:spPr>
          <a:xfrm>
            <a:off x="7598218" y="3556207"/>
            <a:ext cx="764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(36,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77"/>
          <p:cNvSpPr txBox="1"/>
          <p:nvPr/>
        </p:nvSpPr>
        <p:spPr>
          <a:xfrm>
            <a:off x="8441963" y="3759678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7"/>
          <p:cNvSpPr txBox="1"/>
          <p:nvPr/>
        </p:nvSpPr>
        <p:spPr>
          <a:xfrm>
            <a:off x="324000" y="3186225"/>
            <a:ext cx="2563200" cy="11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A good sketch always contains important values.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77"/>
          <p:cNvSpPr txBox="1"/>
          <p:nvPr/>
        </p:nvSpPr>
        <p:spPr>
          <a:xfrm>
            <a:off x="5769418" y="2302487"/>
            <a:ext cx="764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(16,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2" name="Shape 1002"/>
        <p:cNvGrpSpPr/>
        <p:nvPr/>
      </p:nvGrpSpPr>
      <p:grpSpPr>
        <a:xfrm>
          <a:off x="0" y="0"/>
          <a:ext cx="0" cy="0"/>
        </a:xfrm>
      </p:grpSpPr>
      <p:pic>
        <p:nvPicPr>
          <p:cNvPr id="1003" name="Google Shape;100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0613" y="1929124"/>
            <a:ext cx="5137527" cy="2035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sketches to locate intersections </a:t>
            </a:r>
            <a:endParaRPr/>
          </a:p>
        </p:txBody>
      </p:sp>
      <p:sp>
        <p:nvSpPr>
          <p:cNvPr id="1005" name="Google Shape;1005;p78"/>
          <p:cNvSpPr txBox="1"/>
          <p:nvPr/>
        </p:nvSpPr>
        <p:spPr>
          <a:xfrm>
            <a:off x="324000" y="823993"/>
            <a:ext cx="8087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We can draw a line of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6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metres to ascertain how many times the ball was six metres above the ground.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8"/>
          <p:cNvSpPr/>
          <p:nvPr/>
        </p:nvSpPr>
        <p:spPr>
          <a:xfrm>
            <a:off x="4640281" y="2363185"/>
            <a:ext cx="249600" cy="27450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7" name="Google Shape;100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4196" y="3034602"/>
            <a:ext cx="542183" cy="14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78"/>
          <p:cNvSpPr txBox="1"/>
          <p:nvPr/>
        </p:nvSpPr>
        <p:spPr>
          <a:xfrm>
            <a:off x="3841404" y="3239900"/>
            <a:ext cx="764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8"/>
          <p:cNvSpPr txBox="1"/>
          <p:nvPr/>
        </p:nvSpPr>
        <p:spPr>
          <a:xfrm>
            <a:off x="3588177" y="3168745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8"/>
          <p:cNvSpPr txBox="1"/>
          <p:nvPr/>
        </p:nvSpPr>
        <p:spPr>
          <a:xfrm>
            <a:off x="5774963" y="2007078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8"/>
          <p:cNvSpPr txBox="1"/>
          <p:nvPr/>
        </p:nvSpPr>
        <p:spPr>
          <a:xfrm>
            <a:off x="7598218" y="3556207"/>
            <a:ext cx="764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(36,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8"/>
          <p:cNvSpPr txBox="1"/>
          <p:nvPr/>
        </p:nvSpPr>
        <p:spPr>
          <a:xfrm>
            <a:off x="8441963" y="3759678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3" name="Google Shape;1013;p78"/>
          <p:cNvCxnSpPr/>
          <p:nvPr/>
        </p:nvCxnSpPr>
        <p:spPr>
          <a:xfrm flipH="1">
            <a:off x="3632950" y="2698850"/>
            <a:ext cx="5039100" cy="6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14" name="Google Shape;1014;p78"/>
          <p:cNvSpPr txBox="1"/>
          <p:nvPr/>
        </p:nvSpPr>
        <p:spPr>
          <a:xfrm>
            <a:off x="8595570" y="4052450"/>
            <a:ext cx="2688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8"/>
          <p:cNvSpPr txBox="1"/>
          <p:nvPr/>
        </p:nvSpPr>
        <p:spPr>
          <a:xfrm>
            <a:off x="3448275" y="1766650"/>
            <a:ext cx="1869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8"/>
          <p:cNvSpPr txBox="1"/>
          <p:nvPr/>
        </p:nvSpPr>
        <p:spPr>
          <a:xfrm>
            <a:off x="8126573" y="2371013"/>
            <a:ext cx="764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6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8"/>
          <p:cNvSpPr txBox="1"/>
          <p:nvPr/>
        </p:nvSpPr>
        <p:spPr>
          <a:xfrm>
            <a:off x="4327163" y="2505900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8"/>
          <p:cNvSpPr txBox="1"/>
          <p:nvPr/>
        </p:nvSpPr>
        <p:spPr>
          <a:xfrm>
            <a:off x="7245777" y="2505900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8"/>
          <p:cNvSpPr txBox="1"/>
          <p:nvPr/>
        </p:nvSpPr>
        <p:spPr>
          <a:xfrm>
            <a:off x="324000" y="1890800"/>
            <a:ext cx="2924100" cy="18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Two intersections tell us there were two moments when the ball was six metres above the ground.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8"/>
          <p:cNvSpPr txBox="1"/>
          <p:nvPr/>
        </p:nvSpPr>
        <p:spPr>
          <a:xfrm>
            <a:off x="5769418" y="2302487"/>
            <a:ext cx="764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(16,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4" name="Shape 1024"/>
        <p:cNvGrpSpPr/>
        <p:nvPr/>
      </p:nvGrpSpPr>
      <p:grpSpPr>
        <a:xfrm>
          <a:off x="0" y="0"/>
          <a:ext cx="0" cy="0"/>
        </a:xfrm>
      </p:grpSpPr>
      <p:pic>
        <p:nvPicPr>
          <p:cNvPr id="1025" name="Google Shape;102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0613" y="1929124"/>
            <a:ext cx="5137527" cy="2035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 </a:t>
            </a:r>
            <a:endParaRPr/>
          </a:p>
        </p:txBody>
      </p:sp>
      <p:sp>
        <p:nvSpPr>
          <p:cNvPr id="1027" name="Google Shape;1027;p79"/>
          <p:cNvSpPr txBox="1"/>
          <p:nvPr/>
        </p:nvSpPr>
        <p:spPr>
          <a:xfrm>
            <a:off x="324000" y="823993"/>
            <a:ext cx="8087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What does this line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10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tell us?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9"/>
          <p:cNvSpPr/>
          <p:nvPr/>
        </p:nvSpPr>
        <p:spPr>
          <a:xfrm>
            <a:off x="4640281" y="2363185"/>
            <a:ext cx="249600" cy="27450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9" name="Google Shape;102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4196" y="3034602"/>
            <a:ext cx="542183" cy="14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79"/>
          <p:cNvSpPr txBox="1"/>
          <p:nvPr/>
        </p:nvSpPr>
        <p:spPr>
          <a:xfrm>
            <a:off x="3841404" y="3239900"/>
            <a:ext cx="764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9"/>
          <p:cNvSpPr txBox="1"/>
          <p:nvPr/>
        </p:nvSpPr>
        <p:spPr>
          <a:xfrm>
            <a:off x="3588177" y="3168745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9"/>
          <p:cNvSpPr txBox="1"/>
          <p:nvPr/>
        </p:nvSpPr>
        <p:spPr>
          <a:xfrm>
            <a:off x="5769418" y="2302487"/>
            <a:ext cx="764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(16,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9"/>
          <p:cNvSpPr txBox="1"/>
          <p:nvPr/>
        </p:nvSpPr>
        <p:spPr>
          <a:xfrm>
            <a:off x="5774963" y="2007078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9"/>
          <p:cNvSpPr txBox="1"/>
          <p:nvPr/>
        </p:nvSpPr>
        <p:spPr>
          <a:xfrm>
            <a:off x="7598218" y="3556207"/>
            <a:ext cx="764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(36,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9"/>
          <p:cNvSpPr txBox="1"/>
          <p:nvPr/>
        </p:nvSpPr>
        <p:spPr>
          <a:xfrm>
            <a:off x="8441963" y="3759678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6" name="Google Shape;1036;p79"/>
          <p:cNvCxnSpPr/>
          <p:nvPr/>
        </p:nvCxnSpPr>
        <p:spPr>
          <a:xfrm flipH="1">
            <a:off x="3632950" y="2024557"/>
            <a:ext cx="5039100" cy="6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37" name="Google Shape;1037;p79"/>
          <p:cNvSpPr txBox="1"/>
          <p:nvPr/>
        </p:nvSpPr>
        <p:spPr>
          <a:xfrm>
            <a:off x="8595570" y="4052450"/>
            <a:ext cx="2688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9"/>
          <p:cNvSpPr txBox="1"/>
          <p:nvPr/>
        </p:nvSpPr>
        <p:spPr>
          <a:xfrm>
            <a:off x="3448275" y="1766650"/>
            <a:ext cx="1869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9"/>
          <p:cNvSpPr txBox="1"/>
          <p:nvPr/>
        </p:nvSpPr>
        <p:spPr>
          <a:xfrm>
            <a:off x="7977300" y="1685225"/>
            <a:ext cx="913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10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9"/>
          <p:cNvSpPr txBox="1"/>
          <p:nvPr/>
        </p:nvSpPr>
        <p:spPr>
          <a:xfrm>
            <a:off x="324000" y="1357400"/>
            <a:ext cx="3045600" cy="14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No intersections tells us the ball never reached a point where it was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 m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above the ground.</a:t>
            </a:r>
            <a:endParaRPr sz="21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4" name="Shape 1044"/>
        <p:cNvGrpSpPr/>
        <p:nvPr/>
      </p:nvGrpSpPr>
      <p:grpSpPr>
        <a:xfrm>
          <a:off x="0" y="0"/>
          <a:ext cx="0" cy="0"/>
        </a:xfrm>
      </p:grpSpPr>
      <p:sp>
        <p:nvSpPr>
          <p:cNvPr id="1045" name="Google Shape;1045;p80"/>
          <p:cNvSpPr txBox="1"/>
          <p:nvPr>
            <p:ph type="body" idx="1"/>
          </p:nvPr>
        </p:nvSpPr>
        <p:spPr>
          <a:xfrm>
            <a:off x="324000" y="759300"/>
            <a:ext cx="8237700" cy="7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Sketch two lines for each equation to decide if the solution is positive or negative.</a:t>
            </a:r>
            <a:endParaRPr sz="2000"/>
          </a:p>
        </p:txBody>
      </p:sp>
      <p:sp>
        <p:nvSpPr>
          <p:cNvPr id="1046" name="Google Shape;1046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</a:t>
            </a:r>
            <a:endParaRPr/>
          </a:p>
        </p:txBody>
      </p:sp>
      <p:sp>
        <p:nvSpPr>
          <p:cNvPr id="1047" name="Google Shape;1047;p80"/>
          <p:cNvSpPr txBox="1"/>
          <p:nvPr/>
        </p:nvSpPr>
        <p:spPr>
          <a:xfrm>
            <a:off x="324000" y="1544325"/>
            <a:ext cx="23811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15 − 9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0"/>
          <p:cNvSpPr txBox="1"/>
          <p:nvPr/>
        </p:nvSpPr>
        <p:spPr>
          <a:xfrm>
            <a:off x="4339587" y="1544325"/>
            <a:ext cx="23811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9 − 15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80"/>
          <p:cNvSpPr txBox="1"/>
          <p:nvPr>
            <p:ph type="body" idx="1"/>
          </p:nvPr>
        </p:nvSpPr>
        <p:spPr>
          <a:xfrm>
            <a:off x="324000" y="2606766"/>
            <a:ext cx="8237700" cy="7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Don’t forget to label key features like 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-intercept.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3" name="Shape 1053"/>
        <p:cNvGrpSpPr/>
        <p:nvPr/>
      </p:nvGrpSpPr>
      <p:grpSpPr>
        <a:xfrm>
          <a:off x="0" y="0"/>
          <a:ext cx="0" cy="0"/>
        </a:xfrm>
      </p:grpSpPr>
      <p:sp>
        <p:nvSpPr>
          <p:cNvPr id="1054" name="Google Shape;1054;p81"/>
          <p:cNvSpPr txBox="1"/>
          <p:nvPr>
            <p:ph type="body" idx="1"/>
          </p:nvPr>
        </p:nvSpPr>
        <p:spPr>
          <a:xfrm>
            <a:off x="324000" y="759300"/>
            <a:ext cx="4500000" cy="7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2) What equations does this sketch help us to solve and what can we see about the solution?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Write at least two sentences.</a:t>
            </a:r>
            <a:endParaRPr sz="2000"/>
          </a:p>
        </p:txBody>
      </p:sp>
      <p:sp>
        <p:nvSpPr>
          <p:cNvPr id="1055" name="Google Shape;1055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</a:t>
            </a:r>
            <a:endParaRPr/>
          </a:p>
        </p:txBody>
      </p:sp>
      <p:sp>
        <p:nvSpPr>
          <p:cNvPr id="1056" name="Google Shape;1056;p81"/>
          <p:cNvSpPr txBox="1"/>
          <p:nvPr/>
        </p:nvSpPr>
        <p:spPr>
          <a:xfrm>
            <a:off x="6407979" y="961588"/>
            <a:ext cx="246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7" name="Google Shape;1057;p81"/>
          <p:cNvCxnSpPr/>
          <p:nvPr/>
        </p:nvCxnSpPr>
        <p:spPr>
          <a:xfrm rot="10800000" flipH="1">
            <a:off x="6463784" y="1356213"/>
            <a:ext cx="0" cy="287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8" name="Google Shape;1058;p81"/>
          <p:cNvCxnSpPr/>
          <p:nvPr/>
        </p:nvCxnSpPr>
        <p:spPr>
          <a:xfrm>
            <a:off x="4595015" y="2976530"/>
            <a:ext cx="37938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9" name="Google Shape;1059;p81"/>
          <p:cNvSpPr txBox="1"/>
          <p:nvPr/>
        </p:nvSpPr>
        <p:spPr>
          <a:xfrm>
            <a:off x="6342884" y="1884793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0" name="Google Shape;1060;p81"/>
          <p:cNvCxnSpPr/>
          <p:nvPr/>
        </p:nvCxnSpPr>
        <p:spPr>
          <a:xfrm rot="10800000" flipH="1">
            <a:off x="4593288" y="1459088"/>
            <a:ext cx="2907300" cy="1692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1" name="Google Shape;1061;p81"/>
          <p:cNvSpPr txBox="1"/>
          <p:nvPr/>
        </p:nvSpPr>
        <p:spPr>
          <a:xfrm>
            <a:off x="6565944" y="3264509"/>
            <a:ext cx="684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1"/>
          <p:cNvSpPr txBox="1"/>
          <p:nvPr/>
        </p:nvSpPr>
        <p:spPr>
          <a:xfrm>
            <a:off x="6342884" y="3368770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1"/>
          <p:cNvSpPr txBox="1"/>
          <p:nvPr/>
        </p:nvSpPr>
        <p:spPr>
          <a:xfrm>
            <a:off x="6615169" y="1958052"/>
            <a:ext cx="5292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(0, 3)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4" name="Google Shape;1064;p81"/>
          <p:cNvCxnSpPr/>
          <p:nvPr/>
        </p:nvCxnSpPr>
        <p:spPr>
          <a:xfrm rot="10800000">
            <a:off x="4605832" y="2302034"/>
            <a:ext cx="2911200" cy="1944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5" name="Google Shape;1065;p81"/>
          <p:cNvSpPr txBox="1"/>
          <p:nvPr/>
        </p:nvSpPr>
        <p:spPr>
          <a:xfrm>
            <a:off x="4772857" y="2799193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81"/>
          <p:cNvSpPr txBox="1"/>
          <p:nvPr/>
        </p:nvSpPr>
        <p:spPr>
          <a:xfrm>
            <a:off x="5658699" y="2664888"/>
            <a:ext cx="684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1"/>
          <p:cNvSpPr txBox="1"/>
          <p:nvPr/>
        </p:nvSpPr>
        <p:spPr>
          <a:xfrm>
            <a:off x="4714138" y="3087488"/>
            <a:ext cx="63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1"/>
          <p:cNvSpPr txBox="1"/>
          <p:nvPr/>
        </p:nvSpPr>
        <p:spPr>
          <a:xfrm>
            <a:off x="5481670" y="2799251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1"/>
          <p:cNvSpPr txBox="1"/>
          <p:nvPr/>
        </p:nvSpPr>
        <p:spPr>
          <a:xfrm>
            <a:off x="8425356" y="2765561"/>
            <a:ext cx="16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1"/>
          <p:cNvSpPr txBox="1"/>
          <p:nvPr/>
        </p:nvSpPr>
        <p:spPr>
          <a:xfrm>
            <a:off x="7117307" y="1110138"/>
            <a:ext cx="14727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1"/>
          <p:cNvSpPr txBox="1"/>
          <p:nvPr/>
        </p:nvSpPr>
        <p:spPr>
          <a:xfrm>
            <a:off x="6888707" y="4245840"/>
            <a:ext cx="1761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5" name="Shape 1075"/>
        <p:cNvGrpSpPr/>
        <p:nvPr/>
      </p:nvGrpSpPr>
      <p:grpSpPr>
        <a:xfrm>
          <a:off x="0" y="0"/>
          <a:ext cx="0" cy="0"/>
        </a:xfrm>
      </p:grpSpPr>
      <p:sp>
        <p:nvSpPr>
          <p:cNvPr id="1076" name="Google Shape;1076;p82"/>
          <p:cNvSpPr txBox="1"/>
          <p:nvPr>
            <p:ph type="body" idx="1"/>
          </p:nvPr>
        </p:nvSpPr>
        <p:spPr>
          <a:xfrm>
            <a:off x="324000" y="759300"/>
            <a:ext cx="8284200" cy="7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3) Draw appropriate lines on this graph and identify intersections to answer these questions about Laura’s improving cricket throw.</a:t>
            </a:r>
            <a:endParaRPr sz="2000"/>
          </a:p>
        </p:txBody>
      </p:sp>
      <p:sp>
        <p:nvSpPr>
          <p:cNvPr id="1077" name="Google Shape;1077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</a:t>
            </a:r>
            <a:endParaRPr/>
          </a:p>
        </p:txBody>
      </p:sp>
      <p:pic>
        <p:nvPicPr>
          <p:cNvPr id="1078" name="Google Shape;107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2339" y="1852924"/>
            <a:ext cx="4918901" cy="2035261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82"/>
          <p:cNvSpPr/>
          <p:nvPr/>
        </p:nvSpPr>
        <p:spPr>
          <a:xfrm>
            <a:off x="4821169" y="2286984"/>
            <a:ext cx="239100" cy="27450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0" name="Google Shape;1080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0" y="2992921"/>
            <a:ext cx="519111" cy="14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82"/>
          <p:cNvSpPr txBox="1"/>
          <p:nvPr/>
        </p:nvSpPr>
        <p:spPr>
          <a:xfrm>
            <a:off x="4056301" y="3163700"/>
            <a:ext cx="827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2"/>
          <p:cNvSpPr txBox="1"/>
          <p:nvPr/>
        </p:nvSpPr>
        <p:spPr>
          <a:xfrm>
            <a:off x="3813836" y="3092543"/>
            <a:ext cx="2574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2"/>
          <p:cNvSpPr txBox="1"/>
          <p:nvPr/>
        </p:nvSpPr>
        <p:spPr>
          <a:xfrm>
            <a:off x="5907565" y="1930878"/>
            <a:ext cx="2574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2"/>
          <p:cNvSpPr txBox="1"/>
          <p:nvPr/>
        </p:nvSpPr>
        <p:spPr>
          <a:xfrm>
            <a:off x="7653232" y="3480005"/>
            <a:ext cx="7320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(45,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2"/>
          <p:cNvSpPr txBox="1"/>
          <p:nvPr/>
        </p:nvSpPr>
        <p:spPr>
          <a:xfrm>
            <a:off x="8461073" y="3683476"/>
            <a:ext cx="2574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2"/>
          <p:cNvSpPr txBox="1"/>
          <p:nvPr/>
        </p:nvSpPr>
        <p:spPr>
          <a:xfrm>
            <a:off x="8608142" y="3976248"/>
            <a:ext cx="2574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2"/>
          <p:cNvSpPr txBox="1"/>
          <p:nvPr/>
        </p:nvSpPr>
        <p:spPr>
          <a:xfrm>
            <a:off x="3679888" y="1690450"/>
            <a:ext cx="1788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2"/>
          <p:cNvSpPr txBox="1"/>
          <p:nvPr/>
        </p:nvSpPr>
        <p:spPr>
          <a:xfrm>
            <a:off x="5610434" y="2226274"/>
            <a:ext cx="827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(20,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2"/>
          <p:cNvSpPr txBox="1"/>
          <p:nvPr>
            <p:ph type="body" idx="1"/>
          </p:nvPr>
        </p:nvSpPr>
        <p:spPr>
          <a:xfrm>
            <a:off x="324000" y="1562975"/>
            <a:ext cx="3045600" cy="7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How many times was the ball at a height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 m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090" name="Google Shape;1090;p82"/>
          <p:cNvSpPr txBox="1"/>
          <p:nvPr>
            <p:ph type="body" idx="1"/>
          </p:nvPr>
        </p:nvSpPr>
        <p:spPr>
          <a:xfrm>
            <a:off x="324000" y="2629775"/>
            <a:ext cx="3045600" cy="7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How many times was the ball at a height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 m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091" name="Google Shape;1091;p82"/>
          <p:cNvSpPr txBox="1"/>
          <p:nvPr>
            <p:ph type="body" idx="1"/>
          </p:nvPr>
        </p:nvSpPr>
        <p:spPr>
          <a:xfrm>
            <a:off x="324000" y="3738255"/>
            <a:ext cx="3045600" cy="7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How many times was the ball at a height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 m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?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5" name="Shape 1095"/>
        <p:cNvGrpSpPr/>
        <p:nvPr/>
      </p:nvGrpSpPr>
      <p:grpSpPr>
        <a:xfrm>
          <a:off x="0" y="0"/>
          <a:ext cx="0" cy="0"/>
        </a:xfrm>
      </p:grpSpPr>
      <p:sp>
        <p:nvSpPr>
          <p:cNvPr id="1096" name="Google Shape;1096;p83"/>
          <p:cNvSpPr txBox="1"/>
          <p:nvPr/>
        </p:nvSpPr>
        <p:spPr>
          <a:xfrm>
            <a:off x="3196587" y="2474950"/>
            <a:ext cx="648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(0, 31)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3"/>
          <p:cNvSpPr txBox="1"/>
          <p:nvPr/>
        </p:nvSpPr>
        <p:spPr>
          <a:xfrm>
            <a:off x="2908120" y="25445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3"/>
          <p:cNvSpPr txBox="1"/>
          <p:nvPr>
            <p:ph type="body" idx="1"/>
          </p:nvPr>
        </p:nvSpPr>
        <p:spPr>
          <a:xfrm>
            <a:off x="324000" y="759300"/>
            <a:ext cx="8237700" cy="64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Sketch two lines for each equation to decide if the solution is positive or negative.</a:t>
            </a:r>
            <a:endParaRPr sz="2000"/>
          </a:p>
        </p:txBody>
      </p:sp>
      <p:sp>
        <p:nvSpPr>
          <p:cNvPr id="1099" name="Google Shape;1099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</a:t>
            </a:r>
            <a:endParaRPr/>
          </a:p>
        </p:txBody>
      </p:sp>
      <p:sp>
        <p:nvSpPr>
          <p:cNvPr id="1100" name="Google Shape;1100;p83"/>
          <p:cNvSpPr txBox="1"/>
          <p:nvPr/>
        </p:nvSpPr>
        <p:spPr>
          <a:xfrm>
            <a:off x="324000" y="1544325"/>
            <a:ext cx="23811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15 − 9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3"/>
          <p:cNvSpPr txBox="1"/>
          <p:nvPr/>
        </p:nvSpPr>
        <p:spPr>
          <a:xfrm>
            <a:off x="2947960" y="1764205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3"/>
          <p:cNvSpPr txBox="1"/>
          <p:nvPr/>
        </p:nvSpPr>
        <p:spPr>
          <a:xfrm>
            <a:off x="4612850" y="3919085"/>
            <a:ext cx="1599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3" name="Google Shape;1103;p83"/>
          <p:cNvCxnSpPr/>
          <p:nvPr/>
        </p:nvCxnSpPr>
        <p:spPr>
          <a:xfrm rot="10800000" flipH="1">
            <a:off x="3018923" y="2132700"/>
            <a:ext cx="0" cy="2687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4" name="Google Shape;1104;p83"/>
          <p:cNvCxnSpPr/>
          <p:nvPr/>
        </p:nvCxnSpPr>
        <p:spPr>
          <a:xfrm>
            <a:off x="1647325" y="4144307"/>
            <a:ext cx="29310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5" name="Google Shape;1105;p83"/>
          <p:cNvCxnSpPr/>
          <p:nvPr/>
        </p:nvCxnSpPr>
        <p:spPr>
          <a:xfrm rot="10800000" flipH="1">
            <a:off x="2193500" y="2296175"/>
            <a:ext cx="994200" cy="2496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6" name="Google Shape;1106;p83"/>
          <p:cNvSpPr txBox="1"/>
          <p:nvPr/>
        </p:nvSpPr>
        <p:spPr>
          <a:xfrm>
            <a:off x="2908120" y="32303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3"/>
          <p:cNvSpPr txBox="1"/>
          <p:nvPr/>
        </p:nvSpPr>
        <p:spPr>
          <a:xfrm>
            <a:off x="3196587" y="3270320"/>
            <a:ext cx="648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(0, 15)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3"/>
          <p:cNvSpPr txBox="1"/>
          <p:nvPr/>
        </p:nvSpPr>
        <p:spPr>
          <a:xfrm>
            <a:off x="4339587" y="1544325"/>
            <a:ext cx="23811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9 − 15</a:t>
            </a: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3"/>
          <p:cNvSpPr txBox="1"/>
          <p:nvPr/>
        </p:nvSpPr>
        <p:spPr>
          <a:xfrm>
            <a:off x="6963546" y="1764205"/>
            <a:ext cx="2334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3"/>
          <p:cNvSpPr txBox="1"/>
          <p:nvPr/>
        </p:nvSpPr>
        <p:spPr>
          <a:xfrm>
            <a:off x="8628437" y="2806258"/>
            <a:ext cx="1599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1" name="Google Shape;1111;p83"/>
          <p:cNvCxnSpPr/>
          <p:nvPr/>
        </p:nvCxnSpPr>
        <p:spPr>
          <a:xfrm rot="10800000" flipH="1">
            <a:off x="7034510" y="2132700"/>
            <a:ext cx="0" cy="2687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2" name="Google Shape;1112;p83"/>
          <p:cNvCxnSpPr/>
          <p:nvPr/>
        </p:nvCxnSpPr>
        <p:spPr>
          <a:xfrm>
            <a:off x="5662912" y="3031480"/>
            <a:ext cx="29310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3" name="Google Shape;1113;p83"/>
          <p:cNvSpPr txBox="1"/>
          <p:nvPr/>
        </p:nvSpPr>
        <p:spPr>
          <a:xfrm>
            <a:off x="6923707" y="34589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3"/>
          <p:cNvSpPr txBox="1"/>
          <p:nvPr/>
        </p:nvSpPr>
        <p:spPr>
          <a:xfrm>
            <a:off x="6193750" y="3464400"/>
            <a:ext cx="752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(0,−31)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3"/>
          <p:cNvSpPr txBox="1"/>
          <p:nvPr/>
        </p:nvSpPr>
        <p:spPr>
          <a:xfrm>
            <a:off x="6923707" y="2392198"/>
            <a:ext cx="254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3"/>
          <p:cNvSpPr txBox="1"/>
          <p:nvPr/>
        </p:nvSpPr>
        <p:spPr>
          <a:xfrm>
            <a:off x="6373975" y="2409107"/>
            <a:ext cx="5289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(0, 9)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7" name="Google Shape;1117;p83"/>
          <p:cNvCxnSpPr/>
          <p:nvPr/>
        </p:nvCxnSpPr>
        <p:spPr>
          <a:xfrm rot="10800000">
            <a:off x="6972438" y="2316975"/>
            <a:ext cx="567600" cy="2487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8" name="Google Shape;1118;p83"/>
          <p:cNvCxnSpPr/>
          <p:nvPr/>
        </p:nvCxnSpPr>
        <p:spPr>
          <a:xfrm rot="10800000">
            <a:off x="2594448" y="2318200"/>
            <a:ext cx="995100" cy="2464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9" name="Google Shape;1119;p83"/>
          <p:cNvCxnSpPr/>
          <p:nvPr/>
        </p:nvCxnSpPr>
        <p:spPr>
          <a:xfrm rot="10800000" flipH="1">
            <a:off x="6590087" y="2296175"/>
            <a:ext cx="994200" cy="2496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0" name="Google Shape;1120;p83"/>
          <p:cNvSpPr txBox="1"/>
          <p:nvPr/>
        </p:nvSpPr>
        <p:spPr>
          <a:xfrm>
            <a:off x="340662" y="2493212"/>
            <a:ext cx="18834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Intersection in the second quadrant, solution for 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must be negative.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1" name="Google Shape;1121;p83"/>
          <p:cNvSpPr txBox="1"/>
          <p:nvPr/>
        </p:nvSpPr>
        <p:spPr>
          <a:xfrm>
            <a:off x="4402275" y="2493200"/>
            <a:ext cx="19671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Intersection in the fourth quadrant, solution for 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must be positive.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5" name="Shape 1125"/>
        <p:cNvGrpSpPr/>
        <p:nvPr/>
      </p:nvGrpSpPr>
      <p:grpSpPr>
        <a:xfrm>
          <a:off x="0" y="0"/>
          <a:ext cx="0" cy="0"/>
        </a:xfrm>
      </p:grpSpPr>
      <p:sp>
        <p:nvSpPr>
          <p:cNvPr id="1126" name="Google Shape;1126;p84"/>
          <p:cNvSpPr txBox="1"/>
          <p:nvPr/>
        </p:nvSpPr>
        <p:spPr>
          <a:xfrm>
            <a:off x="324000" y="1814600"/>
            <a:ext cx="4178100" cy="9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written, “This sketch shows us that the intersection of the pair of simultaneous equations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7" name="Google Shape;1127;p84"/>
          <p:cNvSpPr txBox="1"/>
          <p:nvPr>
            <p:ph type="body" idx="1"/>
          </p:nvPr>
        </p:nvSpPr>
        <p:spPr>
          <a:xfrm>
            <a:off x="324000" y="759300"/>
            <a:ext cx="4248000" cy="112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What equations does this sketch help us to solve and what can we see about the solution?</a:t>
            </a:r>
            <a:endParaRPr sz="2000"/>
          </a:p>
        </p:txBody>
      </p:sp>
      <p:sp>
        <p:nvSpPr>
          <p:cNvPr id="1128" name="Google Shape;1128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</a:t>
            </a:r>
            <a:endParaRPr/>
          </a:p>
        </p:txBody>
      </p:sp>
      <p:sp>
        <p:nvSpPr>
          <p:cNvPr id="1129" name="Google Shape;1129;p84"/>
          <p:cNvSpPr txBox="1"/>
          <p:nvPr/>
        </p:nvSpPr>
        <p:spPr>
          <a:xfrm>
            <a:off x="922093" y="2839725"/>
            <a:ext cx="14727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4"/>
          <p:cNvSpPr txBox="1"/>
          <p:nvPr/>
        </p:nvSpPr>
        <p:spPr>
          <a:xfrm>
            <a:off x="922093" y="3227880"/>
            <a:ext cx="1761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4"/>
          <p:cNvSpPr txBox="1"/>
          <p:nvPr/>
        </p:nvSpPr>
        <p:spPr>
          <a:xfrm>
            <a:off x="6407979" y="961588"/>
            <a:ext cx="246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2" name="Google Shape;1132;p84"/>
          <p:cNvCxnSpPr/>
          <p:nvPr/>
        </p:nvCxnSpPr>
        <p:spPr>
          <a:xfrm rot="10800000" flipH="1">
            <a:off x="6463784" y="1356213"/>
            <a:ext cx="0" cy="2877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3" name="Google Shape;1133;p84"/>
          <p:cNvCxnSpPr/>
          <p:nvPr/>
        </p:nvCxnSpPr>
        <p:spPr>
          <a:xfrm>
            <a:off x="4595015" y="2976530"/>
            <a:ext cx="37938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34" name="Google Shape;1134;p84"/>
          <p:cNvSpPr txBox="1"/>
          <p:nvPr/>
        </p:nvSpPr>
        <p:spPr>
          <a:xfrm>
            <a:off x="6342884" y="1884793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5" name="Google Shape;1135;p84"/>
          <p:cNvCxnSpPr/>
          <p:nvPr/>
        </p:nvCxnSpPr>
        <p:spPr>
          <a:xfrm rot="10800000" flipH="1">
            <a:off x="4593288" y="1459088"/>
            <a:ext cx="2907300" cy="1692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6" name="Google Shape;1136;p84"/>
          <p:cNvSpPr txBox="1"/>
          <p:nvPr/>
        </p:nvSpPr>
        <p:spPr>
          <a:xfrm>
            <a:off x="6565944" y="3264509"/>
            <a:ext cx="684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84"/>
          <p:cNvSpPr txBox="1"/>
          <p:nvPr/>
        </p:nvSpPr>
        <p:spPr>
          <a:xfrm>
            <a:off x="6342884" y="3368770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84"/>
          <p:cNvSpPr txBox="1"/>
          <p:nvPr/>
        </p:nvSpPr>
        <p:spPr>
          <a:xfrm>
            <a:off x="6615169" y="1958052"/>
            <a:ext cx="5292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(0, 3)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9" name="Google Shape;1139;p84"/>
          <p:cNvCxnSpPr/>
          <p:nvPr/>
        </p:nvCxnSpPr>
        <p:spPr>
          <a:xfrm rot="10800000">
            <a:off x="4605832" y="2302034"/>
            <a:ext cx="2911200" cy="1944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0" name="Google Shape;1140;p84"/>
          <p:cNvSpPr txBox="1"/>
          <p:nvPr/>
        </p:nvSpPr>
        <p:spPr>
          <a:xfrm>
            <a:off x="4772857" y="2799193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84"/>
          <p:cNvSpPr txBox="1"/>
          <p:nvPr/>
        </p:nvSpPr>
        <p:spPr>
          <a:xfrm>
            <a:off x="5658699" y="2664888"/>
            <a:ext cx="6846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84"/>
          <p:cNvSpPr txBox="1"/>
          <p:nvPr/>
        </p:nvSpPr>
        <p:spPr>
          <a:xfrm>
            <a:off x="4714138" y="3087488"/>
            <a:ext cx="63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(0,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84"/>
          <p:cNvSpPr txBox="1"/>
          <p:nvPr/>
        </p:nvSpPr>
        <p:spPr>
          <a:xfrm>
            <a:off x="5481670" y="2799251"/>
            <a:ext cx="2688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84"/>
          <p:cNvSpPr txBox="1"/>
          <p:nvPr/>
        </p:nvSpPr>
        <p:spPr>
          <a:xfrm>
            <a:off x="8425356" y="2765561"/>
            <a:ext cx="168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84"/>
          <p:cNvSpPr txBox="1"/>
          <p:nvPr/>
        </p:nvSpPr>
        <p:spPr>
          <a:xfrm>
            <a:off x="7117307" y="1110138"/>
            <a:ext cx="14727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84"/>
          <p:cNvSpPr txBox="1"/>
          <p:nvPr/>
        </p:nvSpPr>
        <p:spPr>
          <a:xfrm>
            <a:off x="6888707" y="4245840"/>
            <a:ext cx="17619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4"/>
          <p:cNvSpPr txBox="1"/>
          <p:nvPr/>
        </p:nvSpPr>
        <p:spPr>
          <a:xfrm>
            <a:off x="324000" y="3590213"/>
            <a:ext cx="39960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lies in the second quadrant.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8" name="Google Shape;1148;p84"/>
          <p:cNvSpPr txBox="1"/>
          <p:nvPr/>
        </p:nvSpPr>
        <p:spPr>
          <a:xfrm>
            <a:off x="345376" y="4063250"/>
            <a:ext cx="42480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the solution 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value must be negative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 the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value positive.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2" name="Shape 1152"/>
        <p:cNvGrpSpPr/>
        <p:nvPr/>
      </p:nvGrpSpPr>
      <p:grpSpPr>
        <a:xfrm>
          <a:off x="0" y="0"/>
          <a:ext cx="0" cy="0"/>
        </a:xfrm>
      </p:grpSpPr>
      <p:pic>
        <p:nvPicPr>
          <p:cNvPr id="1153" name="Google Shape;115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2339" y="1852924"/>
            <a:ext cx="4918901" cy="20352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4" name="Google Shape;1154;p85"/>
          <p:cNvCxnSpPr/>
          <p:nvPr/>
        </p:nvCxnSpPr>
        <p:spPr>
          <a:xfrm flipH="1">
            <a:off x="3938368" y="2096409"/>
            <a:ext cx="4743000" cy="72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55" name="Google Shape;1155;p85"/>
          <p:cNvSpPr txBox="1"/>
          <p:nvPr>
            <p:ph type="body" idx="1"/>
          </p:nvPr>
        </p:nvSpPr>
        <p:spPr>
          <a:xfrm>
            <a:off x="324000" y="759300"/>
            <a:ext cx="8237700" cy="7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3) Draw appropriate lines on this graph and identify intersections to answer these questions about Laura’s improving cricket throw.</a:t>
            </a:r>
            <a:endParaRPr sz="2000"/>
          </a:p>
        </p:txBody>
      </p:sp>
      <p:sp>
        <p:nvSpPr>
          <p:cNvPr id="1156" name="Google Shape;1156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</a:t>
            </a:r>
            <a:endParaRPr/>
          </a:p>
        </p:txBody>
      </p:sp>
      <p:sp>
        <p:nvSpPr>
          <p:cNvPr id="1157" name="Google Shape;1157;p85"/>
          <p:cNvSpPr/>
          <p:nvPr/>
        </p:nvSpPr>
        <p:spPr>
          <a:xfrm>
            <a:off x="4821169" y="2286984"/>
            <a:ext cx="239100" cy="274500"/>
          </a:xfrm>
          <a:prstGeom prst="ellipse">
            <a:avLst/>
          </a:prstGeom>
          <a:solidFill>
            <a:schemeClr val="accent6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8" name="Google Shape;1158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0" y="2992921"/>
            <a:ext cx="519111" cy="14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85"/>
          <p:cNvSpPr txBox="1"/>
          <p:nvPr/>
        </p:nvSpPr>
        <p:spPr>
          <a:xfrm>
            <a:off x="4056301" y="3163700"/>
            <a:ext cx="827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5"/>
          <p:cNvSpPr txBox="1"/>
          <p:nvPr/>
        </p:nvSpPr>
        <p:spPr>
          <a:xfrm>
            <a:off x="3813836" y="3092543"/>
            <a:ext cx="2574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5"/>
          <p:cNvSpPr txBox="1"/>
          <p:nvPr/>
        </p:nvSpPr>
        <p:spPr>
          <a:xfrm>
            <a:off x="5907565" y="1930878"/>
            <a:ext cx="2574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5"/>
          <p:cNvSpPr txBox="1"/>
          <p:nvPr/>
        </p:nvSpPr>
        <p:spPr>
          <a:xfrm>
            <a:off x="7653232" y="3480005"/>
            <a:ext cx="7320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(45,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5"/>
          <p:cNvSpPr txBox="1"/>
          <p:nvPr/>
        </p:nvSpPr>
        <p:spPr>
          <a:xfrm>
            <a:off x="8461073" y="3683476"/>
            <a:ext cx="2574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4" name="Google Shape;1164;p85"/>
          <p:cNvCxnSpPr/>
          <p:nvPr/>
        </p:nvCxnSpPr>
        <p:spPr>
          <a:xfrm flipH="1">
            <a:off x="3938368" y="2775049"/>
            <a:ext cx="4743000" cy="72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65" name="Google Shape;1165;p85"/>
          <p:cNvSpPr txBox="1"/>
          <p:nvPr/>
        </p:nvSpPr>
        <p:spPr>
          <a:xfrm>
            <a:off x="8608142" y="3976248"/>
            <a:ext cx="2574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85"/>
          <p:cNvSpPr txBox="1"/>
          <p:nvPr/>
        </p:nvSpPr>
        <p:spPr>
          <a:xfrm>
            <a:off x="3679888" y="1690450"/>
            <a:ext cx="1788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85"/>
          <p:cNvSpPr txBox="1"/>
          <p:nvPr/>
        </p:nvSpPr>
        <p:spPr>
          <a:xfrm>
            <a:off x="8159104" y="2447213"/>
            <a:ext cx="7320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5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5"/>
          <p:cNvSpPr txBox="1"/>
          <p:nvPr/>
        </p:nvSpPr>
        <p:spPr>
          <a:xfrm>
            <a:off x="4311442" y="2605112"/>
            <a:ext cx="2574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5"/>
          <p:cNvSpPr txBox="1"/>
          <p:nvPr/>
        </p:nvSpPr>
        <p:spPr>
          <a:xfrm>
            <a:off x="7540042" y="2605112"/>
            <a:ext cx="2574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85"/>
          <p:cNvSpPr txBox="1"/>
          <p:nvPr/>
        </p:nvSpPr>
        <p:spPr>
          <a:xfrm>
            <a:off x="5610434" y="2226274"/>
            <a:ext cx="827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(20,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5"/>
          <p:cNvSpPr txBox="1"/>
          <p:nvPr>
            <p:ph type="body" idx="1"/>
          </p:nvPr>
        </p:nvSpPr>
        <p:spPr>
          <a:xfrm>
            <a:off x="324000" y="1562975"/>
            <a:ext cx="3045600" cy="7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 How many times was the ball at a height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 m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172" name="Google Shape;1172;p85"/>
          <p:cNvSpPr txBox="1"/>
          <p:nvPr>
            <p:ph type="body" idx="1"/>
          </p:nvPr>
        </p:nvSpPr>
        <p:spPr>
          <a:xfrm>
            <a:off x="324000" y="2629775"/>
            <a:ext cx="3045600" cy="7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How many times was the ball at a height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 m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173" name="Google Shape;1173;p85"/>
          <p:cNvSpPr txBox="1"/>
          <p:nvPr>
            <p:ph type="body" idx="1"/>
          </p:nvPr>
        </p:nvSpPr>
        <p:spPr>
          <a:xfrm>
            <a:off x="324000" y="3738255"/>
            <a:ext cx="3045600" cy="7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 How many times was the ball at a height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 m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174" name="Google Shape;1174;p85"/>
          <p:cNvSpPr txBox="1"/>
          <p:nvPr/>
        </p:nvSpPr>
        <p:spPr>
          <a:xfrm>
            <a:off x="352175" y="2222925"/>
            <a:ext cx="3379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Two intersections therefore twice.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75" name="Google Shape;1175;p85"/>
          <p:cNvCxnSpPr/>
          <p:nvPr/>
        </p:nvCxnSpPr>
        <p:spPr>
          <a:xfrm flipH="1">
            <a:off x="3938368" y="3468009"/>
            <a:ext cx="4743000" cy="72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76" name="Google Shape;1176;p85"/>
          <p:cNvSpPr txBox="1"/>
          <p:nvPr/>
        </p:nvSpPr>
        <p:spPr>
          <a:xfrm>
            <a:off x="8159104" y="3063973"/>
            <a:ext cx="7320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1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85"/>
          <p:cNvSpPr txBox="1"/>
          <p:nvPr/>
        </p:nvSpPr>
        <p:spPr>
          <a:xfrm>
            <a:off x="8161149" y="3290912"/>
            <a:ext cx="2574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5"/>
          <p:cNvSpPr txBox="1"/>
          <p:nvPr/>
        </p:nvSpPr>
        <p:spPr>
          <a:xfrm>
            <a:off x="352175" y="3312738"/>
            <a:ext cx="3379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One intersection therefore once.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9" name="Google Shape;1179;p85"/>
          <p:cNvSpPr txBox="1"/>
          <p:nvPr/>
        </p:nvSpPr>
        <p:spPr>
          <a:xfrm>
            <a:off x="8010513" y="1692375"/>
            <a:ext cx="827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10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85"/>
          <p:cNvSpPr txBox="1"/>
          <p:nvPr/>
        </p:nvSpPr>
        <p:spPr>
          <a:xfrm>
            <a:off x="5895419" y="1930237"/>
            <a:ext cx="2574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3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5"/>
          <p:cNvSpPr txBox="1"/>
          <p:nvPr/>
        </p:nvSpPr>
        <p:spPr>
          <a:xfrm>
            <a:off x="352175" y="4455738"/>
            <a:ext cx="33792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One intersection therefore once.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5" name="Shape 1185"/>
        <p:cNvGrpSpPr/>
        <p:nvPr/>
      </p:nvGrpSpPr>
      <p:grpSpPr>
        <a:xfrm>
          <a:off x="0" y="0"/>
          <a:ext cx="0" cy="0"/>
        </a:xfrm>
      </p:grpSpPr>
      <p:sp>
        <p:nvSpPr>
          <p:cNvPr id="1186" name="Google Shape;1186;p8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sketches to locate intersections</a:t>
            </a:r>
            <a:endParaRPr/>
          </a:p>
        </p:txBody>
      </p:sp>
      <p:sp>
        <p:nvSpPr>
          <p:cNvPr id="1187" name="Google Shape;1187;p86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188" name="Google Shape;1188;p86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</a:t>
            </a:r>
            <a:endParaRPr/>
          </a:p>
        </p:txBody>
      </p:sp>
      <p:pic>
        <p:nvPicPr>
          <p:cNvPr id="1189" name="Google Shape;118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3" y="298741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3" name="Shape 1193"/>
        <p:cNvGrpSpPr/>
        <p:nvPr/>
      </p:nvGrpSpPr>
      <p:grpSpPr>
        <a:xfrm>
          <a:off x="0" y="0"/>
          <a:ext cx="0" cy="0"/>
        </a:xfrm>
      </p:grpSpPr>
      <p:sp>
        <p:nvSpPr>
          <p:cNvPr id="1194" name="Google Shape;1194;p87"/>
          <p:cNvSpPr txBox="1"/>
          <p:nvPr>
            <p:ph type="body" idx="1"/>
          </p:nvPr>
        </p:nvSpPr>
        <p:spPr>
          <a:xfrm>
            <a:off x="324000" y="759300"/>
            <a:ext cx="7952400" cy="8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Sometimes we need to use our understanding of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mathematics to be able to match models to real-life scenarios.</a:t>
            </a:r>
            <a:endParaRPr sz="2000"/>
          </a:p>
        </p:txBody>
      </p:sp>
      <p:sp>
        <p:nvSpPr>
          <p:cNvPr id="1195" name="Google Shape;119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196" name="Google Shape;1196;p87"/>
          <p:cNvSpPr txBox="1"/>
          <p:nvPr/>
        </p:nvSpPr>
        <p:spPr>
          <a:xfrm>
            <a:off x="7787545" y="4239375"/>
            <a:ext cx="6051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87"/>
          <p:cNvSpPr txBox="1"/>
          <p:nvPr/>
        </p:nvSpPr>
        <p:spPr>
          <a:xfrm rot="-5400000">
            <a:off x="4462375" y="1988568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8" name="Google Shape;119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787" y="1635900"/>
            <a:ext cx="3407154" cy="267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606" y="3006344"/>
            <a:ext cx="503119" cy="181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87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607033" y="1532050"/>
            <a:ext cx="3957100" cy="165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87"/>
          <p:cNvSpPr txBox="1"/>
          <p:nvPr/>
        </p:nvSpPr>
        <p:spPr>
          <a:xfrm>
            <a:off x="907818" y="1581637"/>
            <a:ext cx="36033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These models are from a race we do in PE. One model is from today, the other from a few years ago.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7"/>
          <p:cNvSpPr txBox="1"/>
          <p:nvPr/>
        </p:nvSpPr>
        <p:spPr>
          <a:xfrm>
            <a:off x="743737" y="4575387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7"/>
          <p:cNvSpPr txBox="1"/>
          <p:nvPr/>
        </p:nvSpPr>
        <p:spPr>
          <a:xfrm>
            <a:off x="1288825" y="3532657"/>
            <a:ext cx="3603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Can you tell which is which?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7" name="Shape 1207"/>
        <p:cNvGrpSpPr/>
        <p:nvPr/>
      </p:nvGrpSpPr>
      <p:grpSpPr>
        <a:xfrm>
          <a:off x="0" y="0"/>
          <a:ext cx="0" cy="0"/>
        </a:xfrm>
      </p:grpSpPr>
      <p:sp>
        <p:nvSpPr>
          <p:cNvPr id="1208" name="Google Shape;1208;p88"/>
          <p:cNvSpPr txBox="1"/>
          <p:nvPr>
            <p:ph type="body" idx="1"/>
          </p:nvPr>
        </p:nvSpPr>
        <p:spPr>
          <a:xfrm>
            <a:off x="324000" y="759300"/>
            <a:ext cx="7952400" cy="8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Sometimes we need to use our understanding of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mathematics to be able to match models to real-life scenarios.</a:t>
            </a:r>
            <a:endParaRPr sz="2000"/>
          </a:p>
        </p:txBody>
      </p:sp>
      <p:sp>
        <p:nvSpPr>
          <p:cNvPr id="1209" name="Google Shape;120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210" name="Google Shape;1210;p88"/>
          <p:cNvSpPr txBox="1"/>
          <p:nvPr/>
        </p:nvSpPr>
        <p:spPr>
          <a:xfrm>
            <a:off x="7787545" y="4239375"/>
            <a:ext cx="6051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8"/>
          <p:cNvSpPr txBox="1"/>
          <p:nvPr/>
        </p:nvSpPr>
        <p:spPr>
          <a:xfrm rot="-5400000">
            <a:off x="4462375" y="1988568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2" name="Google Shape;1212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787" y="1635900"/>
            <a:ext cx="3407154" cy="267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606" y="3006344"/>
            <a:ext cx="503119" cy="181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88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607033" y="1532050"/>
            <a:ext cx="3957100" cy="165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88"/>
          <p:cNvSpPr txBox="1"/>
          <p:nvPr/>
        </p:nvSpPr>
        <p:spPr>
          <a:xfrm>
            <a:off x="907818" y="1581637"/>
            <a:ext cx="36033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These models are from a race we do in PE. One model is from today, the other from a few years ago.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8"/>
          <p:cNvSpPr txBox="1"/>
          <p:nvPr/>
        </p:nvSpPr>
        <p:spPr>
          <a:xfrm>
            <a:off x="743737" y="4575387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8"/>
          <p:cNvSpPr txBox="1"/>
          <p:nvPr/>
        </p:nvSpPr>
        <p:spPr>
          <a:xfrm>
            <a:off x="1136425" y="3235012"/>
            <a:ext cx="38121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line with the steeper gradient means a faster speed therefore we can assume that one is from today.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8"/>
          <p:cNvSpPr txBox="1"/>
          <p:nvPr/>
        </p:nvSpPr>
        <p:spPr>
          <a:xfrm rot="-2901903">
            <a:off x="6108663" y="2175464"/>
            <a:ext cx="1008305" cy="35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Today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8"/>
          <p:cNvSpPr txBox="1"/>
          <p:nvPr/>
        </p:nvSpPr>
        <p:spPr>
          <a:xfrm rot="-2290953">
            <a:off x="6297723" y="2699852"/>
            <a:ext cx="1867450" cy="35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few years ago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3" name="Shape 1223"/>
        <p:cNvGrpSpPr/>
        <p:nvPr/>
      </p:nvGrpSpPr>
      <p:grpSpPr>
        <a:xfrm>
          <a:off x="0" y="0"/>
          <a:ext cx="0" cy="0"/>
        </a:xfrm>
      </p:grpSpPr>
      <p:sp>
        <p:nvSpPr>
          <p:cNvPr id="1224" name="Google Shape;1224;p89"/>
          <p:cNvSpPr txBox="1"/>
          <p:nvPr>
            <p:ph type="body" idx="1"/>
          </p:nvPr>
        </p:nvSpPr>
        <p:spPr>
          <a:xfrm>
            <a:off x="324000" y="759300"/>
            <a:ext cx="6739800" cy="80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Alex also has two graphs to represent his time today and his time from a few years ago.</a:t>
            </a:r>
            <a:endParaRPr sz="2000"/>
          </a:p>
        </p:txBody>
      </p:sp>
      <p:sp>
        <p:nvSpPr>
          <p:cNvPr id="1225" name="Google Shape;122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226" name="Google Shape;1226;p89"/>
          <p:cNvSpPr txBox="1"/>
          <p:nvPr/>
        </p:nvSpPr>
        <p:spPr>
          <a:xfrm>
            <a:off x="3093318" y="3611109"/>
            <a:ext cx="6051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89"/>
          <p:cNvSpPr txBox="1"/>
          <p:nvPr/>
        </p:nvSpPr>
        <p:spPr>
          <a:xfrm rot="-5400000">
            <a:off x="652375" y="2163981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9"/>
          <p:cNvSpPr txBox="1"/>
          <p:nvPr/>
        </p:nvSpPr>
        <p:spPr>
          <a:xfrm>
            <a:off x="1684400" y="4179573"/>
            <a:ext cx="51204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There looks like there is no difference. Alex has made no improvement.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9" name="Google Shape;122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924" y="2884365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374" y="1658923"/>
            <a:ext cx="1532738" cy="219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89"/>
          <p:cNvSpPr txBox="1"/>
          <p:nvPr/>
        </p:nvSpPr>
        <p:spPr>
          <a:xfrm>
            <a:off x="7208118" y="3611109"/>
            <a:ext cx="6051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9"/>
          <p:cNvSpPr txBox="1"/>
          <p:nvPr/>
        </p:nvSpPr>
        <p:spPr>
          <a:xfrm rot="-5400000">
            <a:off x="4767175" y="2163981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3" name="Google Shape;1233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8174" y="1658923"/>
            <a:ext cx="1532738" cy="219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7" name="Shape 1237"/>
        <p:cNvGrpSpPr/>
        <p:nvPr/>
      </p:nvGrpSpPr>
      <p:grpSpPr>
        <a:xfrm>
          <a:off x="0" y="0"/>
          <a:ext cx="0" cy="0"/>
        </a:xfrm>
      </p:grpSpPr>
      <p:sp>
        <p:nvSpPr>
          <p:cNvPr id="1238" name="Google Shape;1238;p90"/>
          <p:cNvSpPr txBox="1"/>
          <p:nvPr>
            <p:ph type="body" idx="1"/>
          </p:nvPr>
        </p:nvSpPr>
        <p:spPr>
          <a:xfrm>
            <a:off x="324000" y="759300"/>
            <a:ext cx="6963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Good sketches in maths include some important values.</a:t>
            </a:r>
            <a:endParaRPr sz="2000"/>
          </a:p>
        </p:txBody>
      </p:sp>
      <p:sp>
        <p:nvSpPr>
          <p:cNvPr id="1239" name="Google Shape;123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240" name="Google Shape;1240;p90"/>
          <p:cNvSpPr txBox="1"/>
          <p:nvPr/>
        </p:nvSpPr>
        <p:spPr>
          <a:xfrm>
            <a:off x="3093318" y="3611109"/>
            <a:ext cx="6051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90"/>
          <p:cNvSpPr txBox="1"/>
          <p:nvPr/>
        </p:nvSpPr>
        <p:spPr>
          <a:xfrm rot="-5400000">
            <a:off x="652375" y="2163981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0"/>
          <p:cNvSpPr txBox="1"/>
          <p:nvPr/>
        </p:nvSpPr>
        <p:spPr>
          <a:xfrm>
            <a:off x="335925" y="1184762"/>
            <a:ext cx="7779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we add these to Alex’s graph we can tell which is which.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3" name="Google Shape;124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924" y="2884365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374" y="1658923"/>
            <a:ext cx="1532738" cy="219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90"/>
          <p:cNvSpPr txBox="1"/>
          <p:nvPr/>
        </p:nvSpPr>
        <p:spPr>
          <a:xfrm>
            <a:off x="7208118" y="3611109"/>
            <a:ext cx="6051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90"/>
          <p:cNvSpPr txBox="1"/>
          <p:nvPr/>
        </p:nvSpPr>
        <p:spPr>
          <a:xfrm rot="-5400000">
            <a:off x="4767175" y="2163981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7" name="Google Shape;1247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8174" y="1658923"/>
            <a:ext cx="1532738" cy="219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1" name="Shape 1251"/>
        <p:cNvGrpSpPr/>
        <p:nvPr/>
      </p:nvGrpSpPr>
      <p:grpSpPr>
        <a:xfrm>
          <a:off x="0" y="0"/>
          <a:ext cx="0" cy="0"/>
        </a:xfrm>
      </p:grpSpPr>
      <p:sp>
        <p:nvSpPr>
          <p:cNvPr id="1252" name="Google Shape;1252;p91"/>
          <p:cNvSpPr txBox="1"/>
          <p:nvPr>
            <p:ph type="body" idx="1"/>
          </p:nvPr>
        </p:nvSpPr>
        <p:spPr>
          <a:xfrm>
            <a:off x="324000" y="759300"/>
            <a:ext cx="6963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Good sketches in maths include some important values.</a:t>
            </a:r>
            <a:endParaRPr sz="2000"/>
          </a:p>
        </p:txBody>
      </p:sp>
      <p:sp>
        <p:nvSpPr>
          <p:cNvPr id="1253" name="Google Shape;125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254" name="Google Shape;1254;p91"/>
          <p:cNvSpPr txBox="1"/>
          <p:nvPr/>
        </p:nvSpPr>
        <p:spPr>
          <a:xfrm>
            <a:off x="3093318" y="3611109"/>
            <a:ext cx="6051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91"/>
          <p:cNvSpPr txBox="1"/>
          <p:nvPr/>
        </p:nvSpPr>
        <p:spPr>
          <a:xfrm rot="-5400000">
            <a:off x="652375" y="2163981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91"/>
          <p:cNvSpPr txBox="1"/>
          <p:nvPr/>
        </p:nvSpPr>
        <p:spPr>
          <a:xfrm>
            <a:off x="335925" y="1184762"/>
            <a:ext cx="7779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we add these to Alex’s graph we can tell which is which.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7" name="Google Shape;125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924" y="2884365"/>
            <a:ext cx="568766" cy="19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3374" y="1658923"/>
            <a:ext cx="1532738" cy="219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91"/>
          <p:cNvSpPr txBox="1"/>
          <p:nvPr/>
        </p:nvSpPr>
        <p:spPr>
          <a:xfrm>
            <a:off x="7208118" y="3611109"/>
            <a:ext cx="6051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1"/>
          <p:cNvSpPr txBox="1"/>
          <p:nvPr/>
        </p:nvSpPr>
        <p:spPr>
          <a:xfrm rot="-5400000">
            <a:off x="4767175" y="2163981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1" name="Google Shape;1261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8174" y="1658923"/>
            <a:ext cx="1532738" cy="2197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2" name="Google Shape;1262;p91"/>
          <p:cNvCxnSpPr/>
          <p:nvPr/>
        </p:nvCxnSpPr>
        <p:spPr>
          <a:xfrm>
            <a:off x="5600254" y="1707468"/>
            <a:ext cx="69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3" name="Google Shape;1263;p91"/>
          <p:cNvCxnSpPr/>
          <p:nvPr/>
        </p:nvCxnSpPr>
        <p:spPr>
          <a:xfrm flipH="1">
            <a:off x="7087430" y="3767695"/>
            <a:ext cx="0" cy="6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4" name="Google Shape;1264;p91"/>
          <p:cNvSpPr txBox="1"/>
          <p:nvPr/>
        </p:nvSpPr>
        <p:spPr>
          <a:xfrm>
            <a:off x="6944757" y="3828424"/>
            <a:ext cx="2544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5" name="Google Shape;1265;p91"/>
          <p:cNvSpPr txBox="1"/>
          <p:nvPr/>
        </p:nvSpPr>
        <p:spPr>
          <a:xfrm>
            <a:off x="5037571" y="1568025"/>
            <a:ext cx="528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66" name="Google Shape;1266;p91"/>
          <p:cNvCxnSpPr/>
          <p:nvPr/>
        </p:nvCxnSpPr>
        <p:spPr>
          <a:xfrm>
            <a:off x="1485454" y="1707468"/>
            <a:ext cx="69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7" name="Google Shape;1267;p91"/>
          <p:cNvSpPr txBox="1"/>
          <p:nvPr/>
        </p:nvSpPr>
        <p:spPr>
          <a:xfrm>
            <a:off x="922771" y="1568025"/>
            <a:ext cx="5283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68" name="Google Shape;1268;p91"/>
          <p:cNvCxnSpPr/>
          <p:nvPr/>
        </p:nvCxnSpPr>
        <p:spPr>
          <a:xfrm>
            <a:off x="5600254" y="2675055"/>
            <a:ext cx="69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9" name="Google Shape;1269;p91"/>
          <p:cNvSpPr txBox="1"/>
          <p:nvPr/>
        </p:nvSpPr>
        <p:spPr>
          <a:xfrm>
            <a:off x="5311473" y="2535600"/>
            <a:ext cx="2544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0" name="Google Shape;1270;p91"/>
          <p:cNvCxnSpPr/>
          <p:nvPr/>
        </p:nvCxnSpPr>
        <p:spPr>
          <a:xfrm>
            <a:off x="1485454" y="2675055"/>
            <a:ext cx="69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1" name="Google Shape;1271;p91"/>
          <p:cNvSpPr txBox="1"/>
          <p:nvPr/>
        </p:nvSpPr>
        <p:spPr>
          <a:xfrm>
            <a:off x="1196673" y="2535600"/>
            <a:ext cx="2544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2" name="Google Shape;1272;p91"/>
          <p:cNvCxnSpPr/>
          <p:nvPr/>
        </p:nvCxnSpPr>
        <p:spPr>
          <a:xfrm flipH="1">
            <a:off x="6374269" y="3767695"/>
            <a:ext cx="0" cy="6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3" name="Google Shape;1273;p91"/>
          <p:cNvCxnSpPr/>
          <p:nvPr/>
        </p:nvCxnSpPr>
        <p:spPr>
          <a:xfrm flipH="1">
            <a:off x="2938110" y="3767695"/>
            <a:ext cx="0" cy="6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4" name="Google Shape;1274;p91"/>
          <p:cNvSpPr txBox="1"/>
          <p:nvPr/>
        </p:nvSpPr>
        <p:spPr>
          <a:xfrm>
            <a:off x="2795437" y="3828424"/>
            <a:ext cx="2544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5" name="Google Shape;1275;p91"/>
          <p:cNvCxnSpPr/>
          <p:nvPr/>
        </p:nvCxnSpPr>
        <p:spPr>
          <a:xfrm flipH="1">
            <a:off x="2229296" y="3767695"/>
            <a:ext cx="0" cy="69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6" name="Google Shape;1276;p91"/>
          <p:cNvSpPr txBox="1"/>
          <p:nvPr/>
        </p:nvSpPr>
        <p:spPr>
          <a:xfrm>
            <a:off x="2010424" y="3828424"/>
            <a:ext cx="2544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7" name="Google Shape;1277;p91"/>
          <p:cNvSpPr txBox="1"/>
          <p:nvPr/>
        </p:nvSpPr>
        <p:spPr>
          <a:xfrm>
            <a:off x="6235944" y="3828424"/>
            <a:ext cx="2544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8" name="Google Shape;1278;p91"/>
          <p:cNvSpPr txBox="1"/>
          <p:nvPr/>
        </p:nvSpPr>
        <p:spPr>
          <a:xfrm>
            <a:off x="1021725" y="4214084"/>
            <a:ext cx="5666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information now shows us that the graph on the left is Alex’s new, improved race.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2" name="Shape 1282"/>
        <p:cNvGrpSpPr/>
        <p:nvPr/>
      </p:nvGrpSpPr>
      <p:grpSpPr>
        <a:xfrm>
          <a:off x="0" y="0"/>
          <a:ext cx="0" cy="0"/>
        </a:xfrm>
      </p:grpSpPr>
      <p:sp>
        <p:nvSpPr>
          <p:cNvPr id="1283" name="Google Shape;1283;p92"/>
          <p:cNvSpPr txBox="1"/>
          <p:nvPr>
            <p:ph type="title"/>
          </p:nvPr>
        </p:nvSpPr>
        <p:spPr>
          <a:xfrm>
            <a:off x="324000" y="748775"/>
            <a:ext cx="75159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These models show the time taken for the first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50 m</a:t>
            </a:r>
            <a:r>
              <a:rPr lang="en-GB" sz="1800"/>
              <a:t> of a race.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Which one shows the fastest time?</a:t>
            </a:r>
            <a:endParaRPr sz="1800"/>
          </a:p>
        </p:txBody>
      </p:sp>
      <p:sp>
        <p:nvSpPr>
          <p:cNvPr id="1284" name="Google Shape;1284;p9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285" name="Google Shape;1285;p92"/>
          <p:cNvSpPr txBox="1"/>
          <p:nvPr/>
        </p:nvSpPr>
        <p:spPr>
          <a:xfrm>
            <a:off x="8168545" y="4010775"/>
            <a:ext cx="6051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2"/>
          <p:cNvSpPr txBox="1"/>
          <p:nvPr/>
        </p:nvSpPr>
        <p:spPr>
          <a:xfrm rot="-5400000">
            <a:off x="3418588" y="1988568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92"/>
          <p:cNvSpPr txBox="1"/>
          <p:nvPr/>
        </p:nvSpPr>
        <p:spPr>
          <a:xfrm>
            <a:off x="332745" y="1223644"/>
            <a:ext cx="3603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8" name="Google Shape;128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8600" y="1682400"/>
            <a:ext cx="4781401" cy="23599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9" name="Google Shape;1289;p92"/>
          <p:cNvGrpSpPr/>
          <p:nvPr/>
        </p:nvGrpSpPr>
        <p:grpSpPr>
          <a:xfrm>
            <a:off x="4705411" y="1502953"/>
            <a:ext cx="389077" cy="389077"/>
            <a:chOff x="1020916" y="1442088"/>
            <a:chExt cx="457200" cy="457200"/>
          </a:xfrm>
        </p:grpSpPr>
        <p:pic>
          <p:nvPicPr>
            <p:cNvPr id="1290" name="Google Shape;1290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1" name="Google Shape;1291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2" name="Google Shape;1292;p92"/>
          <p:cNvGrpSpPr/>
          <p:nvPr/>
        </p:nvGrpSpPr>
        <p:grpSpPr>
          <a:xfrm>
            <a:off x="5512888" y="1481403"/>
            <a:ext cx="389077" cy="389077"/>
            <a:chOff x="1020916" y="1442088"/>
            <a:chExt cx="457200" cy="457200"/>
          </a:xfrm>
        </p:grpSpPr>
        <p:pic>
          <p:nvPicPr>
            <p:cNvPr id="1293" name="Google Shape;129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4" name="Google Shape;129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5" name="Google Shape;1295;p92"/>
          <p:cNvGrpSpPr/>
          <p:nvPr/>
        </p:nvGrpSpPr>
        <p:grpSpPr>
          <a:xfrm>
            <a:off x="8430933" y="1425453"/>
            <a:ext cx="389077" cy="389077"/>
            <a:chOff x="1020916" y="1442088"/>
            <a:chExt cx="457200" cy="457200"/>
          </a:xfrm>
        </p:grpSpPr>
        <p:pic>
          <p:nvPicPr>
            <p:cNvPr id="1296" name="Google Shape;1296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7" name="Google Shape;129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98" name="Google Shape;129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0058" y="18704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92"/>
          <p:cNvSpPr txBox="1"/>
          <p:nvPr/>
        </p:nvSpPr>
        <p:spPr>
          <a:xfrm>
            <a:off x="1785150" y="1659375"/>
            <a:ext cx="1796700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steepest gradient reflects the fastest speed.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3" name="Shape 1303"/>
        <p:cNvGrpSpPr/>
        <p:nvPr/>
      </p:nvGrpSpPr>
      <p:grpSpPr>
        <a:xfrm>
          <a:off x="0" y="0"/>
          <a:ext cx="0" cy="0"/>
        </a:xfrm>
      </p:grpSpPr>
      <p:sp>
        <p:nvSpPr>
          <p:cNvPr id="1304" name="Google Shape;1304;p93"/>
          <p:cNvSpPr txBox="1"/>
          <p:nvPr>
            <p:ph type="body" idx="1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In real-life distance time models we will see curved lines.</a:t>
            </a:r>
            <a:endParaRPr sz="2000"/>
          </a:p>
        </p:txBody>
      </p:sp>
      <p:sp>
        <p:nvSpPr>
          <p:cNvPr id="1305" name="Google Shape;130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306" name="Google Shape;1306;p93"/>
          <p:cNvSpPr txBox="1"/>
          <p:nvPr/>
        </p:nvSpPr>
        <p:spPr>
          <a:xfrm>
            <a:off x="6719323" y="4204857"/>
            <a:ext cx="7023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93"/>
          <p:cNvSpPr txBox="1"/>
          <p:nvPr/>
        </p:nvSpPr>
        <p:spPr>
          <a:xfrm rot="-5400000">
            <a:off x="4332988" y="2217168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93"/>
          <p:cNvSpPr txBox="1"/>
          <p:nvPr/>
        </p:nvSpPr>
        <p:spPr>
          <a:xfrm>
            <a:off x="332750" y="1112925"/>
            <a:ext cx="77136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graph shows a pupil running 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 m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race on sports day.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9" name="Google Shape;1309;p93"/>
          <p:cNvCxnSpPr/>
          <p:nvPr/>
        </p:nvCxnSpPr>
        <p:spPr>
          <a:xfrm rot="10800000" flipH="1">
            <a:off x="5029199" y="1707625"/>
            <a:ext cx="0" cy="246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0" name="Google Shape;1310;p93"/>
          <p:cNvCxnSpPr/>
          <p:nvPr/>
        </p:nvCxnSpPr>
        <p:spPr>
          <a:xfrm>
            <a:off x="5029200" y="4167475"/>
            <a:ext cx="23910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11" name="Google Shape;1311;p93"/>
          <p:cNvSpPr/>
          <p:nvPr/>
        </p:nvSpPr>
        <p:spPr>
          <a:xfrm>
            <a:off x="4780400" y="4037450"/>
            <a:ext cx="225000" cy="20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2" name="Google Shape;1312;p93"/>
          <p:cNvCxnSpPr/>
          <p:nvPr/>
        </p:nvCxnSpPr>
        <p:spPr>
          <a:xfrm rot="10800000" flipH="1">
            <a:off x="5018106" y="2024312"/>
            <a:ext cx="2127900" cy="2127900"/>
          </a:xfrm>
          <a:prstGeom prst="curvedConnector3">
            <a:avLst>
              <a:gd name="adj1" fmla="val 20412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3" name="Google Shape;1313;p93"/>
          <p:cNvSpPr txBox="1"/>
          <p:nvPr/>
        </p:nvSpPr>
        <p:spPr>
          <a:xfrm>
            <a:off x="1018550" y="1909450"/>
            <a:ext cx="2949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is happening here and how do you know?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4" name="Google Shape;1314;p93"/>
          <p:cNvCxnSpPr>
            <a:stCxn id="1313" idx="3"/>
          </p:cNvCxnSpPr>
          <p:nvPr/>
        </p:nvCxnSpPr>
        <p:spPr>
          <a:xfrm>
            <a:off x="3968450" y="2066200"/>
            <a:ext cx="1845600" cy="390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5" name="Google Shape;1315;p93"/>
          <p:cNvCxnSpPr/>
          <p:nvPr/>
        </p:nvCxnSpPr>
        <p:spPr>
          <a:xfrm>
            <a:off x="3968450" y="2066200"/>
            <a:ext cx="2121900" cy="126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16" name="Google Shape;1316;p93"/>
          <p:cNvSpPr txBox="1"/>
          <p:nvPr/>
        </p:nvSpPr>
        <p:spPr>
          <a:xfrm>
            <a:off x="332750" y="2976250"/>
            <a:ext cx="3987300" cy="9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gradient is getting less steep which tells us that the pupil is slowing down.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20" name="Shape 1320"/>
        <p:cNvGrpSpPr/>
        <p:nvPr/>
      </p:nvGrpSpPr>
      <p:grpSpPr>
        <a:xfrm>
          <a:off x="0" y="0"/>
          <a:ext cx="0" cy="0"/>
        </a:xfrm>
      </p:grpSpPr>
      <p:sp>
        <p:nvSpPr>
          <p:cNvPr id="1321" name="Google Shape;1321;p94"/>
          <p:cNvSpPr txBox="1"/>
          <p:nvPr/>
        </p:nvSpPr>
        <p:spPr>
          <a:xfrm rot="-3988316">
            <a:off x="5346061" y="3047951"/>
            <a:ext cx="534321" cy="35173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Fast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94"/>
          <p:cNvSpPr txBox="1"/>
          <p:nvPr/>
        </p:nvSpPr>
        <p:spPr>
          <a:xfrm rot="-2203605">
            <a:off x="5449386" y="2154263"/>
            <a:ext cx="912543" cy="3517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Slowing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94"/>
          <p:cNvSpPr txBox="1"/>
          <p:nvPr/>
        </p:nvSpPr>
        <p:spPr>
          <a:xfrm rot="-512366">
            <a:off x="6571469" y="1771022"/>
            <a:ext cx="587918" cy="3518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Slow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94"/>
          <p:cNvSpPr txBox="1"/>
          <p:nvPr>
            <p:ph type="body" idx="1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In real-life distance time models we will see curved lines.</a:t>
            </a:r>
            <a:endParaRPr sz="2000"/>
          </a:p>
        </p:txBody>
      </p:sp>
      <p:sp>
        <p:nvSpPr>
          <p:cNvPr id="1325" name="Google Shape;132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326" name="Google Shape;1326;p94"/>
          <p:cNvSpPr txBox="1"/>
          <p:nvPr/>
        </p:nvSpPr>
        <p:spPr>
          <a:xfrm>
            <a:off x="6719323" y="4204857"/>
            <a:ext cx="7023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94"/>
          <p:cNvSpPr txBox="1"/>
          <p:nvPr/>
        </p:nvSpPr>
        <p:spPr>
          <a:xfrm rot="-5400000">
            <a:off x="4332988" y="2217168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94"/>
          <p:cNvSpPr txBox="1"/>
          <p:nvPr/>
        </p:nvSpPr>
        <p:spPr>
          <a:xfrm>
            <a:off x="332750" y="1112925"/>
            <a:ext cx="77136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graph shows a pupil running 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 m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race on sports day.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9" name="Google Shape;1329;p94"/>
          <p:cNvCxnSpPr/>
          <p:nvPr/>
        </p:nvCxnSpPr>
        <p:spPr>
          <a:xfrm rot="10800000" flipH="1">
            <a:off x="5029199" y="1707625"/>
            <a:ext cx="0" cy="246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0" name="Google Shape;1330;p94"/>
          <p:cNvCxnSpPr/>
          <p:nvPr/>
        </p:nvCxnSpPr>
        <p:spPr>
          <a:xfrm>
            <a:off x="5029200" y="4167475"/>
            <a:ext cx="23910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1" name="Google Shape;1331;p94"/>
          <p:cNvSpPr/>
          <p:nvPr/>
        </p:nvSpPr>
        <p:spPr>
          <a:xfrm>
            <a:off x="4780400" y="4037450"/>
            <a:ext cx="225000" cy="20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2" name="Google Shape;1332;p94"/>
          <p:cNvCxnSpPr/>
          <p:nvPr/>
        </p:nvCxnSpPr>
        <p:spPr>
          <a:xfrm rot="10800000" flipH="1">
            <a:off x="5018106" y="2024312"/>
            <a:ext cx="2127900" cy="2127900"/>
          </a:xfrm>
          <a:prstGeom prst="curvedConnector3">
            <a:avLst>
              <a:gd name="adj1" fmla="val 20412"/>
            </a:avLst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3" name="Google Shape;1333;p94"/>
          <p:cNvSpPr txBox="1"/>
          <p:nvPr/>
        </p:nvSpPr>
        <p:spPr>
          <a:xfrm>
            <a:off x="332750" y="2061850"/>
            <a:ext cx="39873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Their race goes through several identifiable periods.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94"/>
          <p:cNvSpPr txBox="1"/>
          <p:nvPr/>
        </p:nvSpPr>
        <p:spPr>
          <a:xfrm rot="-2387044">
            <a:off x="4570695" y="4060840"/>
            <a:ext cx="1432733" cy="3518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Accelerating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8" name="Shape 1338"/>
        <p:cNvGrpSpPr/>
        <p:nvPr/>
      </p:nvGrpSpPr>
      <p:grpSpPr>
        <a:xfrm>
          <a:off x="0" y="0"/>
          <a:ext cx="0" cy="0"/>
        </a:xfrm>
      </p:grpSpPr>
      <p:sp>
        <p:nvSpPr>
          <p:cNvPr id="1339" name="Google Shape;1339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 firework being let off is being modelled by the distance time graph. What is happening to it?</a:t>
            </a:r>
            <a:endParaRPr/>
          </a:p>
        </p:txBody>
      </p:sp>
      <p:sp>
        <p:nvSpPr>
          <p:cNvPr id="1340" name="Google Shape;1340;p9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341" name="Google Shape;1341;p95"/>
          <p:cNvSpPr txBox="1"/>
          <p:nvPr>
            <p:ph type="subTitle" idx="1"/>
          </p:nvPr>
        </p:nvSpPr>
        <p:spPr>
          <a:xfrm>
            <a:off x="1034425" y="1837775"/>
            <a:ext cx="3157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It has a constant speed.</a:t>
            </a:r>
            <a:endParaRPr sz="2000"/>
          </a:p>
        </p:txBody>
      </p:sp>
      <p:sp>
        <p:nvSpPr>
          <p:cNvPr id="1342" name="Google Shape;1342;p95"/>
          <p:cNvSpPr txBox="1"/>
          <p:nvPr>
            <p:ph type="subTitle" idx="3"/>
          </p:nvPr>
        </p:nvSpPr>
        <p:spPr>
          <a:xfrm>
            <a:off x="1034425" y="2794250"/>
            <a:ext cx="43875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It is accelerating (getting faster).</a:t>
            </a:r>
            <a:endParaRPr/>
          </a:p>
        </p:txBody>
      </p:sp>
      <p:sp>
        <p:nvSpPr>
          <p:cNvPr id="1343" name="Google Shape;1343;p95"/>
          <p:cNvSpPr txBox="1"/>
          <p:nvPr>
            <p:ph type="subTitle" idx="4"/>
          </p:nvPr>
        </p:nvSpPr>
        <p:spPr>
          <a:xfrm>
            <a:off x="1034425" y="3813000"/>
            <a:ext cx="4530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It is decelerating (getting slower).</a:t>
            </a:r>
            <a:endParaRPr/>
          </a:p>
        </p:txBody>
      </p:sp>
      <p:pic>
        <p:nvPicPr>
          <p:cNvPr id="1344" name="Google Shape;134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3199" y="1630900"/>
            <a:ext cx="2155699" cy="2944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95"/>
          <p:cNvSpPr txBox="1"/>
          <p:nvPr/>
        </p:nvSpPr>
        <p:spPr>
          <a:xfrm>
            <a:off x="7587696" y="4521163"/>
            <a:ext cx="7023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95"/>
          <p:cNvSpPr txBox="1"/>
          <p:nvPr/>
        </p:nvSpPr>
        <p:spPr>
          <a:xfrm rot="-5400000">
            <a:off x="5429962" y="2000074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7" name="Google Shape;1347;p95"/>
          <p:cNvCxnSpPr/>
          <p:nvPr/>
        </p:nvCxnSpPr>
        <p:spPr>
          <a:xfrm rot="10800000" flipH="1">
            <a:off x="6126175" y="1630925"/>
            <a:ext cx="0" cy="2854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8" name="Google Shape;1348;p95"/>
          <p:cNvCxnSpPr/>
          <p:nvPr/>
        </p:nvCxnSpPr>
        <p:spPr>
          <a:xfrm>
            <a:off x="6126176" y="4483512"/>
            <a:ext cx="2072700" cy="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349" name="Google Shape;134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8448" y="2779252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95"/>
          <p:cNvSpPr txBox="1"/>
          <p:nvPr/>
        </p:nvSpPr>
        <p:spPr>
          <a:xfrm>
            <a:off x="1861350" y="3148850"/>
            <a:ext cx="42015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 constantly increasing gradient on a distance time graph reflects acceleration.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4" name="Shape 1354"/>
        <p:cNvGrpSpPr/>
        <p:nvPr/>
      </p:nvGrpSpPr>
      <p:grpSpPr>
        <a:xfrm>
          <a:off x="0" y="0"/>
          <a:ext cx="0" cy="0"/>
        </a:xfrm>
      </p:grpSpPr>
      <p:sp>
        <p:nvSpPr>
          <p:cNvPr id="1355" name="Google Shape;1355;p96"/>
          <p:cNvSpPr txBox="1"/>
          <p:nvPr>
            <p:ph type="body" idx="4294967295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1) Use these blank axes to draw three race events.</a:t>
            </a:r>
            <a:endParaRPr sz="2000"/>
          </a:p>
        </p:txBody>
      </p:sp>
      <p:sp>
        <p:nvSpPr>
          <p:cNvPr id="1356" name="Google Shape;1356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357" name="Google Shape;1357;p96"/>
          <p:cNvSpPr txBox="1"/>
          <p:nvPr>
            <p:ph type="body" idx="4294967295"/>
          </p:nvPr>
        </p:nvSpPr>
        <p:spPr>
          <a:xfrm>
            <a:off x="324000" y="4493100"/>
            <a:ext cx="37065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You need not label the axes.</a:t>
            </a:r>
            <a:endParaRPr sz="2000"/>
          </a:p>
        </p:txBody>
      </p:sp>
      <p:sp>
        <p:nvSpPr>
          <p:cNvPr id="1358" name="Google Shape;1358;p96"/>
          <p:cNvSpPr txBox="1"/>
          <p:nvPr/>
        </p:nvSpPr>
        <p:spPr>
          <a:xfrm>
            <a:off x="7745865" y="4094135"/>
            <a:ext cx="6051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96"/>
          <p:cNvSpPr txBox="1"/>
          <p:nvPr/>
        </p:nvSpPr>
        <p:spPr>
          <a:xfrm rot="-5400000">
            <a:off x="3376909" y="1965554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0" name="Google Shape;1360;p96"/>
          <p:cNvCxnSpPr/>
          <p:nvPr/>
        </p:nvCxnSpPr>
        <p:spPr>
          <a:xfrm rot="10800000" flipH="1">
            <a:off x="4151200" y="1608400"/>
            <a:ext cx="0" cy="246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1" name="Google Shape;1361;p96"/>
          <p:cNvCxnSpPr/>
          <p:nvPr/>
        </p:nvCxnSpPr>
        <p:spPr>
          <a:xfrm>
            <a:off x="4151200" y="4068250"/>
            <a:ext cx="45324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62" name="Google Shape;1362;p96"/>
          <p:cNvSpPr txBox="1"/>
          <p:nvPr/>
        </p:nvSpPr>
        <p:spPr>
          <a:xfrm>
            <a:off x="332750" y="1230800"/>
            <a:ext cx="3225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A short distance, fast race run at a constant speed.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96"/>
          <p:cNvSpPr txBox="1"/>
          <p:nvPr/>
        </p:nvSpPr>
        <p:spPr>
          <a:xfrm>
            <a:off x="332750" y="2221400"/>
            <a:ext cx="3225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A middle distance, medium pace race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run at a constant speed.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96"/>
          <p:cNvSpPr txBox="1"/>
          <p:nvPr/>
        </p:nvSpPr>
        <p:spPr>
          <a:xfrm>
            <a:off x="332750" y="3364400"/>
            <a:ext cx="3225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A long distance, slow race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run at a constant speed.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68" name="Shape 1368"/>
        <p:cNvGrpSpPr/>
        <p:nvPr/>
      </p:nvGrpSpPr>
      <p:grpSpPr>
        <a:xfrm>
          <a:off x="0" y="0"/>
          <a:ext cx="0" cy="0"/>
        </a:xfrm>
      </p:grpSpPr>
      <p:sp>
        <p:nvSpPr>
          <p:cNvPr id="1369" name="Google Shape;1369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370" name="Google Shape;1370;p97"/>
          <p:cNvSpPr txBox="1"/>
          <p:nvPr/>
        </p:nvSpPr>
        <p:spPr>
          <a:xfrm>
            <a:off x="7787545" y="4345748"/>
            <a:ext cx="6051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97"/>
          <p:cNvSpPr txBox="1"/>
          <p:nvPr/>
        </p:nvSpPr>
        <p:spPr>
          <a:xfrm rot="-5400000">
            <a:off x="3037588" y="2369568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97"/>
          <p:cNvSpPr txBox="1"/>
          <p:nvPr/>
        </p:nvSpPr>
        <p:spPr>
          <a:xfrm>
            <a:off x="332750" y="808125"/>
            <a:ext cx="51936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2) This graph shows two animals running.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One is a human, one is a cheetah.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3" name="Google Shape;1373;p97"/>
          <p:cNvCxnSpPr/>
          <p:nvPr/>
        </p:nvCxnSpPr>
        <p:spPr>
          <a:xfrm rot="10800000" flipH="1">
            <a:off x="3733799" y="1860025"/>
            <a:ext cx="0" cy="246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4" name="Google Shape;1374;p97"/>
          <p:cNvCxnSpPr/>
          <p:nvPr/>
        </p:nvCxnSpPr>
        <p:spPr>
          <a:xfrm>
            <a:off x="3733800" y="4319875"/>
            <a:ext cx="49914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5" name="Google Shape;1375;p97"/>
          <p:cNvSpPr/>
          <p:nvPr/>
        </p:nvSpPr>
        <p:spPr>
          <a:xfrm>
            <a:off x="3722825" y="2427425"/>
            <a:ext cx="1530350" cy="1892300"/>
          </a:xfrm>
          <a:custGeom>
            <a:rect l="l" t="t" r="r" b="b"/>
            <a:pathLst>
              <a:path w="61214" h="75692" extrusionOk="0">
                <a:moveTo>
                  <a:pt x="0" y="75692"/>
                </a:moveTo>
                <a:cubicBezTo>
                  <a:pt x="8966" y="72106"/>
                  <a:pt x="18844" y="68177"/>
                  <a:pt x="24638" y="60452"/>
                </a:cubicBezTo>
                <a:cubicBezTo>
                  <a:pt x="33892" y="48113"/>
                  <a:pt x="32980" y="30559"/>
                  <a:pt x="39878" y="16764"/>
                </a:cubicBezTo>
                <a:cubicBezTo>
                  <a:pt x="43923" y="8674"/>
                  <a:pt x="52439" y="2194"/>
                  <a:pt x="61214" y="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376" name="Google Shape;1376;p97"/>
          <p:cNvCxnSpPr/>
          <p:nvPr/>
        </p:nvCxnSpPr>
        <p:spPr>
          <a:xfrm>
            <a:off x="5240529" y="2427425"/>
            <a:ext cx="3404100" cy="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7" name="Google Shape;1377;p97"/>
          <p:cNvCxnSpPr/>
          <p:nvPr/>
        </p:nvCxnSpPr>
        <p:spPr>
          <a:xfrm rot="10800000" flipH="1">
            <a:off x="5840850" y="2061650"/>
            <a:ext cx="2815200" cy="8709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8" name="Google Shape;1378;p97"/>
          <p:cNvSpPr/>
          <p:nvPr/>
        </p:nvSpPr>
        <p:spPr>
          <a:xfrm>
            <a:off x="3548500" y="2926200"/>
            <a:ext cx="2311400" cy="1390150"/>
          </a:xfrm>
          <a:custGeom>
            <a:rect l="l" t="t" r="r" b="b"/>
            <a:pathLst>
              <a:path w="92456" h="55606" extrusionOk="0">
                <a:moveTo>
                  <a:pt x="0" y="54102"/>
                </a:moveTo>
                <a:cubicBezTo>
                  <a:pt x="5391" y="57696"/>
                  <a:pt x="13157" y="53865"/>
                  <a:pt x="19304" y="51816"/>
                </a:cubicBezTo>
                <a:cubicBezTo>
                  <a:pt x="28401" y="48784"/>
                  <a:pt x="37670" y="44626"/>
                  <a:pt x="44450" y="37846"/>
                </a:cubicBezTo>
                <a:cubicBezTo>
                  <a:pt x="52353" y="29943"/>
                  <a:pt x="56740" y="18392"/>
                  <a:pt x="66040" y="12192"/>
                </a:cubicBezTo>
                <a:cubicBezTo>
                  <a:pt x="74109" y="6813"/>
                  <a:pt x="83376" y="3405"/>
                  <a:pt x="92456" y="0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379" name="Google Shape;1379;p97"/>
          <p:cNvSpPr/>
          <p:nvPr/>
        </p:nvSpPr>
        <p:spPr>
          <a:xfrm>
            <a:off x="3485000" y="4189850"/>
            <a:ext cx="225000" cy="201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97"/>
          <p:cNvSpPr txBox="1"/>
          <p:nvPr/>
        </p:nvSpPr>
        <p:spPr>
          <a:xfrm>
            <a:off x="332750" y="1623300"/>
            <a:ext cx="2926800" cy="1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Identify which line represents which and explain how you know?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97"/>
          <p:cNvSpPr txBox="1"/>
          <p:nvPr/>
        </p:nvSpPr>
        <p:spPr>
          <a:xfrm>
            <a:off x="332750" y="3223500"/>
            <a:ext cx="3152400" cy="1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Point to more than one key moment in the graph to support your explanation.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85" name="Shape 1385"/>
        <p:cNvGrpSpPr/>
        <p:nvPr/>
      </p:nvGrpSpPr>
      <p:grpSpPr>
        <a:xfrm>
          <a:off x="0" y="0"/>
          <a:ext cx="0" cy="0"/>
        </a:xfrm>
      </p:grpSpPr>
      <p:sp>
        <p:nvSpPr>
          <p:cNvPr id="1386" name="Google Shape;1386;p98"/>
          <p:cNvSpPr txBox="1"/>
          <p:nvPr>
            <p:ph type="body" idx="4294967295"/>
          </p:nvPr>
        </p:nvSpPr>
        <p:spPr>
          <a:xfrm>
            <a:off x="324000" y="759300"/>
            <a:ext cx="7135200" cy="3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1) Use these blank axes to draw three race events.</a:t>
            </a:r>
            <a:endParaRPr sz="2000"/>
          </a:p>
        </p:txBody>
      </p:sp>
      <p:sp>
        <p:nvSpPr>
          <p:cNvPr id="1387" name="Google Shape;1387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388" name="Google Shape;1388;p98"/>
          <p:cNvSpPr txBox="1"/>
          <p:nvPr/>
        </p:nvSpPr>
        <p:spPr>
          <a:xfrm>
            <a:off x="7745865" y="4094135"/>
            <a:ext cx="605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98"/>
          <p:cNvSpPr txBox="1"/>
          <p:nvPr/>
        </p:nvSpPr>
        <p:spPr>
          <a:xfrm rot="-5400000">
            <a:off x="3376909" y="1965554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0" name="Google Shape;1390;p98"/>
          <p:cNvCxnSpPr/>
          <p:nvPr/>
        </p:nvCxnSpPr>
        <p:spPr>
          <a:xfrm rot="10800000" flipH="1">
            <a:off x="4151200" y="1608400"/>
            <a:ext cx="0" cy="246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1" name="Google Shape;1391;p98"/>
          <p:cNvCxnSpPr/>
          <p:nvPr/>
        </p:nvCxnSpPr>
        <p:spPr>
          <a:xfrm>
            <a:off x="4151200" y="4068250"/>
            <a:ext cx="45324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92" name="Google Shape;1392;p98"/>
          <p:cNvSpPr txBox="1"/>
          <p:nvPr/>
        </p:nvSpPr>
        <p:spPr>
          <a:xfrm>
            <a:off x="332750" y="1230800"/>
            <a:ext cx="3225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A short distance, fast race run at a constant speed.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98"/>
          <p:cNvSpPr txBox="1"/>
          <p:nvPr/>
        </p:nvSpPr>
        <p:spPr>
          <a:xfrm>
            <a:off x="332750" y="2373800"/>
            <a:ext cx="3225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A middle distance, medium pace race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run at a constant speed.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98"/>
          <p:cNvSpPr txBox="1"/>
          <p:nvPr/>
        </p:nvSpPr>
        <p:spPr>
          <a:xfrm>
            <a:off x="332750" y="3745400"/>
            <a:ext cx="32259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 A long distance, slow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run at a constant speed.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5" name="Google Shape;1395;p98"/>
          <p:cNvCxnSpPr/>
          <p:nvPr/>
        </p:nvCxnSpPr>
        <p:spPr>
          <a:xfrm rot="10800000" flipH="1">
            <a:off x="4168575" y="1651725"/>
            <a:ext cx="4361100" cy="2393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6" name="Google Shape;1396;p98"/>
          <p:cNvSpPr txBox="1"/>
          <p:nvPr/>
        </p:nvSpPr>
        <p:spPr>
          <a:xfrm>
            <a:off x="8550843" y="1383200"/>
            <a:ext cx="351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98"/>
          <p:cNvSpPr txBox="1"/>
          <p:nvPr/>
        </p:nvSpPr>
        <p:spPr>
          <a:xfrm>
            <a:off x="311250" y="4368050"/>
            <a:ext cx="45324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Longest time, longest distance. Slow speed.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98" name="Google Shape;1398;p98"/>
          <p:cNvCxnSpPr/>
          <p:nvPr/>
        </p:nvCxnSpPr>
        <p:spPr>
          <a:xfrm rot="10800000" flipH="1">
            <a:off x="4168575" y="2560725"/>
            <a:ext cx="1553400" cy="1484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9" name="Google Shape;1399;p98"/>
          <p:cNvSpPr txBox="1"/>
          <p:nvPr/>
        </p:nvSpPr>
        <p:spPr>
          <a:xfrm>
            <a:off x="5731443" y="2255920"/>
            <a:ext cx="351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98"/>
          <p:cNvSpPr txBox="1"/>
          <p:nvPr/>
        </p:nvSpPr>
        <p:spPr>
          <a:xfrm>
            <a:off x="311250" y="3271077"/>
            <a:ext cx="33165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Middle distance. Medium speed.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01" name="Google Shape;1401;p98"/>
          <p:cNvCxnSpPr/>
          <p:nvPr/>
        </p:nvCxnSpPr>
        <p:spPr>
          <a:xfrm rot="10800000" flipH="1">
            <a:off x="4168575" y="3193725"/>
            <a:ext cx="299100" cy="8514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2" name="Google Shape;1402;p98"/>
          <p:cNvSpPr txBox="1"/>
          <p:nvPr/>
        </p:nvSpPr>
        <p:spPr>
          <a:xfrm>
            <a:off x="4436043" y="2865520"/>
            <a:ext cx="351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98"/>
          <p:cNvSpPr txBox="1"/>
          <p:nvPr/>
        </p:nvSpPr>
        <p:spPr>
          <a:xfrm>
            <a:off x="311250" y="1853450"/>
            <a:ext cx="33165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Short distance. Fast speed.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7" name="Shape 1407"/>
        <p:cNvGrpSpPr/>
        <p:nvPr/>
      </p:nvGrpSpPr>
      <p:grpSpPr>
        <a:xfrm>
          <a:off x="0" y="0"/>
          <a:ext cx="0" cy="0"/>
        </a:xfrm>
      </p:grpSpPr>
      <p:sp>
        <p:nvSpPr>
          <p:cNvPr id="1408" name="Google Shape;1408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409" name="Google Shape;1409;p99"/>
          <p:cNvSpPr txBox="1"/>
          <p:nvPr/>
        </p:nvSpPr>
        <p:spPr>
          <a:xfrm>
            <a:off x="7787545" y="4345748"/>
            <a:ext cx="605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99"/>
          <p:cNvSpPr txBox="1"/>
          <p:nvPr/>
        </p:nvSpPr>
        <p:spPr>
          <a:xfrm rot="-5400000">
            <a:off x="3037588" y="2369568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99"/>
          <p:cNvSpPr txBox="1"/>
          <p:nvPr/>
        </p:nvSpPr>
        <p:spPr>
          <a:xfrm>
            <a:off x="332750" y="808125"/>
            <a:ext cx="51936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2) This graph shows two animals running.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One is a human, one is a cheetah.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2" name="Google Shape;1412;p99"/>
          <p:cNvCxnSpPr/>
          <p:nvPr/>
        </p:nvCxnSpPr>
        <p:spPr>
          <a:xfrm rot="10800000" flipH="1">
            <a:off x="3733799" y="1860025"/>
            <a:ext cx="0" cy="246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3" name="Google Shape;1413;p99"/>
          <p:cNvCxnSpPr/>
          <p:nvPr/>
        </p:nvCxnSpPr>
        <p:spPr>
          <a:xfrm>
            <a:off x="3733800" y="4319875"/>
            <a:ext cx="49914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14" name="Google Shape;1414;p99"/>
          <p:cNvSpPr/>
          <p:nvPr/>
        </p:nvSpPr>
        <p:spPr>
          <a:xfrm>
            <a:off x="3722825" y="2427425"/>
            <a:ext cx="1530350" cy="1892300"/>
          </a:xfrm>
          <a:custGeom>
            <a:rect l="l" t="t" r="r" b="b"/>
            <a:pathLst>
              <a:path w="61214" h="75692" extrusionOk="0">
                <a:moveTo>
                  <a:pt x="0" y="75692"/>
                </a:moveTo>
                <a:cubicBezTo>
                  <a:pt x="8966" y="72106"/>
                  <a:pt x="18844" y="68177"/>
                  <a:pt x="24638" y="60452"/>
                </a:cubicBezTo>
                <a:cubicBezTo>
                  <a:pt x="33892" y="48113"/>
                  <a:pt x="32980" y="30559"/>
                  <a:pt x="39878" y="16764"/>
                </a:cubicBezTo>
                <a:cubicBezTo>
                  <a:pt x="43923" y="8674"/>
                  <a:pt x="52439" y="2194"/>
                  <a:pt x="61214" y="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415" name="Google Shape;1415;p99"/>
          <p:cNvCxnSpPr/>
          <p:nvPr/>
        </p:nvCxnSpPr>
        <p:spPr>
          <a:xfrm>
            <a:off x="5240529" y="2427425"/>
            <a:ext cx="3404100" cy="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6" name="Google Shape;1416;p99"/>
          <p:cNvCxnSpPr/>
          <p:nvPr/>
        </p:nvCxnSpPr>
        <p:spPr>
          <a:xfrm rot="10800000" flipH="1">
            <a:off x="5840850" y="2061650"/>
            <a:ext cx="2815200" cy="8709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7" name="Google Shape;1417;p99"/>
          <p:cNvSpPr/>
          <p:nvPr/>
        </p:nvSpPr>
        <p:spPr>
          <a:xfrm>
            <a:off x="3548500" y="2926200"/>
            <a:ext cx="2311400" cy="1390150"/>
          </a:xfrm>
          <a:custGeom>
            <a:rect l="l" t="t" r="r" b="b"/>
            <a:pathLst>
              <a:path w="92456" h="55606" extrusionOk="0">
                <a:moveTo>
                  <a:pt x="0" y="54102"/>
                </a:moveTo>
                <a:cubicBezTo>
                  <a:pt x="5391" y="57696"/>
                  <a:pt x="13157" y="53865"/>
                  <a:pt x="19304" y="51816"/>
                </a:cubicBezTo>
                <a:cubicBezTo>
                  <a:pt x="28401" y="48784"/>
                  <a:pt x="37670" y="44626"/>
                  <a:pt x="44450" y="37846"/>
                </a:cubicBezTo>
                <a:cubicBezTo>
                  <a:pt x="52353" y="29943"/>
                  <a:pt x="56740" y="18392"/>
                  <a:pt x="66040" y="12192"/>
                </a:cubicBezTo>
                <a:cubicBezTo>
                  <a:pt x="74109" y="6813"/>
                  <a:pt x="83376" y="3405"/>
                  <a:pt x="92456" y="0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418" name="Google Shape;1418;p99"/>
          <p:cNvSpPr/>
          <p:nvPr/>
        </p:nvSpPr>
        <p:spPr>
          <a:xfrm>
            <a:off x="3485000" y="4189850"/>
            <a:ext cx="225000" cy="201900"/>
          </a:xfrm>
          <a:prstGeom prst="rect">
            <a:avLst/>
          </a:prstGeom>
          <a:solidFill>
            <a:srgbClr val="EAF2F2"/>
          </a:solidFill>
          <a:ln w="9525" cap="flat" cmpd="sng">
            <a:solidFill>
              <a:srgbClr val="EA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99"/>
          <p:cNvSpPr txBox="1"/>
          <p:nvPr/>
        </p:nvSpPr>
        <p:spPr>
          <a:xfrm>
            <a:off x="332750" y="1623300"/>
            <a:ext cx="2926800" cy="1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Identify which line represents which and explain how you know?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99"/>
          <p:cNvSpPr txBox="1"/>
          <p:nvPr/>
        </p:nvSpPr>
        <p:spPr>
          <a:xfrm>
            <a:off x="5349150" y="2135950"/>
            <a:ext cx="1040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Cheetah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99"/>
          <p:cNvSpPr txBox="1"/>
          <p:nvPr/>
        </p:nvSpPr>
        <p:spPr>
          <a:xfrm rot="-1074117">
            <a:off x="5859504" y="2844839"/>
            <a:ext cx="907645" cy="274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Human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99"/>
          <p:cNvSpPr txBox="1"/>
          <p:nvPr/>
        </p:nvSpPr>
        <p:spPr>
          <a:xfrm>
            <a:off x="1008557" y="3148850"/>
            <a:ext cx="1878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Faster acceleration, faster top speed.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23" name="Google Shape;1423;p99"/>
          <p:cNvCxnSpPr>
            <a:stCxn id="1422" idx="3"/>
          </p:cNvCxnSpPr>
          <p:nvPr/>
        </p:nvCxnSpPr>
        <p:spPr>
          <a:xfrm>
            <a:off x="2886857" y="3419000"/>
            <a:ext cx="1500300" cy="200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24" name="Google Shape;1424;p99"/>
          <p:cNvSpPr txBox="1"/>
          <p:nvPr/>
        </p:nvSpPr>
        <p:spPr>
          <a:xfrm>
            <a:off x="3928250" y="1472450"/>
            <a:ext cx="25251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Full stop after exhausting their explosive energy.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25" name="Google Shape;1425;p99"/>
          <p:cNvCxnSpPr>
            <a:stCxn id="1424" idx="2"/>
          </p:cNvCxnSpPr>
          <p:nvPr/>
        </p:nvCxnSpPr>
        <p:spPr>
          <a:xfrm>
            <a:off x="5190800" y="2012750"/>
            <a:ext cx="49200" cy="380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26" name="Google Shape;1426;p99"/>
          <p:cNvSpPr txBox="1"/>
          <p:nvPr/>
        </p:nvSpPr>
        <p:spPr>
          <a:xfrm>
            <a:off x="4976400" y="3606050"/>
            <a:ext cx="3936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Slower animal but able to maintain a steady, constant speed for long periods.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27" name="Google Shape;1427;p99"/>
          <p:cNvCxnSpPr/>
          <p:nvPr/>
        </p:nvCxnSpPr>
        <p:spPr>
          <a:xfrm rot="10800000">
            <a:off x="5606825" y="3089875"/>
            <a:ext cx="184200" cy="529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31" name="Shape 1431"/>
        <p:cNvGrpSpPr/>
        <p:nvPr/>
      </p:nvGrpSpPr>
      <p:grpSpPr>
        <a:xfrm>
          <a:off x="0" y="0"/>
          <a:ext cx="0" cy="0"/>
        </a:xfrm>
      </p:grpSpPr>
      <p:sp>
        <p:nvSpPr>
          <p:cNvPr id="1432" name="Google Shape;1432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Matching sketches to real-life models</a:t>
            </a:r>
            <a:endParaRPr/>
          </a:p>
        </p:txBody>
      </p:sp>
      <p:sp>
        <p:nvSpPr>
          <p:cNvPr id="1433" name="Google Shape;1433;p100"/>
          <p:cNvSpPr txBox="1"/>
          <p:nvPr/>
        </p:nvSpPr>
        <p:spPr>
          <a:xfrm>
            <a:off x="7787545" y="4345748"/>
            <a:ext cx="605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time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00"/>
          <p:cNvSpPr txBox="1"/>
          <p:nvPr/>
        </p:nvSpPr>
        <p:spPr>
          <a:xfrm rot="-5400000">
            <a:off x="3037588" y="2369568"/>
            <a:ext cx="1008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distance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00"/>
          <p:cNvSpPr txBox="1"/>
          <p:nvPr/>
        </p:nvSpPr>
        <p:spPr>
          <a:xfrm>
            <a:off x="332750" y="808125"/>
            <a:ext cx="51936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2) This graph shows two animals running.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One is a human, one is a cheetah.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6" name="Google Shape;1436;p100"/>
          <p:cNvCxnSpPr/>
          <p:nvPr/>
        </p:nvCxnSpPr>
        <p:spPr>
          <a:xfrm rot="10800000" flipH="1">
            <a:off x="3733799" y="1860025"/>
            <a:ext cx="0" cy="246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7" name="Google Shape;1437;p100"/>
          <p:cNvCxnSpPr/>
          <p:nvPr/>
        </p:nvCxnSpPr>
        <p:spPr>
          <a:xfrm>
            <a:off x="3733800" y="4319875"/>
            <a:ext cx="49914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38" name="Google Shape;1438;p100"/>
          <p:cNvSpPr/>
          <p:nvPr/>
        </p:nvSpPr>
        <p:spPr>
          <a:xfrm>
            <a:off x="3722825" y="2427425"/>
            <a:ext cx="1530350" cy="1892300"/>
          </a:xfrm>
          <a:custGeom>
            <a:rect l="l" t="t" r="r" b="b"/>
            <a:pathLst>
              <a:path w="61214" h="75692" extrusionOk="0">
                <a:moveTo>
                  <a:pt x="0" y="75692"/>
                </a:moveTo>
                <a:cubicBezTo>
                  <a:pt x="8966" y="72106"/>
                  <a:pt x="18844" y="68177"/>
                  <a:pt x="24638" y="60452"/>
                </a:cubicBezTo>
                <a:cubicBezTo>
                  <a:pt x="33892" y="48113"/>
                  <a:pt x="32980" y="30559"/>
                  <a:pt x="39878" y="16764"/>
                </a:cubicBezTo>
                <a:cubicBezTo>
                  <a:pt x="43923" y="8674"/>
                  <a:pt x="52439" y="2194"/>
                  <a:pt x="61214" y="0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cxnSp>
        <p:nvCxnSpPr>
          <p:cNvPr id="1439" name="Google Shape;1439;p100"/>
          <p:cNvCxnSpPr/>
          <p:nvPr/>
        </p:nvCxnSpPr>
        <p:spPr>
          <a:xfrm>
            <a:off x="5240529" y="2427425"/>
            <a:ext cx="3404100" cy="2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0" name="Google Shape;1440;p100"/>
          <p:cNvCxnSpPr/>
          <p:nvPr/>
        </p:nvCxnSpPr>
        <p:spPr>
          <a:xfrm rot="10800000" flipH="1">
            <a:off x="5840850" y="2061650"/>
            <a:ext cx="2815200" cy="8709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1" name="Google Shape;1441;p100"/>
          <p:cNvSpPr/>
          <p:nvPr/>
        </p:nvSpPr>
        <p:spPr>
          <a:xfrm>
            <a:off x="3548500" y="2926200"/>
            <a:ext cx="2311400" cy="1390150"/>
          </a:xfrm>
          <a:custGeom>
            <a:rect l="l" t="t" r="r" b="b"/>
            <a:pathLst>
              <a:path w="92456" h="55606" extrusionOk="0">
                <a:moveTo>
                  <a:pt x="0" y="54102"/>
                </a:moveTo>
                <a:cubicBezTo>
                  <a:pt x="5391" y="57696"/>
                  <a:pt x="13157" y="53865"/>
                  <a:pt x="19304" y="51816"/>
                </a:cubicBezTo>
                <a:cubicBezTo>
                  <a:pt x="28401" y="48784"/>
                  <a:pt x="37670" y="44626"/>
                  <a:pt x="44450" y="37846"/>
                </a:cubicBezTo>
                <a:cubicBezTo>
                  <a:pt x="52353" y="29943"/>
                  <a:pt x="56740" y="18392"/>
                  <a:pt x="66040" y="12192"/>
                </a:cubicBezTo>
                <a:cubicBezTo>
                  <a:pt x="74109" y="6813"/>
                  <a:pt x="83376" y="3405"/>
                  <a:pt x="92456" y="0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442" name="Google Shape;1442;p100"/>
          <p:cNvSpPr/>
          <p:nvPr/>
        </p:nvSpPr>
        <p:spPr>
          <a:xfrm>
            <a:off x="3485000" y="4189850"/>
            <a:ext cx="225000" cy="201900"/>
          </a:xfrm>
          <a:prstGeom prst="rect">
            <a:avLst/>
          </a:prstGeom>
          <a:solidFill>
            <a:srgbClr val="EAF2F2"/>
          </a:solidFill>
          <a:ln w="9525" cap="flat" cmpd="sng">
            <a:solidFill>
              <a:srgbClr val="EA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00"/>
          <p:cNvSpPr txBox="1"/>
          <p:nvPr/>
        </p:nvSpPr>
        <p:spPr>
          <a:xfrm>
            <a:off x="5349150" y="2135950"/>
            <a:ext cx="10401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Cheetah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100"/>
          <p:cNvSpPr txBox="1"/>
          <p:nvPr/>
        </p:nvSpPr>
        <p:spPr>
          <a:xfrm rot="-1074117">
            <a:off x="5859504" y="2844839"/>
            <a:ext cx="907645" cy="274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Human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100"/>
          <p:cNvSpPr txBox="1"/>
          <p:nvPr/>
        </p:nvSpPr>
        <p:spPr>
          <a:xfrm>
            <a:off x="4824000" y="1407750"/>
            <a:ext cx="37632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This intersection is reassurance that you can outrun a Cheetah…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6" name="Google Shape;1446;p100"/>
          <p:cNvSpPr txBox="1"/>
          <p:nvPr/>
        </p:nvSpPr>
        <p:spPr>
          <a:xfrm>
            <a:off x="7336739" y="2235676"/>
            <a:ext cx="2574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00"/>
          <p:cNvSpPr txBox="1"/>
          <p:nvPr/>
        </p:nvSpPr>
        <p:spPr>
          <a:xfrm>
            <a:off x="4122349" y="4543450"/>
            <a:ext cx="28935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Provided you last this long!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48" name="Google Shape;1448;p100"/>
          <p:cNvCxnSpPr/>
          <p:nvPr/>
        </p:nvCxnSpPr>
        <p:spPr>
          <a:xfrm>
            <a:off x="3753662" y="4465243"/>
            <a:ext cx="3671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52" name="Shape 1452"/>
        <p:cNvGrpSpPr/>
        <p:nvPr/>
      </p:nvGrpSpPr>
      <p:grpSpPr>
        <a:xfrm>
          <a:off x="0" y="0"/>
          <a:ext cx="0" cy="0"/>
        </a:xfrm>
      </p:grpSpPr>
      <p:sp>
        <p:nvSpPr>
          <p:cNvPr id="1453" name="Google Shape;1453;p101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Our knowledge of graphical representations can help us to solve a variety of problems from identifying the locations of intersections on graphs in solving equations, to real-life problems involving working with gradients on distance time graphs.</a:t>
            </a:r>
            <a:endParaRPr/>
          </a:p>
        </p:txBody>
      </p:sp>
      <p:sp>
        <p:nvSpPr>
          <p:cNvPr id="1454" name="Google Shape;1454;p101"/>
          <p:cNvSpPr txBox="1"/>
          <p:nvPr>
            <p:ph type="title"/>
          </p:nvPr>
        </p:nvSpPr>
        <p:spPr>
          <a:xfrm>
            <a:off x="1684800" y="160450"/>
            <a:ext cx="5741400" cy="570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graphical representations</a:t>
            </a:r>
            <a:endParaRPr/>
          </a:p>
        </p:txBody>
      </p: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58" name="Shape 1458"/>
        <p:cNvGrpSpPr/>
        <p:nvPr/>
      </p:nvGrpSpPr>
      <p:grpSpPr>
        <a:xfrm>
          <a:off x="0" y="0"/>
          <a:ext cx="0" cy="0"/>
        </a:xfrm>
      </p:grpSpPr>
      <p:sp>
        <p:nvSpPr>
          <p:cNvPr id="1459" name="Google Shape;1459;p102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60" name="Google Shape;1460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404</Paragraphs>
  <Slides>41</Slides>
  <Notes>41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baseType="lpstr" size="50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Problem solving with graphical representations</vt:lpstr>
      <vt:lpstr>PowerPoint Presentation</vt:lpstr>
      <vt:lpstr>PowerPoint Presentation</vt:lpstr>
      <vt:lpstr>PowerPoint Presentation</vt:lpstr>
      <vt:lpstr>PowerPoint Presentation</vt:lpstr>
      <vt:lpstr>Using sketches to locate intersections</vt:lpstr>
      <vt:lpstr>Using sketches to locate intersections </vt:lpstr>
      <vt:lpstr>Using sketches to locate intersections </vt:lpstr>
      <vt:lpstr>Using sketches to locate intersections </vt:lpstr>
      <vt:lpstr>Using sketches to locate intersections </vt:lpstr>
      <vt:lpstr>Using sketches to locate intersections </vt:lpstr>
      <vt:lpstr>Using sketches to locate intersections </vt:lpstr>
      <vt:lpstr>Using sketches to locate intersections </vt:lpstr>
      <vt:lpstr>The solution to this pair of simultaneous equations is in which quadrant?</vt:lpstr>
      <vt:lpstr>Our solution is in the third quadrant. What does that tell us about our solution?</vt:lpstr>
      <vt:lpstr>Using sketches to locate intersections </vt:lpstr>
      <vt:lpstr>Using sketches to locate intersections </vt:lpstr>
      <vt:lpstr>Using sketches to locate intersections </vt:lpstr>
      <vt:lpstr>Using sketches to locate intersections</vt:lpstr>
      <vt:lpstr>Using sketches to locate intersections</vt:lpstr>
      <vt:lpstr>Using sketches to locate intersections</vt:lpstr>
      <vt:lpstr>Using sketches to locate intersections</vt:lpstr>
      <vt:lpstr>Using sketches to locate intersections</vt:lpstr>
      <vt:lpstr>Using sketches to locate intersections</vt:lpstr>
      <vt:lpstr>Using sketches to locate intersections</vt:lpstr>
      <vt:lpstr>Matching sketches to real-life models</vt:lpstr>
      <vt:lpstr>Matching sketches to real-life models</vt:lpstr>
      <vt:lpstr>Matching sketches to real-life models</vt:lpstr>
      <vt:lpstr>Matching sketches to real-life models</vt:lpstr>
      <vt:lpstr>Matching sketches to real-life models</vt:lpstr>
      <vt:lpstr>These models show the time taken for the first 50 m of a race.
Which one shows the fastest time?</vt:lpstr>
      <vt:lpstr>Matching sketches to real-life models</vt:lpstr>
      <vt:lpstr>Matching sketches to real-life models</vt:lpstr>
      <vt:lpstr>A firework being let off is being modelled by the distance time graph. What is happening to it?</vt:lpstr>
      <vt:lpstr>Matching sketches to real-life models</vt:lpstr>
      <vt:lpstr>Matching sketches to real-life models</vt:lpstr>
      <vt:lpstr>Matching sketches to real-life models</vt:lpstr>
      <vt:lpstr>Matching sketches to real-life models</vt:lpstr>
      <vt:lpstr>Matching sketches to real-life models</vt:lpstr>
      <vt:lpstr>Problem solving with graphical representations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2024-03-05T14:34:22.515</cp:lastPrinted>
  <dcterms:created xsi:type="dcterms:W3CDTF">2024-03-05T14:34:22Z</dcterms:created>
  <dcterms:modified xsi:type="dcterms:W3CDTF">2024-03-05T14:31:54Z</dcterms:modified>
</cp:coreProperties>
</file>