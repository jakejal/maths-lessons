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3"/>
    <p:sldMasterId id="21474837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1f0b43906f6_0_1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1f0b43906f6_0_1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1f0b43906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1f0b43906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1f0b43906f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1f0b43906f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1f0b43906f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1f0b43906f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1f0b43906f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1f0b43906f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g1f0b43906f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7" name="Google Shape;1567;g1f0b43906f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1f0b43906f6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6" name="Google Shape;1586;g1f0b43906f6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1f0b43906f6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1f0b43906f6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1f0b43906f6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g1f0b43906f6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1f0b43906f6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1f0b43906f6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g1f0b43906f6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3" name="Google Shape;1653;g1f0b43906f6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1f0b43906f6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1f0b43906f6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g1f0b43906f6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5" name="Google Shape;1685;g1f0b43906f6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g1f0b43906f6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4" name="Google Shape;1704;g1f0b43906f6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g1f0b43906f6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5" name="Google Shape;1715;g1f0b43906f6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g1f0b43906f6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0" name="Google Shape;1740;g1f0b43906f6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g1f0b43906f6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8" name="Google Shape;1768;g1f0b43906f6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g1f0b43906f6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9" name="Google Shape;1779;g1f0b43906f6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1f0b43906f6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1f0b43906f6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g1f0b43906f6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3" name="Google Shape;1813;g1f0b43906f6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1f0b43906f6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1f0b43906f6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g1f0b43906f6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3" name="Google Shape;1833;g1f0b43906f6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g1f0b43906f6_0_2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8" name="Google Shape;1848;g1f0b43906f6_0_2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1f0b43906f6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2" name="Google Shape;1862;g1f0b43906f6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1f0b43906f6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4" name="Google Shape;1874;g1f0b43906f6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1f0b43906f6_0_2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1f0b43906f6_0_2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1f0b43906f6_0_2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1f0b43906f6_0_2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g1f0b43906f6_0_2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3" name="Google Shape;1933;g1f0b43906f6_0_2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g1f0b43906f6_0_2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5" name="Google Shape;1965;g1f0b43906f6_0_2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1f0b43906f6_0_2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1f0b43906f6_0_2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g1f0b43906f6_0_2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4" name="Google Shape;2004;g1f0b43906f6_0_2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g1f0b43906f6_0_2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6" name="Google Shape;2016;g1f0b43906f6_0_2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6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g1f0b43906f6_0_2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8" name="Google Shape;2028;g1f0b43906f6_0_2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1f0b43906f6_0_2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0" name="Google Shape;2040;g1f0b43906f6_0_2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g1f0b43906f6_0_2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7" name="Google Shape;2057;g1f0b43906f6_0_2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1f0b43906f6_0_2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4" name="Google Shape;2074;g1f0b43906f6_0_2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9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g1f0b43906f6_0_2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1" name="Google Shape;2091;g1f0b43906f6_0_2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g1f0b43906f6_0_2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3" name="Google Shape;2103;g1f0b43906f6_0_2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g1f0b43906f6_0_2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0" name="Google Shape;2120;g1f0b43906f6_0_2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g1f0b43906f6_0_2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7" name="Google Shape;2137;g1f0b43906f6_0_2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0" name="Google Shape;215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6" name="Google Shape;215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8.png"/><Relationship Id="rId4" Type="http://schemas.openxmlformats.org/officeDocument/2006/relationships/image" Target="../media/image90.png"/><Relationship Id="rId5" Type="http://schemas.openxmlformats.org/officeDocument/2006/relationships/image" Target="../media/image26.png"/><Relationship Id="rId6" Type="http://schemas.openxmlformats.org/officeDocument/2006/relationships/image" Target="../media/image33.png"/><Relationship Id="rId7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0.png"/><Relationship Id="rId4" Type="http://schemas.openxmlformats.org/officeDocument/2006/relationships/image" Target="../media/image14.png"/><Relationship Id="rId9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3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0.png"/><Relationship Id="rId4" Type="http://schemas.openxmlformats.org/officeDocument/2006/relationships/image" Target="../media/image29.png"/><Relationship Id="rId11" Type="http://schemas.openxmlformats.org/officeDocument/2006/relationships/image" Target="../media/image13.png"/><Relationship Id="rId10" Type="http://schemas.openxmlformats.org/officeDocument/2006/relationships/image" Target="../media/image41.png"/><Relationship Id="rId9" Type="http://schemas.openxmlformats.org/officeDocument/2006/relationships/image" Target="../media/image33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8.png"/><Relationship Id="rId4" Type="http://schemas.openxmlformats.org/officeDocument/2006/relationships/image" Target="../media/image90.png"/><Relationship Id="rId5" Type="http://schemas.openxmlformats.org/officeDocument/2006/relationships/image" Target="../media/image26.png"/><Relationship Id="rId6" Type="http://schemas.openxmlformats.org/officeDocument/2006/relationships/image" Target="../media/image33.png"/><Relationship Id="rId7" Type="http://schemas.openxmlformats.org/officeDocument/2006/relationships/image" Target="../media/image1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90.png"/><Relationship Id="rId4" Type="http://schemas.openxmlformats.org/officeDocument/2006/relationships/image" Target="../media/image14.png"/><Relationship Id="rId9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33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90.png"/><Relationship Id="rId4" Type="http://schemas.openxmlformats.org/officeDocument/2006/relationships/image" Target="../media/image29.png"/><Relationship Id="rId11" Type="http://schemas.openxmlformats.org/officeDocument/2006/relationships/image" Target="../media/image13.png"/><Relationship Id="rId10" Type="http://schemas.openxmlformats.org/officeDocument/2006/relationships/image" Target="../media/image41.png"/><Relationship Id="rId9" Type="http://schemas.openxmlformats.org/officeDocument/2006/relationships/image" Target="../media/image33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44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0" name="Google Shape;750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1" name="Google Shape;75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7" name="Google Shape;757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1" name="Google Shape;761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6" name="Google Shape;766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8" name="Google Shape;768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7" name="Google Shape;777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8" name="Google Shape;778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9" name="Google Shape;779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0" name="Google Shape;780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6" name="Google Shape;78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8" name="Google Shape;788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1" name="Google Shape;791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3" name="Google Shape;793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5" name="Google Shape;795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6" name="Google Shape;796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7" name="Google Shape;797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8" name="Google Shape;798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99" name="Google Shape;799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4" name="Google Shape;804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6" name="Google Shape;80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1" name="Google Shape;811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3" name="Google Shape;81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5" name="Google Shape;815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6" name="Google Shape;816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8" name="Google Shape;818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5" name="Google Shape;825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7" name="Google Shape;837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8" name="Google Shape;838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39" name="Google Shape;839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2" name="Google Shape;842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6" name="Google Shape;846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9" name="Google Shape;849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3" name="Google Shape;853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6" name="Google Shape;856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0" name="Google Shape;860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6" name="Google Shape;876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5" name="Google Shape;885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1" name="Google Shape;891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4" name="Google Shape;894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7" name="Google Shape;897;p80"/>
          <p:cNvCxnSpPr>
            <a:endCxn id="89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9" name="Google Shape;89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1" name="Google Shape;901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8" name="Google Shape;898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Google Shape;906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2" name="Google Shape;912;p81"/>
          <p:cNvCxnSpPr>
            <a:endCxn id="91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3" name="Google Shape;913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6" name="Google Shape;916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8" name="Google Shape;918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0" name="Google Shape;920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2" name="Google Shape;932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3" name="Google Shape;933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2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7" name="Google Shape;937;p82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0" name="Google Shape;940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2" name="Google Shape;942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Google Shape;946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9" name="Google Shape;94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0" name="Google Shape;9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953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6" name="Google Shape;956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8" name="Google Shape;95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Google Shape;960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3" name="Google Shape;963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5" name="Google Shape;96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0" name="Google Shape;97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2" name="Google Shape;97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5" name="Google Shape;975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8" name="Google Shape;978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0" name="Google Shape;980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1" name="Google Shape;981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3" name="Google Shape;983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4" name="Google Shape;984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5" name="Google Shape;985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8" name="Google Shape;988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1" name="Google Shape;991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3" name="Google Shape;993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4" name="Google Shape;994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6" name="Google Shape;996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7" name="Google Shape;997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8" name="Google Shape;998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1" name="Google Shape;1001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4" name="Google Shape;1004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6" name="Google Shape;1006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7" name="Google Shape;1007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9" name="Google Shape;1009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0" name="Google Shape;1010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4" name="Google Shape;1014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7" name="Google Shape;1017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9" name="Google Shape;1019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0" name="Google Shape;1020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2" name="Google Shape;1022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3" name="Google Shape;1023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4" name="Google Shape;1024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26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4" name="Google Shape;1034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6" name="Google Shape;1036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7" name="Google Shape;1037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9" name="Google Shape;1039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2" name="Google Shape;1042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3" name="Google Shape;1043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5" name="Google Shape;1045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6" name="Google Shape;1046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7" name="Google Shape;1047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Google Shape;1049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5" name="Google Shape;1055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6" name="Google Shape;1056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9" name="Google Shape;1059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1" name="Google Shape;1061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2" name="Google Shape;1062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4" name="Google Shape;1064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5" name="Google Shape;106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6" name="Google Shape;106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7" name="Google Shape;1067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2" name="Google Shape;1072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8" name="Google Shape;1078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9" name="Google Shape;1079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2" name="Google Shape;1082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4" name="Google Shape;1084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5" name="Google Shape;108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7" name="Google Shape;1087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8" name="Google Shape;1088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0" name="Google Shape;1090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1" name="Google Shape;1101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2" name="Google Shape;1102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5" name="Google Shape;1105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7" name="Google Shape;1107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8" name="Google Shape;1108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0" name="Google Shape;1110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1" name="Google Shape;1111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2" name="Google Shape;1112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3" name="Google Shape;1113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8" name="Google Shape;1118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1" name="Google Shape;1121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4" name="Google Shape;1124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7" name="Google Shape;1127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8" name="Google Shape;1128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1" name="Google Shape;113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3" name="Google Shape;1133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4" name="Google Shape;113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5" name="Google Shape;113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7" name="Google Shape;1137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0" name="Google Shape;1140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3" name="Google Shape;1143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6" name="Google Shape;1146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7" name="Google Shape;114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0" name="Google Shape;1150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2" name="Google Shape;1152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3" name="Google Shape;1153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4" name="Google Shape;1154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oogle Shape;1156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9" name="Google Shape;1159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2" name="Google Shape;1162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5" name="Google Shape;1165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6" name="Google Shape;1166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9" name="Google Shape;1169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1" name="Google Shape;1171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2" name="Google Shape;117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3" name="Google Shape;117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8" name="Google Shape;1178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1" name="Google Shape;1181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4" name="Google Shape;1184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5" name="Google Shape;1185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8" name="Google Shape;1188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0" name="Google Shape;1190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1" name="Google Shape;119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2" name="Google Shape;119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7" name="Google Shape;1197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0" name="Google Shape;1200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4" name="Google Shape;1204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5" name="Google Shape;120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8" name="Google Shape;1208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1" name="Google Shape;1211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3" name="Google Shape;1213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4" name="Google Shape;1214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5" name="Google Shape;121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7" name="Google Shape;1217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0" name="Google Shape;1220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3" name="Google Shape;1223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7" name="Google Shape;1227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8" name="Google Shape;122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1" name="Google Shape;123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4" name="Google Shape;123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6" name="Google Shape;1236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7" name="Google Shape;1237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8" name="Google Shape;123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1240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3" name="Google Shape;1243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6" name="Google Shape;1246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0" name="Google Shape;1250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1" name="Google Shape;125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4" name="Google Shape;125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7" name="Google Shape;1257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9" name="Google Shape;1259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0" name="Google Shape;1260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6" name="Google Shape;126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9" name="Google Shape;1269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3" name="Google Shape;1273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6" name="Google Shape;1276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7" name="Google Shape;127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0" name="Google Shape;128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1" name="Google Shape;128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2" name="Google Shape;1282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3" name="Google Shape;1283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4" name="Google Shape;128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6" name="Google Shape;1286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9" name="Google Shape;128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2" name="Google Shape;1292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3" name="Google Shape;1293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5" name="Google Shape;1295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6" name="Google Shape;129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8" name="Google Shape;1298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1" name="Google Shape;1301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2" name="Google Shape;1302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3" name="Google Shape;1303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5" name="Google Shape;1305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8" name="Google Shape;1308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1" name="Google Shape;1311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2" name="Google Shape;1312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3" name="Google Shape;1313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4" name="Google Shape;1314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5" name="Google Shape;1315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8" name="Google Shape;1318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0" name="Google Shape;1320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1" name="Google Shape;1321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4" name="Google Shape;1324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7" name="Google Shape;1327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0" name="Google Shape;1330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1" name="Google Shape;1331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2" name="Google Shape;1332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3" name="Google Shape;1333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4" name="Google Shape;1334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7" name="Google Shape;1337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9" name="Google Shape;1339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0" name="Google Shape;1340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1" name="Google Shape;1341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3" name="Google Shape;1343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6" name="Google Shape;1346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9" name="Google Shape;1349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0" name="Google Shape;1350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1" name="Google Shape;1351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2" name="Google Shape;1352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5" name="Google Shape;1355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6" name="Google Shape;1356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8" name="Google Shape;1358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9" name="Google Shape;1359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0" name="Google Shape;136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" name="Google Shape;1362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5" name="Google Shape;1365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9" name="Google Shape;1369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2" name="Google Shape;1372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6" name="Google Shape;1376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9" name="Google Shape;137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Google Shape;1383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6" name="Google Shape;1386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0" name="Google Shape;1390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3" name="Google Shape;1393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5" name="Google Shape;1395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1" name="Google Shape;1401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4" name="Google Shape;1404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9" name="Google Shape;1409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2" name="Google Shape;141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7" name="Google Shape;1417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0" name="Google Shape;1420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2" name="Google Shape;1422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5" name="Google Shape;1425;p115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7" name="Google Shape;1427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0" name="Google Shape;1430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3" name="Google Shape;1433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5" name="Google Shape;1435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6" name="Google Shape;1436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1" name="Google Shape;1441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3" name="Google Shape;1443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4" name="Google Shape;1444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6" name="Google Shape;1446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9" name="Google Shape;1449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1" name="Google Shape;1451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2" name="Google Shape;1452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5" name="Google Shape;1455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7" name="Google Shape;1457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1" name="Google Shape;1461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3" name="Google Shape;1463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7" name="Google Shape;1467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" name="Google Shape;1479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4" name="Google Shape;744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5" name="Google Shape;745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2.png"/><Relationship Id="rId4" Type="http://schemas.openxmlformats.org/officeDocument/2006/relationships/image" Target="../media/image10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2.png"/><Relationship Id="rId4" Type="http://schemas.openxmlformats.org/officeDocument/2006/relationships/image" Target="../media/image100.png"/><Relationship Id="rId5" Type="http://schemas.openxmlformats.org/officeDocument/2006/relationships/image" Target="../media/image97.png"/><Relationship Id="rId6" Type="http://schemas.openxmlformats.org/officeDocument/2006/relationships/image" Target="../media/image10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0.png"/><Relationship Id="rId6" Type="http://schemas.openxmlformats.org/officeDocument/2006/relationships/image" Target="../media/image97.png"/><Relationship Id="rId7" Type="http://schemas.openxmlformats.org/officeDocument/2006/relationships/image" Target="../media/image9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2.png"/><Relationship Id="rId4" Type="http://schemas.openxmlformats.org/officeDocument/2006/relationships/image" Target="../media/image100.png"/><Relationship Id="rId5" Type="http://schemas.openxmlformats.org/officeDocument/2006/relationships/image" Target="../media/image97.png"/><Relationship Id="rId6" Type="http://schemas.openxmlformats.org/officeDocument/2006/relationships/image" Target="../media/image10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2.png"/><Relationship Id="rId4" Type="http://schemas.openxmlformats.org/officeDocument/2006/relationships/image" Target="../media/image106.png"/><Relationship Id="rId5" Type="http://schemas.openxmlformats.org/officeDocument/2006/relationships/image" Target="../media/image105.png"/><Relationship Id="rId6" Type="http://schemas.openxmlformats.org/officeDocument/2006/relationships/image" Target="../media/image111.png"/><Relationship Id="rId7" Type="http://schemas.openxmlformats.org/officeDocument/2006/relationships/image" Target="../media/image9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7.png"/><Relationship Id="rId4" Type="http://schemas.openxmlformats.org/officeDocument/2006/relationships/image" Target="../media/image9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9.png"/><Relationship Id="rId4" Type="http://schemas.openxmlformats.org/officeDocument/2006/relationships/image" Target="../media/image108.png"/><Relationship Id="rId5" Type="http://schemas.openxmlformats.org/officeDocument/2006/relationships/image" Target="../media/image110.png"/><Relationship Id="rId6" Type="http://schemas.openxmlformats.org/officeDocument/2006/relationships/image" Target="../media/image10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0.png"/><Relationship Id="rId4" Type="http://schemas.openxmlformats.org/officeDocument/2006/relationships/image" Target="../media/image10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9.png"/><Relationship Id="rId4" Type="http://schemas.openxmlformats.org/officeDocument/2006/relationships/image" Target="../media/image108.png"/><Relationship Id="rId5" Type="http://schemas.openxmlformats.org/officeDocument/2006/relationships/image" Target="../media/image110.png"/><Relationship Id="rId6" Type="http://schemas.openxmlformats.org/officeDocument/2006/relationships/image" Target="../media/image10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0.png"/><Relationship Id="rId4" Type="http://schemas.openxmlformats.org/officeDocument/2006/relationships/image" Target="../media/image10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6.png"/><Relationship Id="rId4" Type="http://schemas.openxmlformats.org/officeDocument/2006/relationships/image" Target="../media/image4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Graphically solving two linear graphs that intersect</a:t>
            </a:r>
            <a:endParaRPr/>
          </a:p>
        </p:txBody>
      </p:sp>
      <p:sp>
        <p:nvSpPr>
          <p:cNvPr id="1488" name="Google Shape;1488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26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recognise that the point of intersection of two linear graphs satisfies both relationships and hence represents the solution to both those equations.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28"/>
          <p:cNvSpPr txBox="1"/>
          <p:nvPr>
            <p:ph idx="2" type="subTitle"/>
          </p:nvPr>
        </p:nvSpPr>
        <p:spPr>
          <a:xfrm>
            <a:off x="324000" y="1095725"/>
            <a:ext cx="8496000" cy="117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relationship between two variables is linear if, when plotted on a pair of axes, a straight line is formed.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12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sp>
        <p:nvSpPr>
          <p:cNvPr id="1509" name="Google Shape;1509;p12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Regions of a graph</a:t>
            </a:r>
            <a:endParaRPr/>
          </a:p>
        </p:txBody>
      </p:sp>
      <p:sp>
        <p:nvSpPr>
          <p:cNvPr id="1510" name="Google Shape;1510;p12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Graphically solving two linear graphs that intersect</a:t>
            </a:r>
            <a:endParaRPr/>
          </a:p>
        </p:txBody>
      </p:sp>
      <p:pic>
        <p:nvPicPr>
          <p:cNvPr id="1511" name="Google Shape;1511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05434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130"/>
          <p:cNvSpPr txBox="1"/>
          <p:nvPr>
            <p:ph idx="1" type="body"/>
          </p:nvPr>
        </p:nvSpPr>
        <p:spPr>
          <a:xfrm>
            <a:off x="324000" y="759300"/>
            <a:ext cx="7768200" cy="6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draw the graphs of linear equations by calculating coordinates and plotting, or by using technology.</a:t>
            </a:r>
            <a:endParaRPr sz="2000"/>
          </a:p>
        </p:txBody>
      </p:sp>
      <p:sp>
        <p:nvSpPr>
          <p:cNvPr id="1517" name="Google Shape;1517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pic>
        <p:nvPicPr>
          <p:cNvPr id="1518" name="Google Shape;1518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8727" y="1433187"/>
            <a:ext cx="1900686" cy="338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9" name="Google Shape;1519;p130"/>
          <p:cNvSpPr txBox="1"/>
          <p:nvPr/>
        </p:nvSpPr>
        <p:spPr>
          <a:xfrm>
            <a:off x="8206505" y="25869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0" name="Google Shape;1520;p130"/>
          <p:cNvSpPr txBox="1"/>
          <p:nvPr/>
        </p:nvSpPr>
        <p:spPr>
          <a:xfrm>
            <a:off x="6909890" y="1146365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1" name="Google Shape;1521;p130"/>
          <p:cNvSpPr txBox="1"/>
          <p:nvPr>
            <p:ph idx="1" type="body"/>
          </p:nvPr>
        </p:nvSpPr>
        <p:spPr>
          <a:xfrm>
            <a:off x="324000" y="1620513"/>
            <a:ext cx="5450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example, the linear equation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131"/>
          <p:cNvSpPr txBox="1"/>
          <p:nvPr>
            <p:ph idx="1" type="body"/>
          </p:nvPr>
        </p:nvSpPr>
        <p:spPr>
          <a:xfrm>
            <a:off x="324000" y="759300"/>
            <a:ext cx="6376200" cy="6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Every coordinate on this line satisfies the equation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/>
          </a:p>
        </p:txBody>
      </p:sp>
      <p:sp>
        <p:nvSpPr>
          <p:cNvPr id="1527" name="Google Shape;1527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pic>
        <p:nvPicPr>
          <p:cNvPr id="1528" name="Google Shape;1528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8727" y="1433187"/>
            <a:ext cx="1900686" cy="338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9" name="Google Shape;1529;p131"/>
          <p:cNvSpPr txBox="1"/>
          <p:nvPr/>
        </p:nvSpPr>
        <p:spPr>
          <a:xfrm>
            <a:off x="8206505" y="25869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0" name="Google Shape;1530;p131"/>
          <p:cNvSpPr txBox="1"/>
          <p:nvPr/>
        </p:nvSpPr>
        <p:spPr>
          <a:xfrm>
            <a:off x="6775240" y="1165115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1" name="Google Shape;1531;p131"/>
          <p:cNvSpPr txBox="1"/>
          <p:nvPr/>
        </p:nvSpPr>
        <p:spPr>
          <a:xfrm>
            <a:off x="7845267" y="141310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131"/>
          <p:cNvSpPr txBox="1"/>
          <p:nvPr/>
        </p:nvSpPr>
        <p:spPr>
          <a:xfrm>
            <a:off x="8097924" y="1487550"/>
            <a:ext cx="6504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(3, 3)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131"/>
          <p:cNvSpPr txBox="1"/>
          <p:nvPr>
            <p:ph idx="1" type="body"/>
          </p:nvPr>
        </p:nvSpPr>
        <p:spPr>
          <a:xfrm>
            <a:off x="324000" y="1749900"/>
            <a:ext cx="714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(3, 3)</a:t>
            </a:r>
            <a:endParaRPr sz="2000"/>
          </a:p>
        </p:txBody>
      </p:sp>
      <p:sp>
        <p:nvSpPr>
          <p:cNvPr id="1534" name="Google Shape;1534;p131"/>
          <p:cNvSpPr txBox="1"/>
          <p:nvPr>
            <p:ph idx="1" type="body"/>
          </p:nvPr>
        </p:nvSpPr>
        <p:spPr>
          <a:xfrm>
            <a:off x="1695600" y="1749900"/>
            <a:ext cx="16101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(3) = 2(3) − 3</a:t>
            </a:r>
            <a:endParaRPr sz="2000"/>
          </a:p>
        </p:txBody>
      </p:sp>
      <p:pic>
        <p:nvPicPr>
          <p:cNvPr id="1535" name="Google Shape;1535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8383" y="1753937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131"/>
          <p:cNvSpPr txBox="1"/>
          <p:nvPr/>
        </p:nvSpPr>
        <p:spPr>
          <a:xfrm>
            <a:off x="7464267" y="217510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131"/>
          <p:cNvSpPr txBox="1"/>
          <p:nvPr/>
        </p:nvSpPr>
        <p:spPr>
          <a:xfrm>
            <a:off x="7716924" y="2249550"/>
            <a:ext cx="6504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(2, 1)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131"/>
          <p:cNvSpPr txBox="1"/>
          <p:nvPr>
            <p:ph idx="1" type="body"/>
          </p:nvPr>
        </p:nvSpPr>
        <p:spPr>
          <a:xfrm>
            <a:off x="324000" y="2359500"/>
            <a:ext cx="714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(2, 1)</a:t>
            </a:r>
            <a:endParaRPr sz="2000"/>
          </a:p>
        </p:txBody>
      </p:sp>
      <p:sp>
        <p:nvSpPr>
          <p:cNvPr id="1539" name="Google Shape;1539;p131"/>
          <p:cNvSpPr txBox="1"/>
          <p:nvPr>
            <p:ph idx="1" type="body"/>
          </p:nvPr>
        </p:nvSpPr>
        <p:spPr>
          <a:xfrm>
            <a:off x="1695600" y="2359500"/>
            <a:ext cx="16101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(1) = 2(2) − 3</a:t>
            </a:r>
            <a:endParaRPr sz="2000"/>
          </a:p>
        </p:txBody>
      </p:sp>
      <p:pic>
        <p:nvPicPr>
          <p:cNvPr id="1540" name="Google Shape;1540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8383" y="2363537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p131"/>
          <p:cNvSpPr txBox="1"/>
          <p:nvPr/>
        </p:nvSpPr>
        <p:spPr>
          <a:xfrm>
            <a:off x="7094773" y="293710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131"/>
          <p:cNvSpPr txBox="1"/>
          <p:nvPr/>
        </p:nvSpPr>
        <p:spPr>
          <a:xfrm>
            <a:off x="7347431" y="3011550"/>
            <a:ext cx="6504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(1,−1)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131"/>
          <p:cNvSpPr txBox="1"/>
          <p:nvPr>
            <p:ph idx="1" type="body"/>
          </p:nvPr>
        </p:nvSpPr>
        <p:spPr>
          <a:xfrm>
            <a:off x="324000" y="3045300"/>
            <a:ext cx="714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(1,−1)</a:t>
            </a:r>
            <a:endParaRPr sz="2000"/>
          </a:p>
        </p:txBody>
      </p:sp>
      <p:sp>
        <p:nvSpPr>
          <p:cNvPr id="1544" name="Google Shape;1544;p131"/>
          <p:cNvSpPr txBox="1"/>
          <p:nvPr>
            <p:ph idx="1" type="body"/>
          </p:nvPr>
        </p:nvSpPr>
        <p:spPr>
          <a:xfrm>
            <a:off x="1695600" y="3045300"/>
            <a:ext cx="17367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(−1) = 2(1) − 3</a:t>
            </a:r>
            <a:endParaRPr sz="2000"/>
          </a:p>
        </p:txBody>
      </p:sp>
      <p:pic>
        <p:nvPicPr>
          <p:cNvPr id="1545" name="Google Shape;1545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4583" y="3049337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6" name="Google Shape;1546;p131"/>
          <p:cNvSpPr txBox="1"/>
          <p:nvPr/>
        </p:nvSpPr>
        <p:spPr>
          <a:xfrm>
            <a:off x="6713773" y="368759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7" name="Google Shape;1547;p131"/>
          <p:cNvSpPr txBox="1"/>
          <p:nvPr/>
        </p:nvSpPr>
        <p:spPr>
          <a:xfrm>
            <a:off x="6966431" y="3762043"/>
            <a:ext cx="6504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(0,−3)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131"/>
          <p:cNvSpPr txBox="1"/>
          <p:nvPr>
            <p:ph idx="1" type="body"/>
          </p:nvPr>
        </p:nvSpPr>
        <p:spPr>
          <a:xfrm>
            <a:off x="324000" y="3731100"/>
            <a:ext cx="714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(0,−3)</a:t>
            </a:r>
            <a:endParaRPr sz="2000"/>
          </a:p>
        </p:txBody>
      </p:sp>
      <p:sp>
        <p:nvSpPr>
          <p:cNvPr id="1549" name="Google Shape;1549;p131"/>
          <p:cNvSpPr txBox="1"/>
          <p:nvPr>
            <p:ph idx="1" type="body"/>
          </p:nvPr>
        </p:nvSpPr>
        <p:spPr>
          <a:xfrm>
            <a:off x="1695600" y="3731100"/>
            <a:ext cx="17367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(−3) = 2(0) − 3</a:t>
            </a:r>
            <a:endParaRPr sz="2000"/>
          </a:p>
        </p:txBody>
      </p:sp>
      <p:pic>
        <p:nvPicPr>
          <p:cNvPr id="1550" name="Google Shape;1550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4583" y="3735137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5" name="Google Shape;1555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5431" y="1634497"/>
            <a:ext cx="2824136" cy="2791876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p132"/>
          <p:cNvSpPr txBox="1"/>
          <p:nvPr>
            <p:ph idx="1" type="body"/>
          </p:nvPr>
        </p:nvSpPr>
        <p:spPr>
          <a:xfrm>
            <a:off x="324000" y="759300"/>
            <a:ext cx="71352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we plot two linear</a:t>
            </a:r>
            <a:r>
              <a:rPr lang="en-GB" sz="2000"/>
              <a:t> equations with different gradients we get an intersection.</a:t>
            </a:r>
            <a:endParaRPr sz="2000"/>
          </a:p>
        </p:txBody>
      </p:sp>
      <p:sp>
        <p:nvSpPr>
          <p:cNvPr id="1557" name="Google Shape;1557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sp>
        <p:nvSpPr>
          <p:cNvPr id="1558" name="Google Shape;1558;p132"/>
          <p:cNvSpPr txBox="1"/>
          <p:nvPr/>
        </p:nvSpPr>
        <p:spPr>
          <a:xfrm>
            <a:off x="8587505" y="28155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9" name="Google Shape;1559;p132"/>
          <p:cNvSpPr txBox="1"/>
          <p:nvPr/>
        </p:nvSpPr>
        <p:spPr>
          <a:xfrm>
            <a:off x="6641507" y="1370702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0" name="Google Shape;1560;p132"/>
          <p:cNvSpPr txBox="1"/>
          <p:nvPr>
            <p:ph idx="1" type="body"/>
          </p:nvPr>
        </p:nvSpPr>
        <p:spPr>
          <a:xfrm>
            <a:off x="324000" y="1620525"/>
            <a:ext cx="36030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/>
              <a:t>he linear equation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/>
          </a:p>
        </p:txBody>
      </p:sp>
      <p:sp>
        <p:nvSpPr>
          <p:cNvPr id="1561" name="Google Shape;1561;p132"/>
          <p:cNvSpPr txBox="1"/>
          <p:nvPr>
            <p:ph idx="1" type="body"/>
          </p:nvPr>
        </p:nvSpPr>
        <p:spPr>
          <a:xfrm>
            <a:off x="324000" y="2153925"/>
            <a:ext cx="29817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and t</a:t>
            </a:r>
            <a:r>
              <a:rPr lang="en-GB" sz="2000"/>
              <a:t>he linear equation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2-\frac{1}{2}x&quot;&gt;&lt;mi&gt;y&lt;/mi&gt;&lt;mo&gt;=&lt;/mo&gt;&lt;mn&gt;2&lt;/mn&gt;&lt;mo&gt;−&lt;/mo&gt;&lt;mfrac&gt;&lt;mn&gt;1&lt;/mn&gt;&lt;mn&gt;2&lt;/mn&gt;&lt;/mfrac&gt;&lt;mi&gt;x&lt;/mi&gt;&lt;/math&gt;" id="1562" name="Google Shape;1562;p132" title="y equals 2 minus one half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4307" y="2026993"/>
            <a:ext cx="1284879" cy="5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132"/>
          <p:cNvSpPr txBox="1"/>
          <p:nvPr>
            <p:ph idx="1" type="body"/>
          </p:nvPr>
        </p:nvSpPr>
        <p:spPr>
          <a:xfrm>
            <a:off x="324000" y="2992113"/>
            <a:ext cx="39021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</a:t>
            </a:r>
            <a:r>
              <a:rPr lang="en-GB" sz="2000"/>
              <a:t> </a:t>
            </a:r>
            <a:r>
              <a:rPr lang="en-GB" sz="2000">
                <a:solidFill>
                  <a:schemeClr val="accent4"/>
                </a:solidFill>
              </a:rPr>
              <a:t>intersection </a:t>
            </a:r>
            <a:r>
              <a:rPr lang="en-GB" sz="2000"/>
              <a:t>is the point where the two lines cross.</a:t>
            </a:r>
            <a:endParaRPr sz="2000"/>
          </a:p>
        </p:txBody>
      </p:sp>
      <p:sp>
        <p:nvSpPr>
          <p:cNvPr id="1564" name="Google Shape;1564;p132"/>
          <p:cNvSpPr/>
          <p:nvPr/>
        </p:nvSpPr>
        <p:spPr>
          <a:xfrm>
            <a:off x="7355923" y="2457207"/>
            <a:ext cx="310800" cy="286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9" name="Google Shape;1569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5431" y="1634497"/>
            <a:ext cx="2824136" cy="2791876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133"/>
          <p:cNvSpPr txBox="1"/>
          <p:nvPr>
            <p:ph idx="1" type="body"/>
          </p:nvPr>
        </p:nvSpPr>
        <p:spPr>
          <a:xfrm>
            <a:off x="324000" y="759300"/>
            <a:ext cx="71352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point of the</a:t>
            </a:r>
            <a:r>
              <a:rPr lang="en-GB" sz="2000"/>
              <a:t> intersection is unique in that it is the only point which satisfies both equations.</a:t>
            </a:r>
            <a:endParaRPr sz="2000"/>
          </a:p>
        </p:txBody>
      </p:sp>
      <p:sp>
        <p:nvSpPr>
          <p:cNvPr id="1571" name="Google Shape;1571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sp>
        <p:nvSpPr>
          <p:cNvPr id="1572" name="Google Shape;1572;p133"/>
          <p:cNvSpPr txBox="1"/>
          <p:nvPr/>
        </p:nvSpPr>
        <p:spPr>
          <a:xfrm>
            <a:off x="8587505" y="28155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3" name="Google Shape;1573;p133"/>
          <p:cNvSpPr txBox="1"/>
          <p:nvPr/>
        </p:nvSpPr>
        <p:spPr>
          <a:xfrm>
            <a:off x="6641507" y="1370702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4" name="Google Shape;1574;p133"/>
          <p:cNvSpPr txBox="1"/>
          <p:nvPr>
            <p:ph idx="1" type="body"/>
          </p:nvPr>
        </p:nvSpPr>
        <p:spPr>
          <a:xfrm>
            <a:off x="324000" y="1749912"/>
            <a:ext cx="13608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2-\frac{1}{2}x&quot;&gt;&lt;mi&gt;y&lt;/mi&gt;&lt;mo&gt;=&lt;/mo&gt;&lt;mn&gt;2&lt;/mn&gt;&lt;mo&gt;−&lt;/mo&gt;&lt;mfrac&gt;&lt;mn&gt;1&lt;/mn&gt;&lt;mn&gt;2&lt;/mn&gt;&lt;/mfrac&gt;&lt;mi&gt;x&lt;/mi&gt;&lt;/math&gt;" id="1575" name="Google Shape;1575;p133" title="y equals 2 minus one half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813" y="3234686"/>
            <a:ext cx="1284879" cy="5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133"/>
          <p:cNvSpPr txBox="1"/>
          <p:nvPr/>
        </p:nvSpPr>
        <p:spPr>
          <a:xfrm>
            <a:off x="7388067" y="24267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133"/>
          <p:cNvSpPr txBox="1"/>
          <p:nvPr/>
        </p:nvSpPr>
        <p:spPr>
          <a:xfrm>
            <a:off x="7716924" y="2348763"/>
            <a:ext cx="6504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(2, 1)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133"/>
          <p:cNvSpPr txBox="1"/>
          <p:nvPr>
            <p:ph idx="1" type="body"/>
          </p:nvPr>
        </p:nvSpPr>
        <p:spPr>
          <a:xfrm>
            <a:off x="324000" y="2283300"/>
            <a:ext cx="714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(2, 1)</a:t>
            </a:r>
            <a:endParaRPr sz="2000"/>
          </a:p>
        </p:txBody>
      </p:sp>
      <p:sp>
        <p:nvSpPr>
          <p:cNvPr id="1579" name="Google Shape;1579;p133"/>
          <p:cNvSpPr txBox="1"/>
          <p:nvPr>
            <p:ph idx="1" type="body"/>
          </p:nvPr>
        </p:nvSpPr>
        <p:spPr>
          <a:xfrm>
            <a:off x="1695600" y="2283300"/>
            <a:ext cx="16101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(1) = 2(2) − 3</a:t>
            </a:r>
            <a:endParaRPr sz="2000"/>
          </a:p>
        </p:txBody>
      </p:sp>
      <p:pic>
        <p:nvPicPr>
          <p:cNvPr id="1580" name="Google Shape;1580;p1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2183" y="226432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1" name="Google Shape;1581;p133"/>
          <p:cNvSpPr txBox="1"/>
          <p:nvPr>
            <p:ph idx="1" type="body"/>
          </p:nvPr>
        </p:nvSpPr>
        <p:spPr>
          <a:xfrm>
            <a:off x="324000" y="4112100"/>
            <a:ext cx="714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(2, 1)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left(1\right)=2-\frac{1}{2}\left(2\right)&quot;&gt;&lt;mrow data-mjx-texclass=&quot;INNER&quot;&gt;&lt;mo data-mjx-texclass=&quot;OPEN&quot;&gt;(&lt;/mo&gt;&lt;mn&gt;1&lt;/mn&gt;&lt;mo data-mjx-texclass=&quot;CLOSE&quot;&gt;)&lt;/mo&gt;&lt;/mrow&gt;&lt;mo&gt;=&lt;/mo&gt;&lt;mn&gt;2&lt;/mn&gt;&lt;mo&gt;−&lt;/mo&gt;&lt;mfrac&gt;&lt;mn&gt;1&lt;/mn&gt;&lt;mn&gt;2&lt;/mn&gt;&lt;/mfrac&gt;&lt;mrow data-mjx-texclass=&quot;INNER&quot;&gt;&lt;mo data-mjx-texclass=&quot;OPEN&quot;&gt;(&lt;/mo&gt;&lt;mn&gt;2&lt;/mn&gt;&lt;mo data-mjx-texclass=&quot;CLOSE&quot;&gt;)&lt;/mo&gt;&lt;/mrow&gt;&lt;/math&gt;" id="1582" name="Google Shape;1582;p133" title="1 equals 2 minus one half times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3243" y="4018677"/>
            <a:ext cx="1620420" cy="56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3" name="Google Shape;1583;p1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4583" y="4116137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left(2\right)=2-\frac{1}{2}\left(0\right)&quot;&gt;&lt;mrow data-mjx-texclass=&quot;INNER&quot;&gt;&lt;mo data-mjx-texclass=&quot;OPEN&quot;&gt;(&lt;/mo&gt;&lt;mn&gt;2&lt;/mn&gt;&lt;mo data-mjx-texclass=&quot;CLOSE&quot;&gt;)&lt;/mo&gt;&lt;/mrow&gt;&lt;mo&gt;=&lt;/mo&gt;&lt;mn&gt;2&lt;/mn&gt;&lt;mo&gt;−&lt;/mo&gt;&lt;mfrac&gt;&lt;mn&gt;1&lt;/mn&gt;&lt;mn&gt;2&lt;/mn&gt;&lt;/mfrac&gt;&lt;mrow data-mjx-texclass=&quot;INNER&quot;&gt;&lt;mo data-mjx-texclass=&quot;OPEN&quot;&gt;(&lt;/mo&gt;&lt;mn&gt;0&lt;/mn&gt;&lt;mo data-mjx-texclass=&quot;CLOSE&quot;&gt;)&lt;/mo&gt;&lt;/mrow&gt;&lt;/math&gt;" id="1588" name="Google Shape;1588;p134" title="2 equals 2 minus one half times 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450" y="4019355"/>
            <a:ext cx="1620417" cy="56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9" name="Google Shape;1589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5431" y="1634497"/>
            <a:ext cx="2824136" cy="2791876"/>
          </a:xfrm>
          <a:prstGeom prst="rect">
            <a:avLst/>
          </a:prstGeom>
          <a:noFill/>
          <a:ln>
            <a:noFill/>
          </a:ln>
        </p:spPr>
      </p:pic>
      <p:sp>
        <p:nvSpPr>
          <p:cNvPr id="1590" name="Google Shape;1590;p134"/>
          <p:cNvSpPr txBox="1"/>
          <p:nvPr>
            <p:ph idx="1" type="body"/>
          </p:nvPr>
        </p:nvSpPr>
        <p:spPr>
          <a:xfrm>
            <a:off x="324000" y="759300"/>
            <a:ext cx="71352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No other</a:t>
            </a:r>
            <a:r>
              <a:rPr lang="en-GB" sz="2000"/>
              <a:t> point has this property.</a:t>
            </a:r>
            <a:endParaRPr sz="2000"/>
          </a:p>
        </p:txBody>
      </p:sp>
      <p:sp>
        <p:nvSpPr>
          <p:cNvPr id="1591" name="Google Shape;1591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sp>
        <p:nvSpPr>
          <p:cNvPr id="1592" name="Google Shape;1592;p134"/>
          <p:cNvSpPr txBox="1"/>
          <p:nvPr/>
        </p:nvSpPr>
        <p:spPr>
          <a:xfrm>
            <a:off x="8587505" y="28155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3" name="Google Shape;1593;p134"/>
          <p:cNvSpPr txBox="1"/>
          <p:nvPr/>
        </p:nvSpPr>
        <p:spPr>
          <a:xfrm>
            <a:off x="6641507" y="1370702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4" name="Google Shape;1594;p134"/>
          <p:cNvSpPr txBox="1"/>
          <p:nvPr>
            <p:ph idx="1" type="body"/>
          </p:nvPr>
        </p:nvSpPr>
        <p:spPr>
          <a:xfrm>
            <a:off x="324000" y="1749912"/>
            <a:ext cx="13608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2-\frac{1}{2}x&quot;&gt;&lt;mi&gt;y&lt;/mi&gt;&lt;mo&gt;=&lt;/mo&gt;&lt;mn&gt;2&lt;/mn&gt;&lt;mo&gt;−&lt;/mo&gt;&lt;mfrac&gt;&lt;mn&gt;1&lt;/mn&gt;&lt;mn&gt;2&lt;/mn&gt;&lt;/mfrac&gt;&lt;mi&gt;x&lt;/mi&gt;&lt;/math&gt;" id="1595" name="Google Shape;1595;p134" title="y equals 2 minus one half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813" y="3234686"/>
            <a:ext cx="1284879" cy="5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6" name="Google Shape;1596;p134"/>
          <p:cNvSpPr txBox="1"/>
          <p:nvPr/>
        </p:nvSpPr>
        <p:spPr>
          <a:xfrm>
            <a:off x="6591547" y="20457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134"/>
          <p:cNvSpPr txBox="1"/>
          <p:nvPr/>
        </p:nvSpPr>
        <p:spPr>
          <a:xfrm>
            <a:off x="6920404" y="1967763"/>
            <a:ext cx="6504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134"/>
          <p:cNvSpPr txBox="1"/>
          <p:nvPr>
            <p:ph idx="1" type="body"/>
          </p:nvPr>
        </p:nvSpPr>
        <p:spPr>
          <a:xfrm>
            <a:off x="324000" y="2283300"/>
            <a:ext cx="714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endParaRPr sz="2000"/>
          </a:p>
        </p:txBody>
      </p:sp>
      <p:sp>
        <p:nvSpPr>
          <p:cNvPr id="1599" name="Google Shape;1599;p134"/>
          <p:cNvSpPr txBox="1"/>
          <p:nvPr>
            <p:ph idx="1" type="body"/>
          </p:nvPr>
        </p:nvSpPr>
        <p:spPr>
          <a:xfrm>
            <a:off x="1695600" y="2283300"/>
            <a:ext cx="16101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(2) = 2(0) − 3</a:t>
            </a:r>
            <a:endParaRPr sz="2000"/>
          </a:p>
        </p:txBody>
      </p:sp>
      <p:sp>
        <p:nvSpPr>
          <p:cNvPr id="1600" name="Google Shape;1600;p134"/>
          <p:cNvSpPr txBox="1"/>
          <p:nvPr>
            <p:ph idx="1" type="body"/>
          </p:nvPr>
        </p:nvSpPr>
        <p:spPr>
          <a:xfrm>
            <a:off x="324000" y="4112100"/>
            <a:ext cx="714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endParaRPr sz="2000"/>
          </a:p>
        </p:txBody>
      </p:sp>
      <p:pic>
        <p:nvPicPr>
          <p:cNvPr id="1601" name="Google Shape;1601;p1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84583" y="4116137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2" name="Google Shape;1602;p1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03831" y="2310017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134"/>
          <p:cNvSpPr txBox="1"/>
          <p:nvPr>
            <p:ph idx="1" type="body"/>
          </p:nvPr>
        </p:nvSpPr>
        <p:spPr>
          <a:xfrm>
            <a:off x="324000" y="1216500"/>
            <a:ext cx="71352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Only one equation is satisfied.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8" name="Google Shape;1608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5431" y="1634497"/>
            <a:ext cx="2824136" cy="2791876"/>
          </a:xfrm>
          <a:prstGeom prst="rect">
            <a:avLst/>
          </a:prstGeom>
          <a:noFill/>
          <a:ln>
            <a:noFill/>
          </a:ln>
        </p:spPr>
      </p:pic>
      <p:sp>
        <p:nvSpPr>
          <p:cNvPr id="1609" name="Google Shape;1609;p135"/>
          <p:cNvSpPr txBox="1"/>
          <p:nvPr>
            <p:ph idx="1" type="body"/>
          </p:nvPr>
        </p:nvSpPr>
        <p:spPr>
          <a:xfrm>
            <a:off x="324000" y="759300"/>
            <a:ext cx="69285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 is </a:t>
            </a:r>
            <a:r>
              <a:rPr lang="en-GB" sz="2000">
                <a:solidFill>
                  <a:schemeClr val="accent4"/>
                </a:solidFill>
              </a:rPr>
              <a:t>only </a:t>
            </a:r>
            <a:r>
              <a:rPr lang="en-GB" sz="2000"/>
              <a:t>t</a:t>
            </a:r>
            <a:r>
              <a:rPr lang="en-GB" sz="2000"/>
              <a:t>he coordinates of the point of intersection which will satisfy both equations.</a:t>
            </a:r>
            <a:endParaRPr sz="2000"/>
          </a:p>
        </p:txBody>
      </p:sp>
      <p:sp>
        <p:nvSpPr>
          <p:cNvPr id="1610" name="Google Shape;1610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sp>
        <p:nvSpPr>
          <p:cNvPr id="1611" name="Google Shape;1611;p135"/>
          <p:cNvSpPr txBox="1"/>
          <p:nvPr/>
        </p:nvSpPr>
        <p:spPr>
          <a:xfrm>
            <a:off x="8587505" y="28155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2" name="Google Shape;1612;p135"/>
          <p:cNvSpPr txBox="1"/>
          <p:nvPr/>
        </p:nvSpPr>
        <p:spPr>
          <a:xfrm>
            <a:off x="6641507" y="1370702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3" name="Google Shape;1613;p135"/>
          <p:cNvSpPr txBox="1"/>
          <p:nvPr/>
        </p:nvSpPr>
        <p:spPr>
          <a:xfrm>
            <a:off x="7388067" y="24267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2-\frac{1}{2}x&quot;&gt;&lt;mi&gt;y&lt;/mi&gt;&lt;mo&gt;=&lt;/mo&gt;&lt;mn&gt;2&lt;/mn&gt;&lt;mo&gt;−&lt;/mo&gt;&lt;mfrac&gt;&lt;mn&gt;1&lt;/mn&gt;&lt;mn&gt;2&lt;/mn&gt;&lt;/mfrac&gt;&lt;mi&gt;x&lt;/mi&gt;&lt;/math&gt;" id="1614" name="Google Shape;1614;p135" title="y equals 2 minus one half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813" y="3234686"/>
            <a:ext cx="1284879" cy="5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5" name="Google Shape;1615;p135"/>
          <p:cNvSpPr txBox="1"/>
          <p:nvPr>
            <p:ph idx="1" type="body"/>
          </p:nvPr>
        </p:nvSpPr>
        <p:spPr>
          <a:xfrm>
            <a:off x="324000" y="1749912"/>
            <a:ext cx="13608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/>
          </a:p>
        </p:txBody>
      </p:sp>
      <p:sp>
        <p:nvSpPr>
          <p:cNvPr id="1616" name="Google Shape;1616;p135"/>
          <p:cNvSpPr txBox="1"/>
          <p:nvPr/>
        </p:nvSpPr>
        <p:spPr>
          <a:xfrm>
            <a:off x="7716924" y="2348763"/>
            <a:ext cx="6504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(2, 1)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135"/>
          <p:cNvSpPr txBox="1"/>
          <p:nvPr>
            <p:ph idx="1" type="body"/>
          </p:nvPr>
        </p:nvSpPr>
        <p:spPr>
          <a:xfrm>
            <a:off x="324000" y="2283300"/>
            <a:ext cx="714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(2, 1)</a:t>
            </a:r>
            <a:endParaRPr sz="2000"/>
          </a:p>
        </p:txBody>
      </p:sp>
      <p:sp>
        <p:nvSpPr>
          <p:cNvPr id="1618" name="Google Shape;1618;p135"/>
          <p:cNvSpPr txBox="1"/>
          <p:nvPr>
            <p:ph idx="1" type="body"/>
          </p:nvPr>
        </p:nvSpPr>
        <p:spPr>
          <a:xfrm>
            <a:off x="1695600" y="2283300"/>
            <a:ext cx="16101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(1) = 2(2) − 3</a:t>
            </a:r>
            <a:endParaRPr sz="2000"/>
          </a:p>
        </p:txBody>
      </p:sp>
      <p:pic>
        <p:nvPicPr>
          <p:cNvPr id="1619" name="Google Shape;1619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2183" y="226432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0" name="Google Shape;1620;p135"/>
          <p:cNvSpPr txBox="1"/>
          <p:nvPr>
            <p:ph idx="1" type="body"/>
          </p:nvPr>
        </p:nvSpPr>
        <p:spPr>
          <a:xfrm>
            <a:off x="324000" y="4112100"/>
            <a:ext cx="714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(2, 1)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left(1\right)=2-\frac{1}{2}\left(2\right)&quot;&gt;&lt;mrow data-mjx-texclass=&quot;INNER&quot;&gt;&lt;mo data-mjx-texclass=&quot;OPEN&quot;&gt;(&lt;/mo&gt;&lt;mn&gt;1&lt;/mn&gt;&lt;mo data-mjx-texclass=&quot;CLOSE&quot;&gt;)&lt;/mo&gt;&lt;/mrow&gt;&lt;mo&gt;=&lt;/mo&gt;&lt;mn&gt;2&lt;/mn&gt;&lt;mo&gt;−&lt;/mo&gt;&lt;mfrac&gt;&lt;mn&gt;1&lt;/mn&gt;&lt;mn&gt;2&lt;/mn&gt;&lt;/mfrac&gt;&lt;mrow data-mjx-texclass=&quot;INNER&quot;&gt;&lt;mo data-mjx-texclass=&quot;OPEN&quot;&gt;(&lt;/mo&gt;&lt;mn&gt;2&lt;/mn&gt;&lt;mo data-mjx-texclass=&quot;CLOSE&quot;&gt;)&lt;/mo&gt;&lt;/mrow&gt;&lt;/math&gt;" id="1621" name="Google Shape;1621;p135" title="1 equals 2 minus one half times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3243" y="4018677"/>
            <a:ext cx="1620420" cy="56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2" name="Google Shape;1622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4583" y="4116137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136"/>
          <p:cNvSpPr txBox="1"/>
          <p:nvPr>
            <p:ph idx="1" type="subTitle"/>
          </p:nvPr>
        </p:nvSpPr>
        <p:spPr>
          <a:xfrm>
            <a:off x="980575" y="3108425"/>
            <a:ext cx="5857500" cy="3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Every point on a given line will satisfy that one equation.</a:t>
            </a:r>
            <a:endParaRPr/>
          </a:p>
        </p:txBody>
      </p:sp>
      <p:sp>
        <p:nvSpPr>
          <p:cNvPr id="1628" name="Google Shape;1628;p136"/>
          <p:cNvSpPr txBox="1"/>
          <p:nvPr>
            <p:ph idx="2" type="subTitle"/>
          </p:nvPr>
        </p:nvSpPr>
        <p:spPr>
          <a:xfrm>
            <a:off x="324000" y="1045480"/>
            <a:ext cx="7135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point at the intersection of two linear graphs will satisfy just one of the equations.</a:t>
            </a:r>
            <a:endParaRPr/>
          </a:p>
        </p:txBody>
      </p:sp>
      <p:sp>
        <p:nvSpPr>
          <p:cNvPr id="1629" name="Google Shape;1629;p136"/>
          <p:cNvSpPr txBox="1"/>
          <p:nvPr>
            <p:ph idx="3" type="subTitle"/>
          </p:nvPr>
        </p:nvSpPr>
        <p:spPr>
          <a:xfrm>
            <a:off x="980575" y="3952643"/>
            <a:ext cx="72285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point at the intersection is unique in that it is the only point which satisfies both </a:t>
            </a:r>
            <a:r>
              <a:rPr lang="en-GB"/>
              <a:t>equations.</a:t>
            </a:r>
            <a:endParaRPr/>
          </a:p>
        </p:txBody>
      </p:sp>
      <p:sp>
        <p:nvSpPr>
          <p:cNvPr id="1630" name="Google Shape;1630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Points of intersection</a:t>
            </a:r>
            <a:endParaRPr/>
          </a:p>
        </p:txBody>
      </p:sp>
      <p:pic>
        <p:nvPicPr>
          <p:cNvPr id="1631" name="Google Shape;1631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2783" y="4039937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2" name="Google Shape;1632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1583" y="1830137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7" name="Google Shape;1637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5431" y="1634497"/>
            <a:ext cx="2824136" cy="27918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Google Shape;1638;p137"/>
          <p:cNvSpPr txBox="1"/>
          <p:nvPr>
            <p:ph idx="1" type="body"/>
          </p:nvPr>
        </p:nvSpPr>
        <p:spPr>
          <a:xfrm>
            <a:off x="324000" y="759300"/>
            <a:ext cx="69285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/>
              <a:t>he intersection gives us other information.</a:t>
            </a:r>
            <a:endParaRPr sz="2000"/>
          </a:p>
        </p:txBody>
      </p:sp>
      <p:sp>
        <p:nvSpPr>
          <p:cNvPr id="1639" name="Google Shape;1639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sp>
        <p:nvSpPr>
          <p:cNvPr id="1640" name="Google Shape;1640;p137"/>
          <p:cNvSpPr txBox="1"/>
          <p:nvPr/>
        </p:nvSpPr>
        <p:spPr>
          <a:xfrm>
            <a:off x="8587505" y="28155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1" name="Google Shape;1641;p137"/>
          <p:cNvSpPr txBox="1"/>
          <p:nvPr/>
        </p:nvSpPr>
        <p:spPr>
          <a:xfrm>
            <a:off x="6641507" y="1370702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2" name="Google Shape;1642;p137"/>
          <p:cNvSpPr txBox="1"/>
          <p:nvPr/>
        </p:nvSpPr>
        <p:spPr>
          <a:xfrm>
            <a:off x="7388067" y="24267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137"/>
          <p:cNvSpPr txBox="1"/>
          <p:nvPr/>
        </p:nvSpPr>
        <p:spPr>
          <a:xfrm>
            <a:off x="7716924" y="2348763"/>
            <a:ext cx="6504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(2, 1)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137"/>
          <p:cNvSpPr txBox="1"/>
          <p:nvPr>
            <p:ph idx="1" type="body"/>
          </p:nvPr>
        </p:nvSpPr>
        <p:spPr>
          <a:xfrm>
            <a:off x="324000" y="1269687"/>
            <a:ext cx="51492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 is the moment when the lines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 </a:t>
            </a:r>
            <a:r>
              <a:rPr lang="en-GB" sz="2000"/>
              <a:t>and                 meet therefore it is the solution to the equation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2-\frac{1}{2}x&quot;&gt;&lt;mn&gt;2&lt;/mn&gt;&lt;mo&gt;−&lt;/mo&gt;&lt;mfrac&gt;&lt;mn&gt;1&lt;/mn&gt;&lt;mn&gt;2&lt;/mn&gt;&lt;/mfrac&gt;&lt;mi&gt;x&lt;/mi&gt;&lt;/math&gt;" id="1645" name="Google Shape;1645;p137" title="2 minus one half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5907" y="1611687"/>
            <a:ext cx="89113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x-3=2-\frac{1}{2}x&quot;&gt;&lt;mn&gt;2&lt;/mn&gt;&lt;mi&gt;x&lt;/mi&gt;&lt;mo&gt;−&lt;/mo&gt;&lt;mn&gt;3&lt;/mn&gt;&lt;mo&gt;=&lt;/mo&gt;&lt;mn&gt;2&lt;/mn&gt;&lt;mo&gt;−&lt;/mo&gt;&lt;mfrac&gt;&lt;mn&gt;1&lt;/mn&gt;&lt;mn&gt;2&lt;/mn&gt;&lt;/mfrac&gt;&lt;mi&gt;x&lt;/mi&gt;&lt;/math&gt;" id="1646" name="Google Shape;1646;p137" title="2 x minus 3 equals 2 minus one half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2338" y="2705298"/>
            <a:ext cx="1878214" cy="560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7" name="Google Shape;1647;p137"/>
          <p:cNvCxnSpPr/>
          <p:nvPr/>
        </p:nvCxnSpPr>
        <p:spPr>
          <a:xfrm rot="10800000">
            <a:off x="7506500" y="2612175"/>
            <a:ext cx="1800" cy="3999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48" name="Google Shape;1648;p137"/>
          <p:cNvSpPr txBox="1"/>
          <p:nvPr>
            <p:ph idx="1" type="body"/>
          </p:nvPr>
        </p:nvSpPr>
        <p:spPr>
          <a:xfrm>
            <a:off x="324000" y="3479475"/>
            <a:ext cx="47118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input of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000"/>
              <a:t>makes both</a:t>
            </a:r>
            <a:r>
              <a:rPr lang="en-GB" sz="2000"/>
              <a:t> equations equal therefore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2 </a:t>
            </a:r>
            <a:r>
              <a:rPr lang="en-GB" sz="2000"/>
              <a:t>is the solution.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2\left(2\right)-3=2-\frac{1}{2}\left(2\right)&quot;&gt;&lt;mn&gt;2&lt;/mn&gt;&lt;mrow data-mjx-texclass=&quot;INNER&quot;&gt;&lt;mo data-mjx-texclass=&quot;OPEN&quot;&gt;(&lt;/mo&gt;&lt;mn&gt;2&lt;/mn&gt;&lt;mo data-mjx-texclass=&quot;CLOSE&quot;&gt;)&lt;/mo&gt;&lt;/mrow&gt;&lt;mo&gt;−&lt;/mo&gt;&lt;mn&gt;3&lt;/mn&gt;&lt;mo&gt;=&lt;/mo&gt;&lt;mn&gt;2&lt;/mn&gt;&lt;mo&gt;−&lt;/mo&gt;&lt;mfrac&gt;&lt;mn&gt;1&lt;/mn&gt;&lt;mn&gt;2&lt;/mn&gt;&lt;/mfrac&gt;&lt;mrow data-mjx-texclass=&quot;INNER&quot;&gt;&lt;mo data-mjx-texclass=&quot;OPEN&quot;&gt;(&lt;/mo&gt;&lt;mn&gt;2&lt;/mn&gt;&lt;mo data-mjx-texclass=&quot;CLOSE&quot;&gt;)&lt;/mo&gt;&lt;/mrow&gt;&lt;/math&gt;" id="1649" name="Google Shape;1649;p137" title="2 times 2 minus 3 equals 2 minus one half times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6199" y="4204175"/>
            <a:ext cx="2250548" cy="56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0" name="Google Shape;1650;p1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54863" y="42915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138"/>
          <p:cNvSpPr txBox="1"/>
          <p:nvPr>
            <p:ph type="title"/>
          </p:nvPr>
        </p:nvSpPr>
        <p:spPr>
          <a:xfrm>
            <a:off x="324000" y="748775"/>
            <a:ext cx="7402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linear equations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+ 4 </a:t>
            </a:r>
            <a:r>
              <a:rPr lang="en-GB" sz="1800"/>
              <a:t>and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1 −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/>
              <a:t>intersect at the point with coordinates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(−1, 2)</a:t>
            </a:r>
            <a:r>
              <a:rPr lang="en-GB" sz="1800"/>
              <a:t>. What is the solution to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+ 4 = 1 −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/>
              <a:t>?</a:t>
            </a:r>
            <a:endParaRPr sz="2000"/>
          </a:p>
        </p:txBody>
      </p:sp>
      <p:sp>
        <p:nvSpPr>
          <p:cNvPr id="1656" name="Google Shape;1656;p1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Points of intersection</a:t>
            </a:r>
            <a:endParaRPr/>
          </a:p>
        </p:txBody>
      </p:sp>
      <p:sp>
        <p:nvSpPr>
          <p:cNvPr id="1657" name="Google Shape;1657;p138"/>
          <p:cNvSpPr txBox="1"/>
          <p:nvPr>
            <p:ph idx="1" type="subTitle"/>
          </p:nvPr>
        </p:nvSpPr>
        <p:spPr>
          <a:xfrm>
            <a:off x="1034425" y="1837775"/>
            <a:ext cx="809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/>
          </a:p>
        </p:txBody>
      </p:sp>
      <p:sp>
        <p:nvSpPr>
          <p:cNvPr id="1658" name="Google Shape;1658;p138"/>
          <p:cNvSpPr txBox="1"/>
          <p:nvPr>
            <p:ph idx="3" type="subTitle"/>
          </p:nvPr>
        </p:nvSpPr>
        <p:spPr>
          <a:xfrm>
            <a:off x="1034425" y="2794251"/>
            <a:ext cx="8097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/>
          </a:p>
        </p:txBody>
      </p:sp>
      <p:sp>
        <p:nvSpPr>
          <p:cNvPr id="1659" name="Google Shape;1659;p138"/>
          <p:cNvSpPr txBox="1"/>
          <p:nvPr>
            <p:ph idx="4" type="subTitle"/>
          </p:nvPr>
        </p:nvSpPr>
        <p:spPr>
          <a:xfrm>
            <a:off x="1034425" y="3766974"/>
            <a:ext cx="80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−1</a:t>
            </a:r>
            <a:endParaRPr/>
          </a:p>
        </p:txBody>
      </p:sp>
      <p:pic>
        <p:nvPicPr>
          <p:cNvPr id="1660" name="Google Shape;1660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1906" y="1673459"/>
            <a:ext cx="3561151" cy="276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1" name="Google Shape;1661;p138"/>
          <p:cNvSpPr txBox="1"/>
          <p:nvPr/>
        </p:nvSpPr>
        <p:spPr>
          <a:xfrm>
            <a:off x="6210547" y="2484252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138"/>
          <p:cNvSpPr txBox="1"/>
          <p:nvPr/>
        </p:nvSpPr>
        <p:spPr>
          <a:xfrm>
            <a:off x="5472605" y="2553946"/>
            <a:ext cx="6936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(−1, 2)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3" name="Google Shape;1663;p138"/>
          <p:cNvCxnSpPr/>
          <p:nvPr/>
        </p:nvCxnSpPr>
        <p:spPr>
          <a:xfrm flipH="1" rot="10800000">
            <a:off x="6328180" y="2683921"/>
            <a:ext cx="900" cy="7485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64" name="Google Shape;1664;p138"/>
          <p:cNvSpPr txBox="1"/>
          <p:nvPr/>
        </p:nvSpPr>
        <p:spPr>
          <a:xfrm>
            <a:off x="8552985" y="3261287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5" name="Google Shape;1665;p138"/>
          <p:cNvSpPr txBox="1"/>
          <p:nvPr/>
        </p:nvSpPr>
        <p:spPr>
          <a:xfrm>
            <a:off x="6641507" y="1370702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6" name="Google Shape;1666;p1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8183" y="378832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3-x=\frac{1}{2}x-6&quot;&gt;&lt;mn&gt;3&lt;/mn&gt;&lt;mo&gt;−&lt;/mo&gt;&lt;mi&gt;x&lt;/mi&gt;&lt;mo&gt;=&lt;/mo&gt;&lt;mfrac&gt;&lt;mn&gt;1&lt;/mn&gt;&lt;mn&gt;2&lt;/mn&gt;&lt;/mfrac&gt;&lt;mi&gt;x&lt;/mi&gt;&lt;mo&gt;−&lt;/mo&gt;&lt;mn&gt;6&lt;/mn&gt;&lt;/math&gt;" id="1671" name="Google Shape;1671;p139" title="3 minus x equals one half x minus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400" y="3587550"/>
            <a:ext cx="1576500" cy="509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x-3=\frac{1}{2}x-6&quot;&gt;&lt;mn&gt;2&lt;/mn&gt;&lt;mi&gt;x&lt;/mi&gt;&lt;mo&gt;−&lt;/mo&gt;&lt;mn&gt;3&lt;/mn&gt;&lt;mo&gt;=&lt;/mo&gt;&lt;mfrac&gt;&lt;mn&gt;1&lt;/mn&gt;&lt;mn&gt;2&lt;/mn&gt;&lt;/mfrac&gt;&lt;mi&gt;x&lt;/mi&gt;&lt;mo&gt;−&lt;/mo&gt;&lt;mn&gt;6&lt;/mn&gt;&lt;/math&gt;" id="1672" name="Google Shape;1672;p139" title="2 x minus 3 equals one half x minus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400" y="2353195"/>
            <a:ext cx="1576500" cy="470554"/>
          </a:xfrm>
          <a:prstGeom prst="rect">
            <a:avLst/>
          </a:prstGeom>
          <a:noFill/>
          <a:ln>
            <a:noFill/>
          </a:ln>
        </p:spPr>
      </p:pic>
      <p:sp>
        <p:nvSpPr>
          <p:cNvPr id="1673" name="Google Shape;1673;p139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Use the graphs to solve these equations.</a:t>
            </a:r>
            <a:endParaRPr sz="2000"/>
          </a:p>
        </p:txBody>
      </p:sp>
      <p:sp>
        <p:nvSpPr>
          <p:cNvPr id="1674" name="Google Shape;1674;p13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pic>
        <p:nvPicPr>
          <p:cNvPr id="1675" name="Google Shape;1675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6200" y="1111927"/>
            <a:ext cx="4547682" cy="3696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76" name="Google Shape;1676;p139"/>
          <p:cNvSpPr txBox="1"/>
          <p:nvPr>
            <p:ph idx="4294967295" type="body"/>
          </p:nvPr>
        </p:nvSpPr>
        <p:spPr>
          <a:xfrm>
            <a:off x="6343800" y="1064112"/>
            <a:ext cx="13608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1677" name="Google Shape;1677;p139"/>
          <p:cNvSpPr txBox="1"/>
          <p:nvPr>
            <p:ph idx="4294967295" type="body"/>
          </p:nvPr>
        </p:nvSpPr>
        <p:spPr>
          <a:xfrm>
            <a:off x="7791600" y="3578700"/>
            <a:ext cx="9630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y=\frac{1}{2}x-6&quot;&gt;&lt;mi&gt;y&lt;/mi&gt;&lt;mo&gt;=&lt;/mo&gt;&lt;mfrac&gt;&lt;mn&gt;1&lt;/mn&gt;&lt;mn&gt;2&lt;/mn&gt;&lt;/mfrac&gt;&lt;mi&gt;x&lt;/mi&gt;&lt;mo&gt;−&lt;/mo&gt;&lt;mn&gt;6&lt;/mn&gt;&lt;/math&gt;" id="1678" name="Google Shape;1678;p139" title="y equals one half x minus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61142" y="4292475"/>
            <a:ext cx="1078433" cy="47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Google Shape;1679;p139"/>
          <p:cNvSpPr txBox="1"/>
          <p:nvPr>
            <p:ph idx="1" type="body"/>
          </p:nvPr>
        </p:nvSpPr>
        <p:spPr>
          <a:xfrm>
            <a:off x="324000" y="1368900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r>
              <a:rPr lang="en-GB" sz="2000"/>
              <a:t>) </a:t>
            </a:r>
            <a:endParaRPr sz="2000"/>
          </a:p>
        </p:txBody>
      </p:sp>
      <p:sp>
        <p:nvSpPr>
          <p:cNvPr id="1680" name="Google Shape;1680;p139"/>
          <p:cNvSpPr txBox="1"/>
          <p:nvPr>
            <p:ph idx="4294967295" type="body"/>
          </p:nvPr>
        </p:nvSpPr>
        <p:spPr>
          <a:xfrm>
            <a:off x="857400" y="1368900"/>
            <a:ext cx="1576500" cy="375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1681" name="Google Shape;1681;p139"/>
          <p:cNvSpPr txBox="1"/>
          <p:nvPr>
            <p:ph idx="1" type="body"/>
          </p:nvPr>
        </p:nvSpPr>
        <p:spPr>
          <a:xfrm>
            <a:off x="324000" y="2435700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r>
              <a:rPr lang="en-GB" sz="2000"/>
              <a:t>) </a:t>
            </a:r>
            <a:endParaRPr sz="2000"/>
          </a:p>
        </p:txBody>
      </p:sp>
      <p:sp>
        <p:nvSpPr>
          <p:cNvPr id="1682" name="Google Shape;1682;p139"/>
          <p:cNvSpPr txBox="1"/>
          <p:nvPr>
            <p:ph idx="1" type="body"/>
          </p:nvPr>
        </p:nvSpPr>
        <p:spPr>
          <a:xfrm>
            <a:off x="324000" y="3654900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r>
              <a:rPr lang="en-GB" sz="2000"/>
              <a:t>) 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40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sz="2000"/>
              <a:t>) Use the graphs to solve these pairs of simultaneous equations.</a:t>
            </a:r>
            <a:endParaRPr sz="2000"/>
          </a:p>
        </p:txBody>
      </p:sp>
      <p:sp>
        <p:nvSpPr>
          <p:cNvPr id="1688" name="Google Shape;1688;p14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pic>
        <p:nvPicPr>
          <p:cNvPr id="1689" name="Google Shape;1689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200" y="1111927"/>
            <a:ext cx="4547682" cy="3696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90" name="Google Shape;1690;p140"/>
          <p:cNvSpPr txBox="1"/>
          <p:nvPr>
            <p:ph idx="4294967295" type="body"/>
          </p:nvPr>
        </p:nvSpPr>
        <p:spPr>
          <a:xfrm>
            <a:off x="6343800" y="1064112"/>
            <a:ext cx="13608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1691" name="Google Shape;1691;p140"/>
          <p:cNvSpPr txBox="1"/>
          <p:nvPr>
            <p:ph idx="4294967295" type="body"/>
          </p:nvPr>
        </p:nvSpPr>
        <p:spPr>
          <a:xfrm>
            <a:off x="7791600" y="3578700"/>
            <a:ext cx="9630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y=\frac{1}{2}x-6&quot;&gt;&lt;mi&gt;y&lt;/mi&gt;&lt;mo&gt;=&lt;/mo&gt;&lt;mfrac&gt;&lt;mn&gt;1&lt;/mn&gt;&lt;mn&gt;2&lt;/mn&gt;&lt;/mfrac&gt;&lt;mi&gt;x&lt;/mi&gt;&lt;mo&gt;−&lt;/mo&gt;&lt;mn&gt;6&lt;/mn&gt;&lt;/math&gt;" id="1692" name="Google Shape;1692;p140" title="y equals one half x minus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0850" y="4335876"/>
            <a:ext cx="963000" cy="420163"/>
          </a:xfrm>
          <a:prstGeom prst="rect">
            <a:avLst/>
          </a:prstGeom>
          <a:noFill/>
          <a:ln>
            <a:noFill/>
          </a:ln>
        </p:spPr>
      </p:pic>
      <p:sp>
        <p:nvSpPr>
          <p:cNvPr id="1693" name="Google Shape;1693;p140"/>
          <p:cNvSpPr txBox="1"/>
          <p:nvPr>
            <p:ph idx="1" type="body"/>
          </p:nvPr>
        </p:nvSpPr>
        <p:spPr>
          <a:xfrm>
            <a:off x="324000" y="1368900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endParaRPr sz="2000"/>
          </a:p>
        </p:txBody>
      </p:sp>
      <p:sp>
        <p:nvSpPr>
          <p:cNvPr id="1694" name="Google Shape;1694;p140"/>
          <p:cNvSpPr txBox="1"/>
          <p:nvPr>
            <p:ph idx="1" type="body"/>
          </p:nvPr>
        </p:nvSpPr>
        <p:spPr>
          <a:xfrm>
            <a:off x="324000" y="2435700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endParaRPr sz="2000"/>
          </a:p>
        </p:txBody>
      </p:sp>
      <p:sp>
        <p:nvSpPr>
          <p:cNvPr id="1695" name="Google Shape;1695;p140"/>
          <p:cNvSpPr txBox="1"/>
          <p:nvPr>
            <p:ph idx="1" type="body"/>
          </p:nvPr>
        </p:nvSpPr>
        <p:spPr>
          <a:xfrm>
            <a:off x="324000" y="3654900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</a:t>
            </a:r>
            <a:endParaRPr sz="2000"/>
          </a:p>
        </p:txBody>
      </p:sp>
      <p:sp>
        <p:nvSpPr>
          <p:cNvPr id="1696" name="Google Shape;1696;p140"/>
          <p:cNvSpPr txBox="1"/>
          <p:nvPr>
            <p:ph idx="4294967295" type="body"/>
          </p:nvPr>
        </p:nvSpPr>
        <p:spPr>
          <a:xfrm>
            <a:off x="857400" y="1368912"/>
            <a:ext cx="1360800" cy="375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800"/>
          </a:p>
        </p:txBody>
      </p:sp>
      <p:sp>
        <p:nvSpPr>
          <p:cNvPr id="1697" name="Google Shape;1697;p140"/>
          <p:cNvSpPr txBox="1"/>
          <p:nvPr>
            <p:ph idx="4294967295" type="body"/>
          </p:nvPr>
        </p:nvSpPr>
        <p:spPr>
          <a:xfrm>
            <a:off x="857400" y="1749900"/>
            <a:ext cx="963000" cy="375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y=\frac{1}{2}x-6&quot;&gt;&lt;mi&gt;y&lt;/mi&gt;&lt;mo&gt;=&lt;/mo&gt;&lt;mfrac&gt;&lt;mn&gt;1&lt;/mn&gt;&lt;mn&gt;2&lt;/mn&gt;&lt;/mfrac&gt;&lt;mi&gt;x&lt;/mi&gt;&lt;mo&gt;−&lt;/mo&gt;&lt;mn&gt;6&lt;/mn&gt;&lt;/math&gt;" id="1698" name="Google Shape;1698;p140" title="y equals one half x minus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463" y="2809200"/>
            <a:ext cx="1143774" cy="49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9" name="Google Shape;1699;p140"/>
          <p:cNvSpPr txBox="1"/>
          <p:nvPr>
            <p:ph idx="4294967295" type="body"/>
          </p:nvPr>
        </p:nvSpPr>
        <p:spPr>
          <a:xfrm>
            <a:off x="857400" y="2431365"/>
            <a:ext cx="1360800" cy="375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800"/>
          </a:p>
        </p:txBody>
      </p:sp>
      <p:sp>
        <p:nvSpPr>
          <p:cNvPr id="1700" name="Google Shape;1700;p140"/>
          <p:cNvSpPr txBox="1"/>
          <p:nvPr>
            <p:ph idx="4294967295" type="body"/>
          </p:nvPr>
        </p:nvSpPr>
        <p:spPr>
          <a:xfrm>
            <a:off x="857400" y="3685073"/>
            <a:ext cx="963000" cy="375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y=\frac{1}{2}x-6&quot;&gt;&lt;mi&gt;y&lt;/mi&gt;&lt;mo&gt;=&lt;/mo&gt;&lt;mfrac&gt;&lt;mn&gt;1&lt;/mn&gt;&lt;mn&gt;2&lt;/mn&gt;&lt;/mfrac&gt;&lt;mi&gt;x&lt;/mi&gt;&lt;mo&gt;−&lt;/mo&gt;&lt;mn&gt;6&lt;/mn&gt;&lt;/math&gt;" id="1701" name="Google Shape;1701;p140" title="y equals one half x minus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463" y="4039907"/>
            <a:ext cx="1143774" cy="49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141"/>
          <p:cNvSpPr txBox="1"/>
          <p:nvPr>
            <p:ph idx="1" type="body"/>
          </p:nvPr>
        </p:nvSpPr>
        <p:spPr>
          <a:xfrm>
            <a:off x="324000" y="759300"/>
            <a:ext cx="3996000" cy="10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</a:t>
            </a:r>
            <a:r>
              <a:rPr lang="en-GB" sz="2000"/>
              <a:t>) a) Use the graph to identify two simultaneous equations which can be solved and find the solutions.</a:t>
            </a:r>
            <a:endParaRPr sz="2000"/>
          </a:p>
        </p:txBody>
      </p:sp>
      <p:sp>
        <p:nvSpPr>
          <p:cNvPr id="1707" name="Google Shape;1707;p14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pic>
        <p:nvPicPr>
          <p:cNvPr id="1708" name="Google Shape;1708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831974"/>
            <a:ext cx="4502627" cy="34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1709" name="Google Shape;1709;p141"/>
          <p:cNvSpPr txBox="1"/>
          <p:nvPr>
            <p:ph idx="4294967295" type="body"/>
          </p:nvPr>
        </p:nvSpPr>
        <p:spPr>
          <a:xfrm>
            <a:off x="7639200" y="824000"/>
            <a:ext cx="12084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710" name="Google Shape;1710;p141"/>
          <p:cNvSpPr txBox="1"/>
          <p:nvPr>
            <p:ph idx="4294967295" type="body"/>
          </p:nvPr>
        </p:nvSpPr>
        <p:spPr>
          <a:xfrm>
            <a:off x="7410600" y="3948200"/>
            <a:ext cx="14484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16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711" name="Google Shape;1711;p141"/>
          <p:cNvSpPr txBox="1"/>
          <p:nvPr>
            <p:ph idx="4294967295" type="body"/>
          </p:nvPr>
        </p:nvSpPr>
        <p:spPr>
          <a:xfrm>
            <a:off x="5059907" y="980747"/>
            <a:ext cx="16122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24</a:t>
            </a:r>
            <a:endParaRPr sz="2000"/>
          </a:p>
        </p:txBody>
      </p:sp>
      <p:sp>
        <p:nvSpPr>
          <p:cNvPr id="1712" name="Google Shape;1712;p141"/>
          <p:cNvSpPr txBox="1"/>
          <p:nvPr>
            <p:ph idx="1" type="body"/>
          </p:nvPr>
        </p:nvSpPr>
        <p:spPr>
          <a:xfrm>
            <a:off x="324000" y="3350100"/>
            <a:ext cx="3996000" cy="10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r>
              <a:rPr lang="en-GB" sz="2000"/>
              <a:t>) </a:t>
            </a:r>
            <a:r>
              <a:rPr lang="en-GB" sz="2000"/>
              <a:t>Explain why a third different pair of equations can not be found and solved using these particular lines.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3-x=\frac{1}{2}x-6&quot;&gt;&lt;mn&gt;3&lt;/mn&gt;&lt;mo&gt;−&lt;/mo&gt;&lt;mi&gt;x&lt;/mi&gt;&lt;mo&gt;=&lt;/mo&gt;&lt;mfrac&gt;&lt;mn&gt;1&lt;/mn&gt;&lt;mn&gt;2&lt;/mn&gt;&lt;/mfrac&gt;&lt;mi&gt;x&lt;/mi&gt;&lt;mo&gt;−&lt;/mo&gt;&lt;mn&gt;6&lt;/mn&gt;&lt;/math&gt;" id="1717" name="Google Shape;1717;p142" title="3 minus x equals one half x minus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487" y="3587550"/>
            <a:ext cx="1576500" cy="509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x-3=\frac{1}{2}x-6&quot;&gt;&lt;mn&gt;2&lt;/mn&gt;&lt;mi&gt;x&lt;/mi&gt;&lt;mo&gt;−&lt;/mo&gt;&lt;mn&gt;3&lt;/mn&gt;&lt;mo&gt;=&lt;/mo&gt;&lt;mfrac&gt;&lt;mn&gt;1&lt;/mn&gt;&lt;mn&gt;2&lt;/mn&gt;&lt;/mfrac&gt;&lt;mi&gt;x&lt;/mi&gt;&lt;mo&gt;−&lt;/mo&gt;&lt;mn&gt;6&lt;/mn&gt;&lt;/math&gt;" id="1718" name="Google Shape;1718;p142" title="2 x minus 3 equals one half x minus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3518" y="2353195"/>
            <a:ext cx="1576500" cy="470554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142"/>
          <p:cNvSpPr txBox="1"/>
          <p:nvPr>
            <p:ph idx="1" type="body"/>
          </p:nvPr>
        </p:nvSpPr>
        <p:spPr>
          <a:xfrm>
            <a:off x="324000" y="759300"/>
            <a:ext cx="5450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Use these graphs to solve the equations.</a:t>
            </a:r>
            <a:endParaRPr sz="2000"/>
          </a:p>
        </p:txBody>
      </p:sp>
      <p:sp>
        <p:nvSpPr>
          <p:cNvPr id="1720" name="Google Shape;1720;p14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pic>
        <p:nvPicPr>
          <p:cNvPr id="1721" name="Google Shape;1721;p1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6200" y="1111927"/>
            <a:ext cx="4547682" cy="36965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2" name="Google Shape;1722;p142"/>
          <p:cNvSpPr txBox="1"/>
          <p:nvPr>
            <p:ph idx="4294967295" type="body"/>
          </p:nvPr>
        </p:nvSpPr>
        <p:spPr>
          <a:xfrm>
            <a:off x="6343800" y="1064112"/>
            <a:ext cx="13608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1723" name="Google Shape;1723;p142"/>
          <p:cNvSpPr txBox="1"/>
          <p:nvPr>
            <p:ph idx="4294967295" type="body"/>
          </p:nvPr>
        </p:nvSpPr>
        <p:spPr>
          <a:xfrm>
            <a:off x="7791600" y="3578700"/>
            <a:ext cx="9630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y=\frac{1}{2}x-6&quot;&gt;&lt;mi&gt;y&lt;/mi&gt;&lt;mo&gt;=&lt;/mo&gt;&lt;mfrac&gt;&lt;mn&gt;1&lt;/mn&gt;&lt;mn&gt;2&lt;/mn&gt;&lt;/mfrac&gt;&lt;mi&gt;x&lt;/mi&gt;&lt;mo&gt;−&lt;/mo&gt;&lt;mn&gt;6&lt;/mn&gt;&lt;/math&gt;" id="1724" name="Google Shape;1724;p142" title="y equals one half x minus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0850" y="4335876"/>
            <a:ext cx="963000" cy="420163"/>
          </a:xfrm>
          <a:prstGeom prst="rect">
            <a:avLst/>
          </a:prstGeom>
          <a:noFill/>
          <a:ln>
            <a:noFill/>
          </a:ln>
        </p:spPr>
      </p:pic>
      <p:sp>
        <p:nvSpPr>
          <p:cNvPr id="1725" name="Google Shape;1725;p142"/>
          <p:cNvSpPr txBox="1"/>
          <p:nvPr>
            <p:ph idx="1" type="body"/>
          </p:nvPr>
        </p:nvSpPr>
        <p:spPr>
          <a:xfrm>
            <a:off x="324000" y="1368900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endParaRPr sz="2000"/>
          </a:p>
        </p:txBody>
      </p:sp>
      <p:sp>
        <p:nvSpPr>
          <p:cNvPr id="1726" name="Google Shape;1726;p142"/>
          <p:cNvSpPr txBox="1"/>
          <p:nvPr>
            <p:ph idx="4294967295" type="body"/>
          </p:nvPr>
        </p:nvSpPr>
        <p:spPr>
          <a:xfrm>
            <a:off x="857400" y="1368900"/>
            <a:ext cx="1576500" cy="375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− 3 = 3 −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1727" name="Google Shape;1727;p142"/>
          <p:cNvSpPr txBox="1"/>
          <p:nvPr>
            <p:ph idx="1" type="body"/>
          </p:nvPr>
        </p:nvSpPr>
        <p:spPr>
          <a:xfrm>
            <a:off x="324000" y="2435700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endParaRPr sz="2000"/>
          </a:p>
        </p:txBody>
      </p:sp>
      <p:sp>
        <p:nvSpPr>
          <p:cNvPr id="1728" name="Google Shape;1728;p142"/>
          <p:cNvSpPr txBox="1"/>
          <p:nvPr>
            <p:ph idx="1" type="body"/>
          </p:nvPr>
        </p:nvSpPr>
        <p:spPr>
          <a:xfrm>
            <a:off x="324000" y="3654900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</a:t>
            </a:r>
            <a:endParaRPr sz="2000"/>
          </a:p>
        </p:txBody>
      </p:sp>
      <p:sp>
        <p:nvSpPr>
          <p:cNvPr id="1729" name="Google Shape;1729;p142"/>
          <p:cNvSpPr txBox="1"/>
          <p:nvPr>
            <p:ph idx="4294967295" type="body"/>
          </p:nvPr>
        </p:nvSpPr>
        <p:spPr>
          <a:xfrm>
            <a:off x="1390800" y="1749900"/>
            <a:ext cx="614400" cy="375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800"/>
          </a:p>
        </p:txBody>
      </p:sp>
      <p:sp>
        <p:nvSpPr>
          <p:cNvPr id="1730" name="Google Shape;1730;p142"/>
          <p:cNvSpPr txBox="1"/>
          <p:nvPr/>
        </p:nvSpPr>
        <p:spPr>
          <a:xfrm>
            <a:off x="5841053" y="141310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1" name="Google Shape;1731;p142"/>
          <p:cNvCxnSpPr/>
          <p:nvPr/>
        </p:nvCxnSpPr>
        <p:spPr>
          <a:xfrm rot="10800000">
            <a:off x="5959650" y="1598400"/>
            <a:ext cx="3000" cy="3330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32" name="Google Shape;1732;p142"/>
          <p:cNvSpPr txBox="1"/>
          <p:nvPr/>
        </p:nvSpPr>
        <p:spPr>
          <a:xfrm>
            <a:off x="4328560" y="4126132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3" name="Google Shape;1733;p142"/>
          <p:cNvCxnSpPr/>
          <p:nvPr/>
        </p:nvCxnSpPr>
        <p:spPr>
          <a:xfrm flipH="1" rot="10800000">
            <a:off x="4453800" y="1945375"/>
            <a:ext cx="3000" cy="23439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34" name="Google Shape;1734;p142"/>
          <p:cNvSpPr txBox="1"/>
          <p:nvPr>
            <p:ph idx="4294967295" type="body"/>
          </p:nvPr>
        </p:nvSpPr>
        <p:spPr>
          <a:xfrm>
            <a:off x="1390800" y="2969100"/>
            <a:ext cx="844800" cy="375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−2</a:t>
            </a:r>
            <a:endParaRPr sz="1800"/>
          </a:p>
        </p:txBody>
      </p:sp>
      <p:sp>
        <p:nvSpPr>
          <p:cNvPr id="1735" name="Google Shape;1735;p142"/>
          <p:cNvSpPr txBox="1"/>
          <p:nvPr/>
        </p:nvSpPr>
        <p:spPr>
          <a:xfrm>
            <a:off x="7353547" y="276603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6" name="Google Shape;1736;p142"/>
          <p:cNvCxnSpPr/>
          <p:nvPr/>
        </p:nvCxnSpPr>
        <p:spPr>
          <a:xfrm rot="10800000">
            <a:off x="7473687" y="1963782"/>
            <a:ext cx="5100" cy="9654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37" name="Google Shape;1737;p142"/>
          <p:cNvSpPr txBox="1"/>
          <p:nvPr>
            <p:ph idx="4294967295" type="body"/>
          </p:nvPr>
        </p:nvSpPr>
        <p:spPr>
          <a:xfrm>
            <a:off x="1390800" y="4188300"/>
            <a:ext cx="614400" cy="375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6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p143"/>
          <p:cNvSpPr txBox="1"/>
          <p:nvPr>
            <p:ph idx="1" type="body"/>
          </p:nvPr>
        </p:nvSpPr>
        <p:spPr>
          <a:xfrm>
            <a:off x="324000" y="759300"/>
            <a:ext cx="82377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</a:t>
            </a:r>
            <a:r>
              <a:rPr lang="en-GB" sz="2000"/>
              <a:t>) </a:t>
            </a:r>
            <a:r>
              <a:rPr lang="en-GB" sz="2000"/>
              <a:t>Use the graphs to solve these pairs of simultaneous equations.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43" name="Google Shape;1743;p14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pic>
        <p:nvPicPr>
          <p:cNvPr id="1744" name="Google Shape;1744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200" y="1111927"/>
            <a:ext cx="4547682" cy="3696599"/>
          </a:xfrm>
          <a:prstGeom prst="rect">
            <a:avLst/>
          </a:prstGeom>
          <a:noFill/>
          <a:ln>
            <a:noFill/>
          </a:ln>
        </p:spPr>
      </p:pic>
      <p:sp>
        <p:nvSpPr>
          <p:cNvPr id="1745" name="Google Shape;1745;p143"/>
          <p:cNvSpPr txBox="1"/>
          <p:nvPr>
            <p:ph idx="4294967295" type="body"/>
          </p:nvPr>
        </p:nvSpPr>
        <p:spPr>
          <a:xfrm>
            <a:off x="6343800" y="1064112"/>
            <a:ext cx="13608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1746" name="Google Shape;1746;p143"/>
          <p:cNvSpPr txBox="1"/>
          <p:nvPr>
            <p:ph idx="4294967295" type="body"/>
          </p:nvPr>
        </p:nvSpPr>
        <p:spPr>
          <a:xfrm>
            <a:off x="7791600" y="3578700"/>
            <a:ext cx="9630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y=\frac{1}{2}x-6&quot;&gt;&lt;mi&gt;y&lt;/mi&gt;&lt;mo&gt;=&lt;/mo&gt;&lt;mfrac&gt;&lt;mn&gt;1&lt;/mn&gt;&lt;mn&gt;2&lt;/mn&gt;&lt;/mfrac&gt;&lt;mi&gt;x&lt;/mi&gt;&lt;mo&gt;−&lt;/mo&gt;&lt;mn&gt;6&lt;/mn&gt;&lt;/math&gt;" id="1747" name="Google Shape;1747;p143" title="y equals one half x minus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0850" y="4335876"/>
            <a:ext cx="963000" cy="420163"/>
          </a:xfrm>
          <a:prstGeom prst="rect">
            <a:avLst/>
          </a:prstGeom>
          <a:noFill/>
          <a:ln>
            <a:noFill/>
          </a:ln>
        </p:spPr>
      </p:pic>
      <p:sp>
        <p:nvSpPr>
          <p:cNvPr id="1748" name="Google Shape;1748;p143"/>
          <p:cNvSpPr txBox="1"/>
          <p:nvPr>
            <p:ph idx="1" type="body"/>
          </p:nvPr>
        </p:nvSpPr>
        <p:spPr>
          <a:xfrm>
            <a:off x="324000" y="1368900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endParaRPr sz="2000"/>
          </a:p>
        </p:txBody>
      </p:sp>
      <p:sp>
        <p:nvSpPr>
          <p:cNvPr id="1749" name="Google Shape;1749;p143"/>
          <p:cNvSpPr txBox="1"/>
          <p:nvPr>
            <p:ph idx="1" type="body"/>
          </p:nvPr>
        </p:nvSpPr>
        <p:spPr>
          <a:xfrm>
            <a:off x="324000" y="2435700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endParaRPr sz="2000"/>
          </a:p>
        </p:txBody>
      </p:sp>
      <p:sp>
        <p:nvSpPr>
          <p:cNvPr id="1750" name="Google Shape;1750;p143"/>
          <p:cNvSpPr txBox="1"/>
          <p:nvPr>
            <p:ph idx="1" type="body"/>
          </p:nvPr>
        </p:nvSpPr>
        <p:spPr>
          <a:xfrm>
            <a:off x="324000" y="3654900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</a:t>
            </a:r>
            <a:endParaRPr sz="2000"/>
          </a:p>
        </p:txBody>
      </p:sp>
      <p:sp>
        <p:nvSpPr>
          <p:cNvPr id="1751" name="Google Shape;1751;p143"/>
          <p:cNvSpPr txBox="1"/>
          <p:nvPr>
            <p:ph idx="4294967295" type="body"/>
          </p:nvPr>
        </p:nvSpPr>
        <p:spPr>
          <a:xfrm>
            <a:off x="857400" y="1368912"/>
            <a:ext cx="1360800" cy="375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800"/>
          </a:p>
        </p:txBody>
      </p:sp>
      <p:sp>
        <p:nvSpPr>
          <p:cNvPr id="1752" name="Google Shape;1752;p143"/>
          <p:cNvSpPr txBox="1"/>
          <p:nvPr>
            <p:ph idx="4294967295" type="body"/>
          </p:nvPr>
        </p:nvSpPr>
        <p:spPr>
          <a:xfrm>
            <a:off x="857400" y="1749900"/>
            <a:ext cx="963000" cy="375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y=\frac{1}{2}x-6&quot;&gt;&lt;mi&gt;y&lt;/mi&gt;&lt;mo&gt;=&lt;/mo&gt;&lt;mfrac&gt;&lt;mn&gt;1&lt;/mn&gt;&lt;mn&gt;2&lt;/mn&gt;&lt;/mfrac&gt;&lt;mi&gt;x&lt;/mi&gt;&lt;mo&gt;−&lt;/mo&gt;&lt;mn&gt;6&lt;/mn&gt;&lt;/math&gt;" id="1753" name="Google Shape;1753;p143" title="y equals one half x minus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463" y="2809200"/>
            <a:ext cx="1143774" cy="49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4" name="Google Shape;1754;p143"/>
          <p:cNvSpPr txBox="1"/>
          <p:nvPr>
            <p:ph idx="4294967295" type="body"/>
          </p:nvPr>
        </p:nvSpPr>
        <p:spPr>
          <a:xfrm>
            <a:off x="857400" y="2431365"/>
            <a:ext cx="1360800" cy="375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800"/>
          </a:p>
        </p:txBody>
      </p:sp>
      <p:sp>
        <p:nvSpPr>
          <p:cNvPr id="1755" name="Google Shape;1755;p143"/>
          <p:cNvSpPr txBox="1"/>
          <p:nvPr>
            <p:ph idx="4294967295" type="body"/>
          </p:nvPr>
        </p:nvSpPr>
        <p:spPr>
          <a:xfrm>
            <a:off x="857400" y="3685073"/>
            <a:ext cx="963000" cy="375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y=\frac{1}{2}x-6&quot;&gt;&lt;mi&gt;y&lt;/mi&gt;&lt;mo&gt;=&lt;/mo&gt;&lt;mfrac&gt;&lt;mn&gt;1&lt;/mn&gt;&lt;mn&gt;2&lt;/mn&gt;&lt;/mfrac&gt;&lt;mi&gt;x&lt;/mi&gt;&lt;mo&gt;−&lt;/mo&gt;&lt;mn&gt;6&lt;/mn&gt;&lt;/math&gt;" id="1756" name="Google Shape;1756;p143" title="y equals one half x minus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463" y="4039907"/>
            <a:ext cx="1143774" cy="49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143"/>
          <p:cNvSpPr txBox="1"/>
          <p:nvPr/>
        </p:nvSpPr>
        <p:spPr>
          <a:xfrm>
            <a:off x="5841053" y="1424612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143"/>
          <p:cNvSpPr txBox="1"/>
          <p:nvPr/>
        </p:nvSpPr>
        <p:spPr>
          <a:xfrm>
            <a:off x="6093707" y="1418116"/>
            <a:ext cx="6003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(2, 1)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143"/>
          <p:cNvSpPr txBox="1"/>
          <p:nvPr>
            <p:ph idx="4294967295" type="subTitle"/>
          </p:nvPr>
        </p:nvSpPr>
        <p:spPr>
          <a:xfrm>
            <a:off x="2260780" y="1552025"/>
            <a:ext cx="15123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2,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760" name="Google Shape;1760;p143"/>
          <p:cNvSpPr txBox="1"/>
          <p:nvPr/>
        </p:nvSpPr>
        <p:spPr>
          <a:xfrm>
            <a:off x="4340067" y="4133291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1" name="Google Shape;1761;p143"/>
          <p:cNvSpPr txBox="1"/>
          <p:nvPr/>
        </p:nvSpPr>
        <p:spPr>
          <a:xfrm>
            <a:off x="4592525" y="4397080"/>
            <a:ext cx="8400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−7)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2" name="Google Shape;1762;p143"/>
          <p:cNvSpPr txBox="1"/>
          <p:nvPr>
            <p:ph idx="4294967295" type="subTitle"/>
          </p:nvPr>
        </p:nvSpPr>
        <p:spPr>
          <a:xfrm>
            <a:off x="2260788" y="2695025"/>
            <a:ext cx="16245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1763" name="Google Shape;1763;p143"/>
          <p:cNvSpPr txBox="1"/>
          <p:nvPr/>
        </p:nvSpPr>
        <p:spPr>
          <a:xfrm>
            <a:off x="7346387" y="277319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143"/>
          <p:cNvSpPr txBox="1"/>
          <p:nvPr/>
        </p:nvSpPr>
        <p:spPr>
          <a:xfrm>
            <a:off x="6515925" y="2720675"/>
            <a:ext cx="7038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(6, −3)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143"/>
          <p:cNvSpPr txBox="1"/>
          <p:nvPr>
            <p:ph idx="4294967295" type="subTitle"/>
          </p:nvPr>
        </p:nvSpPr>
        <p:spPr>
          <a:xfrm>
            <a:off x="2260788" y="3761825"/>
            <a:ext cx="16245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144"/>
          <p:cNvSpPr txBox="1"/>
          <p:nvPr>
            <p:ph idx="1" type="body"/>
          </p:nvPr>
        </p:nvSpPr>
        <p:spPr>
          <a:xfrm>
            <a:off x="324000" y="759300"/>
            <a:ext cx="3996000" cy="97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a) Use the graph to identify two pairs of simultaneous equations which can be solved and find the solutions.</a:t>
            </a:r>
            <a:endParaRPr sz="2000"/>
          </a:p>
        </p:txBody>
      </p:sp>
      <p:sp>
        <p:nvSpPr>
          <p:cNvPr id="1771" name="Google Shape;1771;p14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pic>
        <p:nvPicPr>
          <p:cNvPr id="1772" name="Google Shape;1772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831974"/>
            <a:ext cx="4502627" cy="34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1773" name="Google Shape;1773;p144"/>
          <p:cNvSpPr txBox="1"/>
          <p:nvPr>
            <p:ph idx="4294967295" type="body"/>
          </p:nvPr>
        </p:nvSpPr>
        <p:spPr>
          <a:xfrm>
            <a:off x="7639200" y="824000"/>
            <a:ext cx="12084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774" name="Google Shape;1774;p144"/>
          <p:cNvSpPr txBox="1"/>
          <p:nvPr>
            <p:ph idx="4294967295" type="body"/>
          </p:nvPr>
        </p:nvSpPr>
        <p:spPr>
          <a:xfrm>
            <a:off x="7410600" y="3948200"/>
            <a:ext cx="14484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16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775" name="Google Shape;1775;p144"/>
          <p:cNvSpPr txBox="1"/>
          <p:nvPr>
            <p:ph idx="4294967295" type="body"/>
          </p:nvPr>
        </p:nvSpPr>
        <p:spPr>
          <a:xfrm>
            <a:off x="5059907" y="980747"/>
            <a:ext cx="16122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24</a:t>
            </a:r>
            <a:endParaRPr sz="2000"/>
          </a:p>
        </p:txBody>
      </p:sp>
      <p:sp>
        <p:nvSpPr>
          <p:cNvPr id="1776" name="Google Shape;1776;p144"/>
          <p:cNvSpPr txBox="1"/>
          <p:nvPr>
            <p:ph idx="1" type="body"/>
          </p:nvPr>
        </p:nvSpPr>
        <p:spPr>
          <a:xfrm>
            <a:off x="324000" y="3273900"/>
            <a:ext cx="3996000" cy="10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Explain why a third </a:t>
            </a:r>
            <a:r>
              <a:rPr lang="en-GB" sz="2000"/>
              <a:t>different</a:t>
            </a:r>
            <a:r>
              <a:rPr lang="en-GB" sz="2000"/>
              <a:t> pair of equations can not be found and solved using these particular lines.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145"/>
          <p:cNvSpPr txBox="1"/>
          <p:nvPr>
            <p:ph idx="1" type="body"/>
          </p:nvPr>
        </p:nvSpPr>
        <p:spPr>
          <a:xfrm>
            <a:off x="324000" y="759300"/>
            <a:ext cx="3996000" cy="97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a) Use the graph to identify two </a:t>
            </a:r>
            <a:r>
              <a:rPr lang="en-GB" sz="2000"/>
              <a:t>pairs of simultaneous equations which can be solved and find the solutions.</a:t>
            </a:r>
            <a:endParaRPr sz="2000"/>
          </a:p>
        </p:txBody>
      </p:sp>
      <p:sp>
        <p:nvSpPr>
          <p:cNvPr id="1782" name="Google Shape;1782;p14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pic>
        <p:nvPicPr>
          <p:cNvPr id="1783" name="Google Shape;1783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831974"/>
            <a:ext cx="4502627" cy="34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1784" name="Google Shape;1784;p145"/>
          <p:cNvSpPr txBox="1"/>
          <p:nvPr>
            <p:ph idx="4294967295" type="body"/>
          </p:nvPr>
        </p:nvSpPr>
        <p:spPr>
          <a:xfrm>
            <a:off x="7639200" y="824000"/>
            <a:ext cx="12084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785" name="Google Shape;1785;p145"/>
          <p:cNvSpPr txBox="1"/>
          <p:nvPr>
            <p:ph idx="4294967295" type="body"/>
          </p:nvPr>
        </p:nvSpPr>
        <p:spPr>
          <a:xfrm>
            <a:off x="7410600" y="3948200"/>
            <a:ext cx="14484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16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786" name="Google Shape;1786;p145"/>
          <p:cNvSpPr txBox="1"/>
          <p:nvPr>
            <p:ph idx="4294967295" type="body"/>
          </p:nvPr>
        </p:nvSpPr>
        <p:spPr>
          <a:xfrm>
            <a:off x="5059907" y="980747"/>
            <a:ext cx="16122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24</a:t>
            </a:r>
            <a:endParaRPr sz="2000"/>
          </a:p>
        </p:txBody>
      </p:sp>
      <p:sp>
        <p:nvSpPr>
          <p:cNvPr id="1787" name="Google Shape;1787;p145"/>
          <p:cNvSpPr txBox="1"/>
          <p:nvPr/>
        </p:nvSpPr>
        <p:spPr>
          <a:xfrm>
            <a:off x="6679253" y="19810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145"/>
          <p:cNvSpPr txBox="1"/>
          <p:nvPr/>
        </p:nvSpPr>
        <p:spPr>
          <a:xfrm>
            <a:off x="7160507" y="1974530"/>
            <a:ext cx="6003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(4, 4)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145"/>
          <p:cNvSpPr txBox="1"/>
          <p:nvPr>
            <p:ph idx="4294967295" type="body"/>
          </p:nvPr>
        </p:nvSpPr>
        <p:spPr>
          <a:xfrm>
            <a:off x="335507" y="2580947"/>
            <a:ext cx="1612200" cy="375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24</a:t>
            </a:r>
            <a:endParaRPr sz="2000"/>
          </a:p>
        </p:txBody>
      </p:sp>
      <p:sp>
        <p:nvSpPr>
          <p:cNvPr id="1790" name="Google Shape;1790;p145"/>
          <p:cNvSpPr txBox="1"/>
          <p:nvPr/>
        </p:nvSpPr>
        <p:spPr>
          <a:xfrm>
            <a:off x="334033" y="2174125"/>
            <a:ext cx="3684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One pair of simultaneous equations: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1" name="Google Shape;1791;p145"/>
          <p:cNvSpPr txBox="1"/>
          <p:nvPr>
            <p:ph idx="4294967295" type="body"/>
          </p:nvPr>
        </p:nvSpPr>
        <p:spPr>
          <a:xfrm>
            <a:off x="476400" y="3110000"/>
            <a:ext cx="1208400" cy="375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792" name="Google Shape;1792;p145"/>
          <p:cNvSpPr txBox="1"/>
          <p:nvPr>
            <p:ph idx="4294967295" type="subTitle"/>
          </p:nvPr>
        </p:nvSpPr>
        <p:spPr>
          <a:xfrm>
            <a:off x="1007068" y="3990425"/>
            <a:ext cx="16245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793" name="Google Shape;1793;p145"/>
          <p:cNvSpPr txBox="1"/>
          <p:nvPr/>
        </p:nvSpPr>
        <p:spPr>
          <a:xfrm>
            <a:off x="334030" y="3621925"/>
            <a:ext cx="1448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solution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: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46"/>
          <p:cNvSpPr txBox="1"/>
          <p:nvPr>
            <p:ph idx="1" type="body"/>
          </p:nvPr>
        </p:nvSpPr>
        <p:spPr>
          <a:xfrm>
            <a:off x="324000" y="759300"/>
            <a:ext cx="3996000" cy="97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a) Use the graph to identify two </a:t>
            </a:r>
            <a:r>
              <a:rPr lang="en-GB" sz="2000"/>
              <a:t>pairs of simultaneous equations which can be solved and find the solutions.</a:t>
            </a:r>
            <a:endParaRPr sz="2000"/>
          </a:p>
        </p:txBody>
      </p:sp>
      <p:sp>
        <p:nvSpPr>
          <p:cNvPr id="1799" name="Google Shape;1799;p14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pic>
        <p:nvPicPr>
          <p:cNvPr id="1800" name="Google Shape;1800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831974"/>
            <a:ext cx="4502627" cy="34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1801" name="Google Shape;1801;p146"/>
          <p:cNvSpPr txBox="1"/>
          <p:nvPr>
            <p:ph idx="4294967295" type="body"/>
          </p:nvPr>
        </p:nvSpPr>
        <p:spPr>
          <a:xfrm>
            <a:off x="7639200" y="824000"/>
            <a:ext cx="12084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802" name="Google Shape;1802;p146"/>
          <p:cNvSpPr txBox="1"/>
          <p:nvPr>
            <p:ph idx="4294967295" type="body"/>
          </p:nvPr>
        </p:nvSpPr>
        <p:spPr>
          <a:xfrm>
            <a:off x="7410600" y="3948200"/>
            <a:ext cx="14484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16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803" name="Google Shape;1803;p146"/>
          <p:cNvSpPr txBox="1"/>
          <p:nvPr>
            <p:ph idx="4294967295" type="body"/>
          </p:nvPr>
        </p:nvSpPr>
        <p:spPr>
          <a:xfrm>
            <a:off x="5059907" y="980747"/>
            <a:ext cx="16122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24</a:t>
            </a:r>
            <a:endParaRPr sz="2000"/>
          </a:p>
        </p:txBody>
      </p:sp>
      <p:sp>
        <p:nvSpPr>
          <p:cNvPr id="1804" name="Google Shape;1804;p146"/>
          <p:cNvSpPr txBox="1"/>
          <p:nvPr/>
        </p:nvSpPr>
        <p:spPr>
          <a:xfrm>
            <a:off x="5764853" y="238503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5" name="Google Shape;1805;p146"/>
          <p:cNvSpPr txBox="1"/>
          <p:nvPr/>
        </p:nvSpPr>
        <p:spPr>
          <a:xfrm>
            <a:off x="5636507" y="2736530"/>
            <a:ext cx="6003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(2, 3)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6" name="Google Shape;1806;p146"/>
          <p:cNvSpPr txBox="1"/>
          <p:nvPr>
            <p:ph idx="4294967295" type="body"/>
          </p:nvPr>
        </p:nvSpPr>
        <p:spPr>
          <a:xfrm>
            <a:off x="335507" y="2580947"/>
            <a:ext cx="1612200" cy="375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16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807" name="Google Shape;1807;p146"/>
          <p:cNvSpPr txBox="1"/>
          <p:nvPr/>
        </p:nvSpPr>
        <p:spPr>
          <a:xfrm>
            <a:off x="334025" y="2174125"/>
            <a:ext cx="3892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Another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pair of simultaneous equations: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8" name="Google Shape;1808;p146"/>
          <p:cNvSpPr txBox="1"/>
          <p:nvPr>
            <p:ph idx="4294967295" type="body"/>
          </p:nvPr>
        </p:nvSpPr>
        <p:spPr>
          <a:xfrm>
            <a:off x="476400" y="3110000"/>
            <a:ext cx="1208400" cy="375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809" name="Google Shape;1809;p146"/>
          <p:cNvSpPr txBox="1"/>
          <p:nvPr>
            <p:ph idx="4294967295" type="subTitle"/>
          </p:nvPr>
        </p:nvSpPr>
        <p:spPr>
          <a:xfrm>
            <a:off x="1007068" y="3990425"/>
            <a:ext cx="16245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2,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810" name="Google Shape;1810;p146"/>
          <p:cNvSpPr txBox="1"/>
          <p:nvPr/>
        </p:nvSpPr>
        <p:spPr>
          <a:xfrm>
            <a:off x="334030" y="3621925"/>
            <a:ext cx="1448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solution: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147"/>
          <p:cNvSpPr txBox="1"/>
          <p:nvPr>
            <p:ph idx="1" type="body"/>
          </p:nvPr>
        </p:nvSpPr>
        <p:spPr>
          <a:xfrm>
            <a:off x="324000" y="759300"/>
            <a:ext cx="39960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</a:t>
            </a:r>
            <a:endParaRPr sz="2000"/>
          </a:p>
        </p:txBody>
      </p:sp>
      <p:sp>
        <p:nvSpPr>
          <p:cNvPr id="1816" name="Google Shape;1816;p14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pic>
        <p:nvPicPr>
          <p:cNvPr id="1817" name="Google Shape;1817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831974"/>
            <a:ext cx="4502627" cy="34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1818" name="Google Shape;1818;p147"/>
          <p:cNvSpPr txBox="1"/>
          <p:nvPr>
            <p:ph idx="4294967295" type="body"/>
          </p:nvPr>
        </p:nvSpPr>
        <p:spPr>
          <a:xfrm>
            <a:off x="7639200" y="824000"/>
            <a:ext cx="12084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819" name="Google Shape;1819;p147"/>
          <p:cNvSpPr txBox="1"/>
          <p:nvPr>
            <p:ph idx="4294967295" type="body"/>
          </p:nvPr>
        </p:nvSpPr>
        <p:spPr>
          <a:xfrm>
            <a:off x="7410600" y="3948200"/>
            <a:ext cx="14484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16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820" name="Google Shape;1820;p147"/>
          <p:cNvSpPr txBox="1"/>
          <p:nvPr>
            <p:ph idx="4294967295" type="body"/>
          </p:nvPr>
        </p:nvSpPr>
        <p:spPr>
          <a:xfrm>
            <a:off x="5059907" y="980747"/>
            <a:ext cx="1612200" cy="3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24</a:t>
            </a:r>
            <a:endParaRPr sz="2000"/>
          </a:p>
        </p:txBody>
      </p:sp>
      <p:sp>
        <p:nvSpPr>
          <p:cNvPr id="1821" name="Google Shape;1821;p147"/>
          <p:cNvSpPr txBox="1"/>
          <p:nvPr>
            <p:ph idx="1" type="body"/>
          </p:nvPr>
        </p:nvSpPr>
        <p:spPr>
          <a:xfrm>
            <a:off x="324000" y="1075607"/>
            <a:ext cx="3996000" cy="10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b) </a:t>
            </a:r>
            <a:r>
              <a:rPr lang="en-GB" sz="2000"/>
              <a:t>Explain why a third different pair of equations can not be found and solved using these particular lines.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822" name="Google Shape;1822;p147"/>
          <p:cNvSpPr txBox="1"/>
          <p:nvPr/>
        </p:nvSpPr>
        <p:spPr>
          <a:xfrm>
            <a:off x="324000" y="2513200"/>
            <a:ext cx="3741000" cy="18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Because they are linear equations there are no more intersections (therefore solutions) for the equations we have already highlighted.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third pair of lines, </a:t>
            </a:r>
            <a:r>
              <a:rPr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i="1"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16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24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are parallel, therefore have no intersection, no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solution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14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intersection</a:t>
            </a:r>
            <a:endParaRPr/>
          </a:p>
        </p:txBody>
      </p:sp>
      <p:sp>
        <p:nvSpPr>
          <p:cNvPr id="1828" name="Google Shape;1828;p14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Regions of a graph</a:t>
            </a:r>
            <a:endParaRPr/>
          </a:p>
        </p:txBody>
      </p:sp>
      <p:sp>
        <p:nvSpPr>
          <p:cNvPr id="1829" name="Google Shape;1829;p14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Graphically solving two linear graphs that intersect</a:t>
            </a:r>
            <a:endParaRPr/>
          </a:p>
        </p:txBody>
      </p:sp>
      <p:pic>
        <p:nvPicPr>
          <p:cNvPr id="1830" name="Google Shape;1830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99175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5" name="Google Shape;1835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5293" y="1430182"/>
            <a:ext cx="1913424" cy="3382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6" name="Google Shape;1836;p149"/>
          <p:cNvSpPr txBox="1"/>
          <p:nvPr>
            <p:ph idx="1" type="body"/>
          </p:nvPr>
        </p:nvSpPr>
        <p:spPr>
          <a:xfrm>
            <a:off x="324000" y="759300"/>
            <a:ext cx="5921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Why does this</a:t>
            </a:r>
            <a:r>
              <a:rPr lang="en-GB" sz="2000"/>
              <a:t> coordinate not satisfy the equation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r>
              <a:rPr lang="en-GB" sz="2000"/>
              <a:t> ?</a:t>
            </a:r>
            <a:endParaRPr sz="2000"/>
          </a:p>
        </p:txBody>
      </p:sp>
      <p:sp>
        <p:nvSpPr>
          <p:cNvPr id="1837" name="Google Shape;1837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Regions of a graph</a:t>
            </a:r>
            <a:endParaRPr/>
          </a:p>
        </p:txBody>
      </p:sp>
      <p:sp>
        <p:nvSpPr>
          <p:cNvPr id="1838" name="Google Shape;1838;p149"/>
          <p:cNvSpPr txBox="1"/>
          <p:nvPr/>
        </p:nvSpPr>
        <p:spPr>
          <a:xfrm>
            <a:off x="8206505" y="25869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9" name="Google Shape;1839;p149"/>
          <p:cNvSpPr txBox="1"/>
          <p:nvPr/>
        </p:nvSpPr>
        <p:spPr>
          <a:xfrm>
            <a:off x="6775240" y="1165115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0" name="Google Shape;1840;p149"/>
          <p:cNvSpPr txBox="1"/>
          <p:nvPr/>
        </p:nvSpPr>
        <p:spPr>
          <a:xfrm>
            <a:off x="7094773" y="1436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1" name="Google Shape;1841;p149"/>
          <p:cNvSpPr txBox="1"/>
          <p:nvPr/>
        </p:nvSpPr>
        <p:spPr>
          <a:xfrm>
            <a:off x="7347425" y="1281975"/>
            <a:ext cx="5955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(1, 3)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149"/>
          <p:cNvSpPr txBox="1"/>
          <p:nvPr>
            <p:ph idx="1" type="body"/>
          </p:nvPr>
        </p:nvSpPr>
        <p:spPr>
          <a:xfrm>
            <a:off x="324000" y="1752100"/>
            <a:ext cx="4914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Because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-coordinate is greater than the value of the expression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 </a:t>
            </a:r>
            <a:r>
              <a:rPr lang="en-GB" sz="2000"/>
              <a:t>when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sz="2000"/>
          </a:p>
        </p:txBody>
      </p:sp>
      <p:cxnSp>
        <p:nvCxnSpPr>
          <p:cNvPr id="1843" name="Google Shape;1843;p149"/>
          <p:cNvCxnSpPr/>
          <p:nvPr/>
        </p:nvCxnSpPr>
        <p:spPr>
          <a:xfrm rot="10800000">
            <a:off x="7210467" y="1695832"/>
            <a:ext cx="7500" cy="1322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4" name="Google Shape;1844;p149"/>
          <p:cNvSpPr txBox="1"/>
          <p:nvPr>
            <p:ph idx="1" type="body"/>
          </p:nvPr>
        </p:nvSpPr>
        <p:spPr>
          <a:xfrm>
            <a:off x="324000" y="3045300"/>
            <a:ext cx="3996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is no longer </a:t>
            </a:r>
            <a:r>
              <a:rPr lang="en-GB" sz="2000">
                <a:solidFill>
                  <a:schemeClr val="accent5"/>
                </a:solidFill>
              </a:rPr>
              <a:t>equal</a:t>
            </a:r>
            <a:r>
              <a:rPr lang="en-GB" sz="2000"/>
              <a:t> to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/>
          </a:p>
        </p:txBody>
      </p:sp>
      <p:sp>
        <p:nvSpPr>
          <p:cNvPr id="1845" name="Google Shape;1845;p149"/>
          <p:cNvSpPr txBox="1"/>
          <p:nvPr>
            <p:ph idx="1" type="body"/>
          </p:nvPr>
        </p:nvSpPr>
        <p:spPr>
          <a:xfrm>
            <a:off x="324000" y="3578700"/>
            <a:ext cx="3996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is </a:t>
            </a:r>
            <a:r>
              <a:rPr lang="en-GB" sz="2000">
                <a:solidFill>
                  <a:schemeClr val="accent5"/>
                </a:solidFill>
              </a:rPr>
              <a:t>greater than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0" name="Google Shape;1850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5293" y="1430182"/>
            <a:ext cx="1913424" cy="3382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51" name="Google Shape;1851;p150"/>
          <p:cNvSpPr txBox="1"/>
          <p:nvPr>
            <p:ph idx="1" type="body"/>
          </p:nvPr>
        </p:nvSpPr>
        <p:spPr>
          <a:xfrm>
            <a:off x="324000" y="1368900"/>
            <a:ext cx="51795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therefore say this point has coordinates where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&gt;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/>
          </a:p>
        </p:txBody>
      </p:sp>
      <p:sp>
        <p:nvSpPr>
          <p:cNvPr id="1852" name="Google Shape;1852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Regions of a graph</a:t>
            </a:r>
            <a:endParaRPr/>
          </a:p>
        </p:txBody>
      </p:sp>
      <p:sp>
        <p:nvSpPr>
          <p:cNvPr id="1853" name="Google Shape;1853;p150"/>
          <p:cNvSpPr txBox="1"/>
          <p:nvPr/>
        </p:nvSpPr>
        <p:spPr>
          <a:xfrm>
            <a:off x="8206505" y="25869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4" name="Google Shape;1854;p150"/>
          <p:cNvSpPr txBox="1"/>
          <p:nvPr/>
        </p:nvSpPr>
        <p:spPr>
          <a:xfrm>
            <a:off x="6775240" y="1165115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5" name="Google Shape;1855;p150"/>
          <p:cNvSpPr txBox="1"/>
          <p:nvPr/>
        </p:nvSpPr>
        <p:spPr>
          <a:xfrm>
            <a:off x="7094773" y="1436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6" name="Google Shape;1856;p150"/>
          <p:cNvSpPr txBox="1"/>
          <p:nvPr/>
        </p:nvSpPr>
        <p:spPr>
          <a:xfrm>
            <a:off x="7347425" y="1281975"/>
            <a:ext cx="5955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(1, 3)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7" name="Google Shape;1857;p150"/>
          <p:cNvCxnSpPr/>
          <p:nvPr/>
        </p:nvCxnSpPr>
        <p:spPr>
          <a:xfrm rot="10800000">
            <a:off x="7210467" y="1695832"/>
            <a:ext cx="7500" cy="1322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8" name="Google Shape;1858;p150"/>
          <p:cNvSpPr txBox="1"/>
          <p:nvPr>
            <p:ph idx="1" type="body"/>
          </p:nvPr>
        </p:nvSpPr>
        <p:spPr>
          <a:xfrm>
            <a:off x="324000" y="3045300"/>
            <a:ext cx="3996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is no longer </a:t>
            </a:r>
            <a:r>
              <a:rPr lang="en-GB" sz="2000">
                <a:solidFill>
                  <a:schemeClr val="accent5"/>
                </a:solidFill>
              </a:rPr>
              <a:t>equal</a:t>
            </a:r>
            <a:r>
              <a:rPr lang="en-GB" sz="2000"/>
              <a:t> to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/>
          </a:p>
        </p:txBody>
      </p:sp>
      <p:sp>
        <p:nvSpPr>
          <p:cNvPr id="1859" name="Google Shape;1859;p150"/>
          <p:cNvSpPr txBox="1"/>
          <p:nvPr>
            <p:ph idx="1" type="body"/>
          </p:nvPr>
        </p:nvSpPr>
        <p:spPr>
          <a:xfrm>
            <a:off x="324000" y="3578700"/>
            <a:ext cx="3996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is </a:t>
            </a:r>
            <a:r>
              <a:rPr lang="en-GB" sz="2000">
                <a:solidFill>
                  <a:schemeClr val="accent5"/>
                </a:solidFill>
              </a:rPr>
              <a:t>greater than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4" name="Google Shape;1864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5293" y="1430182"/>
            <a:ext cx="1913424" cy="3382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5" name="Google Shape;1865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Regions of a graph</a:t>
            </a:r>
            <a:endParaRPr/>
          </a:p>
        </p:txBody>
      </p:sp>
      <p:sp>
        <p:nvSpPr>
          <p:cNvPr id="1866" name="Google Shape;1866;p151"/>
          <p:cNvSpPr txBox="1"/>
          <p:nvPr/>
        </p:nvSpPr>
        <p:spPr>
          <a:xfrm>
            <a:off x="8206505" y="25869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7" name="Google Shape;1867;p151"/>
          <p:cNvSpPr txBox="1"/>
          <p:nvPr/>
        </p:nvSpPr>
        <p:spPr>
          <a:xfrm>
            <a:off x="6775240" y="1165115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8" name="Google Shape;1868;p151"/>
          <p:cNvSpPr txBox="1"/>
          <p:nvPr/>
        </p:nvSpPr>
        <p:spPr>
          <a:xfrm>
            <a:off x="7094773" y="1436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9" name="Google Shape;1869;p151"/>
          <p:cNvSpPr txBox="1"/>
          <p:nvPr/>
        </p:nvSpPr>
        <p:spPr>
          <a:xfrm>
            <a:off x="7347425" y="1281975"/>
            <a:ext cx="5955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(1, 3)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0" name="Google Shape;1870;p151"/>
          <p:cNvSpPr txBox="1"/>
          <p:nvPr>
            <p:ph idx="1" type="body"/>
          </p:nvPr>
        </p:nvSpPr>
        <p:spPr>
          <a:xfrm>
            <a:off x="324000" y="812500"/>
            <a:ext cx="82107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Write down the coordinates of another point where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&gt; 2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71" name="Google Shape;1871;p151"/>
          <p:cNvCxnSpPr/>
          <p:nvPr/>
        </p:nvCxnSpPr>
        <p:spPr>
          <a:xfrm rot="10800000">
            <a:off x="7210467" y="1695832"/>
            <a:ext cx="7500" cy="1322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6" name="Google Shape;1876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5293" y="1430182"/>
            <a:ext cx="1913424" cy="3382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77" name="Google Shape;1877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Regions of a graph</a:t>
            </a:r>
            <a:endParaRPr/>
          </a:p>
        </p:txBody>
      </p:sp>
      <p:sp>
        <p:nvSpPr>
          <p:cNvPr id="1878" name="Google Shape;1878;p152"/>
          <p:cNvSpPr txBox="1"/>
          <p:nvPr/>
        </p:nvSpPr>
        <p:spPr>
          <a:xfrm>
            <a:off x="8206505" y="25869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9" name="Google Shape;1879;p152"/>
          <p:cNvSpPr txBox="1"/>
          <p:nvPr/>
        </p:nvSpPr>
        <p:spPr>
          <a:xfrm>
            <a:off x="6775240" y="1165115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0" name="Google Shape;1880;p152"/>
          <p:cNvSpPr txBox="1"/>
          <p:nvPr/>
        </p:nvSpPr>
        <p:spPr>
          <a:xfrm>
            <a:off x="7094773" y="1436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1" name="Google Shape;1881;p152"/>
          <p:cNvSpPr txBox="1"/>
          <p:nvPr>
            <p:ph idx="1" type="body"/>
          </p:nvPr>
        </p:nvSpPr>
        <p:spPr>
          <a:xfrm>
            <a:off x="324000" y="812500"/>
            <a:ext cx="7500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Write down the coordinates of another point where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&gt; 2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</p:txBody>
      </p:sp>
      <p:sp>
        <p:nvSpPr>
          <p:cNvPr id="1882" name="Google Shape;1882;p152"/>
          <p:cNvSpPr txBox="1"/>
          <p:nvPr/>
        </p:nvSpPr>
        <p:spPr>
          <a:xfrm>
            <a:off x="7475773" y="1436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152"/>
          <p:cNvSpPr txBox="1"/>
          <p:nvPr/>
        </p:nvSpPr>
        <p:spPr>
          <a:xfrm>
            <a:off x="7094773" y="1817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4" name="Google Shape;1884;p152"/>
          <p:cNvSpPr txBox="1"/>
          <p:nvPr/>
        </p:nvSpPr>
        <p:spPr>
          <a:xfrm>
            <a:off x="7475773" y="1817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5" name="Google Shape;1885;p152"/>
          <p:cNvSpPr txBox="1"/>
          <p:nvPr/>
        </p:nvSpPr>
        <p:spPr>
          <a:xfrm>
            <a:off x="6332773" y="1436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152"/>
          <p:cNvSpPr txBox="1"/>
          <p:nvPr/>
        </p:nvSpPr>
        <p:spPr>
          <a:xfrm>
            <a:off x="6713773" y="1436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152"/>
          <p:cNvSpPr txBox="1"/>
          <p:nvPr/>
        </p:nvSpPr>
        <p:spPr>
          <a:xfrm>
            <a:off x="6332773" y="1817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8" name="Google Shape;1888;p152"/>
          <p:cNvSpPr txBox="1"/>
          <p:nvPr/>
        </p:nvSpPr>
        <p:spPr>
          <a:xfrm>
            <a:off x="6713773" y="1817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9" name="Google Shape;1889;p152"/>
          <p:cNvSpPr txBox="1"/>
          <p:nvPr/>
        </p:nvSpPr>
        <p:spPr>
          <a:xfrm>
            <a:off x="6332773" y="2198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152"/>
          <p:cNvSpPr txBox="1"/>
          <p:nvPr/>
        </p:nvSpPr>
        <p:spPr>
          <a:xfrm>
            <a:off x="6713773" y="2198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1" name="Google Shape;1891;p152"/>
          <p:cNvSpPr txBox="1"/>
          <p:nvPr/>
        </p:nvSpPr>
        <p:spPr>
          <a:xfrm>
            <a:off x="6332773" y="2579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2" name="Google Shape;1892;p152"/>
          <p:cNvSpPr txBox="1"/>
          <p:nvPr/>
        </p:nvSpPr>
        <p:spPr>
          <a:xfrm>
            <a:off x="6713773" y="2579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3" name="Google Shape;1893;p152"/>
          <p:cNvSpPr txBox="1"/>
          <p:nvPr/>
        </p:nvSpPr>
        <p:spPr>
          <a:xfrm>
            <a:off x="6332773" y="2960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4" name="Google Shape;1894;p152"/>
          <p:cNvSpPr txBox="1"/>
          <p:nvPr/>
        </p:nvSpPr>
        <p:spPr>
          <a:xfrm>
            <a:off x="6713773" y="2960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5" name="Google Shape;1895;p152"/>
          <p:cNvSpPr txBox="1"/>
          <p:nvPr/>
        </p:nvSpPr>
        <p:spPr>
          <a:xfrm>
            <a:off x="6332773" y="3341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6" name="Google Shape;1896;p152"/>
          <p:cNvSpPr txBox="1"/>
          <p:nvPr/>
        </p:nvSpPr>
        <p:spPr>
          <a:xfrm>
            <a:off x="6713773" y="3341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7" name="Google Shape;1897;p152"/>
          <p:cNvSpPr txBox="1"/>
          <p:nvPr/>
        </p:nvSpPr>
        <p:spPr>
          <a:xfrm>
            <a:off x="6332773" y="3722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8" name="Google Shape;1898;p152"/>
          <p:cNvSpPr txBox="1"/>
          <p:nvPr/>
        </p:nvSpPr>
        <p:spPr>
          <a:xfrm>
            <a:off x="6332773" y="4103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9" name="Google Shape;1899;p152"/>
          <p:cNvSpPr txBox="1"/>
          <p:nvPr/>
        </p:nvSpPr>
        <p:spPr>
          <a:xfrm>
            <a:off x="7094773" y="2198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0" name="Google Shape;1900;p152"/>
          <p:cNvSpPr txBox="1"/>
          <p:nvPr/>
        </p:nvSpPr>
        <p:spPr>
          <a:xfrm>
            <a:off x="7094773" y="2579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1" name="Google Shape;1901;p152"/>
          <p:cNvSpPr txBox="1"/>
          <p:nvPr/>
        </p:nvSpPr>
        <p:spPr>
          <a:xfrm>
            <a:off x="324000" y="1675000"/>
            <a:ext cx="53508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could have named any of these points. There were alot to choose from!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2" name="Google Shape;1902;p152"/>
          <p:cNvSpPr txBox="1"/>
          <p:nvPr/>
        </p:nvSpPr>
        <p:spPr>
          <a:xfrm>
            <a:off x="324000" y="3275200"/>
            <a:ext cx="5593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call this a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region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The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region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where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3" name="Google Shape;1903;p152"/>
          <p:cNvSpPr txBox="1"/>
          <p:nvPr/>
        </p:nvSpPr>
        <p:spPr>
          <a:xfrm>
            <a:off x="324000" y="2437000"/>
            <a:ext cx="55935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could also have chosen any one of the infinite non-integer value coordinates in this region!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8" name="Google Shape;1908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5293" y="1430182"/>
            <a:ext cx="1913424" cy="3382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09" name="Google Shape;1909;p153"/>
          <p:cNvSpPr txBox="1"/>
          <p:nvPr>
            <p:ph idx="1" type="body"/>
          </p:nvPr>
        </p:nvSpPr>
        <p:spPr>
          <a:xfrm>
            <a:off x="324000" y="759300"/>
            <a:ext cx="5921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/>
              <a:t>his point is in the region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&gt;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/>
          </a:p>
        </p:txBody>
      </p:sp>
      <p:sp>
        <p:nvSpPr>
          <p:cNvPr id="1910" name="Google Shape;1910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Regions of a graph</a:t>
            </a:r>
            <a:endParaRPr/>
          </a:p>
        </p:txBody>
      </p:sp>
      <p:sp>
        <p:nvSpPr>
          <p:cNvPr id="1911" name="Google Shape;1911;p153"/>
          <p:cNvSpPr txBox="1"/>
          <p:nvPr/>
        </p:nvSpPr>
        <p:spPr>
          <a:xfrm>
            <a:off x="8206505" y="25869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2" name="Google Shape;1912;p153"/>
          <p:cNvSpPr txBox="1"/>
          <p:nvPr/>
        </p:nvSpPr>
        <p:spPr>
          <a:xfrm>
            <a:off x="6775240" y="1165115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3" name="Google Shape;1913;p153"/>
          <p:cNvSpPr txBox="1"/>
          <p:nvPr/>
        </p:nvSpPr>
        <p:spPr>
          <a:xfrm>
            <a:off x="7094773" y="14361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153"/>
          <p:cNvSpPr txBox="1"/>
          <p:nvPr/>
        </p:nvSpPr>
        <p:spPr>
          <a:xfrm>
            <a:off x="7347425" y="1281975"/>
            <a:ext cx="5955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(1, 3)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5" name="Google Shape;1915;p153"/>
          <p:cNvSpPr txBox="1"/>
          <p:nvPr>
            <p:ph idx="1" type="body"/>
          </p:nvPr>
        </p:nvSpPr>
        <p:spPr>
          <a:xfrm>
            <a:off x="324000" y="1350234"/>
            <a:ext cx="4788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this pair of coordinates the value of the</a:t>
            </a:r>
            <a:r>
              <a:rPr lang="en-GB" sz="2000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-coordinate is </a:t>
            </a:r>
            <a:r>
              <a:rPr lang="en-GB" sz="2000">
                <a:solidFill>
                  <a:schemeClr val="accent5"/>
                </a:solidFill>
              </a:rPr>
              <a:t>greater than</a:t>
            </a:r>
            <a:r>
              <a:rPr lang="en-GB" sz="2000"/>
              <a:t> the value of the expression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/>
          </a:p>
        </p:txBody>
      </p:sp>
      <p:sp>
        <p:nvSpPr>
          <p:cNvPr id="1916" name="Google Shape;1916;p153"/>
          <p:cNvSpPr txBox="1"/>
          <p:nvPr>
            <p:ph idx="1" type="body"/>
          </p:nvPr>
        </p:nvSpPr>
        <p:spPr>
          <a:xfrm>
            <a:off x="324000" y="3179045"/>
            <a:ext cx="5450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do you think we might say about the coordinates of </a:t>
            </a:r>
            <a:r>
              <a:rPr lang="en-GB" sz="2000">
                <a:solidFill>
                  <a:schemeClr val="accent5"/>
                </a:solidFill>
              </a:rPr>
              <a:t>this</a:t>
            </a:r>
            <a:r>
              <a:rPr lang="en-GB" sz="2000"/>
              <a:t> point?</a:t>
            </a:r>
            <a:endParaRPr sz="2000"/>
          </a:p>
        </p:txBody>
      </p:sp>
      <p:sp>
        <p:nvSpPr>
          <p:cNvPr id="1917" name="Google Shape;1917;p153"/>
          <p:cNvSpPr txBox="1"/>
          <p:nvPr/>
        </p:nvSpPr>
        <p:spPr>
          <a:xfrm>
            <a:off x="7475773" y="3714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8" name="Google Shape;1918;p153"/>
          <p:cNvSpPr txBox="1"/>
          <p:nvPr>
            <p:ph idx="1" type="body"/>
          </p:nvPr>
        </p:nvSpPr>
        <p:spPr>
          <a:xfrm>
            <a:off x="324000" y="4017234"/>
            <a:ext cx="4788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value of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-coordinate is </a:t>
            </a:r>
            <a:r>
              <a:rPr lang="en-GB" sz="2000">
                <a:solidFill>
                  <a:schemeClr val="accent5"/>
                </a:solidFill>
              </a:rPr>
              <a:t>less than</a:t>
            </a:r>
            <a:r>
              <a:rPr lang="en-GB" sz="2000"/>
              <a:t> the value of the expression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/>
          </a:p>
        </p:txBody>
      </p:sp>
      <p:cxnSp>
        <p:nvCxnSpPr>
          <p:cNvPr id="1919" name="Google Shape;1919;p153"/>
          <p:cNvCxnSpPr>
            <a:endCxn id="1917" idx="1"/>
          </p:cNvCxnSpPr>
          <p:nvPr/>
        </p:nvCxnSpPr>
        <p:spPr>
          <a:xfrm>
            <a:off x="3515173" y="3714809"/>
            <a:ext cx="3960600" cy="194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4" name="Google Shape;1924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5293" y="1430182"/>
            <a:ext cx="1913424" cy="3382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25" name="Google Shape;1925;p154"/>
          <p:cNvSpPr txBox="1"/>
          <p:nvPr>
            <p:ph idx="1" type="body"/>
          </p:nvPr>
        </p:nvSpPr>
        <p:spPr>
          <a:xfrm>
            <a:off x="324000" y="3403287"/>
            <a:ext cx="5921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point is in the region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&lt;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/>
          </a:p>
        </p:txBody>
      </p:sp>
      <p:sp>
        <p:nvSpPr>
          <p:cNvPr id="1926" name="Google Shape;1926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Regions of a graph</a:t>
            </a:r>
            <a:endParaRPr/>
          </a:p>
        </p:txBody>
      </p:sp>
      <p:sp>
        <p:nvSpPr>
          <p:cNvPr id="1927" name="Google Shape;1927;p154"/>
          <p:cNvSpPr txBox="1"/>
          <p:nvPr/>
        </p:nvSpPr>
        <p:spPr>
          <a:xfrm>
            <a:off x="8206505" y="25869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8" name="Google Shape;1928;p154"/>
          <p:cNvSpPr txBox="1"/>
          <p:nvPr/>
        </p:nvSpPr>
        <p:spPr>
          <a:xfrm>
            <a:off x="6775240" y="1165115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9" name="Google Shape;1929;p154"/>
          <p:cNvSpPr txBox="1"/>
          <p:nvPr/>
        </p:nvSpPr>
        <p:spPr>
          <a:xfrm>
            <a:off x="7475773" y="3714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0" name="Google Shape;1930;p154"/>
          <p:cNvSpPr txBox="1"/>
          <p:nvPr>
            <p:ph idx="1" type="body"/>
          </p:nvPr>
        </p:nvSpPr>
        <p:spPr>
          <a:xfrm>
            <a:off x="324000" y="4017234"/>
            <a:ext cx="4788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value of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-coordinate is </a:t>
            </a:r>
            <a:r>
              <a:rPr lang="en-GB" sz="2000">
                <a:solidFill>
                  <a:schemeClr val="accent5"/>
                </a:solidFill>
              </a:rPr>
              <a:t>less than</a:t>
            </a:r>
            <a:r>
              <a:rPr lang="en-GB" sz="2000"/>
              <a:t> the value of the expression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" name="Google Shape;1935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5293" y="1430182"/>
            <a:ext cx="1913424" cy="3382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36" name="Google Shape;1936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Regions of a graph</a:t>
            </a:r>
            <a:endParaRPr/>
          </a:p>
        </p:txBody>
      </p:sp>
      <p:sp>
        <p:nvSpPr>
          <p:cNvPr id="1937" name="Google Shape;1937;p155"/>
          <p:cNvSpPr txBox="1"/>
          <p:nvPr/>
        </p:nvSpPr>
        <p:spPr>
          <a:xfrm>
            <a:off x="8206505" y="25869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8" name="Google Shape;1938;p155"/>
          <p:cNvSpPr txBox="1"/>
          <p:nvPr/>
        </p:nvSpPr>
        <p:spPr>
          <a:xfrm>
            <a:off x="6775240" y="1165115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9" name="Google Shape;1939;p155"/>
          <p:cNvSpPr txBox="1"/>
          <p:nvPr>
            <p:ph idx="1" type="body"/>
          </p:nvPr>
        </p:nvSpPr>
        <p:spPr>
          <a:xfrm>
            <a:off x="324000" y="812500"/>
            <a:ext cx="8157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Write down the coordinates of another point where</a:t>
            </a:r>
            <a:r>
              <a:rPr lang="en-GB" sz="2000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&lt;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0" name="Google Shape;1940;p155"/>
          <p:cNvSpPr txBox="1"/>
          <p:nvPr/>
        </p:nvSpPr>
        <p:spPr>
          <a:xfrm>
            <a:off x="324000" y="1675000"/>
            <a:ext cx="54504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could have named any of these coordinates. There were alot to choose from!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1" name="Google Shape;1941;p155"/>
          <p:cNvSpPr txBox="1"/>
          <p:nvPr/>
        </p:nvSpPr>
        <p:spPr>
          <a:xfrm>
            <a:off x="324000" y="3503800"/>
            <a:ext cx="49377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call this the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region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where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2" name="Google Shape;1942;p155"/>
          <p:cNvSpPr txBox="1"/>
          <p:nvPr/>
        </p:nvSpPr>
        <p:spPr>
          <a:xfrm>
            <a:off x="324000" y="2437000"/>
            <a:ext cx="55935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could also have chosen any one of the infinite non-integer value coordinates in this region!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3" name="Google Shape;1943;p155"/>
          <p:cNvSpPr txBox="1"/>
          <p:nvPr/>
        </p:nvSpPr>
        <p:spPr>
          <a:xfrm>
            <a:off x="7475773" y="3714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4" name="Google Shape;1944;p155"/>
          <p:cNvSpPr txBox="1"/>
          <p:nvPr/>
        </p:nvSpPr>
        <p:spPr>
          <a:xfrm>
            <a:off x="7094773" y="3714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5" name="Google Shape;1945;p155"/>
          <p:cNvSpPr txBox="1"/>
          <p:nvPr/>
        </p:nvSpPr>
        <p:spPr>
          <a:xfrm>
            <a:off x="7094773" y="3333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6" name="Google Shape;1946;p155"/>
          <p:cNvSpPr txBox="1"/>
          <p:nvPr/>
        </p:nvSpPr>
        <p:spPr>
          <a:xfrm>
            <a:off x="7475773" y="3333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7" name="Google Shape;1947;p155"/>
          <p:cNvSpPr txBox="1"/>
          <p:nvPr/>
        </p:nvSpPr>
        <p:spPr>
          <a:xfrm>
            <a:off x="7094773" y="4476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8" name="Google Shape;1948;p155"/>
          <p:cNvSpPr txBox="1"/>
          <p:nvPr/>
        </p:nvSpPr>
        <p:spPr>
          <a:xfrm>
            <a:off x="6713773" y="4476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9" name="Google Shape;1949;p155"/>
          <p:cNvSpPr txBox="1"/>
          <p:nvPr/>
        </p:nvSpPr>
        <p:spPr>
          <a:xfrm>
            <a:off x="6713773" y="4095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155"/>
          <p:cNvSpPr txBox="1"/>
          <p:nvPr/>
        </p:nvSpPr>
        <p:spPr>
          <a:xfrm>
            <a:off x="7094773" y="4095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1" name="Google Shape;1951;p155"/>
          <p:cNvSpPr txBox="1"/>
          <p:nvPr/>
        </p:nvSpPr>
        <p:spPr>
          <a:xfrm>
            <a:off x="7856773" y="4476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2" name="Google Shape;1952;p155"/>
          <p:cNvSpPr txBox="1"/>
          <p:nvPr/>
        </p:nvSpPr>
        <p:spPr>
          <a:xfrm>
            <a:off x="7475773" y="4476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3" name="Google Shape;1953;p155"/>
          <p:cNvSpPr txBox="1"/>
          <p:nvPr/>
        </p:nvSpPr>
        <p:spPr>
          <a:xfrm>
            <a:off x="7475773" y="4095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4" name="Google Shape;1954;p155"/>
          <p:cNvSpPr txBox="1"/>
          <p:nvPr/>
        </p:nvSpPr>
        <p:spPr>
          <a:xfrm>
            <a:off x="7856773" y="4095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5" name="Google Shape;1955;p155"/>
          <p:cNvSpPr txBox="1"/>
          <p:nvPr/>
        </p:nvSpPr>
        <p:spPr>
          <a:xfrm>
            <a:off x="7856773" y="3714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155"/>
          <p:cNvSpPr txBox="1"/>
          <p:nvPr/>
        </p:nvSpPr>
        <p:spPr>
          <a:xfrm>
            <a:off x="7856773" y="3333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7" name="Google Shape;1957;p155"/>
          <p:cNvSpPr txBox="1"/>
          <p:nvPr/>
        </p:nvSpPr>
        <p:spPr>
          <a:xfrm>
            <a:off x="7475773" y="2952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8" name="Google Shape;1958;p155"/>
          <p:cNvSpPr txBox="1"/>
          <p:nvPr/>
        </p:nvSpPr>
        <p:spPr>
          <a:xfrm>
            <a:off x="7475773" y="2571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9" name="Google Shape;1959;p155"/>
          <p:cNvSpPr txBox="1"/>
          <p:nvPr/>
        </p:nvSpPr>
        <p:spPr>
          <a:xfrm>
            <a:off x="7856773" y="2952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0" name="Google Shape;1960;p155"/>
          <p:cNvSpPr txBox="1"/>
          <p:nvPr/>
        </p:nvSpPr>
        <p:spPr>
          <a:xfrm>
            <a:off x="7856773" y="2571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1" name="Google Shape;1961;p155"/>
          <p:cNvSpPr txBox="1"/>
          <p:nvPr/>
        </p:nvSpPr>
        <p:spPr>
          <a:xfrm>
            <a:off x="7856773" y="2190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2" name="Google Shape;1962;p155"/>
          <p:cNvSpPr txBox="1"/>
          <p:nvPr/>
        </p:nvSpPr>
        <p:spPr>
          <a:xfrm>
            <a:off x="7856773" y="180995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7" name="Google Shape;1967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201" y="1437640"/>
            <a:ext cx="2667001" cy="3378034"/>
          </a:xfrm>
          <a:prstGeom prst="rect">
            <a:avLst/>
          </a:prstGeom>
          <a:noFill/>
          <a:ln>
            <a:noFill/>
          </a:ln>
        </p:spPr>
      </p:pic>
      <p:sp>
        <p:nvSpPr>
          <p:cNvPr id="1968" name="Google Shape;1968;p156"/>
          <p:cNvSpPr txBox="1"/>
          <p:nvPr>
            <p:ph idx="1" type="body"/>
          </p:nvPr>
        </p:nvSpPr>
        <p:spPr>
          <a:xfrm>
            <a:off x="324000" y="2892900"/>
            <a:ext cx="5921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point is in the region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&gt;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/>
          </a:p>
        </p:txBody>
      </p:sp>
      <p:sp>
        <p:nvSpPr>
          <p:cNvPr id="1969" name="Google Shape;1969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Regions of a graph</a:t>
            </a:r>
            <a:endParaRPr/>
          </a:p>
        </p:txBody>
      </p:sp>
      <p:sp>
        <p:nvSpPr>
          <p:cNvPr id="1970" name="Google Shape;1970;p156"/>
          <p:cNvSpPr txBox="1"/>
          <p:nvPr/>
        </p:nvSpPr>
        <p:spPr>
          <a:xfrm>
            <a:off x="8511305" y="3131900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1" name="Google Shape;1971;p156"/>
          <p:cNvSpPr txBox="1"/>
          <p:nvPr/>
        </p:nvSpPr>
        <p:spPr>
          <a:xfrm>
            <a:off x="6622840" y="1123435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2" name="Google Shape;1972;p156"/>
          <p:cNvSpPr txBox="1"/>
          <p:nvPr/>
        </p:nvSpPr>
        <p:spPr>
          <a:xfrm>
            <a:off x="6942373" y="242671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3" name="Google Shape;1973;p156"/>
          <p:cNvSpPr txBox="1"/>
          <p:nvPr>
            <p:ph idx="1" type="body"/>
          </p:nvPr>
        </p:nvSpPr>
        <p:spPr>
          <a:xfrm>
            <a:off x="324000" y="816850"/>
            <a:ext cx="5921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make more statements when we have two lines on the same graph.</a:t>
            </a:r>
            <a:endParaRPr sz="2000"/>
          </a:p>
        </p:txBody>
      </p:sp>
      <p:sp>
        <p:nvSpPr>
          <p:cNvPr id="1974" name="Google Shape;1974;p156"/>
          <p:cNvSpPr txBox="1"/>
          <p:nvPr>
            <p:ph idx="1" type="body"/>
          </p:nvPr>
        </p:nvSpPr>
        <p:spPr>
          <a:xfrm>
            <a:off x="518080" y="3407634"/>
            <a:ext cx="4788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…</a:t>
            </a:r>
            <a:r>
              <a:rPr lang="en-GB" sz="2000">
                <a:solidFill>
                  <a:schemeClr val="accent5"/>
                </a:solidFill>
              </a:rPr>
              <a:t>and</a:t>
            </a:r>
            <a:r>
              <a:rPr lang="en-GB" sz="2000"/>
              <a:t> it</a:t>
            </a:r>
            <a:r>
              <a:rPr lang="en-GB" sz="2000"/>
              <a:t> satisfies the equation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</p:txBody>
      </p:sp>
      <p:sp>
        <p:nvSpPr>
          <p:cNvPr id="1975" name="Google Shape;1975;p156"/>
          <p:cNvSpPr txBox="1"/>
          <p:nvPr>
            <p:ph idx="1" type="body"/>
          </p:nvPr>
        </p:nvSpPr>
        <p:spPr>
          <a:xfrm>
            <a:off x="7376075" y="1144650"/>
            <a:ext cx="10773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1976" name="Google Shape;1976;p156"/>
          <p:cNvSpPr txBox="1"/>
          <p:nvPr>
            <p:ph idx="1" type="body"/>
          </p:nvPr>
        </p:nvSpPr>
        <p:spPr>
          <a:xfrm>
            <a:off x="4785275" y="1460957"/>
            <a:ext cx="9339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1977" name="Google Shape;1977;p156"/>
          <p:cNvSpPr txBox="1"/>
          <p:nvPr>
            <p:ph idx="1" type="body"/>
          </p:nvPr>
        </p:nvSpPr>
        <p:spPr>
          <a:xfrm>
            <a:off x="324000" y="2329327"/>
            <a:ext cx="4650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do we know about </a:t>
            </a:r>
            <a:r>
              <a:rPr lang="en-GB" sz="2000">
                <a:solidFill>
                  <a:schemeClr val="accent5"/>
                </a:solidFill>
              </a:rPr>
              <a:t>t</a:t>
            </a:r>
            <a:r>
              <a:rPr lang="en-GB" sz="2000">
                <a:solidFill>
                  <a:schemeClr val="accent5"/>
                </a:solidFill>
              </a:rPr>
              <a:t>his</a:t>
            </a:r>
            <a:r>
              <a:rPr lang="en-GB" sz="2000"/>
              <a:t> point?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2" name="Google Shape;1982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201" y="1437640"/>
            <a:ext cx="2667001" cy="3378034"/>
          </a:xfrm>
          <a:prstGeom prst="rect">
            <a:avLst/>
          </a:prstGeom>
          <a:noFill/>
          <a:ln>
            <a:noFill/>
          </a:ln>
        </p:spPr>
      </p:pic>
      <p:sp>
        <p:nvSpPr>
          <p:cNvPr id="1983" name="Google Shape;1983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Regions of a graph</a:t>
            </a:r>
            <a:endParaRPr/>
          </a:p>
        </p:txBody>
      </p:sp>
      <p:sp>
        <p:nvSpPr>
          <p:cNvPr id="1984" name="Google Shape;1984;p157"/>
          <p:cNvSpPr txBox="1"/>
          <p:nvPr/>
        </p:nvSpPr>
        <p:spPr>
          <a:xfrm>
            <a:off x="8511305" y="3131900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5" name="Google Shape;1985;p157"/>
          <p:cNvSpPr txBox="1"/>
          <p:nvPr/>
        </p:nvSpPr>
        <p:spPr>
          <a:xfrm>
            <a:off x="6622840" y="1123435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6" name="Google Shape;1986;p157"/>
          <p:cNvSpPr txBox="1"/>
          <p:nvPr>
            <p:ph idx="1" type="body"/>
          </p:nvPr>
        </p:nvSpPr>
        <p:spPr>
          <a:xfrm>
            <a:off x="7376075" y="1144650"/>
            <a:ext cx="10773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1987" name="Google Shape;1987;p157"/>
          <p:cNvSpPr txBox="1"/>
          <p:nvPr>
            <p:ph idx="1" type="body"/>
          </p:nvPr>
        </p:nvSpPr>
        <p:spPr>
          <a:xfrm>
            <a:off x="4785275" y="1460957"/>
            <a:ext cx="9339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1988" name="Google Shape;1988;p157"/>
          <p:cNvSpPr txBox="1"/>
          <p:nvPr>
            <p:ph idx="1" type="body"/>
          </p:nvPr>
        </p:nvSpPr>
        <p:spPr>
          <a:xfrm>
            <a:off x="324000" y="816825"/>
            <a:ext cx="3153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Which point satisfies both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r>
              <a:rPr lang="en-GB" sz="2000"/>
              <a:t> </a:t>
            </a:r>
            <a:r>
              <a:rPr lang="en-GB" sz="2000">
                <a:solidFill>
                  <a:schemeClr val="accent5"/>
                </a:solidFill>
              </a:rPr>
              <a:t>and</a:t>
            </a:r>
            <a:r>
              <a:rPr lang="en-GB" sz="2000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&lt; 3 −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</p:txBody>
      </p:sp>
      <p:sp>
        <p:nvSpPr>
          <p:cNvPr id="1989" name="Google Shape;1989;p157"/>
          <p:cNvSpPr txBox="1"/>
          <p:nvPr/>
        </p:nvSpPr>
        <p:spPr>
          <a:xfrm>
            <a:off x="7731734" y="2068732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0" name="Google Shape;1990;p157"/>
          <p:cNvSpPr txBox="1"/>
          <p:nvPr/>
        </p:nvSpPr>
        <p:spPr>
          <a:xfrm>
            <a:off x="6946720" y="3489171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157"/>
          <p:cNvSpPr txBox="1"/>
          <p:nvPr/>
        </p:nvSpPr>
        <p:spPr>
          <a:xfrm>
            <a:off x="8124241" y="347766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92" name="Google Shape;1992;p157"/>
          <p:cNvGrpSpPr/>
          <p:nvPr/>
        </p:nvGrpSpPr>
        <p:grpSpPr>
          <a:xfrm>
            <a:off x="7437135" y="1952781"/>
            <a:ext cx="276240" cy="341620"/>
            <a:chOff x="1020916" y="1442088"/>
            <a:chExt cx="457200" cy="457200"/>
          </a:xfrm>
        </p:grpSpPr>
        <p:pic>
          <p:nvPicPr>
            <p:cNvPr id="1993" name="Google Shape;1993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4" name="Google Shape;1994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95" name="Google Shape;1995;p157"/>
          <p:cNvGrpSpPr/>
          <p:nvPr/>
        </p:nvGrpSpPr>
        <p:grpSpPr>
          <a:xfrm>
            <a:off x="6652121" y="3571647"/>
            <a:ext cx="276240" cy="341620"/>
            <a:chOff x="1020916" y="1442088"/>
            <a:chExt cx="457200" cy="457200"/>
          </a:xfrm>
        </p:grpSpPr>
        <p:pic>
          <p:nvPicPr>
            <p:cNvPr id="1996" name="Google Shape;1996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7" name="Google Shape;1997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98" name="Google Shape;1998;p157"/>
          <p:cNvGrpSpPr/>
          <p:nvPr/>
        </p:nvGrpSpPr>
        <p:grpSpPr>
          <a:xfrm>
            <a:off x="8404721" y="3567300"/>
            <a:ext cx="276240" cy="341620"/>
            <a:chOff x="1020916" y="1442088"/>
            <a:chExt cx="457200" cy="457200"/>
          </a:xfrm>
        </p:grpSpPr>
        <p:pic>
          <p:nvPicPr>
            <p:cNvPr id="1999" name="Google Shape;1999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0" name="Google Shape;2000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01" name="Google Shape;2001;p157"/>
          <p:cNvSpPr txBox="1"/>
          <p:nvPr/>
        </p:nvSpPr>
        <p:spPr>
          <a:xfrm>
            <a:off x="304800" y="2362200"/>
            <a:ext cx="45240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Both coordinates a) and b) satisfied the equation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but b) was the only one of those two to be in the region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3 −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158"/>
          <p:cNvSpPr txBox="1"/>
          <p:nvPr>
            <p:ph idx="1" type="body"/>
          </p:nvPr>
        </p:nvSpPr>
        <p:spPr>
          <a:xfrm>
            <a:off x="324000" y="759300"/>
            <a:ext cx="44085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Here is the graph of</a:t>
            </a:r>
            <a:r>
              <a:rPr lang="en-GB" sz="2000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</p:txBody>
      </p:sp>
      <p:sp>
        <p:nvSpPr>
          <p:cNvPr id="2007" name="Google Shape;2007;p15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Regions of a graph</a:t>
            </a:r>
            <a:endParaRPr/>
          </a:p>
        </p:txBody>
      </p:sp>
      <p:pic>
        <p:nvPicPr>
          <p:cNvPr id="2008" name="Google Shape;2008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1073720"/>
            <a:ext cx="2633624" cy="36470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9" name="Google Shape;2009;p158"/>
          <p:cNvSpPr txBox="1"/>
          <p:nvPr/>
        </p:nvSpPr>
        <p:spPr>
          <a:xfrm>
            <a:off x="8236678" y="31203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0" name="Google Shape;2010;p158"/>
          <p:cNvSpPr txBox="1"/>
          <p:nvPr/>
        </p:nvSpPr>
        <p:spPr>
          <a:xfrm>
            <a:off x="6588320" y="795622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1" name="Google Shape;2011;p158"/>
          <p:cNvSpPr txBox="1"/>
          <p:nvPr>
            <p:ph idx="1" type="body"/>
          </p:nvPr>
        </p:nvSpPr>
        <p:spPr>
          <a:xfrm>
            <a:off x="324000" y="1220850"/>
            <a:ext cx="4117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r>
              <a:rPr lang="en-GB" sz="1800"/>
              <a:t>) </a:t>
            </a:r>
            <a:r>
              <a:rPr lang="en-GB" sz="1800"/>
              <a:t>Mark and label three points where</a:t>
            </a:r>
            <a:r>
              <a:rPr lang="en-GB" sz="1800"/>
              <a:t>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2012" name="Google Shape;2012;p158"/>
          <p:cNvSpPr txBox="1"/>
          <p:nvPr>
            <p:ph idx="1" type="body"/>
          </p:nvPr>
        </p:nvSpPr>
        <p:spPr>
          <a:xfrm>
            <a:off x="324000" y="2440050"/>
            <a:ext cx="41391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</a:t>
            </a:r>
            <a:r>
              <a:rPr lang="en-GB" sz="1800"/>
              <a:t>Mark and label three points where</a:t>
            </a:r>
            <a:r>
              <a:rPr lang="en-GB" sz="1800"/>
              <a:t>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2013" name="Google Shape;2013;p158"/>
          <p:cNvSpPr txBox="1"/>
          <p:nvPr>
            <p:ph idx="1" type="body"/>
          </p:nvPr>
        </p:nvSpPr>
        <p:spPr>
          <a:xfrm>
            <a:off x="324000" y="3583050"/>
            <a:ext cx="41391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</a:t>
            </a:r>
            <a:r>
              <a:rPr lang="en-GB" sz="1800"/>
              <a:t>Mark and label three points where</a:t>
            </a:r>
            <a:r>
              <a:rPr lang="en-GB" sz="1800"/>
              <a:t>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159"/>
          <p:cNvSpPr txBox="1"/>
          <p:nvPr>
            <p:ph idx="1" type="body"/>
          </p:nvPr>
        </p:nvSpPr>
        <p:spPr>
          <a:xfrm>
            <a:off x="324000" y="759300"/>
            <a:ext cx="44085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sz="2000"/>
              <a:t>) The lines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2000"/>
          </a:p>
        </p:txBody>
      </p:sp>
      <p:sp>
        <p:nvSpPr>
          <p:cNvPr id="2019" name="Google Shape;2019;p1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Regions of a graph</a:t>
            </a:r>
            <a:endParaRPr/>
          </a:p>
        </p:txBody>
      </p:sp>
      <p:sp>
        <p:nvSpPr>
          <p:cNvPr id="2020" name="Google Shape;2020;p159"/>
          <p:cNvSpPr txBox="1"/>
          <p:nvPr/>
        </p:nvSpPr>
        <p:spPr>
          <a:xfrm>
            <a:off x="8529971" y="2640180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1" name="Google Shape;2021;p159"/>
          <p:cNvSpPr txBox="1"/>
          <p:nvPr/>
        </p:nvSpPr>
        <p:spPr>
          <a:xfrm>
            <a:off x="6096600" y="860315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2" name="Google Shape;2022;p159"/>
          <p:cNvSpPr txBox="1"/>
          <p:nvPr>
            <p:ph idx="1" type="body"/>
          </p:nvPr>
        </p:nvSpPr>
        <p:spPr>
          <a:xfrm>
            <a:off x="324000" y="1297050"/>
            <a:ext cx="42090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Mark and label three points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/>
              <a:t>and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&gt;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600"/>
          </a:p>
        </p:txBody>
      </p:sp>
      <p:pic>
        <p:nvPicPr>
          <p:cNvPr id="2023" name="Google Shape;2023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5534" y="1200305"/>
            <a:ext cx="2861244" cy="3235902"/>
          </a:xfrm>
          <a:prstGeom prst="rect">
            <a:avLst/>
          </a:prstGeom>
          <a:noFill/>
          <a:ln>
            <a:noFill/>
          </a:ln>
        </p:spPr>
      </p:pic>
      <p:sp>
        <p:nvSpPr>
          <p:cNvPr id="2024" name="Google Shape;2024;p159"/>
          <p:cNvSpPr txBox="1"/>
          <p:nvPr>
            <p:ph idx="1" type="body"/>
          </p:nvPr>
        </p:nvSpPr>
        <p:spPr>
          <a:xfrm>
            <a:off x="324000" y="2516250"/>
            <a:ext cx="42090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</a:t>
            </a:r>
            <a:r>
              <a:rPr lang="en-GB" sz="1800"/>
              <a:t>Mark and label three points where</a:t>
            </a:r>
            <a:r>
              <a:rPr lang="en-GB" sz="1800"/>
              <a:t>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&lt;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/>
              <a:t>and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600"/>
          </a:p>
        </p:txBody>
      </p:sp>
      <p:sp>
        <p:nvSpPr>
          <p:cNvPr id="2025" name="Google Shape;2025;p159"/>
          <p:cNvSpPr txBox="1"/>
          <p:nvPr>
            <p:ph idx="1" type="body"/>
          </p:nvPr>
        </p:nvSpPr>
        <p:spPr>
          <a:xfrm>
            <a:off x="324000" y="3735450"/>
            <a:ext cx="43383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</a:t>
            </a:r>
            <a:r>
              <a:rPr lang="en-GB" sz="1800"/>
              <a:t>Mark and label the one point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/>
              <a:t>and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6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p1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Regions of a graph</a:t>
            </a:r>
            <a:endParaRPr/>
          </a:p>
        </p:txBody>
      </p:sp>
      <p:pic>
        <p:nvPicPr>
          <p:cNvPr id="2031" name="Google Shape;2031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1073720"/>
            <a:ext cx="2633624" cy="3647099"/>
          </a:xfrm>
          <a:prstGeom prst="rect">
            <a:avLst/>
          </a:prstGeom>
          <a:noFill/>
          <a:ln>
            <a:noFill/>
          </a:ln>
        </p:spPr>
      </p:pic>
      <p:sp>
        <p:nvSpPr>
          <p:cNvPr id="2032" name="Google Shape;2032;p160"/>
          <p:cNvSpPr txBox="1"/>
          <p:nvPr/>
        </p:nvSpPr>
        <p:spPr>
          <a:xfrm>
            <a:off x="8236678" y="31203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3" name="Google Shape;2033;p160"/>
          <p:cNvSpPr txBox="1"/>
          <p:nvPr/>
        </p:nvSpPr>
        <p:spPr>
          <a:xfrm>
            <a:off x="6588320" y="795622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4" name="Google Shape;2034;p160"/>
          <p:cNvSpPr txBox="1"/>
          <p:nvPr>
            <p:ph idx="1" type="body"/>
          </p:nvPr>
        </p:nvSpPr>
        <p:spPr>
          <a:xfrm>
            <a:off x="324000" y="759300"/>
            <a:ext cx="44085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Here is the graph of</a:t>
            </a:r>
            <a:r>
              <a:rPr lang="en-GB" sz="2000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</p:txBody>
      </p:sp>
      <p:sp>
        <p:nvSpPr>
          <p:cNvPr id="2035" name="Google Shape;2035;p160"/>
          <p:cNvSpPr txBox="1"/>
          <p:nvPr>
            <p:ph idx="1" type="body"/>
          </p:nvPr>
        </p:nvSpPr>
        <p:spPr>
          <a:xfrm>
            <a:off x="324000" y="1220850"/>
            <a:ext cx="4117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Mark and label three points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2036" name="Google Shape;2036;p160"/>
          <p:cNvSpPr txBox="1"/>
          <p:nvPr>
            <p:ph idx="1" type="body"/>
          </p:nvPr>
        </p:nvSpPr>
        <p:spPr>
          <a:xfrm>
            <a:off x="324000" y="2440050"/>
            <a:ext cx="41391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Mark and label three points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&lt;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2037" name="Google Shape;2037;p160"/>
          <p:cNvSpPr txBox="1"/>
          <p:nvPr>
            <p:ph idx="1" type="body"/>
          </p:nvPr>
        </p:nvSpPr>
        <p:spPr>
          <a:xfrm>
            <a:off x="324000" y="3583050"/>
            <a:ext cx="41391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Mark and label three points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&gt;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1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Regions of a graph</a:t>
            </a:r>
            <a:endParaRPr/>
          </a:p>
        </p:txBody>
      </p:sp>
      <p:pic>
        <p:nvPicPr>
          <p:cNvPr id="2043" name="Google Shape;2043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1073720"/>
            <a:ext cx="2633624" cy="36470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4" name="Google Shape;2044;p161"/>
          <p:cNvSpPr txBox="1"/>
          <p:nvPr/>
        </p:nvSpPr>
        <p:spPr>
          <a:xfrm>
            <a:off x="8236678" y="31203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5" name="Google Shape;2045;p161"/>
          <p:cNvSpPr txBox="1"/>
          <p:nvPr/>
        </p:nvSpPr>
        <p:spPr>
          <a:xfrm>
            <a:off x="6588320" y="795622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6" name="Google Shape;2046;p161"/>
          <p:cNvSpPr txBox="1"/>
          <p:nvPr/>
        </p:nvSpPr>
        <p:spPr>
          <a:xfrm>
            <a:off x="6512534" y="1459132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7" name="Google Shape;2047;p161"/>
          <p:cNvSpPr txBox="1"/>
          <p:nvPr/>
        </p:nvSpPr>
        <p:spPr>
          <a:xfrm>
            <a:off x="6988400" y="268983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8" name="Google Shape;2048;p161"/>
          <p:cNvSpPr txBox="1"/>
          <p:nvPr/>
        </p:nvSpPr>
        <p:spPr>
          <a:xfrm>
            <a:off x="7270187" y="345899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9" name="Google Shape;2049;p161"/>
          <p:cNvSpPr txBox="1"/>
          <p:nvPr/>
        </p:nvSpPr>
        <p:spPr>
          <a:xfrm>
            <a:off x="324000" y="2132200"/>
            <a:ext cx="44085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three coordinates all satisfy the equation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were not limited to integer value coordinates. Any three coordinates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on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this line is fine.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0" name="Google Shape;2050;p161"/>
          <p:cNvSpPr txBox="1"/>
          <p:nvPr>
            <p:ph idx="1" type="body"/>
          </p:nvPr>
        </p:nvSpPr>
        <p:spPr>
          <a:xfrm>
            <a:off x="324000" y="759300"/>
            <a:ext cx="44085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Here is the graph of</a:t>
            </a:r>
            <a:r>
              <a:rPr lang="en-GB" sz="2000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</p:txBody>
      </p:sp>
      <p:sp>
        <p:nvSpPr>
          <p:cNvPr id="2051" name="Google Shape;2051;p161"/>
          <p:cNvSpPr txBox="1"/>
          <p:nvPr>
            <p:ph idx="1" type="body"/>
          </p:nvPr>
        </p:nvSpPr>
        <p:spPr>
          <a:xfrm>
            <a:off x="324000" y="1220850"/>
            <a:ext cx="4117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Mark and label three points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2052" name="Google Shape;2052;p161"/>
          <p:cNvSpPr txBox="1"/>
          <p:nvPr/>
        </p:nvSpPr>
        <p:spPr>
          <a:xfrm>
            <a:off x="6774925" y="1352000"/>
            <a:ext cx="5955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(0, 4)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3" name="Google Shape;2053;p161"/>
          <p:cNvSpPr txBox="1"/>
          <p:nvPr/>
        </p:nvSpPr>
        <p:spPr>
          <a:xfrm>
            <a:off x="7242800" y="2466100"/>
            <a:ext cx="5955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(1, 1)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4" name="Google Shape;2054;p161"/>
          <p:cNvSpPr txBox="1"/>
          <p:nvPr/>
        </p:nvSpPr>
        <p:spPr>
          <a:xfrm>
            <a:off x="7600725" y="3558000"/>
            <a:ext cx="11118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(1.6,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0.8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162"/>
          <p:cNvSpPr txBox="1"/>
          <p:nvPr>
            <p:ph idx="1" type="body"/>
          </p:nvPr>
        </p:nvSpPr>
        <p:spPr>
          <a:xfrm>
            <a:off x="324000" y="759300"/>
            <a:ext cx="46269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Here is the graph of</a:t>
            </a:r>
            <a:r>
              <a:rPr lang="en-GB" sz="2000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</p:txBody>
      </p:sp>
      <p:sp>
        <p:nvSpPr>
          <p:cNvPr id="2060" name="Google Shape;2060;p1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Regions of a graph</a:t>
            </a:r>
            <a:endParaRPr/>
          </a:p>
        </p:txBody>
      </p:sp>
      <p:pic>
        <p:nvPicPr>
          <p:cNvPr id="2061" name="Google Shape;2061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1073720"/>
            <a:ext cx="2633624" cy="3647099"/>
          </a:xfrm>
          <a:prstGeom prst="rect">
            <a:avLst/>
          </a:prstGeom>
          <a:noFill/>
          <a:ln>
            <a:noFill/>
          </a:ln>
        </p:spPr>
      </p:pic>
      <p:sp>
        <p:nvSpPr>
          <p:cNvPr id="2062" name="Google Shape;2062;p162"/>
          <p:cNvSpPr txBox="1"/>
          <p:nvPr/>
        </p:nvSpPr>
        <p:spPr>
          <a:xfrm>
            <a:off x="8236678" y="31203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3" name="Google Shape;2063;p162"/>
          <p:cNvSpPr txBox="1"/>
          <p:nvPr/>
        </p:nvSpPr>
        <p:spPr>
          <a:xfrm>
            <a:off x="6588320" y="795622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4" name="Google Shape;2064;p162"/>
          <p:cNvSpPr txBox="1"/>
          <p:nvPr/>
        </p:nvSpPr>
        <p:spPr>
          <a:xfrm>
            <a:off x="5609641" y="1459132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5" name="Google Shape;2065;p162"/>
          <p:cNvSpPr txBox="1"/>
          <p:nvPr/>
        </p:nvSpPr>
        <p:spPr>
          <a:xfrm>
            <a:off x="6085507" y="39622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6" name="Google Shape;2066;p162"/>
          <p:cNvSpPr txBox="1"/>
          <p:nvPr/>
        </p:nvSpPr>
        <p:spPr>
          <a:xfrm>
            <a:off x="6812987" y="368759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7" name="Google Shape;2067;p162"/>
          <p:cNvSpPr txBox="1"/>
          <p:nvPr/>
        </p:nvSpPr>
        <p:spPr>
          <a:xfrm>
            <a:off x="324000" y="2437000"/>
            <a:ext cx="44085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three coordinates all in the region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4 − 3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were not limited to integer value coordinates. Any three coordinates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i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the region is fine.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8" name="Google Shape;2068;p162"/>
          <p:cNvSpPr txBox="1"/>
          <p:nvPr>
            <p:ph idx="1" type="body"/>
          </p:nvPr>
        </p:nvSpPr>
        <p:spPr>
          <a:xfrm>
            <a:off x="324000" y="1525650"/>
            <a:ext cx="42090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Mark and label three points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&lt;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endParaRPr sz="1600"/>
          </a:p>
        </p:txBody>
      </p:sp>
      <p:sp>
        <p:nvSpPr>
          <p:cNvPr id="2069" name="Google Shape;2069;p162"/>
          <p:cNvSpPr txBox="1"/>
          <p:nvPr/>
        </p:nvSpPr>
        <p:spPr>
          <a:xfrm>
            <a:off x="5774400" y="1201050"/>
            <a:ext cx="8067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4)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0" name="Google Shape;2070;p162"/>
          <p:cNvSpPr txBox="1"/>
          <p:nvPr/>
        </p:nvSpPr>
        <p:spPr>
          <a:xfrm>
            <a:off x="5152475" y="3780000"/>
            <a:ext cx="8820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1" name="Google Shape;2071;p162"/>
          <p:cNvSpPr txBox="1"/>
          <p:nvPr/>
        </p:nvSpPr>
        <p:spPr>
          <a:xfrm>
            <a:off x="6938250" y="4026725"/>
            <a:ext cx="11118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(0.6,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.3)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163"/>
          <p:cNvSpPr txBox="1"/>
          <p:nvPr>
            <p:ph idx="1" type="body"/>
          </p:nvPr>
        </p:nvSpPr>
        <p:spPr>
          <a:xfrm>
            <a:off x="324000" y="759300"/>
            <a:ext cx="46269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Here is the graph of</a:t>
            </a:r>
            <a:r>
              <a:rPr lang="en-GB" sz="2000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</p:txBody>
      </p:sp>
      <p:sp>
        <p:nvSpPr>
          <p:cNvPr id="2077" name="Google Shape;2077;p1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Regions of a graph</a:t>
            </a:r>
            <a:endParaRPr/>
          </a:p>
        </p:txBody>
      </p:sp>
      <p:pic>
        <p:nvPicPr>
          <p:cNvPr id="2078" name="Google Shape;2078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1073720"/>
            <a:ext cx="2633624" cy="3647099"/>
          </a:xfrm>
          <a:prstGeom prst="rect">
            <a:avLst/>
          </a:prstGeom>
          <a:noFill/>
          <a:ln>
            <a:noFill/>
          </a:ln>
        </p:spPr>
      </p:pic>
      <p:sp>
        <p:nvSpPr>
          <p:cNvPr id="2079" name="Google Shape;2079;p163"/>
          <p:cNvSpPr txBox="1"/>
          <p:nvPr/>
        </p:nvSpPr>
        <p:spPr>
          <a:xfrm>
            <a:off x="8236678" y="31203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0" name="Google Shape;2080;p163"/>
          <p:cNvSpPr txBox="1"/>
          <p:nvPr/>
        </p:nvSpPr>
        <p:spPr>
          <a:xfrm>
            <a:off x="6588320" y="795622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1" name="Google Shape;2081;p163"/>
          <p:cNvSpPr txBox="1"/>
          <p:nvPr/>
        </p:nvSpPr>
        <p:spPr>
          <a:xfrm>
            <a:off x="6981241" y="1043612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2" name="Google Shape;2082;p163"/>
          <p:cNvSpPr txBox="1"/>
          <p:nvPr/>
        </p:nvSpPr>
        <p:spPr>
          <a:xfrm>
            <a:off x="7685707" y="376379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3" name="Google Shape;2083;p163"/>
          <p:cNvSpPr txBox="1"/>
          <p:nvPr/>
        </p:nvSpPr>
        <p:spPr>
          <a:xfrm>
            <a:off x="7914307" y="313118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4" name="Google Shape;2084;p163"/>
          <p:cNvSpPr txBox="1"/>
          <p:nvPr/>
        </p:nvSpPr>
        <p:spPr>
          <a:xfrm>
            <a:off x="324000" y="2970400"/>
            <a:ext cx="44085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three coordinates all in the region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4 − 3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were not limited to integer value coordinates. Any three coordinates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in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the region is fine.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5" name="Google Shape;2085;p163"/>
          <p:cNvSpPr txBox="1"/>
          <p:nvPr>
            <p:ph idx="1" type="body"/>
          </p:nvPr>
        </p:nvSpPr>
        <p:spPr>
          <a:xfrm>
            <a:off x="324000" y="1982850"/>
            <a:ext cx="41391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Mark and label three points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&gt;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2086" name="Google Shape;2086;p163"/>
          <p:cNvSpPr txBox="1"/>
          <p:nvPr/>
        </p:nvSpPr>
        <p:spPr>
          <a:xfrm>
            <a:off x="7266275" y="810000"/>
            <a:ext cx="8067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7" name="Google Shape;2087;p163"/>
          <p:cNvSpPr txBox="1"/>
          <p:nvPr/>
        </p:nvSpPr>
        <p:spPr>
          <a:xfrm>
            <a:off x="7521900" y="4078325"/>
            <a:ext cx="12981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2.5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1.5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8" name="Google Shape;2088;p163"/>
          <p:cNvSpPr txBox="1"/>
          <p:nvPr/>
        </p:nvSpPr>
        <p:spPr>
          <a:xfrm>
            <a:off x="8027775" y="2806575"/>
            <a:ext cx="6483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p164"/>
          <p:cNvSpPr txBox="1"/>
          <p:nvPr>
            <p:ph idx="1" type="body"/>
          </p:nvPr>
        </p:nvSpPr>
        <p:spPr>
          <a:xfrm>
            <a:off x="324000" y="759300"/>
            <a:ext cx="43968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The lines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2000"/>
          </a:p>
        </p:txBody>
      </p:sp>
      <p:sp>
        <p:nvSpPr>
          <p:cNvPr id="2094" name="Google Shape;2094;p1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Regions of a graph</a:t>
            </a:r>
            <a:endParaRPr/>
          </a:p>
        </p:txBody>
      </p:sp>
      <p:sp>
        <p:nvSpPr>
          <p:cNvPr id="2095" name="Google Shape;2095;p164"/>
          <p:cNvSpPr txBox="1"/>
          <p:nvPr/>
        </p:nvSpPr>
        <p:spPr>
          <a:xfrm>
            <a:off x="8529971" y="2640180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6" name="Google Shape;2096;p164"/>
          <p:cNvSpPr txBox="1"/>
          <p:nvPr/>
        </p:nvSpPr>
        <p:spPr>
          <a:xfrm>
            <a:off x="6096600" y="860315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" name="Google Shape;2097;p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5534" y="1200305"/>
            <a:ext cx="2861244" cy="3235902"/>
          </a:xfrm>
          <a:prstGeom prst="rect">
            <a:avLst/>
          </a:prstGeom>
          <a:noFill/>
          <a:ln>
            <a:noFill/>
          </a:ln>
        </p:spPr>
      </p:pic>
      <p:sp>
        <p:nvSpPr>
          <p:cNvPr id="2098" name="Google Shape;2098;p164"/>
          <p:cNvSpPr txBox="1"/>
          <p:nvPr>
            <p:ph idx="1" type="body"/>
          </p:nvPr>
        </p:nvSpPr>
        <p:spPr>
          <a:xfrm>
            <a:off x="324000" y="1297050"/>
            <a:ext cx="42090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Mark and label three points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/>
              <a:t>and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&gt;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600"/>
          </a:p>
        </p:txBody>
      </p:sp>
      <p:sp>
        <p:nvSpPr>
          <p:cNvPr id="2099" name="Google Shape;2099;p164"/>
          <p:cNvSpPr txBox="1"/>
          <p:nvPr>
            <p:ph idx="1" type="body"/>
          </p:nvPr>
        </p:nvSpPr>
        <p:spPr>
          <a:xfrm>
            <a:off x="324000" y="2516250"/>
            <a:ext cx="42090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Mark and label three points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&lt;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/>
              <a:t>and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600"/>
          </a:p>
        </p:txBody>
      </p:sp>
      <p:sp>
        <p:nvSpPr>
          <p:cNvPr id="2100" name="Google Shape;2100;p164"/>
          <p:cNvSpPr txBox="1"/>
          <p:nvPr>
            <p:ph idx="1" type="body"/>
          </p:nvPr>
        </p:nvSpPr>
        <p:spPr>
          <a:xfrm>
            <a:off x="324000" y="3735450"/>
            <a:ext cx="4354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Mark and label the one point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/>
              <a:t>and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165"/>
          <p:cNvSpPr txBox="1"/>
          <p:nvPr>
            <p:ph idx="1" type="body"/>
          </p:nvPr>
        </p:nvSpPr>
        <p:spPr>
          <a:xfrm>
            <a:off x="324000" y="759300"/>
            <a:ext cx="43968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The lines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2000"/>
          </a:p>
        </p:txBody>
      </p:sp>
      <p:sp>
        <p:nvSpPr>
          <p:cNvPr id="2106" name="Google Shape;2106;p1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Regions of a graph</a:t>
            </a:r>
            <a:endParaRPr/>
          </a:p>
        </p:txBody>
      </p:sp>
      <p:sp>
        <p:nvSpPr>
          <p:cNvPr id="2107" name="Google Shape;2107;p165"/>
          <p:cNvSpPr txBox="1"/>
          <p:nvPr/>
        </p:nvSpPr>
        <p:spPr>
          <a:xfrm>
            <a:off x="8529971" y="2640180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8" name="Google Shape;2108;p165"/>
          <p:cNvSpPr txBox="1"/>
          <p:nvPr/>
        </p:nvSpPr>
        <p:spPr>
          <a:xfrm>
            <a:off x="6096600" y="860315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9" name="Google Shape;2109;p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5534" y="1200305"/>
            <a:ext cx="2861244" cy="3235902"/>
          </a:xfrm>
          <a:prstGeom prst="rect">
            <a:avLst/>
          </a:prstGeom>
          <a:noFill/>
          <a:ln>
            <a:noFill/>
          </a:ln>
        </p:spPr>
      </p:pic>
      <p:sp>
        <p:nvSpPr>
          <p:cNvPr id="2110" name="Google Shape;2110;p165"/>
          <p:cNvSpPr txBox="1"/>
          <p:nvPr/>
        </p:nvSpPr>
        <p:spPr>
          <a:xfrm>
            <a:off x="6547054" y="2262812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1" name="Google Shape;2111;p165"/>
          <p:cNvSpPr txBox="1"/>
          <p:nvPr/>
        </p:nvSpPr>
        <p:spPr>
          <a:xfrm>
            <a:off x="6131534" y="1177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2" name="Google Shape;2112;p165"/>
          <p:cNvSpPr txBox="1"/>
          <p:nvPr/>
        </p:nvSpPr>
        <p:spPr>
          <a:xfrm>
            <a:off x="6725280" y="278470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3" name="Google Shape;2113;p165"/>
          <p:cNvSpPr txBox="1"/>
          <p:nvPr/>
        </p:nvSpPr>
        <p:spPr>
          <a:xfrm>
            <a:off x="324000" y="2208400"/>
            <a:ext cx="44085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three coordinates all satisfy the equation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and the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-coordinates are all greater than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were not limited to integer value coordinates. Any three coordinates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on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this line in this region are fine.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4" name="Google Shape;2114;p165"/>
          <p:cNvSpPr txBox="1"/>
          <p:nvPr>
            <p:ph idx="1" type="body"/>
          </p:nvPr>
        </p:nvSpPr>
        <p:spPr>
          <a:xfrm>
            <a:off x="324000" y="1297050"/>
            <a:ext cx="42090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Mark and label three points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/>
              <a:t>and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&gt;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600"/>
          </a:p>
        </p:txBody>
      </p:sp>
      <p:sp>
        <p:nvSpPr>
          <p:cNvPr id="2115" name="Google Shape;2115;p165"/>
          <p:cNvSpPr txBox="1"/>
          <p:nvPr/>
        </p:nvSpPr>
        <p:spPr>
          <a:xfrm>
            <a:off x="6385925" y="1012675"/>
            <a:ext cx="5955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(0, 4)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6" name="Google Shape;2116;p165"/>
          <p:cNvSpPr txBox="1"/>
          <p:nvPr/>
        </p:nvSpPr>
        <p:spPr>
          <a:xfrm>
            <a:off x="6853800" y="2126775"/>
            <a:ext cx="5955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(1, 1)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7" name="Google Shape;2117;p165"/>
          <p:cNvSpPr txBox="1"/>
          <p:nvPr/>
        </p:nvSpPr>
        <p:spPr>
          <a:xfrm>
            <a:off x="5700900" y="3121725"/>
            <a:ext cx="11118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(1.5,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166"/>
          <p:cNvSpPr txBox="1"/>
          <p:nvPr>
            <p:ph idx="1" type="body"/>
          </p:nvPr>
        </p:nvSpPr>
        <p:spPr>
          <a:xfrm>
            <a:off x="324000" y="759300"/>
            <a:ext cx="43968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The lines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2000"/>
          </a:p>
        </p:txBody>
      </p:sp>
      <p:sp>
        <p:nvSpPr>
          <p:cNvPr id="2123" name="Google Shape;2123;p1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Regions of a graph</a:t>
            </a:r>
            <a:endParaRPr/>
          </a:p>
        </p:txBody>
      </p:sp>
      <p:sp>
        <p:nvSpPr>
          <p:cNvPr id="2124" name="Google Shape;2124;p166"/>
          <p:cNvSpPr txBox="1"/>
          <p:nvPr/>
        </p:nvSpPr>
        <p:spPr>
          <a:xfrm>
            <a:off x="8529971" y="2640180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5" name="Google Shape;2125;p166"/>
          <p:cNvSpPr txBox="1"/>
          <p:nvPr/>
        </p:nvSpPr>
        <p:spPr>
          <a:xfrm>
            <a:off x="6096600" y="860315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26" name="Google Shape;2126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5534" y="1200305"/>
            <a:ext cx="2861244" cy="3235902"/>
          </a:xfrm>
          <a:prstGeom prst="rect">
            <a:avLst/>
          </a:prstGeom>
          <a:noFill/>
          <a:ln>
            <a:noFill/>
          </a:ln>
        </p:spPr>
      </p:pic>
      <p:sp>
        <p:nvSpPr>
          <p:cNvPr id="2127" name="Google Shape;2127;p166"/>
          <p:cNvSpPr txBox="1"/>
          <p:nvPr/>
        </p:nvSpPr>
        <p:spPr>
          <a:xfrm>
            <a:off x="6124374" y="408726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8" name="Google Shape;2128;p166"/>
          <p:cNvSpPr txBox="1"/>
          <p:nvPr/>
        </p:nvSpPr>
        <p:spPr>
          <a:xfrm>
            <a:off x="6752641" y="3523691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9" name="Google Shape;2129;p166"/>
          <p:cNvSpPr txBox="1"/>
          <p:nvPr/>
        </p:nvSpPr>
        <p:spPr>
          <a:xfrm>
            <a:off x="6531200" y="372927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0" name="Google Shape;2130;p166"/>
          <p:cNvSpPr txBox="1"/>
          <p:nvPr/>
        </p:nvSpPr>
        <p:spPr>
          <a:xfrm>
            <a:off x="324000" y="2208400"/>
            <a:ext cx="44085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three coordinates all satisfy the equation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and the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-coordinates are all less than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4 − 3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were not limited to integer value coordinates. Any three coordinates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on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this line in this region are fine.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1" name="Google Shape;2131;p166"/>
          <p:cNvSpPr txBox="1"/>
          <p:nvPr>
            <p:ph idx="1" type="body"/>
          </p:nvPr>
        </p:nvSpPr>
        <p:spPr>
          <a:xfrm>
            <a:off x="324000" y="1396263"/>
            <a:ext cx="37296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Mark three coordinates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&lt;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/>
              <a:t>and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600"/>
          </a:p>
        </p:txBody>
      </p:sp>
      <p:sp>
        <p:nvSpPr>
          <p:cNvPr id="2132" name="Google Shape;2132;p166"/>
          <p:cNvSpPr txBox="1"/>
          <p:nvPr/>
        </p:nvSpPr>
        <p:spPr>
          <a:xfrm>
            <a:off x="5707225" y="3233800"/>
            <a:ext cx="11634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1.5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2.5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3" name="Google Shape;2133;p166"/>
          <p:cNvSpPr txBox="1"/>
          <p:nvPr/>
        </p:nvSpPr>
        <p:spPr>
          <a:xfrm>
            <a:off x="6378775" y="4351325"/>
            <a:ext cx="8820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4" name="Google Shape;2134;p166"/>
          <p:cNvSpPr txBox="1"/>
          <p:nvPr/>
        </p:nvSpPr>
        <p:spPr>
          <a:xfrm>
            <a:off x="6809000" y="3940550"/>
            <a:ext cx="11118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167"/>
          <p:cNvSpPr txBox="1"/>
          <p:nvPr>
            <p:ph idx="1" type="body"/>
          </p:nvPr>
        </p:nvSpPr>
        <p:spPr>
          <a:xfrm>
            <a:off x="324000" y="759300"/>
            <a:ext cx="43968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The lines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2000"/>
          </a:p>
        </p:txBody>
      </p:sp>
      <p:sp>
        <p:nvSpPr>
          <p:cNvPr id="2140" name="Google Shape;2140;p16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Regions of a graph</a:t>
            </a:r>
            <a:endParaRPr/>
          </a:p>
        </p:txBody>
      </p:sp>
      <p:sp>
        <p:nvSpPr>
          <p:cNvPr id="2141" name="Google Shape;2141;p167"/>
          <p:cNvSpPr txBox="1"/>
          <p:nvPr/>
        </p:nvSpPr>
        <p:spPr>
          <a:xfrm>
            <a:off x="8529971" y="2640180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2" name="Google Shape;2142;p167"/>
          <p:cNvSpPr txBox="1"/>
          <p:nvPr/>
        </p:nvSpPr>
        <p:spPr>
          <a:xfrm>
            <a:off x="6096600" y="860315"/>
            <a:ext cx="18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43" name="Google Shape;2143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5534" y="1200305"/>
            <a:ext cx="2861244" cy="3235902"/>
          </a:xfrm>
          <a:prstGeom prst="rect">
            <a:avLst/>
          </a:prstGeom>
          <a:noFill/>
          <a:ln>
            <a:noFill/>
          </a:ln>
        </p:spPr>
      </p:pic>
      <p:sp>
        <p:nvSpPr>
          <p:cNvPr id="2144" name="Google Shape;2144;p167"/>
          <p:cNvSpPr txBox="1"/>
          <p:nvPr>
            <p:ph idx="1" type="body"/>
          </p:nvPr>
        </p:nvSpPr>
        <p:spPr>
          <a:xfrm>
            <a:off x="324000" y="3735450"/>
            <a:ext cx="42480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</a:t>
            </a:r>
            <a:r>
              <a:rPr lang="en-GB" sz="1800"/>
              <a:t>Mark and label the one point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/>
              <a:t>and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600"/>
          </a:p>
        </p:txBody>
      </p:sp>
      <p:sp>
        <p:nvSpPr>
          <p:cNvPr id="2145" name="Google Shape;2145;p167"/>
          <p:cNvSpPr txBox="1"/>
          <p:nvPr/>
        </p:nvSpPr>
        <p:spPr>
          <a:xfrm>
            <a:off x="6939561" y="335978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6" name="Google Shape;2146;p167"/>
          <p:cNvSpPr txBox="1"/>
          <p:nvPr/>
        </p:nvSpPr>
        <p:spPr>
          <a:xfrm>
            <a:off x="324000" y="2437000"/>
            <a:ext cx="39960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is only one coordinate that satisfies these conditions, that of the intersection.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7" name="Google Shape;2147;p167"/>
          <p:cNvSpPr txBox="1"/>
          <p:nvPr/>
        </p:nvSpPr>
        <p:spPr>
          <a:xfrm>
            <a:off x="7258350" y="3462400"/>
            <a:ext cx="8133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p168"/>
          <p:cNvSpPr txBox="1"/>
          <p:nvPr>
            <p:ph idx="1" type="body"/>
          </p:nvPr>
        </p:nvSpPr>
        <p:spPr>
          <a:xfrm>
            <a:off x="324000" y="1232400"/>
            <a:ext cx="8113800" cy="18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There are infinite points on a graph that satisfy a given linear relationship however,</a:t>
            </a:r>
            <a:r>
              <a:rPr lang="en-GB"/>
              <a:t> the point of intersection of two linear graphs only has one coordinate that satisfies both relationships and hence represents the solution to both those equations.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 can use inequalities to describe regions of a graph that are created by one or more equations of lines. </a:t>
            </a:r>
            <a:endParaRPr/>
          </a:p>
        </p:txBody>
      </p:sp>
      <p:sp>
        <p:nvSpPr>
          <p:cNvPr id="2153" name="Google Shape;2153;p168"/>
          <p:cNvSpPr txBox="1"/>
          <p:nvPr>
            <p:ph type="title"/>
          </p:nvPr>
        </p:nvSpPr>
        <p:spPr>
          <a:xfrm>
            <a:off x="1684800" y="337118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Graphically solving two linear graphs that intersect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p16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59" name="Google Shape;2159;p1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