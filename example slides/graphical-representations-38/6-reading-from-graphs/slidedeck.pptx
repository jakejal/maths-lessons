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2687aba8fe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2687aba8fe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2bb2b74286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6" name="Google Shape;766;g2bb2b74286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2b7136de16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2" name="Google Shape;772;g2b7136de16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2b7136de160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2b7136de16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2b7136de160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6" name="Google Shape;796;g2b7136de160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2b7136de160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2b7136de160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g2b7136de160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9" name="Google Shape;829;g2b7136de160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2b7136de160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5" name="Google Shape;845;g2b7136de160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2b7136de160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2b7136de160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2b7136de160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9" name="Google Shape;879;g2b7136de160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2b7136de160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6" name="Google Shape;896;g2b7136de160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2b7136de160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2b7136de160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g2b7136de160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0" name="Google Shape;930;g2b7136de160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g2b7136de160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7" name="Google Shape;947;g2b7136de160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g2b7136de160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3" name="Google Shape;963;g2b7136de160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2b7136de160_0_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5" name="Google Shape;975;g2b7136de160_0_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g2b7136de160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8" name="Google Shape;998;g2b7136de160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g2b7136de160_0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9" name="Google Shape;1019;g2b7136de160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g2b7136de160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0" name="Google Shape;1040;g2b7136de160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g2b7136de160_0_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3" name="Google Shape;1063;g2b7136de160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g2b7136de160_0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0" name="Google Shape;1080;g2b7136de160_0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g2b7136de160_0_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8" name="Google Shape;1098;g2b7136de160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g2b7136de160_0_4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7" name="Google Shape;1117;g2b7136de160_0_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g2b7136de160_0_4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1" name="Google Shape;1141;g2b7136de160_0_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g2b7136de160_0_4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6" name="Google Shape;1166;g2b7136de160_0_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g2b7136de160_0_5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4" name="Google Shape;1174;g2b7136de160_0_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g2b7136de160_0_6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3" name="Google Shape;1193;g2b7136de160_0_6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g2b7136de160_0_6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5" name="Google Shape;1215;g2b7136de160_0_6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g2b7136de160_0_6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3" name="Google Shape;1233;g2b7136de160_0_6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g2b7136de160_0_7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9" name="Google Shape;1249;g2b7136de160_0_7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5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g2b7136de160_0_7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7" name="Google Shape;1277;g2b7136de160_0_7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3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g2b7136de160_0_8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5" name="Google Shape;1315;g2b7136de160_0_8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g2b7136de160_0_9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1" name="Google Shape;1341;g2b7136de160_0_9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g2b7136de160_0_9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2" name="Google Shape;1372;g2b7136de160_0_9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7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g2b7136de160_0_10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9" name="Google Shape;1389;g2b7136de160_0_10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7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g2b7136de160_0_9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9" name="Google Shape;1409;g2b7136de160_0_9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2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Google Shape;1433;g2b7136de160_0_10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4" name="Google Shape;1434;g2b7136de160_0_10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g2b7136de160_0_10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8" name="Google Shape;1458;g2b7136de160_0_10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0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g2b7136de160_0_10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2" name="Google Shape;1482;g2b7136de160_0_10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5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g2b7136de160_0_1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7" name="Google Shape;1507;g2b7136de160_0_1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5" name="Shape 1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Google Shape;1536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7" name="Google Shape;1537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Google Shape;1542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3" name="Google Shape;1543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image" Target="../media/image1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20.png"/><Relationship Id="rId4" Type="http://schemas.openxmlformats.org/officeDocument/2006/relationships/image" Target="../media/image8.png"/><Relationship Id="rId5" Type="http://schemas.openxmlformats.org/officeDocument/2006/relationships/image" Target="../media/image1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22.png"/><Relationship Id="rId7" Type="http://schemas.openxmlformats.org/officeDocument/2006/relationships/image" Target="../media/image2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image" Target="../media/image53.png"/><Relationship Id="rId6" Type="http://schemas.openxmlformats.org/officeDocument/2006/relationships/image" Target="../media/image27.png"/><Relationship Id="rId7" Type="http://schemas.openxmlformats.org/officeDocument/2006/relationships/image" Target="../media/image4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9.png"/><Relationship Id="rId4" Type="http://schemas.openxmlformats.org/officeDocument/2006/relationships/image" Target="../media/image16.png"/><Relationship Id="rId9" Type="http://schemas.openxmlformats.org/officeDocument/2006/relationships/image" Target="../media/image41.png"/><Relationship Id="rId5" Type="http://schemas.openxmlformats.org/officeDocument/2006/relationships/image" Target="../media/image31.png"/><Relationship Id="rId6" Type="http://schemas.openxmlformats.org/officeDocument/2006/relationships/image" Target="../media/image21.png"/><Relationship Id="rId7" Type="http://schemas.openxmlformats.org/officeDocument/2006/relationships/image" Target="../media/image53.png"/><Relationship Id="rId8" Type="http://schemas.openxmlformats.org/officeDocument/2006/relationships/image" Target="../media/image27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9.png"/><Relationship Id="rId4" Type="http://schemas.openxmlformats.org/officeDocument/2006/relationships/image" Target="../media/image25.png"/><Relationship Id="rId11" Type="http://schemas.openxmlformats.org/officeDocument/2006/relationships/image" Target="../media/image41.png"/><Relationship Id="rId10" Type="http://schemas.openxmlformats.org/officeDocument/2006/relationships/image" Target="../media/image40.png"/><Relationship Id="rId9" Type="http://schemas.openxmlformats.org/officeDocument/2006/relationships/image" Target="../media/image27.png"/><Relationship Id="rId5" Type="http://schemas.openxmlformats.org/officeDocument/2006/relationships/image" Target="../media/image16.png"/><Relationship Id="rId6" Type="http://schemas.openxmlformats.org/officeDocument/2006/relationships/image" Target="../media/image31.png"/><Relationship Id="rId7" Type="http://schemas.openxmlformats.org/officeDocument/2006/relationships/image" Target="../media/image21.png"/><Relationship Id="rId8" Type="http://schemas.openxmlformats.org/officeDocument/2006/relationships/image" Target="../media/image5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3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3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7.png"/><Relationship Id="rId3" Type="http://schemas.openxmlformats.org/officeDocument/2006/relationships/image" Target="../media/image42.png"/><Relationship Id="rId4" Type="http://schemas.openxmlformats.org/officeDocument/2006/relationships/image" Target="../media/image35.png"/><Relationship Id="rId5" Type="http://schemas.openxmlformats.org/officeDocument/2006/relationships/image" Target="../media/image4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35.png"/><Relationship Id="rId4" Type="http://schemas.openxmlformats.org/officeDocument/2006/relationships/image" Target="../media/image43.png"/><Relationship Id="rId5" Type="http://schemas.openxmlformats.org/officeDocument/2006/relationships/image" Target="../media/image67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35.png"/><Relationship Id="rId4" Type="http://schemas.openxmlformats.org/officeDocument/2006/relationships/image" Target="../media/image43.png"/><Relationship Id="rId5" Type="http://schemas.openxmlformats.org/officeDocument/2006/relationships/image" Target="../media/image67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43.png"/><Relationship Id="rId5" Type="http://schemas.openxmlformats.org/officeDocument/2006/relationships/image" Target="../media/image67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5.png"/><Relationship Id="rId4" Type="http://schemas.openxmlformats.org/officeDocument/2006/relationships/image" Target="../media/image4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35.png"/><Relationship Id="rId4" Type="http://schemas.openxmlformats.org/officeDocument/2006/relationships/image" Target="../media/image4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35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5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35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35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5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35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35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5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35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35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4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44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44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4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57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57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57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57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" name="Google Shape;99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0" name="Google Shape;100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1" name="Google Shape;101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4" name="Google Shape;104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6" name="Google Shape;106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" name="Google Shape;122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" name="Google Shape;148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17"/>
          <p:cNvCxnSpPr>
            <a:endCxn id="157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8" name="Google Shape;15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7" name="Google Shape;157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18"/>
          <p:cNvCxnSpPr>
            <a:endCxn id="172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2" name="Google Shape;17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5" name="Google Shape;175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7" name="Google Shape;177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2" name="Google Shape;192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6" name="Google Shape;196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99" name="Google Shape;199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9" name="Google Shape;20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5" name="Google Shape;215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7" name="Google Shape;21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2" name="Google Shape;222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4" name="Google Shape;22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9" name="Google Shape;22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1" name="Google Shape;23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7" name="Google Shape;237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39" name="Google Shape;239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0" name="Google Shape;240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2" name="Google Shape;242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3" name="Google Shape;243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0" name="Google Shape;250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2" name="Google Shape;252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3" name="Google Shape;253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5" name="Google Shape;255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6" name="Google Shape;256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0" name="Google Shape;260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3" name="Google Shape;263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5" name="Google Shape;265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6" name="Google Shape;266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" name="Google Shape;268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9" name="Google Shape;269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" name="Google Shape;276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8" name="Google Shape;278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9" name="Google Shape;279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1" name="Google Shape;281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2" name="Google Shape;282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3" name="Google Shape;293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5" name="Google Shape;295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8" name="Google Shape;29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1" name="Google Shape;301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2" name="Google Shape;302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4" name="Google Shape;304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5" name="Google Shape;305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" name="Google Shape;306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4" name="Google Shape;314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5" name="Google Shape;31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8" name="Google Shape;318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0" name="Google Shape;320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1" name="Google Shape;321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3" name="Google Shape;323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4" name="Google Shape;324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6" name="Google Shape;32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7" name="Google Shape;337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8" name="Google Shape;33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1" name="Google Shape;341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3" name="Google Shape;343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4" name="Google Shape;344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6" name="Google Shape;346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7" name="Google Shape;347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" name="Google Shape;348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49" name="Google Shape;349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0" name="Google Shape;360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1" name="Google Shape;36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6" name="Google Shape;366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7" name="Google Shape;367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" name="Google Shape;368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9" name="Google Shape;369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0" name="Google Shape;370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2" name="Google Shape;37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0" name="Google Shape;38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3" name="Google Shape;383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6" name="Google Shape;386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7" name="Google Shape;387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0" name="Google Shape;390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2" name="Google Shape;392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3" name="Google Shape;393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" name="Google Shape;394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9" name="Google Shape;39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2" name="Google Shape;402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5" name="Google Shape;405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6" name="Google Shape;406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7" name="Google Shape;407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8" name="Google Shape;408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09" name="Google Shape;409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1" name="Google Shape;411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2" name="Google Shape;412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Google Shape;415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8" name="Google Shape;41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1" name="Google Shape;421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4" name="Google Shape;424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5" name="Google Shape;425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" name="Google Shape;426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7" name="Google Shape;427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8" name="Google Shape;428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0" name="Google Shape;430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1" name="Google Shape;43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" name="Google Shape;43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7" name="Google Shape;43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0" name="Google Shape;440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3" name="Google Shape;443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4" name="Google Shape;444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5" name="Google Shape;445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6" name="Google Shape;446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7" name="Google Shape;447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" name="Google Shape;448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9" name="Google Shape;449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0" name="Google Shape;45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" name="Google Shape;45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9" name="Google Shape;459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3" name="Google Shape;463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4" name="Google Shape;46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5" name="Google Shape;46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6" name="Google Shape;466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7" name="Google Shape;467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8" name="Google Shape;468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9" name="Google Shape;469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0" name="Google Shape;470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" name="Google Shape;471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2" name="Google Shape;472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3" name="Google Shape;473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4" name="Google Shape;474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79" name="Google Shape;47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2" name="Google Shape;482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6" name="Google Shape;486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7" name="Google Shape;48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9" name="Google Shape;489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0" name="Google Shape;490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" name="Google Shape;491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2" name="Google Shape;492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3" name="Google Shape;493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4" name="Google Shape;494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5" name="Google Shape;495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6" name="Google Shape;496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2" name="Google Shape;50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5" name="Google Shape;505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09" name="Google Shape;509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0" name="Google Shape;51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1" name="Google Shape;51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2" name="Google Shape;512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3" name="Google Shape;513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4" name="Google Shape;514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5" name="Google Shape;515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6" name="Google Shape;516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" name="Google Shape;517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8" name="Google Shape;518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19" name="Google Shape;519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0" name="Google Shape;520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5" name="Google Shape;52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7" name="Google Shape;527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8" name="Google Shape;528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3" name="Google Shape;53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6" name="Google Shape;536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39" name="Google Shape;539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1" name="Google Shape;541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2" name="Google Shape;542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" name="Google Shape;543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Google Shape;545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8" name="Google Shape;54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0" name="Google Shape;550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1" name="Google Shape;551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2" name="Google Shape;552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4" name="Google Shape;554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5" name="Google Shape;555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" name="Google Shape;556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7" name="Google Shape;557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8" name="Google Shape;558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9" name="Google Shape;559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0" name="Google Shape;560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1" name="Google Shape;561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Google Shape;564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7" name="Google Shape;56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0" name="Google Shape;570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1" name="Google Shape;571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3" name="Google Shape;573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4" name="Google Shape;574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" name="Google Shape;575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6" name="Google Shape;576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7" name="Google Shape;57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8" name="Google Shape;57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9" name="Google Shape;579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0" name="Google Shape;58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1" name="Google Shape;58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Google Shape;583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6" name="Google Shape;58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9" name="Google Shape;589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0" name="Google Shape;590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2" name="Google Shape;592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3" name="Google Shape;593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5" name="Google Shape;595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6" name="Google Shape;596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7" name="Google Shape;597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8" name="Google Shape;598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99" name="Google Shape;59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5" name="Google Shape;60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7" name="Google Shape;607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8" name="Google Shape;608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1" name="Google Shape;611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2" name="Google Shape;612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4" name="Google Shape;614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5" name="Google Shape;615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6" name="Google Shape;616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7" name="Google Shape;617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8" name="Google Shape;61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9" name="Google Shape;61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1" name="Google Shape;621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4" name="Google Shape;62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" name="Google Shape;628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1" name="Google Shape;63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3" name="Google Shape;633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8" name="Google Shape;63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0" name="Google Shape;64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oogle Shape;64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5" name="Google Shape;64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7" name="Google Shape;64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" name="Google Shape;649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2" name="Google Shape;65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5" name="Google Shape;655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7" name="Google Shape;657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0" name="Google Shape;66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1" name="Google Shape;66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3" name="Google Shape;663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" name="Google Shape;665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8" name="Google Shape;668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9" name="Google Shape;669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1" name="Google Shape;671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3" name="Google Shape;673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6" name="Google Shape;676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7" name="Google Shape;67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9" name="Google Shape;679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1" name="Google Shape;681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4" name="Google Shape;68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7" name="Google Shape;687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9" name="Google Shape;689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2" name="Google Shape;692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3" name="Google Shape;69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1" name="Google Shape;70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5" name="Google Shape;705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8" name="Google Shape;70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9" name="Google Shape;70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1" name="Google Shape;711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4" name="Google Shape;714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6" name="Google Shape;716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0" name="Google Shape;720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2" name="Google Shape;722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3" name="Google Shape;723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5" name="Google Shape;725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theme" Target="../theme/theme2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9.png"/><Relationship Id="rId4" Type="http://schemas.openxmlformats.org/officeDocument/2006/relationships/image" Target="../media/image8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2.png"/><Relationship Id="rId4" Type="http://schemas.openxmlformats.org/officeDocument/2006/relationships/image" Target="../media/image8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1.png"/><Relationship Id="rId4" Type="http://schemas.openxmlformats.org/officeDocument/2006/relationships/image" Target="../media/image8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4.png"/><Relationship Id="rId4" Type="http://schemas.openxmlformats.org/officeDocument/2006/relationships/image" Target="../media/image66.png"/><Relationship Id="rId5" Type="http://schemas.openxmlformats.org/officeDocument/2006/relationships/image" Target="../media/image55.png"/><Relationship Id="rId6" Type="http://schemas.openxmlformats.org/officeDocument/2006/relationships/image" Target="../media/image6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0.png"/><Relationship Id="rId4" Type="http://schemas.openxmlformats.org/officeDocument/2006/relationships/image" Target="../media/image65.png"/><Relationship Id="rId5" Type="http://schemas.openxmlformats.org/officeDocument/2006/relationships/image" Target="../media/image70.png"/><Relationship Id="rId6" Type="http://schemas.openxmlformats.org/officeDocument/2006/relationships/image" Target="../media/image58.png"/><Relationship Id="rId7" Type="http://schemas.openxmlformats.org/officeDocument/2006/relationships/image" Target="../media/image6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7.png"/><Relationship Id="rId4" Type="http://schemas.openxmlformats.org/officeDocument/2006/relationships/image" Target="../media/image66.png"/><Relationship Id="rId5" Type="http://schemas.openxmlformats.org/officeDocument/2006/relationships/image" Target="../media/image55.png"/><Relationship Id="rId6" Type="http://schemas.openxmlformats.org/officeDocument/2006/relationships/image" Target="../media/image63.png"/><Relationship Id="rId7" Type="http://schemas.openxmlformats.org/officeDocument/2006/relationships/image" Target="../media/image6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0.png"/><Relationship Id="rId4" Type="http://schemas.openxmlformats.org/officeDocument/2006/relationships/image" Target="../media/image65.png"/><Relationship Id="rId5" Type="http://schemas.openxmlformats.org/officeDocument/2006/relationships/image" Target="../media/image70.png"/><Relationship Id="rId6" Type="http://schemas.openxmlformats.org/officeDocument/2006/relationships/image" Target="../media/image58.png"/><Relationship Id="rId7" Type="http://schemas.openxmlformats.org/officeDocument/2006/relationships/image" Target="../media/image6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0.png"/><Relationship Id="rId4" Type="http://schemas.openxmlformats.org/officeDocument/2006/relationships/image" Target="../media/image65.png"/><Relationship Id="rId5" Type="http://schemas.openxmlformats.org/officeDocument/2006/relationships/image" Target="../media/image70.png"/><Relationship Id="rId6" Type="http://schemas.openxmlformats.org/officeDocument/2006/relationships/image" Target="../media/image58.png"/><Relationship Id="rId7" Type="http://schemas.openxmlformats.org/officeDocument/2006/relationships/image" Target="../media/image6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0.png"/><Relationship Id="rId4" Type="http://schemas.openxmlformats.org/officeDocument/2006/relationships/image" Target="../media/image65.png"/><Relationship Id="rId5" Type="http://schemas.openxmlformats.org/officeDocument/2006/relationships/image" Target="../media/image70.png"/><Relationship Id="rId6" Type="http://schemas.openxmlformats.org/officeDocument/2006/relationships/image" Target="../media/image58.png"/><Relationship Id="rId7" Type="http://schemas.openxmlformats.org/officeDocument/2006/relationships/image" Target="../media/image6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1.png"/><Relationship Id="rId4" Type="http://schemas.openxmlformats.org/officeDocument/2006/relationships/image" Target="../media/image8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3.png"/><Relationship Id="rId4" Type="http://schemas.openxmlformats.org/officeDocument/2006/relationships/image" Target="../media/image6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8.png"/><Relationship Id="rId4" Type="http://schemas.openxmlformats.org/officeDocument/2006/relationships/image" Target="../media/image6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8.png"/><Relationship Id="rId4" Type="http://schemas.openxmlformats.org/officeDocument/2006/relationships/image" Target="../media/image6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9.png"/><Relationship Id="rId4" Type="http://schemas.openxmlformats.org/officeDocument/2006/relationships/image" Target="../media/image8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9.png"/><Relationship Id="rId4" Type="http://schemas.openxmlformats.org/officeDocument/2006/relationships/image" Target="../media/image8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2.png"/><Relationship Id="rId4" Type="http://schemas.openxmlformats.org/officeDocument/2006/relationships/image" Target="../media/image78.png"/><Relationship Id="rId5" Type="http://schemas.openxmlformats.org/officeDocument/2006/relationships/image" Target="../media/image74.png"/><Relationship Id="rId6" Type="http://schemas.openxmlformats.org/officeDocument/2006/relationships/image" Target="../media/image81.png"/><Relationship Id="rId7" Type="http://schemas.openxmlformats.org/officeDocument/2006/relationships/image" Target="../media/image7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7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72.png"/><Relationship Id="rId4" Type="http://schemas.openxmlformats.org/officeDocument/2006/relationships/image" Target="../media/image78.png"/><Relationship Id="rId5" Type="http://schemas.openxmlformats.org/officeDocument/2006/relationships/image" Target="../media/image74.png"/><Relationship Id="rId6" Type="http://schemas.openxmlformats.org/officeDocument/2006/relationships/image" Target="../media/image81.png"/><Relationship Id="rId7" Type="http://schemas.openxmlformats.org/officeDocument/2006/relationships/image" Target="../media/image7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72.png"/><Relationship Id="rId4" Type="http://schemas.openxmlformats.org/officeDocument/2006/relationships/image" Target="../media/image78.png"/><Relationship Id="rId5" Type="http://schemas.openxmlformats.org/officeDocument/2006/relationships/image" Target="../media/image74.png"/><Relationship Id="rId6" Type="http://schemas.openxmlformats.org/officeDocument/2006/relationships/image" Target="../media/image81.png"/><Relationship Id="rId7" Type="http://schemas.openxmlformats.org/officeDocument/2006/relationships/image" Target="../media/image76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72.png"/><Relationship Id="rId4" Type="http://schemas.openxmlformats.org/officeDocument/2006/relationships/image" Target="../media/image78.png"/><Relationship Id="rId5" Type="http://schemas.openxmlformats.org/officeDocument/2006/relationships/image" Target="../media/image74.png"/><Relationship Id="rId6" Type="http://schemas.openxmlformats.org/officeDocument/2006/relationships/image" Target="../media/image81.png"/><Relationship Id="rId7" Type="http://schemas.openxmlformats.org/officeDocument/2006/relationships/image" Target="../media/image7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75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75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8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6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Reading from graphs</a:t>
            </a:r>
            <a:endParaRPr/>
          </a:p>
        </p:txBody>
      </p:sp>
      <p:sp>
        <p:nvSpPr>
          <p:cNvPr id="747" name="Google Shape;747;p62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Graphical representations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63"/>
          <p:cNvSpPr txBox="1"/>
          <p:nvPr/>
        </p:nvSpPr>
        <p:spPr>
          <a:xfrm>
            <a:off x="4917900" y="956025"/>
            <a:ext cx="366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64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read and interpret points from a graph to solve problems.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65"/>
          <p:cNvSpPr txBox="1"/>
          <p:nvPr/>
        </p:nvSpPr>
        <p:spPr>
          <a:xfrm>
            <a:off x="324000" y="1007828"/>
            <a:ext cx="84960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The relationship between two variables is linear if, when plotted on a pair of axes, a straight line is formed.</a:t>
            </a:r>
            <a:endParaRPr sz="25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3" name="Google Shape;763;p65"/>
          <p:cNvSpPr txBox="1"/>
          <p:nvPr/>
        </p:nvSpPr>
        <p:spPr>
          <a:xfrm>
            <a:off x="324000" y="2120650"/>
            <a:ext cx="80214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A quadratic is an equation, graph, or sequence whereby the highest exponent of the variable is </a:t>
            </a:r>
            <a:r>
              <a:rPr lang="en-GB" sz="23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1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1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For example, </a:t>
            </a:r>
            <a:r>
              <a:rPr i="1" lang="en-GB" sz="23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3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3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x</a:t>
            </a:r>
            <a:r>
              <a:rPr i="1" lang="en-GB" sz="21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1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is quadratic but </a:t>
            </a:r>
            <a:r>
              <a:rPr i="1" lang="en-GB" sz="23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3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3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x</a:t>
            </a:r>
            <a:r>
              <a:rPr i="1" lang="en-GB" sz="21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1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is not.</a:t>
            </a:r>
            <a:endParaRPr sz="21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ine of symmetry &#10;focus I &#10;parabola &#10;directrix " id="768" name="Google Shape;768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6951" y="810000"/>
            <a:ext cx="3935107" cy="4008901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66"/>
          <p:cNvSpPr txBox="1"/>
          <p:nvPr/>
        </p:nvSpPr>
        <p:spPr>
          <a:xfrm>
            <a:off x="324000" y="810000"/>
            <a:ext cx="37728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333333"/>
                </a:solidFill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lang="en-GB" sz="1800">
                <a:solidFill>
                  <a:srgbClr val="333333"/>
                </a:solidFill>
                <a:latin typeface="Lexend"/>
                <a:ea typeface="Lexend"/>
                <a:cs typeface="Lexend"/>
                <a:sym typeface="Lexend"/>
              </a:rPr>
              <a:t>parabola </a:t>
            </a:r>
            <a:r>
              <a:rPr lang="en-GB" sz="1800">
                <a:solidFill>
                  <a:srgbClr val="333333"/>
                </a:solidFill>
                <a:latin typeface="Lexend"/>
                <a:ea typeface="Lexend"/>
                <a:cs typeface="Lexend"/>
                <a:sym typeface="Lexend"/>
              </a:rPr>
              <a:t>is a curve where any point on the curve is an equal distance from: </a:t>
            </a:r>
            <a:endParaRPr sz="1800">
              <a:solidFill>
                <a:srgbClr val="333333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Char char="●"/>
            </a:pPr>
            <a:r>
              <a:rPr lang="en-GB" sz="1800">
                <a:solidFill>
                  <a:srgbClr val="333333"/>
                </a:solidFill>
                <a:latin typeface="Lexend"/>
                <a:ea typeface="Lexend"/>
                <a:cs typeface="Lexend"/>
                <a:sym typeface="Lexend"/>
              </a:rPr>
              <a:t>a fixed point (the focus ), and </a:t>
            </a:r>
            <a:endParaRPr sz="1800">
              <a:solidFill>
                <a:srgbClr val="333333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Char char="●"/>
            </a:pPr>
            <a:r>
              <a:rPr lang="en-GB" sz="1800">
                <a:solidFill>
                  <a:srgbClr val="333333"/>
                </a:solidFill>
                <a:latin typeface="Lexend"/>
                <a:ea typeface="Lexend"/>
                <a:cs typeface="Lexend"/>
                <a:sym typeface="Lexend"/>
              </a:rPr>
              <a:t>a fixed straight line (the directrix ) </a:t>
            </a:r>
            <a:endParaRPr sz="1800">
              <a:solidFill>
                <a:srgbClr val="333333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333333"/>
                </a:solidFill>
                <a:latin typeface="Lexend"/>
                <a:ea typeface="Lexend"/>
                <a:cs typeface="Lexend"/>
                <a:sym typeface="Lexend"/>
              </a:rPr>
              <a:t>The line of symmetry goes through the focus, at right angles to the directrix. </a:t>
            </a:r>
            <a:endParaRPr sz="1800">
              <a:solidFill>
                <a:srgbClr val="33333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6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Reading from linear graphs</a:t>
            </a:r>
            <a:endParaRPr/>
          </a:p>
        </p:txBody>
      </p:sp>
      <p:sp>
        <p:nvSpPr>
          <p:cNvPr id="775" name="Google Shape;775;p6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Reading from quadratic graphs</a:t>
            </a:r>
            <a:endParaRPr/>
          </a:p>
        </p:txBody>
      </p:sp>
      <p:sp>
        <p:nvSpPr>
          <p:cNvPr id="776" name="Google Shape;776;p6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Reading from graphs</a:t>
            </a:r>
            <a:endParaRPr/>
          </a:p>
        </p:txBody>
      </p:sp>
      <p:pic>
        <p:nvPicPr>
          <p:cNvPr id="777" name="Google Shape;777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843" y="206150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68"/>
          <p:cNvSpPr txBox="1"/>
          <p:nvPr>
            <p:ph idx="1" type="body"/>
          </p:nvPr>
        </p:nvSpPr>
        <p:spPr>
          <a:xfrm>
            <a:off x="324000" y="759300"/>
            <a:ext cx="8496000" cy="77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 mathematics we don’t just plot linear graphs.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use them to solve problems by taking readings from them.</a:t>
            </a:r>
            <a:endParaRPr/>
          </a:p>
        </p:txBody>
      </p:sp>
      <p:sp>
        <p:nvSpPr>
          <p:cNvPr id="783" name="Google Shape;783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Reading from linear graphs</a:t>
            </a:r>
            <a:endParaRPr/>
          </a:p>
        </p:txBody>
      </p:sp>
      <p:pic>
        <p:nvPicPr>
          <p:cNvPr id="784" name="Google Shape;784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5387" y="1513587"/>
            <a:ext cx="2195705" cy="330210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85" name="Google Shape;785;p68"/>
          <p:cNvSpPr txBox="1"/>
          <p:nvPr>
            <p:ph idx="1" type="body"/>
          </p:nvPr>
        </p:nvSpPr>
        <p:spPr>
          <a:xfrm>
            <a:off x="324000" y="1639173"/>
            <a:ext cx="5386500" cy="115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the graph of the linear equation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− 1</a:t>
            </a:r>
            <a:r>
              <a:rPr lang="en-GB"/>
              <a:t> from which we can read the coordinate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(3, 5)</a:t>
            </a:r>
            <a:endParaRPr/>
          </a:p>
        </p:txBody>
      </p:sp>
      <p:sp>
        <p:nvSpPr>
          <p:cNvPr id="786" name="Google Shape;786;p68"/>
          <p:cNvSpPr txBox="1"/>
          <p:nvPr/>
        </p:nvSpPr>
        <p:spPr>
          <a:xfrm>
            <a:off x="8430758" y="3497047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7" name="Google Shape;787;p68"/>
          <p:cNvSpPr txBox="1"/>
          <p:nvPr/>
        </p:nvSpPr>
        <p:spPr>
          <a:xfrm>
            <a:off x="8031709" y="2067000"/>
            <a:ext cx="6396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(3, 5)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8" name="Google Shape;788;p68"/>
          <p:cNvSpPr txBox="1"/>
          <p:nvPr/>
        </p:nvSpPr>
        <p:spPr>
          <a:xfrm>
            <a:off x="7804718" y="1887010"/>
            <a:ext cx="338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9" name="Google Shape;789;p68"/>
          <p:cNvSpPr txBox="1"/>
          <p:nvPr>
            <p:ph idx="1" type="body"/>
          </p:nvPr>
        </p:nvSpPr>
        <p:spPr>
          <a:xfrm>
            <a:off x="324000" y="3010774"/>
            <a:ext cx="5386500" cy="77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means that the values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3,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5</a:t>
            </a:r>
            <a:r>
              <a:rPr lang="en-GB"/>
              <a:t> must fit the equation.</a:t>
            </a:r>
            <a:endParaRPr/>
          </a:p>
        </p:txBody>
      </p:sp>
      <p:sp>
        <p:nvSpPr>
          <p:cNvPr id="790" name="Google Shape;790;p68"/>
          <p:cNvSpPr txBox="1"/>
          <p:nvPr>
            <p:ph idx="1" type="body"/>
          </p:nvPr>
        </p:nvSpPr>
        <p:spPr>
          <a:xfrm>
            <a:off x="834387" y="3856135"/>
            <a:ext cx="16122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− 1</a:t>
            </a:r>
            <a:endParaRPr/>
          </a:p>
        </p:txBody>
      </p:sp>
      <p:sp>
        <p:nvSpPr>
          <p:cNvPr id="791" name="Google Shape;791;p68"/>
          <p:cNvSpPr txBox="1"/>
          <p:nvPr>
            <p:ph idx="1" type="body"/>
          </p:nvPr>
        </p:nvSpPr>
        <p:spPr>
          <a:xfrm>
            <a:off x="617293" y="4393882"/>
            <a:ext cx="17619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(5)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2(3)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− 1</a:t>
            </a:r>
            <a:endParaRPr/>
          </a:p>
        </p:txBody>
      </p:sp>
      <p:pic>
        <p:nvPicPr>
          <p:cNvPr id="792" name="Google Shape;792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17783" y="4390764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p68"/>
          <p:cNvSpPr txBox="1"/>
          <p:nvPr>
            <p:ph idx="1" type="body"/>
          </p:nvPr>
        </p:nvSpPr>
        <p:spPr>
          <a:xfrm>
            <a:off x="324000" y="1639174"/>
            <a:ext cx="5386500" cy="77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the graph of the linear equation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− 1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Reading from linear graphs</a:t>
            </a:r>
            <a:endParaRPr/>
          </a:p>
        </p:txBody>
      </p:sp>
      <p:pic>
        <p:nvPicPr>
          <p:cNvPr id="799" name="Google Shape;799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5387" y="1513587"/>
            <a:ext cx="2195705" cy="330210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00" name="Google Shape;800;p69"/>
          <p:cNvSpPr txBox="1"/>
          <p:nvPr>
            <p:ph idx="1" type="body"/>
          </p:nvPr>
        </p:nvSpPr>
        <p:spPr>
          <a:xfrm>
            <a:off x="324000" y="800975"/>
            <a:ext cx="71352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coordinate reading also tells us something else.</a:t>
            </a:r>
            <a:endParaRPr/>
          </a:p>
        </p:txBody>
      </p:sp>
      <p:sp>
        <p:nvSpPr>
          <p:cNvPr id="801" name="Google Shape;801;p69"/>
          <p:cNvSpPr txBox="1"/>
          <p:nvPr/>
        </p:nvSpPr>
        <p:spPr>
          <a:xfrm>
            <a:off x="8430758" y="3497047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2" name="Google Shape;802;p69"/>
          <p:cNvSpPr txBox="1"/>
          <p:nvPr/>
        </p:nvSpPr>
        <p:spPr>
          <a:xfrm>
            <a:off x="8031709" y="2067000"/>
            <a:ext cx="6396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(3, 5)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3" name="Google Shape;803;p69"/>
          <p:cNvSpPr txBox="1"/>
          <p:nvPr/>
        </p:nvSpPr>
        <p:spPr>
          <a:xfrm>
            <a:off x="7804718" y="1887010"/>
            <a:ext cx="338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4" name="Google Shape;804;p69"/>
          <p:cNvSpPr txBox="1"/>
          <p:nvPr>
            <p:ph idx="1" type="body"/>
          </p:nvPr>
        </p:nvSpPr>
        <p:spPr>
          <a:xfrm>
            <a:off x="324000" y="2303097"/>
            <a:ext cx="4880100" cy="41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When do</a:t>
            </a:r>
            <a:r>
              <a:rPr lang="en-GB"/>
              <a:t>es the line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− 1</a:t>
            </a:r>
            <a:r>
              <a:rPr lang="en-GB"/>
              <a:t> have a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-coordinate of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/>
              <a:t>?</a:t>
            </a:r>
            <a:endParaRPr/>
          </a:p>
        </p:txBody>
      </p:sp>
      <p:sp>
        <p:nvSpPr>
          <p:cNvPr id="805" name="Google Shape;805;p69"/>
          <p:cNvSpPr txBox="1"/>
          <p:nvPr>
            <p:ph idx="1" type="body"/>
          </p:nvPr>
        </p:nvSpPr>
        <p:spPr>
          <a:xfrm>
            <a:off x="324000" y="1552036"/>
            <a:ext cx="57777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It is the solution to the equation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− 1 = 5</a:t>
            </a:r>
            <a:endParaRPr/>
          </a:p>
        </p:txBody>
      </p:sp>
      <p:cxnSp>
        <p:nvCxnSpPr>
          <p:cNvPr id="806" name="Google Shape;806;p69"/>
          <p:cNvCxnSpPr/>
          <p:nvPr/>
        </p:nvCxnSpPr>
        <p:spPr>
          <a:xfrm>
            <a:off x="7016900" y="2056975"/>
            <a:ext cx="912900" cy="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07" name="Google Shape;807;p69"/>
          <p:cNvCxnSpPr/>
          <p:nvPr/>
        </p:nvCxnSpPr>
        <p:spPr>
          <a:xfrm rot="10800000">
            <a:off x="7929825" y="2057625"/>
            <a:ext cx="8400" cy="16095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808" name="Google Shape;808;p69"/>
          <p:cNvSpPr txBox="1"/>
          <p:nvPr>
            <p:ph idx="1" type="body"/>
          </p:nvPr>
        </p:nvSpPr>
        <p:spPr>
          <a:xfrm>
            <a:off x="324000" y="3301057"/>
            <a:ext cx="1543200" cy="41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When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3</a:t>
            </a:r>
            <a:endParaRPr/>
          </a:p>
        </p:txBody>
      </p:sp>
      <p:sp>
        <p:nvSpPr>
          <p:cNvPr id="809" name="Google Shape;809;p69"/>
          <p:cNvSpPr txBox="1"/>
          <p:nvPr>
            <p:ph idx="1" type="body"/>
          </p:nvPr>
        </p:nvSpPr>
        <p:spPr>
          <a:xfrm>
            <a:off x="324000" y="3994225"/>
            <a:ext cx="6168900" cy="3246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3</a:t>
            </a:r>
            <a:r>
              <a:rPr lang="en-GB"/>
              <a:t> is the solution to the equation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− 1 = 5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70"/>
          <p:cNvSpPr txBox="1"/>
          <p:nvPr>
            <p:ph type="title"/>
          </p:nvPr>
        </p:nvSpPr>
        <p:spPr>
          <a:xfrm>
            <a:off x="324000" y="748775"/>
            <a:ext cx="7135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Reading from the graph which of these</a:t>
            </a:r>
            <a:r>
              <a:rPr lang="en-GB"/>
              <a:t> is the solution to the equation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− 2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1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?</a:t>
            </a:r>
            <a:endParaRPr/>
          </a:p>
        </p:txBody>
      </p:sp>
      <p:sp>
        <p:nvSpPr>
          <p:cNvPr id="815" name="Google Shape;815;p7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Reading from linear graphs</a:t>
            </a:r>
            <a:endParaRPr/>
          </a:p>
        </p:txBody>
      </p:sp>
      <p:sp>
        <p:nvSpPr>
          <p:cNvPr id="816" name="Google Shape;816;p70"/>
          <p:cNvSpPr txBox="1"/>
          <p:nvPr>
            <p:ph idx="1" type="subTitle"/>
          </p:nvPr>
        </p:nvSpPr>
        <p:spPr>
          <a:xfrm>
            <a:off x="1034425" y="1837775"/>
            <a:ext cx="10515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1</a:t>
            </a:r>
            <a:endParaRPr/>
          </a:p>
        </p:txBody>
      </p:sp>
      <p:sp>
        <p:nvSpPr>
          <p:cNvPr id="817" name="Google Shape;817;p70"/>
          <p:cNvSpPr txBox="1"/>
          <p:nvPr>
            <p:ph idx="3" type="subTitle"/>
          </p:nvPr>
        </p:nvSpPr>
        <p:spPr>
          <a:xfrm>
            <a:off x="1034425" y="2794252"/>
            <a:ext cx="10515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7</a:t>
            </a:r>
            <a:endParaRPr/>
          </a:p>
        </p:txBody>
      </p:sp>
      <p:sp>
        <p:nvSpPr>
          <p:cNvPr id="818" name="Google Shape;818;p70"/>
          <p:cNvSpPr txBox="1"/>
          <p:nvPr>
            <p:ph idx="4" type="subTitle"/>
          </p:nvPr>
        </p:nvSpPr>
        <p:spPr>
          <a:xfrm>
            <a:off x="1034425" y="3766975"/>
            <a:ext cx="10455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4</a:t>
            </a:r>
            <a:endParaRPr/>
          </a:p>
        </p:txBody>
      </p:sp>
      <p:pic>
        <p:nvPicPr>
          <p:cNvPr id="819" name="Google Shape;819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3698" y="1219709"/>
            <a:ext cx="2317423" cy="36003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20" name="Google Shape;820;p70"/>
          <p:cNvSpPr txBox="1"/>
          <p:nvPr>
            <p:ph type="title"/>
          </p:nvPr>
        </p:nvSpPr>
        <p:spPr>
          <a:xfrm>
            <a:off x="6768818" y="1252002"/>
            <a:ext cx="1288500" cy="3891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9</a:t>
            </a: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− 2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pic>
        <p:nvPicPr>
          <p:cNvPr id="821" name="Google Shape;821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55783" y="3781164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70"/>
          <p:cNvSpPr txBox="1"/>
          <p:nvPr>
            <p:ph type="title"/>
          </p:nvPr>
        </p:nvSpPr>
        <p:spPr>
          <a:xfrm>
            <a:off x="2281800" y="3263375"/>
            <a:ext cx="33984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When does the line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i="1" lang="en-GB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have a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-value of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?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823" name="Google Shape;823;p70"/>
          <p:cNvCxnSpPr/>
          <p:nvPr/>
        </p:nvCxnSpPr>
        <p:spPr>
          <a:xfrm>
            <a:off x="6496475" y="4052900"/>
            <a:ext cx="1140000" cy="45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24" name="Google Shape;824;p70"/>
          <p:cNvCxnSpPr/>
          <p:nvPr/>
        </p:nvCxnSpPr>
        <p:spPr>
          <a:xfrm rot="10800000">
            <a:off x="7644500" y="4063475"/>
            <a:ext cx="4500" cy="2955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825" name="Google Shape;825;p70"/>
          <p:cNvSpPr txBox="1"/>
          <p:nvPr/>
        </p:nvSpPr>
        <p:spPr>
          <a:xfrm>
            <a:off x="7525725" y="3880147"/>
            <a:ext cx="2607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6" name="Google Shape;826;p70"/>
          <p:cNvSpPr txBox="1"/>
          <p:nvPr>
            <p:ph type="title"/>
          </p:nvPr>
        </p:nvSpPr>
        <p:spPr>
          <a:xfrm>
            <a:off x="2281805" y="4031053"/>
            <a:ext cx="24168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When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1" name="Google Shape;831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3808" y="1313051"/>
            <a:ext cx="4430792" cy="3506977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32" name="Google Shape;832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Reading from linear graphs</a:t>
            </a:r>
            <a:endParaRPr/>
          </a:p>
        </p:txBody>
      </p:sp>
      <p:sp>
        <p:nvSpPr>
          <p:cNvPr id="833" name="Google Shape;833;p71"/>
          <p:cNvSpPr txBox="1"/>
          <p:nvPr>
            <p:ph idx="1" type="body"/>
          </p:nvPr>
        </p:nvSpPr>
        <p:spPr>
          <a:xfrm>
            <a:off x="324000" y="800975"/>
            <a:ext cx="71352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the linear graph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8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− 10</a:t>
            </a:r>
            <a:endParaRPr/>
          </a:p>
        </p:txBody>
      </p:sp>
      <p:sp>
        <p:nvSpPr>
          <p:cNvPr id="834" name="Google Shape;834;p71"/>
          <p:cNvSpPr txBox="1"/>
          <p:nvPr/>
        </p:nvSpPr>
        <p:spPr>
          <a:xfrm>
            <a:off x="8430758" y="2712033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5" name="Google Shape;835;p71"/>
          <p:cNvSpPr txBox="1"/>
          <p:nvPr/>
        </p:nvSpPr>
        <p:spPr>
          <a:xfrm>
            <a:off x="7452275" y="2097175"/>
            <a:ext cx="9024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(1.75, 4)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6" name="Google Shape;836;p71"/>
          <p:cNvSpPr txBox="1"/>
          <p:nvPr/>
        </p:nvSpPr>
        <p:spPr>
          <a:xfrm>
            <a:off x="7218132" y="1974716"/>
            <a:ext cx="338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7" name="Google Shape;837;p71"/>
          <p:cNvSpPr txBox="1"/>
          <p:nvPr>
            <p:ph idx="1" type="body"/>
          </p:nvPr>
        </p:nvSpPr>
        <p:spPr>
          <a:xfrm>
            <a:off x="324000" y="1353600"/>
            <a:ext cx="3045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can use it to work out calculations such as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8 × 1.75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− 10</a:t>
            </a:r>
            <a:endParaRPr/>
          </a:p>
        </p:txBody>
      </p:sp>
      <p:cxnSp>
        <p:nvCxnSpPr>
          <p:cNvPr id="838" name="Google Shape;838;p71"/>
          <p:cNvCxnSpPr/>
          <p:nvPr/>
        </p:nvCxnSpPr>
        <p:spPr>
          <a:xfrm>
            <a:off x="4548300" y="2135025"/>
            <a:ext cx="2794800" cy="102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39" name="Google Shape;839;p71"/>
          <p:cNvCxnSpPr/>
          <p:nvPr/>
        </p:nvCxnSpPr>
        <p:spPr>
          <a:xfrm rot="10800000">
            <a:off x="7343225" y="2145525"/>
            <a:ext cx="14400" cy="7215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840" name="Google Shape;840;p71"/>
          <p:cNvSpPr txBox="1"/>
          <p:nvPr/>
        </p:nvSpPr>
        <p:spPr>
          <a:xfrm>
            <a:off x="4228925" y="1321425"/>
            <a:ext cx="186600" cy="324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1" name="Google Shape;841;p71"/>
          <p:cNvSpPr txBox="1"/>
          <p:nvPr>
            <p:ph idx="1" type="body"/>
          </p:nvPr>
        </p:nvSpPr>
        <p:spPr>
          <a:xfrm>
            <a:off x="324000" y="4126962"/>
            <a:ext cx="27399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Therefore we know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8 × 1.75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− 10 = 4</a:t>
            </a:r>
            <a:endParaRPr/>
          </a:p>
        </p:txBody>
      </p:sp>
      <p:sp>
        <p:nvSpPr>
          <p:cNvPr id="842" name="Google Shape;842;p71"/>
          <p:cNvSpPr txBox="1"/>
          <p:nvPr>
            <p:ph idx="1" type="body"/>
          </p:nvPr>
        </p:nvSpPr>
        <p:spPr>
          <a:xfrm>
            <a:off x="324000" y="2725200"/>
            <a:ext cx="3292200" cy="10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From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1.75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on the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-axis we can read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on the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-axis.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7" name="Google Shape;847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0000" y="1146700"/>
            <a:ext cx="4526450" cy="3673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48" name="Google Shape;848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Reading from linear graphs</a:t>
            </a:r>
            <a:endParaRPr/>
          </a:p>
        </p:txBody>
      </p:sp>
      <p:sp>
        <p:nvSpPr>
          <p:cNvPr id="849" name="Google Shape;849;p72"/>
          <p:cNvSpPr txBox="1"/>
          <p:nvPr>
            <p:ph idx="1" type="body"/>
          </p:nvPr>
        </p:nvSpPr>
        <p:spPr>
          <a:xfrm>
            <a:off x="324000" y="759300"/>
            <a:ext cx="3996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</a:t>
            </a:r>
            <a:r>
              <a:rPr lang="en-GB"/>
              <a:t>he linear graph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20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− 0.4</a:t>
            </a:r>
            <a:endParaRPr/>
          </a:p>
        </p:txBody>
      </p:sp>
      <p:sp>
        <p:nvSpPr>
          <p:cNvPr id="850" name="Google Shape;850;p72"/>
          <p:cNvSpPr txBox="1"/>
          <p:nvPr/>
        </p:nvSpPr>
        <p:spPr>
          <a:xfrm>
            <a:off x="8512683" y="3344647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1" name="Google Shape;851;p72"/>
          <p:cNvSpPr txBox="1"/>
          <p:nvPr>
            <p:ph idx="1" type="body"/>
          </p:nvPr>
        </p:nvSpPr>
        <p:spPr>
          <a:xfrm>
            <a:off x="324000" y="1353600"/>
            <a:ext cx="2613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</a:t>
            </a:r>
            <a:r>
              <a:rPr lang="en-GB"/>
              <a:t>se it to work out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× 0.06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− 0.4</a:t>
            </a:r>
            <a:endParaRPr/>
          </a:p>
        </p:txBody>
      </p:sp>
      <p:cxnSp>
        <p:nvCxnSpPr>
          <p:cNvPr id="852" name="Google Shape;852;p72"/>
          <p:cNvCxnSpPr/>
          <p:nvPr/>
        </p:nvCxnSpPr>
        <p:spPr>
          <a:xfrm>
            <a:off x="4500850" y="1703393"/>
            <a:ext cx="2838900" cy="255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53" name="Google Shape;853;p72"/>
          <p:cNvCxnSpPr/>
          <p:nvPr/>
        </p:nvCxnSpPr>
        <p:spPr>
          <a:xfrm rot="10800000">
            <a:off x="7340100" y="1740825"/>
            <a:ext cx="14400" cy="17865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854" name="Google Shape;854;p72"/>
          <p:cNvSpPr txBox="1"/>
          <p:nvPr>
            <p:ph idx="1" type="body"/>
          </p:nvPr>
        </p:nvSpPr>
        <p:spPr>
          <a:xfrm>
            <a:off x="324000" y="3669762"/>
            <a:ext cx="27399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Therefore we know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20 × 0.06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− 0.4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0.8</a:t>
            </a:r>
            <a:endParaRPr/>
          </a:p>
        </p:txBody>
      </p:sp>
      <p:sp>
        <p:nvSpPr>
          <p:cNvPr id="855" name="Google Shape;855;p72"/>
          <p:cNvSpPr txBox="1"/>
          <p:nvPr>
            <p:ph idx="1" type="body"/>
          </p:nvPr>
        </p:nvSpPr>
        <p:spPr>
          <a:xfrm>
            <a:off x="324000" y="2268000"/>
            <a:ext cx="3292200" cy="10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From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.06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on the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-axis we can read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0.8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on the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-axis.</a:t>
            </a:r>
            <a:endParaRPr/>
          </a:p>
        </p:txBody>
      </p:sp>
      <p:sp>
        <p:nvSpPr>
          <p:cNvPr id="856" name="Google Shape;856;p72"/>
          <p:cNvSpPr txBox="1"/>
          <p:nvPr/>
        </p:nvSpPr>
        <p:spPr>
          <a:xfrm>
            <a:off x="3968025" y="1146700"/>
            <a:ext cx="4533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7" name="Google Shape;857;p72"/>
          <p:cNvSpPr txBox="1"/>
          <p:nvPr/>
        </p:nvSpPr>
        <p:spPr>
          <a:xfrm>
            <a:off x="3971507" y="2247525"/>
            <a:ext cx="453300" cy="389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0.5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8" name="Google Shape;858;p72"/>
          <p:cNvSpPr txBox="1"/>
          <p:nvPr/>
        </p:nvSpPr>
        <p:spPr>
          <a:xfrm>
            <a:off x="3960000" y="4514850"/>
            <a:ext cx="476100" cy="305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0.5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9" name="Google Shape;859;p72"/>
          <p:cNvSpPr txBox="1"/>
          <p:nvPr/>
        </p:nvSpPr>
        <p:spPr>
          <a:xfrm>
            <a:off x="7390475" y="1834053"/>
            <a:ext cx="1076700" cy="324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(0.06, 0.8)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0" name="Google Shape;860;p72"/>
          <p:cNvSpPr txBox="1"/>
          <p:nvPr/>
        </p:nvSpPr>
        <p:spPr>
          <a:xfrm>
            <a:off x="7216697" y="1552037"/>
            <a:ext cx="338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1" name="Google Shape;861;p72"/>
          <p:cNvSpPr txBox="1"/>
          <p:nvPr/>
        </p:nvSpPr>
        <p:spPr>
          <a:xfrm>
            <a:off x="3968013" y="3367530"/>
            <a:ext cx="453300" cy="389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2" name="Google Shape;862;p72"/>
          <p:cNvSpPr txBox="1"/>
          <p:nvPr/>
        </p:nvSpPr>
        <p:spPr>
          <a:xfrm>
            <a:off x="4385407" y="885438"/>
            <a:ext cx="1866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7" name="Google Shape;867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1165" y="1594965"/>
            <a:ext cx="4922476" cy="3213556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68" name="Google Shape;868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Reading from linear graphs</a:t>
            </a:r>
            <a:endParaRPr/>
          </a:p>
        </p:txBody>
      </p:sp>
      <p:sp>
        <p:nvSpPr>
          <p:cNvPr id="869" name="Google Shape;869;p73"/>
          <p:cNvSpPr txBox="1"/>
          <p:nvPr>
            <p:ph idx="1" type="body"/>
          </p:nvPr>
        </p:nvSpPr>
        <p:spPr>
          <a:xfrm>
            <a:off x="324000" y="800975"/>
            <a:ext cx="65718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can also read estimates from such a graph. T</a:t>
            </a:r>
            <a:r>
              <a:rPr lang="en-GB"/>
              <a:t>his is the linear graph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8.4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13.65</a:t>
            </a:r>
            <a:endParaRPr/>
          </a:p>
        </p:txBody>
      </p:sp>
      <p:sp>
        <p:nvSpPr>
          <p:cNvPr id="870" name="Google Shape;870;p73"/>
          <p:cNvSpPr txBox="1"/>
          <p:nvPr/>
        </p:nvSpPr>
        <p:spPr>
          <a:xfrm>
            <a:off x="7269699" y="2295600"/>
            <a:ext cx="7422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(4, 47)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1" name="Google Shape;871;p73"/>
          <p:cNvSpPr txBox="1"/>
          <p:nvPr>
            <p:ph idx="1" type="body"/>
          </p:nvPr>
        </p:nvSpPr>
        <p:spPr>
          <a:xfrm>
            <a:off x="324000" y="1898507"/>
            <a:ext cx="3045600" cy="7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Estimate: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× 8.4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13.65</a:t>
            </a:r>
            <a:endParaRPr/>
          </a:p>
        </p:txBody>
      </p:sp>
      <p:cxnSp>
        <p:nvCxnSpPr>
          <p:cNvPr id="872" name="Google Shape;872;p73"/>
          <p:cNvCxnSpPr/>
          <p:nvPr/>
        </p:nvCxnSpPr>
        <p:spPr>
          <a:xfrm>
            <a:off x="4824000" y="2275888"/>
            <a:ext cx="2243700" cy="33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73" name="Google Shape;873;p73"/>
          <p:cNvCxnSpPr/>
          <p:nvPr/>
        </p:nvCxnSpPr>
        <p:spPr>
          <a:xfrm rot="10800000">
            <a:off x="7102575" y="2290350"/>
            <a:ext cx="11700" cy="19734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874" name="Google Shape;874;p73"/>
          <p:cNvSpPr txBox="1"/>
          <p:nvPr>
            <p:ph idx="1" type="body"/>
          </p:nvPr>
        </p:nvSpPr>
        <p:spPr>
          <a:xfrm>
            <a:off x="324000" y="2983950"/>
            <a:ext cx="3045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accurate to the nearest whole number.</a:t>
            </a:r>
            <a:endParaRPr/>
          </a:p>
        </p:txBody>
      </p:sp>
      <p:sp>
        <p:nvSpPr>
          <p:cNvPr id="875" name="Google Shape;875;p73"/>
          <p:cNvSpPr txBox="1"/>
          <p:nvPr/>
        </p:nvSpPr>
        <p:spPr>
          <a:xfrm>
            <a:off x="6989532" y="2101706"/>
            <a:ext cx="338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6" name="Google Shape;876;p73"/>
          <p:cNvSpPr txBox="1"/>
          <p:nvPr>
            <p:ph idx="1" type="body"/>
          </p:nvPr>
        </p:nvSpPr>
        <p:spPr>
          <a:xfrm>
            <a:off x="324000" y="1898507"/>
            <a:ext cx="3045600" cy="7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Estimate: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 × 8.4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+ 13.65 ≈ 47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1" name="Google Shape;881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1165" y="1594965"/>
            <a:ext cx="4922476" cy="3213556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82" name="Google Shape;882;p7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Reading from linear graphs</a:t>
            </a:r>
            <a:endParaRPr/>
          </a:p>
        </p:txBody>
      </p:sp>
      <p:sp>
        <p:nvSpPr>
          <p:cNvPr id="883" name="Google Shape;883;p74"/>
          <p:cNvSpPr txBox="1"/>
          <p:nvPr>
            <p:ph idx="1" type="subTitle"/>
          </p:nvPr>
        </p:nvSpPr>
        <p:spPr>
          <a:xfrm>
            <a:off x="5777500" y="1632200"/>
            <a:ext cx="1822200" cy="2493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8.4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+ 13.65</a:t>
            </a:r>
            <a:endParaRPr sz="2000"/>
          </a:p>
        </p:txBody>
      </p:sp>
      <p:sp>
        <p:nvSpPr>
          <p:cNvPr id="884" name="Google Shape;884;p74"/>
          <p:cNvSpPr txBox="1"/>
          <p:nvPr/>
        </p:nvSpPr>
        <p:spPr>
          <a:xfrm>
            <a:off x="6655750" y="2630568"/>
            <a:ext cx="8034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(3, 39)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85" name="Google Shape;885;p74"/>
          <p:cNvCxnSpPr/>
          <p:nvPr/>
        </p:nvCxnSpPr>
        <p:spPr>
          <a:xfrm flipH="1" rot="10800000">
            <a:off x="4814475" y="2640032"/>
            <a:ext cx="1706400" cy="12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86" name="Google Shape;886;p74"/>
          <p:cNvCxnSpPr/>
          <p:nvPr/>
        </p:nvCxnSpPr>
        <p:spPr>
          <a:xfrm rot="10800000">
            <a:off x="6518750" y="2662863"/>
            <a:ext cx="8700" cy="16239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887" name="Google Shape;887;p74"/>
          <p:cNvSpPr txBox="1"/>
          <p:nvPr>
            <p:ph idx="4294967295" type="body"/>
          </p:nvPr>
        </p:nvSpPr>
        <p:spPr>
          <a:xfrm>
            <a:off x="963773" y="3761820"/>
            <a:ext cx="7104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≈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41</a:t>
            </a:r>
            <a:endParaRPr/>
          </a:p>
        </p:txBody>
      </p:sp>
      <p:sp>
        <p:nvSpPr>
          <p:cNvPr id="888" name="Google Shape;888;p74"/>
          <p:cNvSpPr txBox="1"/>
          <p:nvPr>
            <p:ph type="title"/>
          </p:nvPr>
        </p:nvSpPr>
        <p:spPr>
          <a:xfrm>
            <a:off x="324000" y="748775"/>
            <a:ext cx="66759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of these is most likely a good estimate for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× 8.4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+ 13.65 </a:t>
            </a:r>
            <a:r>
              <a:rPr lang="en-GB"/>
              <a:t>?</a:t>
            </a:r>
            <a:endParaRPr/>
          </a:p>
        </p:txBody>
      </p:sp>
      <p:sp>
        <p:nvSpPr>
          <p:cNvPr id="889" name="Google Shape;889;p74"/>
          <p:cNvSpPr txBox="1"/>
          <p:nvPr/>
        </p:nvSpPr>
        <p:spPr>
          <a:xfrm>
            <a:off x="6402945" y="2466852"/>
            <a:ext cx="338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0" name="Google Shape;890;p74"/>
          <p:cNvSpPr txBox="1"/>
          <p:nvPr>
            <p:ph idx="4294967295" type="body"/>
          </p:nvPr>
        </p:nvSpPr>
        <p:spPr>
          <a:xfrm>
            <a:off x="963773" y="2788480"/>
            <a:ext cx="7104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≈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40</a:t>
            </a:r>
            <a:endParaRPr/>
          </a:p>
        </p:txBody>
      </p:sp>
      <p:sp>
        <p:nvSpPr>
          <p:cNvPr id="891" name="Google Shape;891;p74"/>
          <p:cNvSpPr txBox="1"/>
          <p:nvPr>
            <p:ph idx="4294967295" type="body"/>
          </p:nvPr>
        </p:nvSpPr>
        <p:spPr>
          <a:xfrm>
            <a:off x="963773" y="1815140"/>
            <a:ext cx="7104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≈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39</a:t>
            </a:r>
            <a:endParaRPr/>
          </a:p>
        </p:txBody>
      </p:sp>
      <p:pic>
        <p:nvPicPr>
          <p:cNvPr id="892" name="Google Shape;892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02597" y="1799964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893" name="Google Shape;893;p74"/>
          <p:cNvSpPr txBox="1"/>
          <p:nvPr>
            <p:ph idx="4294967295" type="body"/>
          </p:nvPr>
        </p:nvSpPr>
        <p:spPr>
          <a:xfrm>
            <a:off x="2732207" y="1139557"/>
            <a:ext cx="26910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× 8.4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+ 13.65 ≈ 39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75"/>
          <p:cNvSpPr txBox="1"/>
          <p:nvPr>
            <p:ph idx="1" type="body"/>
          </p:nvPr>
        </p:nvSpPr>
        <p:spPr>
          <a:xfrm>
            <a:off x="324000" y="1143650"/>
            <a:ext cx="59328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The Oak pupils measure their height and shoe size</a:t>
            </a:r>
            <a:endParaRPr sz="1900"/>
          </a:p>
        </p:txBody>
      </p:sp>
      <p:sp>
        <p:nvSpPr>
          <p:cNvPr id="899" name="Google Shape;899;p75"/>
          <p:cNvSpPr txBox="1"/>
          <p:nvPr>
            <p:ph idx="1" type="body"/>
          </p:nvPr>
        </p:nvSpPr>
        <p:spPr>
          <a:xfrm>
            <a:off x="324000" y="1143650"/>
            <a:ext cx="80331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The</a:t>
            </a:r>
            <a:r>
              <a:rPr lang="en-GB" sz="1900"/>
              <a:t> Oak pupils measure their height and shoe size and find it makes a linear relationship.</a:t>
            </a:r>
            <a:endParaRPr sz="1900"/>
          </a:p>
        </p:txBody>
      </p:sp>
      <p:pic>
        <p:nvPicPr>
          <p:cNvPr id="900" name="Google Shape;900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956" y="1853724"/>
            <a:ext cx="7646648" cy="2930974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01" name="Google Shape;901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Reading from linear graphs</a:t>
            </a:r>
            <a:endParaRPr/>
          </a:p>
        </p:txBody>
      </p:sp>
      <p:sp>
        <p:nvSpPr>
          <p:cNvPr id="902" name="Google Shape;902;p75"/>
          <p:cNvSpPr txBox="1"/>
          <p:nvPr>
            <p:ph idx="1" type="body"/>
          </p:nvPr>
        </p:nvSpPr>
        <p:spPr>
          <a:xfrm>
            <a:off x="324000" y="800975"/>
            <a:ext cx="8496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R</a:t>
            </a:r>
            <a:r>
              <a:rPr lang="en-GB" sz="1900"/>
              <a:t>eading from graphs can also be used in a practical context.</a:t>
            </a:r>
            <a:endParaRPr sz="1900"/>
          </a:p>
        </p:txBody>
      </p:sp>
      <p:sp>
        <p:nvSpPr>
          <p:cNvPr id="903" name="Google Shape;903;p75"/>
          <p:cNvSpPr txBox="1"/>
          <p:nvPr>
            <p:ph idx="1" type="body"/>
          </p:nvPr>
        </p:nvSpPr>
        <p:spPr>
          <a:xfrm>
            <a:off x="6964907" y="4290850"/>
            <a:ext cx="1319400" cy="3246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Height (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cm</a:t>
            </a:r>
            <a:r>
              <a:rPr lang="en-GB" sz="1800"/>
              <a:t>)</a:t>
            </a:r>
            <a:endParaRPr sz="1800"/>
          </a:p>
        </p:txBody>
      </p:sp>
      <p:sp>
        <p:nvSpPr>
          <p:cNvPr id="904" name="Google Shape;904;p75"/>
          <p:cNvSpPr txBox="1"/>
          <p:nvPr>
            <p:ph idx="1" type="body"/>
          </p:nvPr>
        </p:nvSpPr>
        <p:spPr>
          <a:xfrm rot="-5400000">
            <a:off x="-91520" y="2187430"/>
            <a:ext cx="1137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Shoe size</a:t>
            </a:r>
            <a:endParaRPr sz="1800"/>
          </a:p>
        </p:txBody>
      </p:sp>
      <p:sp>
        <p:nvSpPr>
          <p:cNvPr id="905" name="Google Shape;905;p75"/>
          <p:cNvSpPr txBox="1"/>
          <p:nvPr/>
        </p:nvSpPr>
        <p:spPr>
          <a:xfrm>
            <a:off x="633204" y="3485887"/>
            <a:ext cx="1707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6" name="Google Shape;906;p75"/>
          <p:cNvSpPr txBox="1"/>
          <p:nvPr/>
        </p:nvSpPr>
        <p:spPr>
          <a:xfrm>
            <a:off x="545502" y="2495288"/>
            <a:ext cx="2673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07" name="Google Shape;907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69100" y="2184600"/>
            <a:ext cx="698721" cy="915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8" name="Google Shape;908;p7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5803249" y="1868186"/>
            <a:ext cx="629022" cy="774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9" name="Google Shape;909;p7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1617971" y="2797314"/>
            <a:ext cx="698729" cy="775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4" name="Google Shape;914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695" y="1857772"/>
            <a:ext cx="7666227" cy="293097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15" name="Google Shape;915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Reading from linear graphs</a:t>
            </a:r>
            <a:endParaRPr/>
          </a:p>
        </p:txBody>
      </p:sp>
      <p:sp>
        <p:nvSpPr>
          <p:cNvPr id="916" name="Google Shape;916;p76"/>
          <p:cNvSpPr txBox="1"/>
          <p:nvPr>
            <p:ph idx="1" type="body"/>
          </p:nvPr>
        </p:nvSpPr>
        <p:spPr>
          <a:xfrm>
            <a:off x="324000" y="800975"/>
            <a:ext cx="8496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Modelling a linear </a:t>
            </a:r>
            <a:r>
              <a:rPr lang="en-GB" sz="1900"/>
              <a:t>relationship</a:t>
            </a:r>
            <a:r>
              <a:rPr lang="en-GB" sz="1900"/>
              <a:t> like this enables us to make predictions</a:t>
            </a:r>
            <a:r>
              <a:rPr lang="en-GB" sz="1900"/>
              <a:t>.</a:t>
            </a:r>
            <a:endParaRPr sz="1900"/>
          </a:p>
        </p:txBody>
      </p:sp>
      <p:sp>
        <p:nvSpPr>
          <p:cNvPr id="917" name="Google Shape;917;p76"/>
          <p:cNvSpPr txBox="1"/>
          <p:nvPr/>
        </p:nvSpPr>
        <p:spPr>
          <a:xfrm>
            <a:off x="5829050" y="2729775"/>
            <a:ext cx="9975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(170, 10)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18" name="Google Shape;918;p76"/>
          <p:cNvCxnSpPr>
            <a:stCxn id="919" idx="3"/>
          </p:cNvCxnSpPr>
          <p:nvPr/>
        </p:nvCxnSpPr>
        <p:spPr>
          <a:xfrm>
            <a:off x="812802" y="2632838"/>
            <a:ext cx="4898400" cy="69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20" name="Google Shape;920;p76"/>
          <p:cNvCxnSpPr/>
          <p:nvPr/>
        </p:nvCxnSpPr>
        <p:spPr>
          <a:xfrm rot="10800000">
            <a:off x="5706532" y="2647050"/>
            <a:ext cx="24600" cy="19734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921" name="Google Shape;921;p76"/>
          <p:cNvSpPr txBox="1"/>
          <p:nvPr>
            <p:ph idx="1" type="body"/>
          </p:nvPr>
        </p:nvSpPr>
        <p:spPr>
          <a:xfrm>
            <a:off x="6964907" y="4290850"/>
            <a:ext cx="1319400" cy="3246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Height (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cm</a:t>
            </a:r>
            <a:r>
              <a:rPr lang="en-GB" sz="1800"/>
              <a:t>)</a:t>
            </a:r>
            <a:endParaRPr sz="1800"/>
          </a:p>
        </p:txBody>
      </p:sp>
      <p:sp>
        <p:nvSpPr>
          <p:cNvPr id="922" name="Google Shape;922;p76"/>
          <p:cNvSpPr txBox="1"/>
          <p:nvPr>
            <p:ph idx="1" type="body"/>
          </p:nvPr>
        </p:nvSpPr>
        <p:spPr>
          <a:xfrm rot="-5400000">
            <a:off x="-91520" y="2187430"/>
            <a:ext cx="1137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Shoe size</a:t>
            </a:r>
            <a:endParaRPr sz="1800"/>
          </a:p>
        </p:txBody>
      </p:sp>
      <p:sp>
        <p:nvSpPr>
          <p:cNvPr id="923" name="Google Shape;923;p76"/>
          <p:cNvSpPr txBox="1"/>
          <p:nvPr/>
        </p:nvSpPr>
        <p:spPr>
          <a:xfrm>
            <a:off x="633204" y="3485887"/>
            <a:ext cx="1707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9" name="Google Shape;919;p76"/>
          <p:cNvSpPr txBox="1"/>
          <p:nvPr/>
        </p:nvSpPr>
        <p:spPr>
          <a:xfrm>
            <a:off x="545502" y="2495288"/>
            <a:ext cx="2673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4" name="Google Shape;924;p76"/>
          <p:cNvSpPr txBox="1"/>
          <p:nvPr/>
        </p:nvSpPr>
        <p:spPr>
          <a:xfrm>
            <a:off x="5594918" y="2468386"/>
            <a:ext cx="338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5" name="Google Shape;925;p76"/>
          <p:cNvSpPr txBox="1"/>
          <p:nvPr>
            <p:ph idx="1" type="body"/>
          </p:nvPr>
        </p:nvSpPr>
        <p:spPr>
          <a:xfrm>
            <a:off x="324000" y="1128788"/>
            <a:ext cx="8496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From a height of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170 cm</a:t>
            </a:r>
            <a:r>
              <a:rPr lang="en-GB" sz="1900"/>
              <a:t> we can read a shoe size of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900"/>
          </a:p>
        </p:txBody>
      </p:sp>
      <p:sp>
        <p:nvSpPr>
          <p:cNvPr id="926" name="Google Shape;926;p76"/>
          <p:cNvSpPr txBox="1"/>
          <p:nvPr>
            <p:ph idx="1" type="body"/>
          </p:nvPr>
        </p:nvSpPr>
        <p:spPr>
          <a:xfrm>
            <a:off x="324000" y="1128788"/>
            <a:ext cx="31311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From a height of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170 cm</a:t>
            </a:r>
            <a:endParaRPr sz="1900"/>
          </a:p>
        </p:txBody>
      </p:sp>
      <p:sp>
        <p:nvSpPr>
          <p:cNvPr id="927" name="Google Shape;927;p76"/>
          <p:cNvSpPr txBox="1"/>
          <p:nvPr>
            <p:ph idx="1" type="body"/>
          </p:nvPr>
        </p:nvSpPr>
        <p:spPr>
          <a:xfrm>
            <a:off x="324000" y="1502629"/>
            <a:ext cx="8496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We would expect a pupil of</a:t>
            </a:r>
            <a:r>
              <a:rPr lang="en-GB" sz="1900"/>
              <a:t> height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170 cm</a:t>
            </a:r>
            <a:r>
              <a:rPr lang="en-GB" sz="1900"/>
              <a:t> to have a shoe size of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1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2" name="Google Shape;932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695" y="1857772"/>
            <a:ext cx="7666227" cy="293097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33" name="Google Shape;933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Reading from linear graphs</a:t>
            </a:r>
            <a:endParaRPr/>
          </a:p>
        </p:txBody>
      </p:sp>
      <p:sp>
        <p:nvSpPr>
          <p:cNvPr id="934" name="Google Shape;934;p77"/>
          <p:cNvSpPr txBox="1"/>
          <p:nvPr>
            <p:ph idx="1" type="body"/>
          </p:nvPr>
        </p:nvSpPr>
        <p:spPr>
          <a:xfrm>
            <a:off x="324000" y="759300"/>
            <a:ext cx="82377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Use the model to</a:t>
            </a:r>
            <a:r>
              <a:rPr lang="en-GB" sz="1900"/>
              <a:t> predict the height of a pupil with a size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GB" sz="1900"/>
              <a:t> shoe.</a:t>
            </a:r>
            <a:endParaRPr sz="1900"/>
          </a:p>
        </p:txBody>
      </p:sp>
      <p:sp>
        <p:nvSpPr>
          <p:cNvPr id="935" name="Google Shape;935;p77"/>
          <p:cNvSpPr txBox="1"/>
          <p:nvPr/>
        </p:nvSpPr>
        <p:spPr>
          <a:xfrm>
            <a:off x="3383490" y="3274682"/>
            <a:ext cx="9975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(155, 7)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36" name="Google Shape;936;p77"/>
          <p:cNvCxnSpPr/>
          <p:nvPr/>
        </p:nvCxnSpPr>
        <p:spPr>
          <a:xfrm>
            <a:off x="812800" y="3240000"/>
            <a:ext cx="2448300" cy="48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37" name="Google Shape;937;p77"/>
          <p:cNvCxnSpPr/>
          <p:nvPr/>
        </p:nvCxnSpPr>
        <p:spPr>
          <a:xfrm rot="10800000">
            <a:off x="3258750" y="3249750"/>
            <a:ext cx="12300" cy="13707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938" name="Google Shape;938;p77"/>
          <p:cNvSpPr txBox="1"/>
          <p:nvPr>
            <p:ph idx="1" type="body"/>
          </p:nvPr>
        </p:nvSpPr>
        <p:spPr>
          <a:xfrm>
            <a:off x="6964907" y="4290850"/>
            <a:ext cx="1319400" cy="3246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Height (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cm</a:t>
            </a:r>
            <a:r>
              <a:rPr lang="en-GB" sz="1800"/>
              <a:t>)</a:t>
            </a:r>
            <a:endParaRPr sz="1800"/>
          </a:p>
        </p:txBody>
      </p:sp>
      <p:sp>
        <p:nvSpPr>
          <p:cNvPr id="939" name="Google Shape;939;p77"/>
          <p:cNvSpPr txBox="1"/>
          <p:nvPr>
            <p:ph idx="1" type="body"/>
          </p:nvPr>
        </p:nvSpPr>
        <p:spPr>
          <a:xfrm rot="-5400000">
            <a:off x="-91520" y="2187430"/>
            <a:ext cx="1137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Shoe size</a:t>
            </a:r>
            <a:endParaRPr sz="1800"/>
          </a:p>
        </p:txBody>
      </p:sp>
      <p:sp>
        <p:nvSpPr>
          <p:cNvPr id="940" name="Google Shape;940;p77"/>
          <p:cNvSpPr txBox="1"/>
          <p:nvPr/>
        </p:nvSpPr>
        <p:spPr>
          <a:xfrm>
            <a:off x="633204" y="3485887"/>
            <a:ext cx="1707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1" name="Google Shape;941;p77"/>
          <p:cNvSpPr txBox="1"/>
          <p:nvPr/>
        </p:nvSpPr>
        <p:spPr>
          <a:xfrm>
            <a:off x="545502" y="2495288"/>
            <a:ext cx="2673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2" name="Google Shape;942;p77"/>
          <p:cNvSpPr txBox="1"/>
          <p:nvPr/>
        </p:nvSpPr>
        <p:spPr>
          <a:xfrm>
            <a:off x="3149359" y="3070827"/>
            <a:ext cx="338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3" name="Google Shape;943;p77"/>
          <p:cNvSpPr txBox="1"/>
          <p:nvPr>
            <p:ph idx="1" type="body"/>
          </p:nvPr>
        </p:nvSpPr>
        <p:spPr>
          <a:xfrm>
            <a:off x="324000" y="1128788"/>
            <a:ext cx="8496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From a shoe size of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GB" sz="1900"/>
              <a:t> we can read a height of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155 cm</a:t>
            </a:r>
            <a:endParaRPr sz="1900"/>
          </a:p>
        </p:txBody>
      </p:sp>
      <p:sp>
        <p:nvSpPr>
          <p:cNvPr id="944" name="Google Shape;944;p77"/>
          <p:cNvSpPr txBox="1"/>
          <p:nvPr>
            <p:ph idx="1" type="body"/>
          </p:nvPr>
        </p:nvSpPr>
        <p:spPr>
          <a:xfrm>
            <a:off x="324000" y="1502629"/>
            <a:ext cx="8496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We would expect a pupil of </a:t>
            </a:r>
            <a:r>
              <a:rPr lang="en-GB" sz="1900"/>
              <a:t>shoe size of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7 </a:t>
            </a:r>
            <a:r>
              <a:rPr lang="en-GB" sz="1900"/>
              <a:t>to have a </a:t>
            </a:r>
            <a:r>
              <a:rPr lang="en-GB" sz="1900"/>
              <a:t>height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155 cm</a:t>
            </a:r>
            <a:r>
              <a:rPr lang="en-GB" sz="1900"/>
              <a:t> </a:t>
            </a:r>
            <a:endParaRPr sz="1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78"/>
          <p:cNvSpPr txBox="1"/>
          <p:nvPr>
            <p:ph idx="1" type="body"/>
          </p:nvPr>
        </p:nvSpPr>
        <p:spPr>
          <a:xfrm>
            <a:off x="324000" y="759300"/>
            <a:ext cx="71931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1) Use this graph of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                      </a:t>
            </a:r>
            <a:r>
              <a:rPr lang="en-GB" sz="2000"/>
              <a:t>to solve these equations.</a:t>
            </a:r>
            <a:endParaRPr sz="2000"/>
          </a:p>
        </p:txBody>
      </p:sp>
      <p:sp>
        <p:nvSpPr>
          <p:cNvPr id="950" name="Google Shape;950;p7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Reading</a:t>
            </a:r>
            <a:r>
              <a:rPr lang="en-GB"/>
              <a:t> from linear graphs</a:t>
            </a:r>
            <a:endParaRPr/>
          </a:p>
        </p:txBody>
      </p:sp>
      <p:pic>
        <p:nvPicPr>
          <p:cNvPr id="951" name="Google Shape;951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2800" y="1310934"/>
            <a:ext cx="5088320" cy="350910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52" name="Google Shape;952;p78"/>
          <p:cNvSpPr txBox="1"/>
          <p:nvPr/>
        </p:nvSpPr>
        <p:spPr>
          <a:xfrm>
            <a:off x="8511305" y="3695473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3" name="Google Shape;953;p78"/>
          <p:cNvSpPr txBox="1"/>
          <p:nvPr/>
        </p:nvSpPr>
        <p:spPr>
          <a:xfrm>
            <a:off x="5593365" y="1321425"/>
            <a:ext cx="186600" cy="324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4" name="Google Shape;954;p78"/>
          <p:cNvSpPr txBox="1"/>
          <p:nvPr>
            <p:ph idx="1" type="body"/>
          </p:nvPr>
        </p:nvSpPr>
        <p:spPr>
          <a:xfrm>
            <a:off x="324000" y="1368900"/>
            <a:ext cx="3579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</a:t>
            </a:r>
            <a:r>
              <a:rPr lang="en-GB" sz="2000"/>
              <a:t>)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y=3-\frac{1}{2}x&quot;&gt;&lt;mi&gt;y&lt;/mi&gt;&lt;mo&gt;=&lt;/mo&gt;&lt;mn&gt;3&lt;/mn&gt;&lt;mo&gt;−&lt;/mo&gt;&lt;mfrac&gt;&lt;mn&gt;1&lt;/mn&gt;&lt;mn&gt;2&lt;/mn&gt;&lt;/mfrac&gt;&lt;mi&gt;x&lt;/mi&gt;&lt;/math&gt;" id="955" name="Google Shape;955;p78" title="y equals 3 minus one half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49573" y="649200"/>
            <a:ext cx="1310800" cy="571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-\frac{1}{2}x=0&quot;&gt;&lt;mn&gt;3&lt;/mn&gt;&lt;mo&gt;−&lt;/mo&gt;&lt;mfrac&gt;&lt;mn&gt;1&lt;/mn&gt;&lt;mn&gt;2&lt;/mn&gt;&lt;/mfrac&gt;&lt;mi&gt;x&lt;/mi&gt;&lt;mo&gt;=&lt;/mo&gt;&lt;mn&gt;0&lt;/mn&gt;&lt;/math&gt;" id="956" name="Google Shape;956;p78" title="3 minus one half x equals 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1827" y="2350667"/>
            <a:ext cx="1526338" cy="665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-\frac{1}{2}x=1&quot;&gt;&lt;mn&gt;3&lt;/mn&gt;&lt;mo&gt;−&lt;/mo&gt;&lt;mfrac&gt;&lt;mn&gt;1&lt;/mn&gt;&lt;mn&gt;2&lt;/mn&gt;&lt;/mfrac&gt;&lt;mi&gt;x&lt;/mi&gt;&lt;mo&gt;=&lt;/mo&gt;&lt;mn&gt;1&lt;/mn&gt;&lt;/math&gt;" id="957" name="Google Shape;957;p78" title="3 minus one half x equals 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1827" y="1248475"/>
            <a:ext cx="1497172" cy="665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-\frac{1}{2}x=5&quot;&gt;&lt;mn&gt;3&lt;/mn&gt;&lt;mo&gt;−&lt;/mo&gt;&lt;mfrac&gt;&lt;mn&gt;1&lt;/mn&gt;&lt;mn&gt;2&lt;/mn&gt;&lt;/mfrac&gt;&lt;mi&gt;x&lt;/mi&gt;&lt;mo&gt;=&lt;/mo&gt;&lt;mn&gt;5&lt;/mn&gt;&lt;/math&gt;" id="958" name="Google Shape;958;p78" title="3 minus one half x equals 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1827" y="3503679"/>
            <a:ext cx="1511760" cy="665950"/>
          </a:xfrm>
          <a:prstGeom prst="rect">
            <a:avLst/>
          </a:prstGeom>
          <a:noFill/>
          <a:ln>
            <a:noFill/>
          </a:ln>
        </p:spPr>
      </p:pic>
      <p:sp>
        <p:nvSpPr>
          <p:cNvPr id="959" name="Google Shape;959;p78"/>
          <p:cNvSpPr txBox="1"/>
          <p:nvPr>
            <p:ph idx="1" type="body"/>
          </p:nvPr>
        </p:nvSpPr>
        <p:spPr>
          <a:xfrm>
            <a:off x="324000" y="2487480"/>
            <a:ext cx="3579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</a:t>
            </a:r>
            <a:r>
              <a:rPr lang="en-GB" sz="2000"/>
              <a:t>)</a:t>
            </a:r>
            <a:endParaRPr sz="2000"/>
          </a:p>
        </p:txBody>
      </p:sp>
      <p:sp>
        <p:nvSpPr>
          <p:cNvPr id="960" name="Google Shape;960;p78"/>
          <p:cNvSpPr txBox="1"/>
          <p:nvPr>
            <p:ph idx="1" type="body"/>
          </p:nvPr>
        </p:nvSpPr>
        <p:spPr>
          <a:xfrm>
            <a:off x="324000" y="3617567"/>
            <a:ext cx="3579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</a:t>
            </a:r>
            <a:r>
              <a:rPr lang="en-GB" sz="2000"/>
              <a:t>)</a:t>
            </a:r>
            <a:endParaRPr sz="2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79"/>
          <p:cNvSpPr txBox="1"/>
          <p:nvPr>
            <p:ph idx="1" type="body"/>
          </p:nvPr>
        </p:nvSpPr>
        <p:spPr>
          <a:xfrm>
            <a:off x="324000" y="1368900"/>
            <a:ext cx="2912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a) 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1.75 × 0.8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− 0.3</a:t>
            </a:r>
            <a:endParaRPr sz="2000"/>
          </a:p>
        </p:txBody>
      </p:sp>
      <p:pic>
        <p:nvPicPr>
          <p:cNvPr id="966" name="Google Shape;966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0984" y="1142100"/>
            <a:ext cx="4206502" cy="3677923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67" name="Google Shape;967;p79"/>
          <p:cNvSpPr txBox="1"/>
          <p:nvPr>
            <p:ph idx="1" type="body"/>
          </p:nvPr>
        </p:nvSpPr>
        <p:spPr>
          <a:xfrm>
            <a:off x="324000" y="759300"/>
            <a:ext cx="71931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</a:t>
            </a:r>
            <a:r>
              <a:rPr lang="en-GB" sz="2000"/>
              <a:t>) Use this graph of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1.75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− 0.3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/>
              <a:t>to calculate:</a:t>
            </a:r>
            <a:endParaRPr sz="2000"/>
          </a:p>
        </p:txBody>
      </p:sp>
      <p:sp>
        <p:nvSpPr>
          <p:cNvPr id="968" name="Google Shape;968;p7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Reading from linear graphs</a:t>
            </a:r>
            <a:endParaRPr/>
          </a:p>
        </p:txBody>
      </p:sp>
      <p:sp>
        <p:nvSpPr>
          <p:cNvPr id="969" name="Google Shape;969;p79"/>
          <p:cNvSpPr txBox="1"/>
          <p:nvPr/>
        </p:nvSpPr>
        <p:spPr>
          <a:xfrm>
            <a:off x="8511305" y="2891794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0" name="Google Shape;970;p79"/>
          <p:cNvSpPr txBox="1"/>
          <p:nvPr/>
        </p:nvSpPr>
        <p:spPr>
          <a:xfrm>
            <a:off x="5556040" y="1165115"/>
            <a:ext cx="186600" cy="28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1" name="Google Shape;971;p79"/>
          <p:cNvSpPr txBox="1"/>
          <p:nvPr>
            <p:ph idx="1" type="body"/>
          </p:nvPr>
        </p:nvSpPr>
        <p:spPr>
          <a:xfrm>
            <a:off x="324000" y="2487475"/>
            <a:ext cx="25632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b)</a:t>
            </a:r>
            <a:r>
              <a:rPr lang="en-GB" sz="2000"/>
              <a:t> 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1.75 × 0.4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− 0.3</a:t>
            </a:r>
            <a:endParaRPr sz="2000"/>
          </a:p>
        </p:txBody>
      </p:sp>
      <p:sp>
        <p:nvSpPr>
          <p:cNvPr id="972" name="Google Shape;972;p79"/>
          <p:cNvSpPr txBox="1"/>
          <p:nvPr>
            <p:ph idx="1" type="body"/>
          </p:nvPr>
        </p:nvSpPr>
        <p:spPr>
          <a:xfrm>
            <a:off x="324000" y="3617575"/>
            <a:ext cx="2912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c) </a:t>
            </a:r>
            <a:r>
              <a:rPr lang="en-GB" sz="2000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1.75 × −0.4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− 0.3</a:t>
            </a:r>
            <a:endParaRPr sz="2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7" name="Google Shape;977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6336" y="1615652"/>
            <a:ext cx="4363315" cy="3200026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78" name="Google Shape;978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46333" y="2505766"/>
            <a:ext cx="479100" cy="627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979" name="Google Shape;979;p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5649406" y="3004782"/>
            <a:ext cx="431309" cy="531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980" name="Google Shape;980;p8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4924748" y="3486650"/>
            <a:ext cx="479105" cy="531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981" name="Google Shape;981;p8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80800" y="1623182"/>
            <a:ext cx="4363325" cy="3174512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82" name="Google Shape;982;p80"/>
          <p:cNvSpPr txBox="1"/>
          <p:nvPr>
            <p:ph idx="1" type="body"/>
          </p:nvPr>
        </p:nvSpPr>
        <p:spPr>
          <a:xfrm>
            <a:off x="324000" y="1597500"/>
            <a:ext cx="30456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 Use the graph to estimate the age of a pupil who has read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400</a:t>
            </a:r>
            <a:r>
              <a:rPr lang="en-GB" sz="1800"/>
              <a:t> books.</a:t>
            </a:r>
            <a:endParaRPr sz="1800"/>
          </a:p>
        </p:txBody>
      </p:sp>
      <p:sp>
        <p:nvSpPr>
          <p:cNvPr id="983" name="Google Shape;983;p80"/>
          <p:cNvSpPr txBox="1"/>
          <p:nvPr>
            <p:ph idx="1" type="body"/>
          </p:nvPr>
        </p:nvSpPr>
        <p:spPr>
          <a:xfrm>
            <a:off x="324000" y="812487"/>
            <a:ext cx="71931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3</a:t>
            </a:r>
            <a:r>
              <a:rPr lang="en-GB" sz="2000"/>
              <a:t>) </a:t>
            </a:r>
            <a:r>
              <a:rPr lang="en-GB" sz="2000"/>
              <a:t>The Oak pupils plot their age against how many books they have read and find a linear relationship.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984" name="Google Shape;984;p8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Reading from linear graphs</a:t>
            </a:r>
            <a:endParaRPr/>
          </a:p>
        </p:txBody>
      </p:sp>
      <p:cxnSp>
        <p:nvCxnSpPr>
          <p:cNvPr id="985" name="Google Shape;985;p80"/>
          <p:cNvCxnSpPr/>
          <p:nvPr/>
        </p:nvCxnSpPr>
        <p:spPr>
          <a:xfrm>
            <a:off x="4444725" y="4585950"/>
            <a:ext cx="40044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6" name="Google Shape;986;p80"/>
          <p:cNvCxnSpPr/>
          <p:nvPr/>
        </p:nvCxnSpPr>
        <p:spPr>
          <a:xfrm rot="10800000">
            <a:off x="4444725" y="1617150"/>
            <a:ext cx="0" cy="29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7" name="Google Shape;987;p80"/>
          <p:cNvSpPr txBox="1"/>
          <p:nvPr/>
        </p:nvSpPr>
        <p:spPr>
          <a:xfrm>
            <a:off x="4053503" y="3527575"/>
            <a:ext cx="3450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8" name="Google Shape;988;p80"/>
          <p:cNvSpPr txBox="1"/>
          <p:nvPr/>
        </p:nvSpPr>
        <p:spPr>
          <a:xfrm>
            <a:off x="4053503" y="3070375"/>
            <a:ext cx="3450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300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9" name="Google Shape;989;p80"/>
          <p:cNvSpPr txBox="1"/>
          <p:nvPr/>
        </p:nvSpPr>
        <p:spPr>
          <a:xfrm>
            <a:off x="4053503" y="2601668"/>
            <a:ext cx="3450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00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0" name="Google Shape;990;p80"/>
          <p:cNvSpPr txBox="1"/>
          <p:nvPr/>
        </p:nvSpPr>
        <p:spPr>
          <a:xfrm>
            <a:off x="4053503" y="2144468"/>
            <a:ext cx="3450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00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1" name="Google Shape;991;p80"/>
          <p:cNvSpPr txBox="1"/>
          <p:nvPr/>
        </p:nvSpPr>
        <p:spPr>
          <a:xfrm>
            <a:off x="4053503" y="3996282"/>
            <a:ext cx="3450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00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2" name="Google Shape;992;p80"/>
          <p:cNvSpPr txBox="1"/>
          <p:nvPr>
            <p:ph idx="4294967295" type="body"/>
          </p:nvPr>
        </p:nvSpPr>
        <p:spPr>
          <a:xfrm>
            <a:off x="7410600" y="4226150"/>
            <a:ext cx="1009500" cy="3246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Age</a:t>
            </a:r>
            <a:r>
              <a:rPr lang="en-GB" sz="1800"/>
              <a:t> (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yrs</a:t>
            </a:r>
            <a:r>
              <a:rPr lang="en-GB" sz="1800"/>
              <a:t>)</a:t>
            </a:r>
            <a:endParaRPr sz="1800"/>
          </a:p>
        </p:txBody>
      </p:sp>
      <p:sp>
        <p:nvSpPr>
          <p:cNvPr id="993" name="Google Shape;993;p80"/>
          <p:cNvSpPr txBox="1"/>
          <p:nvPr>
            <p:ph idx="4294967295" type="body"/>
          </p:nvPr>
        </p:nvSpPr>
        <p:spPr>
          <a:xfrm rot="-5400000">
            <a:off x="3243768" y="2108518"/>
            <a:ext cx="1293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Books read</a:t>
            </a:r>
            <a:endParaRPr sz="1800"/>
          </a:p>
        </p:txBody>
      </p:sp>
      <p:sp>
        <p:nvSpPr>
          <p:cNvPr id="994" name="Google Shape;994;p80"/>
          <p:cNvSpPr txBox="1"/>
          <p:nvPr>
            <p:ph idx="1" type="body"/>
          </p:nvPr>
        </p:nvSpPr>
        <p:spPr>
          <a:xfrm>
            <a:off x="324000" y="3022277"/>
            <a:ext cx="30456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r>
              <a:rPr lang="en-GB" sz="1800"/>
              <a:t>) Use the graph to predict how many books a pupil will have read by the time they reach age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18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995" name="Google Shape;995;p80"/>
          <p:cNvSpPr txBox="1"/>
          <p:nvPr/>
        </p:nvSpPr>
        <p:spPr>
          <a:xfrm>
            <a:off x="4053503" y="1710282"/>
            <a:ext cx="3450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600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81"/>
          <p:cNvSpPr txBox="1"/>
          <p:nvPr>
            <p:ph idx="1" type="body"/>
          </p:nvPr>
        </p:nvSpPr>
        <p:spPr>
          <a:xfrm>
            <a:off x="324000" y="759300"/>
            <a:ext cx="72735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1) Use this graph of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                      </a:t>
            </a:r>
            <a:r>
              <a:rPr lang="en-GB" sz="2000"/>
              <a:t>to solve these equations.</a:t>
            </a:r>
            <a:endParaRPr sz="2000"/>
          </a:p>
        </p:txBody>
      </p:sp>
      <p:sp>
        <p:nvSpPr>
          <p:cNvPr id="1001" name="Google Shape;1001;p8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Reading from linear graphs</a:t>
            </a:r>
            <a:endParaRPr/>
          </a:p>
        </p:txBody>
      </p:sp>
      <p:pic>
        <p:nvPicPr>
          <p:cNvPr id="1002" name="Google Shape;1002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2800" y="1310934"/>
            <a:ext cx="5088320" cy="350910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03" name="Google Shape;1003;p81"/>
          <p:cNvSpPr txBox="1"/>
          <p:nvPr/>
        </p:nvSpPr>
        <p:spPr>
          <a:xfrm>
            <a:off x="8511305" y="3695473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4" name="Google Shape;1004;p81"/>
          <p:cNvSpPr txBox="1"/>
          <p:nvPr/>
        </p:nvSpPr>
        <p:spPr>
          <a:xfrm>
            <a:off x="5593365" y="1321425"/>
            <a:ext cx="186600" cy="324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5" name="Google Shape;1005;p81"/>
          <p:cNvSpPr txBox="1"/>
          <p:nvPr>
            <p:ph idx="1" type="body"/>
          </p:nvPr>
        </p:nvSpPr>
        <p:spPr>
          <a:xfrm>
            <a:off x="324000" y="1368900"/>
            <a:ext cx="3579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a)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y=3-\frac{1}{2}x&quot;&gt;&lt;mi&gt;y&lt;/mi&gt;&lt;mo&gt;=&lt;/mo&gt;&lt;mn&gt;3&lt;/mn&gt;&lt;mo&gt;−&lt;/mo&gt;&lt;mfrac&gt;&lt;mn&gt;1&lt;/mn&gt;&lt;mn&gt;2&lt;/mn&gt;&lt;/mfrac&gt;&lt;mi&gt;x&lt;/mi&gt;&lt;/math&gt;" id="1006" name="Google Shape;1006;p81" title="y equals 3 minus one half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49573" y="649200"/>
            <a:ext cx="1310800" cy="571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-\frac{1}{2}x=0&quot;&gt;&lt;mn&gt;3&lt;/mn&gt;&lt;mo&gt;−&lt;/mo&gt;&lt;mfrac&gt;&lt;mn&gt;1&lt;/mn&gt;&lt;mn&gt;2&lt;/mn&gt;&lt;/mfrac&gt;&lt;mi&gt;x&lt;/mi&gt;&lt;mo&gt;=&lt;/mo&gt;&lt;mn&gt;0&lt;/mn&gt;&lt;/math&gt;" id="1007" name="Google Shape;1007;p81" title="3 minus one half x equals 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1827" y="2350667"/>
            <a:ext cx="1526338" cy="665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-\frac{1}{2}x=1&quot;&gt;&lt;mn&gt;3&lt;/mn&gt;&lt;mo&gt;−&lt;/mo&gt;&lt;mfrac&gt;&lt;mn&gt;1&lt;/mn&gt;&lt;mn&gt;2&lt;/mn&gt;&lt;/mfrac&gt;&lt;mi&gt;x&lt;/mi&gt;&lt;mo&gt;=&lt;/mo&gt;&lt;mn&gt;1&lt;/mn&gt;&lt;/math&gt;" id="1008" name="Google Shape;1008;p81" title="3 minus one half x equals 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1827" y="1248475"/>
            <a:ext cx="1497172" cy="665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-\frac{1}{2}x=5&quot;&gt;&lt;mn&gt;3&lt;/mn&gt;&lt;mo&gt;−&lt;/mo&gt;&lt;mfrac&gt;&lt;mn&gt;1&lt;/mn&gt;&lt;mn&gt;2&lt;/mn&gt;&lt;/mfrac&gt;&lt;mi&gt;x&lt;/mi&gt;&lt;mo&gt;=&lt;/mo&gt;&lt;mn&gt;5&lt;/mn&gt;&lt;/math&gt;" id="1009" name="Google Shape;1009;p81" title="3 minus one half x equals 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1827" y="3503679"/>
            <a:ext cx="1511760" cy="665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0" name="Google Shape;1010;p81"/>
          <p:cNvSpPr txBox="1"/>
          <p:nvPr>
            <p:ph idx="1" type="body"/>
          </p:nvPr>
        </p:nvSpPr>
        <p:spPr>
          <a:xfrm>
            <a:off x="324000" y="2487480"/>
            <a:ext cx="3579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b)</a:t>
            </a:r>
            <a:endParaRPr sz="2000"/>
          </a:p>
        </p:txBody>
      </p:sp>
      <p:sp>
        <p:nvSpPr>
          <p:cNvPr id="1011" name="Google Shape;1011;p81"/>
          <p:cNvSpPr txBox="1"/>
          <p:nvPr>
            <p:ph idx="1" type="body"/>
          </p:nvPr>
        </p:nvSpPr>
        <p:spPr>
          <a:xfrm>
            <a:off x="324000" y="3617567"/>
            <a:ext cx="3579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c)</a:t>
            </a:r>
            <a:endParaRPr sz="2000"/>
          </a:p>
        </p:txBody>
      </p:sp>
      <p:sp>
        <p:nvSpPr>
          <p:cNvPr id="1012" name="Google Shape;1012;p81"/>
          <p:cNvSpPr txBox="1"/>
          <p:nvPr/>
        </p:nvSpPr>
        <p:spPr>
          <a:xfrm>
            <a:off x="7585999" y="3122275"/>
            <a:ext cx="5985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(4, 1)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13" name="Google Shape;1013;p81"/>
          <p:cNvCxnSpPr/>
          <p:nvPr/>
        </p:nvCxnSpPr>
        <p:spPr>
          <a:xfrm>
            <a:off x="5883075" y="3468600"/>
            <a:ext cx="1584000" cy="15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014" name="Google Shape;1014;p81"/>
          <p:cNvCxnSpPr/>
          <p:nvPr/>
        </p:nvCxnSpPr>
        <p:spPr>
          <a:xfrm rot="10800000">
            <a:off x="7465450" y="3471300"/>
            <a:ext cx="8100" cy="3864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015" name="Google Shape;1015;p81"/>
          <p:cNvSpPr txBox="1"/>
          <p:nvPr/>
        </p:nvSpPr>
        <p:spPr>
          <a:xfrm>
            <a:off x="7351865" y="3299427"/>
            <a:ext cx="338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6" name="Google Shape;1016;p81"/>
          <p:cNvSpPr txBox="1"/>
          <p:nvPr>
            <p:ph idx="4294967295" type="subTitle"/>
          </p:nvPr>
        </p:nvSpPr>
        <p:spPr>
          <a:xfrm>
            <a:off x="2592945" y="1415095"/>
            <a:ext cx="7608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4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82"/>
          <p:cNvSpPr txBox="1"/>
          <p:nvPr>
            <p:ph idx="4294967295" type="subTitle"/>
          </p:nvPr>
        </p:nvSpPr>
        <p:spPr>
          <a:xfrm>
            <a:off x="2592945" y="1415095"/>
            <a:ext cx="7608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4</a:t>
            </a:r>
            <a:endParaRPr/>
          </a:p>
        </p:txBody>
      </p:sp>
      <p:sp>
        <p:nvSpPr>
          <p:cNvPr id="1022" name="Google Shape;1022;p82"/>
          <p:cNvSpPr txBox="1"/>
          <p:nvPr>
            <p:ph idx="1" type="body"/>
          </p:nvPr>
        </p:nvSpPr>
        <p:spPr>
          <a:xfrm>
            <a:off x="324000" y="759300"/>
            <a:ext cx="72735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1) Use this graph of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                      </a:t>
            </a:r>
            <a:r>
              <a:rPr lang="en-GB" sz="2000"/>
              <a:t>to solve these equations.</a:t>
            </a:r>
            <a:endParaRPr sz="2000"/>
          </a:p>
        </p:txBody>
      </p:sp>
      <p:sp>
        <p:nvSpPr>
          <p:cNvPr id="1023" name="Google Shape;1023;p8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Reading from linear graphs</a:t>
            </a:r>
            <a:endParaRPr/>
          </a:p>
        </p:txBody>
      </p:sp>
      <p:pic>
        <p:nvPicPr>
          <p:cNvPr id="1024" name="Google Shape;1024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2800" y="1310934"/>
            <a:ext cx="5088320" cy="350910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25" name="Google Shape;1025;p82"/>
          <p:cNvSpPr txBox="1"/>
          <p:nvPr/>
        </p:nvSpPr>
        <p:spPr>
          <a:xfrm>
            <a:off x="8511305" y="3695473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6" name="Google Shape;1026;p82"/>
          <p:cNvSpPr txBox="1"/>
          <p:nvPr/>
        </p:nvSpPr>
        <p:spPr>
          <a:xfrm>
            <a:off x="5593365" y="1321425"/>
            <a:ext cx="186600" cy="324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7" name="Google Shape;1027;p82"/>
          <p:cNvSpPr txBox="1"/>
          <p:nvPr>
            <p:ph idx="1" type="body"/>
          </p:nvPr>
        </p:nvSpPr>
        <p:spPr>
          <a:xfrm>
            <a:off x="324000" y="1368900"/>
            <a:ext cx="3579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a)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y=3-\frac{1}{2}x&quot;&gt;&lt;mi&gt;y&lt;/mi&gt;&lt;mo&gt;=&lt;/mo&gt;&lt;mn&gt;3&lt;/mn&gt;&lt;mo&gt;−&lt;/mo&gt;&lt;mfrac&gt;&lt;mn&gt;1&lt;/mn&gt;&lt;mn&gt;2&lt;/mn&gt;&lt;/mfrac&gt;&lt;mi&gt;x&lt;/mi&gt;&lt;/math&gt;" id="1028" name="Google Shape;1028;p82" title="y equals 3 minus one half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49573" y="649200"/>
            <a:ext cx="1310800" cy="571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-\frac{1}{2}x=0&quot;&gt;&lt;mn&gt;3&lt;/mn&gt;&lt;mo&gt;−&lt;/mo&gt;&lt;mfrac&gt;&lt;mn&gt;1&lt;/mn&gt;&lt;mn&gt;2&lt;/mn&gt;&lt;/mfrac&gt;&lt;mi&gt;x&lt;/mi&gt;&lt;mo&gt;=&lt;/mo&gt;&lt;mn&gt;0&lt;/mn&gt;&lt;/math&gt;" id="1029" name="Google Shape;1029;p82" title="3 minus one half x equals 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1827" y="2350667"/>
            <a:ext cx="1526338" cy="665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-\frac{1}{2}x=1&quot;&gt;&lt;mn&gt;3&lt;/mn&gt;&lt;mo&gt;−&lt;/mo&gt;&lt;mfrac&gt;&lt;mn&gt;1&lt;/mn&gt;&lt;mn&gt;2&lt;/mn&gt;&lt;/mfrac&gt;&lt;mi&gt;x&lt;/mi&gt;&lt;mo&gt;=&lt;/mo&gt;&lt;mn&gt;1&lt;/mn&gt;&lt;/math&gt;" id="1030" name="Google Shape;1030;p82" title="3 minus one half x equals 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1827" y="1248475"/>
            <a:ext cx="1497172" cy="665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-\frac{1}{2}x=5&quot;&gt;&lt;mn&gt;3&lt;/mn&gt;&lt;mo&gt;−&lt;/mo&gt;&lt;mfrac&gt;&lt;mn&gt;1&lt;/mn&gt;&lt;mn&gt;2&lt;/mn&gt;&lt;/mfrac&gt;&lt;mi&gt;x&lt;/mi&gt;&lt;mo&gt;=&lt;/mo&gt;&lt;mn&gt;5&lt;/mn&gt;&lt;/math&gt;" id="1031" name="Google Shape;1031;p82" title="3 minus one half x equals 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1827" y="3503679"/>
            <a:ext cx="1511760" cy="665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2" name="Google Shape;1032;p82"/>
          <p:cNvSpPr txBox="1"/>
          <p:nvPr>
            <p:ph idx="1" type="body"/>
          </p:nvPr>
        </p:nvSpPr>
        <p:spPr>
          <a:xfrm>
            <a:off x="324000" y="2487480"/>
            <a:ext cx="3579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b)</a:t>
            </a:r>
            <a:endParaRPr sz="2000"/>
          </a:p>
        </p:txBody>
      </p:sp>
      <p:sp>
        <p:nvSpPr>
          <p:cNvPr id="1033" name="Google Shape;1033;p82"/>
          <p:cNvSpPr txBox="1"/>
          <p:nvPr>
            <p:ph idx="1" type="body"/>
          </p:nvPr>
        </p:nvSpPr>
        <p:spPr>
          <a:xfrm>
            <a:off x="324000" y="3617567"/>
            <a:ext cx="3579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c)</a:t>
            </a:r>
            <a:endParaRPr sz="2000"/>
          </a:p>
        </p:txBody>
      </p:sp>
      <p:sp>
        <p:nvSpPr>
          <p:cNvPr id="1034" name="Google Shape;1034;p82"/>
          <p:cNvSpPr txBox="1"/>
          <p:nvPr/>
        </p:nvSpPr>
        <p:spPr>
          <a:xfrm>
            <a:off x="7662199" y="3960475"/>
            <a:ext cx="5985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(6, 0)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5" name="Google Shape;1035;p82"/>
          <p:cNvCxnSpPr/>
          <p:nvPr/>
        </p:nvCxnSpPr>
        <p:spPr>
          <a:xfrm>
            <a:off x="5883075" y="3849600"/>
            <a:ext cx="2393400" cy="228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036" name="Google Shape;1036;p82"/>
          <p:cNvSpPr txBox="1"/>
          <p:nvPr/>
        </p:nvSpPr>
        <p:spPr>
          <a:xfrm>
            <a:off x="8148385" y="3680427"/>
            <a:ext cx="338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7" name="Google Shape;1037;p82"/>
          <p:cNvSpPr txBox="1"/>
          <p:nvPr>
            <p:ph idx="4294967295" type="subTitle"/>
          </p:nvPr>
        </p:nvSpPr>
        <p:spPr>
          <a:xfrm>
            <a:off x="2592945" y="2516415"/>
            <a:ext cx="7608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6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83"/>
          <p:cNvSpPr txBox="1"/>
          <p:nvPr>
            <p:ph idx="4294967295" type="subTitle"/>
          </p:nvPr>
        </p:nvSpPr>
        <p:spPr>
          <a:xfrm>
            <a:off x="2592945" y="1415095"/>
            <a:ext cx="7608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4</a:t>
            </a:r>
            <a:endParaRPr/>
          </a:p>
        </p:txBody>
      </p:sp>
      <p:sp>
        <p:nvSpPr>
          <p:cNvPr id="1043" name="Google Shape;1043;p83"/>
          <p:cNvSpPr txBox="1"/>
          <p:nvPr>
            <p:ph idx="1" type="body"/>
          </p:nvPr>
        </p:nvSpPr>
        <p:spPr>
          <a:xfrm>
            <a:off x="324000" y="759300"/>
            <a:ext cx="72735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1) Use this graph of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                      </a:t>
            </a:r>
            <a:r>
              <a:rPr lang="en-GB" sz="2000"/>
              <a:t>to solve these equations.</a:t>
            </a:r>
            <a:endParaRPr sz="2000"/>
          </a:p>
        </p:txBody>
      </p:sp>
      <p:sp>
        <p:nvSpPr>
          <p:cNvPr id="1044" name="Google Shape;1044;p8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Reading from linear graphs</a:t>
            </a:r>
            <a:endParaRPr/>
          </a:p>
        </p:txBody>
      </p:sp>
      <p:pic>
        <p:nvPicPr>
          <p:cNvPr id="1045" name="Google Shape;1045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2800" y="1310934"/>
            <a:ext cx="5088320" cy="350910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46" name="Google Shape;1046;p83"/>
          <p:cNvSpPr txBox="1"/>
          <p:nvPr/>
        </p:nvSpPr>
        <p:spPr>
          <a:xfrm>
            <a:off x="8511305" y="3695473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7" name="Google Shape;1047;p83"/>
          <p:cNvSpPr txBox="1"/>
          <p:nvPr/>
        </p:nvSpPr>
        <p:spPr>
          <a:xfrm>
            <a:off x="5593365" y="1321425"/>
            <a:ext cx="186600" cy="324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8" name="Google Shape;1048;p83"/>
          <p:cNvSpPr txBox="1"/>
          <p:nvPr>
            <p:ph idx="1" type="body"/>
          </p:nvPr>
        </p:nvSpPr>
        <p:spPr>
          <a:xfrm>
            <a:off x="324000" y="1368900"/>
            <a:ext cx="3579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a)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y=3-\frac{1}{2}x&quot;&gt;&lt;mi&gt;y&lt;/mi&gt;&lt;mo&gt;=&lt;/mo&gt;&lt;mn&gt;3&lt;/mn&gt;&lt;mo&gt;−&lt;/mo&gt;&lt;mfrac&gt;&lt;mn&gt;1&lt;/mn&gt;&lt;mn&gt;2&lt;/mn&gt;&lt;/mfrac&gt;&lt;mi&gt;x&lt;/mi&gt;&lt;/math&gt;" id="1049" name="Google Shape;1049;p83" title="y equals 3 minus one half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49573" y="649200"/>
            <a:ext cx="1310800" cy="571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-\frac{1}{2}x=0&quot;&gt;&lt;mn&gt;3&lt;/mn&gt;&lt;mo&gt;−&lt;/mo&gt;&lt;mfrac&gt;&lt;mn&gt;1&lt;/mn&gt;&lt;mn&gt;2&lt;/mn&gt;&lt;/mfrac&gt;&lt;mi&gt;x&lt;/mi&gt;&lt;mo&gt;=&lt;/mo&gt;&lt;mn&gt;0&lt;/mn&gt;&lt;/math&gt;" id="1050" name="Google Shape;1050;p83" title="3 minus one half x equals 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1827" y="2350667"/>
            <a:ext cx="1526338" cy="665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-\frac{1}{2}x=1&quot;&gt;&lt;mn&gt;3&lt;/mn&gt;&lt;mo&gt;−&lt;/mo&gt;&lt;mfrac&gt;&lt;mn&gt;1&lt;/mn&gt;&lt;mn&gt;2&lt;/mn&gt;&lt;/mfrac&gt;&lt;mi&gt;x&lt;/mi&gt;&lt;mo&gt;=&lt;/mo&gt;&lt;mn&gt;1&lt;/mn&gt;&lt;/math&gt;" id="1051" name="Google Shape;1051;p83" title="3 minus one half x equals 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1827" y="1248475"/>
            <a:ext cx="1497172" cy="665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-\frac{1}{2}x=5&quot;&gt;&lt;mn&gt;3&lt;/mn&gt;&lt;mo&gt;−&lt;/mo&gt;&lt;mfrac&gt;&lt;mn&gt;1&lt;/mn&gt;&lt;mn&gt;2&lt;/mn&gt;&lt;/mfrac&gt;&lt;mi&gt;x&lt;/mi&gt;&lt;mo&gt;=&lt;/mo&gt;&lt;mn&gt;5&lt;/mn&gt;&lt;/math&gt;" id="1052" name="Google Shape;1052;p83" title="3 minus one half x equals 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1827" y="3503679"/>
            <a:ext cx="1511760" cy="665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3" name="Google Shape;1053;p83"/>
          <p:cNvSpPr txBox="1"/>
          <p:nvPr>
            <p:ph idx="1" type="body"/>
          </p:nvPr>
        </p:nvSpPr>
        <p:spPr>
          <a:xfrm>
            <a:off x="324000" y="2487480"/>
            <a:ext cx="3579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b)</a:t>
            </a:r>
            <a:endParaRPr sz="2000"/>
          </a:p>
        </p:txBody>
      </p:sp>
      <p:sp>
        <p:nvSpPr>
          <p:cNvPr id="1054" name="Google Shape;1054;p83"/>
          <p:cNvSpPr txBox="1"/>
          <p:nvPr>
            <p:ph idx="1" type="body"/>
          </p:nvPr>
        </p:nvSpPr>
        <p:spPr>
          <a:xfrm>
            <a:off x="324000" y="3617567"/>
            <a:ext cx="3579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c)</a:t>
            </a:r>
            <a:endParaRPr sz="2000"/>
          </a:p>
        </p:txBody>
      </p:sp>
      <p:cxnSp>
        <p:nvCxnSpPr>
          <p:cNvPr id="1055" name="Google Shape;1055;p83"/>
          <p:cNvCxnSpPr/>
          <p:nvPr/>
        </p:nvCxnSpPr>
        <p:spPr>
          <a:xfrm>
            <a:off x="4324555" y="1887066"/>
            <a:ext cx="1581600" cy="63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056" name="Google Shape;1056;p83"/>
          <p:cNvSpPr txBox="1"/>
          <p:nvPr>
            <p:ph idx="4294967295" type="subTitle"/>
          </p:nvPr>
        </p:nvSpPr>
        <p:spPr>
          <a:xfrm>
            <a:off x="2523119" y="3659425"/>
            <a:ext cx="819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1057" name="Google Shape;1057;p83"/>
          <p:cNvSpPr txBox="1"/>
          <p:nvPr>
            <p:ph idx="4294967295" type="subTitle"/>
          </p:nvPr>
        </p:nvSpPr>
        <p:spPr>
          <a:xfrm>
            <a:off x="2592945" y="2516415"/>
            <a:ext cx="7608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6</a:t>
            </a:r>
            <a:endParaRPr/>
          </a:p>
        </p:txBody>
      </p:sp>
      <p:cxnSp>
        <p:nvCxnSpPr>
          <p:cNvPr id="1058" name="Google Shape;1058;p83"/>
          <p:cNvCxnSpPr/>
          <p:nvPr/>
        </p:nvCxnSpPr>
        <p:spPr>
          <a:xfrm flipH="1" rot="10800000">
            <a:off x="4326337" y="1893447"/>
            <a:ext cx="3300" cy="1968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059" name="Google Shape;1059;p83"/>
          <p:cNvSpPr txBox="1"/>
          <p:nvPr/>
        </p:nvSpPr>
        <p:spPr>
          <a:xfrm>
            <a:off x="3570210" y="1979275"/>
            <a:ext cx="6936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(−4, 5)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0" name="Google Shape;1060;p83"/>
          <p:cNvSpPr txBox="1"/>
          <p:nvPr/>
        </p:nvSpPr>
        <p:spPr>
          <a:xfrm>
            <a:off x="4208999" y="1699227"/>
            <a:ext cx="338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84"/>
          <p:cNvSpPr txBox="1"/>
          <p:nvPr>
            <p:ph idx="1" type="body"/>
          </p:nvPr>
        </p:nvSpPr>
        <p:spPr>
          <a:xfrm>
            <a:off x="324000" y="1368900"/>
            <a:ext cx="34995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a) 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1.75 × 0.8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− 0.3</a:t>
            </a:r>
            <a:endParaRPr sz="2000"/>
          </a:p>
        </p:txBody>
      </p:sp>
      <p:pic>
        <p:nvPicPr>
          <p:cNvPr id="1066" name="Google Shape;1066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0984" y="1142100"/>
            <a:ext cx="4206502" cy="3677923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67" name="Google Shape;1067;p84"/>
          <p:cNvSpPr txBox="1"/>
          <p:nvPr>
            <p:ph idx="1" type="body"/>
          </p:nvPr>
        </p:nvSpPr>
        <p:spPr>
          <a:xfrm>
            <a:off x="324000" y="759300"/>
            <a:ext cx="71931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2) Use this graph of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1.75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− 0.3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/>
              <a:t>to calculate:</a:t>
            </a:r>
            <a:endParaRPr sz="2000"/>
          </a:p>
        </p:txBody>
      </p:sp>
      <p:sp>
        <p:nvSpPr>
          <p:cNvPr id="1068" name="Google Shape;1068;p8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Reading from linear graphs</a:t>
            </a:r>
            <a:endParaRPr/>
          </a:p>
        </p:txBody>
      </p:sp>
      <p:sp>
        <p:nvSpPr>
          <p:cNvPr id="1069" name="Google Shape;1069;p84"/>
          <p:cNvSpPr txBox="1"/>
          <p:nvPr/>
        </p:nvSpPr>
        <p:spPr>
          <a:xfrm>
            <a:off x="8511305" y="2891794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0" name="Google Shape;1070;p84"/>
          <p:cNvSpPr txBox="1"/>
          <p:nvPr/>
        </p:nvSpPr>
        <p:spPr>
          <a:xfrm>
            <a:off x="5556040" y="1165115"/>
            <a:ext cx="186600" cy="28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1" name="Google Shape;1071;p84"/>
          <p:cNvSpPr txBox="1"/>
          <p:nvPr>
            <p:ph idx="1" type="body"/>
          </p:nvPr>
        </p:nvSpPr>
        <p:spPr>
          <a:xfrm>
            <a:off x="324000" y="2487475"/>
            <a:ext cx="25632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b) 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1.75 × 0.4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− 0.3</a:t>
            </a:r>
            <a:endParaRPr sz="2000"/>
          </a:p>
        </p:txBody>
      </p:sp>
      <p:sp>
        <p:nvSpPr>
          <p:cNvPr id="1072" name="Google Shape;1072;p84"/>
          <p:cNvSpPr txBox="1"/>
          <p:nvPr>
            <p:ph idx="1" type="body"/>
          </p:nvPr>
        </p:nvSpPr>
        <p:spPr>
          <a:xfrm>
            <a:off x="324000" y="3617575"/>
            <a:ext cx="2912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c) 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1.75 × −0.4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− 0.3</a:t>
            </a:r>
            <a:endParaRPr sz="2000"/>
          </a:p>
        </p:txBody>
      </p:sp>
      <p:sp>
        <p:nvSpPr>
          <p:cNvPr id="1073" name="Google Shape;1073;p84"/>
          <p:cNvSpPr txBox="1"/>
          <p:nvPr>
            <p:ph idx="1" type="body"/>
          </p:nvPr>
        </p:nvSpPr>
        <p:spPr>
          <a:xfrm>
            <a:off x="324000" y="1368900"/>
            <a:ext cx="34995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a) 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1.75 × 0.8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− 0.3 = 1.1</a:t>
            </a:r>
            <a:endParaRPr sz="2000"/>
          </a:p>
        </p:txBody>
      </p:sp>
      <p:sp>
        <p:nvSpPr>
          <p:cNvPr id="1074" name="Google Shape;1074;p84"/>
          <p:cNvSpPr txBox="1"/>
          <p:nvPr/>
        </p:nvSpPr>
        <p:spPr>
          <a:xfrm>
            <a:off x="7834802" y="1415707"/>
            <a:ext cx="9549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(0.8, 1.1)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75" name="Google Shape;1075;p84"/>
          <p:cNvCxnSpPr/>
          <p:nvPr/>
        </p:nvCxnSpPr>
        <p:spPr>
          <a:xfrm>
            <a:off x="5883075" y="1293325"/>
            <a:ext cx="1861800" cy="6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076" name="Google Shape;1076;p84"/>
          <p:cNvCxnSpPr/>
          <p:nvPr/>
        </p:nvCxnSpPr>
        <p:spPr>
          <a:xfrm rot="10800000">
            <a:off x="7742925" y="1305450"/>
            <a:ext cx="9600" cy="17271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077" name="Google Shape;1077;p84"/>
          <p:cNvSpPr txBox="1"/>
          <p:nvPr/>
        </p:nvSpPr>
        <p:spPr>
          <a:xfrm>
            <a:off x="7630839" y="1124147"/>
            <a:ext cx="338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85"/>
          <p:cNvSpPr txBox="1"/>
          <p:nvPr>
            <p:ph idx="1" type="body"/>
          </p:nvPr>
        </p:nvSpPr>
        <p:spPr>
          <a:xfrm>
            <a:off x="324000" y="1368900"/>
            <a:ext cx="34995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a) 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1.75 × 0.8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− 0.3</a:t>
            </a:r>
            <a:endParaRPr sz="2000"/>
          </a:p>
        </p:txBody>
      </p:sp>
      <p:pic>
        <p:nvPicPr>
          <p:cNvPr id="1083" name="Google Shape;1083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0984" y="1142100"/>
            <a:ext cx="4206502" cy="3677923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84" name="Google Shape;1084;p85"/>
          <p:cNvSpPr txBox="1"/>
          <p:nvPr>
            <p:ph idx="1" type="body"/>
          </p:nvPr>
        </p:nvSpPr>
        <p:spPr>
          <a:xfrm>
            <a:off x="324000" y="759300"/>
            <a:ext cx="71931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2) Use this graph of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1.75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− 0.3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/>
              <a:t>to calculate:</a:t>
            </a:r>
            <a:endParaRPr sz="2000"/>
          </a:p>
        </p:txBody>
      </p:sp>
      <p:sp>
        <p:nvSpPr>
          <p:cNvPr id="1085" name="Google Shape;1085;p8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Reading from linear graphs</a:t>
            </a:r>
            <a:endParaRPr/>
          </a:p>
        </p:txBody>
      </p:sp>
      <p:sp>
        <p:nvSpPr>
          <p:cNvPr id="1086" name="Google Shape;1086;p85"/>
          <p:cNvSpPr txBox="1"/>
          <p:nvPr/>
        </p:nvSpPr>
        <p:spPr>
          <a:xfrm>
            <a:off x="8511305" y="2891794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7" name="Google Shape;1087;p85"/>
          <p:cNvSpPr txBox="1"/>
          <p:nvPr/>
        </p:nvSpPr>
        <p:spPr>
          <a:xfrm>
            <a:off x="5556040" y="1165115"/>
            <a:ext cx="186600" cy="28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8" name="Google Shape;1088;p85"/>
          <p:cNvSpPr txBox="1"/>
          <p:nvPr>
            <p:ph idx="1" type="body"/>
          </p:nvPr>
        </p:nvSpPr>
        <p:spPr>
          <a:xfrm>
            <a:off x="324000" y="2487475"/>
            <a:ext cx="25632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b) 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1.75 × 0.4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− 0.3</a:t>
            </a:r>
            <a:endParaRPr sz="2000"/>
          </a:p>
        </p:txBody>
      </p:sp>
      <p:sp>
        <p:nvSpPr>
          <p:cNvPr id="1089" name="Google Shape;1089;p85"/>
          <p:cNvSpPr txBox="1"/>
          <p:nvPr>
            <p:ph idx="1" type="body"/>
          </p:nvPr>
        </p:nvSpPr>
        <p:spPr>
          <a:xfrm>
            <a:off x="324000" y="3617575"/>
            <a:ext cx="2912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c) 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1.75 × −0.4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− 0.3</a:t>
            </a:r>
            <a:endParaRPr sz="2000"/>
          </a:p>
        </p:txBody>
      </p:sp>
      <p:sp>
        <p:nvSpPr>
          <p:cNvPr id="1090" name="Google Shape;1090;p85"/>
          <p:cNvSpPr txBox="1"/>
          <p:nvPr>
            <p:ph idx="1" type="body"/>
          </p:nvPr>
        </p:nvSpPr>
        <p:spPr>
          <a:xfrm>
            <a:off x="324000" y="1368900"/>
            <a:ext cx="34995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a) 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1.75 × 0.8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− 0.3 = 1.1</a:t>
            </a:r>
            <a:endParaRPr sz="2000"/>
          </a:p>
        </p:txBody>
      </p:sp>
      <p:sp>
        <p:nvSpPr>
          <p:cNvPr id="1091" name="Google Shape;1091;p85"/>
          <p:cNvSpPr txBox="1"/>
          <p:nvPr/>
        </p:nvSpPr>
        <p:spPr>
          <a:xfrm>
            <a:off x="6890229" y="2535693"/>
            <a:ext cx="9549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(0.4, 0.4)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92" name="Google Shape;1092;p85"/>
          <p:cNvCxnSpPr/>
          <p:nvPr/>
        </p:nvCxnSpPr>
        <p:spPr>
          <a:xfrm>
            <a:off x="5864550" y="2413300"/>
            <a:ext cx="951000" cy="24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093" name="Google Shape;1093;p85"/>
          <p:cNvCxnSpPr/>
          <p:nvPr/>
        </p:nvCxnSpPr>
        <p:spPr>
          <a:xfrm rot="10800000">
            <a:off x="6814650" y="2417850"/>
            <a:ext cx="4800" cy="6492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094" name="Google Shape;1094;p85"/>
          <p:cNvSpPr txBox="1"/>
          <p:nvPr/>
        </p:nvSpPr>
        <p:spPr>
          <a:xfrm>
            <a:off x="6686266" y="2244133"/>
            <a:ext cx="338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5" name="Google Shape;1095;p85"/>
          <p:cNvSpPr txBox="1"/>
          <p:nvPr>
            <p:ph idx="1" type="body"/>
          </p:nvPr>
        </p:nvSpPr>
        <p:spPr>
          <a:xfrm>
            <a:off x="324000" y="2487475"/>
            <a:ext cx="3614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b) 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1.75 × 0.4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− 0.3 = 0.4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86"/>
          <p:cNvSpPr txBox="1"/>
          <p:nvPr>
            <p:ph idx="1" type="body"/>
          </p:nvPr>
        </p:nvSpPr>
        <p:spPr>
          <a:xfrm>
            <a:off x="324000" y="1368900"/>
            <a:ext cx="34995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a) 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1.75 × 0.8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− 0.3</a:t>
            </a:r>
            <a:endParaRPr sz="2000"/>
          </a:p>
        </p:txBody>
      </p:sp>
      <p:pic>
        <p:nvPicPr>
          <p:cNvPr id="1101" name="Google Shape;1101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0984" y="1142100"/>
            <a:ext cx="4206502" cy="3677923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02" name="Google Shape;1102;p86"/>
          <p:cNvSpPr txBox="1"/>
          <p:nvPr>
            <p:ph idx="1" type="body"/>
          </p:nvPr>
        </p:nvSpPr>
        <p:spPr>
          <a:xfrm>
            <a:off x="324000" y="759300"/>
            <a:ext cx="71931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2) Use this graph of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1.75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− 0.3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/>
              <a:t>to calculate:</a:t>
            </a:r>
            <a:endParaRPr sz="2000"/>
          </a:p>
        </p:txBody>
      </p:sp>
      <p:sp>
        <p:nvSpPr>
          <p:cNvPr id="1103" name="Google Shape;1103;p8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Reading from linear graphs</a:t>
            </a:r>
            <a:endParaRPr/>
          </a:p>
        </p:txBody>
      </p:sp>
      <p:sp>
        <p:nvSpPr>
          <p:cNvPr id="1104" name="Google Shape;1104;p86"/>
          <p:cNvSpPr txBox="1"/>
          <p:nvPr/>
        </p:nvSpPr>
        <p:spPr>
          <a:xfrm>
            <a:off x="8511305" y="2891794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5" name="Google Shape;1105;p86"/>
          <p:cNvSpPr txBox="1"/>
          <p:nvPr/>
        </p:nvSpPr>
        <p:spPr>
          <a:xfrm>
            <a:off x="5556040" y="1165115"/>
            <a:ext cx="186600" cy="28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6" name="Google Shape;1106;p86"/>
          <p:cNvSpPr txBox="1"/>
          <p:nvPr>
            <p:ph idx="1" type="body"/>
          </p:nvPr>
        </p:nvSpPr>
        <p:spPr>
          <a:xfrm>
            <a:off x="324000" y="2487475"/>
            <a:ext cx="25632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b) 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1.75 × 0.4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− 0.3</a:t>
            </a:r>
            <a:endParaRPr sz="2000"/>
          </a:p>
        </p:txBody>
      </p:sp>
      <p:sp>
        <p:nvSpPr>
          <p:cNvPr id="1107" name="Google Shape;1107;p86"/>
          <p:cNvSpPr txBox="1"/>
          <p:nvPr>
            <p:ph idx="1" type="body"/>
          </p:nvPr>
        </p:nvSpPr>
        <p:spPr>
          <a:xfrm>
            <a:off x="324000" y="3617575"/>
            <a:ext cx="2912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c) 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1.75 × −0.4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− 0.3</a:t>
            </a:r>
            <a:endParaRPr sz="2000"/>
          </a:p>
        </p:txBody>
      </p:sp>
      <p:sp>
        <p:nvSpPr>
          <p:cNvPr id="1108" name="Google Shape;1108;p86"/>
          <p:cNvSpPr txBox="1"/>
          <p:nvPr>
            <p:ph idx="1" type="body"/>
          </p:nvPr>
        </p:nvSpPr>
        <p:spPr>
          <a:xfrm>
            <a:off x="324000" y="1368900"/>
            <a:ext cx="34995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a) 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1.75 × 0.8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− 0.3 = 1.1</a:t>
            </a:r>
            <a:endParaRPr sz="2000"/>
          </a:p>
        </p:txBody>
      </p:sp>
      <p:cxnSp>
        <p:nvCxnSpPr>
          <p:cNvPr id="1109" name="Google Shape;1109;p86"/>
          <p:cNvCxnSpPr/>
          <p:nvPr/>
        </p:nvCxnSpPr>
        <p:spPr>
          <a:xfrm>
            <a:off x="4943000" y="4650468"/>
            <a:ext cx="954900" cy="60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110" name="Google Shape;1110;p86"/>
          <p:cNvCxnSpPr/>
          <p:nvPr/>
        </p:nvCxnSpPr>
        <p:spPr>
          <a:xfrm rot="10800000">
            <a:off x="4932698" y="3072900"/>
            <a:ext cx="4800" cy="1593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111" name="Google Shape;1111;p86"/>
          <p:cNvSpPr txBox="1"/>
          <p:nvPr>
            <p:ph idx="1" type="body"/>
          </p:nvPr>
        </p:nvSpPr>
        <p:spPr>
          <a:xfrm>
            <a:off x="324000" y="2487475"/>
            <a:ext cx="3614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b) 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1.75 × 0.4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− 0.3 = 0.4</a:t>
            </a:r>
            <a:endParaRPr sz="2000"/>
          </a:p>
        </p:txBody>
      </p:sp>
      <p:sp>
        <p:nvSpPr>
          <p:cNvPr id="1112" name="Google Shape;1112;p86"/>
          <p:cNvSpPr txBox="1"/>
          <p:nvPr/>
        </p:nvSpPr>
        <p:spPr>
          <a:xfrm>
            <a:off x="3726975" y="4376000"/>
            <a:ext cx="10587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0.4,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−1</a:t>
            </a: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3" name="Google Shape;1113;p86"/>
          <p:cNvSpPr txBox="1"/>
          <p:nvPr/>
        </p:nvSpPr>
        <p:spPr>
          <a:xfrm>
            <a:off x="4822946" y="4465440"/>
            <a:ext cx="338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4" name="Google Shape;1114;p86"/>
          <p:cNvSpPr txBox="1"/>
          <p:nvPr>
            <p:ph idx="1" type="body"/>
          </p:nvPr>
        </p:nvSpPr>
        <p:spPr>
          <a:xfrm>
            <a:off x="324000" y="3617575"/>
            <a:ext cx="34029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c) 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1.75 × −0.4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− 0.3 = −1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9" name="Google Shape;1119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0800" y="1623182"/>
            <a:ext cx="4363325" cy="3174512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20" name="Google Shape;1120;p87"/>
          <p:cNvSpPr txBox="1"/>
          <p:nvPr>
            <p:ph idx="1" type="body"/>
          </p:nvPr>
        </p:nvSpPr>
        <p:spPr>
          <a:xfrm>
            <a:off x="324000" y="812487"/>
            <a:ext cx="71931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3) The Oak pupils plot their age against how many books they have read and find a linear relationship. </a:t>
            </a:r>
            <a:endParaRPr sz="2000"/>
          </a:p>
        </p:txBody>
      </p:sp>
      <p:sp>
        <p:nvSpPr>
          <p:cNvPr id="1121" name="Google Shape;1121;p8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Reading from linear graphs</a:t>
            </a:r>
            <a:endParaRPr/>
          </a:p>
        </p:txBody>
      </p:sp>
      <p:cxnSp>
        <p:nvCxnSpPr>
          <p:cNvPr id="1122" name="Google Shape;1122;p87"/>
          <p:cNvCxnSpPr/>
          <p:nvPr/>
        </p:nvCxnSpPr>
        <p:spPr>
          <a:xfrm>
            <a:off x="4444725" y="4585950"/>
            <a:ext cx="40044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3" name="Google Shape;1123;p87"/>
          <p:cNvCxnSpPr/>
          <p:nvPr/>
        </p:nvCxnSpPr>
        <p:spPr>
          <a:xfrm rot="10800000">
            <a:off x="4444725" y="1617150"/>
            <a:ext cx="0" cy="29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4" name="Google Shape;1124;p87"/>
          <p:cNvSpPr txBox="1"/>
          <p:nvPr/>
        </p:nvSpPr>
        <p:spPr>
          <a:xfrm>
            <a:off x="4053503" y="3527575"/>
            <a:ext cx="3450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200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5" name="Google Shape;1125;p87"/>
          <p:cNvSpPr txBox="1"/>
          <p:nvPr/>
        </p:nvSpPr>
        <p:spPr>
          <a:xfrm>
            <a:off x="4053503" y="3070375"/>
            <a:ext cx="3450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300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6" name="Google Shape;1126;p87"/>
          <p:cNvSpPr txBox="1"/>
          <p:nvPr/>
        </p:nvSpPr>
        <p:spPr>
          <a:xfrm>
            <a:off x="4053503" y="2601668"/>
            <a:ext cx="3450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400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7" name="Google Shape;1127;p87"/>
          <p:cNvSpPr txBox="1"/>
          <p:nvPr/>
        </p:nvSpPr>
        <p:spPr>
          <a:xfrm>
            <a:off x="4053503" y="2144468"/>
            <a:ext cx="3450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500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8" name="Google Shape;1128;p87"/>
          <p:cNvSpPr txBox="1"/>
          <p:nvPr/>
        </p:nvSpPr>
        <p:spPr>
          <a:xfrm>
            <a:off x="4053503" y="3996282"/>
            <a:ext cx="3450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9" name="Google Shape;1129;p87"/>
          <p:cNvSpPr txBox="1"/>
          <p:nvPr>
            <p:ph idx="4294967295" type="body"/>
          </p:nvPr>
        </p:nvSpPr>
        <p:spPr>
          <a:xfrm>
            <a:off x="7410600" y="4226150"/>
            <a:ext cx="1009500" cy="3246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Age (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yrs</a:t>
            </a:r>
            <a:r>
              <a:rPr lang="en-GB" sz="1800"/>
              <a:t>)</a:t>
            </a:r>
            <a:endParaRPr sz="1800"/>
          </a:p>
        </p:txBody>
      </p:sp>
      <p:sp>
        <p:nvSpPr>
          <p:cNvPr id="1130" name="Google Shape;1130;p87"/>
          <p:cNvSpPr txBox="1"/>
          <p:nvPr>
            <p:ph idx="4294967295" type="body"/>
          </p:nvPr>
        </p:nvSpPr>
        <p:spPr>
          <a:xfrm rot="-5400000">
            <a:off x="3243768" y="2108518"/>
            <a:ext cx="1293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Books read</a:t>
            </a:r>
            <a:endParaRPr sz="1800"/>
          </a:p>
        </p:txBody>
      </p:sp>
      <p:sp>
        <p:nvSpPr>
          <p:cNvPr id="1131" name="Google Shape;1131;p87"/>
          <p:cNvSpPr txBox="1"/>
          <p:nvPr>
            <p:ph idx="1" type="body"/>
          </p:nvPr>
        </p:nvSpPr>
        <p:spPr>
          <a:xfrm>
            <a:off x="324000" y="3022277"/>
            <a:ext cx="30456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 Use the graph to predict how many books a pupil will have read by the time they reach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18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1132" name="Google Shape;1132;p87"/>
          <p:cNvSpPr txBox="1"/>
          <p:nvPr>
            <p:ph idx="1" type="body"/>
          </p:nvPr>
        </p:nvSpPr>
        <p:spPr>
          <a:xfrm>
            <a:off x="324000" y="1597500"/>
            <a:ext cx="30456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 Use the graph to estimate the age of a pupil who has read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400</a:t>
            </a:r>
            <a:r>
              <a:rPr lang="en-GB" sz="1800"/>
              <a:t> books.</a:t>
            </a:r>
            <a:endParaRPr sz="1800"/>
          </a:p>
        </p:txBody>
      </p:sp>
      <p:sp>
        <p:nvSpPr>
          <p:cNvPr id="1133" name="Google Shape;1133;p87"/>
          <p:cNvSpPr txBox="1"/>
          <p:nvPr/>
        </p:nvSpPr>
        <p:spPr>
          <a:xfrm>
            <a:off x="6368335" y="2805973"/>
            <a:ext cx="9549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(14, 400)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34" name="Google Shape;1134;p87"/>
          <p:cNvCxnSpPr/>
          <p:nvPr/>
        </p:nvCxnSpPr>
        <p:spPr>
          <a:xfrm>
            <a:off x="4444725" y="2759775"/>
            <a:ext cx="1845300" cy="6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135" name="Google Shape;1135;p87"/>
          <p:cNvCxnSpPr/>
          <p:nvPr/>
        </p:nvCxnSpPr>
        <p:spPr>
          <a:xfrm rot="10800000">
            <a:off x="6288250" y="2772350"/>
            <a:ext cx="9300" cy="17784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136" name="Google Shape;1136;p87"/>
          <p:cNvSpPr txBox="1"/>
          <p:nvPr/>
        </p:nvSpPr>
        <p:spPr>
          <a:xfrm>
            <a:off x="6164373" y="2590613"/>
            <a:ext cx="338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7" name="Google Shape;1137;p87"/>
          <p:cNvSpPr txBox="1"/>
          <p:nvPr>
            <p:ph idx="4294967295" type="body"/>
          </p:nvPr>
        </p:nvSpPr>
        <p:spPr>
          <a:xfrm>
            <a:off x="2681853" y="2571387"/>
            <a:ext cx="7104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≈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14</a:t>
            </a:r>
            <a:endParaRPr/>
          </a:p>
        </p:txBody>
      </p:sp>
      <p:sp>
        <p:nvSpPr>
          <p:cNvPr id="1138" name="Google Shape;1138;p87"/>
          <p:cNvSpPr txBox="1"/>
          <p:nvPr/>
        </p:nvSpPr>
        <p:spPr>
          <a:xfrm>
            <a:off x="4053503" y="1710282"/>
            <a:ext cx="3450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600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3" name="Google Shape;1143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0800" y="1623182"/>
            <a:ext cx="4363325" cy="3174512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44" name="Google Shape;1144;p88"/>
          <p:cNvSpPr txBox="1"/>
          <p:nvPr>
            <p:ph idx="1" type="body"/>
          </p:nvPr>
        </p:nvSpPr>
        <p:spPr>
          <a:xfrm>
            <a:off x="324000" y="812487"/>
            <a:ext cx="71931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3) </a:t>
            </a:r>
            <a:r>
              <a:rPr lang="en-GB" sz="2000"/>
              <a:t>The Oak pupils plot their age against how many books they have read and find a linear relationship.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145" name="Google Shape;1145;p8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Reading from linear graphs</a:t>
            </a:r>
            <a:endParaRPr/>
          </a:p>
        </p:txBody>
      </p:sp>
      <p:cxnSp>
        <p:nvCxnSpPr>
          <p:cNvPr id="1146" name="Google Shape;1146;p88"/>
          <p:cNvCxnSpPr/>
          <p:nvPr/>
        </p:nvCxnSpPr>
        <p:spPr>
          <a:xfrm>
            <a:off x="4444725" y="4585950"/>
            <a:ext cx="40044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7" name="Google Shape;1147;p88"/>
          <p:cNvCxnSpPr/>
          <p:nvPr/>
        </p:nvCxnSpPr>
        <p:spPr>
          <a:xfrm rot="10800000">
            <a:off x="4444725" y="1617150"/>
            <a:ext cx="0" cy="296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8" name="Google Shape;1148;p88"/>
          <p:cNvSpPr txBox="1"/>
          <p:nvPr/>
        </p:nvSpPr>
        <p:spPr>
          <a:xfrm>
            <a:off x="4053503" y="3527575"/>
            <a:ext cx="3450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200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9" name="Google Shape;1149;p88"/>
          <p:cNvSpPr txBox="1"/>
          <p:nvPr/>
        </p:nvSpPr>
        <p:spPr>
          <a:xfrm>
            <a:off x="4053503" y="3070375"/>
            <a:ext cx="3450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300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0" name="Google Shape;1150;p88"/>
          <p:cNvSpPr txBox="1"/>
          <p:nvPr/>
        </p:nvSpPr>
        <p:spPr>
          <a:xfrm>
            <a:off x="4053503" y="2601668"/>
            <a:ext cx="3450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400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1" name="Google Shape;1151;p88"/>
          <p:cNvSpPr txBox="1"/>
          <p:nvPr/>
        </p:nvSpPr>
        <p:spPr>
          <a:xfrm>
            <a:off x="4053503" y="2144468"/>
            <a:ext cx="3450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500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2" name="Google Shape;1152;p88"/>
          <p:cNvSpPr txBox="1"/>
          <p:nvPr/>
        </p:nvSpPr>
        <p:spPr>
          <a:xfrm>
            <a:off x="4053503" y="3996282"/>
            <a:ext cx="3450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3" name="Google Shape;1153;p88"/>
          <p:cNvSpPr txBox="1"/>
          <p:nvPr>
            <p:ph idx="4294967295" type="body"/>
          </p:nvPr>
        </p:nvSpPr>
        <p:spPr>
          <a:xfrm>
            <a:off x="7410600" y="4226150"/>
            <a:ext cx="1009500" cy="3246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Age (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yrs</a:t>
            </a:r>
            <a:r>
              <a:rPr lang="en-GB" sz="1800"/>
              <a:t>)</a:t>
            </a:r>
            <a:endParaRPr sz="1800"/>
          </a:p>
        </p:txBody>
      </p:sp>
      <p:sp>
        <p:nvSpPr>
          <p:cNvPr id="1154" name="Google Shape;1154;p88"/>
          <p:cNvSpPr txBox="1"/>
          <p:nvPr>
            <p:ph idx="4294967295" type="body"/>
          </p:nvPr>
        </p:nvSpPr>
        <p:spPr>
          <a:xfrm rot="-5400000">
            <a:off x="3243768" y="2108518"/>
            <a:ext cx="1293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Books read</a:t>
            </a:r>
            <a:endParaRPr sz="1800"/>
          </a:p>
        </p:txBody>
      </p:sp>
      <p:sp>
        <p:nvSpPr>
          <p:cNvPr id="1155" name="Google Shape;1155;p88"/>
          <p:cNvSpPr txBox="1"/>
          <p:nvPr>
            <p:ph idx="1" type="body"/>
          </p:nvPr>
        </p:nvSpPr>
        <p:spPr>
          <a:xfrm>
            <a:off x="324000" y="3022277"/>
            <a:ext cx="30456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 Use the graph to predict how many books a pupil will have read by the time they reach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18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1156" name="Google Shape;1156;p88"/>
          <p:cNvSpPr txBox="1"/>
          <p:nvPr>
            <p:ph idx="1" type="body"/>
          </p:nvPr>
        </p:nvSpPr>
        <p:spPr>
          <a:xfrm>
            <a:off x="324000" y="1597500"/>
            <a:ext cx="30456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 Use the graph to estimate the age of a pupil who has read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400</a:t>
            </a:r>
            <a:r>
              <a:rPr lang="en-GB" sz="1800"/>
              <a:t> books.</a:t>
            </a:r>
            <a:endParaRPr sz="1800"/>
          </a:p>
        </p:txBody>
      </p:sp>
      <p:sp>
        <p:nvSpPr>
          <p:cNvPr id="1157" name="Google Shape;1157;p88"/>
          <p:cNvSpPr txBox="1"/>
          <p:nvPr/>
        </p:nvSpPr>
        <p:spPr>
          <a:xfrm>
            <a:off x="7804629" y="2020960"/>
            <a:ext cx="9549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(18, 575)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8" name="Google Shape;1158;p88"/>
          <p:cNvCxnSpPr/>
          <p:nvPr/>
        </p:nvCxnSpPr>
        <p:spPr>
          <a:xfrm>
            <a:off x="4444725" y="1974750"/>
            <a:ext cx="3275700" cy="9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159" name="Google Shape;1159;p88"/>
          <p:cNvCxnSpPr/>
          <p:nvPr/>
        </p:nvCxnSpPr>
        <p:spPr>
          <a:xfrm rot="10800000">
            <a:off x="7717350" y="1992950"/>
            <a:ext cx="16500" cy="25578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160" name="Google Shape;1160;p88"/>
          <p:cNvSpPr txBox="1"/>
          <p:nvPr/>
        </p:nvSpPr>
        <p:spPr>
          <a:xfrm>
            <a:off x="7600666" y="1805600"/>
            <a:ext cx="338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1" name="Google Shape;1161;p88"/>
          <p:cNvSpPr txBox="1"/>
          <p:nvPr>
            <p:ph idx="4294967295" type="body"/>
          </p:nvPr>
        </p:nvSpPr>
        <p:spPr>
          <a:xfrm>
            <a:off x="2681853" y="2571387"/>
            <a:ext cx="7104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≈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14</a:t>
            </a:r>
            <a:endParaRPr/>
          </a:p>
        </p:txBody>
      </p:sp>
      <p:sp>
        <p:nvSpPr>
          <p:cNvPr id="1162" name="Google Shape;1162;p88"/>
          <p:cNvSpPr txBox="1"/>
          <p:nvPr>
            <p:ph idx="4294967295" type="body"/>
          </p:nvPr>
        </p:nvSpPr>
        <p:spPr>
          <a:xfrm>
            <a:off x="2681849" y="4095375"/>
            <a:ext cx="8769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≈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575</a:t>
            </a:r>
            <a:endParaRPr/>
          </a:p>
        </p:txBody>
      </p:sp>
      <p:sp>
        <p:nvSpPr>
          <p:cNvPr id="1163" name="Google Shape;1163;p88"/>
          <p:cNvSpPr txBox="1"/>
          <p:nvPr/>
        </p:nvSpPr>
        <p:spPr>
          <a:xfrm>
            <a:off x="4053503" y="1710282"/>
            <a:ext cx="3450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00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8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Reading from linear graphs</a:t>
            </a:r>
            <a:endParaRPr/>
          </a:p>
        </p:txBody>
      </p:sp>
      <p:sp>
        <p:nvSpPr>
          <p:cNvPr id="1169" name="Google Shape;1169;p8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Reading from quadratic graphs</a:t>
            </a:r>
            <a:endParaRPr/>
          </a:p>
        </p:txBody>
      </p:sp>
      <p:sp>
        <p:nvSpPr>
          <p:cNvPr id="1170" name="Google Shape;1170;p8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Reading from graphs</a:t>
            </a:r>
            <a:endParaRPr/>
          </a:p>
        </p:txBody>
      </p:sp>
      <p:pic>
        <p:nvPicPr>
          <p:cNvPr id="1171" name="Google Shape;1171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843" y="2987411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p90"/>
          <p:cNvSpPr txBox="1"/>
          <p:nvPr>
            <p:ph idx="1" type="body"/>
          </p:nvPr>
        </p:nvSpPr>
        <p:spPr>
          <a:xfrm>
            <a:off x="324000" y="759300"/>
            <a:ext cx="8237700" cy="37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It’s not just linear graphs that we can read from.</a:t>
            </a:r>
            <a:endParaRPr/>
          </a:p>
        </p:txBody>
      </p:sp>
      <p:sp>
        <p:nvSpPr>
          <p:cNvPr id="1177" name="Google Shape;1177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Reading from quadratic graphs</a:t>
            </a:r>
            <a:endParaRPr/>
          </a:p>
        </p:txBody>
      </p:sp>
      <p:sp>
        <p:nvSpPr>
          <p:cNvPr id="1178" name="Google Shape;1178;p90"/>
          <p:cNvSpPr txBox="1"/>
          <p:nvPr>
            <p:ph idx="1" type="body"/>
          </p:nvPr>
        </p:nvSpPr>
        <p:spPr>
          <a:xfrm>
            <a:off x="324000" y="1216500"/>
            <a:ext cx="6697500" cy="37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This is the graph of the quadratic equation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30000"/>
          </a:p>
        </p:txBody>
      </p:sp>
      <p:pic>
        <p:nvPicPr>
          <p:cNvPr id="1179" name="Google Shape;1179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6360" y="1621362"/>
            <a:ext cx="3213800" cy="3194322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80" name="Google Shape;1180;p90"/>
          <p:cNvSpPr txBox="1"/>
          <p:nvPr/>
        </p:nvSpPr>
        <p:spPr>
          <a:xfrm>
            <a:off x="8317225" y="4297914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1" name="Google Shape;1181;p90"/>
          <p:cNvSpPr txBox="1"/>
          <p:nvPr/>
        </p:nvSpPr>
        <p:spPr>
          <a:xfrm>
            <a:off x="6295027" y="1626662"/>
            <a:ext cx="186600" cy="28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2" name="Google Shape;1182;p90"/>
          <p:cNvSpPr txBox="1"/>
          <p:nvPr>
            <p:ph idx="1" type="body"/>
          </p:nvPr>
        </p:nvSpPr>
        <p:spPr>
          <a:xfrm>
            <a:off x="324000" y="2705975"/>
            <a:ext cx="4443000" cy="77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means that the values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4,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16</a:t>
            </a:r>
            <a:r>
              <a:rPr lang="en-GB"/>
              <a:t> satisfy the equation.</a:t>
            </a:r>
            <a:endParaRPr/>
          </a:p>
        </p:txBody>
      </p:sp>
      <p:sp>
        <p:nvSpPr>
          <p:cNvPr id="1183" name="Google Shape;1183;p90"/>
          <p:cNvSpPr txBox="1"/>
          <p:nvPr>
            <p:ph idx="1" type="body"/>
          </p:nvPr>
        </p:nvSpPr>
        <p:spPr>
          <a:xfrm>
            <a:off x="986780" y="3703725"/>
            <a:ext cx="9192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30000"/>
          </a:p>
        </p:txBody>
      </p:sp>
      <p:sp>
        <p:nvSpPr>
          <p:cNvPr id="1184" name="Google Shape;1184;p90"/>
          <p:cNvSpPr txBox="1"/>
          <p:nvPr>
            <p:ph idx="1" type="body"/>
          </p:nvPr>
        </p:nvSpPr>
        <p:spPr>
          <a:xfrm>
            <a:off x="617293" y="4317682"/>
            <a:ext cx="17619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(16) = (4)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pic>
        <p:nvPicPr>
          <p:cNvPr id="1185" name="Google Shape;1185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60583" y="4314564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6" name="Google Shape;1186;p90"/>
          <p:cNvSpPr txBox="1"/>
          <p:nvPr>
            <p:ph idx="1" type="body"/>
          </p:nvPr>
        </p:nvSpPr>
        <p:spPr>
          <a:xfrm>
            <a:off x="324000" y="1791575"/>
            <a:ext cx="3717900" cy="77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can read the coordinate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(4, 16)</a:t>
            </a:r>
            <a:endParaRPr/>
          </a:p>
        </p:txBody>
      </p:sp>
      <p:sp>
        <p:nvSpPr>
          <p:cNvPr id="1187" name="Google Shape;1187;p90"/>
          <p:cNvSpPr txBox="1"/>
          <p:nvPr/>
        </p:nvSpPr>
        <p:spPr>
          <a:xfrm>
            <a:off x="7688277" y="2413475"/>
            <a:ext cx="7578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(4, 16)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8" name="Google Shape;1188;p90"/>
          <p:cNvSpPr txBox="1"/>
          <p:nvPr/>
        </p:nvSpPr>
        <p:spPr>
          <a:xfrm>
            <a:off x="7484320" y="2198106"/>
            <a:ext cx="338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89" name="Google Shape;1189;p90"/>
          <p:cNvCxnSpPr/>
          <p:nvPr/>
        </p:nvCxnSpPr>
        <p:spPr>
          <a:xfrm>
            <a:off x="6642500" y="2367250"/>
            <a:ext cx="965100" cy="78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190" name="Google Shape;1190;p90"/>
          <p:cNvCxnSpPr/>
          <p:nvPr/>
        </p:nvCxnSpPr>
        <p:spPr>
          <a:xfrm flipH="1" rot="10800000">
            <a:off x="7591850" y="2381975"/>
            <a:ext cx="5400" cy="20952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Reading from quadratic graphs</a:t>
            </a:r>
            <a:endParaRPr/>
          </a:p>
        </p:txBody>
      </p:sp>
      <p:pic>
        <p:nvPicPr>
          <p:cNvPr id="1196" name="Google Shape;1196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6360" y="1621362"/>
            <a:ext cx="3213800" cy="3194322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97" name="Google Shape;1197;p91"/>
          <p:cNvSpPr txBox="1"/>
          <p:nvPr/>
        </p:nvSpPr>
        <p:spPr>
          <a:xfrm>
            <a:off x="8317225" y="4297914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8" name="Google Shape;1198;p91"/>
          <p:cNvSpPr txBox="1"/>
          <p:nvPr/>
        </p:nvSpPr>
        <p:spPr>
          <a:xfrm>
            <a:off x="6295027" y="1626662"/>
            <a:ext cx="186600" cy="28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9" name="Google Shape;1199;p91"/>
          <p:cNvSpPr txBox="1"/>
          <p:nvPr/>
        </p:nvSpPr>
        <p:spPr>
          <a:xfrm>
            <a:off x="7688277" y="2413475"/>
            <a:ext cx="7578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(4, 16)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0" name="Google Shape;1200;p91"/>
          <p:cNvSpPr txBox="1"/>
          <p:nvPr/>
        </p:nvSpPr>
        <p:spPr>
          <a:xfrm>
            <a:off x="7484320" y="2198106"/>
            <a:ext cx="338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1" name="Google Shape;1201;p91"/>
          <p:cNvSpPr txBox="1"/>
          <p:nvPr/>
        </p:nvSpPr>
        <p:spPr>
          <a:xfrm>
            <a:off x="7688277" y="2413475"/>
            <a:ext cx="7578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(4, 16)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02" name="Google Shape;1202;p91"/>
          <p:cNvCxnSpPr/>
          <p:nvPr/>
        </p:nvCxnSpPr>
        <p:spPr>
          <a:xfrm>
            <a:off x="6642500" y="2367250"/>
            <a:ext cx="965100" cy="78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03" name="Google Shape;1203;p91"/>
          <p:cNvCxnSpPr/>
          <p:nvPr/>
        </p:nvCxnSpPr>
        <p:spPr>
          <a:xfrm flipH="1" rot="10800000">
            <a:off x="7591850" y="2381975"/>
            <a:ext cx="5400" cy="20952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204" name="Google Shape;1204;p91"/>
          <p:cNvSpPr txBox="1"/>
          <p:nvPr/>
        </p:nvSpPr>
        <p:spPr>
          <a:xfrm>
            <a:off x="4727974" y="2413475"/>
            <a:ext cx="8478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(−4, 16)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05" name="Google Shape;1205;p91"/>
          <p:cNvCxnSpPr/>
          <p:nvPr/>
        </p:nvCxnSpPr>
        <p:spPr>
          <a:xfrm>
            <a:off x="5709434" y="2367250"/>
            <a:ext cx="965100" cy="78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06" name="Google Shape;1206;p91"/>
          <p:cNvCxnSpPr/>
          <p:nvPr/>
        </p:nvCxnSpPr>
        <p:spPr>
          <a:xfrm flipH="1" rot="10800000">
            <a:off x="5698357" y="2381975"/>
            <a:ext cx="5400" cy="20952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207" name="Google Shape;1207;p91"/>
          <p:cNvSpPr txBox="1"/>
          <p:nvPr/>
        </p:nvSpPr>
        <p:spPr>
          <a:xfrm>
            <a:off x="5590827" y="2198106"/>
            <a:ext cx="338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8" name="Google Shape;1208;p91"/>
          <p:cNvSpPr txBox="1"/>
          <p:nvPr/>
        </p:nvSpPr>
        <p:spPr>
          <a:xfrm>
            <a:off x="7484320" y="2198106"/>
            <a:ext cx="338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9" name="Google Shape;1209;p91"/>
          <p:cNvSpPr txBox="1"/>
          <p:nvPr>
            <p:ph idx="1" type="body"/>
          </p:nvPr>
        </p:nvSpPr>
        <p:spPr>
          <a:xfrm>
            <a:off x="324000" y="759300"/>
            <a:ext cx="4581000" cy="37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Because quadratic graphs form the shape of a parabola we can sometimes take two readings.</a:t>
            </a:r>
            <a:endParaRPr/>
          </a:p>
        </p:txBody>
      </p:sp>
      <p:sp>
        <p:nvSpPr>
          <p:cNvPr id="1210" name="Google Shape;1210;p91"/>
          <p:cNvSpPr txBox="1"/>
          <p:nvPr>
            <p:ph idx="1" type="body"/>
          </p:nvPr>
        </p:nvSpPr>
        <p:spPr>
          <a:xfrm>
            <a:off x="5429400" y="1216500"/>
            <a:ext cx="757800" cy="37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30000"/>
          </a:p>
        </p:txBody>
      </p:sp>
      <p:sp>
        <p:nvSpPr>
          <p:cNvPr id="1211" name="Google Shape;1211;p91"/>
          <p:cNvSpPr txBox="1"/>
          <p:nvPr/>
        </p:nvSpPr>
        <p:spPr>
          <a:xfrm>
            <a:off x="324000" y="2039400"/>
            <a:ext cx="3000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There are two moments when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x</a:t>
            </a:r>
            <a:r>
              <a:rPr baseline="30000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has a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-value of 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  <a:endParaRPr sz="2200"/>
          </a:p>
        </p:txBody>
      </p:sp>
      <p:sp>
        <p:nvSpPr>
          <p:cNvPr id="1212" name="Google Shape;1212;p91"/>
          <p:cNvSpPr txBox="1"/>
          <p:nvPr/>
        </p:nvSpPr>
        <p:spPr>
          <a:xfrm>
            <a:off x="324000" y="3472625"/>
            <a:ext cx="41379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Therefore, t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here are two solutions to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16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They are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4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22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Reading from quadratic graphs</a:t>
            </a:r>
            <a:endParaRPr/>
          </a:p>
        </p:txBody>
      </p:sp>
      <p:pic>
        <p:nvPicPr>
          <p:cNvPr id="1218" name="Google Shape;1218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5505" y="810000"/>
            <a:ext cx="4030104" cy="4005676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19" name="Google Shape;1219;p92"/>
          <p:cNvSpPr txBox="1"/>
          <p:nvPr/>
        </p:nvSpPr>
        <p:spPr>
          <a:xfrm>
            <a:off x="8286377" y="4231528"/>
            <a:ext cx="2058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0" name="Google Shape;1220;p92"/>
          <p:cNvSpPr txBox="1"/>
          <p:nvPr/>
        </p:nvSpPr>
        <p:spPr>
          <a:xfrm>
            <a:off x="5764091" y="850082"/>
            <a:ext cx="205800" cy="316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1" name="Google Shape;1221;p92"/>
          <p:cNvSpPr txBox="1"/>
          <p:nvPr/>
        </p:nvSpPr>
        <p:spPr>
          <a:xfrm>
            <a:off x="7322807" y="2728430"/>
            <a:ext cx="688800" cy="316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(3, 9)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22" name="Google Shape;1222;p92"/>
          <p:cNvCxnSpPr/>
          <p:nvPr/>
        </p:nvCxnSpPr>
        <p:spPr>
          <a:xfrm>
            <a:off x="6184184" y="2885761"/>
            <a:ext cx="935700" cy="57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23" name="Google Shape;1223;p92"/>
          <p:cNvCxnSpPr/>
          <p:nvPr/>
        </p:nvCxnSpPr>
        <p:spPr>
          <a:xfrm flipH="1" rot="10800000">
            <a:off x="7093228" y="2896205"/>
            <a:ext cx="5400" cy="14823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224" name="Google Shape;1224;p92"/>
          <p:cNvSpPr txBox="1"/>
          <p:nvPr/>
        </p:nvSpPr>
        <p:spPr>
          <a:xfrm>
            <a:off x="4383650" y="2669000"/>
            <a:ext cx="781200" cy="35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(−3, 9)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25" name="Google Shape;1225;p92"/>
          <p:cNvCxnSpPr/>
          <p:nvPr/>
        </p:nvCxnSpPr>
        <p:spPr>
          <a:xfrm>
            <a:off x="5333707" y="2885761"/>
            <a:ext cx="826800" cy="57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26" name="Google Shape;1226;p92"/>
          <p:cNvCxnSpPr/>
          <p:nvPr/>
        </p:nvCxnSpPr>
        <p:spPr>
          <a:xfrm flipH="1" rot="10800000">
            <a:off x="5278188" y="2896205"/>
            <a:ext cx="4500" cy="14823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227" name="Google Shape;1227;p92"/>
          <p:cNvSpPr txBox="1"/>
          <p:nvPr>
            <p:ph idx="1" type="body"/>
          </p:nvPr>
        </p:nvSpPr>
        <p:spPr>
          <a:xfrm>
            <a:off x="324000" y="759300"/>
            <a:ext cx="32001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 the two moments when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9</a:t>
            </a:r>
            <a:endParaRPr/>
          </a:p>
        </p:txBody>
      </p:sp>
      <p:sp>
        <p:nvSpPr>
          <p:cNvPr id="1228" name="Google Shape;1228;p92"/>
          <p:cNvSpPr txBox="1"/>
          <p:nvPr/>
        </p:nvSpPr>
        <p:spPr>
          <a:xfrm>
            <a:off x="6966539" y="2725453"/>
            <a:ext cx="3564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9" name="Google Shape;1229;p92"/>
          <p:cNvSpPr txBox="1"/>
          <p:nvPr/>
        </p:nvSpPr>
        <p:spPr>
          <a:xfrm>
            <a:off x="5164912" y="2704851"/>
            <a:ext cx="3564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0" name="Google Shape;1230;p92"/>
          <p:cNvSpPr txBox="1"/>
          <p:nvPr/>
        </p:nvSpPr>
        <p:spPr>
          <a:xfrm>
            <a:off x="323476" y="1905000"/>
            <a:ext cx="3384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9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w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hen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3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5" name="Google Shape;1235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9281" y="2048400"/>
            <a:ext cx="4423175" cy="2714610"/>
          </a:xfrm>
          <a:prstGeom prst="rect">
            <a:avLst/>
          </a:prstGeom>
          <a:noFill/>
          <a:ln>
            <a:noFill/>
          </a:ln>
        </p:spPr>
      </p:pic>
      <p:sp>
        <p:nvSpPr>
          <p:cNvPr id="1236" name="Google Shape;1236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Reading from quadratic graphs</a:t>
            </a:r>
            <a:endParaRPr/>
          </a:p>
        </p:txBody>
      </p:sp>
      <p:sp>
        <p:nvSpPr>
          <p:cNvPr id="1237" name="Google Shape;1237;p93"/>
          <p:cNvSpPr txBox="1"/>
          <p:nvPr>
            <p:ph idx="1" type="body"/>
          </p:nvPr>
        </p:nvSpPr>
        <p:spPr>
          <a:xfrm>
            <a:off x="324000" y="759300"/>
            <a:ext cx="8496000" cy="37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P</a:t>
            </a:r>
            <a:r>
              <a:rPr lang="en-GB" sz="2100"/>
              <a:t>arabolas are really useful for modelling real-life situations.</a:t>
            </a:r>
            <a:endParaRPr sz="2100"/>
          </a:p>
        </p:txBody>
      </p:sp>
      <p:sp>
        <p:nvSpPr>
          <p:cNvPr id="1238" name="Google Shape;1238;p93"/>
          <p:cNvSpPr txBox="1"/>
          <p:nvPr>
            <p:ph idx="1" type="body"/>
          </p:nvPr>
        </p:nvSpPr>
        <p:spPr>
          <a:xfrm>
            <a:off x="324000" y="1197834"/>
            <a:ext cx="8496000" cy="37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Aisha is playing Basketball and </a:t>
            </a:r>
            <a:r>
              <a:rPr lang="en-GB" sz="2100"/>
              <a:t>notices</a:t>
            </a:r>
            <a:r>
              <a:rPr lang="en-GB" sz="2100"/>
              <a:t> the path of the ball follows that of a parabola.</a:t>
            </a:r>
            <a:endParaRPr sz="2100"/>
          </a:p>
        </p:txBody>
      </p:sp>
      <p:sp>
        <p:nvSpPr>
          <p:cNvPr id="1239" name="Google Shape;1239;p93"/>
          <p:cNvSpPr txBox="1"/>
          <p:nvPr>
            <p:ph idx="1" type="body"/>
          </p:nvPr>
        </p:nvSpPr>
        <p:spPr>
          <a:xfrm>
            <a:off x="5505600" y="4466252"/>
            <a:ext cx="1009500" cy="2532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Distance</a:t>
            </a:r>
            <a:endParaRPr sz="1800"/>
          </a:p>
        </p:txBody>
      </p:sp>
      <p:sp>
        <p:nvSpPr>
          <p:cNvPr id="1240" name="Google Shape;1240;p93"/>
          <p:cNvSpPr txBox="1"/>
          <p:nvPr>
            <p:ph idx="1" type="body"/>
          </p:nvPr>
        </p:nvSpPr>
        <p:spPr>
          <a:xfrm rot="-5400000">
            <a:off x="1512325" y="2247550"/>
            <a:ext cx="7938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Height</a:t>
            </a:r>
            <a:endParaRPr sz="1800"/>
          </a:p>
        </p:txBody>
      </p:sp>
      <p:sp>
        <p:nvSpPr>
          <p:cNvPr id="1241" name="Google Shape;1241;p93"/>
          <p:cNvSpPr/>
          <p:nvPr/>
        </p:nvSpPr>
        <p:spPr>
          <a:xfrm>
            <a:off x="3340075" y="2376650"/>
            <a:ext cx="230100" cy="253200"/>
          </a:xfrm>
          <a:prstGeom prst="ellipse">
            <a:avLst/>
          </a:prstGeom>
          <a:solidFill>
            <a:srgbClr val="FF9900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42" name="Google Shape;1242;p93"/>
          <p:cNvGrpSpPr/>
          <p:nvPr/>
        </p:nvGrpSpPr>
        <p:grpSpPr>
          <a:xfrm>
            <a:off x="6472965" y="2762075"/>
            <a:ext cx="796629" cy="943500"/>
            <a:chOff x="6251525" y="3082729"/>
            <a:chExt cx="796629" cy="943500"/>
          </a:xfrm>
        </p:grpSpPr>
        <p:sp>
          <p:nvSpPr>
            <p:cNvPr id="1243" name="Google Shape;1243;p93"/>
            <p:cNvSpPr/>
            <p:nvPr/>
          </p:nvSpPr>
          <p:spPr>
            <a:xfrm rot="5400000">
              <a:off x="6214004" y="3192079"/>
              <a:ext cx="943500" cy="724800"/>
            </a:xfrm>
            <a:prstGeom prst="parallelogram">
              <a:avLst>
                <a:gd fmla="val 2500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4" name="Google Shape;1244;p93"/>
            <p:cNvSpPr/>
            <p:nvPr/>
          </p:nvSpPr>
          <p:spPr>
            <a:xfrm>
              <a:off x="6251525" y="3824451"/>
              <a:ext cx="371700" cy="1830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5" name="Google Shape;1245;p93"/>
            <p:cNvSpPr/>
            <p:nvPr/>
          </p:nvSpPr>
          <p:spPr>
            <a:xfrm rot="5400000">
              <a:off x="6450036" y="3610684"/>
              <a:ext cx="396900" cy="304800"/>
            </a:xfrm>
            <a:prstGeom prst="parallelogram">
              <a:avLst>
                <a:gd fmla="val 2500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246" name="Google Shape;1246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24417" y="3740095"/>
            <a:ext cx="285087" cy="10426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0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1" name="Google Shape;1251;p94"/>
          <p:cNvPicPr preferRelativeResize="0"/>
          <p:nvPr/>
        </p:nvPicPr>
        <p:blipFill rotWithShape="1">
          <a:blip r:embed="rId3">
            <a:alphaModFix/>
          </a:blip>
          <a:srcRect b="0" l="0" r="2477" t="0"/>
          <a:stretch/>
        </p:blipFill>
        <p:spPr>
          <a:xfrm>
            <a:off x="3497444" y="1319575"/>
            <a:ext cx="4676752" cy="3256024"/>
          </a:xfrm>
          <a:prstGeom prst="rect">
            <a:avLst/>
          </a:prstGeom>
          <a:noFill/>
          <a:ln>
            <a:noFill/>
          </a:ln>
        </p:spPr>
      </p:pic>
      <p:sp>
        <p:nvSpPr>
          <p:cNvPr id="1252" name="Google Shape;1252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Reading from quadratic graphs</a:t>
            </a:r>
            <a:endParaRPr/>
          </a:p>
        </p:txBody>
      </p:sp>
      <p:sp>
        <p:nvSpPr>
          <p:cNvPr id="1253" name="Google Shape;1253;p94"/>
          <p:cNvSpPr txBox="1"/>
          <p:nvPr>
            <p:ph idx="1" type="body"/>
          </p:nvPr>
        </p:nvSpPr>
        <p:spPr>
          <a:xfrm>
            <a:off x="324000" y="759300"/>
            <a:ext cx="8496000" cy="37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Parabolas are really useful for modelling real-life situations.</a:t>
            </a:r>
            <a:endParaRPr sz="2100"/>
          </a:p>
        </p:txBody>
      </p:sp>
      <p:sp>
        <p:nvSpPr>
          <p:cNvPr id="1254" name="Google Shape;1254;p94"/>
          <p:cNvSpPr txBox="1"/>
          <p:nvPr>
            <p:ph idx="1" type="body"/>
          </p:nvPr>
        </p:nvSpPr>
        <p:spPr>
          <a:xfrm>
            <a:off x="7147768" y="4128643"/>
            <a:ext cx="1443000" cy="2745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Distance (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GB" sz="1800"/>
              <a:t>)</a:t>
            </a:r>
            <a:endParaRPr sz="1800"/>
          </a:p>
        </p:txBody>
      </p:sp>
      <p:sp>
        <p:nvSpPr>
          <p:cNvPr id="1255" name="Google Shape;1255;p94"/>
          <p:cNvSpPr txBox="1"/>
          <p:nvPr>
            <p:ph idx="1" type="body"/>
          </p:nvPr>
        </p:nvSpPr>
        <p:spPr>
          <a:xfrm rot="-5400000">
            <a:off x="2585393" y="1718950"/>
            <a:ext cx="1196700" cy="3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Height (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GB" sz="1800"/>
              <a:t>)</a:t>
            </a:r>
            <a:endParaRPr sz="1800"/>
          </a:p>
        </p:txBody>
      </p:sp>
      <p:sp>
        <p:nvSpPr>
          <p:cNvPr id="1256" name="Google Shape;1256;p94"/>
          <p:cNvSpPr/>
          <p:nvPr/>
        </p:nvSpPr>
        <p:spPr>
          <a:xfrm>
            <a:off x="4289454" y="2476973"/>
            <a:ext cx="249600" cy="274500"/>
          </a:xfrm>
          <a:prstGeom prst="ellipse">
            <a:avLst/>
          </a:prstGeom>
          <a:solidFill>
            <a:srgbClr val="FF9900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57" name="Google Shape;1257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6193" y="3639477"/>
            <a:ext cx="249599" cy="9128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58" name="Google Shape;1258;p94"/>
          <p:cNvGrpSpPr/>
          <p:nvPr/>
        </p:nvGrpSpPr>
        <p:grpSpPr>
          <a:xfrm>
            <a:off x="7933304" y="2033551"/>
            <a:ext cx="863706" cy="1022943"/>
            <a:chOff x="6251525" y="3082729"/>
            <a:chExt cx="796629" cy="943500"/>
          </a:xfrm>
        </p:grpSpPr>
        <p:sp>
          <p:nvSpPr>
            <p:cNvPr id="1259" name="Google Shape;1259;p94"/>
            <p:cNvSpPr/>
            <p:nvPr/>
          </p:nvSpPr>
          <p:spPr>
            <a:xfrm rot="5400000">
              <a:off x="6214004" y="3192079"/>
              <a:ext cx="943500" cy="724800"/>
            </a:xfrm>
            <a:prstGeom prst="parallelogram">
              <a:avLst>
                <a:gd fmla="val 25000" name="adj"/>
              </a:avLst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0" name="Google Shape;1260;p94"/>
            <p:cNvSpPr/>
            <p:nvPr/>
          </p:nvSpPr>
          <p:spPr>
            <a:xfrm>
              <a:off x="6251525" y="3824451"/>
              <a:ext cx="371700" cy="183000"/>
            </a:xfrm>
            <a:prstGeom prst="ellipse">
              <a:avLst/>
            </a:prstGeom>
            <a:solidFill>
              <a:schemeClr val="l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1" name="Google Shape;1261;p94"/>
            <p:cNvSpPr/>
            <p:nvPr/>
          </p:nvSpPr>
          <p:spPr>
            <a:xfrm rot="5400000">
              <a:off x="6450036" y="3610684"/>
              <a:ext cx="396900" cy="304800"/>
            </a:xfrm>
            <a:prstGeom prst="parallelogram">
              <a:avLst>
                <a:gd fmla="val 25000" name="adj"/>
              </a:avLst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62" name="Google Shape;1262;p94"/>
          <p:cNvSpPr/>
          <p:nvPr/>
        </p:nvSpPr>
        <p:spPr>
          <a:xfrm>
            <a:off x="7933304" y="2837727"/>
            <a:ext cx="402900" cy="198300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3" name="Google Shape;1263;p94"/>
          <p:cNvSpPr txBox="1"/>
          <p:nvPr/>
        </p:nvSpPr>
        <p:spPr>
          <a:xfrm>
            <a:off x="3386368" y="3294628"/>
            <a:ext cx="1929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4" name="Google Shape;1264;p94"/>
          <p:cNvSpPr txBox="1"/>
          <p:nvPr/>
        </p:nvSpPr>
        <p:spPr>
          <a:xfrm>
            <a:off x="3386368" y="2292521"/>
            <a:ext cx="1929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5" name="Google Shape;1265;p94"/>
          <p:cNvSpPr txBox="1"/>
          <p:nvPr/>
        </p:nvSpPr>
        <p:spPr>
          <a:xfrm>
            <a:off x="3386368" y="1290415"/>
            <a:ext cx="1929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6" name="Google Shape;1266;p94"/>
          <p:cNvSpPr txBox="1"/>
          <p:nvPr/>
        </p:nvSpPr>
        <p:spPr>
          <a:xfrm>
            <a:off x="7782954" y="4444788"/>
            <a:ext cx="1929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7" name="Google Shape;1267;p94"/>
          <p:cNvSpPr txBox="1"/>
          <p:nvPr/>
        </p:nvSpPr>
        <p:spPr>
          <a:xfrm>
            <a:off x="6358168" y="4444788"/>
            <a:ext cx="1929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8" name="Google Shape;1268;p94"/>
          <p:cNvSpPr txBox="1"/>
          <p:nvPr/>
        </p:nvSpPr>
        <p:spPr>
          <a:xfrm>
            <a:off x="4910368" y="4444788"/>
            <a:ext cx="1929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9" name="Google Shape;1269;p94"/>
          <p:cNvSpPr txBox="1"/>
          <p:nvPr/>
        </p:nvSpPr>
        <p:spPr>
          <a:xfrm>
            <a:off x="7062634" y="4444788"/>
            <a:ext cx="1929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0" name="Google Shape;1270;p94"/>
          <p:cNvSpPr txBox="1"/>
          <p:nvPr/>
        </p:nvSpPr>
        <p:spPr>
          <a:xfrm>
            <a:off x="5637848" y="4444788"/>
            <a:ext cx="1929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1" name="Google Shape;1271;p94"/>
          <p:cNvSpPr txBox="1"/>
          <p:nvPr/>
        </p:nvSpPr>
        <p:spPr>
          <a:xfrm>
            <a:off x="4190048" y="4444788"/>
            <a:ext cx="1929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2" name="Google Shape;1272;p94"/>
          <p:cNvSpPr txBox="1"/>
          <p:nvPr/>
        </p:nvSpPr>
        <p:spPr>
          <a:xfrm>
            <a:off x="3386368" y="2772735"/>
            <a:ext cx="1929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3" name="Google Shape;1273;p94"/>
          <p:cNvSpPr txBox="1"/>
          <p:nvPr/>
        </p:nvSpPr>
        <p:spPr>
          <a:xfrm>
            <a:off x="3386368" y="1770628"/>
            <a:ext cx="1929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4" name="Google Shape;1274;p94"/>
          <p:cNvSpPr txBox="1"/>
          <p:nvPr>
            <p:ph idx="1" type="body"/>
          </p:nvPr>
        </p:nvSpPr>
        <p:spPr>
          <a:xfrm>
            <a:off x="324000" y="1391948"/>
            <a:ext cx="2164500" cy="110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When is the ball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100"/>
              <a:t> metres above the ground?</a:t>
            </a:r>
            <a:endParaRPr sz="2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9" name="Google Shape;1279;p95"/>
          <p:cNvPicPr preferRelativeResize="0"/>
          <p:nvPr/>
        </p:nvPicPr>
        <p:blipFill rotWithShape="1">
          <a:blip r:embed="rId3">
            <a:alphaModFix/>
          </a:blip>
          <a:srcRect b="0" l="0" r="2477" t="0"/>
          <a:stretch/>
        </p:blipFill>
        <p:spPr>
          <a:xfrm>
            <a:off x="3497444" y="1319575"/>
            <a:ext cx="4676752" cy="3256024"/>
          </a:xfrm>
          <a:prstGeom prst="rect">
            <a:avLst/>
          </a:prstGeom>
          <a:noFill/>
          <a:ln>
            <a:noFill/>
          </a:ln>
        </p:spPr>
      </p:pic>
      <p:sp>
        <p:nvSpPr>
          <p:cNvPr id="1280" name="Google Shape;1280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Reading from quadratic graphs</a:t>
            </a:r>
            <a:endParaRPr/>
          </a:p>
        </p:txBody>
      </p:sp>
      <p:sp>
        <p:nvSpPr>
          <p:cNvPr id="1281" name="Google Shape;1281;p95"/>
          <p:cNvSpPr txBox="1"/>
          <p:nvPr>
            <p:ph idx="1" type="body"/>
          </p:nvPr>
        </p:nvSpPr>
        <p:spPr>
          <a:xfrm>
            <a:off x="324000" y="759300"/>
            <a:ext cx="8496000" cy="37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Parabolas are really useful for modelling real-life situations.</a:t>
            </a:r>
            <a:endParaRPr sz="2100"/>
          </a:p>
        </p:txBody>
      </p:sp>
      <p:sp>
        <p:nvSpPr>
          <p:cNvPr id="1282" name="Google Shape;1282;p95"/>
          <p:cNvSpPr txBox="1"/>
          <p:nvPr>
            <p:ph idx="1" type="body"/>
          </p:nvPr>
        </p:nvSpPr>
        <p:spPr>
          <a:xfrm>
            <a:off x="7147768" y="4128643"/>
            <a:ext cx="1443000" cy="2745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Distance (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GB" sz="1800"/>
              <a:t>)</a:t>
            </a:r>
            <a:endParaRPr sz="1800"/>
          </a:p>
        </p:txBody>
      </p:sp>
      <p:sp>
        <p:nvSpPr>
          <p:cNvPr id="1283" name="Google Shape;1283;p95"/>
          <p:cNvSpPr txBox="1"/>
          <p:nvPr>
            <p:ph idx="1" type="body"/>
          </p:nvPr>
        </p:nvSpPr>
        <p:spPr>
          <a:xfrm rot="-5400000">
            <a:off x="2585393" y="1718950"/>
            <a:ext cx="1196700" cy="3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Height (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GB" sz="1800"/>
              <a:t>)</a:t>
            </a:r>
            <a:endParaRPr sz="1800"/>
          </a:p>
        </p:txBody>
      </p:sp>
      <p:sp>
        <p:nvSpPr>
          <p:cNvPr id="1284" name="Google Shape;1284;p95"/>
          <p:cNvSpPr/>
          <p:nvPr/>
        </p:nvSpPr>
        <p:spPr>
          <a:xfrm>
            <a:off x="4289454" y="2476973"/>
            <a:ext cx="249600" cy="274500"/>
          </a:xfrm>
          <a:prstGeom prst="ellipse">
            <a:avLst/>
          </a:prstGeom>
          <a:solidFill>
            <a:srgbClr val="FF9900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85" name="Google Shape;1285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6193" y="3639477"/>
            <a:ext cx="249599" cy="9128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86" name="Google Shape;1286;p95"/>
          <p:cNvGrpSpPr/>
          <p:nvPr/>
        </p:nvGrpSpPr>
        <p:grpSpPr>
          <a:xfrm>
            <a:off x="7933304" y="2033551"/>
            <a:ext cx="863706" cy="1022943"/>
            <a:chOff x="6251525" y="3082729"/>
            <a:chExt cx="796629" cy="943500"/>
          </a:xfrm>
        </p:grpSpPr>
        <p:sp>
          <p:nvSpPr>
            <p:cNvPr id="1287" name="Google Shape;1287;p95"/>
            <p:cNvSpPr/>
            <p:nvPr/>
          </p:nvSpPr>
          <p:spPr>
            <a:xfrm rot="5400000">
              <a:off x="6214004" y="3192079"/>
              <a:ext cx="943500" cy="724800"/>
            </a:xfrm>
            <a:prstGeom prst="parallelogram">
              <a:avLst>
                <a:gd fmla="val 25000" name="adj"/>
              </a:avLst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8" name="Google Shape;1288;p95"/>
            <p:cNvSpPr/>
            <p:nvPr/>
          </p:nvSpPr>
          <p:spPr>
            <a:xfrm>
              <a:off x="6251525" y="3824451"/>
              <a:ext cx="371700" cy="183000"/>
            </a:xfrm>
            <a:prstGeom prst="ellipse">
              <a:avLst/>
            </a:prstGeom>
            <a:solidFill>
              <a:schemeClr val="l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9" name="Google Shape;1289;p95"/>
            <p:cNvSpPr/>
            <p:nvPr/>
          </p:nvSpPr>
          <p:spPr>
            <a:xfrm rot="5400000">
              <a:off x="6450036" y="3610684"/>
              <a:ext cx="396900" cy="304800"/>
            </a:xfrm>
            <a:prstGeom prst="parallelogram">
              <a:avLst>
                <a:gd fmla="val 25000" name="adj"/>
              </a:avLst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90" name="Google Shape;1290;p95"/>
          <p:cNvSpPr/>
          <p:nvPr/>
        </p:nvSpPr>
        <p:spPr>
          <a:xfrm>
            <a:off x="7933304" y="2837727"/>
            <a:ext cx="402900" cy="198300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1" name="Google Shape;1291;p95"/>
          <p:cNvSpPr txBox="1"/>
          <p:nvPr/>
        </p:nvSpPr>
        <p:spPr>
          <a:xfrm>
            <a:off x="3386368" y="3294628"/>
            <a:ext cx="1929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2" name="Google Shape;1292;p95"/>
          <p:cNvSpPr txBox="1"/>
          <p:nvPr/>
        </p:nvSpPr>
        <p:spPr>
          <a:xfrm>
            <a:off x="3386368" y="2292521"/>
            <a:ext cx="1929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3" name="Google Shape;1293;p95"/>
          <p:cNvSpPr txBox="1"/>
          <p:nvPr/>
        </p:nvSpPr>
        <p:spPr>
          <a:xfrm>
            <a:off x="3386368" y="1290415"/>
            <a:ext cx="1929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4" name="Google Shape;1294;p95"/>
          <p:cNvSpPr txBox="1"/>
          <p:nvPr/>
        </p:nvSpPr>
        <p:spPr>
          <a:xfrm>
            <a:off x="7782954" y="4444788"/>
            <a:ext cx="1929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5" name="Google Shape;1295;p95"/>
          <p:cNvSpPr txBox="1"/>
          <p:nvPr/>
        </p:nvSpPr>
        <p:spPr>
          <a:xfrm>
            <a:off x="6358168" y="4444788"/>
            <a:ext cx="1929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6" name="Google Shape;1296;p95"/>
          <p:cNvSpPr txBox="1"/>
          <p:nvPr/>
        </p:nvSpPr>
        <p:spPr>
          <a:xfrm>
            <a:off x="4910368" y="4444788"/>
            <a:ext cx="1929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7" name="Google Shape;1297;p95"/>
          <p:cNvSpPr txBox="1"/>
          <p:nvPr/>
        </p:nvSpPr>
        <p:spPr>
          <a:xfrm>
            <a:off x="7062634" y="4444788"/>
            <a:ext cx="1929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8" name="Google Shape;1298;p95"/>
          <p:cNvSpPr txBox="1"/>
          <p:nvPr/>
        </p:nvSpPr>
        <p:spPr>
          <a:xfrm>
            <a:off x="5637848" y="4444788"/>
            <a:ext cx="1929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9" name="Google Shape;1299;p95"/>
          <p:cNvSpPr txBox="1"/>
          <p:nvPr/>
        </p:nvSpPr>
        <p:spPr>
          <a:xfrm>
            <a:off x="4190048" y="4444788"/>
            <a:ext cx="1929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0" name="Google Shape;1300;p95"/>
          <p:cNvSpPr txBox="1"/>
          <p:nvPr/>
        </p:nvSpPr>
        <p:spPr>
          <a:xfrm>
            <a:off x="3386368" y="2772735"/>
            <a:ext cx="1929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1" name="Google Shape;1301;p95"/>
          <p:cNvSpPr txBox="1"/>
          <p:nvPr/>
        </p:nvSpPr>
        <p:spPr>
          <a:xfrm>
            <a:off x="3386368" y="1770628"/>
            <a:ext cx="1929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2" name="Google Shape;1302;p95"/>
          <p:cNvSpPr txBox="1"/>
          <p:nvPr>
            <p:ph idx="1" type="body"/>
          </p:nvPr>
        </p:nvSpPr>
        <p:spPr>
          <a:xfrm>
            <a:off x="324000" y="1391913"/>
            <a:ext cx="2164500" cy="37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When is the ball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100"/>
              <a:t> metres above the ground?</a:t>
            </a:r>
            <a:endParaRPr sz="2100"/>
          </a:p>
        </p:txBody>
      </p:sp>
      <p:sp>
        <p:nvSpPr>
          <p:cNvPr id="1303" name="Google Shape;1303;p95"/>
          <p:cNvSpPr txBox="1"/>
          <p:nvPr/>
        </p:nvSpPr>
        <p:spPr>
          <a:xfrm>
            <a:off x="6996947" y="1740906"/>
            <a:ext cx="338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4" name="Google Shape;1304;p95"/>
          <p:cNvSpPr txBox="1"/>
          <p:nvPr/>
        </p:nvSpPr>
        <p:spPr>
          <a:xfrm>
            <a:off x="7200904" y="1575275"/>
            <a:ext cx="7578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(4.8, 5)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05" name="Google Shape;1305;p95"/>
          <p:cNvCxnSpPr>
            <a:endCxn id="1306" idx="1"/>
          </p:cNvCxnSpPr>
          <p:nvPr/>
        </p:nvCxnSpPr>
        <p:spPr>
          <a:xfrm>
            <a:off x="3613247" y="1916256"/>
            <a:ext cx="3383700" cy="192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307" name="Google Shape;1307;p95"/>
          <p:cNvCxnSpPr/>
          <p:nvPr/>
        </p:nvCxnSpPr>
        <p:spPr>
          <a:xfrm flipH="1" rot="10800000">
            <a:off x="7104475" y="1924800"/>
            <a:ext cx="5400" cy="25200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308" name="Google Shape;1308;p95"/>
          <p:cNvSpPr txBox="1"/>
          <p:nvPr/>
        </p:nvSpPr>
        <p:spPr>
          <a:xfrm>
            <a:off x="4164400" y="1575275"/>
            <a:ext cx="9759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(2.25, 5)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09" name="Google Shape;1309;p95"/>
          <p:cNvCxnSpPr/>
          <p:nvPr/>
        </p:nvCxnSpPr>
        <p:spPr>
          <a:xfrm flipH="1" rot="10800000">
            <a:off x="5210975" y="1924800"/>
            <a:ext cx="5400" cy="25200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310" name="Google Shape;1310;p95"/>
          <p:cNvSpPr txBox="1"/>
          <p:nvPr/>
        </p:nvSpPr>
        <p:spPr>
          <a:xfrm>
            <a:off x="5103454" y="1740906"/>
            <a:ext cx="338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6" name="Google Shape;1306;p95"/>
          <p:cNvSpPr txBox="1"/>
          <p:nvPr/>
        </p:nvSpPr>
        <p:spPr>
          <a:xfrm>
            <a:off x="6996947" y="1740906"/>
            <a:ext cx="338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1" name="Google Shape;1311;p95"/>
          <p:cNvSpPr txBox="1"/>
          <p:nvPr>
            <p:ph idx="1" type="body"/>
          </p:nvPr>
        </p:nvSpPr>
        <p:spPr>
          <a:xfrm>
            <a:off x="324000" y="3243743"/>
            <a:ext cx="2563200" cy="37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There are two moments when the </a:t>
            </a:r>
            <a:r>
              <a:rPr lang="en-GB" sz="2000"/>
              <a:t>ball is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000"/>
              <a:t> metres above the ground.</a:t>
            </a:r>
            <a:endParaRPr sz="2000"/>
          </a:p>
        </p:txBody>
      </p:sp>
      <p:sp>
        <p:nvSpPr>
          <p:cNvPr id="1312" name="Google Shape;1312;p95"/>
          <p:cNvSpPr txBox="1"/>
          <p:nvPr>
            <p:ph idx="1" type="body"/>
          </p:nvPr>
        </p:nvSpPr>
        <p:spPr>
          <a:xfrm>
            <a:off x="324000" y="2687325"/>
            <a:ext cx="2563200" cy="37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After</a:t>
            </a:r>
            <a:r>
              <a:rPr lang="en-GB" sz="2000"/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2.25</a:t>
            </a:r>
            <a:r>
              <a:rPr lang="en-GB" sz="2000"/>
              <a:t> and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4.8 m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7" name="Google Shape;1317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8025" y="1283434"/>
            <a:ext cx="3484551" cy="3410048"/>
          </a:xfrm>
          <a:prstGeom prst="rect">
            <a:avLst/>
          </a:prstGeom>
          <a:noFill/>
          <a:ln>
            <a:noFill/>
          </a:ln>
        </p:spPr>
      </p:pic>
      <p:sp>
        <p:nvSpPr>
          <p:cNvPr id="1318" name="Google Shape;1318;p96"/>
          <p:cNvSpPr txBox="1"/>
          <p:nvPr>
            <p:ph type="title"/>
          </p:nvPr>
        </p:nvSpPr>
        <p:spPr>
          <a:xfrm>
            <a:off x="324000" y="748775"/>
            <a:ext cx="84960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parabola models the flight of a toy glider.</a:t>
            </a:r>
            <a:r>
              <a:rPr lang="en-GB"/>
              <a:t> What height is </a:t>
            </a:r>
            <a:r>
              <a:rPr lang="en-GB"/>
              <a:t>the</a:t>
            </a:r>
            <a:r>
              <a:rPr lang="en-GB"/>
              <a:t> glider at after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-GB"/>
              <a:t>seconds?</a:t>
            </a:r>
            <a:endParaRPr/>
          </a:p>
        </p:txBody>
      </p:sp>
      <p:sp>
        <p:nvSpPr>
          <p:cNvPr id="1319" name="Google Shape;1319;p9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Reading from quadratic graphs</a:t>
            </a:r>
            <a:endParaRPr/>
          </a:p>
        </p:txBody>
      </p:sp>
      <p:sp>
        <p:nvSpPr>
          <p:cNvPr id="1320" name="Google Shape;1320;p96"/>
          <p:cNvSpPr txBox="1"/>
          <p:nvPr>
            <p:ph idx="1" type="subTitle"/>
          </p:nvPr>
        </p:nvSpPr>
        <p:spPr>
          <a:xfrm>
            <a:off x="1034425" y="1837775"/>
            <a:ext cx="948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225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m</a:t>
            </a:r>
            <a:endParaRPr/>
          </a:p>
        </p:txBody>
      </p:sp>
      <p:sp>
        <p:nvSpPr>
          <p:cNvPr id="1321" name="Google Shape;1321;p96"/>
          <p:cNvSpPr txBox="1"/>
          <p:nvPr>
            <p:ph idx="3" type="subTitle"/>
          </p:nvPr>
        </p:nvSpPr>
        <p:spPr>
          <a:xfrm>
            <a:off x="1034425" y="2794251"/>
            <a:ext cx="9480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150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m</a:t>
            </a:r>
            <a:endParaRPr/>
          </a:p>
        </p:txBody>
      </p:sp>
      <p:sp>
        <p:nvSpPr>
          <p:cNvPr id="1322" name="Google Shape;1322;p96"/>
          <p:cNvSpPr txBox="1"/>
          <p:nvPr>
            <p:ph idx="4" type="subTitle"/>
          </p:nvPr>
        </p:nvSpPr>
        <p:spPr>
          <a:xfrm>
            <a:off x="1034425" y="3766974"/>
            <a:ext cx="942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300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m</a:t>
            </a:r>
            <a:endParaRPr/>
          </a:p>
        </p:txBody>
      </p:sp>
      <p:sp>
        <p:nvSpPr>
          <p:cNvPr id="1323" name="Google Shape;1323;p96"/>
          <p:cNvSpPr txBox="1"/>
          <p:nvPr>
            <p:ph idx="4294967295" type="body"/>
          </p:nvPr>
        </p:nvSpPr>
        <p:spPr>
          <a:xfrm>
            <a:off x="6702081" y="4281050"/>
            <a:ext cx="1213800" cy="2745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Second</a:t>
            </a:r>
            <a:r>
              <a:rPr lang="en-GB" sz="1800"/>
              <a:t> (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GB" sz="1800"/>
              <a:t>)</a:t>
            </a:r>
            <a:endParaRPr sz="1800"/>
          </a:p>
        </p:txBody>
      </p:sp>
      <p:sp>
        <p:nvSpPr>
          <p:cNvPr id="1324" name="Google Shape;1324;p96"/>
          <p:cNvSpPr txBox="1"/>
          <p:nvPr>
            <p:ph idx="4294967295" type="body"/>
          </p:nvPr>
        </p:nvSpPr>
        <p:spPr>
          <a:xfrm rot="-5400000">
            <a:off x="3381913" y="2019403"/>
            <a:ext cx="1196700" cy="3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Height (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GB" sz="1800"/>
              <a:t>)</a:t>
            </a:r>
            <a:endParaRPr sz="1800"/>
          </a:p>
        </p:txBody>
      </p:sp>
      <p:sp>
        <p:nvSpPr>
          <p:cNvPr id="1325" name="Google Shape;1325;p96"/>
          <p:cNvSpPr txBox="1"/>
          <p:nvPr/>
        </p:nvSpPr>
        <p:spPr>
          <a:xfrm>
            <a:off x="6911803" y="4574187"/>
            <a:ext cx="2349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6" name="Google Shape;1326;p96"/>
          <p:cNvSpPr txBox="1"/>
          <p:nvPr/>
        </p:nvSpPr>
        <p:spPr>
          <a:xfrm>
            <a:off x="5295715" y="4574174"/>
            <a:ext cx="1929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7" name="Google Shape;1327;p96"/>
          <p:cNvSpPr txBox="1"/>
          <p:nvPr/>
        </p:nvSpPr>
        <p:spPr>
          <a:xfrm>
            <a:off x="7700558" y="4574187"/>
            <a:ext cx="2349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8" name="Google Shape;1328;p96"/>
          <p:cNvSpPr txBox="1"/>
          <p:nvPr/>
        </p:nvSpPr>
        <p:spPr>
          <a:xfrm>
            <a:off x="6103744" y="4574187"/>
            <a:ext cx="2349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9" name="Google Shape;1329;p96"/>
          <p:cNvSpPr txBox="1"/>
          <p:nvPr/>
        </p:nvSpPr>
        <p:spPr>
          <a:xfrm>
            <a:off x="4494848" y="4574174"/>
            <a:ext cx="1929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0" name="Google Shape;1330;p96"/>
          <p:cNvSpPr txBox="1"/>
          <p:nvPr/>
        </p:nvSpPr>
        <p:spPr>
          <a:xfrm>
            <a:off x="4247580" y="3412437"/>
            <a:ext cx="3519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1" name="Google Shape;1331;p96"/>
          <p:cNvSpPr txBox="1"/>
          <p:nvPr/>
        </p:nvSpPr>
        <p:spPr>
          <a:xfrm>
            <a:off x="4247580" y="2414677"/>
            <a:ext cx="3519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00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2" name="Google Shape;1332;p96"/>
          <p:cNvSpPr txBox="1"/>
          <p:nvPr/>
        </p:nvSpPr>
        <p:spPr>
          <a:xfrm>
            <a:off x="4247580" y="1382397"/>
            <a:ext cx="3519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00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33" name="Google Shape;1333;p96"/>
          <p:cNvCxnSpPr/>
          <p:nvPr/>
        </p:nvCxnSpPr>
        <p:spPr>
          <a:xfrm>
            <a:off x="4664737" y="3063675"/>
            <a:ext cx="417600" cy="111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334" name="Google Shape;1334;p96"/>
          <p:cNvSpPr txBox="1"/>
          <p:nvPr/>
        </p:nvSpPr>
        <p:spPr>
          <a:xfrm>
            <a:off x="5249874" y="2877825"/>
            <a:ext cx="8538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(3, 150)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35" name="Google Shape;1335;p96"/>
          <p:cNvCxnSpPr/>
          <p:nvPr/>
        </p:nvCxnSpPr>
        <p:spPr>
          <a:xfrm flipH="1" rot="10800000">
            <a:off x="5104386" y="3068750"/>
            <a:ext cx="600" cy="14709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336" name="Google Shape;1336;p96"/>
          <p:cNvSpPr txBox="1"/>
          <p:nvPr/>
        </p:nvSpPr>
        <p:spPr>
          <a:xfrm>
            <a:off x="4969720" y="2891066"/>
            <a:ext cx="338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37" name="Google Shape;1337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31983" y="2790564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8" name="Google Shape;1338;p96"/>
          <p:cNvSpPr txBox="1"/>
          <p:nvPr/>
        </p:nvSpPr>
        <p:spPr>
          <a:xfrm>
            <a:off x="2305200" y="2790875"/>
            <a:ext cx="1938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One value when reading </a:t>
            </a:r>
            <a:r>
              <a:rPr lang="en-GB" sz="1800">
                <a:solidFill>
                  <a:schemeClr val="accent5"/>
                </a:solidFill>
                <a:latin typeface="Kalam"/>
                <a:ea typeface="Kalam"/>
                <a:cs typeface="Kalam"/>
                <a:sym typeface="Kalam"/>
              </a:rPr>
              <a:t>up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from the horizontal axis.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3" name="Google Shape;1343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8025" y="1283434"/>
            <a:ext cx="3484551" cy="3410048"/>
          </a:xfrm>
          <a:prstGeom prst="rect">
            <a:avLst/>
          </a:prstGeom>
          <a:noFill/>
          <a:ln>
            <a:noFill/>
          </a:ln>
        </p:spPr>
      </p:pic>
      <p:sp>
        <p:nvSpPr>
          <p:cNvPr id="1344" name="Google Shape;1344;p97"/>
          <p:cNvSpPr txBox="1"/>
          <p:nvPr>
            <p:ph type="title"/>
          </p:nvPr>
        </p:nvSpPr>
        <p:spPr>
          <a:xfrm>
            <a:off x="324000" y="775467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parabola models the flight of a toy glider. At what time is the glider at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225 m </a:t>
            </a:r>
            <a:r>
              <a:rPr lang="en-GB"/>
              <a:t>?</a:t>
            </a:r>
            <a:endParaRPr/>
          </a:p>
        </p:txBody>
      </p:sp>
      <p:sp>
        <p:nvSpPr>
          <p:cNvPr id="1345" name="Google Shape;1345;p9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Reading from quadratic graphs</a:t>
            </a:r>
            <a:endParaRPr/>
          </a:p>
        </p:txBody>
      </p:sp>
      <p:sp>
        <p:nvSpPr>
          <p:cNvPr id="1346" name="Google Shape;1346;p97"/>
          <p:cNvSpPr txBox="1"/>
          <p:nvPr>
            <p:ph idx="1" type="subTitle"/>
          </p:nvPr>
        </p:nvSpPr>
        <p:spPr>
          <a:xfrm>
            <a:off x="1034425" y="1685375"/>
            <a:ext cx="6504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5 s</a:t>
            </a:r>
            <a:endParaRPr/>
          </a:p>
        </p:txBody>
      </p:sp>
      <p:sp>
        <p:nvSpPr>
          <p:cNvPr id="1347" name="Google Shape;1347;p97"/>
          <p:cNvSpPr txBox="1"/>
          <p:nvPr>
            <p:ph idx="3" type="subTitle"/>
          </p:nvPr>
        </p:nvSpPr>
        <p:spPr>
          <a:xfrm>
            <a:off x="1034425" y="2489450"/>
            <a:ext cx="6504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6 s</a:t>
            </a:r>
            <a:endParaRPr/>
          </a:p>
        </p:txBody>
      </p:sp>
      <p:sp>
        <p:nvSpPr>
          <p:cNvPr id="1348" name="Google Shape;1348;p97"/>
          <p:cNvSpPr txBox="1"/>
          <p:nvPr>
            <p:ph idx="4" type="subTitle"/>
          </p:nvPr>
        </p:nvSpPr>
        <p:spPr>
          <a:xfrm>
            <a:off x="1034425" y="3309762"/>
            <a:ext cx="6468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13 s</a:t>
            </a:r>
            <a:endParaRPr/>
          </a:p>
        </p:txBody>
      </p:sp>
      <p:sp>
        <p:nvSpPr>
          <p:cNvPr id="1349" name="Google Shape;1349;p97"/>
          <p:cNvSpPr txBox="1"/>
          <p:nvPr>
            <p:ph idx="5" type="subTitle"/>
          </p:nvPr>
        </p:nvSpPr>
        <p:spPr>
          <a:xfrm>
            <a:off x="1034425" y="4113826"/>
            <a:ext cx="6504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15 s</a:t>
            </a:r>
            <a:endParaRPr/>
          </a:p>
        </p:txBody>
      </p:sp>
      <p:sp>
        <p:nvSpPr>
          <p:cNvPr id="1350" name="Google Shape;1350;p97"/>
          <p:cNvSpPr txBox="1"/>
          <p:nvPr>
            <p:ph idx="4294967295" type="body"/>
          </p:nvPr>
        </p:nvSpPr>
        <p:spPr>
          <a:xfrm>
            <a:off x="6690574" y="4281050"/>
            <a:ext cx="1213800" cy="2745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Second (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GB" sz="1800"/>
              <a:t>)</a:t>
            </a:r>
            <a:endParaRPr sz="1800"/>
          </a:p>
        </p:txBody>
      </p:sp>
      <p:sp>
        <p:nvSpPr>
          <p:cNvPr id="1351" name="Google Shape;1351;p97"/>
          <p:cNvSpPr txBox="1"/>
          <p:nvPr>
            <p:ph idx="4294967295" type="body"/>
          </p:nvPr>
        </p:nvSpPr>
        <p:spPr>
          <a:xfrm rot="-5400000">
            <a:off x="3381913" y="2019403"/>
            <a:ext cx="1196700" cy="3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Height (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GB" sz="1800"/>
              <a:t>)</a:t>
            </a:r>
            <a:endParaRPr sz="1800"/>
          </a:p>
        </p:txBody>
      </p:sp>
      <p:sp>
        <p:nvSpPr>
          <p:cNvPr id="1352" name="Google Shape;1352;p97"/>
          <p:cNvSpPr txBox="1"/>
          <p:nvPr/>
        </p:nvSpPr>
        <p:spPr>
          <a:xfrm>
            <a:off x="6911803" y="4574187"/>
            <a:ext cx="2349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3" name="Google Shape;1353;p97"/>
          <p:cNvSpPr txBox="1"/>
          <p:nvPr/>
        </p:nvSpPr>
        <p:spPr>
          <a:xfrm>
            <a:off x="5295715" y="4574174"/>
            <a:ext cx="1929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4" name="Google Shape;1354;p97"/>
          <p:cNvSpPr txBox="1"/>
          <p:nvPr/>
        </p:nvSpPr>
        <p:spPr>
          <a:xfrm>
            <a:off x="7700558" y="4574187"/>
            <a:ext cx="2349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5" name="Google Shape;1355;p97"/>
          <p:cNvSpPr txBox="1"/>
          <p:nvPr/>
        </p:nvSpPr>
        <p:spPr>
          <a:xfrm>
            <a:off x="6103744" y="4574187"/>
            <a:ext cx="2349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6" name="Google Shape;1356;p97"/>
          <p:cNvSpPr txBox="1"/>
          <p:nvPr/>
        </p:nvSpPr>
        <p:spPr>
          <a:xfrm>
            <a:off x="4494848" y="4574174"/>
            <a:ext cx="1929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7" name="Google Shape;1357;p97"/>
          <p:cNvSpPr txBox="1"/>
          <p:nvPr/>
        </p:nvSpPr>
        <p:spPr>
          <a:xfrm>
            <a:off x="4247580" y="3412437"/>
            <a:ext cx="3519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8" name="Google Shape;1358;p97"/>
          <p:cNvSpPr txBox="1"/>
          <p:nvPr/>
        </p:nvSpPr>
        <p:spPr>
          <a:xfrm>
            <a:off x="4247580" y="2414677"/>
            <a:ext cx="3519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200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9" name="Google Shape;1359;p97"/>
          <p:cNvSpPr txBox="1"/>
          <p:nvPr/>
        </p:nvSpPr>
        <p:spPr>
          <a:xfrm>
            <a:off x="4247580" y="1382397"/>
            <a:ext cx="3519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300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0" name="Google Shape;1360;p97"/>
          <p:cNvSpPr txBox="1"/>
          <p:nvPr/>
        </p:nvSpPr>
        <p:spPr>
          <a:xfrm>
            <a:off x="7117550" y="1967782"/>
            <a:ext cx="10266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(15, 225)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61" name="Google Shape;1361;p97"/>
          <p:cNvCxnSpPr/>
          <p:nvPr/>
        </p:nvCxnSpPr>
        <p:spPr>
          <a:xfrm>
            <a:off x="4651850" y="2284593"/>
            <a:ext cx="2384100" cy="36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362" name="Google Shape;1362;p97"/>
          <p:cNvCxnSpPr/>
          <p:nvPr/>
        </p:nvCxnSpPr>
        <p:spPr>
          <a:xfrm flipH="1" rot="10800000">
            <a:off x="7021108" y="2300700"/>
            <a:ext cx="5400" cy="22965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363" name="Google Shape;1363;p97"/>
          <p:cNvSpPr txBox="1"/>
          <p:nvPr/>
        </p:nvSpPr>
        <p:spPr>
          <a:xfrm>
            <a:off x="4538249" y="1933250"/>
            <a:ext cx="8298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(5, 225)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64" name="Google Shape;1364;p97"/>
          <p:cNvCxnSpPr/>
          <p:nvPr/>
        </p:nvCxnSpPr>
        <p:spPr>
          <a:xfrm flipH="1" rot="10800000">
            <a:off x="5420901" y="2300700"/>
            <a:ext cx="5400" cy="22965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365" name="Google Shape;1365;p97"/>
          <p:cNvSpPr txBox="1"/>
          <p:nvPr/>
        </p:nvSpPr>
        <p:spPr>
          <a:xfrm>
            <a:off x="5301881" y="2126253"/>
            <a:ext cx="338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6" name="Google Shape;1366;p97"/>
          <p:cNvSpPr txBox="1"/>
          <p:nvPr/>
        </p:nvSpPr>
        <p:spPr>
          <a:xfrm>
            <a:off x="6913587" y="2126253"/>
            <a:ext cx="338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67" name="Google Shape;1367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32408" y="1688314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8" name="Google Shape;1368;p97"/>
          <p:cNvSpPr txBox="1"/>
          <p:nvPr/>
        </p:nvSpPr>
        <p:spPr>
          <a:xfrm>
            <a:off x="2234225" y="3822225"/>
            <a:ext cx="1938600" cy="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Two values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when reading </a:t>
            </a:r>
            <a:r>
              <a:rPr lang="en-GB" sz="1800">
                <a:solidFill>
                  <a:schemeClr val="accent5"/>
                </a:solidFill>
                <a:latin typeface="Kalam"/>
                <a:ea typeface="Kalam"/>
                <a:cs typeface="Kalam"/>
                <a:sym typeface="Kalam"/>
              </a:rPr>
              <a:t>across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from the vertical axis.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369" name="Google Shape;1369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38781" y="4115207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p98"/>
          <p:cNvSpPr txBox="1"/>
          <p:nvPr>
            <p:ph idx="1" type="body"/>
          </p:nvPr>
        </p:nvSpPr>
        <p:spPr>
          <a:xfrm>
            <a:off x="324000" y="759300"/>
            <a:ext cx="39960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1) This is the graph of the quadratic equation</a:t>
            </a:r>
            <a:endParaRPr sz="2000"/>
          </a:p>
        </p:txBody>
      </p:sp>
      <p:sp>
        <p:nvSpPr>
          <p:cNvPr id="1375" name="Google Shape;1375;p9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Reading from quadratic graphs</a:t>
            </a:r>
            <a:endParaRPr/>
          </a:p>
        </p:txBody>
      </p:sp>
      <p:pic>
        <p:nvPicPr>
          <p:cNvPr id="1376" name="Google Shape;1376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3507" y="809999"/>
            <a:ext cx="3712693" cy="400567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77" name="Google Shape;1377;p98"/>
          <p:cNvSpPr txBox="1"/>
          <p:nvPr/>
        </p:nvSpPr>
        <p:spPr>
          <a:xfrm>
            <a:off x="8363252" y="2781073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8" name="Google Shape;1378;p98"/>
          <p:cNvSpPr txBox="1"/>
          <p:nvPr/>
        </p:nvSpPr>
        <p:spPr>
          <a:xfrm>
            <a:off x="6722054" y="830142"/>
            <a:ext cx="186600" cy="28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y=\frac{1}{2}x^2+4x&quot;&gt;&lt;mi&gt;y&lt;/mi&gt;&lt;mo&gt;=&lt;/mo&gt;&lt;mfrac&gt;&lt;mn&gt;1&lt;/mn&gt;&lt;mn&gt;2&lt;/mn&gt;&lt;/mfrac&gt;&lt;msup&gt;&lt;mi&gt;x&lt;/mi&gt;&lt;mn&gt;2&lt;/mn&gt;&lt;/msup&gt;&lt;mo&gt;+&lt;/mo&gt;&lt;mn&gt;4&lt;/mn&gt;&lt;mi&gt;x&lt;/mi&gt;&lt;/math&gt;" id="1379" name="Google Shape;1379;p98" title="y equals one half x squared plus 4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87837" y="1070926"/>
            <a:ext cx="1674875" cy="60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x^2+4x=10&quot;&gt;&lt;mfrac&gt;&lt;mn&gt;1&lt;/mn&gt;&lt;mn&gt;2&lt;/mn&gt;&lt;/mfrac&gt;&lt;msup&gt;&lt;mi&gt;x&lt;/mi&gt;&lt;mn&gt;2&lt;/mn&gt;&lt;/msup&gt;&lt;mo&gt;+&lt;/mo&gt;&lt;mn&gt;4&lt;/mn&gt;&lt;mi&gt;x&lt;/mi&gt;&lt;mo&gt;=&lt;/mo&gt;&lt;mn&gt;10&lt;/mn&gt;&lt;/math&gt;" id="1380" name="Google Shape;1380;p98" title="one half x squared plus 4 x equals 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1600" y="2383693"/>
            <a:ext cx="1647833" cy="551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x^2+4x=0&quot;&gt;&lt;mfrac&gt;&lt;mn&gt;1&lt;/mn&gt;&lt;mn&gt;2&lt;/mn&gt;&lt;/mfrac&gt;&lt;msup&gt;&lt;mi&gt;x&lt;/mi&gt;&lt;mn&gt;2&lt;/mn&gt;&lt;/msup&gt;&lt;mo&gt;+&lt;/mo&gt;&lt;mn&gt;4&lt;/mn&gt;&lt;mi&gt;x&lt;/mi&gt;&lt;mo&gt;=&lt;/mo&gt;&lt;mn&gt;0&lt;/mn&gt;&lt;/math&gt;" id="1381" name="Google Shape;1381;p98" title="one half x squared plus 4 x equals 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1600" y="3262770"/>
            <a:ext cx="1514879" cy="551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x^2+4x=-8&quot;&gt;&lt;mfrac&gt;&lt;mn&gt;1&lt;/mn&gt;&lt;mn&gt;2&lt;/mn&gt;&lt;/mfrac&gt;&lt;msup&gt;&lt;mi&gt;x&lt;/mi&gt;&lt;mn&gt;2&lt;/mn&gt;&lt;/msup&gt;&lt;mo&gt;+&lt;/mo&gt;&lt;mn&gt;4&lt;/mn&gt;&lt;mi&gt;x&lt;/mi&gt;&lt;mo&gt;=&lt;/mo&gt;&lt;mo&gt;−&lt;/mo&gt;&lt;mn&gt;8&lt;/mn&gt;&lt;/math&gt;" id="1382" name="Google Shape;1382;p98" title="one half x squared plus 4 x equals negative 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1600" y="4138211"/>
            <a:ext cx="1688123" cy="551969"/>
          </a:xfrm>
          <a:prstGeom prst="rect">
            <a:avLst/>
          </a:prstGeom>
          <a:noFill/>
          <a:ln>
            <a:noFill/>
          </a:ln>
        </p:spPr>
      </p:pic>
      <p:sp>
        <p:nvSpPr>
          <p:cNvPr id="1383" name="Google Shape;1383;p98"/>
          <p:cNvSpPr txBox="1"/>
          <p:nvPr>
            <p:ph idx="1" type="body"/>
          </p:nvPr>
        </p:nvSpPr>
        <p:spPr>
          <a:xfrm>
            <a:off x="324000" y="1826100"/>
            <a:ext cx="2912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Use</a:t>
            </a:r>
            <a:r>
              <a:rPr lang="en-GB" sz="2000"/>
              <a:t> the graph to solve:</a:t>
            </a:r>
            <a:endParaRPr sz="2000"/>
          </a:p>
        </p:txBody>
      </p:sp>
      <p:sp>
        <p:nvSpPr>
          <p:cNvPr id="1384" name="Google Shape;1384;p98"/>
          <p:cNvSpPr txBox="1"/>
          <p:nvPr>
            <p:ph idx="1" type="body"/>
          </p:nvPr>
        </p:nvSpPr>
        <p:spPr>
          <a:xfrm>
            <a:off x="324000" y="2500393"/>
            <a:ext cx="3351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</a:t>
            </a:r>
            <a:r>
              <a:rPr lang="en-GB" sz="2000"/>
              <a:t>)</a:t>
            </a:r>
            <a:endParaRPr sz="2000"/>
          </a:p>
        </p:txBody>
      </p:sp>
      <p:sp>
        <p:nvSpPr>
          <p:cNvPr id="1385" name="Google Shape;1385;p98"/>
          <p:cNvSpPr txBox="1"/>
          <p:nvPr>
            <p:ph idx="1" type="body"/>
          </p:nvPr>
        </p:nvSpPr>
        <p:spPr>
          <a:xfrm>
            <a:off x="324000" y="3380273"/>
            <a:ext cx="3351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</a:t>
            </a:r>
            <a:r>
              <a:rPr lang="en-GB" sz="2000"/>
              <a:t>)</a:t>
            </a:r>
            <a:endParaRPr sz="2000"/>
          </a:p>
        </p:txBody>
      </p:sp>
      <p:sp>
        <p:nvSpPr>
          <p:cNvPr id="1386" name="Google Shape;1386;p98"/>
          <p:cNvSpPr txBox="1"/>
          <p:nvPr>
            <p:ph idx="1" type="body"/>
          </p:nvPr>
        </p:nvSpPr>
        <p:spPr>
          <a:xfrm>
            <a:off x="324000" y="4252993"/>
            <a:ext cx="3351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</a:t>
            </a:r>
            <a:r>
              <a:rPr lang="en-GB" sz="2000"/>
              <a:t>)</a:t>
            </a:r>
            <a:endParaRPr sz="20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p99"/>
          <p:cNvSpPr txBox="1"/>
          <p:nvPr>
            <p:ph idx="1" type="body"/>
          </p:nvPr>
        </p:nvSpPr>
        <p:spPr>
          <a:xfrm>
            <a:off x="324000" y="759300"/>
            <a:ext cx="84960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</a:t>
            </a:r>
            <a:r>
              <a:rPr lang="en-GB" sz="2000"/>
              <a:t>) This parabola models the </a:t>
            </a:r>
            <a:r>
              <a:rPr lang="en-GB" sz="2000"/>
              <a:t>flight </a:t>
            </a:r>
            <a:r>
              <a:rPr lang="en-GB" sz="2000"/>
              <a:t>of a cricket ball being thrown.</a:t>
            </a:r>
            <a:endParaRPr sz="2000"/>
          </a:p>
        </p:txBody>
      </p:sp>
      <p:sp>
        <p:nvSpPr>
          <p:cNvPr id="1392" name="Google Shape;1392;p9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Reading from quadratic graphs</a:t>
            </a:r>
            <a:endParaRPr/>
          </a:p>
        </p:txBody>
      </p:sp>
      <p:sp>
        <p:nvSpPr>
          <p:cNvPr id="1393" name="Google Shape;1393;p99"/>
          <p:cNvSpPr txBox="1"/>
          <p:nvPr>
            <p:ph idx="1" type="body"/>
          </p:nvPr>
        </p:nvSpPr>
        <p:spPr>
          <a:xfrm>
            <a:off x="324000" y="1216500"/>
            <a:ext cx="2912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Use the graph to read:</a:t>
            </a:r>
            <a:endParaRPr sz="1800"/>
          </a:p>
        </p:txBody>
      </p:sp>
      <p:sp>
        <p:nvSpPr>
          <p:cNvPr id="1394" name="Google Shape;1394;p99"/>
          <p:cNvSpPr txBox="1"/>
          <p:nvPr>
            <p:ph idx="1" type="body"/>
          </p:nvPr>
        </p:nvSpPr>
        <p:spPr>
          <a:xfrm>
            <a:off x="324000" y="1574493"/>
            <a:ext cx="27168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a) The height of the ball at</a:t>
            </a:r>
            <a:r>
              <a:rPr lang="en-GB" sz="1800"/>
              <a:t> a distance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18</a:t>
            </a:r>
            <a:r>
              <a:rPr lang="en-GB" sz="1800"/>
              <a:t> metres.</a:t>
            </a:r>
            <a:endParaRPr sz="1800"/>
          </a:p>
        </p:txBody>
      </p:sp>
      <p:pic>
        <p:nvPicPr>
          <p:cNvPr id="1395" name="Google Shape;1395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3387" y="1084566"/>
            <a:ext cx="5602800" cy="3204858"/>
          </a:xfrm>
          <a:prstGeom prst="rect">
            <a:avLst/>
          </a:prstGeom>
          <a:noFill/>
          <a:ln>
            <a:noFill/>
          </a:ln>
        </p:spPr>
      </p:pic>
      <p:sp>
        <p:nvSpPr>
          <p:cNvPr id="1396" name="Google Shape;1396;p99"/>
          <p:cNvSpPr txBox="1"/>
          <p:nvPr>
            <p:ph idx="4294967295" type="body"/>
          </p:nvPr>
        </p:nvSpPr>
        <p:spPr>
          <a:xfrm>
            <a:off x="7095625" y="4364400"/>
            <a:ext cx="1438500" cy="2745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D</a:t>
            </a:r>
            <a:r>
              <a:rPr lang="en-GB" sz="1800"/>
              <a:t>istance (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GB" sz="1800"/>
              <a:t>)</a:t>
            </a:r>
            <a:endParaRPr sz="1800"/>
          </a:p>
        </p:txBody>
      </p:sp>
      <p:sp>
        <p:nvSpPr>
          <p:cNvPr id="1397" name="Google Shape;1397;p99"/>
          <p:cNvSpPr txBox="1"/>
          <p:nvPr>
            <p:ph idx="4294967295" type="body"/>
          </p:nvPr>
        </p:nvSpPr>
        <p:spPr>
          <a:xfrm rot="-5400000">
            <a:off x="3023927" y="1539190"/>
            <a:ext cx="1196700" cy="3519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Height (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GB" sz="1800"/>
              <a:t>)</a:t>
            </a:r>
            <a:endParaRPr sz="1800"/>
          </a:p>
        </p:txBody>
      </p:sp>
      <p:sp>
        <p:nvSpPr>
          <p:cNvPr id="1398" name="Google Shape;1398;p99"/>
          <p:cNvSpPr txBox="1"/>
          <p:nvPr/>
        </p:nvSpPr>
        <p:spPr>
          <a:xfrm>
            <a:off x="7057043" y="4147160"/>
            <a:ext cx="2349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9" name="Google Shape;1399;p99"/>
          <p:cNvSpPr txBox="1"/>
          <p:nvPr/>
        </p:nvSpPr>
        <p:spPr>
          <a:xfrm>
            <a:off x="4556728" y="4147147"/>
            <a:ext cx="1929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0" name="Google Shape;1400;p99"/>
          <p:cNvSpPr txBox="1"/>
          <p:nvPr/>
        </p:nvSpPr>
        <p:spPr>
          <a:xfrm>
            <a:off x="8326011" y="4147160"/>
            <a:ext cx="2349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1" name="Google Shape;1401;p99"/>
          <p:cNvSpPr txBox="1"/>
          <p:nvPr/>
        </p:nvSpPr>
        <p:spPr>
          <a:xfrm>
            <a:off x="5791784" y="4147160"/>
            <a:ext cx="2349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2" name="Google Shape;1402;p99"/>
          <p:cNvSpPr txBox="1"/>
          <p:nvPr/>
        </p:nvSpPr>
        <p:spPr>
          <a:xfrm>
            <a:off x="3287154" y="4147147"/>
            <a:ext cx="1929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3" name="Google Shape;1403;p99"/>
          <p:cNvSpPr txBox="1"/>
          <p:nvPr/>
        </p:nvSpPr>
        <p:spPr>
          <a:xfrm>
            <a:off x="3168398" y="2726629"/>
            <a:ext cx="2349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4" name="Google Shape;1404;p99"/>
          <p:cNvSpPr txBox="1"/>
          <p:nvPr/>
        </p:nvSpPr>
        <p:spPr>
          <a:xfrm>
            <a:off x="3168398" y="1477275"/>
            <a:ext cx="2349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5" name="Google Shape;1405;p99"/>
          <p:cNvSpPr txBox="1"/>
          <p:nvPr>
            <p:ph idx="1" type="body"/>
          </p:nvPr>
        </p:nvSpPr>
        <p:spPr>
          <a:xfrm>
            <a:off x="324000" y="2645640"/>
            <a:ext cx="27168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</a:t>
            </a:r>
            <a:r>
              <a:rPr lang="en-GB" sz="1800"/>
              <a:t>) The distance when the ball is at a </a:t>
            </a:r>
            <a:r>
              <a:rPr lang="en-GB" sz="1800"/>
              <a:t>height</a:t>
            </a:r>
            <a:r>
              <a:rPr lang="en-GB" sz="1800"/>
              <a:t> of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lang="en-GB" sz="1800"/>
              <a:t> metres.</a:t>
            </a:r>
            <a:endParaRPr sz="1800"/>
          </a:p>
        </p:txBody>
      </p:sp>
      <p:sp>
        <p:nvSpPr>
          <p:cNvPr id="1406" name="Google Shape;1406;p99"/>
          <p:cNvSpPr txBox="1"/>
          <p:nvPr>
            <p:ph idx="1" type="body"/>
          </p:nvPr>
        </p:nvSpPr>
        <p:spPr>
          <a:xfrm>
            <a:off x="324000" y="4005725"/>
            <a:ext cx="25632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</a:t>
            </a:r>
            <a:r>
              <a:rPr lang="en-GB" sz="1800"/>
              <a:t>) The distance when the ball is at a height of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r>
              <a:rPr lang="en-GB" sz="1800"/>
              <a:t> metres.</a:t>
            </a:r>
            <a:endParaRPr sz="18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p100"/>
          <p:cNvSpPr txBox="1"/>
          <p:nvPr>
            <p:ph idx="1" type="body"/>
          </p:nvPr>
        </p:nvSpPr>
        <p:spPr>
          <a:xfrm>
            <a:off x="324000" y="759300"/>
            <a:ext cx="3996000" cy="75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1) This is the graph of the quadratic equation</a:t>
            </a:r>
            <a:endParaRPr sz="2000"/>
          </a:p>
        </p:txBody>
      </p:sp>
      <p:sp>
        <p:nvSpPr>
          <p:cNvPr id="1412" name="Google Shape;1412;p10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Reading from quadratic graphs</a:t>
            </a:r>
            <a:endParaRPr/>
          </a:p>
        </p:txBody>
      </p:sp>
      <p:pic>
        <p:nvPicPr>
          <p:cNvPr id="1413" name="Google Shape;1413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3507" y="809999"/>
            <a:ext cx="3712693" cy="400567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14" name="Google Shape;1414;p100"/>
          <p:cNvSpPr txBox="1"/>
          <p:nvPr/>
        </p:nvSpPr>
        <p:spPr>
          <a:xfrm>
            <a:off x="8363252" y="2781073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5" name="Google Shape;1415;p100"/>
          <p:cNvSpPr txBox="1"/>
          <p:nvPr/>
        </p:nvSpPr>
        <p:spPr>
          <a:xfrm>
            <a:off x="6722054" y="830142"/>
            <a:ext cx="186600" cy="28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y=\frac{1}{2}x^2+4x&quot;&gt;&lt;mi&gt;y&lt;/mi&gt;&lt;mo&gt;=&lt;/mo&gt;&lt;mfrac&gt;&lt;mn&gt;1&lt;/mn&gt;&lt;mn&gt;2&lt;/mn&gt;&lt;/mfrac&gt;&lt;msup&gt;&lt;mi&gt;x&lt;/mi&gt;&lt;mn&gt;2&lt;/mn&gt;&lt;/msup&gt;&lt;mo&gt;+&lt;/mo&gt;&lt;mn&gt;4&lt;/mn&gt;&lt;mi&gt;x&lt;/mi&gt;&lt;/math&gt;" id="1416" name="Google Shape;1416;p100" title="y equals one half x squared plus 4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87837" y="1070926"/>
            <a:ext cx="1674875" cy="60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x^2+4x=10&quot;&gt;&lt;mfrac&gt;&lt;mn&gt;1&lt;/mn&gt;&lt;mn&gt;2&lt;/mn&gt;&lt;/mfrac&gt;&lt;msup&gt;&lt;mi&gt;x&lt;/mi&gt;&lt;mn&gt;2&lt;/mn&gt;&lt;/msup&gt;&lt;mo&gt;+&lt;/mo&gt;&lt;mn&gt;4&lt;/mn&gt;&lt;mi&gt;x&lt;/mi&gt;&lt;mo&gt;=&lt;/mo&gt;&lt;mn&gt;10&lt;/mn&gt;&lt;/math&gt;" id="1417" name="Google Shape;1417;p100" title="one half x squared plus 4 x equals 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1600" y="2383693"/>
            <a:ext cx="1647833" cy="551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x^2+4x=0&quot;&gt;&lt;mfrac&gt;&lt;mn&gt;1&lt;/mn&gt;&lt;mn&gt;2&lt;/mn&gt;&lt;/mfrac&gt;&lt;msup&gt;&lt;mi&gt;x&lt;/mi&gt;&lt;mn&gt;2&lt;/mn&gt;&lt;/msup&gt;&lt;mo&gt;+&lt;/mo&gt;&lt;mn&gt;4&lt;/mn&gt;&lt;mi&gt;x&lt;/mi&gt;&lt;mo&gt;=&lt;/mo&gt;&lt;mn&gt;0&lt;/mn&gt;&lt;/math&gt;" id="1418" name="Google Shape;1418;p100" title="one half x squared plus 4 x equals 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1600" y="3262770"/>
            <a:ext cx="1514879" cy="551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x^2+4x=-8&quot;&gt;&lt;mfrac&gt;&lt;mn&gt;1&lt;/mn&gt;&lt;mn&gt;2&lt;/mn&gt;&lt;/mfrac&gt;&lt;msup&gt;&lt;mi&gt;x&lt;/mi&gt;&lt;mn&gt;2&lt;/mn&gt;&lt;/msup&gt;&lt;mo&gt;+&lt;/mo&gt;&lt;mn&gt;4&lt;/mn&gt;&lt;mi&gt;x&lt;/mi&gt;&lt;mo&gt;=&lt;/mo&gt;&lt;mo&gt;−&lt;/mo&gt;&lt;mn&gt;8&lt;/mn&gt;&lt;/math&gt;" id="1419" name="Google Shape;1419;p100" title="one half x squared plus 4 x equals negative 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1600" y="4138211"/>
            <a:ext cx="1688123" cy="551969"/>
          </a:xfrm>
          <a:prstGeom prst="rect">
            <a:avLst/>
          </a:prstGeom>
          <a:noFill/>
          <a:ln>
            <a:noFill/>
          </a:ln>
        </p:spPr>
      </p:pic>
      <p:sp>
        <p:nvSpPr>
          <p:cNvPr id="1420" name="Google Shape;1420;p100"/>
          <p:cNvSpPr txBox="1"/>
          <p:nvPr>
            <p:ph idx="1" type="body"/>
          </p:nvPr>
        </p:nvSpPr>
        <p:spPr>
          <a:xfrm>
            <a:off x="324000" y="1826100"/>
            <a:ext cx="2912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Use the graph to solve:</a:t>
            </a:r>
            <a:endParaRPr sz="2000"/>
          </a:p>
        </p:txBody>
      </p:sp>
      <p:sp>
        <p:nvSpPr>
          <p:cNvPr id="1421" name="Google Shape;1421;p100"/>
          <p:cNvSpPr txBox="1"/>
          <p:nvPr>
            <p:ph idx="1" type="body"/>
          </p:nvPr>
        </p:nvSpPr>
        <p:spPr>
          <a:xfrm>
            <a:off x="324000" y="2500393"/>
            <a:ext cx="3351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a)</a:t>
            </a:r>
            <a:endParaRPr sz="2000"/>
          </a:p>
        </p:txBody>
      </p:sp>
      <p:sp>
        <p:nvSpPr>
          <p:cNvPr id="1422" name="Google Shape;1422;p100"/>
          <p:cNvSpPr txBox="1"/>
          <p:nvPr>
            <p:ph idx="1" type="body"/>
          </p:nvPr>
        </p:nvSpPr>
        <p:spPr>
          <a:xfrm>
            <a:off x="324000" y="3380273"/>
            <a:ext cx="3351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b)</a:t>
            </a:r>
            <a:endParaRPr sz="2000"/>
          </a:p>
        </p:txBody>
      </p:sp>
      <p:sp>
        <p:nvSpPr>
          <p:cNvPr id="1423" name="Google Shape;1423;p100"/>
          <p:cNvSpPr txBox="1"/>
          <p:nvPr>
            <p:ph idx="1" type="body"/>
          </p:nvPr>
        </p:nvSpPr>
        <p:spPr>
          <a:xfrm>
            <a:off x="324000" y="4252993"/>
            <a:ext cx="3351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c)</a:t>
            </a:r>
            <a:endParaRPr sz="2000"/>
          </a:p>
        </p:txBody>
      </p:sp>
      <p:sp>
        <p:nvSpPr>
          <p:cNvPr id="1424" name="Google Shape;1424;p100"/>
          <p:cNvSpPr txBox="1"/>
          <p:nvPr/>
        </p:nvSpPr>
        <p:spPr>
          <a:xfrm>
            <a:off x="7604925" y="843450"/>
            <a:ext cx="6912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(2, 10)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25" name="Google Shape;1425;p100"/>
          <p:cNvCxnSpPr/>
          <p:nvPr/>
        </p:nvCxnSpPr>
        <p:spPr>
          <a:xfrm>
            <a:off x="5233784" y="1053875"/>
            <a:ext cx="2225400" cy="30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426" name="Google Shape;1426;p100"/>
          <p:cNvCxnSpPr/>
          <p:nvPr/>
        </p:nvCxnSpPr>
        <p:spPr>
          <a:xfrm flipH="1" rot="10800000">
            <a:off x="7445403" y="1066950"/>
            <a:ext cx="4800" cy="18687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427" name="Google Shape;1427;p100"/>
          <p:cNvSpPr txBox="1"/>
          <p:nvPr/>
        </p:nvSpPr>
        <p:spPr>
          <a:xfrm>
            <a:off x="4148547" y="831937"/>
            <a:ext cx="9723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(−10, 10)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28" name="Google Shape;1428;p100"/>
          <p:cNvCxnSpPr/>
          <p:nvPr/>
        </p:nvCxnSpPr>
        <p:spPr>
          <a:xfrm flipH="1" rot="10800000">
            <a:off x="5229625" y="1066950"/>
            <a:ext cx="4800" cy="18687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429" name="Google Shape;1429;p100"/>
          <p:cNvSpPr txBox="1"/>
          <p:nvPr/>
        </p:nvSpPr>
        <p:spPr>
          <a:xfrm>
            <a:off x="5110614" y="895547"/>
            <a:ext cx="338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0" name="Google Shape;1430;p100"/>
          <p:cNvSpPr txBox="1"/>
          <p:nvPr/>
        </p:nvSpPr>
        <p:spPr>
          <a:xfrm>
            <a:off x="7354934" y="895547"/>
            <a:ext cx="338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1" name="Google Shape;1431;p100"/>
          <p:cNvSpPr txBox="1"/>
          <p:nvPr/>
        </p:nvSpPr>
        <p:spPr>
          <a:xfrm>
            <a:off x="2884102" y="2339187"/>
            <a:ext cx="1515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5" name="Shape 1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Google Shape;1436;p101"/>
          <p:cNvSpPr txBox="1"/>
          <p:nvPr>
            <p:ph idx="1" type="body"/>
          </p:nvPr>
        </p:nvSpPr>
        <p:spPr>
          <a:xfrm>
            <a:off x="324000" y="759300"/>
            <a:ext cx="3996000" cy="75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1) This is the graph of the quadratic equation</a:t>
            </a:r>
            <a:endParaRPr sz="2000"/>
          </a:p>
        </p:txBody>
      </p:sp>
      <p:sp>
        <p:nvSpPr>
          <p:cNvPr id="1437" name="Google Shape;1437;p10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Reading from quadratic graphs</a:t>
            </a:r>
            <a:endParaRPr/>
          </a:p>
        </p:txBody>
      </p:sp>
      <p:pic>
        <p:nvPicPr>
          <p:cNvPr id="1438" name="Google Shape;1438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3507" y="809999"/>
            <a:ext cx="3712693" cy="400567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39" name="Google Shape;1439;p101"/>
          <p:cNvSpPr txBox="1"/>
          <p:nvPr/>
        </p:nvSpPr>
        <p:spPr>
          <a:xfrm>
            <a:off x="8363252" y="2781073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0" name="Google Shape;1440;p101"/>
          <p:cNvSpPr txBox="1"/>
          <p:nvPr/>
        </p:nvSpPr>
        <p:spPr>
          <a:xfrm>
            <a:off x="6722054" y="830142"/>
            <a:ext cx="186600" cy="28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y=\frac{1}{2}x^2+4x&quot;&gt;&lt;mi&gt;y&lt;/mi&gt;&lt;mo&gt;=&lt;/mo&gt;&lt;mfrac&gt;&lt;mn&gt;1&lt;/mn&gt;&lt;mn&gt;2&lt;/mn&gt;&lt;/mfrac&gt;&lt;msup&gt;&lt;mi&gt;x&lt;/mi&gt;&lt;mn&gt;2&lt;/mn&gt;&lt;/msup&gt;&lt;mo&gt;+&lt;/mo&gt;&lt;mn&gt;4&lt;/mn&gt;&lt;mi&gt;x&lt;/mi&gt;&lt;/math&gt;" id="1441" name="Google Shape;1441;p101" title="y equals one half x squared plus 4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87837" y="1070926"/>
            <a:ext cx="1674875" cy="60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x^2+4x=10&quot;&gt;&lt;mfrac&gt;&lt;mn&gt;1&lt;/mn&gt;&lt;mn&gt;2&lt;/mn&gt;&lt;/mfrac&gt;&lt;msup&gt;&lt;mi&gt;x&lt;/mi&gt;&lt;mn&gt;2&lt;/mn&gt;&lt;/msup&gt;&lt;mo&gt;+&lt;/mo&gt;&lt;mn&gt;4&lt;/mn&gt;&lt;mi&gt;x&lt;/mi&gt;&lt;mo&gt;=&lt;/mo&gt;&lt;mn&gt;10&lt;/mn&gt;&lt;/math&gt;" id="1442" name="Google Shape;1442;p101" title="one half x squared plus 4 x equals 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1600" y="2383693"/>
            <a:ext cx="1647833" cy="551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x^2+4x=0&quot;&gt;&lt;mfrac&gt;&lt;mn&gt;1&lt;/mn&gt;&lt;mn&gt;2&lt;/mn&gt;&lt;/mfrac&gt;&lt;msup&gt;&lt;mi&gt;x&lt;/mi&gt;&lt;mn&gt;2&lt;/mn&gt;&lt;/msup&gt;&lt;mo&gt;+&lt;/mo&gt;&lt;mn&gt;4&lt;/mn&gt;&lt;mi&gt;x&lt;/mi&gt;&lt;mo&gt;=&lt;/mo&gt;&lt;mn&gt;0&lt;/mn&gt;&lt;/math&gt;" id="1443" name="Google Shape;1443;p101" title="one half x squared plus 4 x equals 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1600" y="3262770"/>
            <a:ext cx="1514879" cy="551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x^2+4x=-8&quot;&gt;&lt;mfrac&gt;&lt;mn&gt;1&lt;/mn&gt;&lt;mn&gt;2&lt;/mn&gt;&lt;/mfrac&gt;&lt;msup&gt;&lt;mi&gt;x&lt;/mi&gt;&lt;mn&gt;2&lt;/mn&gt;&lt;/msup&gt;&lt;mo&gt;+&lt;/mo&gt;&lt;mn&gt;4&lt;/mn&gt;&lt;mi&gt;x&lt;/mi&gt;&lt;mo&gt;=&lt;/mo&gt;&lt;mo&gt;−&lt;/mo&gt;&lt;mn&gt;8&lt;/mn&gt;&lt;/math&gt;" id="1444" name="Google Shape;1444;p101" title="one half x squared plus 4 x equals negative 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1600" y="4138211"/>
            <a:ext cx="1688123" cy="551969"/>
          </a:xfrm>
          <a:prstGeom prst="rect">
            <a:avLst/>
          </a:prstGeom>
          <a:noFill/>
          <a:ln>
            <a:noFill/>
          </a:ln>
        </p:spPr>
      </p:pic>
      <p:sp>
        <p:nvSpPr>
          <p:cNvPr id="1445" name="Google Shape;1445;p101"/>
          <p:cNvSpPr txBox="1"/>
          <p:nvPr>
            <p:ph idx="1" type="body"/>
          </p:nvPr>
        </p:nvSpPr>
        <p:spPr>
          <a:xfrm>
            <a:off x="324000" y="1826100"/>
            <a:ext cx="2912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Use the graph to solve:</a:t>
            </a:r>
            <a:endParaRPr sz="2000"/>
          </a:p>
        </p:txBody>
      </p:sp>
      <p:sp>
        <p:nvSpPr>
          <p:cNvPr id="1446" name="Google Shape;1446;p101"/>
          <p:cNvSpPr txBox="1"/>
          <p:nvPr>
            <p:ph idx="1" type="body"/>
          </p:nvPr>
        </p:nvSpPr>
        <p:spPr>
          <a:xfrm>
            <a:off x="324000" y="2500393"/>
            <a:ext cx="3351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a)</a:t>
            </a:r>
            <a:endParaRPr sz="2000"/>
          </a:p>
        </p:txBody>
      </p:sp>
      <p:sp>
        <p:nvSpPr>
          <p:cNvPr id="1447" name="Google Shape;1447;p101"/>
          <p:cNvSpPr txBox="1"/>
          <p:nvPr>
            <p:ph idx="1" type="body"/>
          </p:nvPr>
        </p:nvSpPr>
        <p:spPr>
          <a:xfrm>
            <a:off x="324000" y="3380273"/>
            <a:ext cx="3351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b)</a:t>
            </a:r>
            <a:endParaRPr sz="2000"/>
          </a:p>
        </p:txBody>
      </p:sp>
      <p:sp>
        <p:nvSpPr>
          <p:cNvPr id="1448" name="Google Shape;1448;p101"/>
          <p:cNvSpPr txBox="1"/>
          <p:nvPr>
            <p:ph idx="1" type="body"/>
          </p:nvPr>
        </p:nvSpPr>
        <p:spPr>
          <a:xfrm>
            <a:off x="324000" y="4252993"/>
            <a:ext cx="3351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c)</a:t>
            </a:r>
            <a:endParaRPr sz="2000"/>
          </a:p>
        </p:txBody>
      </p:sp>
      <p:cxnSp>
        <p:nvCxnSpPr>
          <p:cNvPr id="1449" name="Google Shape;1449;p101"/>
          <p:cNvCxnSpPr/>
          <p:nvPr/>
        </p:nvCxnSpPr>
        <p:spPr>
          <a:xfrm>
            <a:off x="5583900" y="2940500"/>
            <a:ext cx="15420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450" name="Google Shape;1450;p101"/>
          <p:cNvSpPr txBox="1"/>
          <p:nvPr/>
        </p:nvSpPr>
        <p:spPr>
          <a:xfrm>
            <a:off x="2884102" y="2339187"/>
            <a:ext cx="1515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endParaRPr/>
          </a:p>
        </p:txBody>
      </p:sp>
      <p:sp>
        <p:nvSpPr>
          <p:cNvPr id="1451" name="Google Shape;1451;p101"/>
          <p:cNvSpPr txBox="1"/>
          <p:nvPr/>
        </p:nvSpPr>
        <p:spPr>
          <a:xfrm>
            <a:off x="2884100" y="3253575"/>
            <a:ext cx="13404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0</a:t>
            </a:r>
            <a:endParaRPr/>
          </a:p>
        </p:txBody>
      </p:sp>
      <p:sp>
        <p:nvSpPr>
          <p:cNvPr id="1452" name="Google Shape;1452;p101"/>
          <p:cNvSpPr txBox="1"/>
          <p:nvPr/>
        </p:nvSpPr>
        <p:spPr>
          <a:xfrm>
            <a:off x="7223925" y="2972700"/>
            <a:ext cx="5808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(0, 0)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3" name="Google Shape;1453;p101"/>
          <p:cNvSpPr txBox="1"/>
          <p:nvPr/>
        </p:nvSpPr>
        <p:spPr>
          <a:xfrm>
            <a:off x="6985440" y="2777533"/>
            <a:ext cx="338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4" name="Google Shape;1454;p101"/>
          <p:cNvSpPr txBox="1"/>
          <p:nvPr/>
        </p:nvSpPr>
        <p:spPr>
          <a:xfrm>
            <a:off x="4899048" y="3007225"/>
            <a:ext cx="7308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(−8, 0)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5" name="Google Shape;1455;p101"/>
          <p:cNvSpPr txBox="1"/>
          <p:nvPr/>
        </p:nvSpPr>
        <p:spPr>
          <a:xfrm>
            <a:off x="5480107" y="2766027"/>
            <a:ext cx="338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9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p102"/>
          <p:cNvSpPr txBox="1"/>
          <p:nvPr>
            <p:ph idx="1" type="body"/>
          </p:nvPr>
        </p:nvSpPr>
        <p:spPr>
          <a:xfrm>
            <a:off x="324000" y="759300"/>
            <a:ext cx="3996000" cy="75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1) This is the graph of the quadratic equation</a:t>
            </a:r>
            <a:endParaRPr sz="2000"/>
          </a:p>
        </p:txBody>
      </p:sp>
      <p:sp>
        <p:nvSpPr>
          <p:cNvPr id="1461" name="Google Shape;1461;p10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Reading from quadratic graphs</a:t>
            </a:r>
            <a:endParaRPr/>
          </a:p>
        </p:txBody>
      </p:sp>
      <p:pic>
        <p:nvPicPr>
          <p:cNvPr id="1462" name="Google Shape;1462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3507" y="809999"/>
            <a:ext cx="3712693" cy="400567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63" name="Google Shape;1463;p102"/>
          <p:cNvSpPr txBox="1"/>
          <p:nvPr/>
        </p:nvSpPr>
        <p:spPr>
          <a:xfrm>
            <a:off x="8363252" y="2781073"/>
            <a:ext cx="1866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4" name="Google Shape;1464;p102"/>
          <p:cNvSpPr txBox="1"/>
          <p:nvPr/>
        </p:nvSpPr>
        <p:spPr>
          <a:xfrm>
            <a:off x="6722054" y="830142"/>
            <a:ext cx="186600" cy="28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y=\frac{1}{2}x^2+4x&quot;&gt;&lt;mi&gt;y&lt;/mi&gt;&lt;mo&gt;=&lt;/mo&gt;&lt;mfrac&gt;&lt;mn&gt;1&lt;/mn&gt;&lt;mn&gt;2&lt;/mn&gt;&lt;/mfrac&gt;&lt;msup&gt;&lt;mi&gt;x&lt;/mi&gt;&lt;mn&gt;2&lt;/mn&gt;&lt;/msup&gt;&lt;mo&gt;+&lt;/mo&gt;&lt;mn&gt;4&lt;/mn&gt;&lt;mi&gt;x&lt;/mi&gt;&lt;/math&gt;" id="1465" name="Google Shape;1465;p102" title="y equals one half x squared plus 4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87837" y="1070926"/>
            <a:ext cx="1674875" cy="60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x^2+4x=10&quot;&gt;&lt;mfrac&gt;&lt;mn&gt;1&lt;/mn&gt;&lt;mn&gt;2&lt;/mn&gt;&lt;/mfrac&gt;&lt;msup&gt;&lt;mi&gt;x&lt;/mi&gt;&lt;mn&gt;2&lt;/mn&gt;&lt;/msup&gt;&lt;mo&gt;+&lt;/mo&gt;&lt;mn&gt;4&lt;/mn&gt;&lt;mi&gt;x&lt;/mi&gt;&lt;mo&gt;=&lt;/mo&gt;&lt;mn&gt;10&lt;/mn&gt;&lt;/math&gt;" id="1466" name="Google Shape;1466;p102" title="one half x squared plus 4 x equals 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1600" y="2383693"/>
            <a:ext cx="1647833" cy="551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x^2+4x=0&quot;&gt;&lt;mfrac&gt;&lt;mn&gt;1&lt;/mn&gt;&lt;mn&gt;2&lt;/mn&gt;&lt;/mfrac&gt;&lt;msup&gt;&lt;mi&gt;x&lt;/mi&gt;&lt;mn&gt;2&lt;/mn&gt;&lt;/msup&gt;&lt;mo&gt;+&lt;/mo&gt;&lt;mn&gt;4&lt;/mn&gt;&lt;mi&gt;x&lt;/mi&gt;&lt;mo&gt;=&lt;/mo&gt;&lt;mn&gt;0&lt;/mn&gt;&lt;/math&gt;" id="1467" name="Google Shape;1467;p102" title="one half x squared plus 4 x equals 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1600" y="3262770"/>
            <a:ext cx="1514879" cy="551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x^2+4x=-8&quot;&gt;&lt;mfrac&gt;&lt;mn&gt;1&lt;/mn&gt;&lt;mn&gt;2&lt;/mn&gt;&lt;/mfrac&gt;&lt;msup&gt;&lt;mi&gt;x&lt;/mi&gt;&lt;mn&gt;2&lt;/mn&gt;&lt;/msup&gt;&lt;mo&gt;+&lt;/mo&gt;&lt;mn&gt;4&lt;/mn&gt;&lt;mi&gt;x&lt;/mi&gt;&lt;mo&gt;=&lt;/mo&gt;&lt;mo&gt;−&lt;/mo&gt;&lt;mn&gt;8&lt;/mn&gt;&lt;/math&gt;" id="1468" name="Google Shape;1468;p102" title="one half x squared plus 4 x equals negative 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1600" y="4138211"/>
            <a:ext cx="1688123" cy="551969"/>
          </a:xfrm>
          <a:prstGeom prst="rect">
            <a:avLst/>
          </a:prstGeom>
          <a:noFill/>
          <a:ln>
            <a:noFill/>
          </a:ln>
        </p:spPr>
      </p:pic>
      <p:sp>
        <p:nvSpPr>
          <p:cNvPr id="1469" name="Google Shape;1469;p102"/>
          <p:cNvSpPr txBox="1"/>
          <p:nvPr>
            <p:ph idx="1" type="body"/>
          </p:nvPr>
        </p:nvSpPr>
        <p:spPr>
          <a:xfrm>
            <a:off x="324000" y="1826100"/>
            <a:ext cx="2912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Use the graph to solve:</a:t>
            </a:r>
            <a:endParaRPr sz="2000"/>
          </a:p>
        </p:txBody>
      </p:sp>
      <p:sp>
        <p:nvSpPr>
          <p:cNvPr id="1470" name="Google Shape;1470;p102"/>
          <p:cNvSpPr txBox="1"/>
          <p:nvPr>
            <p:ph idx="1" type="body"/>
          </p:nvPr>
        </p:nvSpPr>
        <p:spPr>
          <a:xfrm>
            <a:off x="324000" y="2500393"/>
            <a:ext cx="3351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a)</a:t>
            </a:r>
            <a:endParaRPr sz="2000"/>
          </a:p>
        </p:txBody>
      </p:sp>
      <p:sp>
        <p:nvSpPr>
          <p:cNvPr id="1471" name="Google Shape;1471;p102"/>
          <p:cNvSpPr txBox="1"/>
          <p:nvPr>
            <p:ph idx="1" type="body"/>
          </p:nvPr>
        </p:nvSpPr>
        <p:spPr>
          <a:xfrm>
            <a:off x="324000" y="3380273"/>
            <a:ext cx="3351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b)</a:t>
            </a:r>
            <a:endParaRPr sz="2000"/>
          </a:p>
        </p:txBody>
      </p:sp>
      <p:sp>
        <p:nvSpPr>
          <p:cNvPr id="1472" name="Google Shape;1472;p102"/>
          <p:cNvSpPr txBox="1"/>
          <p:nvPr>
            <p:ph idx="1" type="body"/>
          </p:nvPr>
        </p:nvSpPr>
        <p:spPr>
          <a:xfrm>
            <a:off x="324000" y="4252993"/>
            <a:ext cx="3351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c)</a:t>
            </a:r>
            <a:endParaRPr sz="2000"/>
          </a:p>
        </p:txBody>
      </p:sp>
      <p:cxnSp>
        <p:nvCxnSpPr>
          <p:cNvPr id="1473" name="Google Shape;1473;p102"/>
          <p:cNvCxnSpPr/>
          <p:nvPr/>
        </p:nvCxnSpPr>
        <p:spPr>
          <a:xfrm flipH="1" rot="10800000">
            <a:off x="6343918" y="4455240"/>
            <a:ext cx="762900" cy="21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474" name="Google Shape;1474;p102"/>
          <p:cNvSpPr txBox="1"/>
          <p:nvPr/>
        </p:nvSpPr>
        <p:spPr>
          <a:xfrm>
            <a:off x="2884102" y="2339187"/>
            <a:ext cx="1515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endParaRPr/>
          </a:p>
        </p:txBody>
      </p:sp>
      <p:sp>
        <p:nvSpPr>
          <p:cNvPr id="1475" name="Google Shape;1475;p102"/>
          <p:cNvSpPr txBox="1"/>
          <p:nvPr/>
        </p:nvSpPr>
        <p:spPr>
          <a:xfrm>
            <a:off x="2884100" y="3253575"/>
            <a:ext cx="13404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0</a:t>
            </a:r>
            <a:endParaRPr/>
          </a:p>
        </p:txBody>
      </p:sp>
      <p:sp>
        <p:nvSpPr>
          <p:cNvPr id="1476" name="Google Shape;1476;p102"/>
          <p:cNvSpPr txBox="1"/>
          <p:nvPr/>
        </p:nvSpPr>
        <p:spPr>
          <a:xfrm>
            <a:off x="5373400" y="4412175"/>
            <a:ext cx="7995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(−4,−8)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7" name="Google Shape;1477;p102"/>
          <p:cNvSpPr txBox="1"/>
          <p:nvPr/>
        </p:nvSpPr>
        <p:spPr>
          <a:xfrm>
            <a:off x="6230600" y="4282867"/>
            <a:ext cx="338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78" name="Google Shape;1478;p102"/>
          <p:cNvCxnSpPr/>
          <p:nvPr/>
        </p:nvCxnSpPr>
        <p:spPr>
          <a:xfrm flipH="1" rot="10800000">
            <a:off x="6349700" y="2952950"/>
            <a:ext cx="13500" cy="15000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479" name="Google Shape;1479;p102"/>
          <p:cNvSpPr txBox="1"/>
          <p:nvPr/>
        </p:nvSpPr>
        <p:spPr>
          <a:xfrm>
            <a:off x="2884100" y="4167975"/>
            <a:ext cx="134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one value only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3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p103"/>
          <p:cNvSpPr txBox="1"/>
          <p:nvPr>
            <p:ph idx="1" type="body"/>
          </p:nvPr>
        </p:nvSpPr>
        <p:spPr>
          <a:xfrm>
            <a:off x="324000" y="759300"/>
            <a:ext cx="82377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2) This parabola models the </a:t>
            </a:r>
            <a:r>
              <a:rPr lang="en-GB" sz="2000"/>
              <a:t>flight </a:t>
            </a:r>
            <a:r>
              <a:rPr lang="en-GB" sz="2000"/>
              <a:t>of a cricket ball being thrown.</a:t>
            </a:r>
            <a:endParaRPr sz="2000"/>
          </a:p>
        </p:txBody>
      </p:sp>
      <p:sp>
        <p:nvSpPr>
          <p:cNvPr id="1485" name="Google Shape;1485;p10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Reading from quadratic graphs</a:t>
            </a:r>
            <a:endParaRPr/>
          </a:p>
        </p:txBody>
      </p:sp>
      <p:sp>
        <p:nvSpPr>
          <p:cNvPr id="1486" name="Google Shape;1486;p103"/>
          <p:cNvSpPr txBox="1"/>
          <p:nvPr>
            <p:ph idx="1" type="body"/>
          </p:nvPr>
        </p:nvSpPr>
        <p:spPr>
          <a:xfrm>
            <a:off x="324000" y="1216500"/>
            <a:ext cx="2912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Use the graph to read:</a:t>
            </a:r>
            <a:endParaRPr sz="1800"/>
          </a:p>
        </p:txBody>
      </p:sp>
      <p:sp>
        <p:nvSpPr>
          <p:cNvPr id="1487" name="Google Shape;1487;p103"/>
          <p:cNvSpPr txBox="1"/>
          <p:nvPr>
            <p:ph idx="1" type="body"/>
          </p:nvPr>
        </p:nvSpPr>
        <p:spPr>
          <a:xfrm>
            <a:off x="324000" y="1574493"/>
            <a:ext cx="27168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a) The height of the ball at a distance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18</a:t>
            </a:r>
            <a:r>
              <a:rPr lang="en-GB" sz="1800"/>
              <a:t> metres.</a:t>
            </a:r>
            <a:endParaRPr sz="1800"/>
          </a:p>
        </p:txBody>
      </p:sp>
      <p:pic>
        <p:nvPicPr>
          <p:cNvPr id="1488" name="Google Shape;1488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3387" y="1084566"/>
            <a:ext cx="5602800" cy="3204858"/>
          </a:xfrm>
          <a:prstGeom prst="rect">
            <a:avLst/>
          </a:prstGeom>
          <a:noFill/>
          <a:ln>
            <a:noFill/>
          </a:ln>
        </p:spPr>
      </p:pic>
      <p:sp>
        <p:nvSpPr>
          <p:cNvPr id="1489" name="Google Shape;1489;p103"/>
          <p:cNvSpPr txBox="1"/>
          <p:nvPr>
            <p:ph idx="4294967295" type="body"/>
          </p:nvPr>
        </p:nvSpPr>
        <p:spPr>
          <a:xfrm>
            <a:off x="7095625" y="4364400"/>
            <a:ext cx="1438500" cy="2745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D</a:t>
            </a:r>
            <a:r>
              <a:rPr lang="en-GB" sz="1800"/>
              <a:t>istance (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GB" sz="1800"/>
              <a:t>)</a:t>
            </a:r>
            <a:endParaRPr sz="1800"/>
          </a:p>
        </p:txBody>
      </p:sp>
      <p:sp>
        <p:nvSpPr>
          <p:cNvPr id="1490" name="Google Shape;1490;p103"/>
          <p:cNvSpPr txBox="1"/>
          <p:nvPr>
            <p:ph idx="4294967295" type="body"/>
          </p:nvPr>
        </p:nvSpPr>
        <p:spPr>
          <a:xfrm rot="-5400000">
            <a:off x="3023927" y="1539190"/>
            <a:ext cx="1196700" cy="3519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Height (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GB" sz="1800"/>
              <a:t>)</a:t>
            </a:r>
            <a:endParaRPr sz="1800"/>
          </a:p>
        </p:txBody>
      </p:sp>
      <p:sp>
        <p:nvSpPr>
          <p:cNvPr id="1491" name="Google Shape;1491;p103"/>
          <p:cNvSpPr txBox="1"/>
          <p:nvPr/>
        </p:nvSpPr>
        <p:spPr>
          <a:xfrm>
            <a:off x="7057043" y="4147160"/>
            <a:ext cx="2349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2" name="Google Shape;1492;p103"/>
          <p:cNvSpPr txBox="1"/>
          <p:nvPr/>
        </p:nvSpPr>
        <p:spPr>
          <a:xfrm>
            <a:off x="4556728" y="4147147"/>
            <a:ext cx="1929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3" name="Google Shape;1493;p103"/>
          <p:cNvSpPr txBox="1"/>
          <p:nvPr/>
        </p:nvSpPr>
        <p:spPr>
          <a:xfrm>
            <a:off x="8326011" y="4147160"/>
            <a:ext cx="2349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4" name="Google Shape;1494;p103"/>
          <p:cNvSpPr txBox="1"/>
          <p:nvPr/>
        </p:nvSpPr>
        <p:spPr>
          <a:xfrm>
            <a:off x="5791784" y="4147160"/>
            <a:ext cx="2349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5" name="Google Shape;1495;p103"/>
          <p:cNvSpPr txBox="1"/>
          <p:nvPr/>
        </p:nvSpPr>
        <p:spPr>
          <a:xfrm>
            <a:off x="3287154" y="4147147"/>
            <a:ext cx="1929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6" name="Google Shape;1496;p103"/>
          <p:cNvSpPr txBox="1"/>
          <p:nvPr/>
        </p:nvSpPr>
        <p:spPr>
          <a:xfrm>
            <a:off x="3168398" y="2726629"/>
            <a:ext cx="2349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7" name="Google Shape;1497;p103"/>
          <p:cNvSpPr txBox="1"/>
          <p:nvPr/>
        </p:nvSpPr>
        <p:spPr>
          <a:xfrm>
            <a:off x="3168398" y="1477275"/>
            <a:ext cx="2349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8" name="Google Shape;1498;p103"/>
          <p:cNvSpPr txBox="1"/>
          <p:nvPr>
            <p:ph idx="1" type="body"/>
          </p:nvPr>
        </p:nvSpPr>
        <p:spPr>
          <a:xfrm>
            <a:off x="324000" y="2645640"/>
            <a:ext cx="27168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b) The distance when the ball is at a height of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lang="en-GB" sz="1800"/>
              <a:t> metres.</a:t>
            </a:r>
            <a:endParaRPr sz="1800"/>
          </a:p>
        </p:txBody>
      </p:sp>
      <p:sp>
        <p:nvSpPr>
          <p:cNvPr id="1499" name="Google Shape;1499;p103"/>
          <p:cNvSpPr txBox="1"/>
          <p:nvPr>
            <p:ph idx="1" type="body"/>
          </p:nvPr>
        </p:nvSpPr>
        <p:spPr>
          <a:xfrm>
            <a:off x="324000" y="4005725"/>
            <a:ext cx="24867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c) The distance when the ball is at a height of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r>
              <a:rPr lang="en-GB" sz="1800"/>
              <a:t> metres.</a:t>
            </a:r>
            <a:endParaRPr sz="1800"/>
          </a:p>
        </p:txBody>
      </p:sp>
      <p:cxnSp>
        <p:nvCxnSpPr>
          <p:cNvPr id="1500" name="Google Shape;1500;p103"/>
          <p:cNvCxnSpPr/>
          <p:nvPr/>
        </p:nvCxnSpPr>
        <p:spPr>
          <a:xfrm>
            <a:off x="3457832" y="2871443"/>
            <a:ext cx="4469100" cy="21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501" name="Google Shape;1501;p103"/>
          <p:cNvCxnSpPr/>
          <p:nvPr/>
        </p:nvCxnSpPr>
        <p:spPr>
          <a:xfrm flipH="1" rot="10800000">
            <a:off x="7934866" y="2910750"/>
            <a:ext cx="9900" cy="12441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502" name="Google Shape;1502;p103"/>
          <p:cNvSpPr txBox="1"/>
          <p:nvPr/>
        </p:nvSpPr>
        <p:spPr>
          <a:xfrm>
            <a:off x="8073632" y="2642077"/>
            <a:ext cx="6912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(18, 5)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3" name="Google Shape;1503;p103"/>
          <p:cNvSpPr txBox="1"/>
          <p:nvPr/>
        </p:nvSpPr>
        <p:spPr>
          <a:xfrm>
            <a:off x="7823640" y="2694174"/>
            <a:ext cx="338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4" name="Google Shape;1504;p103"/>
          <p:cNvSpPr txBox="1"/>
          <p:nvPr/>
        </p:nvSpPr>
        <p:spPr>
          <a:xfrm>
            <a:off x="334980" y="2186775"/>
            <a:ext cx="152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Height =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m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8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Google Shape;1509;p104"/>
          <p:cNvSpPr txBox="1"/>
          <p:nvPr>
            <p:ph idx="1" type="body"/>
          </p:nvPr>
        </p:nvSpPr>
        <p:spPr>
          <a:xfrm>
            <a:off x="324000" y="759300"/>
            <a:ext cx="82377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2) This parabola models the flight of a cricket ball being thrown.</a:t>
            </a:r>
            <a:endParaRPr sz="2000"/>
          </a:p>
        </p:txBody>
      </p:sp>
      <p:sp>
        <p:nvSpPr>
          <p:cNvPr id="1510" name="Google Shape;1510;p10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Reading from quadratic graphs</a:t>
            </a:r>
            <a:endParaRPr/>
          </a:p>
        </p:txBody>
      </p:sp>
      <p:sp>
        <p:nvSpPr>
          <p:cNvPr id="1511" name="Google Shape;1511;p104"/>
          <p:cNvSpPr txBox="1"/>
          <p:nvPr>
            <p:ph idx="1" type="body"/>
          </p:nvPr>
        </p:nvSpPr>
        <p:spPr>
          <a:xfrm>
            <a:off x="324000" y="1216500"/>
            <a:ext cx="2912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Use the graph to read:</a:t>
            </a:r>
            <a:endParaRPr sz="1800"/>
          </a:p>
        </p:txBody>
      </p:sp>
      <p:sp>
        <p:nvSpPr>
          <p:cNvPr id="1512" name="Google Shape;1512;p104"/>
          <p:cNvSpPr txBox="1"/>
          <p:nvPr>
            <p:ph idx="1" type="body"/>
          </p:nvPr>
        </p:nvSpPr>
        <p:spPr>
          <a:xfrm>
            <a:off x="324000" y="1574493"/>
            <a:ext cx="27168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a) The height of the ball at a distance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18</a:t>
            </a:r>
            <a:r>
              <a:rPr lang="en-GB" sz="1800"/>
              <a:t> metres.</a:t>
            </a:r>
            <a:endParaRPr sz="1800"/>
          </a:p>
        </p:txBody>
      </p:sp>
      <p:pic>
        <p:nvPicPr>
          <p:cNvPr id="1513" name="Google Shape;1513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3387" y="1084566"/>
            <a:ext cx="5602800" cy="3204858"/>
          </a:xfrm>
          <a:prstGeom prst="rect">
            <a:avLst/>
          </a:prstGeom>
          <a:noFill/>
          <a:ln>
            <a:noFill/>
          </a:ln>
        </p:spPr>
      </p:pic>
      <p:sp>
        <p:nvSpPr>
          <p:cNvPr id="1514" name="Google Shape;1514;p104"/>
          <p:cNvSpPr txBox="1"/>
          <p:nvPr>
            <p:ph idx="4294967295" type="body"/>
          </p:nvPr>
        </p:nvSpPr>
        <p:spPr>
          <a:xfrm>
            <a:off x="7095625" y="4364400"/>
            <a:ext cx="1438500" cy="2745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distance (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GB" sz="1800"/>
              <a:t>)</a:t>
            </a:r>
            <a:endParaRPr sz="1800"/>
          </a:p>
        </p:txBody>
      </p:sp>
      <p:sp>
        <p:nvSpPr>
          <p:cNvPr id="1515" name="Google Shape;1515;p104"/>
          <p:cNvSpPr txBox="1"/>
          <p:nvPr>
            <p:ph idx="4294967295" type="body"/>
          </p:nvPr>
        </p:nvSpPr>
        <p:spPr>
          <a:xfrm rot="-5400000">
            <a:off x="3023927" y="1539190"/>
            <a:ext cx="1196700" cy="3519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Height (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GB" sz="1800"/>
              <a:t>)</a:t>
            </a:r>
            <a:endParaRPr sz="1800"/>
          </a:p>
        </p:txBody>
      </p:sp>
      <p:sp>
        <p:nvSpPr>
          <p:cNvPr id="1516" name="Google Shape;1516;p104"/>
          <p:cNvSpPr txBox="1"/>
          <p:nvPr/>
        </p:nvSpPr>
        <p:spPr>
          <a:xfrm>
            <a:off x="7057043" y="4147160"/>
            <a:ext cx="2349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7" name="Google Shape;1517;p104"/>
          <p:cNvSpPr txBox="1"/>
          <p:nvPr/>
        </p:nvSpPr>
        <p:spPr>
          <a:xfrm>
            <a:off x="4556728" y="4147147"/>
            <a:ext cx="1929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8" name="Google Shape;1518;p104"/>
          <p:cNvSpPr txBox="1"/>
          <p:nvPr/>
        </p:nvSpPr>
        <p:spPr>
          <a:xfrm>
            <a:off x="8326011" y="4147160"/>
            <a:ext cx="2349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9" name="Google Shape;1519;p104"/>
          <p:cNvSpPr txBox="1"/>
          <p:nvPr/>
        </p:nvSpPr>
        <p:spPr>
          <a:xfrm>
            <a:off x="5791784" y="4147160"/>
            <a:ext cx="2349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0" name="Google Shape;1520;p104"/>
          <p:cNvSpPr txBox="1"/>
          <p:nvPr/>
        </p:nvSpPr>
        <p:spPr>
          <a:xfrm>
            <a:off x="3287154" y="4147147"/>
            <a:ext cx="1929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1" name="Google Shape;1521;p104"/>
          <p:cNvSpPr txBox="1"/>
          <p:nvPr/>
        </p:nvSpPr>
        <p:spPr>
          <a:xfrm>
            <a:off x="3168398" y="2726629"/>
            <a:ext cx="2349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2" name="Google Shape;1522;p104"/>
          <p:cNvSpPr txBox="1"/>
          <p:nvPr/>
        </p:nvSpPr>
        <p:spPr>
          <a:xfrm>
            <a:off x="3168398" y="1477275"/>
            <a:ext cx="234900" cy="27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3" name="Google Shape;1523;p104"/>
          <p:cNvSpPr txBox="1"/>
          <p:nvPr>
            <p:ph idx="1" type="body"/>
          </p:nvPr>
        </p:nvSpPr>
        <p:spPr>
          <a:xfrm>
            <a:off x="324000" y="2645640"/>
            <a:ext cx="27168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b) The distance when the ball is at a height of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lang="en-GB" sz="1800"/>
              <a:t> metres.</a:t>
            </a:r>
            <a:endParaRPr sz="1800"/>
          </a:p>
        </p:txBody>
      </p:sp>
      <p:sp>
        <p:nvSpPr>
          <p:cNvPr id="1524" name="Google Shape;1524;p104"/>
          <p:cNvSpPr txBox="1"/>
          <p:nvPr>
            <p:ph idx="1" type="body"/>
          </p:nvPr>
        </p:nvSpPr>
        <p:spPr>
          <a:xfrm>
            <a:off x="324000" y="4005725"/>
            <a:ext cx="25632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c) The distance when the ball is at a height of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r>
              <a:rPr lang="en-GB" sz="1800"/>
              <a:t> metres.</a:t>
            </a:r>
            <a:endParaRPr sz="1800"/>
          </a:p>
        </p:txBody>
      </p:sp>
      <p:cxnSp>
        <p:nvCxnSpPr>
          <p:cNvPr id="1525" name="Google Shape;1525;p104"/>
          <p:cNvCxnSpPr/>
          <p:nvPr/>
        </p:nvCxnSpPr>
        <p:spPr>
          <a:xfrm>
            <a:off x="3446324" y="1870375"/>
            <a:ext cx="3470100" cy="36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526" name="Google Shape;1526;p104"/>
          <p:cNvCxnSpPr/>
          <p:nvPr/>
        </p:nvCxnSpPr>
        <p:spPr>
          <a:xfrm flipH="1" rot="10800000">
            <a:off x="6933993" y="1939850"/>
            <a:ext cx="7800" cy="22035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527" name="Google Shape;1527;p104"/>
          <p:cNvSpPr txBox="1"/>
          <p:nvPr/>
        </p:nvSpPr>
        <p:spPr>
          <a:xfrm>
            <a:off x="339327" y="2186775"/>
            <a:ext cx="152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Height =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m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28" name="Google Shape;1528;p104"/>
          <p:cNvSpPr txBox="1"/>
          <p:nvPr/>
        </p:nvSpPr>
        <p:spPr>
          <a:xfrm>
            <a:off x="339323" y="3528200"/>
            <a:ext cx="287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Distance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=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and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 m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529" name="Google Shape;1529;p104"/>
          <p:cNvCxnSpPr/>
          <p:nvPr/>
        </p:nvCxnSpPr>
        <p:spPr>
          <a:xfrm flipH="1" rot="10800000">
            <a:off x="4918273" y="1909677"/>
            <a:ext cx="7800" cy="22035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530" name="Google Shape;1530;p104"/>
          <p:cNvSpPr txBox="1"/>
          <p:nvPr/>
        </p:nvSpPr>
        <p:spPr>
          <a:xfrm>
            <a:off x="7002485" y="1506237"/>
            <a:ext cx="6912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(14, 9)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1" name="Google Shape;1531;p104"/>
          <p:cNvSpPr txBox="1"/>
          <p:nvPr/>
        </p:nvSpPr>
        <p:spPr>
          <a:xfrm>
            <a:off x="6821534" y="1703574"/>
            <a:ext cx="338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2" name="Google Shape;1532;p104"/>
          <p:cNvSpPr txBox="1"/>
          <p:nvPr/>
        </p:nvSpPr>
        <p:spPr>
          <a:xfrm>
            <a:off x="4252125" y="1506225"/>
            <a:ext cx="5736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(6, 9)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3" name="Google Shape;1533;p104"/>
          <p:cNvSpPr txBox="1"/>
          <p:nvPr/>
        </p:nvSpPr>
        <p:spPr>
          <a:xfrm>
            <a:off x="4810161" y="1703574"/>
            <a:ext cx="338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4" name="Google Shape;1534;p104"/>
          <p:cNvSpPr txBox="1"/>
          <p:nvPr/>
        </p:nvSpPr>
        <p:spPr>
          <a:xfrm>
            <a:off x="2734800" y="4495787"/>
            <a:ext cx="445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ball never reaches a height of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 m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8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Google Shape;1539;p105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We</a:t>
            </a:r>
            <a:r>
              <a:rPr lang="en-GB"/>
              <a:t> can read and interpret points from a graph to solve problems. That could be to solve an equation, or to solve a real-world problem in context. </a:t>
            </a:r>
            <a:br>
              <a:rPr lang="en-GB"/>
            </a:br>
            <a:br>
              <a:rPr lang="en-GB"/>
            </a:br>
            <a:r>
              <a:rPr lang="en-GB"/>
              <a:t>The graph we read from may be linear, but not always. For example, we might read from quadratic graphs to solve problems.</a:t>
            </a:r>
            <a:endParaRPr sz="2400"/>
          </a:p>
        </p:txBody>
      </p:sp>
      <p:sp>
        <p:nvSpPr>
          <p:cNvPr id="1540" name="Google Shape;1540;p105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Reading from graphs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4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" name="Google Shape;1545;p106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546" name="Google Shape;1546;p10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