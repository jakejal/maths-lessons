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3"/>
    <p:sldMasterId id="21474837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2b7662fe6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2b7662fe6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2b7cc5cf175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2b7cc5cf175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b7662fe625_0_1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b7662fe625_0_1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2b7662fe625_0_1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2b7662fe625_0_1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2b7662fe625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2b7662fe625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2b7662fe625_0_1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4" name="Google Shape;1544;g2b7662fe625_0_1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g2b7662fe625_0_1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4" name="Google Shape;1564;g2b7662fe625_0_1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2b7662fe625_0_1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2b7662fe625_0_1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b7662fe625_0_1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b7662fe625_0_1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2b7662fe625_0_1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2b7662fe625_0_1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g2b7662fe625_0_2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7" name="Google Shape;1667;g2b7662fe625_0_2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2b7662fe625_0_2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2b7662fe625_0_2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2b7662fe625_0_2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2" name="Google Shape;1712;g2b7662fe625_0_2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g2b7662fe625_0_2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5" name="Google Shape;1735;g2b7662fe625_0_2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2b7662fe625_0_2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2b7662fe625_0_2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g2b7662fe625_0_2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3" name="Google Shape;1783;g2b7662fe625_0_2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2b7662fe625_0_3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2b7662fe625_0_3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2b7662fe625_0_3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g2b7662fe625_0_3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2b7662fe625_0_3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2b7662fe625_0_3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2b7662fe625_0_3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6" name="Google Shape;1876;g2b7662fe625_0_3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g2b7662fe625_0_3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7" name="Google Shape;1907;g2b7662fe625_0_3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g2b7662fe625_0_3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9" name="Google Shape;1929;g2b7662fe625_0_3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g2b7662fe625_0_3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0" name="Google Shape;1950;g2b7662fe625_0_3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g2b7662fe625_0_3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1" name="Google Shape;1971;g2b7662fe625_0_3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2b7662fe625_0_3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2b7662fe625_0_3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g2b7662fe625_0_3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3" name="Google Shape;2013;g2b7662fe625_0_3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g2b7662fe625_0_3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8" name="Google Shape;2038;g2b7662fe625_0_3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g2b7662fe625_0_3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0" name="Google Shape;2060;g2b7662fe625_0_3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2b7662fe625_0_3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2b7662fe625_0_3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g2b7662fe625_0_4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0" name="Google Shape;2110;g2b7662fe625_0_4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g2b7662fe625_0_4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3" name="Google Shape;2143;g2b7662fe625_0_4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g2b7662fe625_0_4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8" name="Google Shape;2178;g2b7662fe625_0_4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g2b7662fe625_0_4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5" name="Google Shape;2215;g2b7662fe625_0_4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g2b7662fe625_0_4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3" name="Google Shape;2253;g2b7662fe625_0_4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g2b7662fe625_0_4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0" name="Google Shape;2270;g2b7662fe625_0_4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2b7662fe625_0_4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2b7662fe625_0_4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g2b7662fe625_0_4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3" name="Google Shape;2333;g2b7662fe625_0_4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2b7662fe625_0_4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2b7662fe625_0_4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g2b7662fe625_0_4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7" name="Google Shape;2377;g2b7662fe625_0_4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6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g2b7662fe625_0_4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8" name="Google Shape;2408;g2b7662fe625_0_4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1" name="Google Shape;244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0" name="Google Shape;246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50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50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50.png"/><Relationship Id="rId4" Type="http://schemas.openxmlformats.org/officeDocument/2006/relationships/image" Target="../media/image32.png"/><Relationship Id="rId11" Type="http://schemas.openxmlformats.org/officeDocument/2006/relationships/image" Target="../media/image23.png"/><Relationship Id="rId10" Type="http://schemas.openxmlformats.org/officeDocument/2006/relationships/image" Target="../media/image35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50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50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50.png"/><Relationship Id="rId4" Type="http://schemas.openxmlformats.org/officeDocument/2006/relationships/image" Target="../media/image32.png"/><Relationship Id="rId11" Type="http://schemas.openxmlformats.org/officeDocument/2006/relationships/image" Target="../media/image23.png"/><Relationship Id="rId10" Type="http://schemas.openxmlformats.org/officeDocument/2006/relationships/image" Target="../media/image35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0" name="Google Shape;750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1" name="Google Shape;7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7" name="Google Shape;757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6" name="Google Shape;766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8" name="Google Shape;768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7" name="Google Shape;777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8" name="Google Shape;778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0" name="Google Shape;780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6" name="Google Shape;78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8" name="Google Shape;788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6" name="Google Shape;796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7" name="Google Shape;797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9" name="Google Shape;799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4" name="Google Shape;80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6" name="Google Shape;80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3" name="Google Shape;81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5" name="Google Shape;815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6" name="Google Shape;816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8" name="Google Shape;818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5" name="Google Shape;825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7" name="Google Shape;837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8" name="Google Shape;838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9" name="Google Shape;839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2" name="Google Shape;842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6" name="Google Shape;846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9" name="Google Shape;849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3" name="Google Shape;853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6" name="Google Shape;856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0" name="Google Shape;86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5" name="Google Shape;885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7" name="Google Shape;897;p80"/>
          <p:cNvCxnSpPr>
            <a:endCxn id="89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9" name="Google Shape;89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1" name="Google Shape;901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8" name="Google Shape;898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Google Shape;906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2" name="Google Shape;912;p81"/>
          <p:cNvCxnSpPr>
            <a:endCxn id="91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3" name="Google Shape;913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6" name="Google Shape;916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8" name="Google Shape;918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0" name="Google Shape;920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2" name="Google Shape;932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3" name="Google Shape;933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7" name="Google Shape;937;p82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0" name="Google Shape;940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2" name="Google Shape;942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9" name="Google Shape;94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0" name="Google Shape;9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6" name="Google Shape;956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8" name="Google Shape;95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3" name="Google Shape;963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5" name="Google Shape;96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0" name="Google Shape;97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2" name="Google Shape;97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5" name="Google Shape;975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8" name="Google Shape;978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0" name="Google Shape;980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1" name="Google Shape;981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3" name="Google Shape;983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4" name="Google Shape;984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5" name="Google Shape;985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8" name="Google Shape;988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1" name="Google Shape;991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3" name="Google Shape;993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4" name="Google Shape;994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6" name="Google Shape;996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7" name="Google Shape;997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1" name="Google Shape;1001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4" name="Google Shape;1004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6" name="Google Shape;1006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7" name="Google Shape;1007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9" name="Google Shape;1009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0" name="Google Shape;1010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4" name="Google Shape;1014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7" name="Google Shape;1017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9" name="Google Shape;1019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0" name="Google Shape;1020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2" name="Google Shape;1022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3" name="Google Shape;102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4" name="Google Shape;1024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6" name="Google Shape;1036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7" name="Google Shape;1037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9" name="Google Shape;1039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2" name="Google Shape;1042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3" name="Google Shape;1043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5" name="Google Shape;1045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6" name="Google Shape;1046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Google Shape;1049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5" name="Google Shape;1055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6" name="Google Shape;105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9" name="Google Shape;1059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1" name="Google Shape;1061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2" name="Google Shape;1062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4" name="Google Shape;1064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5" name="Google Shape;106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" name="Google Shape;106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7" name="Google Shape;1067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2" name="Google Shape;1072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8" name="Google Shape;1078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9" name="Google Shape;1079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2" name="Google Shape;1082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4" name="Google Shape;1084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5" name="Google Shape;108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7" name="Google Shape;1087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8" name="Google Shape;108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0" name="Google Shape;109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1" name="Google Shape;1101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2" name="Google Shape;110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5" name="Google Shape;1105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7" name="Google Shape;1107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8" name="Google Shape;1108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0" name="Google Shape;1110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1" name="Google Shape;1111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2" name="Google Shape;1112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3" name="Google Shape;111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1" name="Google Shape;112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4" name="Google Shape;1124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7" name="Google Shape;1127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8" name="Google Shape;112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1" name="Google Shape;113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3" name="Google Shape;1133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4" name="Google Shape;113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5" name="Google Shape;113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0" name="Google Shape;1140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3" name="Google Shape;1143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6" name="Google Shape;1146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7" name="Google Shape;114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0" name="Google Shape;1150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2" name="Google Shape;1152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3" name="Google Shape;1153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4" name="Google Shape;1154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9" name="Google Shape;1159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2" name="Google Shape;1162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5" name="Google Shape;1165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6" name="Google Shape;1166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9" name="Google Shape;1169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1" name="Google Shape;1171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2" name="Google Shape;117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3" name="Google Shape;117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8" name="Google Shape;1178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1" name="Google Shape;1181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4" name="Google Shape;1184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5" name="Google Shape;118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8" name="Google Shape;118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0" name="Google Shape;1190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1" name="Google Shape;119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2" name="Google Shape;119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7" name="Google Shape;1197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0" name="Google Shape;1200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4" name="Google Shape;1204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5" name="Google Shape;120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8" name="Google Shape;120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1" name="Google Shape;121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3" name="Google Shape;1213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4" name="Google Shape;121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5" name="Google Shape;121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7" name="Google Shape;1217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0" name="Google Shape;1220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3" name="Google Shape;1223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7" name="Google Shape;1227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8" name="Google Shape;122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1" name="Google Shape;123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4" name="Google Shape;123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6" name="Google Shape;1236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7" name="Google Shape;123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8" name="Google Shape;123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1240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3" name="Google Shape;1243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6" name="Google Shape;1246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0" name="Google Shape;1250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1" name="Google Shape;125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4" name="Google Shape;125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7" name="Google Shape;125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0" name="Google Shape;126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6" name="Google Shape;126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9" name="Google Shape;1269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3" name="Google Shape;1273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2" name="Google Shape;1282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3" name="Google Shape;128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4" name="Google Shape;128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6" name="Google Shape;1286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9" name="Google Shape;128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2" name="Google Shape;1292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3" name="Google Shape;1293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5" name="Google Shape;1295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1" name="Google Shape;1301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2" name="Google Shape;130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3" name="Google Shape;130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5" name="Google Shape;1305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8" name="Google Shape;1308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1" name="Google Shape;1311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2" name="Google Shape;1312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4" name="Google Shape;1314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0" name="Google Shape;1320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1" name="Google Shape;132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4" name="Google Shape;1324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7" name="Google Shape;1327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0" name="Google Shape;1330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1" name="Google Shape;1331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3" name="Google Shape;1333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9" name="Google Shape;1339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0" name="Google Shape;134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1" name="Google Shape;134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3" name="Google Shape;1343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6" name="Google Shape;1346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9" name="Google Shape;1349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0" name="Google Shape;1350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2" name="Google Shape;1352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8" name="Google Shape;1358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9" name="Google Shape;135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0" name="Google Shape;136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" name="Google Shape;1362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5" name="Google Shape;1365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9" name="Google Shape;1369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2" name="Google Shape;1372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6" name="Google Shape;1376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9" name="Google Shape;137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6" name="Google Shape;138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0" name="Google Shape;1390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3" name="Google Shape;1393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5" name="Google Shape;1395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1" name="Google Shape;1401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4" name="Google Shape;1404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9" name="Google Shape;1409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2" name="Google Shape;141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7" name="Google Shape;1417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0" name="Google Shape;142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5" name="Google Shape;1425;p115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7" name="Google Shape;1427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3" name="Google Shape;1433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5" name="Google Shape;1435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6" name="Google Shape;1436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1" name="Google Shape;1441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3" name="Google Shape;1443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4" name="Google Shape;1444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9" name="Google Shape;1449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1" name="Google Shape;1451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2" name="Google Shape;145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5" name="Google Shape;1455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7" name="Google Shape;1457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1" name="Google Shape;1461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3" name="Google Shape;1463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7" name="Google Shape;1467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4" name="Google Shape;744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8.png"/><Relationship Id="rId4" Type="http://schemas.openxmlformats.org/officeDocument/2006/relationships/image" Target="../media/image97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8.png"/><Relationship Id="rId4" Type="http://schemas.openxmlformats.org/officeDocument/2006/relationships/image" Target="../media/image97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3.png"/><Relationship Id="rId4" Type="http://schemas.openxmlformats.org/officeDocument/2006/relationships/image" Target="../media/image100.png"/><Relationship Id="rId5" Type="http://schemas.openxmlformats.org/officeDocument/2006/relationships/image" Target="../media/image9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3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4.png"/><Relationship Id="rId4" Type="http://schemas.openxmlformats.org/officeDocument/2006/relationships/image" Target="../media/image100.png"/><Relationship Id="rId5" Type="http://schemas.openxmlformats.org/officeDocument/2006/relationships/image" Target="../media/image102.png"/><Relationship Id="rId6" Type="http://schemas.openxmlformats.org/officeDocument/2006/relationships/image" Target="../media/image10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4.png"/><Relationship Id="rId4" Type="http://schemas.openxmlformats.org/officeDocument/2006/relationships/image" Target="../media/image100.png"/><Relationship Id="rId5" Type="http://schemas.openxmlformats.org/officeDocument/2006/relationships/image" Target="../media/image102.png"/><Relationship Id="rId6" Type="http://schemas.openxmlformats.org/officeDocument/2006/relationships/image" Target="../media/image10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4.png"/><Relationship Id="rId4" Type="http://schemas.openxmlformats.org/officeDocument/2006/relationships/image" Target="../media/image100.png"/><Relationship Id="rId5" Type="http://schemas.openxmlformats.org/officeDocument/2006/relationships/image" Target="../media/image102.png"/><Relationship Id="rId6" Type="http://schemas.openxmlformats.org/officeDocument/2006/relationships/image" Target="../media/image10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4.png"/><Relationship Id="rId4" Type="http://schemas.openxmlformats.org/officeDocument/2006/relationships/image" Target="../media/image100.png"/><Relationship Id="rId5" Type="http://schemas.openxmlformats.org/officeDocument/2006/relationships/image" Target="../media/image102.png"/><Relationship Id="rId6" Type="http://schemas.openxmlformats.org/officeDocument/2006/relationships/image" Target="../media/image10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6.png"/><Relationship Id="rId4" Type="http://schemas.openxmlformats.org/officeDocument/2006/relationships/image" Target="../media/image10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8.png"/><Relationship Id="rId4" Type="http://schemas.openxmlformats.org/officeDocument/2006/relationships/image" Target="../media/image99.png"/><Relationship Id="rId5" Type="http://schemas.openxmlformats.org/officeDocument/2006/relationships/image" Target="../media/image10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9.png"/><Relationship Id="rId4" Type="http://schemas.openxmlformats.org/officeDocument/2006/relationships/image" Target="../media/image109.png"/><Relationship Id="rId5" Type="http://schemas.openxmlformats.org/officeDocument/2006/relationships/image" Target="../media/image10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9.png"/><Relationship Id="rId4" Type="http://schemas.openxmlformats.org/officeDocument/2006/relationships/image" Target="../media/image111.png"/><Relationship Id="rId5" Type="http://schemas.openxmlformats.org/officeDocument/2006/relationships/image" Target="../media/image110.png"/><Relationship Id="rId6" Type="http://schemas.openxmlformats.org/officeDocument/2006/relationships/image" Target="../media/image10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9.png"/><Relationship Id="rId4" Type="http://schemas.openxmlformats.org/officeDocument/2006/relationships/image" Target="../media/image111.png"/><Relationship Id="rId5" Type="http://schemas.openxmlformats.org/officeDocument/2006/relationships/image" Target="../media/image110.png"/><Relationship Id="rId6" Type="http://schemas.openxmlformats.org/officeDocument/2006/relationships/image" Target="../media/image10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9.png"/><Relationship Id="rId4" Type="http://schemas.openxmlformats.org/officeDocument/2006/relationships/image" Target="../media/image111.png"/><Relationship Id="rId5" Type="http://schemas.openxmlformats.org/officeDocument/2006/relationships/image" Target="../media/image110.png"/><Relationship Id="rId6" Type="http://schemas.openxmlformats.org/officeDocument/2006/relationships/image" Target="../media/image10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9.png"/><Relationship Id="rId4" Type="http://schemas.openxmlformats.org/officeDocument/2006/relationships/image" Target="../media/image111.png"/><Relationship Id="rId5" Type="http://schemas.openxmlformats.org/officeDocument/2006/relationships/image" Target="../media/image110.png"/><Relationship Id="rId6" Type="http://schemas.openxmlformats.org/officeDocument/2006/relationships/image" Target="../media/image10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9.png"/><Relationship Id="rId4" Type="http://schemas.openxmlformats.org/officeDocument/2006/relationships/image" Target="../media/image111.png"/><Relationship Id="rId5" Type="http://schemas.openxmlformats.org/officeDocument/2006/relationships/image" Target="../media/image110.png"/><Relationship Id="rId6" Type="http://schemas.openxmlformats.org/officeDocument/2006/relationships/image" Target="../media/image10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9.png"/><Relationship Id="rId4" Type="http://schemas.openxmlformats.org/officeDocument/2006/relationships/image" Target="../media/image10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9.png"/><Relationship Id="rId4" Type="http://schemas.openxmlformats.org/officeDocument/2006/relationships/image" Target="../media/image10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9.png"/><Relationship Id="rId4" Type="http://schemas.openxmlformats.org/officeDocument/2006/relationships/image" Target="../media/image10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0.png"/><Relationship Id="rId4" Type="http://schemas.openxmlformats.org/officeDocument/2006/relationships/image" Target="../media/image115.png"/><Relationship Id="rId5" Type="http://schemas.openxmlformats.org/officeDocument/2006/relationships/image" Target="../media/image1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9.png"/><Relationship Id="rId4" Type="http://schemas.openxmlformats.org/officeDocument/2006/relationships/image" Target="../media/image10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4.png"/><Relationship Id="rId4" Type="http://schemas.openxmlformats.org/officeDocument/2006/relationships/image" Target="../media/image110.png"/><Relationship Id="rId5" Type="http://schemas.openxmlformats.org/officeDocument/2006/relationships/image" Target="../media/image11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9.png"/><Relationship Id="rId4" Type="http://schemas.openxmlformats.org/officeDocument/2006/relationships/image" Target="../media/image10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Modelling with graphs</a:t>
            </a:r>
            <a:endParaRPr/>
          </a:p>
        </p:txBody>
      </p:sp>
      <p:sp>
        <p:nvSpPr>
          <p:cNvPr id="1488" name="Google Shape;1488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26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 can model real-life situations graphically.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28"/>
          <p:cNvSpPr txBox="1"/>
          <p:nvPr>
            <p:ph idx="1" type="subTitle"/>
          </p:nvPr>
        </p:nvSpPr>
        <p:spPr>
          <a:xfrm>
            <a:off x="324000" y="10698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/>
              <a:t>he rate of change is how quickly one variable changes in relation to another.</a:t>
            </a:r>
            <a:endParaRPr/>
          </a:p>
        </p:txBody>
      </p:sp>
      <p:sp>
        <p:nvSpPr>
          <p:cNvPr id="1504" name="Google Shape;1504;p128"/>
          <p:cNvSpPr txBox="1"/>
          <p:nvPr>
            <p:ph idx="2" type="subTitle"/>
          </p:nvPr>
        </p:nvSpPr>
        <p:spPr>
          <a:xfrm>
            <a:off x="324000" y="2162525"/>
            <a:ext cx="8496000" cy="117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gradient is a measure of how steep a line is, calculated by finding the rate of change in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-direction with respect to the positive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-direction.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2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510" name="Google Shape;1510;p12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sp>
        <p:nvSpPr>
          <p:cNvPr id="1511" name="Google Shape;1511;p12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Modelling with graphs</a:t>
            </a:r>
            <a:endParaRPr/>
          </a:p>
        </p:txBody>
      </p:sp>
      <p:pic>
        <p:nvPicPr>
          <p:cNvPr id="1512" name="Google Shape;1512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496" y="205434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7" name="Google Shape;1517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601" y="1621441"/>
            <a:ext cx="4087102" cy="3198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8" name="Google Shape;1518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257" y="1626761"/>
            <a:ext cx="4087100" cy="3193261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130"/>
          <p:cNvSpPr txBox="1"/>
          <p:nvPr>
            <p:ph idx="1" type="body"/>
          </p:nvPr>
        </p:nvSpPr>
        <p:spPr>
          <a:xfrm>
            <a:off x="324000" y="759300"/>
            <a:ext cx="7135200" cy="6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Distance time graphs can model many real-life situations and they tell us many useful things.</a:t>
            </a:r>
            <a:endParaRPr/>
          </a:p>
        </p:txBody>
      </p:sp>
      <p:sp>
        <p:nvSpPr>
          <p:cNvPr id="1520" name="Google Shape;1520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521" name="Google Shape;1521;p130"/>
          <p:cNvSpPr txBox="1"/>
          <p:nvPr>
            <p:ph idx="1" type="body"/>
          </p:nvPr>
        </p:nvSpPr>
        <p:spPr>
          <a:xfrm>
            <a:off x="324000" y="1627675"/>
            <a:ext cx="3487800" cy="10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 has been recording her data from PE lessons and plots this graph.</a:t>
            </a:r>
            <a:endParaRPr/>
          </a:p>
        </p:txBody>
      </p:sp>
      <p:sp>
        <p:nvSpPr>
          <p:cNvPr id="1522" name="Google Shape;1522;p130"/>
          <p:cNvSpPr txBox="1"/>
          <p:nvPr/>
        </p:nvSpPr>
        <p:spPr>
          <a:xfrm>
            <a:off x="7423438" y="4375895"/>
            <a:ext cx="8802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130"/>
          <p:cNvSpPr txBox="1"/>
          <p:nvPr/>
        </p:nvSpPr>
        <p:spPr>
          <a:xfrm rot="-5400000">
            <a:off x="3511325" y="2312968"/>
            <a:ext cx="1426800" cy="35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4" name="Google Shape;1524;p13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634417" y="2823100"/>
            <a:ext cx="3428024" cy="1299224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130"/>
          <p:cNvSpPr txBox="1"/>
          <p:nvPr/>
        </p:nvSpPr>
        <p:spPr>
          <a:xfrm>
            <a:off x="911916" y="2865525"/>
            <a:ext cx="3092400" cy="9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That’s what I did a few years ago.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6" name="Google Shape;1526;p1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25963" y="3915499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130"/>
          <p:cNvSpPr txBox="1"/>
          <p:nvPr/>
        </p:nvSpPr>
        <p:spPr>
          <a:xfrm>
            <a:off x="911925" y="2865525"/>
            <a:ext cx="2969100" cy="9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That’s what I did a few years ago.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This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what I can do now.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2" name="Google Shape;1532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601" y="1621441"/>
            <a:ext cx="4087102" cy="3198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3" name="Google Shape;1533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257" y="1626761"/>
            <a:ext cx="4087100" cy="3193261"/>
          </a:xfrm>
          <a:prstGeom prst="rect">
            <a:avLst/>
          </a:prstGeom>
          <a:noFill/>
          <a:ln>
            <a:noFill/>
          </a:ln>
        </p:spPr>
      </p:pic>
      <p:sp>
        <p:nvSpPr>
          <p:cNvPr id="1534" name="Google Shape;1534;p131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can you read from this distance time graph?</a:t>
            </a:r>
            <a:endParaRPr/>
          </a:p>
        </p:txBody>
      </p:sp>
      <p:sp>
        <p:nvSpPr>
          <p:cNvPr id="1535" name="Google Shape;1535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536" name="Google Shape;1536;p131"/>
          <p:cNvSpPr txBox="1"/>
          <p:nvPr/>
        </p:nvSpPr>
        <p:spPr>
          <a:xfrm>
            <a:off x="7423438" y="4375895"/>
            <a:ext cx="8802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131"/>
          <p:cNvSpPr txBox="1"/>
          <p:nvPr/>
        </p:nvSpPr>
        <p:spPr>
          <a:xfrm rot="-5400000">
            <a:off x="3511325" y="2312968"/>
            <a:ext cx="1426800" cy="35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8" name="Google Shape;1538;p131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634417" y="2823100"/>
            <a:ext cx="3428024" cy="1299224"/>
          </a:xfrm>
          <a:prstGeom prst="rect">
            <a:avLst/>
          </a:prstGeom>
          <a:noFill/>
          <a:ln>
            <a:noFill/>
          </a:ln>
        </p:spPr>
      </p:pic>
      <p:sp>
        <p:nvSpPr>
          <p:cNvPr id="1539" name="Google Shape;1539;p131"/>
          <p:cNvSpPr txBox="1"/>
          <p:nvPr/>
        </p:nvSpPr>
        <p:spPr>
          <a:xfrm>
            <a:off x="911916" y="2865525"/>
            <a:ext cx="3092400" cy="9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That’s what I did a few years ago.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0" name="Google Shape;1540;p1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25963" y="3915499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131"/>
          <p:cNvSpPr txBox="1"/>
          <p:nvPr/>
        </p:nvSpPr>
        <p:spPr>
          <a:xfrm>
            <a:off x="911925" y="2865525"/>
            <a:ext cx="2969100" cy="9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That’s what I did a few years ago.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This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what I can do now.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" name="Google Shape;1546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601" y="1621441"/>
            <a:ext cx="4087102" cy="3198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7" name="Google Shape;1547;p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257" y="1626761"/>
            <a:ext cx="4087100" cy="3193261"/>
          </a:xfrm>
          <a:prstGeom prst="rect">
            <a:avLst/>
          </a:prstGeom>
          <a:noFill/>
          <a:ln>
            <a:noFill/>
          </a:ln>
        </p:spPr>
      </p:pic>
      <p:sp>
        <p:nvSpPr>
          <p:cNvPr id="1548" name="Google Shape;1548;p132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can you read from this distance time graph?</a:t>
            </a:r>
            <a:endParaRPr/>
          </a:p>
        </p:txBody>
      </p:sp>
      <p:sp>
        <p:nvSpPr>
          <p:cNvPr id="1549" name="Google Shape;1549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550" name="Google Shape;1550;p132"/>
          <p:cNvSpPr txBox="1"/>
          <p:nvPr/>
        </p:nvSpPr>
        <p:spPr>
          <a:xfrm>
            <a:off x="7423438" y="4375895"/>
            <a:ext cx="8802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132"/>
          <p:cNvSpPr txBox="1"/>
          <p:nvPr/>
        </p:nvSpPr>
        <p:spPr>
          <a:xfrm rot="-5400000">
            <a:off x="3511325" y="2312968"/>
            <a:ext cx="1426800" cy="35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2" name="Google Shape;1552;p132"/>
          <p:cNvCxnSpPr/>
          <p:nvPr/>
        </p:nvCxnSpPr>
        <p:spPr>
          <a:xfrm>
            <a:off x="4597125" y="1692987"/>
            <a:ext cx="3742800" cy="66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53" name="Google Shape;1553;p132"/>
          <p:cNvSpPr txBox="1"/>
          <p:nvPr/>
        </p:nvSpPr>
        <p:spPr>
          <a:xfrm>
            <a:off x="8237773" y="15238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32"/>
          <p:cNvSpPr txBox="1"/>
          <p:nvPr/>
        </p:nvSpPr>
        <p:spPr>
          <a:xfrm>
            <a:off x="7094773" y="15238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132"/>
          <p:cNvSpPr txBox="1"/>
          <p:nvPr>
            <p:ph idx="1" type="body"/>
          </p:nvPr>
        </p:nvSpPr>
        <p:spPr>
          <a:xfrm>
            <a:off x="324000" y="1304207"/>
            <a:ext cx="304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 ran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 m</a:t>
            </a:r>
            <a:r>
              <a:rPr lang="en-GB" sz="2000"/>
              <a:t> on both occasions.</a:t>
            </a:r>
            <a:endParaRPr sz="2000"/>
          </a:p>
        </p:txBody>
      </p:sp>
      <p:cxnSp>
        <p:nvCxnSpPr>
          <p:cNvPr id="1556" name="Google Shape;1556;p132"/>
          <p:cNvCxnSpPr/>
          <p:nvPr/>
        </p:nvCxnSpPr>
        <p:spPr>
          <a:xfrm rot="10800000">
            <a:off x="7214150" y="1705600"/>
            <a:ext cx="9300" cy="29448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57" name="Google Shape;1557;p132"/>
          <p:cNvCxnSpPr/>
          <p:nvPr/>
        </p:nvCxnSpPr>
        <p:spPr>
          <a:xfrm rot="10800000">
            <a:off x="8357150" y="1705600"/>
            <a:ext cx="9300" cy="29448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58" name="Google Shape;1558;p132"/>
          <p:cNvSpPr txBox="1"/>
          <p:nvPr>
            <p:ph idx="1" type="body"/>
          </p:nvPr>
        </p:nvSpPr>
        <p:spPr>
          <a:xfrm>
            <a:off x="324000" y="2271800"/>
            <a:ext cx="3660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Sofia’s time has changed.</a:t>
            </a:r>
            <a:endParaRPr sz="2000"/>
          </a:p>
        </p:txBody>
      </p:sp>
      <p:sp>
        <p:nvSpPr>
          <p:cNvPr id="1559" name="Google Shape;1559;p132"/>
          <p:cNvSpPr txBox="1"/>
          <p:nvPr/>
        </p:nvSpPr>
        <p:spPr>
          <a:xfrm>
            <a:off x="6215935" y="1281973"/>
            <a:ext cx="954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(14, 100)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132"/>
          <p:cNvSpPr txBox="1"/>
          <p:nvPr/>
        </p:nvSpPr>
        <p:spPr>
          <a:xfrm>
            <a:off x="7739935" y="1281973"/>
            <a:ext cx="954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(20, 100)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132"/>
          <p:cNvSpPr txBox="1"/>
          <p:nvPr>
            <p:ph idx="1" type="body"/>
          </p:nvPr>
        </p:nvSpPr>
        <p:spPr>
          <a:xfrm>
            <a:off x="324000" y="2271800"/>
            <a:ext cx="3660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Sofia’s time has changed.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s</a:t>
            </a:r>
            <a:r>
              <a:rPr lang="en-GB" sz="2000"/>
              <a:t> down to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14 s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" name="Google Shape;1566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601" y="1621441"/>
            <a:ext cx="4087102" cy="3198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7" name="Google Shape;1567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257" y="1626761"/>
            <a:ext cx="4087100" cy="3193261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133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can you read from this distance time graph?</a:t>
            </a:r>
            <a:endParaRPr/>
          </a:p>
        </p:txBody>
      </p:sp>
      <p:sp>
        <p:nvSpPr>
          <p:cNvPr id="1569" name="Google Shape;1569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570" name="Google Shape;1570;p133"/>
          <p:cNvSpPr txBox="1"/>
          <p:nvPr/>
        </p:nvSpPr>
        <p:spPr>
          <a:xfrm>
            <a:off x="7423438" y="4375895"/>
            <a:ext cx="8802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133"/>
          <p:cNvSpPr txBox="1"/>
          <p:nvPr/>
        </p:nvSpPr>
        <p:spPr>
          <a:xfrm rot="-5400000">
            <a:off x="3511325" y="2312968"/>
            <a:ext cx="1426800" cy="35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133"/>
          <p:cNvSpPr txBox="1"/>
          <p:nvPr/>
        </p:nvSpPr>
        <p:spPr>
          <a:xfrm>
            <a:off x="8237773" y="15238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33"/>
          <p:cNvSpPr txBox="1"/>
          <p:nvPr/>
        </p:nvSpPr>
        <p:spPr>
          <a:xfrm>
            <a:off x="7094773" y="15238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133"/>
          <p:cNvSpPr txBox="1"/>
          <p:nvPr>
            <p:ph idx="1" type="body"/>
          </p:nvPr>
        </p:nvSpPr>
        <p:spPr>
          <a:xfrm>
            <a:off x="324000" y="1304207"/>
            <a:ext cx="304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 ran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 m</a:t>
            </a:r>
            <a:r>
              <a:rPr lang="en-GB" sz="2000"/>
              <a:t> on both occasions.</a:t>
            </a:r>
            <a:endParaRPr sz="2000"/>
          </a:p>
        </p:txBody>
      </p:sp>
      <p:sp>
        <p:nvSpPr>
          <p:cNvPr id="1575" name="Google Shape;1575;p133"/>
          <p:cNvSpPr txBox="1"/>
          <p:nvPr>
            <p:ph idx="1" type="body"/>
          </p:nvPr>
        </p:nvSpPr>
        <p:spPr>
          <a:xfrm>
            <a:off x="324000" y="2271800"/>
            <a:ext cx="3660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Sofia’s time has changed.</a:t>
            </a:r>
            <a:endParaRPr sz="2000"/>
          </a:p>
        </p:txBody>
      </p:sp>
      <p:sp>
        <p:nvSpPr>
          <p:cNvPr id="1576" name="Google Shape;1576;p133"/>
          <p:cNvSpPr txBox="1"/>
          <p:nvPr/>
        </p:nvSpPr>
        <p:spPr>
          <a:xfrm>
            <a:off x="6215935" y="1281973"/>
            <a:ext cx="954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(14, 100)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133"/>
          <p:cNvSpPr txBox="1"/>
          <p:nvPr/>
        </p:nvSpPr>
        <p:spPr>
          <a:xfrm>
            <a:off x="7739935" y="1281973"/>
            <a:ext cx="954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(20, 100)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133"/>
          <p:cNvSpPr txBox="1"/>
          <p:nvPr>
            <p:ph idx="1" type="body"/>
          </p:nvPr>
        </p:nvSpPr>
        <p:spPr>
          <a:xfrm>
            <a:off x="324000" y="2271800"/>
            <a:ext cx="3660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Sofia’s time has changed.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s</a:t>
            </a:r>
            <a:r>
              <a:rPr lang="en-GB" sz="2000"/>
              <a:t> down to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14 s</a:t>
            </a:r>
            <a:endParaRPr sz="2000"/>
          </a:p>
        </p:txBody>
      </p:sp>
      <p:grpSp>
        <p:nvGrpSpPr>
          <p:cNvPr id="1579" name="Google Shape;1579;p133"/>
          <p:cNvGrpSpPr/>
          <p:nvPr/>
        </p:nvGrpSpPr>
        <p:grpSpPr>
          <a:xfrm>
            <a:off x="6489063" y="2908876"/>
            <a:ext cx="352025" cy="274399"/>
            <a:chOff x="5656843" y="2923225"/>
            <a:chExt cx="352025" cy="274399"/>
          </a:xfrm>
        </p:grpSpPr>
        <p:cxnSp>
          <p:nvCxnSpPr>
            <p:cNvPr id="1580" name="Google Shape;1580;p133"/>
            <p:cNvCxnSpPr/>
            <p:nvPr/>
          </p:nvCxnSpPr>
          <p:spPr>
            <a:xfrm>
              <a:off x="5656843" y="3197624"/>
              <a:ext cx="34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81" name="Google Shape;1581;p133"/>
            <p:cNvCxnSpPr/>
            <p:nvPr/>
          </p:nvCxnSpPr>
          <p:spPr>
            <a:xfrm flipH="1" rot="10800000">
              <a:off x="6003768" y="2923225"/>
              <a:ext cx="5100" cy="272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582" name="Google Shape;1582;p133"/>
          <p:cNvGrpSpPr/>
          <p:nvPr/>
        </p:nvGrpSpPr>
        <p:grpSpPr>
          <a:xfrm>
            <a:off x="6108063" y="3213676"/>
            <a:ext cx="352025" cy="274399"/>
            <a:chOff x="5656843" y="2923225"/>
            <a:chExt cx="352025" cy="274399"/>
          </a:xfrm>
        </p:grpSpPr>
        <p:cxnSp>
          <p:nvCxnSpPr>
            <p:cNvPr id="1583" name="Google Shape;1583;p133"/>
            <p:cNvCxnSpPr/>
            <p:nvPr/>
          </p:nvCxnSpPr>
          <p:spPr>
            <a:xfrm>
              <a:off x="5656843" y="3197624"/>
              <a:ext cx="34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84" name="Google Shape;1584;p133"/>
            <p:cNvCxnSpPr/>
            <p:nvPr/>
          </p:nvCxnSpPr>
          <p:spPr>
            <a:xfrm flipH="1" rot="10800000">
              <a:off x="6003768" y="2923225"/>
              <a:ext cx="5100" cy="272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585" name="Google Shape;1585;p133"/>
          <p:cNvGrpSpPr/>
          <p:nvPr/>
        </p:nvGrpSpPr>
        <p:grpSpPr>
          <a:xfrm>
            <a:off x="5741350" y="3513713"/>
            <a:ext cx="352025" cy="274399"/>
            <a:chOff x="5656843" y="2923225"/>
            <a:chExt cx="352025" cy="274399"/>
          </a:xfrm>
        </p:grpSpPr>
        <p:cxnSp>
          <p:nvCxnSpPr>
            <p:cNvPr id="1586" name="Google Shape;1586;p133"/>
            <p:cNvCxnSpPr/>
            <p:nvPr/>
          </p:nvCxnSpPr>
          <p:spPr>
            <a:xfrm>
              <a:off x="5656843" y="3197624"/>
              <a:ext cx="34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87" name="Google Shape;1587;p133"/>
            <p:cNvCxnSpPr/>
            <p:nvPr/>
          </p:nvCxnSpPr>
          <p:spPr>
            <a:xfrm flipH="1" rot="10800000">
              <a:off x="6003768" y="2923225"/>
              <a:ext cx="5100" cy="272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588" name="Google Shape;1588;p133"/>
          <p:cNvGrpSpPr/>
          <p:nvPr/>
        </p:nvGrpSpPr>
        <p:grpSpPr>
          <a:xfrm>
            <a:off x="6844079" y="1732065"/>
            <a:ext cx="371246" cy="389098"/>
            <a:chOff x="5656843" y="2923225"/>
            <a:chExt cx="352025" cy="274399"/>
          </a:xfrm>
        </p:grpSpPr>
        <p:cxnSp>
          <p:nvCxnSpPr>
            <p:cNvPr id="1589" name="Google Shape;1589;p133"/>
            <p:cNvCxnSpPr/>
            <p:nvPr/>
          </p:nvCxnSpPr>
          <p:spPr>
            <a:xfrm>
              <a:off x="5656843" y="3197624"/>
              <a:ext cx="3435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90" name="Google Shape;1590;p133"/>
            <p:cNvCxnSpPr/>
            <p:nvPr/>
          </p:nvCxnSpPr>
          <p:spPr>
            <a:xfrm flipH="1" rot="10800000">
              <a:off x="6003768" y="2923225"/>
              <a:ext cx="5100" cy="272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591" name="Google Shape;1591;p133"/>
          <p:cNvGrpSpPr/>
          <p:nvPr/>
        </p:nvGrpSpPr>
        <p:grpSpPr>
          <a:xfrm>
            <a:off x="6477366" y="2136877"/>
            <a:ext cx="371246" cy="389098"/>
            <a:chOff x="5656843" y="2923225"/>
            <a:chExt cx="352025" cy="274399"/>
          </a:xfrm>
        </p:grpSpPr>
        <p:cxnSp>
          <p:nvCxnSpPr>
            <p:cNvPr id="1592" name="Google Shape;1592;p133"/>
            <p:cNvCxnSpPr/>
            <p:nvPr/>
          </p:nvCxnSpPr>
          <p:spPr>
            <a:xfrm>
              <a:off x="5656843" y="3197624"/>
              <a:ext cx="3435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93" name="Google Shape;1593;p133"/>
            <p:cNvCxnSpPr/>
            <p:nvPr/>
          </p:nvCxnSpPr>
          <p:spPr>
            <a:xfrm flipH="1" rot="10800000">
              <a:off x="6003768" y="2923225"/>
              <a:ext cx="5100" cy="272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594" name="Google Shape;1594;p133"/>
          <p:cNvGrpSpPr/>
          <p:nvPr/>
        </p:nvGrpSpPr>
        <p:grpSpPr>
          <a:xfrm>
            <a:off x="6097165" y="2548434"/>
            <a:ext cx="371246" cy="389098"/>
            <a:chOff x="5656843" y="2923225"/>
            <a:chExt cx="352025" cy="274399"/>
          </a:xfrm>
        </p:grpSpPr>
        <p:cxnSp>
          <p:nvCxnSpPr>
            <p:cNvPr id="1595" name="Google Shape;1595;p133"/>
            <p:cNvCxnSpPr/>
            <p:nvPr/>
          </p:nvCxnSpPr>
          <p:spPr>
            <a:xfrm>
              <a:off x="5656843" y="3197624"/>
              <a:ext cx="3435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96" name="Google Shape;1596;p133"/>
            <p:cNvCxnSpPr/>
            <p:nvPr/>
          </p:nvCxnSpPr>
          <p:spPr>
            <a:xfrm flipH="1" rot="10800000">
              <a:off x="6003768" y="2923225"/>
              <a:ext cx="5100" cy="272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597" name="Google Shape;1597;p133"/>
          <p:cNvSpPr txBox="1"/>
          <p:nvPr>
            <p:ph idx="1" type="body"/>
          </p:nvPr>
        </p:nvSpPr>
        <p:spPr>
          <a:xfrm>
            <a:off x="324000" y="3158816"/>
            <a:ext cx="3798600" cy="13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Both lines have a consistent gradient reflecting a constant rate of change/constant speed.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2" name="Google Shape;1602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601" y="1621441"/>
            <a:ext cx="4087102" cy="3198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3" name="Google Shape;1603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257" y="1626761"/>
            <a:ext cx="4087100" cy="3193261"/>
          </a:xfrm>
          <a:prstGeom prst="rect">
            <a:avLst/>
          </a:prstGeom>
          <a:noFill/>
          <a:ln>
            <a:noFill/>
          </a:ln>
        </p:spPr>
      </p:pic>
      <p:sp>
        <p:nvSpPr>
          <p:cNvPr id="1604" name="Google Shape;1604;p134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can you read from this distance time graph?</a:t>
            </a:r>
            <a:endParaRPr/>
          </a:p>
        </p:txBody>
      </p:sp>
      <p:sp>
        <p:nvSpPr>
          <p:cNvPr id="1605" name="Google Shape;1605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606" name="Google Shape;1606;p134"/>
          <p:cNvSpPr txBox="1"/>
          <p:nvPr/>
        </p:nvSpPr>
        <p:spPr>
          <a:xfrm>
            <a:off x="7423438" y="4375895"/>
            <a:ext cx="8802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134"/>
          <p:cNvSpPr txBox="1"/>
          <p:nvPr/>
        </p:nvSpPr>
        <p:spPr>
          <a:xfrm rot="-5400000">
            <a:off x="3511325" y="2312968"/>
            <a:ext cx="1426800" cy="35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134"/>
          <p:cNvSpPr txBox="1"/>
          <p:nvPr/>
        </p:nvSpPr>
        <p:spPr>
          <a:xfrm>
            <a:off x="7101933" y="2408052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134"/>
          <p:cNvSpPr txBox="1"/>
          <p:nvPr/>
        </p:nvSpPr>
        <p:spPr>
          <a:xfrm>
            <a:off x="7094773" y="15238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134"/>
          <p:cNvSpPr txBox="1"/>
          <p:nvPr>
            <p:ph idx="1" type="body"/>
          </p:nvPr>
        </p:nvSpPr>
        <p:spPr>
          <a:xfrm>
            <a:off x="324000" y="1304207"/>
            <a:ext cx="304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 ran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 m</a:t>
            </a:r>
            <a:r>
              <a:rPr lang="en-GB" sz="2000"/>
              <a:t> on both occasions.</a:t>
            </a:r>
            <a:endParaRPr sz="2000"/>
          </a:p>
        </p:txBody>
      </p:sp>
      <p:sp>
        <p:nvSpPr>
          <p:cNvPr id="1611" name="Google Shape;1611;p134"/>
          <p:cNvSpPr txBox="1"/>
          <p:nvPr>
            <p:ph idx="1" type="body"/>
          </p:nvPr>
        </p:nvSpPr>
        <p:spPr>
          <a:xfrm>
            <a:off x="324000" y="2271800"/>
            <a:ext cx="3660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Sofia’s time has changed.</a:t>
            </a:r>
            <a:endParaRPr sz="2000"/>
          </a:p>
        </p:txBody>
      </p:sp>
      <p:sp>
        <p:nvSpPr>
          <p:cNvPr id="1612" name="Google Shape;1612;p134"/>
          <p:cNvSpPr txBox="1"/>
          <p:nvPr/>
        </p:nvSpPr>
        <p:spPr>
          <a:xfrm>
            <a:off x="7347429" y="1598280"/>
            <a:ext cx="954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(14, 100)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3" name="Google Shape;1613;p134"/>
          <p:cNvSpPr txBox="1"/>
          <p:nvPr/>
        </p:nvSpPr>
        <p:spPr>
          <a:xfrm>
            <a:off x="7358926" y="2577375"/>
            <a:ext cx="8241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(14, 70)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134"/>
          <p:cNvSpPr txBox="1"/>
          <p:nvPr>
            <p:ph idx="1" type="body"/>
          </p:nvPr>
        </p:nvSpPr>
        <p:spPr>
          <a:xfrm>
            <a:off x="324000" y="2271800"/>
            <a:ext cx="3660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Sofia’s time has changed.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s</a:t>
            </a:r>
            <a:r>
              <a:rPr lang="en-GB" sz="2000"/>
              <a:t> down to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14 s</a:t>
            </a:r>
            <a:endParaRPr sz="2000"/>
          </a:p>
        </p:txBody>
      </p:sp>
      <p:sp>
        <p:nvSpPr>
          <p:cNvPr id="1615" name="Google Shape;1615;p134"/>
          <p:cNvSpPr txBox="1"/>
          <p:nvPr>
            <p:ph idx="1" type="body"/>
          </p:nvPr>
        </p:nvSpPr>
        <p:spPr>
          <a:xfrm>
            <a:off x="324000" y="3158820"/>
            <a:ext cx="3798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Both lines have a consistent gradient/speed.</a:t>
            </a:r>
            <a:endParaRPr sz="2000"/>
          </a:p>
        </p:txBody>
      </p:sp>
      <p:sp>
        <p:nvSpPr>
          <p:cNvPr id="1616" name="Google Shape;1616;p134"/>
          <p:cNvSpPr txBox="1"/>
          <p:nvPr>
            <p:ph idx="1" type="body"/>
          </p:nvPr>
        </p:nvSpPr>
        <p:spPr>
          <a:xfrm>
            <a:off x="324000" y="4073220"/>
            <a:ext cx="3798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steeper gradient reflects a greater speed.</a:t>
            </a:r>
            <a:endParaRPr sz="2000"/>
          </a:p>
        </p:txBody>
      </p:sp>
      <p:cxnSp>
        <p:nvCxnSpPr>
          <p:cNvPr id="1617" name="Google Shape;1617;p134"/>
          <p:cNvCxnSpPr/>
          <p:nvPr/>
        </p:nvCxnSpPr>
        <p:spPr>
          <a:xfrm rot="10800000">
            <a:off x="7214150" y="1705600"/>
            <a:ext cx="9300" cy="29448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2" name="Google Shape;1622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601" y="1621441"/>
            <a:ext cx="4087102" cy="3198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257" y="1626761"/>
            <a:ext cx="4087100" cy="3193261"/>
          </a:xfrm>
          <a:prstGeom prst="rect">
            <a:avLst/>
          </a:prstGeom>
          <a:noFill/>
          <a:ln>
            <a:noFill/>
          </a:ln>
        </p:spPr>
      </p:pic>
      <p:sp>
        <p:nvSpPr>
          <p:cNvPr id="1624" name="Google Shape;1624;p135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can you read from this distance time graph?</a:t>
            </a:r>
            <a:endParaRPr/>
          </a:p>
        </p:txBody>
      </p:sp>
      <p:sp>
        <p:nvSpPr>
          <p:cNvPr id="1625" name="Google Shape;1625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626" name="Google Shape;1626;p135"/>
          <p:cNvSpPr txBox="1"/>
          <p:nvPr/>
        </p:nvSpPr>
        <p:spPr>
          <a:xfrm>
            <a:off x="7423438" y="4375895"/>
            <a:ext cx="8802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35"/>
          <p:cNvSpPr txBox="1"/>
          <p:nvPr/>
        </p:nvSpPr>
        <p:spPr>
          <a:xfrm rot="-5400000">
            <a:off x="3511325" y="2312968"/>
            <a:ext cx="1426800" cy="35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135"/>
          <p:cNvSpPr txBox="1"/>
          <p:nvPr/>
        </p:nvSpPr>
        <p:spPr>
          <a:xfrm>
            <a:off x="7101933" y="2408052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135"/>
          <p:cNvSpPr txBox="1"/>
          <p:nvPr/>
        </p:nvSpPr>
        <p:spPr>
          <a:xfrm>
            <a:off x="7094773" y="15238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135"/>
          <p:cNvSpPr txBox="1"/>
          <p:nvPr>
            <p:ph idx="1" type="body"/>
          </p:nvPr>
        </p:nvSpPr>
        <p:spPr>
          <a:xfrm>
            <a:off x="324000" y="1304207"/>
            <a:ext cx="304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 ran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 m</a:t>
            </a:r>
            <a:r>
              <a:rPr lang="en-GB" sz="2000"/>
              <a:t> on both occasions.</a:t>
            </a:r>
            <a:endParaRPr sz="2000"/>
          </a:p>
        </p:txBody>
      </p:sp>
      <p:sp>
        <p:nvSpPr>
          <p:cNvPr id="1631" name="Google Shape;1631;p135"/>
          <p:cNvSpPr txBox="1"/>
          <p:nvPr>
            <p:ph idx="1" type="body"/>
          </p:nvPr>
        </p:nvSpPr>
        <p:spPr>
          <a:xfrm>
            <a:off x="324000" y="2271800"/>
            <a:ext cx="3660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Sofia’s time has changed.</a:t>
            </a:r>
            <a:endParaRPr sz="2000"/>
          </a:p>
        </p:txBody>
      </p:sp>
      <p:sp>
        <p:nvSpPr>
          <p:cNvPr id="1632" name="Google Shape;1632;p135"/>
          <p:cNvSpPr txBox="1"/>
          <p:nvPr/>
        </p:nvSpPr>
        <p:spPr>
          <a:xfrm>
            <a:off x="7347429" y="1598280"/>
            <a:ext cx="954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(14, 100)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35"/>
          <p:cNvSpPr txBox="1"/>
          <p:nvPr/>
        </p:nvSpPr>
        <p:spPr>
          <a:xfrm>
            <a:off x="7358926" y="2577375"/>
            <a:ext cx="8241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(14, 70)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135"/>
          <p:cNvSpPr txBox="1"/>
          <p:nvPr>
            <p:ph idx="1" type="body"/>
          </p:nvPr>
        </p:nvSpPr>
        <p:spPr>
          <a:xfrm>
            <a:off x="324000" y="2271800"/>
            <a:ext cx="3660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Sofia’s time has changed.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s</a:t>
            </a:r>
            <a:r>
              <a:rPr lang="en-GB" sz="2000"/>
              <a:t> down to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14 s</a:t>
            </a:r>
            <a:endParaRPr sz="2000"/>
          </a:p>
        </p:txBody>
      </p:sp>
      <p:sp>
        <p:nvSpPr>
          <p:cNvPr id="1635" name="Google Shape;1635;p135"/>
          <p:cNvSpPr txBox="1"/>
          <p:nvPr>
            <p:ph idx="1" type="body"/>
          </p:nvPr>
        </p:nvSpPr>
        <p:spPr>
          <a:xfrm>
            <a:off x="324000" y="3158820"/>
            <a:ext cx="3798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Both lines have a consistent gradient/speed.</a:t>
            </a:r>
            <a:endParaRPr sz="2000"/>
          </a:p>
        </p:txBody>
      </p:sp>
      <p:sp>
        <p:nvSpPr>
          <p:cNvPr id="1636" name="Google Shape;1636;p135"/>
          <p:cNvSpPr txBox="1"/>
          <p:nvPr>
            <p:ph idx="1" type="body"/>
          </p:nvPr>
        </p:nvSpPr>
        <p:spPr>
          <a:xfrm>
            <a:off x="324000" y="4073220"/>
            <a:ext cx="3798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steeper gradient reflects a greater speed.</a:t>
            </a:r>
            <a:endParaRPr sz="2000"/>
          </a:p>
        </p:txBody>
      </p:sp>
      <p:grpSp>
        <p:nvGrpSpPr>
          <p:cNvPr id="1637" name="Google Shape;1637;p135"/>
          <p:cNvGrpSpPr/>
          <p:nvPr/>
        </p:nvGrpSpPr>
        <p:grpSpPr>
          <a:xfrm>
            <a:off x="4637400" y="2633199"/>
            <a:ext cx="2578075" cy="2040502"/>
            <a:chOff x="5659393" y="2967652"/>
            <a:chExt cx="345013" cy="229973"/>
          </a:xfrm>
        </p:grpSpPr>
        <p:cxnSp>
          <p:nvCxnSpPr>
            <p:cNvPr id="1638" name="Google Shape;1638;p135"/>
            <p:cNvCxnSpPr/>
            <p:nvPr/>
          </p:nvCxnSpPr>
          <p:spPr>
            <a:xfrm>
              <a:off x="5659393" y="3197625"/>
              <a:ext cx="3435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39" name="Google Shape;1639;p135"/>
            <p:cNvCxnSpPr/>
            <p:nvPr/>
          </p:nvCxnSpPr>
          <p:spPr>
            <a:xfrm rot="10800000">
              <a:off x="6004406" y="2967652"/>
              <a:ext cx="0" cy="229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40" name="Google Shape;1640;p135"/>
          <p:cNvSpPr txBox="1"/>
          <p:nvPr/>
        </p:nvSpPr>
        <p:spPr>
          <a:xfrm>
            <a:off x="7282725" y="3404075"/>
            <a:ext cx="567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35"/>
          <p:cNvSpPr txBox="1"/>
          <p:nvPr/>
        </p:nvSpPr>
        <p:spPr>
          <a:xfrm>
            <a:off x="5834925" y="4318475"/>
            <a:ext cx="453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6" name="Google Shape;1646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601" y="1621441"/>
            <a:ext cx="4087102" cy="3198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7" name="Google Shape;1647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257" y="1626761"/>
            <a:ext cx="4087100" cy="3193261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136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can you read from this distance time graph?</a:t>
            </a:r>
            <a:endParaRPr/>
          </a:p>
        </p:txBody>
      </p:sp>
      <p:sp>
        <p:nvSpPr>
          <p:cNvPr id="1649" name="Google Shape;1649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650" name="Google Shape;1650;p136"/>
          <p:cNvSpPr txBox="1"/>
          <p:nvPr/>
        </p:nvSpPr>
        <p:spPr>
          <a:xfrm>
            <a:off x="7423438" y="4375895"/>
            <a:ext cx="8802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136"/>
          <p:cNvSpPr txBox="1"/>
          <p:nvPr/>
        </p:nvSpPr>
        <p:spPr>
          <a:xfrm rot="-5400000">
            <a:off x="3511325" y="2312968"/>
            <a:ext cx="1426800" cy="35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136"/>
          <p:cNvSpPr txBox="1"/>
          <p:nvPr/>
        </p:nvSpPr>
        <p:spPr>
          <a:xfrm>
            <a:off x="7094773" y="15238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136"/>
          <p:cNvSpPr txBox="1"/>
          <p:nvPr>
            <p:ph idx="1" type="body"/>
          </p:nvPr>
        </p:nvSpPr>
        <p:spPr>
          <a:xfrm>
            <a:off x="324000" y="1304207"/>
            <a:ext cx="304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 ran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 m</a:t>
            </a:r>
            <a:r>
              <a:rPr lang="en-GB" sz="2000"/>
              <a:t> on both occasions.</a:t>
            </a:r>
            <a:endParaRPr sz="2000"/>
          </a:p>
        </p:txBody>
      </p:sp>
      <p:sp>
        <p:nvSpPr>
          <p:cNvPr id="1654" name="Google Shape;1654;p136"/>
          <p:cNvSpPr txBox="1"/>
          <p:nvPr>
            <p:ph idx="1" type="body"/>
          </p:nvPr>
        </p:nvSpPr>
        <p:spPr>
          <a:xfrm>
            <a:off x="324000" y="2271800"/>
            <a:ext cx="3660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Sofia’s time has changed.</a:t>
            </a:r>
            <a:endParaRPr sz="2000"/>
          </a:p>
        </p:txBody>
      </p:sp>
      <p:sp>
        <p:nvSpPr>
          <p:cNvPr id="1655" name="Google Shape;1655;p136"/>
          <p:cNvSpPr txBox="1"/>
          <p:nvPr/>
        </p:nvSpPr>
        <p:spPr>
          <a:xfrm>
            <a:off x="7347429" y="1598280"/>
            <a:ext cx="954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(14, 100)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136"/>
          <p:cNvSpPr txBox="1"/>
          <p:nvPr>
            <p:ph idx="1" type="body"/>
          </p:nvPr>
        </p:nvSpPr>
        <p:spPr>
          <a:xfrm>
            <a:off x="324000" y="2271800"/>
            <a:ext cx="3660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Sofia’s time has changed.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s</a:t>
            </a:r>
            <a:r>
              <a:rPr lang="en-GB" sz="2000"/>
              <a:t> down to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14 s</a:t>
            </a:r>
            <a:endParaRPr sz="2000"/>
          </a:p>
        </p:txBody>
      </p:sp>
      <p:sp>
        <p:nvSpPr>
          <p:cNvPr id="1657" name="Google Shape;1657;p136"/>
          <p:cNvSpPr txBox="1"/>
          <p:nvPr>
            <p:ph idx="1" type="body"/>
          </p:nvPr>
        </p:nvSpPr>
        <p:spPr>
          <a:xfrm>
            <a:off x="324000" y="3158820"/>
            <a:ext cx="3798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Both lines have a consistent gradient/speed.</a:t>
            </a:r>
            <a:endParaRPr sz="2000"/>
          </a:p>
        </p:txBody>
      </p:sp>
      <p:sp>
        <p:nvSpPr>
          <p:cNvPr id="1658" name="Google Shape;1658;p136"/>
          <p:cNvSpPr txBox="1"/>
          <p:nvPr>
            <p:ph idx="1" type="body"/>
          </p:nvPr>
        </p:nvSpPr>
        <p:spPr>
          <a:xfrm>
            <a:off x="324000" y="4073220"/>
            <a:ext cx="37986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steeper gradient reflects a greater speed.</a:t>
            </a:r>
            <a:endParaRPr sz="2000"/>
          </a:p>
        </p:txBody>
      </p:sp>
      <p:grpSp>
        <p:nvGrpSpPr>
          <p:cNvPr id="1659" name="Google Shape;1659;p136"/>
          <p:cNvGrpSpPr/>
          <p:nvPr/>
        </p:nvGrpSpPr>
        <p:grpSpPr>
          <a:xfrm>
            <a:off x="4637400" y="1775656"/>
            <a:ext cx="2578075" cy="2898185"/>
            <a:chOff x="5659393" y="2967652"/>
            <a:chExt cx="345013" cy="229973"/>
          </a:xfrm>
        </p:grpSpPr>
        <p:cxnSp>
          <p:nvCxnSpPr>
            <p:cNvPr id="1660" name="Google Shape;1660;p136"/>
            <p:cNvCxnSpPr/>
            <p:nvPr/>
          </p:nvCxnSpPr>
          <p:spPr>
            <a:xfrm>
              <a:off x="5659393" y="3197625"/>
              <a:ext cx="343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61" name="Google Shape;1661;p136"/>
            <p:cNvCxnSpPr/>
            <p:nvPr/>
          </p:nvCxnSpPr>
          <p:spPr>
            <a:xfrm rot="10800000">
              <a:off x="6004406" y="2967652"/>
              <a:ext cx="0" cy="2298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62" name="Google Shape;1662;p136"/>
          <p:cNvSpPr txBox="1"/>
          <p:nvPr/>
        </p:nvSpPr>
        <p:spPr>
          <a:xfrm>
            <a:off x="7282725" y="3041467"/>
            <a:ext cx="756600" cy="320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m</a:t>
            </a:r>
            <a:endParaRPr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136"/>
          <p:cNvSpPr txBox="1"/>
          <p:nvPr/>
        </p:nvSpPr>
        <p:spPr>
          <a:xfrm>
            <a:off x="5869445" y="4318200"/>
            <a:ext cx="421800" cy="320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s</a:t>
            </a:r>
            <a:endParaRPr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36"/>
          <p:cNvSpPr txBox="1"/>
          <p:nvPr/>
        </p:nvSpPr>
        <p:spPr>
          <a:xfrm rot="-2890859">
            <a:off x="5257412" y="2809160"/>
            <a:ext cx="1162153" cy="27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faster</a:t>
            </a:r>
            <a:endParaRPr sz="22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" name="Google Shape;1669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9800" y="1181194"/>
            <a:ext cx="3572377" cy="3543942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137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Sofia’s smart-watch tracks her walk to school.</a:t>
            </a:r>
            <a:endParaRPr/>
          </a:p>
        </p:txBody>
      </p:sp>
      <p:sp>
        <p:nvSpPr>
          <p:cNvPr id="1671" name="Google Shape;1671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672" name="Google Shape;1672;p137"/>
          <p:cNvSpPr txBox="1"/>
          <p:nvPr/>
        </p:nvSpPr>
        <p:spPr>
          <a:xfrm rot="-5400000">
            <a:off x="3232137" y="2576140"/>
            <a:ext cx="2770200" cy="35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istance from home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3" name="Google Shape;1673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5963" y="2333966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4" name="Google Shape;1674;p137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581240" y="1210505"/>
            <a:ext cx="3092398" cy="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137"/>
          <p:cNvSpPr txBox="1"/>
          <p:nvPr/>
        </p:nvSpPr>
        <p:spPr>
          <a:xfrm>
            <a:off x="835725" y="1265325"/>
            <a:ext cx="3092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moment looks unusual on the graph.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37"/>
          <p:cNvSpPr/>
          <p:nvPr/>
        </p:nvSpPr>
        <p:spPr>
          <a:xfrm>
            <a:off x="5848553" y="3489998"/>
            <a:ext cx="1494300" cy="506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137"/>
          <p:cNvSpPr txBox="1"/>
          <p:nvPr/>
        </p:nvSpPr>
        <p:spPr>
          <a:xfrm>
            <a:off x="4750810" y="2795748"/>
            <a:ext cx="3450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8" name="Google Shape;1678;p137"/>
          <p:cNvSpPr txBox="1"/>
          <p:nvPr/>
        </p:nvSpPr>
        <p:spPr>
          <a:xfrm>
            <a:off x="4572000" y="1138025"/>
            <a:ext cx="5238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9" name="Google Shape;1679;p137"/>
          <p:cNvSpPr txBox="1"/>
          <p:nvPr/>
        </p:nvSpPr>
        <p:spPr>
          <a:xfrm>
            <a:off x="5946993" y="4601821"/>
            <a:ext cx="2007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0" name="Google Shape;1680;p137"/>
          <p:cNvSpPr txBox="1"/>
          <p:nvPr/>
        </p:nvSpPr>
        <p:spPr>
          <a:xfrm>
            <a:off x="6914580" y="4601816"/>
            <a:ext cx="2625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1" name="Google Shape;1681;p137"/>
          <p:cNvSpPr txBox="1"/>
          <p:nvPr/>
        </p:nvSpPr>
        <p:spPr>
          <a:xfrm>
            <a:off x="7886517" y="4601816"/>
            <a:ext cx="2625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2" name="Google Shape;1682;p137"/>
          <p:cNvSpPr txBox="1"/>
          <p:nvPr/>
        </p:nvSpPr>
        <p:spPr>
          <a:xfrm>
            <a:off x="5009580" y="4601821"/>
            <a:ext cx="2007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3" name="Google Shape;1683;p137"/>
          <p:cNvSpPr txBox="1"/>
          <p:nvPr/>
        </p:nvSpPr>
        <p:spPr>
          <a:xfrm>
            <a:off x="1064325" y="3246525"/>
            <a:ext cx="2425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do you think happened here?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137"/>
          <p:cNvSpPr txBox="1"/>
          <p:nvPr/>
        </p:nvSpPr>
        <p:spPr>
          <a:xfrm>
            <a:off x="7134475" y="4276700"/>
            <a:ext cx="12615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" name="Google Shape;1689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9800" y="1181194"/>
            <a:ext cx="3572377" cy="3543942"/>
          </a:xfrm>
          <a:prstGeom prst="rect">
            <a:avLst/>
          </a:prstGeom>
          <a:noFill/>
          <a:ln>
            <a:noFill/>
          </a:ln>
        </p:spPr>
      </p:pic>
      <p:sp>
        <p:nvSpPr>
          <p:cNvPr id="1690" name="Google Shape;1690;p138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Sofia’s smart-watch tracks her walk to school.</a:t>
            </a:r>
            <a:endParaRPr/>
          </a:p>
        </p:txBody>
      </p:sp>
      <p:sp>
        <p:nvSpPr>
          <p:cNvPr id="1691" name="Google Shape;1691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692" name="Google Shape;1692;p138"/>
          <p:cNvSpPr txBox="1"/>
          <p:nvPr/>
        </p:nvSpPr>
        <p:spPr>
          <a:xfrm>
            <a:off x="7134475" y="4276700"/>
            <a:ext cx="12615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38"/>
          <p:cNvSpPr txBox="1"/>
          <p:nvPr/>
        </p:nvSpPr>
        <p:spPr>
          <a:xfrm rot="-5400000">
            <a:off x="3232137" y="2576140"/>
            <a:ext cx="2770200" cy="35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istance from home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4" name="Google Shape;1694;p138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581240" y="1210505"/>
            <a:ext cx="3092398" cy="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138"/>
          <p:cNvSpPr txBox="1"/>
          <p:nvPr/>
        </p:nvSpPr>
        <p:spPr>
          <a:xfrm>
            <a:off x="835725" y="1265325"/>
            <a:ext cx="3092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moment looks unusual on the graph.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138"/>
          <p:cNvSpPr txBox="1"/>
          <p:nvPr/>
        </p:nvSpPr>
        <p:spPr>
          <a:xfrm>
            <a:off x="4750810" y="2795748"/>
            <a:ext cx="3450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7" name="Google Shape;1697;p138"/>
          <p:cNvSpPr txBox="1"/>
          <p:nvPr/>
        </p:nvSpPr>
        <p:spPr>
          <a:xfrm>
            <a:off x="4572000" y="1138025"/>
            <a:ext cx="5238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8" name="Google Shape;1698;p138"/>
          <p:cNvSpPr txBox="1"/>
          <p:nvPr/>
        </p:nvSpPr>
        <p:spPr>
          <a:xfrm>
            <a:off x="5946993" y="4601821"/>
            <a:ext cx="2007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9" name="Google Shape;1699;p138"/>
          <p:cNvSpPr txBox="1"/>
          <p:nvPr/>
        </p:nvSpPr>
        <p:spPr>
          <a:xfrm>
            <a:off x="6914580" y="4601816"/>
            <a:ext cx="2625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0" name="Google Shape;1700;p138"/>
          <p:cNvSpPr txBox="1"/>
          <p:nvPr/>
        </p:nvSpPr>
        <p:spPr>
          <a:xfrm>
            <a:off x="7886517" y="4601816"/>
            <a:ext cx="2625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1" name="Google Shape;1701;p138"/>
          <p:cNvSpPr txBox="1"/>
          <p:nvPr/>
        </p:nvSpPr>
        <p:spPr>
          <a:xfrm>
            <a:off x="5009580" y="4601821"/>
            <a:ext cx="2007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2" name="Google Shape;1702;p138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962250" y="3191700"/>
            <a:ext cx="3194476" cy="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3" name="Google Shape;1703;p138"/>
          <p:cNvSpPr txBox="1"/>
          <p:nvPr/>
        </p:nvSpPr>
        <p:spPr>
          <a:xfrm>
            <a:off x="1216725" y="3246525"/>
            <a:ext cx="2838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That’s when you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stopped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to pick me up.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4" name="Google Shape;1704;p138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126157" y="2037193"/>
            <a:ext cx="3300076" cy="896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138"/>
          <p:cNvSpPr txBox="1"/>
          <p:nvPr/>
        </p:nvSpPr>
        <p:spPr>
          <a:xfrm>
            <a:off x="1369125" y="2103525"/>
            <a:ext cx="3045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Of course! A gradient of zero means I stopped.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6" name="Google Shape;1706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5963" y="2333966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7" name="Google Shape;1707;p1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27731" y="3735681"/>
            <a:ext cx="1114250" cy="1078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8" name="Google Shape;1708;p138"/>
          <p:cNvCxnSpPr/>
          <p:nvPr/>
        </p:nvCxnSpPr>
        <p:spPr>
          <a:xfrm>
            <a:off x="6124687" y="3641582"/>
            <a:ext cx="92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9" name="Google Shape;1709;p138"/>
          <p:cNvSpPr txBox="1"/>
          <p:nvPr/>
        </p:nvSpPr>
        <p:spPr>
          <a:xfrm rot="4262">
            <a:off x="5156876" y="2996375"/>
            <a:ext cx="1935901" cy="55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change in distance is a stop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4" name="Google Shape;1714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960" y="1186376"/>
            <a:ext cx="3499926" cy="3543923"/>
          </a:xfrm>
          <a:prstGeom prst="rect">
            <a:avLst/>
          </a:prstGeom>
          <a:noFill/>
          <a:ln>
            <a:noFill/>
          </a:ln>
        </p:spPr>
      </p:pic>
      <p:sp>
        <p:nvSpPr>
          <p:cNvPr id="1715" name="Google Shape;1715;p139"/>
          <p:cNvSpPr txBox="1"/>
          <p:nvPr>
            <p:ph idx="1" type="subTitle"/>
          </p:nvPr>
        </p:nvSpPr>
        <p:spPr>
          <a:xfrm>
            <a:off x="1034425" y="1837775"/>
            <a:ext cx="185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250</a:t>
            </a:r>
            <a:r>
              <a:rPr lang="en-GB"/>
              <a:t> minutes</a:t>
            </a:r>
            <a:endParaRPr/>
          </a:p>
        </p:txBody>
      </p:sp>
      <p:sp>
        <p:nvSpPr>
          <p:cNvPr id="1716" name="Google Shape;1716;p1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717" name="Google Shape;1717;p139"/>
          <p:cNvSpPr txBox="1"/>
          <p:nvPr/>
        </p:nvSpPr>
        <p:spPr>
          <a:xfrm rot="-5400000">
            <a:off x="3266657" y="2576140"/>
            <a:ext cx="2770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istance from home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139"/>
          <p:cNvSpPr txBox="1"/>
          <p:nvPr/>
        </p:nvSpPr>
        <p:spPr>
          <a:xfrm>
            <a:off x="4785330" y="2772735"/>
            <a:ext cx="3450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9" name="Google Shape;1719;p139"/>
          <p:cNvSpPr txBox="1"/>
          <p:nvPr/>
        </p:nvSpPr>
        <p:spPr>
          <a:xfrm>
            <a:off x="4606520" y="1115012"/>
            <a:ext cx="5238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0" name="Google Shape;1720;p139"/>
          <p:cNvSpPr txBox="1"/>
          <p:nvPr/>
        </p:nvSpPr>
        <p:spPr>
          <a:xfrm>
            <a:off x="5946993" y="4601821"/>
            <a:ext cx="2007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1" name="Google Shape;1721;p139"/>
          <p:cNvSpPr txBox="1"/>
          <p:nvPr/>
        </p:nvSpPr>
        <p:spPr>
          <a:xfrm>
            <a:off x="6914580" y="4601816"/>
            <a:ext cx="2625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2" name="Google Shape;1722;p139"/>
          <p:cNvSpPr txBox="1"/>
          <p:nvPr/>
        </p:nvSpPr>
        <p:spPr>
          <a:xfrm>
            <a:off x="7886517" y="4601816"/>
            <a:ext cx="2625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3" name="Google Shape;1723;p139"/>
          <p:cNvSpPr txBox="1"/>
          <p:nvPr/>
        </p:nvSpPr>
        <p:spPr>
          <a:xfrm>
            <a:off x="5009580" y="4601821"/>
            <a:ext cx="2007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4" name="Google Shape;1724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002154" y="3839303"/>
            <a:ext cx="441547" cy="489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338095" y="4224536"/>
            <a:ext cx="609083" cy="58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139"/>
          <p:cNvSpPr txBox="1"/>
          <p:nvPr/>
        </p:nvSpPr>
        <p:spPr>
          <a:xfrm>
            <a:off x="7134475" y="4276700"/>
            <a:ext cx="12615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139"/>
          <p:cNvSpPr txBox="1"/>
          <p:nvPr>
            <p:ph type="title"/>
          </p:nvPr>
        </p:nvSpPr>
        <p:spPr>
          <a:xfrm>
            <a:off x="324000" y="748775"/>
            <a:ext cx="7077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On this day how long does it take for Sofia to reach Izzy’s house?</a:t>
            </a:r>
            <a:endParaRPr/>
          </a:p>
        </p:txBody>
      </p:sp>
      <p:sp>
        <p:nvSpPr>
          <p:cNvPr id="1728" name="Google Shape;1728;p139"/>
          <p:cNvSpPr txBox="1"/>
          <p:nvPr>
            <p:ph idx="3" type="subTitle"/>
          </p:nvPr>
        </p:nvSpPr>
        <p:spPr>
          <a:xfrm>
            <a:off x="1034425" y="2794250"/>
            <a:ext cx="1852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/>
              <a:t> minutes</a:t>
            </a:r>
            <a:endParaRPr/>
          </a:p>
        </p:txBody>
      </p:sp>
      <p:sp>
        <p:nvSpPr>
          <p:cNvPr id="1729" name="Google Shape;1729;p139"/>
          <p:cNvSpPr txBox="1"/>
          <p:nvPr>
            <p:ph idx="4" type="subTitle"/>
          </p:nvPr>
        </p:nvSpPr>
        <p:spPr>
          <a:xfrm>
            <a:off x="1034425" y="3766973"/>
            <a:ext cx="184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/>
              <a:t> minutes</a:t>
            </a:r>
            <a:endParaRPr/>
          </a:p>
        </p:txBody>
      </p:sp>
      <p:pic>
        <p:nvPicPr>
          <p:cNvPr id="1730" name="Google Shape;1730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4597" y="280207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139"/>
          <p:cNvSpPr txBox="1"/>
          <p:nvPr/>
        </p:nvSpPr>
        <p:spPr>
          <a:xfrm>
            <a:off x="6187533" y="357406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139"/>
          <p:cNvSpPr txBox="1"/>
          <p:nvPr/>
        </p:nvSpPr>
        <p:spPr>
          <a:xfrm>
            <a:off x="5525799" y="3302032"/>
            <a:ext cx="8073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(6, 250)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7" name="Google Shape;1737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960" y="1186376"/>
            <a:ext cx="3499926" cy="3543923"/>
          </a:xfrm>
          <a:prstGeom prst="rect">
            <a:avLst/>
          </a:prstGeom>
          <a:noFill/>
          <a:ln>
            <a:noFill/>
          </a:ln>
        </p:spPr>
      </p:pic>
      <p:sp>
        <p:nvSpPr>
          <p:cNvPr id="1738" name="Google Shape;1738;p140"/>
          <p:cNvSpPr txBox="1"/>
          <p:nvPr>
            <p:ph idx="1" type="subTitle"/>
          </p:nvPr>
        </p:nvSpPr>
        <p:spPr>
          <a:xfrm>
            <a:off x="1034425" y="1837775"/>
            <a:ext cx="1500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/>
              <a:t> minutes</a:t>
            </a:r>
            <a:endParaRPr/>
          </a:p>
        </p:txBody>
      </p:sp>
      <p:sp>
        <p:nvSpPr>
          <p:cNvPr id="1739" name="Google Shape;1739;p1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740" name="Google Shape;1740;p140"/>
          <p:cNvSpPr txBox="1"/>
          <p:nvPr/>
        </p:nvSpPr>
        <p:spPr>
          <a:xfrm rot="-5400000">
            <a:off x="3266657" y="2576140"/>
            <a:ext cx="2770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istance from home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140"/>
          <p:cNvSpPr txBox="1"/>
          <p:nvPr/>
        </p:nvSpPr>
        <p:spPr>
          <a:xfrm>
            <a:off x="4785330" y="2772735"/>
            <a:ext cx="3450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2" name="Google Shape;1742;p140"/>
          <p:cNvSpPr txBox="1"/>
          <p:nvPr/>
        </p:nvSpPr>
        <p:spPr>
          <a:xfrm>
            <a:off x="4606520" y="1115012"/>
            <a:ext cx="5238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3" name="Google Shape;1743;p140"/>
          <p:cNvSpPr txBox="1"/>
          <p:nvPr/>
        </p:nvSpPr>
        <p:spPr>
          <a:xfrm>
            <a:off x="5946993" y="4601821"/>
            <a:ext cx="2007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4" name="Google Shape;1744;p140"/>
          <p:cNvSpPr txBox="1"/>
          <p:nvPr/>
        </p:nvSpPr>
        <p:spPr>
          <a:xfrm>
            <a:off x="6914580" y="4601816"/>
            <a:ext cx="2625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5" name="Google Shape;1745;p140"/>
          <p:cNvSpPr txBox="1"/>
          <p:nvPr/>
        </p:nvSpPr>
        <p:spPr>
          <a:xfrm>
            <a:off x="7886517" y="4601816"/>
            <a:ext cx="2625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6" name="Google Shape;1746;p140"/>
          <p:cNvSpPr txBox="1"/>
          <p:nvPr/>
        </p:nvSpPr>
        <p:spPr>
          <a:xfrm>
            <a:off x="5009580" y="4601821"/>
            <a:ext cx="2007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7" name="Google Shape;1747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002154" y="3839303"/>
            <a:ext cx="441547" cy="489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8" name="Google Shape;1748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338095" y="4224536"/>
            <a:ext cx="609083" cy="58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749" name="Google Shape;1749;p140"/>
          <p:cNvSpPr txBox="1"/>
          <p:nvPr/>
        </p:nvSpPr>
        <p:spPr>
          <a:xfrm>
            <a:off x="7134475" y="4276700"/>
            <a:ext cx="12615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140"/>
          <p:cNvSpPr txBox="1"/>
          <p:nvPr>
            <p:ph type="title"/>
          </p:nvPr>
        </p:nvSpPr>
        <p:spPr>
          <a:xfrm>
            <a:off x="324000" y="748775"/>
            <a:ext cx="7077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On this day how many minutes is Sofia waiting at Izzy’s house?</a:t>
            </a:r>
            <a:endParaRPr/>
          </a:p>
        </p:txBody>
      </p:sp>
      <p:sp>
        <p:nvSpPr>
          <p:cNvPr id="1751" name="Google Shape;1751;p140"/>
          <p:cNvSpPr txBox="1"/>
          <p:nvPr>
            <p:ph idx="3" type="subTitle"/>
          </p:nvPr>
        </p:nvSpPr>
        <p:spPr>
          <a:xfrm>
            <a:off x="1034425" y="2794250"/>
            <a:ext cx="1852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/>
              <a:t> minutes</a:t>
            </a:r>
            <a:endParaRPr/>
          </a:p>
        </p:txBody>
      </p:sp>
      <p:sp>
        <p:nvSpPr>
          <p:cNvPr id="1752" name="Google Shape;1752;p140"/>
          <p:cNvSpPr txBox="1"/>
          <p:nvPr>
            <p:ph idx="4" type="subTitle"/>
          </p:nvPr>
        </p:nvSpPr>
        <p:spPr>
          <a:xfrm>
            <a:off x="1034425" y="3766973"/>
            <a:ext cx="184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/>
              <a:t> minutes</a:t>
            </a:r>
            <a:endParaRPr/>
          </a:p>
        </p:txBody>
      </p:sp>
      <p:pic>
        <p:nvPicPr>
          <p:cNvPr id="1753" name="Google Shape;1753;p1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4597" y="280207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4" name="Google Shape;1754;p140"/>
          <p:cNvSpPr txBox="1"/>
          <p:nvPr/>
        </p:nvSpPr>
        <p:spPr>
          <a:xfrm>
            <a:off x="7330533" y="357406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140"/>
          <p:cNvSpPr txBox="1"/>
          <p:nvPr/>
        </p:nvSpPr>
        <p:spPr>
          <a:xfrm>
            <a:off x="6523560" y="3302025"/>
            <a:ext cx="9747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(12, 250)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140"/>
          <p:cNvSpPr txBox="1"/>
          <p:nvPr/>
        </p:nvSpPr>
        <p:spPr>
          <a:xfrm>
            <a:off x="6187533" y="357406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140"/>
          <p:cNvSpPr txBox="1"/>
          <p:nvPr/>
        </p:nvSpPr>
        <p:spPr>
          <a:xfrm>
            <a:off x="5525799" y="3302032"/>
            <a:ext cx="8073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(6, 250)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2" name="Google Shape;1762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960" y="1186376"/>
            <a:ext cx="3499926" cy="3543923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141"/>
          <p:cNvSpPr txBox="1"/>
          <p:nvPr>
            <p:ph idx="1" type="subTitle"/>
          </p:nvPr>
        </p:nvSpPr>
        <p:spPr>
          <a:xfrm>
            <a:off x="1034425" y="1837775"/>
            <a:ext cx="2697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Change of direction</a:t>
            </a:r>
            <a:endParaRPr/>
          </a:p>
        </p:txBody>
      </p:sp>
      <p:sp>
        <p:nvSpPr>
          <p:cNvPr id="1764" name="Google Shape;1764;p1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765" name="Google Shape;1765;p141"/>
          <p:cNvSpPr txBox="1"/>
          <p:nvPr/>
        </p:nvSpPr>
        <p:spPr>
          <a:xfrm rot="-5400000">
            <a:off x="3266657" y="2576140"/>
            <a:ext cx="2770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istance from home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141"/>
          <p:cNvSpPr txBox="1"/>
          <p:nvPr/>
        </p:nvSpPr>
        <p:spPr>
          <a:xfrm>
            <a:off x="4785330" y="2772735"/>
            <a:ext cx="3450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7" name="Google Shape;1767;p141"/>
          <p:cNvSpPr txBox="1"/>
          <p:nvPr/>
        </p:nvSpPr>
        <p:spPr>
          <a:xfrm>
            <a:off x="4606520" y="1115012"/>
            <a:ext cx="5238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8" name="Google Shape;1768;p141"/>
          <p:cNvSpPr txBox="1"/>
          <p:nvPr/>
        </p:nvSpPr>
        <p:spPr>
          <a:xfrm>
            <a:off x="5946993" y="4601821"/>
            <a:ext cx="2007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9" name="Google Shape;1769;p141"/>
          <p:cNvSpPr txBox="1"/>
          <p:nvPr/>
        </p:nvSpPr>
        <p:spPr>
          <a:xfrm>
            <a:off x="6914580" y="4601816"/>
            <a:ext cx="2625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0" name="Google Shape;1770;p141"/>
          <p:cNvSpPr txBox="1"/>
          <p:nvPr/>
        </p:nvSpPr>
        <p:spPr>
          <a:xfrm>
            <a:off x="7886517" y="4601816"/>
            <a:ext cx="2625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1" name="Google Shape;1771;p141"/>
          <p:cNvSpPr txBox="1"/>
          <p:nvPr/>
        </p:nvSpPr>
        <p:spPr>
          <a:xfrm>
            <a:off x="5009580" y="4601821"/>
            <a:ext cx="2007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2" name="Google Shape;1772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002154" y="3839303"/>
            <a:ext cx="441547" cy="489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3" name="Google Shape;1773;p1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338095" y="4224536"/>
            <a:ext cx="609083" cy="58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774" name="Google Shape;1774;p141"/>
          <p:cNvSpPr txBox="1"/>
          <p:nvPr/>
        </p:nvSpPr>
        <p:spPr>
          <a:xfrm>
            <a:off x="7134475" y="4276700"/>
            <a:ext cx="12615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141"/>
          <p:cNvSpPr txBox="1"/>
          <p:nvPr>
            <p:ph type="title"/>
          </p:nvPr>
        </p:nvSpPr>
        <p:spPr>
          <a:xfrm>
            <a:off x="324000" y="748775"/>
            <a:ext cx="5823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does this change in gradient tell us?</a:t>
            </a:r>
            <a:endParaRPr/>
          </a:p>
        </p:txBody>
      </p:sp>
      <p:sp>
        <p:nvSpPr>
          <p:cNvPr id="1776" name="Google Shape;1776;p141"/>
          <p:cNvSpPr txBox="1"/>
          <p:nvPr>
            <p:ph idx="3" type="subTitle"/>
          </p:nvPr>
        </p:nvSpPr>
        <p:spPr>
          <a:xfrm>
            <a:off x="1034425" y="2828770"/>
            <a:ext cx="2915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road got steeper</a:t>
            </a:r>
            <a:endParaRPr/>
          </a:p>
        </p:txBody>
      </p:sp>
      <p:sp>
        <p:nvSpPr>
          <p:cNvPr id="1777" name="Google Shape;1777;p141"/>
          <p:cNvSpPr txBox="1"/>
          <p:nvPr>
            <p:ph idx="4" type="subTitle"/>
          </p:nvPr>
        </p:nvSpPr>
        <p:spPr>
          <a:xfrm>
            <a:off x="1034425" y="3801495"/>
            <a:ext cx="276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Change of speed</a:t>
            </a:r>
            <a:endParaRPr/>
          </a:p>
        </p:txBody>
      </p:sp>
      <p:pic>
        <p:nvPicPr>
          <p:cNvPr id="1778" name="Google Shape;1778;p1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2010" y="380417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9" name="Google Shape;1779;p141"/>
          <p:cNvSpPr/>
          <p:nvPr/>
        </p:nvSpPr>
        <p:spPr>
          <a:xfrm rot="-2130789">
            <a:off x="4902855" y="3907185"/>
            <a:ext cx="1710480" cy="506479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141"/>
          <p:cNvSpPr/>
          <p:nvPr/>
        </p:nvSpPr>
        <p:spPr>
          <a:xfrm rot="-4337372">
            <a:off x="6368207" y="2200320"/>
            <a:ext cx="2948649" cy="638144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5" name="Google Shape;1785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960" y="1186376"/>
            <a:ext cx="3499926" cy="3543923"/>
          </a:xfrm>
          <a:prstGeom prst="rect">
            <a:avLst/>
          </a:prstGeom>
          <a:noFill/>
          <a:ln>
            <a:noFill/>
          </a:ln>
        </p:spPr>
      </p:pic>
      <p:sp>
        <p:nvSpPr>
          <p:cNvPr id="1786" name="Google Shape;1786;p1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787" name="Google Shape;1787;p142"/>
          <p:cNvSpPr txBox="1"/>
          <p:nvPr/>
        </p:nvSpPr>
        <p:spPr>
          <a:xfrm rot="-5400000">
            <a:off x="3266657" y="2576140"/>
            <a:ext cx="2770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istance from home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142"/>
          <p:cNvSpPr txBox="1"/>
          <p:nvPr/>
        </p:nvSpPr>
        <p:spPr>
          <a:xfrm>
            <a:off x="4785330" y="2772735"/>
            <a:ext cx="3450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9" name="Google Shape;1789;p142"/>
          <p:cNvSpPr txBox="1"/>
          <p:nvPr/>
        </p:nvSpPr>
        <p:spPr>
          <a:xfrm>
            <a:off x="4606520" y="1115012"/>
            <a:ext cx="5238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0" name="Google Shape;1790;p142"/>
          <p:cNvSpPr txBox="1"/>
          <p:nvPr/>
        </p:nvSpPr>
        <p:spPr>
          <a:xfrm>
            <a:off x="5946993" y="4601821"/>
            <a:ext cx="2007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1" name="Google Shape;1791;p142"/>
          <p:cNvSpPr txBox="1"/>
          <p:nvPr/>
        </p:nvSpPr>
        <p:spPr>
          <a:xfrm>
            <a:off x="6914580" y="4601816"/>
            <a:ext cx="2625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2" name="Google Shape;1792;p142"/>
          <p:cNvSpPr txBox="1"/>
          <p:nvPr/>
        </p:nvSpPr>
        <p:spPr>
          <a:xfrm>
            <a:off x="7886517" y="4601816"/>
            <a:ext cx="2625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3" name="Google Shape;1793;p142"/>
          <p:cNvSpPr txBox="1"/>
          <p:nvPr/>
        </p:nvSpPr>
        <p:spPr>
          <a:xfrm>
            <a:off x="5009580" y="4601821"/>
            <a:ext cx="200700" cy="2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4" name="Google Shape;1794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002154" y="3839303"/>
            <a:ext cx="441547" cy="489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5" name="Google Shape;1795;p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338095" y="4224536"/>
            <a:ext cx="609083" cy="58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796" name="Google Shape;1796;p142"/>
          <p:cNvSpPr txBox="1"/>
          <p:nvPr/>
        </p:nvSpPr>
        <p:spPr>
          <a:xfrm>
            <a:off x="7134475" y="4276700"/>
            <a:ext cx="12615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142"/>
          <p:cNvSpPr txBox="1"/>
          <p:nvPr>
            <p:ph type="title"/>
          </p:nvPr>
        </p:nvSpPr>
        <p:spPr>
          <a:xfrm>
            <a:off x="324000" y="748775"/>
            <a:ext cx="5823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does this change in gradient tell us?</a:t>
            </a:r>
            <a:endParaRPr/>
          </a:p>
        </p:txBody>
      </p:sp>
      <p:sp>
        <p:nvSpPr>
          <p:cNvPr id="1798" name="Google Shape;1798;p142"/>
          <p:cNvSpPr txBox="1"/>
          <p:nvPr>
            <p:ph idx="4" type="subTitle"/>
          </p:nvPr>
        </p:nvSpPr>
        <p:spPr>
          <a:xfrm>
            <a:off x="1034425" y="3801495"/>
            <a:ext cx="276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Change of speed</a:t>
            </a:r>
            <a:endParaRPr/>
          </a:p>
        </p:txBody>
      </p:sp>
      <p:pic>
        <p:nvPicPr>
          <p:cNvPr id="1799" name="Google Shape;1799;p1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2010" y="380417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0" name="Google Shape;1800;p142"/>
          <p:cNvSpPr/>
          <p:nvPr/>
        </p:nvSpPr>
        <p:spPr>
          <a:xfrm rot="-4337372">
            <a:off x="6368207" y="2200320"/>
            <a:ext cx="2948649" cy="638144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142"/>
          <p:cNvSpPr txBox="1"/>
          <p:nvPr/>
        </p:nvSpPr>
        <p:spPr>
          <a:xfrm>
            <a:off x="1086000" y="2257470"/>
            <a:ext cx="32286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steeper gradient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shows a faster rate of change of distance with respect to time therefore a greater speed.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143"/>
          <p:cNvSpPr txBox="1"/>
          <p:nvPr>
            <p:ph type="title"/>
          </p:nvPr>
        </p:nvSpPr>
        <p:spPr>
          <a:xfrm>
            <a:off x="324000" y="810000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graph represents Izzy’s journey to a friend’s house. How far did Izzy travel in total?</a:t>
            </a:r>
            <a:endParaRPr sz="2000"/>
          </a:p>
        </p:txBody>
      </p:sp>
      <p:pic>
        <p:nvPicPr>
          <p:cNvPr id="1807" name="Google Shape;1807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5112" y="1179964"/>
            <a:ext cx="3580087" cy="3611428"/>
          </a:xfrm>
          <a:prstGeom prst="rect">
            <a:avLst/>
          </a:prstGeom>
          <a:noFill/>
          <a:ln>
            <a:noFill/>
          </a:ln>
        </p:spPr>
      </p:pic>
      <p:sp>
        <p:nvSpPr>
          <p:cNvPr id="1808" name="Google Shape;1808;p1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809" name="Google Shape;1809;p143"/>
          <p:cNvSpPr txBox="1"/>
          <p:nvPr/>
        </p:nvSpPr>
        <p:spPr>
          <a:xfrm>
            <a:off x="6919131" y="4256223"/>
            <a:ext cx="1221900" cy="26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0" name="Google Shape;1810;p143"/>
          <p:cNvSpPr txBox="1"/>
          <p:nvPr/>
        </p:nvSpPr>
        <p:spPr>
          <a:xfrm rot="-5400000">
            <a:off x="3241450" y="2443155"/>
            <a:ext cx="26832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 from home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143"/>
          <p:cNvSpPr txBox="1"/>
          <p:nvPr/>
        </p:nvSpPr>
        <p:spPr>
          <a:xfrm>
            <a:off x="6278657" y="4601845"/>
            <a:ext cx="19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2" name="Google Shape;1812;p143"/>
          <p:cNvSpPr txBox="1"/>
          <p:nvPr/>
        </p:nvSpPr>
        <p:spPr>
          <a:xfrm>
            <a:off x="6824531" y="4601840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3" name="Google Shape;1813;p143"/>
          <p:cNvSpPr txBox="1"/>
          <p:nvPr/>
        </p:nvSpPr>
        <p:spPr>
          <a:xfrm>
            <a:off x="8112687" y="4619920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4" name="Google Shape;1814;p143"/>
          <p:cNvSpPr txBox="1"/>
          <p:nvPr/>
        </p:nvSpPr>
        <p:spPr>
          <a:xfrm>
            <a:off x="5692412" y="4601845"/>
            <a:ext cx="19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5" name="Google Shape;1815;p143"/>
          <p:cNvSpPr txBox="1"/>
          <p:nvPr/>
        </p:nvSpPr>
        <p:spPr>
          <a:xfrm>
            <a:off x="4766924" y="1179950"/>
            <a:ext cx="385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6" name="Google Shape;1816;p143"/>
          <p:cNvSpPr txBox="1"/>
          <p:nvPr/>
        </p:nvSpPr>
        <p:spPr>
          <a:xfrm>
            <a:off x="4781510" y="2268975"/>
            <a:ext cx="385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7" name="Google Shape;1817;p143"/>
          <p:cNvSpPr txBox="1"/>
          <p:nvPr/>
        </p:nvSpPr>
        <p:spPr>
          <a:xfrm>
            <a:off x="4781510" y="3358000"/>
            <a:ext cx="385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8" name="Google Shape;1818;p143"/>
          <p:cNvSpPr txBox="1"/>
          <p:nvPr/>
        </p:nvSpPr>
        <p:spPr>
          <a:xfrm>
            <a:off x="7444211" y="4601853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9" name="Google Shape;1819;p143"/>
          <p:cNvSpPr txBox="1"/>
          <p:nvPr>
            <p:ph idx="3" type="subTitle"/>
          </p:nvPr>
        </p:nvSpPr>
        <p:spPr>
          <a:xfrm>
            <a:off x="912198" y="1697277"/>
            <a:ext cx="1852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/>
              <a:t> metres</a:t>
            </a:r>
            <a:endParaRPr/>
          </a:p>
        </p:txBody>
      </p:sp>
      <p:sp>
        <p:nvSpPr>
          <p:cNvPr id="1820" name="Google Shape;1820;p143"/>
          <p:cNvSpPr txBox="1"/>
          <p:nvPr>
            <p:ph idx="3" type="subTitle"/>
          </p:nvPr>
        </p:nvSpPr>
        <p:spPr>
          <a:xfrm>
            <a:off x="912198" y="2482290"/>
            <a:ext cx="1852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300</a:t>
            </a:r>
            <a:r>
              <a:rPr lang="en-GB"/>
              <a:t> metres</a:t>
            </a:r>
            <a:endParaRPr/>
          </a:p>
        </p:txBody>
      </p:sp>
      <p:sp>
        <p:nvSpPr>
          <p:cNvPr id="1821" name="Google Shape;1821;p143"/>
          <p:cNvSpPr txBox="1"/>
          <p:nvPr>
            <p:ph idx="3" type="subTitle"/>
          </p:nvPr>
        </p:nvSpPr>
        <p:spPr>
          <a:xfrm>
            <a:off x="912198" y="3308984"/>
            <a:ext cx="1852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/>
              <a:t> metres</a:t>
            </a:r>
            <a:endParaRPr/>
          </a:p>
        </p:txBody>
      </p:sp>
      <p:sp>
        <p:nvSpPr>
          <p:cNvPr id="1822" name="Google Shape;1822;p143"/>
          <p:cNvSpPr txBox="1"/>
          <p:nvPr>
            <p:ph idx="3" type="subTitle"/>
          </p:nvPr>
        </p:nvSpPr>
        <p:spPr>
          <a:xfrm>
            <a:off x="912198" y="4128517"/>
            <a:ext cx="1852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600</a:t>
            </a:r>
            <a:r>
              <a:rPr lang="en-GB"/>
              <a:t> metres</a:t>
            </a:r>
            <a:endParaRPr/>
          </a:p>
        </p:txBody>
      </p:sp>
      <p:pic>
        <p:nvPicPr>
          <p:cNvPr id="1823" name="Google Shape;1823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6103" y="4139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4" name="Google Shape;1824;p143"/>
          <p:cNvSpPr txBox="1"/>
          <p:nvPr/>
        </p:nvSpPr>
        <p:spPr>
          <a:xfrm>
            <a:off x="3021173" y="4051743"/>
            <a:ext cx="16863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300 m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out and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300 m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back.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144"/>
          <p:cNvSpPr txBox="1"/>
          <p:nvPr>
            <p:ph idx="1" type="body"/>
          </p:nvPr>
        </p:nvSpPr>
        <p:spPr>
          <a:xfrm>
            <a:off x="324000" y="759300"/>
            <a:ext cx="849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Here is a distance time graph of a cycle ride that Jacob took.</a:t>
            </a:r>
            <a:endParaRPr sz="1900"/>
          </a:p>
        </p:txBody>
      </p:sp>
      <p:sp>
        <p:nvSpPr>
          <p:cNvPr id="1830" name="Google Shape;1830;p14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pic>
        <p:nvPicPr>
          <p:cNvPr id="1831" name="Google Shape;1831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325" y="1162199"/>
            <a:ext cx="5013200" cy="3154751"/>
          </a:xfrm>
          <a:prstGeom prst="rect">
            <a:avLst/>
          </a:prstGeom>
          <a:noFill/>
          <a:ln>
            <a:noFill/>
          </a:ln>
        </p:spPr>
      </p:pic>
      <p:sp>
        <p:nvSpPr>
          <p:cNvPr id="1832" name="Google Shape;1832;p144"/>
          <p:cNvSpPr txBox="1"/>
          <p:nvPr/>
        </p:nvSpPr>
        <p:spPr>
          <a:xfrm>
            <a:off x="7212424" y="4385609"/>
            <a:ext cx="1221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144"/>
          <p:cNvSpPr txBox="1"/>
          <p:nvPr/>
        </p:nvSpPr>
        <p:spPr>
          <a:xfrm rot="-5400000">
            <a:off x="2814707" y="1773235"/>
            <a:ext cx="15555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istance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km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144"/>
          <p:cNvSpPr txBox="1"/>
          <p:nvPr/>
        </p:nvSpPr>
        <p:spPr>
          <a:xfrm>
            <a:off x="4642965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5" name="Google Shape;1835;p144"/>
          <p:cNvSpPr txBox="1"/>
          <p:nvPr/>
        </p:nvSpPr>
        <p:spPr>
          <a:xfrm>
            <a:off x="3697796" y="112240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6" name="Google Shape;1836;p144"/>
          <p:cNvSpPr txBox="1"/>
          <p:nvPr/>
        </p:nvSpPr>
        <p:spPr>
          <a:xfrm>
            <a:off x="3697796" y="215468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7" name="Google Shape;1837;p144"/>
          <p:cNvSpPr txBox="1"/>
          <p:nvPr/>
        </p:nvSpPr>
        <p:spPr>
          <a:xfrm>
            <a:off x="3807323" y="3103600"/>
            <a:ext cx="1449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8" name="Google Shape;1838;p144"/>
          <p:cNvSpPr txBox="1"/>
          <p:nvPr/>
        </p:nvSpPr>
        <p:spPr>
          <a:xfrm>
            <a:off x="5416472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9" name="Google Shape;1839;p144"/>
          <p:cNvSpPr txBox="1"/>
          <p:nvPr/>
        </p:nvSpPr>
        <p:spPr>
          <a:xfrm>
            <a:off x="6220152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0" name="Google Shape;1840;p144"/>
          <p:cNvSpPr txBox="1"/>
          <p:nvPr/>
        </p:nvSpPr>
        <p:spPr>
          <a:xfrm>
            <a:off x="7005165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1" name="Google Shape;1841;p144"/>
          <p:cNvSpPr txBox="1"/>
          <p:nvPr/>
        </p:nvSpPr>
        <p:spPr>
          <a:xfrm>
            <a:off x="7713983" y="4186318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2" name="Google Shape;1842;p144"/>
          <p:cNvSpPr txBox="1"/>
          <p:nvPr/>
        </p:nvSpPr>
        <p:spPr>
          <a:xfrm>
            <a:off x="8452970" y="4186318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3" name="Google Shape;1843;p144"/>
          <p:cNvSpPr txBox="1"/>
          <p:nvPr>
            <p:ph idx="1" type="body"/>
          </p:nvPr>
        </p:nvSpPr>
        <p:spPr>
          <a:xfrm>
            <a:off x="324000" y="1094285"/>
            <a:ext cx="3045600" cy="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r>
              <a:rPr lang="en-GB" sz="1800"/>
              <a:t>) How far away was he at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1800"/>
              <a:t> minutes?</a:t>
            </a:r>
            <a:endParaRPr sz="1800"/>
          </a:p>
        </p:txBody>
      </p:sp>
      <p:sp>
        <p:nvSpPr>
          <p:cNvPr id="1844" name="Google Shape;1844;p144"/>
          <p:cNvSpPr txBox="1"/>
          <p:nvPr>
            <p:ph idx="1" type="body"/>
          </p:nvPr>
        </p:nvSpPr>
        <p:spPr>
          <a:xfrm>
            <a:off x="324000" y="1757071"/>
            <a:ext cx="3045600" cy="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What happened on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800"/>
              <a:t> minutes?</a:t>
            </a:r>
            <a:endParaRPr sz="1800"/>
          </a:p>
        </p:txBody>
      </p:sp>
      <p:sp>
        <p:nvSpPr>
          <p:cNvPr id="1845" name="Google Shape;1845;p144"/>
          <p:cNvSpPr txBox="1"/>
          <p:nvPr>
            <p:ph idx="1" type="body"/>
          </p:nvPr>
        </p:nvSpPr>
        <p:spPr>
          <a:xfrm>
            <a:off x="324000" y="2431365"/>
            <a:ext cx="3045600" cy="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At what time did Jacob start to return home?</a:t>
            </a:r>
            <a:endParaRPr sz="1800"/>
          </a:p>
        </p:txBody>
      </p:sp>
      <p:sp>
        <p:nvSpPr>
          <p:cNvPr id="1846" name="Google Shape;1846;p144"/>
          <p:cNvSpPr txBox="1"/>
          <p:nvPr>
            <p:ph idx="1" type="body"/>
          </p:nvPr>
        </p:nvSpPr>
        <p:spPr>
          <a:xfrm>
            <a:off x="324000" y="3086991"/>
            <a:ext cx="3045600" cy="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 How far did Jacob cycle in total?</a:t>
            </a:r>
            <a:endParaRPr sz="1800"/>
          </a:p>
        </p:txBody>
      </p:sp>
      <p:sp>
        <p:nvSpPr>
          <p:cNvPr id="1847" name="Google Shape;1847;p144"/>
          <p:cNvSpPr txBox="1"/>
          <p:nvPr>
            <p:ph idx="1" type="body"/>
          </p:nvPr>
        </p:nvSpPr>
        <p:spPr>
          <a:xfrm>
            <a:off x="324000" y="3715230"/>
            <a:ext cx="3483300" cy="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e) Was Jacob’s furthest point from home the high point, or low point, in altitude of this cycle?</a:t>
            </a:r>
            <a:endParaRPr sz="1800"/>
          </a:p>
        </p:txBody>
      </p:sp>
      <p:sp>
        <p:nvSpPr>
          <p:cNvPr id="1848" name="Google Shape;1848;p144"/>
          <p:cNvSpPr txBox="1"/>
          <p:nvPr>
            <p:ph idx="1" type="body"/>
          </p:nvPr>
        </p:nvSpPr>
        <p:spPr>
          <a:xfrm>
            <a:off x="1112825" y="4541924"/>
            <a:ext cx="53616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Write a sentence to justify your answer.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145"/>
          <p:cNvSpPr txBox="1"/>
          <p:nvPr>
            <p:ph idx="4294967295" type="body"/>
          </p:nvPr>
        </p:nvSpPr>
        <p:spPr>
          <a:xfrm>
            <a:off x="324000" y="79382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</a:t>
            </a:r>
            <a:r>
              <a:rPr lang="en-GB" sz="1900"/>
              <a:t>Alex shows you a distance time graph which he drew before this lesson.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He now knows there are moments in it which can not be true.</a:t>
            </a:r>
            <a:endParaRPr sz="1900"/>
          </a:p>
        </p:txBody>
      </p:sp>
      <p:sp>
        <p:nvSpPr>
          <p:cNvPr id="1854" name="Google Shape;1854;p145"/>
          <p:cNvSpPr txBox="1"/>
          <p:nvPr/>
        </p:nvSpPr>
        <p:spPr>
          <a:xfrm>
            <a:off x="6891300" y="4562834"/>
            <a:ext cx="12615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5" name="Google Shape;1855;p145"/>
          <p:cNvSpPr txBox="1"/>
          <p:nvPr/>
        </p:nvSpPr>
        <p:spPr>
          <a:xfrm rot="-5400000">
            <a:off x="3917937" y="2949980"/>
            <a:ext cx="2770200" cy="35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istance from home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6" name="Google Shape;1856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5146" y="1645204"/>
            <a:ext cx="777007" cy="8960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7" name="Google Shape;1857;p145"/>
          <p:cNvCxnSpPr/>
          <p:nvPr/>
        </p:nvCxnSpPr>
        <p:spPr>
          <a:xfrm rot="10800000">
            <a:off x="5577975" y="2056425"/>
            <a:ext cx="0" cy="250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8" name="Google Shape;1858;p145"/>
          <p:cNvCxnSpPr/>
          <p:nvPr/>
        </p:nvCxnSpPr>
        <p:spPr>
          <a:xfrm flipH="1" rot="10800000">
            <a:off x="5592325" y="3803625"/>
            <a:ext cx="460200" cy="759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9" name="Google Shape;1859;p145"/>
          <p:cNvCxnSpPr/>
          <p:nvPr/>
        </p:nvCxnSpPr>
        <p:spPr>
          <a:xfrm rot="10800000">
            <a:off x="6052525" y="3803500"/>
            <a:ext cx="636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0" name="Google Shape;1860;p145"/>
          <p:cNvCxnSpPr/>
          <p:nvPr/>
        </p:nvCxnSpPr>
        <p:spPr>
          <a:xfrm rot="10800000">
            <a:off x="6665675" y="3343325"/>
            <a:ext cx="2700" cy="463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1" name="Google Shape;1861;p145"/>
          <p:cNvCxnSpPr/>
          <p:nvPr/>
        </p:nvCxnSpPr>
        <p:spPr>
          <a:xfrm>
            <a:off x="6663175" y="3360150"/>
            <a:ext cx="605100" cy="375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2" name="Google Shape;1862;p145"/>
          <p:cNvCxnSpPr/>
          <p:nvPr/>
        </p:nvCxnSpPr>
        <p:spPr>
          <a:xfrm flipH="1" rot="10800000">
            <a:off x="7249762" y="3197337"/>
            <a:ext cx="319200" cy="520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3" name="Google Shape;1863;p145"/>
          <p:cNvCxnSpPr/>
          <p:nvPr/>
        </p:nvCxnSpPr>
        <p:spPr>
          <a:xfrm rot="10800000">
            <a:off x="6197387" y="2370618"/>
            <a:ext cx="1352400" cy="838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4" name="Google Shape;1864;p145"/>
          <p:cNvCxnSpPr/>
          <p:nvPr/>
        </p:nvCxnSpPr>
        <p:spPr>
          <a:xfrm>
            <a:off x="5577975" y="4542030"/>
            <a:ext cx="28104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5" name="Google Shape;1865;p145"/>
          <p:cNvCxnSpPr/>
          <p:nvPr/>
        </p:nvCxnSpPr>
        <p:spPr>
          <a:xfrm rot="10800000">
            <a:off x="6227882" y="2385725"/>
            <a:ext cx="1576800" cy="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6" name="Google Shape;1866;p145"/>
          <p:cNvCxnSpPr/>
          <p:nvPr/>
        </p:nvCxnSpPr>
        <p:spPr>
          <a:xfrm rot="10800000">
            <a:off x="7797180" y="2387225"/>
            <a:ext cx="18000" cy="2164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7" name="Google Shape;1867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868" name="Google Shape;1868;p145"/>
          <p:cNvSpPr txBox="1"/>
          <p:nvPr/>
        </p:nvSpPr>
        <p:spPr>
          <a:xfrm>
            <a:off x="346200" y="2079425"/>
            <a:ext cx="4477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For each labelled moment declare if that moment is possible or impossible and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a sentence explaining why.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145"/>
          <p:cNvSpPr txBox="1"/>
          <p:nvPr/>
        </p:nvSpPr>
        <p:spPr>
          <a:xfrm>
            <a:off x="6266687" y="3798587"/>
            <a:ext cx="25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a)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0" name="Google Shape;1870;p145"/>
          <p:cNvSpPr txBox="1"/>
          <p:nvPr/>
        </p:nvSpPr>
        <p:spPr>
          <a:xfrm>
            <a:off x="6388913" y="3398920"/>
            <a:ext cx="25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b)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1" name="Google Shape;1871;p145"/>
          <p:cNvSpPr txBox="1"/>
          <p:nvPr/>
        </p:nvSpPr>
        <p:spPr>
          <a:xfrm>
            <a:off x="6899300" y="3235013"/>
            <a:ext cx="25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c)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145"/>
          <p:cNvSpPr txBox="1"/>
          <p:nvPr/>
        </p:nvSpPr>
        <p:spPr>
          <a:xfrm>
            <a:off x="6693713" y="2759147"/>
            <a:ext cx="25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d)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3" name="Google Shape;1873;p145"/>
          <p:cNvSpPr txBox="1"/>
          <p:nvPr/>
        </p:nvSpPr>
        <p:spPr>
          <a:xfrm>
            <a:off x="7836713" y="3227854"/>
            <a:ext cx="25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e)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146"/>
          <p:cNvSpPr txBox="1"/>
          <p:nvPr>
            <p:ph idx="1" type="body"/>
          </p:nvPr>
        </p:nvSpPr>
        <p:spPr>
          <a:xfrm>
            <a:off x="324000" y="759300"/>
            <a:ext cx="7641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Here is a distance time graph of a cycle ride that Jacob took.</a:t>
            </a:r>
            <a:endParaRPr sz="1900"/>
          </a:p>
        </p:txBody>
      </p:sp>
      <p:sp>
        <p:nvSpPr>
          <p:cNvPr id="1879" name="Google Shape;1879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pic>
        <p:nvPicPr>
          <p:cNvPr id="1880" name="Google Shape;1880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325" y="1162199"/>
            <a:ext cx="5013200" cy="3154751"/>
          </a:xfrm>
          <a:prstGeom prst="rect">
            <a:avLst/>
          </a:prstGeom>
          <a:noFill/>
          <a:ln>
            <a:noFill/>
          </a:ln>
        </p:spPr>
      </p:pic>
      <p:sp>
        <p:nvSpPr>
          <p:cNvPr id="1881" name="Google Shape;1881;p146"/>
          <p:cNvSpPr txBox="1"/>
          <p:nvPr/>
        </p:nvSpPr>
        <p:spPr>
          <a:xfrm>
            <a:off x="7212424" y="4385609"/>
            <a:ext cx="1221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146"/>
          <p:cNvSpPr txBox="1"/>
          <p:nvPr/>
        </p:nvSpPr>
        <p:spPr>
          <a:xfrm rot="-5400000">
            <a:off x="2814707" y="1773235"/>
            <a:ext cx="15555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istance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km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146"/>
          <p:cNvSpPr txBox="1"/>
          <p:nvPr/>
        </p:nvSpPr>
        <p:spPr>
          <a:xfrm>
            <a:off x="4642965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4" name="Google Shape;1884;p146"/>
          <p:cNvSpPr txBox="1"/>
          <p:nvPr/>
        </p:nvSpPr>
        <p:spPr>
          <a:xfrm>
            <a:off x="3697796" y="112240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5" name="Google Shape;1885;p146"/>
          <p:cNvSpPr txBox="1"/>
          <p:nvPr/>
        </p:nvSpPr>
        <p:spPr>
          <a:xfrm>
            <a:off x="3697796" y="215468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6" name="Google Shape;1886;p146"/>
          <p:cNvSpPr txBox="1"/>
          <p:nvPr/>
        </p:nvSpPr>
        <p:spPr>
          <a:xfrm>
            <a:off x="3807323" y="3103600"/>
            <a:ext cx="1449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7" name="Google Shape;1887;p146"/>
          <p:cNvSpPr txBox="1"/>
          <p:nvPr/>
        </p:nvSpPr>
        <p:spPr>
          <a:xfrm>
            <a:off x="5416472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8" name="Google Shape;1888;p146"/>
          <p:cNvSpPr txBox="1"/>
          <p:nvPr/>
        </p:nvSpPr>
        <p:spPr>
          <a:xfrm>
            <a:off x="6220152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9" name="Google Shape;1889;p146"/>
          <p:cNvSpPr txBox="1"/>
          <p:nvPr/>
        </p:nvSpPr>
        <p:spPr>
          <a:xfrm>
            <a:off x="7005165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0" name="Google Shape;1890;p146"/>
          <p:cNvSpPr txBox="1"/>
          <p:nvPr/>
        </p:nvSpPr>
        <p:spPr>
          <a:xfrm>
            <a:off x="7713983" y="4186318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1" name="Google Shape;1891;p146"/>
          <p:cNvSpPr txBox="1"/>
          <p:nvPr/>
        </p:nvSpPr>
        <p:spPr>
          <a:xfrm>
            <a:off x="8452970" y="4186318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2" name="Google Shape;1892;p146"/>
          <p:cNvSpPr txBox="1"/>
          <p:nvPr>
            <p:ph idx="1" type="body"/>
          </p:nvPr>
        </p:nvSpPr>
        <p:spPr>
          <a:xfrm>
            <a:off x="324000" y="1170485"/>
            <a:ext cx="3045600" cy="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How far away was he at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1800"/>
              <a:t> minutes?</a:t>
            </a:r>
            <a:endParaRPr sz="1800"/>
          </a:p>
        </p:txBody>
      </p:sp>
      <p:sp>
        <p:nvSpPr>
          <p:cNvPr id="1893" name="Google Shape;1893;p146"/>
          <p:cNvSpPr txBox="1"/>
          <p:nvPr>
            <p:ph idx="1" type="body"/>
          </p:nvPr>
        </p:nvSpPr>
        <p:spPr>
          <a:xfrm>
            <a:off x="324000" y="1909471"/>
            <a:ext cx="3045600" cy="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What happened on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 sz="1800"/>
              <a:t> minutes?</a:t>
            </a:r>
            <a:endParaRPr sz="1800"/>
          </a:p>
        </p:txBody>
      </p:sp>
      <p:sp>
        <p:nvSpPr>
          <p:cNvPr id="1894" name="Google Shape;1894;p146"/>
          <p:cNvSpPr txBox="1"/>
          <p:nvPr>
            <p:ph idx="1" type="body"/>
          </p:nvPr>
        </p:nvSpPr>
        <p:spPr>
          <a:xfrm>
            <a:off x="324000" y="2736165"/>
            <a:ext cx="3045600" cy="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At what time did Jacob start to return home?</a:t>
            </a:r>
            <a:endParaRPr sz="1800"/>
          </a:p>
        </p:txBody>
      </p:sp>
      <p:sp>
        <p:nvSpPr>
          <p:cNvPr id="1895" name="Google Shape;1895;p146"/>
          <p:cNvSpPr txBox="1"/>
          <p:nvPr/>
        </p:nvSpPr>
        <p:spPr>
          <a:xfrm>
            <a:off x="2030575" y="1460950"/>
            <a:ext cx="932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6" name="Google Shape;1896;p146"/>
          <p:cNvSpPr txBox="1"/>
          <p:nvPr/>
        </p:nvSpPr>
        <p:spPr>
          <a:xfrm>
            <a:off x="5037373" y="2290172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7" name="Google Shape;1897;p146"/>
          <p:cNvSpPr txBox="1"/>
          <p:nvPr/>
        </p:nvSpPr>
        <p:spPr>
          <a:xfrm>
            <a:off x="4295103" y="2170550"/>
            <a:ext cx="7392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(30, 9)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8" name="Google Shape;1898;p146"/>
          <p:cNvSpPr txBox="1"/>
          <p:nvPr/>
        </p:nvSpPr>
        <p:spPr>
          <a:xfrm>
            <a:off x="1485668" y="2234450"/>
            <a:ext cx="1924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minute stop.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9" name="Google Shape;1899;p146"/>
          <p:cNvSpPr/>
          <p:nvPr/>
        </p:nvSpPr>
        <p:spPr>
          <a:xfrm>
            <a:off x="5385475" y="1741345"/>
            <a:ext cx="739200" cy="3246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146"/>
          <p:cNvSpPr txBox="1"/>
          <p:nvPr/>
        </p:nvSpPr>
        <p:spPr>
          <a:xfrm>
            <a:off x="1485668" y="3301238"/>
            <a:ext cx="1722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minutes.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1" name="Google Shape;1901;p146"/>
          <p:cNvSpPr txBox="1"/>
          <p:nvPr/>
        </p:nvSpPr>
        <p:spPr>
          <a:xfrm>
            <a:off x="7399573" y="116583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2" name="Google Shape;1902;p146"/>
          <p:cNvSpPr txBox="1"/>
          <p:nvPr/>
        </p:nvSpPr>
        <p:spPr>
          <a:xfrm>
            <a:off x="7689580" y="1152598"/>
            <a:ext cx="816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(90, 15)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3" name="Google Shape;1903;p146"/>
          <p:cNvSpPr txBox="1"/>
          <p:nvPr>
            <p:ph idx="1" type="body"/>
          </p:nvPr>
        </p:nvSpPr>
        <p:spPr>
          <a:xfrm>
            <a:off x="324000" y="3696591"/>
            <a:ext cx="3045600" cy="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How far did Jacob cycle in total?</a:t>
            </a:r>
            <a:endParaRPr sz="1800"/>
          </a:p>
        </p:txBody>
      </p:sp>
      <p:sp>
        <p:nvSpPr>
          <p:cNvPr id="1904" name="Google Shape;1904;p146"/>
          <p:cNvSpPr txBox="1"/>
          <p:nvPr/>
        </p:nvSpPr>
        <p:spPr>
          <a:xfrm>
            <a:off x="1485668" y="4058910"/>
            <a:ext cx="3123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km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out and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km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back.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147"/>
          <p:cNvSpPr txBox="1"/>
          <p:nvPr>
            <p:ph idx="1" type="body"/>
          </p:nvPr>
        </p:nvSpPr>
        <p:spPr>
          <a:xfrm>
            <a:off x="324000" y="759300"/>
            <a:ext cx="7641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Here is a distance time graph of a cycle ride that Jacob took.</a:t>
            </a:r>
            <a:endParaRPr sz="1900"/>
          </a:p>
        </p:txBody>
      </p:sp>
      <p:sp>
        <p:nvSpPr>
          <p:cNvPr id="1910" name="Google Shape;1910;p1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pic>
        <p:nvPicPr>
          <p:cNvPr id="1911" name="Google Shape;1911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325" y="1162199"/>
            <a:ext cx="5013200" cy="3154751"/>
          </a:xfrm>
          <a:prstGeom prst="rect">
            <a:avLst/>
          </a:prstGeom>
          <a:noFill/>
          <a:ln>
            <a:noFill/>
          </a:ln>
        </p:spPr>
      </p:pic>
      <p:sp>
        <p:nvSpPr>
          <p:cNvPr id="1912" name="Google Shape;1912;p147"/>
          <p:cNvSpPr txBox="1"/>
          <p:nvPr/>
        </p:nvSpPr>
        <p:spPr>
          <a:xfrm>
            <a:off x="7212424" y="4385609"/>
            <a:ext cx="1221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3" name="Google Shape;1913;p147"/>
          <p:cNvSpPr txBox="1"/>
          <p:nvPr/>
        </p:nvSpPr>
        <p:spPr>
          <a:xfrm rot="-5400000">
            <a:off x="2814707" y="1773235"/>
            <a:ext cx="15555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istance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km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147"/>
          <p:cNvSpPr txBox="1"/>
          <p:nvPr/>
        </p:nvSpPr>
        <p:spPr>
          <a:xfrm>
            <a:off x="4642965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5" name="Google Shape;1915;p147"/>
          <p:cNvSpPr txBox="1"/>
          <p:nvPr/>
        </p:nvSpPr>
        <p:spPr>
          <a:xfrm>
            <a:off x="3697796" y="112240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6" name="Google Shape;1916;p147"/>
          <p:cNvSpPr txBox="1"/>
          <p:nvPr/>
        </p:nvSpPr>
        <p:spPr>
          <a:xfrm>
            <a:off x="3697796" y="215468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7" name="Google Shape;1917;p147"/>
          <p:cNvSpPr txBox="1"/>
          <p:nvPr/>
        </p:nvSpPr>
        <p:spPr>
          <a:xfrm>
            <a:off x="3807323" y="3103600"/>
            <a:ext cx="1449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8" name="Google Shape;1918;p147"/>
          <p:cNvSpPr txBox="1"/>
          <p:nvPr/>
        </p:nvSpPr>
        <p:spPr>
          <a:xfrm>
            <a:off x="5416472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9" name="Google Shape;1919;p147"/>
          <p:cNvSpPr txBox="1"/>
          <p:nvPr/>
        </p:nvSpPr>
        <p:spPr>
          <a:xfrm>
            <a:off x="6220152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0" name="Google Shape;1920;p147"/>
          <p:cNvSpPr txBox="1"/>
          <p:nvPr/>
        </p:nvSpPr>
        <p:spPr>
          <a:xfrm>
            <a:off x="7005165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1" name="Google Shape;1921;p147"/>
          <p:cNvSpPr txBox="1"/>
          <p:nvPr/>
        </p:nvSpPr>
        <p:spPr>
          <a:xfrm>
            <a:off x="7713983" y="4186318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2" name="Google Shape;1922;p147"/>
          <p:cNvSpPr txBox="1"/>
          <p:nvPr/>
        </p:nvSpPr>
        <p:spPr>
          <a:xfrm>
            <a:off x="8452970" y="4186318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3" name="Google Shape;1923;p147"/>
          <p:cNvSpPr txBox="1"/>
          <p:nvPr/>
        </p:nvSpPr>
        <p:spPr>
          <a:xfrm>
            <a:off x="338329" y="1144625"/>
            <a:ext cx="3031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high point.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written: “The gradient on the journey home is the steepest part of the graph which tells us it is the highest speed.”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24" name="Google Shape;1924;p147"/>
          <p:cNvCxnSpPr/>
          <p:nvPr/>
        </p:nvCxnSpPr>
        <p:spPr>
          <a:xfrm>
            <a:off x="7670963" y="1322397"/>
            <a:ext cx="1122900" cy="2670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5" name="Google Shape;1925;p147"/>
          <p:cNvSpPr txBox="1"/>
          <p:nvPr>
            <p:ph idx="1" type="body"/>
          </p:nvPr>
        </p:nvSpPr>
        <p:spPr>
          <a:xfrm>
            <a:off x="324000" y="3715230"/>
            <a:ext cx="3483300" cy="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e) Was Jacob’s furthest point from home the high point, or low point, in altitude of this cycle?</a:t>
            </a:r>
            <a:endParaRPr sz="1800"/>
          </a:p>
        </p:txBody>
      </p:sp>
      <p:sp>
        <p:nvSpPr>
          <p:cNvPr id="1926" name="Google Shape;1926;p147"/>
          <p:cNvSpPr txBox="1"/>
          <p:nvPr>
            <p:ph idx="1" type="body"/>
          </p:nvPr>
        </p:nvSpPr>
        <p:spPr>
          <a:xfrm>
            <a:off x="1112825" y="4541924"/>
            <a:ext cx="53616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Write a sentence to justify your answer.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148"/>
          <p:cNvSpPr txBox="1"/>
          <p:nvPr>
            <p:ph idx="1" type="body"/>
          </p:nvPr>
        </p:nvSpPr>
        <p:spPr>
          <a:xfrm>
            <a:off x="324000" y="759300"/>
            <a:ext cx="7641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Here is a distance time graph of a cycle ride that Jacob took.</a:t>
            </a:r>
            <a:endParaRPr sz="1900"/>
          </a:p>
        </p:txBody>
      </p:sp>
      <p:sp>
        <p:nvSpPr>
          <p:cNvPr id="1932" name="Google Shape;1932;p1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pic>
        <p:nvPicPr>
          <p:cNvPr id="1933" name="Google Shape;1933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325" y="1162199"/>
            <a:ext cx="5013200" cy="31547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4" name="Google Shape;1934;p148"/>
          <p:cNvSpPr txBox="1"/>
          <p:nvPr/>
        </p:nvSpPr>
        <p:spPr>
          <a:xfrm>
            <a:off x="7212424" y="4385609"/>
            <a:ext cx="1221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148"/>
          <p:cNvSpPr txBox="1"/>
          <p:nvPr/>
        </p:nvSpPr>
        <p:spPr>
          <a:xfrm rot="-5400000">
            <a:off x="2814707" y="1773235"/>
            <a:ext cx="15555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istance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km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6" name="Google Shape;1936;p148"/>
          <p:cNvSpPr txBox="1"/>
          <p:nvPr/>
        </p:nvSpPr>
        <p:spPr>
          <a:xfrm>
            <a:off x="4642965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7" name="Google Shape;1937;p148"/>
          <p:cNvSpPr txBox="1"/>
          <p:nvPr/>
        </p:nvSpPr>
        <p:spPr>
          <a:xfrm>
            <a:off x="3697796" y="112240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8" name="Google Shape;1938;p148"/>
          <p:cNvSpPr txBox="1"/>
          <p:nvPr/>
        </p:nvSpPr>
        <p:spPr>
          <a:xfrm>
            <a:off x="3697796" y="215468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9" name="Google Shape;1939;p148"/>
          <p:cNvSpPr txBox="1"/>
          <p:nvPr/>
        </p:nvSpPr>
        <p:spPr>
          <a:xfrm>
            <a:off x="3807323" y="3103600"/>
            <a:ext cx="1449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0" name="Google Shape;1940;p148"/>
          <p:cNvSpPr txBox="1"/>
          <p:nvPr/>
        </p:nvSpPr>
        <p:spPr>
          <a:xfrm>
            <a:off x="5416472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1" name="Google Shape;1941;p148"/>
          <p:cNvSpPr txBox="1"/>
          <p:nvPr/>
        </p:nvSpPr>
        <p:spPr>
          <a:xfrm>
            <a:off x="6220152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2" name="Google Shape;1942;p148"/>
          <p:cNvSpPr txBox="1"/>
          <p:nvPr/>
        </p:nvSpPr>
        <p:spPr>
          <a:xfrm>
            <a:off x="7005165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3" name="Google Shape;1943;p148"/>
          <p:cNvSpPr txBox="1"/>
          <p:nvPr/>
        </p:nvSpPr>
        <p:spPr>
          <a:xfrm>
            <a:off x="7713983" y="4186318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4" name="Google Shape;1944;p148"/>
          <p:cNvSpPr txBox="1"/>
          <p:nvPr/>
        </p:nvSpPr>
        <p:spPr>
          <a:xfrm>
            <a:off x="8452970" y="4186318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5" name="Google Shape;1945;p148"/>
          <p:cNvSpPr txBox="1"/>
          <p:nvPr/>
        </p:nvSpPr>
        <p:spPr>
          <a:xfrm>
            <a:off x="338329" y="1144625"/>
            <a:ext cx="3031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high point.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written: “Jacob has a break on the way there but, not on the way back. This would suggest the route back was easier (i.e. downhill)”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6" name="Google Shape;1946;p148"/>
          <p:cNvSpPr txBox="1"/>
          <p:nvPr>
            <p:ph idx="1" type="body"/>
          </p:nvPr>
        </p:nvSpPr>
        <p:spPr>
          <a:xfrm>
            <a:off x="324000" y="3715230"/>
            <a:ext cx="3483300" cy="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e) Was Jacob’s furthest point from home the high point, or low point, in altitude of this cycle?</a:t>
            </a:r>
            <a:endParaRPr sz="1800"/>
          </a:p>
        </p:txBody>
      </p:sp>
      <p:sp>
        <p:nvSpPr>
          <p:cNvPr id="1947" name="Google Shape;1947;p148"/>
          <p:cNvSpPr txBox="1"/>
          <p:nvPr>
            <p:ph idx="1" type="body"/>
          </p:nvPr>
        </p:nvSpPr>
        <p:spPr>
          <a:xfrm>
            <a:off x="1112825" y="4541924"/>
            <a:ext cx="53616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Write a sentence to justify your answer.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149"/>
          <p:cNvSpPr txBox="1"/>
          <p:nvPr>
            <p:ph idx="1" type="body"/>
          </p:nvPr>
        </p:nvSpPr>
        <p:spPr>
          <a:xfrm>
            <a:off x="324000" y="759300"/>
            <a:ext cx="7641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Here is a distance time graph of a cycle ride that Jacob took.</a:t>
            </a:r>
            <a:endParaRPr sz="1900"/>
          </a:p>
        </p:txBody>
      </p:sp>
      <p:sp>
        <p:nvSpPr>
          <p:cNvPr id="1953" name="Google Shape;1953;p1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pic>
        <p:nvPicPr>
          <p:cNvPr id="1954" name="Google Shape;1954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325" y="1162199"/>
            <a:ext cx="5013200" cy="3154751"/>
          </a:xfrm>
          <a:prstGeom prst="rect">
            <a:avLst/>
          </a:prstGeom>
          <a:noFill/>
          <a:ln>
            <a:noFill/>
          </a:ln>
        </p:spPr>
      </p:pic>
      <p:sp>
        <p:nvSpPr>
          <p:cNvPr id="1955" name="Google Shape;1955;p149"/>
          <p:cNvSpPr txBox="1"/>
          <p:nvPr/>
        </p:nvSpPr>
        <p:spPr>
          <a:xfrm>
            <a:off x="7212424" y="4385609"/>
            <a:ext cx="1221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49"/>
          <p:cNvSpPr txBox="1"/>
          <p:nvPr/>
        </p:nvSpPr>
        <p:spPr>
          <a:xfrm rot="-5400000">
            <a:off x="2814707" y="1773235"/>
            <a:ext cx="15555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istance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km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7" name="Google Shape;1957;p149"/>
          <p:cNvSpPr txBox="1"/>
          <p:nvPr/>
        </p:nvSpPr>
        <p:spPr>
          <a:xfrm>
            <a:off x="4642965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8" name="Google Shape;1958;p149"/>
          <p:cNvSpPr txBox="1"/>
          <p:nvPr/>
        </p:nvSpPr>
        <p:spPr>
          <a:xfrm>
            <a:off x="3697796" y="112240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9" name="Google Shape;1959;p149"/>
          <p:cNvSpPr txBox="1"/>
          <p:nvPr/>
        </p:nvSpPr>
        <p:spPr>
          <a:xfrm>
            <a:off x="3697796" y="215468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0" name="Google Shape;1960;p149"/>
          <p:cNvSpPr txBox="1"/>
          <p:nvPr/>
        </p:nvSpPr>
        <p:spPr>
          <a:xfrm>
            <a:off x="3807323" y="3103600"/>
            <a:ext cx="1449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1" name="Google Shape;1961;p149"/>
          <p:cNvSpPr txBox="1"/>
          <p:nvPr/>
        </p:nvSpPr>
        <p:spPr>
          <a:xfrm>
            <a:off x="5416472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2" name="Google Shape;1962;p149"/>
          <p:cNvSpPr txBox="1"/>
          <p:nvPr/>
        </p:nvSpPr>
        <p:spPr>
          <a:xfrm>
            <a:off x="6220152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3" name="Google Shape;1963;p149"/>
          <p:cNvSpPr txBox="1"/>
          <p:nvPr/>
        </p:nvSpPr>
        <p:spPr>
          <a:xfrm>
            <a:off x="7005165" y="4186318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4" name="Google Shape;1964;p149"/>
          <p:cNvSpPr txBox="1"/>
          <p:nvPr/>
        </p:nvSpPr>
        <p:spPr>
          <a:xfrm>
            <a:off x="7713983" y="4186318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5" name="Google Shape;1965;p149"/>
          <p:cNvSpPr txBox="1"/>
          <p:nvPr/>
        </p:nvSpPr>
        <p:spPr>
          <a:xfrm>
            <a:off x="8452970" y="4186318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6" name="Google Shape;1966;p149"/>
          <p:cNvSpPr txBox="1"/>
          <p:nvPr/>
        </p:nvSpPr>
        <p:spPr>
          <a:xfrm>
            <a:off x="338326" y="1220825"/>
            <a:ext cx="2548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were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not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allowed to write: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“The return journey is going downhill on the graph”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7" name="Google Shape;1967;p149"/>
          <p:cNvSpPr txBox="1"/>
          <p:nvPr>
            <p:ph idx="1" type="body"/>
          </p:nvPr>
        </p:nvSpPr>
        <p:spPr>
          <a:xfrm>
            <a:off x="324000" y="3715230"/>
            <a:ext cx="3483300" cy="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e) Was Jacob’s furthest point from home the high point, or low point, in altitude of this cycle?</a:t>
            </a:r>
            <a:endParaRPr sz="1800"/>
          </a:p>
        </p:txBody>
      </p:sp>
      <p:sp>
        <p:nvSpPr>
          <p:cNvPr id="1968" name="Google Shape;1968;p149"/>
          <p:cNvSpPr txBox="1"/>
          <p:nvPr>
            <p:ph idx="1" type="body"/>
          </p:nvPr>
        </p:nvSpPr>
        <p:spPr>
          <a:xfrm>
            <a:off x="1112825" y="4541924"/>
            <a:ext cx="53616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Write a sentence to justify your answer.</a:t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p150"/>
          <p:cNvSpPr txBox="1"/>
          <p:nvPr/>
        </p:nvSpPr>
        <p:spPr>
          <a:xfrm>
            <a:off x="346100" y="1535600"/>
            <a:ext cx="4477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For each labelled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moment declare if that moment is possible or impossible and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a sentence explaining why.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150"/>
          <p:cNvSpPr txBox="1"/>
          <p:nvPr>
            <p:ph idx="4294967295" type="body"/>
          </p:nvPr>
        </p:nvSpPr>
        <p:spPr>
          <a:xfrm>
            <a:off x="324000" y="79382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Alex shows you a distance time graph which he drew before this lesson. He now knows there are moments in it which can not be true.</a:t>
            </a:r>
            <a:endParaRPr sz="1900"/>
          </a:p>
        </p:txBody>
      </p:sp>
      <p:sp>
        <p:nvSpPr>
          <p:cNvPr id="1975" name="Google Shape;1975;p150"/>
          <p:cNvSpPr txBox="1"/>
          <p:nvPr/>
        </p:nvSpPr>
        <p:spPr>
          <a:xfrm>
            <a:off x="6891300" y="4562834"/>
            <a:ext cx="1261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50"/>
          <p:cNvSpPr txBox="1"/>
          <p:nvPr/>
        </p:nvSpPr>
        <p:spPr>
          <a:xfrm rot="-5400000">
            <a:off x="3929443" y="2938473"/>
            <a:ext cx="2770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istance from home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7" name="Google Shape;1977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5146" y="1645204"/>
            <a:ext cx="777007" cy="8960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8" name="Google Shape;1978;p150"/>
          <p:cNvCxnSpPr/>
          <p:nvPr/>
        </p:nvCxnSpPr>
        <p:spPr>
          <a:xfrm rot="10800000">
            <a:off x="5577975" y="2056425"/>
            <a:ext cx="0" cy="250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9" name="Google Shape;1979;p150"/>
          <p:cNvCxnSpPr/>
          <p:nvPr/>
        </p:nvCxnSpPr>
        <p:spPr>
          <a:xfrm flipH="1" rot="10800000">
            <a:off x="5592325" y="3803625"/>
            <a:ext cx="460200" cy="759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0" name="Google Shape;1980;p150"/>
          <p:cNvCxnSpPr/>
          <p:nvPr/>
        </p:nvCxnSpPr>
        <p:spPr>
          <a:xfrm rot="10800000">
            <a:off x="6052525" y="3803500"/>
            <a:ext cx="636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1" name="Google Shape;1981;p150"/>
          <p:cNvCxnSpPr/>
          <p:nvPr/>
        </p:nvCxnSpPr>
        <p:spPr>
          <a:xfrm rot="10800000">
            <a:off x="6665675" y="3343325"/>
            <a:ext cx="2700" cy="463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2" name="Google Shape;1982;p150"/>
          <p:cNvCxnSpPr/>
          <p:nvPr/>
        </p:nvCxnSpPr>
        <p:spPr>
          <a:xfrm>
            <a:off x="6663175" y="3360150"/>
            <a:ext cx="605100" cy="375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3" name="Google Shape;1983;p150"/>
          <p:cNvCxnSpPr/>
          <p:nvPr/>
        </p:nvCxnSpPr>
        <p:spPr>
          <a:xfrm flipH="1" rot="10800000">
            <a:off x="7249762" y="3197337"/>
            <a:ext cx="319200" cy="520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4" name="Google Shape;1984;p150"/>
          <p:cNvCxnSpPr/>
          <p:nvPr/>
        </p:nvCxnSpPr>
        <p:spPr>
          <a:xfrm rot="10800000">
            <a:off x="6197387" y="2370618"/>
            <a:ext cx="1352400" cy="838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5" name="Google Shape;1985;p150"/>
          <p:cNvCxnSpPr/>
          <p:nvPr/>
        </p:nvCxnSpPr>
        <p:spPr>
          <a:xfrm>
            <a:off x="5577975" y="4542030"/>
            <a:ext cx="28104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6" name="Google Shape;1986;p150"/>
          <p:cNvCxnSpPr/>
          <p:nvPr/>
        </p:nvCxnSpPr>
        <p:spPr>
          <a:xfrm rot="10800000">
            <a:off x="6227882" y="2385725"/>
            <a:ext cx="1576800" cy="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7" name="Google Shape;1987;p150"/>
          <p:cNvCxnSpPr/>
          <p:nvPr/>
        </p:nvCxnSpPr>
        <p:spPr>
          <a:xfrm rot="10800000">
            <a:off x="7797180" y="2387225"/>
            <a:ext cx="18000" cy="2164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8" name="Google Shape;1988;p1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1989" name="Google Shape;1989;p150"/>
          <p:cNvSpPr txBox="1"/>
          <p:nvPr/>
        </p:nvSpPr>
        <p:spPr>
          <a:xfrm>
            <a:off x="6266687" y="3798587"/>
            <a:ext cx="25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a)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150"/>
          <p:cNvSpPr txBox="1"/>
          <p:nvPr/>
        </p:nvSpPr>
        <p:spPr>
          <a:xfrm>
            <a:off x="6388913" y="3398920"/>
            <a:ext cx="25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150"/>
          <p:cNvSpPr txBox="1"/>
          <p:nvPr/>
        </p:nvSpPr>
        <p:spPr>
          <a:xfrm>
            <a:off x="6899300" y="3235013"/>
            <a:ext cx="25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150"/>
          <p:cNvSpPr txBox="1"/>
          <p:nvPr/>
        </p:nvSpPr>
        <p:spPr>
          <a:xfrm>
            <a:off x="6693713" y="2759147"/>
            <a:ext cx="25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3" name="Google Shape;1993;p150"/>
          <p:cNvSpPr txBox="1"/>
          <p:nvPr/>
        </p:nvSpPr>
        <p:spPr>
          <a:xfrm>
            <a:off x="7836713" y="3227854"/>
            <a:ext cx="25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150"/>
          <p:cNvSpPr txBox="1"/>
          <p:nvPr/>
        </p:nvSpPr>
        <p:spPr>
          <a:xfrm>
            <a:off x="323087" y="2784973"/>
            <a:ext cx="25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a)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150"/>
          <p:cNvSpPr txBox="1"/>
          <p:nvPr/>
        </p:nvSpPr>
        <p:spPr>
          <a:xfrm>
            <a:off x="323087" y="3828760"/>
            <a:ext cx="25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150"/>
          <p:cNvSpPr txBox="1"/>
          <p:nvPr/>
        </p:nvSpPr>
        <p:spPr>
          <a:xfrm>
            <a:off x="323087" y="4529646"/>
            <a:ext cx="25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7" name="Google Shape;1997;p150"/>
          <p:cNvSpPr txBox="1"/>
          <p:nvPr/>
        </p:nvSpPr>
        <p:spPr>
          <a:xfrm>
            <a:off x="342668" y="2428537"/>
            <a:ext cx="2922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8" name="Google Shape;1998;p150"/>
          <p:cNvSpPr txBox="1"/>
          <p:nvPr/>
        </p:nvSpPr>
        <p:spPr>
          <a:xfrm>
            <a:off x="647475" y="2798025"/>
            <a:ext cx="447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Possible - This a is stop in the journey.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9" name="Google Shape;1999;p150"/>
          <p:cNvSpPr txBox="1"/>
          <p:nvPr/>
        </p:nvSpPr>
        <p:spPr>
          <a:xfrm>
            <a:off x="1538852" y="3190543"/>
            <a:ext cx="3586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Imp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ossible - This would be a change in position in zero time.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0" name="Google Shape;2000;p150"/>
          <p:cNvSpPr txBox="1"/>
          <p:nvPr/>
        </p:nvSpPr>
        <p:spPr>
          <a:xfrm>
            <a:off x="331168" y="3190543"/>
            <a:ext cx="1064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1" name="Google Shape;2001;p150"/>
          <p:cNvSpPr txBox="1"/>
          <p:nvPr/>
        </p:nvSpPr>
        <p:spPr>
          <a:xfrm>
            <a:off x="647475" y="3841812"/>
            <a:ext cx="447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Possible - This is a move towards home at a constant speed.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2" name="Google Shape;2002;p150"/>
          <p:cNvSpPr txBox="1"/>
          <p:nvPr/>
        </p:nvSpPr>
        <p:spPr>
          <a:xfrm>
            <a:off x="700650" y="4531975"/>
            <a:ext cx="5993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Impossible - This would represent going back in time.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5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distance time graphs</a:t>
            </a:r>
            <a:endParaRPr/>
          </a:p>
        </p:txBody>
      </p:sp>
      <p:sp>
        <p:nvSpPr>
          <p:cNvPr id="2008" name="Google Shape;2008;p15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sp>
        <p:nvSpPr>
          <p:cNvPr id="2009" name="Google Shape;2009;p15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Modelling with graphs</a:t>
            </a:r>
            <a:endParaRPr/>
          </a:p>
        </p:txBody>
      </p:sp>
      <p:pic>
        <p:nvPicPr>
          <p:cNvPr id="2010" name="Google Shape;2010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003" y="299175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5" name="Google Shape;2015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3837" y="1787237"/>
            <a:ext cx="3873931" cy="300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6" name="Google Shape;2016;p15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689084" y="1743887"/>
            <a:ext cx="3951473" cy="29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7" name="Google Shape;2017;p152"/>
          <p:cNvSpPr txBox="1"/>
          <p:nvPr/>
        </p:nvSpPr>
        <p:spPr>
          <a:xfrm>
            <a:off x="961200" y="1796400"/>
            <a:ext cx="3631200" cy="23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walk to the shops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away, it takes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minutes. I am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minutes in the shop then I walk home at the same speed. Half way home I stop for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 to drop some items off with a relative. Then I walk home at the same speed I walked earlier.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8" name="Google Shape;2018;p152"/>
          <p:cNvSpPr txBox="1"/>
          <p:nvPr>
            <p:ph idx="1" type="body"/>
          </p:nvPr>
        </p:nvSpPr>
        <p:spPr>
          <a:xfrm>
            <a:off x="324000" y="759300"/>
            <a:ext cx="70089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Sometimes we already have the information and we have to draw the distance (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900"/>
              <a:t>) time (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900"/>
              <a:t>) graph. With a grid we can plot the points accurately.</a:t>
            </a:r>
            <a:endParaRPr sz="1900"/>
          </a:p>
        </p:txBody>
      </p:sp>
      <p:sp>
        <p:nvSpPr>
          <p:cNvPr id="2019" name="Google Shape;2019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sp>
        <p:nvSpPr>
          <p:cNvPr id="2020" name="Google Shape;2020;p152"/>
          <p:cNvSpPr txBox="1"/>
          <p:nvPr/>
        </p:nvSpPr>
        <p:spPr>
          <a:xfrm>
            <a:off x="4776760" y="1406218"/>
            <a:ext cx="2334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1" name="Google Shape;2021;p152"/>
          <p:cNvSpPr txBox="1"/>
          <p:nvPr/>
        </p:nvSpPr>
        <p:spPr>
          <a:xfrm>
            <a:off x="8422854" y="4202612"/>
            <a:ext cx="1599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2" name="Google Shape;2022;p152"/>
          <p:cNvSpPr txBox="1"/>
          <p:nvPr/>
        </p:nvSpPr>
        <p:spPr>
          <a:xfrm>
            <a:off x="5716014" y="16762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3" name="Google Shape;2023;p152"/>
          <p:cNvSpPr txBox="1"/>
          <p:nvPr/>
        </p:nvSpPr>
        <p:spPr>
          <a:xfrm>
            <a:off x="6706614" y="16762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4" name="Google Shape;2024;p152"/>
          <p:cNvSpPr txBox="1"/>
          <p:nvPr/>
        </p:nvSpPr>
        <p:spPr>
          <a:xfrm>
            <a:off x="720549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5" name="Google Shape;2025;p152"/>
          <p:cNvSpPr txBox="1"/>
          <p:nvPr/>
        </p:nvSpPr>
        <p:spPr>
          <a:xfrm>
            <a:off x="769721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6" name="Google Shape;2026;p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391" y="2888313"/>
            <a:ext cx="528208" cy="19317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7" name="Google Shape;2027;p152"/>
          <p:cNvCxnSpPr/>
          <p:nvPr/>
        </p:nvCxnSpPr>
        <p:spPr>
          <a:xfrm flipH="1" rot="10800000">
            <a:off x="4844514" y="1844375"/>
            <a:ext cx="995100" cy="2817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8" name="Google Shape;2028;p152"/>
          <p:cNvCxnSpPr/>
          <p:nvPr/>
        </p:nvCxnSpPr>
        <p:spPr>
          <a:xfrm rot="10800000">
            <a:off x="5839700" y="1844475"/>
            <a:ext cx="990600" cy="1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9" name="Google Shape;2029;p152"/>
          <p:cNvCxnSpPr/>
          <p:nvPr/>
        </p:nvCxnSpPr>
        <p:spPr>
          <a:xfrm>
            <a:off x="6830300" y="1845675"/>
            <a:ext cx="495300" cy="1409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30" name="Google Shape;2030;p152"/>
          <p:cNvGrpSpPr/>
          <p:nvPr/>
        </p:nvGrpSpPr>
        <p:grpSpPr>
          <a:xfrm>
            <a:off x="5071882" y="1851925"/>
            <a:ext cx="2985900" cy="2642725"/>
            <a:chOff x="5071882" y="1851925"/>
            <a:chExt cx="2985900" cy="2642725"/>
          </a:xfrm>
        </p:grpSpPr>
        <p:cxnSp>
          <p:nvCxnSpPr>
            <p:cNvPr id="2031" name="Google Shape;2031;p152"/>
            <p:cNvCxnSpPr/>
            <p:nvPr/>
          </p:nvCxnSpPr>
          <p:spPr>
            <a:xfrm rot="10800000">
              <a:off x="5348050" y="3252419"/>
              <a:ext cx="495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2" name="Google Shape;2032;p152"/>
            <p:cNvCxnSpPr/>
            <p:nvPr/>
          </p:nvCxnSpPr>
          <p:spPr>
            <a:xfrm rot="10800000">
              <a:off x="5825558" y="1851925"/>
              <a:ext cx="2100" cy="1409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3" name="Google Shape;2033;p152"/>
            <p:cNvCxnSpPr/>
            <p:nvPr/>
          </p:nvCxnSpPr>
          <p:spPr>
            <a:xfrm rot="10800000">
              <a:off x="6826023" y="3252419"/>
              <a:ext cx="495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4" name="Google Shape;2034;p152"/>
            <p:cNvCxnSpPr/>
            <p:nvPr/>
          </p:nvCxnSpPr>
          <p:spPr>
            <a:xfrm rot="10800000">
              <a:off x="6834824" y="1851925"/>
              <a:ext cx="2100" cy="1409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35" name="Google Shape;2035;p152"/>
            <p:cNvSpPr txBox="1"/>
            <p:nvPr/>
          </p:nvSpPr>
          <p:spPr>
            <a:xfrm>
              <a:off x="5071882" y="3399350"/>
              <a:ext cx="2985900" cy="10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Same speed means same change in distance over the same change in time (same gradient).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0" name="Google Shape;2040;p15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689084" y="1743887"/>
            <a:ext cx="3951473" cy="29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53"/>
          <p:cNvSpPr txBox="1"/>
          <p:nvPr/>
        </p:nvSpPr>
        <p:spPr>
          <a:xfrm>
            <a:off x="982613" y="1798725"/>
            <a:ext cx="3588900" cy="23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walk to the shops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 km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away, it takes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minutes. I am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minutes in the shop then I walk home at the same speed. Half way home I stop for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 to drop some items off with a relative. Then I walk home at the same speed I walked earlier.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153"/>
          <p:cNvSpPr txBox="1"/>
          <p:nvPr>
            <p:ph idx="1" type="body"/>
          </p:nvPr>
        </p:nvSpPr>
        <p:spPr>
          <a:xfrm>
            <a:off x="324000" y="759300"/>
            <a:ext cx="70089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Sometimes we already have the information and we have to draw the distance </a:t>
            </a:r>
            <a:r>
              <a:rPr lang="en-GB" sz="1900"/>
              <a:t>(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900"/>
              <a:t>) time (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900"/>
              <a:t>) graph</a:t>
            </a:r>
            <a:r>
              <a:rPr lang="en-GB" sz="1900"/>
              <a:t>. With a grid we can plot the points accurately.</a:t>
            </a:r>
            <a:endParaRPr sz="1900"/>
          </a:p>
        </p:txBody>
      </p:sp>
      <p:sp>
        <p:nvSpPr>
          <p:cNvPr id="2043" name="Google Shape;2043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pic>
        <p:nvPicPr>
          <p:cNvPr id="2044" name="Google Shape;2044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391" y="2888313"/>
            <a:ext cx="528208" cy="1931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5" name="Google Shape;2045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3837" y="1787237"/>
            <a:ext cx="3873931" cy="30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6" name="Google Shape;2046;p153"/>
          <p:cNvSpPr txBox="1"/>
          <p:nvPr/>
        </p:nvSpPr>
        <p:spPr>
          <a:xfrm>
            <a:off x="4776760" y="1406218"/>
            <a:ext cx="2334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7" name="Google Shape;2047;p153"/>
          <p:cNvSpPr txBox="1"/>
          <p:nvPr/>
        </p:nvSpPr>
        <p:spPr>
          <a:xfrm>
            <a:off x="8422854" y="4202612"/>
            <a:ext cx="1599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153"/>
          <p:cNvSpPr txBox="1"/>
          <p:nvPr/>
        </p:nvSpPr>
        <p:spPr>
          <a:xfrm>
            <a:off x="5716014" y="16762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9" name="Google Shape;2049;p153"/>
          <p:cNvSpPr txBox="1"/>
          <p:nvPr/>
        </p:nvSpPr>
        <p:spPr>
          <a:xfrm>
            <a:off x="6706614" y="16762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153"/>
          <p:cNvSpPr txBox="1"/>
          <p:nvPr/>
        </p:nvSpPr>
        <p:spPr>
          <a:xfrm>
            <a:off x="720549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153"/>
          <p:cNvSpPr txBox="1"/>
          <p:nvPr/>
        </p:nvSpPr>
        <p:spPr>
          <a:xfrm>
            <a:off x="769721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2" name="Google Shape;2052;p153"/>
          <p:cNvSpPr txBox="1"/>
          <p:nvPr/>
        </p:nvSpPr>
        <p:spPr>
          <a:xfrm>
            <a:off x="8188934" y="4499972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3" name="Google Shape;2053;p153"/>
          <p:cNvCxnSpPr/>
          <p:nvPr/>
        </p:nvCxnSpPr>
        <p:spPr>
          <a:xfrm flipH="1" rot="10800000">
            <a:off x="4844514" y="1844375"/>
            <a:ext cx="995100" cy="2817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4" name="Google Shape;2054;p153"/>
          <p:cNvCxnSpPr/>
          <p:nvPr/>
        </p:nvCxnSpPr>
        <p:spPr>
          <a:xfrm rot="10800000">
            <a:off x="5839700" y="1844475"/>
            <a:ext cx="990600" cy="1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5" name="Google Shape;2055;p153"/>
          <p:cNvCxnSpPr/>
          <p:nvPr/>
        </p:nvCxnSpPr>
        <p:spPr>
          <a:xfrm>
            <a:off x="6830300" y="1845675"/>
            <a:ext cx="495300" cy="1409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6" name="Google Shape;2056;p153"/>
          <p:cNvCxnSpPr/>
          <p:nvPr/>
        </p:nvCxnSpPr>
        <p:spPr>
          <a:xfrm rot="10800000">
            <a:off x="7325600" y="3255350"/>
            <a:ext cx="495300" cy="4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7" name="Google Shape;2057;p153"/>
          <p:cNvCxnSpPr/>
          <p:nvPr/>
        </p:nvCxnSpPr>
        <p:spPr>
          <a:xfrm>
            <a:off x="7820900" y="3260150"/>
            <a:ext cx="498300" cy="1412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p154"/>
          <p:cNvSpPr txBox="1"/>
          <p:nvPr>
            <p:ph idx="1" type="body"/>
          </p:nvPr>
        </p:nvSpPr>
        <p:spPr>
          <a:xfrm>
            <a:off x="324000" y="759300"/>
            <a:ext cx="70089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Sometimes we already have the information and we have to draw the distance </a:t>
            </a:r>
            <a:r>
              <a:rPr lang="en-GB" sz="1900"/>
              <a:t>(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900"/>
              <a:t>) time (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900"/>
              <a:t>) graph</a:t>
            </a:r>
            <a:r>
              <a:rPr lang="en-GB" sz="1900"/>
              <a:t>. With a grid we can plot the points accurately.</a:t>
            </a:r>
            <a:endParaRPr sz="1900"/>
          </a:p>
        </p:txBody>
      </p:sp>
      <p:sp>
        <p:nvSpPr>
          <p:cNvPr id="2063" name="Google Shape;2063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pic>
        <p:nvPicPr>
          <p:cNvPr id="2064" name="Google Shape;2064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3837" y="1787237"/>
            <a:ext cx="3873931" cy="30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5" name="Google Shape;2065;p154"/>
          <p:cNvSpPr txBox="1"/>
          <p:nvPr/>
        </p:nvSpPr>
        <p:spPr>
          <a:xfrm>
            <a:off x="4776760" y="1406218"/>
            <a:ext cx="2334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154"/>
          <p:cNvSpPr txBox="1"/>
          <p:nvPr/>
        </p:nvSpPr>
        <p:spPr>
          <a:xfrm>
            <a:off x="8422854" y="4202612"/>
            <a:ext cx="1599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154"/>
          <p:cNvSpPr txBox="1"/>
          <p:nvPr/>
        </p:nvSpPr>
        <p:spPr>
          <a:xfrm>
            <a:off x="5716014" y="16762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8" name="Google Shape;2068;p154"/>
          <p:cNvSpPr txBox="1"/>
          <p:nvPr/>
        </p:nvSpPr>
        <p:spPr>
          <a:xfrm>
            <a:off x="6706614" y="16762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9" name="Google Shape;2069;p154"/>
          <p:cNvSpPr txBox="1"/>
          <p:nvPr/>
        </p:nvSpPr>
        <p:spPr>
          <a:xfrm>
            <a:off x="720549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0" name="Google Shape;2070;p154"/>
          <p:cNvSpPr txBox="1"/>
          <p:nvPr/>
        </p:nvSpPr>
        <p:spPr>
          <a:xfrm>
            <a:off x="769721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154"/>
          <p:cNvSpPr txBox="1"/>
          <p:nvPr/>
        </p:nvSpPr>
        <p:spPr>
          <a:xfrm>
            <a:off x="8188934" y="4499972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2" name="Google Shape;2072;p154"/>
          <p:cNvCxnSpPr/>
          <p:nvPr/>
        </p:nvCxnSpPr>
        <p:spPr>
          <a:xfrm flipH="1" rot="10800000">
            <a:off x="4844514" y="1844375"/>
            <a:ext cx="995100" cy="2817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3" name="Google Shape;2073;p154"/>
          <p:cNvCxnSpPr/>
          <p:nvPr/>
        </p:nvCxnSpPr>
        <p:spPr>
          <a:xfrm rot="10800000">
            <a:off x="5839700" y="1844475"/>
            <a:ext cx="990600" cy="1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4" name="Google Shape;2074;p154"/>
          <p:cNvCxnSpPr/>
          <p:nvPr/>
        </p:nvCxnSpPr>
        <p:spPr>
          <a:xfrm>
            <a:off x="6830300" y="1845675"/>
            <a:ext cx="495300" cy="1409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5" name="Google Shape;2075;p154"/>
          <p:cNvCxnSpPr/>
          <p:nvPr/>
        </p:nvCxnSpPr>
        <p:spPr>
          <a:xfrm rot="10800000">
            <a:off x="7325600" y="3255350"/>
            <a:ext cx="495300" cy="4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6" name="Google Shape;2076;p154"/>
          <p:cNvCxnSpPr/>
          <p:nvPr/>
        </p:nvCxnSpPr>
        <p:spPr>
          <a:xfrm>
            <a:off x="7820900" y="3260150"/>
            <a:ext cx="498300" cy="1412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7" name="Google Shape;2077;p154"/>
          <p:cNvSpPr txBox="1"/>
          <p:nvPr>
            <p:ph idx="1" type="body"/>
          </p:nvPr>
        </p:nvSpPr>
        <p:spPr>
          <a:xfrm>
            <a:off x="324000" y="1978500"/>
            <a:ext cx="4097700" cy="234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Our model makes the assumption that Aisha walked at a constant speed when she was moving, hence the straight lines. This is standard unless you are informed otherwise in a simple distance time graph model like this.</a:t>
            </a:r>
            <a:endParaRPr sz="1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2" name="Google Shape;2082;p15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2364838" y="1069575"/>
            <a:ext cx="6800451" cy="1934049"/>
          </a:xfrm>
          <a:prstGeom prst="rect">
            <a:avLst/>
          </a:prstGeom>
          <a:noFill/>
          <a:ln>
            <a:noFill/>
          </a:ln>
        </p:spPr>
      </p:pic>
      <p:sp>
        <p:nvSpPr>
          <p:cNvPr id="2083" name="Google Shape;2083;p15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sp>
        <p:nvSpPr>
          <p:cNvPr id="2084" name="Google Shape;2084;p155"/>
          <p:cNvSpPr txBox="1"/>
          <p:nvPr/>
        </p:nvSpPr>
        <p:spPr>
          <a:xfrm>
            <a:off x="3116213" y="2625418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5" name="Google Shape;2085;p155"/>
          <p:cNvSpPr txBox="1"/>
          <p:nvPr/>
        </p:nvSpPr>
        <p:spPr>
          <a:xfrm>
            <a:off x="7092934" y="4442718"/>
            <a:ext cx="1599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6" name="Google Shape;2086;p155"/>
          <p:cNvSpPr txBox="1"/>
          <p:nvPr/>
        </p:nvSpPr>
        <p:spPr>
          <a:xfrm>
            <a:off x="624941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7" name="Google Shape;2087;p155"/>
          <p:cNvSpPr txBox="1"/>
          <p:nvPr/>
        </p:nvSpPr>
        <p:spPr>
          <a:xfrm>
            <a:off x="674113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8" name="Google Shape;2088;p15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What is the first coordinate that should be plotted for this journey?</a:t>
            </a:r>
            <a:endParaRPr/>
          </a:p>
        </p:txBody>
      </p:sp>
      <p:pic>
        <p:nvPicPr>
          <p:cNvPr id="2089" name="Google Shape;2089;p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2119" y="2735926"/>
            <a:ext cx="3365299" cy="1934061"/>
          </a:xfrm>
          <a:prstGeom prst="rect">
            <a:avLst/>
          </a:prstGeom>
          <a:noFill/>
          <a:ln>
            <a:noFill/>
          </a:ln>
        </p:spPr>
      </p:pic>
      <p:sp>
        <p:nvSpPr>
          <p:cNvPr id="2090" name="Google Shape;2090;p155"/>
          <p:cNvSpPr txBox="1"/>
          <p:nvPr/>
        </p:nvSpPr>
        <p:spPr>
          <a:xfrm>
            <a:off x="4167037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1" name="Google Shape;2091;p155"/>
          <p:cNvSpPr txBox="1"/>
          <p:nvPr/>
        </p:nvSpPr>
        <p:spPr>
          <a:xfrm>
            <a:off x="3389875" y="264640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2" name="Google Shape;2092;p155"/>
          <p:cNvSpPr txBox="1"/>
          <p:nvPr/>
        </p:nvSpPr>
        <p:spPr>
          <a:xfrm>
            <a:off x="3389875" y="3244437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3" name="Google Shape;2093;p155"/>
          <p:cNvSpPr txBox="1"/>
          <p:nvPr/>
        </p:nvSpPr>
        <p:spPr>
          <a:xfrm>
            <a:off x="3499402" y="3842648"/>
            <a:ext cx="1449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4" name="Google Shape;2094;p155"/>
          <p:cNvSpPr txBox="1"/>
          <p:nvPr/>
        </p:nvSpPr>
        <p:spPr>
          <a:xfrm>
            <a:off x="4811096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5" name="Google Shape;2095;p155"/>
          <p:cNvSpPr txBox="1"/>
          <p:nvPr/>
        </p:nvSpPr>
        <p:spPr>
          <a:xfrm>
            <a:off x="5462376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6" name="Google Shape;2096;p155"/>
          <p:cNvSpPr txBox="1"/>
          <p:nvPr/>
        </p:nvSpPr>
        <p:spPr>
          <a:xfrm>
            <a:off x="6094989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7" name="Google Shape;2097;p155"/>
          <p:cNvSpPr txBox="1"/>
          <p:nvPr/>
        </p:nvSpPr>
        <p:spPr>
          <a:xfrm>
            <a:off x="6651407" y="4609091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98" name="Google Shape;2098;p155"/>
          <p:cNvCxnSpPr/>
          <p:nvPr/>
        </p:nvCxnSpPr>
        <p:spPr>
          <a:xfrm flipH="1" rot="10800000">
            <a:off x="3654418" y="3411424"/>
            <a:ext cx="648600" cy="1232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9" name="Google Shape;2099;p155"/>
          <p:cNvSpPr txBox="1"/>
          <p:nvPr/>
        </p:nvSpPr>
        <p:spPr>
          <a:xfrm>
            <a:off x="4180630" y="3211471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0" name="Google Shape;2100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2925" y="2758799"/>
            <a:ext cx="811501" cy="999624"/>
          </a:xfrm>
          <a:prstGeom prst="rect">
            <a:avLst/>
          </a:prstGeom>
          <a:noFill/>
          <a:ln>
            <a:noFill/>
          </a:ln>
        </p:spPr>
      </p:pic>
      <p:sp>
        <p:nvSpPr>
          <p:cNvPr id="2101" name="Google Shape;2101;p155"/>
          <p:cNvSpPr txBox="1"/>
          <p:nvPr/>
        </p:nvSpPr>
        <p:spPr>
          <a:xfrm>
            <a:off x="912119" y="1854232"/>
            <a:ext cx="80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(20, 10)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2" name="Google Shape;2102;p155"/>
          <p:cNvSpPr txBox="1"/>
          <p:nvPr/>
        </p:nvSpPr>
        <p:spPr>
          <a:xfrm>
            <a:off x="912119" y="2821818"/>
            <a:ext cx="80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(10, 10)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3" name="Google Shape;2103;p155"/>
          <p:cNvSpPr txBox="1"/>
          <p:nvPr/>
        </p:nvSpPr>
        <p:spPr>
          <a:xfrm>
            <a:off x="912119" y="3812418"/>
            <a:ext cx="80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(10, 20)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4" name="Google Shape;2104;p1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0303" y="1853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5" name="Google Shape;2105;p155"/>
          <p:cNvSpPr txBox="1"/>
          <p:nvPr/>
        </p:nvSpPr>
        <p:spPr>
          <a:xfrm>
            <a:off x="430375" y="1384746"/>
            <a:ext cx="1686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mins,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km)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6" name="Google Shape;2106;p155"/>
          <p:cNvSpPr txBox="1"/>
          <p:nvPr/>
        </p:nvSpPr>
        <p:spPr>
          <a:xfrm>
            <a:off x="2456874" y="1112925"/>
            <a:ext cx="64968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start fast and cycle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minutes. We have to stop and rest for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minutes. We start cycling again and reach our destination,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km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from home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minutes later.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hang out there for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 before cycling straight home in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7" name="Google Shape;2107;p155"/>
          <p:cNvSpPr/>
          <p:nvPr/>
        </p:nvSpPr>
        <p:spPr>
          <a:xfrm>
            <a:off x="4939750" y="1032525"/>
            <a:ext cx="2370000" cy="4896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2" name="Google Shape;2112;p15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2364838" y="1069575"/>
            <a:ext cx="6800451" cy="1934049"/>
          </a:xfrm>
          <a:prstGeom prst="rect">
            <a:avLst/>
          </a:prstGeom>
          <a:noFill/>
          <a:ln>
            <a:noFill/>
          </a:ln>
        </p:spPr>
      </p:pic>
      <p:sp>
        <p:nvSpPr>
          <p:cNvPr id="2113" name="Google Shape;2113;p15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sp>
        <p:nvSpPr>
          <p:cNvPr id="2114" name="Google Shape;2114;p156"/>
          <p:cNvSpPr txBox="1"/>
          <p:nvPr/>
        </p:nvSpPr>
        <p:spPr>
          <a:xfrm>
            <a:off x="3116213" y="2625418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5" name="Google Shape;2115;p156"/>
          <p:cNvSpPr txBox="1"/>
          <p:nvPr/>
        </p:nvSpPr>
        <p:spPr>
          <a:xfrm>
            <a:off x="7092934" y="4442718"/>
            <a:ext cx="1599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6" name="Google Shape;2116;p156"/>
          <p:cNvSpPr txBox="1"/>
          <p:nvPr/>
        </p:nvSpPr>
        <p:spPr>
          <a:xfrm>
            <a:off x="624941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7" name="Google Shape;2117;p156"/>
          <p:cNvSpPr txBox="1"/>
          <p:nvPr/>
        </p:nvSpPr>
        <p:spPr>
          <a:xfrm>
            <a:off x="674113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156"/>
          <p:cNvSpPr txBox="1"/>
          <p:nvPr>
            <p:ph type="title"/>
          </p:nvPr>
        </p:nvSpPr>
        <p:spPr>
          <a:xfrm>
            <a:off x="324000" y="748775"/>
            <a:ext cx="6417000" cy="2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What is the next coordinate that should be plotted?</a:t>
            </a:r>
            <a:endParaRPr/>
          </a:p>
        </p:txBody>
      </p:sp>
      <p:pic>
        <p:nvPicPr>
          <p:cNvPr id="2119" name="Google Shape;2119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2119" y="2735926"/>
            <a:ext cx="3365299" cy="1934061"/>
          </a:xfrm>
          <a:prstGeom prst="rect">
            <a:avLst/>
          </a:prstGeom>
          <a:noFill/>
          <a:ln>
            <a:noFill/>
          </a:ln>
        </p:spPr>
      </p:pic>
      <p:sp>
        <p:nvSpPr>
          <p:cNvPr id="2120" name="Google Shape;2120;p156"/>
          <p:cNvSpPr txBox="1"/>
          <p:nvPr/>
        </p:nvSpPr>
        <p:spPr>
          <a:xfrm>
            <a:off x="4167037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1" name="Google Shape;2121;p156"/>
          <p:cNvSpPr txBox="1"/>
          <p:nvPr/>
        </p:nvSpPr>
        <p:spPr>
          <a:xfrm>
            <a:off x="3389875" y="264640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2" name="Google Shape;2122;p156"/>
          <p:cNvSpPr txBox="1"/>
          <p:nvPr/>
        </p:nvSpPr>
        <p:spPr>
          <a:xfrm>
            <a:off x="3389875" y="3244437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3" name="Google Shape;2123;p156"/>
          <p:cNvSpPr txBox="1"/>
          <p:nvPr/>
        </p:nvSpPr>
        <p:spPr>
          <a:xfrm>
            <a:off x="3499402" y="3842648"/>
            <a:ext cx="1449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4" name="Google Shape;2124;p156"/>
          <p:cNvSpPr txBox="1"/>
          <p:nvPr/>
        </p:nvSpPr>
        <p:spPr>
          <a:xfrm>
            <a:off x="4811096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5" name="Google Shape;2125;p156"/>
          <p:cNvSpPr txBox="1"/>
          <p:nvPr/>
        </p:nvSpPr>
        <p:spPr>
          <a:xfrm>
            <a:off x="5462376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6" name="Google Shape;2126;p156"/>
          <p:cNvSpPr txBox="1"/>
          <p:nvPr/>
        </p:nvSpPr>
        <p:spPr>
          <a:xfrm>
            <a:off x="6094989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7" name="Google Shape;2127;p156"/>
          <p:cNvSpPr txBox="1"/>
          <p:nvPr/>
        </p:nvSpPr>
        <p:spPr>
          <a:xfrm>
            <a:off x="6651407" y="4609091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28" name="Google Shape;2128;p156"/>
          <p:cNvCxnSpPr/>
          <p:nvPr/>
        </p:nvCxnSpPr>
        <p:spPr>
          <a:xfrm flipH="1" rot="10800000">
            <a:off x="3654418" y="3411424"/>
            <a:ext cx="648600" cy="1232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9" name="Google Shape;2129;p156"/>
          <p:cNvSpPr txBox="1"/>
          <p:nvPr/>
        </p:nvSpPr>
        <p:spPr>
          <a:xfrm>
            <a:off x="4180630" y="3211471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0" name="Google Shape;2130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2925" y="2758799"/>
            <a:ext cx="811501" cy="999624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156"/>
          <p:cNvSpPr txBox="1"/>
          <p:nvPr/>
        </p:nvSpPr>
        <p:spPr>
          <a:xfrm>
            <a:off x="912119" y="2844832"/>
            <a:ext cx="80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(35, 10)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156"/>
          <p:cNvSpPr txBox="1"/>
          <p:nvPr/>
        </p:nvSpPr>
        <p:spPr>
          <a:xfrm>
            <a:off x="912119" y="1872898"/>
            <a:ext cx="80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(20, 25)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3" name="Google Shape;2133;p156"/>
          <p:cNvSpPr txBox="1"/>
          <p:nvPr/>
        </p:nvSpPr>
        <p:spPr>
          <a:xfrm>
            <a:off x="912119" y="3812418"/>
            <a:ext cx="80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(35, 25)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4" name="Google Shape;2134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0303" y="27675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5" name="Google Shape;2135;p156"/>
          <p:cNvSpPr txBox="1"/>
          <p:nvPr/>
        </p:nvSpPr>
        <p:spPr>
          <a:xfrm>
            <a:off x="952268" y="3213550"/>
            <a:ext cx="23172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 change in distance,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mins more time.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6" name="Google Shape;2136;p156"/>
          <p:cNvSpPr txBox="1"/>
          <p:nvPr/>
        </p:nvSpPr>
        <p:spPr>
          <a:xfrm>
            <a:off x="2456874" y="1112925"/>
            <a:ext cx="64968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start fast and cycle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 km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minutes. We have to stop and rest for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minutes. We start cycling again and reach our destination,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km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from home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minutes later.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We hang out there for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 before cycling straight home in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7" name="Google Shape;2137;p156"/>
          <p:cNvSpPr txBox="1"/>
          <p:nvPr/>
        </p:nvSpPr>
        <p:spPr>
          <a:xfrm>
            <a:off x="3697005" y="3008731"/>
            <a:ext cx="8073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(20, 10)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8" name="Google Shape;2138;p156"/>
          <p:cNvSpPr/>
          <p:nvPr/>
        </p:nvSpPr>
        <p:spPr>
          <a:xfrm>
            <a:off x="3392737" y="1348832"/>
            <a:ext cx="2370000" cy="4896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9" name="Google Shape;2139;p156"/>
          <p:cNvCxnSpPr/>
          <p:nvPr/>
        </p:nvCxnSpPr>
        <p:spPr>
          <a:xfrm rot="10800000">
            <a:off x="4299683" y="3389400"/>
            <a:ext cx="477000" cy="1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0" name="Google Shape;2140;p156"/>
          <p:cNvSpPr txBox="1"/>
          <p:nvPr/>
        </p:nvSpPr>
        <p:spPr>
          <a:xfrm>
            <a:off x="4656020" y="3215603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5" name="Google Shape;2145;p15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2364838" y="1069575"/>
            <a:ext cx="6800451" cy="1934049"/>
          </a:xfrm>
          <a:prstGeom prst="rect">
            <a:avLst/>
          </a:prstGeom>
          <a:noFill/>
          <a:ln>
            <a:noFill/>
          </a:ln>
        </p:spPr>
      </p:pic>
      <p:sp>
        <p:nvSpPr>
          <p:cNvPr id="2146" name="Google Shape;2146;p15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sp>
        <p:nvSpPr>
          <p:cNvPr id="2147" name="Google Shape;2147;p157"/>
          <p:cNvSpPr txBox="1"/>
          <p:nvPr/>
        </p:nvSpPr>
        <p:spPr>
          <a:xfrm>
            <a:off x="3116213" y="2625418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8" name="Google Shape;2148;p157"/>
          <p:cNvSpPr txBox="1"/>
          <p:nvPr/>
        </p:nvSpPr>
        <p:spPr>
          <a:xfrm>
            <a:off x="7092934" y="4442718"/>
            <a:ext cx="1599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9" name="Google Shape;2149;p157"/>
          <p:cNvSpPr txBox="1"/>
          <p:nvPr/>
        </p:nvSpPr>
        <p:spPr>
          <a:xfrm>
            <a:off x="624941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0" name="Google Shape;2150;p157"/>
          <p:cNvSpPr txBox="1"/>
          <p:nvPr/>
        </p:nvSpPr>
        <p:spPr>
          <a:xfrm>
            <a:off x="674113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1" name="Google Shape;2151;p157"/>
          <p:cNvSpPr txBox="1"/>
          <p:nvPr>
            <p:ph type="title"/>
          </p:nvPr>
        </p:nvSpPr>
        <p:spPr>
          <a:xfrm>
            <a:off x="324000" y="748775"/>
            <a:ext cx="6417000" cy="2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What is the next coordinate that should be plotted?</a:t>
            </a:r>
            <a:endParaRPr/>
          </a:p>
        </p:txBody>
      </p:sp>
      <p:pic>
        <p:nvPicPr>
          <p:cNvPr id="2152" name="Google Shape;2152;p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2119" y="2735926"/>
            <a:ext cx="3365299" cy="1934061"/>
          </a:xfrm>
          <a:prstGeom prst="rect">
            <a:avLst/>
          </a:prstGeom>
          <a:noFill/>
          <a:ln>
            <a:noFill/>
          </a:ln>
        </p:spPr>
      </p:pic>
      <p:sp>
        <p:nvSpPr>
          <p:cNvPr id="2153" name="Google Shape;2153;p157"/>
          <p:cNvSpPr txBox="1"/>
          <p:nvPr/>
        </p:nvSpPr>
        <p:spPr>
          <a:xfrm>
            <a:off x="4167037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4" name="Google Shape;2154;p157"/>
          <p:cNvSpPr txBox="1"/>
          <p:nvPr/>
        </p:nvSpPr>
        <p:spPr>
          <a:xfrm>
            <a:off x="3389875" y="264640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5" name="Google Shape;2155;p157"/>
          <p:cNvSpPr txBox="1"/>
          <p:nvPr/>
        </p:nvSpPr>
        <p:spPr>
          <a:xfrm>
            <a:off x="3389875" y="3244437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6" name="Google Shape;2156;p157"/>
          <p:cNvSpPr txBox="1"/>
          <p:nvPr/>
        </p:nvSpPr>
        <p:spPr>
          <a:xfrm>
            <a:off x="3499402" y="3842648"/>
            <a:ext cx="1449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7" name="Google Shape;2157;p157"/>
          <p:cNvSpPr txBox="1"/>
          <p:nvPr/>
        </p:nvSpPr>
        <p:spPr>
          <a:xfrm>
            <a:off x="4811096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8" name="Google Shape;2158;p157"/>
          <p:cNvSpPr txBox="1"/>
          <p:nvPr/>
        </p:nvSpPr>
        <p:spPr>
          <a:xfrm>
            <a:off x="5462376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9" name="Google Shape;2159;p157"/>
          <p:cNvSpPr txBox="1"/>
          <p:nvPr/>
        </p:nvSpPr>
        <p:spPr>
          <a:xfrm>
            <a:off x="6094989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0" name="Google Shape;2160;p157"/>
          <p:cNvSpPr txBox="1"/>
          <p:nvPr/>
        </p:nvSpPr>
        <p:spPr>
          <a:xfrm>
            <a:off x="6651407" y="4609091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61" name="Google Shape;2161;p157"/>
          <p:cNvCxnSpPr/>
          <p:nvPr/>
        </p:nvCxnSpPr>
        <p:spPr>
          <a:xfrm flipH="1" rot="10800000">
            <a:off x="3654418" y="3411424"/>
            <a:ext cx="648600" cy="1232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2" name="Google Shape;2162;p157"/>
          <p:cNvSpPr txBox="1"/>
          <p:nvPr/>
        </p:nvSpPr>
        <p:spPr>
          <a:xfrm>
            <a:off x="4180630" y="3211471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3" name="Google Shape;2163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2925" y="2758799"/>
            <a:ext cx="811501" cy="999624"/>
          </a:xfrm>
          <a:prstGeom prst="rect">
            <a:avLst/>
          </a:prstGeom>
          <a:noFill/>
          <a:ln>
            <a:noFill/>
          </a:ln>
        </p:spPr>
      </p:pic>
      <p:sp>
        <p:nvSpPr>
          <p:cNvPr id="2164" name="Google Shape;2164;p157"/>
          <p:cNvSpPr txBox="1"/>
          <p:nvPr/>
        </p:nvSpPr>
        <p:spPr>
          <a:xfrm>
            <a:off x="912119" y="2844832"/>
            <a:ext cx="80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(50, 25)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5" name="Google Shape;2165;p157"/>
          <p:cNvSpPr txBox="1"/>
          <p:nvPr/>
        </p:nvSpPr>
        <p:spPr>
          <a:xfrm>
            <a:off x="912119" y="1872898"/>
            <a:ext cx="80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(15, 15)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6" name="Google Shape;2166;p157"/>
          <p:cNvSpPr txBox="1"/>
          <p:nvPr/>
        </p:nvSpPr>
        <p:spPr>
          <a:xfrm>
            <a:off x="912119" y="3812418"/>
            <a:ext cx="80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(50, 15)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7" name="Google Shape;2167;p1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0303" y="3781164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8" name="Google Shape;2168;p157"/>
          <p:cNvSpPr txBox="1"/>
          <p:nvPr/>
        </p:nvSpPr>
        <p:spPr>
          <a:xfrm>
            <a:off x="952274" y="4215657"/>
            <a:ext cx="19350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mins more time reaching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km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9" name="Google Shape;2169;p157"/>
          <p:cNvSpPr txBox="1"/>
          <p:nvPr/>
        </p:nvSpPr>
        <p:spPr>
          <a:xfrm>
            <a:off x="2456874" y="1112925"/>
            <a:ext cx="64968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start fast and cycle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 km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minutes. We have to stop and rest for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minutes. We start cycling again and reach our destination,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km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from home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minutes later.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We hang out there for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 before cycling straight home in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0" name="Google Shape;2170;p157"/>
          <p:cNvSpPr/>
          <p:nvPr/>
        </p:nvSpPr>
        <p:spPr>
          <a:xfrm>
            <a:off x="4806031" y="1653625"/>
            <a:ext cx="4014000" cy="4896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1" name="Google Shape;2171;p157"/>
          <p:cNvCxnSpPr/>
          <p:nvPr/>
        </p:nvCxnSpPr>
        <p:spPr>
          <a:xfrm rot="10800000">
            <a:off x="4299683" y="3389400"/>
            <a:ext cx="477000" cy="1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2" name="Google Shape;2172;p157"/>
          <p:cNvSpPr txBox="1"/>
          <p:nvPr/>
        </p:nvSpPr>
        <p:spPr>
          <a:xfrm>
            <a:off x="4656020" y="3215603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3" name="Google Shape;2173;p157"/>
          <p:cNvSpPr txBox="1"/>
          <p:nvPr/>
        </p:nvSpPr>
        <p:spPr>
          <a:xfrm>
            <a:off x="4763805" y="3507611"/>
            <a:ext cx="8073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(35, 10)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4" name="Google Shape;2174;p157"/>
          <p:cNvSpPr txBox="1"/>
          <p:nvPr/>
        </p:nvSpPr>
        <p:spPr>
          <a:xfrm>
            <a:off x="5142655" y="2601871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5" name="Google Shape;2175;p157"/>
          <p:cNvCxnSpPr/>
          <p:nvPr/>
        </p:nvCxnSpPr>
        <p:spPr>
          <a:xfrm flipH="1" rot="10800000">
            <a:off x="4773208" y="2763825"/>
            <a:ext cx="496500" cy="602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0" name="Google Shape;2180;p15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2364838" y="1069575"/>
            <a:ext cx="6800451" cy="1934049"/>
          </a:xfrm>
          <a:prstGeom prst="rect">
            <a:avLst/>
          </a:prstGeom>
          <a:noFill/>
          <a:ln>
            <a:noFill/>
          </a:ln>
        </p:spPr>
      </p:pic>
      <p:sp>
        <p:nvSpPr>
          <p:cNvPr id="2181" name="Google Shape;2181;p15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sp>
        <p:nvSpPr>
          <p:cNvPr id="2182" name="Google Shape;2182;p158"/>
          <p:cNvSpPr txBox="1"/>
          <p:nvPr/>
        </p:nvSpPr>
        <p:spPr>
          <a:xfrm>
            <a:off x="3116213" y="2625418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3" name="Google Shape;2183;p158"/>
          <p:cNvSpPr txBox="1"/>
          <p:nvPr/>
        </p:nvSpPr>
        <p:spPr>
          <a:xfrm>
            <a:off x="7092934" y="4442718"/>
            <a:ext cx="1599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4" name="Google Shape;2184;p158"/>
          <p:cNvSpPr txBox="1"/>
          <p:nvPr/>
        </p:nvSpPr>
        <p:spPr>
          <a:xfrm>
            <a:off x="624941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5" name="Google Shape;2185;p158"/>
          <p:cNvSpPr txBox="1"/>
          <p:nvPr/>
        </p:nvSpPr>
        <p:spPr>
          <a:xfrm>
            <a:off x="674113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6" name="Google Shape;2186;p158"/>
          <p:cNvSpPr txBox="1"/>
          <p:nvPr>
            <p:ph type="title"/>
          </p:nvPr>
        </p:nvSpPr>
        <p:spPr>
          <a:xfrm>
            <a:off x="324000" y="748775"/>
            <a:ext cx="6417000" cy="2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What is the next coordinate that should be plotted?</a:t>
            </a:r>
            <a:endParaRPr/>
          </a:p>
        </p:txBody>
      </p:sp>
      <p:pic>
        <p:nvPicPr>
          <p:cNvPr id="2187" name="Google Shape;2187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2119" y="2735926"/>
            <a:ext cx="3365299" cy="1934061"/>
          </a:xfrm>
          <a:prstGeom prst="rect">
            <a:avLst/>
          </a:prstGeom>
          <a:noFill/>
          <a:ln>
            <a:noFill/>
          </a:ln>
        </p:spPr>
      </p:pic>
      <p:sp>
        <p:nvSpPr>
          <p:cNvPr id="2188" name="Google Shape;2188;p158"/>
          <p:cNvSpPr txBox="1"/>
          <p:nvPr/>
        </p:nvSpPr>
        <p:spPr>
          <a:xfrm>
            <a:off x="4167037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9" name="Google Shape;2189;p158"/>
          <p:cNvSpPr txBox="1"/>
          <p:nvPr/>
        </p:nvSpPr>
        <p:spPr>
          <a:xfrm>
            <a:off x="3389875" y="264640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0" name="Google Shape;2190;p158"/>
          <p:cNvSpPr txBox="1"/>
          <p:nvPr/>
        </p:nvSpPr>
        <p:spPr>
          <a:xfrm>
            <a:off x="3389875" y="3244437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1" name="Google Shape;2191;p158"/>
          <p:cNvSpPr txBox="1"/>
          <p:nvPr/>
        </p:nvSpPr>
        <p:spPr>
          <a:xfrm>
            <a:off x="3499402" y="3842648"/>
            <a:ext cx="1449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2" name="Google Shape;2192;p158"/>
          <p:cNvSpPr txBox="1"/>
          <p:nvPr/>
        </p:nvSpPr>
        <p:spPr>
          <a:xfrm>
            <a:off x="4811096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3" name="Google Shape;2193;p158"/>
          <p:cNvSpPr txBox="1"/>
          <p:nvPr/>
        </p:nvSpPr>
        <p:spPr>
          <a:xfrm>
            <a:off x="5462376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4" name="Google Shape;2194;p158"/>
          <p:cNvSpPr txBox="1"/>
          <p:nvPr/>
        </p:nvSpPr>
        <p:spPr>
          <a:xfrm>
            <a:off x="6094989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5" name="Google Shape;2195;p158"/>
          <p:cNvSpPr txBox="1"/>
          <p:nvPr/>
        </p:nvSpPr>
        <p:spPr>
          <a:xfrm>
            <a:off x="6651407" y="4609091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96" name="Google Shape;2196;p158"/>
          <p:cNvCxnSpPr/>
          <p:nvPr/>
        </p:nvCxnSpPr>
        <p:spPr>
          <a:xfrm flipH="1" rot="10800000">
            <a:off x="3654418" y="3411424"/>
            <a:ext cx="648600" cy="1232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7" name="Google Shape;2197;p158"/>
          <p:cNvSpPr txBox="1"/>
          <p:nvPr/>
        </p:nvSpPr>
        <p:spPr>
          <a:xfrm>
            <a:off x="4180630" y="3211471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8" name="Google Shape;2198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2925" y="2758799"/>
            <a:ext cx="811501" cy="999624"/>
          </a:xfrm>
          <a:prstGeom prst="rect">
            <a:avLst/>
          </a:prstGeom>
          <a:noFill/>
          <a:ln>
            <a:noFill/>
          </a:ln>
        </p:spPr>
      </p:pic>
      <p:sp>
        <p:nvSpPr>
          <p:cNvPr id="2199" name="Google Shape;2199;p158"/>
          <p:cNvSpPr txBox="1"/>
          <p:nvPr/>
        </p:nvSpPr>
        <p:spPr>
          <a:xfrm>
            <a:off x="912119" y="2844832"/>
            <a:ext cx="80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(75, 15)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0" name="Google Shape;2200;p158"/>
          <p:cNvSpPr txBox="1"/>
          <p:nvPr/>
        </p:nvSpPr>
        <p:spPr>
          <a:xfrm>
            <a:off x="912119" y="1872898"/>
            <a:ext cx="80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(25, 15)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1" name="Google Shape;2201;p158"/>
          <p:cNvSpPr txBox="1"/>
          <p:nvPr/>
        </p:nvSpPr>
        <p:spPr>
          <a:xfrm>
            <a:off x="912119" y="3812418"/>
            <a:ext cx="80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(50, 40)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2" name="Google Shape;2202;p1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0303" y="2790564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3" name="Google Shape;2203;p158"/>
          <p:cNvSpPr txBox="1"/>
          <p:nvPr/>
        </p:nvSpPr>
        <p:spPr>
          <a:xfrm>
            <a:off x="952275" y="3225050"/>
            <a:ext cx="21942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mins more time, no change in distance.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4" name="Google Shape;2204;p158"/>
          <p:cNvSpPr txBox="1"/>
          <p:nvPr/>
        </p:nvSpPr>
        <p:spPr>
          <a:xfrm>
            <a:off x="2456874" y="1112925"/>
            <a:ext cx="64968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start fast and cycle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 km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minutes. We have to stop and rest for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minutes. We start cycling again and reach our destination,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km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from home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minutes later.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We hang out there for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 before cycling straight home in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5" name="Google Shape;2205;p158"/>
          <p:cNvSpPr/>
          <p:nvPr/>
        </p:nvSpPr>
        <p:spPr>
          <a:xfrm>
            <a:off x="2333111" y="1946918"/>
            <a:ext cx="4014000" cy="4896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6" name="Google Shape;2206;p158"/>
          <p:cNvCxnSpPr/>
          <p:nvPr/>
        </p:nvCxnSpPr>
        <p:spPr>
          <a:xfrm rot="10800000">
            <a:off x="4299683" y="3389400"/>
            <a:ext cx="477000" cy="1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7" name="Google Shape;2207;p158"/>
          <p:cNvSpPr txBox="1"/>
          <p:nvPr/>
        </p:nvSpPr>
        <p:spPr>
          <a:xfrm>
            <a:off x="4656020" y="3215603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8" name="Google Shape;2208;p158"/>
          <p:cNvSpPr txBox="1"/>
          <p:nvPr/>
        </p:nvSpPr>
        <p:spPr>
          <a:xfrm>
            <a:off x="5221005" y="2898011"/>
            <a:ext cx="8073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(50, 15)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9" name="Google Shape;2209;p158"/>
          <p:cNvSpPr txBox="1"/>
          <p:nvPr/>
        </p:nvSpPr>
        <p:spPr>
          <a:xfrm>
            <a:off x="5142655" y="2601871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0" name="Google Shape;2210;p158"/>
          <p:cNvCxnSpPr/>
          <p:nvPr/>
        </p:nvCxnSpPr>
        <p:spPr>
          <a:xfrm flipH="1" rot="10800000">
            <a:off x="4773208" y="2763825"/>
            <a:ext cx="496500" cy="602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1" name="Google Shape;2211;p158"/>
          <p:cNvCxnSpPr/>
          <p:nvPr/>
        </p:nvCxnSpPr>
        <p:spPr>
          <a:xfrm flipH="1">
            <a:off x="5253838" y="2786063"/>
            <a:ext cx="811500" cy="4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2" name="Google Shape;2212;p158"/>
          <p:cNvSpPr txBox="1"/>
          <p:nvPr/>
        </p:nvSpPr>
        <p:spPr>
          <a:xfrm>
            <a:off x="5951420" y="2606003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7" name="Google Shape;2217;p15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2364838" y="1069575"/>
            <a:ext cx="6800451" cy="1934049"/>
          </a:xfrm>
          <a:prstGeom prst="rect">
            <a:avLst/>
          </a:prstGeom>
          <a:noFill/>
          <a:ln>
            <a:noFill/>
          </a:ln>
        </p:spPr>
      </p:pic>
      <p:sp>
        <p:nvSpPr>
          <p:cNvPr id="2218" name="Google Shape;2218;p15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sp>
        <p:nvSpPr>
          <p:cNvPr id="2219" name="Google Shape;2219;p159"/>
          <p:cNvSpPr txBox="1"/>
          <p:nvPr/>
        </p:nvSpPr>
        <p:spPr>
          <a:xfrm>
            <a:off x="3116213" y="2625418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0" name="Google Shape;2220;p159"/>
          <p:cNvSpPr txBox="1"/>
          <p:nvPr/>
        </p:nvSpPr>
        <p:spPr>
          <a:xfrm>
            <a:off x="7092934" y="4442718"/>
            <a:ext cx="1599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1" name="Google Shape;2221;p159"/>
          <p:cNvSpPr txBox="1"/>
          <p:nvPr/>
        </p:nvSpPr>
        <p:spPr>
          <a:xfrm>
            <a:off x="624941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2" name="Google Shape;2222;p159"/>
          <p:cNvSpPr txBox="1"/>
          <p:nvPr/>
        </p:nvSpPr>
        <p:spPr>
          <a:xfrm>
            <a:off x="674113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3" name="Google Shape;2223;p159"/>
          <p:cNvSpPr txBox="1"/>
          <p:nvPr>
            <p:ph type="title"/>
          </p:nvPr>
        </p:nvSpPr>
        <p:spPr>
          <a:xfrm>
            <a:off x="324000" y="748775"/>
            <a:ext cx="6417000" cy="2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What is the next coordinate that should be plotted?</a:t>
            </a:r>
            <a:endParaRPr/>
          </a:p>
        </p:txBody>
      </p:sp>
      <p:pic>
        <p:nvPicPr>
          <p:cNvPr id="2224" name="Google Shape;2224;p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2119" y="2735926"/>
            <a:ext cx="3365299" cy="1934061"/>
          </a:xfrm>
          <a:prstGeom prst="rect">
            <a:avLst/>
          </a:prstGeom>
          <a:noFill/>
          <a:ln>
            <a:noFill/>
          </a:ln>
        </p:spPr>
      </p:pic>
      <p:sp>
        <p:nvSpPr>
          <p:cNvPr id="2225" name="Google Shape;2225;p159"/>
          <p:cNvSpPr txBox="1"/>
          <p:nvPr/>
        </p:nvSpPr>
        <p:spPr>
          <a:xfrm>
            <a:off x="4167037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6" name="Google Shape;2226;p159"/>
          <p:cNvSpPr txBox="1"/>
          <p:nvPr/>
        </p:nvSpPr>
        <p:spPr>
          <a:xfrm>
            <a:off x="3389875" y="2646405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7" name="Google Shape;2227;p159"/>
          <p:cNvSpPr txBox="1"/>
          <p:nvPr/>
        </p:nvSpPr>
        <p:spPr>
          <a:xfrm>
            <a:off x="3389875" y="3244437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8" name="Google Shape;2228;p159"/>
          <p:cNvSpPr txBox="1"/>
          <p:nvPr/>
        </p:nvSpPr>
        <p:spPr>
          <a:xfrm>
            <a:off x="3499402" y="3842648"/>
            <a:ext cx="1449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9" name="Google Shape;2229;p159"/>
          <p:cNvSpPr txBox="1"/>
          <p:nvPr/>
        </p:nvSpPr>
        <p:spPr>
          <a:xfrm>
            <a:off x="4811096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0" name="Google Shape;2230;p159"/>
          <p:cNvSpPr txBox="1"/>
          <p:nvPr/>
        </p:nvSpPr>
        <p:spPr>
          <a:xfrm>
            <a:off x="5462376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1" name="Google Shape;2231;p159"/>
          <p:cNvSpPr txBox="1"/>
          <p:nvPr/>
        </p:nvSpPr>
        <p:spPr>
          <a:xfrm>
            <a:off x="6094989" y="4609091"/>
            <a:ext cx="2544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2" name="Google Shape;2232;p159"/>
          <p:cNvSpPr txBox="1"/>
          <p:nvPr/>
        </p:nvSpPr>
        <p:spPr>
          <a:xfrm>
            <a:off x="6651407" y="4609091"/>
            <a:ext cx="3942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33" name="Google Shape;2233;p159"/>
          <p:cNvCxnSpPr/>
          <p:nvPr/>
        </p:nvCxnSpPr>
        <p:spPr>
          <a:xfrm flipH="1" rot="10800000">
            <a:off x="3654418" y="3411424"/>
            <a:ext cx="648600" cy="1232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4" name="Google Shape;2234;p159"/>
          <p:cNvSpPr txBox="1"/>
          <p:nvPr/>
        </p:nvSpPr>
        <p:spPr>
          <a:xfrm>
            <a:off x="4180630" y="3211471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35" name="Google Shape;2235;p1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2925" y="2758799"/>
            <a:ext cx="811501" cy="999624"/>
          </a:xfrm>
          <a:prstGeom prst="rect">
            <a:avLst/>
          </a:prstGeom>
          <a:noFill/>
          <a:ln>
            <a:noFill/>
          </a:ln>
        </p:spPr>
      </p:pic>
      <p:sp>
        <p:nvSpPr>
          <p:cNvPr id="2236" name="Google Shape;2236;p159"/>
          <p:cNvSpPr txBox="1"/>
          <p:nvPr/>
        </p:nvSpPr>
        <p:spPr>
          <a:xfrm>
            <a:off x="912119" y="2844832"/>
            <a:ext cx="80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(75, 40)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7" name="Google Shape;2237;p159"/>
          <p:cNvSpPr txBox="1"/>
          <p:nvPr/>
        </p:nvSpPr>
        <p:spPr>
          <a:xfrm>
            <a:off x="912126" y="1872900"/>
            <a:ext cx="9780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(100, 30)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8" name="Google Shape;2238;p159"/>
          <p:cNvSpPr txBox="1"/>
          <p:nvPr/>
        </p:nvSpPr>
        <p:spPr>
          <a:xfrm>
            <a:off x="912119" y="3812418"/>
            <a:ext cx="80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(100, 0)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39" name="Google Shape;2239;p1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0303" y="382284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159"/>
          <p:cNvSpPr txBox="1"/>
          <p:nvPr/>
        </p:nvSpPr>
        <p:spPr>
          <a:xfrm>
            <a:off x="952275" y="4257325"/>
            <a:ext cx="22728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mins more time reaching distance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km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1" name="Google Shape;2241;p159"/>
          <p:cNvSpPr txBox="1"/>
          <p:nvPr/>
        </p:nvSpPr>
        <p:spPr>
          <a:xfrm>
            <a:off x="2456875" y="1112925"/>
            <a:ext cx="63174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start fast and cycle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 km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minutes. We have to stop and rest for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minutes. We start cycling again and reach our destination,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km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from home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minutes later.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We hang out there for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 before cycling straight home in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2" name="Google Shape;2242;p159"/>
          <p:cNvSpPr/>
          <p:nvPr/>
        </p:nvSpPr>
        <p:spPr>
          <a:xfrm>
            <a:off x="2319499" y="2251050"/>
            <a:ext cx="2590800" cy="4896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3" name="Google Shape;2243;p159"/>
          <p:cNvCxnSpPr/>
          <p:nvPr/>
        </p:nvCxnSpPr>
        <p:spPr>
          <a:xfrm rot="10800000">
            <a:off x="4299683" y="3389400"/>
            <a:ext cx="477000" cy="1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4" name="Google Shape;2244;p159"/>
          <p:cNvSpPr txBox="1"/>
          <p:nvPr/>
        </p:nvSpPr>
        <p:spPr>
          <a:xfrm>
            <a:off x="4656020" y="3215603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5" name="Google Shape;2245;p159"/>
          <p:cNvSpPr txBox="1"/>
          <p:nvPr/>
        </p:nvSpPr>
        <p:spPr>
          <a:xfrm>
            <a:off x="6287805" y="2745611"/>
            <a:ext cx="8073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(75, 15)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6" name="Google Shape;2246;p159"/>
          <p:cNvSpPr txBox="1"/>
          <p:nvPr/>
        </p:nvSpPr>
        <p:spPr>
          <a:xfrm>
            <a:off x="5142655" y="2601871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7" name="Google Shape;2247;p159"/>
          <p:cNvCxnSpPr/>
          <p:nvPr/>
        </p:nvCxnSpPr>
        <p:spPr>
          <a:xfrm flipH="1" rot="10800000">
            <a:off x="4773208" y="2763825"/>
            <a:ext cx="496500" cy="602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8" name="Google Shape;2248;p159"/>
          <p:cNvCxnSpPr/>
          <p:nvPr/>
        </p:nvCxnSpPr>
        <p:spPr>
          <a:xfrm flipH="1">
            <a:off x="5253838" y="2786063"/>
            <a:ext cx="811500" cy="4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9" name="Google Shape;2249;p159"/>
          <p:cNvSpPr txBox="1"/>
          <p:nvPr/>
        </p:nvSpPr>
        <p:spPr>
          <a:xfrm>
            <a:off x="5951420" y="2606003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0" name="Google Shape;2250;p159"/>
          <p:cNvCxnSpPr/>
          <p:nvPr/>
        </p:nvCxnSpPr>
        <p:spPr>
          <a:xfrm>
            <a:off x="6070333" y="2790825"/>
            <a:ext cx="796200" cy="1809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oogle Shape;2255;p16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689077" y="1439075"/>
            <a:ext cx="4155448" cy="2657974"/>
          </a:xfrm>
          <a:prstGeom prst="rect">
            <a:avLst/>
          </a:prstGeom>
          <a:noFill/>
          <a:ln>
            <a:noFill/>
          </a:ln>
        </p:spPr>
      </p:pic>
      <p:sp>
        <p:nvSpPr>
          <p:cNvPr id="2256" name="Google Shape;2256;p160"/>
          <p:cNvSpPr txBox="1"/>
          <p:nvPr/>
        </p:nvSpPr>
        <p:spPr>
          <a:xfrm>
            <a:off x="997756" y="1493913"/>
            <a:ext cx="3774300" cy="23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walk to my friend’s house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400 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away. That takes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minutes. I wait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minutes when picking them up. Then we walk together to the cinema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600 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further away but we’re chatting so we walk a little slower, it takes us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7" name="Google Shape;2257;p160"/>
          <p:cNvSpPr txBox="1"/>
          <p:nvPr>
            <p:ph idx="1" type="body"/>
          </p:nvPr>
        </p:nvSpPr>
        <p:spPr>
          <a:xfrm>
            <a:off x="324000" y="759300"/>
            <a:ext cx="6636900" cy="6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There are many moments in maths where a sketch of a model will suffice.</a:t>
            </a:r>
            <a:endParaRPr sz="1900"/>
          </a:p>
        </p:txBody>
      </p:sp>
      <p:sp>
        <p:nvSpPr>
          <p:cNvPr id="2258" name="Google Shape;2258;p16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sp>
        <p:nvSpPr>
          <p:cNvPr id="2259" name="Google Shape;2259;p160"/>
          <p:cNvSpPr txBox="1"/>
          <p:nvPr/>
        </p:nvSpPr>
        <p:spPr>
          <a:xfrm>
            <a:off x="5386360" y="1459405"/>
            <a:ext cx="2334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160"/>
          <p:cNvSpPr txBox="1"/>
          <p:nvPr/>
        </p:nvSpPr>
        <p:spPr>
          <a:xfrm>
            <a:off x="8499054" y="4103398"/>
            <a:ext cx="1599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1" name="Google Shape;2261;p160"/>
          <p:cNvSpPr txBox="1"/>
          <p:nvPr/>
        </p:nvSpPr>
        <p:spPr>
          <a:xfrm>
            <a:off x="769721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2" name="Google Shape;2262;p1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391" y="2888313"/>
            <a:ext cx="528208" cy="19317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3" name="Google Shape;2263;p160"/>
          <p:cNvCxnSpPr/>
          <p:nvPr/>
        </p:nvCxnSpPr>
        <p:spPr>
          <a:xfrm rot="10800000">
            <a:off x="5457325" y="1827825"/>
            <a:ext cx="0" cy="250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4" name="Google Shape;2264;p160"/>
          <p:cNvCxnSpPr/>
          <p:nvPr/>
        </p:nvCxnSpPr>
        <p:spPr>
          <a:xfrm>
            <a:off x="5457325" y="4313430"/>
            <a:ext cx="29310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5" name="Google Shape;2265;p160"/>
          <p:cNvSpPr txBox="1"/>
          <p:nvPr>
            <p:ph idx="1" type="body"/>
          </p:nvPr>
        </p:nvSpPr>
        <p:spPr>
          <a:xfrm>
            <a:off x="5757213" y="1597500"/>
            <a:ext cx="2988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It’s useful to start by totalling the distance and time.</a:t>
            </a:r>
            <a:endParaRPr sz="1900"/>
          </a:p>
        </p:txBody>
      </p:sp>
      <p:sp>
        <p:nvSpPr>
          <p:cNvPr id="2266" name="Google Shape;2266;p160"/>
          <p:cNvSpPr txBox="1"/>
          <p:nvPr/>
        </p:nvSpPr>
        <p:spPr>
          <a:xfrm>
            <a:off x="5775337" y="3357150"/>
            <a:ext cx="262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+ 10 + 5 = 20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minutes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7" name="Google Shape;2267;p160"/>
          <p:cNvSpPr txBox="1"/>
          <p:nvPr/>
        </p:nvSpPr>
        <p:spPr>
          <a:xfrm>
            <a:off x="5775337" y="2812243"/>
            <a:ext cx="262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400 m 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600 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 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2" name="Google Shape;2272;p16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689077" y="1439075"/>
            <a:ext cx="4155448" cy="2657974"/>
          </a:xfrm>
          <a:prstGeom prst="rect">
            <a:avLst/>
          </a:prstGeom>
          <a:noFill/>
          <a:ln>
            <a:noFill/>
          </a:ln>
        </p:spPr>
      </p:pic>
      <p:sp>
        <p:nvSpPr>
          <p:cNvPr id="2273" name="Google Shape;2273;p161"/>
          <p:cNvSpPr txBox="1"/>
          <p:nvPr/>
        </p:nvSpPr>
        <p:spPr>
          <a:xfrm>
            <a:off x="997756" y="1493913"/>
            <a:ext cx="3774300" cy="23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walk to my friend’s house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400 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away. That takes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minutes. I wait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minutes when picking them up. Then we walk together to the cinema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600 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further away but we’re chatting so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walk a little slower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it takes us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4" name="Google Shape;2274;p161"/>
          <p:cNvSpPr txBox="1"/>
          <p:nvPr>
            <p:ph idx="1" type="body"/>
          </p:nvPr>
        </p:nvSpPr>
        <p:spPr>
          <a:xfrm>
            <a:off x="324000" y="759300"/>
            <a:ext cx="6636900" cy="6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There are many moments in maths where a sketch of a model will suffice.</a:t>
            </a:r>
            <a:endParaRPr sz="1900"/>
          </a:p>
        </p:txBody>
      </p:sp>
      <p:sp>
        <p:nvSpPr>
          <p:cNvPr id="2275" name="Google Shape;2275;p16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sp>
        <p:nvSpPr>
          <p:cNvPr id="2276" name="Google Shape;2276;p161"/>
          <p:cNvSpPr txBox="1"/>
          <p:nvPr/>
        </p:nvSpPr>
        <p:spPr>
          <a:xfrm>
            <a:off x="5386360" y="1459405"/>
            <a:ext cx="2334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7" name="Google Shape;2277;p161"/>
          <p:cNvSpPr txBox="1"/>
          <p:nvPr/>
        </p:nvSpPr>
        <p:spPr>
          <a:xfrm>
            <a:off x="8499054" y="4103398"/>
            <a:ext cx="1599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8" name="Google Shape;2278;p1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391" y="2888313"/>
            <a:ext cx="528208" cy="19317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79" name="Google Shape;2279;p161"/>
          <p:cNvCxnSpPr/>
          <p:nvPr/>
        </p:nvCxnSpPr>
        <p:spPr>
          <a:xfrm rot="10800000">
            <a:off x="5457325" y="1827825"/>
            <a:ext cx="0" cy="250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0" name="Google Shape;2280;p161"/>
          <p:cNvCxnSpPr/>
          <p:nvPr/>
        </p:nvCxnSpPr>
        <p:spPr>
          <a:xfrm>
            <a:off x="5457325" y="4313430"/>
            <a:ext cx="29310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1" name="Google Shape;2281;p161"/>
          <p:cNvCxnSpPr/>
          <p:nvPr/>
        </p:nvCxnSpPr>
        <p:spPr>
          <a:xfrm>
            <a:off x="5378813" y="2164668"/>
            <a:ext cx="6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2" name="Google Shape;2282;p161"/>
          <p:cNvCxnSpPr/>
          <p:nvPr/>
        </p:nvCxnSpPr>
        <p:spPr>
          <a:xfrm>
            <a:off x="5378813" y="3189788"/>
            <a:ext cx="6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3" name="Google Shape;2283;p161"/>
          <p:cNvCxnSpPr/>
          <p:nvPr/>
        </p:nvCxnSpPr>
        <p:spPr>
          <a:xfrm>
            <a:off x="8008990" y="43312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4" name="Google Shape;2284;p161"/>
          <p:cNvCxnSpPr/>
          <p:nvPr/>
        </p:nvCxnSpPr>
        <p:spPr>
          <a:xfrm>
            <a:off x="6808456" y="43312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5" name="Google Shape;2285;p161"/>
          <p:cNvSpPr txBox="1"/>
          <p:nvPr/>
        </p:nvSpPr>
        <p:spPr>
          <a:xfrm>
            <a:off x="7866317" y="4415011"/>
            <a:ext cx="2544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6" name="Google Shape;2286;p161"/>
          <p:cNvSpPr txBox="1"/>
          <p:nvPr/>
        </p:nvSpPr>
        <p:spPr>
          <a:xfrm>
            <a:off x="4816130" y="2025225"/>
            <a:ext cx="528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7" name="Google Shape;2287;p161"/>
          <p:cNvSpPr txBox="1"/>
          <p:nvPr/>
        </p:nvSpPr>
        <p:spPr>
          <a:xfrm>
            <a:off x="5967627" y="324190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8" name="Google Shape;2288;p161"/>
          <p:cNvCxnSpPr/>
          <p:nvPr/>
        </p:nvCxnSpPr>
        <p:spPr>
          <a:xfrm flipH="1" rot="10800000">
            <a:off x="5488614" y="3419955"/>
            <a:ext cx="597900" cy="903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9" name="Google Shape;2289;p161"/>
          <p:cNvSpPr txBox="1"/>
          <p:nvPr/>
        </p:nvSpPr>
        <p:spPr>
          <a:xfrm>
            <a:off x="6706614" y="3253412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0" name="Google Shape;2290;p161"/>
          <p:cNvCxnSpPr/>
          <p:nvPr/>
        </p:nvCxnSpPr>
        <p:spPr>
          <a:xfrm rot="10800000">
            <a:off x="6091175" y="3421650"/>
            <a:ext cx="733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1" name="Google Shape;2291;p161"/>
          <p:cNvSpPr txBox="1"/>
          <p:nvPr>
            <p:ph idx="1" type="body"/>
          </p:nvPr>
        </p:nvSpPr>
        <p:spPr>
          <a:xfrm>
            <a:off x="1009800" y="4035900"/>
            <a:ext cx="4275000" cy="6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Our sketch is good enough to show this ‘slower’, less steep, gradient.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cxnSp>
        <p:nvCxnSpPr>
          <p:cNvPr id="2292" name="Google Shape;2292;p161"/>
          <p:cNvCxnSpPr/>
          <p:nvPr/>
        </p:nvCxnSpPr>
        <p:spPr>
          <a:xfrm flipH="1" rot="10800000">
            <a:off x="6843275" y="2149350"/>
            <a:ext cx="1130100" cy="1260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3" name="Google Shape;2293;p161"/>
          <p:cNvSpPr txBox="1"/>
          <p:nvPr/>
        </p:nvSpPr>
        <p:spPr>
          <a:xfrm>
            <a:off x="7849614" y="19810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4" name="Google Shape;2294;p161"/>
          <p:cNvSpPr txBox="1"/>
          <p:nvPr/>
        </p:nvSpPr>
        <p:spPr>
          <a:xfrm>
            <a:off x="5691178" y="2947882"/>
            <a:ext cx="807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(5, 400)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5" name="Google Shape;2295;p161"/>
          <p:cNvSpPr txBox="1"/>
          <p:nvPr/>
        </p:nvSpPr>
        <p:spPr>
          <a:xfrm>
            <a:off x="6581100" y="3496100"/>
            <a:ext cx="8781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(10, 400)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6" name="Google Shape;2296;p161"/>
          <p:cNvSpPr txBox="1"/>
          <p:nvPr/>
        </p:nvSpPr>
        <p:spPr>
          <a:xfrm>
            <a:off x="7877832" y="2265393"/>
            <a:ext cx="9537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(20, 1000)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7" name="Google Shape;2297;p161"/>
          <p:cNvSpPr/>
          <p:nvPr/>
        </p:nvSpPr>
        <p:spPr>
          <a:xfrm>
            <a:off x="3267143" y="1460823"/>
            <a:ext cx="1565700" cy="38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8" name="Google Shape;2298;p161"/>
          <p:cNvSpPr/>
          <p:nvPr/>
        </p:nvSpPr>
        <p:spPr>
          <a:xfrm>
            <a:off x="1631138" y="1810138"/>
            <a:ext cx="2422500" cy="33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9" name="Google Shape;2299;p161"/>
          <p:cNvSpPr/>
          <p:nvPr/>
        </p:nvSpPr>
        <p:spPr>
          <a:xfrm>
            <a:off x="947107" y="2155650"/>
            <a:ext cx="3774300" cy="33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0" name="Google Shape;2300;p161"/>
          <p:cNvSpPr/>
          <p:nvPr/>
        </p:nvSpPr>
        <p:spPr>
          <a:xfrm>
            <a:off x="947101" y="2697250"/>
            <a:ext cx="3186600" cy="33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1" name="Google Shape;2301;p161"/>
          <p:cNvSpPr/>
          <p:nvPr/>
        </p:nvSpPr>
        <p:spPr>
          <a:xfrm>
            <a:off x="1760425" y="3238850"/>
            <a:ext cx="2559600" cy="33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6" name="Google Shape;2306;p16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643050" y="1134275"/>
            <a:ext cx="4155448" cy="233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7" name="Google Shape;2307;p162"/>
          <p:cNvSpPr txBox="1"/>
          <p:nvPr/>
        </p:nvSpPr>
        <p:spPr>
          <a:xfrm>
            <a:off x="951723" y="1189122"/>
            <a:ext cx="3774300" cy="17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walk to my friend’s house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400 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away. That takes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minutes. I wait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minute when picking them up. Then we jog together to the sports centre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800 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which takes us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8" name="Google Shape;2308;p162"/>
          <p:cNvSpPr txBox="1"/>
          <p:nvPr>
            <p:ph idx="1" type="body"/>
          </p:nvPr>
        </p:nvSpPr>
        <p:spPr>
          <a:xfrm>
            <a:off x="324000" y="759300"/>
            <a:ext cx="77967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Complete the distance time graph </a:t>
            </a:r>
            <a:r>
              <a:rPr lang="en-GB" sz="1900"/>
              <a:t>sketch</a:t>
            </a:r>
            <a:r>
              <a:rPr lang="en-GB" sz="1900"/>
              <a:t> for the journey. </a:t>
            </a:r>
            <a:endParaRPr sz="1900"/>
          </a:p>
        </p:txBody>
      </p:sp>
      <p:sp>
        <p:nvSpPr>
          <p:cNvPr id="2309" name="Google Shape;2309;p16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sp>
        <p:nvSpPr>
          <p:cNvPr id="2310" name="Google Shape;2310;p162"/>
          <p:cNvSpPr txBox="1"/>
          <p:nvPr/>
        </p:nvSpPr>
        <p:spPr>
          <a:xfrm>
            <a:off x="5386360" y="1459405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1" name="Google Shape;2311;p162"/>
          <p:cNvSpPr txBox="1"/>
          <p:nvPr/>
        </p:nvSpPr>
        <p:spPr>
          <a:xfrm>
            <a:off x="8499054" y="4103398"/>
            <a:ext cx="1599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2" name="Google Shape;2312;p162"/>
          <p:cNvSpPr txBox="1"/>
          <p:nvPr/>
        </p:nvSpPr>
        <p:spPr>
          <a:xfrm>
            <a:off x="769721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3" name="Google Shape;2313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391" y="2888313"/>
            <a:ext cx="528208" cy="19317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4" name="Google Shape;2314;p162"/>
          <p:cNvCxnSpPr/>
          <p:nvPr/>
        </p:nvCxnSpPr>
        <p:spPr>
          <a:xfrm rot="10800000">
            <a:off x="5457325" y="1827825"/>
            <a:ext cx="0" cy="250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5" name="Google Shape;2315;p162"/>
          <p:cNvCxnSpPr/>
          <p:nvPr/>
        </p:nvCxnSpPr>
        <p:spPr>
          <a:xfrm>
            <a:off x="5457325" y="4313430"/>
            <a:ext cx="29310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6" name="Google Shape;2316;p162"/>
          <p:cNvCxnSpPr/>
          <p:nvPr/>
        </p:nvCxnSpPr>
        <p:spPr>
          <a:xfrm>
            <a:off x="5378813" y="2164668"/>
            <a:ext cx="6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7" name="Google Shape;2317;p162"/>
          <p:cNvCxnSpPr/>
          <p:nvPr/>
        </p:nvCxnSpPr>
        <p:spPr>
          <a:xfrm>
            <a:off x="5378813" y="3189788"/>
            <a:ext cx="6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8" name="Google Shape;2318;p162"/>
          <p:cNvCxnSpPr/>
          <p:nvPr/>
        </p:nvCxnSpPr>
        <p:spPr>
          <a:xfrm>
            <a:off x="8008990" y="43312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9" name="Google Shape;2319;p162"/>
          <p:cNvCxnSpPr/>
          <p:nvPr/>
        </p:nvCxnSpPr>
        <p:spPr>
          <a:xfrm>
            <a:off x="6808456" y="43312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0" name="Google Shape;2320;p162"/>
          <p:cNvSpPr txBox="1"/>
          <p:nvPr/>
        </p:nvSpPr>
        <p:spPr>
          <a:xfrm>
            <a:off x="7820298" y="4414999"/>
            <a:ext cx="2544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1" name="Google Shape;2321;p162"/>
          <p:cNvSpPr txBox="1"/>
          <p:nvPr/>
        </p:nvSpPr>
        <p:spPr>
          <a:xfrm>
            <a:off x="4816130" y="2025225"/>
            <a:ext cx="528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1200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2" name="Google Shape;2322;p162"/>
          <p:cNvSpPr txBox="1"/>
          <p:nvPr/>
        </p:nvSpPr>
        <p:spPr>
          <a:xfrm>
            <a:off x="6272427" y="335978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3" name="Google Shape;2323;p162"/>
          <p:cNvCxnSpPr/>
          <p:nvPr/>
        </p:nvCxnSpPr>
        <p:spPr>
          <a:xfrm flipH="1" rot="10800000">
            <a:off x="5457325" y="3537775"/>
            <a:ext cx="922500" cy="760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4" name="Google Shape;2324;p162"/>
          <p:cNvSpPr txBox="1"/>
          <p:nvPr/>
        </p:nvSpPr>
        <p:spPr>
          <a:xfrm>
            <a:off x="5673858" y="3156786"/>
            <a:ext cx="807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(3, 400)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5" name="Google Shape;2325;p162"/>
          <p:cNvSpPr txBox="1"/>
          <p:nvPr/>
        </p:nvSpPr>
        <p:spPr>
          <a:xfrm>
            <a:off x="6676441" y="335978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6" name="Google Shape;2326;p162"/>
          <p:cNvCxnSpPr/>
          <p:nvPr/>
        </p:nvCxnSpPr>
        <p:spPr>
          <a:xfrm flipH="1">
            <a:off x="6391225" y="3536363"/>
            <a:ext cx="401400" cy="8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7" name="Google Shape;2327;p162"/>
          <p:cNvCxnSpPr/>
          <p:nvPr/>
        </p:nvCxnSpPr>
        <p:spPr>
          <a:xfrm flipH="1" rot="10800000">
            <a:off x="6802150" y="2190900"/>
            <a:ext cx="1174200" cy="1340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8" name="Google Shape;2328;p162"/>
          <p:cNvSpPr txBox="1"/>
          <p:nvPr/>
        </p:nvSpPr>
        <p:spPr>
          <a:xfrm>
            <a:off x="7861120" y="2006851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9" name="Google Shape;2329;p162"/>
          <p:cNvSpPr txBox="1"/>
          <p:nvPr/>
        </p:nvSpPr>
        <p:spPr>
          <a:xfrm>
            <a:off x="6664458" y="3613986"/>
            <a:ext cx="807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(4, 400)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0" name="Google Shape;2330;p162"/>
          <p:cNvSpPr txBox="1"/>
          <p:nvPr/>
        </p:nvSpPr>
        <p:spPr>
          <a:xfrm>
            <a:off x="7959849" y="2242375"/>
            <a:ext cx="9225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(8, 1200)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163"/>
          <p:cNvSpPr txBox="1"/>
          <p:nvPr/>
        </p:nvSpPr>
        <p:spPr>
          <a:xfrm>
            <a:off x="323275" y="1189125"/>
            <a:ext cx="39966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“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cycle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12 km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in half an hour. In the next half hour we only cycle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km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 We speed up and cycle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km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minutes then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turn for home cycling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km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again. We rest for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 before taking an hour to cycle home after our rest.”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6" name="Google Shape;2336;p163"/>
          <p:cNvSpPr txBox="1"/>
          <p:nvPr>
            <p:ph idx="1" type="body"/>
          </p:nvPr>
        </p:nvSpPr>
        <p:spPr>
          <a:xfrm>
            <a:off x="324000" y="759300"/>
            <a:ext cx="82377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Use the grid to plot Jacob’s long distance training ride.</a:t>
            </a:r>
            <a:endParaRPr/>
          </a:p>
        </p:txBody>
      </p:sp>
      <p:sp>
        <p:nvSpPr>
          <p:cNvPr id="2337" name="Google Shape;2337;p1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pic>
        <p:nvPicPr>
          <p:cNvPr id="2338" name="Google Shape;2338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1418" y="3814092"/>
            <a:ext cx="811501" cy="99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9" name="Google Shape;2339;p1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1539476"/>
            <a:ext cx="3993800" cy="2576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0" name="Google Shape;2340;p1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5429" y="1534703"/>
            <a:ext cx="3996867" cy="2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2341" name="Google Shape;2341;p163"/>
          <p:cNvSpPr txBox="1"/>
          <p:nvPr/>
        </p:nvSpPr>
        <p:spPr>
          <a:xfrm>
            <a:off x="4681893" y="1253818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2" name="Google Shape;2342;p163"/>
          <p:cNvSpPr txBox="1"/>
          <p:nvPr/>
        </p:nvSpPr>
        <p:spPr>
          <a:xfrm>
            <a:off x="8727654" y="3904971"/>
            <a:ext cx="1599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3" name="Google Shape;2343;p163"/>
          <p:cNvSpPr txBox="1"/>
          <p:nvPr/>
        </p:nvSpPr>
        <p:spPr>
          <a:xfrm>
            <a:off x="4361808" y="1468823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4" name="Google Shape;2344;p163"/>
          <p:cNvSpPr txBox="1"/>
          <p:nvPr/>
        </p:nvSpPr>
        <p:spPr>
          <a:xfrm>
            <a:off x="4547976" y="4151891"/>
            <a:ext cx="2544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5" name="Google Shape;2345;p163"/>
          <p:cNvSpPr txBox="1"/>
          <p:nvPr/>
        </p:nvSpPr>
        <p:spPr>
          <a:xfrm>
            <a:off x="6552189" y="4151891"/>
            <a:ext cx="2544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6" name="Google Shape;2346;p163"/>
          <p:cNvSpPr txBox="1"/>
          <p:nvPr/>
        </p:nvSpPr>
        <p:spPr>
          <a:xfrm>
            <a:off x="8404007" y="4151891"/>
            <a:ext cx="3942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180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47" name="Google Shape;2347;p163"/>
          <p:cNvCxnSpPr/>
          <p:nvPr/>
        </p:nvCxnSpPr>
        <p:spPr>
          <a:xfrm>
            <a:off x="4662840" y="1612602"/>
            <a:ext cx="6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8" name="Google Shape;2348;p163"/>
          <p:cNvCxnSpPr/>
          <p:nvPr/>
        </p:nvCxnSpPr>
        <p:spPr>
          <a:xfrm>
            <a:off x="8625749" y="41026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9" name="Google Shape;2349;p163"/>
          <p:cNvCxnSpPr/>
          <p:nvPr/>
        </p:nvCxnSpPr>
        <p:spPr>
          <a:xfrm>
            <a:off x="6674722" y="41026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0" name="Google Shape;2350;p163"/>
          <p:cNvSpPr txBox="1"/>
          <p:nvPr/>
        </p:nvSpPr>
        <p:spPr>
          <a:xfrm>
            <a:off x="7759887" y="4151891"/>
            <a:ext cx="3942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51" name="Google Shape;2351;p163"/>
          <p:cNvCxnSpPr/>
          <p:nvPr/>
        </p:nvCxnSpPr>
        <p:spPr>
          <a:xfrm>
            <a:off x="7981629" y="41026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2" name="Google Shape;2352;p163"/>
          <p:cNvSpPr txBox="1"/>
          <p:nvPr/>
        </p:nvSpPr>
        <p:spPr>
          <a:xfrm>
            <a:off x="7104260" y="4151891"/>
            <a:ext cx="3942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53" name="Google Shape;2353;p163"/>
          <p:cNvCxnSpPr/>
          <p:nvPr/>
        </p:nvCxnSpPr>
        <p:spPr>
          <a:xfrm>
            <a:off x="7326002" y="41026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4" name="Google Shape;2354;p163"/>
          <p:cNvSpPr txBox="1"/>
          <p:nvPr/>
        </p:nvSpPr>
        <p:spPr>
          <a:xfrm>
            <a:off x="5908069" y="4151891"/>
            <a:ext cx="2544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55" name="Google Shape;2355;p163"/>
          <p:cNvCxnSpPr/>
          <p:nvPr/>
        </p:nvCxnSpPr>
        <p:spPr>
          <a:xfrm>
            <a:off x="6030602" y="41026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6" name="Google Shape;2356;p163"/>
          <p:cNvSpPr txBox="1"/>
          <p:nvPr/>
        </p:nvSpPr>
        <p:spPr>
          <a:xfrm>
            <a:off x="5263949" y="4151891"/>
            <a:ext cx="2544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57" name="Google Shape;2357;p163"/>
          <p:cNvCxnSpPr/>
          <p:nvPr/>
        </p:nvCxnSpPr>
        <p:spPr>
          <a:xfrm>
            <a:off x="5390829" y="41026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8" name="Google Shape;2358;p163"/>
          <p:cNvSpPr txBox="1"/>
          <p:nvPr/>
        </p:nvSpPr>
        <p:spPr>
          <a:xfrm>
            <a:off x="4361808" y="2307023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59" name="Google Shape;2359;p163"/>
          <p:cNvCxnSpPr/>
          <p:nvPr/>
        </p:nvCxnSpPr>
        <p:spPr>
          <a:xfrm>
            <a:off x="4662840" y="2450802"/>
            <a:ext cx="6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0" name="Google Shape;2360;p163"/>
          <p:cNvSpPr txBox="1"/>
          <p:nvPr/>
        </p:nvSpPr>
        <p:spPr>
          <a:xfrm>
            <a:off x="4361808" y="3122210"/>
            <a:ext cx="2544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61" name="Google Shape;2361;p163"/>
          <p:cNvCxnSpPr/>
          <p:nvPr/>
        </p:nvCxnSpPr>
        <p:spPr>
          <a:xfrm>
            <a:off x="4662840" y="3265988"/>
            <a:ext cx="6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6" name="Google Shape;2366;p16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94399" y="1233488"/>
            <a:ext cx="4453801" cy="26549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7" name="Google Shape;2367;p164"/>
          <p:cNvSpPr txBox="1"/>
          <p:nvPr/>
        </p:nvSpPr>
        <p:spPr>
          <a:xfrm>
            <a:off x="525237" y="1341522"/>
            <a:ext cx="4045200" cy="17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set off and it takes us half an hour to do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 km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get to the motorway. In one hour on the motorway we travel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km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 Then we hit traffic and stop still for half an hour. Then we move slowly doing the final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in an hour.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8" name="Google Shape;2368;p164"/>
          <p:cNvSpPr txBox="1"/>
          <p:nvPr>
            <p:ph idx="4294967295" type="body"/>
          </p:nvPr>
        </p:nvSpPr>
        <p:spPr>
          <a:xfrm>
            <a:off x="324000" y="759300"/>
            <a:ext cx="68553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S</a:t>
            </a:r>
            <a:r>
              <a:rPr lang="en-GB" sz="1900"/>
              <a:t>ketch the graph of Izzy’s car journey to visit relatives.</a:t>
            </a:r>
            <a:endParaRPr sz="1900"/>
          </a:p>
        </p:txBody>
      </p:sp>
      <p:sp>
        <p:nvSpPr>
          <p:cNvPr id="2369" name="Google Shape;2369;p164"/>
          <p:cNvSpPr txBox="1"/>
          <p:nvPr/>
        </p:nvSpPr>
        <p:spPr>
          <a:xfrm>
            <a:off x="5386360" y="1459405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0" name="Google Shape;2370;p164"/>
          <p:cNvSpPr txBox="1"/>
          <p:nvPr/>
        </p:nvSpPr>
        <p:spPr>
          <a:xfrm>
            <a:off x="8499054" y="4103398"/>
            <a:ext cx="1599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1" name="Google Shape;2371;p164"/>
          <p:cNvCxnSpPr/>
          <p:nvPr/>
        </p:nvCxnSpPr>
        <p:spPr>
          <a:xfrm rot="10800000">
            <a:off x="5457325" y="1827825"/>
            <a:ext cx="0" cy="250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2" name="Google Shape;2372;p164"/>
          <p:cNvCxnSpPr/>
          <p:nvPr/>
        </p:nvCxnSpPr>
        <p:spPr>
          <a:xfrm>
            <a:off x="5457325" y="4313430"/>
            <a:ext cx="29310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3" name="Google Shape;2373;p1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Drawing distance time graphs</a:t>
            </a:r>
            <a:endParaRPr/>
          </a:p>
        </p:txBody>
      </p:sp>
      <p:pic>
        <p:nvPicPr>
          <p:cNvPr id="2374" name="Google Shape;2374;p1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7731" y="3740028"/>
            <a:ext cx="1114250" cy="10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9" name="Google Shape;2379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5429" y="1534703"/>
            <a:ext cx="3996867" cy="2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2380" name="Google Shape;2380;p165"/>
          <p:cNvSpPr txBox="1"/>
          <p:nvPr/>
        </p:nvSpPr>
        <p:spPr>
          <a:xfrm>
            <a:off x="323275" y="1189125"/>
            <a:ext cx="39966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“We cycle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12 km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in half an hour. In the next half hour we only cycle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km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 We speed up and cycle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km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minutes then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turn for home cycling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km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again. We rest for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minutes before taking an hour to cycle home after our rest.”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1" name="Google Shape;2381;p165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Use the grid to plot Jacob’s long distance training ride.</a:t>
            </a:r>
            <a:endParaRPr/>
          </a:p>
        </p:txBody>
      </p:sp>
      <p:sp>
        <p:nvSpPr>
          <p:cNvPr id="2382" name="Google Shape;2382;p1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pic>
        <p:nvPicPr>
          <p:cNvPr id="2383" name="Google Shape;2383;p1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1418" y="3814092"/>
            <a:ext cx="811501" cy="99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4" name="Google Shape;2384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5907" y="1529950"/>
            <a:ext cx="4007900" cy="2576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5" name="Google Shape;2385;p165"/>
          <p:cNvSpPr txBox="1"/>
          <p:nvPr/>
        </p:nvSpPr>
        <p:spPr>
          <a:xfrm>
            <a:off x="4681893" y="1253818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6" name="Google Shape;2386;p165"/>
          <p:cNvSpPr txBox="1"/>
          <p:nvPr/>
        </p:nvSpPr>
        <p:spPr>
          <a:xfrm>
            <a:off x="8727654" y="3904971"/>
            <a:ext cx="1599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7" name="Google Shape;2387;p165"/>
          <p:cNvSpPr txBox="1"/>
          <p:nvPr/>
        </p:nvSpPr>
        <p:spPr>
          <a:xfrm>
            <a:off x="4361808" y="1468823"/>
            <a:ext cx="2544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8" name="Google Shape;2388;p165"/>
          <p:cNvSpPr txBox="1"/>
          <p:nvPr/>
        </p:nvSpPr>
        <p:spPr>
          <a:xfrm>
            <a:off x="4547976" y="4151891"/>
            <a:ext cx="2544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9" name="Google Shape;2389;p165"/>
          <p:cNvSpPr txBox="1"/>
          <p:nvPr/>
        </p:nvSpPr>
        <p:spPr>
          <a:xfrm>
            <a:off x="6552189" y="4151891"/>
            <a:ext cx="2544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90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0" name="Google Shape;2390;p165"/>
          <p:cNvSpPr txBox="1"/>
          <p:nvPr/>
        </p:nvSpPr>
        <p:spPr>
          <a:xfrm>
            <a:off x="8404007" y="4151891"/>
            <a:ext cx="3942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180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91" name="Google Shape;2391;p165"/>
          <p:cNvCxnSpPr/>
          <p:nvPr/>
        </p:nvCxnSpPr>
        <p:spPr>
          <a:xfrm>
            <a:off x="4662840" y="1612602"/>
            <a:ext cx="6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2" name="Google Shape;2392;p165"/>
          <p:cNvCxnSpPr/>
          <p:nvPr/>
        </p:nvCxnSpPr>
        <p:spPr>
          <a:xfrm>
            <a:off x="8625749" y="41026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3" name="Google Shape;2393;p165"/>
          <p:cNvCxnSpPr/>
          <p:nvPr/>
        </p:nvCxnSpPr>
        <p:spPr>
          <a:xfrm>
            <a:off x="6674722" y="41026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4" name="Google Shape;2394;p165"/>
          <p:cNvSpPr txBox="1"/>
          <p:nvPr/>
        </p:nvSpPr>
        <p:spPr>
          <a:xfrm>
            <a:off x="7759887" y="4151891"/>
            <a:ext cx="3942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95" name="Google Shape;2395;p165"/>
          <p:cNvCxnSpPr/>
          <p:nvPr/>
        </p:nvCxnSpPr>
        <p:spPr>
          <a:xfrm>
            <a:off x="7981629" y="41026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6" name="Google Shape;2396;p165"/>
          <p:cNvSpPr txBox="1"/>
          <p:nvPr/>
        </p:nvSpPr>
        <p:spPr>
          <a:xfrm>
            <a:off x="7104260" y="4151891"/>
            <a:ext cx="3942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97" name="Google Shape;2397;p165"/>
          <p:cNvCxnSpPr/>
          <p:nvPr/>
        </p:nvCxnSpPr>
        <p:spPr>
          <a:xfrm>
            <a:off x="7326002" y="41026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8" name="Google Shape;2398;p165"/>
          <p:cNvSpPr txBox="1"/>
          <p:nvPr/>
        </p:nvSpPr>
        <p:spPr>
          <a:xfrm>
            <a:off x="5908069" y="4151891"/>
            <a:ext cx="2544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99" name="Google Shape;2399;p165"/>
          <p:cNvCxnSpPr/>
          <p:nvPr/>
        </p:nvCxnSpPr>
        <p:spPr>
          <a:xfrm>
            <a:off x="6030602" y="41026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0" name="Google Shape;2400;p165"/>
          <p:cNvSpPr txBox="1"/>
          <p:nvPr/>
        </p:nvSpPr>
        <p:spPr>
          <a:xfrm>
            <a:off x="5263949" y="4151891"/>
            <a:ext cx="2544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01" name="Google Shape;2401;p165"/>
          <p:cNvCxnSpPr/>
          <p:nvPr/>
        </p:nvCxnSpPr>
        <p:spPr>
          <a:xfrm>
            <a:off x="5390829" y="41026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2" name="Google Shape;2402;p165"/>
          <p:cNvSpPr txBox="1"/>
          <p:nvPr/>
        </p:nvSpPr>
        <p:spPr>
          <a:xfrm>
            <a:off x="4361808" y="2307023"/>
            <a:ext cx="2544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03" name="Google Shape;2403;p165"/>
          <p:cNvCxnSpPr/>
          <p:nvPr/>
        </p:nvCxnSpPr>
        <p:spPr>
          <a:xfrm>
            <a:off x="4662840" y="2450802"/>
            <a:ext cx="6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4" name="Google Shape;2404;p165"/>
          <p:cNvSpPr txBox="1"/>
          <p:nvPr/>
        </p:nvSpPr>
        <p:spPr>
          <a:xfrm>
            <a:off x="4361808" y="3122210"/>
            <a:ext cx="2544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05" name="Google Shape;2405;p165"/>
          <p:cNvCxnSpPr/>
          <p:nvPr/>
        </p:nvCxnSpPr>
        <p:spPr>
          <a:xfrm>
            <a:off x="4662840" y="3265988"/>
            <a:ext cx="6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9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0" name="Google Shape;2410;p16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94399" y="1233488"/>
            <a:ext cx="4453801" cy="26549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1" name="Google Shape;2411;p166"/>
          <p:cNvSpPr txBox="1"/>
          <p:nvPr/>
        </p:nvSpPr>
        <p:spPr>
          <a:xfrm>
            <a:off x="525237" y="1341522"/>
            <a:ext cx="4045200" cy="17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set off and it takes us half an hour to do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40 km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get to the motorway. In one hour on the motorway we travel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km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 Then we hit traffic and stop still for half an hour. Then we move slowly doing the final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km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in an hour.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2" name="Google Shape;2412;p166"/>
          <p:cNvSpPr txBox="1"/>
          <p:nvPr>
            <p:ph idx="4294967295" type="body"/>
          </p:nvPr>
        </p:nvSpPr>
        <p:spPr>
          <a:xfrm>
            <a:off x="324000" y="759300"/>
            <a:ext cx="68553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</a:t>
            </a:r>
            <a:r>
              <a:rPr lang="en-GB" sz="1900"/>
              <a:t>Sketch the graph of Izzy’s car journey to visit relatives.</a:t>
            </a:r>
            <a:endParaRPr sz="1900"/>
          </a:p>
        </p:txBody>
      </p:sp>
      <p:sp>
        <p:nvSpPr>
          <p:cNvPr id="2413" name="Google Shape;2413;p166"/>
          <p:cNvSpPr txBox="1"/>
          <p:nvPr/>
        </p:nvSpPr>
        <p:spPr>
          <a:xfrm>
            <a:off x="5386360" y="1459405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166"/>
          <p:cNvSpPr txBox="1"/>
          <p:nvPr/>
        </p:nvSpPr>
        <p:spPr>
          <a:xfrm>
            <a:off x="8499054" y="4103398"/>
            <a:ext cx="1599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15" name="Google Shape;2415;p166"/>
          <p:cNvCxnSpPr/>
          <p:nvPr/>
        </p:nvCxnSpPr>
        <p:spPr>
          <a:xfrm rot="10800000">
            <a:off x="5457325" y="1827825"/>
            <a:ext cx="0" cy="250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6" name="Google Shape;2416;p166"/>
          <p:cNvCxnSpPr/>
          <p:nvPr/>
        </p:nvCxnSpPr>
        <p:spPr>
          <a:xfrm>
            <a:off x="5457325" y="4313430"/>
            <a:ext cx="29310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7" name="Google Shape;2417;p166"/>
          <p:cNvCxnSpPr/>
          <p:nvPr/>
        </p:nvCxnSpPr>
        <p:spPr>
          <a:xfrm>
            <a:off x="5378813" y="2164668"/>
            <a:ext cx="6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8" name="Google Shape;2418;p166"/>
          <p:cNvCxnSpPr/>
          <p:nvPr/>
        </p:nvCxnSpPr>
        <p:spPr>
          <a:xfrm>
            <a:off x="5378813" y="3189788"/>
            <a:ext cx="6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9" name="Google Shape;2419;p166"/>
          <p:cNvCxnSpPr/>
          <p:nvPr/>
        </p:nvCxnSpPr>
        <p:spPr>
          <a:xfrm>
            <a:off x="8008990" y="43312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0" name="Google Shape;2420;p166"/>
          <p:cNvCxnSpPr/>
          <p:nvPr/>
        </p:nvCxnSpPr>
        <p:spPr>
          <a:xfrm>
            <a:off x="7155447" y="43312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1" name="Google Shape;2421;p166"/>
          <p:cNvSpPr txBox="1"/>
          <p:nvPr/>
        </p:nvSpPr>
        <p:spPr>
          <a:xfrm>
            <a:off x="7808794" y="4415000"/>
            <a:ext cx="3525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180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2" name="Google Shape;2422;p166"/>
          <p:cNvSpPr txBox="1"/>
          <p:nvPr/>
        </p:nvSpPr>
        <p:spPr>
          <a:xfrm>
            <a:off x="4943027" y="2025225"/>
            <a:ext cx="4014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160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3" name="Google Shape;2423;p166"/>
          <p:cNvSpPr txBox="1"/>
          <p:nvPr/>
        </p:nvSpPr>
        <p:spPr>
          <a:xfrm>
            <a:off x="5803720" y="35351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24" name="Google Shape;2424;p166"/>
          <p:cNvCxnSpPr/>
          <p:nvPr/>
        </p:nvCxnSpPr>
        <p:spPr>
          <a:xfrm flipH="1" rot="10800000">
            <a:off x="5457220" y="3715648"/>
            <a:ext cx="456000" cy="582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5" name="Google Shape;2425;p166"/>
          <p:cNvSpPr txBox="1"/>
          <p:nvPr/>
        </p:nvSpPr>
        <p:spPr>
          <a:xfrm>
            <a:off x="6054858" y="3690186"/>
            <a:ext cx="807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(30, 40)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6" name="Google Shape;2426;p166"/>
          <p:cNvSpPr txBox="1"/>
          <p:nvPr/>
        </p:nvSpPr>
        <p:spPr>
          <a:xfrm>
            <a:off x="6570067" y="221678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27" name="Google Shape;2427;p166"/>
          <p:cNvCxnSpPr/>
          <p:nvPr/>
        </p:nvCxnSpPr>
        <p:spPr>
          <a:xfrm rot="10800000">
            <a:off x="6688150" y="2393363"/>
            <a:ext cx="4188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8" name="Google Shape;2428;p166"/>
          <p:cNvCxnSpPr/>
          <p:nvPr/>
        </p:nvCxnSpPr>
        <p:spPr>
          <a:xfrm flipH="1" rot="10800000">
            <a:off x="5922270" y="2393507"/>
            <a:ext cx="761400" cy="1302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9" name="Google Shape;2429;p166"/>
          <p:cNvSpPr txBox="1"/>
          <p:nvPr/>
        </p:nvSpPr>
        <p:spPr>
          <a:xfrm>
            <a:off x="6999907" y="221243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0" name="Google Shape;2430;p166"/>
          <p:cNvSpPr txBox="1"/>
          <p:nvPr/>
        </p:nvSpPr>
        <p:spPr>
          <a:xfrm>
            <a:off x="5686949" y="2242375"/>
            <a:ext cx="870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(90, 140)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1" name="Google Shape;2431;p166"/>
          <p:cNvSpPr txBox="1"/>
          <p:nvPr/>
        </p:nvSpPr>
        <p:spPr>
          <a:xfrm>
            <a:off x="7809150" y="1785175"/>
            <a:ext cx="9969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(180, 160)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2" name="Google Shape;2432;p1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Drawing distance time graphs</a:t>
            </a:r>
            <a:endParaRPr/>
          </a:p>
        </p:txBody>
      </p:sp>
      <p:pic>
        <p:nvPicPr>
          <p:cNvPr id="2433" name="Google Shape;2433;p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7731" y="3740028"/>
            <a:ext cx="1114250" cy="1078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4" name="Google Shape;2434;p166"/>
          <p:cNvCxnSpPr/>
          <p:nvPr/>
        </p:nvCxnSpPr>
        <p:spPr>
          <a:xfrm>
            <a:off x="6301905" y="43312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5" name="Google Shape;2435;p166"/>
          <p:cNvCxnSpPr/>
          <p:nvPr/>
        </p:nvCxnSpPr>
        <p:spPr>
          <a:xfrm>
            <a:off x="5448363" y="4331268"/>
            <a:ext cx="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6" name="Google Shape;2436;p166"/>
          <p:cNvSpPr txBox="1"/>
          <p:nvPr/>
        </p:nvSpPr>
        <p:spPr>
          <a:xfrm>
            <a:off x="7826600" y="198383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7" name="Google Shape;2437;p166"/>
          <p:cNvCxnSpPr/>
          <p:nvPr/>
        </p:nvCxnSpPr>
        <p:spPr>
          <a:xfrm flipH="1" rot="10800000">
            <a:off x="7126425" y="2152550"/>
            <a:ext cx="822300" cy="231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8" name="Google Shape;2438;p166"/>
          <p:cNvSpPr txBox="1"/>
          <p:nvPr/>
        </p:nvSpPr>
        <p:spPr>
          <a:xfrm>
            <a:off x="6829950" y="2470975"/>
            <a:ext cx="10554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(120, 140)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p167"/>
          <p:cNvSpPr txBox="1"/>
          <p:nvPr>
            <p:ph idx="1" type="body"/>
          </p:nvPr>
        </p:nvSpPr>
        <p:spPr>
          <a:xfrm>
            <a:off x="324000" y="1080000"/>
            <a:ext cx="8113800" cy="8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model real life situations graphically, an example being a distance time graph.</a:t>
            </a:r>
            <a:endParaRPr sz="2000"/>
          </a:p>
        </p:txBody>
      </p:sp>
      <p:sp>
        <p:nvSpPr>
          <p:cNvPr id="2444" name="Google Shape;2444;p1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Modelling with graphs</a:t>
            </a:r>
            <a:endParaRPr/>
          </a:p>
        </p:txBody>
      </p:sp>
      <p:pic>
        <p:nvPicPr>
          <p:cNvPr id="2445" name="Google Shape;2445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3837" y="1787237"/>
            <a:ext cx="3873931" cy="30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6" name="Google Shape;2446;p167"/>
          <p:cNvSpPr txBox="1"/>
          <p:nvPr/>
        </p:nvSpPr>
        <p:spPr>
          <a:xfrm>
            <a:off x="4776760" y="1406218"/>
            <a:ext cx="2334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7" name="Google Shape;2447;p167"/>
          <p:cNvSpPr txBox="1"/>
          <p:nvPr/>
        </p:nvSpPr>
        <p:spPr>
          <a:xfrm>
            <a:off x="8422854" y="4202612"/>
            <a:ext cx="1599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8" name="Google Shape;2448;p167"/>
          <p:cNvSpPr txBox="1"/>
          <p:nvPr/>
        </p:nvSpPr>
        <p:spPr>
          <a:xfrm>
            <a:off x="5716014" y="16762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9" name="Google Shape;2449;p167"/>
          <p:cNvSpPr txBox="1"/>
          <p:nvPr/>
        </p:nvSpPr>
        <p:spPr>
          <a:xfrm>
            <a:off x="6706614" y="16762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0" name="Google Shape;2450;p167"/>
          <p:cNvSpPr txBox="1"/>
          <p:nvPr/>
        </p:nvSpPr>
        <p:spPr>
          <a:xfrm>
            <a:off x="720549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1" name="Google Shape;2451;p167"/>
          <p:cNvSpPr txBox="1"/>
          <p:nvPr/>
        </p:nvSpPr>
        <p:spPr>
          <a:xfrm>
            <a:off x="7697214" y="308234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52" name="Google Shape;2452;p167"/>
          <p:cNvCxnSpPr/>
          <p:nvPr/>
        </p:nvCxnSpPr>
        <p:spPr>
          <a:xfrm flipH="1" rot="10800000">
            <a:off x="4844514" y="1844375"/>
            <a:ext cx="995100" cy="2817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3" name="Google Shape;2453;p167"/>
          <p:cNvCxnSpPr/>
          <p:nvPr/>
        </p:nvCxnSpPr>
        <p:spPr>
          <a:xfrm rot="10800000">
            <a:off x="5839700" y="1844475"/>
            <a:ext cx="990600" cy="1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4" name="Google Shape;2454;p167"/>
          <p:cNvCxnSpPr/>
          <p:nvPr/>
        </p:nvCxnSpPr>
        <p:spPr>
          <a:xfrm>
            <a:off x="6830300" y="1845675"/>
            <a:ext cx="495300" cy="1409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5" name="Google Shape;2455;p167"/>
          <p:cNvCxnSpPr/>
          <p:nvPr/>
        </p:nvCxnSpPr>
        <p:spPr>
          <a:xfrm rot="10800000">
            <a:off x="7325600" y="3255350"/>
            <a:ext cx="495300" cy="4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6" name="Google Shape;2456;p167"/>
          <p:cNvCxnSpPr/>
          <p:nvPr/>
        </p:nvCxnSpPr>
        <p:spPr>
          <a:xfrm>
            <a:off x="7820900" y="3260150"/>
            <a:ext cx="498300" cy="1412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7" name="Google Shape;2457;p167"/>
          <p:cNvSpPr txBox="1"/>
          <p:nvPr>
            <p:ph idx="1" type="body"/>
          </p:nvPr>
        </p:nvSpPr>
        <p:spPr>
          <a:xfrm>
            <a:off x="324000" y="1978500"/>
            <a:ext cx="4097700" cy="234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Horizontal lines on distance time graphs represent moments where there is no change in distance.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Vertical lines are not possible as this would represent a change in distance in zero time. </a:t>
            </a:r>
            <a:endParaRPr sz="19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1" name="Shape 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Google Shape;2462;p16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463" name="Google Shape;2463;p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