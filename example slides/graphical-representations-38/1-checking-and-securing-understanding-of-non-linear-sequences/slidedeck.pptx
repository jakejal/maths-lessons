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3"/>
    <p:sldMasterId id="21474837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b47e24f007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b47e24f007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2b47e24f007_0_1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b47e24f007_0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2b47e24f007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2b47e24f007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b47e24f007_0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b47e24f007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2b47e24f007_0_1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2b47e24f007_0_1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b47e24f007_0_1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b47e24f007_0_1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b47e24f007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2b47e24f007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2b47e24f007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2b47e24f007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2b47e24f007_0_1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2b47e24f007_0_1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b47e24f007_0_2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b47e24f007_0_2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2b47e24f007_0_2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2b47e24f007_0_2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b4fd6998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b4fd6998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b4fd69980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b4fd69980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b4fd69980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b4fd69980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g2b4fd69980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9" name="Google Shape;1989;g2b4fd69980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2b4fd69980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2b4fd69980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2b4fd69980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2b4fd69980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2b4fd69980a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2b4fd69980a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2b4fd69980a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2b4fd69980a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2b4fd69980a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2b4fd69980a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b4fd69980a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b4fd69980a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g2b4fd69980a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" name="Google Shape;2148;g2b4fd69980a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g2b4fd69980a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0" name="Google Shape;2180;g2b4fd69980a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2b4fd69980a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2b4fd69980a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2b4fd69980a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2b4fd69980a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2b4fd69980a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7" name="Google Shape;2317;g2b4fd69980a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2b4fd69980a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2b4fd69980a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7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g2b4fd69980a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9" name="Google Shape;2509;g2b4fd69980a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g2b4fd69980a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5" name="Google Shape;2575;g2b4fd69980a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g2b4fd69980a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4" name="Google Shape;2614;g2b4fd69980a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4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g2b4fd69980a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6" name="Google Shape;2646;g2b4fd69980a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g2b4fd69980a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6" name="Google Shape;2656;g2b4fd69980a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g2b567c974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5" name="Google Shape;2675;g2b567c974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g2b4fd69980a_0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8" name="Google Shape;2688;g2b4fd69980a_0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0" name="Shape 2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g2b4fd69980a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2" name="Google Shape;2792;g2b4fd69980a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g2b567c974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0" name="Google Shape;2890;g2b567c974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2b567c974e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2b567c974e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g2b567c974e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6" name="Google Shape;3006;g2b567c974e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4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6" name="Google Shape;315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0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2" name="Google Shape;316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6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76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76.png"/><Relationship Id="rId4" Type="http://schemas.openxmlformats.org/officeDocument/2006/relationships/image" Target="../media/image33.png"/><Relationship Id="rId11" Type="http://schemas.openxmlformats.org/officeDocument/2006/relationships/image" Target="../media/image19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6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76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76.png"/><Relationship Id="rId4" Type="http://schemas.openxmlformats.org/officeDocument/2006/relationships/image" Target="../media/image33.png"/><Relationship Id="rId11" Type="http://schemas.openxmlformats.org/officeDocument/2006/relationships/image" Target="../media/image19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10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0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8" name="Google Shape;1298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4" name="Google Shape;1304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5" name="Google Shape;130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8" name="Google Shape;1308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1" name="Google Shape;1311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4" name="Google Shape;1314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5" name="Google Shape;1315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0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0" name="Google Shape;1320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4" name="Google Shape;132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7" name="Google Shape;132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3" name="Google Shape;133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6" name="Google Shape;133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7" name="Google Shape;133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8" name="Google Shape;133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10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2" name="Google Shape;1342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3" name="Google Shape;134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5" name="Google Shape;1345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6" name="Google Shape;134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7" name="Google Shape;134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8" name="Google Shape;1348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9" name="Google Shape;134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2" name="Google Shape;1352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5" name="Google Shape;1355;p106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6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6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8" name="Google Shape;135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1" name="Google Shape;136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2" name="Google Shape;136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3" name="Google Shape;136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4" name="Google Shape;136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5" name="Google Shape;136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6" name="Google Shape;136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7" name="Google Shape;136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8" name="Google Shape;136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9" name="Google Shape;136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0" name="Google Shape;137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1" name="Google Shape;137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2" name="Google Shape;137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4" name="Google Shape;1374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7" name="Google Shape;137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Google Shape;1381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4" name="Google Shape;138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Google Shape;1388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1" name="Google Shape;139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8" name="Google Shape;1398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7" name="Google Shape;1407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3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2" name="Google Shape;143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5"/>
          <p:cNvSpPr txBox="1"/>
          <p:nvPr/>
        </p:nvSpPr>
        <p:spPr>
          <a:xfrm>
            <a:off x="324000" y="45525"/>
            <a:ext cx="124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9" name="Google Shape;143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17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8" name="Google Shape;1458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18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3" name="Google Shape;1463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4" name="Google Shape;1464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7" name="Google Shape;1467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9" name="Google Shape;1469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3" name="Google Shape;1473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5" name="Google Shape;1475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8" name="Google Shape;1478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99.png"/><Relationship Id="rId6" Type="http://schemas.openxmlformats.org/officeDocument/2006/relationships/image" Target="../media/image10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99.png"/><Relationship Id="rId6" Type="http://schemas.openxmlformats.org/officeDocument/2006/relationships/image" Target="../media/image102.png"/><Relationship Id="rId7" Type="http://schemas.openxmlformats.org/officeDocument/2006/relationships/image" Target="../media/image98.png"/><Relationship Id="rId8" Type="http://schemas.openxmlformats.org/officeDocument/2006/relationships/image" Target="../media/image10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99.png"/><Relationship Id="rId6" Type="http://schemas.openxmlformats.org/officeDocument/2006/relationships/image" Target="../media/image102.png"/><Relationship Id="rId7" Type="http://schemas.openxmlformats.org/officeDocument/2006/relationships/image" Target="../media/image98.png"/><Relationship Id="rId8" Type="http://schemas.openxmlformats.org/officeDocument/2006/relationships/image" Target="../media/image10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5.png"/><Relationship Id="rId4" Type="http://schemas.openxmlformats.org/officeDocument/2006/relationships/image" Target="../media/image107.png"/><Relationship Id="rId5" Type="http://schemas.openxmlformats.org/officeDocument/2006/relationships/image" Target="../media/image106.png"/><Relationship Id="rId6" Type="http://schemas.openxmlformats.org/officeDocument/2006/relationships/image" Target="../media/image104.png"/><Relationship Id="rId7" Type="http://schemas.openxmlformats.org/officeDocument/2006/relationships/image" Target="../media/image10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8.png"/><Relationship Id="rId4" Type="http://schemas.openxmlformats.org/officeDocument/2006/relationships/image" Target="../media/image105.png"/><Relationship Id="rId9" Type="http://schemas.openxmlformats.org/officeDocument/2006/relationships/image" Target="../media/image112.png"/><Relationship Id="rId5" Type="http://schemas.openxmlformats.org/officeDocument/2006/relationships/image" Target="../media/image107.png"/><Relationship Id="rId6" Type="http://schemas.openxmlformats.org/officeDocument/2006/relationships/image" Target="../media/image106.png"/><Relationship Id="rId7" Type="http://schemas.openxmlformats.org/officeDocument/2006/relationships/image" Target="../media/image104.png"/><Relationship Id="rId8" Type="http://schemas.openxmlformats.org/officeDocument/2006/relationships/image" Target="../media/image110.png"/><Relationship Id="rId11" Type="http://schemas.openxmlformats.org/officeDocument/2006/relationships/image" Target="../media/image111.png"/><Relationship Id="rId10" Type="http://schemas.openxmlformats.org/officeDocument/2006/relationships/image" Target="../media/image9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0.png"/><Relationship Id="rId4" Type="http://schemas.openxmlformats.org/officeDocument/2006/relationships/image" Target="../media/image99.png"/><Relationship Id="rId5" Type="http://schemas.openxmlformats.org/officeDocument/2006/relationships/image" Target="../media/image102.png"/><Relationship Id="rId6" Type="http://schemas.openxmlformats.org/officeDocument/2006/relationships/image" Target="../media/image9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0.png"/><Relationship Id="rId4" Type="http://schemas.openxmlformats.org/officeDocument/2006/relationships/image" Target="../media/image113.png"/><Relationship Id="rId5" Type="http://schemas.openxmlformats.org/officeDocument/2006/relationships/image" Target="../media/image98.png"/><Relationship Id="rId6" Type="http://schemas.openxmlformats.org/officeDocument/2006/relationships/image" Target="../media/image1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5.png"/><Relationship Id="rId4" Type="http://schemas.openxmlformats.org/officeDocument/2006/relationships/image" Target="../media/image98.png"/><Relationship Id="rId5" Type="http://schemas.openxmlformats.org/officeDocument/2006/relationships/image" Target="../media/image1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Relationship Id="rId5" Type="http://schemas.openxmlformats.org/officeDocument/2006/relationships/image" Target="../media/image9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Relationship Id="rId5" Type="http://schemas.openxmlformats.org/officeDocument/2006/relationships/image" Target="../media/image9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Relationship Id="rId5" Type="http://schemas.openxmlformats.org/officeDocument/2006/relationships/image" Target="../media/image9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Relationship Id="rId5" Type="http://schemas.openxmlformats.org/officeDocument/2006/relationships/image" Target="../media/image9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6.png"/><Relationship Id="rId4" Type="http://schemas.openxmlformats.org/officeDocument/2006/relationships/image" Target="../media/image10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1.png"/><Relationship Id="rId4" Type="http://schemas.openxmlformats.org/officeDocument/2006/relationships/image" Target="../media/image9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9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1.png"/><Relationship Id="rId4" Type="http://schemas.openxmlformats.org/officeDocument/2006/relationships/image" Target="../media/image9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9.png"/><Relationship Id="rId4" Type="http://schemas.openxmlformats.org/officeDocument/2006/relationships/image" Target="../media/image1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non-linear sequences</a:t>
            </a:r>
            <a:endParaRPr/>
          </a:p>
        </p:txBody>
      </p:sp>
      <p:sp>
        <p:nvSpPr>
          <p:cNvPr id="1500" name="Google Shape;1500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26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not all sequences are linear.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28"/>
          <p:cNvSpPr txBox="1"/>
          <p:nvPr>
            <p:ph idx="1" type="subTitle"/>
          </p:nvPr>
        </p:nvSpPr>
        <p:spPr>
          <a:xfrm>
            <a:off x="324000" y="4010650"/>
            <a:ext cx="80445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A </a:t>
            </a:r>
            <a:r>
              <a:rPr lang="en-GB" sz="1900">
                <a:solidFill>
                  <a:schemeClr val="dk1"/>
                </a:solidFill>
              </a:rPr>
              <a:t>geometric sequence is a sequence with a constant multiplicative relationship between successive terms.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16" name="Google Shape;1516;p128"/>
          <p:cNvSpPr txBox="1"/>
          <p:nvPr/>
        </p:nvSpPr>
        <p:spPr>
          <a:xfrm>
            <a:off x="324000" y="1145259"/>
            <a:ext cx="8496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 (or linear) sequence is a sequence where the difference between successive terms is a constant.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10, 12, 14, 16, 18,...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10, 12, 15, 19, 24,...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28"/>
          <p:cNvSpPr txBox="1"/>
          <p:nvPr/>
        </p:nvSpPr>
        <p:spPr>
          <a:xfrm>
            <a:off x="3115800" y="1857125"/>
            <a:ext cx="57042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an arithmetic sequence with a common difference of 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8" name="Google Shape;1518;p128"/>
          <p:cNvGrpSpPr/>
          <p:nvPr/>
        </p:nvGrpSpPr>
        <p:grpSpPr>
          <a:xfrm>
            <a:off x="975180" y="1934750"/>
            <a:ext cx="1634110" cy="627825"/>
            <a:chOff x="975180" y="1553750"/>
            <a:chExt cx="1634110" cy="627825"/>
          </a:xfrm>
        </p:grpSpPr>
        <p:sp>
          <p:nvSpPr>
            <p:cNvPr id="1519" name="Google Shape;1519;p128"/>
            <p:cNvSpPr txBox="1"/>
            <p:nvPr/>
          </p:nvSpPr>
          <p:spPr>
            <a:xfrm>
              <a:off x="1009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0" name="Google Shape;1520;p128"/>
            <p:cNvSpPr txBox="1"/>
            <p:nvPr/>
          </p:nvSpPr>
          <p:spPr>
            <a:xfrm>
              <a:off x="1416890" y="194457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1" name="Google Shape;1521;p128"/>
            <p:cNvSpPr txBox="1"/>
            <p:nvPr/>
          </p:nvSpPr>
          <p:spPr>
            <a:xfrm>
              <a:off x="1824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2" name="Google Shape;1522;p128"/>
            <p:cNvSpPr txBox="1"/>
            <p:nvPr/>
          </p:nvSpPr>
          <p:spPr>
            <a:xfrm>
              <a:off x="22318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3" name="Google Shape;1523;p128"/>
            <p:cNvSpPr/>
            <p:nvPr/>
          </p:nvSpPr>
          <p:spPr>
            <a:xfrm rot="5397628">
              <a:off x="936480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128"/>
            <p:cNvSpPr/>
            <p:nvPr/>
          </p:nvSpPr>
          <p:spPr>
            <a:xfrm rot="5397628">
              <a:off x="1348091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128"/>
            <p:cNvSpPr/>
            <p:nvPr/>
          </p:nvSpPr>
          <p:spPr>
            <a:xfrm rot="5397628">
              <a:off x="175967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6" name="Google Shape;1526;p128"/>
            <p:cNvSpPr/>
            <p:nvPr/>
          </p:nvSpPr>
          <p:spPr>
            <a:xfrm rot="5397628">
              <a:off x="217125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7" name="Google Shape;1527;p128"/>
          <p:cNvSpPr txBox="1"/>
          <p:nvPr/>
        </p:nvSpPr>
        <p:spPr>
          <a:xfrm>
            <a:off x="3115800" y="2749275"/>
            <a:ext cx="57042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not an arithmetic sequence because there is not a common difference between successive terms.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8" name="Google Shape;1528;p128"/>
          <p:cNvGrpSpPr/>
          <p:nvPr/>
        </p:nvGrpSpPr>
        <p:grpSpPr>
          <a:xfrm>
            <a:off x="905442" y="2905800"/>
            <a:ext cx="1678335" cy="627825"/>
            <a:chOff x="905442" y="2524800"/>
            <a:chExt cx="1678335" cy="627825"/>
          </a:xfrm>
        </p:grpSpPr>
        <p:sp>
          <p:nvSpPr>
            <p:cNvPr id="1529" name="Google Shape;1529;p128"/>
            <p:cNvSpPr txBox="1"/>
            <p:nvPr/>
          </p:nvSpPr>
          <p:spPr>
            <a:xfrm>
              <a:off x="93965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0" name="Google Shape;1530;p128"/>
            <p:cNvSpPr txBox="1"/>
            <p:nvPr/>
          </p:nvSpPr>
          <p:spPr>
            <a:xfrm>
              <a:off x="1376750" y="291562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1" name="Google Shape;1531;p128"/>
            <p:cNvSpPr txBox="1"/>
            <p:nvPr/>
          </p:nvSpPr>
          <p:spPr>
            <a:xfrm>
              <a:off x="177470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2" name="Google Shape;1532;p128"/>
            <p:cNvSpPr txBox="1"/>
            <p:nvPr/>
          </p:nvSpPr>
          <p:spPr>
            <a:xfrm>
              <a:off x="2206377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3" name="Google Shape;1533;p128"/>
            <p:cNvSpPr/>
            <p:nvPr/>
          </p:nvSpPr>
          <p:spPr>
            <a:xfrm rot="5397628">
              <a:off x="866742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128"/>
            <p:cNvSpPr/>
            <p:nvPr/>
          </p:nvSpPr>
          <p:spPr>
            <a:xfrm rot="5397628">
              <a:off x="1278353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128"/>
            <p:cNvSpPr/>
            <p:nvPr/>
          </p:nvSpPr>
          <p:spPr>
            <a:xfrm rot="5397628">
              <a:off x="168994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128"/>
            <p:cNvSpPr/>
            <p:nvPr/>
          </p:nvSpPr>
          <p:spPr>
            <a:xfrm rot="5397628">
              <a:off x="210152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rgbClr val="878787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2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542" name="Google Shape;1542;p12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1543" name="Google Shape;1543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non-linear sequences</a:t>
            </a:r>
            <a:endParaRPr/>
          </a:p>
        </p:txBody>
      </p:sp>
      <p:pic>
        <p:nvPicPr>
          <p:cNvPr id="1544" name="Google Shape;1544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37" y="204999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30"/>
          <p:cNvSpPr txBox="1"/>
          <p:nvPr>
            <p:ph idx="1" type="body"/>
          </p:nvPr>
        </p:nvSpPr>
        <p:spPr>
          <a:xfrm>
            <a:off x="324000" y="759300"/>
            <a:ext cx="63645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 about these sequences?</a:t>
            </a:r>
            <a:endParaRPr/>
          </a:p>
        </p:txBody>
      </p:sp>
      <p:sp>
        <p:nvSpPr>
          <p:cNvPr id="1550" name="Google Shape;1550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551" name="Google Shape;1551;p130"/>
          <p:cNvSpPr txBox="1"/>
          <p:nvPr/>
        </p:nvSpPr>
        <p:spPr>
          <a:xfrm>
            <a:off x="358520" y="1544313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130"/>
          <p:cNvSpPr txBox="1"/>
          <p:nvPr/>
        </p:nvSpPr>
        <p:spPr>
          <a:xfrm>
            <a:off x="358520" y="2628441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3" name="Google Shape;1553;p130"/>
          <p:cNvSpPr txBox="1"/>
          <p:nvPr/>
        </p:nvSpPr>
        <p:spPr>
          <a:xfrm>
            <a:off x="358520" y="3715412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4" name="Google Shape;1554;p130"/>
          <p:cNvSpPr txBox="1"/>
          <p:nvPr>
            <p:ph idx="1" type="body"/>
          </p:nvPr>
        </p:nvSpPr>
        <p:spPr>
          <a:xfrm>
            <a:off x="4320920" y="1749900"/>
            <a:ext cx="41523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are the start of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/>
              <a:t>,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/>
              <a:t> times tables.</a:t>
            </a:r>
            <a:endParaRPr/>
          </a:p>
        </p:txBody>
      </p:sp>
      <p:sp>
        <p:nvSpPr>
          <p:cNvPr id="1555" name="Google Shape;1555;p130"/>
          <p:cNvSpPr txBox="1"/>
          <p:nvPr>
            <p:ph idx="1" type="body"/>
          </p:nvPr>
        </p:nvSpPr>
        <p:spPr>
          <a:xfrm>
            <a:off x="4320925" y="3204848"/>
            <a:ext cx="44991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all have a common, additive </a:t>
            </a:r>
            <a:r>
              <a:rPr lang="en-GB"/>
              <a:t>term-to-term difference.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131"/>
          <p:cNvSpPr txBox="1"/>
          <p:nvPr>
            <p:ph idx="1" type="body"/>
          </p:nvPr>
        </p:nvSpPr>
        <p:spPr>
          <a:xfrm>
            <a:off x="324000" y="759300"/>
            <a:ext cx="63645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 about these sequences?</a:t>
            </a:r>
            <a:endParaRPr/>
          </a:p>
        </p:txBody>
      </p:sp>
      <p:sp>
        <p:nvSpPr>
          <p:cNvPr id="1561" name="Google Shape;1561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562" name="Google Shape;1562;p131"/>
          <p:cNvSpPr txBox="1"/>
          <p:nvPr/>
        </p:nvSpPr>
        <p:spPr>
          <a:xfrm>
            <a:off x="358520" y="1544313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3" name="Google Shape;1563;p131"/>
          <p:cNvSpPr txBox="1"/>
          <p:nvPr/>
        </p:nvSpPr>
        <p:spPr>
          <a:xfrm>
            <a:off x="358520" y="2628441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4" name="Google Shape;1564;p131"/>
          <p:cNvSpPr txBox="1"/>
          <p:nvPr/>
        </p:nvSpPr>
        <p:spPr>
          <a:xfrm>
            <a:off x="358520" y="3715412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65" name="Google Shape;1565;p131"/>
          <p:cNvGrpSpPr/>
          <p:nvPr/>
        </p:nvGrpSpPr>
        <p:grpSpPr>
          <a:xfrm>
            <a:off x="326804" y="1828949"/>
            <a:ext cx="1574980" cy="433518"/>
            <a:chOff x="292275" y="1600423"/>
            <a:chExt cx="1914404" cy="433518"/>
          </a:xfrm>
        </p:grpSpPr>
        <p:pic>
          <p:nvPicPr>
            <p:cNvPr id="1566" name="Google Shape;1566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7" name="Google Shape;1567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8" name="Google Shape;1568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9" name="Google Shape;1569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0" name="Google Shape;1570;p131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1" name="Google Shape;1571;p131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2" name="Google Shape;1572;p131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3" name="Google Shape;1573;p131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74" name="Google Shape;1574;p131"/>
          <p:cNvSpPr txBox="1"/>
          <p:nvPr>
            <p:ph idx="1" type="body"/>
          </p:nvPr>
        </p:nvSpPr>
        <p:spPr>
          <a:xfrm>
            <a:off x="4320925" y="3204848"/>
            <a:ext cx="44991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all have a common, additive term-to-term difference.</a:t>
            </a:r>
            <a:endParaRPr/>
          </a:p>
        </p:txBody>
      </p:sp>
      <p:grpSp>
        <p:nvGrpSpPr>
          <p:cNvPr id="1575" name="Google Shape;1575;p131"/>
          <p:cNvGrpSpPr/>
          <p:nvPr/>
        </p:nvGrpSpPr>
        <p:grpSpPr>
          <a:xfrm>
            <a:off x="349813" y="2895724"/>
            <a:ext cx="1874010" cy="433518"/>
            <a:chOff x="292275" y="1600423"/>
            <a:chExt cx="1914404" cy="433518"/>
          </a:xfrm>
        </p:grpSpPr>
        <p:pic>
          <p:nvPicPr>
            <p:cNvPr id="1576" name="Google Shape;1576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7" name="Google Shape;1577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8" name="Google Shape;1578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9" name="Google Shape;1579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0" name="Google Shape;1580;p131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1" name="Google Shape;1581;p131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2" name="Google Shape;1582;p131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3" name="Google Shape;1583;p131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84" name="Google Shape;1584;p131"/>
          <p:cNvGrpSpPr/>
          <p:nvPr/>
        </p:nvGrpSpPr>
        <p:grpSpPr>
          <a:xfrm>
            <a:off x="338306" y="4015710"/>
            <a:ext cx="1874010" cy="433518"/>
            <a:chOff x="292275" y="1600423"/>
            <a:chExt cx="1914404" cy="433518"/>
          </a:xfrm>
        </p:grpSpPr>
        <p:pic>
          <p:nvPicPr>
            <p:cNvPr id="1585" name="Google Shape;1585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7" name="Google Shape;1587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8" name="Google Shape;1588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9" name="Google Shape;1589;p131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0" name="Google Shape;1590;p131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1" name="Google Shape;1591;p131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2" name="Google Shape;1592;p131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93" name="Google Shape;1593;p131"/>
          <p:cNvSpPr txBox="1"/>
          <p:nvPr>
            <p:ph idx="1" type="body"/>
          </p:nvPr>
        </p:nvSpPr>
        <p:spPr>
          <a:xfrm>
            <a:off x="4320920" y="1749900"/>
            <a:ext cx="41523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are the start of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/>
              <a:t>,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/>
              <a:t> times tables.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32"/>
          <p:cNvSpPr txBox="1"/>
          <p:nvPr>
            <p:ph idx="1" type="body"/>
          </p:nvPr>
        </p:nvSpPr>
        <p:spPr>
          <a:xfrm>
            <a:off x="324000" y="759300"/>
            <a:ext cx="63645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if we alter the terms in some way?</a:t>
            </a:r>
            <a:endParaRPr/>
          </a:p>
        </p:txBody>
      </p:sp>
      <p:sp>
        <p:nvSpPr>
          <p:cNvPr id="1599" name="Google Shape;1599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600" name="Google Shape;1600;p132"/>
          <p:cNvSpPr txBox="1"/>
          <p:nvPr/>
        </p:nvSpPr>
        <p:spPr>
          <a:xfrm>
            <a:off x="358524" y="1544325"/>
            <a:ext cx="2394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01" name="Google Shape;1601;p132"/>
          <p:cNvGrpSpPr/>
          <p:nvPr/>
        </p:nvGrpSpPr>
        <p:grpSpPr>
          <a:xfrm>
            <a:off x="326804" y="1828949"/>
            <a:ext cx="1574980" cy="433518"/>
            <a:chOff x="292275" y="1600423"/>
            <a:chExt cx="1914404" cy="433518"/>
          </a:xfrm>
        </p:grpSpPr>
        <p:pic>
          <p:nvPicPr>
            <p:cNvPr id="1602" name="Google Shape;1602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3" name="Google Shape;1603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4" name="Google Shape;1604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5" name="Google Shape;1605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6" name="Google Shape;1606;p132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7" name="Google Shape;1607;p132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8" name="Google Shape;1608;p132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9" name="Google Shape;1609;p132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10" name="Google Shape;1610;p132"/>
          <p:cNvSpPr txBox="1"/>
          <p:nvPr/>
        </p:nvSpPr>
        <p:spPr>
          <a:xfrm>
            <a:off x="358524" y="2628450"/>
            <a:ext cx="2714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1" name="Google Shape;1611;p132"/>
          <p:cNvSpPr txBox="1"/>
          <p:nvPr/>
        </p:nvSpPr>
        <p:spPr>
          <a:xfrm>
            <a:off x="358524" y="3715400"/>
            <a:ext cx="2714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12" name="Google Shape;1612;p132"/>
          <p:cNvGrpSpPr/>
          <p:nvPr/>
        </p:nvGrpSpPr>
        <p:grpSpPr>
          <a:xfrm>
            <a:off x="349813" y="2895724"/>
            <a:ext cx="1874010" cy="433518"/>
            <a:chOff x="292275" y="1600423"/>
            <a:chExt cx="1914404" cy="433518"/>
          </a:xfrm>
        </p:grpSpPr>
        <p:pic>
          <p:nvPicPr>
            <p:cNvPr id="1613" name="Google Shape;1613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4" name="Google Shape;1614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5" name="Google Shape;1615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6" name="Google Shape;1616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7" name="Google Shape;1617;p132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8" name="Google Shape;1618;p132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9" name="Google Shape;1619;p132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0" name="Google Shape;1620;p132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1" name="Google Shape;1621;p132"/>
          <p:cNvGrpSpPr/>
          <p:nvPr/>
        </p:nvGrpSpPr>
        <p:grpSpPr>
          <a:xfrm>
            <a:off x="338306" y="4015710"/>
            <a:ext cx="1874010" cy="433518"/>
            <a:chOff x="292275" y="1600423"/>
            <a:chExt cx="1914404" cy="433518"/>
          </a:xfrm>
        </p:grpSpPr>
        <p:pic>
          <p:nvPicPr>
            <p:cNvPr id="1622" name="Google Shape;1622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3" name="Google Shape;1623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4" name="Google Shape;1624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5" name="Google Shape;1625;p132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6" name="Google Shape;1626;p132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7" name="Google Shape;1627;p132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8" name="Google Shape;1628;p132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9" name="Google Shape;1629;p132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30" name="Google Shape;1630;p132"/>
          <p:cNvSpPr txBox="1"/>
          <p:nvPr/>
        </p:nvSpPr>
        <p:spPr>
          <a:xfrm>
            <a:off x="6290613" y="1544313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1" name="Google Shape;1631;p132"/>
          <p:cNvSpPr txBox="1"/>
          <p:nvPr/>
        </p:nvSpPr>
        <p:spPr>
          <a:xfrm>
            <a:off x="6290613" y="2628441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2" name="Google Shape;1632;p132"/>
          <p:cNvSpPr txBox="1"/>
          <p:nvPr/>
        </p:nvSpPr>
        <p:spPr>
          <a:xfrm>
            <a:off x="6290613" y="3715412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72, 90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33" name="Google Shape;1633;p132"/>
          <p:cNvGrpSpPr/>
          <p:nvPr/>
        </p:nvGrpSpPr>
        <p:grpSpPr>
          <a:xfrm>
            <a:off x="2887200" y="1442500"/>
            <a:ext cx="3362983" cy="613500"/>
            <a:chOff x="2887200" y="1442500"/>
            <a:chExt cx="3362983" cy="613500"/>
          </a:xfrm>
        </p:grpSpPr>
        <p:sp>
          <p:nvSpPr>
            <p:cNvPr id="1634" name="Google Shape;1634;p132"/>
            <p:cNvSpPr txBox="1"/>
            <p:nvPr/>
          </p:nvSpPr>
          <p:spPr>
            <a:xfrm>
              <a:off x="3829892" y="1442500"/>
              <a:ext cx="1481400" cy="613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Add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to each term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5" name="Google Shape;1635;p132"/>
            <p:cNvCxnSpPr/>
            <p:nvPr/>
          </p:nvCxnSpPr>
          <p:spPr>
            <a:xfrm>
              <a:off x="5308483" y="1751116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6" name="Google Shape;1636;p132"/>
            <p:cNvCxnSpPr/>
            <p:nvPr/>
          </p:nvCxnSpPr>
          <p:spPr>
            <a:xfrm>
              <a:off x="2887200" y="1751116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37" name="Google Shape;1637;p132"/>
          <p:cNvGrpSpPr/>
          <p:nvPr/>
        </p:nvGrpSpPr>
        <p:grpSpPr>
          <a:xfrm>
            <a:off x="2887200" y="2520807"/>
            <a:ext cx="3362983" cy="613500"/>
            <a:chOff x="2887200" y="2520807"/>
            <a:chExt cx="3362983" cy="613500"/>
          </a:xfrm>
        </p:grpSpPr>
        <p:sp>
          <p:nvSpPr>
            <p:cNvPr id="1638" name="Google Shape;1638;p132"/>
            <p:cNvSpPr txBox="1"/>
            <p:nvPr/>
          </p:nvSpPr>
          <p:spPr>
            <a:xfrm>
              <a:off x="3829892" y="2520807"/>
              <a:ext cx="1481400" cy="613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Minus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from each term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9" name="Google Shape;1639;p132"/>
            <p:cNvCxnSpPr/>
            <p:nvPr/>
          </p:nvCxnSpPr>
          <p:spPr>
            <a:xfrm>
              <a:off x="5308483" y="2829424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40" name="Google Shape;1640;p132"/>
            <p:cNvCxnSpPr/>
            <p:nvPr/>
          </p:nvCxnSpPr>
          <p:spPr>
            <a:xfrm>
              <a:off x="2887200" y="2829424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41" name="Google Shape;1641;p132"/>
          <p:cNvGrpSpPr/>
          <p:nvPr/>
        </p:nvGrpSpPr>
        <p:grpSpPr>
          <a:xfrm>
            <a:off x="2887200" y="3606275"/>
            <a:ext cx="3362983" cy="613500"/>
            <a:chOff x="2887200" y="3606275"/>
            <a:chExt cx="3362983" cy="613500"/>
          </a:xfrm>
        </p:grpSpPr>
        <p:sp>
          <p:nvSpPr>
            <p:cNvPr id="1642" name="Google Shape;1642;p132"/>
            <p:cNvSpPr txBox="1"/>
            <p:nvPr/>
          </p:nvSpPr>
          <p:spPr>
            <a:xfrm>
              <a:off x="3829892" y="3606275"/>
              <a:ext cx="1481400" cy="613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Multiply each term by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43" name="Google Shape;1643;p132"/>
            <p:cNvCxnSpPr/>
            <p:nvPr/>
          </p:nvCxnSpPr>
          <p:spPr>
            <a:xfrm>
              <a:off x="5308483" y="3914891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44" name="Google Shape;1644;p132"/>
            <p:cNvCxnSpPr/>
            <p:nvPr/>
          </p:nvCxnSpPr>
          <p:spPr>
            <a:xfrm>
              <a:off x="2887200" y="3914891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45" name="Google Shape;1645;p132"/>
          <p:cNvSpPr txBox="1"/>
          <p:nvPr>
            <p:ph idx="1" type="body"/>
          </p:nvPr>
        </p:nvSpPr>
        <p:spPr>
          <a:xfrm>
            <a:off x="2434587" y="4508954"/>
            <a:ext cx="63645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 about these sequences?</a:t>
            </a:r>
            <a:endParaRPr/>
          </a:p>
        </p:txBody>
      </p:sp>
      <p:grpSp>
        <p:nvGrpSpPr>
          <p:cNvPr id="1646" name="Google Shape;1646;p132"/>
          <p:cNvGrpSpPr/>
          <p:nvPr/>
        </p:nvGrpSpPr>
        <p:grpSpPr>
          <a:xfrm>
            <a:off x="6098880" y="1471973"/>
            <a:ext cx="2714400" cy="2706020"/>
            <a:chOff x="6098880" y="1471973"/>
            <a:chExt cx="2714400" cy="2706020"/>
          </a:xfrm>
        </p:grpSpPr>
        <p:sp>
          <p:nvSpPr>
            <p:cNvPr id="1647" name="Google Shape;1647;p132"/>
            <p:cNvSpPr/>
            <p:nvPr/>
          </p:nvSpPr>
          <p:spPr>
            <a:xfrm>
              <a:off x="6098880" y="1471973"/>
              <a:ext cx="2714400" cy="5379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8" name="Google Shape;1648;p132"/>
            <p:cNvSpPr/>
            <p:nvPr/>
          </p:nvSpPr>
          <p:spPr>
            <a:xfrm>
              <a:off x="6098880" y="2561787"/>
              <a:ext cx="2714400" cy="5379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9" name="Google Shape;1649;p132"/>
            <p:cNvSpPr/>
            <p:nvPr/>
          </p:nvSpPr>
          <p:spPr>
            <a:xfrm>
              <a:off x="6098880" y="3640093"/>
              <a:ext cx="2714400" cy="5379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655" name="Google Shape;1655;p133"/>
          <p:cNvSpPr txBox="1"/>
          <p:nvPr/>
        </p:nvSpPr>
        <p:spPr>
          <a:xfrm>
            <a:off x="358524" y="1544325"/>
            <a:ext cx="2394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56" name="Google Shape;1656;p133"/>
          <p:cNvGrpSpPr/>
          <p:nvPr/>
        </p:nvGrpSpPr>
        <p:grpSpPr>
          <a:xfrm>
            <a:off x="326804" y="1828949"/>
            <a:ext cx="1574980" cy="433518"/>
            <a:chOff x="292275" y="1600423"/>
            <a:chExt cx="1914404" cy="433518"/>
          </a:xfrm>
        </p:grpSpPr>
        <p:pic>
          <p:nvPicPr>
            <p:cNvPr id="1657" name="Google Shape;1657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8" name="Google Shape;1658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9" name="Google Shape;1659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0" name="Google Shape;1660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1" name="Google Shape;1661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2" name="Google Shape;1662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3" name="Google Shape;1663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4" name="Google Shape;1664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65" name="Google Shape;1665;p133"/>
          <p:cNvGrpSpPr/>
          <p:nvPr/>
        </p:nvGrpSpPr>
        <p:grpSpPr>
          <a:xfrm>
            <a:off x="349813" y="2895724"/>
            <a:ext cx="1874010" cy="433518"/>
            <a:chOff x="292275" y="1600423"/>
            <a:chExt cx="1914404" cy="433518"/>
          </a:xfrm>
        </p:grpSpPr>
        <p:pic>
          <p:nvPicPr>
            <p:cNvPr id="1666" name="Google Shape;1666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7" name="Google Shape;1667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8" name="Google Shape;1668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9" name="Google Shape;1669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0" name="Google Shape;1670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1" name="Google Shape;1671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2" name="Google Shape;1672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3" name="Google Shape;1673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74" name="Google Shape;1674;p133"/>
          <p:cNvGrpSpPr/>
          <p:nvPr/>
        </p:nvGrpSpPr>
        <p:grpSpPr>
          <a:xfrm>
            <a:off x="338306" y="4015710"/>
            <a:ext cx="1874010" cy="433518"/>
            <a:chOff x="292275" y="1600423"/>
            <a:chExt cx="1914404" cy="433518"/>
          </a:xfrm>
        </p:grpSpPr>
        <p:pic>
          <p:nvPicPr>
            <p:cNvPr id="1675" name="Google Shape;1675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6" name="Google Shape;1676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7" name="Google Shape;1677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8" name="Google Shape;1678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0" name="Google Shape;1680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1" name="Google Shape;1681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2" name="Google Shape;1682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83" name="Google Shape;1683;p133"/>
          <p:cNvSpPr txBox="1"/>
          <p:nvPr/>
        </p:nvSpPr>
        <p:spPr>
          <a:xfrm>
            <a:off x="6290613" y="1544313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4" name="Google Shape;1684;p133"/>
          <p:cNvSpPr txBox="1"/>
          <p:nvPr/>
        </p:nvSpPr>
        <p:spPr>
          <a:xfrm>
            <a:off x="6290613" y="2628441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5" name="Google Shape;1685;p133"/>
          <p:cNvSpPr txBox="1"/>
          <p:nvPr/>
        </p:nvSpPr>
        <p:spPr>
          <a:xfrm>
            <a:off x="6290613" y="3715412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72, 90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86" name="Google Shape;1686;p133"/>
          <p:cNvGrpSpPr/>
          <p:nvPr/>
        </p:nvGrpSpPr>
        <p:grpSpPr>
          <a:xfrm>
            <a:off x="6281898" y="2895699"/>
            <a:ext cx="1706883" cy="433518"/>
            <a:chOff x="292275" y="1600423"/>
            <a:chExt cx="1914404" cy="433518"/>
          </a:xfrm>
        </p:grpSpPr>
        <p:pic>
          <p:nvPicPr>
            <p:cNvPr id="1687" name="Google Shape;1687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8" name="Google Shape;1688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9" name="Google Shape;1689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0" name="Google Shape;1690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1" name="Google Shape;1691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2" name="Google Shape;1692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3" name="Google Shape;1693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4" name="Google Shape;1694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95" name="Google Shape;1695;p133"/>
          <p:cNvGrpSpPr/>
          <p:nvPr/>
        </p:nvGrpSpPr>
        <p:grpSpPr>
          <a:xfrm>
            <a:off x="6339449" y="4015674"/>
            <a:ext cx="2040563" cy="433518"/>
            <a:chOff x="292275" y="1600423"/>
            <a:chExt cx="1914404" cy="433518"/>
          </a:xfrm>
        </p:grpSpPr>
        <p:pic>
          <p:nvPicPr>
            <p:cNvPr id="1696" name="Google Shape;1696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7" name="Google Shape;1697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8" name="Google Shape;1698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9" name="Google Shape;1699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0" name="Google Shape;1700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1" name="Google Shape;1701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2" name="Google Shape;1702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3" name="Google Shape;1703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04" name="Google Shape;1704;p133"/>
          <p:cNvSpPr txBox="1"/>
          <p:nvPr>
            <p:ph idx="1" type="body"/>
          </p:nvPr>
        </p:nvSpPr>
        <p:spPr>
          <a:xfrm>
            <a:off x="324000" y="759300"/>
            <a:ext cx="71352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still </a:t>
            </a:r>
            <a:r>
              <a:rPr lang="en-GB"/>
              <a:t>have a common, additive term-to-term difference.</a:t>
            </a:r>
            <a:endParaRPr/>
          </a:p>
        </p:txBody>
      </p:sp>
      <p:sp>
        <p:nvSpPr>
          <p:cNvPr id="1705" name="Google Shape;1705;p133"/>
          <p:cNvSpPr txBox="1"/>
          <p:nvPr/>
        </p:nvSpPr>
        <p:spPr>
          <a:xfrm>
            <a:off x="358524" y="2628450"/>
            <a:ext cx="2714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6" name="Google Shape;1706;p133"/>
          <p:cNvSpPr txBox="1"/>
          <p:nvPr/>
        </p:nvSpPr>
        <p:spPr>
          <a:xfrm>
            <a:off x="358524" y="3715400"/>
            <a:ext cx="2714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07" name="Google Shape;1707;p133"/>
          <p:cNvGrpSpPr/>
          <p:nvPr/>
        </p:nvGrpSpPr>
        <p:grpSpPr>
          <a:xfrm>
            <a:off x="2887200" y="1442500"/>
            <a:ext cx="3362983" cy="613500"/>
            <a:chOff x="2887200" y="1442500"/>
            <a:chExt cx="3362983" cy="613500"/>
          </a:xfrm>
        </p:grpSpPr>
        <p:sp>
          <p:nvSpPr>
            <p:cNvPr id="1708" name="Google Shape;1708;p133"/>
            <p:cNvSpPr txBox="1"/>
            <p:nvPr/>
          </p:nvSpPr>
          <p:spPr>
            <a:xfrm>
              <a:off x="3829892" y="1442500"/>
              <a:ext cx="1481400" cy="613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Add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to each term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9" name="Google Shape;1709;p133"/>
            <p:cNvCxnSpPr/>
            <p:nvPr/>
          </p:nvCxnSpPr>
          <p:spPr>
            <a:xfrm>
              <a:off x="5308483" y="1751116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10" name="Google Shape;1710;p133"/>
            <p:cNvCxnSpPr/>
            <p:nvPr/>
          </p:nvCxnSpPr>
          <p:spPr>
            <a:xfrm>
              <a:off x="2887200" y="1751116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711" name="Google Shape;1711;p133"/>
          <p:cNvGrpSpPr/>
          <p:nvPr/>
        </p:nvGrpSpPr>
        <p:grpSpPr>
          <a:xfrm>
            <a:off x="6358103" y="1828899"/>
            <a:ext cx="1941397" cy="433518"/>
            <a:chOff x="292275" y="1600423"/>
            <a:chExt cx="1914404" cy="433518"/>
          </a:xfrm>
        </p:grpSpPr>
        <p:pic>
          <p:nvPicPr>
            <p:cNvPr id="1712" name="Google Shape;1712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3" name="Google Shape;1713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4" name="Google Shape;1714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5" name="Google Shape;1715;p133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6" name="Google Shape;1716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7" name="Google Shape;1717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8" name="Google Shape;1718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9" name="Google Shape;1719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20" name="Google Shape;1720;p133"/>
          <p:cNvGrpSpPr/>
          <p:nvPr/>
        </p:nvGrpSpPr>
        <p:grpSpPr>
          <a:xfrm>
            <a:off x="2887200" y="2520807"/>
            <a:ext cx="3362983" cy="613500"/>
            <a:chOff x="2887200" y="2520807"/>
            <a:chExt cx="3362983" cy="613500"/>
          </a:xfrm>
        </p:grpSpPr>
        <p:sp>
          <p:nvSpPr>
            <p:cNvPr id="1721" name="Google Shape;1721;p133"/>
            <p:cNvSpPr txBox="1"/>
            <p:nvPr/>
          </p:nvSpPr>
          <p:spPr>
            <a:xfrm>
              <a:off x="3829892" y="2520807"/>
              <a:ext cx="1481400" cy="613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Minus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from each term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2" name="Google Shape;1722;p133"/>
            <p:cNvCxnSpPr/>
            <p:nvPr/>
          </p:nvCxnSpPr>
          <p:spPr>
            <a:xfrm>
              <a:off x="5308483" y="2829424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3" name="Google Shape;1723;p133"/>
            <p:cNvCxnSpPr/>
            <p:nvPr/>
          </p:nvCxnSpPr>
          <p:spPr>
            <a:xfrm>
              <a:off x="2887200" y="2829424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724" name="Google Shape;1724;p133"/>
          <p:cNvGrpSpPr/>
          <p:nvPr/>
        </p:nvGrpSpPr>
        <p:grpSpPr>
          <a:xfrm>
            <a:off x="2887200" y="3606275"/>
            <a:ext cx="3362983" cy="613500"/>
            <a:chOff x="2887200" y="3606275"/>
            <a:chExt cx="3362983" cy="613500"/>
          </a:xfrm>
        </p:grpSpPr>
        <p:sp>
          <p:nvSpPr>
            <p:cNvPr id="1725" name="Google Shape;1725;p133"/>
            <p:cNvSpPr txBox="1"/>
            <p:nvPr/>
          </p:nvSpPr>
          <p:spPr>
            <a:xfrm>
              <a:off x="3829892" y="3606275"/>
              <a:ext cx="1481400" cy="613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Multiply each term by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26" name="Google Shape;1726;p133"/>
            <p:cNvCxnSpPr/>
            <p:nvPr/>
          </p:nvCxnSpPr>
          <p:spPr>
            <a:xfrm>
              <a:off x="5308483" y="3914891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7" name="Google Shape;1727;p133"/>
            <p:cNvCxnSpPr/>
            <p:nvPr/>
          </p:nvCxnSpPr>
          <p:spPr>
            <a:xfrm>
              <a:off x="2887200" y="3914891"/>
              <a:ext cx="94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28" name="Google Shape;1728;p133"/>
          <p:cNvSpPr txBox="1"/>
          <p:nvPr>
            <p:ph idx="1" type="body"/>
          </p:nvPr>
        </p:nvSpPr>
        <p:spPr>
          <a:xfrm>
            <a:off x="2434587" y="4508954"/>
            <a:ext cx="63645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 about these sequences?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34"/>
          <p:cNvSpPr txBox="1"/>
          <p:nvPr>
            <p:ph idx="1" type="body"/>
          </p:nvPr>
        </p:nvSpPr>
        <p:spPr>
          <a:xfrm>
            <a:off x="324000" y="759300"/>
            <a:ext cx="8496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</a:t>
            </a:r>
            <a:r>
              <a:rPr lang="en-GB"/>
              <a:t> a common, additive difference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terms are called </a:t>
            </a:r>
            <a:r>
              <a:rPr lang="en-GB">
                <a:solidFill>
                  <a:schemeClr val="accent4"/>
                </a:solidFill>
              </a:rPr>
              <a:t>arithmetic (linear) sequences</a:t>
            </a:r>
            <a:r>
              <a:rPr lang="en-GB"/>
              <a:t>.</a:t>
            </a:r>
            <a:endParaRPr/>
          </a:p>
        </p:txBody>
      </p:sp>
      <p:sp>
        <p:nvSpPr>
          <p:cNvPr id="1734" name="Google Shape;1734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735" name="Google Shape;1735;p134"/>
          <p:cNvSpPr txBox="1"/>
          <p:nvPr/>
        </p:nvSpPr>
        <p:spPr>
          <a:xfrm>
            <a:off x="358524" y="1544325"/>
            <a:ext cx="2394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36" name="Google Shape;1736;p134"/>
          <p:cNvGrpSpPr/>
          <p:nvPr/>
        </p:nvGrpSpPr>
        <p:grpSpPr>
          <a:xfrm>
            <a:off x="326804" y="1828949"/>
            <a:ext cx="1574980" cy="433518"/>
            <a:chOff x="292275" y="1600423"/>
            <a:chExt cx="1914404" cy="433518"/>
          </a:xfrm>
        </p:grpSpPr>
        <p:pic>
          <p:nvPicPr>
            <p:cNvPr id="1737" name="Google Shape;173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8" name="Google Shape;173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9" name="Google Shape;173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0" name="Google Shape;1740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1" name="Google Shape;1741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2" name="Google Shape;1742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3" name="Google Shape;1743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4" name="Google Shape;1744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45" name="Google Shape;1745;p134"/>
          <p:cNvSpPr txBox="1"/>
          <p:nvPr/>
        </p:nvSpPr>
        <p:spPr>
          <a:xfrm>
            <a:off x="358524" y="2628450"/>
            <a:ext cx="2714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6" name="Google Shape;1746;p134"/>
          <p:cNvSpPr txBox="1"/>
          <p:nvPr/>
        </p:nvSpPr>
        <p:spPr>
          <a:xfrm>
            <a:off x="358524" y="3715400"/>
            <a:ext cx="2714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47" name="Google Shape;1747;p134"/>
          <p:cNvGrpSpPr/>
          <p:nvPr/>
        </p:nvGrpSpPr>
        <p:grpSpPr>
          <a:xfrm>
            <a:off x="349813" y="2895724"/>
            <a:ext cx="1874010" cy="433518"/>
            <a:chOff x="292275" y="1600423"/>
            <a:chExt cx="1914404" cy="433518"/>
          </a:xfrm>
        </p:grpSpPr>
        <p:pic>
          <p:nvPicPr>
            <p:cNvPr id="1748" name="Google Shape;174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9" name="Google Shape;174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0" name="Google Shape;1750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1" name="Google Shape;1751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2" name="Google Shape;1752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3" name="Google Shape;1753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4" name="Google Shape;1754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5" name="Google Shape;1755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56" name="Google Shape;1756;p134"/>
          <p:cNvGrpSpPr/>
          <p:nvPr/>
        </p:nvGrpSpPr>
        <p:grpSpPr>
          <a:xfrm>
            <a:off x="338306" y="4015710"/>
            <a:ext cx="1874010" cy="433518"/>
            <a:chOff x="292275" y="1600423"/>
            <a:chExt cx="1914404" cy="433518"/>
          </a:xfrm>
        </p:grpSpPr>
        <p:pic>
          <p:nvPicPr>
            <p:cNvPr id="1757" name="Google Shape;175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8" name="Google Shape;175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9" name="Google Shape;175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0" name="Google Shape;1760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1" name="Google Shape;1761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2" name="Google Shape;1762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3" name="Google Shape;1763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4" name="Google Shape;1764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65" name="Google Shape;1765;p134"/>
          <p:cNvSpPr txBox="1"/>
          <p:nvPr/>
        </p:nvSpPr>
        <p:spPr>
          <a:xfrm>
            <a:off x="6290613" y="1544313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66" name="Google Shape;1766;p134"/>
          <p:cNvGrpSpPr/>
          <p:nvPr/>
        </p:nvGrpSpPr>
        <p:grpSpPr>
          <a:xfrm>
            <a:off x="6358103" y="1828899"/>
            <a:ext cx="1941397" cy="433518"/>
            <a:chOff x="292275" y="1600423"/>
            <a:chExt cx="1914404" cy="433518"/>
          </a:xfrm>
        </p:grpSpPr>
        <p:pic>
          <p:nvPicPr>
            <p:cNvPr id="1767" name="Google Shape;176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8" name="Google Shape;176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9" name="Google Shape;176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0" name="Google Shape;1770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1" name="Google Shape;1771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2" name="Google Shape;1772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3" name="Google Shape;1773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4" name="Google Shape;1774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75" name="Google Shape;1775;p134"/>
          <p:cNvSpPr txBox="1"/>
          <p:nvPr/>
        </p:nvSpPr>
        <p:spPr>
          <a:xfrm>
            <a:off x="6290613" y="2628441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6" name="Google Shape;1776;p134"/>
          <p:cNvSpPr txBox="1"/>
          <p:nvPr/>
        </p:nvSpPr>
        <p:spPr>
          <a:xfrm>
            <a:off x="6290613" y="3715412"/>
            <a:ext cx="308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72, 90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77" name="Google Shape;1777;p134"/>
          <p:cNvGrpSpPr/>
          <p:nvPr/>
        </p:nvGrpSpPr>
        <p:grpSpPr>
          <a:xfrm>
            <a:off x="6281898" y="2895699"/>
            <a:ext cx="1706883" cy="433518"/>
            <a:chOff x="292275" y="1600423"/>
            <a:chExt cx="1914404" cy="433518"/>
          </a:xfrm>
        </p:grpSpPr>
        <p:pic>
          <p:nvPicPr>
            <p:cNvPr id="1778" name="Google Shape;177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9" name="Google Shape;177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0" name="Google Shape;1780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1" name="Google Shape;1781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2" name="Google Shape;1782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3" name="Google Shape;1783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4" name="Google Shape;1784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5" name="Google Shape;1785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86" name="Google Shape;1786;p134"/>
          <p:cNvGrpSpPr/>
          <p:nvPr/>
        </p:nvGrpSpPr>
        <p:grpSpPr>
          <a:xfrm>
            <a:off x="6339449" y="4015674"/>
            <a:ext cx="2040563" cy="433518"/>
            <a:chOff x="292275" y="1600423"/>
            <a:chExt cx="1914404" cy="433518"/>
          </a:xfrm>
        </p:grpSpPr>
        <p:pic>
          <p:nvPicPr>
            <p:cNvPr id="1787" name="Google Shape;178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8" name="Google Shape;178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9" name="Google Shape;178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0" name="Google Shape;1790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1" name="Google Shape;1791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2" name="Google Shape;1792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3" name="Google Shape;1793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4" name="Google Shape;1794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35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and Aisha are discussing these sequences.</a:t>
            </a:r>
            <a:endParaRPr/>
          </a:p>
        </p:txBody>
      </p:sp>
      <p:sp>
        <p:nvSpPr>
          <p:cNvPr id="1800" name="Google Shape;1800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801" name="Google Shape;1801;p135"/>
          <p:cNvSpPr txBox="1"/>
          <p:nvPr/>
        </p:nvSpPr>
        <p:spPr>
          <a:xfrm>
            <a:off x="358525" y="1532825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2" name="Google Shape;1802;p135"/>
          <p:cNvSpPr txBox="1"/>
          <p:nvPr/>
        </p:nvSpPr>
        <p:spPr>
          <a:xfrm>
            <a:off x="335500" y="2618275"/>
            <a:ext cx="364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7},\frac{13}{7},\frac{16}{7},\frac{19}{7},\frac{22}{7},\ ...&quot;&gt;&lt;mfrac&gt;&lt;mn&gt;10&lt;/mn&gt;&lt;mn&gt;7&lt;/mn&gt;&lt;/mfrac&gt;&lt;mo&gt;,&lt;/mo&gt;&lt;mfrac&gt;&lt;mn&gt;13&lt;/mn&gt;&lt;mn&gt;7&lt;/mn&gt;&lt;/mfrac&gt;&lt;mo&gt;,&lt;/mo&gt;&lt;mfrac&gt;&lt;mn&gt;16&lt;/mn&gt;&lt;mn&gt;7&lt;/mn&gt;&lt;/mfrac&gt;&lt;mo&gt;,&lt;/mo&gt;&lt;mfrac&gt;&lt;mn&gt;19&lt;/mn&gt;&lt;mn&gt;7&lt;/mn&gt;&lt;/mfrac&gt;&lt;mo&gt;,&lt;/mo&gt;&lt;mfrac&gt;&lt;mn&gt;22&lt;/mn&gt;&lt;mn&gt;7&lt;/mn&gt;&lt;/mfrac&gt;&lt;mo&gt;,&lt;/mo&gt;&lt;mtext&gt;&lt;/mtext&gt;&lt;mo&gt;.&lt;/mo&gt;&lt;mo&gt;.&lt;/mo&gt;&lt;mo&gt;.&lt;/mo&gt;&lt;/math&gt;" id="1803" name="Google Shape;1803;p135" title="ten sevenths comma thirteen sevenths comma sixteen sevenths comma nineteen sevenths comma 22 over 7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9" y="3627598"/>
            <a:ext cx="2565279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2496" y="27302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13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570995" y="1173520"/>
            <a:ext cx="4201523" cy="1674787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135"/>
          <p:cNvSpPr txBox="1"/>
          <p:nvPr/>
        </p:nvSpPr>
        <p:spPr>
          <a:xfrm flipH="1">
            <a:off x="4700925" y="1232625"/>
            <a:ext cx="3763200" cy="1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From what we’ve seen so far I think arithmetic sequences only contain whole numbers so these sequences cannot be arithmetic.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7" name="Google Shape;1807;p1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126763" y="2793380"/>
            <a:ext cx="664686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8" name="Google Shape;1808;p135"/>
          <p:cNvSpPr txBox="1"/>
          <p:nvPr>
            <p:ph idx="1" type="body"/>
          </p:nvPr>
        </p:nvSpPr>
        <p:spPr>
          <a:xfrm>
            <a:off x="3067200" y="3197700"/>
            <a:ext cx="376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you agree with Lucas?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36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and Aisha are discussing these sequences.</a:t>
            </a:r>
            <a:endParaRPr/>
          </a:p>
        </p:txBody>
      </p:sp>
      <p:sp>
        <p:nvSpPr>
          <p:cNvPr id="1814" name="Google Shape;1814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815" name="Google Shape;1815;p136"/>
          <p:cNvSpPr txBox="1"/>
          <p:nvPr/>
        </p:nvSpPr>
        <p:spPr>
          <a:xfrm>
            <a:off x="358525" y="1532825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6" name="Google Shape;1816;p136"/>
          <p:cNvSpPr txBox="1"/>
          <p:nvPr/>
        </p:nvSpPr>
        <p:spPr>
          <a:xfrm>
            <a:off x="335500" y="2618275"/>
            <a:ext cx="364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7},\frac{13}{7},\frac{16}{7},\frac{19}{7},\frac{22}{7},\ ...&quot;&gt;&lt;mfrac&gt;&lt;mn&gt;10&lt;/mn&gt;&lt;mn&gt;7&lt;/mn&gt;&lt;/mfrac&gt;&lt;mo&gt;,&lt;/mo&gt;&lt;mfrac&gt;&lt;mn&gt;13&lt;/mn&gt;&lt;mn&gt;7&lt;/mn&gt;&lt;/mfrac&gt;&lt;mo&gt;,&lt;/mo&gt;&lt;mfrac&gt;&lt;mn&gt;16&lt;/mn&gt;&lt;mn&gt;7&lt;/mn&gt;&lt;/mfrac&gt;&lt;mo&gt;,&lt;/mo&gt;&lt;mfrac&gt;&lt;mn&gt;19&lt;/mn&gt;&lt;mn&gt;7&lt;/mn&gt;&lt;/mfrac&gt;&lt;mo&gt;,&lt;/mo&gt;&lt;mfrac&gt;&lt;mn&gt;22&lt;/mn&gt;&lt;mn&gt;7&lt;/mn&gt;&lt;/mfrac&gt;&lt;mo&gt;,&lt;/mo&gt;&lt;mtext&gt;&lt;/mtext&gt;&lt;mo&gt;.&lt;/mo&gt;&lt;mo&gt;.&lt;/mo&gt;&lt;mo&gt;.&lt;/mo&gt;&lt;/math&gt;" id="1817" name="Google Shape;1817;p136" title="ten sevenths comma thirteen sevenths comma sixteen sevenths comma nineteen sevenths comma 22 over 7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9" y="3627598"/>
            <a:ext cx="2565279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8" name="Google Shape;1818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2496" y="27302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9" name="Google Shape;1819;p13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570995" y="1173520"/>
            <a:ext cx="4201523" cy="1674787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36"/>
          <p:cNvSpPr txBox="1"/>
          <p:nvPr/>
        </p:nvSpPr>
        <p:spPr>
          <a:xfrm flipH="1">
            <a:off x="4700925" y="1232625"/>
            <a:ext cx="3763200" cy="1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From what we’ve seen so far I think arithmetic sequences only contain whole numbers so these sequences cannot be arithmetic.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1" name="Google Shape;1821;p1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126763" y="2793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13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3896700" y="2655845"/>
            <a:ext cx="3355402" cy="12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136"/>
          <p:cNvSpPr txBox="1"/>
          <p:nvPr/>
        </p:nvSpPr>
        <p:spPr>
          <a:xfrm flipH="1">
            <a:off x="4015125" y="2714945"/>
            <a:ext cx="30111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look at the definition of 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arithmetic sequence again Lucas.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36"/>
          <p:cNvSpPr txBox="1"/>
          <p:nvPr>
            <p:ph idx="1" type="body"/>
          </p:nvPr>
        </p:nvSpPr>
        <p:spPr>
          <a:xfrm>
            <a:off x="2914800" y="4112100"/>
            <a:ext cx="56484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Sequences with a common, additive difference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between terms are called arithmetic sequences.</a:t>
            </a:r>
            <a:endParaRPr sz="1900"/>
          </a:p>
        </p:txBody>
      </p:sp>
      <p:grpSp>
        <p:nvGrpSpPr>
          <p:cNvPr id="1825" name="Google Shape;1825;p136"/>
          <p:cNvGrpSpPr/>
          <p:nvPr/>
        </p:nvGrpSpPr>
        <p:grpSpPr>
          <a:xfrm>
            <a:off x="280793" y="1805824"/>
            <a:ext cx="1770632" cy="433518"/>
            <a:chOff x="292275" y="1600423"/>
            <a:chExt cx="1914404" cy="433518"/>
          </a:xfrm>
        </p:grpSpPr>
        <p:pic>
          <p:nvPicPr>
            <p:cNvPr id="1826" name="Google Shape;1826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7" name="Google Shape;1827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8" name="Google Shape;1828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9" name="Google Shape;1829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0" name="Google Shape;1830;p136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1" name="Google Shape;1831;p136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2" name="Google Shape;1832;p136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3" name="Google Shape;1833;p136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34" name="Google Shape;1834;p136"/>
          <p:cNvGrpSpPr/>
          <p:nvPr/>
        </p:nvGrpSpPr>
        <p:grpSpPr>
          <a:xfrm>
            <a:off x="555412" y="2926071"/>
            <a:ext cx="2635177" cy="433518"/>
            <a:chOff x="292275" y="1600423"/>
            <a:chExt cx="1914404" cy="433518"/>
          </a:xfrm>
        </p:grpSpPr>
        <p:pic>
          <p:nvPicPr>
            <p:cNvPr id="1835" name="Google Shape;1835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6" name="Google Shape;1836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7" name="Google Shape;1837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8" name="Google Shape;1838;p136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9" name="Google Shape;1839;p136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0" name="Google Shape;1840;p136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1" name="Google Shape;1841;p136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2" name="Google Shape;1842;p136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3" name="Google Shape;1843;p136"/>
          <p:cNvGrpSpPr/>
          <p:nvPr/>
        </p:nvGrpSpPr>
        <p:grpSpPr>
          <a:xfrm>
            <a:off x="361324" y="4152997"/>
            <a:ext cx="2000744" cy="664679"/>
            <a:chOff x="361324" y="4152997"/>
            <a:chExt cx="2000744" cy="664679"/>
          </a:xfrm>
        </p:grpSpPr>
        <p:pic>
          <p:nvPicPr>
  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44" name="Google Shape;1844;p136" title="positive three seven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44138" y="4384151"/>
              <a:ext cx="292164" cy="433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45" name="Google Shape;1845;p136"/>
            <p:cNvGrpSpPr/>
            <p:nvPr/>
          </p:nvGrpSpPr>
          <p:grpSpPr>
            <a:xfrm>
              <a:off x="361324" y="4152997"/>
              <a:ext cx="2000744" cy="253243"/>
              <a:chOff x="292275" y="1600423"/>
              <a:chExt cx="1914404" cy="314627"/>
            </a:xfrm>
          </p:grpSpPr>
          <p:pic>
            <p:nvPicPr>
              <p:cNvPr id="1846" name="Google Shape;1846;p136"/>
              <p:cNvPicPr preferRelativeResize="0"/>
              <p:nvPr/>
            </p:nvPicPr>
            <p:blipFill rotWithShape="1">
              <a:blip r:embed="rId7">
                <a:alphaModFix/>
              </a:blip>
              <a:srcRect b="84458" l="57225" r="18284" t="0"/>
              <a:stretch/>
            </p:blipFill>
            <p:spPr>
              <a:xfrm flipH="1" rot="10800000">
                <a:off x="292275" y="1606461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7" name="Google Shape;1847;p136"/>
              <p:cNvPicPr preferRelativeResize="0"/>
              <p:nvPr/>
            </p:nvPicPr>
            <p:blipFill rotWithShape="1">
              <a:blip r:embed="rId7">
                <a:alphaModFix/>
              </a:blip>
              <a:srcRect b="84458" l="57225" r="18284" t="0"/>
              <a:stretch/>
            </p:blipFill>
            <p:spPr>
              <a:xfrm flipH="1" rot="10800000">
                <a:off x="747140" y="1600423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8" name="Google Shape;1848;p136"/>
              <p:cNvPicPr preferRelativeResize="0"/>
              <p:nvPr/>
            </p:nvPicPr>
            <p:blipFill rotWithShape="1">
              <a:blip r:embed="rId7">
                <a:alphaModFix/>
              </a:blip>
              <a:srcRect b="84458" l="57225" r="18284" t="0"/>
              <a:stretch/>
            </p:blipFill>
            <p:spPr>
              <a:xfrm flipH="1" rot="10800000">
                <a:off x="1201385" y="1600423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9" name="Google Shape;1849;p136"/>
              <p:cNvPicPr preferRelativeResize="0"/>
              <p:nvPr/>
            </p:nvPicPr>
            <p:blipFill rotWithShape="1">
              <a:blip r:embed="rId7">
                <a:alphaModFix/>
              </a:blip>
              <a:srcRect b="84458" l="57225" r="18284" t="0"/>
              <a:stretch/>
            </p:blipFill>
            <p:spPr>
              <a:xfrm flipH="1" rot="10800000">
                <a:off x="1655631" y="1600423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50" name="Google Shape;1850;p136" title="positive three seven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32788" y="4384151"/>
              <a:ext cx="292164" cy="43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51" name="Google Shape;1851;p136" title="positive three seven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428598" y="4384151"/>
              <a:ext cx="292164" cy="43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52" name="Google Shape;1852;p136" title="positive three seven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905741" y="4384151"/>
              <a:ext cx="292164" cy="433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37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and Aisha are discussing these sequences.</a:t>
            </a:r>
            <a:endParaRPr/>
          </a:p>
        </p:txBody>
      </p:sp>
      <p:sp>
        <p:nvSpPr>
          <p:cNvPr id="1858" name="Google Shape;1858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859" name="Google Shape;1859;p137"/>
          <p:cNvSpPr txBox="1"/>
          <p:nvPr/>
        </p:nvSpPr>
        <p:spPr>
          <a:xfrm>
            <a:off x="358525" y="1532825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0" name="Google Shape;1860;p137"/>
          <p:cNvSpPr txBox="1"/>
          <p:nvPr/>
        </p:nvSpPr>
        <p:spPr>
          <a:xfrm>
            <a:off x="335500" y="2618275"/>
            <a:ext cx="364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−24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7},\frac{13}{7},\frac{16}{7},\frac{19}{7},\frac{22}{7},\ ...&quot;&gt;&lt;mfrac&gt;&lt;mn&gt;10&lt;/mn&gt;&lt;mn&gt;7&lt;/mn&gt;&lt;/mfrac&gt;&lt;mo&gt;,&lt;/mo&gt;&lt;mfrac&gt;&lt;mn&gt;13&lt;/mn&gt;&lt;mn&gt;7&lt;/mn&gt;&lt;/mfrac&gt;&lt;mo&gt;,&lt;/mo&gt;&lt;mfrac&gt;&lt;mn&gt;16&lt;/mn&gt;&lt;mn&gt;7&lt;/mn&gt;&lt;/mfrac&gt;&lt;mo&gt;,&lt;/mo&gt;&lt;mfrac&gt;&lt;mn&gt;19&lt;/mn&gt;&lt;mn&gt;7&lt;/mn&gt;&lt;/mfrac&gt;&lt;mo&gt;,&lt;/mo&gt;&lt;mfrac&gt;&lt;mn&gt;22&lt;/mn&gt;&lt;mn&gt;7&lt;/mn&gt;&lt;/mfrac&gt;&lt;mo&gt;,&lt;/mo&gt;&lt;mtext&gt;&lt;/mtext&gt;&lt;mo&gt;.&lt;/mo&gt;&lt;mo&gt;.&lt;/mo&gt;&lt;mo&gt;.&lt;/mo&gt;&lt;/math&gt;" id="1861" name="Google Shape;1861;p137" title="ten sevenths comma thirteen sevenths comma sixteen sevenths comma nineteen sevenths comma 22 over 7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9" y="3627598"/>
            <a:ext cx="2565279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2" name="Google Shape;1862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2496" y="27302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3" name="Google Shape;1863;p137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410200" y="1261232"/>
            <a:ext cx="4362327" cy="14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137"/>
          <p:cNvSpPr txBox="1"/>
          <p:nvPr/>
        </p:nvSpPr>
        <p:spPr>
          <a:xfrm flipH="1">
            <a:off x="4513725" y="1385025"/>
            <a:ext cx="39504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was wrong! These are arithmetic sequences. The common difference can be a fraction, or negative!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5" name="Google Shape;1865;p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126763" y="2793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6" name="Google Shape;1866;p137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3896700" y="2655845"/>
            <a:ext cx="3355402" cy="12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137"/>
          <p:cNvSpPr txBox="1"/>
          <p:nvPr/>
        </p:nvSpPr>
        <p:spPr>
          <a:xfrm flipH="1">
            <a:off x="4015125" y="2714945"/>
            <a:ext cx="30111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look at the definition of an arithmetic sequence again Lucas.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37"/>
          <p:cNvSpPr txBox="1"/>
          <p:nvPr>
            <p:ph idx="1" type="body"/>
          </p:nvPr>
        </p:nvSpPr>
        <p:spPr>
          <a:xfrm>
            <a:off x="2914800" y="4112100"/>
            <a:ext cx="56484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Sequences with a common, additive difference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between terms are called arithmetic sequences.</a:t>
            </a:r>
            <a:endParaRPr sz="1900"/>
          </a:p>
        </p:txBody>
      </p:sp>
      <p:grpSp>
        <p:nvGrpSpPr>
          <p:cNvPr id="1869" name="Google Shape;1869;p137"/>
          <p:cNvGrpSpPr/>
          <p:nvPr/>
        </p:nvGrpSpPr>
        <p:grpSpPr>
          <a:xfrm>
            <a:off x="280793" y="1805824"/>
            <a:ext cx="1770632" cy="433518"/>
            <a:chOff x="292275" y="1600423"/>
            <a:chExt cx="1914404" cy="433518"/>
          </a:xfrm>
        </p:grpSpPr>
        <p:pic>
          <p:nvPicPr>
            <p:cNvPr id="1870" name="Google Shape;1870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1" name="Google Shape;1871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2" name="Google Shape;1872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3" name="Google Shape;1873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4" name="Google Shape;1874;p137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5" name="Google Shape;1875;p137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6" name="Google Shape;1876;p137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7" name="Google Shape;1877;p137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78" name="Google Shape;1878;p137"/>
          <p:cNvGrpSpPr/>
          <p:nvPr/>
        </p:nvGrpSpPr>
        <p:grpSpPr>
          <a:xfrm>
            <a:off x="555412" y="2926071"/>
            <a:ext cx="2635177" cy="433518"/>
            <a:chOff x="292275" y="1600423"/>
            <a:chExt cx="1914404" cy="433518"/>
          </a:xfrm>
        </p:grpSpPr>
        <p:pic>
          <p:nvPicPr>
            <p:cNvPr id="1879" name="Google Shape;1879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0" name="Google Shape;1880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1" name="Google Shape;1881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2" name="Google Shape;1882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3" name="Google Shape;1883;p137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4" name="Google Shape;1884;p137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5" name="Google Shape;1885;p137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6" name="Google Shape;1886;p137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87" name="Google Shape;1887;p137" title="positive three sev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138" y="4384151"/>
            <a:ext cx="292164" cy="433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8" name="Google Shape;1888;p137"/>
          <p:cNvGrpSpPr/>
          <p:nvPr/>
        </p:nvGrpSpPr>
        <p:grpSpPr>
          <a:xfrm>
            <a:off x="361324" y="4152997"/>
            <a:ext cx="2000744" cy="253243"/>
            <a:chOff x="292275" y="1600423"/>
            <a:chExt cx="1914404" cy="314627"/>
          </a:xfrm>
        </p:grpSpPr>
        <p:pic>
          <p:nvPicPr>
            <p:cNvPr id="1889" name="Google Shape;1889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0" name="Google Shape;1890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1" name="Google Shape;1891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2" name="Google Shape;1892;p137"/>
            <p:cNvPicPr preferRelativeResize="0"/>
            <p:nvPr/>
          </p:nvPicPr>
          <p:blipFill rotWithShape="1">
            <a:blip r:embed="rId7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93" name="Google Shape;1893;p137" title="positive three sev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2788" y="4384151"/>
            <a:ext cx="292164" cy="4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94" name="Google Shape;1894;p137" title="positive three sev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28598" y="4384151"/>
            <a:ext cx="292164" cy="4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3}{7}&quot;&gt;&lt;mo&gt;+&lt;/mo&gt;&lt;mfrac&gt;&lt;mn&gt;3&lt;/mn&gt;&lt;mn&gt;7&lt;/mn&gt;&lt;/mfrac&gt;&lt;/math&gt;" id="1895" name="Google Shape;1895;p137" title="positive three sev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05741" y="4384151"/>
            <a:ext cx="292164" cy="4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sequences are arithmetic?</a:t>
            </a:r>
            <a:endParaRPr/>
          </a:p>
        </p:txBody>
      </p:sp>
      <p:sp>
        <p:nvSpPr>
          <p:cNvPr id="1901" name="Google Shape;1901;p1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02" name="Google Shape;1902;p138"/>
          <p:cNvSpPr txBox="1"/>
          <p:nvPr>
            <p:ph idx="1" type="subTitle"/>
          </p:nvPr>
        </p:nvSpPr>
        <p:spPr>
          <a:xfrm>
            <a:off x="1034425" y="1662350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−9, −3, 3, 9, 15, …</a:t>
            </a:r>
            <a:endParaRPr/>
          </a:p>
        </p:txBody>
      </p:sp>
      <p:sp>
        <p:nvSpPr>
          <p:cNvPr id="1903" name="Google Shape;1903;p138"/>
          <p:cNvSpPr txBox="1"/>
          <p:nvPr>
            <p:ph idx="3" type="subTitle"/>
          </p:nvPr>
        </p:nvSpPr>
        <p:spPr>
          <a:xfrm>
            <a:off x="1034425" y="2466425"/>
            <a:ext cx="4066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1.34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1.39, 1.44, 1.49, 1.54, …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frac{1}{4},2\frac{3}{4},3\frac{1}{4},3\frac{3}{4},4\frac{1}{4},\ ...&quot;&gt;&lt;mn&gt;2&lt;/mn&gt;&lt;mfrac&gt;&lt;mn&gt;1&lt;/mn&gt;&lt;mn&gt;4&lt;/mn&gt;&lt;/mfrac&gt;&lt;mo&gt;,&lt;/mo&gt;&lt;mn&gt;2&lt;/mn&gt;&lt;mfrac&gt;&lt;mn&gt;3&lt;/mn&gt;&lt;mn&gt;4&lt;/mn&gt;&lt;/mfrac&gt;&lt;mo&gt;,&lt;/mo&gt;&lt;mn&gt;3&lt;/mn&gt;&lt;mfrac&gt;&lt;mn&gt;1&lt;/mn&gt;&lt;mn&gt;4&lt;/mn&gt;&lt;/mfrac&gt;&lt;mo&gt;,&lt;/mo&gt;&lt;mn&gt;3&lt;/mn&gt;&lt;mfrac&gt;&lt;mn&gt;3&lt;/mn&gt;&lt;mn&gt;4&lt;/mn&gt;&lt;/mfrac&gt;&lt;mo&gt;,&lt;/mo&gt;&lt;mn&gt;4&lt;/mn&gt;&lt;mfrac&gt;&lt;mn&gt;1&lt;/mn&gt;&lt;mn&gt;4&lt;/mn&gt;&lt;/mfrac&gt;&lt;mo&gt;,&lt;/mo&gt;&lt;mtext&gt;&lt;/mtext&gt;&lt;mo&gt;.&lt;/mo&gt;&lt;mo&gt;.&lt;/mo&gt;&lt;mo&gt;.&lt;/mo&gt;&lt;/math&gt;" id="1904" name="Google Shape;1904;p138" title="2 and one fourth comma 2 and three fourths comma 3 and one fourth comma 3 and three fourths comma 4 and one fourth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036" y="3175529"/>
            <a:ext cx="2863474" cy="582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frac{1}{4},\frac{1}{6},\frac{1}{8},\frac{1}{10},\ ...&quot;&gt;&lt;mfrac&gt;&lt;mn&gt;1&lt;/mn&gt;&lt;mn&gt;2&lt;/mn&gt;&lt;/mfrac&gt;&lt;mo&gt;,&lt;/mo&gt;&lt;mfrac&gt;&lt;mn&gt;1&lt;/mn&gt;&lt;mn&gt;4&lt;/mn&gt;&lt;/mfrac&gt;&lt;mo&gt;,&lt;/mo&gt;&lt;mfrac&gt;&lt;mn&gt;1&lt;/mn&gt;&lt;mn&gt;6&lt;/mn&gt;&lt;/mfrac&gt;&lt;mo&gt;,&lt;/mo&gt;&lt;mfrac&gt;&lt;mn&gt;1&lt;/mn&gt;&lt;mn&gt;8&lt;/mn&gt;&lt;/mfrac&gt;&lt;mo&gt;,&lt;/mo&gt;&lt;mfrac&gt;&lt;mn&gt;1&lt;/mn&gt;&lt;mn&gt;10&lt;/mn&gt;&lt;/mfrac&gt;&lt;mo&gt;,&lt;/mo&gt;&lt;mtext&gt;&lt;/mtext&gt;&lt;mo&gt;.&lt;/mo&gt;&lt;mo&gt;.&lt;/mo&gt;&lt;mo&gt;.&lt;/mo&gt;&lt;/math&gt;" id="1905" name="Google Shape;1905;p138" title="one half comma one fourth comma one sixth comma one eighth comma one tenth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746" y="4016240"/>
            <a:ext cx="2216746" cy="57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6" name="Google Shape;1906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8383" y="16245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7" name="Google Shape;1907;p1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1604" y="41388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8" name="Google Shape;1908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3783" y="2462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9" name="Google Shape;1909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783" y="33009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0" name="Google Shape;1910;p138"/>
          <p:cNvSpPr txBox="1"/>
          <p:nvPr>
            <p:ph type="title"/>
          </p:nvPr>
        </p:nvSpPr>
        <p:spPr>
          <a:xfrm>
            <a:off x="4568187" y="1514455"/>
            <a:ext cx="2863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rithmetic -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1" name="Google Shape;1911;p138"/>
          <p:cNvSpPr txBox="1"/>
          <p:nvPr>
            <p:ph type="title"/>
          </p:nvPr>
        </p:nvSpPr>
        <p:spPr>
          <a:xfrm>
            <a:off x="5558773" y="2318130"/>
            <a:ext cx="3261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-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+0.05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p138"/>
          <p:cNvSpPr txBox="1"/>
          <p:nvPr>
            <p:ph type="title"/>
          </p:nvPr>
        </p:nvSpPr>
        <p:spPr>
          <a:xfrm>
            <a:off x="4681706" y="3133316"/>
            <a:ext cx="3261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-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 of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+\frac{1}{2}&quot;&gt;&lt;mo&gt;+&lt;/mo&gt;&lt;mfrac&gt;&lt;mn&gt;1&lt;/mn&gt;&lt;mn&gt;2&lt;/mn&gt;&lt;/mfrac&gt;&lt;/math&gt;" id="1913" name="Google Shape;1913;p138" title="positive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0079" y="3399210"/>
            <a:ext cx="248900" cy="36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38"/>
          <p:cNvSpPr txBox="1"/>
          <p:nvPr>
            <p:ph type="title"/>
          </p:nvPr>
        </p:nvSpPr>
        <p:spPr>
          <a:xfrm>
            <a:off x="3984408" y="4070725"/>
            <a:ext cx="2563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rithmetic -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common difference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-\frac{1}{12}&quot;&gt;&lt;mo&gt;−&lt;/mo&gt;&lt;mfrac&gt;&lt;mn&gt;1&lt;/mn&gt;&lt;mn&gt;12&lt;/mn&gt;&lt;/mfrac&gt;&lt;/math&gt;" id="1919" name="Google Shape;1919;p139" title="negative 1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001" y="4036589"/>
            <a:ext cx="376190" cy="4156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0" name="Google Shape;1920;p1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sequences are arithmetic?</a:t>
            </a:r>
            <a:endParaRPr/>
          </a:p>
        </p:txBody>
      </p:sp>
      <p:sp>
        <p:nvSpPr>
          <p:cNvPr id="1921" name="Google Shape;1921;p1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22" name="Google Shape;1922;p139"/>
          <p:cNvSpPr txBox="1"/>
          <p:nvPr>
            <p:ph idx="1" type="subTitle"/>
          </p:nvPr>
        </p:nvSpPr>
        <p:spPr>
          <a:xfrm>
            <a:off x="1034425" y="1662350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−9, −3, 3, 9, 15, …</a:t>
            </a:r>
            <a:endParaRPr/>
          </a:p>
        </p:txBody>
      </p:sp>
      <p:sp>
        <p:nvSpPr>
          <p:cNvPr id="1923" name="Google Shape;1923;p139"/>
          <p:cNvSpPr txBox="1"/>
          <p:nvPr>
            <p:ph idx="3" type="subTitle"/>
          </p:nvPr>
        </p:nvSpPr>
        <p:spPr>
          <a:xfrm>
            <a:off x="1034425" y="2466425"/>
            <a:ext cx="4066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1.34, 1.39, 1.44, 1.49, 1.54, …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frac{1}{4},2\frac{3}{4},3\frac{1}{4},3\frac{3}{4},4\frac{1}{4},\ ...&quot;&gt;&lt;mn&gt;2&lt;/mn&gt;&lt;mfrac&gt;&lt;mn&gt;1&lt;/mn&gt;&lt;mn&gt;4&lt;/mn&gt;&lt;/mfrac&gt;&lt;mo&gt;,&lt;/mo&gt;&lt;mn&gt;2&lt;/mn&gt;&lt;mfrac&gt;&lt;mn&gt;3&lt;/mn&gt;&lt;mn&gt;4&lt;/mn&gt;&lt;/mfrac&gt;&lt;mo&gt;,&lt;/mo&gt;&lt;mn&gt;3&lt;/mn&gt;&lt;mfrac&gt;&lt;mn&gt;1&lt;/mn&gt;&lt;mn&gt;4&lt;/mn&gt;&lt;/mfrac&gt;&lt;mo&gt;,&lt;/mo&gt;&lt;mn&gt;3&lt;/mn&gt;&lt;mfrac&gt;&lt;mn&gt;3&lt;/mn&gt;&lt;mn&gt;4&lt;/mn&gt;&lt;/mfrac&gt;&lt;mo&gt;,&lt;/mo&gt;&lt;mn&gt;4&lt;/mn&gt;&lt;mfrac&gt;&lt;mn&gt;1&lt;/mn&gt;&lt;mn&gt;4&lt;/mn&gt;&lt;/mfrac&gt;&lt;mo&gt;,&lt;/mo&gt;&lt;mtext&gt;&lt;/mtext&gt;&lt;mo&gt;.&lt;/mo&gt;&lt;mo&gt;.&lt;/mo&gt;&lt;mo&gt;.&lt;/mo&gt;&lt;/math&gt;" id="1924" name="Google Shape;1924;p139" title="2 and one fourth comma 2 and three fourths comma 3 and one fourth comma 3 and three fourths comma 4 and one fourth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9036" y="3175529"/>
            <a:ext cx="2863474" cy="582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frac{1}{4},\frac{1}{6},\frac{1}{8},\frac{1}{10},\ ...&quot;&gt;&lt;mfrac&gt;&lt;mn&gt;1&lt;/mn&gt;&lt;mn&gt;2&lt;/mn&gt;&lt;/mfrac&gt;&lt;mo&gt;,&lt;/mo&gt;&lt;mfrac&gt;&lt;mn&gt;1&lt;/mn&gt;&lt;mn&gt;4&lt;/mn&gt;&lt;/mfrac&gt;&lt;mo&gt;,&lt;/mo&gt;&lt;mfrac&gt;&lt;mn&gt;1&lt;/mn&gt;&lt;mn&gt;6&lt;/mn&gt;&lt;/mfrac&gt;&lt;mo&gt;,&lt;/mo&gt;&lt;mfrac&gt;&lt;mn&gt;1&lt;/mn&gt;&lt;mn&gt;8&lt;/mn&gt;&lt;/mfrac&gt;&lt;mo&gt;,&lt;/mo&gt;&lt;mfrac&gt;&lt;mn&gt;1&lt;/mn&gt;&lt;mn&gt;10&lt;/mn&gt;&lt;/mfrac&gt;&lt;mo&gt;,&lt;/mo&gt;&lt;mtext&gt;&lt;/mtext&gt;&lt;mo&gt;.&lt;/mo&gt;&lt;mo&gt;.&lt;/mo&gt;&lt;mo&gt;.&lt;/mo&gt;&lt;/math&gt;" id="1925" name="Google Shape;1925;p139" title="one half comma one fourth comma one sixth comma one eighth comma one tenth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1746" y="4016240"/>
            <a:ext cx="2216746" cy="57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8383" y="16245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1604" y="41388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8" name="Google Shape;1928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3783" y="2462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9" name="Google Shape;1929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1783" y="3300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frac{1}{4},\frac{1}{6},\frac{1}{8},\frac{1}{10},\ ...&quot;&gt;&lt;mfrac&gt;&lt;mn&gt;1&lt;/mn&gt;&lt;mn&gt;2&lt;/mn&gt;&lt;/mfrac&gt;&lt;mo&gt;,&lt;/mo&gt;&lt;mfrac&gt;&lt;mn&gt;1&lt;/mn&gt;&lt;mn&gt;4&lt;/mn&gt;&lt;/mfrac&gt;&lt;mo&gt;,&lt;/mo&gt;&lt;mfrac&gt;&lt;mn&gt;1&lt;/mn&gt;&lt;mn&gt;6&lt;/mn&gt;&lt;/mfrac&gt;&lt;mo&gt;,&lt;/mo&gt;&lt;mfrac&gt;&lt;mn&gt;1&lt;/mn&gt;&lt;mn&gt;8&lt;/mn&gt;&lt;/mfrac&gt;&lt;mo&gt;,&lt;/mo&gt;&lt;mfrac&gt;&lt;mn&gt;1&lt;/mn&gt;&lt;mn&gt;10&lt;/mn&gt;&lt;/mfrac&gt;&lt;mo&gt;,&lt;/mo&gt;&lt;mtext&gt;&lt;/mtext&gt;&lt;mo&gt;.&lt;/mo&gt;&lt;mo&gt;.&lt;/mo&gt;&lt;mo&gt;.&lt;/mo&gt;&lt;/math&gt;" id="1930" name="Google Shape;1930;p139" title="one half comma one fourth comma one sixth comma one eighth comma one tenth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3125" y="3166551"/>
            <a:ext cx="2216736" cy="5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1" name="Google Shape;1931;p139"/>
          <p:cNvSpPr txBox="1"/>
          <p:nvPr>
            <p:ph type="title"/>
          </p:nvPr>
        </p:nvSpPr>
        <p:spPr>
          <a:xfrm>
            <a:off x="3984408" y="4070725"/>
            <a:ext cx="2563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arithmetic -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common difference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4}&quot;&gt;&lt;mo&gt;−&lt;/mo&gt;&lt;mfrac&gt;&lt;mn&gt;1&lt;/mn&gt;&lt;mn&gt;4&lt;/mn&gt;&lt;/mfrac&gt;&lt;/math&gt;" id="1932" name="Google Shape;1932;p139" title="negative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05959" y="4047867"/>
            <a:ext cx="278106" cy="415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24}&quot;&gt;&lt;mo&gt;−&lt;/mo&gt;&lt;mfrac&gt;&lt;mn&gt;1&lt;/mn&gt;&lt;mn&gt;24&lt;/mn&gt;&lt;/mfrac&gt;&lt;/math&gt;" id="1933" name="Google Shape;1933;p139" title="negative 1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99600" y="4039402"/>
            <a:ext cx="376190" cy="4156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4" name="Google Shape;1934;p139"/>
          <p:cNvGrpSpPr/>
          <p:nvPr/>
        </p:nvGrpSpPr>
        <p:grpSpPr>
          <a:xfrm>
            <a:off x="6547837" y="3745358"/>
            <a:ext cx="1613460" cy="314627"/>
            <a:chOff x="292275" y="1600423"/>
            <a:chExt cx="1914404" cy="314627"/>
          </a:xfrm>
        </p:grpSpPr>
        <p:pic>
          <p:nvPicPr>
            <p:cNvPr id="1935" name="Google Shape;1935;p139"/>
            <p:cNvPicPr preferRelativeResize="0"/>
            <p:nvPr/>
          </p:nvPicPr>
          <p:blipFill rotWithShape="1">
            <a:blip r:embed="rId10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6" name="Google Shape;1936;p139"/>
            <p:cNvPicPr preferRelativeResize="0"/>
            <p:nvPr/>
          </p:nvPicPr>
          <p:blipFill rotWithShape="1">
            <a:blip r:embed="rId10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7" name="Google Shape;1937;p139"/>
            <p:cNvPicPr preferRelativeResize="0"/>
            <p:nvPr/>
          </p:nvPicPr>
          <p:blipFill rotWithShape="1">
            <a:blip r:embed="rId10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8" name="Google Shape;1938;p139"/>
            <p:cNvPicPr preferRelativeResize="0"/>
            <p:nvPr/>
          </p:nvPicPr>
          <p:blipFill rotWithShape="1">
            <a:blip r:embed="rId10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-\frac{1}{40}&quot;&gt;&lt;mo&gt;−&lt;/mo&gt;&lt;mfrac&gt;&lt;mn&gt;1&lt;/mn&gt;&lt;mn&gt;40&lt;/mn&gt;&lt;/mfrac&gt;&lt;/math&gt;" id="1939" name="Google Shape;1939;p139" title="negative 1 over 4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70825" y="4025475"/>
            <a:ext cx="396000" cy="4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40"/>
          <p:cNvSpPr txBox="1"/>
          <p:nvPr>
            <p:ph idx="1" type="body"/>
          </p:nvPr>
        </p:nvSpPr>
        <p:spPr>
          <a:xfrm>
            <a:off x="324000" y="759300"/>
            <a:ext cx="8448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and Aisha are looking at a different kind of sequence.</a:t>
            </a:r>
            <a:endParaRPr/>
          </a:p>
        </p:txBody>
      </p:sp>
      <p:sp>
        <p:nvSpPr>
          <p:cNvPr id="1945" name="Google Shape;1945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1946" name="Google Shape;1946;p140"/>
          <p:cNvSpPr txBox="1"/>
          <p:nvPr/>
        </p:nvSpPr>
        <p:spPr>
          <a:xfrm>
            <a:off x="358525" y="1304225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1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54, 162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7" name="Google Shape;1947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4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364175" y="1718425"/>
            <a:ext cx="4362327" cy="10809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40"/>
          <p:cNvSpPr txBox="1"/>
          <p:nvPr/>
        </p:nvSpPr>
        <p:spPr>
          <a:xfrm flipH="1">
            <a:off x="4513725" y="1842225"/>
            <a:ext cx="39504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you spot the multiplicative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relationship between terms here?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0" name="Google Shape;1950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457" y="3555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1" name="Google Shape;1951;p14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765352" y="2972157"/>
            <a:ext cx="1698698" cy="53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140"/>
          <p:cNvSpPr txBox="1"/>
          <p:nvPr/>
        </p:nvSpPr>
        <p:spPr>
          <a:xfrm flipH="1">
            <a:off x="989400" y="3019750"/>
            <a:ext cx="1394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Yes. It’s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3" name="Google Shape;1953;p140"/>
          <p:cNvGrpSpPr/>
          <p:nvPr/>
        </p:nvGrpSpPr>
        <p:grpSpPr>
          <a:xfrm>
            <a:off x="310987" y="1577199"/>
            <a:ext cx="2039606" cy="433518"/>
            <a:chOff x="292275" y="1600423"/>
            <a:chExt cx="1914404" cy="433518"/>
          </a:xfrm>
        </p:grpSpPr>
        <p:pic>
          <p:nvPicPr>
            <p:cNvPr id="1954" name="Google Shape;1954;p140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5" name="Google Shape;1955;p140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6" name="Google Shape;1956;p140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7" name="Google Shape;1957;p140"/>
            <p:cNvPicPr preferRelativeResize="0"/>
            <p:nvPr/>
          </p:nvPicPr>
          <p:blipFill rotWithShape="1">
            <a:blip r:embed="rId6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8" name="Google Shape;1958;p14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9" name="Google Shape;1959;p14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0" name="Google Shape;1960;p14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1" name="Google Shape;1961;p140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62" name="Google Shape;1962;p140"/>
          <p:cNvSpPr txBox="1"/>
          <p:nvPr>
            <p:ph idx="4294967295" type="subTitle"/>
          </p:nvPr>
        </p:nvSpPr>
        <p:spPr>
          <a:xfrm>
            <a:off x="1684100" y="3759037"/>
            <a:ext cx="60858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In g</a:t>
            </a:r>
            <a:r>
              <a:rPr lang="en-GB" sz="1900">
                <a:solidFill>
                  <a:schemeClr val="dk1"/>
                </a:solidFill>
              </a:rPr>
              <a:t>eometric sequences</a:t>
            </a:r>
            <a:r>
              <a:rPr lang="en-GB" sz="1900"/>
              <a:t> the</a:t>
            </a:r>
            <a:r>
              <a:rPr lang="en-GB" sz="1900">
                <a:solidFill>
                  <a:schemeClr val="dk1"/>
                </a:solidFill>
              </a:rPr>
              <a:t> constant multiplicative relationship between successive terms</a:t>
            </a:r>
            <a:r>
              <a:rPr lang="en-GB" sz="1900"/>
              <a:t> is called the </a:t>
            </a:r>
            <a:r>
              <a:rPr lang="en-GB" sz="1900">
                <a:solidFill>
                  <a:schemeClr val="accent4"/>
                </a:solidFill>
              </a:rPr>
              <a:t>common ratio</a:t>
            </a:r>
            <a:r>
              <a:rPr lang="en-GB" sz="1900"/>
              <a:t>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963" name="Google Shape;1963;p14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3112763" y="2911807"/>
            <a:ext cx="4967552" cy="53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140"/>
          <p:cNvSpPr txBox="1"/>
          <p:nvPr/>
        </p:nvSpPr>
        <p:spPr>
          <a:xfrm flipH="1">
            <a:off x="3218375" y="2985225"/>
            <a:ext cx="4656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call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this multiplier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41"/>
          <p:cNvSpPr txBox="1"/>
          <p:nvPr>
            <p:ph idx="1" type="body"/>
          </p:nvPr>
        </p:nvSpPr>
        <p:spPr>
          <a:xfrm>
            <a:off x="324000" y="759300"/>
            <a:ext cx="8237700" cy="7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Divide each term by the previous term to find the common ratio.</a:t>
            </a:r>
            <a:endParaRPr/>
          </a:p>
        </p:txBody>
      </p:sp>
      <p:sp>
        <p:nvSpPr>
          <p:cNvPr id="1970" name="Google Shape;1970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pic>
        <p:nvPicPr>
          <p:cNvPr id="1971" name="Google Shape;1971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72" name="Google Shape;1972;p141"/>
          <p:cNvSpPr txBox="1"/>
          <p:nvPr/>
        </p:nvSpPr>
        <p:spPr>
          <a:xfrm flipH="1">
            <a:off x="486367" y="2717800"/>
            <a:ext cx="2872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1 603 152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267 192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41"/>
          <p:cNvSpPr txBox="1"/>
          <p:nvPr/>
        </p:nvSpPr>
        <p:spPr>
          <a:xfrm flipH="1">
            <a:off x="842645" y="3130933"/>
            <a:ext cx="2872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267 192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44 532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41"/>
          <p:cNvSpPr txBox="1"/>
          <p:nvPr/>
        </p:nvSpPr>
        <p:spPr>
          <a:xfrm flipH="1">
            <a:off x="1193659" y="3544067"/>
            <a:ext cx="2872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44 532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7422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41"/>
          <p:cNvSpPr txBox="1"/>
          <p:nvPr/>
        </p:nvSpPr>
        <p:spPr>
          <a:xfrm flipH="1">
            <a:off x="1387927" y="3957200"/>
            <a:ext cx="2872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7422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1237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41"/>
          <p:cNvSpPr txBox="1"/>
          <p:nvPr/>
        </p:nvSpPr>
        <p:spPr>
          <a:xfrm>
            <a:off x="815725" y="1532825"/>
            <a:ext cx="5884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7422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44 532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267 192,  1 603 152,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77" name="Google Shape;1977;p141"/>
          <p:cNvGrpSpPr/>
          <p:nvPr/>
        </p:nvGrpSpPr>
        <p:grpSpPr>
          <a:xfrm>
            <a:off x="920590" y="1881949"/>
            <a:ext cx="4276517" cy="433518"/>
            <a:chOff x="292275" y="1600423"/>
            <a:chExt cx="1947678" cy="433518"/>
          </a:xfrm>
        </p:grpSpPr>
        <p:pic>
          <p:nvPicPr>
            <p:cNvPr id="1978" name="Google Shape;1978;p14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9" name="Google Shape;1979;p14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0" name="Google Shape;1980;p14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1" name="Google Shape;1981;p141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2" name="Google Shape;1982;p141"/>
            <p:cNvSpPr txBox="1"/>
            <p:nvPr/>
          </p:nvSpPr>
          <p:spPr>
            <a:xfrm>
              <a:off x="490953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×6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3" name="Google Shape;1983;p141"/>
            <p:cNvSpPr txBox="1"/>
            <p:nvPr/>
          </p:nvSpPr>
          <p:spPr>
            <a:xfrm>
              <a:off x="948153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×6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4" name="Google Shape;1984;p141"/>
            <p:cNvSpPr txBox="1"/>
            <p:nvPr/>
          </p:nvSpPr>
          <p:spPr>
            <a:xfrm>
              <a:off x="1405353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×6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5" name="Google Shape;1985;p141"/>
            <p:cNvSpPr txBox="1"/>
            <p:nvPr/>
          </p:nvSpPr>
          <p:spPr>
            <a:xfrm>
              <a:off x="1862553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×6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86" name="Google Shape;1986;p141"/>
          <p:cNvSpPr txBox="1"/>
          <p:nvPr>
            <p:ph idx="4294967295" type="title"/>
          </p:nvPr>
        </p:nvSpPr>
        <p:spPr>
          <a:xfrm>
            <a:off x="4305055" y="2985263"/>
            <a:ext cx="2498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A c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ommon ratio of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42"/>
          <p:cNvSpPr txBox="1"/>
          <p:nvPr>
            <p:ph idx="1" type="body"/>
          </p:nvPr>
        </p:nvSpPr>
        <p:spPr>
          <a:xfrm>
            <a:off x="324000" y="759300"/>
            <a:ext cx="8237700" cy="7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Divide each term by the previous term to find the common ratio.</a:t>
            </a:r>
            <a:endParaRPr/>
          </a:p>
        </p:txBody>
      </p:sp>
      <p:sp>
        <p:nvSpPr>
          <p:cNvPr id="1992" name="Google Shape;199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pic>
        <p:nvPicPr>
          <p:cNvPr id="1993" name="Google Shape;1993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142"/>
          <p:cNvSpPr txBox="1"/>
          <p:nvPr/>
        </p:nvSpPr>
        <p:spPr>
          <a:xfrm flipH="1">
            <a:off x="1520114" y="2759480"/>
            <a:ext cx="1479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3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42"/>
          <p:cNvSpPr txBox="1"/>
          <p:nvPr/>
        </p:nvSpPr>
        <p:spPr>
          <a:xfrm flipH="1">
            <a:off x="1522922" y="3325013"/>
            <a:ext cx="1479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432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42"/>
          <p:cNvSpPr txBox="1"/>
          <p:nvPr/>
        </p:nvSpPr>
        <p:spPr>
          <a:xfrm flipH="1">
            <a:off x="1523019" y="3890547"/>
            <a:ext cx="1479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432 ÷ 576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42"/>
          <p:cNvSpPr txBox="1"/>
          <p:nvPr/>
        </p:nvSpPr>
        <p:spPr>
          <a:xfrm flipH="1">
            <a:off x="1526803" y="4456080"/>
            <a:ext cx="1479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768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42"/>
          <p:cNvSpPr txBox="1"/>
          <p:nvPr/>
        </p:nvSpPr>
        <p:spPr>
          <a:xfrm>
            <a:off x="815725" y="1532825"/>
            <a:ext cx="3905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432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324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 243,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9" name="Google Shape;1999;p142"/>
          <p:cNvSpPr txBox="1"/>
          <p:nvPr>
            <p:ph idx="4294967295" type="title"/>
          </p:nvPr>
        </p:nvSpPr>
        <p:spPr>
          <a:xfrm>
            <a:off x="4305055" y="2985263"/>
            <a:ext cx="2498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A common ratio of 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000" name="Google Shape;2000;p142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893" y="2678932"/>
            <a:ext cx="141722" cy="451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001" name="Google Shape;2001;p142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893" y="3249708"/>
            <a:ext cx="141722" cy="451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002" name="Google Shape;2002;p142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893" y="3815461"/>
            <a:ext cx="141722" cy="451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003" name="Google Shape;2003;p142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893" y="4374314"/>
            <a:ext cx="141722" cy="451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004" name="Google Shape;2004;p142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9920" y="2921895"/>
            <a:ext cx="141722" cy="451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5" name="Google Shape;2005;p142"/>
          <p:cNvGrpSpPr/>
          <p:nvPr/>
        </p:nvGrpSpPr>
        <p:grpSpPr>
          <a:xfrm>
            <a:off x="874562" y="1858910"/>
            <a:ext cx="3000254" cy="314627"/>
            <a:chOff x="292275" y="1600423"/>
            <a:chExt cx="1914404" cy="314627"/>
          </a:xfrm>
        </p:grpSpPr>
        <p:pic>
          <p:nvPicPr>
            <p:cNvPr id="2006" name="Google Shape;2006;p142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7" name="Google Shape;2007;p142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8" name="Google Shape;2008;p142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9" name="Google Shape;2009;p142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2010" name="Google Shape;2010;p142" title="times 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5294" y="2136023"/>
            <a:ext cx="257894" cy="38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2011" name="Google Shape;2011;p142" title="times 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5614" y="2136023"/>
            <a:ext cx="257894" cy="38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2012" name="Google Shape;2012;p142" title="times 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1414" y="2136023"/>
            <a:ext cx="257894" cy="38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2013" name="Google Shape;2013;p142" title="times 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3414" y="2136023"/>
            <a:ext cx="257894" cy="3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43"/>
          <p:cNvSpPr txBox="1"/>
          <p:nvPr>
            <p:ph idx="1" type="body"/>
          </p:nvPr>
        </p:nvSpPr>
        <p:spPr>
          <a:xfrm>
            <a:off x="324000" y="759300"/>
            <a:ext cx="810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Categorise these sequences into arithmetic and geometric.</a:t>
            </a:r>
            <a:endParaRPr sz="2100"/>
          </a:p>
        </p:txBody>
      </p:sp>
      <p:sp>
        <p:nvSpPr>
          <p:cNvPr id="2019" name="Google Shape;2019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2020" name="Google Shape;2020;p143"/>
          <p:cNvSpPr txBox="1"/>
          <p:nvPr>
            <p:ph idx="4294967295" type="subTitle"/>
          </p:nvPr>
        </p:nvSpPr>
        <p:spPr>
          <a:xfrm>
            <a:off x="325612" y="1369057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−4, −2, 0, 2, …</a:t>
            </a:r>
            <a:endParaRPr sz="2000"/>
          </a:p>
        </p:txBody>
      </p:sp>
      <p:sp>
        <p:nvSpPr>
          <p:cNvPr id="2021" name="Google Shape;2021;p143"/>
          <p:cNvSpPr txBox="1"/>
          <p:nvPr>
            <p:ph idx="4294967295" type="subTitle"/>
          </p:nvPr>
        </p:nvSpPr>
        <p:spPr>
          <a:xfrm>
            <a:off x="4322532" y="1369057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2, 4, 8, 16, …</a:t>
            </a:r>
            <a:endParaRPr sz="2000"/>
          </a:p>
        </p:txBody>
      </p:sp>
      <p:sp>
        <p:nvSpPr>
          <p:cNvPr id="2022" name="Google Shape;2022;p143"/>
          <p:cNvSpPr txBox="1"/>
          <p:nvPr>
            <p:ph idx="4294967295" type="subTitle"/>
          </p:nvPr>
        </p:nvSpPr>
        <p:spPr>
          <a:xfrm>
            <a:off x="325612" y="2242714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−4, 4, 12, 20, …</a:t>
            </a:r>
            <a:endParaRPr sz="2000"/>
          </a:p>
        </p:txBody>
      </p:sp>
      <p:sp>
        <p:nvSpPr>
          <p:cNvPr id="2023" name="Google Shape;2023;p143"/>
          <p:cNvSpPr txBox="1"/>
          <p:nvPr>
            <p:ph idx="4294967295" type="subTitle"/>
          </p:nvPr>
        </p:nvSpPr>
        <p:spPr>
          <a:xfrm>
            <a:off x="4322532" y="2242714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4, 12, 36, 108, …</a:t>
            </a:r>
            <a:endParaRPr sz="2000"/>
          </a:p>
        </p:txBody>
      </p:sp>
      <p:sp>
        <p:nvSpPr>
          <p:cNvPr id="2024" name="Google Shape;2024;p143"/>
          <p:cNvSpPr txBox="1"/>
          <p:nvPr>
            <p:ph idx="4294967295" type="subTitle"/>
          </p:nvPr>
        </p:nvSpPr>
        <p:spPr>
          <a:xfrm>
            <a:off x="325612" y="3116372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r>
              <a:rPr lang="en-GB" sz="2000"/>
              <a:t>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24, 12, 0, …</a:t>
            </a:r>
            <a:endParaRPr sz="2000"/>
          </a:p>
        </p:txBody>
      </p:sp>
      <p:sp>
        <p:nvSpPr>
          <p:cNvPr id="2025" name="Google Shape;2025;p143"/>
          <p:cNvSpPr txBox="1"/>
          <p:nvPr>
            <p:ph idx="4294967295" type="subTitle"/>
          </p:nvPr>
        </p:nvSpPr>
        <p:spPr>
          <a:xfrm>
            <a:off x="4322532" y="3116372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</a:t>
            </a:r>
            <a:r>
              <a:rPr lang="en-GB" sz="2000"/>
              <a:t>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108, 36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12, 4, …</a:t>
            </a:r>
            <a:endParaRPr sz="2000"/>
          </a:p>
        </p:txBody>
      </p:sp>
      <p:sp>
        <p:nvSpPr>
          <p:cNvPr id="2026" name="Google Shape;2026;p143"/>
          <p:cNvSpPr txBox="1"/>
          <p:nvPr>
            <p:ph idx="4294967295" type="subTitle"/>
          </p:nvPr>
        </p:nvSpPr>
        <p:spPr>
          <a:xfrm>
            <a:off x="325612" y="3990030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</a:t>
            </a:r>
            <a:r>
              <a:rPr lang="en-GB" sz="2000"/>
              <a:t>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−2, 4,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/>
          </a:p>
        </p:txBody>
      </p:sp>
      <p:sp>
        <p:nvSpPr>
          <p:cNvPr id="2027" name="Google Shape;2027;p143"/>
          <p:cNvSpPr txBox="1"/>
          <p:nvPr>
            <p:ph idx="4294967295" type="subTitle"/>
          </p:nvPr>
        </p:nvSpPr>
        <p:spPr>
          <a:xfrm>
            <a:off x="4322532" y="3990030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</a:t>
            </a:r>
            <a:r>
              <a:rPr lang="en-GB" sz="2000"/>
              <a:t>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1, −2,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−8, …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144"/>
          <p:cNvSpPr txBox="1"/>
          <p:nvPr>
            <p:ph idx="1" type="body"/>
          </p:nvPr>
        </p:nvSpPr>
        <p:spPr>
          <a:xfrm>
            <a:off x="324000" y="759300"/>
            <a:ext cx="810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</a:t>
            </a:r>
            <a:r>
              <a:rPr lang="en-GB" sz="2100"/>
              <a:t>) Find the blanked out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100"/>
              <a:t> and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terms of these sequences.</a:t>
            </a:r>
            <a:endParaRPr sz="2100"/>
          </a:p>
        </p:txBody>
      </p:sp>
      <p:sp>
        <p:nvSpPr>
          <p:cNvPr id="2033" name="Google Shape;2033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2034" name="Google Shape;2034;p144"/>
          <p:cNvSpPr txBox="1"/>
          <p:nvPr>
            <p:ph idx="4294967295" type="subTitle"/>
          </p:nvPr>
        </p:nvSpPr>
        <p:spPr>
          <a:xfrm>
            <a:off x="325601" y="1311516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The arithmetic sequence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−9,  9,  27,  45, …</a:t>
            </a:r>
            <a:endParaRPr/>
          </a:p>
        </p:txBody>
      </p:sp>
      <p:sp>
        <p:nvSpPr>
          <p:cNvPr id="2035" name="Google Shape;2035;p144"/>
          <p:cNvSpPr txBox="1"/>
          <p:nvPr>
            <p:ph idx="4294967295" type="subTitle"/>
          </p:nvPr>
        </p:nvSpPr>
        <p:spPr>
          <a:xfrm>
            <a:off x="325601" y="2168383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 The geometric sequence 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 9,  27,  81, …</a:t>
            </a:r>
            <a:endParaRPr/>
          </a:p>
        </p:txBody>
      </p:sp>
      <p:sp>
        <p:nvSpPr>
          <p:cNvPr id="2036" name="Google Shape;2036;p144"/>
          <p:cNvSpPr txBox="1"/>
          <p:nvPr>
            <p:ph idx="4294967295" type="subTitle"/>
          </p:nvPr>
        </p:nvSpPr>
        <p:spPr>
          <a:xfrm>
            <a:off x="325601" y="3052610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  The arithmetic sequence 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7,  4,  1,  −2, …</a:t>
            </a:r>
            <a:endParaRPr/>
          </a:p>
        </p:txBody>
      </p:sp>
      <p:sp>
        <p:nvSpPr>
          <p:cNvPr id="2037" name="Google Shape;2037;p144"/>
          <p:cNvSpPr txBox="1"/>
          <p:nvPr>
            <p:ph idx="4294967295" type="subTitle"/>
          </p:nvPr>
        </p:nvSpPr>
        <p:spPr>
          <a:xfrm>
            <a:off x="325601" y="3943996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  The geometric sequence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 4,  1,     , …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038" name="Google Shape;2038;p144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461" y="3892215"/>
            <a:ext cx="141725" cy="451542"/>
          </a:xfrm>
          <a:prstGeom prst="rect">
            <a:avLst/>
          </a:prstGeom>
          <a:noFill/>
          <a:ln>
            <a:noFill/>
          </a:ln>
        </p:spPr>
      </p:pic>
      <p:sp>
        <p:nvSpPr>
          <p:cNvPr id="2039" name="Google Shape;2039;p144"/>
          <p:cNvSpPr/>
          <p:nvPr/>
        </p:nvSpPr>
        <p:spPr>
          <a:xfrm>
            <a:off x="3834868" y="1341062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144"/>
          <p:cNvSpPr/>
          <p:nvPr/>
        </p:nvSpPr>
        <p:spPr>
          <a:xfrm>
            <a:off x="5282668" y="1341062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1" name="Google Shape;2041;p144"/>
          <p:cNvSpPr/>
          <p:nvPr/>
        </p:nvSpPr>
        <p:spPr>
          <a:xfrm>
            <a:off x="3823377" y="2197916"/>
            <a:ext cx="2532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44"/>
          <p:cNvSpPr/>
          <p:nvPr/>
        </p:nvSpPr>
        <p:spPr>
          <a:xfrm>
            <a:off x="5153282" y="2197928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44"/>
          <p:cNvSpPr/>
          <p:nvPr/>
        </p:nvSpPr>
        <p:spPr>
          <a:xfrm>
            <a:off x="3823377" y="3070637"/>
            <a:ext cx="2532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144"/>
          <p:cNvSpPr/>
          <p:nvPr/>
        </p:nvSpPr>
        <p:spPr>
          <a:xfrm>
            <a:off x="5026708" y="3070648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44"/>
          <p:cNvSpPr/>
          <p:nvPr/>
        </p:nvSpPr>
        <p:spPr>
          <a:xfrm>
            <a:off x="3865043" y="3892978"/>
            <a:ext cx="303600" cy="45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144"/>
          <p:cNvSpPr/>
          <p:nvPr/>
        </p:nvSpPr>
        <p:spPr>
          <a:xfrm>
            <a:off x="5125845" y="3892978"/>
            <a:ext cx="253200" cy="45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145"/>
          <p:cNvSpPr/>
          <p:nvPr/>
        </p:nvSpPr>
        <p:spPr>
          <a:xfrm>
            <a:off x="893250" y="3089302"/>
            <a:ext cx="6938700" cy="1671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45"/>
          <p:cNvSpPr/>
          <p:nvPr/>
        </p:nvSpPr>
        <p:spPr>
          <a:xfrm>
            <a:off x="893250" y="1295025"/>
            <a:ext cx="6938700" cy="1671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45"/>
          <p:cNvSpPr txBox="1"/>
          <p:nvPr>
            <p:ph idx="1" type="body"/>
          </p:nvPr>
        </p:nvSpPr>
        <p:spPr>
          <a:xfrm>
            <a:off x="324000" y="759300"/>
            <a:ext cx="8237700" cy="3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Categorise these sequences into arithmetic and geometric.</a:t>
            </a:r>
            <a:endParaRPr sz="2100"/>
          </a:p>
        </p:txBody>
      </p:sp>
      <p:sp>
        <p:nvSpPr>
          <p:cNvPr id="2054" name="Google Shape;2054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2055" name="Google Shape;2055;p145"/>
          <p:cNvSpPr txBox="1"/>
          <p:nvPr>
            <p:ph idx="4294967295" type="subTitle"/>
          </p:nvPr>
        </p:nvSpPr>
        <p:spPr>
          <a:xfrm>
            <a:off x="1011401" y="1369050"/>
            <a:ext cx="2409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−4, −2, 0, 2, …</a:t>
            </a:r>
            <a:endParaRPr sz="2000"/>
          </a:p>
        </p:txBody>
      </p:sp>
      <p:sp>
        <p:nvSpPr>
          <p:cNvPr id="2056" name="Google Shape;2056;p145"/>
          <p:cNvSpPr txBox="1"/>
          <p:nvPr>
            <p:ph idx="4294967295" type="subTitle"/>
          </p:nvPr>
        </p:nvSpPr>
        <p:spPr>
          <a:xfrm>
            <a:off x="1015759" y="3209363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2, 4, 8, 16, …</a:t>
            </a:r>
            <a:endParaRPr sz="2000"/>
          </a:p>
        </p:txBody>
      </p:sp>
      <p:sp>
        <p:nvSpPr>
          <p:cNvPr id="2057" name="Google Shape;2057;p145"/>
          <p:cNvSpPr txBox="1"/>
          <p:nvPr>
            <p:ph idx="4294967295" type="subTitle"/>
          </p:nvPr>
        </p:nvSpPr>
        <p:spPr>
          <a:xfrm>
            <a:off x="1034425" y="2131994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−4, 4, 12, 20, …</a:t>
            </a:r>
            <a:endParaRPr sz="2000"/>
          </a:p>
        </p:txBody>
      </p:sp>
      <p:sp>
        <p:nvSpPr>
          <p:cNvPr id="2058" name="Google Shape;2058;p145"/>
          <p:cNvSpPr txBox="1"/>
          <p:nvPr>
            <p:ph idx="4294967295" type="subTitle"/>
          </p:nvPr>
        </p:nvSpPr>
        <p:spPr>
          <a:xfrm>
            <a:off x="1015759" y="4025488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4, 12, 36, 108, …</a:t>
            </a:r>
            <a:endParaRPr sz="2000"/>
          </a:p>
        </p:txBody>
      </p:sp>
      <p:sp>
        <p:nvSpPr>
          <p:cNvPr id="2059" name="Google Shape;2059;p145"/>
          <p:cNvSpPr txBox="1"/>
          <p:nvPr>
            <p:ph idx="4294967295" type="subTitle"/>
          </p:nvPr>
        </p:nvSpPr>
        <p:spPr>
          <a:xfrm>
            <a:off x="4851585" y="1375279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36, 24, 12, 0, …</a:t>
            </a:r>
            <a:endParaRPr sz="2000"/>
          </a:p>
        </p:txBody>
      </p:sp>
      <p:sp>
        <p:nvSpPr>
          <p:cNvPr id="2060" name="Google Shape;2060;p145"/>
          <p:cNvSpPr txBox="1"/>
          <p:nvPr>
            <p:ph idx="4294967295" type="subTitle"/>
          </p:nvPr>
        </p:nvSpPr>
        <p:spPr>
          <a:xfrm>
            <a:off x="4855932" y="3215586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108, 36, 12, 4, …</a:t>
            </a:r>
            <a:endParaRPr sz="2000"/>
          </a:p>
        </p:txBody>
      </p:sp>
      <p:sp>
        <p:nvSpPr>
          <p:cNvPr id="2061" name="Google Shape;2061;p145"/>
          <p:cNvSpPr txBox="1"/>
          <p:nvPr>
            <p:ph idx="4294967295" type="subTitle"/>
          </p:nvPr>
        </p:nvSpPr>
        <p:spPr>
          <a:xfrm>
            <a:off x="4851585" y="4001537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1, −2, 4, −8, …</a:t>
            </a:r>
            <a:endParaRPr sz="2000"/>
          </a:p>
        </p:txBody>
      </p:sp>
      <p:sp>
        <p:nvSpPr>
          <p:cNvPr id="2062" name="Google Shape;2062;p145"/>
          <p:cNvSpPr txBox="1"/>
          <p:nvPr>
            <p:ph idx="4294967295" type="subTitle"/>
          </p:nvPr>
        </p:nvSpPr>
        <p:spPr>
          <a:xfrm>
            <a:off x="4851585" y="2142563"/>
            <a:ext cx="265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1, −2, −5, −8, …</a:t>
            </a:r>
            <a:endParaRPr sz="2000"/>
          </a:p>
        </p:txBody>
      </p:sp>
      <p:sp>
        <p:nvSpPr>
          <p:cNvPr id="2063" name="Google Shape;2063;p145"/>
          <p:cNvSpPr txBox="1"/>
          <p:nvPr>
            <p:ph idx="4294967295" type="title"/>
          </p:nvPr>
        </p:nvSpPr>
        <p:spPr>
          <a:xfrm>
            <a:off x="1035612" y="1735899"/>
            <a:ext cx="24987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ommon difference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4" name="Google Shape;2064;p145"/>
          <p:cNvSpPr txBox="1"/>
          <p:nvPr>
            <p:ph idx="4294967295" type="title"/>
          </p:nvPr>
        </p:nvSpPr>
        <p:spPr>
          <a:xfrm>
            <a:off x="1028451" y="3518675"/>
            <a:ext cx="1898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ommon ratio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5" name="Google Shape;2065;p145"/>
          <p:cNvSpPr txBox="1"/>
          <p:nvPr>
            <p:ph idx="4294967295" type="title"/>
          </p:nvPr>
        </p:nvSpPr>
        <p:spPr>
          <a:xfrm>
            <a:off x="1035612" y="2497899"/>
            <a:ext cx="24987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+8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6" name="Google Shape;2066;p145"/>
          <p:cNvSpPr txBox="1"/>
          <p:nvPr>
            <p:ph idx="4294967295" type="title"/>
          </p:nvPr>
        </p:nvSpPr>
        <p:spPr>
          <a:xfrm>
            <a:off x="4921799" y="1735900"/>
            <a:ext cx="26508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7" name="Google Shape;2067;p145"/>
          <p:cNvSpPr txBox="1"/>
          <p:nvPr>
            <p:ph idx="4294967295" type="title"/>
          </p:nvPr>
        </p:nvSpPr>
        <p:spPr>
          <a:xfrm>
            <a:off x="4921812" y="2497899"/>
            <a:ext cx="24987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8" name="Google Shape;2068;p145"/>
          <p:cNvSpPr txBox="1"/>
          <p:nvPr>
            <p:ph idx="4294967295" type="title"/>
          </p:nvPr>
        </p:nvSpPr>
        <p:spPr>
          <a:xfrm>
            <a:off x="1028451" y="4310848"/>
            <a:ext cx="1898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ratio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9" name="Google Shape;2069;p145"/>
          <p:cNvSpPr txBox="1"/>
          <p:nvPr>
            <p:ph idx="4294967295" type="title"/>
          </p:nvPr>
        </p:nvSpPr>
        <p:spPr>
          <a:xfrm>
            <a:off x="4937665" y="3541688"/>
            <a:ext cx="1898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ratio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0" name="Google Shape;2070;p145"/>
          <p:cNvSpPr txBox="1"/>
          <p:nvPr>
            <p:ph idx="4294967295" type="title"/>
          </p:nvPr>
        </p:nvSpPr>
        <p:spPr>
          <a:xfrm>
            <a:off x="4937677" y="4310850"/>
            <a:ext cx="22038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ratio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071" name="Google Shape;2071;p145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117" y="3491980"/>
            <a:ext cx="127777" cy="4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145"/>
          <p:cNvSpPr txBox="1"/>
          <p:nvPr>
            <p:ph idx="4294967295" type="title"/>
          </p:nvPr>
        </p:nvSpPr>
        <p:spPr>
          <a:xfrm rot="-5400000">
            <a:off x="45006" y="1994673"/>
            <a:ext cx="12399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Arithmetic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3" name="Google Shape;2073;p145"/>
          <p:cNvSpPr txBox="1"/>
          <p:nvPr>
            <p:ph idx="4294967295" type="title"/>
          </p:nvPr>
        </p:nvSpPr>
        <p:spPr>
          <a:xfrm rot="-5400000">
            <a:off x="45006" y="3758780"/>
            <a:ext cx="12399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Geo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metric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146"/>
          <p:cNvSpPr txBox="1"/>
          <p:nvPr>
            <p:ph idx="1" type="body"/>
          </p:nvPr>
        </p:nvSpPr>
        <p:spPr>
          <a:xfrm>
            <a:off x="324000" y="759300"/>
            <a:ext cx="82377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2) Find the blanked out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100"/>
              <a:t> and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terms of these sequences.</a:t>
            </a:r>
            <a:endParaRPr sz="2100"/>
          </a:p>
        </p:txBody>
      </p:sp>
      <p:sp>
        <p:nvSpPr>
          <p:cNvPr id="2079" name="Google Shape;2079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2080" name="Google Shape;2080;p146"/>
          <p:cNvSpPr txBox="1"/>
          <p:nvPr>
            <p:ph idx="4294967295" type="subTitle"/>
          </p:nvPr>
        </p:nvSpPr>
        <p:spPr>
          <a:xfrm>
            <a:off x="325601" y="1311516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The arithmetic sequence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−9,  9,  27,  45, …</a:t>
            </a:r>
            <a:endParaRPr/>
          </a:p>
        </p:txBody>
      </p:sp>
      <p:sp>
        <p:nvSpPr>
          <p:cNvPr id="2081" name="Google Shape;2081;p146"/>
          <p:cNvSpPr txBox="1"/>
          <p:nvPr>
            <p:ph idx="4294967295" type="subTitle"/>
          </p:nvPr>
        </p:nvSpPr>
        <p:spPr>
          <a:xfrm>
            <a:off x="325601" y="2119543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The geometric sequence 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3,  9,  27,  81, …</a:t>
            </a:r>
            <a:endParaRPr/>
          </a:p>
        </p:txBody>
      </p:sp>
      <p:sp>
        <p:nvSpPr>
          <p:cNvPr id="2082" name="Google Shape;2082;p146"/>
          <p:cNvSpPr txBox="1"/>
          <p:nvPr>
            <p:ph idx="4294967295" type="subTitle"/>
          </p:nvPr>
        </p:nvSpPr>
        <p:spPr>
          <a:xfrm>
            <a:off x="325601" y="3049797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 The arithmetic sequence 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7,  4,  1,  −2, …</a:t>
            </a:r>
            <a:endParaRPr/>
          </a:p>
        </p:txBody>
      </p:sp>
      <p:sp>
        <p:nvSpPr>
          <p:cNvPr id="2083" name="Google Shape;2083;p146"/>
          <p:cNvSpPr txBox="1"/>
          <p:nvPr>
            <p:ph idx="4294967295" type="subTitle"/>
          </p:nvPr>
        </p:nvSpPr>
        <p:spPr>
          <a:xfrm>
            <a:off x="325601" y="3964197"/>
            <a:ext cx="5931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  The geometric sequence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16,  4,  1,     , …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084" name="Google Shape;2084;p146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461" y="3912416"/>
            <a:ext cx="141725" cy="451542"/>
          </a:xfrm>
          <a:prstGeom prst="rect">
            <a:avLst/>
          </a:prstGeom>
          <a:noFill/>
          <a:ln>
            <a:noFill/>
          </a:ln>
        </p:spPr>
      </p:pic>
      <p:sp>
        <p:nvSpPr>
          <p:cNvPr id="2085" name="Google Shape;2085;p146"/>
          <p:cNvSpPr/>
          <p:nvPr/>
        </p:nvSpPr>
        <p:spPr>
          <a:xfrm>
            <a:off x="3834868" y="1341062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6" name="Google Shape;2086;p146"/>
          <p:cNvSpPr/>
          <p:nvPr/>
        </p:nvSpPr>
        <p:spPr>
          <a:xfrm>
            <a:off x="5282668" y="1341062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146"/>
          <p:cNvSpPr/>
          <p:nvPr/>
        </p:nvSpPr>
        <p:spPr>
          <a:xfrm>
            <a:off x="3823377" y="2149077"/>
            <a:ext cx="2532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46"/>
          <p:cNvSpPr/>
          <p:nvPr/>
        </p:nvSpPr>
        <p:spPr>
          <a:xfrm>
            <a:off x="5153282" y="2149088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9" name="Google Shape;2089;p146"/>
          <p:cNvSpPr/>
          <p:nvPr/>
        </p:nvSpPr>
        <p:spPr>
          <a:xfrm>
            <a:off x="3823377" y="3067824"/>
            <a:ext cx="2532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146"/>
          <p:cNvSpPr/>
          <p:nvPr/>
        </p:nvSpPr>
        <p:spPr>
          <a:xfrm>
            <a:off x="5026708" y="3067835"/>
            <a:ext cx="356700" cy="32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1" name="Google Shape;2091;p146"/>
          <p:cNvSpPr/>
          <p:nvPr/>
        </p:nvSpPr>
        <p:spPr>
          <a:xfrm>
            <a:off x="3865043" y="3913179"/>
            <a:ext cx="303600" cy="45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2" name="Google Shape;2092;p146"/>
          <p:cNvSpPr/>
          <p:nvPr/>
        </p:nvSpPr>
        <p:spPr>
          <a:xfrm>
            <a:off x="5125845" y="3913179"/>
            <a:ext cx="253200" cy="45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3" name="Google Shape;2093;p146"/>
          <p:cNvGrpSpPr/>
          <p:nvPr/>
        </p:nvGrpSpPr>
        <p:grpSpPr>
          <a:xfrm>
            <a:off x="3876541" y="2470010"/>
            <a:ext cx="1555651" cy="367400"/>
            <a:chOff x="292283" y="1666541"/>
            <a:chExt cx="1460157" cy="367400"/>
          </a:xfrm>
        </p:grpSpPr>
        <p:pic>
          <p:nvPicPr>
            <p:cNvPr id="2094" name="Google Shape;2094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92283" y="1671089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5" name="Google Shape;2095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747147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6" name="Google Shape;2096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201392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7" name="Google Shape;2097;p146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8" name="Google Shape;2098;p146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9" name="Google Shape;2099;p146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00" name="Google Shape;2100;p146"/>
          <p:cNvGrpSpPr/>
          <p:nvPr/>
        </p:nvGrpSpPr>
        <p:grpSpPr>
          <a:xfrm>
            <a:off x="3941235" y="1631810"/>
            <a:ext cx="1555651" cy="367400"/>
            <a:chOff x="292283" y="1666541"/>
            <a:chExt cx="1460157" cy="367400"/>
          </a:xfrm>
        </p:grpSpPr>
        <p:pic>
          <p:nvPicPr>
            <p:cNvPr id="2101" name="Google Shape;2101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92283" y="1671089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2" name="Google Shape;2102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747147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3" name="Google Shape;2103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201392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4" name="Google Shape;2104;p146"/>
            <p:cNvSpPr txBox="1"/>
            <p:nvPr/>
          </p:nvSpPr>
          <p:spPr>
            <a:xfrm>
              <a:off x="3387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5" name="Google Shape;2105;p146"/>
            <p:cNvSpPr txBox="1"/>
            <p:nvPr/>
          </p:nvSpPr>
          <p:spPr>
            <a:xfrm>
              <a:off x="7959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6" name="Google Shape;2106;p146"/>
            <p:cNvSpPr txBox="1"/>
            <p:nvPr/>
          </p:nvSpPr>
          <p:spPr>
            <a:xfrm>
              <a:off x="12531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+18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07" name="Google Shape;2107;p146"/>
          <p:cNvGrpSpPr/>
          <p:nvPr/>
        </p:nvGrpSpPr>
        <p:grpSpPr>
          <a:xfrm>
            <a:off x="3865032" y="3361400"/>
            <a:ext cx="1486732" cy="367400"/>
            <a:chOff x="292283" y="1666541"/>
            <a:chExt cx="1460157" cy="367400"/>
          </a:xfrm>
        </p:grpSpPr>
        <p:pic>
          <p:nvPicPr>
            <p:cNvPr id="2108" name="Google Shape;2108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92283" y="1671089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9" name="Google Shape;2109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747147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0" name="Google Shape;2110;p146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1201392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1" name="Google Shape;2111;p146"/>
            <p:cNvSpPr txBox="1"/>
            <p:nvPr/>
          </p:nvSpPr>
          <p:spPr>
            <a:xfrm>
              <a:off x="3387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2" name="Google Shape;2112;p146"/>
            <p:cNvSpPr txBox="1"/>
            <p:nvPr/>
          </p:nvSpPr>
          <p:spPr>
            <a:xfrm>
              <a:off x="7959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3" name="Google Shape;2113;p146"/>
            <p:cNvSpPr txBox="1"/>
            <p:nvPr/>
          </p:nvSpPr>
          <p:spPr>
            <a:xfrm>
              <a:off x="12531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−3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14" name="Google Shape;2114;p146"/>
          <p:cNvGrpSpPr/>
          <p:nvPr/>
        </p:nvGrpSpPr>
        <p:grpSpPr>
          <a:xfrm>
            <a:off x="4003115" y="4298800"/>
            <a:ext cx="1348601" cy="509343"/>
            <a:chOff x="4003115" y="4298800"/>
            <a:chExt cx="1348601" cy="509343"/>
          </a:xfrm>
        </p:grpSpPr>
        <p:grpSp>
          <p:nvGrpSpPr>
            <p:cNvPr id="2115" name="Google Shape;2115;p146"/>
            <p:cNvGrpSpPr/>
            <p:nvPr/>
          </p:nvGrpSpPr>
          <p:grpSpPr>
            <a:xfrm>
              <a:off x="4003115" y="4298800"/>
              <a:ext cx="1348601" cy="237002"/>
              <a:chOff x="292283" y="1666541"/>
              <a:chExt cx="1460157" cy="237002"/>
            </a:xfrm>
          </p:grpSpPr>
          <p:pic>
            <p:nvPicPr>
              <p:cNvPr id="2116" name="Google Shape;2116;p146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292283" y="1671089"/>
                <a:ext cx="551048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7" name="Google Shape;2117;p146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747147" y="1666541"/>
                <a:ext cx="551048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8" name="Google Shape;2118;p146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1201392" y="1666541"/>
                <a:ext cx="551048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&lt;math xmlns=&quot;http://www.w3.org/1998/Math/MathML&quot; display=&quot;block&quot; data-is-equatio=&quot;1&quot; data-latex=&quot;\times\frac{1}{4}&quot;&gt;&lt;mo&gt;×&lt;/mo&gt;&lt;mfrac&gt;&lt;mn&gt;1&lt;/mn&gt;&lt;mn&gt;4&lt;/mn&gt;&lt;/mfrac&gt;&lt;/math&gt;" id="2119" name="Google Shape;2119;p146" title="times one four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43375" y="4483543"/>
              <a:ext cx="214809" cy="32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1}{4}&quot;&gt;&lt;mo&gt;×&lt;/mo&gt;&lt;mfrac&gt;&lt;mn&gt;1&lt;/mn&gt;&lt;mn&gt;4&lt;/mn&gt;&lt;/mfrac&gt;&lt;/math&gt;" id="2120" name="Google Shape;2120;p146" title="times one four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89068" y="4483543"/>
              <a:ext cx="214809" cy="32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imes\frac{1}{4}&quot;&gt;&lt;mo&gt;×&lt;/mo&gt;&lt;mfrac&gt;&lt;mn&gt;1&lt;/mn&gt;&lt;mn&gt;4&lt;/mn&gt;&lt;/mfrac&gt;&lt;/math&gt;" id="2121" name="Google Shape;2121;p146" title="times one four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00241" y="4483543"/>
              <a:ext cx="214809" cy="324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47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and geometric sequences</a:t>
            </a:r>
            <a:endParaRPr/>
          </a:p>
        </p:txBody>
      </p:sp>
      <p:sp>
        <p:nvSpPr>
          <p:cNvPr id="2127" name="Google Shape;2127;p147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128" name="Google Shape;2128;p14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non-linear sequences</a:t>
            </a:r>
            <a:endParaRPr/>
          </a:p>
        </p:txBody>
      </p:sp>
      <p:pic>
        <p:nvPicPr>
          <p:cNvPr id="2129" name="Google Shape;2129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148"/>
          <p:cNvSpPr txBox="1"/>
          <p:nvPr/>
        </p:nvSpPr>
        <p:spPr>
          <a:xfrm flipH="1">
            <a:off x="5123250" y="1385025"/>
            <a:ext cx="2808000" cy="20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can help! That pattern is our square numbers!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5" name="Google Shape;2135;p148"/>
          <p:cNvSpPr txBox="1"/>
          <p:nvPr>
            <p:ph idx="1" type="body"/>
          </p:nvPr>
        </p:nvSpPr>
        <p:spPr>
          <a:xfrm>
            <a:off x="324000" y="759300"/>
            <a:ext cx="7135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Jacob are studying another sequence.</a:t>
            </a:r>
            <a:endParaRPr/>
          </a:p>
        </p:txBody>
      </p:sp>
      <p:sp>
        <p:nvSpPr>
          <p:cNvPr id="2136" name="Google Shape;2136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pic>
        <p:nvPicPr>
          <p:cNvPr id="2137" name="Google Shape;2137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57" y="3555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9" name="Google Shape;2139;p14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391499" y="1863682"/>
            <a:ext cx="3410376" cy="164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0" name="Google Shape;2140;p14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015443" y="1272725"/>
            <a:ext cx="3011098" cy="269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148"/>
          <p:cNvSpPr txBox="1"/>
          <p:nvPr/>
        </p:nvSpPr>
        <p:spPr>
          <a:xfrm flipH="1">
            <a:off x="692175" y="1918425"/>
            <a:ext cx="3011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stuck finding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here.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no common difference and no common ratio.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2" name="Google Shape;2142;p148"/>
          <p:cNvSpPr txBox="1"/>
          <p:nvPr/>
        </p:nvSpPr>
        <p:spPr>
          <a:xfrm>
            <a:off x="358525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3" name="Google Shape;2143;p148"/>
          <p:cNvSpPr/>
          <p:nvPr/>
        </p:nvSpPr>
        <p:spPr>
          <a:xfrm>
            <a:off x="2085844" y="1333875"/>
            <a:ext cx="396000" cy="32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4" name="Google Shape;2144;p14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165007" y="3475382"/>
            <a:ext cx="3145999" cy="9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48"/>
          <p:cNvSpPr txBox="1"/>
          <p:nvPr/>
        </p:nvSpPr>
        <p:spPr>
          <a:xfrm flipH="1">
            <a:off x="1454075" y="3518625"/>
            <a:ext cx="2661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next one is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That’s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Thanks Lucas!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49"/>
          <p:cNvSpPr txBox="1"/>
          <p:nvPr>
            <p:ph idx="1" type="body"/>
          </p:nvPr>
        </p:nvSpPr>
        <p:spPr>
          <a:xfrm>
            <a:off x="324000" y="759300"/>
            <a:ext cx="7135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Jacob are studying another sequence.</a:t>
            </a:r>
            <a:endParaRPr/>
          </a:p>
        </p:txBody>
      </p:sp>
      <p:sp>
        <p:nvSpPr>
          <p:cNvPr id="2151" name="Google Shape;2151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pic>
        <p:nvPicPr>
          <p:cNvPr id="2152" name="Google Shape;2152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3" name="Google Shape;2153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57" y="3555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4" name="Google Shape;2154;p14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310944" y="2625687"/>
            <a:ext cx="4884797" cy="9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5" name="Google Shape;2155;p149"/>
          <p:cNvSpPr txBox="1"/>
          <p:nvPr/>
        </p:nvSpPr>
        <p:spPr>
          <a:xfrm flipH="1">
            <a:off x="691950" y="2680425"/>
            <a:ext cx="4655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interesting. The term-to-term differences have a common difference!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6" name="Google Shape;2156;p149"/>
          <p:cNvSpPr txBox="1"/>
          <p:nvPr/>
        </p:nvSpPr>
        <p:spPr>
          <a:xfrm>
            <a:off x="358525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57" name="Google Shape;2157;p149"/>
          <p:cNvGrpSpPr/>
          <p:nvPr/>
        </p:nvGrpSpPr>
        <p:grpSpPr>
          <a:xfrm>
            <a:off x="445302" y="1445050"/>
            <a:ext cx="1824782" cy="747300"/>
            <a:chOff x="547350" y="3098425"/>
            <a:chExt cx="2653842" cy="747300"/>
          </a:xfrm>
        </p:grpSpPr>
        <p:grpSp>
          <p:nvGrpSpPr>
            <p:cNvPr id="2158" name="Google Shape;2158;p149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159" name="Google Shape;2159;p149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149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149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62" name="Google Shape;2162;p149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</a:t>
                </a: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63" name="Google Shape;2163;p149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164" name="Google Shape;2164;p149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149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149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67" name="Google Shape;2167;p149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168" name="Google Shape;2168;p149"/>
          <p:cNvSpPr txBox="1"/>
          <p:nvPr>
            <p:ph idx="1" type="body"/>
          </p:nvPr>
        </p:nvSpPr>
        <p:spPr>
          <a:xfrm>
            <a:off x="1400775" y="3716250"/>
            <a:ext cx="6303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 all</a:t>
            </a:r>
            <a:r>
              <a:rPr lang="en-GB"/>
              <a:t> sequences have a common difference or common ratio. There are other sequences besides arithmetic and geometric ones.</a:t>
            </a:r>
            <a:endParaRPr/>
          </a:p>
        </p:txBody>
      </p:sp>
      <p:grpSp>
        <p:nvGrpSpPr>
          <p:cNvPr id="2169" name="Google Shape;2169;p149"/>
          <p:cNvGrpSpPr/>
          <p:nvPr/>
        </p:nvGrpSpPr>
        <p:grpSpPr>
          <a:xfrm>
            <a:off x="650889" y="1925263"/>
            <a:ext cx="1358997" cy="747300"/>
            <a:chOff x="547350" y="3098425"/>
            <a:chExt cx="1976436" cy="747300"/>
          </a:xfrm>
        </p:grpSpPr>
        <p:grpSp>
          <p:nvGrpSpPr>
            <p:cNvPr id="2170" name="Google Shape;2170;p149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171" name="Google Shape;2171;p149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149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149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4" name="Google Shape;2174;p149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75" name="Google Shape;2175;p149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176" name="Google Shape;2176;p149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149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150"/>
          <p:cNvSpPr txBox="1"/>
          <p:nvPr>
            <p:ph idx="1" type="body"/>
          </p:nvPr>
        </p:nvSpPr>
        <p:spPr>
          <a:xfrm>
            <a:off x="324000" y="759300"/>
            <a:ext cx="7135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Jacob are studying another sequence.</a:t>
            </a:r>
            <a:endParaRPr/>
          </a:p>
        </p:txBody>
      </p:sp>
      <p:sp>
        <p:nvSpPr>
          <p:cNvPr id="2183" name="Google Shape;2183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184" name="Google Shape;2184;p150"/>
          <p:cNvSpPr txBox="1"/>
          <p:nvPr>
            <p:ph idx="1" type="body"/>
          </p:nvPr>
        </p:nvSpPr>
        <p:spPr>
          <a:xfrm>
            <a:off x="1400775" y="3716250"/>
            <a:ext cx="6303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 all sequences have a common difference or common ratio. The are other sequences besides arithmetic and geometric ones.</a:t>
            </a:r>
            <a:endParaRPr/>
          </a:p>
        </p:txBody>
      </p:sp>
      <p:sp>
        <p:nvSpPr>
          <p:cNvPr id="2185" name="Google Shape;2185;p150"/>
          <p:cNvSpPr txBox="1"/>
          <p:nvPr/>
        </p:nvSpPr>
        <p:spPr>
          <a:xfrm>
            <a:off x="358525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86" name="Google Shape;2186;p150"/>
          <p:cNvGrpSpPr/>
          <p:nvPr/>
        </p:nvGrpSpPr>
        <p:grpSpPr>
          <a:xfrm>
            <a:off x="445302" y="1445050"/>
            <a:ext cx="1824782" cy="747300"/>
            <a:chOff x="547350" y="3098425"/>
            <a:chExt cx="2653842" cy="747300"/>
          </a:xfrm>
        </p:grpSpPr>
        <p:grpSp>
          <p:nvGrpSpPr>
            <p:cNvPr id="2187" name="Google Shape;2187;p150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188" name="Google Shape;2188;p150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150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150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1" name="Google Shape;2191;p150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92" name="Google Shape;2192;p150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193" name="Google Shape;2193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150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150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6" name="Google Shape;2196;p150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97" name="Google Shape;2197;p150"/>
          <p:cNvGrpSpPr/>
          <p:nvPr/>
        </p:nvGrpSpPr>
        <p:grpSpPr>
          <a:xfrm>
            <a:off x="650889" y="1925263"/>
            <a:ext cx="1358997" cy="747300"/>
            <a:chOff x="547350" y="3098425"/>
            <a:chExt cx="1976436" cy="747300"/>
          </a:xfrm>
        </p:grpSpPr>
        <p:grpSp>
          <p:nvGrpSpPr>
            <p:cNvPr id="2198" name="Google Shape;2198;p150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199" name="Google Shape;2199;p150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150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150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2" name="Google Shape;2202;p150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03" name="Google Shape;2203;p150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204" name="Google Shape;2204;p150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150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06" name="Google Shape;2206;p150"/>
          <p:cNvSpPr txBox="1"/>
          <p:nvPr>
            <p:ph idx="1" type="body"/>
          </p:nvPr>
        </p:nvSpPr>
        <p:spPr>
          <a:xfrm>
            <a:off x="2924775" y="1887450"/>
            <a:ext cx="5753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Unlike arithmetic sequences which</a:t>
            </a:r>
            <a:r>
              <a:rPr lang="en-GB"/>
              <a:t> have a common first difference, some sequences have a common second difference.</a:t>
            </a:r>
            <a:endParaRPr/>
          </a:p>
        </p:txBody>
      </p:sp>
      <p:sp>
        <p:nvSpPr>
          <p:cNvPr id="2207" name="Google Shape;2207;p150"/>
          <p:cNvSpPr txBox="1"/>
          <p:nvPr>
            <p:ph idx="1" type="body"/>
          </p:nvPr>
        </p:nvSpPr>
        <p:spPr>
          <a:xfrm>
            <a:off x="2924775" y="1887450"/>
            <a:ext cx="5753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Unlike arithmetic sequences which have a common first difference, some sequences have a </a:t>
            </a:r>
            <a:r>
              <a:rPr lang="en-GB">
                <a:solidFill>
                  <a:schemeClr val="accent5"/>
                </a:solidFill>
              </a:rPr>
              <a:t>common second difference</a:t>
            </a:r>
            <a:r>
              <a:rPr lang="en-GB"/>
              <a:t>.</a:t>
            </a:r>
            <a:endParaRPr/>
          </a:p>
        </p:txBody>
      </p:sp>
      <p:sp>
        <p:nvSpPr>
          <p:cNvPr id="2208" name="Google Shape;2208;p150"/>
          <p:cNvSpPr/>
          <p:nvPr/>
        </p:nvSpPr>
        <p:spPr>
          <a:xfrm>
            <a:off x="520950" y="2151675"/>
            <a:ext cx="1576500" cy="613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151"/>
          <p:cNvSpPr txBox="1"/>
          <p:nvPr>
            <p:ph idx="1" type="body"/>
          </p:nvPr>
        </p:nvSpPr>
        <p:spPr>
          <a:xfrm>
            <a:off x="324000" y="759300"/>
            <a:ext cx="7135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Triangular numbers enjoy this same feature.</a:t>
            </a:r>
            <a:endParaRPr/>
          </a:p>
        </p:txBody>
      </p:sp>
      <p:sp>
        <p:nvSpPr>
          <p:cNvPr id="2214" name="Google Shape;2214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215" name="Google Shape;2215;p151"/>
          <p:cNvSpPr txBox="1"/>
          <p:nvPr/>
        </p:nvSpPr>
        <p:spPr>
          <a:xfrm>
            <a:off x="358525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16" name="Google Shape;2216;p151"/>
          <p:cNvGrpSpPr/>
          <p:nvPr/>
        </p:nvGrpSpPr>
        <p:grpSpPr>
          <a:xfrm>
            <a:off x="445302" y="1445050"/>
            <a:ext cx="1824782" cy="747300"/>
            <a:chOff x="547350" y="3098425"/>
            <a:chExt cx="2653842" cy="747300"/>
          </a:xfrm>
        </p:grpSpPr>
        <p:grpSp>
          <p:nvGrpSpPr>
            <p:cNvPr id="2217" name="Google Shape;2217;p151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218" name="Google Shape;2218;p151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151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15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21" name="Google Shape;2221;p15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22" name="Google Shape;2222;p151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223" name="Google Shape;2223;p15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151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15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26" name="Google Shape;2226;p151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227" name="Google Shape;2227;p151"/>
          <p:cNvGrpSpPr/>
          <p:nvPr/>
        </p:nvGrpSpPr>
        <p:grpSpPr>
          <a:xfrm>
            <a:off x="650889" y="1925263"/>
            <a:ext cx="1358997" cy="747300"/>
            <a:chOff x="547350" y="3098425"/>
            <a:chExt cx="1976436" cy="747300"/>
          </a:xfrm>
        </p:grpSpPr>
        <p:grpSp>
          <p:nvGrpSpPr>
            <p:cNvPr id="2228" name="Google Shape;2228;p151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229" name="Google Shape;2229;p151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151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15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32" name="Google Shape;2232;p15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33" name="Google Shape;2233;p151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234" name="Google Shape;2234;p15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15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36" name="Google Shape;2236;p151"/>
          <p:cNvSpPr txBox="1"/>
          <p:nvPr>
            <p:ph idx="1" type="body"/>
          </p:nvPr>
        </p:nvSpPr>
        <p:spPr>
          <a:xfrm>
            <a:off x="3419308" y="2942743"/>
            <a:ext cx="48816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 </a:t>
            </a:r>
            <a:r>
              <a:rPr lang="en-GB">
                <a:solidFill>
                  <a:schemeClr val="accent5"/>
                </a:solidFill>
              </a:rPr>
              <a:t>common second difference</a:t>
            </a:r>
            <a:r>
              <a:rPr lang="en-GB"/>
              <a:t> </a:t>
            </a:r>
            <a:r>
              <a:rPr lang="en-GB"/>
              <a:t>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7" name="Google Shape;2237;p151"/>
          <p:cNvSpPr txBox="1"/>
          <p:nvPr/>
        </p:nvSpPr>
        <p:spPr>
          <a:xfrm>
            <a:off x="4572539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38" name="Google Shape;2238;p151"/>
          <p:cNvGrpSpPr/>
          <p:nvPr/>
        </p:nvGrpSpPr>
        <p:grpSpPr>
          <a:xfrm>
            <a:off x="4659316" y="1445050"/>
            <a:ext cx="1824782" cy="747300"/>
            <a:chOff x="547350" y="3098425"/>
            <a:chExt cx="2653842" cy="747300"/>
          </a:xfrm>
        </p:grpSpPr>
        <p:grpSp>
          <p:nvGrpSpPr>
            <p:cNvPr id="2239" name="Google Shape;2239;p151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240" name="Google Shape;2240;p151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151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15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43" name="Google Shape;2243;p15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44" name="Google Shape;2244;p151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245" name="Google Shape;2245;p15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151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15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48" name="Google Shape;2248;p151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249" name="Google Shape;2249;p151"/>
          <p:cNvGrpSpPr/>
          <p:nvPr/>
        </p:nvGrpSpPr>
        <p:grpSpPr>
          <a:xfrm>
            <a:off x="4864902" y="1925263"/>
            <a:ext cx="1358997" cy="747300"/>
            <a:chOff x="547350" y="3098425"/>
            <a:chExt cx="1976436" cy="747300"/>
          </a:xfrm>
        </p:grpSpPr>
        <p:grpSp>
          <p:nvGrpSpPr>
            <p:cNvPr id="2250" name="Google Shape;2250;p151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251" name="Google Shape;2251;p151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151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15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54" name="Google Shape;2254;p15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55" name="Google Shape;2255;p151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256" name="Google Shape;2256;p15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15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152"/>
          <p:cNvSpPr txBox="1"/>
          <p:nvPr>
            <p:ph idx="1" type="body"/>
          </p:nvPr>
        </p:nvSpPr>
        <p:spPr>
          <a:xfrm>
            <a:off x="324000" y="759300"/>
            <a:ext cx="8496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Lucas experiment with these special </a:t>
            </a:r>
            <a:r>
              <a:rPr lang="en-GB"/>
              <a:t>sequences</a:t>
            </a:r>
            <a:r>
              <a:rPr lang="en-GB"/>
              <a:t>.</a:t>
            </a:r>
            <a:endParaRPr/>
          </a:p>
        </p:txBody>
      </p:sp>
      <p:sp>
        <p:nvSpPr>
          <p:cNvPr id="2263" name="Google Shape;2263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264" name="Google Shape;2264;p152"/>
          <p:cNvSpPr txBox="1"/>
          <p:nvPr/>
        </p:nvSpPr>
        <p:spPr>
          <a:xfrm>
            <a:off x="358525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65" name="Google Shape;2265;p152"/>
          <p:cNvGrpSpPr/>
          <p:nvPr/>
        </p:nvGrpSpPr>
        <p:grpSpPr>
          <a:xfrm>
            <a:off x="445302" y="1445050"/>
            <a:ext cx="1824782" cy="747300"/>
            <a:chOff x="547350" y="3098425"/>
            <a:chExt cx="2653842" cy="747300"/>
          </a:xfrm>
        </p:grpSpPr>
        <p:grpSp>
          <p:nvGrpSpPr>
            <p:cNvPr id="2266" name="Google Shape;2266;p152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267" name="Google Shape;2267;p152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152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152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0" name="Google Shape;2270;p15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71" name="Google Shape;2271;p152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272" name="Google Shape;2272;p152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152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15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5" name="Google Shape;2275;p152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276" name="Google Shape;2276;p152"/>
          <p:cNvGrpSpPr/>
          <p:nvPr/>
        </p:nvGrpSpPr>
        <p:grpSpPr>
          <a:xfrm>
            <a:off x="650889" y="1925263"/>
            <a:ext cx="1358997" cy="747300"/>
            <a:chOff x="547350" y="3098425"/>
            <a:chExt cx="1976436" cy="747300"/>
          </a:xfrm>
        </p:grpSpPr>
        <p:grpSp>
          <p:nvGrpSpPr>
            <p:cNvPr id="2277" name="Google Shape;2277;p152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278" name="Google Shape;2278;p152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152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152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81" name="Google Shape;2281;p15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82" name="Google Shape;2282;p152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283" name="Google Shape;2283;p152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15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2285" name="Google Shape;2285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6" name="Google Shape;2286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57" y="3555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7" name="Google Shape;2287;p15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372821" y="2696270"/>
            <a:ext cx="3086674" cy="79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288" name="Google Shape;2288;p152"/>
          <p:cNvSpPr txBox="1"/>
          <p:nvPr/>
        </p:nvSpPr>
        <p:spPr>
          <a:xfrm flipH="1">
            <a:off x="616025" y="2707785"/>
            <a:ext cx="2901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multiply the square numbers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9" name="Google Shape;2289;p152"/>
          <p:cNvSpPr txBox="1"/>
          <p:nvPr/>
        </p:nvSpPr>
        <p:spPr>
          <a:xfrm>
            <a:off x="1196725" y="3472337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0" name="Google Shape;2290;p152"/>
          <p:cNvSpPr txBox="1"/>
          <p:nvPr/>
        </p:nvSpPr>
        <p:spPr>
          <a:xfrm>
            <a:off x="4824152" y="3472337"/>
            <a:ext cx="276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1" name="Google Shape;2291;p152"/>
          <p:cNvSpPr txBox="1"/>
          <p:nvPr/>
        </p:nvSpPr>
        <p:spPr>
          <a:xfrm>
            <a:off x="4572539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92" name="Google Shape;2292;p152"/>
          <p:cNvGrpSpPr/>
          <p:nvPr/>
        </p:nvGrpSpPr>
        <p:grpSpPr>
          <a:xfrm>
            <a:off x="4659316" y="1445050"/>
            <a:ext cx="1824782" cy="747300"/>
            <a:chOff x="547350" y="3098425"/>
            <a:chExt cx="2653842" cy="747300"/>
          </a:xfrm>
        </p:grpSpPr>
        <p:grpSp>
          <p:nvGrpSpPr>
            <p:cNvPr id="2293" name="Google Shape;2293;p152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294" name="Google Shape;2294;p152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152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152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7" name="Google Shape;2297;p15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98" name="Google Shape;2298;p152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299" name="Google Shape;2299;p152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152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15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2" name="Google Shape;2302;p152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03" name="Google Shape;2303;p152"/>
          <p:cNvGrpSpPr/>
          <p:nvPr/>
        </p:nvGrpSpPr>
        <p:grpSpPr>
          <a:xfrm>
            <a:off x="4864902" y="1925263"/>
            <a:ext cx="1358997" cy="747300"/>
            <a:chOff x="547350" y="3098425"/>
            <a:chExt cx="1976436" cy="747300"/>
          </a:xfrm>
        </p:grpSpPr>
        <p:grpSp>
          <p:nvGrpSpPr>
            <p:cNvPr id="2304" name="Google Shape;2304;p152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05" name="Google Shape;2305;p152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152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152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8" name="Google Shape;2308;p15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09" name="Google Shape;2309;p152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310" name="Google Shape;2310;p152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15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2312" name="Google Shape;2312;p15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078555" y="2696270"/>
            <a:ext cx="3086674" cy="79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3" name="Google Shape;2313;p152"/>
          <p:cNvSpPr txBox="1"/>
          <p:nvPr/>
        </p:nvSpPr>
        <p:spPr>
          <a:xfrm flipH="1">
            <a:off x="5188025" y="2707785"/>
            <a:ext cx="2901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the triangular numbers.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4" name="Google Shape;2314;p152"/>
          <p:cNvSpPr txBox="1"/>
          <p:nvPr>
            <p:ph idx="1" type="body"/>
          </p:nvPr>
        </p:nvSpPr>
        <p:spPr>
          <a:xfrm>
            <a:off x="2914800" y="4264500"/>
            <a:ext cx="2901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153"/>
          <p:cNvSpPr txBox="1"/>
          <p:nvPr>
            <p:ph idx="1" type="body"/>
          </p:nvPr>
        </p:nvSpPr>
        <p:spPr>
          <a:xfrm>
            <a:off x="324000" y="759300"/>
            <a:ext cx="8496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Lucas experiment with these special sequences.</a:t>
            </a:r>
            <a:endParaRPr/>
          </a:p>
        </p:txBody>
      </p:sp>
      <p:sp>
        <p:nvSpPr>
          <p:cNvPr id="2320" name="Google Shape;2320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321" name="Google Shape;2321;p153"/>
          <p:cNvSpPr txBox="1"/>
          <p:nvPr/>
        </p:nvSpPr>
        <p:spPr>
          <a:xfrm>
            <a:off x="358525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22" name="Google Shape;2322;p153"/>
          <p:cNvGrpSpPr/>
          <p:nvPr/>
        </p:nvGrpSpPr>
        <p:grpSpPr>
          <a:xfrm>
            <a:off x="445302" y="1445050"/>
            <a:ext cx="1824782" cy="747300"/>
            <a:chOff x="547350" y="3098425"/>
            <a:chExt cx="2653842" cy="747300"/>
          </a:xfrm>
        </p:grpSpPr>
        <p:grpSp>
          <p:nvGrpSpPr>
            <p:cNvPr id="2323" name="Google Shape;2323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24" name="Google Shape;2324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7" name="Google Shape;2327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28" name="Google Shape;2328;p153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329" name="Google Shape;2329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0" name="Google Shape;2330;p153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2" name="Google Shape;2332;p153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33" name="Google Shape;2333;p153"/>
          <p:cNvGrpSpPr/>
          <p:nvPr/>
        </p:nvGrpSpPr>
        <p:grpSpPr>
          <a:xfrm>
            <a:off x="650889" y="1925263"/>
            <a:ext cx="1358997" cy="747300"/>
            <a:chOff x="547350" y="3098425"/>
            <a:chExt cx="1976436" cy="747300"/>
          </a:xfrm>
        </p:grpSpPr>
        <p:grpSp>
          <p:nvGrpSpPr>
            <p:cNvPr id="2334" name="Google Shape;2334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35" name="Google Shape;2335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8" name="Google Shape;2338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39" name="Google Shape;2339;p153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340" name="Google Shape;2340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2342" name="Google Shape;2342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3" name="Google Shape;2343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57" y="3555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15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372821" y="2696270"/>
            <a:ext cx="3086674" cy="79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153"/>
          <p:cNvSpPr txBox="1"/>
          <p:nvPr/>
        </p:nvSpPr>
        <p:spPr>
          <a:xfrm flipH="1">
            <a:off x="616025" y="2707785"/>
            <a:ext cx="2901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multiply the square numbers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6" name="Google Shape;2346;p153"/>
          <p:cNvSpPr txBox="1"/>
          <p:nvPr/>
        </p:nvSpPr>
        <p:spPr>
          <a:xfrm>
            <a:off x="1196725" y="3472337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7" name="Google Shape;2347;p153"/>
          <p:cNvSpPr txBox="1"/>
          <p:nvPr/>
        </p:nvSpPr>
        <p:spPr>
          <a:xfrm>
            <a:off x="4824152" y="3472337"/>
            <a:ext cx="276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8" name="Google Shape;2348;p153"/>
          <p:cNvSpPr txBox="1"/>
          <p:nvPr/>
        </p:nvSpPr>
        <p:spPr>
          <a:xfrm>
            <a:off x="4572539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49" name="Google Shape;2349;p153"/>
          <p:cNvGrpSpPr/>
          <p:nvPr/>
        </p:nvGrpSpPr>
        <p:grpSpPr>
          <a:xfrm>
            <a:off x="4659316" y="1445050"/>
            <a:ext cx="1824782" cy="747300"/>
            <a:chOff x="547350" y="3098425"/>
            <a:chExt cx="2653842" cy="747300"/>
          </a:xfrm>
        </p:grpSpPr>
        <p:grpSp>
          <p:nvGrpSpPr>
            <p:cNvPr id="2350" name="Google Shape;2350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51" name="Google Shape;2351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54" name="Google Shape;2354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55" name="Google Shape;2355;p153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356" name="Google Shape;2356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153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59" name="Google Shape;2359;p153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60" name="Google Shape;2360;p153"/>
          <p:cNvGrpSpPr/>
          <p:nvPr/>
        </p:nvGrpSpPr>
        <p:grpSpPr>
          <a:xfrm>
            <a:off x="4864902" y="1925263"/>
            <a:ext cx="1358997" cy="747300"/>
            <a:chOff x="547350" y="3098425"/>
            <a:chExt cx="1976436" cy="747300"/>
          </a:xfrm>
        </p:grpSpPr>
        <p:grpSp>
          <p:nvGrpSpPr>
            <p:cNvPr id="2361" name="Google Shape;2361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62" name="Google Shape;2362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65" name="Google Shape;2365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66" name="Google Shape;2366;p153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367" name="Google Shape;2367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2369" name="Google Shape;2369;p15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078555" y="2696270"/>
            <a:ext cx="3086674" cy="79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0" name="Google Shape;2370;p153"/>
          <p:cNvSpPr txBox="1"/>
          <p:nvPr/>
        </p:nvSpPr>
        <p:spPr>
          <a:xfrm flipH="1">
            <a:off x="5188025" y="2707785"/>
            <a:ext cx="2901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the triangular numbers.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71" name="Google Shape;2371;p153"/>
          <p:cNvGrpSpPr/>
          <p:nvPr/>
        </p:nvGrpSpPr>
        <p:grpSpPr>
          <a:xfrm>
            <a:off x="1325167" y="3608859"/>
            <a:ext cx="2198974" cy="747300"/>
            <a:chOff x="547350" y="3098425"/>
            <a:chExt cx="2653842" cy="747300"/>
          </a:xfrm>
        </p:grpSpPr>
        <p:grpSp>
          <p:nvGrpSpPr>
            <p:cNvPr id="2372" name="Google Shape;2372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73" name="Google Shape;2373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</a:t>
                </a: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76" name="Google Shape;2376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77" name="Google Shape;2377;p153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378" name="Google Shape;2378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9" name="Google Shape;2379;p153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81" name="Google Shape;2381;p153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82" name="Google Shape;2382;p153"/>
          <p:cNvGrpSpPr/>
          <p:nvPr/>
        </p:nvGrpSpPr>
        <p:grpSpPr>
          <a:xfrm>
            <a:off x="1572917" y="4089067"/>
            <a:ext cx="1637674" cy="747300"/>
            <a:chOff x="547350" y="3098425"/>
            <a:chExt cx="1976436" cy="747300"/>
          </a:xfrm>
        </p:grpSpPr>
        <p:grpSp>
          <p:nvGrpSpPr>
            <p:cNvPr id="2383" name="Google Shape;2383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84" name="Google Shape;2384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87" name="Google Shape;2387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88" name="Google Shape;2388;p153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389" name="Google Shape;2389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91" name="Google Shape;2391;p153"/>
          <p:cNvGrpSpPr/>
          <p:nvPr/>
        </p:nvGrpSpPr>
        <p:grpSpPr>
          <a:xfrm>
            <a:off x="4952626" y="3578621"/>
            <a:ext cx="1713055" cy="747300"/>
            <a:chOff x="547350" y="3098425"/>
            <a:chExt cx="2653842" cy="747300"/>
          </a:xfrm>
        </p:grpSpPr>
        <p:grpSp>
          <p:nvGrpSpPr>
            <p:cNvPr id="2392" name="Google Shape;2392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393" name="Google Shape;2393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96" name="Google Shape;2396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97" name="Google Shape;2397;p153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398" name="Google Shape;2398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153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1" name="Google Shape;2401;p153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02" name="Google Shape;2402;p153"/>
          <p:cNvGrpSpPr/>
          <p:nvPr/>
        </p:nvGrpSpPr>
        <p:grpSpPr>
          <a:xfrm>
            <a:off x="5145610" y="4058839"/>
            <a:ext cx="1275789" cy="747300"/>
            <a:chOff x="547350" y="3098425"/>
            <a:chExt cx="1976436" cy="747300"/>
          </a:xfrm>
        </p:grpSpPr>
        <p:grpSp>
          <p:nvGrpSpPr>
            <p:cNvPr id="2403" name="Google Shape;2403;p153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04" name="Google Shape;2404;p153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5" name="Google Shape;2405;p153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6" name="Google Shape;2406;p153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7" name="Google Shape;2407;p153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08" name="Google Shape;2408;p153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409" name="Google Shape;2409;p153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0" name="Google Shape;2410;p153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5" name="Google Shape;2415;p15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078555" y="2696270"/>
            <a:ext cx="3086674" cy="79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6" name="Google Shape;2416;p154"/>
          <p:cNvSpPr txBox="1"/>
          <p:nvPr/>
        </p:nvSpPr>
        <p:spPr>
          <a:xfrm flipH="1">
            <a:off x="5275607" y="2730788"/>
            <a:ext cx="2594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still get a common second difference!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7" name="Google Shape;2417;p154"/>
          <p:cNvSpPr txBox="1"/>
          <p:nvPr>
            <p:ph idx="1" type="body"/>
          </p:nvPr>
        </p:nvSpPr>
        <p:spPr>
          <a:xfrm>
            <a:off x="324000" y="759300"/>
            <a:ext cx="8496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Lucas experiment with these special sequences.</a:t>
            </a:r>
            <a:endParaRPr/>
          </a:p>
        </p:txBody>
      </p:sp>
      <p:sp>
        <p:nvSpPr>
          <p:cNvPr id="2418" name="Google Shape;2418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419" name="Google Shape;2419;p154"/>
          <p:cNvSpPr txBox="1"/>
          <p:nvPr/>
        </p:nvSpPr>
        <p:spPr>
          <a:xfrm>
            <a:off x="358525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20" name="Google Shape;2420;p154"/>
          <p:cNvGrpSpPr/>
          <p:nvPr/>
        </p:nvGrpSpPr>
        <p:grpSpPr>
          <a:xfrm>
            <a:off x="445302" y="1445050"/>
            <a:ext cx="1824782" cy="747300"/>
            <a:chOff x="547350" y="3098425"/>
            <a:chExt cx="2653842" cy="747300"/>
          </a:xfrm>
        </p:grpSpPr>
        <p:grpSp>
          <p:nvGrpSpPr>
            <p:cNvPr id="2421" name="Google Shape;2421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22" name="Google Shape;2422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3" name="Google Shape;2423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25" name="Google Shape;2425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26" name="Google Shape;2426;p154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427" name="Google Shape;2427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154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30" name="Google Shape;2430;p154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31" name="Google Shape;2431;p154"/>
          <p:cNvGrpSpPr/>
          <p:nvPr/>
        </p:nvGrpSpPr>
        <p:grpSpPr>
          <a:xfrm>
            <a:off x="650889" y="1925263"/>
            <a:ext cx="1358997" cy="747300"/>
            <a:chOff x="547350" y="3098425"/>
            <a:chExt cx="1976436" cy="747300"/>
          </a:xfrm>
        </p:grpSpPr>
        <p:grpSp>
          <p:nvGrpSpPr>
            <p:cNvPr id="2432" name="Google Shape;2432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33" name="Google Shape;2433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4" name="Google Shape;2434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5" name="Google Shape;2435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36" name="Google Shape;2436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37" name="Google Shape;2437;p154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438" name="Google Shape;2438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2440" name="Google Shape;2440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1" name="Google Shape;2441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457" y="3555380"/>
            <a:ext cx="664686" cy="12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2" name="Google Shape;2442;p15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72821" y="2696270"/>
            <a:ext cx="3086674" cy="79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3" name="Google Shape;2443;p154"/>
          <p:cNvSpPr txBox="1"/>
          <p:nvPr/>
        </p:nvSpPr>
        <p:spPr>
          <a:xfrm flipH="1">
            <a:off x="715113" y="2719282"/>
            <a:ext cx="2594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still get a common second difference!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4" name="Google Shape;2444;p154"/>
          <p:cNvSpPr txBox="1"/>
          <p:nvPr/>
        </p:nvSpPr>
        <p:spPr>
          <a:xfrm>
            <a:off x="1196725" y="3472337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5" name="Google Shape;2445;p154"/>
          <p:cNvSpPr txBox="1"/>
          <p:nvPr/>
        </p:nvSpPr>
        <p:spPr>
          <a:xfrm>
            <a:off x="4824152" y="3472337"/>
            <a:ext cx="276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6" name="Google Shape;2446;p154"/>
          <p:cNvSpPr txBox="1"/>
          <p:nvPr/>
        </p:nvSpPr>
        <p:spPr>
          <a:xfrm>
            <a:off x="4572539" y="1285559"/>
            <a:ext cx="301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47" name="Google Shape;2447;p154"/>
          <p:cNvGrpSpPr/>
          <p:nvPr/>
        </p:nvGrpSpPr>
        <p:grpSpPr>
          <a:xfrm>
            <a:off x="4659316" y="1445050"/>
            <a:ext cx="1824782" cy="747300"/>
            <a:chOff x="547350" y="3098425"/>
            <a:chExt cx="2653842" cy="747300"/>
          </a:xfrm>
        </p:grpSpPr>
        <p:grpSp>
          <p:nvGrpSpPr>
            <p:cNvPr id="2448" name="Google Shape;2448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49" name="Google Shape;2449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0" name="Google Shape;2450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1" name="Google Shape;2451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52" name="Google Shape;2452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53" name="Google Shape;2453;p154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454" name="Google Shape;2454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5" name="Google Shape;2455;p154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6" name="Google Shape;2456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57" name="Google Shape;2457;p154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58" name="Google Shape;2458;p154"/>
          <p:cNvGrpSpPr/>
          <p:nvPr/>
        </p:nvGrpSpPr>
        <p:grpSpPr>
          <a:xfrm>
            <a:off x="4864902" y="1925263"/>
            <a:ext cx="1358997" cy="747300"/>
            <a:chOff x="547350" y="3098425"/>
            <a:chExt cx="1976436" cy="747300"/>
          </a:xfrm>
        </p:grpSpPr>
        <p:grpSp>
          <p:nvGrpSpPr>
            <p:cNvPr id="2459" name="Google Shape;2459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60" name="Google Shape;2460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1" name="Google Shape;2461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63" name="Google Shape;2463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64" name="Google Shape;2464;p154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465" name="Google Shape;2465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67" name="Google Shape;2467;p154"/>
          <p:cNvGrpSpPr/>
          <p:nvPr/>
        </p:nvGrpSpPr>
        <p:grpSpPr>
          <a:xfrm>
            <a:off x="1325167" y="3608859"/>
            <a:ext cx="2198974" cy="747300"/>
            <a:chOff x="547350" y="3098425"/>
            <a:chExt cx="2653842" cy="747300"/>
          </a:xfrm>
        </p:grpSpPr>
        <p:grpSp>
          <p:nvGrpSpPr>
            <p:cNvPr id="2468" name="Google Shape;2468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69" name="Google Shape;2469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72" name="Google Shape;2472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73" name="Google Shape;2473;p154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474" name="Google Shape;2474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154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77" name="Google Shape;2477;p154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78" name="Google Shape;2478;p154"/>
          <p:cNvGrpSpPr/>
          <p:nvPr/>
        </p:nvGrpSpPr>
        <p:grpSpPr>
          <a:xfrm>
            <a:off x="1572917" y="4089067"/>
            <a:ext cx="1637674" cy="747300"/>
            <a:chOff x="547350" y="3098425"/>
            <a:chExt cx="1976436" cy="747300"/>
          </a:xfrm>
        </p:grpSpPr>
        <p:grpSp>
          <p:nvGrpSpPr>
            <p:cNvPr id="2479" name="Google Shape;2479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80" name="Google Shape;2480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83" name="Google Shape;2483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84" name="Google Shape;2484;p154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485" name="Google Shape;2485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87" name="Google Shape;2487;p154"/>
          <p:cNvGrpSpPr/>
          <p:nvPr/>
        </p:nvGrpSpPr>
        <p:grpSpPr>
          <a:xfrm>
            <a:off x="4952626" y="3578621"/>
            <a:ext cx="1713055" cy="747300"/>
            <a:chOff x="547350" y="3098425"/>
            <a:chExt cx="2653842" cy="747300"/>
          </a:xfrm>
        </p:grpSpPr>
        <p:grpSp>
          <p:nvGrpSpPr>
            <p:cNvPr id="2488" name="Google Shape;2488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89" name="Google Shape;2489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92" name="Google Shape;2492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93" name="Google Shape;2493;p154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494" name="Google Shape;2494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154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97" name="Google Shape;2497;p154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98" name="Google Shape;2498;p154"/>
          <p:cNvGrpSpPr/>
          <p:nvPr/>
        </p:nvGrpSpPr>
        <p:grpSpPr>
          <a:xfrm>
            <a:off x="5145610" y="4058839"/>
            <a:ext cx="1275789" cy="747300"/>
            <a:chOff x="547350" y="3098425"/>
            <a:chExt cx="1976436" cy="747300"/>
          </a:xfrm>
        </p:grpSpPr>
        <p:grpSp>
          <p:nvGrpSpPr>
            <p:cNvPr id="2499" name="Google Shape;2499;p154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500" name="Google Shape;2500;p154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1" name="Google Shape;2501;p154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2" name="Google Shape;2502;p15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03" name="Google Shape;2503;p15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04" name="Google Shape;2504;p154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505" name="Google Shape;2505;p154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15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15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sequences have a common second difference?</a:t>
            </a:r>
            <a:endParaRPr/>
          </a:p>
        </p:txBody>
      </p:sp>
      <p:sp>
        <p:nvSpPr>
          <p:cNvPr id="2512" name="Google Shape;2512;p15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513" name="Google Shape;2513;p155"/>
          <p:cNvSpPr txBox="1"/>
          <p:nvPr>
            <p:ph idx="1" type="subTitle"/>
          </p:nvPr>
        </p:nvSpPr>
        <p:spPr>
          <a:xfrm>
            <a:off x="1034425" y="1814762"/>
            <a:ext cx="3168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10, 40, 90, 160, 250, …</a:t>
            </a:r>
            <a:endParaRPr sz="2000"/>
          </a:p>
        </p:txBody>
      </p:sp>
      <p:sp>
        <p:nvSpPr>
          <p:cNvPr id="2514" name="Google Shape;2514;p155"/>
          <p:cNvSpPr txBox="1"/>
          <p:nvPr>
            <p:ph idx="3" type="subTitle"/>
          </p:nvPr>
        </p:nvSpPr>
        <p:spPr>
          <a:xfrm>
            <a:off x="1034425" y="2817263"/>
            <a:ext cx="3168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40, 65, 90, 115, …</a:t>
            </a:r>
            <a:endParaRPr/>
          </a:p>
        </p:txBody>
      </p:sp>
      <p:sp>
        <p:nvSpPr>
          <p:cNvPr id="2515" name="Google Shape;2515;p155"/>
          <p:cNvSpPr txBox="1"/>
          <p:nvPr>
            <p:ph idx="4" type="subTitle"/>
          </p:nvPr>
        </p:nvSpPr>
        <p:spPr>
          <a:xfrm>
            <a:off x="1034425" y="3766975"/>
            <a:ext cx="33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10, 19, 31, 46, …</a:t>
            </a:r>
            <a:endParaRPr/>
          </a:p>
        </p:txBody>
      </p:sp>
      <p:grpSp>
        <p:nvGrpSpPr>
          <p:cNvPr id="2516" name="Google Shape;2516;p155"/>
          <p:cNvGrpSpPr/>
          <p:nvPr/>
        </p:nvGrpSpPr>
        <p:grpSpPr>
          <a:xfrm>
            <a:off x="1207002" y="2037057"/>
            <a:ext cx="1891517" cy="547793"/>
            <a:chOff x="463240" y="3297925"/>
            <a:chExt cx="2750897" cy="547793"/>
          </a:xfrm>
        </p:grpSpPr>
        <p:grpSp>
          <p:nvGrpSpPr>
            <p:cNvPr id="2517" name="Google Shape;2517;p155"/>
            <p:cNvGrpSpPr/>
            <p:nvPr/>
          </p:nvGrpSpPr>
          <p:grpSpPr>
            <a:xfrm>
              <a:off x="463240" y="3297925"/>
              <a:ext cx="1373053" cy="547793"/>
              <a:chOff x="463240" y="2002525"/>
              <a:chExt cx="1373053" cy="547793"/>
            </a:xfrm>
          </p:grpSpPr>
          <p:sp>
            <p:nvSpPr>
              <p:cNvPr id="2518" name="Google Shape;2518;p155"/>
              <p:cNvSpPr/>
              <p:nvPr/>
            </p:nvSpPr>
            <p:spPr>
              <a:xfrm flipH="1" rot="10800000">
                <a:off x="547347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155"/>
              <p:cNvSpPr/>
              <p:nvPr/>
            </p:nvSpPr>
            <p:spPr>
              <a:xfrm flipH="1" rot="10800000">
                <a:off x="1208993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155"/>
              <p:cNvSpPr txBox="1"/>
              <p:nvPr/>
            </p:nvSpPr>
            <p:spPr>
              <a:xfrm>
                <a:off x="463240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21" name="Google Shape;2521;p155"/>
              <p:cNvSpPr txBox="1"/>
              <p:nvPr/>
            </p:nvSpPr>
            <p:spPr>
              <a:xfrm>
                <a:off x="1193667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22" name="Google Shape;2522;p155"/>
            <p:cNvGrpSpPr/>
            <p:nvPr/>
          </p:nvGrpSpPr>
          <p:grpSpPr>
            <a:xfrm>
              <a:off x="1882295" y="3297925"/>
              <a:ext cx="1331843" cy="547793"/>
              <a:chOff x="1882295" y="2002525"/>
              <a:chExt cx="1331843" cy="547793"/>
            </a:xfrm>
          </p:grpSpPr>
          <p:sp>
            <p:nvSpPr>
              <p:cNvPr id="2523" name="Google Shape;2523;p155"/>
              <p:cNvSpPr/>
              <p:nvPr/>
            </p:nvSpPr>
            <p:spPr>
              <a:xfrm flipH="1" rot="10800000">
                <a:off x="1896477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155"/>
              <p:cNvSpPr/>
              <p:nvPr/>
            </p:nvSpPr>
            <p:spPr>
              <a:xfrm flipH="1" rot="10800000">
                <a:off x="2573881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155"/>
              <p:cNvSpPr txBox="1"/>
              <p:nvPr/>
            </p:nvSpPr>
            <p:spPr>
              <a:xfrm>
                <a:off x="1882295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26" name="Google Shape;2526;p155"/>
              <p:cNvSpPr txBox="1"/>
              <p:nvPr/>
            </p:nvSpPr>
            <p:spPr>
              <a:xfrm>
                <a:off x="2622537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527" name="Google Shape;2527;p155"/>
          <p:cNvGrpSpPr/>
          <p:nvPr/>
        </p:nvGrpSpPr>
        <p:grpSpPr>
          <a:xfrm>
            <a:off x="1383952" y="2379584"/>
            <a:ext cx="1445459" cy="533091"/>
            <a:chOff x="421593" y="3312638"/>
            <a:chExt cx="2102180" cy="533091"/>
          </a:xfrm>
        </p:grpSpPr>
        <p:grpSp>
          <p:nvGrpSpPr>
            <p:cNvPr id="2528" name="Google Shape;2528;p155"/>
            <p:cNvGrpSpPr/>
            <p:nvPr/>
          </p:nvGrpSpPr>
          <p:grpSpPr>
            <a:xfrm>
              <a:off x="421593" y="3312638"/>
              <a:ext cx="1414708" cy="533091"/>
              <a:chOff x="421593" y="2017238"/>
              <a:chExt cx="1414708" cy="533091"/>
            </a:xfrm>
          </p:grpSpPr>
          <p:sp>
            <p:nvSpPr>
              <p:cNvPr id="2529" name="Google Shape;2529;p155"/>
              <p:cNvSpPr/>
              <p:nvPr/>
            </p:nvSpPr>
            <p:spPr>
              <a:xfrm flipH="1" rot="10800000">
                <a:off x="547366" y="2017238"/>
                <a:ext cx="627300" cy="223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0" name="Google Shape;2530;p155"/>
              <p:cNvSpPr/>
              <p:nvPr/>
            </p:nvSpPr>
            <p:spPr>
              <a:xfrm flipH="1" rot="10800000">
                <a:off x="1209001" y="2017238"/>
                <a:ext cx="627300" cy="223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155"/>
              <p:cNvSpPr txBox="1"/>
              <p:nvPr/>
            </p:nvSpPr>
            <p:spPr>
              <a:xfrm>
                <a:off x="421593" y="2211030"/>
                <a:ext cx="5997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32" name="Google Shape;2532;p155"/>
              <p:cNvSpPr txBox="1"/>
              <p:nvPr/>
            </p:nvSpPr>
            <p:spPr>
              <a:xfrm>
                <a:off x="1163999" y="2211030"/>
                <a:ext cx="5997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33" name="Google Shape;2533;p155"/>
            <p:cNvGrpSpPr/>
            <p:nvPr/>
          </p:nvGrpSpPr>
          <p:grpSpPr>
            <a:xfrm>
              <a:off x="1853449" y="3312638"/>
              <a:ext cx="670324" cy="533091"/>
              <a:chOff x="1853449" y="2017238"/>
              <a:chExt cx="670324" cy="533091"/>
            </a:xfrm>
          </p:grpSpPr>
          <p:sp>
            <p:nvSpPr>
              <p:cNvPr id="2534" name="Google Shape;2534;p155"/>
              <p:cNvSpPr/>
              <p:nvPr/>
            </p:nvSpPr>
            <p:spPr>
              <a:xfrm flipH="1" rot="10800000">
                <a:off x="1896473" y="2017238"/>
                <a:ext cx="627300" cy="223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155"/>
              <p:cNvSpPr txBox="1"/>
              <p:nvPr/>
            </p:nvSpPr>
            <p:spPr>
              <a:xfrm>
                <a:off x="1853449" y="2211030"/>
                <a:ext cx="5997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2536" name="Google Shape;2536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783" y="181147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7" name="Google Shape;2537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3151" y="2824750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38" name="Google Shape;2538;p155"/>
          <p:cNvSpPr txBox="1"/>
          <p:nvPr>
            <p:ph type="title"/>
          </p:nvPr>
        </p:nvSpPr>
        <p:spPr>
          <a:xfrm>
            <a:off x="4845600" y="1842275"/>
            <a:ext cx="3898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second difference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9" name="Google Shape;2539;p155"/>
          <p:cNvSpPr txBox="1"/>
          <p:nvPr>
            <p:ph type="title"/>
          </p:nvPr>
        </p:nvSpPr>
        <p:spPr>
          <a:xfrm>
            <a:off x="4845600" y="2844382"/>
            <a:ext cx="3898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first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 difference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40" name="Google Shape;2540;p155"/>
          <p:cNvGrpSpPr/>
          <p:nvPr/>
        </p:nvGrpSpPr>
        <p:grpSpPr>
          <a:xfrm>
            <a:off x="1183988" y="3050670"/>
            <a:ext cx="1891517" cy="547793"/>
            <a:chOff x="463240" y="3297925"/>
            <a:chExt cx="2750897" cy="547793"/>
          </a:xfrm>
        </p:grpSpPr>
        <p:grpSp>
          <p:nvGrpSpPr>
            <p:cNvPr id="2541" name="Google Shape;2541;p155"/>
            <p:cNvGrpSpPr/>
            <p:nvPr/>
          </p:nvGrpSpPr>
          <p:grpSpPr>
            <a:xfrm>
              <a:off x="463240" y="3297925"/>
              <a:ext cx="1373053" cy="547793"/>
              <a:chOff x="463240" y="2002525"/>
              <a:chExt cx="1373053" cy="547793"/>
            </a:xfrm>
          </p:grpSpPr>
          <p:sp>
            <p:nvSpPr>
              <p:cNvPr id="2542" name="Google Shape;2542;p155"/>
              <p:cNvSpPr/>
              <p:nvPr/>
            </p:nvSpPr>
            <p:spPr>
              <a:xfrm flipH="1" rot="10800000">
                <a:off x="547347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155"/>
              <p:cNvSpPr/>
              <p:nvPr/>
            </p:nvSpPr>
            <p:spPr>
              <a:xfrm flipH="1" rot="10800000">
                <a:off x="1208993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155"/>
              <p:cNvSpPr txBox="1"/>
              <p:nvPr/>
            </p:nvSpPr>
            <p:spPr>
              <a:xfrm>
                <a:off x="463240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45" name="Google Shape;2545;p155"/>
              <p:cNvSpPr txBox="1"/>
              <p:nvPr/>
            </p:nvSpPr>
            <p:spPr>
              <a:xfrm>
                <a:off x="1193667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46" name="Google Shape;2546;p155"/>
            <p:cNvGrpSpPr/>
            <p:nvPr/>
          </p:nvGrpSpPr>
          <p:grpSpPr>
            <a:xfrm>
              <a:off x="1882295" y="3297925"/>
              <a:ext cx="1331843" cy="547793"/>
              <a:chOff x="1882295" y="2002525"/>
              <a:chExt cx="1331843" cy="547793"/>
            </a:xfrm>
          </p:grpSpPr>
          <p:sp>
            <p:nvSpPr>
              <p:cNvPr id="2547" name="Google Shape;2547;p155"/>
              <p:cNvSpPr/>
              <p:nvPr/>
            </p:nvSpPr>
            <p:spPr>
              <a:xfrm flipH="1" rot="10800000">
                <a:off x="1896477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155"/>
              <p:cNvSpPr/>
              <p:nvPr/>
            </p:nvSpPr>
            <p:spPr>
              <a:xfrm flipH="1" rot="10800000">
                <a:off x="2573881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155"/>
              <p:cNvSpPr txBox="1"/>
              <p:nvPr/>
            </p:nvSpPr>
            <p:spPr>
              <a:xfrm>
                <a:off x="1882295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50" name="Google Shape;2550;p155"/>
              <p:cNvSpPr txBox="1"/>
              <p:nvPr/>
            </p:nvSpPr>
            <p:spPr>
              <a:xfrm>
                <a:off x="2622537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2551" name="Google Shape;2551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783" y="3758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155"/>
          <p:cNvSpPr txBox="1"/>
          <p:nvPr>
            <p:ph type="title"/>
          </p:nvPr>
        </p:nvSpPr>
        <p:spPr>
          <a:xfrm>
            <a:off x="4845600" y="3788955"/>
            <a:ext cx="3898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Common second difference </a:t>
            </a: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53" name="Google Shape;2553;p155"/>
          <p:cNvGrpSpPr/>
          <p:nvPr/>
        </p:nvGrpSpPr>
        <p:grpSpPr>
          <a:xfrm>
            <a:off x="1054608" y="3972200"/>
            <a:ext cx="1917180" cy="547800"/>
            <a:chOff x="463240" y="3297925"/>
            <a:chExt cx="2877785" cy="547800"/>
          </a:xfrm>
        </p:grpSpPr>
        <p:grpSp>
          <p:nvGrpSpPr>
            <p:cNvPr id="2554" name="Google Shape;2554;p155"/>
            <p:cNvGrpSpPr/>
            <p:nvPr/>
          </p:nvGrpSpPr>
          <p:grpSpPr>
            <a:xfrm>
              <a:off x="463240" y="3297925"/>
              <a:ext cx="1373053" cy="547793"/>
              <a:chOff x="463240" y="2002525"/>
              <a:chExt cx="1373053" cy="547793"/>
            </a:xfrm>
          </p:grpSpPr>
          <p:sp>
            <p:nvSpPr>
              <p:cNvPr id="2555" name="Google Shape;2555;p155"/>
              <p:cNvSpPr/>
              <p:nvPr/>
            </p:nvSpPr>
            <p:spPr>
              <a:xfrm flipH="1" rot="10800000">
                <a:off x="547347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155"/>
              <p:cNvSpPr/>
              <p:nvPr/>
            </p:nvSpPr>
            <p:spPr>
              <a:xfrm flipH="1" rot="10800000">
                <a:off x="1208993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155"/>
              <p:cNvSpPr txBox="1"/>
              <p:nvPr/>
            </p:nvSpPr>
            <p:spPr>
              <a:xfrm>
                <a:off x="463240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58" name="Google Shape;2558;p155"/>
              <p:cNvSpPr txBox="1"/>
              <p:nvPr/>
            </p:nvSpPr>
            <p:spPr>
              <a:xfrm>
                <a:off x="1193667" y="2211018"/>
                <a:ext cx="591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59" name="Google Shape;2559;p155"/>
            <p:cNvGrpSpPr/>
            <p:nvPr/>
          </p:nvGrpSpPr>
          <p:grpSpPr>
            <a:xfrm>
              <a:off x="1865011" y="3297925"/>
              <a:ext cx="1476014" cy="547800"/>
              <a:chOff x="1865011" y="2002525"/>
              <a:chExt cx="1476014" cy="547800"/>
            </a:xfrm>
          </p:grpSpPr>
          <p:sp>
            <p:nvSpPr>
              <p:cNvPr id="2560" name="Google Shape;2560;p155"/>
              <p:cNvSpPr/>
              <p:nvPr/>
            </p:nvSpPr>
            <p:spPr>
              <a:xfrm flipH="1" rot="10800000">
                <a:off x="1896477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155"/>
              <p:cNvSpPr/>
              <p:nvPr/>
            </p:nvSpPr>
            <p:spPr>
              <a:xfrm flipH="1" rot="10800000">
                <a:off x="2573881" y="2002525"/>
                <a:ext cx="627300" cy="2382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155"/>
              <p:cNvSpPr txBox="1"/>
              <p:nvPr/>
            </p:nvSpPr>
            <p:spPr>
              <a:xfrm>
                <a:off x="1865011" y="2211025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63" name="Google Shape;2563;p155"/>
              <p:cNvSpPr txBox="1"/>
              <p:nvPr/>
            </p:nvSpPr>
            <p:spPr>
              <a:xfrm>
                <a:off x="2622525" y="2211025"/>
                <a:ext cx="718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564" name="Google Shape;2564;p155"/>
          <p:cNvGrpSpPr/>
          <p:nvPr/>
        </p:nvGrpSpPr>
        <p:grpSpPr>
          <a:xfrm>
            <a:off x="1302246" y="4337743"/>
            <a:ext cx="1353422" cy="533091"/>
            <a:chOff x="535973" y="3312638"/>
            <a:chExt cx="2031556" cy="533091"/>
          </a:xfrm>
        </p:grpSpPr>
        <p:grpSp>
          <p:nvGrpSpPr>
            <p:cNvPr id="2565" name="Google Shape;2565;p155"/>
            <p:cNvGrpSpPr/>
            <p:nvPr/>
          </p:nvGrpSpPr>
          <p:grpSpPr>
            <a:xfrm>
              <a:off x="535973" y="3312638"/>
              <a:ext cx="1342106" cy="533091"/>
              <a:chOff x="535973" y="2017238"/>
              <a:chExt cx="1342106" cy="533091"/>
            </a:xfrm>
          </p:grpSpPr>
          <p:sp>
            <p:nvSpPr>
              <p:cNvPr id="2566" name="Google Shape;2566;p155"/>
              <p:cNvSpPr/>
              <p:nvPr/>
            </p:nvSpPr>
            <p:spPr>
              <a:xfrm flipH="1" rot="10800000">
                <a:off x="547366" y="2017238"/>
                <a:ext cx="627300" cy="223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155"/>
              <p:cNvSpPr/>
              <p:nvPr/>
            </p:nvSpPr>
            <p:spPr>
              <a:xfrm flipH="1" rot="10800000">
                <a:off x="1209001" y="2017238"/>
                <a:ext cx="627300" cy="223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8" name="Google Shape;2568;p155"/>
              <p:cNvSpPr txBox="1"/>
              <p:nvPr/>
            </p:nvSpPr>
            <p:spPr>
              <a:xfrm>
                <a:off x="535973" y="2211030"/>
                <a:ext cx="5997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69" name="Google Shape;2569;p155"/>
              <p:cNvSpPr txBox="1"/>
              <p:nvPr/>
            </p:nvSpPr>
            <p:spPr>
              <a:xfrm>
                <a:off x="1278379" y="2211030"/>
                <a:ext cx="5997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70" name="Google Shape;2570;p155"/>
            <p:cNvGrpSpPr/>
            <p:nvPr/>
          </p:nvGrpSpPr>
          <p:grpSpPr>
            <a:xfrm>
              <a:off x="1896473" y="3312638"/>
              <a:ext cx="671056" cy="533091"/>
              <a:chOff x="1896473" y="2017238"/>
              <a:chExt cx="671056" cy="533091"/>
            </a:xfrm>
          </p:grpSpPr>
          <p:sp>
            <p:nvSpPr>
              <p:cNvPr id="2571" name="Google Shape;2571;p155"/>
              <p:cNvSpPr/>
              <p:nvPr/>
            </p:nvSpPr>
            <p:spPr>
              <a:xfrm flipH="1" rot="10800000">
                <a:off x="1896473" y="2017238"/>
                <a:ext cx="627300" cy="223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2" name="Google Shape;2572;p155"/>
              <p:cNvSpPr txBox="1"/>
              <p:nvPr/>
            </p:nvSpPr>
            <p:spPr>
              <a:xfrm>
                <a:off x="1967829" y="2211030"/>
                <a:ext cx="5997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6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p156"/>
          <p:cNvSpPr txBox="1"/>
          <p:nvPr/>
        </p:nvSpPr>
        <p:spPr>
          <a:xfrm flipH="1">
            <a:off x="1248725" y="3176475"/>
            <a:ext cx="2666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Wow!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common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third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difference! That is cool.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8" name="Google Shape;2578;p15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648600" y="1835059"/>
            <a:ext cx="4221076" cy="1648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79" name="Google Shape;2579;p156"/>
          <p:cNvSpPr txBox="1"/>
          <p:nvPr/>
        </p:nvSpPr>
        <p:spPr>
          <a:xfrm flipH="1">
            <a:off x="4823900" y="1892600"/>
            <a:ext cx="3732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square and triangular numbers have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common second difference I wonder what we’ll find for the cube numbers.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0" name="Google Shape;2580;p156"/>
          <p:cNvSpPr txBox="1"/>
          <p:nvPr>
            <p:ph idx="1" type="body"/>
          </p:nvPr>
        </p:nvSpPr>
        <p:spPr>
          <a:xfrm>
            <a:off x="324000" y="759300"/>
            <a:ext cx="8496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Lucas examine another special sequence.</a:t>
            </a:r>
            <a:endParaRPr/>
          </a:p>
        </p:txBody>
      </p:sp>
      <p:sp>
        <p:nvSpPr>
          <p:cNvPr id="2581" name="Google Shape;2581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pic>
        <p:nvPicPr>
          <p:cNvPr id="2582" name="Google Shape;2582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2496" y="3416022"/>
            <a:ext cx="800651" cy="89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3" name="Google Shape;2583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457" y="3555380"/>
            <a:ext cx="664686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2584" name="Google Shape;2584;p156"/>
          <p:cNvSpPr txBox="1"/>
          <p:nvPr/>
        </p:nvSpPr>
        <p:spPr>
          <a:xfrm>
            <a:off x="324005" y="1304216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27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64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125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85" name="Google Shape;2585;p156"/>
          <p:cNvGrpSpPr/>
          <p:nvPr/>
        </p:nvGrpSpPr>
        <p:grpSpPr>
          <a:xfrm>
            <a:off x="364760" y="1440687"/>
            <a:ext cx="2120685" cy="747300"/>
            <a:chOff x="547350" y="3098425"/>
            <a:chExt cx="2653842" cy="747300"/>
          </a:xfrm>
        </p:grpSpPr>
        <p:grpSp>
          <p:nvGrpSpPr>
            <p:cNvPr id="2586" name="Google Shape;2586;p156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587" name="Google Shape;2587;p156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156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156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90" name="Google Shape;2590;p156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91" name="Google Shape;2591;p156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592" name="Google Shape;2592;p156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156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156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95" name="Google Shape;2595;p156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596" name="Google Shape;2596;p156"/>
          <p:cNvGrpSpPr/>
          <p:nvPr/>
        </p:nvGrpSpPr>
        <p:grpSpPr>
          <a:xfrm>
            <a:off x="603683" y="1920902"/>
            <a:ext cx="1579370" cy="747300"/>
            <a:chOff x="547350" y="3098425"/>
            <a:chExt cx="1976436" cy="747300"/>
          </a:xfrm>
        </p:grpSpPr>
        <p:grpSp>
          <p:nvGrpSpPr>
            <p:cNvPr id="2597" name="Google Shape;2597;p156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598" name="Google Shape;2598;p156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156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156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01" name="Google Shape;2601;p156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02" name="Google Shape;2602;p156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603" name="Google Shape;2603;p156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156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605" name="Google Shape;2605;p156"/>
          <p:cNvGrpSpPr/>
          <p:nvPr/>
        </p:nvGrpSpPr>
        <p:grpSpPr>
          <a:xfrm>
            <a:off x="896976" y="2412622"/>
            <a:ext cx="1029999" cy="747300"/>
            <a:chOff x="547350" y="1803025"/>
            <a:chExt cx="1288949" cy="747300"/>
          </a:xfrm>
        </p:grpSpPr>
        <p:sp>
          <p:nvSpPr>
            <p:cNvPr id="2606" name="Google Shape;2606;p156"/>
            <p:cNvSpPr/>
            <p:nvPr/>
          </p:nvSpPr>
          <p:spPr>
            <a:xfrm flipH="1" rot="10800000">
              <a:off x="547350" y="1803025"/>
              <a:ext cx="6273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156"/>
            <p:cNvSpPr/>
            <p:nvPr/>
          </p:nvSpPr>
          <p:spPr>
            <a:xfrm flipH="1" rot="10800000">
              <a:off x="1208999" y="1803025"/>
              <a:ext cx="6273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156"/>
            <p:cNvSpPr txBox="1"/>
            <p:nvPr/>
          </p:nvSpPr>
          <p:spPr>
            <a:xfrm>
              <a:off x="579942" y="2211023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+6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09" name="Google Shape;2609;p156"/>
            <p:cNvSpPr txBox="1"/>
            <p:nvPr/>
          </p:nvSpPr>
          <p:spPr>
            <a:xfrm>
              <a:off x="1306231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+6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610" name="Google Shape;2610;p15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05450" y="3153475"/>
            <a:ext cx="2979000" cy="79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1" name="Google Shape;2611;p156"/>
          <p:cNvSpPr txBox="1"/>
          <p:nvPr>
            <p:ph idx="1" type="body"/>
          </p:nvPr>
        </p:nvSpPr>
        <p:spPr>
          <a:xfrm>
            <a:off x="1238400" y="4081927"/>
            <a:ext cx="68469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Our cube numbers, and related</a:t>
            </a:r>
            <a:r>
              <a:rPr lang="en-GB"/>
              <a:t> sequences to our cube numbers, have a common third difference.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157"/>
          <p:cNvSpPr txBox="1"/>
          <p:nvPr>
            <p:ph idx="1" type="body"/>
          </p:nvPr>
        </p:nvSpPr>
        <p:spPr>
          <a:xfrm>
            <a:off x="324000" y="759300"/>
            <a:ext cx="70203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common third difference of this sequence.</a:t>
            </a:r>
            <a:endParaRPr/>
          </a:p>
        </p:txBody>
      </p:sp>
      <p:sp>
        <p:nvSpPr>
          <p:cNvPr id="2617" name="Google Shape;2617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618" name="Google Shape;2618;p157"/>
          <p:cNvSpPr txBox="1"/>
          <p:nvPr/>
        </p:nvSpPr>
        <p:spPr>
          <a:xfrm>
            <a:off x="324005" y="1304216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40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19" name="Google Shape;2619;p157"/>
          <p:cNvGrpSpPr/>
          <p:nvPr/>
        </p:nvGrpSpPr>
        <p:grpSpPr>
          <a:xfrm>
            <a:off x="364760" y="1440687"/>
            <a:ext cx="2120685" cy="747300"/>
            <a:chOff x="547350" y="3098425"/>
            <a:chExt cx="2653842" cy="747300"/>
          </a:xfrm>
        </p:grpSpPr>
        <p:grpSp>
          <p:nvGrpSpPr>
            <p:cNvPr id="2620" name="Google Shape;2620;p157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621" name="Google Shape;2621;p157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2" name="Google Shape;2622;p157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157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4" name="Google Shape;2624;p157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25" name="Google Shape;2625;p157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626" name="Google Shape;2626;p157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7" name="Google Shape;2627;p157"/>
              <p:cNvSpPr/>
              <p:nvPr/>
            </p:nvSpPr>
            <p:spPr>
              <a:xfrm flipH="1" rot="10800000">
                <a:off x="2573892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8" name="Google Shape;2628;p157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9" name="Google Shape;2629;p157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630" name="Google Shape;2630;p157"/>
          <p:cNvGrpSpPr/>
          <p:nvPr/>
        </p:nvGrpSpPr>
        <p:grpSpPr>
          <a:xfrm>
            <a:off x="603683" y="1920902"/>
            <a:ext cx="1579370" cy="747300"/>
            <a:chOff x="547350" y="3098425"/>
            <a:chExt cx="1976436" cy="747300"/>
          </a:xfrm>
        </p:grpSpPr>
        <p:grpSp>
          <p:nvGrpSpPr>
            <p:cNvPr id="2631" name="Google Shape;2631;p157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632" name="Google Shape;2632;p157"/>
              <p:cNvSpPr/>
              <p:nvPr/>
            </p:nvSpPr>
            <p:spPr>
              <a:xfrm flipH="1" rot="10800000">
                <a:off x="547350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3" name="Google Shape;2633;p157"/>
              <p:cNvSpPr/>
              <p:nvPr/>
            </p:nvSpPr>
            <p:spPr>
              <a:xfrm flipH="1" rot="10800000">
                <a:off x="1208999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4" name="Google Shape;2634;p157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5" name="Google Shape;2635;p157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36" name="Google Shape;2636;p157"/>
            <p:cNvGrpSpPr/>
            <p:nvPr/>
          </p:nvGrpSpPr>
          <p:grpSpPr>
            <a:xfrm>
              <a:off x="1896486" y="3098425"/>
              <a:ext cx="627300" cy="747300"/>
              <a:chOff x="1896486" y="1803025"/>
              <a:chExt cx="627300" cy="747300"/>
            </a:xfrm>
          </p:grpSpPr>
          <p:sp>
            <p:nvSpPr>
              <p:cNvPr id="2637" name="Google Shape;2637;p157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157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639" name="Google Shape;2639;p157"/>
          <p:cNvGrpSpPr/>
          <p:nvPr/>
        </p:nvGrpSpPr>
        <p:grpSpPr>
          <a:xfrm>
            <a:off x="896976" y="2412622"/>
            <a:ext cx="1029999" cy="747300"/>
            <a:chOff x="547350" y="1803025"/>
            <a:chExt cx="1288949" cy="747300"/>
          </a:xfrm>
        </p:grpSpPr>
        <p:sp>
          <p:nvSpPr>
            <p:cNvPr id="2640" name="Google Shape;2640;p157"/>
            <p:cNvSpPr/>
            <p:nvPr/>
          </p:nvSpPr>
          <p:spPr>
            <a:xfrm flipH="1" rot="10800000">
              <a:off x="547350" y="1803025"/>
              <a:ext cx="6273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157"/>
            <p:cNvSpPr/>
            <p:nvPr/>
          </p:nvSpPr>
          <p:spPr>
            <a:xfrm flipH="1" rot="10800000">
              <a:off x="1208999" y="1803025"/>
              <a:ext cx="627300" cy="437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157"/>
            <p:cNvSpPr txBox="1"/>
            <p:nvPr/>
          </p:nvSpPr>
          <p:spPr>
            <a:xfrm>
              <a:off x="579942" y="2211023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3" name="Google Shape;2643;p157"/>
            <p:cNvSpPr txBox="1"/>
            <p:nvPr/>
          </p:nvSpPr>
          <p:spPr>
            <a:xfrm>
              <a:off x="1306231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158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Identify which of these sequences have a common second difference, and which have a common third difference.</a:t>
            </a:r>
            <a:endParaRPr sz="2000"/>
          </a:p>
        </p:txBody>
      </p:sp>
      <p:sp>
        <p:nvSpPr>
          <p:cNvPr id="2649" name="Google Shape;2649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650" name="Google Shape;2650;p158"/>
          <p:cNvSpPr txBox="1"/>
          <p:nvPr/>
        </p:nvSpPr>
        <p:spPr>
          <a:xfrm>
            <a:off x="417568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1" name="Google Shape;2651;p158"/>
          <p:cNvSpPr txBox="1"/>
          <p:nvPr/>
        </p:nvSpPr>
        <p:spPr>
          <a:xfrm>
            <a:off x="331165" y="315603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2" name="Google Shape;2652;p158"/>
          <p:cNvSpPr txBox="1"/>
          <p:nvPr/>
        </p:nvSpPr>
        <p:spPr>
          <a:xfrm>
            <a:off x="33116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59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3" name="Google Shape;2653;p158"/>
          <p:cNvSpPr txBox="1"/>
          <p:nvPr/>
        </p:nvSpPr>
        <p:spPr>
          <a:xfrm>
            <a:off x="4164175" y="3163200"/>
            <a:ext cx="3962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59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Given that these sequences have a common second difference find the missing terms.</a:t>
            </a:r>
            <a:endParaRPr sz="2000"/>
          </a:p>
        </p:txBody>
      </p:sp>
      <p:sp>
        <p:nvSpPr>
          <p:cNvPr id="2659" name="Google Shape;2659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660" name="Google Shape;2660;p159"/>
          <p:cNvSpPr txBox="1"/>
          <p:nvPr/>
        </p:nvSpPr>
        <p:spPr>
          <a:xfrm>
            <a:off x="417568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1" name="Google Shape;2661;p159"/>
          <p:cNvSpPr txBox="1"/>
          <p:nvPr/>
        </p:nvSpPr>
        <p:spPr>
          <a:xfrm>
            <a:off x="331165" y="315603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2" name="Google Shape;2662;p159"/>
          <p:cNvSpPr txBox="1"/>
          <p:nvPr/>
        </p:nvSpPr>
        <p:spPr>
          <a:xfrm>
            <a:off x="33116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19,  29,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3" name="Google Shape;2663;p159"/>
          <p:cNvSpPr txBox="1"/>
          <p:nvPr/>
        </p:nvSpPr>
        <p:spPr>
          <a:xfrm>
            <a:off x="4164175" y="3239400"/>
            <a:ext cx="40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,\frac{1}{2},\frac{5}{4},\frac{5}{2},\frac{17}{4},...&quot;&gt;&lt;mfrac&gt;&lt;mn&gt;1&lt;/mn&gt;&lt;mn&gt;4&lt;/mn&gt;&lt;/mfrac&gt;&lt;mo&gt;,&lt;/mo&gt;&lt;mfrac&gt;&lt;mn&gt;1&lt;/mn&gt;&lt;mn&gt;2&lt;/mn&gt;&lt;/mfrac&gt;&lt;mo&gt;,&lt;/mo&gt;&lt;mfrac&gt;&lt;mn&gt;5&lt;/mn&gt;&lt;mn&gt;4&lt;/mn&gt;&lt;/mfrac&gt;&lt;mo&gt;,&lt;/mo&gt;&lt;mfrac&gt;&lt;mn&gt;5&lt;/mn&gt;&lt;mn&gt;2&lt;/mn&gt;&lt;/mfrac&gt;&lt;mo&gt;,&lt;/mo&gt;&lt;mfrac&gt;&lt;mn&gt;17&lt;/mn&gt;&lt;mn&gt;4&lt;/mn&gt;&lt;/mfrac&gt;&lt;mo&gt;,&lt;/mo&gt;&lt;mo&gt;.&lt;/mo&gt;&lt;mo&gt;.&lt;/mo&gt;&lt;mo&gt;.&lt;/mo&gt;&lt;/math&gt;" id="2664" name="Google Shape;2664;p159" title="one fourth comma one half comma five fourths comma five halves comma seventeen four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825" y="3033754"/>
            <a:ext cx="2334796" cy="6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5" name="Google Shape;2665;p159"/>
          <p:cNvSpPr/>
          <p:nvPr/>
        </p:nvSpPr>
        <p:spPr>
          <a:xfrm>
            <a:off x="2085855" y="1548175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6" name="Google Shape;2666;p159"/>
          <p:cNvSpPr/>
          <p:nvPr/>
        </p:nvSpPr>
        <p:spPr>
          <a:xfrm>
            <a:off x="2683948" y="1548175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7" name="Google Shape;2667;p159"/>
          <p:cNvSpPr/>
          <p:nvPr/>
        </p:nvSpPr>
        <p:spPr>
          <a:xfrm>
            <a:off x="4524255" y="1548175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8" name="Google Shape;2668;p159"/>
          <p:cNvSpPr/>
          <p:nvPr/>
        </p:nvSpPr>
        <p:spPr>
          <a:xfrm>
            <a:off x="5023135" y="1548175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9" name="Google Shape;2669;p159"/>
          <p:cNvSpPr/>
          <p:nvPr/>
        </p:nvSpPr>
        <p:spPr>
          <a:xfrm>
            <a:off x="2797481" y="3201562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0" name="Google Shape;2670;p159"/>
          <p:cNvSpPr/>
          <p:nvPr/>
        </p:nvSpPr>
        <p:spPr>
          <a:xfrm>
            <a:off x="622199" y="3201550"/>
            <a:ext cx="2460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1" name="Google Shape;2671;p159"/>
          <p:cNvSpPr/>
          <p:nvPr/>
        </p:nvSpPr>
        <p:spPr>
          <a:xfrm>
            <a:off x="5808143" y="3019000"/>
            <a:ext cx="246000" cy="61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2" name="Google Shape;2672;p159"/>
          <p:cNvSpPr/>
          <p:nvPr/>
        </p:nvSpPr>
        <p:spPr>
          <a:xfrm>
            <a:off x="6256755" y="3019000"/>
            <a:ext cx="289200" cy="61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6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p160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) Jacob is </a:t>
            </a:r>
            <a:r>
              <a:rPr lang="en-GB" sz="2000"/>
              <a:t>examining</a:t>
            </a:r>
            <a:r>
              <a:rPr lang="en-GB" sz="2000"/>
              <a:t> these three sequences.</a:t>
            </a:r>
            <a:endParaRPr sz="2000"/>
          </a:p>
        </p:txBody>
      </p:sp>
      <p:sp>
        <p:nvSpPr>
          <p:cNvPr id="2678" name="Google Shape;2678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679" name="Google Shape;2679;p160"/>
          <p:cNvSpPr txBox="1"/>
          <p:nvPr/>
        </p:nvSpPr>
        <p:spPr>
          <a:xfrm>
            <a:off x="342671" y="2382516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0" name="Google Shape;2680;p160"/>
          <p:cNvSpPr txBox="1"/>
          <p:nvPr/>
        </p:nvSpPr>
        <p:spPr>
          <a:xfrm>
            <a:off x="331176" y="3472332"/>
            <a:ext cx="384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1" name="Google Shape;2681;p160"/>
          <p:cNvSpPr txBox="1"/>
          <p:nvPr/>
        </p:nvSpPr>
        <p:spPr>
          <a:xfrm>
            <a:off x="331176" y="1292700"/>
            <a:ext cx="384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36,  42,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82" name="Google Shape;2682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2450" y="3139796"/>
            <a:ext cx="975100" cy="120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3" name="Google Shape;2683;p16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11720" y="1950913"/>
            <a:ext cx="3108526" cy="13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4" name="Google Shape;2684;p160"/>
          <p:cNvSpPr txBox="1"/>
          <p:nvPr/>
        </p:nvSpPr>
        <p:spPr>
          <a:xfrm flipH="1">
            <a:off x="5052625" y="2045000"/>
            <a:ext cx="2772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see three increasing sequences whereby the terms will always go up.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5" name="Google Shape;2685;p160"/>
          <p:cNvSpPr txBox="1"/>
          <p:nvPr>
            <p:ph idx="1" type="body"/>
          </p:nvPr>
        </p:nvSpPr>
        <p:spPr>
          <a:xfrm>
            <a:off x="933600" y="4188300"/>
            <a:ext cx="6525600" cy="6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Jacob’s statement is not entirely true. </a:t>
            </a:r>
            <a:r>
              <a:rPr lang="en-GB" sz="2000"/>
              <a:t>Explore</a:t>
            </a:r>
            <a:r>
              <a:rPr lang="en-GB" sz="2000"/>
              <a:t> the sequences and see if you can find the contradiction.</a:t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161"/>
          <p:cNvSpPr txBox="1"/>
          <p:nvPr>
            <p:ph idx="1" type="body"/>
          </p:nvPr>
        </p:nvSpPr>
        <p:spPr>
          <a:xfrm>
            <a:off x="324000" y="759300"/>
            <a:ext cx="82377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Identify which of these sequences have a common second difference, and which have a common third difference.</a:t>
            </a:r>
            <a:endParaRPr sz="2000"/>
          </a:p>
        </p:txBody>
      </p:sp>
      <p:sp>
        <p:nvSpPr>
          <p:cNvPr id="2691" name="Google Shape;2691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692" name="Google Shape;2692;p161"/>
          <p:cNvSpPr txBox="1"/>
          <p:nvPr/>
        </p:nvSpPr>
        <p:spPr>
          <a:xfrm>
            <a:off x="417568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93" name="Google Shape;2693;p161"/>
          <p:cNvGrpSpPr/>
          <p:nvPr/>
        </p:nvGrpSpPr>
        <p:grpSpPr>
          <a:xfrm>
            <a:off x="4608950" y="1774777"/>
            <a:ext cx="2120677" cy="630304"/>
            <a:chOff x="547354" y="3215421"/>
            <a:chExt cx="2653832" cy="630304"/>
          </a:xfrm>
        </p:grpSpPr>
        <p:grpSp>
          <p:nvGrpSpPr>
            <p:cNvPr id="2694" name="Google Shape;2694;p161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695" name="Google Shape;2695;p161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161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16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98" name="Google Shape;2698;p16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99" name="Google Shape;2699;p161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700" name="Google Shape;2700;p161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1" name="Google Shape;2701;p161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2" name="Google Shape;2702;p16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3" name="Google Shape;2703;p161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04" name="Google Shape;2704;p161"/>
          <p:cNvGrpSpPr/>
          <p:nvPr/>
        </p:nvGrpSpPr>
        <p:grpSpPr>
          <a:xfrm>
            <a:off x="4847875" y="2190498"/>
            <a:ext cx="1579373" cy="618597"/>
            <a:chOff x="547357" y="3227128"/>
            <a:chExt cx="1976440" cy="618597"/>
          </a:xfrm>
        </p:grpSpPr>
        <p:grpSp>
          <p:nvGrpSpPr>
            <p:cNvPr id="2705" name="Google Shape;2705;p16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706" name="Google Shape;2706;p161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7" name="Google Shape;2707;p161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8" name="Google Shape;2708;p16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9" name="Google Shape;2709;p16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10" name="Google Shape;2710;p16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711" name="Google Shape;2711;p161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2" name="Google Shape;2712;p16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13" name="Google Shape;2713;p161"/>
          <p:cNvGrpSpPr/>
          <p:nvPr/>
        </p:nvGrpSpPr>
        <p:grpSpPr>
          <a:xfrm>
            <a:off x="5141175" y="2594323"/>
            <a:ext cx="1029987" cy="630293"/>
            <a:chOff x="547365" y="1920032"/>
            <a:chExt cx="1288934" cy="630293"/>
          </a:xfrm>
        </p:grpSpPr>
        <p:sp>
          <p:nvSpPr>
            <p:cNvPr id="2714" name="Google Shape;2714;p161"/>
            <p:cNvSpPr/>
            <p:nvPr/>
          </p:nvSpPr>
          <p:spPr>
            <a:xfrm flipH="1" rot="10800000">
              <a:off x="547365" y="1920032"/>
              <a:ext cx="6273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161"/>
            <p:cNvSpPr/>
            <p:nvPr/>
          </p:nvSpPr>
          <p:spPr>
            <a:xfrm flipH="1" rot="10800000">
              <a:off x="1208999" y="1920032"/>
              <a:ext cx="6273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161"/>
            <p:cNvSpPr txBox="1"/>
            <p:nvPr/>
          </p:nvSpPr>
          <p:spPr>
            <a:xfrm>
              <a:off x="579942" y="2211023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17" name="Google Shape;2717;p161"/>
            <p:cNvSpPr txBox="1"/>
            <p:nvPr/>
          </p:nvSpPr>
          <p:spPr>
            <a:xfrm>
              <a:off x="1306231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18" name="Google Shape;2718;p161"/>
          <p:cNvSpPr txBox="1"/>
          <p:nvPr/>
        </p:nvSpPr>
        <p:spPr>
          <a:xfrm>
            <a:off x="331165" y="315603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19" name="Google Shape;2719;p161"/>
          <p:cNvGrpSpPr/>
          <p:nvPr/>
        </p:nvGrpSpPr>
        <p:grpSpPr>
          <a:xfrm>
            <a:off x="863643" y="3386483"/>
            <a:ext cx="2120677" cy="630304"/>
            <a:chOff x="547354" y="3215421"/>
            <a:chExt cx="2653832" cy="630304"/>
          </a:xfrm>
        </p:grpSpPr>
        <p:grpSp>
          <p:nvGrpSpPr>
            <p:cNvPr id="2720" name="Google Shape;2720;p161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721" name="Google Shape;2721;p161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161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16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−5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4" name="Google Shape;2724;p16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25" name="Google Shape;2725;p161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726" name="Google Shape;2726;p161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161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161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9" name="Google Shape;2729;p161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30" name="Google Shape;2730;p161"/>
          <p:cNvGrpSpPr/>
          <p:nvPr/>
        </p:nvGrpSpPr>
        <p:grpSpPr>
          <a:xfrm>
            <a:off x="1102568" y="3802205"/>
            <a:ext cx="1579373" cy="618597"/>
            <a:chOff x="547357" y="3227128"/>
            <a:chExt cx="1976440" cy="618597"/>
          </a:xfrm>
        </p:grpSpPr>
        <p:grpSp>
          <p:nvGrpSpPr>
            <p:cNvPr id="2731" name="Google Shape;2731;p16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732" name="Google Shape;2732;p161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161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16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5" name="Google Shape;2735;p161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36" name="Google Shape;2736;p16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737" name="Google Shape;2737;p161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8" name="Google Shape;2738;p161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39" name="Google Shape;2739;p161"/>
          <p:cNvGrpSpPr/>
          <p:nvPr/>
        </p:nvGrpSpPr>
        <p:grpSpPr>
          <a:xfrm>
            <a:off x="1395868" y="4206029"/>
            <a:ext cx="1029987" cy="630293"/>
            <a:chOff x="547365" y="1920032"/>
            <a:chExt cx="1288934" cy="630293"/>
          </a:xfrm>
        </p:grpSpPr>
        <p:sp>
          <p:nvSpPr>
            <p:cNvPr id="2740" name="Google Shape;2740;p161"/>
            <p:cNvSpPr/>
            <p:nvPr/>
          </p:nvSpPr>
          <p:spPr>
            <a:xfrm flipH="1" rot="10800000">
              <a:off x="547365" y="1920032"/>
              <a:ext cx="6273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161"/>
            <p:cNvSpPr/>
            <p:nvPr/>
          </p:nvSpPr>
          <p:spPr>
            <a:xfrm flipH="1" rot="10800000">
              <a:off x="1208999" y="1920032"/>
              <a:ext cx="6273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161"/>
            <p:cNvSpPr txBox="1"/>
            <p:nvPr/>
          </p:nvSpPr>
          <p:spPr>
            <a:xfrm>
              <a:off x="579942" y="2211023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−8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3" name="Google Shape;2743;p161"/>
            <p:cNvSpPr txBox="1"/>
            <p:nvPr/>
          </p:nvSpPr>
          <p:spPr>
            <a:xfrm>
              <a:off x="1306231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−8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44" name="Google Shape;2744;p161"/>
          <p:cNvSpPr txBox="1"/>
          <p:nvPr/>
        </p:nvSpPr>
        <p:spPr>
          <a:xfrm>
            <a:off x="33116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59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45" name="Google Shape;2745;p161"/>
          <p:cNvGrpSpPr/>
          <p:nvPr/>
        </p:nvGrpSpPr>
        <p:grpSpPr>
          <a:xfrm>
            <a:off x="764430" y="1774777"/>
            <a:ext cx="2120677" cy="630304"/>
            <a:chOff x="547354" y="3215421"/>
            <a:chExt cx="2653832" cy="630304"/>
          </a:xfrm>
        </p:grpSpPr>
        <p:grpSp>
          <p:nvGrpSpPr>
            <p:cNvPr id="2746" name="Google Shape;2746;p161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747" name="Google Shape;2747;p161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161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9" name="Google Shape;2749;p16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0" name="Google Shape;2750;p16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51" name="Google Shape;2751;p161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752" name="Google Shape;2752;p161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161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16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5" name="Google Shape;2755;p161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56" name="Google Shape;2756;p161"/>
          <p:cNvGrpSpPr/>
          <p:nvPr/>
        </p:nvGrpSpPr>
        <p:grpSpPr>
          <a:xfrm>
            <a:off x="1003355" y="2190498"/>
            <a:ext cx="1579373" cy="618597"/>
            <a:chOff x="547357" y="3227128"/>
            <a:chExt cx="1976440" cy="618597"/>
          </a:xfrm>
        </p:grpSpPr>
        <p:grpSp>
          <p:nvGrpSpPr>
            <p:cNvPr id="2757" name="Google Shape;2757;p16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758" name="Google Shape;2758;p161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161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16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1" name="Google Shape;2761;p16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62" name="Google Shape;2762;p16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763" name="Google Shape;2763;p161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16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765" name="Google Shape;2765;p161"/>
          <p:cNvSpPr txBox="1"/>
          <p:nvPr/>
        </p:nvSpPr>
        <p:spPr>
          <a:xfrm>
            <a:off x="4164175" y="3163200"/>
            <a:ext cx="3962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66" name="Google Shape;2766;p161"/>
          <p:cNvGrpSpPr/>
          <p:nvPr/>
        </p:nvGrpSpPr>
        <p:grpSpPr>
          <a:xfrm>
            <a:off x="4936745" y="3393613"/>
            <a:ext cx="2453733" cy="630304"/>
            <a:chOff x="547354" y="3215421"/>
            <a:chExt cx="2653832" cy="630304"/>
          </a:xfrm>
        </p:grpSpPr>
        <p:grpSp>
          <p:nvGrpSpPr>
            <p:cNvPr id="2767" name="Google Shape;2767;p161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768" name="Google Shape;2768;p161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9" name="Google Shape;2769;p161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16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1" name="Google Shape;2771;p16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72" name="Google Shape;2772;p161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773" name="Google Shape;2773;p161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4" name="Google Shape;2774;p161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5" name="Google Shape;2775;p16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6" name="Google Shape;2776;p161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77" name="Google Shape;2777;p161"/>
          <p:cNvGrpSpPr/>
          <p:nvPr/>
        </p:nvGrpSpPr>
        <p:grpSpPr>
          <a:xfrm>
            <a:off x="5213205" y="3809339"/>
            <a:ext cx="1827417" cy="618597"/>
            <a:chOff x="547357" y="3227128"/>
            <a:chExt cx="1976440" cy="618597"/>
          </a:xfrm>
        </p:grpSpPr>
        <p:grpSp>
          <p:nvGrpSpPr>
            <p:cNvPr id="2778" name="Google Shape;2778;p16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779" name="Google Shape;2779;p161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0" name="Google Shape;2780;p161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1" name="Google Shape;2781;p16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82" name="Google Shape;2782;p16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83" name="Google Shape;2783;p16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784" name="Google Shape;2784;p161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16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786" name="Google Shape;2786;p161"/>
          <p:cNvSpPr txBox="1"/>
          <p:nvPr>
            <p:ph idx="4294967295" type="title"/>
          </p:nvPr>
        </p:nvSpPr>
        <p:spPr>
          <a:xfrm>
            <a:off x="578400" y="2756675"/>
            <a:ext cx="3160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Common second difference </a:t>
            </a:r>
            <a:r>
              <a:rPr b="0" lang="en-GB" sz="2000">
                <a:latin typeface="Times New Roman"/>
                <a:ea typeface="Times New Roman"/>
                <a:cs typeface="Times New Roman"/>
                <a:sym typeface="Times New Roman"/>
              </a:rPr>
              <a:t>+9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7" name="Google Shape;2787;p161"/>
          <p:cNvSpPr txBox="1"/>
          <p:nvPr>
            <p:ph idx="4294967295" type="title"/>
          </p:nvPr>
        </p:nvSpPr>
        <p:spPr>
          <a:xfrm>
            <a:off x="6674400" y="2528075"/>
            <a:ext cx="1579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Common third difference </a:t>
            </a:r>
            <a:r>
              <a:rPr b="0" lang="en-GB" sz="2000"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8" name="Google Shape;2788;p161"/>
          <p:cNvSpPr txBox="1"/>
          <p:nvPr>
            <p:ph idx="4294967295" type="title"/>
          </p:nvPr>
        </p:nvSpPr>
        <p:spPr>
          <a:xfrm>
            <a:off x="2883066" y="4151288"/>
            <a:ext cx="1579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Common third difference </a:t>
            </a:r>
            <a:r>
              <a:rPr b="0"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b="0"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9" name="Google Shape;2789;p161"/>
          <p:cNvSpPr txBox="1"/>
          <p:nvPr>
            <p:ph idx="4294967295" type="title"/>
          </p:nvPr>
        </p:nvSpPr>
        <p:spPr>
          <a:xfrm>
            <a:off x="4845600" y="4433075"/>
            <a:ext cx="3160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Common second difference </a:t>
            </a:r>
            <a:r>
              <a:rPr b="0" lang="en-GB" sz="2000">
                <a:latin typeface="Times New Roman"/>
                <a:ea typeface="Times New Roman"/>
                <a:cs typeface="Times New Roman"/>
                <a:sym typeface="Times New Roman"/>
              </a:rPr>
              <a:t>+10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p162"/>
          <p:cNvSpPr txBox="1"/>
          <p:nvPr>
            <p:ph idx="1" type="body"/>
          </p:nvPr>
        </p:nvSpPr>
        <p:spPr>
          <a:xfrm>
            <a:off x="324000" y="759300"/>
            <a:ext cx="82377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Given that these sequences have a common second difference find the missing terms.</a:t>
            </a:r>
            <a:endParaRPr sz="2000"/>
          </a:p>
        </p:txBody>
      </p:sp>
      <p:sp>
        <p:nvSpPr>
          <p:cNvPr id="2795" name="Google Shape;2795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796" name="Google Shape;2796;p162"/>
          <p:cNvSpPr txBox="1"/>
          <p:nvPr/>
        </p:nvSpPr>
        <p:spPr>
          <a:xfrm>
            <a:off x="417568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62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7" name="Google Shape;2797;p162"/>
          <p:cNvSpPr txBox="1"/>
          <p:nvPr/>
        </p:nvSpPr>
        <p:spPr>
          <a:xfrm>
            <a:off x="331165" y="315603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48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8" name="Google Shape;2798;p162"/>
          <p:cNvSpPr txBox="1"/>
          <p:nvPr/>
        </p:nvSpPr>
        <p:spPr>
          <a:xfrm>
            <a:off x="331165" y="1521310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5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11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29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9" name="Google Shape;2799;p162"/>
          <p:cNvSpPr txBox="1"/>
          <p:nvPr/>
        </p:nvSpPr>
        <p:spPr>
          <a:xfrm>
            <a:off x="4164175" y="3239400"/>
            <a:ext cx="40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00" name="Google Shape;2800;p162"/>
          <p:cNvGrpSpPr/>
          <p:nvPr/>
        </p:nvGrpSpPr>
        <p:grpSpPr>
          <a:xfrm>
            <a:off x="764430" y="1774777"/>
            <a:ext cx="2120677" cy="630304"/>
            <a:chOff x="547354" y="3215421"/>
            <a:chExt cx="2653832" cy="630304"/>
          </a:xfrm>
        </p:grpSpPr>
        <p:grpSp>
          <p:nvGrpSpPr>
            <p:cNvPr id="2801" name="Google Shape;2801;p162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802" name="Google Shape;2802;p162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3" name="Google Shape;2803;p162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4" name="Google Shape;2804;p162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05" name="Google Shape;2805;p16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06" name="Google Shape;2806;p162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807" name="Google Shape;2807;p162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8" name="Google Shape;2808;p162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9" name="Google Shape;2809;p16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10" name="Google Shape;2810;p162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811" name="Google Shape;2811;p162"/>
          <p:cNvGrpSpPr/>
          <p:nvPr/>
        </p:nvGrpSpPr>
        <p:grpSpPr>
          <a:xfrm>
            <a:off x="1003355" y="2190498"/>
            <a:ext cx="1579373" cy="618597"/>
            <a:chOff x="547357" y="3227128"/>
            <a:chExt cx="1976440" cy="618597"/>
          </a:xfrm>
        </p:grpSpPr>
        <p:grpSp>
          <p:nvGrpSpPr>
            <p:cNvPr id="2812" name="Google Shape;2812;p162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813" name="Google Shape;2813;p162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4" name="Google Shape;2814;p162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162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16" name="Google Shape;2816;p16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17" name="Google Shape;2817;p162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818" name="Google Shape;2818;p162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16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820" name="Google Shape;2820;p162"/>
          <p:cNvGrpSpPr/>
          <p:nvPr/>
        </p:nvGrpSpPr>
        <p:grpSpPr>
          <a:xfrm>
            <a:off x="4657790" y="1774777"/>
            <a:ext cx="2120677" cy="630304"/>
            <a:chOff x="547354" y="3215421"/>
            <a:chExt cx="2653832" cy="630304"/>
          </a:xfrm>
        </p:grpSpPr>
        <p:grpSp>
          <p:nvGrpSpPr>
            <p:cNvPr id="2821" name="Google Shape;2821;p162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822" name="Google Shape;2822;p162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162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162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5" name="Google Shape;2825;p16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26" name="Google Shape;2826;p162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827" name="Google Shape;2827;p162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162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16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0" name="Google Shape;2830;p162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+23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831" name="Google Shape;2831;p162"/>
          <p:cNvGrpSpPr/>
          <p:nvPr/>
        </p:nvGrpSpPr>
        <p:grpSpPr>
          <a:xfrm>
            <a:off x="4896715" y="2190498"/>
            <a:ext cx="1579373" cy="618597"/>
            <a:chOff x="547357" y="3227128"/>
            <a:chExt cx="1976440" cy="618597"/>
          </a:xfrm>
        </p:grpSpPr>
        <p:grpSp>
          <p:nvGrpSpPr>
            <p:cNvPr id="2832" name="Google Shape;2832;p162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833" name="Google Shape;2833;p162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162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162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6" name="Google Shape;2836;p16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37" name="Google Shape;2837;p162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838" name="Google Shape;2838;p162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16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840" name="Google Shape;2840;p162"/>
          <p:cNvGrpSpPr/>
          <p:nvPr/>
        </p:nvGrpSpPr>
        <p:grpSpPr>
          <a:xfrm>
            <a:off x="847797" y="3386438"/>
            <a:ext cx="2120677" cy="630304"/>
            <a:chOff x="547354" y="3215421"/>
            <a:chExt cx="2653832" cy="630304"/>
          </a:xfrm>
        </p:grpSpPr>
        <p:grpSp>
          <p:nvGrpSpPr>
            <p:cNvPr id="2841" name="Google Shape;2841;p162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842" name="Google Shape;2842;p162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162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162"/>
              <p:cNvSpPr txBox="1"/>
              <p:nvPr/>
            </p:nvSpPr>
            <p:spPr>
              <a:xfrm>
                <a:off x="55657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45" name="Google Shape;2845;p162"/>
              <p:cNvSpPr txBox="1"/>
              <p:nvPr/>
            </p:nvSpPr>
            <p:spPr>
              <a:xfrm>
                <a:off x="12342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46" name="Google Shape;2846;p162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847" name="Google Shape;2847;p162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162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162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50" name="Google Shape;2850;p162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851" name="Google Shape;2851;p162"/>
          <p:cNvGrpSpPr/>
          <p:nvPr/>
        </p:nvGrpSpPr>
        <p:grpSpPr>
          <a:xfrm>
            <a:off x="1086720" y="3802164"/>
            <a:ext cx="1579373" cy="618597"/>
            <a:chOff x="547357" y="3227128"/>
            <a:chExt cx="1976440" cy="618597"/>
          </a:xfrm>
        </p:grpSpPr>
        <p:grpSp>
          <p:nvGrpSpPr>
            <p:cNvPr id="2852" name="Google Shape;2852;p162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853" name="Google Shape;2853;p162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162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162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56" name="Google Shape;2856;p162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57" name="Google Shape;2857;p162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858" name="Google Shape;2858;p162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162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860" name="Google Shape;2860;p162"/>
          <p:cNvGrpSpPr/>
          <p:nvPr/>
        </p:nvGrpSpPr>
        <p:grpSpPr>
          <a:xfrm>
            <a:off x="4793224" y="3565924"/>
            <a:ext cx="1579296" cy="296840"/>
            <a:chOff x="547354" y="3215421"/>
            <a:chExt cx="2653832" cy="320700"/>
          </a:xfrm>
        </p:grpSpPr>
        <p:grpSp>
          <p:nvGrpSpPr>
            <p:cNvPr id="2861" name="Google Shape;2861;p162"/>
            <p:cNvGrpSpPr/>
            <p:nvPr/>
          </p:nvGrpSpPr>
          <p:grpSpPr>
            <a:xfrm>
              <a:off x="547354" y="3215421"/>
              <a:ext cx="1288946" cy="320700"/>
              <a:chOff x="547354" y="1920021"/>
              <a:chExt cx="1288946" cy="320700"/>
            </a:xfrm>
          </p:grpSpPr>
          <p:sp>
            <p:nvSpPr>
              <p:cNvPr id="2862" name="Google Shape;2862;p162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3" name="Google Shape;2863;p162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64" name="Google Shape;2864;p162"/>
            <p:cNvGrpSpPr/>
            <p:nvPr/>
          </p:nvGrpSpPr>
          <p:grpSpPr>
            <a:xfrm>
              <a:off x="1896483" y="3215421"/>
              <a:ext cx="1304703" cy="320700"/>
              <a:chOff x="1896483" y="1920021"/>
              <a:chExt cx="1304703" cy="320700"/>
            </a:xfrm>
          </p:grpSpPr>
          <p:sp>
            <p:nvSpPr>
              <p:cNvPr id="2865" name="Google Shape;2865;p162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6" name="Google Shape;2866;p162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67" name="Google Shape;2867;p162"/>
          <p:cNvGrpSpPr/>
          <p:nvPr/>
        </p:nvGrpSpPr>
        <p:grpSpPr>
          <a:xfrm>
            <a:off x="4966682" y="4152634"/>
            <a:ext cx="1278559" cy="286041"/>
            <a:chOff x="547357" y="3227128"/>
            <a:chExt cx="1976440" cy="309000"/>
          </a:xfrm>
        </p:grpSpPr>
        <p:grpSp>
          <p:nvGrpSpPr>
            <p:cNvPr id="2868" name="Google Shape;2868;p162"/>
            <p:cNvGrpSpPr/>
            <p:nvPr/>
          </p:nvGrpSpPr>
          <p:grpSpPr>
            <a:xfrm>
              <a:off x="547357" y="3227128"/>
              <a:ext cx="1288952" cy="309000"/>
              <a:chOff x="547357" y="1931728"/>
              <a:chExt cx="1288952" cy="309000"/>
            </a:xfrm>
          </p:grpSpPr>
          <p:sp>
            <p:nvSpPr>
              <p:cNvPr id="2869" name="Google Shape;2869;p162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0" name="Google Shape;2870;p162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71" name="Google Shape;2871;p162"/>
            <p:cNvSpPr/>
            <p:nvPr/>
          </p:nvSpPr>
          <p:spPr>
            <a:xfrm flipH="1" rot="10800000">
              <a:off x="1896497" y="3227128"/>
              <a:ext cx="627300" cy="309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&lt;math xmlns=&quot;http://www.w3.org/1998/Math/MathML&quot; display=&quot;block&quot; data-is-equatio=&quot;1&quot; data-latex=&quot;+\frac{1}{2}&quot;&gt;&lt;mo&gt;+&lt;/mo&gt;&lt;mfrac&gt;&lt;mn&gt;1&lt;/mn&gt;&lt;mn&gt;2&lt;/mn&gt;&lt;/mfrac&gt;&lt;/math&gt;" id="2872" name="Google Shape;2872;p162" title="posi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697" y="4459624"/>
            <a:ext cx="246026" cy="36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4}&quot;&gt;&lt;mo&gt;+&lt;/mo&gt;&lt;mfrac&gt;&lt;mn&gt;1&lt;/mn&gt;&lt;mn&gt;4&lt;/mn&gt;&lt;/mfrac&gt;&lt;/math&gt;" id="2873" name="Google Shape;2873;p162" title="positive 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374" y="3897626"/>
            <a:ext cx="246026" cy="36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3}{4}&quot;&gt;&lt;mo&gt;+&lt;/mo&gt;&lt;mfrac&gt;&lt;mn&gt;3&lt;/mn&gt;&lt;mn&gt;4&lt;/mn&gt;&lt;/mfrac&gt;&lt;/math&gt;" id="2874" name="Google Shape;2874;p162" title="positive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7036" y="3897626"/>
            <a:ext cx="246026" cy="36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5}{4}&quot;&gt;&lt;mo&gt;+&lt;/mo&gt;&lt;mfrac&gt;&lt;mn&gt;5&lt;/mn&gt;&lt;mn&gt;4&lt;/mn&gt;&lt;/mfrac&gt;&lt;/math&gt;" id="2875" name="Google Shape;2875;p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8603" y="3901637"/>
            <a:ext cx="238003" cy="355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7}{4}&quot;&gt;&lt;mo&gt;+&lt;/mo&gt;&lt;mfrac&gt;&lt;mn&gt;7&lt;/mn&gt;&lt;mn&gt;4&lt;/mn&gt;&lt;/mfrac&gt;&lt;/math&gt;" id="2876" name="Google Shape;2876;p162" title="positive seven four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7623" y="3897626"/>
            <a:ext cx="246026" cy="36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2}&quot;&gt;&lt;mo&gt;+&lt;/mo&gt;&lt;mfrac&gt;&lt;mn&gt;1&lt;/mn&gt;&lt;mn&gt;2&lt;/mn&gt;&lt;/mfrac&gt;&lt;/math&gt;" id="2877" name="Google Shape;2877;p162" title="posi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966" y="4459624"/>
            <a:ext cx="246026" cy="36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2}&quot;&gt;&lt;mo&gt;+&lt;/mo&gt;&lt;mfrac&gt;&lt;mn&gt;1&lt;/mn&gt;&lt;mn&gt;2&lt;/mn&gt;&lt;/mfrac&gt;&lt;/math&gt;" id="2878" name="Google Shape;2878;p162" title="posi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3104" y="4459624"/>
            <a:ext cx="246026" cy="36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,\frac{1}{2},\frac{5}{4},\frac{5}{2},\frac{17}{4},...&quot;&gt;&lt;mfrac&gt;&lt;mn&gt;1&lt;/mn&gt;&lt;mn&gt;4&lt;/mn&gt;&lt;/mfrac&gt;&lt;mo&gt;,&lt;/mo&gt;&lt;mfrac&gt;&lt;mn&gt;1&lt;/mn&gt;&lt;mn&gt;2&lt;/mn&gt;&lt;/mfrac&gt;&lt;mo&gt;,&lt;/mo&gt;&lt;mfrac&gt;&lt;mn&gt;5&lt;/mn&gt;&lt;mn&gt;4&lt;/mn&gt;&lt;/mfrac&gt;&lt;mo&gt;,&lt;/mo&gt;&lt;mfrac&gt;&lt;mn&gt;5&lt;/mn&gt;&lt;mn&gt;2&lt;/mn&gt;&lt;/mfrac&gt;&lt;mo&gt;,&lt;/mo&gt;&lt;mfrac&gt;&lt;mn&gt;17&lt;/mn&gt;&lt;mn&gt;4&lt;/mn&gt;&lt;/mfrac&gt;&lt;mo&gt;,&lt;/mo&gt;&lt;mo&gt;.&lt;/mo&gt;&lt;mo&gt;.&lt;/mo&gt;&lt;mo&gt;.&lt;/mo&gt;&lt;/math&gt;" id="2879" name="Google Shape;2879;p162" title="one fourth comma one half comma five fourths comma five halves comma seventeen fourths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95825" y="3033754"/>
            <a:ext cx="2334796" cy="6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0" name="Google Shape;2880;p162"/>
          <p:cNvSpPr/>
          <p:nvPr/>
        </p:nvSpPr>
        <p:spPr>
          <a:xfrm>
            <a:off x="2085855" y="1559682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1" name="Google Shape;2881;p162"/>
          <p:cNvSpPr/>
          <p:nvPr/>
        </p:nvSpPr>
        <p:spPr>
          <a:xfrm>
            <a:off x="2683948" y="1559682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2" name="Google Shape;2882;p162"/>
          <p:cNvSpPr/>
          <p:nvPr/>
        </p:nvSpPr>
        <p:spPr>
          <a:xfrm>
            <a:off x="4524255" y="1548175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3" name="Google Shape;2883;p162"/>
          <p:cNvSpPr/>
          <p:nvPr/>
        </p:nvSpPr>
        <p:spPr>
          <a:xfrm>
            <a:off x="5023135" y="1548175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4" name="Google Shape;2884;p162"/>
          <p:cNvSpPr/>
          <p:nvPr/>
        </p:nvSpPr>
        <p:spPr>
          <a:xfrm>
            <a:off x="2797481" y="3201562"/>
            <a:ext cx="3453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5" name="Google Shape;2885;p162"/>
          <p:cNvSpPr/>
          <p:nvPr/>
        </p:nvSpPr>
        <p:spPr>
          <a:xfrm>
            <a:off x="622199" y="3201550"/>
            <a:ext cx="2460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6" name="Google Shape;2886;p162"/>
          <p:cNvSpPr/>
          <p:nvPr/>
        </p:nvSpPr>
        <p:spPr>
          <a:xfrm>
            <a:off x="5808143" y="3019000"/>
            <a:ext cx="246000" cy="61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7" name="Google Shape;2887;p162"/>
          <p:cNvSpPr/>
          <p:nvPr/>
        </p:nvSpPr>
        <p:spPr>
          <a:xfrm>
            <a:off x="6256755" y="3019000"/>
            <a:ext cx="289200" cy="61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p163"/>
          <p:cNvSpPr txBox="1"/>
          <p:nvPr>
            <p:ph idx="1" type="body"/>
          </p:nvPr>
        </p:nvSpPr>
        <p:spPr>
          <a:xfrm>
            <a:off x="324000" y="759300"/>
            <a:ext cx="5743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Jacob is examining these three sequences.</a:t>
            </a:r>
            <a:endParaRPr sz="2000"/>
          </a:p>
        </p:txBody>
      </p:sp>
      <p:sp>
        <p:nvSpPr>
          <p:cNvPr id="2893" name="Google Shape;2893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894" name="Google Shape;2894;p163"/>
          <p:cNvSpPr txBox="1"/>
          <p:nvPr/>
        </p:nvSpPr>
        <p:spPr>
          <a:xfrm>
            <a:off x="342671" y="2306316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5" name="Google Shape;2895;p163"/>
          <p:cNvSpPr txBox="1"/>
          <p:nvPr/>
        </p:nvSpPr>
        <p:spPr>
          <a:xfrm>
            <a:off x="331176" y="3472332"/>
            <a:ext cx="384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6" name="Google Shape;2896;p163"/>
          <p:cNvSpPr txBox="1"/>
          <p:nvPr/>
        </p:nvSpPr>
        <p:spPr>
          <a:xfrm>
            <a:off x="331176" y="1292700"/>
            <a:ext cx="384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36,  44,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7" name="Google Shape;2897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2450" y="2301596"/>
            <a:ext cx="975100" cy="120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8" name="Google Shape;2898;p16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11720" y="1188913"/>
            <a:ext cx="3108526" cy="13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9" name="Google Shape;2899;p163"/>
          <p:cNvSpPr txBox="1"/>
          <p:nvPr/>
        </p:nvSpPr>
        <p:spPr>
          <a:xfrm flipH="1">
            <a:off x="5052625" y="1283000"/>
            <a:ext cx="2772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see three increasing sequences whereby the terms will always go up.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0" name="Google Shape;2900;p163"/>
          <p:cNvSpPr txBox="1"/>
          <p:nvPr>
            <p:ph idx="1" type="body"/>
          </p:nvPr>
        </p:nvSpPr>
        <p:spPr>
          <a:xfrm>
            <a:off x="933600" y="4188300"/>
            <a:ext cx="6525600" cy="6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Jacob’s statement is not entirely true. Explore the sequences and see if you can find the contradiction.</a:t>
            </a:r>
            <a:endParaRPr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4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p164"/>
          <p:cNvSpPr txBox="1"/>
          <p:nvPr/>
        </p:nvSpPr>
        <p:spPr>
          <a:xfrm>
            <a:off x="331174" y="1292700"/>
            <a:ext cx="592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36,  44,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6" name="Google Shape;2906;p164"/>
          <p:cNvSpPr txBox="1"/>
          <p:nvPr/>
        </p:nvSpPr>
        <p:spPr>
          <a:xfrm>
            <a:off x="331174" y="1292700"/>
            <a:ext cx="592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36,  44, 52, 60, 68, 76, 84,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7" name="Google Shape;2907;p164"/>
          <p:cNvSpPr txBox="1"/>
          <p:nvPr>
            <p:ph idx="1" type="body"/>
          </p:nvPr>
        </p:nvSpPr>
        <p:spPr>
          <a:xfrm>
            <a:off x="324000" y="759300"/>
            <a:ext cx="5743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Jacob is examining these three sequences.</a:t>
            </a:r>
            <a:endParaRPr sz="2000"/>
          </a:p>
        </p:txBody>
      </p:sp>
      <p:sp>
        <p:nvSpPr>
          <p:cNvPr id="2908" name="Google Shape;2908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2909" name="Google Shape;2909;p164"/>
          <p:cNvSpPr txBox="1"/>
          <p:nvPr/>
        </p:nvSpPr>
        <p:spPr>
          <a:xfrm>
            <a:off x="342671" y="2306316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0" name="Google Shape;2910;p164"/>
          <p:cNvSpPr txBox="1"/>
          <p:nvPr/>
        </p:nvSpPr>
        <p:spPr>
          <a:xfrm>
            <a:off x="331176" y="3548532"/>
            <a:ext cx="384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1" name="Google Shape;2911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2450" y="2301596"/>
            <a:ext cx="975100" cy="1201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2" name="Google Shape;2912;p164"/>
          <p:cNvGrpSpPr/>
          <p:nvPr/>
        </p:nvGrpSpPr>
        <p:grpSpPr>
          <a:xfrm>
            <a:off x="870820" y="2513868"/>
            <a:ext cx="1923910" cy="630312"/>
            <a:chOff x="547354" y="3215421"/>
            <a:chExt cx="2700603" cy="630312"/>
          </a:xfrm>
        </p:grpSpPr>
        <p:grpSp>
          <p:nvGrpSpPr>
            <p:cNvPr id="2913" name="Google Shape;2913;p164"/>
            <p:cNvGrpSpPr/>
            <p:nvPr/>
          </p:nvGrpSpPr>
          <p:grpSpPr>
            <a:xfrm>
              <a:off x="547354" y="3215421"/>
              <a:ext cx="1288946" cy="630312"/>
              <a:chOff x="547354" y="1920021"/>
              <a:chExt cx="1288946" cy="630312"/>
            </a:xfrm>
          </p:grpSpPr>
          <p:sp>
            <p:nvSpPr>
              <p:cNvPr id="2914" name="Google Shape;2914;p164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5" name="Google Shape;2915;p164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6" name="Google Shape;2916;p16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17" name="Google Shape;2917;p164"/>
              <p:cNvSpPr txBox="1"/>
              <p:nvPr/>
            </p:nvSpPr>
            <p:spPr>
              <a:xfrm>
                <a:off x="1140350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18" name="Google Shape;2918;p164"/>
            <p:cNvGrpSpPr/>
            <p:nvPr/>
          </p:nvGrpSpPr>
          <p:grpSpPr>
            <a:xfrm>
              <a:off x="1870753" y="3215421"/>
              <a:ext cx="1377204" cy="630312"/>
              <a:chOff x="1870753" y="1920021"/>
              <a:chExt cx="1377204" cy="630312"/>
            </a:xfrm>
          </p:grpSpPr>
          <p:sp>
            <p:nvSpPr>
              <p:cNvPr id="2919" name="Google Shape;2919;p164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164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164"/>
              <p:cNvSpPr txBox="1"/>
              <p:nvPr/>
            </p:nvSpPr>
            <p:spPr>
              <a:xfrm>
                <a:off x="1870753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2" name="Google Shape;2922;p164"/>
              <p:cNvSpPr txBox="1"/>
              <p:nvPr/>
            </p:nvSpPr>
            <p:spPr>
              <a:xfrm>
                <a:off x="2620657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923" name="Google Shape;2923;p164"/>
          <p:cNvGrpSpPr/>
          <p:nvPr/>
        </p:nvGrpSpPr>
        <p:grpSpPr>
          <a:xfrm>
            <a:off x="1083815" y="2929579"/>
            <a:ext cx="1408016" cy="618597"/>
            <a:chOff x="547357" y="3227128"/>
            <a:chExt cx="1976440" cy="618597"/>
          </a:xfrm>
        </p:grpSpPr>
        <p:grpSp>
          <p:nvGrpSpPr>
            <p:cNvPr id="2924" name="Google Shape;2924;p164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925" name="Google Shape;2925;p164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6" name="Google Shape;2926;p164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164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8" name="Google Shape;2928;p16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29" name="Google Shape;2929;p164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930" name="Google Shape;2930;p164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1" name="Google Shape;2931;p16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932" name="Google Shape;2932;p164"/>
          <p:cNvGrpSpPr/>
          <p:nvPr/>
        </p:nvGrpSpPr>
        <p:grpSpPr>
          <a:xfrm>
            <a:off x="951350" y="1534721"/>
            <a:ext cx="1962774" cy="630304"/>
            <a:chOff x="547354" y="3215421"/>
            <a:chExt cx="2653832" cy="630304"/>
          </a:xfrm>
        </p:grpSpPr>
        <p:grpSp>
          <p:nvGrpSpPr>
            <p:cNvPr id="2933" name="Google Shape;2933;p164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934" name="Google Shape;2934;p164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5" name="Google Shape;2935;p164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164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7" name="Google Shape;2937;p164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38" name="Google Shape;2938;p164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939" name="Google Shape;2939;p164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0" name="Google Shape;2940;p164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1" name="Google Shape;2941;p164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2" name="Google Shape;2942;p164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943" name="Google Shape;2943;p164"/>
          <p:cNvSpPr txBox="1"/>
          <p:nvPr>
            <p:ph idx="4294967295" type="title"/>
          </p:nvPr>
        </p:nvSpPr>
        <p:spPr>
          <a:xfrm>
            <a:off x="6064800" y="1156475"/>
            <a:ext cx="277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Arithmetic sequence, positive c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ommon difference. Terms will increase forever.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4" name="Google Shape;2944;p164"/>
          <p:cNvSpPr txBox="1"/>
          <p:nvPr/>
        </p:nvSpPr>
        <p:spPr>
          <a:xfrm>
            <a:off x="342675" y="2306325"/>
            <a:ext cx="592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82, 100, 120, 142,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5" name="Google Shape;2945;p164"/>
          <p:cNvSpPr txBox="1"/>
          <p:nvPr>
            <p:ph idx="4294967295" type="title"/>
          </p:nvPr>
        </p:nvSpPr>
        <p:spPr>
          <a:xfrm>
            <a:off x="5200200" y="2703500"/>
            <a:ext cx="2542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ositive second difference forever increasing the first difference. Terms will increase forever.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6" name="Google Shape;2946;p164"/>
          <p:cNvSpPr txBox="1"/>
          <p:nvPr>
            <p:ph idx="4294967295" type="title"/>
          </p:nvPr>
        </p:nvSpPr>
        <p:spPr>
          <a:xfrm>
            <a:off x="3192387" y="4052091"/>
            <a:ext cx="3937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Nega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tive second difference </a:t>
            </a:r>
            <a:r>
              <a:rPr b="0"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decreasing 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the first difference.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47" name="Google Shape;2947;p164"/>
          <p:cNvGrpSpPr/>
          <p:nvPr/>
        </p:nvGrpSpPr>
        <p:grpSpPr>
          <a:xfrm>
            <a:off x="2926077" y="1534721"/>
            <a:ext cx="2461803" cy="630304"/>
            <a:chOff x="2926077" y="1534721"/>
            <a:chExt cx="2461803" cy="630304"/>
          </a:xfrm>
        </p:grpSpPr>
        <p:grpSp>
          <p:nvGrpSpPr>
            <p:cNvPr id="2948" name="Google Shape;2948;p164"/>
            <p:cNvGrpSpPr/>
            <p:nvPr/>
          </p:nvGrpSpPr>
          <p:grpSpPr>
            <a:xfrm>
              <a:off x="2926077" y="1534721"/>
              <a:ext cx="1962774" cy="630304"/>
              <a:chOff x="547354" y="3215421"/>
              <a:chExt cx="2653832" cy="630304"/>
            </a:xfrm>
          </p:grpSpPr>
          <p:grpSp>
            <p:nvGrpSpPr>
              <p:cNvPr id="2949" name="Google Shape;2949;p164"/>
              <p:cNvGrpSpPr/>
              <p:nvPr/>
            </p:nvGrpSpPr>
            <p:grpSpPr>
              <a:xfrm>
                <a:off x="547354" y="3215421"/>
                <a:ext cx="1288946" cy="630304"/>
                <a:chOff x="547354" y="1920021"/>
                <a:chExt cx="1288946" cy="630304"/>
              </a:xfrm>
            </p:grpSpPr>
            <p:sp>
              <p:nvSpPr>
                <p:cNvPr id="2950" name="Google Shape;2950;p164"/>
                <p:cNvSpPr/>
                <p:nvPr/>
              </p:nvSpPr>
              <p:spPr>
                <a:xfrm flipH="1" rot="10800000">
                  <a:off x="547354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1" name="Google Shape;2951;p164"/>
                <p:cNvSpPr/>
                <p:nvPr/>
              </p:nvSpPr>
              <p:spPr>
                <a:xfrm flipH="1" rot="10800000">
                  <a:off x="1209000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2" name="Google Shape;2952;p164"/>
                <p:cNvSpPr txBox="1"/>
                <p:nvPr/>
              </p:nvSpPr>
              <p:spPr>
                <a:xfrm>
                  <a:off x="579924" y="2211025"/>
                  <a:ext cx="4272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953" name="Google Shape;2953;p164"/>
                <p:cNvSpPr txBox="1"/>
                <p:nvPr/>
              </p:nvSpPr>
              <p:spPr>
                <a:xfrm>
                  <a:off x="1306231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954" name="Google Shape;2954;p164"/>
              <p:cNvGrpSpPr/>
              <p:nvPr/>
            </p:nvGrpSpPr>
            <p:grpSpPr>
              <a:xfrm>
                <a:off x="1896483" y="3215421"/>
                <a:ext cx="1304703" cy="630304"/>
                <a:chOff x="1896483" y="1920021"/>
                <a:chExt cx="1304703" cy="630304"/>
              </a:xfrm>
            </p:grpSpPr>
            <p:sp>
              <p:nvSpPr>
                <p:cNvPr id="2955" name="Google Shape;2955;p164"/>
                <p:cNvSpPr/>
                <p:nvPr/>
              </p:nvSpPr>
              <p:spPr>
                <a:xfrm flipH="1" rot="10800000">
                  <a:off x="1896483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6" name="Google Shape;2956;p164"/>
                <p:cNvSpPr/>
                <p:nvPr/>
              </p:nvSpPr>
              <p:spPr>
                <a:xfrm flipH="1" rot="10800000">
                  <a:off x="2573886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7" name="Google Shape;2957;p164"/>
                <p:cNvSpPr txBox="1"/>
                <p:nvPr/>
              </p:nvSpPr>
              <p:spPr>
                <a:xfrm>
                  <a:off x="1987459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958" name="Google Shape;2958;p164"/>
                <p:cNvSpPr txBox="1"/>
                <p:nvPr/>
              </p:nvSpPr>
              <p:spPr>
                <a:xfrm>
                  <a:off x="2669906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959" name="Google Shape;2959;p164"/>
            <p:cNvSpPr/>
            <p:nvPr/>
          </p:nvSpPr>
          <p:spPr>
            <a:xfrm flipH="1" rot="10800000">
              <a:off x="4923780" y="1534721"/>
              <a:ext cx="4641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164"/>
            <p:cNvSpPr txBox="1"/>
            <p:nvPr/>
          </p:nvSpPr>
          <p:spPr>
            <a:xfrm>
              <a:off x="4987636" y="1825725"/>
              <a:ext cx="377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61" name="Google Shape;2961;p164"/>
          <p:cNvGrpSpPr/>
          <p:nvPr/>
        </p:nvGrpSpPr>
        <p:grpSpPr>
          <a:xfrm>
            <a:off x="2795863" y="2513868"/>
            <a:ext cx="1923910" cy="630312"/>
            <a:chOff x="547354" y="3215421"/>
            <a:chExt cx="2700603" cy="630312"/>
          </a:xfrm>
        </p:grpSpPr>
        <p:grpSp>
          <p:nvGrpSpPr>
            <p:cNvPr id="2962" name="Google Shape;2962;p164"/>
            <p:cNvGrpSpPr/>
            <p:nvPr/>
          </p:nvGrpSpPr>
          <p:grpSpPr>
            <a:xfrm>
              <a:off x="547354" y="3215421"/>
              <a:ext cx="1294954" cy="630312"/>
              <a:chOff x="547354" y="1920021"/>
              <a:chExt cx="1294954" cy="630312"/>
            </a:xfrm>
          </p:grpSpPr>
          <p:sp>
            <p:nvSpPr>
              <p:cNvPr id="2963" name="Google Shape;2963;p164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164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164"/>
              <p:cNvSpPr txBox="1"/>
              <p:nvPr/>
            </p:nvSpPr>
            <p:spPr>
              <a:xfrm>
                <a:off x="579937" y="2211028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6" name="Google Shape;2966;p164"/>
              <p:cNvSpPr txBox="1"/>
              <p:nvPr/>
            </p:nvSpPr>
            <p:spPr>
              <a:xfrm>
                <a:off x="1215008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67" name="Google Shape;2967;p164"/>
            <p:cNvGrpSpPr/>
            <p:nvPr/>
          </p:nvGrpSpPr>
          <p:grpSpPr>
            <a:xfrm>
              <a:off x="1896483" y="3215421"/>
              <a:ext cx="1351474" cy="630312"/>
              <a:chOff x="1896483" y="1920021"/>
              <a:chExt cx="1351474" cy="630312"/>
            </a:xfrm>
          </p:grpSpPr>
          <p:sp>
            <p:nvSpPr>
              <p:cNvPr id="2968" name="Google Shape;2968;p164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164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164"/>
              <p:cNvSpPr txBox="1"/>
              <p:nvPr/>
            </p:nvSpPr>
            <p:spPr>
              <a:xfrm>
                <a:off x="1903057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1" name="Google Shape;2971;p164"/>
              <p:cNvSpPr txBox="1"/>
              <p:nvPr/>
            </p:nvSpPr>
            <p:spPr>
              <a:xfrm>
                <a:off x="2620657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972" name="Google Shape;2972;p164"/>
          <p:cNvGrpSpPr/>
          <p:nvPr/>
        </p:nvGrpSpPr>
        <p:grpSpPr>
          <a:xfrm>
            <a:off x="2540151" y="2929579"/>
            <a:ext cx="1876723" cy="618597"/>
            <a:chOff x="2540151" y="2929579"/>
            <a:chExt cx="1876723" cy="618597"/>
          </a:xfrm>
        </p:grpSpPr>
        <p:grpSp>
          <p:nvGrpSpPr>
            <p:cNvPr id="2973" name="Google Shape;2973;p164"/>
            <p:cNvGrpSpPr/>
            <p:nvPr/>
          </p:nvGrpSpPr>
          <p:grpSpPr>
            <a:xfrm>
              <a:off x="3008858" y="2929579"/>
              <a:ext cx="1408016" cy="618597"/>
              <a:chOff x="547357" y="3227128"/>
              <a:chExt cx="1976440" cy="618597"/>
            </a:xfrm>
          </p:grpSpPr>
          <p:grpSp>
            <p:nvGrpSpPr>
              <p:cNvPr id="2974" name="Google Shape;2974;p164"/>
              <p:cNvGrpSpPr/>
              <p:nvPr/>
            </p:nvGrpSpPr>
            <p:grpSpPr>
              <a:xfrm>
                <a:off x="547357" y="3227128"/>
                <a:ext cx="1288952" cy="618597"/>
                <a:chOff x="547357" y="1931728"/>
                <a:chExt cx="1288952" cy="618597"/>
              </a:xfrm>
            </p:grpSpPr>
            <p:sp>
              <p:nvSpPr>
                <p:cNvPr id="2975" name="Google Shape;2975;p164"/>
                <p:cNvSpPr/>
                <p:nvPr/>
              </p:nvSpPr>
              <p:spPr>
                <a:xfrm flipH="1" rot="10800000">
                  <a:off x="547357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6" name="Google Shape;2976;p164"/>
                <p:cNvSpPr/>
                <p:nvPr/>
              </p:nvSpPr>
              <p:spPr>
                <a:xfrm flipH="1" rot="10800000">
                  <a:off x="1209008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7" name="Google Shape;2977;p164"/>
                <p:cNvSpPr txBox="1"/>
                <p:nvPr/>
              </p:nvSpPr>
              <p:spPr>
                <a:xfrm>
                  <a:off x="579942" y="2211023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978" name="Google Shape;2978;p164"/>
                <p:cNvSpPr txBox="1"/>
                <p:nvPr/>
              </p:nvSpPr>
              <p:spPr>
                <a:xfrm>
                  <a:off x="1306231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979" name="Google Shape;2979;p164"/>
              <p:cNvGrpSpPr/>
              <p:nvPr/>
            </p:nvGrpSpPr>
            <p:grpSpPr>
              <a:xfrm>
                <a:off x="1896497" y="3227128"/>
                <a:ext cx="627300" cy="618597"/>
                <a:chOff x="1896497" y="1931728"/>
                <a:chExt cx="627300" cy="618597"/>
              </a:xfrm>
            </p:grpSpPr>
            <p:sp>
              <p:nvSpPr>
                <p:cNvPr id="2980" name="Google Shape;2980;p164"/>
                <p:cNvSpPr/>
                <p:nvPr/>
              </p:nvSpPr>
              <p:spPr>
                <a:xfrm flipH="1" rot="10800000">
                  <a:off x="1896497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1" name="Google Shape;2981;p164"/>
                <p:cNvSpPr txBox="1"/>
                <p:nvPr/>
              </p:nvSpPr>
              <p:spPr>
                <a:xfrm>
                  <a:off x="1987459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982" name="Google Shape;2982;p164"/>
            <p:cNvSpPr/>
            <p:nvPr/>
          </p:nvSpPr>
          <p:spPr>
            <a:xfrm flipH="1" rot="10800000">
              <a:off x="2540151" y="2929579"/>
              <a:ext cx="447000" cy="309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164"/>
            <p:cNvSpPr txBox="1"/>
            <p:nvPr/>
          </p:nvSpPr>
          <p:spPr>
            <a:xfrm>
              <a:off x="2597885" y="3208874"/>
              <a:ext cx="3639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84" name="Google Shape;2984;p164"/>
          <p:cNvGrpSpPr/>
          <p:nvPr/>
        </p:nvGrpSpPr>
        <p:grpSpPr>
          <a:xfrm>
            <a:off x="882338" y="3725747"/>
            <a:ext cx="2285215" cy="630304"/>
            <a:chOff x="547354" y="3215421"/>
            <a:chExt cx="2653832" cy="630304"/>
          </a:xfrm>
        </p:grpSpPr>
        <p:grpSp>
          <p:nvGrpSpPr>
            <p:cNvPr id="2985" name="Google Shape;2985;p164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2986" name="Google Shape;2986;p164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164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164"/>
              <p:cNvSpPr txBox="1"/>
              <p:nvPr/>
            </p:nvSpPr>
            <p:spPr>
              <a:xfrm>
                <a:off x="55657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9" name="Google Shape;2989;p164"/>
              <p:cNvSpPr txBox="1"/>
              <p:nvPr/>
            </p:nvSpPr>
            <p:spPr>
              <a:xfrm>
                <a:off x="12342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90" name="Google Shape;2990;p164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2991" name="Google Shape;2991;p164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164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164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4" name="Google Shape;2994;p164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995" name="Google Shape;2995;p164"/>
          <p:cNvGrpSpPr/>
          <p:nvPr/>
        </p:nvGrpSpPr>
        <p:grpSpPr>
          <a:xfrm>
            <a:off x="1139795" y="4141475"/>
            <a:ext cx="1701913" cy="618597"/>
            <a:chOff x="547357" y="3227128"/>
            <a:chExt cx="1976440" cy="618597"/>
          </a:xfrm>
        </p:grpSpPr>
        <p:grpSp>
          <p:nvGrpSpPr>
            <p:cNvPr id="2996" name="Google Shape;2996;p164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997" name="Google Shape;2997;p164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164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164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0" name="Google Shape;3000;p164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01" name="Google Shape;3001;p164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3002" name="Google Shape;3002;p164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164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7" name="Shape 3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8" name="Google Shape;3008;p165"/>
          <p:cNvSpPr txBox="1"/>
          <p:nvPr/>
        </p:nvSpPr>
        <p:spPr>
          <a:xfrm flipH="1">
            <a:off x="6230350" y="2296625"/>
            <a:ext cx="1480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hat is cool!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09" name="Google Shape;3009;p16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169207" y="2275513"/>
            <a:ext cx="1553152" cy="3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0" name="Google Shape;3010;p165"/>
          <p:cNvSpPr txBox="1"/>
          <p:nvPr/>
        </p:nvSpPr>
        <p:spPr>
          <a:xfrm>
            <a:off x="331175" y="3548525"/>
            <a:ext cx="8279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12, 112, 110, 106, 100, 92, …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1" name="Google Shape;3011;p165"/>
          <p:cNvSpPr txBox="1"/>
          <p:nvPr/>
        </p:nvSpPr>
        <p:spPr>
          <a:xfrm>
            <a:off x="331174" y="1292700"/>
            <a:ext cx="592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36,  44,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2" name="Google Shape;3012;p165"/>
          <p:cNvSpPr txBox="1"/>
          <p:nvPr/>
        </p:nvSpPr>
        <p:spPr>
          <a:xfrm>
            <a:off x="331174" y="1292700"/>
            <a:ext cx="592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28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36,  44, 52, 60, 68, 76, 84, 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3" name="Google Shape;3013;p165"/>
          <p:cNvSpPr txBox="1"/>
          <p:nvPr>
            <p:ph idx="1" type="body"/>
          </p:nvPr>
        </p:nvSpPr>
        <p:spPr>
          <a:xfrm>
            <a:off x="324000" y="759300"/>
            <a:ext cx="5743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Jacob is examining these three sequences.</a:t>
            </a:r>
            <a:endParaRPr sz="2000"/>
          </a:p>
        </p:txBody>
      </p:sp>
      <p:sp>
        <p:nvSpPr>
          <p:cNvPr id="3014" name="Google Shape;3014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types of sequences</a:t>
            </a:r>
            <a:endParaRPr/>
          </a:p>
        </p:txBody>
      </p:sp>
      <p:sp>
        <p:nvSpPr>
          <p:cNvPr id="3015" name="Google Shape;3015;p165"/>
          <p:cNvSpPr txBox="1"/>
          <p:nvPr/>
        </p:nvSpPr>
        <p:spPr>
          <a:xfrm>
            <a:off x="342671" y="2306316"/>
            <a:ext cx="347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6" name="Google Shape;3016;p165"/>
          <p:cNvSpPr txBox="1"/>
          <p:nvPr/>
        </p:nvSpPr>
        <p:spPr>
          <a:xfrm>
            <a:off x="331175" y="3548525"/>
            <a:ext cx="3319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7" name="Google Shape;3017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2450" y="2301596"/>
            <a:ext cx="975100" cy="120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8" name="Google Shape;3018;p16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929088" y="1109500"/>
            <a:ext cx="3017073" cy="1201149"/>
          </a:xfrm>
          <a:prstGeom prst="rect">
            <a:avLst/>
          </a:prstGeom>
          <a:noFill/>
          <a:ln>
            <a:noFill/>
          </a:ln>
        </p:spPr>
      </p:pic>
      <p:sp>
        <p:nvSpPr>
          <p:cNvPr id="3019" name="Google Shape;3019;p165"/>
          <p:cNvSpPr txBox="1"/>
          <p:nvPr/>
        </p:nvSpPr>
        <p:spPr>
          <a:xfrm flipH="1">
            <a:off x="6001670" y="1153613"/>
            <a:ext cx="27504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Wow!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sequence which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was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increasing and then starts decreasing!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0" name="Google Shape;3020;p165"/>
          <p:cNvSpPr txBox="1"/>
          <p:nvPr/>
        </p:nvSpPr>
        <p:spPr>
          <a:xfrm>
            <a:off x="342675" y="2306325"/>
            <a:ext cx="592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82, 100, 120, 142,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21" name="Google Shape;3021;p165"/>
          <p:cNvGrpSpPr/>
          <p:nvPr/>
        </p:nvGrpSpPr>
        <p:grpSpPr>
          <a:xfrm>
            <a:off x="882378" y="3725748"/>
            <a:ext cx="2289727" cy="630304"/>
            <a:chOff x="547354" y="3215421"/>
            <a:chExt cx="2653832" cy="630304"/>
          </a:xfrm>
        </p:grpSpPr>
        <p:grpSp>
          <p:nvGrpSpPr>
            <p:cNvPr id="3022" name="Google Shape;3022;p165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3023" name="Google Shape;3023;p165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165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165"/>
              <p:cNvSpPr txBox="1"/>
              <p:nvPr/>
            </p:nvSpPr>
            <p:spPr>
              <a:xfrm>
                <a:off x="55657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6" name="Google Shape;3026;p165"/>
              <p:cNvSpPr txBox="1"/>
              <p:nvPr/>
            </p:nvSpPr>
            <p:spPr>
              <a:xfrm>
                <a:off x="12342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27" name="Google Shape;3027;p165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3028" name="Google Shape;3028;p165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165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165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1" name="Google Shape;3031;p165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032" name="Google Shape;3032;p165"/>
          <p:cNvGrpSpPr/>
          <p:nvPr/>
        </p:nvGrpSpPr>
        <p:grpSpPr>
          <a:xfrm>
            <a:off x="1140318" y="4141476"/>
            <a:ext cx="1705273" cy="618597"/>
            <a:chOff x="547357" y="3227128"/>
            <a:chExt cx="1976440" cy="618597"/>
          </a:xfrm>
        </p:grpSpPr>
        <p:grpSp>
          <p:nvGrpSpPr>
            <p:cNvPr id="3033" name="Google Shape;3033;p165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3034" name="Google Shape;3034;p165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165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165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7" name="Google Shape;3037;p165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38" name="Google Shape;3038;p165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3039" name="Google Shape;3039;p165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165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041" name="Google Shape;3041;p165"/>
          <p:cNvGrpSpPr/>
          <p:nvPr/>
        </p:nvGrpSpPr>
        <p:grpSpPr>
          <a:xfrm>
            <a:off x="3185802" y="3725748"/>
            <a:ext cx="2289727" cy="630304"/>
            <a:chOff x="547354" y="3215421"/>
            <a:chExt cx="2653832" cy="630304"/>
          </a:xfrm>
        </p:grpSpPr>
        <p:grpSp>
          <p:nvGrpSpPr>
            <p:cNvPr id="3042" name="Google Shape;3042;p165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3043" name="Google Shape;3043;p165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165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165"/>
              <p:cNvSpPr txBox="1"/>
              <p:nvPr/>
            </p:nvSpPr>
            <p:spPr>
              <a:xfrm>
                <a:off x="55657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6" name="Google Shape;3046;p165"/>
              <p:cNvSpPr txBox="1"/>
              <p:nvPr/>
            </p:nvSpPr>
            <p:spPr>
              <a:xfrm>
                <a:off x="12342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47" name="Google Shape;3047;p165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3048" name="Google Shape;3048;p165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165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165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1" name="Google Shape;3051;p165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052" name="Google Shape;3052;p165"/>
          <p:cNvGrpSpPr/>
          <p:nvPr/>
        </p:nvGrpSpPr>
        <p:grpSpPr>
          <a:xfrm>
            <a:off x="5526493" y="3725748"/>
            <a:ext cx="2289727" cy="630304"/>
            <a:chOff x="547354" y="3215421"/>
            <a:chExt cx="2653832" cy="630304"/>
          </a:xfrm>
        </p:grpSpPr>
        <p:grpSp>
          <p:nvGrpSpPr>
            <p:cNvPr id="3053" name="Google Shape;3053;p165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3054" name="Google Shape;3054;p165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165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165"/>
              <p:cNvSpPr txBox="1"/>
              <p:nvPr/>
            </p:nvSpPr>
            <p:spPr>
              <a:xfrm>
                <a:off x="55657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7" name="Google Shape;3057;p165"/>
              <p:cNvSpPr txBox="1"/>
              <p:nvPr/>
            </p:nvSpPr>
            <p:spPr>
              <a:xfrm>
                <a:off x="12342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58" name="Google Shape;3058;p165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3059" name="Google Shape;3059;p165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165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165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2" name="Google Shape;3062;p165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063" name="Google Shape;3063;p165"/>
          <p:cNvSpPr txBox="1"/>
          <p:nvPr/>
        </p:nvSpPr>
        <p:spPr>
          <a:xfrm>
            <a:off x="331175" y="3548525"/>
            <a:ext cx="734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64" name="Google Shape;3064;p165"/>
          <p:cNvGrpSpPr/>
          <p:nvPr/>
        </p:nvGrpSpPr>
        <p:grpSpPr>
          <a:xfrm>
            <a:off x="2867848" y="4141471"/>
            <a:ext cx="2268753" cy="618597"/>
            <a:chOff x="2721440" y="4141484"/>
            <a:chExt cx="2101475" cy="618597"/>
          </a:xfrm>
        </p:grpSpPr>
        <p:grpSp>
          <p:nvGrpSpPr>
            <p:cNvPr id="3065" name="Google Shape;3065;p165"/>
            <p:cNvGrpSpPr/>
            <p:nvPr/>
          </p:nvGrpSpPr>
          <p:grpSpPr>
            <a:xfrm>
              <a:off x="2721440" y="4141484"/>
              <a:ext cx="1030001" cy="618597"/>
              <a:chOff x="547357" y="1931728"/>
              <a:chExt cx="1288952" cy="618597"/>
            </a:xfrm>
          </p:grpSpPr>
          <p:sp>
            <p:nvSpPr>
              <p:cNvPr id="3066" name="Google Shape;3066;p165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165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165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9" name="Google Shape;3069;p165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70" name="Google Shape;3070;p165"/>
            <p:cNvGrpSpPr/>
            <p:nvPr/>
          </p:nvGrpSpPr>
          <p:grpSpPr>
            <a:xfrm>
              <a:off x="3799538" y="4141484"/>
              <a:ext cx="501275" cy="618597"/>
              <a:chOff x="1896497" y="1931728"/>
              <a:chExt cx="627300" cy="618597"/>
            </a:xfrm>
          </p:grpSpPr>
          <p:sp>
            <p:nvSpPr>
              <p:cNvPr id="3071" name="Google Shape;3071;p165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165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073" name="Google Shape;3073;p165"/>
            <p:cNvSpPr/>
            <p:nvPr/>
          </p:nvSpPr>
          <p:spPr>
            <a:xfrm flipH="1" rot="10800000">
              <a:off x="4321640" y="4141484"/>
              <a:ext cx="501275" cy="309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165"/>
            <p:cNvSpPr txBox="1"/>
            <p:nvPr/>
          </p:nvSpPr>
          <p:spPr>
            <a:xfrm>
              <a:off x="4347679" y="4420779"/>
              <a:ext cx="40802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75" name="Google Shape;3075;p165"/>
          <p:cNvGrpSpPr/>
          <p:nvPr/>
        </p:nvGrpSpPr>
        <p:grpSpPr>
          <a:xfrm>
            <a:off x="5166236" y="4141471"/>
            <a:ext cx="2268753" cy="618597"/>
            <a:chOff x="4850366" y="4141484"/>
            <a:chExt cx="2101475" cy="618597"/>
          </a:xfrm>
        </p:grpSpPr>
        <p:sp>
          <p:nvSpPr>
            <p:cNvPr id="3076" name="Google Shape;3076;p165"/>
            <p:cNvSpPr/>
            <p:nvPr/>
          </p:nvSpPr>
          <p:spPr>
            <a:xfrm flipH="1" rot="10800000">
              <a:off x="4850366" y="4141484"/>
              <a:ext cx="501275" cy="309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165"/>
            <p:cNvSpPr txBox="1"/>
            <p:nvPr/>
          </p:nvSpPr>
          <p:spPr>
            <a:xfrm>
              <a:off x="4882029" y="4420781"/>
              <a:ext cx="40802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078" name="Google Shape;3078;p165"/>
            <p:cNvGrpSpPr/>
            <p:nvPr/>
          </p:nvGrpSpPr>
          <p:grpSpPr>
            <a:xfrm>
              <a:off x="5399738" y="4141484"/>
              <a:ext cx="501275" cy="618597"/>
              <a:chOff x="1896497" y="1931728"/>
              <a:chExt cx="627300" cy="618597"/>
            </a:xfrm>
          </p:grpSpPr>
          <p:sp>
            <p:nvSpPr>
              <p:cNvPr id="3079" name="Google Shape;3079;p165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165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081" name="Google Shape;3081;p165"/>
            <p:cNvSpPr/>
            <p:nvPr/>
          </p:nvSpPr>
          <p:spPr>
            <a:xfrm flipH="1" rot="10800000">
              <a:off x="5921840" y="4141484"/>
              <a:ext cx="501275" cy="309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165"/>
            <p:cNvSpPr/>
            <p:nvPr/>
          </p:nvSpPr>
          <p:spPr>
            <a:xfrm flipH="1" rot="10800000">
              <a:off x="6450566" y="4141484"/>
              <a:ext cx="501275" cy="309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165"/>
            <p:cNvSpPr txBox="1"/>
            <p:nvPr/>
          </p:nvSpPr>
          <p:spPr>
            <a:xfrm>
              <a:off x="5947879" y="4420779"/>
              <a:ext cx="40802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4" name="Google Shape;3084;p165"/>
            <p:cNvSpPr txBox="1"/>
            <p:nvPr/>
          </p:nvSpPr>
          <p:spPr>
            <a:xfrm>
              <a:off x="6482229" y="4420781"/>
              <a:ext cx="40802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85" name="Google Shape;3085;p165"/>
          <p:cNvSpPr txBox="1"/>
          <p:nvPr/>
        </p:nvSpPr>
        <p:spPr>
          <a:xfrm>
            <a:off x="331175" y="3548525"/>
            <a:ext cx="734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12, 112,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86" name="Google Shape;3086;p165"/>
          <p:cNvGrpSpPr/>
          <p:nvPr/>
        </p:nvGrpSpPr>
        <p:grpSpPr>
          <a:xfrm>
            <a:off x="2926077" y="1534721"/>
            <a:ext cx="2461803" cy="630304"/>
            <a:chOff x="2926077" y="1534721"/>
            <a:chExt cx="2461803" cy="630304"/>
          </a:xfrm>
        </p:grpSpPr>
        <p:grpSp>
          <p:nvGrpSpPr>
            <p:cNvPr id="3087" name="Google Shape;3087;p165"/>
            <p:cNvGrpSpPr/>
            <p:nvPr/>
          </p:nvGrpSpPr>
          <p:grpSpPr>
            <a:xfrm>
              <a:off x="2926077" y="1534721"/>
              <a:ext cx="1962774" cy="630304"/>
              <a:chOff x="547354" y="3215421"/>
              <a:chExt cx="2653832" cy="630304"/>
            </a:xfrm>
          </p:grpSpPr>
          <p:grpSp>
            <p:nvGrpSpPr>
              <p:cNvPr id="3088" name="Google Shape;3088;p165"/>
              <p:cNvGrpSpPr/>
              <p:nvPr/>
            </p:nvGrpSpPr>
            <p:grpSpPr>
              <a:xfrm>
                <a:off x="547354" y="3215421"/>
                <a:ext cx="1288946" cy="630304"/>
                <a:chOff x="547354" y="1920021"/>
                <a:chExt cx="1288946" cy="630304"/>
              </a:xfrm>
            </p:grpSpPr>
            <p:sp>
              <p:nvSpPr>
                <p:cNvPr id="3089" name="Google Shape;3089;p165"/>
                <p:cNvSpPr/>
                <p:nvPr/>
              </p:nvSpPr>
              <p:spPr>
                <a:xfrm flipH="1" rot="10800000">
                  <a:off x="547354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0" name="Google Shape;3090;p165"/>
                <p:cNvSpPr/>
                <p:nvPr/>
              </p:nvSpPr>
              <p:spPr>
                <a:xfrm flipH="1" rot="10800000">
                  <a:off x="1209000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1" name="Google Shape;3091;p165"/>
                <p:cNvSpPr txBox="1"/>
                <p:nvPr/>
              </p:nvSpPr>
              <p:spPr>
                <a:xfrm>
                  <a:off x="579924" y="2211025"/>
                  <a:ext cx="4272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092" name="Google Shape;3092;p165"/>
                <p:cNvSpPr txBox="1"/>
                <p:nvPr/>
              </p:nvSpPr>
              <p:spPr>
                <a:xfrm>
                  <a:off x="1306231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093" name="Google Shape;3093;p165"/>
              <p:cNvGrpSpPr/>
              <p:nvPr/>
            </p:nvGrpSpPr>
            <p:grpSpPr>
              <a:xfrm>
                <a:off x="1896483" y="3215421"/>
                <a:ext cx="1304703" cy="630304"/>
                <a:chOff x="1896483" y="1920021"/>
                <a:chExt cx="1304703" cy="630304"/>
              </a:xfrm>
            </p:grpSpPr>
            <p:sp>
              <p:nvSpPr>
                <p:cNvPr id="3094" name="Google Shape;3094;p165"/>
                <p:cNvSpPr/>
                <p:nvPr/>
              </p:nvSpPr>
              <p:spPr>
                <a:xfrm flipH="1" rot="10800000">
                  <a:off x="1896483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5" name="Google Shape;3095;p165"/>
                <p:cNvSpPr/>
                <p:nvPr/>
              </p:nvSpPr>
              <p:spPr>
                <a:xfrm flipH="1" rot="10800000">
                  <a:off x="2573886" y="1920021"/>
                  <a:ext cx="627300" cy="3207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6" name="Google Shape;3096;p165"/>
                <p:cNvSpPr txBox="1"/>
                <p:nvPr/>
              </p:nvSpPr>
              <p:spPr>
                <a:xfrm>
                  <a:off x="1987459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097" name="Google Shape;3097;p165"/>
                <p:cNvSpPr txBox="1"/>
                <p:nvPr/>
              </p:nvSpPr>
              <p:spPr>
                <a:xfrm>
                  <a:off x="2669906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3098" name="Google Shape;3098;p165"/>
            <p:cNvSpPr/>
            <p:nvPr/>
          </p:nvSpPr>
          <p:spPr>
            <a:xfrm flipH="1" rot="10800000">
              <a:off x="4923780" y="1534721"/>
              <a:ext cx="4641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165"/>
            <p:cNvSpPr txBox="1"/>
            <p:nvPr/>
          </p:nvSpPr>
          <p:spPr>
            <a:xfrm>
              <a:off x="4987636" y="1825725"/>
              <a:ext cx="377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00" name="Google Shape;3100;p165"/>
          <p:cNvGrpSpPr/>
          <p:nvPr/>
        </p:nvGrpSpPr>
        <p:grpSpPr>
          <a:xfrm>
            <a:off x="951350" y="1534721"/>
            <a:ext cx="1962774" cy="630304"/>
            <a:chOff x="547354" y="3215421"/>
            <a:chExt cx="2653832" cy="630304"/>
          </a:xfrm>
        </p:grpSpPr>
        <p:grpSp>
          <p:nvGrpSpPr>
            <p:cNvPr id="3101" name="Google Shape;3101;p165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3102" name="Google Shape;3102;p165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165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165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05" name="Google Shape;3105;p165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06" name="Google Shape;3106;p165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3107" name="Google Shape;3107;p165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165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165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0" name="Google Shape;3110;p165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111" name="Google Shape;3111;p165"/>
          <p:cNvGrpSpPr/>
          <p:nvPr/>
        </p:nvGrpSpPr>
        <p:grpSpPr>
          <a:xfrm>
            <a:off x="870820" y="2513868"/>
            <a:ext cx="1923910" cy="630312"/>
            <a:chOff x="547354" y="3215421"/>
            <a:chExt cx="2700603" cy="630312"/>
          </a:xfrm>
        </p:grpSpPr>
        <p:grpSp>
          <p:nvGrpSpPr>
            <p:cNvPr id="3112" name="Google Shape;3112;p165"/>
            <p:cNvGrpSpPr/>
            <p:nvPr/>
          </p:nvGrpSpPr>
          <p:grpSpPr>
            <a:xfrm>
              <a:off x="547354" y="3215421"/>
              <a:ext cx="1288946" cy="630312"/>
              <a:chOff x="547354" y="1920021"/>
              <a:chExt cx="1288946" cy="630312"/>
            </a:xfrm>
          </p:grpSpPr>
          <p:sp>
            <p:nvSpPr>
              <p:cNvPr id="3113" name="Google Shape;3113;p165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165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165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6" name="Google Shape;3116;p165"/>
              <p:cNvSpPr txBox="1"/>
              <p:nvPr/>
            </p:nvSpPr>
            <p:spPr>
              <a:xfrm>
                <a:off x="1140350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17" name="Google Shape;3117;p165"/>
            <p:cNvGrpSpPr/>
            <p:nvPr/>
          </p:nvGrpSpPr>
          <p:grpSpPr>
            <a:xfrm>
              <a:off x="1870753" y="3215421"/>
              <a:ext cx="1377204" cy="630312"/>
              <a:chOff x="1870753" y="1920021"/>
              <a:chExt cx="1377204" cy="630312"/>
            </a:xfrm>
          </p:grpSpPr>
          <p:sp>
            <p:nvSpPr>
              <p:cNvPr id="3118" name="Google Shape;3118;p165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165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165"/>
              <p:cNvSpPr txBox="1"/>
              <p:nvPr/>
            </p:nvSpPr>
            <p:spPr>
              <a:xfrm>
                <a:off x="1870753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1" name="Google Shape;3121;p165"/>
              <p:cNvSpPr txBox="1"/>
              <p:nvPr/>
            </p:nvSpPr>
            <p:spPr>
              <a:xfrm>
                <a:off x="2620657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+14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122" name="Google Shape;3122;p165"/>
          <p:cNvGrpSpPr/>
          <p:nvPr/>
        </p:nvGrpSpPr>
        <p:grpSpPr>
          <a:xfrm>
            <a:off x="1083815" y="2929579"/>
            <a:ext cx="1408016" cy="618597"/>
            <a:chOff x="547357" y="3227128"/>
            <a:chExt cx="1976440" cy="618597"/>
          </a:xfrm>
        </p:grpSpPr>
        <p:grpSp>
          <p:nvGrpSpPr>
            <p:cNvPr id="3123" name="Google Shape;3123;p165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3124" name="Google Shape;3124;p165"/>
              <p:cNvSpPr/>
              <p:nvPr/>
            </p:nvSpPr>
            <p:spPr>
              <a:xfrm flipH="1" rot="10800000">
                <a:off x="54735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5" name="Google Shape;3125;p165"/>
              <p:cNvSpPr/>
              <p:nvPr/>
            </p:nvSpPr>
            <p:spPr>
              <a:xfrm flipH="1" rot="10800000">
                <a:off x="1209008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6" name="Google Shape;3126;p165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7" name="Google Shape;3127;p165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28" name="Google Shape;3128;p165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3129" name="Google Shape;3129;p165"/>
              <p:cNvSpPr/>
              <p:nvPr/>
            </p:nvSpPr>
            <p:spPr>
              <a:xfrm flipH="1" rot="10800000">
                <a:off x="1896497" y="1931728"/>
                <a:ext cx="627300" cy="3090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165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131" name="Google Shape;3131;p165"/>
          <p:cNvGrpSpPr/>
          <p:nvPr/>
        </p:nvGrpSpPr>
        <p:grpSpPr>
          <a:xfrm>
            <a:off x="2795863" y="2513868"/>
            <a:ext cx="1923910" cy="630312"/>
            <a:chOff x="547354" y="3215421"/>
            <a:chExt cx="2700603" cy="630312"/>
          </a:xfrm>
        </p:grpSpPr>
        <p:grpSp>
          <p:nvGrpSpPr>
            <p:cNvPr id="3132" name="Google Shape;3132;p165"/>
            <p:cNvGrpSpPr/>
            <p:nvPr/>
          </p:nvGrpSpPr>
          <p:grpSpPr>
            <a:xfrm>
              <a:off x="547354" y="3215421"/>
              <a:ext cx="1294954" cy="630312"/>
              <a:chOff x="547354" y="1920021"/>
              <a:chExt cx="1294954" cy="630312"/>
            </a:xfrm>
          </p:grpSpPr>
          <p:sp>
            <p:nvSpPr>
              <p:cNvPr id="3133" name="Google Shape;3133;p165"/>
              <p:cNvSpPr/>
              <p:nvPr/>
            </p:nvSpPr>
            <p:spPr>
              <a:xfrm flipH="1" rot="10800000">
                <a:off x="547354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165"/>
              <p:cNvSpPr/>
              <p:nvPr/>
            </p:nvSpPr>
            <p:spPr>
              <a:xfrm flipH="1" rot="10800000">
                <a:off x="1209000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165"/>
              <p:cNvSpPr txBox="1"/>
              <p:nvPr/>
            </p:nvSpPr>
            <p:spPr>
              <a:xfrm>
                <a:off x="579937" y="2211028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+16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36" name="Google Shape;3136;p165"/>
              <p:cNvSpPr txBox="1"/>
              <p:nvPr/>
            </p:nvSpPr>
            <p:spPr>
              <a:xfrm>
                <a:off x="1215008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+18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37" name="Google Shape;3137;p165"/>
            <p:cNvGrpSpPr/>
            <p:nvPr/>
          </p:nvGrpSpPr>
          <p:grpSpPr>
            <a:xfrm>
              <a:off x="1896483" y="3215421"/>
              <a:ext cx="1351474" cy="630312"/>
              <a:chOff x="1896483" y="1920021"/>
              <a:chExt cx="1351474" cy="630312"/>
            </a:xfrm>
          </p:grpSpPr>
          <p:sp>
            <p:nvSpPr>
              <p:cNvPr id="3138" name="Google Shape;3138;p165"/>
              <p:cNvSpPr/>
              <p:nvPr/>
            </p:nvSpPr>
            <p:spPr>
              <a:xfrm flipH="1" rot="10800000">
                <a:off x="1896483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9" name="Google Shape;3139;p165"/>
              <p:cNvSpPr/>
              <p:nvPr/>
            </p:nvSpPr>
            <p:spPr>
              <a:xfrm flipH="1" rot="10800000">
                <a:off x="2573886" y="1920021"/>
                <a:ext cx="627300" cy="320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165"/>
              <p:cNvSpPr txBox="1"/>
              <p:nvPr/>
            </p:nvSpPr>
            <p:spPr>
              <a:xfrm>
                <a:off x="1903057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41" name="Google Shape;3141;p165"/>
              <p:cNvSpPr txBox="1"/>
              <p:nvPr/>
            </p:nvSpPr>
            <p:spPr>
              <a:xfrm>
                <a:off x="2620657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+22</a:t>
                </a:r>
                <a:endParaRPr sz="20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142" name="Google Shape;3142;p165"/>
          <p:cNvGrpSpPr/>
          <p:nvPr/>
        </p:nvGrpSpPr>
        <p:grpSpPr>
          <a:xfrm>
            <a:off x="2540151" y="2929579"/>
            <a:ext cx="1876723" cy="618597"/>
            <a:chOff x="2540151" y="2929579"/>
            <a:chExt cx="1876723" cy="618597"/>
          </a:xfrm>
        </p:grpSpPr>
        <p:grpSp>
          <p:nvGrpSpPr>
            <p:cNvPr id="3143" name="Google Shape;3143;p165"/>
            <p:cNvGrpSpPr/>
            <p:nvPr/>
          </p:nvGrpSpPr>
          <p:grpSpPr>
            <a:xfrm>
              <a:off x="3008858" y="2929579"/>
              <a:ext cx="1408016" cy="618597"/>
              <a:chOff x="547357" y="3227128"/>
              <a:chExt cx="1976440" cy="618597"/>
            </a:xfrm>
          </p:grpSpPr>
          <p:grpSp>
            <p:nvGrpSpPr>
              <p:cNvPr id="3144" name="Google Shape;3144;p165"/>
              <p:cNvGrpSpPr/>
              <p:nvPr/>
            </p:nvGrpSpPr>
            <p:grpSpPr>
              <a:xfrm>
                <a:off x="547357" y="3227128"/>
                <a:ext cx="1288952" cy="618597"/>
                <a:chOff x="547357" y="1931728"/>
                <a:chExt cx="1288952" cy="618597"/>
              </a:xfrm>
            </p:grpSpPr>
            <p:sp>
              <p:nvSpPr>
                <p:cNvPr id="3145" name="Google Shape;3145;p165"/>
                <p:cNvSpPr/>
                <p:nvPr/>
              </p:nvSpPr>
              <p:spPr>
                <a:xfrm flipH="1" rot="10800000">
                  <a:off x="547357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6" name="Google Shape;3146;p165"/>
                <p:cNvSpPr/>
                <p:nvPr/>
              </p:nvSpPr>
              <p:spPr>
                <a:xfrm flipH="1" rot="10800000">
                  <a:off x="1209008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7" name="Google Shape;3147;p165"/>
                <p:cNvSpPr txBox="1"/>
                <p:nvPr/>
              </p:nvSpPr>
              <p:spPr>
                <a:xfrm>
                  <a:off x="579942" y="2211023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148" name="Google Shape;3148;p165"/>
                <p:cNvSpPr txBox="1"/>
                <p:nvPr/>
              </p:nvSpPr>
              <p:spPr>
                <a:xfrm>
                  <a:off x="1306231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149" name="Google Shape;3149;p165"/>
              <p:cNvGrpSpPr/>
              <p:nvPr/>
            </p:nvGrpSpPr>
            <p:grpSpPr>
              <a:xfrm>
                <a:off x="1896497" y="3227128"/>
                <a:ext cx="627300" cy="618597"/>
                <a:chOff x="1896497" y="1931728"/>
                <a:chExt cx="627300" cy="618597"/>
              </a:xfrm>
            </p:grpSpPr>
            <p:sp>
              <p:nvSpPr>
                <p:cNvPr id="3150" name="Google Shape;3150;p165"/>
                <p:cNvSpPr/>
                <p:nvPr/>
              </p:nvSpPr>
              <p:spPr>
                <a:xfrm flipH="1" rot="10800000">
                  <a:off x="1896497" y="1931728"/>
                  <a:ext cx="627300" cy="309000"/>
                </a:xfrm>
                <a:prstGeom prst="arc">
                  <a:avLst>
                    <a:gd fmla="val 10729459" name="adj1"/>
                    <a:gd fmla="val 0" name="adj2"/>
                  </a:avLst>
                </a:prstGeom>
                <a:noFill/>
                <a:ln cap="flat" cmpd="sng" w="19050">
                  <a:solidFill>
                    <a:srgbClr val="037B7D"/>
                  </a:solidFill>
                  <a:prstDash val="solid"/>
                  <a:round/>
                  <a:headEnd len="sm" w="sm" type="none"/>
                  <a:tailEnd len="sm" w="sm" type="triangl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1" name="Google Shape;3151;p165"/>
                <p:cNvSpPr txBox="1"/>
                <p:nvPr/>
              </p:nvSpPr>
              <p:spPr>
                <a:xfrm>
                  <a:off x="1987459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000">
                      <a:solidFill>
                        <a:schemeClr val="accent5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20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3152" name="Google Shape;3152;p165"/>
            <p:cNvSpPr/>
            <p:nvPr/>
          </p:nvSpPr>
          <p:spPr>
            <a:xfrm flipH="1" rot="10800000">
              <a:off x="2540151" y="2929579"/>
              <a:ext cx="447000" cy="3090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165"/>
            <p:cNvSpPr txBox="1"/>
            <p:nvPr/>
          </p:nvSpPr>
          <p:spPr>
            <a:xfrm>
              <a:off x="2597885" y="3208874"/>
              <a:ext cx="3639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0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7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166"/>
          <p:cNvSpPr txBox="1"/>
          <p:nvPr>
            <p:ph idx="1" type="body"/>
          </p:nvPr>
        </p:nvSpPr>
        <p:spPr>
          <a:xfrm>
            <a:off x="324000" y="1156200"/>
            <a:ext cx="8113800" cy="27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Sequences with a common additive term-to-term difference are arithmetic, also known as linear.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Sequences with a common multiplicative relationship from term-to-term are geometric.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appreciate that not all sequences are arithmetic or geometric; there are other types of sequences with other features.</a:t>
            </a:r>
            <a:endParaRPr sz="2000"/>
          </a:p>
        </p:txBody>
      </p:sp>
      <p:sp>
        <p:nvSpPr>
          <p:cNvPr id="3159" name="Google Shape;3159;p166"/>
          <p:cNvSpPr txBox="1"/>
          <p:nvPr>
            <p:ph type="title"/>
          </p:nvPr>
        </p:nvSpPr>
        <p:spPr>
          <a:xfrm>
            <a:off x="1684800" y="3486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</a:t>
            </a:r>
            <a:r>
              <a:rPr lang="en-GB"/>
              <a:t>understanding</a:t>
            </a:r>
            <a:r>
              <a:rPr lang="en-GB"/>
              <a:t> of non-linear sequences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16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165" name="Google Shape;3165;p1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