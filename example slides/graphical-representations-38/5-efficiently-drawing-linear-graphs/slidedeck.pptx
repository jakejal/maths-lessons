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5143500"/>
  <p:notesSz cx="6858000" cy="9144000"/>
  <p:embeddedFontLst>
    <p:embeddedFont>
      <p:font typeface="Lexend" panose="00000000000000000000"/>
      <p:regular r:id="rId47"/>
    </p:embeddedFont>
    <p:embeddedFont>
      <p:font typeface="Lexend Medium" panose="00000000000000000000"/>
      <p:regular r:id="rId48"/>
    </p:embeddedFont>
    <p:embeddedFont>
      <p:font typeface="Kalam" panose="02000000000000000000"/>
      <p:regular r:id="rId49"/>
    </p:embeddedFont>
    <p:embeddedFont>
      <p:font typeface="Lexend Light" panose="00000000000000000000"/>
      <p:regular r:id="rId50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E6E6F32-A05C-47A7-9AB7-E2753856478C}">
  <a:tblStyle styleId="{8E6E6F32-A05C-47A7-9AB7-E275385647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tags" Target="tags/tag1.xml" /><Relationship Id="rId47" Type="http://schemas.openxmlformats.org/officeDocument/2006/relationships/font" Target="fonts/font1.fntdata" /><Relationship Id="rId48" Type="http://schemas.openxmlformats.org/officeDocument/2006/relationships/font" Target="fonts/font2.fntdata" /><Relationship Id="rId49" Type="http://schemas.openxmlformats.org/officeDocument/2006/relationships/font" Target="fonts/font3.fntdata" /><Relationship Id="rId5" Type="http://schemas.openxmlformats.org/officeDocument/2006/relationships/slide" Target="slides/slide3.xml" /><Relationship Id="rId50" Type="http://schemas.openxmlformats.org/officeDocument/2006/relationships/font" Target="fonts/font4.fntdata" /><Relationship Id="rId51" Type="http://schemas.openxmlformats.org/officeDocument/2006/relationships/presProps" Target="presProps.xml" /><Relationship Id="rId52" Type="http://schemas.openxmlformats.org/officeDocument/2006/relationships/viewProps" Target="viewProps.xml" /><Relationship Id="rId53" Type="http://schemas.openxmlformats.org/officeDocument/2006/relationships/theme" Target="theme/theme1.xml" /><Relationship Id="rId54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8" name="Shape 748"/>
        <p:cNvGrpSpPr/>
        <p:nvPr/>
      </p:nvGrpSpPr>
      <p:grpSpPr>
        <a:xfrm>
          <a:off x="0" y="0"/>
          <a:ext cx="0" cy="0"/>
        </a:xfrm>
      </p:grpSpPr>
      <p:sp>
        <p:nvSpPr>
          <p:cNvPr id="749" name="Google Shape;749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g1f01b76086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1f01b76086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g1f01b760868_0_7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1f01b760868_0_7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g1f01b760868_0_7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f01b760868_0_7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sp>
        <p:nvSpPr>
          <p:cNvPr id="789" name="Google Shape;789;g1f01b760868_0_7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1f01b760868_0_7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g1f01b760868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f01b760868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3" name="Shape 823"/>
        <p:cNvGrpSpPr/>
        <p:nvPr/>
      </p:nvGrpSpPr>
      <p:grpSpPr>
        <a:xfrm>
          <a:off x="0" y="0"/>
          <a:ext cx="0" cy="0"/>
        </a:xfrm>
      </p:grpSpPr>
      <p:sp>
        <p:nvSpPr>
          <p:cNvPr id="824" name="Google Shape;824;g1f01b760868_0_8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f01b760868_0_8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8" name="Shape 838"/>
        <p:cNvGrpSpPr/>
        <p:nvPr/>
      </p:nvGrpSpPr>
      <p:grpSpPr>
        <a:xfrm>
          <a:off x="0" y="0"/>
          <a:ext cx="0" cy="0"/>
        </a:xfrm>
      </p:grpSpPr>
      <p:sp>
        <p:nvSpPr>
          <p:cNvPr id="839" name="Google Shape;839;g1f01b760868_0_9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1f01b760868_0_9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g1f01b760868_0_8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f01b760868_0_8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6" name="Shape 896"/>
        <p:cNvGrpSpPr/>
        <p:nvPr/>
      </p:nvGrpSpPr>
      <p:grpSpPr>
        <a:xfrm>
          <a:off x="0" y="0"/>
          <a:ext cx="0" cy="0"/>
        </a:xfrm>
      </p:grpSpPr>
      <p:sp>
        <p:nvSpPr>
          <p:cNvPr id="897" name="Google Shape;897;g1f01b760868_0_9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f01b760868_0_9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6" name="Shape 916"/>
        <p:cNvGrpSpPr/>
        <p:nvPr/>
      </p:nvGrpSpPr>
      <p:grpSpPr>
        <a:xfrm>
          <a:off x="0" y="0"/>
          <a:ext cx="0" cy="0"/>
        </a:xfrm>
      </p:grpSpPr>
      <p:sp>
        <p:nvSpPr>
          <p:cNvPr id="917" name="Google Shape;917;g1f01b760868_0_9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1f01b760868_0_9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7" name="Shape 937"/>
        <p:cNvGrpSpPr/>
        <p:nvPr/>
      </p:nvGrpSpPr>
      <p:grpSpPr>
        <a:xfrm>
          <a:off x="0" y="0"/>
          <a:ext cx="0" cy="0"/>
        </a:xfrm>
      </p:grpSpPr>
      <p:sp>
        <p:nvSpPr>
          <p:cNvPr id="938" name="Google Shape;938;g1f01b760868_0_9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f01b760868_0_9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5" name="Shape 955"/>
        <p:cNvGrpSpPr/>
        <p:nvPr/>
      </p:nvGrpSpPr>
      <p:grpSpPr>
        <a:xfrm>
          <a:off x="0" y="0"/>
          <a:ext cx="0" cy="0"/>
        </a:xfrm>
      </p:grpSpPr>
      <p:sp>
        <p:nvSpPr>
          <p:cNvPr id="956" name="Google Shape;956;g1f01b760868_0_10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f01b760868_0_10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sp>
        <p:nvSpPr>
          <p:cNvPr id="972" name="Google Shape;972;g1f01b760868_0_10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f01b760868_0_10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g1f01b760868_0_10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1f01b760868_0_10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4" name="Shape 1004"/>
        <p:cNvGrpSpPr/>
        <p:nvPr/>
      </p:nvGrpSpPr>
      <p:grpSpPr>
        <a:xfrm>
          <a:off x="0" y="0"/>
          <a:ext cx="0" cy="0"/>
        </a:xfrm>
      </p:grpSpPr>
      <p:sp>
        <p:nvSpPr>
          <p:cNvPr id="1005" name="Google Shape;1005;g1f01b760868_0_10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1f01b760868_0_10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sp>
        <p:nvSpPr>
          <p:cNvPr id="1022" name="Google Shape;1022;g1f01b760868_0_11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1f01b760868_0_1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1" name="Shape 1031"/>
        <p:cNvGrpSpPr/>
        <p:nvPr/>
      </p:nvGrpSpPr>
      <p:grpSpPr>
        <a:xfrm>
          <a:off x="0" y="0"/>
          <a:ext cx="0" cy="0"/>
        </a:xfrm>
      </p:grpSpPr>
      <p:sp>
        <p:nvSpPr>
          <p:cNvPr id="1032" name="Google Shape;1032;g1f01b760868_0_11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1f01b760868_0_1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sp>
        <p:nvSpPr>
          <p:cNvPr id="1046" name="Google Shape;1046;g1f01b760868_0_11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f01b760868_0_11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1" name="Shape 1061"/>
        <p:cNvGrpSpPr/>
        <p:nvPr/>
      </p:nvGrpSpPr>
      <p:grpSpPr>
        <a:xfrm>
          <a:off x="0" y="0"/>
          <a:ext cx="0" cy="0"/>
        </a:xfrm>
      </p:grpSpPr>
      <p:sp>
        <p:nvSpPr>
          <p:cNvPr id="1062" name="Google Shape;1062;g1f01b760868_0_12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f01b760868_0_12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sp>
        <p:nvSpPr>
          <p:cNvPr id="1077" name="Google Shape;1077;g1f01b760868_0_11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1f01b760868_0_11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8" name="Shape 1098"/>
        <p:cNvGrpSpPr/>
        <p:nvPr/>
      </p:nvGrpSpPr>
      <p:grpSpPr>
        <a:xfrm>
          <a:off x="0" y="0"/>
          <a:ext cx="0" cy="0"/>
        </a:xfrm>
      </p:grpSpPr>
      <p:sp>
        <p:nvSpPr>
          <p:cNvPr id="1099" name="Google Shape;1099;g1f01b760868_0_11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1f01b760868_0_11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g1f01b760868_0_12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f01b760868_0_12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7" name="Shape 1137"/>
        <p:cNvGrpSpPr/>
        <p:nvPr/>
      </p:nvGrpSpPr>
      <p:grpSpPr>
        <a:xfrm>
          <a:off x="0" y="0"/>
          <a:ext cx="0" cy="0"/>
        </a:xfrm>
      </p:grpSpPr>
      <p:sp>
        <p:nvSpPr>
          <p:cNvPr id="1138" name="Google Shape;1138;g1f01b760868_0_12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1f01b760868_0_12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5" name="Shape 1155"/>
        <p:cNvGrpSpPr/>
        <p:nvPr/>
      </p:nvGrpSpPr>
      <p:grpSpPr>
        <a:xfrm>
          <a:off x="0" y="0"/>
          <a:ext cx="0" cy="0"/>
        </a:xfrm>
      </p:grpSpPr>
      <p:sp>
        <p:nvSpPr>
          <p:cNvPr id="1156" name="Google Shape;1156;g1f01b760868_0_12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1f01b760868_0_12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3" name="Shape 1163"/>
        <p:cNvGrpSpPr/>
        <p:nvPr/>
      </p:nvGrpSpPr>
      <p:grpSpPr>
        <a:xfrm>
          <a:off x="0" y="0"/>
          <a:ext cx="0" cy="0"/>
        </a:xfrm>
      </p:grpSpPr>
      <p:sp>
        <p:nvSpPr>
          <p:cNvPr id="1164" name="Google Shape;1164;g1f01b760868_0_13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f01b760868_0_13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4" name="Shape 1174"/>
        <p:cNvGrpSpPr/>
        <p:nvPr/>
      </p:nvGrpSpPr>
      <p:grpSpPr>
        <a:xfrm>
          <a:off x="0" y="0"/>
          <a:ext cx="0" cy="0"/>
        </a:xfrm>
      </p:grpSpPr>
      <p:sp>
        <p:nvSpPr>
          <p:cNvPr id="1175" name="Google Shape;1175;g1f01b760868_0_13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1f01b760868_0_13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4" name="Shape 1184"/>
        <p:cNvGrpSpPr/>
        <p:nvPr/>
      </p:nvGrpSpPr>
      <p:grpSpPr>
        <a:xfrm>
          <a:off x="0" y="0"/>
          <a:ext cx="0" cy="0"/>
        </a:xfrm>
      </p:grpSpPr>
      <p:sp>
        <p:nvSpPr>
          <p:cNvPr id="1185" name="Google Shape;1185;g1f01b760868_0_13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1f01b760868_0_13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2" name="Shape 1202"/>
        <p:cNvGrpSpPr/>
        <p:nvPr/>
      </p:nvGrpSpPr>
      <p:grpSpPr>
        <a:xfrm>
          <a:off x="0" y="0"/>
          <a:ext cx="0" cy="0"/>
        </a:xfrm>
      </p:grpSpPr>
      <p:sp>
        <p:nvSpPr>
          <p:cNvPr id="1203" name="Google Shape;1203;g1f01b760868_0_13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1f01b760868_0_13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5" name="Shape 1215"/>
        <p:cNvGrpSpPr/>
        <p:nvPr/>
      </p:nvGrpSpPr>
      <p:grpSpPr>
        <a:xfrm>
          <a:off x="0" y="0"/>
          <a:ext cx="0" cy="0"/>
        </a:xfrm>
      </p:grpSpPr>
      <p:sp>
        <p:nvSpPr>
          <p:cNvPr id="1216" name="Google Shape;1216;g1f01b760868_0_13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1f01b760868_0_13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sp>
        <p:nvSpPr>
          <p:cNvPr id="1237" name="Google Shape;1237;g1f01b760868_0_13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1f01b760868_0_13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7" name="Shape 1247"/>
        <p:cNvGrpSpPr/>
        <p:nvPr/>
      </p:nvGrpSpPr>
      <p:grpSpPr>
        <a:xfrm>
          <a:off x="0" y="0"/>
          <a:ext cx="0" cy="0"/>
        </a:xfrm>
      </p:grpSpPr>
      <p:sp>
        <p:nvSpPr>
          <p:cNvPr id="1248" name="Google Shape;1248;g1f01b760868_0_14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1f01b760868_0_14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1" name="Shape 1261"/>
        <p:cNvGrpSpPr/>
        <p:nvPr/>
      </p:nvGrpSpPr>
      <p:grpSpPr>
        <a:xfrm>
          <a:off x="0" y="0"/>
          <a:ext cx="0" cy="0"/>
        </a:xfrm>
      </p:grpSpPr>
      <p:sp>
        <p:nvSpPr>
          <p:cNvPr id="1262" name="Google Shape;1262;g1f01b760868_0_14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1f01b760868_0_14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3" name="Shape 1283"/>
        <p:cNvGrpSpPr/>
        <p:nvPr/>
      </p:nvGrpSpPr>
      <p:grpSpPr>
        <a:xfrm>
          <a:off x="0" y="0"/>
          <a:ext cx="0" cy="0"/>
        </a:xfrm>
      </p:grpSpPr>
      <p:sp>
        <p:nvSpPr>
          <p:cNvPr id="1284" name="Google Shape;1284;g1f01b760868_0_14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f01b760868_0_14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5" name="Shape 1305"/>
        <p:cNvGrpSpPr/>
        <p:nvPr/>
      </p:nvGrpSpPr>
      <p:grpSpPr>
        <a:xfrm>
          <a:off x="0" y="0"/>
          <a:ext cx="0" cy="0"/>
        </a:xfrm>
      </p:grpSpPr>
      <p:sp>
        <p:nvSpPr>
          <p:cNvPr id="1306" name="Google Shape;1306;g1f01b760868_0_14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1f01b760868_0_14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7" name="Shape 1327"/>
        <p:cNvGrpSpPr/>
        <p:nvPr/>
      </p:nvGrpSpPr>
      <p:grpSpPr>
        <a:xfrm>
          <a:off x="0" y="0"/>
          <a:ext cx="0" cy="0"/>
        </a:xfrm>
      </p:grpSpPr>
      <p:sp>
        <p:nvSpPr>
          <p:cNvPr id="1328" name="Google Shape;1328;g1f01b760868_0_15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1f01b760868_0_15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6" name="Shape 1336"/>
        <p:cNvGrpSpPr/>
        <p:nvPr/>
      </p:nvGrpSpPr>
      <p:grpSpPr>
        <a:xfrm>
          <a:off x="0" y="0"/>
          <a:ext cx="0" cy="0"/>
        </a:xfrm>
      </p:grpSpPr>
      <p:sp>
        <p:nvSpPr>
          <p:cNvPr id="1337" name="Google Shape;1337;g1f01b760868_0_15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1f01b760868_0_15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2" name="Shape 1362"/>
        <p:cNvGrpSpPr/>
        <p:nvPr/>
      </p:nvGrpSpPr>
      <p:grpSpPr>
        <a:xfrm>
          <a:off x="0" y="0"/>
          <a:ext cx="0" cy="0"/>
        </a:xfrm>
      </p:grpSpPr>
      <p:sp>
        <p:nvSpPr>
          <p:cNvPr id="1363" name="Google Shape;1363;g1f01b760868_0_15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1f01b760868_0_15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8" name="Shape 1388"/>
        <p:cNvGrpSpPr/>
        <p:nvPr/>
      </p:nvGrpSpPr>
      <p:grpSpPr>
        <a:xfrm>
          <a:off x="0" y="0"/>
          <a:ext cx="0" cy="0"/>
        </a:xfrm>
      </p:grpSpPr>
      <p:sp>
        <p:nvSpPr>
          <p:cNvPr id="1389" name="Google Shape;1389;g1f01b760868_0_15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1f01b760868_0_15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9" name="Shape 1409"/>
        <p:cNvGrpSpPr/>
        <p:nvPr/>
      </p:nvGrpSpPr>
      <p:grpSpPr>
        <a:xfrm>
          <a:off x="0" y="0"/>
          <a:ext cx="0" cy="0"/>
        </a:xfrm>
      </p:grpSpPr>
      <p:sp>
        <p:nvSpPr>
          <p:cNvPr id="1410" name="Google Shape;1410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5" name="Shape 1415"/>
        <p:cNvGrpSpPr/>
        <p:nvPr/>
      </p:nvGrpSpPr>
      <p:grpSpPr>
        <a:xfrm>
          <a:off x="0" y="0"/>
          <a:ext cx="0" cy="0"/>
        </a:xfrm>
      </p:grpSpPr>
      <p:sp>
        <p:nvSpPr>
          <p:cNvPr id="1416" name="Google Shape;141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Relationship Id="rId4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png" /><Relationship Id="rId4" Type="http://schemas.openxmlformats.org/officeDocument/2006/relationships/image" Target="../media/image45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6.png" /><Relationship Id="rId4" Type="http://schemas.openxmlformats.org/officeDocument/2006/relationships/image" Target="../media/image45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44.png" /><Relationship Id="rId8" Type="http://schemas.openxmlformats.org/officeDocument/2006/relationships/image" Target="../media/image47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51.png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6.png" /><Relationship Id="rId4" Type="http://schemas.openxmlformats.org/officeDocument/2006/relationships/image" Target="../media/image45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44.png" /><Relationship Id="rId8" Type="http://schemas.openxmlformats.org/officeDocument/2006/relationships/image" Target="../media/image47.png" /><Relationship Id="rId9" Type="http://schemas.openxmlformats.org/officeDocument/2006/relationships/image" Target="../media/image50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52.png" /><Relationship Id="rId11" Type="http://schemas.openxmlformats.org/officeDocument/2006/relationships/image" Target="../media/image53.png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44.png" /><Relationship Id="rId8" Type="http://schemas.openxmlformats.org/officeDocument/2006/relationships/image" Target="../media/image47.png" /><Relationship Id="rId9" Type="http://schemas.openxmlformats.org/officeDocument/2006/relationships/image" Target="../media/image50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Relationship Id="rId6" Type="http://schemas.openxmlformats.org/officeDocument/2006/relationships/image" Target="../media/image5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5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58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58.png" /><Relationship Id="rId7" Type="http://schemas.openxmlformats.org/officeDocument/2006/relationships/image" Target="../media/image59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58.png" /><Relationship Id="rId7" Type="http://schemas.openxmlformats.org/officeDocument/2006/relationships/image" Target="../media/image59.png" /><Relationship Id="rId8" Type="http://schemas.openxmlformats.org/officeDocument/2006/relationships/image" Target="../media/image60.png" /><Relationship Id="rId9" Type="http://schemas.openxmlformats.org/officeDocument/2006/relationships/image" Target="../media/image61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4.png" /><Relationship Id="rId4" Type="http://schemas.openxmlformats.org/officeDocument/2006/relationships/image" Target="../media/image65.png" /><Relationship Id="rId5" Type="http://schemas.openxmlformats.org/officeDocument/2006/relationships/image" Target="../media/image66.png" /><Relationship Id="rId6" Type="http://schemas.openxmlformats.org/officeDocument/2006/relationships/image" Target="../media/image67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8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46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2.png" /><Relationship Id="rId4" Type="http://schemas.openxmlformats.org/officeDocument/2006/relationships/image" Target="../media/image71.png" /><Relationship Id="rId5" Type="http://schemas.openxmlformats.org/officeDocument/2006/relationships/image" Target="../media/image63.png" /><Relationship Id="rId6" Type="http://schemas.openxmlformats.org/officeDocument/2006/relationships/image" Target="../media/image72.png" /><Relationship Id="rId7" Type="http://schemas.openxmlformats.org/officeDocument/2006/relationships/image" Target="../media/image73.png" /><Relationship Id="rId8" Type="http://schemas.openxmlformats.org/officeDocument/2006/relationships/image" Target="../media/image7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10" Type="http://schemas.openxmlformats.org/officeDocument/2006/relationships/image" Target="../media/image78.png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4.png" /><Relationship Id="rId4" Type="http://schemas.openxmlformats.org/officeDocument/2006/relationships/image" Target="../media/image65.png" /><Relationship Id="rId5" Type="http://schemas.openxmlformats.org/officeDocument/2006/relationships/image" Target="../media/image75.png" /><Relationship Id="rId6" Type="http://schemas.openxmlformats.org/officeDocument/2006/relationships/image" Target="../media/image66.png" /><Relationship Id="rId7" Type="http://schemas.openxmlformats.org/officeDocument/2006/relationships/image" Target="../media/image76.png" /><Relationship Id="rId8" Type="http://schemas.openxmlformats.org/officeDocument/2006/relationships/image" Target="../media/image77.png" /><Relationship Id="rId9" Type="http://schemas.openxmlformats.org/officeDocument/2006/relationships/image" Target="../media/image67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8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4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8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46.png" /><Relationship Id="rId7" Type="http://schemas.openxmlformats.org/officeDocument/2006/relationships/image" Target="../media/image79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80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81.png" /><Relationship Id="rId4" Type="http://schemas.openxmlformats.org/officeDocument/2006/relationships/image" Target="../media/image82.png" /><Relationship Id="rId5" Type="http://schemas.openxmlformats.org/officeDocument/2006/relationships/image" Target="../media/image83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84.png" /><Relationship Id="rId4" Type="http://schemas.openxmlformats.org/officeDocument/2006/relationships/image" Target="../media/image85.png" /><Relationship Id="rId5" Type="http://schemas.openxmlformats.org/officeDocument/2006/relationships/image" Target="../media/image86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7.png" /><Relationship Id="rId4" Type="http://schemas.openxmlformats.org/officeDocument/2006/relationships/image" Target="../media/image88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89.png" /><Relationship Id="rId4" Type="http://schemas.openxmlformats.org/officeDocument/2006/relationships/image" Target="../media/image54.png" /><Relationship Id="rId5" Type="http://schemas.openxmlformats.org/officeDocument/2006/relationships/image" Target="../media/image90.png" /><Relationship Id="rId6" Type="http://schemas.openxmlformats.org/officeDocument/2006/relationships/image" Target="../media/image91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92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93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94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92.png" /><Relationship Id="rId4" Type="http://schemas.openxmlformats.org/officeDocument/2006/relationships/image" Target="../media/image95.png" /><Relationship Id="rId5" Type="http://schemas.openxmlformats.org/officeDocument/2006/relationships/image" Target="../media/image96.png" /><Relationship Id="rId6" Type="http://schemas.openxmlformats.org/officeDocument/2006/relationships/image" Target="../media/image97.png" /><Relationship Id="rId7" Type="http://schemas.openxmlformats.org/officeDocument/2006/relationships/image" Target="../media/image98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93.png" /><Relationship Id="rId4" Type="http://schemas.openxmlformats.org/officeDocument/2006/relationships/image" Target="../media/image99.png" /><Relationship Id="rId5" Type="http://schemas.openxmlformats.org/officeDocument/2006/relationships/image" Target="../media/image100.png" /><Relationship Id="rId6" Type="http://schemas.openxmlformats.org/officeDocument/2006/relationships/image" Target="../media/image101.png" /><Relationship Id="rId7" Type="http://schemas.openxmlformats.org/officeDocument/2006/relationships/image" Target="../media/image102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94.png" /><Relationship Id="rId4" Type="http://schemas.openxmlformats.org/officeDocument/2006/relationships/image" Target="../media/image103.png" /><Relationship Id="rId5" Type="http://schemas.openxmlformats.org/officeDocument/2006/relationships/image" Target="../media/image104.png" /><Relationship Id="rId6" Type="http://schemas.openxmlformats.org/officeDocument/2006/relationships/image" Target="../media/image105.png" /><Relationship Id="rId7" Type="http://schemas.openxmlformats.org/officeDocument/2006/relationships/image" Target="../media/image106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10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5" name="Shape 745"/>
        <p:cNvGrpSpPr/>
        <p:nvPr/>
      </p:nvGrpSpPr>
      <p:grpSpPr>
        <a:xfrm>
          <a:off x="0" y="0"/>
          <a: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p64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draw a linear graph efficiently and accurately.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1007828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relationship between two variables is linear if, when plotted on a pair of axes, a straight line is formed.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768" name="Google Shape;768;p6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769" name="Google Shape;769;p6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  <p:pic>
        <p:nvPicPr>
          <p:cNvPr id="770" name="Google Shape;7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5434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p67"/>
          <p:cNvSpPr txBox="1"/>
          <p:nvPr>
            <p:ph type="body" idx="1"/>
          </p:nvPr>
        </p:nvSpPr>
        <p:spPr>
          <a:xfrm>
            <a:off x="324000" y="759300"/>
            <a:ext cx="6974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Aisha, Izzy and Alex are plotting graphs of equations and come across this equation, 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 sz="2400"/>
          </a:p>
        </p:txBody>
      </p:sp>
      <p:sp>
        <p:nvSpPr>
          <p:cNvPr id="776" name="Google Shape;776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777" name="Google Shape;77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6905" y="2667525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67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413034" y="1584332"/>
            <a:ext cx="3188900" cy="15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7"/>
          <p:cNvSpPr txBox="1"/>
          <p:nvPr/>
        </p:nvSpPr>
        <p:spPr>
          <a:xfrm>
            <a:off x="753875" y="1673700"/>
            <a:ext cx="27216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1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exponents are both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this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graph will be linear.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0" name="Google Shape;78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024746" y="38478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67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 flipH="1">
            <a:off x="5137425" y="1595832"/>
            <a:ext cx="3188900" cy="13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7"/>
          <p:cNvSpPr txBox="1"/>
          <p:nvPr/>
        </p:nvSpPr>
        <p:spPr>
          <a:xfrm>
            <a:off x="5249675" y="1673700"/>
            <a:ext cx="27216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need to find some coordinates so we can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3" name="Google Shape;783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493" y="297641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7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1232550" y="2983282"/>
            <a:ext cx="3481702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7"/>
          <p:cNvSpPr txBox="1"/>
          <p:nvPr/>
        </p:nvSpPr>
        <p:spPr>
          <a:xfrm>
            <a:off x="1515875" y="3045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can fill in this table of values in order to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6" name="Google Shape;786;p67"/>
          <p:cNvGraphicFramePr>
            <a:graphicFrameLocks noGrp="1"/>
          </p:cNvGraphicFramePr>
          <p:nvPr/>
        </p:nvGraphicFramePr>
        <p:xfrm>
          <a:off x="2331989" y="389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340075"/>
                <a:gridCol w="406975"/>
                <a:gridCol w="406975"/>
                <a:gridCol w="406975"/>
                <a:gridCol w="406975"/>
                <a:gridCol w="406975"/>
                <a:gridCol w="406975"/>
                <a:gridCol w="406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87" name="Google Shape;787;p67"/>
          <p:cNvSpPr txBox="1"/>
          <p:nvPr>
            <p:ph type="body" idx="1"/>
          </p:nvPr>
        </p:nvSpPr>
        <p:spPr>
          <a:xfrm>
            <a:off x="6179893" y="3936687"/>
            <a:ext cx="2427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 you agree with them all?</a:t>
            </a:r>
            <a:endParaRPr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1" name="Shape 791"/>
        <p:cNvGrpSpPr/>
        <p:nvPr/>
      </p:nvGrpSpPr>
      <p:grpSpPr>
        <a:xfrm>
          <a:off x="0" y="0"/>
          <a:ext cx="0" cy="0"/>
        </a:xfrm>
      </p:grpSpPr>
      <p:sp>
        <p:nvSpPr>
          <p:cNvPr id="792" name="Google Shape;792;p68"/>
          <p:cNvSpPr txBox="1"/>
          <p:nvPr>
            <p:ph type="body" idx="1"/>
          </p:nvPr>
        </p:nvSpPr>
        <p:spPr>
          <a:xfrm>
            <a:off x="324000" y="805327"/>
            <a:ext cx="6974400" cy="68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They are all correct but, we can look more closely at some of the language they used.</a:t>
            </a:r>
            <a:endParaRPr sz="2400"/>
          </a:p>
        </p:txBody>
      </p:sp>
      <p:sp>
        <p:nvSpPr>
          <p:cNvPr id="793" name="Google Shape;79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794" name="Google Shape;79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6905" y="2667525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68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413034" y="1584332"/>
            <a:ext cx="3188900" cy="15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8"/>
          <p:cNvSpPr txBox="1"/>
          <p:nvPr/>
        </p:nvSpPr>
        <p:spPr>
          <a:xfrm>
            <a:off x="753875" y="1673700"/>
            <a:ext cx="27216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1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exponents are both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this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graph will be linear.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7" name="Google Shape;797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024746" y="38478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8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 flipH="1">
            <a:off x="5137425" y="1595832"/>
            <a:ext cx="3188900" cy="13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8"/>
          <p:cNvSpPr txBox="1"/>
          <p:nvPr/>
        </p:nvSpPr>
        <p:spPr>
          <a:xfrm>
            <a:off x="5249675" y="1673700"/>
            <a:ext cx="27216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need to find some coordinates so we can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0" name="Google Shape;800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493" y="297641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68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1232550" y="2983282"/>
            <a:ext cx="3481702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8"/>
          <p:cNvSpPr txBox="1"/>
          <p:nvPr/>
        </p:nvSpPr>
        <p:spPr>
          <a:xfrm>
            <a:off x="1515875" y="3045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can fill in this table of values in order to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3" name="Google Shape;803;p68"/>
          <p:cNvGraphicFramePr>
            <a:graphicFrameLocks noGrp="1"/>
          </p:cNvGraphicFramePr>
          <p:nvPr/>
        </p:nvGraphicFramePr>
        <p:xfrm>
          <a:off x="2331989" y="389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340075"/>
                <a:gridCol w="406975"/>
                <a:gridCol w="406975"/>
                <a:gridCol w="406975"/>
                <a:gridCol w="406975"/>
                <a:gridCol w="406975"/>
                <a:gridCol w="406975"/>
                <a:gridCol w="406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4" name="Google Shape;804;p68"/>
          <p:cNvSpPr txBox="1"/>
          <p:nvPr/>
        </p:nvSpPr>
        <p:spPr>
          <a:xfrm>
            <a:off x="753875" y="1673700"/>
            <a:ext cx="27216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1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exponents are both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this graph will be linear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8"/>
          <p:cNvSpPr txBox="1"/>
          <p:nvPr/>
        </p:nvSpPr>
        <p:spPr>
          <a:xfrm>
            <a:off x="5249675" y="1673700"/>
            <a:ext cx="27216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need to find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some coordinates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so we can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8"/>
          <p:cNvSpPr txBox="1"/>
          <p:nvPr/>
        </p:nvSpPr>
        <p:spPr>
          <a:xfrm>
            <a:off x="1515875" y="3045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can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fill in this table of values in order to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graphicFrame>
        <p:nvGraphicFramePr>
          <p:cNvPr id="811" name="Google Shape;811;p69"/>
          <p:cNvGraphicFramePr>
            <a:graphicFrameLocks noGrp="1"/>
          </p:cNvGraphicFramePr>
          <p:nvPr/>
        </p:nvGraphicFramePr>
        <p:xfrm>
          <a:off x="1782736" y="1710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42150"/>
                <a:gridCol w="529150"/>
                <a:gridCol w="529150"/>
                <a:gridCol w="529150"/>
                <a:gridCol w="529150"/>
                <a:gridCol w="529150"/>
                <a:gridCol w="529150"/>
                <a:gridCol w="529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12" name="Google Shape;812;p69"/>
          <p:cNvSpPr txBox="1"/>
          <p:nvPr>
            <p:ph type="body" idx="1"/>
          </p:nvPr>
        </p:nvSpPr>
        <p:spPr>
          <a:xfrm>
            <a:off x="324000" y="805327"/>
            <a:ext cx="6974400" cy="68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They are all correct but, we can look more closely at some of the language they used.</a:t>
            </a:r>
            <a:endParaRPr sz="2400"/>
          </a:p>
        </p:txBody>
      </p:sp>
      <p:sp>
        <p:nvSpPr>
          <p:cNvPr id="813" name="Google Shape;81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814" name="Google Shape;81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24746" y="38478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69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1232550" y="2983282"/>
            <a:ext cx="3481702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515875" y="3045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can fill in this table of values in order to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9"/>
          <p:cNvSpPr txBox="1"/>
          <p:nvPr/>
        </p:nvSpPr>
        <p:spPr>
          <a:xfrm>
            <a:off x="1515875" y="3045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can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fill in this table of values in order to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69"/>
          <p:cNvSpPr txBox="1"/>
          <p:nvPr/>
        </p:nvSpPr>
        <p:spPr>
          <a:xfrm>
            <a:off x="346477" y="1706573"/>
            <a:ext cx="14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/>
          </a:p>
        </p:txBody>
      </p:sp>
      <p:graphicFrame>
        <p:nvGraphicFramePr>
          <p:cNvPr id="819" name="Google Shape;819;p69"/>
          <p:cNvGraphicFramePr>
            <a:graphicFrameLocks noGrp="1"/>
          </p:cNvGraphicFramePr>
          <p:nvPr/>
        </p:nvGraphicFramePr>
        <p:xfrm>
          <a:off x="1782736" y="1710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42150"/>
                <a:gridCol w="529150"/>
                <a:gridCol w="529150"/>
                <a:gridCol w="529150"/>
                <a:gridCol w="529150"/>
                <a:gridCol w="529150"/>
                <a:gridCol w="529150"/>
                <a:gridCol w="529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20" name="Google Shape;820;p69"/>
          <p:cNvSpPr txBox="1"/>
          <p:nvPr/>
        </p:nvSpPr>
        <p:spPr>
          <a:xfrm>
            <a:off x="4958332" y="2743195"/>
            <a:ext cx="386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−3,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5(−3) − 7 = −22</a:t>
            </a:r>
            <a:endParaRPr sz="2200"/>
          </a:p>
        </p:txBody>
      </p:sp>
      <p:sp>
        <p:nvSpPr>
          <p:cNvPr id="821" name="Google Shape;821;p69"/>
          <p:cNvSpPr txBox="1"/>
          <p:nvPr/>
        </p:nvSpPr>
        <p:spPr>
          <a:xfrm>
            <a:off x="4958332" y="3299609"/>
            <a:ext cx="386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−2,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5(−2) − 7 = −17</a:t>
            </a:r>
            <a:endParaRPr sz="2200"/>
          </a:p>
        </p:txBody>
      </p:sp>
      <p:sp>
        <p:nvSpPr>
          <p:cNvPr id="822" name="Google Shape;822;p69"/>
          <p:cNvSpPr txBox="1"/>
          <p:nvPr/>
        </p:nvSpPr>
        <p:spPr>
          <a:xfrm>
            <a:off x="4958332" y="3920715"/>
            <a:ext cx="386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−1,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5(−1) − 7 = −12</a:t>
            </a:r>
            <a:endParaRPr sz="2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6" name="Shape 826"/>
        <p:cNvGrpSpPr/>
        <p:nvPr/>
      </p:nvGrpSpPr>
      <p:grpSpPr>
        <a:xfrm>
          <a:off x="0" y="0"/>
          <a:ext cx="0" cy="0"/>
        </a:xfrm>
      </p:grpSpPr>
      <p:graphicFrame>
        <p:nvGraphicFramePr>
          <p:cNvPr id="827" name="Google Shape;827;p70"/>
          <p:cNvGraphicFramePr>
            <a:graphicFrameLocks noGrp="1"/>
          </p:cNvGraphicFramePr>
          <p:nvPr/>
        </p:nvGraphicFramePr>
        <p:xfrm>
          <a:off x="1782736" y="1710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42150"/>
                <a:gridCol w="529150"/>
                <a:gridCol w="529150"/>
                <a:gridCol w="529150"/>
                <a:gridCol w="529150"/>
                <a:gridCol w="529150"/>
                <a:gridCol w="529150"/>
                <a:gridCol w="529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28" name="Google Shape;828;p70"/>
          <p:cNvSpPr txBox="1"/>
          <p:nvPr>
            <p:ph type="body" idx="1"/>
          </p:nvPr>
        </p:nvSpPr>
        <p:spPr>
          <a:xfrm>
            <a:off x="324000" y="805327"/>
            <a:ext cx="6974400" cy="68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They are all correct but, we can look more closely at some of the language they used.</a:t>
            </a:r>
            <a:endParaRPr sz="2400"/>
          </a:p>
        </p:txBody>
      </p:sp>
      <p:sp>
        <p:nvSpPr>
          <p:cNvPr id="829" name="Google Shape;82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830" name="Google Shape;83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24746" y="38478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0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1232550" y="2983282"/>
            <a:ext cx="3481702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0"/>
          <p:cNvSpPr txBox="1"/>
          <p:nvPr/>
        </p:nvSpPr>
        <p:spPr>
          <a:xfrm>
            <a:off x="1515875" y="3045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can fill in this table of values in order to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1515875" y="3045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can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fill in this table of values in order to plot it.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 txBox="1"/>
          <p:nvPr/>
        </p:nvSpPr>
        <p:spPr>
          <a:xfrm>
            <a:off x="346477" y="1706573"/>
            <a:ext cx="14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/>
          </a:p>
        </p:txBody>
      </p:sp>
      <p:graphicFrame>
        <p:nvGraphicFramePr>
          <p:cNvPr id="835" name="Google Shape;835;p70"/>
          <p:cNvGraphicFramePr>
            <a:graphicFrameLocks noGrp="1"/>
          </p:cNvGraphicFramePr>
          <p:nvPr/>
        </p:nvGraphicFramePr>
        <p:xfrm>
          <a:off x="1782736" y="1710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42150"/>
                <a:gridCol w="529150"/>
                <a:gridCol w="529150"/>
                <a:gridCol w="529150"/>
                <a:gridCol w="529150"/>
                <a:gridCol w="529150"/>
                <a:gridCol w="529150"/>
                <a:gridCol w="529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36" name="Google Shape;83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9800" y="1220774"/>
            <a:ext cx="1544900" cy="359489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37" name="Google Shape;837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9375" y="1220775"/>
            <a:ext cx="1544901" cy="358364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1" name="Shape 841"/>
        <p:cNvGrpSpPr/>
        <p:nvPr/>
      </p:nvGrpSpPr>
      <p:grpSpPr>
        <a:xfrm>
          <a:off x="0" y="0"/>
          <a:ext cx="0" cy="0"/>
        </a:xfrm>
      </p:grpSpPr>
      <p:graphicFrame>
        <p:nvGraphicFramePr>
          <p:cNvPr id="842" name="Google Shape;842;p71"/>
          <p:cNvGraphicFramePr>
            <a:graphicFrameLocks noGrp="1"/>
          </p:cNvGraphicFramePr>
          <p:nvPr/>
        </p:nvGraphicFramePr>
        <p:xfrm>
          <a:off x="1782736" y="1710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42150"/>
                <a:gridCol w="529150"/>
                <a:gridCol w="529150"/>
                <a:gridCol w="529150"/>
                <a:gridCol w="529150"/>
                <a:gridCol w="529150"/>
                <a:gridCol w="529150"/>
                <a:gridCol w="529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43" name="Google Shape;843;p71"/>
          <p:cNvSpPr txBox="1"/>
          <p:nvPr>
            <p:ph type="body" idx="1"/>
          </p:nvPr>
        </p:nvSpPr>
        <p:spPr>
          <a:xfrm>
            <a:off x="324000" y="805326"/>
            <a:ext cx="6974400" cy="27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‘table of values’ method has some benefits.</a:t>
            </a:r>
            <a:endParaRPr sz="2400"/>
          </a:p>
        </p:txBody>
      </p:sp>
      <p:sp>
        <p:nvSpPr>
          <p:cNvPr id="844" name="Google Shape;84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845" name="Google Shape;845;p71"/>
          <p:cNvSpPr txBox="1"/>
          <p:nvPr/>
        </p:nvSpPr>
        <p:spPr>
          <a:xfrm>
            <a:off x="346477" y="1706573"/>
            <a:ext cx="14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/>
          </a:p>
        </p:txBody>
      </p:sp>
      <p:graphicFrame>
        <p:nvGraphicFramePr>
          <p:cNvPr id="846" name="Google Shape;846;p71"/>
          <p:cNvGraphicFramePr>
            <a:graphicFrameLocks noGrp="1"/>
          </p:cNvGraphicFramePr>
          <p:nvPr/>
        </p:nvGraphicFramePr>
        <p:xfrm>
          <a:off x="1782736" y="1710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42150"/>
                <a:gridCol w="529150"/>
                <a:gridCol w="529150"/>
                <a:gridCol w="529150"/>
                <a:gridCol w="529150"/>
                <a:gridCol w="529150"/>
                <a:gridCol w="529150"/>
                <a:gridCol w="529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47" name="Google Shape;84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800" y="1220774"/>
            <a:ext cx="1544900" cy="359489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8" name="Google Shape;84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375" y="1220775"/>
            <a:ext cx="1544901" cy="358364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849" name="Google Shape;849;p71"/>
          <p:cNvGrpSpPr/>
          <p:nvPr/>
        </p:nvGrpSpPr>
        <p:grpSpPr>
          <a:xfrm>
            <a:off x="2494687" y="2437342"/>
            <a:ext cx="2157225" cy="604961"/>
            <a:chOff x="2418474" y="2284844"/>
            <a:chExt cx="1627603" cy="604961"/>
          </a:xfrm>
        </p:grpSpPr>
        <p:sp>
          <p:nvSpPr>
            <p:cNvPr id="850" name="Google Shape;850;p71"/>
            <p:cNvSpPr/>
            <p:nvPr/>
          </p:nvSpPr>
          <p:spPr>
            <a:xfrm rot="10800000" flipH="1">
              <a:off x="2418474" y="2284844"/>
              <a:ext cx="380100" cy="3396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1" name="Google Shape;851;p71"/>
            <p:cNvSpPr txBox="1"/>
            <p:nvPr/>
          </p:nvSpPr>
          <p:spPr>
            <a:xfrm>
              <a:off x="2441712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2" name="Google Shape;852;p71"/>
            <p:cNvSpPr/>
            <p:nvPr/>
          </p:nvSpPr>
          <p:spPr>
            <a:xfrm rot="10800000" flipH="1">
              <a:off x="2826562" y="2284844"/>
              <a:ext cx="380100" cy="3396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3" name="Google Shape;853;p71"/>
            <p:cNvSpPr txBox="1"/>
            <p:nvPr/>
          </p:nvSpPr>
          <p:spPr>
            <a:xfrm>
              <a:off x="2849800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4" name="Google Shape;854;p71"/>
            <p:cNvSpPr/>
            <p:nvPr/>
          </p:nvSpPr>
          <p:spPr>
            <a:xfrm rot="10800000" flipH="1">
              <a:off x="3234650" y="2284844"/>
              <a:ext cx="380100" cy="3396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5" name="Google Shape;855;p71"/>
            <p:cNvSpPr txBox="1"/>
            <p:nvPr/>
          </p:nvSpPr>
          <p:spPr>
            <a:xfrm>
              <a:off x="3257888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6" name="Google Shape;856;p71"/>
            <p:cNvSpPr/>
            <p:nvPr/>
          </p:nvSpPr>
          <p:spPr>
            <a:xfrm rot="10800000" flipH="1">
              <a:off x="3642739" y="2284844"/>
              <a:ext cx="380100" cy="3396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7" name="Google Shape;857;p71"/>
            <p:cNvSpPr txBox="1"/>
            <p:nvPr/>
          </p:nvSpPr>
          <p:spPr>
            <a:xfrm>
              <a:off x="3665977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58" name="Google Shape;858;p71"/>
          <p:cNvSpPr txBox="1"/>
          <p:nvPr/>
        </p:nvSpPr>
        <p:spPr>
          <a:xfrm>
            <a:off x="4757728" y="2768703"/>
            <a:ext cx="503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71"/>
          <p:cNvSpPr/>
          <p:nvPr/>
        </p:nvSpPr>
        <p:spPr>
          <a:xfrm rot="10800000" flipH="1">
            <a:off x="4639221" y="2437342"/>
            <a:ext cx="5037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0" name="Google Shape;860;p71"/>
          <p:cNvSpPr txBox="1"/>
          <p:nvPr/>
        </p:nvSpPr>
        <p:spPr>
          <a:xfrm>
            <a:off x="5291128" y="2768703"/>
            <a:ext cx="503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71"/>
          <p:cNvSpPr/>
          <p:nvPr/>
        </p:nvSpPr>
        <p:spPr>
          <a:xfrm rot="10800000" flipH="1">
            <a:off x="5172621" y="2437342"/>
            <a:ext cx="5037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862" name="Google Shape;862;p71"/>
          <p:cNvGrpSpPr/>
          <p:nvPr/>
        </p:nvGrpSpPr>
        <p:grpSpPr>
          <a:xfrm>
            <a:off x="7195275" y="2117650"/>
            <a:ext cx="441665" cy="471700"/>
            <a:chOff x="5137875" y="3108250"/>
            <a:chExt cx="441665" cy="471700"/>
          </a:xfrm>
        </p:grpSpPr>
        <p:grpSp>
          <p:nvGrpSpPr>
            <p:cNvPr id="863" name="Google Shape;863;p71"/>
            <p:cNvGrpSpPr/>
            <p:nvPr/>
          </p:nvGrpSpPr>
          <p:grpSpPr>
            <a:xfrm>
              <a:off x="5137875" y="3108250"/>
              <a:ext cx="119100" cy="471700"/>
              <a:chOff x="3332088" y="1889050"/>
              <a:chExt cx="119100" cy="471700"/>
            </a:xfrm>
          </p:grpSpPr>
          <p:cxnSp>
            <p:nvCxnSpPr>
              <p:cNvPr id="864" name="Google Shape;864;p71"/>
              <p:cNvCxnSpPr/>
              <p:nvPr/>
            </p:nvCxnSpPr>
            <p:spPr>
              <a:xfrm rot="10800000" flipH="1">
                <a:off x="3332088" y="2359850"/>
                <a:ext cx="11910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65" name="Google Shape;865;p71"/>
              <p:cNvCxnSpPr/>
              <p:nvPr/>
            </p:nvCxnSpPr>
            <p:spPr>
              <a:xfrm rot="10800000">
                <a:off x="3448714" y="1889050"/>
                <a:ext cx="600" cy="468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866" name="Google Shape;866;p71"/>
            <p:cNvSpPr txBox="1"/>
            <p:nvPr/>
          </p:nvSpPr>
          <p:spPr>
            <a:xfrm>
              <a:off x="5283740" y="3252363"/>
              <a:ext cx="2958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67" name="Google Shape;867;p71"/>
          <p:cNvGrpSpPr/>
          <p:nvPr/>
        </p:nvGrpSpPr>
        <p:grpSpPr>
          <a:xfrm>
            <a:off x="7328625" y="1579488"/>
            <a:ext cx="441665" cy="471700"/>
            <a:chOff x="5137875" y="3108250"/>
            <a:chExt cx="441665" cy="471700"/>
          </a:xfrm>
        </p:grpSpPr>
        <p:grpSp>
          <p:nvGrpSpPr>
            <p:cNvPr id="868" name="Google Shape;868;p71"/>
            <p:cNvGrpSpPr/>
            <p:nvPr/>
          </p:nvGrpSpPr>
          <p:grpSpPr>
            <a:xfrm>
              <a:off x="5137875" y="3108250"/>
              <a:ext cx="119100" cy="471700"/>
              <a:chOff x="3332088" y="1889050"/>
              <a:chExt cx="119100" cy="471700"/>
            </a:xfrm>
          </p:grpSpPr>
          <p:cxnSp>
            <p:nvCxnSpPr>
              <p:cNvPr id="869" name="Google Shape;869;p71"/>
              <p:cNvCxnSpPr/>
              <p:nvPr/>
            </p:nvCxnSpPr>
            <p:spPr>
              <a:xfrm rot="10800000" flipH="1">
                <a:off x="3332088" y="2359850"/>
                <a:ext cx="11910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70" name="Google Shape;870;p71"/>
              <p:cNvCxnSpPr/>
              <p:nvPr/>
            </p:nvCxnSpPr>
            <p:spPr>
              <a:xfrm rot="10800000">
                <a:off x="3448714" y="1889050"/>
                <a:ext cx="600" cy="468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871" name="Google Shape;871;p71"/>
            <p:cNvSpPr txBox="1"/>
            <p:nvPr/>
          </p:nvSpPr>
          <p:spPr>
            <a:xfrm>
              <a:off x="5283740" y="3252363"/>
              <a:ext cx="2958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72" name="Google Shape;872;p71"/>
          <p:cNvSpPr txBox="1"/>
          <p:nvPr>
            <p:ph type="body" idx="1"/>
          </p:nvPr>
        </p:nvSpPr>
        <p:spPr>
          <a:xfrm>
            <a:off x="324000" y="3243725"/>
            <a:ext cx="4017600" cy="27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gradient is very visible.</a:t>
            </a:r>
            <a:endParaRPr sz="2400"/>
          </a:p>
        </p:txBody>
      </p:sp>
      <p:sp>
        <p:nvSpPr>
          <p:cNvPr id="873" name="Google Shape;873;p71"/>
          <p:cNvSpPr txBox="1"/>
          <p:nvPr>
            <p:ph type="body" idx="1"/>
          </p:nvPr>
        </p:nvSpPr>
        <p:spPr>
          <a:xfrm>
            <a:off x="324000" y="3777125"/>
            <a:ext cx="4248000" cy="27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is in this table.</a:t>
            </a:r>
            <a:endParaRPr sz="2400"/>
          </a:p>
        </p:txBody>
      </p:sp>
      <p:sp>
        <p:nvSpPr>
          <p:cNvPr id="874" name="Google Shape;874;p71"/>
          <p:cNvSpPr/>
          <p:nvPr/>
        </p:nvSpPr>
        <p:spPr>
          <a:xfrm>
            <a:off x="3759187" y="1662982"/>
            <a:ext cx="639600" cy="9378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1"/>
          <p:cNvSpPr txBox="1"/>
          <p:nvPr/>
        </p:nvSpPr>
        <p:spPr>
          <a:xfrm>
            <a:off x="7158989" y="3110787"/>
            <a:ext cx="6396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1"/>
          <p:cNvSpPr txBox="1"/>
          <p:nvPr/>
        </p:nvSpPr>
        <p:spPr>
          <a:xfrm>
            <a:off x="6931998" y="293079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0" name="Shape 880"/>
        <p:cNvGrpSpPr/>
        <p:nvPr/>
      </p:nvGrpSpPr>
      <p:grpSpPr>
        <a:xfrm>
          <a:off x="0" y="0"/>
          <a:ext cx="0" cy="0"/>
        </a:xfrm>
      </p:grpSpPr>
      <p:sp>
        <p:nvSpPr>
          <p:cNvPr id="881" name="Google Shape;881;p72"/>
          <p:cNvSpPr txBox="1"/>
          <p:nvPr>
            <p:ph type="body" idx="1"/>
          </p:nvPr>
        </p:nvSpPr>
        <p:spPr>
          <a:xfrm>
            <a:off x="324000" y="805325"/>
            <a:ext cx="71352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and Izzy have some useful comments for Alex.</a:t>
            </a:r>
            <a:endParaRPr sz="2400"/>
          </a:p>
        </p:txBody>
      </p:sp>
      <p:sp>
        <p:nvSpPr>
          <p:cNvPr id="882" name="Google Shape;88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883" name="Google Shape;88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91346" y="38478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72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1167857" y="3375782"/>
            <a:ext cx="3095572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2"/>
          <p:cNvSpPr txBox="1"/>
          <p:nvPr/>
        </p:nvSpPr>
        <p:spPr>
          <a:xfrm>
            <a:off x="1439675" y="3426300"/>
            <a:ext cx="3033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How many coordinates do I need then?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 txBox="1"/>
          <p:nvPr/>
        </p:nvSpPr>
        <p:spPr>
          <a:xfrm>
            <a:off x="4812100" y="1226350"/>
            <a:ext cx="126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/>
          </a:p>
        </p:txBody>
      </p:sp>
      <p:pic>
        <p:nvPicPr>
          <p:cNvPr id="887" name="Google Shape;887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9800" y="1220774"/>
            <a:ext cx="1544900" cy="359489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8" name="Google Shape;888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9375" y="1220775"/>
            <a:ext cx="1544901" cy="358364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9" name="Google Shape;889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4425" y="3219591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2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424538" y="1157304"/>
            <a:ext cx="3188900" cy="1376349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2"/>
          <p:cNvSpPr txBox="1"/>
          <p:nvPr/>
        </p:nvSpPr>
        <p:spPr>
          <a:xfrm>
            <a:off x="742375" y="1258177"/>
            <a:ext cx="29364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That was a lot of work!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You know this equation makes a straight line…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2" name="Google Shape;892;p72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 flipH="1">
            <a:off x="1307741" y="2422513"/>
            <a:ext cx="4939197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2"/>
          <p:cNvSpPr txBox="1"/>
          <p:nvPr/>
        </p:nvSpPr>
        <p:spPr>
          <a:xfrm>
            <a:off x="1388300" y="2481713"/>
            <a:ext cx="453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So we only need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some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coordinates. You didn’t have to find seven of them.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4" name="Google Shape;894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2987" y="240849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2"/>
          <p:cNvSpPr txBox="1"/>
          <p:nvPr>
            <p:ph type="body" idx="1"/>
          </p:nvPr>
        </p:nvSpPr>
        <p:spPr>
          <a:xfrm>
            <a:off x="1973075" y="4393875"/>
            <a:ext cx="2721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do you think?</a:t>
            </a:r>
            <a:endParaRPr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9" name="Shape 899"/>
        <p:cNvGrpSpPr/>
        <p:nvPr/>
      </p:nvGrpSpPr>
      <p:grpSpPr>
        <a:xfrm>
          <a:off x="0" y="0"/>
          <a:ext cx="0" cy="0"/>
        </a:xfrm>
      </p:grpSpPr>
      <p:sp>
        <p:nvSpPr>
          <p:cNvPr id="900" name="Google Shape;900;p73"/>
          <p:cNvSpPr txBox="1"/>
          <p:nvPr>
            <p:ph type="body" idx="1"/>
          </p:nvPr>
        </p:nvSpPr>
        <p:spPr>
          <a:xfrm>
            <a:off x="324000" y="805325"/>
            <a:ext cx="71352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and Izzy have some useful comments for Alex.</a:t>
            </a:r>
            <a:endParaRPr sz="2400"/>
          </a:p>
        </p:txBody>
      </p:sp>
      <p:sp>
        <p:nvSpPr>
          <p:cNvPr id="901" name="Google Shape;90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902" name="Google Shape;90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91346" y="38478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3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1167857" y="3375782"/>
            <a:ext cx="3095572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3"/>
          <p:cNvSpPr txBox="1"/>
          <p:nvPr/>
        </p:nvSpPr>
        <p:spPr>
          <a:xfrm>
            <a:off x="1439675" y="3426300"/>
            <a:ext cx="27216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That’s the line and in far less time!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3"/>
          <p:cNvSpPr txBox="1"/>
          <p:nvPr/>
        </p:nvSpPr>
        <p:spPr>
          <a:xfrm>
            <a:off x="4812100" y="1226350"/>
            <a:ext cx="126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/>
          </a:p>
        </p:txBody>
      </p:sp>
      <p:pic>
        <p:nvPicPr>
          <p:cNvPr id="906" name="Google Shape;906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9800" y="1220774"/>
            <a:ext cx="1544900" cy="359489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7" name="Google Shape;907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9375" y="1220775"/>
            <a:ext cx="1544901" cy="358364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8" name="Google Shape;908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4425" y="3219591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3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447563" y="1180313"/>
            <a:ext cx="2945050" cy="137634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3"/>
          <p:cNvSpPr txBox="1"/>
          <p:nvPr/>
        </p:nvSpPr>
        <p:spPr>
          <a:xfrm>
            <a:off x="742375" y="1258175"/>
            <a:ext cx="2517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If you know any two coordinates you can draw the line.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1" name="Google Shape;911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2987" y="240849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3"/>
          <p:cNvSpPr txBox="1"/>
          <p:nvPr/>
        </p:nvSpPr>
        <p:spPr>
          <a:xfrm>
            <a:off x="1453132" y="2438395"/>
            <a:ext cx="386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−3,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5(−3) − 7 = −22</a:t>
            </a:r>
            <a:endParaRPr sz="2200"/>
          </a:p>
        </p:txBody>
      </p:sp>
      <p:sp>
        <p:nvSpPr>
          <p:cNvPr id="913" name="Google Shape;913;p73"/>
          <p:cNvSpPr txBox="1"/>
          <p:nvPr/>
        </p:nvSpPr>
        <p:spPr>
          <a:xfrm>
            <a:off x="1453132" y="2895595"/>
            <a:ext cx="386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3,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5(3) − 7 = 8</a:t>
            </a:r>
            <a:endParaRPr sz="2200"/>
          </a:p>
        </p:txBody>
      </p:sp>
      <p:pic>
        <p:nvPicPr>
          <p:cNvPr id="914" name="Google Shape;914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6900" y="1228038"/>
            <a:ext cx="1544899" cy="356792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15" name="Google Shape;915;p7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59899" y="1224970"/>
            <a:ext cx="1544899" cy="357919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9" name="Shape 919"/>
        <p:cNvGrpSpPr/>
        <p:nvPr/>
      </p:nvGrpSpPr>
      <p:grpSpPr>
        <a:xfrm>
          <a:off x="0" y="0"/>
          <a:ext cx="0" cy="0"/>
        </a:xfrm>
      </p:grpSpPr>
      <p:pic>
        <p:nvPicPr>
          <p:cNvPr id="920" name="Google Shape;920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1256843" y="1725200"/>
            <a:ext cx="5013125" cy="171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4"/>
          <p:cNvSpPr txBox="1"/>
          <p:nvPr/>
        </p:nvSpPr>
        <p:spPr>
          <a:xfrm>
            <a:off x="1388300" y="1795952"/>
            <a:ext cx="4539900" cy="1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No Alex. There are infinite lines that could go through the coordinate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(3, 8)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. You need two coordinates to confirm which one, unique line it is.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4"/>
          <p:cNvSpPr txBox="1"/>
          <p:nvPr>
            <p:ph type="body" idx="1"/>
          </p:nvPr>
        </p:nvSpPr>
        <p:spPr>
          <a:xfrm>
            <a:off x="324000" y="1079952"/>
            <a:ext cx="24639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do you think?</a:t>
            </a:r>
            <a:endParaRPr/>
          </a:p>
        </p:txBody>
      </p:sp>
      <p:sp>
        <p:nvSpPr>
          <p:cNvPr id="923" name="Google Shape;92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924" name="Google Shape;92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91346" y="38478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1167857" y="3375782"/>
            <a:ext cx="3095572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4"/>
          <p:cNvSpPr txBox="1"/>
          <p:nvPr/>
        </p:nvSpPr>
        <p:spPr>
          <a:xfrm>
            <a:off x="1439675" y="3426300"/>
            <a:ext cx="27216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Could I do it with just one coordinate?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4"/>
          <p:cNvSpPr txBox="1"/>
          <p:nvPr/>
        </p:nvSpPr>
        <p:spPr>
          <a:xfrm>
            <a:off x="4812100" y="1226350"/>
            <a:ext cx="126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/>
          </a:p>
        </p:txBody>
      </p:sp>
      <p:pic>
        <p:nvPicPr>
          <p:cNvPr id="928" name="Google Shape;928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9800" y="1220774"/>
            <a:ext cx="1544900" cy="359489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29" name="Google Shape;92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9375" y="1220775"/>
            <a:ext cx="1544901" cy="358364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0" name="Google Shape;930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4425" y="3219591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2987" y="240849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6900" y="1228038"/>
            <a:ext cx="1544899" cy="356792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3" name="Google Shape;933;p7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53441" y="1226815"/>
            <a:ext cx="1544900" cy="358888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4" name="Google Shape;934;p7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65457" y="1220846"/>
            <a:ext cx="1544899" cy="357314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5" name="Google Shape;935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rot="10800000" flipH="1">
            <a:off x="1267063" y="4336208"/>
            <a:ext cx="1962301" cy="479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4"/>
          <p:cNvSpPr txBox="1"/>
          <p:nvPr/>
        </p:nvSpPr>
        <p:spPr>
          <a:xfrm>
            <a:off x="1504368" y="4451420"/>
            <a:ext cx="17250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Thanks Izzy!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0" name="Shape 940"/>
        <p:cNvGrpSpPr/>
        <p:nvPr/>
      </p:nvGrpSpPr>
      <p:grpSpPr>
        <a:xfrm>
          <a:off x="0" y="0"/>
          <a:ext cx="0" cy="0"/>
        </a:xfrm>
      </p:grpSpPr>
      <p:sp>
        <p:nvSpPr>
          <p:cNvPr id="941" name="Google Shape;941;p75"/>
          <p:cNvSpPr txBox="1"/>
          <p:nvPr>
            <p:ph type="title"/>
          </p:nvPr>
        </p:nvSpPr>
        <p:spPr>
          <a:xfrm>
            <a:off x="324000" y="810007"/>
            <a:ext cx="8179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minimum number of coordinates we need to plot the graph of a linear equation?</a:t>
            </a:r>
            <a:endParaRPr/>
          </a:p>
        </p:txBody>
      </p:sp>
      <p:sp>
        <p:nvSpPr>
          <p:cNvPr id="942" name="Google Shape;942;p7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943" name="Google Shape;943;p75"/>
          <p:cNvSpPr txBox="1"/>
          <p:nvPr>
            <p:ph type="subTitle" idx="1"/>
          </p:nvPr>
        </p:nvSpPr>
        <p:spPr>
          <a:xfrm>
            <a:off x="1034425" y="1685375"/>
            <a:ext cx="372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75"/>
          <p:cNvSpPr txBox="1"/>
          <p:nvPr>
            <p:ph type="subTitle" idx="3"/>
          </p:nvPr>
        </p:nvSpPr>
        <p:spPr>
          <a:xfrm>
            <a:off x="1034425" y="2489450"/>
            <a:ext cx="441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945" name="Google Shape;945;p75"/>
          <p:cNvSpPr txBox="1"/>
          <p:nvPr>
            <p:ph type="subTitle" idx="4"/>
          </p:nvPr>
        </p:nvSpPr>
        <p:spPr>
          <a:xfrm>
            <a:off x="1034425" y="3309775"/>
            <a:ext cx="280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946" name="Google Shape;946;p75"/>
          <p:cNvSpPr txBox="1"/>
          <p:nvPr>
            <p:ph type="subTitle" idx="5"/>
          </p:nvPr>
        </p:nvSpPr>
        <p:spPr>
          <a:xfrm>
            <a:off x="1034425" y="4113825"/>
            <a:ext cx="2805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pic>
        <p:nvPicPr>
          <p:cNvPr id="947" name="Google Shape;94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103" y="247425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5"/>
          <p:cNvSpPr txBox="1"/>
          <p:nvPr/>
        </p:nvSpPr>
        <p:spPr>
          <a:xfrm>
            <a:off x="1902000" y="1627680"/>
            <a:ext cx="60867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linear graph can’t be drawn with just one coordinate. It could be any one of an infinite number of lines.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9" name="Google Shape;94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6385" y="2571750"/>
            <a:ext cx="3497682" cy="2248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0" name="Google Shape;950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1525" y="2577050"/>
            <a:ext cx="3499091" cy="22486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51" name="Google Shape;951;p75"/>
          <p:cNvSpPr txBox="1"/>
          <p:nvPr/>
        </p:nvSpPr>
        <p:spPr>
          <a:xfrm>
            <a:off x="1902000" y="2542075"/>
            <a:ext cx="23052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But once we have two coordinates…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2" name="Google Shape;952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4377" y="2588549"/>
            <a:ext cx="3514684" cy="2248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53" name="Google Shape;953;p75"/>
          <p:cNvSpPr txBox="1"/>
          <p:nvPr/>
        </p:nvSpPr>
        <p:spPr>
          <a:xfrm>
            <a:off x="1902000" y="3304075"/>
            <a:ext cx="23052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this line and only this line.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5"/>
          <p:cNvSpPr txBox="1"/>
          <p:nvPr/>
        </p:nvSpPr>
        <p:spPr>
          <a:xfrm>
            <a:off x="1902000" y="4066075"/>
            <a:ext cx="25083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more coordinates would be less efficient.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8" name="Shape 958"/>
        <p:cNvGrpSpPr/>
        <p:nvPr/>
      </p:nvGrpSpPr>
      <p:grpSpPr>
        <a:xfrm>
          <a:off x="0" y="0"/>
          <a:ext cx="0" cy="0"/>
        </a:xfrm>
      </p:grpSpPr>
      <p:sp>
        <p:nvSpPr>
          <p:cNvPr id="959" name="Google Shape;959;p76"/>
          <p:cNvSpPr txBox="1"/>
          <p:nvPr>
            <p:ph type="body" idx="1"/>
          </p:nvPr>
        </p:nvSpPr>
        <p:spPr>
          <a:xfrm>
            <a:off x="324000" y="805327"/>
            <a:ext cx="6974400" cy="7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Thanks to Aisha and Izzy, Alex is now far more efficient when plotting the equation 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400"/>
          </a:p>
        </p:txBody>
      </p:sp>
      <p:sp>
        <p:nvSpPr>
          <p:cNvPr id="960" name="Google Shape;96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961" name="Google Shape;961;p76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969450" y="2955925"/>
            <a:ext cx="3701775" cy="13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6"/>
          <p:cNvSpPr txBox="1"/>
          <p:nvPr/>
        </p:nvSpPr>
        <p:spPr>
          <a:xfrm>
            <a:off x="1288700" y="3045300"/>
            <a:ext cx="33153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Whilst I love your efficiency don’t forget that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is also important in maths.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3" name="Google Shape;96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7439" y="24000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93" y="3639205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6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535243" y="1611675"/>
            <a:ext cx="3992550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6"/>
          <p:cNvSpPr txBox="1"/>
          <p:nvPr/>
        </p:nvSpPr>
        <p:spPr>
          <a:xfrm>
            <a:off x="860139" y="1673693"/>
            <a:ext cx="34794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 don’t need a full table. I just need any two coordinates.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6"/>
          <p:cNvSpPr txBox="1"/>
          <p:nvPr/>
        </p:nvSpPr>
        <p:spPr>
          <a:xfrm>
            <a:off x="1693100" y="2493250"/>
            <a:ext cx="7770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(1, 3)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6"/>
          <p:cNvSpPr txBox="1"/>
          <p:nvPr/>
        </p:nvSpPr>
        <p:spPr>
          <a:xfrm>
            <a:off x="2877780" y="2493250"/>
            <a:ext cx="7770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(2, 4)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9" name="Google Shape;96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1425" y="1620000"/>
            <a:ext cx="3397576" cy="31992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970" name="Google Shape;970;p76"/>
          <p:cNvCxnSpPr/>
          <p:nvPr/>
        </p:nvCxnSpPr>
        <p:spPr>
          <a:xfrm flipH="1">
            <a:off x="4833900" y="1617225"/>
            <a:ext cx="3141300" cy="2727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sp>
        <p:nvSpPr>
          <p:cNvPr id="975" name="Google Shape;97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976" name="Google Shape;976;p77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980957" y="1906666"/>
            <a:ext cx="3678751" cy="21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7"/>
          <p:cNvSpPr txBox="1"/>
          <p:nvPr/>
        </p:nvSpPr>
        <p:spPr>
          <a:xfrm>
            <a:off x="1288700" y="2066200"/>
            <a:ext cx="33153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important. By choosing two closely neighbouring coordinates you lost accuracy as your line reached extremities.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8" name="Google Shape;97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7439" y="24000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93" y="3639205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7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306650" y="925875"/>
            <a:ext cx="3992550" cy="9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7"/>
          <p:cNvSpPr txBox="1"/>
          <p:nvPr/>
        </p:nvSpPr>
        <p:spPr>
          <a:xfrm>
            <a:off x="631550" y="987900"/>
            <a:ext cx="35514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Oh no!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(−10,−7)</a:t>
            </a:r>
            <a:r>
              <a:rPr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wouldn’t be on the line </a:t>
            </a:r>
            <a:r>
              <a:rPr lang="en-GB" sz="20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2" name="Google Shape;982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1425" y="1620000"/>
            <a:ext cx="3397576" cy="31992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83" name="Google Shape;983;p77"/>
          <p:cNvSpPr txBox="1"/>
          <p:nvPr/>
        </p:nvSpPr>
        <p:spPr>
          <a:xfrm>
            <a:off x="5000876" y="4207775"/>
            <a:ext cx="9060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(−10,−7)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7"/>
          <p:cNvSpPr txBox="1"/>
          <p:nvPr/>
        </p:nvSpPr>
        <p:spPr>
          <a:xfrm>
            <a:off x="4763875" y="4161499"/>
            <a:ext cx="227100" cy="27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b="1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900" b="1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5" name="Google Shape;985;p77"/>
          <p:cNvCxnSpPr/>
          <p:nvPr/>
        </p:nvCxnSpPr>
        <p:spPr>
          <a:xfrm flipH="1">
            <a:off x="4833900" y="1617225"/>
            <a:ext cx="3141300" cy="2727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6" name="Google Shape;986;p77"/>
          <p:cNvSpPr txBox="1"/>
          <p:nvPr>
            <p:ph type="body" idx="1"/>
          </p:nvPr>
        </p:nvSpPr>
        <p:spPr>
          <a:xfrm>
            <a:off x="4831307" y="1075605"/>
            <a:ext cx="1298700" cy="42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992" name="Google Shape;992;p78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980950" y="2222981"/>
            <a:ext cx="3678751" cy="1873326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8"/>
          <p:cNvSpPr txBox="1"/>
          <p:nvPr/>
        </p:nvSpPr>
        <p:spPr>
          <a:xfrm>
            <a:off x="1288700" y="2371000"/>
            <a:ext cx="3315300" cy="13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you are plotting in this range of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values choose two coordinates that have more distance between them.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4" name="Google Shape;99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7439" y="24000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93" y="3639205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78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318157" y="1619900"/>
            <a:ext cx="3678751" cy="524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78"/>
          <p:cNvSpPr txBox="1"/>
          <p:nvPr/>
        </p:nvSpPr>
        <p:spPr>
          <a:xfrm>
            <a:off x="631550" y="1665925"/>
            <a:ext cx="33153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Okay, I’ll use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(−5,−3)</a:t>
            </a:r>
            <a:r>
              <a:rPr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(5,7)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8" name="Google Shape;998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1425" y="1620000"/>
            <a:ext cx="3397576" cy="31992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9" name="Google Shape;999;p78"/>
          <p:cNvSpPr txBox="1"/>
          <p:nvPr/>
        </p:nvSpPr>
        <p:spPr>
          <a:xfrm>
            <a:off x="5000876" y="4207775"/>
            <a:ext cx="9060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(−10,−7)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8"/>
          <p:cNvSpPr txBox="1"/>
          <p:nvPr/>
        </p:nvSpPr>
        <p:spPr>
          <a:xfrm>
            <a:off x="4763875" y="4161499"/>
            <a:ext cx="227100" cy="27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b="1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900" b="1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1" name="Google Shape;1001;p78"/>
          <p:cNvCxnSpPr/>
          <p:nvPr/>
        </p:nvCxnSpPr>
        <p:spPr>
          <a:xfrm flipH="1">
            <a:off x="4833900" y="1617225"/>
            <a:ext cx="3141300" cy="2727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2" name="Google Shape;1002;p78"/>
          <p:cNvSpPr txBox="1"/>
          <p:nvPr>
            <p:ph type="body" idx="1"/>
          </p:nvPr>
        </p:nvSpPr>
        <p:spPr>
          <a:xfrm>
            <a:off x="4831307" y="1075605"/>
            <a:ext cx="1298700" cy="42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400"/>
          </a:p>
        </p:txBody>
      </p:sp>
      <p:pic>
        <p:nvPicPr>
          <p:cNvPr id="1003" name="Google Shape;1003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2225" y="1623377"/>
            <a:ext cx="3397574" cy="31966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7" name="Shape 1007"/>
        <p:cNvGrpSpPr/>
        <p:nvPr/>
      </p:nvGrpSpPr>
      <p:grpSpPr>
        <a:xfrm>
          <a:off x="0" y="0"/>
          <a:ext cx="0" cy="0"/>
        </a:xfrm>
      </p:grpSpPr>
      <p:sp>
        <p:nvSpPr>
          <p:cNvPr id="1008" name="Google Shape;1008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1009" name="Google Shape;1009;p79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1057150" y="2093587"/>
            <a:ext cx="3678751" cy="240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9"/>
          <p:cNvSpPr txBox="1"/>
          <p:nvPr/>
        </p:nvSpPr>
        <p:spPr>
          <a:xfrm>
            <a:off x="1364900" y="2218600"/>
            <a:ext cx="3315300" cy="18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Perfect. Now when you join those two coordinates you’ll get a clearer picture of the gradient which will enable you to extend your line more accurately.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1" name="Google Shape;101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7439" y="2400044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93" y="3639205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79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318157" y="1619900"/>
            <a:ext cx="3678751" cy="52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79"/>
          <p:cNvSpPr txBox="1"/>
          <p:nvPr/>
        </p:nvSpPr>
        <p:spPr>
          <a:xfrm>
            <a:off x="631550" y="1665925"/>
            <a:ext cx="33153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Okay, I’ll use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(−5,−3)</a:t>
            </a:r>
            <a:r>
              <a:rPr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(5,7)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5" name="Google Shape;1015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1425" y="1620000"/>
            <a:ext cx="3397576" cy="31992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016" name="Google Shape;1016;p79"/>
          <p:cNvCxnSpPr/>
          <p:nvPr/>
        </p:nvCxnSpPr>
        <p:spPr>
          <a:xfrm flipH="1">
            <a:off x="4833900" y="1617225"/>
            <a:ext cx="3141300" cy="2727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7" name="Google Shape;1017;p79"/>
          <p:cNvSpPr txBox="1"/>
          <p:nvPr>
            <p:ph type="body" idx="1"/>
          </p:nvPr>
        </p:nvSpPr>
        <p:spPr>
          <a:xfrm>
            <a:off x="4831307" y="1075605"/>
            <a:ext cx="1298700" cy="42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400"/>
          </a:p>
        </p:txBody>
      </p:sp>
      <p:pic>
        <p:nvPicPr>
          <p:cNvPr id="1018" name="Google Shape;1018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2225" y="1623377"/>
            <a:ext cx="3397574" cy="31966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19" name="Google Shape;1019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30374" y="1625876"/>
            <a:ext cx="3397577" cy="319629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0" name="Google Shape;1020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23550" y="1627950"/>
            <a:ext cx="3397576" cy="320056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4" name="Shape 1024"/>
        <p:cNvGrpSpPr/>
        <p:nvPr/>
      </p:nvGrpSpPr>
      <p:grpSpPr>
        <a:xfrm>
          <a:off x="0" y="0"/>
          <a:ext cx="0" cy="0"/>
        </a:xfrm>
      </p:grpSpPr>
      <p:sp>
        <p:nvSpPr>
          <p:cNvPr id="1025" name="Google Shape;1025;p80"/>
          <p:cNvSpPr txBox="1"/>
          <p:nvPr>
            <p:ph type="subTitle" idx="1"/>
          </p:nvPr>
        </p:nvSpPr>
        <p:spPr>
          <a:xfrm>
            <a:off x="889150" y="3066738"/>
            <a:ext cx="7617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It’s a line. When we know any two coordinates we can draw a line through them and beyond.</a:t>
            </a:r>
            <a:endParaRPr sz="2000"/>
          </a:p>
        </p:txBody>
      </p:sp>
      <p:sp>
        <p:nvSpPr>
          <p:cNvPr id="1026" name="Google Shape;1026;p80"/>
          <p:cNvSpPr txBox="1"/>
          <p:nvPr>
            <p:ph type="subTitle" idx="2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plotting linear graphs using two coordinates we can use any two coordinates.</a:t>
            </a:r>
            <a:endParaRPr sz="2000"/>
          </a:p>
        </p:txBody>
      </p:sp>
      <p:sp>
        <p:nvSpPr>
          <p:cNvPr id="1027" name="Google Shape;1027;p80"/>
          <p:cNvSpPr txBox="1"/>
          <p:nvPr>
            <p:ph type="subTitle" idx="3"/>
          </p:nvPr>
        </p:nvSpPr>
        <p:spPr>
          <a:xfrm>
            <a:off x="889150" y="3910965"/>
            <a:ext cx="7617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Whilst two coordinates is sufficient we need to ensure there is a sufficient distance between them for the accuracy we need.</a:t>
            </a:r>
            <a:endParaRPr sz="2000"/>
          </a:p>
        </p:txBody>
      </p:sp>
      <p:sp>
        <p:nvSpPr>
          <p:cNvPr id="1028" name="Google Shape;102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linear graphs</a:t>
            </a:r>
            <a:endParaRPr/>
          </a:p>
        </p:txBody>
      </p:sp>
      <p:pic>
        <p:nvPicPr>
          <p:cNvPr id="1029" name="Google Shape;102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303" y="178845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9703" y="4009764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4" name="Shape 1034"/>
        <p:cNvGrpSpPr/>
        <p:nvPr/>
      </p:nvGrpSpPr>
      <p:grpSpPr>
        <a:xfrm>
          <a:off x="0" y="0"/>
          <a:ext cx="0" cy="0"/>
        </a:xfrm>
      </p:grpSpPr>
      <p:pic>
        <p:nvPicPr>
          <p:cNvPr id="1035" name="Google Shape;103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612" y="1571037"/>
            <a:ext cx="1589124" cy="323748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6" name="Google Shape;103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3940" y="1614903"/>
            <a:ext cx="2416324" cy="318926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37" name="Google Shape;1037;p81"/>
          <p:cNvSpPr txBox="1"/>
          <p:nvPr>
            <p:ph type="body" idx="1"/>
          </p:nvPr>
        </p:nvSpPr>
        <p:spPr>
          <a:xfrm>
            <a:off x="324000" y="759300"/>
            <a:ext cx="7135200" cy="76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In each case fill in the missing coordinate and draw the respective linear graph.</a:t>
            </a:r>
            <a:endParaRPr/>
          </a:p>
        </p:txBody>
      </p:sp>
      <p:sp>
        <p:nvSpPr>
          <p:cNvPr id="1038" name="Google Shape;1038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039" name="Google Shape;1039;p81"/>
          <p:cNvSpPr txBox="1"/>
          <p:nvPr/>
        </p:nvSpPr>
        <p:spPr>
          <a:xfrm>
            <a:off x="324000" y="1632025"/>
            <a:ext cx="14973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1"/>
          <p:cNvSpPr txBox="1"/>
          <p:nvPr/>
        </p:nvSpPr>
        <p:spPr>
          <a:xfrm>
            <a:off x="4568187" y="1630578"/>
            <a:ext cx="16584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1"/>
          <p:cNvSpPr txBox="1"/>
          <p:nvPr/>
        </p:nvSpPr>
        <p:spPr>
          <a:xfrm>
            <a:off x="326750" y="2176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1"/>
          <p:cNvSpPr txBox="1"/>
          <p:nvPr/>
        </p:nvSpPr>
        <p:spPr>
          <a:xfrm>
            <a:off x="326750" y="2938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1"/>
          <p:cNvSpPr txBox="1"/>
          <p:nvPr/>
        </p:nvSpPr>
        <p:spPr>
          <a:xfrm>
            <a:off x="4570937" y="2176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1"/>
          <p:cNvSpPr txBox="1"/>
          <p:nvPr/>
        </p:nvSpPr>
        <p:spPr>
          <a:xfrm>
            <a:off x="4570937" y="2938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8" name="Shape 1048"/>
        <p:cNvGrpSpPr/>
        <p:nvPr/>
      </p:nvGrpSpPr>
      <p:grpSpPr>
        <a:xfrm>
          <a:off x="0" y="0"/>
          <a:ext cx="0" cy="0"/>
        </a:xfrm>
      </p:grpSpPr>
      <p:pic>
        <p:nvPicPr>
          <p:cNvPr id="1049" name="Google Shape;104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204" y="1558520"/>
            <a:ext cx="1784100" cy="325616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50" name="Google Shape;105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8900" y="1619335"/>
            <a:ext cx="2091349" cy="319636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1" name="Google Shape;1051;p82"/>
          <p:cNvSpPr txBox="1"/>
          <p:nvPr>
            <p:ph type="body" idx="1"/>
          </p:nvPr>
        </p:nvSpPr>
        <p:spPr>
          <a:xfrm>
            <a:off x="324000" y="759300"/>
            <a:ext cx="6698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In each case fill in the missing coordinate and draw the respective linear graph.</a:t>
            </a:r>
            <a:endParaRPr/>
          </a:p>
        </p:txBody>
      </p:sp>
      <p:sp>
        <p:nvSpPr>
          <p:cNvPr id="1052" name="Google Shape;1052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053" name="Google Shape;1053;p82"/>
          <p:cNvSpPr txBox="1"/>
          <p:nvPr/>
        </p:nvSpPr>
        <p:spPr>
          <a:xfrm>
            <a:off x="324000" y="1632025"/>
            <a:ext cx="1497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2"/>
          <p:cNvSpPr txBox="1"/>
          <p:nvPr/>
        </p:nvSpPr>
        <p:spPr>
          <a:xfrm>
            <a:off x="4568187" y="1630578"/>
            <a:ext cx="16584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2"/>
          <p:cNvSpPr txBox="1"/>
          <p:nvPr/>
        </p:nvSpPr>
        <p:spPr>
          <a:xfrm>
            <a:off x="326750" y="2481100"/>
            <a:ext cx="11526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2"/>
          <p:cNvSpPr txBox="1"/>
          <p:nvPr/>
        </p:nvSpPr>
        <p:spPr>
          <a:xfrm>
            <a:off x="326750" y="32431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2"/>
          <p:cNvSpPr txBox="1"/>
          <p:nvPr/>
        </p:nvSpPr>
        <p:spPr>
          <a:xfrm>
            <a:off x="4570924" y="2481100"/>
            <a:ext cx="10935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2"/>
          <p:cNvSpPr txBox="1"/>
          <p:nvPr/>
        </p:nvSpPr>
        <p:spPr>
          <a:xfrm>
            <a:off x="4570937" y="32431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9" name="Google Shape;1059;p82" descr="&lt;math xmlns=&quot;http://www.w3.org/1998/Math/MathML&quot; display=&quot;block&quot; data-is-equatio=&quot;1&quot; data-latex=&quot;y=\frac{3x-1}{2}&quot;&gt;&lt;mi&gt;y&lt;/mi&gt;&lt;mo&gt;=&lt;/mo&gt;&lt;mfrac&gt;&lt;mrow&gt;&lt;mn&gt;3&lt;/mn&gt;&lt;mi&gt;x&lt;/mi&gt;&lt;mo&gt;−&lt;/mo&gt;&lt;mn&gt;1&lt;/mn&gt;&lt;/mrow&gt;&lt;mn&gt;2&lt;/mn&gt;&lt;/mfrac&gt;&lt;/math&gt;" title="y equals the fraction with numerator 3 x minus 1 and denominato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257" y="1600033"/>
            <a:ext cx="1356575" cy="60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82" descr="&lt;math xmlns=&quot;http://www.w3.org/1998/Math/MathML&quot; display=&quot;block&quot; data-is-equatio=&quot;1&quot; data-latex=&quot;y=\frac{5}{2}x-\frac{3}{2}&quot;&gt;&lt;mi&gt;y&lt;/mi&gt;&lt;mo&gt;=&lt;/mo&gt;&lt;mfrac&gt;&lt;mn&gt;5&lt;/mn&gt;&lt;mn&gt;2&lt;/mn&gt;&lt;/mfrac&gt;&lt;mi&gt;x&lt;/mi&gt;&lt;mo&gt;−&lt;/mo&gt;&lt;mfrac&gt;&lt;mn&gt;3&lt;/mn&gt;&lt;mn&gt;2&lt;/mn&gt;&lt;/mfrac&gt;&lt;/math&gt;" title="y equals five halves x minus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1807" y="1596108"/>
            <a:ext cx="1460922" cy="60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4" name="Shape 1064"/>
        <p:cNvGrpSpPr/>
        <p:nvPr/>
      </p:nvGrpSpPr>
      <p:grpSpPr>
        <a:xfrm>
          <a:off x="0" y="0"/>
          <a:ext cx="0" cy="0"/>
        </a:xfrm>
      </p:grpSpPr>
      <p:sp>
        <p:nvSpPr>
          <p:cNvPr id="1065" name="Google Shape;1065;p83"/>
          <p:cNvSpPr txBox="1"/>
          <p:nvPr>
            <p:ph type="body" idx="1"/>
          </p:nvPr>
        </p:nvSpPr>
        <p:spPr>
          <a:xfrm>
            <a:off x="324000" y="824000"/>
            <a:ext cx="6353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Alex plots the linear graph of                    using these two coordinates.</a:t>
            </a:r>
            <a:endParaRPr/>
          </a:p>
        </p:txBody>
      </p:sp>
      <p:sp>
        <p:nvSpPr>
          <p:cNvPr id="1066" name="Google Shape;1066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067" name="Google Shape;1067;p83"/>
          <p:cNvSpPr txBox="1"/>
          <p:nvPr/>
        </p:nvSpPr>
        <p:spPr>
          <a:xfrm>
            <a:off x="338257" y="1642900"/>
            <a:ext cx="8157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8" name="Google Shape;106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907" y="1742287"/>
            <a:ext cx="5891681" cy="2082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69" name="Google Shape;1069;p83"/>
          <p:cNvSpPr txBox="1"/>
          <p:nvPr/>
        </p:nvSpPr>
        <p:spPr>
          <a:xfrm>
            <a:off x="1696924" y="2736950"/>
            <a:ext cx="7110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3"/>
          <p:cNvSpPr txBox="1"/>
          <p:nvPr/>
        </p:nvSpPr>
        <p:spPr>
          <a:xfrm>
            <a:off x="1963141" y="3037165"/>
            <a:ext cx="2271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b="1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900" b="1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1" name="Google Shape;1071;p83"/>
          <p:cNvCxnSpPr/>
          <p:nvPr/>
        </p:nvCxnSpPr>
        <p:spPr>
          <a:xfrm flipH="1">
            <a:off x="1677000" y="2007425"/>
            <a:ext cx="5926200" cy="1254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72" name="Google Shape;1072;p83" descr="&lt;math xmlns=&quot;http://www.w3.org/1998/Math/MathML&quot; display=&quot;block&quot; data-is-equatio=&quot;1&quot; data-latex=&quot;y=2+\frac{x}{4}&quot;&gt;&lt;mi&gt;y&lt;/mi&gt;&lt;mo&gt;=&lt;/mo&gt;&lt;mn&gt;2&lt;/mn&gt;&lt;mo&gt;+&lt;/mo&gt;&lt;mfrac&gt;&lt;mi&gt;x&lt;/mi&gt;&lt;mn&gt;4&lt;/mn&gt;&lt;/mfrac&gt;&lt;/math&gt;" title="y equals 2 plus x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675" y="733096"/>
            <a:ext cx="1247525" cy="55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83" descr="&lt;math xmlns=&quot;http://www.w3.org/1998/Math/MathML&quot; display=&quot;block&quot; data-is-equatio=&quot;1&quot; data-latex=&quot;\left(2,\ 2\frac{1}{2}\right)&quot;&gt;&lt;mrow data-mjx-texclass=&quot;INNER&quot;&gt;&lt;mo data-mjx-texclass=&quot;OPEN&quot;&gt;(&lt;/mo&gt;&lt;mn&gt;2&lt;/mn&gt;&lt;mo&gt;,&lt;/mo&gt;&lt;mtext&gt;&lt;/mtext&gt;&lt;mn&gt;2&lt;/mn&gt;&lt;mfrac&gt;&lt;mn&gt;1&lt;/mn&gt;&lt;mn&gt;2&lt;/mn&gt;&lt;/mfrac&gt;&lt;mo data-mjx-texclass=&quot;CLOSE&quot;&gt;)&lt;/mo&gt;&lt;/mrow&gt;&lt;/math&gt;" title="open paren 2 comma 2 and one half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76" y="2229735"/>
            <a:ext cx="976875" cy="65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5053" y="1790451"/>
            <a:ext cx="976875" cy="1126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83"/>
          <p:cNvSpPr txBox="1"/>
          <p:nvPr>
            <p:ph type="body" idx="1"/>
          </p:nvPr>
        </p:nvSpPr>
        <p:spPr>
          <a:xfrm>
            <a:off x="324000" y="4024400"/>
            <a:ext cx="7825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Use the coordinate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r>
              <a:rPr lang="en-GB" sz="2000"/>
              <a:t> to demonstrate that they are wrong and write a sentence advising what they might do better.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9" name="Shape 1079"/>
        <p:cNvGrpSpPr/>
        <p:nvPr/>
      </p:nvGrpSpPr>
      <p:grpSpPr>
        <a:xfrm>
          <a:off x="0" y="0"/>
          <a:ext cx="0" cy="0"/>
        </a:xfrm>
      </p:grpSpPr>
      <p:pic>
        <p:nvPicPr>
          <p:cNvPr id="1080" name="Google Shape;108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612" y="1571037"/>
            <a:ext cx="1589124" cy="323748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1" name="Google Shape;108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3314" y="1580625"/>
            <a:ext cx="1589124" cy="322355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2" name="Google Shape;1082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3940" y="1614903"/>
            <a:ext cx="2416324" cy="318926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3" name="Google Shape;1083;p84"/>
          <p:cNvSpPr txBox="1"/>
          <p:nvPr>
            <p:ph type="body" idx="1"/>
          </p:nvPr>
        </p:nvSpPr>
        <p:spPr>
          <a:xfrm>
            <a:off x="324000" y="759300"/>
            <a:ext cx="66522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In each case fill in the missing coordinate and draw the respective linear graph.</a:t>
            </a:r>
            <a:endParaRPr/>
          </a:p>
        </p:txBody>
      </p:sp>
      <p:sp>
        <p:nvSpPr>
          <p:cNvPr id="1084" name="Google Shape;1084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085" name="Google Shape;1085;p84"/>
          <p:cNvSpPr txBox="1"/>
          <p:nvPr/>
        </p:nvSpPr>
        <p:spPr>
          <a:xfrm>
            <a:off x="324000" y="1632025"/>
            <a:ext cx="1497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4"/>
          <p:cNvSpPr txBox="1"/>
          <p:nvPr/>
        </p:nvSpPr>
        <p:spPr>
          <a:xfrm>
            <a:off x="4568187" y="1630578"/>
            <a:ext cx="16584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7" name="Google Shape;1087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1850" y="1615734"/>
            <a:ext cx="2416324" cy="319994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8" name="Google Shape;1088;p84"/>
          <p:cNvSpPr txBox="1"/>
          <p:nvPr/>
        </p:nvSpPr>
        <p:spPr>
          <a:xfrm>
            <a:off x="326750" y="2176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4"/>
          <p:cNvSpPr txBox="1"/>
          <p:nvPr/>
        </p:nvSpPr>
        <p:spPr>
          <a:xfrm>
            <a:off x="326750" y="2938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4"/>
          <p:cNvSpPr txBox="1"/>
          <p:nvPr/>
        </p:nvSpPr>
        <p:spPr>
          <a:xfrm>
            <a:off x="4570937" y="2176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4"/>
          <p:cNvSpPr txBox="1"/>
          <p:nvPr/>
        </p:nvSpPr>
        <p:spPr>
          <a:xfrm>
            <a:off x="4570937" y="29383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4"/>
          <p:cNvSpPr txBox="1"/>
          <p:nvPr/>
        </p:nvSpPr>
        <p:spPr>
          <a:xfrm>
            <a:off x="701459" y="2195600"/>
            <a:ext cx="3648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−4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4"/>
          <p:cNvSpPr txBox="1"/>
          <p:nvPr/>
        </p:nvSpPr>
        <p:spPr>
          <a:xfrm>
            <a:off x="800680" y="2957595"/>
            <a:ext cx="2421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4" name="Google Shape;1094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3676" y="1608493"/>
            <a:ext cx="2416323" cy="32000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5" name="Google Shape;1095;p84"/>
          <p:cNvSpPr txBox="1"/>
          <p:nvPr/>
        </p:nvSpPr>
        <p:spPr>
          <a:xfrm>
            <a:off x="5067880" y="2195595"/>
            <a:ext cx="2421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5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4"/>
          <p:cNvSpPr txBox="1"/>
          <p:nvPr/>
        </p:nvSpPr>
        <p:spPr>
          <a:xfrm>
            <a:off x="4938486" y="2957600"/>
            <a:ext cx="3648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7" name="Google Shape;109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8176" y="1592643"/>
            <a:ext cx="1589123" cy="320002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1" name="Shape 1101"/>
        <p:cNvGrpSpPr/>
        <p:nvPr/>
      </p:nvGrpSpPr>
      <p:grpSpPr>
        <a:xfrm>
          <a:off x="0" y="0"/>
          <a:ext cx="0" cy="0"/>
        </a:xfrm>
      </p:grpSpPr>
      <p:pic>
        <p:nvPicPr>
          <p:cNvPr id="1102" name="Google Shape;110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204" y="1558520"/>
            <a:ext cx="1784100" cy="325616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03" name="Google Shape;110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8900" y="1619335"/>
            <a:ext cx="2091349" cy="319636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04" name="Google Shape;110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9032" y="1619257"/>
            <a:ext cx="2072924" cy="31892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05" name="Google Shape;1105;p85"/>
          <p:cNvSpPr txBox="1"/>
          <p:nvPr>
            <p:ph type="body" idx="1"/>
          </p:nvPr>
        </p:nvSpPr>
        <p:spPr>
          <a:xfrm>
            <a:off x="324000" y="759300"/>
            <a:ext cx="66522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In each case fill in the missing coordinate and draw the respective linear graph.</a:t>
            </a:r>
            <a:endParaRPr/>
          </a:p>
        </p:txBody>
      </p:sp>
      <p:sp>
        <p:nvSpPr>
          <p:cNvPr id="1106" name="Google Shape;1106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107" name="Google Shape;1107;p85"/>
          <p:cNvSpPr txBox="1"/>
          <p:nvPr/>
        </p:nvSpPr>
        <p:spPr>
          <a:xfrm>
            <a:off x="324000" y="1632025"/>
            <a:ext cx="1497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5"/>
          <p:cNvSpPr txBox="1"/>
          <p:nvPr/>
        </p:nvSpPr>
        <p:spPr>
          <a:xfrm>
            <a:off x="4568187" y="1630578"/>
            <a:ext cx="16584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2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5"/>
          <p:cNvSpPr txBox="1"/>
          <p:nvPr/>
        </p:nvSpPr>
        <p:spPr>
          <a:xfrm>
            <a:off x="326750" y="2481100"/>
            <a:ext cx="11526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5"/>
          <p:cNvSpPr txBox="1"/>
          <p:nvPr/>
        </p:nvSpPr>
        <p:spPr>
          <a:xfrm>
            <a:off x="326750" y="32431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5"/>
          <p:cNvSpPr txBox="1"/>
          <p:nvPr/>
        </p:nvSpPr>
        <p:spPr>
          <a:xfrm>
            <a:off x="4570924" y="2481100"/>
            <a:ext cx="10935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5"/>
          <p:cNvSpPr txBox="1"/>
          <p:nvPr/>
        </p:nvSpPr>
        <p:spPr>
          <a:xfrm>
            <a:off x="4570937" y="3243112"/>
            <a:ext cx="10068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__ 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5"/>
          <p:cNvSpPr txBox="1"/>
          <p:nvPr/>
        </p:nvSpPr>
        <p:spPr>
          <a:xfrm>
            <a:off x="853859" y="2500400"/>
            <a:ext cx="3648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−2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5"/>
          <p:cNvSpPr txBox="1"/>
          <p:nvPr/>
        </p:nvSpPr>
        <p:spPr>
          <a:xfrm>
            <a:off x="800680" y="3262395"/>
            <a:ext cx="2421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5"/>
          <p:cNvSpPr txBox="1"/>
          <p:nvPr/>
        </p:nvSpPr>
        <p:spPr>
          <a:xfrm>
            <a:off x="5147148" y="2500400"/>
            <a:ext cx="3648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5"/>
          <p:cNvSpPr txBox="1"/>
          <p:nvPr/>
        </p:nvSpPr>
        <p:spPr>
          <a:xfrm>
            <a:off x="5049199" y="3262400"/>
            <a:ext cx="2421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7" name="Google Shape;1117;p85" descr="&lt;math xmlns=&quot;http://www.w3.org/1998/Math/MathML&quot; display=&quot;block&quot; data-is-equatio=&quot;1&quot; data-latex=&quot;y=\frac{3x-1}{2}&quot;&gt;&lt;mi&gt;y&lt;/mi&gt;&lt;mo&gt;=&lt;/mo&gt;&lt;mfrac&gt;&lt;mrow&gt;&lt;mn&gt;3&lt;/mn&gt;&lt;mi&gt;x&lt;/mi&gt;&lt;mo&gt;−&lt;/mo&gt;&lt;mn&gt;1&lt;/mn&gt;&lt;/mrow&gt;&lt;mn&gt;2&lt;/mn&gt;&lt;/mfrac&gt;&lt;/math&gt;" title="y equals the fraction with numerator 3 x minus 1 and denominato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257" y="1600033"/>
            <a:ext cx="1356575" cy="60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11307" y="1614506"/>
            <a:ext cx="2091338" cy="31892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9" name="Google Shape;1119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58202" y="1558520"/>
            <a:ext cx="1784100" cy="32584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20" name="Google Shape;1120;p85" descr="&lt;math xmlns=&quot;http://www.w3.org/1998/Math/MathML&quot; display=&quot;block&quot; data-is-equatio=&quot;1&quot; data-latex=&quot;y=\frac{5}{2}x-\frac{3}{2}&quot;&gt;&lt;mi&gt;y&lt;/mi&gt;&lt;mo&gt;=&lt;/mo&gt;&lt;mfrac&gt;&lt;mn&gt;5&lt;/mn&gt;&lt;mn&gt;2&lt;/mn&gt;&lt;/mfrac&gt;&lt;mi&gt;x&lt;/mi&gt;&lt;mo&gt;−&lt;/mo&gt;&lt;mfrac&gt;&lt;mn&gt;3&lt;/mn&gt;&lt;mn&gt;2&lt;/mn&gt;&lt;/mfrac&gt;&lt;/math&gt;" title="y equals five halves x minus three halve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01807" y="1596108"/>
            <a:ext cx="1460922" cy="60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5814" y="1558520"/>
            <a:ext cx="1784103" cy="323750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sp>
        <p:nvSpPr>
          <p:cNvPr id="1126" name="Google Shape;1126;p86"/>
          <p:cNvSpPr txBox="1"/>
          <p:nvPr>
            <p:ph type="body" idx="1"/>
          </p:nvPr>
        </p:nvSpPr>
        <p:spPr>
          <a:xfrm>
            <a:off x="324000" y="759300"/>
            <a:ext cx="58917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Alex plots the linear graph of                    using these two coordinates.</a:t>
            </a:r>
            <a:endParaRPr/>
          </a:p>
        </p:txBody>
      </p:sp>
      <p:sp>
        <p:nvSpPr>
          <p:cNvPr id="1127" name="Google Shape;1127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128" name="Google Shape;1128;p86"/>
          <p:cNvSpPr txBox="1"/>
          <p:nvPr/>
        </p:nvSpPr>
        <p:spPr>
          <a:xfrm>
            <a:off x="338257" y="1642900"/>
            <a:ext cx="8157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9" name="Google Shape;112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278" y="1624396"/>
            <a:ext cx="5192218" cy="18355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30" name="Google Shape;1130;p86"/>
          <p:cNvSpPr txBox="1"/>
          <p:nvPr/>
        </p:nvSpPr>
        <p:spPr>
          <a:xfrm>
            <a:off x="1713225" y="2500975"/>
            <a:ext cx="694800" cy="2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6"/>
          <p:cNvSpPr txBox="1"/>
          <p:nvPr/>
        </p:nvSpPr>
        <p:spPr>
          <a:xfrm>
            <a:off x="1947837" y="2765559"/>
            <a:ext cx="200100" cy="24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b="1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900" b="1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2" name="Google Shape;1132;p86"/>
          <p:cNvCxnSpPr/>
          <p:nvPr/>
        </p:nvCxnSpPr>
        <p:spPr>
          <a:xfrm flipH="1">
            <a:off x="1695602" y="1858060"/>
            <a:ext cx="5222700" cy="11055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33" name="Google Shape;1133;p86" descr="&lt;math xmlns=&quot;http://www.w3.org/1998/Math/MathML&quot; display=&quot;block&quot; data-is-equatio=&quot;1&quot; data-latex=&quot;y=2+\frac{x}{4}&quot;&gt;&lt;mi&gt;y&lt;/mi&gt;&lt;mo&gt;=&lt;/mo&gt;&lt;mn&gt;2&lt;/mn&gt;&lt;mo&gt;+&lt;/mo&gt;&lt;mfrac&gt;&lt;mi&gt;x&lt;/mi&gt;&lt;mn&gt;4&lt;/mn&gt;&lt;/mfrac&gt;&lt;/math&gt;" title="y equals 2 plus x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675" y="733096"/>
            <a:ext cx="1247525" cy="55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86" descr="&lt;math xmlns=&quot;http://www.w3.org/1998/Math/MathML&quot; display=&quot;block&quot; data-is-equatio=&quot;1&quot; data-latex=&quot;\left(2,\ 2\frac{1}{2}\right)&quot;&gt;&lt;mrow data-mjx-texclass=&quot;INNER&quot;&gt;&lt;mo data-mjx-texclass=&quot;OPEN&quot;&gt;(&lt;/mo&gt;&lt;mn&gt;2&lt;/mn&gt;&lt;mo&gt;,&lt;/mo&gt;&lt;mtext&gt;&lt;/mtext&gt;&lt;mn&gt;2&lt;/mn&gt;&lt;mfrac&gt;&lt;mn&gt;1&lt;/mn&gt;&lt;mn&gt;2&lt;/mn&gt;&lt;/mfrac&gt;&lt;mo data-mjx-texclass=&quot;CLOSE&quot;&gt;)&lt;/mo&gt;&lt;/mrow&gt;&lt;/math&gt;" title="open paren 2 comma 2 and one half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76" y="2229735"/>
            <a:ext cx="976875" cy="65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5053" y="1790451"/>
            <a:ext cx="976875" cy="1126612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86"/>
          <p:cNvSpPr txBox="1"/>
          <p:nvPr>
            <p:ph type="body" idx="1"/>
          </p:nvPr>
        </p:nvSpPr>
        <p:spPr>
          <a:xfrm>
            <a:off x="324000" y="3719600"/>
            <a:ext cx="7825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Use the coordinate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r>
              <a:rPr lang="en-GB" sz="2000"/>
              <a:t> to demonstrate that they are wrong and write a sentence advising what they might do better.</a:t>
            </a:r>
            <a:endParaRPr sz="2000"/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0" name="Shape 1140"/>
        <p:cNvGrpSpPr/>
        <p:nvPr/>
      </p:nvGrpSpPr>
      <p:grpSpPr>
        <a:xfrm>
          <a:off x="0" y="0"/>
          <a:ext cx="0" cy="0"/>
        </a:xfrm>
      </p:grpSpPr>
      <p:sp>
        <p:nvSpPr>
          <p:cNvPr id="1141" name="Google Shape;1141;p87"/>
          <p:cNvSpPr txBox="1"/>
          <p:nvPr>
            <p:ph type="body" idx="1"/>
          </p:nvPr>
        </p:nvSpPr>
        <p:spPr>
          <a:xfrm>
            <a:off x="324000" y="759300"/>
            <a:ext cx="58917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Alex plots the linear graph of                    using these two coordinates.</a:t>
            </a:r>
            <a:endParaRPr/>
          </a:p>
        </p:txBody>
      </p:sp>
      <p:sp>
        <p:nvSpPr>
          <p:cNvPr id="1142" name="Google Shape;1142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143" name="Google Shape;1143;p87"/>
          <p:cNvSpPr txBox="1"/>
          <p:nvPr/>
        </p:nvSpPr>
        <p:spPr>
          <a:xfrm>
            <a:off x="338257" y="1642900"/>
            <a:ext cx="8157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4" name="Google Shape;114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278" y="1624396"/>
            <a:ext cx="5192218" cy="18355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45" name="Google Shape;1145;p87"/>
          <p:cNvSpPr txBox="1"/>
          <p:nvPr/>
        </p:nvSpPr>
        <p:spPr>
          <a:xfrm>
            <a:off x="1713225" y="2500975"/>
            <a:ext cx="706200" cy="2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7"/>
          <p:cNvSpPr txBox="1"/>
          <p:nvPr/>
        </p:nvSpPr>
        <p:spPr>
          <a:xfrm>
            <a:off x="1947837" y="2765559"/>
            <a:ext cx="200100" cy="24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b="1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900" b="1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7" name="Google Shape;1147;p87"/>
          <p:cNvCxnSpPr/>
          <p:nvPr/>
        </p:nvCxnSpPr>
        <p:spPr>
          <a:xfrm flipH="1">
            <a:off x="1695602" y="1858060"/>
            <a:ext cx="5222700" cy="11055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48" name="Google Shape;1148;p87" descr="&lt;math xmlns=&quot;http://www.w3.org/1998/Math/MathML&quot; display=&quot;block&quot; data-is-equatio=&quot;1&quot; data-latex=&quot;y=2+\frac{x}{4}&quot;&gt;&lt;mi&gt;y&lt;/mi&gt;&lt;mo&gt;=&lt;/mo&gt;&lt;mn&gt;2&lt;/mn&gt;&lt;mo&gt;+&lt;/mo&gt;&lt;mfrac&gt;&lt;mi&gt;x&lt;/mi&gt;&lt;mn&gt;4&lt;/mn&gt;&lt;/mfrac&gt;&lt;/math&gt;" title="y equals 2 plus x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675" y="733096"/>
            <a:ext cx="1247525" cy="55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7" descr="&lt;math xmlns=&quot;http://www.w3.org/1998/Math/MathML&quot; display=&quot;block&quot; data-is-equatio=&quot;1&quot; data-latex=&quot;\left(2,\ 2\frac{1}{2}\right)&quot;&gt;&lt;mrow data-mjx-texclass=&quot;INNER&quot;&gt;&lt;mo data-mjx-texclass=&quot;OPEN&quot;&gt;(&lt;/mo&gt;&lt;mn&gt;2&lt;/mn&gt;&lt;mo&gt;,&lt;/mo&gt;&lt;mtext&gt;&lt;/mtext&gt;&lt;mn&gt;2&lt;/mn&gt;&lt;mfrac&gt;&lt;mn&gt;1&lt;/mn&gt;&lt;mn&gt;2&lt;/mn&gt;&lt;/mfrac&gt;&lt;mo data-mjx-texclass=&quot;CLOSE&quot;&gt;)&lt;/mo&gt;&lt;/mrow&gt;&lt;/math&gt;" title="open paren 2 comma 2 and one half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76" y="2229735"/>
            <a:ext cx="976875" cy="65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5053" y="1790451"/>
            <a:ext cx="976875" cy="112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87" descr="&lt;math xmlns=&quot;http://www.w3.org/1998/Math/MathML&quot; display=&quot;block&quot; data-is-equatio=&quot;1&quot; data-latex=&quot;2+\frac{-9}{4}\ne0&quot;&gt;&lt;mn&gt;2&lt;/mn&gt;&lt;mo&gt;+&lt;/mo&gt;&lt;mfrac&gt;&lt;mrow&gt;&lt;mo&gt;−&lt;/mo&gt;&lt;mn&gt;9&lt;/mn&gt;&lt;/mrow&gt;&lt;mn&gt;4&lt;/mn&gt;&lt;/mfrac&gt;&lt;mo&gt;≠&lt;/mo&gt;&lt;mn&gt;0&lt;/mn&gt;&lt;/math&gt;" title="2 plus negative 9 over 4 is not equal to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979" y="3582863"/>
            <a:ext cx="1247525" cy="527483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87"/>
          <p:cNvSpPr txBox="1"/>
          <p:nvPr>
            <p:ph type="body" idx="1"/>
          </p:nvPr>
        </p:nvSpPr>
        <p:spPr>
          <a:xfrm>
            <a:off x="1702760" y="3666413"/>
            <a:ext cx="5061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can not be a coordinate on the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53" name="Google Shape;1153;p87" descr="&lt;math xmlns=&quot;http://www.w3.org/1998/Math/MathML&quot; display=&quot;block&quot; data-is-equatio=&quot;1&quot; data-latex=&quot;y=2+\frac{x}{4}&quot;&gt;&lt;mi&gt;y&lt;/mi&gt;&lt;mo&gt;=&lt;/mo&gt;&lt;mn&gt;2&lt;/mn&gt;&lt;mo&gt;+&lt;/mo&gt;&lt;mfrac&gt;&lt;mi&gt;x&lt;/mi&gt;&lt;mn&gt;4&lt;/mn&gt;&lt;/mfrac&gt;&lt;/math&gt;" title="y equals 2 plus x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594" y="3598525"/>
            <a:ext cx="1192368" cy="5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87"/>
          <p:cNvSpPr txBox="1"/>
          <p:nvPr>
            <p:ph type="body" idx="1"/>
          </p:nvPr>
        </p:nvSpPr>
        <p:spPr>
          <a:xfrm>
            <a:off x="338250" y="4199825"/>
            <a:ext cx="6948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“Start with two more distant coordinates to increase accuracy”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8" name="Shape 1158"/>
        <p:cNvGrpSpPr/>
        <p:nvPr/>
      </p:nvGrpSpPr>
      <p:grpSpPr>
        <a:xfrm>
          <a:off x="0" y="0"/>
          <a:ext cx="0" cy="0"/>
        </a:xfrm>
      </p:grpSpPr>
      <p:sp>
        <p:nvSpPr>
          <p:cNvPr id="1159" name="Google Shape;1159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linear graphs</a:t>
            </a:r>
            <a:endParaRPr/>
          </a:p>
        </p:txBody>
      </p:sp>
      <p:sp>
        <p:nvSpPr>
          <p:cNvPr id="1160" name="Google Shape;1160;p8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161" name="Google Shape;1161;p8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  <p:pic>
        <p:nvPicPr>
          <p:cNvPr id="1162" name="Google Shape;116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6" name="Shape 1166"/>
        <p:cNvGrpSpPr/>
        <p:nvPr/>
      </p:nvGrpSpPr>
      <p:grpSpPr>
        <a:xfrm>
          <a:off x="0" y="0"/>
          <a:ext cx="0" cy="0"/>
        </a:xfrm>
      </p:grpSpPr>
      <p:sp>
        <p:nvSpPr>
          <p:cNvPr id="1167" name="Google Shape;1167;p89"/>
          <p:cNvSpPr txBox="1"/>
          <p:nvPr>
            <p:ph type="body" idx="1"/>
          </p:nvPr>
        </p:nvSpPr>
        <p:spPr>
          <a:xfrm>
            <a:off x="324000" y="759300"/>
            <a:ext cx="75036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won’t always see linear equations in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 sz="2000"/>
              <a:t>We often see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168" name="Google Shape;116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169" name="Google Shape;1169;p89"/>
          <p:cNvSpPr txBox="1"/>
          <p:nvPr>
            <p:ph type="body" idx="1"/>
          </p:nvPr>
        </p:nvSpPr>
        <p:spPr>
          <a:xfrm>
            <a:off x="324000" y="1890800"/>
            <a:ext cx="56166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example, the linear equation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70" name="Google Shape;1170;p89"/>
          <p:cNvSpPr txBox="1"/>
          <p:nvPr>
            <p:ph type="body" idx="1"/>
          </p:nvPr>
        </p:nvSpPr>
        <p:spPr>
          <a:xfrm>
            <a:off x="324000" y="2576600"/>
            <a:ext cx="8496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table of values is possible but it’s really inefficient.</a:t>
            </a:r>
            <a:endParaRPr/>
          </a:p>
        </p:txBody>
      </p:sp>
      <p:graphicFrame>
        <p:nvGraphicFramePr>
          <p:cNvPr id="1171" name="Google Shape;1171;p89"/>
          <p:cNvGraphicFramePr>
            <a:graphicFrameLocks noGrp="1"/>
          </p:cNvGraphicFramePr>
          <p:nvPr/>
        </p:nvGraphicFramePr>
        <p:xfrm>
          <a:off x="567883" y="3252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340075"/>
                <a:gridCol w="406975"/>
                <a:gridCol w="406975"/>
                <a:gridCol w="406975"/>
                <a:gridCol w="406975"/>
                <a:gridCol w="406975"/>
                <a:gridCol w="406975"/>
                <a:gridCol w="406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72" name="Google Shape;1172;p89"/>
          <p:cNvSpPr txBox="1"/>
          <p:nvPr>
            <p:ph type="body" idx="1"/>
          </p:nvPr>
        </p:nvSpPr>
        <p:spPr>
          <a:xfrm>
            <a:off x="4316573" y="3186200"/>
            <a:ext cx="32952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</a:t>
            </a:r>
            <a:r>
              <a:rPr lang="en-GB" sz="2000"/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73" name="Google Shape;1173;p89"/>
          <p:cNvSpPr txBox="1"/>
          <p:nvPr>
            <p:ph type="body" idx="1"/>
          </p:nvPr>
        </p:nvSpPr>
        <p:spPr>
          <a:xfrm>
            <a:off x="4316573" y="3692240"/>
            <a:ext cx="30204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This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value is awkward and unnecessary.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7" name="Shape 1177"/>
        <p:cNvGrpSpPr/>
        <p:nvPr/>
      </p:nvGrpSpPr>
      <p:grpSpPr>
        <a:xfrm>
          <a:off x="0" y="0"/>
          <a:ext cx="0" cy="0"/>
        </a:xfrm>
      </p:grpSpPr>
      <p:sp>
        <p:nvSpPr>
          <p:cNvPr id="1178" name="Google Shape;1178;p90"/>
          <p:cNvSpPr txBox="1"/>
          <p:nvPr>
            <p:ph type="body" idx="1"/>
          </p:nvPr>
        </p:nvSpPr>
        <p:spPr>
          <a:xfrm>
            <a:off x="324000" y="759300"/>
            <a:ext cx="75036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won’t always see linear equations in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 sz="2000"/>
              <a:t>We often see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179" name="Google Shape;117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180" name="Google Shape;1180;p90"/>
          <p:cNvSpPr txBox="1"/>
          <p:nvPr>
            <p:ph type="body" idx="1"/>
          </p:nvPr>
        </p:nvSpPr>
        <p:spPr>
          <a:xfrm>
            <a:off x="324000" y="1890800"/>
            <a:ext cx="56166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example, the linear equation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81" name="Google Shape;1181;p90"/>
          <p:cNvSpPr txBox="1"/>
          <p:nvPr>
            <p:ph type="body" idx="1"/>
          </p:nvPr>
        </p:nvSpPr>
        <p:spPr>
          <a:xfrm>
            <a:off x="324000" y="2687320"/>
            <a:ext cx="75036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could rearrange into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/>
          </a:p>
        </p:txBody>
      </p:sp>
      <p:pic>
        <p:nvPicPr>
          <p:cNvPr id="1182" name="Google Shape;1182;p90" descr="&lt;math xmlns=&quot;http://www.w3.org/1998/Math/MathML&quot; display=&quot;block&quot; data-is-equatio=&quot;1&quot; data-latex=&quot;y=5-\frac{5}{3}x&quot;&gt;&lt;mi&gt;y&lt;/mi&gt;&lt;mo&gt;=&lt;/mo&gt;&lt;mn&gt;5&lt;/mn&gt;&lt;mo&gt;−&lt;/mo&gt;&lt;mfrac&gt;&lt;mn&gt;5&lt;/mn&gt;&lt;mn&gt;3&lt;/mn&gt;&lt;/mfrac&gt;&lt;mi&gt;x&lt;/mi&gt;&lt;/math&gt;" title="y equals 5 minus five third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450" y="3266120"/>
            <a:ext cx="139060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90"/>
          <p:cNvSpPr txBox="1"/>
          <p:nvPr>
            <p:ph type="body" idx="1"/>
          </p:nvPr>
        </p:nvSpPr>
        <p:spPr>
          <a:xfrm>
            <a:off x="2610000" y="4211325"/>
            <a:ext cx="51075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But that’s not a nice gradient to sketch!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7" name="Shape 1187"/>
        <p:cNvGrpSpPr/>
        <p:nvPr/>
      </p:nvGrpSpPr>
      <p:grpSpPr>
        <a:xfrm>
          <a:off x="0" y="0"/>
          <a:ext cx="0" cy="0"/>
        </a:xfrm>
      </p:grpSpPr>
      <p:sp>
        <p:nvSpPr>
          <p:cNvPr id="1188" name="Google Shape;1188;p91"/>
          <p:cNvSpPr txBox="1"/>
          <p:nvPr>
            <p:ph type="body" idx="1"/>
          </p:nvPr>
        </p:nvSpPr>
        <p:spPr>
          <a:xfrm>
            <a:off x="324000" y="759300"/>
            <a:ext cx="75036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won’t always see linear equations in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 sz="2000"/>
              <a:t>We often see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189" name="Google Shape;118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190" name="Google Shape;1190;p91"/>
          <p:cNvSpPr txBox="1"/>
          <p:nvPr>
            <p:ph type="body" idx="1"/>
          </p:nvPr>
        </p:nvSpPr>
        <p:spPr>
          <a:xfrm>
            <a:off x="324000" y="1890800"/>
            <a:ext cx="56166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example, the linear equation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91" name="Google Shape;1191;p91"/>
          <p:cNvSpPr txBox="1"/>
          <p:nvPr>
            <p:ph type="body" idx="1"/>
          </p:nvPr>
        </p:nvSpPr>
        <p:spPr>
          <a:xfrm>
            <a:off x="324000" y="2405534"/>
            <a:ext cx="8496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accuracy and efficiency there are two very obvious coordinates we can find to plot this graph.</a:t>
            </a:r>
            <a:endParaRPr/>
          </a:p>
        </p:txBody>
      </p:sp>
      <p:sp>
        <p:nvSpPr>
          <p:cNvPr id="1192" name="Google Shape;1192;p91"/>
          <p:cNvSpPr txBox="1"/>
          <p:nvPr>
            <p:ph type="body" idx="1"/>
          </p:nvPr>
        </p:nvSpPr>
        <p:spPr>
          <a:xfrm>
            <a:off x="1215390" y="3158837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193" name="Google Shape;1193;p91"/>
          <p:cNvSpPr txBox="1"/>
          <p:nvPr>
            <p:ph type="body" idx="1"/>
          </p:nvPr>
        </p:nvSpPr>
        <p:spPr>
          <a:xfrm>
            <a:off x="1090347" y="3599758"/>
            <a:ext cx="1782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5(0)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94" name="Google Shape;1194;p91"/>
          <p:cNvSpPr txBox="1"/>
          <p:nvPr>
            <p:ph type="body" idx="1"/>
          </p:nvPr>
        </p:nvSpPr>
        <p:spPr>
          <a:xfrm>
            <a:off x="1840839" y="4040679"/>
            <a:ext cx="9954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95" name="Google Shape;1195;p91"/>
          <p:cNvSpPr txBox="1"/>
          <p:nvPr>
            <p:ph type="body" idx="1"/>
          </p:nvPr>
        </p:nvSpPr>
        <p:spPr>
          <a:xfrm>
            <a:off x="1993243" y="4481600"/>
            <a:ext cx="6474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/>
          </a:p>
        </p:txBody>
      </p:sp>
      <p:sp>
        <p:nvSpPr>
          <p:cNvPr id="1196" name="Google Shape;1196;p91"/>
          <p:cNvSpPr txBox="1"/>
          <p:nvPr>
            <p:ph type="body" idx="1"/>
          </p:nvPr>
        </p:nvSpPr>
        <p:spPr>
          <a:xfrm>
            <a:off x="4793722" y="3158837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197" name="Google Shape;1197;p91"/>
          <p:cNvSpPr txBox="1"/>
          <p:nvPr>
            <p:ph type="body" idx="1"/>
          </p:nvPr>
        </p:nvSpPr>
        <p:spPr>
          <a:xfrm>
            <a:off x="4668678" y="3599758"/>
            <a:ext cx="1782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+ 3(0)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98" name="Google Shape;1198;p91"/>
          <p:cNvSpPr txBox="1"/>
          <p:nvPr>
            <p:ph type="body" idx="1"/>
          </p:nvPr>
        </p:nvSpPr>
        <p:spPr>
          <a:xfrm>
            <a:off x="5419171" y="4040679"/>
            <a:ext cx="9954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199" name="Google Shape;1199;p91"/>
          <p:cNvSpPr txBox="1"/>
          <p:nvPr>
            <p:ph type="body" idx="1"/>
          </p:nvPr>
        </p:nvSpPr>
        <p:spPr>
          <a:xfrm>
            <a:off x="5571575" y="4481600"/>
            <a:ext cx="6474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/>
          </a:p>
        </p:txBody>
      </p:sp>
      <p:sp>
        <p:nvSpPr>
          <p:cNvPr id="1200" name="Google Shape;1200;p91"/>
          <p:cNvSpPr txBox="1"/>
          <p:nvPr/>
        </p:nvSpPr>
        <p:spPr>
          <a:xfrm>
            <a:off x="3005250" y="3166900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1"/>
          <p:cNvSpPr txBox="1"/>
          <p:nvPr/>
        </p:nvSpPr>
        <p:spPr>
          <a:xfrm>
            <a:off x="6662850" y="3166900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5" name="Shape 1205"/>
        <p:cNvGrpSpPr/>
        <p:nvPr/>
      </p:nvGrpSpPr>
      <p:grpSpPr>
        <a:xfrm>
          <a:off x="0" y="0"/>
          <a:ext cx="0" cy="0"/>
        </a:xfrm>
      </p:grpSpPr>
      <p:pic>
        <p:nvPicPr>
          <p:cNvPr id="1206" name="Google Shape;120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2706" y="1087906"/>
            <a:ext cx="2966775" cy="371626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07" name="Google Shape;120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1199" y="1084349"/>
            <a:ext cx="2981458" cy="37241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08" name="Google Shape;120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209" name="Google Shape;1209;p92"/>
          <p:cNvSpPr txBox="1"/>
          <p:nvPr>
            <p:ph type="body" idx="1"/>
          </p:nvPr>
        </p:nvSpPr>
        <p:spPr>
          <a:xfrm>
            <a:off x="324000" y="824000"/>
            <a:ext cx="4248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linear equation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/>
          </a:p>
        </p:txBody>
      </p:sp>
      <p:sp>
        <p:nvSpPr>
          <p:cNvPr id="1210" name="Google Shape;1210;p92"/>
          <p:cNvSpPr txBox="1"/>
          <p:nvPr>
            <p:ph type="body" idx="1"/>
          </p:nvPr>
        </p:nvSpPr>
        <p:spPr>
          <a:xfrm>
            <a:off x="342670" y="135305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11" name="Google Shape;1211;p92"/>
          <p:cNvSpPr txBox="1"/>
          <p:nvPr>
            <p:ph type="body" idx="1"/>
          </p:nvPr>
        </p:nvSpPr>
        <p:spPr>
          <a:xfrm>
            <a:off x="328095" y="188645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12" name="Google Shape;1212;p92"/>
          <p:cNvSpPr txBox="1"/>
          <p:nvPr/>
        </p:nvSpPr>
        <p:spPr>
          <a:xfrm>
            <a:off x="2132530" y="1361113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2"/>
          <p:cNvSpPr txBox="1"/>
          <p:nvPr/>
        </p:nvSpPr>
        <p:spPr>
          <a:xfrm>
            <a:off x="2197223" y="1894513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4" name="Google Shape;1214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5550" y="1080000"/>
            <a:ext cx="2966765" cy="37241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8" name="Shape 1218"/>
        <p:cNvGrpSpPr/>
        <p:nvPr/>
      </p:nvGrpSpPr>
      <p:grpSpPr>
        <a:xfrm>
          <a:off x="0" y="0"/>
          <a:ext cx="0" cy="0"/>
        </a:xfrm>
      </p:grpSpPr>
      <p:sp>
        <p:nvSpPr>
          <p:cNvPr id="1219" name="Google Shape;1219;p93"/>
          <p:cNvSpPr txBox="1"/>
          <p:nvPr>
            <p:ph type="body" idx="1"/>
          </p:nvPr>
        </p:nvSpPr>
        <p:spPr>
          <a:xfrm>
            <a:off x="2106773" y="1708220"/>
            <a:ext cx="1732200" cy="2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4(0)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</a:t>
            </a:r>
            <a:endParaRPr/>
          </a:p>
        </p:txBody>
      </p:sp>
      <p:sp>
        <p:nvSpPr>
          <p:cNvPr id="1220" name="Google Shape;1220;p93"/>
          <p:cNvSpPr txBox="1"/>
          <p:nvPr>
            <p:ph type="body" idx="1"/>
          </p:nvPr>
        </p:nvSpPr>
        <p:spPr>
          <a:xfrm>
            <a:off x="2868773" y="2145219"/>
            <a:ext cx="949200" cy="2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</a:t>
            </a:r>
            <a:endParaRPr/>
          </a:p>
        </p:txBody>
      </p:sp>
      <p:sp>
        <p:nvSpPr>
          <p:cNvPr id="1221" name="Google Shape;1221;p93"/>
          <p:cNvSpPr txBox="1"/>
          <p:nvPr>
            <p:ph type="body" idx="1"/>
          </p:nvPr>
        </p:nvSpPr>
        <p:spPr>
          <a:xfrm>
            <a:off x="3021175" y="2560740"/>
            <a:ext cx="720900" cy="2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endParaRPr/>
          </a:p>
        </p:txBody>
      </p:sp>
      <p:sp>
        <p:nvSpPr>
          <p:cNvPr id="1222" name="Google Shape;1222;p93"/>
          <p:cNvSpPr txBox="1"/>
          <p:nvPr>
            <p:ph type="body" idx="1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Complete the coordinate values for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and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and draw the linear equation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</a:t>
            </a:r>
            <a:endParaRPr/>
          </a:p>
        </p:txBody>
      </p:sp>
      <p:sp>
        <p:nvSpPr>
          <p:cNvPr id="1223" name="Google Shape;122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224" name="Google Shape;1224;p93"/>
          <p:cNvSpPr txBox="1"/>
          <p:nvPr>
            <p:ph type="body" idx="1"/>
          </p:nvPr>
        </p:nvSpPr>
        <p:spPr>
          <a:xfrm>
            <a:off x="354177" y="1711037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25" name="Google Shape;1225;p93"/>
          <p:cNvSpPr txBox="1"/>
          <p:nvPr>
            <p:ph type="body" idx="1"/>
          </p:nvPr>
        </p:nvSpPr>
        <p:spPr>
          <a:xfrm>
            <a:off x="339602" y="3433463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26" name="Google Shape;1226;p93"/>
          <p:cNvSpPr txBox="1"/>
          <p:nvPr/>
        </p:nvSpPr>
        <p:spPr>
          <a:xfrm>
            <a:off x="345410" y="2176300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(0, 8)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3"/>
          <p:cNvSpPr txBox="1"/>
          <p:nvPr/>
        </p:nvSpPr>
        <p:spPr>
          <a:xfrm>
            <a:off x="333903" y="3857047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3"/>
          <p:cNvSpPr txBox="1"/>
          <p:nvPr>
            <p:ph type="body" idx="1"/>
          </p:nvPr>
        </p:nvSpPr>
        <p:spPr>
          <a:xfrm>
            <a:off x="2118280" y="3433460"/>
            <a:ext cx="1732200" cy="2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+ 2(0)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</a:t>
            </a:r>
            <a:endParaRPr/>
          </a:p>
        </p:txBody>
      </p:sp>
      <p:sp>
        <p:nvSpPr>
          <p:cNvPr id="1229" name="Google Shape;1229;p93"/>
          <p:cNvSpPr txBox="1"/>
          <p:nvPr>
            <p:ph type="body" idx="1"/>
          </p:nvPr>
        </p:nvSpPr>
        <p:spPr>
          <a:xfrm>
            <a:off x="2880280" y="3870459"/>
            <a:ext cx="949200" cy="2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</a:t>
            </a:r>
            <a:endParaRPr/>
          </a:p>
        </p:txBody>
      </p:sp>
      <p:sp>
        <p:nvSpPr>
          <p:cNvPr id="1230" name="Google Shape;1230;p93"/>
          <p:cNvSpPr txBox="1"/>
          <p:nvPr>
            <p:ph type="body" idx="1"/>
          </p:nvPr>
        </p:nvSpPr>
        <p:spPr>
          <a:xfrm>
            <a:off x="3032681" y="4285980"/>
            <a:ext cx="720900" cy="2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/>
          </a:p>
        </p:txBody>
      </p:sp>
      <p:pic>
        <p:nvPicPr>
          <p:cNvPr id="1231" name="Google Shape;123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182" y="1620000"/>
            <a:ext cx="3299129" cy="31956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32" name="Google Shape;123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1202" y="1623232"/>
            <a:ext cx="3299124" cy="319244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33" name="Google Shape;123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4925" y="1624051"/>
            <a:ext cx="3299127" cy="31959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34" name="Google Shape;1234;p93"/>
          <p:cNvSpPr/>
          <p:nvPr/>
        </p:nvSpPr>
        <p:spPr>
          <a:xfrm>
            <a:off x="670518" y="2215575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3"/>
          <p:cNvSpPr/>
          <p:nvPr/>
        </p:nvSpPr>
        <p:spPr>
          <a:xfrm>
            <a:off x="395891" y="3896322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9" name="Shape 1239"/>
        <p:cNvGrpSpPr/>
        <p:nvPr/>
      </p:nvGrpSpPr>
      <p:grpSpPr>
        <a:xfrm>
          <a:off x="0" y="0"/>
          <a:ext cx="0" cy="0"/>
        </a:xfrm>
      </p:grpSpPr>
      <p:sp>
        <p:nvSpPr>
          <p:cNvPr id="1240" name="Google Shape;1240;p94"/>
          <p:cNvSpPr txBox="1"/>
          <p:nvPr>
            <p:ph type="body" idx="1"/>
          </p:nvPr>
        </p:nvSpPr>
        <p:spPr>
          <a:xfrm>
            <a:off x="324000" y="759300"/>
            <a:ext cx="75036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we will see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 sz="2000"/>
              <a:t>but the numbers will not be integer values.</a:t>
            </a:r>
            <a:endParaRPr/>
          </a:p>
        </p:txBody>
      </p:sp>
      <p:sp>
        <p:nvSpPr>
          <p:cNvPr id="1241" name="Google Shape;124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242" name="Google Shape;1242;p94"/>
          <p:cNvSpPr txBox="1"/>
          <p:nvPr>
            <p:ph type="body" idx="1"/>
          </p:nvPr>
        </p:nvSpPr>
        <p:spPr>
          <a:xfrm>
            <a:off x="324000" y="1627680"/>
            <a:ext cx="5932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example, the linear equation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0.4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</a:t>
            </a:r>
            <a:endParaRPr/>
          </a:p>
        </p:txBody>
      </p:sp>
      <p:sp>
        <p:nvSpPr>
          <p:cNvPr id="1243" name="Google Shape;1243;p94"/>
          <p:cNvSpPr txBox="1"/>
          <p:nvPr>
            <p:ph type="body" idx="1"/>
          </p:nvPr>
        </p:nvSpPr>
        <p:spPr>
          <a:xfrm>
            <a:off x="324000" y="2153920"/>
            <a:ext cx="8496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table of values is again possible but it’s inefficient…</a:t>
            </a:r>
            <a:endParaRPr/>
          </a:p>
        </p:txBody>
      </p:sp>
      <p:graphicFrame>
        <p:nvGraphicFramePr>
          <p:cNvPr id="1244" name="Google Shape;1244;p94"/>
          <p:cNvGraphicFramePr>
            <a:graphicFrameLocks noGrp="1"/>
          </p:cNvGraphicFramePr>
          <p:nvPr/>
        </p:nvGraphicFramePr>
        <p:xfrm>
          <a:off x="339283" y="2719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53875"/>
                <a:gridCol w="543175"/>
                <a:gridCol w="543175"/>
                <a:gridCol w="543175"/>
                <a:gridCol w="543175"/>
                <a:gridCol w="543175"/>
                <a:gridCol w="543175"/>
                <a:gridCol w="5431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45" name="Google Shape;1245;p94"/>
          <p:cNvSpPr txBox="1"/>
          <p:nvPr>
            <p:ph type="body" idx="1"/>
          </p:nvPr>
        </p:nvSpPr>
        <p:spPr>
          <a:xfrm>
            <a:off x="324300" y="3798625"/>
            <a:ext cx="4730400" cy="6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And these non-integer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-coordinates might be difficult to plot accurately!</a:t>
            </a:r>
            <a:endParaRPr/>
          </a:p>
        </p:txBody>
      </p:sp>
      <p:graphicFrame>
        <p:nvGraphicFramePr>
          <p:cNvPr id="1246" name="Google Shape;1246;p94"/>
          <p:cNvGraphicFramePr>
            <a:graphicFrameLocks noGrp="1"/>
          </p:cNvGraphicFramePr>
          <p:nvPr/>
        </p:nvGraphicFramePr>
        <p:xfrm>
          <a:off x="339283" y="2719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53875"/>
                <a:gridCol w="543175"/>
                <a:gridCol w="543175"/>
                <a:gridCol w="543175"/>
                <a:gridCol w="543175"/>
                <a:gridCol w="543175"/>
                <a:gridCol w="543175"/>
                <a:gridCol w="5431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0" name="Shape 125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251" name="Google Shape;1251;p95"/>
          <p:cNvGraphicFramePr>
            <a:graphicFrameLocks noGrp="1"/>
          </p:cNvGraphicFramePr>
          <p:nvPr/>
        </p:nvGraphicFramePr>
        <p:xfrm>
          <a:off x="339283" y="2719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53875"/>
                <a:gridCol w="543175"/>
                <a:gridCol w="543175"/>
                <a:gridCol w="543175"/>
                <a:gridCol w="543175"/>
                <a:gridCol w="543175"/>
                <a:gridCol w="543175"/>
                <a:gridCol w="5431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52" name="Google Shape;1252;p95"/>
          <p:cNvSpPr txBox="1"/>
          <p:nvPr>
            <p:ph type="body" idx="1"/>
          </p:nvPr>
        </p:nvSpPr>
        <p:spPr>
          <a:xfrm>
            <a:off x="324000" y="759300"/>
            <a:ext cx="75036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we will see the form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 sz="2000"/>
              <a:t>but the numbers will not be integer values.</a:t>
            </a:r>
            <a:endParaRPr/>
          </a:p>
        </p:txBody>
      </p:sp>
      <p:sp>
        <p:nvSpPr>
          <p:cNvPr id="1253" name="Google Shape;125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254" name="Google Shape;1254;p95"/>
          <p:cNvSpPr txBox="1"/>
          <p:nvPr>
            <p:ph type="body" idx="1"/>
          </p:nvPr>
        </p:nvSpPr>
        <p:spPr>
          <a:xfrm>
            <a:off x="324000" y="1627680"/>
            <a:ext cx="5932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example, the linear equation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0.4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</a:t>
            </a:r>
            <a:endParaRPr/>
          </a:p>
        </p:txBody>
      </p:sp>
      <p:graphicFrame>
        <p:nvGraphicFramePr>
          <p:cNvPr id="1255" name="Google Shape;1255;p95"/>
          <p:cNvGraphicFramePr>
            <a:graphicFrameLocks noGrp="1"/>
          </p:cNvGraphicFramePr>
          <p:nvPr/>
        </p:nvGraphicFramePr>
        <p:xfrm>
          <a:off x="339283" y="2719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53875"/>
                <a:gridCol w="543175"/>
                <a:gridCol w="543175"/>
                <a:gridCol w="543175"/>
                <a:gridCol w="543175"/>
                <a:gridCol w="543175"/>
                <a:gridCol w="543175"/>
                <a:gridCol w="5431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56" name="Google Shape;1256;p95"/>
          <p:cNvSpPr txBox="1"/>
          <p:nvPr>
            <p:ph type="body" idx="1"/>
          </p:nvPr>
        </p:nvSpPr>
        <p:spPr>
          <a:xfrm>
            <a:off x="324300" y="3798625"/>
            <a:ext cx="4891500" cy="6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But there are two integer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-values in our table that we could accurately plot.</a:t>
            </a:r>
            <a:endParaRPr/>
          </a:p>
        </p:txBody>
      </p:sp>
      <p:graphicFrame>
        <p:nvGraphicFramePr>
          <p:cNvPr id="1257" name="Google Shape;1257;p95"/>
          <p:cNvGraphicFramePr>
            <a:graphicFrameLocks noGrp="1"/>
          </p:cNvGraphicFramePr>
          <p:nvPr/>
        </p:nvGraphicFramePr>
        <p:xfrm>
          <a:off x="339283" y="2719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{8E6E6F32-A05C-47A7-9AB7-E2753856478C}</a:tableStyleId>
              </a:tblPr>
              <a:tblGrid>
                <a:gridCol w="453875"/>
                <a:gridCol w="543175"/>
                <a:gridCol w="543175"/>
                <a:gridCol w="543175"/>
                <a:gridCol w="543175"/>
                <a:gridCol w="543175"/>
                <a:gridCol w="543175"/>
                <a:gridCol w="5431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258" name="Google Shape;125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800" y="2061109"/>
            <a:ext cx="3604200" cy="230271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59" name="Google Shape;125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801" y="2072607"/>
            <a:ext cx="3604200" cy="228624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60" name="Google Shape;1260;p95"/>
          <p:cNvSpPr txBox="1"/>
          <p:nvPr>
            <p:ph type="body" idx="1"/>
          </p:nvPr>
        </p:nvSpPr>
        <p:spPr>
          <a:xfrm>
            <a:off x="324000" y="1627680"/>
            <a:ext cx="5932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example, </a:t>
            </a:r>
            <a:r>
              <a:rPr lang="en-GB" sz="2000">
                <a:solidFill>
                  <a:schemeClr val="accent5"/>
                </a:solidFill>
              </a:rPr>
              <a:t>the linear equation </a:t>
            </a:r>
            <a:r>
              <a:rPr lang="en-GB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0.4</a:t>
            </a:r>
            <a:r>
              <a:rPr lang="en-GB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4" name="Shape 1264"/>
        <p:cNvGrpSpPr/>
        <p:nvPr/>
      </p:nvGrpSpPr>
      <p:grpSpPr>
        <a:xfrm>
          <a:off x="0" y="0"/>
          <a:ext cx="0" cy="0"/>
        </a:xfrm>
      </p:grpSpPr>
      <p:pic>
        <p:nvPicPr>
          <p:cNvPr id="1265" name="Google Shape;126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932" y="1667325"/>
            <a:ext cx="4295117" cy="18036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66" name="Google Shape;1266;p96"/>
          <p:cNvSpPr txBox="1"/>
          <p:nvPr>
            <p:ph type="title"/>
          </p:nvPr>
        </p:nvSpPr>
        <p:spPr>
          <a:xfrm>
            <a:off x="324000" y="745307"/>
            <a:ext cx="70665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-values will generate an integer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-coordinate for the linear equation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2.5 − 0.25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/>
              <a:t>?</a:t>
            </a:r>
            <a:endParaRPr/>
          </a:p>
        </p:txBody>
      </p:sp>
      <p:sp>
        <p:nvSpPr>
          <p:cNvPr id="1267" name="Google Shape;1267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268" name="Google Shape;1268;p96"/>
          <p:cNvSpPr txBox="1"/>
          <p:nvPr>
            <p:ph type="subTitle" idx="1"/>
          </p:nvPr>
        </p:nvSpPr>
        <p:spPr>
          <a:xfrm>
            <a:off x="1034425" y="1685375"/>
            <a:ext cx="75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9" name="Google Shape;1269;p96"/>
          <p:cNvSpPr txBox="1"/>
          <p:nvPr>
            <p:ph type="subTitle" idx="3"/>
          </p:nvPr>
        </p:nvSpPr>
        <p:spPr>
          <a:xfrm>
            <a:off x="1034425" y="2489450"/>
            <a:ext cx="7983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/>
          </a:p>
        </p:txBody>
      </p:sp>
      <p:sp>
        <p:nvSpPr>
          <p:cNvPr id="1270" name="Google Shape;1270;p96"/>
          <p:cNvSpPr txBox="1"/>
          <p:nvPr>
            <p:ph type="subTitle" idx="4"/>
          </p:nvPr>
        </p:nvSpPr>
        <p:spPr>
          <a:xfrm>
            <a:off x="1034425" y="3309762"/>
            <a:ext cx="793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/>
          </a:p>
        </p:txBody>
      </p:sp>
      <p:sp>
        <p:nvSpPr>
          <p:cNvPr id="1271" name="Google Shape;1271;p96"/>
          <p:cNvSpPr txBox="1"/>
          <p:nvPr>
            <p:ph type="subTitle" idx="5"/>
          </p:nvPr>
        </p:nvSpPr>
        <p:spPr>
          <a:xfrm>
            <a:off x="1034425" y="4113828"/>
            <a:ext cx="7983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/>
          </a:p>
        </p:txBody>
      </p:sp>
      <p:pic>
        <p:nvPicPr>
          <p:cNvPr id="1272" name="Google Shape;127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623" y="334263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96"/>
          <p:cNvSpPr txBox="1"/>
          <p:nvPr/>
        </p:nvSpPr>
        <p:spPr>
          <a:xfrm>
            <a:off x="4327875" y="3848962"/>
            <a:ext cx="3703800" cy="9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0.25 × 4 =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you know you’ll hit another integer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-value every increase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4" name="Google Shape;1274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3334" y="1664387"/>
            <a:ext cx="4330322" cy="180359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75" name="Google Shape;1275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4071" y="168891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4071" y="249693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96"/>
          <p:cNvSpPr txBox="1"/>
          <p:nvPr>
            <p:ph type="title"/>
          </p:nvPr>
        </p:nvSpPr>
        <p:spPr>
          <a:xfrm>
            <a:off x="2281475" y="1701375"/>
            <a:ext cx="22905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2.5 − 0.25(0) = 2.5</a:t>
            </a:r>
            <a:endParaRPr sz="1800"/>
          </a:p>
        </p:txBody>
      </p:sp>
      <p:sp>
        <p:nvSpPr>
          <p:cNvPr id="1278" name="Google Shape;1278;p96"/>
          <p:cNvSpPr txBox="1"/>
          <p:nvPr>
            <p:ph type="title"/>
          </p:nvPr>
        </p:nvSpPr>
        <p:spPr>
          <a:xfrm>
            <a:off x="2281475" y="2497900"/>
            <a:ext cx="20799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2.5 − 0.25(1) = 2.25</a:t>
            </a:r>
            <a:endParaRPr sz="1800"/>
          </a:p>
        </p:txBody>
      </p:sp>
      <p:pic>
        <p:nvPicPr>
          <p:cNvPr id="1279" name="Google Shape;127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623" y="418083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6"/>
          <p:cNvSpPr txBox="1"/>
          <p:nvPr>
            <p:ph type="title"/>
          </p:nvPr>
        </p:nvSpPr>
        <p:spPr>
          <a:xfrm>
            <a:off x="2281475" y="3317434"/>
            <a:ext cx="20799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2.5 − 0.25(2) = 2</a:t>
            </a:r>
            <a:endParaRPr sz="1800"/>
          </a:p>
        </p:txBody>
      </p:sp>
      <p:sp>
        <p:nvSpPr>
          <p:cNvPr id="1281" name="Google Shape;1281;p96"/>
          <p:cNvSpPr txBox="1"/>
          <p:nvPr>
            <p:ph type="title"/>
          </p:nvPr>
        </p:nvSpPr>
        <p:spPr>
          <a:xfrm>
            <a:off x="2281475" y="4155625"/>
            <a:ext cx="18090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2.5 − 0.25(6) = 1</a:t>
            </a:r>
            <a:endParaRPr sz="1800"/>
          </a:p>
        </p:txBody>
      </p:sp>
      <p:sp>
        <p:nvSpPr>
          <p:cNvPr id="1282" name="Google Shape;1282;p96"/>
          <p:cNvSpPr txBox="1"/>
          <p:nvPr>
            <p:ph type="title"/>
          </p:nvPr>
        </p:nvSpPr>
        <p:spPr>
          <a:xfrm>
            <a:off x="324000" y="745307"/>
            <a:ext cx="70665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-values will generate an integer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-coordinate for </a:t>
            </a:r>
            <a:r>
              <a:rPr lang="en-GB">
                <a:solidFill>
                  <a:schemeClr val="accent5"/>
                </a:solidFill>
              </a:rPr>
              <a:t>the linear equation </a:t>
            </a:r>
            <a:r>
              <a:rPr lang="en-GB" sz="2400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2.5 − 0.25</a:t>
            </a:r>
            <a:r>
              <a:rPr lang="en-GB" sz="2400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6" name="Shape 1286"/>
        <p:cNvGrpSpPr/>
        <p:nvPr/>
      </p:nvGrpSpPr>
      <p:grpSpPr>
        <a:xfrm>
          <a:off x="0" y="0"/>
          <a:ext cx="0" cy="0"/>
        </a:xfrm>
      </p:grpSpPr>
      <p:sp>
        <p:nvSpPr>
          <p:cNvPr id="1287" name="Google Shape;1287;p97"/>
          <p:cNvSpPr txBox="1"/>
          <p:nvPr>
            <p:ph type="body" idx="1"/>
          </p:nvPr>
        </p:nvSpPr>
        <p:spPr>
          <a:xfrm>
            <a:off x="324000" y="759300"/>
            <a:ext cx="6939900" cy="6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Find the coordinates for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and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thus draw the linear equations.</a:t>
            </a:r>
            <a:endParaRPr/>
          </a:p>
        </p:txBody>
      </p:sp>
      <p:sp>
        <p:nvSpPr>
          <p:cNvPr id="1288" name="Google Shape;1288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289" name="Google Shape;1289;p97"/>
          <p:cNvSpPr txBox="1"/>
          <p:nvPr>
            <p:ph type="body" idx="1"/>
          </p:nvPr>
        </p:nvSpPr>
        <p:spPr>
          <a:xfrm>
            <a:off x="324000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2400"/>
          </a:p>
        </p:txBody>
      </p:sp>
      <p:pic>
        <p:nvPicPr>
          <p:cNvPr id="1290" name="Google Shape;129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043" y="1615093"/>
            <a:ext cx="2088923" cy="3193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91" name="Google Shape;1291;p97"/>
          <p:cNvSpPr txBox="1"/>
          <p:nvPr>
            <p:ph type="body" idx="4294967295"/>
          </p:nvPr>
        </p:nvSpPr>
        <p:spPr>
          <a:xfrm>
            <a:off x="342670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92" name="Google Shape;1292;p97"/>
          <p:cNvSpPr txBox="1"/>
          <p:nvPr>
            <p:ph type="body" idx="4294967295"/>
          </p:nvPr>
        </p:nvSpPr>
        <p:spPr>
          <a:xfrm>
            <a:off x="328095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93" name="Google Shape;1293;p97"/>
          <p:cNvSpPr txBox="1"/>
          <p:nvPr/>
        </p:nvSpPr>
        <p:spPr>
          <a:xfrm>
            <a:off x="333903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7"/>
          <p:cNvSpPr txBox="1"/>
          <p:nvPr/>
        </p:nvSpPr>
        <p:spPr>
          <a:xfrm>
            <a:off x="322396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7"/>
          <p:cNvSpPr/>
          <p:nvPr/>
        </p:nvSpPr>
        <p:spPr>
          <a:xfrm>
            <a:off x="659012" y="257790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7"/>
          <p:cNvSpPr/>
          <p:nvPr/>
        </p:nvSpPr>
        <p:spPr>
          <a:xfrm>
            <a:off x="384385" y="371374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7" name="Google Shape;129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843" y="1615093"/>
            <a:ext cx="2088923" cy="3193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98" name="Google Shape;1298;p97"/>
          <p:cNvSpPr txBox="1"/>
          <p:nvPr>
            <p:ph type="body" idx="1"/>
          </p:nvPr>
        </p:nvSpPr>
        <p:spPr>
          <a:xfrm>
            <a:off x="4579693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2400"/>
          </a:p>
        </p:txBody>
      </p:sp>
      <p:sp>
        <p:nvSpPr>
          <p:cNvPr id="1299" name="Google Shape;1299;p97"/>
          <p:cNvSpPr txBox="1"/>
          <p:nvPr>
            <p:ph type="body" idx="4294967295"/>
          </p:nvPr>
        </p:nvSpPr>
        <p:spPr>
          <a:xfrm>
            <a:off x="4598364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00" name="Google Shape;1300;p97"/>
          <p:cNvSpPr txBox="1"/>
          <p:nvPr>
            <p:ph type="body" idx="4294967295"/>
          </p:nvPr>
        </p:nvSpPr>
        <p:spPr>
          <a:xfrm>
            <a:off x="4583788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01" name="Google Shape;1301;p97"/>
          <p:cNvSpPr txBox="1"/>
          <p:nvPr/>
        </p:nvSpPr>
        <p:spPr>
          <a:xfrm>
            <a:off x="4589596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−3)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7"/>
          <p:cNvSpPr txBox="1"/>
          <p:nvPr/>
        </p:nvSpPr>
        <p:spPr>
          <a:xfrm>
            <a:off x="4578090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7"/>
          <p:cNvSpPr/>
          <p:nvPr/>
        </p:nvSpPr>
        <p:spPr>
          <a:xfrm>
            <a:off x="4960720" y="2566400"/>
            <a:ext cx="289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7"/>
          <p:cNvSpPr/>
          <p:nvPr/>
        </p:nvSpPr>
        <p:spPr>
          <a:xfrm>
            <a:off x="4640078" y="372090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8" name="Shape 1308"/>
        <p:cNvGrpSpPr/>
        <p:nvPr/>
      </p:nvGrpSpPr>
      <p:grpSpPr>
        <a:xfrm>
          <a:off x="0" y="0"/>
          <a:ext cx="0" cy="0"/>
        </a:xfrm>
      </p:grpSpPr>
      <p:pic>
        <p:nvPicPr>
          <p:cNvPr id="1309" name="Google Shape;130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373" y="1512610"/>
            <a:ext cx="1823750" cy="330741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10" name="Google Shape;131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973" y="1512610"/>
            <a:ext cx="1823750" cy="330741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1" name="Google Shape;1311;p98"/>
          <p:cNvSpPr txBox="1"/>
          <p:nvPr>
            <p:ph type="body" idx="1"/>
          </p:nvPr>
        </p:nvSpPr>
        <p:spPr>
          <a:xfrm>
            <a:off x="324000" y="759300"/>
            <a:ext cx="6855300" cy="6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Find the coordinates for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and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thus draw the linear equations.</a:t>
            </a:r>
            <a:endParaRPr/>
          </a:p>
        </p:txBody>
      </p:sp>
      <p:sp>
        <p:nvSpPr>
          <p:cNvPr id="1312" name="Google Shape;1312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313" name="Google Shape;1313;p98"/>
          <p:cNvSpPr txBox="1"/>
          <p:nvPr>
            <p:ph type="body" idx="1"/>
          </p:nvPr>
        </p:nvSpPr>
        <p:spPr>
          <a:xfrm>
            <a:off x="324000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2400"/>
          </a:p>
        </p:txBody>
      </p:sp>
      <p:sp>
        <p:nvSpPr>
          <p:cNvPr id="1314" name="Google Shape;1314;p98"/>
          <p:cNvSpPr txBox="1"/>
          <p:nvPr>
            <p:ph type="body" idx="4294967295"/>
          </p:nvPr>
        </p:nvSpPr>
        <p:spPr>
          <a:xfrm>
            <a:off x="342670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15" name="Google Shape;1315;p98"/>
          <p:cNvSpPr txBox="1"/>
          <p:nvPr>
            <p:ph type="body" idx="4294967295"/>
          </p:nvPr>
        </p:nvSpPr>
        <p:spPr>
          <a:xfrm>
            <a:off x="328095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16" name="Google Shape;1316;p98"/>
          <p:cNvSpPr txBox="1"/>
          <p:nvPr/>
        </p:nvSpPr>
        <p:spPr>
          <a:xfrm>
            <a:off x="333903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8"/>
          <p:cNvSpPr txBox="1"/>
          <p:nvPr/>
        </p:nvSpPr>
        <p:spPr>
          <a:xfrm>
            <a:off x="322396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8"/>
          <p:cNvSpPr/>
          <p:nvPr/>
        </p:nvSpPr>
        <p:spPr>
          <a:xfrm>
            <a:off x="659012" y="257790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8"/>
          <p:cNvSpPr/>
          <p:nvPr/>
        </p:nvSpPr>
        <p:spPr>
          <a:xfrm>
            <a:off x="384385" y="371374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8"/>
          <p:cNvSpPr txBox="1"/>
          <p:nvPr>
            <p:ph type="body" idx="1"/>
          </p:nvPr>
        </p:nvSpPr>
        <p:spPr>
          <a:xfrm>
            <a:off x="4579693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− 9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2400"/>
          </a:p>
        </p:txBody>
      </p:sp>
      <p:sp>
        <p:nvSpPr>
          <p:cNvPr id="1321" name="Google Shape;1321;p98"/>
          <p:cNvSpPr txBox="1"/>
          <p:nvPr>
            <p:ph type="body" idx="4294967295"/>
          </p:nvPr>
        </p:nvSpPr>
        <p:spPr>
          <a:xfrm>
            <a:off x="4598364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22" name="Google Shape;1322;p98"/>
          <p:cNvSpPr txBox="1"/>
          <p:nvPr>
            <p:ph type="body" idx="4294967295"/>
          </p:nvPr>
        </p:nvSpPr>
        <p:spPr>
          <a:xfrm>
            <a:off x="4583788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23" name="Google Shape;1323;p98"/>
          <p:cNvSpPr txBox="1"/>
          <p:nvPr/>
        </p:nvSpPr>
        <p:spPr>
          <a:xfrm>
            <a:off x="4589596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8"/>
          <p:cNvSpPr txBox="1"/>
          <p:nvPr/>
        </p:nvSpPr>
        <p:spPr>
          <a:xfrm>
            <a:off x="4578090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(−3,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8"/>
          <p:cNvSpPr/>
          <p:nvPr/>
        </p:nvSpPr>
        <p:spPr>
          <a:xfrm>
            <a:off x="4671774" y="3720907"/>
            <a:ext cx="289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8"/>
          <p:cNvSpPr/>
          <p:nvPr/>
        </p:nvSpPr>
        <p:spPr>
          <a:xfrm>
            <a:off x="4921865" y="2566402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0" name="Shape 1330"/>
        <p:cNvGrpSpPr/>
        <p:nvPr/>
      </p:nvGrpSpPr>
      <p:grpSpPr>
        <a:xfrm>
          <a:off x="0" y="0"/>
          <a:ext cx="0" cy="0"/>
        </a:xfrm>
      </p:grpSpPr>
      <p:pic>
        <p:nvPicPr>
          <p:cNvPr id="1331" name="Google Shape;133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200" y="1604671"/>
            <a:ext cx="2298051" cy="321103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32" name="Google Shape;1332;p99"/>
          <p:cNvSpPr txBox="1"/>
          <p:nvPr>
            <p:ph type="body" idx="1"/>
          </p:nvPr>
        </p:nvSpPr>
        <p:spPr>
          <a:xfrm>
            <a:off x="324000" y="759300"/>
            <a:ext cx="6939900" cy="6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For each graph find two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-values that will give you integer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-values and draw the linear equations.</a:t>
            </a:r>
            <a:endParaRPr/>
          </a:p>
        </p:txBody>
      </p:sp>
      <p:sp>
        <p:nvSpPr>
          <p:cNvPr id="1333" name="Google Shape;1333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334" name="Google Shape;1334;p99"/>
          <p:cNvSpPr txBox="1"/>
          <p:nvPr>
            <p:ph type="body" idx="1"/>
          </p:nvPr>
        </p:nvSpPr>
        <p:spPr>
          <a:xfrm>
            <a:off x="324000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0.8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400"/>
          </a:p>
        </p:txBody>
      </p:sp>
      <p:sp>
        <p:nvSpPr>
          <p:cNvPr id="1335" name="Google Shape;1335;p99"/>
          <p:cNvSpPr txBox="1"/>
          <p:nvPr>
            <p:ph type="body" idx="1"/>
          </p:nvPr>
        </p:nvSpPr>
        <p:spPr>
          <a:xfrm>
            <a:off x="324000" y="3391775"/>
            <a:ext cx="2187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3.25 − 1.25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sp>
        <p:nvSpPr>
          <p:cNvPr id="1340" name="Google Shape;1340;p100"/>
          <p:cNvSpPr txBox="1"/>
          <p:nvPr>
            <p:ph type="body" idx="1"/>
          </p:nvPr>
        </p:nvSpPr>
        <p:spPr>
          <a:xfrm>
            <a:off x="324000" y="759300"/>
            <a:ext cx="6928500" cy="66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Find the coordinates for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and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thus draw the linear equations.</a:t>
            </a:r>
            <a:endParaRPr/>
          </a:p>
        </p:txBody>
      </p:sp>
      <p:sp>
        <p:nvSpPr>
          <p:cNvPr id="1341" name="Google Shape;1341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342" name="Google Shape;1342;p100"/>
          <p:cNvSpPr txBox="1"/>
          <p:nvPr>
            <p:ph type="body" idx="1"/>
          </p:nvPr>
        </p:nvSpPr>
        <p:spPr>
          <a:xfrm>
            <a:off x="324000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2400"/>
          </a:p>
        </p:txBody>
      </p:sp>
      <p:pic>
        <p:nvPicPr>
          <p:cNvPr id="1343" name="Google Shape;134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043" y="1615093"/>
            <a:ext cx="2088923" cy="3193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44" name="Google Shape;1344;p100"/>
          <p:cNvSpPr txBox="1"/>
          <p:nvPr>
            <p:ph type="body" idx="4294967295"/>
          </p:nvPr>
        </p:nvSpPr>
        <p:spPr>
          <a:xfrm>
            <a:off x="342670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45" name="Google Shape;1345;p100"/>
          <p:cNvSpPr txBox="1"/>
          <p:nvPr>
            <p:ph type="body" idx="4294967295"/>
          </p:nvPr>
        </p:nvSpPr>
        <p:spPr>
          <a:xfrm>
            <a:off x="328095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46" name="Google Shape;1346;p100"/>
          <p:cNvSpPr txBox="1"/>
          <p:nvPr/>
        </p:nvSpPr>
        <p:spPr>
          <a:xfrm>
            <a:off x="333903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100"/>
          <p:cNvSpPr txBox="1"/>
          <p:nvPr/>
        </p:nvSpPr>
        <p:spPr>
          <a:xfrm>
            <a:off x="322396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0"/>
          <p:cNvSpPr/>
          <p:nvPr/>
        </p:nvSpPr>
        <p:spPr>
          <a:xfrm>
            <a:off x="659012" y="257790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0"/>
          <p:cNvSpPr/>
          <p:nvPr/>
        </p:nvSpPr>
        <p:spPr>
          <a:xfrm>
            <a:off x="384385" y="371374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0" name="Google Shape;135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843" y="1615093"/>
            <a:ext cx="2088923" cy="3193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51" name="Google Shape;1351;p100"/>
          <p:cNvSpPr txBox="1"/>
          <p:nvPr>
            <p:ph type="body" idx="1"/>
          </p:nvPr>
        </p:nvSpPr>
        <p:spPr>
          <a:xfrm>
            <a:off x="4579693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2400"/>
          </a:p>
        </p:txBody>
      </p:sp>
      <p:sp>
        <p:nvSpPr>
          <p:cNvPr id="1352" name="Google Shape;1352;p100"/>
          <p:cNvSpPr txBox="1"/>
          <p:nvPr>
            <p:ph type="body" idx="4294967295"/>
          </p:nvPr>
        </p:nvSpPr>
        <p:spPr>
          <a:xfrm>
            <a:off x="4598364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53" name="Google Shape;1353;p100"/>
          <p:cNvSpPr txBox="1"/>
          <p:nvPr>
            <p:ph type="body" idx="4294967295"/>
          </p:nvPr>
        </p:nvSpPr>
        <p:spPr>
          <a:xfrm>
            <a:off x="4583788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54" name="Google Shape;1354;p100"/>
          <p:cNvSpPr txBox="1"/>
          <p:nvPr/>
        </p:nvSpPr>
        <p:spPr>
          <a:xfrm>
            <a:off x="4589596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−3)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100"/>
          <p:cNvSpPr txBox="1"/>
          <p:nvPr/>
        </p:nvSpPr>
        <p:spPr>
          <a:xfrm>
            <a:off x="4578090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0"/>
          <p:cNvSpPr/>
          <p:nvPr/>
        </p:nvSpPr>
        <p:spPr>
          <a:xfrm>
            <a:off x="4960720" y="2566400"/>
            <a:ext cx="289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0"/>
          <p:cNvSpPr/>
          <p:nvPr/>
        </p:nvSpPr>
        <p:spPr>
          <a:xfrm>
            <a:off x="4640078" y="372090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8" name="Google Shape;1358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1225" y="1622930"/>
            <a:ext cx="2088925" cy="317511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59" name="Google Shape;1359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4413" y="1606108"/>
            <a:ext cx="2088926" cy="32117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60" name="Google Shape;1360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3784" y="1619267"/>
            <a:ext cx="2088924" cy="31849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61" name="Google Shape;1361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6401" y="1613473"/>
            <a:ext cx="2088924" cy="31907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pic>
        <p:nvPicPr>
          <p:cNvPr id="1366" name="Google Shape;136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373" y="1512610"/>
            <a:ext cx="1823750" cy="330741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67" name="Google Shape;1367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57" y="1497700"/>
            <a:ext cx="1823751" cy="332232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68" name="Google Shape;136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973" y="1512610"/>
            <a:ext cx="1823750" cy="330741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69" name="Google Shape;1369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2338" y="1518063"/>
            <a:ext cx="1823761" cy="32928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70" name="Google Shape;1370;p101"/>
          <p:cNvSpPr txBox="1"/>
          <p:nvPr>
            <p:ph type="body" idx="1"/>
          </p:nvPr>
        </p:nvSpPr>
        <p:spPr>
          <a:xfrm>
            <a:off x="324000" y="759300"/>
            <a:ext cx="6721200" cy="66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Find the coordinates for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and 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/>
              <a:t> thus draw the linear equations.</a:t>
            </a:r>
            <a:endParaRPr/>
          </a:p>
        </p:txBody>
      </p:sp>
      <p:sp>
        <p:nvSpPr>
          <p:cNvPr id="1371" name="Google Shape;1371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372" name="Google Shape;1372;p101"/>
          <p:cNvSpPr txBox="1"/>
          <p:nvPr>
            <p:ph type="body" idx="1"/>
          </p:nvPr>
        </p:nvSpPr>
        <p:spPr>
          <a:xfrm>
            <a:off x="324000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2400"/>
          </a:p>
        </p:txBody>
      </p:sp>
      <p:sp>
        <p:nvSpPr>
          <p:cNvPr id="1373" name="Google Shape;1373;p101"/>
          <p:cNvSpPr txBox="1"/>
          <p:nvPr>
            <p:ph type="body" idx="4294967295"/>
          </p:nvPr>
        </p:nvSpPr>
        <p:spPr>
          <a:xfrm>
            <a:off x="342670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74" name="Google Shape;1374;p101"/>
          <p:cNvSpPr txBox="1"/>
          <p:nvPr>
            <p:ph type="body" idx="4294967295"/>
          </p:nvPr>
        </p:nvSpPr>
        <p:spPr>
          <a:xfrm>
            <a:off x="328095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75" name="Google Shape;1375;p101"/>
          <p:cNvSpPr txBox="1"/>
          <p:nvPr/>
        </p:nvSpPr>
        <p:spPr>
          <a:xfrm>
            <a:off x="333903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101"/>
          <p:cNvSpPr txBox="1"/>
          <p:nvPr/>
        </p:nvSpPr>
        <p:spPr>
          <a:xfrm>
            <a:off x="322396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01"/>
          <p:cNvSpPr/>
          <p:nvPr/>
        </p:nvSpPr>
        <p:spPr>
          <a:xfrm>
            <a:off x="659012" y="257790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1"/>
          <p:cNvSpPr/>
          <p:nvPr/>
        </p:nvSpPr>
        <p:spPr>
          <a:xfrm>
            <a:off x="384385" y="3713749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1"/>
          <p:cNvSpPr txBox="1"/>
          <p:nvPr>
            <p:ph type="body" idx="1"/>
          </p:nvPr>
        </p:nvSpPr>
        <p:spPr>
          <a:xfrm>
            <a:off x="4579693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− 9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2400"/>
          </a:p>
        </p:txBody>
      </p:sp>
      <p:sp>
        <p:nvSpPr>
          <p:cNvPr id="1380" name="Google Shape;1380;p101"/>
          <p:cNvSpPr txBox="1"/>
          <p:nvPr>
            <p:ph type="body" idx="4294967295"/>
          </p:nvPr>
        </p:nvSpPr>
        <p:spPr>
          <a:xfrm>
            <a:off x="4598364" y="207337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81" name="Google Shape;1381;p101"/>
          <p:cNvSpPr txBox="1"/>
          <p:nvPr>
            <p:ph type="body" idx="4294967295"/>
          </p:nvPr>
        </p:nvSpPr>
        <p:spPr>
          <a:xfrm>
            <a:off x="4583788" y="3250890"/>
            <a:ext cx="1467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382" name="Google Shape;1382;p101"/>
          <p:cNvSpPr txBox="1"/>
          <p:nvPr/>
        </p:nvSpPr>
        <p:spPr>
          <a:xfrm>
            <a:off x="4589596" y="253863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01"/>
          <p:cNvSpPr txBox="1"/>
          <p:nvPr/>
        </p:nvSpPr>
        <p:spPr>
          <a:xfrm>
            <a:off x="4578090" y="3674474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(−3, 0)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101"/>
          <p:cNvSpPr/>
          <p:nvPr/>
        </p:nvSpPr>
        <p:spPr>
          <a:xfrm>
            <a:off x="4671774" y="3720907"/>
            <a:ext cx="289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1"/>
          <p:cNvSpPr/>
          <p:nvPr/>
        </p:nvSpPr>
        <p:spPr>
          <a:xfrm>
            <a:off x="4921865" y="2566402"/>
            <a:ext cx="172500" cy="27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6" name="Google Shape;1386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4043" y="1518505"/>
            <a:ext cx="1842301" cy="329284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87" name="Google Shape;1387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88782" y="1511100"/>
            <a:ext cx="1823751" cy="329518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1" name="Shape 1391"/>
        <p:cNvGrpSpPr/>
        <p:nvPr/>
      </p:nvGrpSpPr>
      <p:grpSpPr>
        <a:xfrm>
          <a:off x="0" y="0"/>
          <a:ext cx="0" cy="0"/>
        </a:xfrm>
      </p:grpSpPr>
      <p:pic>
        <p:nvPicPr>
          <p:cNvPr id="1392" name="Google Shape;139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200" y="1604671"/>
            <a:ext cx="2298051" cy="321103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93" name="Google Shape;1393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6192" y="1611494"/>
            <a:ext cx="2298051" cy="320123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94" name="Google Shape;1394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1090" y="1621876"/>
            <a:ext cx="2298056" cy="3193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95" name="Google Shape;1395;p102"/>
          <p:cNvSpPr txBox="1"/>
          <p:nvPr>
            <p:ph type="body" idx="1"/>
          </p:nvPr>
        </p:nvSpPr>
        <p:spPr>
          <a:xfrm>
            <a:off x="324000" y="759300"/>
            <a:ext cx="6629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For each graph find two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-values that will give you integer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-values and draw the linear equations.</a:t>
            </a:r>
            <a:endParaRPr/>
          </a:p>
        </p:txBody>
      </p:sp>
      <p:sp>
        <p:nvSpPr>
          <p:cNvPr id="1396" name="Google Shape;1396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Efficiency in plotting</a:t>
            </a:r>
            <a:endParaRPr/>
          </a:p>
        </p:txBody>
      </p:sp>
      <p:sp>
        <p:nvSpPr>
          <p:cNvPr id="1397" name="Google Shape;1397;p102"/>
          <p:cNvSpPr txBox="1"/>
          <p:nvPr>
            <p:ph type="body" idx="1"/>
          </p:nvPr>
        </p:nvSpPr>
        <p:spPr>
          <a:xfrm>
            <a:off x="324000" y="1616162"/>
            <a:ext cx="1842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0.8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400"/>
          </a:p>
        </p:txBody>
      </p:sp>
      <p:sp>
        <p:nvSpPr>
          <p:cNvPr id="1398" name="Google Shape;1398;p102"/>
          <p:cNvSpPr txBox="1"/>
          <p:nvPr/>
        </p:nvSpPr>
        <p:spPr>
          <a:xfrm>
            <a:off x="333903" y="2023900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−3)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02"/>
          <p:cNvSpPr txBox="1"/>
          <p:nvPr/>
        </p:nvSpPr>
        <p:spPr>
          <a:xfrm>
            <a:off x="328150" y="2435670"/>
            <a:ext cx="56469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Then because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0.8, 1.6, 2.4, 3.2, 4, …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know you’ll hit another integer for every change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02"/>
          <p:cNvSpPr txBox="1"/>
          <p:nvPr/>
        </p:nvSpPr>
        <p:spPr>
          <a:xfrm>
            <a:off x="2238900" y="2023900"/>
            <a:ext cx="1043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(−5, −7)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102"/>
          <p:cNvSpPr txBox="1"/>
          <p:nvPr/>
        </p:nvSpPr>
        <p:spPr>
          <a:xfrm>
            <a:off x="4296300" y="2023900"/>
            <a:ext cx="1043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(5, 1)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02"/>
          <p:cNvSpPr txBox="1"/>
          <p:nvPr>
            <p:ph type="body" idx="1"/>
          </p:nvPr>
        </p:nvSpPr>
        <p:spPr>
          <a:xfrm>
            <a:off x="324000" y="3391775"/>
            <a:ext cx="2187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3.25 − 1.25</a:t>
            </a:r>
            <a:r>
              <a:rPr lang="en-GB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sp>
        <p:nvSpPr>
          <p:cNvPr id="1403" name="Google Shape;1403;p102"/>
          <p:cNvSpPr txBox="1"/>
          <p:nvPr/>
        </p:nvSpPr>
        <p:spPr>
          <a:xfrm>
            <a:off x="333903" y="3799513"/>
            <a:ext cx="815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02"/>
          <p:cNvSpPr txBox="1"/>
          <p:nvPr/>
        </p:nvSpPr>
        <p:spPr>
          <a:xfrm>
            <a:off x="328150" y="4211284"/>
            <a:ext cx="56469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Then because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1.25, 2.5, 3.75, 5, …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know you’ll hit another integer for every change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102"/>
          <p:cNvSpPr txBox="1"/>
          <p:nvPr/>
        </p:nvSpPr>
        <p:spPr>
          <a:xfrm>
            <a:off x="2238900" y="3799513"/>
            <a:ext cx="1043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 −3)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02"/>
          <p:cNvSpPr txBox="1"/>
          <p:nvPr/>
        </p:nvSpPr>
        <p:spPr>
          <a:xfrm>
            <a:off x="4296300" y="3799513"/>
            <a:ext cx="10437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(−3, 7)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7" name="Google Shape;1407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5252" y="1625689"/>
            <a:ext cx="2298050" cy="317848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08" name="Google Shape;1408;p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6810" y="1621371"/>
            <a:ext cx="2298049" cy="317563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2" name="Shape 1412"/>
        <p:cNvGrpSpPr/>
        <p:nvPr/>
      </p:nvGrpSpPr>
      <p:grpSpPr>
        <a:xfrm>
          <a:off x="0" y="0"/>
          <a:ext cx="0" cy="0"/>
        </a:xfrm>
      </p:grpSpPr>
      <p:sp>
        <p:nvSpPr>
          <p:cNvPr id="1413" name="Google Shape;1413;p103"/>
          <p:cNvSpPr txBox="1"/>
          <p:nvPr>
            <p:ph type="body" idx="1"/>
          </p:nvPr>
        </p:nvSpPr>
        <p:spPr>
          <a:xfrm>
            <a:off x="324000" y="1080000"/>
            <a:ext cx="8113800" cy="222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We don’t always need a complete table of values to draw a linear graph. They can be drawn more efficiently with just two coordinates because of the nature of their straight line form.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To draw them accurately the distance between the two points should not be too small.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You should check your calculations carefully if you use less points. </a:t>
            </a:r>
            <a:endParaRPr sz="2000"/>
          </a:p>
        </p:txBody>
      </p:sp>
      <p:sp>
        <p:nvSpPr>
          <p:cNvPr id="1414" name="Google Shape;1414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sp>
        <p:nvSpPr>
          <p:cNvPr id="1419" name="Google Shape;1419;p10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0" name="Google Shape;1420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306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2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Efficiently drawing linear graphs</vt:lpstr>
      <vt:lpstr>PowerPoint Presentation</vt:lpstr>
      <vt:lpstr>PowerPoint Presentation</vt:lpstr>
      <vt:lpstr>PowerPoint Presentation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What is the minimum number of coordinates we need to plot the graph of a linear equation?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Plotting linear graphs</vt:lpstr>
      <vt:lpstr>Efficiency in plotting</vt:lpstr>
      <vt:lpstr>Efficiency in plotting</vt:lpstr>
      <vt:lpstr>Efficiency in plotting</vt:lpstr>
      <vt:lpstr>Efficiency in plotting</vt:lpstr>
      <vt:lpstr>Efficiency in plotting</vt:lpstr>
      <vt:lpstr>Efficiency in plotting</vt:lpstr>
      <vt:lpstr>Efficiency in plotting</vt:lpstr>
      <vt:lpstr>Which of these x-values will generate an integer y-coordinate for the linear equation y = 2.5 − 0.25x ?</vt:lpstr>
      <vt:lpstr>Efficiency in plotting</vt:lpstr>
      <vt:lpstr>Efficiency in plotting</vt:lpstr>
      <vt:lpstr>Efficiency in plotting</vt:lpstr>
      <vt:lpstr>Efficiency in plotting</vt:lpstr>
      <vt:lpstr>Efficiency in plotting</vt:lpstr>
      <vt:lpstr>Efficiency in plotting</vt:lpstr>
      <vt:lpstr>Efficiently drawing linear graphs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2024-03-05T14:29:39.266</cp:lastPrinted>
  <dcterms:created xsi:type="dcterms:W3CDTF">2024-03-05T14:29:39Z</dcterms:created>
  <dcterms:modified xsi:type="dcterms:W3CDTF">2024-03-05T14:32:28Z</dcterms:modified>
</cp:coreProperties>
</file>