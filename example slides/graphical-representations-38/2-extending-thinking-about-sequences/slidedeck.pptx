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4"/>
    <p:sldMasterId id="21474837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681032-FEA0-41F4-97EC-146BB895B8C7}">
  <a:tblStyle styleId="{51681032-FEA0-41F4-97EC-146BB895B8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2b51711a435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2b51711a435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2b51711a435_0_1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2b51711a435_0_1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2b51711a435_0_1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2b51711a435_0_1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2b51711a435_0_1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2b51711a435_0_1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2b51711a435_0_1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2b51711a435_0_1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2b51711a435_0_2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1" name="Google Shape;1831;g2b51711a435_0_2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g2b51711a435_0_2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1" name="Google Shape;1871;g2b51711a435_0_2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2b51711a435_0_2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2b51711a435_0_2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2b51711a435_0_2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2b51711a435_0_2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g2b51711a435_0_2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7" name="Google Shape;1907;g2b51711a435_0_2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2b51711a435_0_2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2b51711a435_0_2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2b51711a435_0_2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2b51711a435_0_2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g2b51711a435_0_2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1" name="Google Shape;1971;g2b51711a435_0_2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2b51711a435_0_2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2b51711a435_0_2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g2b51711a435_0_2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5" name="Google Shape;2035;g2b51711a435_0_2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g2b51711a435_0_2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9" name="Google Shape;2109;g2b51711a435_0_2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b51711a435_0_2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b51711a435_0_2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g2b51711a435_0_2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0" name="Google Shape;2130;g2b51711a435_0_2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2b51711a435_0_2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2b51711a435_0_2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g2b51711a435_0_2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8" name="Google Shape;2168;g2b51711a435_0_2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g2b51711a435_0_2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7" name="Google Shape;2197;g2b51711a435_0_2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2b51711a435_0_2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2b51711a435_0_2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g2b51711a435_0_2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3" name="Google Shape;2243;g2b51711a435_0_2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g2b51711a435_0_2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1" name="Google Shape;2281;g2b51711a435_0_2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g2b51711a435_0_2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0" name="Google Shape;2290;g2b51711a435_0_2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g2b51711a435_0_2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2" name="Google Shape;2322;g2b51711a435_0_2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g2b58f3f620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5" name="Google Shape;2345;g2b58f3f620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g2b58f3f620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6" name="Google Shape;2376;g2b58f3f620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2" name="Google Shape;241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8" name="Google Shape;241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4.png"/><Relationship Id="rId4" Type="http://schemas.openxmlformats.org/officeDocument/2006/relationships/image" Target="../media/image45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45.png"/><Relationship Id="rId4" Type="http://schemas.openxmlformats.org/officeDocument/2006/relationships/image" Target="../media/image19.png"/><Relationship Id="rId9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45.png"/><Relationship Id="rId4" Type="http://schemas.openxmlformats.org/officeDocument/2006/relationships/image" Target="../media/image32.png"/><Relationship Id="rId11" Type="http://schemas.openxmlformats.org/officeDocument/2006/relationships/image" Target="../media/image15.png"/><Relationship Id="rId10" Type="http://schemas.openxmlformats.org/officeDocument/2006/relationships/image" Target="../media/image35.png"/><Relationship Id="rId9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4.png"/><Relationship Id="rId4" Type="http://schemas.openxmlformats.org/officeDocument/2006/relationships/image" Target="../media/image45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15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45.png"/><Relationship Id="rId4" Type="http://schemas.openxmlformats.org/officeDocument/2006/relationships/image" Target="../media/image19.png"/><Relationship Id="rId9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45.png"/><Relationship Id="rId4" Type="http://schemas.openxmlformats.org/officeDocument/2006/relationships/image" Target="../media/image32.png"/><Relationship Id="rId11" Type="http://schemas.openxmlformats.org/officeDocument/2006/relationships/image" Target="../media/image15.png"/><Relationship Id="rId10" Type="http://schemas.openxmlformats.org/officeDocument/2006/relationships/image" Target="../media/image35.png"/><Relationship Id="rId9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1" name="Google Shape;7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7" name="Google Shape;777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8" name="Google Shape;778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0" name="Google Shape;780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6" name="Google Shape;78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7" name="Google Shape;797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9" name="Google Shape;799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5" name="Google Shape;81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6" name="Google Shape;816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8" name="Google Shape;818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7" name="Google Shape;837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8" name="Google Shape;838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9" name="Google Shape;83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2" name="Google Shape;842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6" name="Google Shape;846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9" name="Google Shape;849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3" name="Google Shape;853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6" name="Google Shape;856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0" name="Google Shape;86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5" name="Google Shape;885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7" name="Google Shape;897;p80"/>
          <p:cNvCxnSpPr>
            <a:endCxn id="8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9" name="Google Shape;89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0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1" name="Google Shape;901;p80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8" name="Google Shape;89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2" name="Google Shape;912;p81"/>
          <p:cNvCxnSpPr>
            <a:endCxn id="91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3" name="Google Shape;913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81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6" name="Google Shape;916;p81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8" name="Google Shape;918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0" name="Google Shape;920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2" name="Google Shape;932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3" name="Google Shape;933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2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7" name="Google Shape;937;p82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0" name="Google Shape;940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2" name="Google Shape;942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9" name="Google Shape;94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6" name="Google Shape;956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3" name="Google Shape;963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5" name="Google Shape;96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0" name="Google Shape;97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2" name="Google Shape;97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5" name="Google Shape;975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8" name="Google Shape;978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0" name="Google Shape;980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1" name="Google Shape;981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3" name="Google Shape;983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4" name="Google Shape;984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5" name="Google Shape;985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8" name="Google Shape;988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1" name="Google Shape;991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3" name="Google Shape;993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4" name="Google Shape;994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6" name="Google Shape;996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7" name="Google Shape;997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1" name="Google Shape;1001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4" name="Google Shape;1004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6" name="Google Shape;1006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7" name="Google Shape;100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9" name="Google Shape;1009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0" name="Google Shape;1010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4" name="Google Shape;1014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7" name="Google Shape;101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9" name="Google Shape;101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0" name="Google Shape;102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2" name="Google Shape;102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3" name="Google Shape;102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4" name="Google Shape;102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6" name="Google Shape;1036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7" name="Google Shape;1037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2" name="Google Shape;1042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3" name="Google Shape;1043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5" name="Google Shape;1045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6" name="Google Shape;1046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Google Shape;1049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5" name="Google Shape;1055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6" name="Google Shape;105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9" name="Google Shape;1059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1" name="Google Shape;1061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2" name="Google Shape;1062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4" name="Google Shape;1064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5" name="Google Shape;106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" name="Google Shape;106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7" name="Google Shape;1067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2" name="Google Shape;1072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8" name="Google Shape;1078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9" name="Google Shape;107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2" name="Google Shape;1082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4" name="Google Shape;1084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5" name="Google Shape;108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8" name="Google Shape;108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0" name="Google Shape;109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1" name="Google Shape;1101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2" name="Google Shape;110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5" name="Google Shape;1105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7" name="Google Shape;1107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8" name="Google Shape;1108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0" name="Google Shape;1110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1" name="Google Shape;1111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3" name="Google Shape;111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1" name="Google Shape;112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4" name="Google Shape;1124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7" name="Google Shape;1127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8" name="Google Shape;112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1" name="Google Shape;113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3" name="Google Shape;1133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4" name="Google Shape;113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5" name="Google Shape;113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0" name="Google Shape;114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3" name="Google Shape;1143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6" name="Google Shape;1146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7" name="Google Shape;114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0" name="Google Shape;1150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2" name="Google Shape;1152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3" name="Google Shape;1153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9" name="Google Shape;1159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2" name="Google Shape;1162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5" name="Google Shape;1165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6" name="Google Shape;1166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9" name="Google Shape;1169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1" name="Google Shape;1171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2" name="Google Shape;117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8" name="Google Shape;1178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1" name="Google Shape;1181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4" name="Google Shape;1184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5" name="Google Shape;118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8" name="Google Shape;118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0" name="Google Shape;1190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1" name="Google Shape;119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2" name="Google Shape;119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7" name="Google Shape;1197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0" name="Google Shape;1200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4" name="Google Shape;1204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5" name="Google Shape;120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8" name="Google Shape;120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1" name="Google Shape;121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3" name="Google Shape;1213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4" name="Google Shape;121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0" name="Google Shape;1220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3" name="Google Shape;1223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7" name="Google Shape;1227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8" name="Google Shape;122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1" name="Google Shape;123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4" name="Google Shape;123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6" name="Google Shape;1236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7" name="Google Shape;123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8" name="Google Shape;123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3" name="Google Shape;124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6" name="Google Shape;1246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0" name="Google Shape;1250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1" name="Google Shape;125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6" name="Google Shape;126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9" name="Google Shape;126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3" name="Google Shape;127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2" name="Google Shape;128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3" name="Google Shape;128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4" name="Google Shape;128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9" name="Google Shape;128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2" name="Google Shape;1292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3" name="Google Shape;1293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5" name="Google Shape;1295;p10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10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10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8" name="Google Shape;1298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1" name="Google Shape;1301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2" name="Google Shape;130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3" name="Google Shape;130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4" name="Google Shape;1304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5" name="Google Shape;130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6" name="Google Shape;130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8" name="Google Shape;1308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1" name="Google Shape;1311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4" name="Google Shape;1314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5" name="Google Shape;1315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6" name="Google Shape;1316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0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10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0" name="Google Shape;1320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1" name="Google Shape;132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3" name="Google Shape;1323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4" name="Google Shape;132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5" name="Google Shape;132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6" name="Google Shape;1326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7" name="Google Shape;132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8" name="Google Shape;132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3" name="Google Shape;133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6" name="Google Shape;1336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7" name="Google Shape;1337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8" name="Google Shape;1338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10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10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2" name="Google Shape;1342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3" name="Google Shape;134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4" name="Google Shape;134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5" name="Google Shape;1345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6" name="Google Shape;134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7" name="Google Shape;134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8" name="Google Shape;1348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9" name="Google Shape;134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0" name="Google Shape;135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2" name="Google Shape;1352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5" name="Google Shape;1355;p106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06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106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8" name="Google Shape;135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1" name="Google Shape;1361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2" name="Google Shape;1362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3" name="Google Shape;1363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4" name="Google Shape;1364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65" name="Google Shape;136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6" name="Google Shape;136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7" name="Google Shape;1367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8" name="Google Shape;136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9" name="Google Shape;136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0" name="Google Shape;1370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71" name="Google Shape;1371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2" name="Google Shape;1372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4" name="Google Shape;1374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7" name="Google Shape;1377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1" name="Google Shape;1381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4" name="Google Shape;1384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8" name="Google Shape;1388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1" name="Google Shape;1391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8" name="Google Shape;1398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Google Shape;1402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5" name="Google Shape;1405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7" name="Google Shape;1407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0" name="Google Shape;1410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3" name="Google Shape;1413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112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1" name="Google Shape;1421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13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Google Shape;1426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9" name="Google Shape;1429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14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2" name="Google Shape;1432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" name="Google Shape;1434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7" name="Google Shape;1437;p11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9" name="Google Shape;1439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5" name="Google Shape;1445;p116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7" name="Google Shape;1447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8" name="Google Shape;1448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3" name="Google Shape;1453;p117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5" name="Google Shape;1455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6" name="Google Shape;1456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8" name="Google Shape;1458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1" name="Google Shape;1461;p118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3" name="Google Shape;1463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4" name="Google Shape;1464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7" name="Google Shape;1467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9" name="Google Shape;1469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3" name="Google Shape;1473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5" name="Google Shape;1475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8" name="Google Shape;1478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4" name="Google Shape;744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thinking about sequences</a:t>
            </a:r>
            <a:endParaRPr/>
          </a:p>
        </p:txBody>
      </p:sp>
      <p:sp>
        <p:nvSpPr>
          <p:cNvPr id="1500" name="Google Shape;1500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26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abstract sequences can have negative values.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28"/>
          <p:cNvSpPr txBox="1"/>
          <p:nvPr>
            <p:ph idx="1" type="subTitle"/>
          </p:nvPr>
        </p:nvSpPr>
        <p:spPr>
          <a:xfrm>
            <a:off x="324000" y="4010650"/>
            <a:ext cx="8044500" cy="7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A </a:t>
            </a:r>
            <a:r>
              <a:rPr lang="en-GB" sz="1900">
                <a:solidFill>
                  <a:schemeClr val="dk1"/>
                </a:solidFill>
              </a:rPr>
              <a:t>geometric sequence is a sequence with a constant multiplicative relationship between successive terms.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516" name="Google Shape;1516;p128"/>
          <p:cNvSpPr txBox="1"/>
          <p:nvPr/>
        </p:nvSpPr>
        <p:spPr>
          <a:xfrm>
            <a:off x="324000" y="1145259"/>
            <a:ext cx="84960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arithmetic (or linear) sequence is a sequence where the difference between successive terms is a constant.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E.g.  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10, 12, 14, 16, 18,...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E.g. 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10, 12, 15, 19, 24,...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128"/>
          <p:cNvSpPr txBox="1"/>
          <p:nvPr/>
        </p:nvSpPr>
        <p:spPr>
          <a:xfrm>
            <a:off x="3115800" y="1857125"/>
            <a:ext cx="57042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an arithmetic sequence with a common difference of 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18" name="Google Shape;1518;p128"/>
          <p:cNvGrpSpPr/>
          <p:nvPr/>
        </p:nvGrpSpPr>
        <p:grpSpPr>
          <a:xfrm>
            <a:off x="975180" y="1934750"/>
            <a:ext cx="1634110" cy="627825"/>
            <a:chOff x="975180" y="1553750"/>
            <a:chExt cx="1634110" cy="627825"/>
          </a:xfrm>
        </p:grpSpPr>
        <p:sp>
          <p:nvSpPr>
            <p:cNvPr id="1519" name="Google Shape;1519;p128"/>
            <p:cNvSpPr txBox="1"/>
            <p:nvPr/>
          </p:nvSpPr>
          <p:spPr>
            <a:xfrm>
              <a:off x="1009390" y="194456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0" name="Google Shape;1520;p128"/>
            <p:cNvSpPr txBox="1"/>
            <p:nvPr/>
          </p:nvSpPr>
          <p:spPr>
            <a:xfrm>
              <a:off x="1416890" y="1944575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1" name="Google Shape;1521;p128"/>
            <p:cNvSpPr txBox="1"/>
            <p:nvPr/>
          </p:nvSpPr>
          <p:spPr>
            <a:xfrm>
              <a:off x="1824390" y="194456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2" name="Google Shape;1522;p128"/>
            <p:cNvSpPr txBox="1"/>
            <p:nvPr/>
          </p:nvSpPr>
          <p:spPr>
            <a:xfrm>
              <a:off x="2231890" y="194456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3" name="Google Shape;1523;p128"/>
            <p:cNvSpPr/>
            <p:nvPr/>
          </p:nvSpPr>
          <p:spPr>
            <a:xfrm rot="5397628">
              <a:off x="936480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4" name="Google Shape;1524;p128"/>
            <p:cNvSpPr/>
            <p:nvPr/>
          </p:nvSpPr>
          <p:spPr>
            <a:xfrm rot="5397628">
              <a:off x="1348091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5" name="Google Shape;1525;p128"/>
            <p:cNvSpPr/>
            <p:nvPr/>
          </p:nvSpPr>
          <p:spPr>
            <a:xfrm rot="5397628">
              <a:off x="1759677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6" name="Google Shape;1526;p128"/>
            <p:cNvSpPr/>
            <p:nvPr/>
          </p:nvSpPr>
          <p:spPr>
            <a:xfrm rot="5397628">
              <a:off x="2171257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27" name="Google Shape;1527;p128"/>
          <p:cNvSpPr txBox="1"/>
          <p:nvPr/>
        </p:nvSpPr>
        <p:spPr>
          <a:xfrm>
            <a:off x="3115800" y="2749275"/>
            <a:ext cx="57042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not an arithmetic sequence because there is not a common difference between successive terms.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8" name="Google Shape;1528;p128"/>
          <p:cNvGrpSpPr/>
          <p:nvPr/>
        </p:nvGrpSpPr>
        <p:grpSpPr>
          <a:xfrm>
            <a:off x="905442" y="2905800"/>
            <a:ext cx="1678335" cy="627825"/>
            <a:chOff x="905442" y="2524800"/>
            <a:chExt cx="1678335" cy="627825"/>
          </a:xfrm>
        </p:grpSpPr>
        <p:sp>
          <p:nvSpPr>
            <p:cNvPr id="1529" name="Google Shape;1529;p128"/>
            <p:cNvSpPr txBox="1"/>
            <p:nvPr/>
          </p:nvSpPr>
          <p:spPr>
            <a:xfrm>
              <a:off x="939652" y="291561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0" name="Google Shape;1530;p128"/>
            <p:cNvSpPr txBox="1"/>
            <p:nvPr/>
          </p:nvSpPr>
          <p:spPr>
            <a:xfrm>
              <a:off x="1376750" y="2915625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1" name="Google Shape;1531;p128"/>
            <p:cNvSpPr txBox="1"/>
            <p:nvPr/>
          </p:nvSpPr>
          <p:spPr>
            <a:xfrm>
              <a:off x="1774702" y="291561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2" name="Google Shape;1532;p128"/>
            <p:cNvSpPr txBox="1"/>
            <p:nvPr/>
          </p:nvSpPr>
          <p:spPr>
            <a:xfrm>
              <a:off x="2206377" y="291561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3" name="Google Shape;1533;p128"/>
            <p:cNvSpPr/>
            <p:nvPr/>
          </p:nvSpPr>
          <p:spPr>
            <a:xfrm rot="5397628">
              <a:off x="866742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4" name="Google Shape;1534;p128"/>
            <p:cNvSpPr/>
            <p:nvPr/>
          </p:nvSpPr>
          <p:spPr>
            <a:xfrm rot="5397628">
              <a:off x="1278353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5" name="Google Shape;1535;p128"/>
            <p:cNvSpPr/>
            <p:nvPr/>
          </p:nvSpPr>
          <p:spPr>
            <a:xfrm rot="5397628">
              <a:off x="1689940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6" name="Google Shape;1536;p128"/>
            <p:cNvSpPr/>
            <p:nvPr/>
          </p:nvSpPr>
          <p:spPr>
            <a:xfrm rot="5397628">
              <a:off x="2101520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12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sp>
        <p:nvSpPr>
          <p:cNvPr id="1542" name="Google Shape;1542;p12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sequences in both directions</a:t>
            </a:r>
            <a:endParaRPr/>
          </a:p>
        </p:txBody>
      </p:sp>
      <p:sp>
        <p:nvSpPr>
          <p:cNvPr id="1543" name="Google Shape;1543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thinking about sequences</a:t>
            </a:r>
            <a:endParaRPr/>
          </a:p>
        </p:txBody>
      </p:sp>
      <p:pic>
        <p:nvPicPr>
          <p:cNvPr id="1544" name="Google Shape;1544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05434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30"/>
          <p:cNvSpPr txBox="1"/>
          <p:nvPr>
            <p:ph idx="1" type="body"/>
          </p:nvPr>
        </p:nvSpPr>
        <p:spPr>
          <a:xfrm>
            <a:off x="324000" y="759300"/>
            <a:ext cx="7135200" cy="4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lots of concrete examples of sequences in the world around us.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tables in a dining hall.</a:t>
            </a:r>
            <a:endParaRPr/>
          </a:p>
        </p:txBody>
      </p:sp>
      <p:sp>
        <p:nvSpPr>
          <p:cNvPr id="1550" name="Google Shape;1550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sp>
        <p:nvSpPr>
          <p:cNvPr id="1551" name="Google Shape;1551;p130"/>
          <p:cNvSpPr/>
          <p:nvPr/>
        </p:nvSpPr>
        <p:spPr>
          <a:xfrm>
            <a:off x="1184000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2" name="Google Shape;1552;p130"/>
          <p:cNvGrpSpPr/>
          <p:nvPr/>
        </p:nvGrpSpPr>
        <p:grpSpPr>
          <a:xfrm>
            <a:off x="1231680" y="2138754"/>
            <a:ext cx="353030" cy="156300"/>
            <a:chOff x="1688880" y="1757754"/>
            <a:chExt cx="353030" cy="156300"/>
          </a:xfrm>
        </p:grpSpPr>
        <p:sp>
          <p:nvSpPr>
            <p:cNvPr id="1553" name="Google Shape;1553;p130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30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5" name="Google Shape;1555;p130"/>
          <p:cNvGrpSpPr/>
          <p:nvPr/>
        </p:nvGrpSpPr>
        <p:grpSpPr>
          <a:xfrm>
            <a:off x="1231680" y="3266418"/>
            <a:ext cx="353030" cy="156300"/>
            <a:chOff x="1688880" y="2885418"/>
            <a:chExt cx="353030" cy="156300"/>
          </a:xfrm>
        </p:grpSpPr>
        <p:sp>
          <p:nvSpPr>
            <p:cNvPr id="1556" name="Google Shape;1556;p130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130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8" name="Google Shape;1558;p130"/>
          <p:cNvSpPr txBox="1"/>
          <p:nvPr/>
        </p:nvSpPr>
        <p:spPr>
          <a:xfrm>
            <a:off x="1921500" y="3099925"/>
            <a:ext cx="2001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130"/>
          <p:cNvSpPr txBox="1"/>
          <p:nvPr/>
        </p:nvSpPr>
        <p:spPr>
          <a:xfrm>
            <a:off x="3760385" y="3099925"/>
            <a:ext cx="2001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0" name="Google Shape;1560;p130"/>
          <p:cNvGrpSpPr/>
          <p:nvPr/>
        </p:nvGrpSpPr>
        <p:grpSpPr>
          <a:xfrm>
            <a:off x="984775" y="2353010"/>
            <a:ext cx="152100" cy="852527"/>
            <a:chOff x="1441975" y="1972010"/>
            <a:chExt cx="152100" cy="852527"/>
          </a:xfrm>
        </p:grpSpPr>
        <p:sp>
          <p:nvSpPr>
            <p:cNvPr id="1561" name="Google Shape;1561;p130"/>
            <p:cNvSpPr/>
            <p:nvPr/>
          </p:nvSpPr>
          <p:spPr>
            <a:xfrm>
              <a:off x="1441975" y="24396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30"/>
            <p:cNvSpPr/>
            <p:nvPr/>
          </p:nvSpPr>
          <p:spPr>
            <a:xfrm>
              <a:off x="1441975" y="220582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30"/>
            <p:cNvSpPr/>
            <p:nvPr/>
          </p:nvSpPr>
          <p:spPr>
            <a:xfrm>
              <a:off x="1441975" y="197201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30"/>
            <p:cNvSpPr/>
            <p:nvPr/>
          </p:nvSpPr>
          <p:spPr>
            <a:xfrm>
              <a:off x="1441975" y="26682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5" name="Google Shape;1565;p130"/>
          <p:cNvGrpSpPr/>
          <p:nvPr/>
        </p:nvGrpSpPr>
        <p:grpSpPr>
          <a:xfrm>
            <a:off x="1694335" y="2357773"/>
            <a:ext cx="152100" cy="852527"/>
            <a:chOff x="2151535" y="1976773"/>
            <a:chExt cx="152100" cy="852527"/>
          </a:xfrm>
        </p:grpSpPr>
        <p:sp>
          <p:nvSpPr>
            <p:cNvPr id="1566" name="Google Shape;1566;p130"/>
            <p:cNvSpPr/>
            <p:nvPr/>
          </p:nvSpPr>
          <p:spPr>
            <a:xfrm>
              <a:off x="2151535" y="24444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30"/>
            <p:cNvSpPr/>
            <p:nvPr/>
          </p:nvSpPr>
          <p:spPr>
            <a:xfrm>
              <a:off x="2151535" y="2210586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30"/>
            <p:cNvSpPr/>
            <p:nvPr/>
          </p:nvSpPr>
          <p:spPr>
            <a:xfrm>
              <a:off x="2151535" y="1976773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30"/>
            <p:cNvSpPr/>
            <p:nvPr/>
          </p:nvSpPr>
          <p:spPr>
            <a:xfrm>
              <a:off x="2151535" y="26730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0" name="Google Shape;1570;p130"/>
          <p:cNvSpPr/>
          <p:nvPr/>
        </p:nvSpPr>
        <p:spPr>
          <a:xfrm>
            <a:off x="2527025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1" name="Google Shape;1571;p130"/>
          <p:cNvGrpSpPr/>
          <p:nvPr/>
        </p:nvGrpSpPr>
        <p:grpSpPr>
          <a:xfrm>
            <a:off x="2574705" y="2138754"/>
            <a:ext cx="353030" cy="156300"/>
            <a:chOff x="1688880" y="1757754"/>
            <a:chExt cx="353030" cy="156300"/>
          </a:xfrm>
        </p:grpSpPr>
        <p:sp>
          <p:nvSpPr>
            <p:cNvPr id="1572" name="Google Shape;1572;p130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130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4" name="Google Shape;1574;p130"/>
          <p:cNvGrpSpPr/>
          <p:nvPr/>
        </p:nvGrpSpPr>
        <p:grpSpPr>
          <a:xfrm>
            <a:off x="2574705" y="3266418"/>
            <a:ext cx="353030" cy="156300"/>
            <a:chOff x="1688880" y="2885418"/>
            <a:chExt cx="353030" cy="156300"/>
          </a:xfrm>
        </p:grpSpPr>
        <p:sp>
          <p:nvSpPr>
            <p:cNvPr id="1575" name="Google Shape;1575;p130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130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7" name="Google Shape;1577;p130"/>
          <p:cNvGrpSpPr/>
          <p:nvPr/>
        </p:nvGrpSpPr>
        <p:grpSpPr>
          <a:xfrm>
            <a:off x="2327800" y="2353010"/>
            <a:ext cx="152100" cy="852527"/>
            <a:chOff x="1441975" y="1972010"/>
            <a:chExt cx="152100" cy="852527"/>
          </a:xfrm>
        </p:grpSpPr>
        <p:sp>
          <p:nvSpPr>
            <p:cNvPr id="1578" name="Google Shape;1578;p130"/>
            <p:cNvSpPr/>
            <p:nvPr/>
          </p:nvSpPr>
          <p:spPr>
            <a:xfrm>
              <a:off x="1441975" y="24396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130"/>
            <p:cNvSpPr/>
            <p:nvPr/>
          </p:nvSpPr>
          <p:spPr>
            <a:xfrm>
              <a:off x="1441975" y="220582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130"/>
            <p:cNvSpPr/>
            <p:nvPr/>
          </p:nvSpPr>
          <p:spPr>
            <a:xfrm>
              <a:off x="1441975" y="197201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130"/>
            <p:cNvSpPr/>
            <p:nvPr/>
          </p:nvSpPr>
          <p:spPr>
            <a:xfrm>
              <a:off x="1441975" y="26682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2" name="Google Shape;1582;p130"/>
          <p:cNvSpPr/>
          <p:nvPr/>
        </p:nvSpPr>
        <p:spPr>
          <a:xfrm>
            <a:off x="2979463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3" name="Google Shape;1583;p130"/>
          <p:cNvGrpSpPr/>
          <p:nvPr/>
        </p:nvGrpSpPr>
        <p:grpSpPr>
          <a:xfrm>
            <a:off x="3489797" y="2357773"/>
            <a:ext cx="152100" cy="852527"/>
            <a:chOff x="2151535" y="1976773"/>
            <a:chExt cx="152100" cy="852527"/>
          </a:xfrm>
        </p:grpSpPr>
        <p:sp>
          <p:nvSpPr>
            <p:cNvPr id="1584" name="Google Shape;1584;p130"/>
            <p:cNvSpPr/>
            <p:nvPr/>
          </p:nvSpPr>
          <p:spPr>
            <a:xfrm>
              <a:off x="2151535" y="24444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130"/>
            <p:cNvSpPr/>
            <p:nvPr/>
          </p:nvSpPr>
          <p:spPr>
            <a:xfrm>
              <a:off x="2151535" y="2210586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130"/>
            <p:cNvSpPr/>
            <p:nvPr/>
          </p:nvSpPr>
          <p:spPr>
            <a:xfrm>
              <a:off x="2151535" y="1976773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130"/>
            <p:cNvSpPr/>
            <p:nvPr/>
          </p:nvSpPr>
          <p:spPr>
            <a:xfrm>
              <a:off x="2151535" y="26730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8" name="Google Shape;1588;p130"/>
          <p:cNvGrpSpPr/>
          <p:nvPr/>
        </p:nvGrpSpPr>
        <p:grpSpPr>
          <a:xfrm>
            <a:off x="3031905" y="2138754"/>
            <a:ext cx="353030" cy="156300"/>
            <a:chOff x="1688880" y="1757754"/>
            <a:chExt cx="353030" cy="156300"/>
          </a:xfrm>
        </p:grpSpPr>
        <p:sp>
          <p:nvSpPr>
            <p:cNvPr id="1589" name="Google Shape;1589;p130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130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1" name="Google Shape;1591;p130"/>
          <p:cNvGrpSpPr/>
          <p:nvPr/>
        </p:nvGrpSpPr>
        <p:grpSpPr>
          <a:xfrm>
            <a:off x="3031905" y="3266418"/>
            <a:ext cx="353030" cy="156300"/>
            <a:chOff x="1688880" y="2885418"/>
            <a:chExt cx="353030" cy="156300"/>
          </a:xfrm>
        </p:grpSpPr>
        <p:sp>
          <p:nvSpPr>
            <p:cNvPr id="1592" name="Google Shape;1592;p130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130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4" name="Google Shape;1594;p130"/>
          <p:cNvSpPr/>
          <p:nvPr/>
        </p:nvSpPr>
        <p:spPr>
          <a:xfrm>
            <a:off x="4355825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5" name="Google Shape;1595;p130"/>
          <p:cNvGrpSpPr/>
          <p:nvPr/>
        </p:nvGrpSpPr>
        <p:grpSpPr>
          <a:xfrm>
            <a:off x="4403505" y="2138754"/>
            <a:ext cx="353030" cy="156300"/>
            <a:chOff x="1688880" y="1757754"/>
            <a:chExt cx="353030" cy="156300"/>
          </a:xfrm>
        </p:grpSpPr>
        <p:sp>
          <p:nvSpPr>
            <p:cNvPr id="1596" name="Google Shape;1596;p130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130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8" name="Google Shape;1598;p130"/>
          <p:cNvGrpSpPr/>
          <p:nvPr/>
        </p:nvGrpSpPr>
        <p:grpSpPr>
          <a:xfrm>
            <a:off x="4403505" y="3266418"/>
            <a:ext cx="353030" cy="156300"/>
            <a:chOff x="1688880" y="2885418"/>
            <a:chExt cx="353030" cy="156300"/>
          </a:xfrm>
        </p:grpSpPr>
        <p:sp>
          <p:nvSpPr>
            <p:cNvPr id="1599" name="Google Shape;1599;p130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130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1" name="Google Shape;1601;p130"/>
          <p:cNvGrpSpPr/>
          <p:nvPr/>
        </p:nvGrpSpPr>
        <p:grpSpPr>
          <a:xfrm>
            <a:off x="4156600" y="2353010"/>
            <a:ext cx="152100" cy="852527"/>
            <a:chOff x="1441975" y="1972010"/>
            <a:chExt cx="152100" cy="852527"/>
          </a:xfrm>
        </p:grpSpPr>
        <p:sp>
          <p:nvSpPr>
            <p:cNvPr id="1602" name="Google Shape;1602;p130"/>
            <p:cNvSpPr/>
            <p:nvPr/>
          </p:nvSpPr>
          <p:spPr>
            <a:xfrm>
              <a:off x="1441975" y="24396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130"/>
            <p:cNvSpPr/>
            <p:nvPr/>
          </p:nvSpPr>
          <p:spPr>
            <a:xfrm>
              <a:off x="1441975" y="220582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130"/>
            <p:cNvSpPr/>
            <p:nvPr/>
          </p:nvSpPr>
          <p:spPr>
            <a:xfrm>
              <a:off x="1441975" y="197201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130"/>
            <p:cNvSpPr/>
            <p:nvPr/>
          </p:nvSpPr>
          <p:spPr>
            <a:xfrm>
              <a:off x="1441975" y="26682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6" name="Google Shape;1606;p130"/>
          <p:cNvSpPr/>
          <p:nvPr/>
        </p:nvSpPr>
        <p:spPr>
          <a:xfrm>
            <a:off x="5265463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7" name="Google Shape;1607;p130"/>
          <p:cNvGrpSpPr/>
          <p:nvPr/>
        </p:nvGrpSpPr>
        <p:grpSpPr>
          <a:xfrm>
            <a:off x="5775797" y="2357773"/>
            <a:ext cx="152100" cy="852527"/>
            <a:chOff x="2151535" y="1976773"/>
            <a:chExt cx="152100" cy="852527"/>
          </a:xfrm>
        </p:grpSpPr>
        <p:sp>
          <p:nvSpPr>
            <p:cNvPr id="1608" name="Google Shape;1608;p130"/>
            <p:cNvSpPr/>
            <p:nvPr/>
          </p:nvSpPr>
          <p:spPr>
            <a:xfrm>
              <a:off x="2151535" y="24444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130"/>
            <p:cNvSpPr/>
            <p:nvPr/>
          </p:nvSpPr>
          <p:spPr>
            <a:xfrm>
              <a:off x="2151535" y="2210586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130"/>
            <p:cNvSpPr/>
            <p:nvPr/>
          </p:nvSpPr>
          <p:spPr>
            <a:xfrm>
              <a:off x="2151535" y="1976773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130"/>
            <p:cNvSpPr/>
            <p:nvPr/>
          </p:nvSpPr>
          <p:spPr>
            <a:xfrm>
              <a:off x="2151535" y="26730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2" name="Google Shape;1612;p130"/>
          <p:cNvGrpSpPr/>
          <p:nvPr/>
        </p:nvGrpSpPr>
        <p:grpSpPr>
          <a:xfrm>
            <a:off x="5317905" y="2138754"/>
            <a:ext cx="353030" cy="156300"/>
            <a:chOff x="1688880" y="1757754"/>
            <a:chExt cx="353030" cy="156300"/>
          </a:xfrm>
        </p:grpSpPr>
        <p:sp>
          <p:nvSpPr>
            <p:cNvPr id="1613" name="Google Shape;1613;p130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130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5" name="Google Shape;1615;p130"/>
          <p:cNvGrpSpPr/>
          <p:nvPr/>
        </p:nvGrpSpPr>
        <p:grpSpPr>
          <a:xfrm>
            <a:off x="5317905" y="3266418"/>
            <a:ext cx="353030" cy="156300"/>
            <a:chOff x="1688880" y="2885418"/>
            <a:chExt cx="353030" cy="156300"/>
          </a:xfrm>
        </p:grpSpPr>
        <p:sp>
          <p:nvSpPr>
            <p:cNvPr id="1616" name="Google Shape;1616;p130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130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8" name="Google Shape;1618;p130"/>
          <p:cNvSpPr/>
          <p:nvPr/>
        </p:nvSpPr>
        <p:spPr>
          <a:xfrm>
            <a:off x="4808263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9" name="Google Shape;1619;p130"/>
          <p:cNvGrpSpPr/>
          <p:nvPr/>
        </p:nvGrpSpPr>
        <p:grpSpPr>
          <a:xfrm>
            <a:off x="4860705" y="2138754"/>
            <a:ext cx="353030" cy="156300"/>
            <a:chOff x="1688880" y="1757754"/>
            <a:chExt cx="353030" cy="156300"/>
          </a:xfrm>
        </p:grpSpPr>
        <p:sp>
          <p:nvSpPr>
            <p:cNvPr id="1620" name="Google Shape;1620;p130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130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2" name="Google Shape;1622;p130"/>
          <p:cNvGrpSpPr/>
          <p:nvPr/>
        </p:nvGrpSpPr>
        <p:grpSpPr>
          <a:xfrm>
            <a:off x="4860705" y="3266418"/>
            <a:ext cx="353030" cy="156300"/>
            <a:chOff x="1688880" y="2885418"/>
            <a:chExt cx="353030" cy="156300"/>
          </a:xfrm>
        </p:grpSpPr>
        <p:sp>
          <p:nvSpPr>
            <p:cNvPr id="1623" name="Google Shape;1623;p130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130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5" name="Google Shape;1625;p130"/>
          <p:cNvSpPr txBox="1"/>
          <p:nvPr/>
        </p:nvSpPr>
        <p:spPr>
          <a:xfrm>
            <a:off x="6076533" y="3099925"/>
            <a:ext cx="459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…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130"/>
          <p:cNvSpPr txBox="1"/>
          <p:nvPr>
            <p:ph idx="1" type="body"/>
          </p:nvPr>
        </p:nvSpPr>
        <p:spPr>
          <a:xfrm>
            <a:off x="324000" y="3731100"/>
            <a:ext cx="7135200" cy="4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see a pattern?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131"/>
          <p:cNvSpPr txBox="1"/>
          <p:nvPr>
            <p:ph idx="1" type="body"/>
          </p:nvPr>
        </p:nvSpPr>
        <p:spPr>
          <a:xfrm>
            <a:off x="324000" y="759300"/>
            <a:ext cx="7135200" cy="4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lots of concrete examples of sequences in the world around us.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tables in a dining hall.</a:t>
            </a:r>
            <a:endParaRPr/>
          </a:p>
        </p:txBody>
      </p:sp>
      <p:sp>
        <p:nvSpPr>
          <p:cNvPr id="1632" name="Google Shape;1632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grpSp>
        <p:nvGrpSpPr>
          <p:cNvPr id="1633" name="Google Shape;1633;p131"/>
          <p:cNvGrpSpPr/>
          <p:nvPr/>
        </p:nvGrpSpPr>
        <p:grpSpPr>
          <a:xfrm>
            <a:off x="2385184" y="4129275"/>
            <a:ext cx="1438220" cy="722014"/>
            <a:chOff x="459975" y="1701066"/>
            <a:chExt cx="1044156" cy="757384"/>
          </a:xfrm>
        </p:grpSpPr>
        <p:grpSp>
          <p:nvGrpSpPr>
            <p:cNvPr id="1634" name="Google Shape;1634;p131"/>
            <p:cNvGrpSpPr/>
            <p:nvPr/>
          </p:nvGrpSpPr>
          <p:grpSpPr>
            <a:xfrm>
              <a:off x="553360" y="2119150"/>
              <a:ext cx="898597" cy="339300"/>
              <a:chOff x="553360" y="1509550"/>
              <a:chExt cx="898597" cy="339300"/>
            </a:xfrm>
          </p:grpSpPr>
          <p:sp>
            <p:nvSpPr>
              <p:cNvPr id="1635" name="Google Shape;1635;p131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36" name="Google Shape;1636;p131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37" name="Google Shape;1637;p131"/>
            <p:cNvGrpSpPr/>
            <p:nvPr/>
          </p:nvGrpSpPr>
          <p:grpSpPr>
            <a:xfrm>
              <a:off x="459975" y="1701066"/>
              <a:ext cx="1044156" cy="437700"/>
              <a:chOff x="459975" y="1701066"/>
              <a:chExt cx="1044156" cy="437700"/>
            </a:xfrm>
          </p:grpSpPr>
          <p:sp>
            <p:nvSpPr>
              <p:cNvPr id="1638" name="Google Shape;1638;p131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131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640" name="Google Shape;1640;p131"/>
          <p:cNvGraphicFramePr/>
          <p:nvPr/>
        </p:nvGraphicFramePr>
        <p:xfrm>
          <a:off x="791983" y="36134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248700"/>
                <a:gridCol w="717525"/>
                <a:gridCol w="717525"/>
                <a:gridCol w="717525"/>
              </a:tblGrid>
              <a:tr h="31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Tables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1" name="Google Shape;1641;p131"/>
          <p:cNvSpPr/>
          <p:nvPr/>
        </p:nvSpPr>
        <p:spPr>
          <a:xfrm>
            <a:off x="1184000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2" name="Google Shape;1642;p131"/>
          <p:cNvGrpSpPr/>
          <p:nvPr/>
        </p:nvGrpSpPr>
        <p:grpSpPr>
          <a:xfrm>
            <a:off x="1231680" y="2138754"/>
            <a:ext cx="353030" cy="156300"/>
            <a:chOff x="1688880" y="1757754"/>
            <a:chExt cx="353030" cy="156300"/>
          </a:xfrm>
        </p:grpSpPr>
        <p:sp>
          <p:nvSpPr>
            <p:cNvPr id="1643" name="Google Shape;1643;p131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131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5" name="Google Shape;1645;p131"/>
          <p:cNvGrpSpPr/>
          <p:nvPr/>
        </p:nvGrpSpPr>
        <p:grpSpPr>
          <a:xfrm>
            <a:off x="1231680" y="3266418"/>
            <a:ext cx="353030" cy="156300"/>
            <a:chOff x="1688880" y="2885418"/>
            <a:chExt cx="353030" cy="156300"/>
          </a:xfrm>
        </p:grpSpPr>
        <p:sp>
          <p:nvSpPr>
            <p:cNvPr id="1646" name="Google Shape;1646;p131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131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8" name="Google Shape;1648;p131"/>
          <p:cNvSpPr txBox="1"/>
          <p:nvPr/>
        </p:nvSpPr>
        <p:spPr>
          <a:xfrm>
            <a:off x="1921500" y="3099925"/>
            <a:ext cx="2001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131"/>
          <p:cNvSpPr txBox="1"/>
          <p:nvPr/>
        </p:nvSpPr>
        <p:spPr>
          <a:xfrm>
            <a:off x="3760385" y="3099925"/>
            <a:ext cx="2001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0" name="Google Shape;1650;p131"/>
          <p:cNvGrpSpPr/>
          <p:nvPr/>
        </p:nvGrpSpPr>
        <p:grpSpPr>
          <a:xfrm>
            <a:off x="984775" y="2353010"/>
            <a:ext cx="152100" cy="852527"/>
            <a:chOff x="1441975" y="1972010"/>
            <a:chExt cx="152100" cy="852527"/>
          </a:xfrm>
        </p:grpSpPr>
        <p:sp>
          <p:nvSpPr>
            <p:cNvPr id="1651" name="Google Shape;1651;p131"/>
            <p:cNvSpPr/>
            <p:nvPr/>
          </p:nvSpPr>
          <p:spPr>
            <a:xfrm>
              <a:off x="1441975" y="24396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131"/>
            <p:cNvSpPr/>
            <p:nvPr/>
          </p:nvSpPr>
          <p:spPr>
            <a:xfrm>
              <a:off x="1441975" y="220582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131"/>
            <p:cNvSpPr/>
            <p:nvPr/>
          </p:nvSpPr>
          <p:spPr>
            <a:xfrm>
              <a:off x="1441975" y="197201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131"/>
            <p:cNvSpPr/>
            <p:nvPr/>
          </p:nvSpPr>
          <p:spPr>
            <a:xfrm>
              <a:off x="1441975" y="26682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5" name="Google Shape;1655;p131"/>
          <p:cNvGrpSpPr/>
          <p:nvPr/>
        </p:nvGrpSpPr>
        <p:grpSpPr>
          <a:xfrm>
            <a:off x="1694335" y="2357773"/>
            <a:ext cx="152100" cy="852527"/>
            <a:chOff x="2151535" y="1976773"/>
            <a:chExt cx="152100" cy="852527"/>
          </a:xfrm>
        </p:grpSpPr>
        <p:sp>
          <p:nvSpPr>
            <p:cNvPr id="1656" name="Google Shape;1656;p131"/>
            <p:cNvSpPr/>
            <p:nvPr/>
          </p:nvSpPr>
          <p:spPr>
            <a:xfrm>
              <a:off x="2151535" y="24444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131"/>
            <p:cNvSpPr/>
            <p:nvPr/>
          </p:nvSpPr>
          <p:spPr>
            <a:xfrm>
              <a:off x="2151535" y="2210586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131"/>
            <p:cNvSpPr/>
            <p:nvPr/>
          </p:nvSpPr>
          <p:spPr>
            <a:xfrm>
              <a:off x="2151535" y="1976773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131"/>
            <p:cNvSpPr/>
            <p:nvPr/>
          </p:nvSpPr>
          <p:spPr>
            <a:xfrm>
              <a:off x="2151535" y="26730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0" name="Google Shape;1660;p131"/>
          <p:cNvSpPr/>
          <p:nvPr/>
        </p:nvSpPr>
        <p:spPr>
          <a:xfrm>
            <a:off x="2527025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1" name="Google Shape;1661;p131"/>
          <p:cNvGrpSpPr/>
          <p:nvPr/>
        </p:nvGrpSpPr>
        <p:grpSpPr>
          <a:xfrm>
            <a:off x="2574705" y="2138754"/>
            <a:ext cx="353030" cy="156300"/>
            <a:chOff x="1688880" y="1757754"/>
            <a:chExt cx="353030" cy="156300"/>
          </a:xfrm>
        </p:grpSpPr>
        <p:sp>
          <p:nvSpPr>
            <p:cNvPr id="1662" name="Google Shape;1662;p131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131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4" name="Google Shape;1664;p131"/>
          <p:cNvGrpSpPr/>
          <p:nvPr/>
        </p:nvGrpSpPr>
        <p:grpSpPr>
          <a:xfrm>
            <a:off x="2574705" y="3266418"/>
            <a:ext cx="353030" cy="156300"/>
            <a:chOff x="1688880" y="2885418"/>
            <a:chExt cx="353030" cy="156300"/>
          </a:xfrm>
        </p:grpSpPr>
        <p:sp>
          <p:nvSpPr>
            <p:cNvPr id="1665" name="Google Shape;1665;p131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131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7" name="Google Shape;1667;p131"/>
          <p:cNvGrpSpPr/>
          <p:nvPr/>
        </p:nvGrpSpPr>
        <p:grpSpPr>
          <a:xfrm>
            <a:off x="2327800" y="2353010"/>
            <a:ext cx="152100" cy="852527"/>
            <a:chOff x="1441975" y="1972010"/>
            <a:chExt cx="152100" cy="852527"/>
          </a:xfrm>
        </p:grpSpPr>
        <p:sp>
          <p:nvSpPr>
            <p:cNvPr id="1668" name="Google Shape;1668;p131"/>
            <p:cNvSpPr/>
            <p:nvPr/>
          </p:nvSpPr>
          <p:spPr>
            <a:xfrm>
              <a:off x="1441975" y="24396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31"/>
            <p:cNvSpPr/>
            <p:nvPr/>
          </p:nvSpPr>
          <p:spPr>
            <a:xfrm>
              <a:off x="1441975" y="220582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31"/>
            <p:cNvSpPr/>
            <p:nvPr/>
          </p:nvSpPr>
          <p:spPr>
            <a:xfrm>
              <a:off x="1441975" y="197201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131"/>
            <p:cNvSpPr/>
            <p:nvPr/>
          </p:nvSpPr>
          <p:spPr>
            <a:xfrm>
              <a:off x="1441975" y="26682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2" name="Google Shape;1672;p131"/>
          <p:cNvSpPr/>
          <p:nvPr/>
        </p:nvSpPr>
        <p:spPr>
          <a:xfrm>
            <a:off x="2979463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3" name="Google Shape;1673;p131"/>
          <p:cNvGrpSpPr/>
          <p:nvPr/>
        </p:nvGrpSpPr>
        <p:grpSpPr>
          <a:xfrm>
            <a:off x="3489797" y="2357773"/>
            <a:ext cx="152100" cy="852527"/>
            <a:chOff x="2151535" y="1976773"/>
            <a:chExt cx="152100" cy="852527"/>
          </a:xfrm>
        </p:grpSpPr>
        <p:sp>
          <p:nvSpPr>
            <p:cNvPr id="1674" name="Google Shape;1674;p131"/>
            <p:cNvSpPr/>
            <p:nvPr/>
          </p:nvSpPr>
          <p:spPr>
            <a:xfrm>
              <a:off x="2151535" y="24444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131"/>
            <p:cNvSpPr/>
            <p:nvPr/>
          </p:nvSpPr>
          <p:spPr>
            <a:xfrm>
              <a:off x="2151535" y="2210586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131"/>
            <p:cNvSpPr/>
            <p:nvPr/>
          </p:nvSpPr>
          <p:spPr>
            <a:xfrm>
              <a:off x="2151535" y="1976773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131"/>
            <p:cNvSpPr/>
            <p:nvPr/>
          </p:nvSpPr>
          <p:spPr>
            <a:xfrm>
              <a:off x="2151535" y="26730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8" name="Google Shape;1678;p131"/>
          <p:cNvGrpSpPr/>
          <p:nvPr/>
        </p:nvGrpSpPr>
        <p:grpSpPr>
          <a:xfrm>
            <a:off x="3031905" y="2138754"/>
            <a:ext cx="353030" cy="156300"/>
            <a:chOff x="1688880" y="1757754"/>
            <a:chExt cx="353030" cy="156300"/>
          </a:xfrm>
        </p:grpSpPr>
        <p:sp>
          <p:nvSpPr>
            <p:cNvPr id="1679" name="Google Shape;1679;p131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131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1" name="Google Shape;1681;p131"/>
          <p:cNvGrpSpPr/>
          <p:nvPr/>
        </p:nvGrpSpPr>
        <p:grpSpPr>
          <a:xfrm>
            <a:off x="3031905" y="3266418"/>
            <a:ext cx="353030" cy="156300"/>
            <a:chOff x="1688880" y="2885418"/>
            <a:chExt cx="353030" cy="156300"/>
          </a:xfrm>
        </p:grpSpPr>
        <p:sp>
          <p:nvSpPr>
            <p:cNvPr id="1682" name="Google Shape;1682;p131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131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4" name="Google Shape;1684;p131"/>
          <p:cNvSpPr/>
          <p:nvPr/>
        </p:nvSpPr>
        <p:spPr>
          <a:xfrm>
            <a:off x="4355825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5" name="Google Shape;1685;p131"/>
          <p:cNvGrpSpPr/>
          <p:nvPr/>
        </p:nvGrpSpPr>
        <p:grpSpPr>
          <a:xfrm>
            <a:off x="4403505" y="2138754"/>
            <a:ext cx="353030" cy="156300"/>
            <a:chOff x="1688880" y="1757754"/>
            <a:chExt cx="353030" cy="156300"/>
          </a:xfrm>
        </p:grpSpPr>
        <p:sp>
          <p:nvSpPr>
            <p:cNvPr id="1686" name="Google Shape;1686;p131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31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8" name="Google Shape;1688;p131"/>
          <p:cNvGrpSpPr/>
          <p:nvPr/>
        </p:nvGrpSpPr>
        <p:grpSpPr>
          <a:xfrm>
            <a:off x="4403505" y="3266418"/>
            <a:ext cx="353030" cy="156300"/>
            <a:chOff x="1688880" y="2885418"/>
            <a:chExt cx="353030" cy="156300"/>
          </a:xfrm>
        </p:grpSpPr>
        <p:sp>
          <p:nvSpPr>
            <p:cNvPr id="1689" name="Google Shape;1689;p131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131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1" name="Google Shape;1691;p131"/>
          <p:cNvGrpSpPr/>
          <p:nvPr/>
        </p:nvGrpSpPr>
        <p:grpSpPr>
          <a:xfrm>
            <a:off x="4156600" y="2353010"/>
            <a:ext cx="152100" cy="852527"/>
            <a:chOff x="1441975" y="1972010"/>
            <a:chExt cx="152100" cy="852527"/>
          </a:xfrm>
        </p:grpSpPr>
        <p:sp>
          <p:nvSpPr>
            <p:cNvPr id="1692" name="Google Shape;1692;p131"/>
            <p:cNvSpPr/>
            <p:nvPr/>
          </p:nvSpPr>
          <p:spPr>
            <a:xfrm>
              <a:off x="1441975" y="24396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131"/>
            <p:cNvSpPr/>
            <p:nvPr/>
          </p:nvSpPr>
          <p:spPr>
            <a:xfrm>
              <a:off x="1441975" y="220582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131"/>
            <p:cNvSpPr/>
            <p:nvPr/>
          </p:nvSpPr>
          <p:spPr>
            <a:xfrm>
              <a:off x="1441975" y="197201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131"/>
            <p:cNvSpPr/>
            <p:nvPr/>
          </p:nvSpPr>
          <p:spPr>
            <a:xfrm>
              <a:off x="1441975" y="26682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6" name="Google Shape;1696;p131"/>
          <p:cNvSpPr/>
          <p:nvPr/>
        </p:nvSpPr>
        <p:spPr>
          <a:xfrm>
            <a:off x="5265463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7" name="Google Shape;1697;p131"/>
          <p:cNvGrpSpPr/>
          <p:nvPr/>
        </p:nvGrpSpPr>
        <p:grpSpPr>
          <a:xfrm>
            <a:off x="5775797" y="2357773"/>
            <a:ext cx="152100" cy="852527"/>
            <a:chOff x="2151535" y="1976773"/>
            <a:chExt cx="152100" cy="852527"/>
          </a:xfrm>
        </p:grpSpPr>
        <p:sp>
          <p:nvSpPr>
            <p:cNvPr id="1698" name="Google Shape;1698;p131"/>
            <p:cNvSpPr/>
            <p:nvPr/>
          </p:nvSpPr>
          <p:spPr>
            <a:xfrm>
              <a:off x="2151535" y="24444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131"/>
            <p:cNvSpPr/>
            <p:nvPr/>
          </p:nvSpPr>
          <p:spPr>
            <a:xfrm>
              <a:off x="2151535" y="2210586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131"/>
            <p:cNvSpPr/>
            <p:nvPr/>
          </p:nvSpPr>
          <p:spPr>
            <a:xfrm>
              <a:off x="2151535" y="1976773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131"/>
            <p:cNvSpPr/>
            <p:nvPr/>
          </p:nvSpPr>
          <p:spPr>
            <a:xfrm>
              <a:off x="2151535" y="26730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2" name="Google Shape;1702;p131"/>
          <p:cNvGrpSpPr/>
          <p:nvPr/>
        </p:nvGrpSpPr>
        <p:grpSpPr>
          <a:xfrm>
            <a:off x="5317905" y="2138754"/>
            <a:ext cx="353030" cy="156300"/>
            <a:chOff x="1688880" y="1757754"/>
            <a:chExt cx="353030" cy="156300"/>
          </a:xfrm>
        </p:grpSpPr>
        <p:sp>
          <p:nvSpPr>
            <p:cNvPr id="1703" name="Google Shape;1703;p131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131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5" name="Google Shape;1705;p131"/>
          <p:cNvGrpSpPr/>
          <p:nvPr/>
        </p:nvGrpSpPr>
        <p:grpSpPr>
          <a:xfrm>
            <a:off x="5317905" y="3266418"/>
            <a:ext cx="353030" cy="156300"/>
            <a:chOff x="1688880" y="2885418"/>
            <a:chExt cx="353030" cy="156300"/>
          </a:xfrm>
        </p:grpSpPr>
        <p:sp>
          <p:nvSpPr>
            <p:cNvPr id="1706" name="Google Shape;1706;p131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131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8" name="Google Shape;1708;p131"/>
          <p:cNvSpPr/>
          <p:nvPr/>
        </p:nvSpPr>
        <p:spPr>
          <a:xfrm>
            <a:off x="4808263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9" name="Google Shape;1709;p131"/>
          <p:cNvGrpSpPr/>
          <p:nvPr/>
        </p:nvGrpSpPr>
        <p:grpSpPr>
          <a:xfrm>
            <a:off x="4860705" y="2138754"/>
            <a:ext cx="353030" cy="156300"/>
            <a:chOff x="1688880" y="1757754"/>
            <a:chExt cx="353030" cy="156300"/>
          </a:xfrm>
        </p:grpSpPr>
        <p:sp>
          <p:nvSpPr>
            <p:cNvPr id="1710" name="Google Shape;1710;p131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131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2" name="Google Shape;1712;p131"/>
          <p:cNvGrpSpPr/>
          <p:nvPr/>
        </p:nvGrpSpPr>
        <p:grpSpPr>
          <a:xfrm>
            <a:off x="4860705" y="3266418"/>
            <a:ext cx="353030" cy="156300"/>
            <a:chOff x="1688880" y="2885418"/>
            <a:chExt cx="353030" cy="156300"/>
          </a:xfrm>
        </p:grpSpPr>
        <p:sp>
          <p:nvSpPr>
            <p:cNvPr id="1713" name="Google Shape;1713;p131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131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5" name="Google Shape;1715;p131"/>
          <p:cNvSpPr txBox="1"/>
          <p:nvPr/>
        </p:nvSpPr>
        <p:spPr>
          <a:xfrm>
            <a:off x="6076533" y="3099925"/>
            <a:ext cx="459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…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6" name="Google Shape;1716;p131"/>
          <p:cNvGrpSpPr/>
          <p:nvPr/>
        </p:nvGrpSpPr>
        <p:grpSpPr>
          <a:xfrm>
            <a:off x="2945525" y="2065968"/>
            <a:ext cx="517800" cy="1429434"/>
            <a:chOff x="5231525" y="2065968"/>
            <a:chExt cx="517800" cy="1429434"/>
          </a:xfrm>
        </p:grpSpPr>
        <p:sp>
          <p:nvSpPr>
            <p:cNvPr id="1717" name="Google Shape;1717;p131"/>
            <p:cNvSpPr/>
            <p:nvPr/>
          </p:nvSpPr>
          <p:spPr>
            <a:xfrm>
              <a:off x="5231525" y="2065968"/>
              <a:ext cx="517800" cy="3051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8" name="Google Shape;1718;p131"/>
            <p:cNvSpPr/>
            <p:nvPr/>
          </p:nvSpPr>
          <p:spPr>
            <a:xfrm>
              <a:off x="5231525" y="3190302"/>
              <a:ext cx="517800" cy="3051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9" name="Google Shape;1719;p131"/>
          <p:cNvGrpSpPr/>
          <p:nvPr/>
        </p:nvGrpSpPr>
        <p:grpSpPr>
          <a:xfrm>
            <a:off x="5231525" y="2065968"/>
            <a:ext cx="517800" cy="1429434"/>
            <a:chOff x="5231525" y="2065968"/>
            <a:chExt cx="517800" cy="1429434"/>
          </a:xfrm>
        </p:grpSpPr>
        <p:sp>
          <p:nvSpPr>
            <p:cNvPr id="1720" name="Google Shape;1720;p131"/>
            <p:cNvSpPr/>
            <p:nvPr/>
          </p:nvSpPr>
          <p:spPr>
            <a:xfrm>
              <a:off x="5231525" y="2065968"/>
              <a:ext cx="517800" cy="3051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1" name="Google Shape;1721;p131"/>
            <p:cNvSpPr/>
            <p:nvPr/>
          </p:nvSpPr>
          <p:spPr>
            <a:xfrm>
              <a:off x="5231525" y="3190302"/>
              <a:ext cx="517800" cy="3051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2" name="Google Shape;1722;p131"/>
          <p:cNvSpPr txBox="1"/>
          <p:nvPr>
            <p:ph idx="1" type="body"/>
          </p:nvPr>
        </p:nvSpPr>
        <p:spPr>
          <a:xfrm>
            <a:off x="4568175" y="3616025"/>
            <a:ext cx="3489600" cy="10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Spotting patterns in sequences enables us to extrapolate future terms.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32"/>
          <p:cNvSpPr txBox="1"/>
          <p:nvPr>
            <p:ph idx="1" type="body"/>
          </p:nvPr>
        </p:nvSpPr>
        <p:spPr>
          <a:xfrm>
            <a:off x="324000" y="759300"/>
            <a:ext cx="7135200" cy="13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lots of concrete examples of sequences in the world around us.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tables in a dining hall.</a:t>
            </a:r>
            <a:endParaRPr/>
          </a:p>
        </p:txBody>
      </p:sp>
      <p:sp>
        <p:nvSpPr>
          <p:cNvPr id="1728" name="Google Shape;1728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graphicFrame>
        <p:nvGraphicFramePr>
          <p:cNvPr id="1729" name="Google Shape;1729;p132"/>
          <p:cNvGraphicFramePr/>
          <p:nvPr/>
        </p:nvGraphicFramePr>
        <p:xfrm>
          <a:off x="791983" y="36134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248700"/>
                <a:gridCol w="717525"/>
                <a:gridCol w="717525"/>
                <a:gridCol w="717525"/>
              </a:tblGrid>
              <a:tr h="31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Tables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30" name="Google Shape;1730;p132"/>
          <p:cNvGrpSpPr/>
          <p:nvPr/>
        </p:nvGrpSpPr>
        <p:grpSpPr>
          <a:xfrm>
            <a:off x="2385184" y="4129275"/>
            <a:ext cx="1438220" cy="722014"/>
            <a:chOff x="459975" y="1701066"/>
            <a:chExt cx="1044156" cy="757384"/>
          </a:xfrm>
        </p:grpSpPr>
        <p:grpSp>
          <p:nvGrpSpPr>
            <p:cNvPr id="1731" name="Google Shape;1731;p132"/>
            <p:cNvGrpSpPr/>
            <p:nvPr/>
          </p:nvGrpSpPr>
          <p:grpSpPr>
            <a:xfrm>
              <a:off x="553360" y="2119150"/>
              <a:ext cx="898597" cy="339300"/>
              <a:chOff x="553360" y="1509550"/>
              <a:chExt cx="898597" cy="339300"/>
            </a:xfrm>
          </p:grpSpPr>
          <p:sp>
            <p:nvSpPr>
              <p:cNvPr id="1732" name="Google Shape;1732;p132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33" name="Google Shape;1733;p132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34" name="Google Shape;1734;p132"/>
            <p:cNvGrpSpPr/>
            <p:nvPr/>
          </p:nvGrpSpPr>
          <p:grpSpPr>
            <a:xfrm>
              <a:off x="459975" y="1701066"/>
              <a:ext cx="1044156" cy="437700"/>
              <a:chOff x="459975" y="1701066"/>
              <a:chExt cx="1044156" cy="437700"/>
            </a:xfrm>
          </p:grpSpPr>
          <p:sp>
            <p:nvSpPr>
              <p:cNvPr id="1735" name="Google Shape;1735;p132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132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737" name="Google Shape;1737;p132"/>
          <p:cNvGraphicFramePr/>
          <p:nvPr/>
        </p:nvGraphicFramePr>
        <p:xfrm>
          <a:off x="791983" y="36134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248700"/>
                <a:gridCol w="717525"/>
                <a:gridCol w="717525"/>
                <a:gridCol w="717525"/>
                <a:gridCol w="717525"/>
                <a:gridCol w="717525"/>
                <a:gridCol w="717525"/>
                <a:gridCol w="717525"/>
                <a:gridCol w="717525"/>
              </a:tblGrid>
              <a:tr h="31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Tables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38" name="Google Shape;1738;p132"/>
          <p:cNvGrpSpPr/>
          <p:nvPr/>
        </p:nvGrpSpPr>
        <p:grpSpPr>
          <a:xfrm>
            <a:off x="3832984" y="4129275"/>
            <a:ext cx="1438220" cy="722014"/>
            <a:chOff x="459975" y="1701066"/>
            <a:chExt cx="1044156" cy="757384"/>
          </a:xfrm>
        </p:grpSpPr>
        <p:grpSp>
          <p:nvGrpSpPr>
            <p:cNvPr id="1739" name="Google Shape;1739;p132"/>
            <p:cNvGrpSpPr/>
            <p:nvPr/>
          </p:nvGrpSpPr>
          <p:grpSpPr>
            <a:xfrm>
              <a:off x="553360" y="2119150"/>
              <a:ext cx="898597" cy="339300"/>
              <a:chOff x="553360" y="1509550"/>
              <a:chExt cx="898597" cy="339300"/>
            </a:xfrm>
          </p:grpSpPr>
          <p:sp>
            <p:nvSpPr>
              <p:cNvPr id="1740" name="Google Shape;1740;p132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41" name="Google Shape;1741;p132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42" name="Google Shape;1742;p132"/>
            <p:cNvGrpSpPr/>
            <p:nvPr/>
          </p:nvGrpSpPr>
          <p:grpSpPr>
            <a:xfrm>
              <a:off x="459975" y="1701066"/>
              <a:ext cx="1044156" cy="437700"/>
              <a:chOff x="459975" y="1701066"/>
              <a:chExt cx="1044156" cy="437700"/>
            </a:xfrm>
          </p:grpSpPr>
          <p:sp>
            <p:nvSpPr>
              <p:cNvPr id="1743" name="Google Shape;1743;p132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132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45" name="Google Shape;1745;p132"/>
          <p:cNvGrpSpPr/>
          <p:nvPr/>
        </p:nvGrpSpPr>
        <p:grpSpPr>
          <a:xfrm>
            <a:off x="5280784" y="4129275"/>
            <a:ext cx="1438220" cy="722014"/>
            <a:chOff x="459975" y="1701066"/>
            <a:chExt cx="1044156" cy="757384"/>
          </a:xfrm>
        </p:grpSpPr>
        <p:grpSp>
          <p:nvGrpSpPr>
            <p:cNvPr id="1746" name="Google Shape;1746;p132"/>
            <p:cNvGrpSpPr/>
            <p:nvPr/>
          </p:nvGrpSpPr>
          <p:grpSpPr>
            <a:xfrm>
              <a:off x="553360" y="2119150"/>
              <a:ext cx="898597" cy="339300"/>
              <a:chOff x="553360" y="1509550"/>
              <a:chExt cx="898597" cy="339300"/>
            </a:xfrm>
          </p:grpSpPr>
          <p:sp>
            <p:nvSpPr>
              <p:cNvPr id="1747" name="Google Shape;1747;p132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48" name="Google Shape;1748;p132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49" name="Google Shape;1749;p132"/>
            <p:cNvGrpSpPr/>
            <p:nvPr/>
          </p:nvGrpSpPr>
          <p:grpSpPr>
            <a:xfrm>
              <a:off x="459975" y="1701066"/>
              <a:ext cx="1044156" cy="437700"/>
              <a:chOff x="459975" y="1701066"/>
              <a:chExt cx="1044156" cy="437700"/>
            </a:xfrm>
          </p:grpSpPr>
          <p:sp>
            <p:nvSpPr>
              <p:cNvPr id="1750" name="Google Shape;1750;p132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132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52" name="Google Shape;1752;p132"/>
          <p:cNvSpPr/>
          <p:nvPr/>
        </p:nvSpPr>
        <p:spPr>
          <a:xfrm flipH="1" rot="10800000">
            <a:off x="6739329" y="4129235"/>
            <a:ext cx="699900" cy="4173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132"/>
          <p:cNvSpPr txBox="1"/>
          <p:nvPr/>
        </p:nvSpPr>
        <p:spPr>
          <a:xfrm>
            <a:off x="6898400" y="4527835"/>
            <a:ext cx="5106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</a:t>
            </a:r>
            <a:endParaRPr sz="20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4" name="Google Shape;1754;p132"/>
          <p:cNvSpPr/>
          <p:nvPr/>
        </p:nvSpPr>
        <p:spPr>
          <a:xfrm>
            <a:off x="1184000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5" name="Google Shape;1755;p132"/>
          <p:cNvGrpSpPr/>
          <p:nvPr/>
        </p:nvGrpSpPr>
        <p:grpSpPr>
          <a:xfrm>
            <a:off x="1231680" y="2138754"/>
            <a:ext cx="353030" cy="156300"/>
            <a:chOff x="1688880" y="1757754"/>
            <a:chExt cx="353030" cy="156300"/>
          </a:xfrm>
        </p:grpSpPr>
        <p:sp>
          <p:nvSpPr>
            <p:cNvPr id="1756" name="Google Shape;1756;p132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132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8" name="Google Shape;1758;p132"/>
          <p:cNvGrpSpPr/>
          <p:nvPr/>
        </p:nvGrpSpPr>
        <p:grpSpPr>
          <a:xfrm>
            <a:off x="1231680" y="3266418"/>
            <a:ext cx="353030" cy="156300"/>
            <a:chOff x="1688880" y="2885418"/>
            <a:chExt cx="353030" cy="156300"/>
          </a:xfrm>
        </p:grpSpPr>
        <p:sp>
          <p:nvSpPr>
            <p:cNvPr id="1759" name="Google Shape;1759;p132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132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1" name="Google Shape;1761;p132"/>
          <p:cNvSpPr txBox="1"/>
          <p:nvPr/>
        </p:nvSpPr>
        <p:spPr>
          <a:xfrm>
            <a:off x="1921500" y="3099925"/>
            <a:ext cx="2001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32"/>
          <p:cNvSpPr txBox="1"/>
          <p:nvPr/>
        </p:nvSpPr>
        <p:spPr>
          <a:xfrm>
            <a:off x="3760385" y="3099925"/>
            <a:ext cx="2001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3" name="Google Shape;1763;p132"/>
          <p:cNvGrpSpPr/>
          <p:nvPr/>
        </p:nvGrpSpPr>
        <p:grpSpPr>
          <a:xfrm>
            <a:off x="984775" y="2353010"/>
            <a:ext cx="152100" cy="852527"/>
            <a:chOff x="1441975" y="1972010"/>
            <a:chExt cx="152100" cy="852527"/>
          </a:xfrm>
        </p:grpSpPr>
        <p:sp>
          <p:nvSpPr>
            <p:cNvPr id="1764" name="Google Shape;1764;p132"/>
            <p:cNvSpPr/>
            <p:nvPr/>
          </p:nvSpPr>
          <p:spPr>
            <a:xfrm>
              <a:off x="1441975" y="24396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132"/>
            <p:cNvSpPr/>
            <p:nvPr/>
          </p:nvSpPr>
          <p:spPr>
            <a:xfrm>
              <a:off x="1441975" y="220582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132"/>
            <p:cNvSpPr/>
            <p:nvPr/>
          </p:nvSpPr>
          <p:spPr>
            <a:xfrm>
              <a:off x="1441975" y="197201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132"/>
            <p:cNvSpPr/>
            <p:nvPr/>
          </p:nvSpPr>
          <p:spPr>
            <a:xfrm>
              <a:off x="1441975" y="26682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8" name="Google Shape;1768;p132"/>
          <p:cNvGrpSpPr/>
          <p:nvPr/>
        </p:nvGrpSpPr>
        <p:grpSpPr>
          <a:xfrm>
            <a:off x="1694335" y="2357773"/>
            <a:ext cx="152100" cy="852527"/>
            <a:chOff x="2151535" y="1976773"/>
            <a:chExt cx="152100" cy="852527"/>
          </a:xfrm>
        </p:grpSpPr>
        <p:sp>
          <p:nvSpPr>
            <p:cNvPr id="1769" name="Google Shape;1769;p132"/>
            <p:cNvSpPr/>
            <p:nvPr/>
          </p:nvSpPr>
          <p:spPr>
            <a:xfrm>
              <a:off x="2151535" y="24444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132"/>
            <p:cNvSpPr/>
            <p:nvPr/>
          </p:nvSpPr>
          <p:spPr>
            <a:xfrm>
              <a:off x="2151535" y="2210586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132"/>
            <p:cNvSpPr/>
            <p:nvPr/>
          </p:nvSpPr>
          <p:spPr>
            <a:xfrm>
              <a:off x="2151535" y="1976773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132"/>
            <p:cNvSpPr/>
            <p:nvPr/>
          </p:nvSpPr>
          <p:spPr>
            <a:xfrm>
              <a:off x="2151535" y="26730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3" name="Google Shape;1773;p132"/>
          <p:cNvSpPr/>
          <p:nvPr/>
        </p:nvSpPr>
        <p:spPr>
          <a:xfrm>
            <a:off x="2527025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4" name="Google Shape;1774;p132"/>
          <p:cNvGrpSpPr/>
          <p:nvPr/>
        </p:nvGrpSpPr>
        <p:grpSpPr>
          <a:xfrm>
            <a:off x="2574705" y="2138754"/>
            <a:ext cx="353030" cy="156300"/>
            <a:chOff x="1688880" y="1757754"/>
            <a:chExt cx="353030" cy="156300"/>
          </a:xfrm>
        </p:grpSpPr>
        <p:sp>
          <p:nvSpPr>
            <p:cNvPr id="1775" name="Google Shape;1775;p132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132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7" name="Google Shape;1777;p132"/>
          <p:cNvGrpSpPr/>
          <p:nvPr/>
        </p:nvGrpSpPr>
        <p:grpSpPr>
          <a:xfrm>
            <a:off x="2574705" y="3266418"/>
            <a:ext cx="353030" cy="156300"/>
            <a:chOff x="1688880" y="2885418"/>
            <a:chExt cx="353030" cy="156300"/>
          </a:xfrm>
        </p:grpSpPr>
        <p:sp>
          <p:nvSpPr>
            <p:cNvPr id="1778" name="Google Shape;1778;p132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132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0" name="Google Shape;1780;p132"/>
          <p:cNvGrpSpPr/>
          <p:nvPr/>
        </p:nvGrpSpPr>
        <p:grpSpPr>
          <a:xfrm>
            <a:off x="2327800" y="2353010"/>
            <a:ext cx="152100" cy="852527"/>
            <a:chOff x="1441975" y="1972010"/>
            <a:chExt cx="152100" cy="852527"/>
          </a:xfrm>
        </p:grpSpPr>
        <p:sp>
          <p:nvSpPr>
            <p:cNvPr id="1781" name="Google Shape;1781;p132"/>
            <p:cNvSpPr/>
            <p:nvPr/>
          </p:nvSpPr>
          <p:spPr>
            <a:xfrm>
              <a:off x="1441975" y="24396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132"/>
            <p:cNvSpPr/>
            <p:nvPr/>
          </p:nvSpPr>
          <p:spPr>
            <a:xfrm>
              <a:off x="1441975" y="220582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132"/>
            <p:cNvSpPr/>
            <p:nvPr/>
          </p:nvSpPr>
          <p:spPr>
            <a:xfrm>
              <a:off x="1441975" y="197201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132"/>
            <p:cNvSpPr/>
            <p:nvPr/>
          </p:nvSpPr>
          <p:spPr>
            <a:xfrm>
              <a:off x="1441975" y="26682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5" name="Google Shape;1785;p132"/>
          <p:cNvSpPr/>
          <p:nvPr/>
        </p:nvSpPr>
        <p:spPr>
          <a:xfrm>
            <a:off x="2979463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6" name="Google Shape;1786;p132"/>
          <p:cNvGrpSpPr/>
          <p:nvPr/>
        </p:nvGrpSpPr>
        <p:grpSpPr>
          <a:xfrm>
            <a:off x="3489797" y="2357773"/>
            <a:ext cx="152100" cy="852527"/>
            <a:chOff x="2151535" y="1976773"/>
            <a:chExt cx="152100" cy="852527"/>
          </a:xfrm>
        </p:grpSpPr>
        <p:sp>
          <p:nvSpPr>
            <p:cNvPr id="1787" name="Google Shape;1787;p132"/>
            <p:cNvSpPr/>
            <p:nvPr/>
          </p:nvSpPr>
          <p:spPr>
            <a:xfrm>
              <a:off x="2151535" y="24444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132"/>
            <p:cNvSpPr/>
            <p:nvPr/>
          </p:nvSpPr>
          <p:spPr>
            <a:xfrm>
              <a:off x="2151535" y="2210586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132"/>
            <p:cNvSpPr/>
            <p:nvPr/>
          </p:nvSpPr>
          <p:spPr>
            <a:xfrm>
              <a:off x="2151535" y="1976773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132"/>
            <p:cNvSpPr/>
            <p:nvPr/>
          </p:nvSpPr>
          <p:spPr>
            <a:xfrm>
              <a:off x="2151535" y="26730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1" name="Google Shape;1791;p132"/>
          <p:cNvGrpSpPr/>
          <p:nvPr/>
        </p:nvGrpSpPr>
        <p:grpSpPr>
          <a:xfrm>
            <a:off x="3031905" y="2138754"/>
            <a:ext cx="353030" cy="156300"/>
            <a:chOff x="1688880" y="1757754"/>
            <a:chExt cx="353030" cy="156300"/>
          </a:xfrm>
        </p:grpSpPr>
        <p:sp>
          <p:nvSpPr>
            <p:cNvPr id="1792" name="Google Shape;1792;p132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132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4" name="Google Shape;1794;p132"/>
          <p:cNvGrpSpPr/>
          <p:nvPr/>
        </p:nvGrpSpPr>
        <p:grpSpPr>
          <a:xfrm>
            <a:off x="3031905" y="3266418"/>
            <a:ext cx="353030" cy="156300"/>
            <a:chOff x="1688880" y="2885418"/>
            <a:chExt cx="353030" cy="156300"/>
          </a:xfrm>
        </p:grpSpPr>
        <p:sp>
          <p:nvSpPr>
            <p:cNvPr id="1795" name="Google Shape;1795;p132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132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7" name="Google Shape;1797;p132"/>
          <p:cNvSpPr/>
          <p:nvPr/>
        </p:nvSpPr>
        <p:spPr>
          <a:xfrm>
            <a:off x="4355825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8" name="Google Shape;1798;p132"/>
          <p:cNvGrpSpPr/>
          <p:nvPr/>
        </p:nvGrpSpPr>
        <p:grpSpPr>
          <a:xfrm>
            <a:off x="4403505" y="2138754"/>
            <a:ext cx="353030" cy="156300"/>
            <a:chOff x="1688880" y="1757754"/>
            <a:chExt cx="353030" cy="156300"/>
          </a:xfrm>
        </p:grpSpPr>
        <p:sp>
          <p:nvSpPr>
            <p:cNvPr id="1799" name="Google Shape;1799;p132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132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1" name="Google Shape;1801;p132"/>
          <p:cNvGrpSpPr/>
          <p:nvPr/>
        </p:nvGrpSpPr>
        <p:grpSpPr>
          <a:xfrm>
            <a:off x="4403505" y="3266418"/>
            <a:ext cx="353030" cy="156300"/>
            <a:chOff x="1688880" y="2885418"/>
            <a:chExt cx="353030" cy="156300"/>
          </a:xfrm>
        </p:grpSpPr>
        <p:sp>
          <p:nvSpPr>
            <p:cNvPr id="1802" name="Google Shape;1802;p132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132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4" name="Google Shape;1804;p132"/>
          <p:cNvGrpSpPr/>
          <p:nvPr/>
        </p:nvGrpSpPr>
        <p:grpSpPr>
          <a:xfrm>
            <a:off x="4156600" y="2353010"/>
            <a:ext cx="152100" cy="852527"/>
            <a:chOff x="1441975" y="1972010"/>
            <a:chExt cx="152100" cy="852527"/>
          </a:xfrm>
        </p:grpSpPr>
        <p:sp>
          <p:nvSpPr>
            <p:cNvPr id="1805" name="Google Shape;1805;p132"/>
            <p:cNvSpPr/>
            <p:nvPr/>
          </p:nvSpPr>
          <p:spPr>
            <a:xfrm>
              <a:off x="1441975" y="24396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132"/>
            <p:cNvSpPr/>
            <p:nvPr/>
          </p:nvSpPr>
          <p:spPr>
            <a:xfrm>
              <a:off x="1441975" y="220582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132"/>
            <p:cNvSpPr/>
            <p:nvPr/>
          </p:nvSpPr>
          <p:spPr>
            <a:xfrm>
              <a:off x="1441975" y="197201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132"/>
            <p:cNvSpPr/>
            <p:nvPr/>
          </p:nvSpPr>
          <p:spPr>
            <a:xfrm>
              <a:off x="1441975" y="266823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9" name="Google Shape;1809;p132"/>
          <p:cNvSpPr/>
          <p:nvPr/>
        </p:nvSpPr>
        <p:spPr>
          <a:xfrm>
            <a:off x="5265463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0" name="Google Shape;1810;p132"/>
          <p:cNvGrpSpPr/>
          <p:nvPr/>
        </p:nvGrpSpPr>
        <p:grpSpPr>
          <a:xfrm>
            <a:off x="5775797" y="2357773"/>
            <a:ext cx="152100" cy="852527"/>
            <a:chOff x="2151535" y="1976773"/>
            <a:chExt cx="152100" cy="852527"/>
          </a:xfrm>
        </p:grpSpPr>
        <p:sp>
          <p:nvSpPr>
            <p:cNvPr id="1811" name="Google Shape;1811;p132"/>
            <p:cNvSpPr/>
            <p:nvPr/>
          </p:nvSpPr>
          <p:spPr>
            <a:xfrm>
              <a:off x="2151535" y="24444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132"/>
            <p:cNvSpPr/>
            <p:nvPr/>
          </p:nvSpPr>
          <p:spPr>
            <a:xfrm>
              <a:off x="2151535" y="2210586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132"/>
            <p:cNvSpPr/>
            <p:nvPr/>
          </p:nvSpPr>
          <p:spPr>
            <a:xfrm>
              <a:off x="2151535" y="1976773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132"/>
            <p:cNvSpPr/>
            <p:nvPr/>
          </p:nvSpPr>
          <p:spPr>
            <a:xfrm>
              <a:off x="2151535" y="2673000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5" name="Google Shape;1815;p132"/>
          <p:cNvGrpSpPr/>
          <p:nvPr/>
        </p:nvGrpSpPr>
        <p:grpSpPr>
          <a:xfrm>
            <a:off x="5317905" y="2138754"/>
            <a:ext cx="353030" cy="156300"/>
            <a:chOff x="1688880" y="1757754"/>
            <a:chExt cx="353030" cy="156300"/>
          </a:xfrm>
        </p:grpSpPr>
        <p:sp>
          <p:nvSpPr>
            <p:cNvPr id="1816" name="Google Shape;1816;p132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132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8" name="Google Shape;1818;p132"/>
          <p:cNvGrpSpPr/>
          <p:nvPr/>
        </p:nvGrpSpPr>
        <p:grpSpPr>
          <a:xfrm>
            <a:off x="5317905" y="3266418"/>
            <a:ext cx="353030" cy="156300"/>
            <a:chOff x="1688880" y="2885418"/>
            <a:chExt cx="353030" cy="156300"/>
          </a:xfrm>
        </p:grpSpPr>
        <p:sp>
          <p:nvSpPr>
            <p:cNvPr id="1819" name="Google Shape;1819;p132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132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1" name="Google Shape;1821;p132"/>
          <p:cNvSpPr/>
          <p:nvPr/>
        </p:nvSpPr>
        <p:spPr>
          <a:xfrm>
            <a:off x="4808263" y="2341375"/>
            <a:ext cx="459600" cy="87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2" name="Google Shape;1822;p132"/>
          <p:cNvGrpSpPr/>
          <p:nvPr/>
        </p:nvGrpSpPr>
        <p:grpSpPr>
          <a:xfrm>
            <a:off x="4860705" y="2138754"/>
            <a:ext cx="353030" cy="156300"/>
            <a:chOff x="1688880" y="1757754"/>
            <a:chExt cx="353030" cy="156300"/>
          </a:xfrm>
        </p:grpSpPr>
        <p:sp>
          <p:nvSpPr>
            <p:cNvPr id="1823" name="Google Shape;1823;p132"/>
            <p:cNvSpPr/>
            <p:nvPr/>
          </p:nvSpPr>
          <p:spPr>
            <a:xfrm>
              <a:off x="168888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132"/>
            <p:cNvSpPr/>
            <p:nvPr/>
          </p:nvSpPr>
          <p:spPr>
            <a:xfrm>
              <a:off x="1889810" y="1757754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5" name="Google Shape;1825;p132"/>
          <p:cNvGrpSpPr/>
          <p:nvPr/>
        </p:nvGrpSpPr>
        <p:grpSpPr>
          <a:xfrm>
            <a:off x="4860705" y="3266418"/>
            <a:ext cx="353030" cy="156300"/>
            <a:chOff x="1688880" y="2885418"/>
            <a:chExt cx="353030" cy="156300"/>
          </a:xfrm>
        </p:grpSpPr>
        <p:sp>
          <p:nvSpPr>
            <p:cNvPr id="1826" name="Google Shape;1826;p132"/>
            <p:cNvSpPr/>
            <p:nvPr/>
          </p:nvSpPr>
          <p:spPr>
            <a:xfrm>
              <a:off x="168888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132"/>
            <p:cNvSpPr/>
            <p:nvPr/>
          </p:nvSpPr>
          <p:spPr>
            <a:xfrm>
              <a:off x="1889810" y="2885418"/>
              <a:ext cx="152100" cy="1563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8" name="Google Shape;1828;p132"/>
          <p:cNvSpPr txBox="1"/>
          <p:nvPr/>
        </p:nvSpPr>
        <p:spPr>
          <a:xfrm>
            <a:off x="6076533" y="3099925"/>
            <a:ext cx="459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…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133"/>
          <p:cNvSpPr txBox="1"/>
          <p:nvPr>
            <p:ph idx="1" type="body"/>
          </p:nvPr>
        </p:nvSpPr>
        <p:spPr>
          <a:xfrm>
            <a:off x="324000" y="759300"/>
            <a:ext cx="7135200" cy="7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Spotting further patterns and relationships enables us to extrapolate terms that are way into the future.</a:t>
            </a:r>
            <a:endParaRPr/>
          </a:p>
        </p:txBody>
      </p:sp>
      <p:sp>
        <p:nvSpPr>
          <p:cNvPr id="1834" name="Google Shape;1834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graphicFrame>
        <p:nvGraphicFramePr>
          <p:cNvPr id="1835" name="Google Shape;1835;p133"/>
          <p:cNvGraphicFramePr/>
          <p:nvPr/>
        </p:nvGraphicFramePr>
        <p:xfrm>
          <a:off x="791983" y="36134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248700"/>
                <a:gridCol w="717525"/>
                <a:gridCol w="717525"/>
                <a:gridCol w="717525"/>
              </a:tblGrid>
              <a:tr h="31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Tables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36" name="Google Shape;1836;p133"/>
          <p:cNvGrpSpPr/>
          <p:nvPr/>
        </p:nvGrpSpPr>
        <p:grpSpPr>
          <a:xfrm>
            <a:off x="2385184" y="4129275"/>
            <a:ext cx="1438220" cy="722014"/>
            <a:chOff x="459975" y="1701066"/>
            <a:chExt cx="1044156" cy="757384"/>
          </a:xfrm>
        </p:grpSpPr>
        <p:grpSp>
          <p:nvGrpSpPr>
            <p:cNvPr id="1837" name="Google Shape;1837;p133"/>
            <p:cNvGrpSpPr/>
            <p:nvPr/>
          </p:nvGrpSpPr>
          <p:grpSpPr>
            <a:xfrm>
              <a:off x="553360" y="2119150"/>
              <a:ext cx="898597" cy="339300"/>
              <a:chOff x="553360" y="1509550"/>
              <a:chExt cx="898597" cy="339300"/>
            </a:xfrm>
          </p:grpSpPr>
          <p:sp>
            <p:nvSpPr>
              <p:cNvPr id="1838" name="Google Shape;1838;p133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9" name="Google Shape;1839;p133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40" name="Google Shape;1840;p133"/>
            <p:cNvGrpSpPr/>
            <p:nvPr/>
          </p:nvGrpSpPr>
          <p:grpSpPr>
            <a:xfrm>
              <a:off x="459975" y="1701066"/>
              <a:ext cx="1044156" cy="437700"/>
              <a:chOff x="459975" y="1701066"/>
              <a:chExt cx="1044156" cy="437700"/>
            </a:xfrm>
          </p:grpSpPr>
          <p:sp>
            <p:nvSpPr>
              <p:cNvPr id="1841" name="Google Shape;1841;p133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133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843" name="Google Shape;1843;p133"/>
          <p:cNvGraphicFramePr/>
          <p:nvPr/>
        </p:nvGraphicFramePr>
        <p:xfrm>
          <a:off x="791983" y="36134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248700"/>
                <a:gridCol w="717525"/>
                <a:gridCol w="717525"/>
                <a:gridCol w="717525"/>
                <a:gridCol w="717525"/>
                <a:gridCol w="717525"/>
                <a:gridCol w="717525"/>
                <a:gridCol w="717525"/>
                <a:gridCol w="717525"/>
              </a:tblGrid>
              <a:tr h="31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Tables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44" name="Google Shape;1844;p133"/>
          <p:cNvGrpSpPr/>
          <p:nvPr/>
        </p:nvGrpSpPr>
        <p:grpSpPr>
          <a:xfrm>
            <a:off x="3832984" y="4129275"/>
            <a:ext cx="1438220" cy="722014"/>
            <a:chOff x="459975" y="1701066"/>
            <a:chExt cx="1044156" cy="757384"/>
          </a:xfrm>
        </p:grpSpPr>
        <p:grpSp>
          <p:nvGrpSpPr>
            <p:cNvPr id="1845" name="Google Shape;1845;p133"/>
            <p:cNvGrpSpPr/>
            <p:nvPr/>
          </p:nvGrpSpPr>
          <p:grpSpPr>
            <a:xfrm>
              <a:off x="553360" y="2119150"/>
              <a:ext cx="898597" cy="339300"/>
              <a:chOff x="553360" y="1509550"/>
              <a:chExt cx="898597" cy="339300"/>
            </a:xfrm>
          </p:grpSpPr>
          <p:sp>
            <p:nvSpPr>
              <p:cNvPr id="1846" name="Google Shape;1846;p133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7" name="Google Shape;1847;p133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48" name="Google Shape;1848;p133"/>
            <p:cNvGrpSpPr/>
            <p:nvPr/>
          </p:nvGrpSpPr>
          <p:grpSpPr>
            <a:xfrm>
              <a:off x="459975" y="1701066"/>
              <a:ext cx="1044156" cy="437700"/>
              <a:chOff x="459975" y="1701066"/>
              <a:chExt cx="1044156" cy="437700"/>
            </a:xfrm>
          </p:grpSpPr>
          <p:sp>
            <p:nvSpPr>
              <p:cNvPr id="1849" name="Google Shape;1849;p133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133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51" name="Google Shape;1851;p133"/>
          <p:cNvGrpSpPr/>
          <p:nvPr/>
        </p:nvGrpSpPr>
        <p:grpSpPr>
          <a:xfrm>
            <a:off x="5280784" y="4129275"/>
            <a:ext cx="1438220" cy="722014"/>
            <a:chOff x="459975" y="1701066"/>
            <a:chExt cx="1044156" cy="757384"/>
          </a:xfrm>
        </p:grpSpPr>
        <p:grpSp>
          <p:nvGrpSpPr>
            <p:cNvPr id="1852" name="Google Shape;1852;p133"/>
            <p:cNvGrpSpPr/>
            <p:nvPr/>
          </p:nvGrpSpPr>
          <p:grpSpPr>
            <a:xfrm>
              <a:off x="553360" y="2119150"/>
              <a:ext cx="898597" cy="339300"/>
              <a:chOff x="553360" y="1509550"/>
              <a:chExt cx="898597" cy="339300"/>
            </a:xfrm>
          </p:grpSpPr>
          <p:sp>
            <p:nvSpPr>
              <p:cNvPr id="1853" name="Google Shape;1853;p133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4" name="Google Shape;1854;p133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55" name="Google Shape;1855;p133"/>
            <p:cNvGrpSpPr/>
            <p:nvPr/>
          </p:nvGrpSpPr>
          <p:grpSpPr>
            <a:xfrm>
              <a:off x="459975" y="1701066"/>
              <a:ext cx="1044156" cy="437700"/>
              <a:chOff x="459975" y="1701066"/>
              <a:chExt cx="1044156" cy="437700"/>
            </a:xfrm>
          </p:grpSpPr>
          <p:sp>
            <p:nvSpPr>
              <p:cNvPr id="1856" name="Google Shape;1856;p133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133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58" name="Google Shape;1858;p133"/>
          <p:cNvSpPr/>
          <p:nvPr/>
        </p:nvSpPr>
        <p:spPr>
          <a:xfrm flipH="1" rot="10800000">
            <a:off x="6739329" y="4129235"/>
            <a:ext cx="699900" cy="4173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133"/>
          <p:cNvSpPr txBox="1"/>
          <p:nvPr/>
        </p:nvSpPr>
        <p:spPr>
          <a:xfrm>
            <a:off x="6898400" y="4527835"/>
            <a:ext cx="5106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</a:t>
            </a:r>
            <a:endParaRPr sz="20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0" name="Google Shape;1860;p133"/>
          <p:cNvSpPr txBox="1"/>
          <p:nvPr>
            <p:ph idx="1" type="body"/>
          </p:nvPr>
        </p:nvSpPr>
        <p:spPr>
          <a:xfrm>
            <a:off x="324000" y="1532807"/>
            <a:ext cx="3045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 =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1861" name="Google Shape;1861;p133"/>
          <p:cNvSpPr txBox="1"/>
          <p:nvPr>
            <p:ph idx="1" type="body"/>
          </p:nvPr>
        </p:nvSpPr>
        <p:spPr>
          <a:xfrm>
            <a:off x="324000" y="2001513"/>
            <a:ext cx="1980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4(1) + 8 = (12)</a:t>
            </a:r>
            <a:endParaRPr/>
          </a:p>
        </p:txBody>
      </p:sp>
      <p:sp>
        <p:nvSpPr>
          <p:cNvPr id="1862" name="Google Shape;1862;p133"/>
          <p:cNvSpPr/>
          <p:nvPr/>
        </p:nvSpPr>
        <p:spPr>
          <a:xfrm>
            <a:off x="2084312" y="3596120"/>
            <a:ext cx="651000" cy="7221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33"/>
          <p:cNvSpPr/>
          <p:nvPr/>
        </p:nvSpPr>
        <p:spPr>
          <a:xfrm>
            <a:off x="2781618" y="3596120"/>
            <a:ext cx="651000" cy="7221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133"/>
          <p:cNvSpPr/>
          <p:nvPr/>
        </p:nvSpPr>
        <p:spPr>
          <a:xfrm>
            <a:off x="7102005" y="3596120"/>
            <a:ext cx="651000" cy="7221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133"/>
          <p:cNvSpPr txBox="1"/>
          <p:nvPr>
            <p:ph idx="1" type="body"/>
          </p:nvPr>
        </p:nvSpPr>
        <p:spPr>
          <a:xfrm>
            <a:off x="324000" y="2470220"/>
            <a:ext cx="1980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4(2) + 8 = (16)</a:t>
            </a:r>
            <a:endParaRPr/>
          </a:p>
        </p:txBody>
      </p:sp>
      <p:sp>
        <p:nvSpPr>
          <p:cNvPr id="1866" name="Google Shape;1866;p133"/>
          <p:cNvSpPr txBox="1"/>
          <p:nvPr>
            <p:ph idx="1" type="body"/>
          </p:nvPr>
        </p:nvSpPr>
        <p:spPr>
          <a:xfrm>
            <a:off x="324000" y="2938927"/>
            <a:ext cx="1980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4(8) + 8 = (40)</a:t>
            </a:r>
            <a:endParaRPr/>
          </a:p>
        </p:txBody>
      </p:sp>
      <p:sp>
        <p:nvSpPr>
          <p:cNvPr id="1867" name="Google Shape;1867;p133"/>
          <p:cNvSpPr txBox="1"/>
          <p:nvPr>
            <p:ph idx="1" type="body"/>
          </p:nvPr>
        </p:nvSpPr>
        <p:spPr>
          <a:xfrm>
            <a:off x="2887200" y="1890800"/>
            <a:ext cx="54468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many people around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/>
              <a:t> tables?</a:t>
            </a:r>
            <a:endParaRPr/>
          </a:p>
        </p:txBody>
      </p:sp>
      <p:sp>
        <p:nvSpPr>
          <p:cNvPr id="1868" name="Google Shape;1868;p133"/>
          <p:cNvSpPr txBox="1"/>
          <p:nvPr>
            <p:ph idx="1" type="body"/>
          </p:nvPr>
        </p:nvSpPr>
        <p:spPr>
          <a:xfrm>
            <a:off x="4320927" y="2470225"/>
            <a:ext cx="28395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4(100) + 8 = (408)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134"/>
          <p:cNvSpPr txBox="1"/>
          <p:nvPr>
            <p:ph idx="1" type="body"/>
          </p:nvPr>
        </p:nvSpPr>
        <p:spPr>
          <a:xfrm>
            <a:off x="324000" y="759300"/>
            <a:ext cx="7135200" cy="7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Spotting further patterns and relationships enables us to extrapolate terms that are way into the future.</a:t>
            </a:r>
            <a:endParaRPr/>
          </a:p>
        </p:txBody>
      </p:sp>
      <p:sp>
        <p:nvSpPr>
          <p:cNvPr id="1874" name="Google Shape;1874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graphicFrame>
        <p:nvGraphicFramePr>
          <p:cNvPr id="1875" name="Google Shape;1875;p134"/>
          <p:cNvGraphicFramePr/>
          <p:nvPr/>
        </p:nvGraphicFramePr>
        <p:xfrm>
          <a:off x="319149" y="20114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334800"/>
                <a:gridCol w="2209700"/>
                <a:gridCol w="2209700"/>
                <a:gridCol w="2209700"/>
                <a:gridCol w="426225"/>
              </a:tblGrid>
              <a:tr h="31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Tables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6" name="Google Shape;1876;p134"/>
          <p:cNvSpPr txBox="1"/>
          <p:nvPr>
            <p:ph idx="1" type="body"/>
          </p:nvPr>
        </p:nvSpPr>
        <p:spPr>
          <a:xfrm>
            <a:off x="324000" y="1532807"/>
            <a:ext cx="3045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 =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graphicFrame>
        <p:nvGraphicFramePr>
          <p:cNvPr id="1877" name="Google Shape;1877;p134"/>
          <p:cNvGraphicFramePr/>
          <p:nvPr/>
        </p:nvGraphicFramePr>
        <p:xfrm>
          <a:off x="319149" y="283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334800"/>
                <a:gridCol w="2209700"/>
                <a:gridCol w="2209700"/>
                <a:gridCol w="2209700"/>
                <a:gridCol w="426225"/>
              </a:tblGrid>
              <a:tr h="31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Tables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4016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78" name="Google Shape;1878;p134"/>
          <p:cNvGraphicFramePr/>
          <p:nvPr/>
        </p:nvGraphicFramePr>
        <p:xfrm>
          <a:off x="319149" y="36648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334800"/>
                <a:gridCol w="2209700"/>
                <a:gridCol w="2209700"/>
                <a:gridCol w="2209700"/>
                <a:gridCol w="426225"/>
              </a:tblGrid>
              <a:tr h="31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Tables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1 000 000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1 000 001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1 000 002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4 000 008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4 000 012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4 000 016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9" name="Google Shape;1879;p134"/>
          <p:cNvSpPr txBox="1"/>
          <p:nvPr>
            <p:ph idx="1" type="body"/>
          </p:nvPr>
        </p:nvSpPr>
        <p:spPr>
          <a:xfrm>
            <a:off x="324000" y="4481593"/>
            <a:ext cx="81942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Using our equation enables us to find large terms efficiently.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35"/>
          <p:cNvSpPr txBox="1"/>
          <p:nvPr>
            <p:ph idx="1" type="body"/>
          </p:nvPr>
        </p:nvSpPr>
        <p:spPr>
          <a:xfrm>
            <a:off x="324000" y="759300"/>
            <a:ext cx="7135200" cy="7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Spotting further patterns and relationships enables us to extrapolate terms that are way into the future.</a:t>
            </a:r>
            <a:endParaRPr/>
          </a:p>
        </p:txBody>
      </p:sp>
      <p:sp>
        <p:nvSpPr>
          <p:cNvPr id="1885" name="Google Shape;1885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sp>
        <p:nvSpPr>
          <p:cNvPr id="1886" name="Google Shape;1886;p135"/>
          <p:cNvSpPr txBox="1"/>
          <p:nvPr>
            <p:ph idx="1" type="body"/>
          </p:nvPr>
        </p:nvSpPr>
        <p:spPr>
          <a:xfrm>
            <a:off x="324000" y="1532807"/>
            <a:ext cx="3045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 =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1887" name="Google Shape;1887;p135"/>
          <p:cNvSpPr txBox="1"/>
          <p:nvPr>
            <p:ph idx="1" type="body"/>
          </p:nvPr>
        </p:nvSpPr>
        <p:spPr>
          <a:xfrm>
            <a:off x="307899" y="2435713"/>
            <a:ext cx="63345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many people around a billion tables?</a:t>
            </a:r>
            <a:endParaRPr/>
          </a:p>
        </p:txBody>
      </p:sp>
      <p:sp>
        <p:nvSpPr>
          <p:cNvPr id="1888" name="Google Shape;1888;p135"/>
          <p:cNvSpPr txBox="1"/>
          <p:nvPr>
            <p:ph idx="1" type="body"/>
          </p:nvPr>
        </p:nvSpPr>
        <p:spPr>
          <a:xfrm>
            <a:off x="598626" y="2809552"/>
            <a:ext cx="5913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4(1 000 000 000) + 8 = (4 000 000 008)</a:t>
            </a:r>
            <a:endParaRPr/>
          </a:p>
        </p:txBody>
      </p:sp>
      <p:sp>
        <p:nvSpPr>
          <p:cNvPr id="1889" name="Google Shape;1889;p135"/>
          <p:cNvSpPr txBox="1"/>
          <p:nvPr>
            <p:ph idx="1" type="body"/>
          </p:nvPr>
        </p:nvSpPr>
        <p:spPr>
          <a:xfrm>
            <a:off x="307899" y="3350113"/>
            <a:ext cx="63345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many people around two billion tables?</a:t>
            </a:r>
            <a:endParaRPr/>
          </a:p>
        </p:txBody>
      </p:sp>
      <p:sp>
        <p:nvSpPr>
          <p:cNvPr id="1890" name="Google Shape;1890;p135"/>
          <p:cNvSpPr txBox="1"/>
          <p:nvPr>
            <p:ph idx="1" type="body"/>
          </p:nvPr>
        </p:nvSpPr>
        <p:spPr>
          <a:xfrm>
            <a:off x="598626" y="3723952"/>
            <a:ext cx="5913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4(2 000 000 000) + 8 = (8 000 000 008)</a:t>
            </a:r>
            <a:endParaRPr/>
          </a:p>
        </p:txBody>
      </p:sp>
      <p:sp>
        <p:nvSpPr>
          <p:cNvPr id="1891" name="Google Shape;1891;p135"/>
          <p:cNvSpPr txBox="1"/>
          <p:nvPr>
            <p:ph idx="1" type="body"/>
          </p:nvPr>
        </p:nvSpPr>
        <p:spPr>
          <a:xfrm>
            <a:off x="307899" y="4264513"/>
            <a:ext cx="63345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problem with these numbers</a:t>
            </a:r>
            <a:r>
              <a:rPr lang="en-GB"/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136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have exceeded the population of Planet Earth.</a:t>
            </a:r>
            <a:endParaRPr/>
          </a:p>
        </p:txBody>
      </p:sp>
      <p:sp>
        <p:nvSpPr>
          <p:cNvPr id="1897" name="Google Shape;1897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sp>
        <p:nvSpPr>
          <p:cNvPr id="1898" name="Google Shape;1898;p136"/>
          <p:cNvSpPr txBox="1"/>
          <p:nvPr>
            <p:ph idx="1" type="body"/>
          </p:nvPr>
        </p:nvSpPr>
        <p:spPr>
          <a:xfrm>
            <a:off x="307899" y="2435713"/>
            <a:ext cx="63345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many people around a billion tables?</a:t>
            </a:r>
            <a:endParaRPr/>
          </a:p>
        </p:txBody>
      </p:sp>
      <p:sp>
        <p:nvSpPr>
          <p:cNvPr id="1899" name="Google Shape;1899;p136"/>
          <p:cNvSpPr txBox="1"/>
          <p:nvPr>
            <p:ph idx="1" type="body"/>
          </p:nvPr>
        </p:nvSpPr>
        <p:spPr>
          <a:xfrm>
            <a:off x="598626" y="2809552"/>
            <a:ext cx="5913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4(1 000 000 000) + 8 = (4 000 000 008)</a:t>
            </a:r>
            <a:endParaRPr/>
          </a:p>
        </p:txBody>
      </p:sp>
      <p:sp>
        <p:nvSpPr>
          <p:cNvPr id="1900" name="Google Shape;1900;p136"/>
          <p:cNvSpPr txBox="1"/>
          <p:nvPr>
            <p:ph idx="1" type="body"/>
          </p:nvPr>
        </p:nvSpPr>
        <p:spPr>
          <a:xfrm>
            <a:off x="307899" y="3350113"/>
            <a:ext cx="63345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many people around two billion tables?</a:t>
            </a:r>
            <a:endParaRPr/>
          </a:p>
        </p:txBody>
      </p:sp>
      <p:sp>
        <p:nvSpPr>
          <p:cNvPr id="1901" name="Google Shape;1901;p136"/>
          <p:cNvSpPr txBox="1"/>
          <p:nvPr>
            <p:ph idx="1" type="body"/>
          </p:nvPr>
        </p:nvSpPr>
        <p:spPr>
          <a:xfrm>
            <a:off x="598626" y="3723952"/>
            <a:ext cx="5913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4(2 000 000 000) + 8 = (8 000 000 008)</a:t>
            </a:r>
            <a:endParaRPr/>
          </a:p>
        </p:txBody>
      </p:sp>
      <p:sp>
        <p:nvSpPr>
          <p:cNvPr id="1902" name="Google Shape;1902;p136"/>
          <p:cNvSpPr txBox="1"/>
          <p:nvPr>
            <p:ph idx="1" type="body"/>
          </p:nvPr>
        </p:nvSpPr>
        <p:spPr>
          <a:xfrm>
            <a:off x="307899" y="4264513"/>
            <a:ext cx="63345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problem with these numbers?</a:t>
            </a:r>
            <a:endParaRPr/>
          </a:p>
        </p:txBody>
      </p:sp>
      <p:pic>
        <p:nvPicPr>
          <p:cNvPr id="1903" name="Google Shape;1903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0722" y="1278674"/>
            <a:ext cx="3795809" cy="9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4" name="Google Shape;1904;p136"/>
          <p:cNvSpPr txBox="1"/>
          <p:nvPr>
            <p:ph idx="1" type="body"/>
          </p:nvPr>
        </p:nvSpPr>
        <p:spPr>
          <a:xfrm>
            <a:off x="324000" y="1345875"/>
            <a:ext cx="39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Concrete models are often restricted by physical limits.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137"/>
          <p:cNvSpPr txBox="1"/>
          <p:nvPr>
            <p:ph idx="1" type="subTitle"/>
          </p:nvPr>
        </p:nvSpPr>
        <p:spPr>
          <a:xfrm>
            <a:off x="980575" y="3196119"/>
            <a:ext cx="74526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Concrete models are often restricted by physical limits.</a:t>
            </a:r>
            <a:endParaRPr/>
          </a:p>
        </p:txBody>
      </p:sp>
      <p:sp>
        <p:nvSpPr>
          <p:cNvPr id="1910" name="Google Shape;1910;p137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concrete models can continue infinitely.</a:t>
            </a:r>
            <a:endParaRPr/>
          </a:p>
        </p:txBody>
      </p:sp>
      <p:sp>
        <p:nvSpPr>
          <p:cNvPr id="1911" name="Google Shape;1911;p137"/>
          <p:cNvSpPr txBox="1"/>
          <p:nvPr>
            <p:ph idx="3" type="subTitle"/>
          </p:nvPr>
        </p:nvSpPr>
        <p:spPr>
          <a:xfrm>
            <a:off x="980575" y="4040350"/>
            <a:ext cx="34758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Patterns go on infinitely.</a:t>
            </a:r>
            <a:endParaRPr/>
          </a:p>
        </p:txBody>
      </p:sp>
      <p:sp>
        <p:nvSpPr>
          <p:cNvPr id="1912" name="Google Shape;1912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Concrete versus abstract sequences</a:t>
            </a:r>
            <a:endParaRPr/>
          </a:p>
        </p:txBody>
      </p:sp>
      <p:pic>
        <p:nvPicPr>
          <p:cNvPr id="1913" name="Google Shape;1913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7783" y="17769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4" name="Google Shape;1914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663" y="341883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138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look at another concrete example.</a:t>
            </a:r>
            <a:endParaRPr/>
          </a:p>
        </p:txBody>
      </p:sp>
      <p:sp>
        <p:nvSpPr>
          <p:cNvPr id="1920" name="Google Shape;1920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sp>
        <p:nvSpPr>
          <p:cNvPr id="1921" name="Google Shape;1921;p138"/>
          <p:cNvSpPr txBox="1"/>
          <p:nvPr>
            <p:ph idx="1" type="body"/>
          </p:nvPr>
        </p:nvSpPr>
        <p:spPr>
          <a:xfrm>
            <a:off x="324000" y="1269675"/>
            <a:ext cx="4500000" cy="7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farmer needs to raise some money by selling off some land.</a:t>
            </a:r>
            <a:endParaRPr/>
          </a:p>
        </p:txBody>
      </p:sp>
      <p:sp>
        <p:nvSpPr>
          <p:cNvPr id="1922" name="Google Shape;1922;p138"/>
          <p:cNvSpPr/>
          <p:nvPr/>
        </p:nvSpPr>
        <p:spPr>
          <a:xfrm>
            <a:off x="6297318" y="1112625"/>
            <a:ext cx="1808100" cy="899100"/>
          </a:xfrm>
          <a:prstGeom prst="rect">
            <a:avLst/>
          </a:prstGeom>
          <a:solidFill>
            <a:srgbClr val="6AA84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3" name="Google Shape;1923;p138"/>
          <p:cNvCxnSpPr/>
          <p:nvPr/>
        </p:nvCxnSpPr>
        <p:spPr>
          <a:xfrm>
            <a:off x="6293445" y="2088440"/>
            <a:ext cx="1851300" cy="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4" name="Google Shape;1924;p138"/>
          <p:cNvCxnSpPr/>
          <p:nvPr/>
        </p:nvCxnSpPr>
        <p:spPr>
          <a:xfrm flipH="1">
            <a:off x="8196425" y="1080911"/>
            <a:ext cx="4500" cy="95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25" name="Google Shape;1925;p138"/>
          <p:cNvSpPr txBox="1"/>
          <p:nvPr/>
        </p:nvSpPr>
        <p:spPr>
          <a:xfrm>
            <a:off x="6828216" y="2059702"/>
            <a:ext cx="106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6" name="Google Shape;1926;p138"/>
          <p:cNvSpPr txBox="1"/>
          <p:nvPr/>
        </p:nvSpPr>
        <p:spPr>
          <a:xfrm>
            <a:off x="8256697" y="1395434"/>
            <a:ext cx="68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7" name="Google Shape;1927;p138"/>
          <p:cNvSpPr txBox="1"/>
          <p:nvPr/>
        </p:nvSpPr>
        <p:spPr>
          <a:xfrm>
            <a:off x="6748676" y="1353480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8" name="Google Shape;1928;p138"/>
          <p:cNvSpPr txBox="1"/>
          <p:nvPr>
            <p:ph idx="1" type="body"/>
          </p:nvPr>
        </p:nvSpPr>
        <p:spPr>
          <a:xfrm>
            <a:off x="324000" y="2445025"/>
            <a:ext cx="5450400" cy="7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After one year they have lost one kilometre off each length of their land.</a:t>
            </a:r>
            <a:endParaRPr/>
          </a:p>
        </p:txBody>
      </p:sp>
      <p:sp>
        <p:nvSpPr>
          <p:cNvPr id="1929" name="Google Shape;1929;p138"/>
          <p:cNvSpPr/>
          <p:nvPr/>
        </p:nvSpPr>
        <p:spPr>
          <a:xfrm>
            <a:off x="6296856" y="2538765"/>
            <a:ext cx="1591800" cy="791400"/>
          </a:xfrm>
          <a:prstGeom prst="rect">
            <a:avLst/>
          </a:prstGeom>
          <a:solidFill>
            <a:srgbClr val="6AA84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0" name="Google Shape;1930;p138"/>
          <p:cNvCxnSpPr/>
          <p:nvPr/>
        </p:nvCxnSpPr>
        <p:spPr>
          <a:xfrm>
            <a:off x="6293446" y="3397733"/>
            <a:ext cx="1629900" cy="6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31" name="Google Shape;1931;p138"/>
          <p:cNvCxnSpPr/>
          <p:nvPr/>
        </p:nvCxnSpPr>
        <p:spPr>
          <a:xfrm flipH="1">
            <a:off x="7968957" y="2510848"/>
            <a:ext cx="3900" cy="84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32" name="Google Shape;1932;p138"/>
          <p:cNvSpPr txBox="1"/>
          <p:nvPr/>
        </p:nvSpPr>
        <p:spPr>
          <a:xfrm>
            <a:off x="6764277" y="3371058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3" name="Google Shape;1933;p138"/>
          <p:cNvSpPr txBox="1"/>
          <p:nvPr/>
        </p:nvSpPr>
        <p:spPr>
          <a:xfrm>
            <a:off x="8021961" y="2787709"/>
            <a:ext cx="6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4" name="Google Shape;1934;p138"/>
          <p:cNvSpPr txBox="1"/>
          <p:nvPr/>
        </p:nvSpPr>
        <p:spPr>
          <a:xfrm>
            <a:off x="6686511" y="2749386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5" name="Google Shape;1935;p138"/>
          <p:cNvSpPr txBox="1"/>
          <p:nvPr>
            <p:ph idx="1" type="body"/>
          </p:nvPr>
        </p:nvSpPr>
        <p:spPr>
          <a:xfrm>
            <a:off x="324000" y="3620375"/>
            <a:ext cx="5450400" cy="7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After year two they have lost another kilometre off each length of their land.</a:t>
            </a:r>
            <a:endParaRPr/>
          </a:p>
        </p:txBody>
      </p:sp>
      <p:sp>
        <p:nvSpPr>
          <p:cNvPr id="1936" name="Google Shape;1936;p138"/>
          <p:cNvSpPr/>
          <p:nvPr/>
        </p:nvSpPr>
        <p:spPr>
          <a:xfrm>
            <a:off x="6296142" y="3897377"/>
            <a:ext cx="1259100" cy="625800"/>
          </a:xfrm>
          <a:prstGeom prst="rect">
            <a:avLst/>
          </a:prstGeom>
          <a:solidFill>
            <a:srgbClr val="6AA84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7" name="Google Shape;1937;p138"/>
          <p:cNvCxnSpPr/>
          <p:nvPr/>
        </p:nvCxnSpPr>
        <p:spPr>
          <a:xfrm>
            <a:off x="6293445" y="4576752"/>
            <a:ext cx="1289100" cy="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38" name="Google Shape;1938;p138"/>
          <p:cNvCxnSpPr/>
          <p:nvPr/>
        </p:nvCxnSpPr>
        <p:spPr>
          <a:xfrm flipH="1">
            <a:off x="7618730" y="3875298"/>
            <a:ext cx="3000" cy="66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39" name="Google Shape;1939;p138"/>
          <p:cNvSpPr txBox="1"/>
          <p:nvPr/>
        </p:nvSpPr>
        <p:spPr>
          <a:xfrm>
            <a:off x="6688077" y="4541418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0" name="Google Shape;1940;p138"/>
          <p:cNvSpPr txBox="1"/>
          <p:nvPr/>
        </p:nvSpPr>
        <p:spPr>
          <a:xfrm>
            <a:off x="7694148" y="4052936"/>
            <a:ext cx="6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1" name="Google Shape;1941;p138"/>
          <p:cNvSpPr txBox="1"/>
          <p:nvPr/>
        </p:nvSpPr>
        <p:spPr>
          <a:xfrm>
            <a:off x="6587297" y="4037626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39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look at another concrete example.</a:t>
            </a:r>
            <a:endParaRPr/>
          </a:p>
        </p:txBody>
      </p:sp>
      <p:sp>
        <p:nvSpPr>
          <p:cNvPr id="1947" name="Google Shape;1947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sp>
        <p:nvSpPr>
          <p:cNvPr id="1948" name="Google Shape;1948;p139"/>
          <p:cNvSpPr/>
          <p:nvPr/>
        </p:nvSpPr>
        <p:spPr>
          <a:xfrm>
            <a:off x="6297318" y="1112625"/>
            <a:ext cx="1808100" cy="899100"/>
          </a:xfrm>
          <a:prstGeom prst="rect">
            <a:avLst/>
          </a:prstGeom>
          <a:solidFill>
            <a:srgbClr val="6AA84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9" name="Google Shape;1949;p139"/>
          <p:cNvCxnSpPr/>
          <p:nvPr/>
        </p:nvCxnSpPr>
        <p:spPr>
          <a:xfrm>
            <a:off x="6293445" y="2088440"/>
            <a:ext cx="1851300" cy="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0" name="Google Shape;1950;p139"/>
          <p:cNvCxnSpPr/>
          <p:nvPr/>
        </p:nvCxnSpPr>
        <p:spPr>
          <a:xfrm flipH="1">
            <a:off x="8196425" y="1080911"/>
            <a:ext cx="4500" cy="95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51" name="Google Shape;1951;p139"/>
          <p:cNvSpPr txBox="1"/>
          <p:nvPr/>
        </p:nvSpPr>
        <p:spPr>
          <a:xfrm>
            <a:off x="6828216" y="2059702"/>
            <a:ext cx="106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2" name="Google Shape;1952;p139"/>
          <p:cNvSpPr txBox="1"/>
          <p:nvPr/>
        </p:nvSpPr>
        <p:spPr>
          <a:xfrm>
            <a:off x="8256697" y="1395434"/>
            <a:ext cx="68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3" name="Google Shape;1953;p139"/>
          <p:cNvSpPr txBox="1"/>
          <p:nvPr/>
        </p:nvSpPr>
        <p:spPr>
          <a:xfrm>
            <a:off x="6748676" y="1353480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4" name="Google Shape;1954;p139"/>
          <p:cNvSpPr/>
          <p:nvPr/>
        </p:nvSpPr>
        <p:spPr>
          <a:xfrm>
            <a:off x="6296856" y="2538765"/>
            <a:ext cx="1591800" cy="791400"/>
          </a:xfrm>
          <a:prstGeom prst="rect">
            <a:avLst/>
          </a:prstGeom>
          <a:solidFill>
            <a:srgbClr val="6AA84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5" name="Google Shape;1955;p139"/>
          <p:cNvCxnSpPr/>
          <p:nvPr/>
        </p:nvCxnSpPr>
        <p:spPr>
          <a:xfrm>
            <a:off x="6293446" y="3397733"/>
            <a:ext cx="1629900" cy="6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6" name="Google Shape;1956;p139"/>
          <p:cNvCxnSpPr/>
          <p:nvPr/>
        </p:nvCxnSpPr>
        <p:spPr>
          <a:xfrm flipH="1">
            <a:off x="7968957" y="2510848"/>
            <a:ext cx="3900" cy="84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57" name="Google Shape;1957;p139"/>
          <p:cNvSpPr txBox="1"/>
          <p:nvPr/>
        </p:nvSpPr>
        <p:spPr>
          <a:xfrm>
            <a:off x="6764277" y="3371058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8" name="Google Shape;1958;p139"/>
          <p:cNvSpPr txBox="1"/>
          <p:nvPr/>
        </p:nvSpPr>
        <p:spPr>
          <a:xfrm>
            <a:off x="8021961" y="2787709"/>
            <a:ext cx="6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9" name="Google Shape;1959;p139"/>
          <p:cNvSpPr txBox="1"/>
          <p:nvPr/>
        </p:nvSpPr>
        <p:spPr>
          <a:xfrm>
            <a:off x="6686511" y="2749386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0" name="Google Shape;1960;p139"/>
          <p:cNvSpPr/>
          <p:nvPr/>
        </p:nvSpPr>
        <p:spPr>
          <a:xfrm>
            <a:off x="6296142" y="3897377"/>
            <a:ext cx="1259100" cy="625800"/>
          </a:xfrm>
          <a:prstGeom prst="rect">
            <a:avLst/>
          </a:prstGeom>
          <a:solidFill>
            <a:srgbClr val="6AA84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1" name="Google Shape;1961;p139"/>
          <p:cNvCxnSpPr/>
          <p:nvPr/>
        </p:nvCxnSpPr>
        <p:spPr>
          <a:xfrm>
            <a:off x="6293445" y="4576752"/>
            <a:ext cx="1289100" cy="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62" name="Google Shape;1962;p139"/>
          <p:cNvCxnSpPr/>
          <p:nvPr/>
        </p:nvCxnSpPr>
        <p:spPr>
          <a:xfrm flipH="1">
            <a:off x="7618730" y="3875298"/>
            <a:ext cx="3000" cy="66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63" name="Google Shape;1963;p139"/>
          <p:cNvSpPr txBox="1"/>
          <p:nvPr/>
        </p:nvSpPr>
        <p:spPr>
          <a:xfrm>
            <a:off x="6688077" y="4541418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4" name="Google Shape;1964;p139"/>
          <p:cNvSpPr txBox="1"/>
          <p:nvPr/>
        </p:nvSpPr>
        <p:spPr>
          <a:xfrm>
            <a:off x="7694148" y="4052936"/>
            <a:ext cx="6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5" name="Google Shape;1965;p139"/>
          <p:cNvSpPr txBox="1"/>
          <p:nvPr/>
        </p:nvSpPr>
        <p:spPr>
          <a:xfrm>
            <a:off x="6587297" y="4037626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66" name="Google Shape;1966;p139"/>
          <p:cNvGraphicFramePr/>
          <p:nvPr/>
        </p:nvGraphicFramePr>
        <p:xfrm>
          <a:off x="342132" y="1893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  <a:gridCol w="77605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67" name="Google Shape;1967;p139"/>
          <p:cNvSpPr txBox="1"/>
          <p:nvPr>
            <p:ph idx="1" type="body"/>
          </p:nvPr>
        </p:nvSpPr>
        <p:spPr>
          <a:xfrm>
            <a:off x="324000" y="2637225"/>
            <a:ext cx="553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spot a pattern</a:t>
            </a:r>
            <a:r>
              <a:rPr lang="en-GB"/>
              <a:t> in this sequence?</a:t>
            </a:r>
            <a:endParaRPr/>
          </a:p>
        </p:txBody>
      </p:sp>
      <p:sp>
        <p:nvSpPr>
          <p:cNvPr id="1968" name="Google Shape;1968;p139"/>
          <p:cNvSpPr txBox="1"/>
          <p:nvPr>
            <p:ph idx="1" type="body"/>
          </p:nvPr>
        </p:nvSpPr>
        <p:spPr>
          <a:xfrm>
            <a:off x="324000" y="3182093"/>
            <a:ext cx="4671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find the next two terms?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140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look at another concrete example.</a:t>
            </a:r>
            <a:endParaRPr/>
          </a:p>
        </p:txBody>
      </p:sp>
      <p:sp>
        <p:nvSpPr>
          <p:cNvPr id="1974" name="Google Shape;1974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sp>
        <p:nvSpPr>
          <p:cNvPr id="1975" name="Google Shape;1975;p140"/>
          <p:cNvSpPr/>
          <p:nvPr/>
        </p:nvSpPr>
        <p:spPr>
          <a:xfrm>
            <a:off x="6297318" y="1112625"/>
            <a:ext cx="1808100" cy="899100"/>
          </a:xfrm>
          <a:prstGeom prst="rect">
            <a:avLst/>
          </a:prstGeom>
          <a:solidFill>
            <a:srgbClr val="6AA84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6" name="Google Shape;1976;p140"/>
          <p:cNvCxnSpPr/>
          <p:nvPr/>
        </p:nvCxnSpPr>
        <p:spPr>
          <a:xfrm>
            <a:off x="6293445" y="2088440"/>
            <a:ext cx="1851300" cy="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77" name="Google Shape;1977;p140"/>
          <p:cNvCxnSpPr/>
          <p:nvPr/>
        </p:nvCxnSpPr>
        <p:spPr>
          <a:xfrm flipH="1">
            <a:off x="8196425" y="1080911"/>
            <a:ext cx="4500" cy="95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8" name="Google Shape;1978;p140"/>
          <p:cNvSpPr txBox="1"/>
          <p:nvPr/>
        </p:nvSpPr>
        <p:spPr>
          <a:xfrm>
            <a:off x="6828216" y="2059702"/>
            <a:ext cx="106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9" name="Google Shape;1979;p140"/>
          <p:cNvSpPr txBox="1"/>
          <p:nvPr/>
        </p:nvSpPr>
        <p:spPr>
          <a:xfrm>
            <a:off x="8256697" y="1395434"/>
            <a:ext cx="68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0" name="Google Shape;1980;p140"/>
          <p:cNvSpPr txBox="1"/>
          <p:nvPr/>
        </p:nvSpPr>
        <p:spPr>
          <a:xfrm>
            <a:off x="6748676" y="1353480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1" name="Google Shape;1981;p140"/>
          <p:cNvSpPr/>
          <p:nvPr/>
        </p:nvSpPr>
        <p:spPr>
          <a:xfrm>
            <a:off x="6296856" y="2538765"/>
            <a:ext cx="1591800" cy="791400"/>
          </a:xfrm>
          <a:prstGeom prst="rect">
            <a:avLst/>
          </a:prstGeom>
          <a:solidFill>
            <a:srgbClr val="6AA84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2" name="Google Shape;1982;p140"/>
          <p:cNvCxnSpPr/>
          <p:nvPr/>
        </p:nvCxnSpPr>
        <p:spPr>
          <a:xfrm>
            <a:off x="6293446" y="3397733"/>
            <a:ext cx="1629900" cy="6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3" name="Google Shape;1983;p140"/>
          <p:cNvCxnSpPr/>
          <p:nvPr/>
        </p:nvCxnSpPr>
        <p:spPr>
          <a:xfrm flipH="1">
            <a:off x="7968957" y="2510848"/>
            <a:ext cx="3900" cy="84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4" name="Google Shape;1984;p140"/>
          <p:cNvSpPr txBox="1"/>
          <p:nvPr/>
        </p:nvSpPr>
        <p:spPr>
          <a:xfrm>
            <a:off x="6764277" y="3371058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5" name="Google Shape;1985;p140"/>
          <p:cNvSpPr txBox="1"/>
          <p:nvPr/>
        </p:nvSpPr>
        <p:spPr>
          <a:xfrm>
            <a:off x="8021961" y="2787709"/>
            <a:ext cx="6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6" name="Google Shape;1986;p140"/>
          <p:cNvSpPr txBox="1"/>
          <p:nvPr/>
        </p:nvSpPr>
        <p:spPr>
          <a:xfrm>
            <a:off x="6686511" y="2749386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7" name="Google Shape;1987;p140"/>
          <p:cNvSpPr/>
          <p:nvPr/>
        </p:nvSpPr>
        <p:spPr>
          <a:xfrm>
            <a:off x="6296142" y="3897377"/>
            <a:ext cx="1259100" cy="625800"/>
          </a:xfrm>
          <a:prstGeom prst="rect">
            <a:avLst/>
          </a:prstGeom>
          <a:solidFill>
            <a:srgbClr val="6AA84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8" name="Google Shape;1988;p140"/>
          <p:cNvCxnSpPr/>
          <p:nvPr/>
        </p:nvCxnSpPr>
        <p:spPr>
          <a:xfrm>
            <a:off x="6293445" y="4576752"/>
            <a:ext cx="1289100" cy="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9" name="Google Shape;1989;p140"/>
          <p:cNvCxnSpPr/>
          <p:nvPr/>
        </p:nvCxnSpPr>
        <p:spPr>
          <a:xfrm flipH="1">
            <a:off x="7618730" y="3875298"/>
            <a:ext cx="3000" cy="66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90" name="Google Shape;1990;p140"/>
          <p:cNvSpPr txBox="1"/>
          <p:nvPr/>
        </p:nvSpPr>
        <p:spPr>
          <a:xfrm>
            <a:off x="6688077" y="4541418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1" name="Google Shape;1991;p140"/>
          <p:cNvSpPr txBox="1"/>
          <p:nvPr/>
        </p:nvSpPr>
        <p:spPr>
          <a:xfrm>
            <a:off x="7694148" y="4052936"/>
            <a:ext cx="6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2" name="Google Shape;1992;p140"/>
          <p:cNvSpPr txBox="1"/>
          <p:nvPr/>
        </p:nvSpPr>
        <p:spPr>
          <a:xfrm>
            <a:off x="6587297" y="4037626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93" name="Google Shape;1993;p140"/>
          <p:cNvGraphicFramePr/>
          <p:nvPr/>
        </p:nvGraphicFramePr>
        <p:xfrm>
          <a:off x="342132" y="1893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94" name="Google Shape;1994;p140"/>
          <p:cNvGraphicFramePr/>
          <p:nvPr/>
        </p:nvGraphicFramePr>
        <p:xfrm>
          <a:off x="342132" y="1588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× 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 × 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×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95" name="Google Shape;1995;p140"/>
          <p:cNvGraphicFramePr/>
          <p:nvPr/>
        </p:nvGraphicFramePr>
        <p:xfrm>
          <a:off x="342132" y="1893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  <a:gridCol w="776050"/>
                <a:gridCol w="77605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96" name="Google Shape;1996;p140"/>
          <p:cNvGraphicFramePr/>
          <p:nvPr/>
        </p:nvGraphicFramePr>
        <p:xfrm>
          <a:off x="342132" y="1588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  <a:gridCol w="776050"/>
                <a:gridCol w="77605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× 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 × 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×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× 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×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97" name="Google Shape;1997;p140"/>
          <p:cNvSpPr txBox="1"/>
          <p:nvPr>
            <p:ph idx="1" type="body"/>
          </p:nvPr>
        </p:nvSpPr>
        <p:spPr>
          <a:xfrm>
            <a:off x="324000" y="2637225"/>
            <a:ext cx="553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spot a pattern in this sequence?</a:t>
            </a:r>
            <a:endParaRPr/>
          </a:p>
        </p:txBody>
      </p:sp>
      <p:sp>
        <p:nvSpPr>
          <p:cNvPr id="1998" name="Google Shape;1998;p140"/>
          <p:cNvSpPr txBox="1"/>
          <p:nvPr>
            <p:ph idx="1" type="body"/>
          </p:nvPr>
        </p:nvSpPr>
        <p:spPr>
          <a:xfrm>
            <a:off x="324000" y="3182093"/>
            <a:ext cx="4671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find the next two terms?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141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look at another concrete example.</a:t>
            </a:r>
            <a:endParaRPr/>
          </a:p>
        </p:txBody>
      </p:sp>
      <p:sp>
        <p:nvSpPr>
          <p:cNvPr id="2004" name="Google Shape;2004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sp>
        <p:nvSpPr>
          <p:cNvPr id="2005" name="Google Shape;2005;p141"/>
          <p:cNvSpPr/>
          <p:nvPr/>
        </p:nvSpPr>
        <p:spPr>
          <a:xfrm>
            <a:off x="6297318" y="1112625"/>
            <a:ext cx="1808100" cy="899100"/>
          </a:xfrm>
          <a:prstGeom prst="rect">
            <a:avLst/>
          </a:prstGeom>
          <a:solidFill>
            <a:srgbClr val="6AA84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6" name="Google Shape;2006;p141"/>
          <p:cNvCxnSpPr/>
          <p:nvPr/>
        </p:nvCxnSpPr>
        <p:spPr>
          <a:xfrm>
            <a:off x="6293445" y="2088440"/>
            <a:ext cx="1851300" cy="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07" name="Google Shape;2007;p141"/>
          <p:cNvCxnSpPr/>
          <p:nvPr/>
        </p:nvCxnSpPr>
        <p:spPr>
          <a:xfrm flipH="1">
            <a:off x="8196425" y="1080911"/>
            <a:ext cx="4500" cy="95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08" name="Google Shape;2008;p141"/>
          <p:cNvSpPr txBox="1"/>
          <p:nvPr/>
        </p:nvSpPr>
        <p:spPr>
          <a:xfrm>
            <a:off x="6828216" y="2059702"/>
            <a:ext cx="106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9" name="Google Shape;2009;p141"/>
          <p:cNvSpPr txBox="1"/>
          <p:nvPr/>
        </p:nvSpPr>
        <p:spPr>
          <a:xfrm>
            <a:off x="8256697" y="1395434"/>
            <a:ext cx="68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0" name="Google Shape;2010;p141"/>
          <p:cNvSpPr txBox="1"/>
          <p:nvPr/>
        </p:nvSpPr>
        <p:spPr>
          <a:xfrm>
            <a:off x="6748676" y="1353480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1" name="Google Shape;2011;p141"/>
          <p:cNvSpPr/>
          <p:nvPr/>
        </p:nvSpPr>
        <p:spPr>
          <a:xfrm>
            <a:off x="6296856" y="2538765"/>
            <a:ext cx="1591800" cy="791400"/>
          </a:xfrm>
          <a:prstGeom prst="rect">
            <a:avLst/>
          </a:prstGeom>
          <a:solidFill>
            <a:srgbClr val="6AA84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2" name="Google Shape;2012;p141"/>
          <p:cNvCxnSpPr/>
          <p:nvPr/>
        </p:nvCxnSpPr>
        <p:spPr>
          <a:xfrm>
            <a:off x="6293446" y="3397733"/>
            <a:ext cx="1629900" cy="6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3" name="Google Shape;2013;p141"/>
          <p:cNvCxnSpPr/>
          <p:nvPr/>
        </p:nvCxnSpPr>
        <p:spPr>
          <a:xfrm flipH="1">
            <a:off x="7968957" y="2510848"/>
            <a:ext cx="3900" cy="84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4" name="Google Shape;2014;p141"/>
          <p:cNvSpPr txBox="1"/>
          <p:nvPr/>
        </p:nvSpPr>
        <p:spPr>
          <a:xfrm>
            <a:off x="6764277" y="3371058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5" name="Google Shape;2015;p141"/>
          <p:cNvSpPr txBox="1"/>
          <p:nvPr/>
        </p:nvSpPr>
        <p:spPr>
          <a:xfrm>
            <a:off x="8021961" y="2787709"/>
            <a:ext cx="6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6" name="Google Shape;2016;p141"/>
          <p:cNvSpPr txBox="1"/>
          <p:nvPr/>
        </p:nvSpPr>
        <p:spPr>
          <a:xfrm>
            <a:off x="6686511" y="2749386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7" name="Google Shape;2017;p141"/>
          <p:cNvSpPr/>
          <p:nvPr/>
        </p:nvSpPr>
        <p:spPr>
          <a:xfrm>
            <a:off x="6296142" y="3897377"/>
            <a:ext cx="1259100" cy="625800"/>
          </a:xfrm>
          <a:prstGeom prst="rect">
            <a:avLst/>
          </a:prstGeom>
          <a:solidFill>
            <a:srgbClr val="6AA84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8" name="Google Shape;2018;p141"/>
          <p:cNvCxnSpPr/>
          <p:nvPr/>
        </p:nvCxnSpPr>
        <p:spPr>
          <a:xfrm>
            <a:off x="6293445" y="4576752"/>
            <a:ext cx="1289100" cy="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9" name="Google Shape;2019;p141"/>
          <p:cNvCxnSpPr/>
          <p:nvPr/>
        </p:nvCxnSpPr>
        <p:spPr>
          <a:xfrm flipH="1">
            <a:off x="7618730" y="3875298"/>
            <a:ext cx="3000" cy="66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0" name="Google Shape;2020;p141"/>
          <p:cNvSpPr txBox="1"/>
          <p:nvPr/>
        </p:nvSpPr>
        <p:spPr>
          <a:xfrm>
            <a:off x="6688077" y="4541418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1" name="Google Shape;2021;p141"/>
          <p:cNvSpPr txBox="1"/>
          <p:nvPr/>
        </p:nvSpPr>
        <p:spPr>
          <a:xfrm>
            <a:off x="7694148" y="4052936"/>
            <a:ext cx="6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2" name="Google Shape;2022;p141"/>
          <p:cNvSpPr txBox="1"/>
          <p:nvPr/>
        </p:nvSpPr>
        <p:spPr>
          <a:xfrm>
            <a:off x="6587297" y="4037626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km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23" name="Google Shape;2023;p141"/>
          <p:cNvGraphicFramePr/>
          <p:nvPr/>
        </p:nvGraphicFramePr>
        <p:xfrm>
          <a:off x="342132" y="1893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24" name="Google Shape;2024;p141"/>
          <p:cNvSpPr txBox="1"/>
          <p:nvPr>
            <p:ph idx="1" type="body"/>
          </p:nvPr>
        </p:nvSpPr>
        <p:spPr>
          <a:xfrm>
            <a:off x="324000" y="2637225"/>
            <a:ext cx="558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problem beyond this?</a:t>
            </a:r>
            <a:endParaRPr/>
          </a:p>
        </p:txBody>
      </p:sp>
      <p:graphicFrame>
        <p:nvGraphicFramePr>
          <p:cNvPr id="2025" name="Google Shape;2025;p141"/>
          <p:cNvGraphicFramePr/>
          <p:nvPr/>
        </p:nvGraphicFramePr>
        <p:xfrm>
          <a:off x="342132" y="1588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× 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 × 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×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26" name="Google Shape;2026;p141"/>
          <p:cNvGraphicFramePr/>
          <p:nvPr/>
        </p:nvGraphicFramePr>
        <p:xfrm>
          <a:off x="342132" y="1893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  <a:gridCol w="776050"/>
                <a:gridCol w="776050"/>
                <a:gridCol w="776050"/>
                <a:gridCol w="77605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27" name="Google Shape;2027;p141"/>
          <p:cNvGraphicFramePr/>
          <p:nvPr/>
        </p:nvGraphicFramePr>
        <p:xfrm>
          <a:off x="342132" y="1588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  <a:gridCol w="776050"/>
                <a:gridCol w="776050"/>
                <a:gridCol w="776050"/>
                <a:gridCol w="77605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× 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 × 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×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× 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×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× 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× 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28" name="Google Shape;2028;p141"/>
          <p:cNvGraphicFramePr/>
          <p:nvPr/>
        </p:nvGraphicFramePr>
        <p:xfrm>
          <a:off x="342132" y="1893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  <a:gridCol w="776050"/>
                <a:gridCol w="77605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29" name="Google Shape;2029;p141"/>
          <p:cNvGraphicFramePr/>
          <p:nvPr/>
        </p:nvGraphicFramePr>
        <p:xfrm>
          <a:off x="342132" y="1588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  <a:gridCol w="776050"/>
                <a:gridCol w="77605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× 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 × 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×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× 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×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30" name="Google Shape;2030;p141"/>
          <p:cNvGraphicFramePr/>
          <p:nvPr/>
        </p:nvGraphicFramePr>
        <p:xfrm>
          <a:off x="342132" y="1893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  <a:gridCol w="776050"/>
                <a:gridCol w="776050"/>
                <a:gridCol w="77605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31" name="Google Shape;2031;p141"/>
          <p:cNvGraphicFramePr/>
          <p:nvPr/>
        </p:nvGraphicFramePr>
        <p:xfrm>
          <a:off x="342132" y="1588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76050"/>
                <a:gridCol w="776050"/>
                <a:gridCol w="776050"/>
                <a:gridCol w="776050"/>
                <a:gridCol w="776050"/>
                <a:gridCol w="77605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× 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 × 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×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× 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×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× 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32" name="Google Shape;2032;p141"/>
          <p:cNvSpPr txBox="1"/>
          <p:nvPr>
            <p:ph idx="1" type="body"/>
          </p:nvPr>
        </p:nvSpPr>
        <p:spPr>
          <a:xfrm>
            <a:off x="324000" y="3246825"/>
            <a:ext cx="5313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the concrete world we can not have a negative area in this problem, so this pattern can not continue like this.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142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 in maths we want to, and can, make abstract models.</a:t>
            </a:r>
            <a:endParaRPr/>
          </a:p>
        </p:txBody>
      </p:sp>
      <p:sp>
        <p:nvSpPr>
          <p:cNvPr id="2038" name="Google Shape;2038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graphicFrame>
        <p:nvGraphicFramePr>
          <p:cNvPr id="2039" name="Google Shape;2039;p142"/>
          <p:cNvGraphicFramePr/>
          <p:nvPr/>
        </p:nvGraphicFramePr>
        <p:xfrm>
          <a:off x="342132" y="1893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716650"/>
                <a:gridCol w="716650"/>
                <a:gridCol w="716650"/>
                <a:gridCol w="716650"/>
                <a:gridCol w="716650"/>
                <a:gridCol w="716650"/>
                <a:gridCol w="71665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40" name="Google Shape;2040;p142"/>
          <p:cNvSpPr txBox="1"/>
          <p:nvPr>
            <p:ph idx="1" type="body"/>
          </p:nvPr>
        </p:nvSpPr>
        <p:spPr>
          <a:xfrm>
            <a:off x="324000" y="3246825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Rather than thinking of this as a physical model of dimensions and area, let’s spot another pattern.</a:t>
            </a:r>
            <a:endParaRPr/>
          </a:p>
        </p:txBody>
      </p:sp>
      <p:graphicFrame>
        <p:nvGraphicFramePr>
          <p:cNvPr id="2041" name="Google Shape;2041;p142"/>
          <p:cNvGraphicFramePr/>
          <p:nvPr/>
        </p:nvGraphicFramePr>
        <p:xfrm>
          <a:off x="5401628" y="1893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659200"/>
                <a:gridCol w="659200"/>
                <a:gridCol w="659200"/>
                <a:gridCol w="659200"/>
                <a:gridCol w="659200"/>
              </a:tblGrid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−6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42" name="Google Shape;2042;p142"/>
          <p:cNvSpPr txBox="1"/>
          <p:nvPr>
            <p:ph idx="1" type="body"/>
          </p:nvPr>
        </p:nvSpPr>
        <p:spPr>
          <a:xfrm>
            <a:off x="324000" y="4248901"/>
            <a:ext cx="7055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Our abstract sequence can have negative terms.</a:t>
            </a:r>
            <a:endParaRPr/>
          </a:p>
        </p:txBody>
      </p:sp>
      <p:grpSp>
        <p:nvGrpSpPr>
          <p:cNvPr id="2043" name="Google Shape;2043;p142"/>
          <p:cNvGrpSpPr/>
          <p:nvPr/>
        </p:nvGrpSpPr>
        <p:grpSpPr>
          <a:xfrm>
            <a:off x="695412" y="2045124"/>
            <a:ext cx="4268957" cy="630304"/>
            <a:chOff x="695430" y="2045123"/>
            <a:chExt cx="4740125" cy="630304"/>
          </a:xfrm>
        </p:grpSpPr>
        <p:grpSp>
          <p:nvGrpSpPr>
            <p:cNvPr id="2044" name="Google Shape;2044;p142"/>
            <p:cNvGrpSpPr/>
            <p:nvPr/>
          </p:nvGrpSpPr>
          <p:grpSpPr>
            <a:xfrm>
              <a:off x="695430" y="2045123"/>
              <a:ext cx="1514254" cy="630304"/>
              <a:chOff x="547354" y="1920021"/>
              <a:chExt cx="1288946" cy="630304"/>
            </a:xfrm>
          </p:grpSpPr>
          <p:sp>
            <p:nvSpPr>
              <p:cNvPr id="2045" name="Google Shape;2045;p142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142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142"/>
              <p:cNvSpPr txBox="1"/>
              <p:nvPr/>
            </p:nvSpPr>
            <p:spPr>
              <a:xfrm>
                <a:off x="615183" y="221101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−14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8" name="Google Shape;2048;p142"/>
              <p:cNvSpPr txBox="1"/>
              <p:nvPr/>
            </p:nvSpPr>
            <p:spPr>
              <a:xfrm>
                <a:off x="1283075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−12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49" name="Google Shape;2049;p142"/>
            <p:cNvGrpSpPr/>
            <p:nvPr/>
          </p:nvGrpSpPr>
          <p:grpSpPr>
            <a:xfrm>
              <a:off x="2280386" y="2045123"/>
              <a:ext cx="1566444" cy="630304"/>
              <a:chOff x="1896483" y="1920021"/>
              <a:chExt cx="1333371" cy="630304"/>
            </a:xfrm>
          </p:grpSpPr>
          <p:sp>
            <p:nvSpPr>
              <p:cNvPr id="2050" name="Google Shape;2050;p142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1" name="Google Shape;2051;p142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142"/>
              <p:cNvSpPr txBox="1"/>
              <p:nvPr/>
            </p:nvSpPr>
            <p:spPr>
              <a:xfrm>
                <a:off x="194476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−10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3" name="Google Shape;2053;p142"/>
              <p:cNvSpPr txBox="1"/>
              <p:nvPr/>
            </p:nvSpPr>
            <p:spPr>
              <a:xfrm>
                <a:off x="2719254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−8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54" name="Google Shape;2054;p142"/>
            <p:cNvGrpSpPr/>
            <p:nvPr/>
          </p:nvGrpSpPr>
          <p:grpSpPr>
            <a:xfrm>
              <a:off x="3857635" y="2045123"/>
              <a:ext cx="1577920" cy="630304"/>
              <a:chOff x="1896483" y="1920021"/>
              <a:chExt cx="1343140" cy="630304"/>
            </a:xfrm>
          </p:grpSpPr>
          <p:sp>
            <p:nvSpPr>
              <p:cNvPr id="2055" name="Google Shape;2055;p142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142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142"/>
              <p:cNvSpPr txBox="1"/>
              <p:nvPr/>
            </p:nvSpPr>
            <p:spPr>
              <a:xfrm>
                <a:off x="2013145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−6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8" name="Google Shape;2058;p142"/>
              <p:cNvSpPr txBox="1"/>
              <p:nvPr/>
            </p:nvSpPr>
            <p:spPr>
              <a:xfrm>
                <a:off x="272902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059" name="Google Shape;2059;p142"/>
          <p:cNvGrpSpPr/>
          <p:nvPr/>
        </p:nvGrpSpPr>
        <p:grpSpPr>
          <a:xfrm>
            <a:off x="1011742" y="2460852"/>
            <a:ext cx="3523279" cy="618597"/>
            <a:chOff x="1046673" y="2460851"/>
            <a:chExt cx="3912147" cy="618597"/>
          </a:xfrm>
        </p:grpSpPr>
        <p:grpSp>
          <p:nvGrpSpPr>
            <p:cNvPr id="2060" name="Google Shape;2060;p142"/>
            <p:cNvGrpSpPr/>
            <p:nvPr/>
          </p:nvGrpSpPr>
          <p:grpSpPr>
            <a:xfrm>
              <a:off x="1046673" y="2460851"/>
              <a:ext cx="2350254" cy="618597"/>
              <a:chOff x="547357" y="3227128"/>
              <a:chExt cx="2000557" cy="618597"/>
            </a:xfrm>
          </p:grpSpPr>
          <p:grpSp>
            <p:nvGrpSpPr>
              <p:cNvPr id="2061" name="Google Shape;2061;p142"/>
              <p:cNvGrpSpPr/>
              <p:nvPr/>
            </p:nvGrpSpPr>
            <p:grpSpPr>
              <a:xfrm>
                <a:off x="547357" y="3227128"/>
                <a:ext cx="1319328" cy="618597"/>
                <a:chOff x="547357" y="1931728"/>
                <a:chExt cx="1319328" cy="618597"/>
              </a:xfrm>
            </p:grpSpPr>
            <p:sp>
              <p:nvSpPr>
                <p:cNvPr id="2062" name="Google Shape;2062;p142"/>
                <p:cNvSpPr/>
                <p:nvPr/>
              </p:nvSpPr>
              <p:spPr>
                <a:xfrm flipH="1" rot="10800000">
                  <a:off x="547357" y="1931728"/>
                  <a:ext cx="627300" cy="3090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845AD9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3" name="Google Shape;2063;p142"/>
                <p:cNvSpPr/>
                <p:nvPr/>
              </p:nvSpPr>
              <p:spPr>
                <a:xfrm flipH="1" rot="10800000">
                  <a:off x="1209008" y="1931728"/>
                  <a:ext cx="627300" cy="3090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845AD9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4" name="Google Shape;2064;p142"/>
                <p:cNvSpPr txBox="1"/>
                <p:nvPr/>
              </p:nvSpPr>
              <p:spPr>
                <a:xfrm>
                  <a:off x="579942" y="2211023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4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065" name="Google Shape;2065;p142"/>
                <p:cNvSpPr txBox="1"/>
                <p:nvPr/>
              </p:nvSpPr>
              <p:spPr>
                <a:xfrm>
                  <a:off x="1356085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4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066" name="Google Shape;2066;p142"/>
              <p:cNvGrpSpPr/>
              <p:nvPr/>
            </p:nvGrpSpPr>
            <p:grpSpPr>
              <a:xfrm>
                <a:off x="1896497" y="3227128"/>
                <a:ext cx="651416" cy="618597"/>
                <a:chOff x="1896497" y="1931728"/>
                <a:chExt cx="651416" cy="618597"/>
              </a:xfrm>
            </p:grpSpPr>
            <p:sp>
              <p:nvSpPr>
                <p:cNvPr id="2067" name="Google Shape;2067;p142"/>
                <p:cNvSpPr/>
                <p:nvPr/>
              </p:nvSpPr>
              <p:spPr>
                <a:xfrm flipH="1" rot="10800000">
                  <a:off x="1896497" y="1931728"/>
                  <a:ext cx="627300" cy="3090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845AD9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8" name="Google Shape;2068;p142"/>
                <p:cNvSpPr txBox="1"/>
                <p:nvPr/>
              </p:nvSpPr>
              <p:spPr>
                <a:xfrm>
                  <a:off x="2037313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4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grpSp>
          <p:nvGrpSpPr>
            <p:cNvPr id="2069" name="Google Shape;2069;p142"/>
            <p:cNvGrpSpPr/>
            <p:nvPr/>
          </p:nvGrpSpPr>
          <p:grpSpPr>
            <a:xfrm>
              <a:off x="3408873" y="2460851"/>
              <a:ext cx="1549947" cy="618597"/>
              <a:chOff x="547357" y="1931728"/>
              <a:chExt cx="1319328" cy="618597"/>
            </a:xfrm>
          </p:grpSpPr>
          <p:sp>
            <p:nvSpPr>
              <p:cNvPr id="2070" name="Google Shape;2070;p142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1" name="Google Shape;2071;p142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2" name="Google Shape;2072;p142"/>
              <p:cNvSpPr txBox="1"/>
              <p:nvPr/>
            </p:nvSpPr>
            <p:spPr>
              <a:xfrm>
                <a:off x="687394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3" name="Google Shape;2073;p142"/>
              <p:cNvSpPr txBox="1"/>
              <p:nvPr/>
            </p:nvSpPr>
            <p:spPr>
              <a:xfrm>
                <a:off x="1356085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074" name="Google Shape;2074;p142"/>
          <p:cNvGrpSpPr/>
          <p:nvPr/>
        </p:nvGrpSpPr>
        <p:grpSpPr>
          <a:xfrm>
            <a:off x="4544841" y="2045124"/>
            <a:ext cx="3849168" cy="1034256"/>
            <a:chOff x="4544841" y="2045124"/>
            <a:chExt cx="3849168" cy="1034256"/>
          </a:xfrm>
        </p:grpSpPr>
        <p:grpSp>
          <p:nvGrpSpPr>
            <p:cNvPr id="2075" name="Google Shape;2075;p142"/>
            <p:cNvGrpSpPr/>
            <p:nvPr/>
          </p:nvGrpSpPr>
          <p:grpSpPr>
            <a:xfrm>
              <a:off x="4544841" y="2045124"/>
              <a:ext cx="3124023" cy="1034256"/>
              <a:chOff x="4969724" y="2045123"/>
              <a:chExt cx="3468824" cy="1034256"/>
            </a:xfrm>
          </p:grpSpPr>
          <p:grpSp>
            <p:nvGrpSpPr>
              <p:cNvPr id="2076" name="Google Shape;2076;p142"/>
              <p:cNvGrpSpPr/>
              <p:nvPr/>
            </p:nvGrpSpPr>
            <p:grpSpPr>
              <a:xfrm>
                <a:off x="5415448" y="2045123"/>
                <a:ext cx="782254" cy="630304"/>
                <a:chOff x="5415448" y="2045123"/>
                <a:chExt cx="782254" cy="630304"/>
              </a:xfrm>
            </p:grpSpPr>
            <p:sp>
              <p:nvSpPr>
                <p:cNvPr id="2077" name="Google Shape;2077;p142"/>
                <p:cNvSpPr/>
                <p:nvPr/>
              </p:nvSpPr>
              <p:spPr>
                <a:xfrm flipH="1" rot="10800000">
                  <a:off x="5415448" y="2045123"/>
                  <a:ext cx="7371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845AD9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8" name="Google Shape;2078;p142"/>
                <p:cNvSpPr txBox="1"/>
                <p:nvPr/>
              </p:nvSpPr>
              <p:spPr>
                <a:xfrm>
                  <a:off x="5597702" y="2336128"/>
                  <a:ext cx="6000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4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−2</a:t>
                  </a:r>
                  <a:endParaRPr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079" name="Google Shape;2079;p142"/>
              <p:cNvGrpSpPr/>
              <p:nvPr/>
            </p:nvGrpSpPr>
            <p:grpSpPr>
              <a:xfrm>
                <a:off x="4969724" y="2449075"/>
                <a:ext cx="782254" cy="630304"/>
                <a:chOff x="5415448" y="2045123"/>
                <a:chExt cx="782254" cy="630304"/>
              </a:xfrm>
            </p:grpSpPr>
            <p:sp>
              <p:nvSpPr>
                <p:cNvPr id="2080" name="Google Shape;2080;p142"/>
                <p:cNvSpPr/>
                <p:nvPr/>
              </p:nvSpPr>
              <p:spPr>
                <a:xfrm flipH="1" rot="10800000">
                  <a:off x="5415448" y="2045123"/>
                  <a:ext cx="7371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845AD9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1" name="Google Shape;2081;p142"/>
                <p:cNvSpPr txBox="1"/>
                <p:nvPr/>
              </p:nvSpPr>
              <p:spPr>
                <a:xfrm>
                  <a:off x="5597702" y="2336128"/>
                  <a:ext cx="6000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4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082" name="Google Shape;2082;p142"/>
              <p:cNvGrpSpPr/>
              <p:nvPr/>
            </p:nvGrpSpPr>
            <p:grpSpPr>
              <a:xfrm>
                <a:off x="6177448" y="2045123"/>
                <a:ext cx="782302" cy="630302"/>
                <a:chOff x="5415448" y="2045123"/>
                <a:chExt cx="782302" cy="630302"/>
              </a:xfrm>
            </p:grpSpPr>
            <p:sp>
              <p:nvSpPr>
                <p:cNvPr id="2083" name="Google Shape;2083;p142"/>
                <p:cNvSpPr/>
                <p:nvPr/>
              </p:nvSpPr>
              <p:spPr>
                <a:xfrm flipH="1" rot="10800000">
                  <a:off x="5415448" y="2045123"/>
                  <a:ext cx="7371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845AD9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4" name="Google Shape;2084;p142"/>
                <p:cNvSpPr txBox="1"/>
                <p:nvPr/>
              </p:nvSpPr>
              <p:spPr>
                <a:xfrm>
                  <a:off x="5713550" y="2336125"/>
                  <a:ext cx="4842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4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</a:t>
                  </a:r>
                  <a:endParaRPr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085" name="Google Shape;2085;p142"/>
              <p:cNvGrpSpPr/>
              <p:nvPr/>
            </p:nvGrpSpPr>
            <p:grpSpPr>
              <a:xfrm>
                <a:off x="6939448" y="2045123"/>
                <a:ext cx="737100" cy="630302"/>
                <a:chOff x="5415448" y="2045123"/>
                <a:chExt cx="737100" cy="630302"/>
              </a:xfrm>
            </p:grpSpPr>
            <p:sp>
              <p:nvSpPr>
                <p:cNvPr id="2086" name="Google Shape;2086;p142"/>
                <p:cNvSpPr/>
                <p:nvPr/>
              </p:nvSpPr>
              <p:spPr>
                <a:xfrm flipH="1" rot="10800000">
                  <a:off x="5415448" y="2045123"/>
                  <a:ext cx="7371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845AD9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7" name="Google Shape;2087;p142"/>
                <p:cNvSpPr txBox="1"/>
                <p:nvPr/>
              </p:nvSpPr>
              <p:spPr>
                <a:xfrm>
                  <a:off x="5625874" y="2336125"/>
                  <a:ext cx="4842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4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088" name="Google Shape;2088;p142"/>
              <p:cNvGrpSpPr/>
              <p:nvPr/>
            </p:nvGrpSpPr>
            <p:grpSpPr>
              <a:xfrm>
                <a:off x="7701448" y="2045123"/>
                <a:ext cx="737100" cy="630302"/>
                <a:chOff x="5415448" y="2045123"/>
                <a:chExt cx="737100" cy="630302"/>
              </a:xfrm>
            </p:grpSpPr>
            <p:sp>
              <p:nvSpPr>
                <p:cNvPr id="2089" name="Google Shape;2089;p142"/>
                <p:cNvSpPr/>
                <p:nvPr/>
              </p:nvSpPr>
              <p:spPr>
                <a:xfrm flipH="1" rot="10800000">
                  <a:off x="5415448" y="2045123"/>
                  <a:ext cx="7371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845AD9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0" name="Google Shape;2090;p142"/>
                <p:cNvSpPr txBox="1"/>
                <p:nvPr/>
              </p:nvSpPr>
              <p:spPr>
                <a:xfrm>
                  <a:off x="5625874" y="2336125"/>
                  <a:ext cx="4842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4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+4</a:t>
                  </a:r>
                  <a:endParaRPr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091" name="Google Shape;2091;p142"/>
              <p:cNvGrpSpPr/>
              <p:nvPr/>
            </p:nvGrpSpPr>
            <p:grpSpPr>
              <a:xfrm>
                <a:off x="5754676" y="2449075"/>
                <a:ext cx="782254" cy="630304"/>
                <a:chOff x="5415448" y="2045123"/>
                <a:chExt cx="782254" cy="630304"/>
              </a:xfrm>
            </p:grpSpPr>
            <p:sp>
              <p:nvSpPr>
                <p:cNvPr id="2092" name="Google Shape;2092;p142"/>
                <p:cNvSpPr/>
                <p:nvPr/>
              </p:nvSpPr>
              <p:spPr>
                <a:xfrm flipH="1" rot="10800000">
                  <a:off x="5415448" y="2045123"/>
                  <a:ext cx="7371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845AD9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3" name="Google Shape;2093;p142"/>
                <p:cNvSpPr txBox="1"/>
                <p:nvPr/>
              </p:nvSpPr>
              <p:spPr>
                <a:xfrm>
                  <a:off x="5597702" y="2336128"/>
                  <a:ext cx="6000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4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094" name="Google Shape;2094;p142"/>
              <p:cNvGrpSpPr/>
              <p:nvPr/>
            </p:nvGrpSpPr>
            <p:grpSpPr>
              <a:xfrm>
                <a:off x="6551103" y="2449075"/>
                <a:ext cx="782254" cy="630304"/>
                <a:chOff x="5415448" y="2045123"/>
                <a:chExt cx="782254" cy="630304"/>
              </a:xfrm>
            </p:grpSpPr>
            <p:sp>
              <p:nvSpPr>
                <p:cNvPr id="2095" name="Google Shape;2095;p142"/>
                <p:cNvSpPr/>
                <p:nvPr/>
              </p:nvSpPr>
              <p:spPr>
                <a:xfrm flipH="1" rot="10800000">
                  <a:off x="5415448" y="2045123"/>
                  <a:ext cx="7371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845AD9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6" name="Google Shape;2096;p142"/>
                <p:cNvSpPr txBox="1"/>
                <p:nvPr/>
              </p:nvSpPr>
              <p:spPr>
                <a:xfrm>
                  <a:off x="5597702" y="2336128"/>
                  <a:ext cx="6000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4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097" name="Google Shape;2097;p142"/>
              <p:cNvGrpSpPr/>
              <p:nvPr/>
            </p:nvGrpSpPr>
            <p:grpSpPr>
              <a:xfrm>
                <a:off x="7336055" y="2449075"/>
                <a:ext cx="782254" cy="630304"/>
                <a:chOff x="5415448" y="2045123"/>
                <a:chExt cx="782254" cy="630304"/>
              </a:xfrm>
            </p:grpSpPr>
            <p:sp>
              <p:nvSpPr>
                <p:cNvPr id="2098" name="Google Shape;2098;p142"/>
                <p:cNvSpPr/>
                <p:nvPr/>
              </p:nvSpPr>
              <p:spPr>
                <a:xfrm flipH="1" rot="10800000">
                  <a:off x="5415448" y="2045123"/>
                  <a:ext cx="7371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845AD9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9" name="Google Shape;2099;p142"/>
                <p:cNvSpPr txBox="1"/>
                <p:nvPr/>
              </p:nvSpPr>
              <p:spPr>
                <a:xfrm>
                  <a:off x="5597702" y="2336128"/>
                  <a:ext cx="6000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4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grpSp>
          <p:nvGrpSpPr>
            <p:cNvPr id="2100" name="Google Shape;2100;p142"/>
            <p:cNvGrpSpPr/>
            <p:nvPr/>
          </p:nvGrpSpPr>
          <p:grpSpPr>
            <a:xfrm>
              <a:off x="7361759" y="2449076"/>
              <a:ext cx="704498" cy="630304"/>
              <a:chOff x="5415448" y="2045123"/>
              <a:chExt cx="782254" cy="630304"/>
            </a:xfrm>
          </p:grpSpPr>
          <p:sp>
            <p:nvSpPr>
              <p:cNvPr id="2101" name="Google Shape;2101;p142"/>
              <p:cNvSpPr/>
              <p:nvPr/>
            </p:nvSpPr>
            <p:spPr>
              <a:xfrm flipH="1" rot="10800000">
                <a:off x="5415448" y="2045123"/>
                <a:ext cx="7371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142"/>
              <p:cNvSpPr txBox="1"/>
              <p:nvPr/>
            </p:nvSpPr>
            <p:spPr>
              <a:xfrm>
                <a:off x="5597702" y="2336128"/>
                <a:ext cx="600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03" name="Google Shape;2103;p142"/>
            <p:cNvGrpSpPr/>
            <p:nvPr/>
          </p:nvGrpSpPr>
          <p:grpSpPr>
            <a:xfrm>
              <a:off x="7689511" y="2068076"/>
              <a:ext cx="704498" cy="630304"/>
              <a:chOff x="5415448" y="2045123"/>
              <a:chExt cx="782254" cy="630304"/>
            </a:xfrm>
          </p:grpSpPr>
          <p:sp>
            <p:nvSpPr>
              <p:cNvPr id="2104" name="Google Shape;2104;p142"/>
              <p:cNvSpPr/>
              <p:nvPr/>
            </p:nvSpPr>
            <p:spPr>
              <a:xfrm flipH="1" rot="10800000">
                <a:off x="5415448" y="2045123"/>
                <a:ext cx="7371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5" name="Google Shape;2105;p142"/>
              <p:cNvSpPr txBox="1"/>
              <p:nvPr/>
            </p:nvSpPr>
            <p:spPr>
              <a:xfrm>
                <a:off x="5597702" y="2336128"/>
                <a:ext cx="600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+6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106" name="Google Shape;2106;p142"/>
          <p:cNvSpPr/>
          <p:nvPr/>
        </p:nvSpPr>
        <p:spPr>
          <a:xfrm>
            <a:off x="4675100" y="1846823"/>
            <a:ext cx="2784000" cy="466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p143"/>
          <p:cNvSpPr txBox="1"/>
          <p:nvPr>
            <p:ph idx="1" type="subTitle"/>
          </p:nvPr>
        </p:nvSpPr>
        <p:spPr>
          <a:xfrm>
            <a:off x="980575" y="3196125"/>
            <a:ext cx="59310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first five terms are positive.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sequence will stop when it reaches zero.</a:t>
            </a:r>
            <a:endParaRPr sz="2000"/>
          </a:p>
        </p:txBody>
      </p:sp>
      <p:sp>
        <p:nvSpPr>
          <p:cNvPr id="2112" name="Google Shape;2112;p143"/>
          <p:cNvSpPr txBox="1"/>
          <p:nvPr>
            <p:ph idx="2" type="subTitle"/>
          </p:nvPr>
        </p:nvSpPr>
        <p:spPr>
          <a:xfrm>
            <a:off x="324000" y="1045572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Abstract sequences can have negative terms.</a:t>
            </a:r>
            <a:endParaRPr sz="2000"/>
          </a:p>
        </p:txBody>
      </p:sp>
      <p:sp>
        <p:nvSpPr>
          <p:cNvPr id="2113" name="Google Shape;2113;p143"/>
          <p:cNvSpPr txBox="1"/>
          <p:nvPr>
            <p:ph idx="3" type="subTitle"/>
          </p:nvPr>
        </p:nvSpPr>
        <p:spPr>
          <a:xfrm>
            <a:off x="980575" y="4040350"/>
            <a:ext cx="5219700" cy="6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If this sequence is abstract the terms could become negative.</a:t>
            </a:r>
            <a:endParaRPr/>
          </a:p>
        </p:txBody>
      </p:sp>
      <p:sp>
        <p:nvSpPr>
          <p:cNvPr id="2114" name="Google Shape;2114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Concrete versus abstract sequences</a:t>
            </a:r>
            <a:endParaRPr/>
          </a:p>
        </p:txBody>
      </p:sp>
      <p:sp>
        <p:nvSpPr>
          <p:cNvPr id="2115" name="Google Shape;2115;p143"/>
          <p:cNvSpPr txBox="1"/>
          <p:nvPr>
            <p:ph idx="2" type="subTitle"/>
          </p:nvPr>
        </p:nvSpPr>
        <p:spPr>
          <a:xfrm>
            <a:off x="324000" y="1350372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51, 43, 35, 27, 19,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16" name="Google Shape;2116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983" y="184167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7" name="Google Shape;2117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8183" y="405147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8" name="Google Shape;2118;p143"/>
          <p:cNvSpPr txBox="1"/>
          <p:nvPr>
            <p:ph idx="2" type="subTitle"/>
          </p:nvPr>
        </p:nvSpPr>
        <p:spPr>
          <a:xfrm>
            <a:off x="4134000" y="4516347"/>
            <a:ext cx="41859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51, 43, 35, 27, 19, 11, 3, −5, −13,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144"/>
          <p:cNvSpPr txBox="1"/>
          <p:nvPr>
            <p:ph idx="1" type="body"/>
          </p:nvPr>
        </p:nvSpPr>
        <p:spPr>
          <a:xfrm>
            <a:off x="324000" y="759300"/>
            <a:ext cx="7135200" cy="7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This table shows us the history of men’s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 m</a:t>
            </a:r>
            <a:r>
              <a:rPr lang="en-GB" sz="2000"/>
              <a:t> </a:t>
            </a:r>
            <a:r>
              <a:rPr lang="en-GB" sz="2000"/>
              <a:t>sprint</a:t>
            </a:r>
            <a:r>
              <a:rPr lang="en-GB" sz="2000"/>
              <a:t> world record times.</a:t>
            </a:r>
            <a:endParaRPr sz="2000"/>
          </a:p>
        </p:txBody>
      </p:sp>
      <p:sp>
        <p:nvSpPr>
          <p:cNvPr id="2124" name="Google Shape;2124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graphicFrame>
        <p:nvGraphicFramePr>
          <p:cNvPr id="2125" name="Google Shape;2125;p144"/>
          <p:cNvGraphicFramePr/>
          <p:nvPr/>
        </p:nvGraphicFramePr>
        <p:xfrm>
          <a:off x="318655" y="16270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130150"/>
                <a:gridCol w="808825"/>
                <a:gridCol w="808825"/>
                <a:gridCol w="808825"/>
                <a:gridCol w="808825"/>
                <a:gridCol w="808825"/>
                <a:gridCol w="808825"/>
                <a:gridCol w="808825"/>
                <a:gridCol w="808825"/>
                <a:gridCol w="808825"/>
              </a:tblGrid>
              <a:tr h="47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1940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1980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2040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2080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10.22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10.06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9.9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9.74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9.58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6" name="Google Shape;2126;p144"/>
          <p:cNvSpPr txBox="1"/>
          <p:nvPr>
            <p:ph idx="1" type="body"/>
          </p:nvPr>
        </p:nvSpPr>
        <p:spPr>
          <a:xfrm>
            <a:off x="324000" y="2969100"/>
            <a:ext cx="7135200" cy="7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r>
              <a:rPr lang="en-GB" sz="2000"/>
              <a:t>) </a:t>
            </a:r>
            <a:r>
              <a:rPr lang="en-GB" sz="2000"/>
              <a:t>Identify a pattern and use it to predict the times up to the year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2100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127" name="Google Shape;2127;p144"/>
          <p:cNvSpPr txBox="1"/>
          <p:nvPr>
            <p:ph idx="1" type="body"/>
          </p:nvPr>
        </p:nvSpPr>
        <p:spPr>
          <a:xfrm>
            <a:off x="324000" y="4081802"/>
            <a:ext cx="713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 This is a </a:t>
            </a:r>
            <a:r>
              <a:rPr lang="en-GB" sz="2000"/>
              <a:t>concrete</a:t>
            </a:r>
            <a:r>
              <a:rPr lang="en-GB" sz="2000"/>
              <a:t> sequence. What is its physical limit?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145"/>
          <p:cNvSpPr txBox="1"/>
          <p:nvPr>
            <p:ph idx="1" type="body"/>
          </p:nvPr>
        </p:nvSpPr>
        <p:spPr>
          <a:xfrm>
            <a:off x="324000" y="759300"/>
            <a:ext cx="6855300" cy="6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This table shows us the history of men’s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 m</a:t>
            </a:r>
            <a:r>
              <a:rPr lang="en-GB" sz="2000"/>
              <a:t> sprint world record times.</a:t>
            </a:r>
            <a:endParaRPr sz="2000"/>
          </a:p>
        </p:txBody>
      </p:sp>
      <p:sp>
        <p:nvSpPr>
          <p:cNvPr id="2133" name="Google Shape;2133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graphicFrame>
        <p:nvGraphicFramePr>
          <p:cNvPr id="2134" name="Google Shape;2134;p145"/>
          <p:cNvGraphicFramePr/>
          <p:nvPr/>
        </p:nvGraphicFramePr>
        <p:xfrm>
          <a:off x="318655" y="14746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130150"/>
                <a:gridCol w="808825"/>
                <a:gridCol w="808825"/>
                <a:gridCol w="808825"/>
                <a:gridCol w="808825"/>
                <a:gridCol w="808825"/>
                <a:gridCol w="808825"/>
                <a:gridCol w="808825"/>
                <a:gridCol w="808825"/>
                <a:gridCol w="808825"/>
              </a:tblGrid>
              <a:tr h="47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1940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1980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2040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2080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10.22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10.06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9.9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9.74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9.58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5" name="Google Shape;2135;p145"/>
          <p:cNvSpPr txBox="1"/>
          <p:nvPr>
            <p:ph idx="1" type="body"/>
          </p:nvPr>
        </p:nvSpPr>
        <p:spPr>
          <a:xfrm>
            <a:off x="324000" y="2892900"/>
            <a:ext cx="7135200" cy="7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Identify a pattern and use it to predict the times up to the year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2100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136" name="Google Shape;2136;p145"/>
          <p:cNvSpPr txBox="1"/>
          <p:nvPr>
            <p:ph idx="1" type="body"/>
          </p:nvPr>
        </p:nvSpPr>
        <p:spPr>
          <a:xfrm>
            <a:off x="324000" y="3876154"/>
            <a:ext cx="713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This is a concrete sequence. What is its physical limit?</a:t>
            </a:r>
            <a:endParaRPr sz="2000"/>
          </a:p>
        </p:txBody>
      </p:sp>
      <p:grpSp>
        <p:nvGrpSpPr>
          <p:cNvPr id="2137" name="Google Shape;2137;p145"/>
          <p:cNvGrpSpPr/>
          <p:nvPr/>
        </p:nvGrpSpPr>
        <p:grpSpPr>
          <a:xfrm>
            <a:off x="1908977" y="2304021"/>
            <a:ext cx="3160883" cy="653254"/>
            <a:chOff x="1908977" y="2456421"/>
            <a:chExt cx="3160883" cy="653254"/>
          </a:xfrm>
        </p:grpSpPr>
        <p:sp>
          <p:nvSpPr>
            <p:cNvPr id="2138" name="Google Shape;2138;p145"/>
            <p:cNvSpPr txBox="1"/>
            <p:nvPr/>
          </p:nvSpPr>
          <p:spPr>
            <a:xfrm>
              <a:off x="1908977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39" name="Google Shape;2139;p145"/>
            <p:cNvSpPr/>
            <p:nvPr/>
          </p:nvSpPr>
          <p:spPr>
            <a:xfrm flipH="1" rot="10800000">
              <a:off x="1937563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145"/>
            <p:cNvSpPr txBox="1"/>
            <p:nvPr/>
          </p:nvSpPr>
          <p:spPr>
            <a:xfrm>
              <a:off x="2724226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1" name="Google Shape;2141;p145"/>
            <p:cNvSpPr/>
            <p:nvPr/>
          </p:nvSpPr>
          <p:spPr>
            <a:xfrm flipH="1" rot="10800000">
              <a:off x="2752812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145"/>
            <p:cNvSpPr txBox="1"/>
            <p:nvPr/>
          </p:nvSpPr>
          <p:spPr>
            <a:xfrm>
              <a:off x="3562426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3" name="Google Shape;2143;p145"/>
            <p:cNvSpPr/>
            <p:nvPr/>
          </p:nvSpPr>
          <p:spPr>
            <a:xfrm flipH="1" rot="10800000">
              <a:off x="3591012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145"/>
            <p:cNvSpPr txBox="1"/>
            <p:nvPr/>
          </p:nvSpPr>
          <p:spPr>
            <a:xfrm>
              <a:off x="4377674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5" name="Google Shape;2145;p145"/>
            <p:cNvSpPr/>
            <p:nvPr/>
          </p:nvSpPr>
          <p:spPr>
            <a:xfrm flipH="1" rot="10800000">
              <a:off x="4406260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6" name="Google Shape;2146;p145"/>
          <p:cNvGrpSpPr/>
          <p:nvPr/>
        </p:nvGrpSpPr>
        <p:grpSpPr>
          <a:xfrm>
            <a:off x="5132329" y="2304021"/>
            <a:ext cx="3160883" cy="653254"/>
            <a:chOff x="5132329" y="2456421"/>
            <a:chExt cx="3160883" cy="653254"/>
          </a:xfrm>
        </p:grpSpPr>
        <p:sp>
          <p:nvSpPr>
            <p:cNvPr id="2147" name="Google Shape;2147;p145"/>
            <p:cNvSpPr txBox="1"/>
            <p:nvPr/>
          </p:nvSpPr>
          <p:spPr>
            <a:xfrm>
              <a:off x="5132329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8" name="Google Shape;2148;p145"/>
            <p:cNvSpPr/>
            <p:nvPr/>
          </p:nvSpPr>
          <p:spPr>
            <a:xfrm flipH="1" rot="10800000">
              <a:off x="5160915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145"/>
            <p:cNvSpPr txBox="1"/>
            <p:nvPr/>
          </p:nvSpPr>
          <p:spPr>
            <a:xfrm>
              <a:off x="5947577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0" name="Google Shape;2150;p145"/>
            <p:cNvSpPr/>
            <p:nvPr/>
          </p:nvSpPr>
          <p:spPr>
            <a:xfrm flipH="1" rot="10800000">
              <a:off x="5976163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145"/>
            <p:cNvSpPr txBox="1"/>
            <p:nvPr/>
          </p:nvSpPr>
          <p:spPr>
            <a:xfrm>
              <a:off x="6785777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2" name="Google Shape;2152;p145"/>
            <p:cNvSpPr/>
            <p:nvPr/>
          </p:nvSpPr>
          <p:spPr>
            <a:xfrm flipH="1" rot="10800000">
              <a:off x="6814363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145"/>
            <p:cNvSpPr txBox="1"/>
            <p:nvPr/>
          </p:nvSpPr>
          <p:spPr>
            <a:xfrm>
              <a:off x="7601026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4" name="Google Shape;2154;p145"/>
            <p:cNvSpPr/>
            <p:nvPr/>
          </p:nvSpPr>
          <p:spPr>
            <a:xfrm flipH="1" rot="10800000">
              <a:off x="7629612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2155" name="Google Shape;2155;p145"/>
          <p:cNvGraphicFramePr/>
          <p:nvPr/>
        </p:nvGraphicFramePr>
        <p:xfrm>
          <a:off x="318655" y="14746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130150"/>
                <a:gridCol w="808825"/>
                <a:gridCol w="808825"/>
                <a:gridCol w="808825"/>
                <a:gridCol w="808825"/>
                <a:gridCol w="808825"/>
                <a:gridCol w="808825"/>
                <a:gridCol w="808825"/>
                <a:gridCol w="808825"/>
                <a:gridCol w="808825"/>
              </a:tblGrid>
              <a:tr h="47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1940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1980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2040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2080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10.22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10.06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9.9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9.74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9.58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9.42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9.26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8.94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6" name="Google Shape;2156;p145"/>
          <p:cNvSpPr txBox="1"/>
          <p:nvPr/>
        </p:nvSpPr>
        <p:spPr>
          <a:xfrm>
            <a:off x="324000" y="4219900"/>
            <a:ext cx="8217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year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3140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would see a time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−0.1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seconds. It would be impossible to have a negative term in this context. The sequence would become abstract.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7" name="Google Shape;2157;p145"/>
          <p:cNvSpPr txBox="1"/>
          <p:nvPr/>
        </p:nvSpPr>
        <p:spPr>
          <a:xfrm>
            <a:off x="2452751" y="3248125"/>
            <a:ext cx="293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Arithmetic sequence of common difference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−0.16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146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Concrete versus abstract sequences</a:t>
            </a:r>
            <a:endParaRPr/>
          </a:p>
        </p:txBody>
      </p:sp>
      <p:sp>
        <p:nvSpPr>
          <p:cNvPr id="2163" name="Google Shape;2163;p146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sequences in both directions</a:t>
            </a:r>
            <a:endParaRPr/>
          </a:p>
        </p:txBody>
      </p:sp>
      <p:sp>
        <p:nvSpPr>
          <p:cNvPr id="2164" name="Google Shape;2164;p14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thinking about sequences</a:t>
            </a:r>
            <a:endParaRPr/>
          </a:p>
        </p:txBody>
      </p:sp>
      <p:pic>
        <p:nvPicPr>
          <p:cNvPr id="2165" name="Google Shape;2165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99169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147"/>
          <p:cNvSpPr txBox="1"/>
          <p:nvPr>
            <p:ph idx="1" type="body"/>
          </p:nvPr>
        </p:nvSpPr>
        <p:spPr>
          <a:xfrm>
            <a:off x="324000" y="759300"/>
            <a:ext cx="71352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This is a geometric sequence with a common ratio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100"/>
          </a:p>
        </p:txBody>
      </p:sp>
      <p:sp>
        <p:nvSpPr>
          <p:cNvPr id="2171" name="Google Shape;2171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sequences in both directions</a:t>
            </a:r>
            <a:endParaRPr/>
          </a:p>
        </p:txBody>
      </p:sp>
      <p:graphicFrame>
        <p:nvGraphicFramePr>
          <p:cNvPr id="2172" name="Google Shape;2172;p147"/>
          <p:cNvGraphicFramePr/>
          <p:nvPr/>
        </p:nvGraphicFramePr>
        <p:xfrm>
          <a:off x="576280" y="1398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916875"/>
                <a:gridCol w="827675"/>
                <a:gridCol w="827675"/>
                <a:gridCol w="827675"/>
                <a:gridCol w="827675"/>
                <a:gridCol w="827675"/>
                <a:gridCol w="82767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68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272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3" name="Google Shape;2173;p147"/>
          <p:cNvGraphicFramePr/>
          <p:nvPr/>
        </p:nvGraphicFramePr>
        <p:xfrm>
          <a:off x="576280" y="1398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916875"/>
                <a:gridCol w="827675"/>
                <a:gridCol w="827675"/>
                <a:gridCol w="827675"/>
                <a:gridCol w="827675"/>
                <a:gridCol w="827675"/>
                <a:gridCol w="82767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68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272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4" name="Google Shape;2174;p147"/>
          <p:cNvSpPr txBox="1"/>
          <p:nvPr>
            <p:ph idx="1" type="body"/>
          </p:nvPr>
        </p:nvSpPr>
        <p:spPr>
          <a:xfrm>
            <a:off x="324000" y="2892900"/>
            <a:ext cx="52485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are the missing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st </a:t>
            </a:r>
            <a:r>
              <a:rPr lang="en-GB" sz="2100"/>
              <a:t>and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GB" sz="2100"/>
              <a:t>terms?</a:t>
            </a:r>
            <a:endParaRPr baseline="30000" sz="2100"/>
          </a:p>
        </p:txBody>
      </p:sp>
      <p:grpSp>
        <p:nvGrpSpPr>
          <p:cNvPr id="2175" name="Google Shape;2175;p147"/>
          <p:cNvGrpSpPr/>
          <p:nvPr/>
        </p:nvGrpSpPr>
        <p:grpSpPr>
          <a:xfrm>
            <a:off x="2920044" y="2020125"/>
            <a:ext cx="4164150" cy="747300"/>
            <a:chOff x="2920044" y="2020125"/>
            <a:chExt cx="4164150" cy="747300"/>
          </a:xfrm>
        </p:grpSpPr>
        <p:grpSp>
          <p:nvGrpSpPr>
            <p:cNvPr id="2176" name="Google Shape;2176;p147"/>
            <p:cNvGrpSpPr/>
            <p:nvPr/>
          </p:nvGrpSpPr>
          <p:grpSpPr>
            <a:xfrm>
              <a:off x="2920044" y="2020125"/>
              <a:ext cx="811350" cy="747300"/>
              <a:chOff x="1896486" y="1803025"/>
              <a:chExt cx="627300" cy="747300"/>
            </a:xfrm>
          </p:grpSpPr>
          <p:sp>
            <p:nvSpPr>
              <p:cNvPr id="2177" name="Google Shape;2177;p147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147"/>
              <p:cNvSpPr txBox="1"/>
              <p:nvPr/>
            </p:nvSpPr>
            <p:spPr>
              <a:xfrm>
                <a:off x="2096387" y="2211025"/>
                <a:ext cx="313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</a:t>
                </a: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79" name="Google Shape;2179;p147"/>
            <p:cNvGrpSpPr/>
            <p:nvPr/>
          </p:nvGrpSpPr>
          <p:grpSpPr>
            <a:xfrm>
              <a:off x="3758244" y="2020125"/>
              <a:ext cx="811350" cy="747300"/>
              <a:chOff x="1896486" y="1803025"/>
              <a:chExt cx="627300" cy="747300"/>
            </a:xfrm>
          </p:grpSpPr>
          <p:sp>
            <p:nvSpPr>
              <p:cNvPr id="2180" name="Google Shape;2180;p147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147"/>
              <p:cNvSpPr txBox="1"/>
              <p:nvPr/>
            </p:nvSpPr>
            <p:spPr>
              <a:xfrm>
                <a:off x="2096387" y="2211025"/>
                <a:ext cx="313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82" name="Google Shape;2182;p147"/>
            <p:cNvGrpSpPr/>
            <p:nvPr/>
          </p:nvGrpSpPr>
          <p:grpSpPr>
            <a:xfrm>
              <a:off x="4596444" y="2020125"/>
              <a:ext cx="811350" cy="747300"/>
              <a:chOff x="1896486" y="1803025"/>
              <a:chExt cx="627300" cy="747300"/>
            </a:xfrm>
          </p:grpSpPr>
          <p:sp>
            <p:nvSpPr>
              <p:cNvPr id="2183" name="Google Shape;2183;p147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4" name="Google Shape;2184;p147"/>
              <p:cNvSpPr txBox="1"/>
              <p:nvPr/>
            </p:nvSpPr>
            <p:spPr>
              <a:xfrm>
                <a:off x="2096387" y="2211025"/>
                <a:ext cx="313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85" name="Google Shape;2185;p147"/>
            <p:cNvGrpSpPr/>
            <p:nvPr/>
          </p:nvGrpSpPr>
          <p:grpSpPr>
            <a:xfrm>
              <a:off x="5434644" y="2020125"/>
              <a:ext cx="811350" cy="747300"/>
              <a:chOff x="1896486" y="1803025"/>
              <a:chExt cx="627300" cy="747300"/>
            </a:xfrm>
          </p:grpSpPr>
          <p:sp>
            <p:nvSpPr>
              <p:cNvPr id="2186" name="Google Shape;2186;p147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147"/>
              <p:cNvSpPr txBox="1"/>
              <p:nvPr/>
            </p:nvSpPr>
            <p:spPr>
              <a:xfrm>
                <a:off x="2096387" y="2211025"/>
                <a:ext cx="313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88" name="Google Shape;2188;p147"/>
            <p:cNvGrpSpPr/>
            <p:nvPr/>
          </p:nvGrpSpPr>
          <p:grpSpPr>
            <a:xfrm>
              <a:off x="6272844" y="2020125"/>
              <a:ext cx="811350" cy="747300"/>
              <a:chOff x="1896486" y="1803025"/>
              <a:chExt cx="627300" cy="747300"/>
            </a:xfrm>
          </p:grpSpPr>
          <p:sp>
            <p:nvSpPr>
              <p:cNvPr id="2189" name="Google Shape;2189;p147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147"/>
              <p:cNvSpPr txBox="1"/>
              <p:nvPr/>
            </p:nvSpPr>
            <p:spPr>
              <a:xfrm>
                <a:off x="2096387" y="2211025"/>
                <a:ext cx="313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aphicFrame>
        <p:nvGraphicFramePr>
          <p:cNvPr id="2191" name="Google Shape;2191;p147"/>
          <p:cNvGraphicFramePr/>
          <p:nvPr/>
        </p:nvGraphicFramePr>
        <p:xfrm>
          <a:off x="576280" y="1398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916875"/>
                <a:gridCol w="827675"/>
                <a:gridCol w="827675"/>
                <a:gridCol w="827675"/>
                <a:gridCol w="827675"/>
                <a:gridCol w="827675"/>
                <a:gridCol w="82767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68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272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2" name="Google Shape;2192;p147"/>
          <p:cNvSpPr txBox="1"/>
          <p:nvPr/>
        </p:nvSpPr>
        <p:spPr>
          <a:xfrm flipH="1">
            <a:off x="893275" y="4033392"/>
            <a:ext cx="2466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÷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3" name="Google Shape;2193;p147"/>
          <p:cNvSpPr txBox="1"/>
          <p:nvPr/>
        </p:nvSpPr>
        <p:spPr>
          <a:xfrm flipH="1">
            <a:off x="752507" y="3511507"/>
            <a:ext cx="1771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272 × 2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54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4" name="Google Shape;2194;p147"/>
          <p:cNvSpPr txBox="1"/>
          <p:nvPr>
            <p:ph idx="1" type="body"/>
          </p:nvPr>
        </p:nvSpPr>
        <p:spPr>
          <a:xfrm>
            <a:off x="2686200" y="4058925"/>
            <a:ext cx="55242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You can generate previous terms by using the inverse of the term-to-term rule.</a:t>
            </a:r>
            <a:endParaRPr baseline="30000"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9" name="Google Shape;2199;p148"/>
          <p:cNvGraphicFramePr/>
          <p:nvPr/>
        </p:nvGraphicFramePr>
        <p:xfrm>
          <a:off x="576280" y="1398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916875"/>
                <a:gridCol w="827675"/>
                <a:gridCol w="827675"/>
                <a:gridCol w="827675"/>
                <a:gridCol w="827675"/>
                <a:gridCol w="827675"/>
                <a:gridCol w="82767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68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272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0" name="Google Shape;2200;p148"/>
          <p:cNvSpPr txBox="1"/>
          <p:nvPr>
            <p:ph idx="1" type="body"/>
          </p:nvPr>
        </p:nvSpPr>
        <p:spPr>
          <a:xfrm>
            <a:off x="324000" y="759300"/>
            <a:ext cx="71352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This is a geometric sequence with a common ratio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100"/>
          </a:p>
        </p:txBody>
      </p:sp>
      <p:sp>
        <p:nvSpPr>
          <p:cNvPr id="2201" name="Google Shape;2201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sequences in both directions</a:t>
            </a:r>
            <a:endParaRPr/>
          </a:p>
        </p:txBody>
      </p:sp>
      <p:sp>
        <p:nvSpPr>
          <p:cNvPr id="2202" name="Google Shape;2202;p148"/>
          <p:cNvSpPr txBox="1"/>
          <p:nvPr>
            <p:ph idx="1" type="body"/>
          </p:nvPr>
        </p:nvSpPr>
        <p:spPr>
          <a:xfrm>
            <a:off x="324000" y="2915925"/>
            <a:ext cx="71352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Sometimes in </a:t>
            </a:r>
            <a:r>
              <a:rPr lang="en-GB" sz="2100"/>
              <a:t>mathematical</a:t>
            </a:r>
            <a:r>
              <a:rPr lang="en-GB" sz="2100"/>
              <a:t> modelling, we don’t want to limit a sequence to having a first term. We want to be able to look back beyond it.</a:t>
            </a:r>
            <a:endParaRPr baseline="30000" sz="2100"/>
          </a:p>
        </p:txBody>
      </p:sp>
      <p:grpSp>
        <p:nvGrpSpPr>
          <p:cNvPr id="2203" name="Google Shape;2203;p148"/>
          <p:cNvGrpSpPr/>
          <p:nvPr/>
        </p:nvGrpSpPr>
        <p:grpSpPr>
          <a:xfrm>
            <a:off x="2920044" y="2020125"/>
            <a:ext cx="4164150" cy="747300"/>
            <a:chOff x="2920044" y="2020125"/>
            <a:chExt cx="4164150" cy="747300"/>
          </a:xfrm>
        </p:grpSpPr>
        <p:grpSp>
          <p:nvGrpSpPr>
            <p:cNvPr id="2204" name="Google Shape;2204;p148"/>
            <p:cNvGrpSpPr/>
            <p:nvPr/>
          </p:nvGrpSpPr>
          <p:grpSpPr>
            <a:xfrm>
              <a:off x="2920044" y="2020125"/>
              <a:ext cx="811350" cy="747300"/>
              <a:chOff x="1896486" y="1803025"/>
              <a:chExt cx="627300" cy="747300"/>
            </a:xfrm>
          </p:grpSpPr>
          <p:sp>
            <p:nvSpPr>
              <p:cNvPr id="2205" name="Google Shape;2205;p148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148"/>
              <p:cNvSpPr txBox="1"/>
              <p:nvPr/>
            </p:nvSpPr>
            <p:spPr>
              <a:xfrm>
                <a:off x="2096387" y="2211025"/>
                <a:ext cx="313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07" name="Google Shape;2207;p148"/>
            <p:cNvGrpSpPr/>
            <p:nvPr/>
          </p:nvGrpSpPr>
          <p:grpSpPr>
            <a:xfrm>
              <a:off x="3758244" y="2020125"/>
              <a:ext cx="811350" cy="747300"/>
              <a:chOff x="1896486" y="1803025"/>
              <a:chExt cx="627300" cy="747300"/>
            </a:xfrm>
          </p:grpSpPr>
          <p:sp>
            <p:nvSpPr>
              <p:cNvPr id="2208" name="Google Shape;2208;p148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148"/>
              <p:cNvSpPr txBox="1"/>
              <p:nvPr/>
            </p:nvSpPr>
            <p:spPr>
              <a:xfrm>
                <a:off x="2096387" y="2211025"/>
                <a:ext cx="313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10" name="Google Shape;2210;p148"/>
            <p:cNvGrpSpPr/>
            <p:nvPr/>
          </p:nvGrpSpPr>
          <p:grpSpPr>
            <a:xfrm>
              <a:off x="4596444" y="2020125"/>
              <a:ext cx="811350" cy="747300"/>
              <a:chOff x="1896486" y="1803025"/>
              <a:chExt cx="627300" cy="747300"/>
            </a:xfrm>
          </p:grpSpPr>
          <p:sp>
            <p:nvSpPr>
              <p:cNvPr id="2211" name="Google Shape;2211;p148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148"/>
              <p:cNvSpPr txBox="1"/>
              <p:nvPr/>
            </p:nvSpPr>
            <p:spPr>
              <a:xfrm>
                <a:off x="2096387" y="2211025"/>
                <a:ext cx="313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13" name="Google Shape;2213;p148"/>
            <p:cNvGrpSpPr/>
            <p:nvPr/>
          </p:nvGrpSpPr>
          <p:grpSpPr>
            <a:xfrm>
              <a:off x="5434644" y="2020125"/>
              <a:ext cx="811350" cy="747300"/>
              <a:chOff x="1896486" y="1803025"/>
              <a:chExt cx="627300" cy="747300"/>
            </a:xfrm>
          </p:grpSpPr>
          <p:sp>
            <p:nvSpPr>
              <p:cNvPr id="2214" name="Google Shape;2214;p148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5" name="Google Shape;2215;p148"/>
              <p:cNvSpPr txBox="1"/>
              <p:nvPr/>
            </p:nvSpPr>
            <p:spPr>
              <a:xfrm>
                <a:off x="2096387" y="2211025"/>
                <a:ext cx="313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16" name="Google Shape;2216;p148"/>
            <p:cNvGrpSpPr/>
            <p:nvPr/>
          </p:nvGrpSpPr>
          <p:grpSpPr>
            <a:xfrm>
              <a:off x="6272844" y="2020125"/>
              <a:ext cx="811350" cy="747300"/>
              <a:chOff x="1896486" y="1803025"/>
              <a:chExt cx="627300" cy="747300"/>
            </a:xfrm>
          </p:grpSpPr>
          <p:sp>
            <p:nvSpPr>
              <p:cNvPr id="2217" name="Google Shape;2217;p148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8" name="Google Shape;2218;p148"/>
              <p:cNvSpPr txBox="1"/>
              <p:nvPr/>
            </p:nvSpPr>
            <p:spPr>
              <a:xfrm>
                <a:off x="2096387" y="2211025"/>
                <a:ext cx="313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219" name="Google Shape;2219;p148"/>
          <p:cNvSpPr/>
          <p:nvPr/>
        </p:nvSpPr>
        <p:spPr>
          <a:xfrm>
            <a:off x="2499818" y="1345594"/>
            <a:ext cx="837000" cy="891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4" name="Google Shape;2224;p149"/>
          <p:cNvGraphicFramePr/>
          <p:nvPr/>
        </p:nvGraphicFramePr>
        <p:xfrm>
          <a:off x="576280" y="1398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916875"/>
                <a:gridCol w="827675"/>
                <a:gridCol w="827675"/>
                <a:gridCol w="827675"/>
                <a:gridCol w="827675"/>
                <a:gridCol w="82767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Bacteria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12.96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19.44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29.16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43.74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65.61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5" name="Google Shape;2225;p149"/>
          <p:cNvSpPr txBox="1"/>
          <p:nvPr>
            <p:ph idx="1" type="body"/>
          </p:nvPr>
        </p:nvSpPr>
        <p:spPr>
          <a:xfrm>
            <a:off x="324000" y="759300"/>
            <a:ext cx="71352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 classic </a:t>
            </a:r>
            <a:r>
              <a:rPr lang="en-GB" sz="2100"/>
              <a:t>example</a:t>
            </a:r>
            <a:r>
              <a:rPr lang="en-GB" sz="2100"/>
              <a:t> of this is looking back in history.</a:t>
            </a:r>
            <a:endParaRPr sz="2100"/>
          </a:p>
        </p:txBody>
      </p:sp>
      <p:sp>
        <p:nvSpPr>
          <p:cNvPr id="2226" name="Google Shape;2226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sequences in both directions</a:t>
            </a:r>
            <a:endParaRPr/>
          </a:p>
        </p:txBody>
      </p:sp>
      <p:sp>
        <p:nvSpPr>
          <p:cNvPr id="2227" name="Google Shape;2227;p149"/>
          <p:cNvSpPr txBox="1"/>
          <p:nvPr>
            <p:ph idx="1" type="body"/>
          </p:nvPr>
        </p:nvSpPr>
        <p:spPr>
          <a:xfrm>
            <a:off x="324000" y="2915925"/>
            <a:ext cx="71352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Scientists are recording the growth of a bacteria and get these results. They notice that the growth fits the model of a geometric sequence.</a:t>
            </a:r>
            <a:endParaRPr baseline="30000" sz="2100"/>
          </a:p>
        </p:txBody>
      </p:sp>
      <p:grpSp>
        <p:nvGrpSpPr>
          <p:cNvPr id="2228" name="Google Shape;2228;p149"/>
          <p:cNvGrpSpPr/>
          <p:nvPr/>
        </p:nvGrpSpPr>
        <p:grpSpPr>
          <a:xfrm>
            <a:off x="2920044" y="2020125"/>
            <a:ext cx="3325950" cy="747300"/>
            <a:chOff x="2920044" y="2020125"/>
            <a:chExt cx="3325950" cy="747300"/>
          </a:xfrm>
        </p:grpSpPr>
        <p:grpSp>
          <p:nvGrpSpPr>
            <p:cNvPr id="2229" name="Google Shape;2229;p149"/>
            <p:cNvGrpSpPr/>
            <p:nvPr/>
          </p:nvGrpSpPr>
          <p:grpSpPr>
            <a:xfrm>
              <a:off x="2920044" y="2020125"/>
              <a:ext cx="811350" cy="747300"/>
              <a:chOff x="1896486" y="1803025"/>
              <a:chExt cx="627300" cy="747300"/>
            </a:xfrm>
          </p:grpSpPr>
          <p:sp>
            <p:nvSpPr>
              <p:cNvPr id="2230" name="Google Shape;2230;p149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149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32" name="Google Shape;2232;p149"/>
            <p:cNvGrpSpPr/>
            <p:nvPr/>
          </p:nvGrpSpPr>
          <p:grpSpPr>
            <a:xfrm>
              <a:off x="3758244" y="2020125"/>
              <a:ext cx="811350" cy="747300"/>
              <a:chOff x="1896486" y="1803025"/>
              <a:chExt cx="627300" cy="747300"/>
            </a:xfrm>
          </p:grpSpPr>
          <p:sp>
            <p:nvSpPr>
              <p:cNvPr id="2233" name="Google Shape;2233;p149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149"/>
              <p:cNvSpPr txBox="1"/>
              <p:nvPr/>
            </p:nvSpPr>
            <p:spPr>
              <a:xfrm>
                <a:off x="201660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35" name="Google Shape;2235;p149"/>
            <p:cNvGrpSpPr/>
            <p:nvPr/>
          </p:nvGrpSpPr>
          <p:grpSpPr>
            <a:xfrm>
              <a:off x="4596444" y="2020125"/>
              <a:ext cx="811350" cy="747300"/>
              <a:chOff x="1896486" y="1803025"/>
              <a:chExt cx="627300" cy="747300"/>
            </a:xfrm>
          </p:grpSpPr>
          <p:sp>
            <p:nvSpPr>
              <p:cNvPr id="2236" name="Google Shape;2236;p149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149"/>
              <p:cNvSpPr txBox="1"/>
              <p:nvPr/>
            </p:nvSpPr>
            <p:spPr>
              <a:xfrm>
                <a:off x="201660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38" name="Google Shape;2238;p149"/>
            <p:cNvGrpSpPr/>
            <p:nvPr/>
          </p:nvGrpSpPr>
          <p:grpSpPr>
            <a:xfrm>
              <a:off x="5434644" y="2020125"/>
              <a:ext cx="811350" cy="747300"/>
              <a:chOff x="1896486" y="1803025"/>
              <a:chExt cx="627300" cy="747300"/>
            </a:xfrm>
          </p:grpSpPr>
          <p:sp>
            <p:nvSpPr>
              <p:cNvPr id="2239" name="Google Shape;2239;p149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149"/>
              <p:cNvSpPr txBox="1"/>
              <p:nvPr/>
            </p:nvSpPr>
            <p:spPr>
              <a:xfrm>
                <a:off x="201660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4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5" name="Google Shape;2245;p150"/>
          <p:cNvGraphicFramePr/>
          <p:nvPr/>
        </p:nvGraphicFramePr>
        <p:xfrm>
          <a:off x="576280" y="1398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850750"/>
                <a:gridCol w="799125"/>
                <a:gridCol w="799125"/>
                <a:gridCol w="799125"/>
                <a:gridCol w="799125"/>
                <a:gridCol w="799125"/>
                <a:gridCol w="799125"/>
                <a:gridCol w="799125"/>
                <a:gridCol w="79912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Bacteria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5.76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8.64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12.96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19.44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29.16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43.74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65.61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6" name="Google Shape;2246;p150"/>
          <p:cNvGraphicFramePr/>
          <p:nvPr/>
        </p:nvGraphicFramePr>
        <p:xfrm>
          <a:off x="576280" y="1398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850750"/>
                <a:gridCol w="799125"/>
                <a:gridCol w="799125"/>
                <a:gridCol w="799125"/>
                <a:gridCol w="799125"/>
                <a:gridCol w="799125"/>
                <a:gridCol w="799125"/>
                <a:gridCol w="799125"/>
                <a:gridCol w="79912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Bacteria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12.96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19.44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29.16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43.74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65.61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7" name="Google Shape;2247;p150"/>
          <p:cNvGraphicFramePr/>
          <p:nvPr/>
        </p:nvGraphicFramePr>
        <p:xfrm>
          <a:off x="576280" y="1398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850750"/>
                <a:gridCol w="799125"/>
                <a:gridCol w="799125"/>
                <a:gridCol w="799125"/>
                <a:gridCol w="799125"/>
                <a:gridCol w="799125"/>
                <a:gridCol w="799125"/>
                <a:gridCol w="799125"/>
                <a:gridCol w="79912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Bacteria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3.84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5.76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8.64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12.96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19.44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29.16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43.74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65.61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8" name="Google Shape;2248;p150"/>
          <p:cNvGraphicFramePr/>
          <p:nvPr/>
        </p:nvGraphicFramePr>
        <p:xfrm>
          <a:off x="576280" y="1398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850750"/>
                <a:gridCol w="799125"/>
                <a:gridCol w="799125"/>
                <a:gridCol w="799125"/>
                <a:gridCol w="799125"/>
                <a:gridCol w="799125"/>
                <a:gridCol w="799125"/>
                <a:gridCol w="799125"/>
                <a:gridCol w="79912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Bacteria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8.64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12.96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19.44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29.16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43.74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65.61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9" name="Google Shape;2249;p150"/>
          <p:cNvSpPr txBox="1"/>
          <p:nvPr>
            <p:ph idx="1" type="body"/>
          </p:nvPr>
        </p:nvSpPr>
        <p:spPr>
          <a:xfrm>
            <a:off x="324000" y="759300"/>
            <a:ext cx="71352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 classic example of this is looking back in history.</a:t>
            </a:r>
            <a:endParaRPr sz="2100"/>
          </a:p>
        </p:txBody>
      </p:sp>
      <p:sp>
        <p:nvSpPr>
          <p:cNvPr id="2250" name="Google Shape;2250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sequences in both directions</a:t>
            </a:r>
            <a:endParaRPr/>
          </a:p>
        </p:txBody>
      </p:sp>
      <p:sp>
        <p:nvSpPr>
          <p:cNvPr id="2251" name="Google Shape;2251;p150"/>
          <p:cNvSpPr txBox="1"/>
          <p:nvPr>
            <p:ph idx="1" type="body"/>
          </p:nvPr>
        </p:nvSpPr>
        <p:spPr>
          <a:xfrm>
            <a:off x="324000" y="2915925"/>
            <a:ext cx="84960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We can use this recorded data, make the assumption that this pattern of growth has always existed, and look back in history.</a:t>
            </a:r>
            <a:endParaRPr sz="2100"/>
          </a:p>
        </p:txBody>
      </p:sp>
      <p:grpSp>
        <p:nvGrpSpPr>
          <p:cNvPr id="2252" name="Google Shape;2252;p150"/>
          <p:cNvGrpSpPr/>
          <p:nvPr/>
        </p:nvGrpSpPr>
        <p:grpSpPr>
          <a:xfrm>
            <a:off x="2919915" y="2020125"/>
            <a:ext cx="2345699" cy="747300"/>
            <a:chOff x="2920044" y="2020125"/>
            <a:chExt cx="2487750" cy="747300"/>
          </a:xfrm>
        </p:grpSpPr>
        <p:grpSp>
          <p:nvGrpSpPr>
            <p:cNvPr id="2253" name="Google Shape;2253;p150"/>
            <p:cNvGrpSpPr/>
            <p:nvPr/>
          </p:nvGrpSpPr>
          <p:grpSpPr>
            <a:xfrm>
              <a:off x="2920044" y="2020125"/>
              <a:ext cx="811350" cy="747300"/>
              <a:chOff x="1896486" y="1803025"/>
              <a:chExt cx="627300" cy="747300"/>
            </a:xfrm>
          </p:grpSpPr>
          <p:sp>
            <p:nvSpPr>
              <p:cNvPr id="2254" name="Google Shape;2254;p150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5" name="Google Shape;2255;p150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56" name="Google Shape;2256;p150"/>
            <p:cNvGrpSpPr/>
            <p:nvPr/>
          </p:nvGrpSpPr>
          <p:grpSpPr>
            <a:xfrm>
              <a:off x="3758244" y="2020125"/>
              <a:ext cx="811350" cy="747300"/>
              <a:chOff x="1896486" y="1803025"/>
              <a:chExt cx="627300" cy="747300"/>
            </a:xfrm>
          </p:grpSpPr>
          <p:sp>
            <p:nvSpPr>
              <p:cNvPr id="2257" name="Google Shape;2257;p150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8" name="Google Shape;2258;p150"/>
              <p:cNvSpPr txBox="1"/>
              <p:nvPr/>
            </p:nvSpPr>
            <p:spPr>
              <a:xfrm>
                <a:off x="201660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59" name="Google Shape;2259;p150"/>
            <p:cNvGrpSpPr/>
            <p:nvPr/>
          </p:nvGrpSpPr>
          <p:grpSpPr>
            <a:xfrm>
              <a:off x="4596444" y="2020125"/>
              <a:ext cx="811350" cy="747300"/>
              <a:chOff x="1896486" y="1803025"/>
              <a:chExt cx="627300" cy="747300"/>
            </a:xfrm>
          </p:grpSpPr>
          <p:sp>
            <p:nvSpPr>
              <p:cNvPr id="2260" name="Google Shape;2260;p150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1" name="Google Shape;2261;p150"/>
              <p:cNvSpPr txBox="1"/>
              <p:nvPr/>
            </p:nvSpPr>
            <p:spPr>
              <a:xfrm>
                <a:off x="201660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262" name="Google Shape;2262;p150"/>
          <p:cNvGrpSpPr/>
          <p:nvPr/>
        </p:nvGrpSpPr>
        <p:grpSpPr>
          <a:xfrm>
            <a:off x="6103125" y="2020125"/>
            <a:ext cx="2345699" cy="747300"/>
            <a:chOff x="2920044" y="2020125"/>
            <a:chExt cx="2487750" cy="747300"/>
          </a:xfrm>
        </p:grpSpPr>
        <p:grpSp>
          <p:nvGrpSpPr>
            <p:cNvPr id="2263" name="Google Shape;2263;p150"/>
            <p:cNvGrpSpPr/>
            <p:nvPr/>
          </p:nvGrpSpPr>
          <p:grpSpPr>
            <a:xfrm>
              <a:off x="2920044" y="2020125"/>
              <a:ext cx="811350" cy="747300"/>
              <a:chOff x="1896486" y="1803025"/>
              <a:chExt cx="627300" cy="747300"/>
            </a:xfrm>
          </p:grpSpPr>
          <p:sp>
            <p:nvSpPr>
              <p:cNvPr id="2264" name="Google Shape;2264;p150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5" name="Google Shape;2265;p150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66" name="Google Shape;2266;p150"/>
            <p:cNvGrpSpPr/>
            <p:nvPr/>
          </p:nvGrpSpPr>
          <p:grpSpPr>
            <a:xfrm>
              <a:off x="3758244" y="2020125"/>
              <a:ext cx="811350" cy="747300"/>
              <a:chOff x="1896486" y="1803025"/>
              <a:chExt cx="627300" cy="747300"/>
            </a:xfrm>
          </p:grpSpPr>
          <p:sp>
            <p:nvSpPr>
              <p:cNvPr id="2267" name="Google Shape;2267;p150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8" name="Google Shape;2268;p150"/>
              <p:cNvSpPr txBox="1"/>
              <p:nvPr/>
            </p:nvSpPr>
            <p:spPr>
              <a:xfrm>
                <a:off x="201660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69" name="Google Shape;2269;p150"/>
            <p:cNvGrpSpPr/>
            <p:nvPr/>
          </p:nvGrpSpPr>
          <p:grpSpPr>
            <a:xfrm>
              <a:off x="4596444" y="2020125"/>
              <a:ext cx="811350" cy="747300"/>
              <a:chOff x="1896486" y="1803025"/>
              <a:chExt cx="627300" cy="747300"/>
            </a:xfrm>
          </p:grpSpPr>
          <p:sp>
            <p:nvSpPr>
              <p:cNvPr id="2270" name="Google Shape;2270;p150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1" name="Google Shape;2271;p150"/>
              <p:cNvSpPr txBox="1"/>
              <p:nvPr/>
            </p:nvSpPr>
            <p:spPr>
              <a:xfrm>
                <a:off x="201660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272" name="Google Shape;2272;p150"/>
          <p:cNvSpPr txBox="1"/>
          <p:nvPr/>
        </p:nvSpPr>
        <p:spPr>
          <a:xfrm flipH="1">
            <a:off x="512275" y="3781779"/>
            <a:ext cx="2466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12.96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1.5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8.64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3" name="Google Shape;2273;p150"/>
          <p:cNvSpPr txBox="1"/>
          <p:nvPr/>
        </p:nvSpPr>
        <p:spPr>
          <a:xfrm flipH="1">
            <a:off x="664675" y="4162779"/>
            <a:ext cx="2466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8.64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1.5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5.76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4" name="Google Shape;2274;p150"/>
          <p:cNvSpPr txBox="1"/>
          <p:nvPr/>
        </p:nvSpPr>
        <p:spPr>
          <a:xfrm flipH="1">
            <a:off x="664675" y="4543779"/>
            <a:ext cx="2466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5.76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1.5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3.84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5" name="Google Shape;2275;p150"/>
          <p:cNvSpPr txBox="1"/>
          <p:nvPr>
            <p:ph idx="1" type="body"/>
          </p:nvPr>
        </p:nvSpPr>
        <p:spPr>
          <a:xfrm>
            <a:off x="2979493" y="3731116"/>
            <a:ext cx="54480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It might be that we want to know when the bacteria numbered less than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4000.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We had to go back beyond the first term.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6" name="Google Shape;2276;p150"/>
          <p:cNvSpPr/>
          <p:nvPr/>
        </p:nvSpPr>
        <p:spPr>
          <a:xfrm>
            <a:off x="2412113" y="1747618"/>
            <a:ext cx="837000" cy="466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7" name="Google Shape;2277;p150"/>
          <p:cNvSpPr txBox="1"/>
          <p:nvPr/>
        </p:nvSpPr>
        <p:spPr>
          <a:xfrm>
            <a:off x="5437418" y="2428125"/>
            <a:ext cx="480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×1.5</a:t>
            </a:r>
            <a:endParaRPr sz="2000">
              <a:solidFill>
                <a:srgbClr val="037B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8" name="Google Shape;2278;p150"/>
          <p:cNvSpPr/>
          <p:nvPr/>
        </p:nvSpPr>
        <p:spPr>
          <a:xfrm flipH="1" rot="10800000">
            <a:off x="5290931" y="2020125"/>
            <a:ext cx="765000" cy="4377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151"/>
          <p:cNvSpPr txBox="1"/>
          <p:nvPr>
            <p:ph idx="1" type="body"/>
          </p:nvPr>
        </p:nvSpPr>
        <p:spPr>
          <a:xfrm>
            <a:off x="324000" y="759300"/>
            <a:ext cx="71565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Scientists are recording the radioactivity of a sample.</a:t>
            </a:r>
            <a:endParaRPr sz="2100"/>
          </a:p>
        </p:txBody>
      </p:sp>
      <p:sp>
        <p:nvSpPr>
          <p:cNvPr id="2284" name="Google Shape;2284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sequences in both directions</a:t>
            </a:r>
            <a:endParaRPr/>
          </a:p>
        </p:txBody>
      </p:sp>
      <p:sp>
        <p:nvSpPr>
          <p:cNvPr id="2285" name="Google Shape;2285;p151"/>
          <p:cNvSpPr txBox="1"/>
          <p:nvPr>
            <p:ph idx="1" type="body"/>
          </p:nvPr>
        </p:nvSpPr>
        <p:spPr>
          <a:xfrm>
            <a:off x="324000" y="2641298"/>
            <a:ext cx="84960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The</a:t>
            </a:r>
            <a:r>
              <a:rPr lang="en-GB" sz="2100"/>
              <a:t> data they record forms a geometric sequence.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Make the assumption that this pattern existed previously, and find the two terms before the first recorded term.</a:t>
            </a:r>
            <a:endParaRPr sz="2100"/>
          </a:p>
        </p:txBody>
      </p:sp>
      <p:graphicFrame>
        <p:nvGraphicFramePr>
          <p:cNvPr id="2286" name="Google Shape;2286;p151"/>
          <p:cNvGraphicFramePr/>
          <p:nvPr/>
        </p:nvGraphicFramePr>
        <p:xfrm>
          <a:off x="576280" y="1181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499000"/>
                <a:gridCol w="1081050"/>
                <a:gridCol w="1081050"/>
                <a:gridCol w="1081050"/>
                <a:gridCol w="1081050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hrs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Radioactive Nuclei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600 000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480 000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384 000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307 200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7" name="Google Shape;2287;p151"/>
          <p:cNvSpPr txBox="1"/>
          <p:nvPr>
            <p:ph idx="1" type="body"/>
          </p:nvPr>
        </p:nvSpPr>
        <p:spPr>
          <a:xfrm>
            <a:off x="324000" y="4066087"/>
            <a:ext cx="58233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Hint: Divide each term by the previous term to find the common ratio.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152"/>
          <p:cNvSpPr txBox="1"/>
          <p:nvPr>
            <p:ph idx="1" type="body"/>
          </p:nvPr>
        </p:nvSpPr>
        <p:spPr>
          <a:xfrm>
            <a:off x="324000" y="759300"/>
            <a:ext cx="71565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Scientists are recording the radioactivity of a sample.</a:t>
            </a:r>
            <a:endParaRPr sz="2100"/>
          </a:p>
        </p:txBody>
      </p:sp>
      <p:sp>
        <p:nvSpPr>
          <p:cNvPr id="2293" name="Google Shape;2293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sequences in both directions</a:t>
            </a:r>
            <a:endParaRPr/>
          </a:p>
        </p:txBody>
      </p:sp>
      <p:graphicFrame>
        <p:nvGraphicFramePr>
          <p:cNvPr id="2294" name="Google Shape;2294;p152"/>
          <p:cNvGraphicFramePr/>
          <p:nvPr/>
        </p:nvGraphicFramePr>
        <p:xfrm>
          <a:off x="576280" y="1181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499000"/>
                <a:gridCol w="1081050"/>
                <a:gridCol w="1081050"/>
                <a:gridCol w="1081050"/>
                <a:gridCol w="1081050"/>
                <a:gridCol w="1081050"/>
                <a:gridCol w="1081050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hrs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Radioactive Nuclei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600 000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480 000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384 000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307 200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5" name="Google Shape;2295;p152"/>
          <p:cNvSpPr txBox="1"/>
          <p:nvPr/>
        </p:nvSpPr>
        <p:spPr>
          <a:xfrm flipH="1">
            <a:off x="325505" y="3728588"/>
            <a:ext cx="3426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480 000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600 000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6" name="Google Shape;2296;p152"/>
          <p:cNvSpPr txBox="1"/>
          <p:nvPr/>
        </p:nvSpPr>
        <p:spPr>
          <a:xfrm flipH="1">
            <a:off x="325505" y="4109588"/>
            <a:ext cx="3426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384 000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480 000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7" name="Google Shape;2297;p152"/>
          <p:cNvSpPr txBox="1"/>
          <p:nvPr/>
        </p:nvSpPr>
        <p:spPr>
          <a:xfrm flipH="1">
            <a:off x="325505" y="4490588"/>
            <a:ext cx="3426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307 200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384 000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8" name="Google Shape;2298;p152"/>
          <p:cNvSpPr txBox="1"/>
          <p:nvPr/>
        </p:nvSpPr>
        <p:spPr>
          <a:xfrm flipH="1">
            <a:off x="3636625" y="3705575"/>
            <a:ext cx="3426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600 000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750 000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9" name="Google Shape;2299;p152"/>
          <p:cNvSpPr txBox="1"/>
          <p:nvPr/>
        </p:nvSpPr>
        <p:spPr>
          <a:xfrm flipH="1">
            <a:off x="3636625" y="4102429"/>
            <a:ext cx="3426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750 000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937 500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0" name="Google Shape;2300;p152"/>
          <p:cNvSpPr txBox="1"/>
          <p:nvPr>
            <p:ph idx="1" type="body"/>
          </p:nvPr>
        </p:nvSpPr>
        <p:spPr>
          <a:xfrm>
            <a:off x="324000" y="2641298"/>
            <a:ext cx="84960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The data they record forms a geometric sequence.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Make the assumption that this pattern existed previously, and find the two terms before the first recorded term.</a:t>
            </a:r>
            <a:endParaRPr sz="2100"/>
          </a:p>
        </p:txBody>
      </p:sp>
      <p:grpSp>
        <p:nvGrpSpPr>
          <p:cNvPr id="2301" name="Google Shape;2301;p152"/>
          <p:cNvGrpSpPr/>
          <p:nvPr/>
        </p:nvGrpSpPr>
        <p:grpSpPr>
          <a:xfrm>
            <a:off x="2603660" y="1955432"/>
            <a:ext cx="5447884" cy="747300"/>
            <a:chOff x="2603660" y="1955432"/>
            <a:chExt cx="5447884" cy="747300"/>
          </a:xfrm>
        </p:grpSpPr>
        <p:sp>
          <p:nvSpPr>
            <p:cNvPr id="2302" name="Google Shape;2302;p152"/>
            <p:cNvSpPr txBox="1"/>
            <p:nvPr/>
          </p:nvSpPr>
          <p:spPr>
            <a:xfrm>
              <a:off x="7196313" y="2363432"/>
              <a:ext cx="6639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×0.8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3" name="Google Shape;2303;p152"/>
            <p:cNvSpPr/>
            <p:nvPr/>
          </p:nvSpPr>
          <p:spPr>
            <a:xfrm flipH="1" rot="10800000">
              <a:off x="6993744" y="1955432"/>
              <a:ext cx="10578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04" name="Google Shape;2304;p152"/>
            <p:cNvGrpSpPr/>
            <p:nvPr/>
          </p:nvGrpSpPr>
          <p:grpSpPr>
            <a:xfrm>
              <a:off x="2603660" y="1955432"/>
              <a:ext cx="3243777" cy="747300"/>
              <a:chOff x="2920044" y="2020125"/>
              <a:chExt cx="2487750" cy="747300"/>
            </a:xfrm>
          </p:grpSpPr>
          <p:grpSp>
            <p:nvGrpSpPr>
              <p:cNvPr id="2305" name="Google Shape;2305;p152"/>
              <p:cNvGrpSpPr/>
              <p:nvPr/>
            </p:nvGrpSpPr>
            <p:grpSpPr>
              <a:xfrm>
                <a:off x="2920044" y="2020125"/>
                <a:ext cx="811350" cy="747300"/>
                <a:chOff x="1896486" y="1803025"/>
                <a:chExt cx="627300" cy="747300"/>
              </a:xfrm>
            </p:grpSpPr>
            <p:sp>
              <p:nvSpPr>
                <p:cNvPr id="2306" name="Google Shape;2306;p152"/>
                <p:cNvSpPr/>
                <p:nvPr/>
              </p:nvSpPr>
              <p:spPr>
                <a:xfrm flipH="1" rot="10800000">
                  <a:off x="1896486" y="1803025"/>
                  <a:ext cx="627300" cy="437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7" name="Google Shape;2307;p152"/>
                <p:cNvSpPr txBox="1"/>
                <p:nvPr/>
              </p:nvSpPr>
              <p:spPr>
                <a:xfrm>
                  <a:off x="2016621" y="2211025"/>
                  <a:ext cx="393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rgbClr val="037B7D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×0.8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308" name="Google Shape;2308;p152"/>
              <p:cNvGrpSpPr/>
              <p:nvPr/>
            </p:nvGrpSpPr>
            <p:grpSpPr>
              <a:xfrm>
                <a:off x="3758244" y="2020125"/>
                <a:ext cx="811350" cy="747300"/>
                <a:chOff x="1896486" y="1803025"/>
                <a:chExt cx="627300" cy="747300"/>
              </a:xfrm>
            </p:grpSpPr>
            <p:sp>
              <p:nvSpPr>
                <p:cNvPr id="2309" name="Google Shape;2309;p152"/>
                <p:cNvSpPr/>
                <p:nvPr/>
              </p:nvSpPr>
              <p:spPr>
                <a:xfrm flipH="1" rot="10800000">
                  <a:off x="1896486" y="1803025"/>
                  <a:ext cx="627300" cy="437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0" name="Google Shape;2310;p152"/>
                <p:cNvSpPr txBox="1"/>
                <p:nvPr/>
              </p:nvSpPr>
              <p:spPr>
                <a:xfrm>
                  <a:off x="2016601" y="2211025"/>
                  <a:ext cx="393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×0.8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311" name="Google Shape;2311;p152"/>
              <p:cNvGrpSpPr/>
              <p:nvPr/>
            </p:nvGrpSpPr>
            <p:grpSpPr>
              <a:xfrm>
                <a:off x="4596444" y="2020125"/>
                <a:ext cx="811350" cy="747300"/>
                <a:chOff x="1896486" y="1803025"/>
                <a:chExt cx="627300" cy="747300"/>
              </a:xfrm>
            </p:grpSpPr>
            <p:sp>
              <p:nvSpPr>
                <p:cNvPr id="2312" name="Google Shape;2312;p152"/>
                <p:cNvSpPr/>
                <p:nvPr/>
              </p:nvSpPr>
              <p:spPr>
                <a:xfrm flipH="1" rot="10800000">
                  <a:off x="1896486" y="1803025"/>
                  <a:ext cx="627300" cy="437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3" name="Google Shape;2313;p152"/>
                <p:cNvSpPr txBox="1"/>
                <p:nvPr/>
              </p:nvSpPr>
              <p:spPr>
                <a:xfrm>
                  <a:off x="2016601" y="2211025"/>
                  <a:ext cx="393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×0.8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2314" name="Google Shape;2314;p152"/>
            <p:cNvSpPr txBox="1"/>
            <p:nvPr/>
          </p:nvSpPr>
          <p:spPr>
            <a:xfrm>
              <a:off x="6084946" y="2363432"/>
              <a:ext cx="6639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×0.8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5" name="Google Shape;2315;p152"/>
            <p:cNvSpPr/>
            <p:nvPr/>
          </p:nvSpPr>
          <p:spPr>
            <a:xfrm flipH="1" rot="10800000">
              <a:off x="5882377" y="1955432"/>
              <a:ext cx="10578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2316" name="Google Shape;2316;p152"/>
          <p:cNvGraphicFramePr/>
          <p:nvPr/>
        </p:nvGraphicFramePr>
        <p:xfrm>
          <a:off x="576280" y="1181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499000"/>
                <a:gridCol w="1081050"/>
                <a:gridCol w="1081050"/>
                <a:gridCol w="1081050"/>
                <a:gridCol w="1081050"/>
                <a:gridCol w="1081050"/>
                <a:gridCol w="1081050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hrs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Radioactive Nuclei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937 500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750 000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600 000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480 000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384 000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307 200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17" name="Google Shape;2317;p152"/>
          <p:cNvGraphicFramePr/>
          <p:nvPr/>
        </p:nvGraphicFramePr>
        <p:xfrm>
          <a:off x="576280" y="1181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499000"/>
                <a:gridCol w="1081050"/>
                <a:gridCol w="1081050"/>
                <a:gridCol w="1081050"/>
                <a:gridCol w="1081050"/>
                <a:gridCol w="1081050"/>
                <a:gridCol w="1081050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hrs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Radioactive Nuclei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750 000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600 000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480 000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384 000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307 200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8" name="Google Shape;2318;p152"/>
          <p:cNvSpPr/>
          <p:nvPr/>
        </p:nvSpPr>
        <p:spPr>
          <a:xfrm>
            <a:off x="2031150" y="1520817"/>
            <a:ext cx="2289000" cy="69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9" name="Google Shape;2319;p152"/>
          <p:cNvSpPr txBox="1"/>
          <p:nvPr/>
        </p:nvSpPr>
        <p:spPr>
          <a:xfrm>
            <a:off x="3138550" y="4467325"/>
            <a:ext cx="5283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Estimates for number of nuclei before recording.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153"/>
          <p:cNvSpPr txBox="1"/>
          <p:nvPr>
            <p:ph idx="1" type="body"/>
          </p:nvPr>
        </p:nvSpPr>
        <p:spPr>
          <a:xfrm>
            <a:off x="324000" y="759300"/>
            <a:ext cx="82377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1) Scientists start studying the Penguin population on an island in the Southern Ocean annually and they find these </a:t>
            </a:r>
            <a:r>
              <a:rPr lang="en-GB" sz="2100"/>
              <a:t>numbers</a:t>
            </a:r>
            <a:r>
              <a:rPr lang="en-GB" sz="2100"/>
              <a:t>.</a:t>
            </a:r>
            <a:endParaRPr sz="2100"/>
          </a:p>
        </p:txBody>
      </p:sp>
      <p:sp>
        <p:nvSpPr>
          <p:cNvPr id="2325" name="Google Shape;2325;p1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Extending sequences in both directions</a:t>
            </a:r>
            <a:endParaRPr/>
          </a:p>
        </p:txBody>
      </p:sp>
      <p:pic>
        <p:nvPicPr>
          <p:cNvPr id="2326" name="Google Shape;2326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5174" y="2330407"/>
            <a:ext cx="2743599" cy="2095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7" name="Google Shape;2327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0269" y="2590149"/>
            <a:ext cx="258830" cy="4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8" name="Google Shape;2328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0710" y="2682354"/>
            <a:ext cx="258830" cy="4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9" name="Google Shape;2329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9335" y="2659189"/>
            <a:ext cx="258830" cy="4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0" name="Google Shape;2330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7017" y="3641247"/>
            <a:ext cx="258830" cy="4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1" name="Google Shape;2331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3242" y="3481536"/>
            <a:ext cx="258830" cy="4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2" name="Google Shape;2332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0937" y="3153874"/>
            <a:ext cx="258830" cy="4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3" name="Google Shape;2333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5935" y="3429883"/>
            <a:ext cx="258830" cy="4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4" name="Google Shape;2334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3456" y="3340642"/>
            <a:ext cx="258830" cy="4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5" name="Google Shape;2335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5737" y="2844727"/>
            <a:ext cx="258830" cy="4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6" name="Google Shape;2336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1135" y="3626776"/>
            <a:ext cx="258830" cy="4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9989" y="2952483"/>
            <a:ext cx="258830" cy="491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38" name="Google Shape;2338;p153"/>
          <p:cNvGraphicFramePr/>
          <p:nvPr/>
        </p:nvGraphicFramePr>
        <p:xfrm>
          <a:off x="347680" y="1604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499000"/>
                <a:gridCol w="1081050"/>
                <a:gridCol w="1081050"/>
                <a:gridCol w="1081050"/>
                <a:gridCol w="1081050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312.5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339" name="Google Shape;2339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2242" y="2994162"/>
            <a:ext cx="258830" cy="49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0" name="Google Shape;2340;p153"/>
          <p:cNvSpPr txBox="1"/>
          <p:nvPr>
            <p:ph idx="1" type="body"/>
          </p:nvPr>
        </p:nvSpPr>
        <p:spPr>
          <a:xfrm>
            <a:off x="324000" y="2740500"/>
            <a:ext cx="6226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population data forms a geometric sequence.</a:t>
            </a:r>
            <a:endParaRPr sz="2000"/>
          </a:p>
        </p:txBody>
      </p:sp>
      <p:sp>
        <p:nvSpPr>
          <p:cNvPr id="2341" name="Google Shape;2341;p153"/>
          <p:cNvSpPr txBox="1"/>
          <p:nvPr>
            <p:ph idx="1" type="body"/>
          </p:nvPr>
        </p:nvSpPr>
        <p:spPr>
          <a:xfrm>
            <a:off x="324000" y="3262393"/>
            <a:ext cx="60540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Move forwards to estimate the population next year and in two years time.</a:t>
            </a:r>
            <a:endParaRPr sz="2000"/>
          </a:p>
        </p:txBody>
      </p:sp>
      <p:sp>
        <p:nvSpPr>
          <p:cNvPr id="2342" name="Google Shape;2342;p153"/>
          <p:cNvSpPr txBox="1"/>
          <p:nvPr>
            <p:ph idx="1" type="body"/>
          </p:nvPr>
        </p:nvSpPr>
        <p:spPr>
          <a:xfrm>
            <a:off x="324000" y="4089087"/>
            <a:ext cx="60540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 Move backwards to find how many years ago the population was under one hundred thousand.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54"/>
          <p:cNvSpPr txBox="1"/>
          <p:nvPr>
            <p:ph idx="1" type="body"/>
          </p:nvPr>
        </p:nvSpPr>
        <p:spPr>
          <a:xfrm>
            <a:off x="324000" y="759300"/>
            <a:ext cx="82377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1) Scientists start studying the Penguin population on an island in the Southern Ocean annually and they find these numbers.</a:t>
            </a:r>
            <a:endParaRPr sz="2100"/>
          </a:p>
        </p:txBody>
      </p:sp>
      <p:sp>
        <p:nvSpPr>
          <p:cNvPr id="2348" name="Google Shape;2348;p1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Extending sequences in both directions</a:t>
            </a:r>
            <a:endParaRPr/>
          </a:p>
        </p:txBody>
      </p:sp>
      <p:graphicFrame>
        <p:nvGraphicFramePr>
          <p:cNvPr id="2349" name="Google Shape;2349;p154"/>
          <p:cNvGraphicFramePr/>
          <p:nvPr/>
        </p:nvGraphicFramePr>
        <p:xfrm>
          <a:off x="347680" y="1604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499000"/>
                <a:gridCol w="1081050"/>
                <a:gridCol w="1081050"/>
                <a:gridCol w="1081050"/>
                <a:gridCol w="1081050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312.5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0" name="Google Shape;2350;p154"/>
          <p:cNvSpPr txBox="1"/>
          <p:nvPr>
            <p:ph idx="1" type="body"/>
          </p:nvPr>
        </p:nvSpPr>
        <p:spPr>
          <a:xfrm>
            <a:off x="324000" y="3490993"/>
            <a:ext cx="60540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Move forwards to estimate the population next year and in two years time.</a:t>
            </a:r>
            <a:endParaRPr sz="2000"/>
          </a:p>
        </p:txBody>
      </p:sp>
      <p:sp>
        <p:nvSpPr>
          <p:cNvPr id="2351" name="Google Shape;2351;p154"/>
          <p:cNvSpPr txBox="1"/>
          <p:nvPr/>
        </p:nvSpPr>
        <p:spPr>
          <a:xfrm flipH="1">
            <a:off x="6802502" y="3119000"/>
            <a:ext cx="1865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.25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2" name="Google Shape;2352;p154"/>
          <p:cNvSpPr txBox="1"/>
          <p:nvPr>
            <p:ph idx="1" type="body"/>
          </p:nvPr>
        </p:nvSpPr>
        <p:spPr>
          <a:xfrm>
            <a:off x="324000" y="3045300"/>
            <a:ext cx="6226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population data forms a geometric sequence.</a:t>
            </a:r>
            <a:endParaRPr sz="2000"/>
          </a:p>
        </p:txBody>
      </p:sp>
      <p:grpSp>
        <p:nvGrpSpPr>
          <p:cNvPr id="2353" name="Google Shape;2353;p154"/>
          <p:cNvGrpSpPr/>
          <p:nvPr/>
        </p:nvGrpSpPr>
        <p:grpSpPr>
          <a:xfrm>
            <a:off x="2375128" y="2412632"/>
            <a:ext cx="3256235" cy="747300"/>
            <a:chOff x="2375128" y="2412632"/>
            <a:chExt cx="3256235" cy="747300"/>
          </a:xfrm>
        </p:grpSpPr>
        <p:grpSp>
          <p:nvGrpSpPr>
            <p:cNvPr id="2354" name="Google Shape;2354;p154"/>
            <p:cNvGrpSpPr/>
            <p:nvPr/>
          </p:nvGrpSpPr>
          <p:grpSpPr>
            <a:xfrm>
              <a:off x="2375128" y="2412632"/>
              <a:ext cx="1057941" cy="747300"/>
              <a:chOff x="1896486" y="1803025"/>
              <a:chExt cx="627300" cy="747300"/>
            </a:xfrm>
          </p:grpSpPr>
          <p:sp>
            <p:nvSpPr>
              <p:cNvPr id="2355" name="Google Shape;2355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154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57" name="Google Shape;2357;p154"/>
            <p:cNvGrpSpPr/>
            <p:nvPr/>
          </p:nvGrpSpPr>
          <p:grpSpPr>
            <a:xfrm>
              <a:off x="3464941" y="2412632"/>
              <a:ext cx="1057941" cy="747300"/>
              <a:chOff x="1896486" y="1803025"/>
              <a:chExt cx="627300" cy="747300"/>
            </a:xfrm>
          </p:grpSpPr>
          <p:sp>
            <p:nvSpPr>
              <p:cNvPr id="2358" name="Google Shape;2358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154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60" name="Google Shape;2360;p154"/>
            <p:cNvGrpSpPr/>
            <p:nvPr/>
          </p:nvGrpSpPr>
          <p:grpSpPr>
            <a:xfrm>
              <a:off x="4573421" y="2412632"/>
              <a:ext cx="1057941" cy="747300"/>
              <a:chOff x="1896486" y="1803025"/>
              <a:chExt cx="627300" cy="747300"/>
            </a:xfrm>
          </p:grpSpPr>
          <p:sp>
            <p:nvSpPr>
              <p:cNvPr id="2361" name="Google Shape;2361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2" name="Google Shape;2362;p154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aphicFrame>
        <p:nvGraphicFramePr>
          <p:cNvPr id="2363" name="Google Shape;2363;p154"/>
          <p:cNvGraphicFramePr/>
          <p:nvPr/>
        </p:nvGraphicFramePr>
        <p:xfrm>
          <a:off x="347680" y="1604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499400"/>
                <a:gridCol w="1081375"/>
                <a:gridCol w="1081375"/>
                <a:gridCol w="1081375"/>
                <a:gridCol w="1081375"/>
                <a:gridCol w="1081375"/>
                <a:gridCol w="108137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312.5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390.6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488</a:t>
                      </a: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.3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4" name="Google Shape;2364;p154"/>
          <p:cNvSpPr txBox="1"/>
          <p:nvPr/>
        </p:nvSpPr>
        <p:spPr>
          <a:xfrm flipH="1">
            <a:off x="4581056" y="3881000"/>
            <a:ext cx="3110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312.5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390.625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5" name="Google Shape;2365;p154"/>
          <p:cNvSpPr txBox="1"/>
          <p:nvPr/>
        </p:nvSpPr>
        <p:spPr>
          <a:xfrm flipH="1">
            <a:off x="4581056" y="4262000"/>
            <a:ext cx="3110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390.625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488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.281…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66" name="Google Shape;2366;p154"/>
          <p:cNvGraphicFramePr/>
          <p:nvPr/>
        </p:nvGraphicFramePr>
        <p:xfrm>
          <a:off x="347680" y="1604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499400"/>
                <a:gridCol w="1081375"/>
                <a:gridCol w="1081375"/>
                <a:gridCol w="1081375"/>
                <a:gridCol w="1081375"/>
                <a:gridCol w="1081375"/>
                <a:gridCol w="108137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312.5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67" name="Google Shape;2367;p154"/>
          <p:cNvGrpSpPr/>
          <p:nvPr/>
        </p:nvGrpSpPr>
        <p:grpSpPr>
          <a:xfrm>
            <a:off x="5663234" y="2412632"/>
            <a:ext cx="2154915" cy="747300"/>
            <a:chOff x="5663234" y="2412632"/>
            <a:chExt cx="2154915" cy="747300"/>
          </a:xfrm>
        </p:grpSpPr>
        <p:grpSp>
          <p:nvGrpSpPr>
            <p:cNvPr id="2368" name="Google Shape;2368;p154"/>
            <p:cNvGrpSpPr/>
            <p:nvPr/>
          </p:nvGrpSpPr>
          <p:grpSpPr>
            <a:xfrm>
              <a:off x="5663234" y="2412632"/>
              <a:ext cx="1057941" cy="747300"/>
              <a:chOff x="1896486" y="1803025"/>
              <a:chExt cx="627300" cy="747300"/>
            </a:xfrm>
          </p:grpSpPr>
          <p:sp>
            <p:nvSpPr>
              <p:cNvPr id="2369" name="Google Shape;2369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0" name="Google Shape;2370;p154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71" name="Google Shape;2371;p154"/>
            <p:cNvGrpSpPr/>
            <p:nvPr/>
          </p:nvGrpSpPr>
          <p:grpSpPr>
            <a:xfrm>
              <a:off x="6760208" y="2412632"/>
              <a:ext cx="1057941" cy="747300"/>
              <a:chOff x="1896486" y="1803025"/>
              <a:chExt cx="627300" cy="747300"/>
            </a:xfrm>
          </p:grpSpPr>
          <p:sp>
            <p:nvSpPr>
              <p:cNvPr id="2372" name="Google Shape;2372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3" name="Google Shape;2373;p154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155"/>
          <p:cNvSpPr txBox="1"/>
          <p:nvPr>
            <p:ph idx="1" type="body"/>
          </p:nvPr>
        </p:nvSpPr>
        <p:spPr>
          <a:xfrm>
            <a:off x="324000" y="759300"/>
            <a:ext cx="82377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1) Scientists start studying the Penguin population on an island in the Southern Ocean annually and they find these numbers.</a:t>
            </a:r>
            <a:endParaRPr sz="2100"/>
          </a:p>
        </p:txBody>
      </p:sp>
      <p:sp>
        <p:nvSpPr>
          <p:cNvPr id="2379" name="Google Shape;2379;p1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Extending sequences in both directions</a:t>
            </a:r>
            <a:endParaRPr/>
          </a:p>
        </p:txBody>
      </p:sp>
      <p:graphicFrame>
        <p:nvGraphicFramePr>
          <p:cNvPr id="2380" name="Google Shape;2380;p155"/>
          <p:cNvGraphicFramePr/>
          <p:nvPr/>
        </p:nvGraphicFramePr>
        <p:xfrm>
          <a:off x="347680" y="1604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400775"/>
                <a:gridCol w="1010225"/>
                <a:gridCol w="1010225"/>
                <a:gridCol w="1010225"/>
                <a:gridCol w="1010225"/>
                <a:gridCol w="1010225"/>
                <a:gridCol w="1010225"/>
                <a:gridCol w="101022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312.5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81" name="Google Shape;2381;p155"/>
          <p:cNvSpPr txBox="1"/>
          <p:nvPr>
            <p:ph idx="1" type="body"/>
          </p:nvPr>
        </p:nvSpPr>
        <p:spPr>
          <a:xfrm>
            <a:off x="324000" y="3250887"/>
            <a:ext cx="60540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Move backwards to find how many years ago the population was under one hundred thousand.</a:t>
            </a:r>
            <a:endParaRPr sz="2000"/>
          </a:p>
        </p:txBody>
      </p:sp>
      <p:sp>
        <p:nvSpPr>
          <p:cNvPr id="2382" name="Google Shape;2382;p155"/>
          <p:cNvSpPr txBox="1"/>
          <p:nvPr/>
        </p:nvSpPr>
        <p:spPr>
          <a:xfrm flipH="1">
            <a:off x="477905" y="3934175"/>
            <a:ext cx="3426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160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83" name="Google Shape;2383;p155"/>
          <p:cNvGrpSpPr/>
          <p:nvPr/>
        </p:nvGrpSpPr>
        <p:grpSpPr>
          <a:xfrm>
            <a:off x="5270687" y="2412625"/>
            <a:ext cx="3040021" cy="747300"/>
            <a:chOff x="2375128" y="2412632"/>
            <a:chExt cx="3256235" cy="747300"/>
          </a:xfrm>
        </p:grpSpPr>
        <p:grpSp>
          <p:nvGrpSpPr>
            <p:cNvPr id="2384" name="Google Shape;2384;p155"/>
            <p:cNvGrpSpPr/>
            <p:nvPr/>
          </p:nvGrpSpPr>
          <p:grpSpPr>
            <a:xfrm>
              <a:off x="2375128" y="2412632"/>
              <a:ext cx="1057941" cy="747300"/>
              <a:chOff x="1896486" y="1803025"/>
              <a:chExt cx="627300" cy="747300"/>
            </a:xfrm>
          </p:grpSpPr>
          <p:sp>
            <p:nvSpPr>
              <p:cNvPr id="2385" name="Google Shape;2385;p155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155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87" name="Google Shape;2387;p155"/>
            <p:cNvGrpSpPr/>
            <p:nvPr/>
          </p:nvGrpSpPr>
          <p:grpSpPr>
            <a:xfrm>
              <a:off x="3464941" y="2412632"/>
              <a:ext cx="1057941" cy="747300"/>
              <a:chOff x="1896486" y="1803025"/>
              <a:chExt cx="627300" cy="747300"/>
            </a:xfrm>
          </p:grpSpPr>
          <p:sp>
            <p:nvSpPr>
              <p:cNvPr id="2388" name="Google Shape;2388;p155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155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90" name="Google Shape;2390;p155"/>
            <p:cNvGrpSpPr/>
            <p:nvPr/>
          </p:nvGrpSpPr>
          <p:grpSpPr>
            <a:xfrm>
              <a:off x="4573421" y="2412632"/>
              <a:ext cx="1057941" cy="747300"/>
              <a:chOff x="1896486" y="1803025"/>
              <a:chExt cx="627300" cy="747300"/>
            </a:xfrm>
          </p:grpSpPr>
          <p:sp>
            <p:nvSpPr>
              <p:cNvPr id="2391" name="Google Shape;2391;p155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2" name="Google Shape;2392;p155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393" name="Google Shape;2393;p155"/>
          <p:cNvGrpSpPr/>
          <p:nvPr/>
        </p:nvGrpSpPr>
        <p:grpSpPr>
          <a:xfrm>
            <a:off x="2181008" y="2412625"/>
            <a:ext cx="3040021" cy="747300"/>
            <a:chOff x="2375128" y="2412632"/>
            <a:chExt cx="3256235" cy="747300"/>
          </a:xfrm>
        </p:grpSpPr>
        <p:grpSp>
          <p:nvGrpSpPr>
            <p:cNvPr id="2394" name="Google Shape;2394;p155"/>
            <p:cNvGrpSpPr/>
            <p:nvPr/>
          </p:nvGrpSpPr>
          <p:grpSpPr>
            <a:xfrm>
              <a:off x="2375128" y="2412632"/>
              <a:ext cx="1057941" cy="747300"/>
              <a:chOff x="1896486" y="1803025"/>
              <a:chExt cx="627300" cy="747300"/>
            </a:xfrm>
          </p:grpSpPr>
          <p:sp>
            <p:nvSpPr>
              <p:cNvPr id="2395" name="Google Shape;2395;p155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155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97" name="Google Shape;2397;p155"/>
            <p:cNvGrpSpPr/>
            <p:nvPr/>
          </p:nvGrpSpPr>
          <p:grpSpPr>
            <a:xfrm>
              <a:off x="3464941" y="2412632"/>
              <a:ext cx="1057941" cy="747300"/>
              <a:chOff x="1896486" y="1803025"/>
              <a:chExt cx="627300" cy="747300"/>
            </a:xfrm>
          </p:grpSpPr>
          <p:sp>
            <p:nvSpPr>
              <p:cNvPr id="2398" name="Google Shape;2398;p155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155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00" name="Google Shape;2400;p155"/>
            <p:cNvGrpSpPr/>
            <p:nvPr/>
          </p:nvGrpSpPr>
          <p:grpSpPr>
            <a:xfrm>
              <a:off x="4573421" y="2412632"/>
              <a:ext cx="1057941" cy="747300"/>
              <a:chOff x="1896486" y="1803025"/>
              <a:chExt cx="627300" cy="747300"/>
            </a:xfrm>
          </p:grpSpPr>
          <p:sp>
            <p:nvSpPr>
              <p:cNvPr id="2401" name="Google Shape;2401;p155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155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403" name="Google Shape;2403;p155"/>
          <p:cNvSpPr txBox="1"/>
          <p:nvPr/>
        </p:nvSpPr>
        <p:spPr>
          <a:xfrm>
            <a:off x="6567550" y="3294163"/>
            <a:ext cx="22524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Assume this model worked historically.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4" name="Google Shape;2404;p155"/>
          <p:cNvSpPr txBox="1"/>
          <p:nvPr/>
        </p:nvSpPr>
        <p:spPr>
          <a:xfrm flipH="1">
            <a:off x="477905" y="4244728"/>
            <a:ext cx="3426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128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102.4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5" name="Google Shape;2405;p155"/>
          <p:cNvSpPr txBox="1"/>
          <p:nvPr/>
        </p:nvSpPr>
        <p:spPr>
          <a:xfrm flipH="1">
            <a:off x="477905" y="4555282"/>
            <a:ext cx="3426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102.4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81.92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06" name="Google Shape;2406;p155"/>
          <p:cNvGraphicFramePr/>
          <p:nvPr/>
        </p:nvGraphicFramePr>
        <p:xfrm>
          <a:off x="347680" y="1604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400775"/>
                <a:gridCol w="1010225"/>
                <a:gridCol w="1010225"/>
                <a:gridCol w="1010225"/>
                <a:gridCol w="1010225"/>
                <a:gridCol w="1010225"/>
                <a:gridCol w="1010225"/>
                <a:gridCol w="101022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81.92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102.4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312.5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07" name="Google Shape;2407;p155"/>
          <p:cNvGraphicFramePr/>
          <p:nvPr/>
        </p:nvGraphicFramePr>
        <p:xfrm>
          <a:off x="347680" y="1604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400775"/>
                <a:gridCol w="1010225"/>
                <a:gridCol w="1010225"/>
                <a:gridCol w="1010225"/>
                <a:gridCol w="1010225"/>
                <a:gridCol w="1010225"/>
                <a:gridCol w="1010225"/>
                <a:gridCol w="101022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312.5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08" name="Google Shape;2408;p155"/>
          <p:cNvGraphicFramePr/>
          <p:nvPr/>
        </p:nvGraphicFramePr>
        <p:xfrm>
          <a:off x="347680" y="1604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{51681032-FEA0-41F4-97EC-146BB895B8C7}</a:tableStyleId>
              </a:tblPr>
              <a:tblGrid>
                <a:gridCol w="1400775"/>
                <a:gridCol w="1010225"/>
                <a:gridCol w="1010225"/>
                <a:gridCol w="1010225"/>
                <a:gridCol w="1010225"/>
                <a:gridCol w="1010225"/>
                <a:gridCol w="1010225"/>
                <a:gridCol w="101022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102.4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312.5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9" name="Google Shape;2409;p155"/>
          <p:cNvSpPr txBox="1"/>
          <p:nvPr/>
        </p:nvSpPr>
        <p:spPr>
          <a:xfrm>
            <a:off x="2887200" y="4090695"/>
            <a:ext cx="55383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population was under one hundred thousand three years before the study began.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p156"/>
          <p:cNvSpPr txBox="1"/>
          <p:nvPr>
            <p:ph idx="1" type="body"/>
          </p:nvPr>
        </p:nvSpPr>
        <p:spPr>
          <a:xfrm>
            <a:off x="324000" y="1080000"/>
            <a:ext cx="8113800" cy="23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Sequences can apply in the modelling of many situations. We can use those models to move forwards and backwards and make predictions of the future and the past.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Some concrete models have physical </a:t>
            </a:r>
            <a:r>
              <a:rPr lang="en-GB"/>
              <a:t>limits</a:t>
            </a:r>
            <a:r>
              <a:rPr lang="en-GB"/>
              <a:t> but in mathematics we can model</a:t>
            </a:r>
            <a:r>
              <a:rPr lang="en-GB"/>
              <a:t> abstract sequences and they may be infinite as well as having negative values.</a:t>
            </a:r>
            <a:endParaRPr sz="2400"/>
          </a:p>
        </p:txBody>
      </p:sp>
      <p:sp>
        <p:nvSpPr>
          <p:cNvPr id="2415" name="Google Shape;2415;p1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thinking about sequences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9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15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421" name="Google Shape;2421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