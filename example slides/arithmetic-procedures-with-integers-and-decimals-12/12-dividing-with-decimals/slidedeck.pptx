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2" r:id="rId4"/>
    <p:sldMasterId id="21474837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BB1200-652E-41C6-A384-FE8306D777DB}">
  <a:tblStyle styleId="{8ABB1200-652E-41C6-A384-FE8306D777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8bd8a3dd69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8bd8a3dd69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2932cc8f1c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2932cc8f1c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8bd8a3dd69_0_1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8bd8a3dd69_0_1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28bd8a3dd69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28bd8a3dd69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28bd8a3dd69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28bd8a3dd69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9332cda26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9332cda26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9332cda26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9332cda26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29332cda26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29332cda26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29332cda26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9332cda2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9332cda26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9332cda26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29332cda26e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29332cda26e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8bd8a3dd69_0_2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8bd8a3dd69_0_2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29332cda26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29332cda26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29332cda26e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29332cda26e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9332cda26e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9332cda26e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29332cda26e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29332cda26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29332cda26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29332cda26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29332cda26e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9332cda26e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29332cda26e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29332cda26e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29395965a4d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29395965a4d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29395965a4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29395965a4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9395965a4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9395965a4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29332cda26e_4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29332cda26e_4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9395965a4d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9395965a4d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29395965a4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29395965a4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g29395965a4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1" name="Google Shape;2201;g29395965a4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g29395965a4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5" name="Google Shape;2215;g29395965a4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g29395965a4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9" name="Google Shape;2229;g29395965a4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g29395965a4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3" name="Google Shape;2243;g29395965a4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29395965a4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29395965a4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8" name="Google Shape;227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Relationship Id="rId4" Type="http://schemas.openxmlformats.org/officeDocument/2006/relationships/image" Target="../media/image87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7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7.png"/><Relationship Id="rId4" Type="http://schemas.openxmlformats.org/officeDocument/2006/relationships/image" Target="../media/image29.png"/><Relationship Id="rId11" Type="http://schemas.openxmlformats.org/officeDocument/2006/relationships/image" Target="../media/image18.png"/><Relationship Id="rId10" Type="http://schemas.openxmlformats.org/officeDocument/2006/relationships/image" Target="../media/image36.png"/><Relationship Id="rId9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Relationship Id="rId4" Type="http://schemas.openxmlformats.org/officeDocument/2006/relationships/image" Target="../media/image87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18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87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87.png"/><Relationship Id="rId4" Type="http://schemas.openxmlformats.org/officeDocument/2006/relationships/image" Target="../media/image29.png"/><Relationship Id="rId11" Type="http://schemas.openxmlformats.org/officeDocument/2006/relationships/image" Target="../media/image18.png"/><Relationship Id="rId10" Type="http://schemas.openxmlformats.org/officeDocument/2006/relationships/image" Target="../media/image36.png"/><Relationship Id="rId9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5" name="Google Shape;75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3" name="Google Shape;7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5" name="Google Shape;765;p6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0" name="Google Shape;77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8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9" name="Google Shape;7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1" name="Google Shape;781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2" name="Google Shape;78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6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4" name="Google Shape;784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8" name="Google Shape;78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5" name="Google Shape;79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7" name="Google Shape;7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1" name="Google Shape;801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3" name="Google Shape;803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8" name="Google Shape;808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0" name="Google Shape;81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7" name="Google Shape;8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0" name="Google Shape;82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2" name="Google Shape;822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9" name="Google Shape;82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75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2" name="Google Shape;842;p7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3" name="Google Shape;843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4" name="Google Shape;844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5" name="Google Shape;845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6" name="Google Shape;846;p75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0" name="Google Shape;85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76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6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4" name="Google Shape;864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8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8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78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8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9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9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9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9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80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80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80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80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8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8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3" name="Google Shape;893;p8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4" name="Google Shape;894;p8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8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2"/>
          <p:cNvCxnSpPr>
            <a:endCxn id="90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3" name="Google Shape;9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2" name="Google Shape;90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2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6" name="Google Shape;916;p83"/>
          <p:cNvCxnSpPr>
            <a:endCxn id="91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7" name="Google Shape;91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8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2" name="Google Shape;92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4" name="Google Shape;924;p83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4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8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7" name="Google Shape;93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1" name="Google Shape;941;p84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4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4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4" name="Google Shape;944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84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6" name="Google Shape;9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2" name="Google Shape;982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4" name="Google Shape;98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5" name="Google Shape;98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8" name="Google Shape;98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2" name="Google Shape;992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5" name="Google Shape;995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7" name="Google Shape;997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8" name="Google Shape;998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1" name="Google Shape;100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1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5" name="Google Shape;1005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8" name="Google Shape;1008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0" name="Google Shape;1010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1" name="Google Shape;1011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3" name="Google Shape;1013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4" name="Google Shape;10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8" name="Google Shape;101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1" name="Google Shape;1021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3" name="Google Shape;1023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4" name="Google Shape;102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6" name="Google Shape;1026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7" name="Google Shape;102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0" name="Google Shape;1040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1" name="Google Shape;1041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3" name="Google Shape;104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6" name="Google Shape;1046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7" name="Google Shape;1047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0" name="Google Shape;1050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0" name="Google Shape;106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5" name="Google Shape;1065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6" name="Google Shape;106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9" name="Google Shape;106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1" name="Google Shape;107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2" name="Google Shape;1082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3" name="Google Shape;1083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6" name="Google Shape;1086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7" name="Google Shape;1087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8" name="Google Shape;1088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9" name="Google Shape;10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2" name="Google Shape;109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4" name="Google Shape;109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5" name="Google Shape;1105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6" name="Google Shape;110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0" name="Google Shape;1110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1" name="Google Shape;1111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2" name="Google Shape;111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5" name="Google Shape;111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7" name="Google Shape;111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5" name="Google Shape;112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8" name="Google Shape;1128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9" name="Google Shape;1129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1" name="Google Shape;1131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2" name="Google Shape;113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5" name="Google Shape;113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8" name="Google Shape;113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0" name="Google Shape;1150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1" name="Google Shape;115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4" name="Google Shape;115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7" name="Google Shape;115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3" name="Google Shape;116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7" name="Google Shape;1167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9" name="Google Shape;1169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0" name="Google Shape;117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3" name="Google Shape;117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6" name="Google Shape;117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2" name="Google Shape;118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5" name="Google Shape;1185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6" name="Google Shape;1186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8" name="Google Shape;1188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9" name="Google Shape;118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2" name="Google Shape;119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5" name="Google Shape;119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1" name="Google Shape;120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4" name="Google Shape;1204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5" name="Google Shape;1205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8" name="Google Shape;120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5" name="Google Shape;121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8" name="Google Shape;121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4" name="Google Shape;122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8" name="Google Shape;1228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1" name="Google Shape;1231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1" name="Google Shape;1251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4" name="Google Shape;1254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4" name="Google Shape;126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3" name="Google Shape;1273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7" name="Google Shape;1277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" name="Google Shape;1290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3" name="Google Shape;129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6" name="Google Shape;129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7" name="Google Shape;129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8" name="Google Shape;129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9" name="Google Shape;1299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8" name="Google Shape;1318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1" name="Google Shape;133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4" name="Google Shape;1334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7" name="Google Shape;1337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3" name="Google Shape;1343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0" name="Google Shape;135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3" name="Google Shape;1353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5" name="Google Shape;1355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6" name="Google Shape;1356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3" name="Google Shape;136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7" name="Google Shape;1397;p113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9" name="Google Shape;139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4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5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6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7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1" name="Google Shape;143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9" name="Google Shape;143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0" name="Google Shape;144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9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20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1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22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5" name="Google Shape;1465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7" name="Google Shape;1467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2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2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2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25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2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62" Type="http://schemas.openxmlformats.org/officeDocument/2006/relationships/slideLayout" Target="../slideLayouts/slideLayout123.xml"/><Relationship Id="rId61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81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60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1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74.xml"/><Relationship Id="rId5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73.xml"/><Relationship Id="rId5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75.xml"/><Relationship Id="rId5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  <p:sldLayoutId id="2147483770" r:id="rId62"/>
    <p:sldLayoutId id="214748377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5.png"/><Relationship Id="rId4" Type="http://schemas.openxmlformats.org/officeDocument/2006/relationships/image" Target="../media/image9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9.png"/><Relationship Id="rId4" Type="http://schemas.openxmlformats.org/officeDocument/2006/relationships/image" Target="../media/image96.png"/><Relationship Id="rId9" Type="http://schemas.openxmlformats.org/officeDocument/2006/relationships/image" Target="../media/image103.png"/><Relationship Id="rId5" Type="http://schemas.openxmlformats.org/officeDocument/2006/relationships/image" Target="../media/image100.png"/><Relationship Id="rId6" Type="http://schemas.openxmlformats.org/officeDocument/2006/relationships/image" Target="../media/image97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5.png"/><Relationship Id="rId4" Type="http://schemas.openxmlformats.org/officeDocument/2006/relationships/image" Target="../media/image104.png"/><Relationship Id="rId5" Type="http://schemas.openxmlformats.org/officeDocument/2006/relationships/image" Target="../media/image107.png"/><Relationship Id="rId6" Type="http://schemas.openxmlformats.org/officeDocument/2006/relationships/image" Target="../media/image10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8.png"/><Relationship Id="rId4" Type="http://schemas.openxmlformats.org/officeDocument/2006/relationships/image" Target="../media/image113.png"/><Relationship Id="rId5" Type="http://schemas.openxmlformats.org/officeDocument/2006/relationships/image" Target="../media/image1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2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3.png"/><Relationship Id="rId7" Type="http://schemas.openxmlformats.org/officeDocument/2006/relationships/image" Target="../media/image123.png"/><Relationship Id="rId8" Type="http://schemas.openxmlformats.org/officeDocument/2006/relationships/image" Target="../media/image1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8.png"/><Relationship Id="rId4" Type="http://schemas.openxmlformats.org/officeDocument/2006/relationships/image" Target="../media/image129.png"/><Relationship Id="rId9" Type="http://schemas.openxmlformats.org/officeDocument/2006/relationships/image" Target="../media/image131.png"/><Relationship Id="rId5" Type="http://schemas.openxmlformats.org/officeDocument/2006/relationships/image" Target="../media/image128.png"/><Relationship Id="rId6" Type="http://schemas.openxmlformats.org/officeDocument/2006/relationships/image" Target="../media/image133.png"/><Relationship Id="rId7" Type="http://schemas.openxmlformats.org/officeDocument/2006/relationships/image" Target="../media/image132.png"/><Relationship Id="rId8" Type="http://schemas.openxmlformats.org/officeDocument/2006/relationships/image" Target="../media/image127.png"/><Relationship Id="rId20" Type="http://schemas.openxmlformats.org/officeDocument/2006/relationships/image" Target="../media/image141.png"/><Relationship Id="rId22" Type="http://schemas.openxmlformats.org/officeDocument/2006/relationships/image" Target="../media/image140.png"/><Relationship Id="rId21" Type="http://schemas.openxmlformats.org/officeDocument/2006/relationships/image" Target="../media/image142.png"/><Relationship Id="rId11" Type="http://schemas.openxmlformats.org/officeDocument/2006/relationships/image" Target="../media/image130.png"/><Relationship Id="rId10" Type="http://schemas.openxmlformats.org/officeDocument/2006/relationships/image" Target="../media/image124.png"/><Relationship Id="rId13" Type="http://schemas.openxmlformats.org/officeDocument/2006/relationships/image" Target="../media/image126.png"/><Relationship Id="rId12" Type="http://schemas.openxmlformats.org/officeDocument/2006/relationships/image" Target="../media/image125.png"/><Relationship Id="rId15" Type="http://schemas.openxmlformats.org/officeDocument/2006/relationships/image" Target="../media/image135.png"/><Relationship Id="rId14" Type="http://schemas.openxmlformats.org/officeDocument/2006/relationships/image" Target="../media/image134.png"/><Relationship Id="rId17" Type="http://schemas.openxmlformats.org/officeDocument/2006/relationships/image" Target="../media/image137.png"/><Relationship Id="rId16" Type="http://schemas.openxmlformats.org/officeDocument/2006/relationships/image" Target="../media/image136.png"/><Relationship Id="rId19" Type="http://schemas.openxmlformats.org/officeDocument/2006/relationships/image" Target="../media/image139.png"/><Relationship Id="rId18" Type="http://schemas.openxmlformats.org/officeDocument/2006/relationships/image" Target="../media/image1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8.png"/><Relationship Id="rId4" Type="http://schemas.openxmlformats.org/officeDocument/2006/relationships/image" Target="../media/image129.png"/><Relationship Id="rId9" Type="http://schemas.openxmlformats.org/officeDocument/2006/relationships/image" Target="../media/image131.png"/><Relationship Id="rId5" Type="http://schemas.openxmlformats.org/officeDocument/2006/relationships/image" Target="../media/image128.png"/><Relationship Id="rId6" Type="http://schemas.openxmlformats.org/officeDocument/2006/relationships/image" Target="../media/image133.png"/><Relationship Id="rId7" Type="http://schemas.openxmlformats.org/officeDocument/2006/relationships/image" Target="../media/image132.png"/><Relationship Id="rId8" Type="http://schemas.openxmlformats.org/officeDocument/2006/relationships/image" Target="../media/image127.png"/><Relationship Id="rId20" Type="http://schemas.openxmlformats.org/officeDocument/2006/relationships/image" Target="../media/image141.png"/><Relationship Id="rId22" Type="http://schemas.openxmlformats.org/officeDocument/2006/relationships/image" Target="../media/image140.png"/><Relationship Id="rId21" Type="http://schemas.openxmlformats.org/officeDocument/2006/relationships/image" Target="../media/image142.png"/><Relationship Id="rId11" Type="http://schemas.openxmlformats.org/officeDocument/2006/relationships/image" Target="../media/image130.png"/><Relationship Id="rId10" Type="http://schemas.openxmlformats.org/officeDocument/2006/relationships/image" Target="../media/image124.png"/><Relationship Id="rId13" Type="http://schemas.openxmlformats.org/officeDocument/2006/relationships/image" Target="../media/image126.png"/><Relationship Id="rId12" Type="http://schemas.openxmlformats.org/officeDocument/2006/relationships/image" Target="../media/image125.png"/><Relationship Id="rId15" Type="http://schemas.openxmlformats.org/officeDocument/2006/relationships/image" Target="../media/image135.png"/><Relationship Id="rId14" Type="http://schemas.openxmlformats.org/officeDocument/2006/relationships/image" Target="../media/image134.png"/><Relationship Id="rId17" Type="http://schemas.openxmlformats.org/officeDocument/2006/relationships/image" Target="../media/image137.png"/><Relationship Id="rId16" Type="http://schemas.openxmlformats.org/officeDocument/2006/relationships/image" Target="../media/image136.png"/><Relationship Id="rId19" Type="http://schemas.openxmlformats.org/officeDocument/2006/relationships/image" Target="../media/image139.png"/><Relationship Id="rId18" Type="http://schemas.openxmlformats.org/officeDocument/2006/relationships/image" Target="../media/image1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7.png"/><Relationship Id="rId4" Type="http://schemas.openxmlformats.org/officeDocument/2006/relationships/image" Target="../media/image1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1.png"/><Relationship Id="rId4" Type="http://schemas.openxmlformats.org/officeDocument/2006/relationships/image" Target="../media/image1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6.png"/><Relationship Id="rId4" Type="http://schemas.openxmlformats.org/officeDocument/2006/relationships/image" Target="../media/image143.png"/><Relationship Id="rId5" Type="http://schemas.openxmlformats.org/officeDocument/2006/relationships/image" Target="../media/image149.png"/><Relationship Id="rId6" Type="http://schemas.openxmlformats.org/officeDocument/2006/relationships/image" Target="../media/image1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0.png"/><Relationship Id="rId4" Type="http://schemas.openxmlformats.org/officeDocument/2006/relationships/image" Target="../media/image1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7.png"/><Relationship Id="rId4" Type="http://schemas.openxmlformats.org/officeDocument/2006/relationships/image" Target="../media/image1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7.png"/><Relationship Id="rId4" Type="http://schemas.openxmlformats.org/officeDocument/2006/relationships/image" Target="../media/image153.png"/><Relationship Id="rId9" Type="http://schemas.openxmlformats.org/officeDocument/2006/relationships/image" Target="../media/image159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58.png"/><Relationship Id="rId8" Type="http://schemas.openxmlformats.org/officeDocument/2006/relationships/image" Target="../media/image161.png"/><Relationship Id="rId10" Type="http://schemas.openxmlformats.org/officeDocument/2006/relationships/image" Target="../media/image16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7.png"/><Relationship Id="rId4" Type="http://schemas.openxmlformats.org/officeDocument/2006/relationships/image" Target="../media/image153.png"/><Relationship Id="rId9" Type="http://schemas.openxmlformats.org/officeDocument/2006/relationships/image" Target="../media/image160.png"/><Relationship Id="rId5" Type="http://schemas.openxmlformats.org/officeDocument/2006/relationships/image" Target="../media/image163.png"/><Relationship Id="rId6" Type="http://schemas.openxmlformats.org/officeDocument/2006/relationships/image" Target="../media/image158.png"/><Relationship Id="rId7" Type="http://schemas.openxmlformats.org/officeDocument/2006/relationships/image" Target="../media/image165.png"/><Relationship Id="rId8" Type="http://schemas.openxmlformats.org/officeDocument/2006/relationships/image" Target="../media/image159.png"/><Relationship Id="rId10" Type="http://schemas.openxmlformats.org/officeDocument/2006/relationships/image" Target="../media/image1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7.png"/><Relationship Id="rId4" Type="http://schemas.openxmlformats.org/officeDocument/2006/relationships/image" Target="../media/image153.png"/><Relationship Id="rId9" Type="http://schemas.openxmlformats.org/officeDocument/2006/relationships/image" Target="../media/image160.png"/><Relationship Id="rId5" Type="http://schemas.openxmlformats.org/officeDocument/2006/relationships/image" Target="../media/image162.png"/><Relationship Id="rId6" Type="http://schemas.openxmlformats.org/officeDocument/2006/relationships/image" Target="../media/image158.png"/><Relationship Id="rId7" Type="http://schemas.openxmlformats.org/officeDocument/2006/relationships/image" Target="../media/image165.png"/><Relationship Id="rId8" Type="http://schemas.openxmlformats.org/officeDocument/2006/relationships/image" Target="../media/image161.png"/><Relationship Id="rId10" Type="http://schemas.openxmlformats.org/officeDocument/2006/relationships/image" Target="../media/image16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7.png"/><Relationship Id="rId4" Type="http://schemas.openxmlformats.org/officeDocument/2006/relationships/image" Target="../media/image153.png"/><Relationship Id="rId9" Type="http://schemas.openxmlformats.org/officeDocument/2006/relationships/image" Target="../media/image160.png"/><Relationship Id="rId5" Type="http://schemas.openxmlformats.org/officeDocument/2006/relationships/image" Target="../media/image163.png"/><Relationship Id="rId6" Type="http://schemas.openxmlformats.org/officeDocument/2006/relationships/image" Target="../media/image158.png"/><Relationship Id="rId7" Type="http://schemas.openxmlformats.org/officeDocument/2006/relationships/image" Target="../media/image165.png"/><Relationship Id="rId8" Type="http://schemas.openxmlformats.org/officeDocument/2006/relationships/image" Target="../media/image159.png"/><Relationship Id="rId10" Type="http://schemas.openxmlformats.org/officeDocument/2006/relationships/image" Target="../media/image16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7.png"/><Relationship Id="rId4" Type="http://schemas.openxmlformats.org/officeDocument/2006/relationships/image" Target="../media/image153.png"/><Relationship Id="rId9" Type="http://schemas.openxmlformats.org/officeDocument/2006/relationships/image" Target="../media/image159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58.png"/><Relationship Id="rId8" Type="http://schemas.openxmlformats.org/officeDocument/2006/relationships/image" Target="../media/image161.png"/><Relationship Id="rId10" Type="http://schemas.openxmlformats.org/officeDocument/2006/relationships/image" Target="../media/image16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7.png"/><Relationship Id="rId4" Type="http://schemas.openxmlformats.org/officeDocument/2006/relationships/image" Target="../media/image153.png"/><Relationship Id="rId9" Type="http://schemas.openxmlformats.org/officeDocument/2006/relationships/image" Target="../media/image160.png"/><Relationship Id="rId5" Type="http://schemas.openxmlformats.org/officeDocument/2006/relationships/image" Target="../media/image163.png"/><Relationship Id="rId6" Type="http://schemas.openxmlformats.org/officeDocument/2006/relationships/image" Target="../media/image158.png"/><Relationship Id="rId7" Type="http://schemas.openxmlformats.org/officeDocument/2006/relationships/image" Target="../media/image165.png"/><Relationship Id="rId8" Type="http://schemas.openxmlformats.org/officeDocument/2006/relationships/image" Target="../media/image159.png"/><Relationship Id="rId10" Type="http://schemas.openxmlformats.org/officeDocument/2006/relationships/image" Target="../media/image16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with decimals</a:t>
            </a:r>
            <a:endParaRPr/>
          </a:p>
        </p:txBody>
      </p:sp>
      <p:sp>
        <p:nvSpPr>
          <p:cNvPr id="1492" name="Google Shape;1492;p12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8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9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generalise and fluently use written division strategies to calculate accurately with decimals.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30\ \div\ 6\ =\ 5&quot;&gt;&lt;mn&gt;30&lt;/mn&gt;&lt;mtext&gt;&lt;/mtext&gt;&lt;mo&gt;÷&lt;/mo&gt;&lt;mtext&gt;&lt;/mtext&gt;&lt;mn&gt;6&lt;/mn&gt;&lt;mtext&gt;&lt;/mtext&gt;&lt;mo&gt;=&lt;/mo&gt;&lt;mtext&gt;&lt;/mtext&gt;&lt;mn&gt;5&lt;/mn&gt;&lt;/math&gt;" id="1507" name="Google Shape;1507;p130" title="30 division sign 6 equals 5"/>
          <p:cNvPicPr preferRelativeResize="0"/>
          <p:nvPr/>
        </p:nvPicPr>
        <p:blipFill rotWithShape="1">
          <a:blip r:embed="rId3">
            <a:alphaModFix/>
          </a:blip>
          <a:srcRect b="0" l="65857" r="0" t="0"/>
          <a:stretch/>
        </p:blipFill>
        <p:spPr>
          <a:xfrm>
            <a:off x="4714142" y="3518700"/>
            <a:ext cx="969125" cy="40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8" name="Google Shape;1508;p130"/>
          <p:cNvCxnSpPr/>
          <p:nvPr/>
        </p:nvCxnSpPr>
        <p:spPr>
          <a:xfrm>
            <a:off x="2054025" y="3028100"/>
            <a:ext cx="744600" cy="454200"/>
          </a:xfrm>
          <a:prstGeom prst="straightConnector1">
            <a:avLst/>
          </a:prstGeom>
          <a:noFill/>
          <a:ln cap="flat" cmpd="sng" w="38100">
            <a:solidFill>
              <a:srgbClr val="BEF2B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9" name="Google Shape;1509;p130"/>
          <p:cNvCxnSpPr/>
          <p:nvPr/>
        </p:nvCxnSpPr>
        <p:spPr>
          <a:xfrm rot="10800000">
            <a:off x="4452025" y="4072350"/>
            <a:ext cx="496500" cy="383700"/>
          </a:xfrm>
          <a:prstGeom prst="straightConnector1">
            <a:avLst/>
          </a:prstGeom>
          <a:noFill/>
          <a:ln cap="flat" cmpd="sng" w="38100">
            <a:solidFill>
              <a:srgbClr val="BEF2B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0" name="Google Shape;1510;p130"/>
          <p:cNvCxnSpPr/>
          <p:nvPr/>
        </p:nvCxnSpPr>
        <p:spPr>
          <a:xfrm flipH="1">
            <a:off x="5829150" y="3161100"/>
            <a:ext cx="775200" cy="357600"/>
          </a:xfrm>
          <a:prstGeom prst="straightConnector1">
            <a:avLst/>
          </a:prstGeom>
          <a:noFill/>
          <a:ln cap="flat" cmpd="sng" w="38100">
            <a:solidFill>
              <a:srgbClr val="BEF2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1" name="Google Shape;1511;p130"/>
          <p:cNvSpPr txBox="1"/>
          <p:nvPr/>
        </p:nvSpPr>
        <p:spPr>
          <a:xfrm>
            <a:off x="890775" y="2699400"/>
            <a:ext cx="17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dividend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30"/>
          <p:cNvSpPr txBox="1"/>
          <p:nvPr/>
        </p:nvSpPr>
        <p:spPr>
          <a:xfrm>
            <a:off x="4525325" y="4456050"/>
            <a:ext cx="10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divisor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30"/>
          <p:cNvSpPr txBox="1"/>
          <p:nvPr/>
        </p:nvSpPr>
        <p:spPr>
          <a:xfrm>
            <a:off x="6650400" y="2697750"/>
            <a:ext cx="17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quotient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0\ \div\ 6\ =\ 5&quot;&gt;&lt;mn&gt;30&lt;/mn&gt;&lt;mtext&gt;&lt;/mtext&gt;&lt;mo&gt;÷&lt;/mo&gt;&lt;mtext&gt;&lt;/mtext&gt;&lt;mn&gt;6&lt;/mn&gt;&lt;mtext&gt;&lt;/mtext&gt;&lt;mo&gt;=&lt;/mo&gt;&lt;mtext&gt;&lt;/mtext&gt;&lt;mn&gt;5&lt;/mn&gt;&lt;/math&gt;" id="1514" name="Google Shape;1514;p130" title="30 division sign 6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499" y="3518700"/>
            <a:ext cx="28384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30"/>
          <p:cNvSpPr txBox="1"/>
          <p:nvPr/>
        </p:nvSpPr>
        <p:spPr>
          <a:xfrm>
            <a:off x="317850" y="1191300"/>
            <a:ext cx="758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Dividend is the number we are dividing.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30"/>
          <p:cNvSpPr txBox="1"/>
          <p:nvPr/>
        </p:nvSpPr>
        <p:spPr>
          <a:xfrm>
            <a:off x="311700" y="1668963"/>
            <a:ext cx="758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divisor is the number by which the dividend is divided.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30"/>
          <p:cNvSpPr txBox="1"/>
          <p:nvPr/>
        </p:nvSpPr>
        <p:spPr>
          <a:xfrm>
            <a:off x="311700" y="2161575"/>
            <a:ext cx="757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quotient is the integer result of division.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30"/>
          <p:cNvSpPr txBox="1"/>
          <p:nvPr/>
        </p:nvSpPr>
        <p:spPr>
          <a:xfrm>
            <a:off x="311700" y="698700"/>
            <a:ext cx="760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Division is the inverse operation to multiplication.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31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sp>
        <p:nvSpPr>
          <p:cNvPr id="1524" name="Google Shape;1524;p131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</p:txBody>
      </p:sp>
      <p:sp>
        <p:nvSpPr>
          <p:cNvPr id="1525" name="Google Shape;1525;p131"/>
          <p:cNvSpPr txBox="1"/>
          <p:nvPr>
            <p:ph idx="3" type="title"/>
          </p:nvPr>
        </p:nvSpPr>
        <p:spPr>
          <a:xfrm>
            <a:off x="324000" y="7338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with decimals</a:t>
            </a:r>
            <a:endParaRPr/>
          </a:p>
        </p:txBody>
      </p:sp>
      <p:pic>
        <p:nvPicPr>
          <p:cNvPr id="1526" name="Google Shape;152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2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sp>
        <p:nvSpPr>
          <p:cNvPr id="1532" name="Google Shape;1532;p132"/>
          <p:cNvSpPr txBox="1"/>
          <p:nvPr>
            <p:ph idx="4294967295" type="subTitle"/>
          </p:nvPr>
        </p:nvSpPr>
        <p:spPr>
          <a:xfrm>
            <a:off x="450625" y="836400"/>
            <a:ext cx="779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Operations can be written and notated in different ways.</a:t>
            </a:r>
            <a:endParaRPr b="0"/>
          </a:p>
        </p:txBody>
      </p:sp>
      <p:sp>
        <p:nvSpPr>
          <p:cNvPr id="1533" name="Google Shape;1533;p132"/>
          <p:cNvSpPr txBox="1"/>
          <p:nvPr>
            <p:ph idx="4294967295" type="subTitle"/>
          </p:nvPr>
        </p:nvSpPr>
        <p:spPr>
          <a:xfrm>
            <a:off x="450625" y="1535600"/>
            <a:ext cx="1317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Example:</a:t>
            </a:r>
            <a:endParaRPr b="0"/>
          </a:p>
        </p:txBody>
      </p:sp>
      <p:sp>
        <p:nvSpPr>
          <p:cNvPr id="1534" name="Google Shape;1534;p132"/>
          <p:cNvSpPr txBox="1"/>
          <p:nvPr>
            <p:ph idx="4294967295" type="subTitle"/>
          </p:nvPr>
        </p:nvSpPr>
        <p:spPr>
          <a:xfrm>
            <a:off x="483920" y="2539600"/>
            <a:ext cx="2569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+ 6 + 6 + 6 + 6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5" name="Google Shape;1535;p132"/>
          <p:cNvSpPr txBox="1"/>
          <p:nvPr>
            <p:ph idx="4294967295" type="subTitle"/>
          </p:nvPr>
        </p:nvSpPr>
        <p:spPr>
          <a:xfrm>
            <a:off x="2962850" y="4128225"/>
            <a:ext cx="336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+ 5 + 5 + 5 + 5 + 5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132"/>
          <p:cNvSpPr txBox="1"/>
          <p:nvPr>
            <p:ph idx="4294967295" type="subTitle"/>
          </p:nvPr>
        </p:nvSpPr>
        <p:spPr>
          <a:xfrm>
            <a:off x="450625" y="1998113"/>
            <a:ext cx="6441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different ways can </a:t>
            </a:r>
            <a:r>
              <a:rPr lang="en-GB"/>
              <a:t>5 ✕ 6  be written?</a:t>
            </a:r>
            <a:r>
              <a:rPr lang="en-GB"/>
              <a:t> </a:t>
            </a:r>
            <a:endParaRPr b="0"/>
          </a:p>
        </p:txBody>
      </p:sp>
      <p:grpSp>
        <p:nvGrpSpPr>
          <p:cNvPr id="1537" name="Google Shape;1537;p132"/>
          <p:cNvGrpSpPr/>
          <p:nvPr/>
        </p:nvGrpSpPr>
        <p:grpSpPr>
          <a:xfrm>
            <a:off x="808551" y="2962987"/>
            <a:ext cx="1238100" cy="1446064"/>
            <a:chOff x="450626" y="3647013"/>
            <a:chExt cx="1238100" cy="1446064"/>
          </a:xfrm>
        </p:grpSpPr>
        <p:sp>
          <p:nvSpPr>
            <p:cNvPr id="1538" name="Google Shape;1538;p132"/>
            <p:cNvSpPr/>
            <p:nvPr/>
          </p:nvSpPr>
          <p:spPr>
            <a:xfrm>
              <a:off x="450626" y="36470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9" name="Google Shape;1539;p132"/>
            <p:cNvSpPr/>
            <p:nvPr/>
          </p:nvSpPr>
          <p:spPr>
            <a:xfrm>
              <a:off x="696337" y="36470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0" name="Google Shape;1540;p132"/>
            <p:cNvSpPr/>
            <p:nvPr/>
          </p:nvSpPr>
          <p:spPr>
            <a:xfrm>
              <a:off x="947751" y="36470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1" name="Google Shape;1541;p132"/>
            <p:cNvSpPr/>
            <p:nvPr/>
          </p:nvSpPr>
          <p:spPr>
            <a:xfrm>
              <a:off x="1206923" y="36470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2" name="Google Shape;1542;p132"/>
            <p:cNvSpPr/>
            <p:nvPr/>
          </p:nvSpPr>
          <p:spPr>
            <a:xfrm>
              <a:off x="1458337" y="36470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3" name="Google Shape;1543;p132"/>
            <p:cNvSpPr/>
            <p:nvPr/>
          </p:nvSpPr>
          <p:spPr>
            <a:xfrm>
              <a:off x="455308" y="38890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4" name="Google Shape;1544;p132"/>
            <p:cNvSpPr/>
            <p:nvPr/>
          </p:nvSpPr>
          <p:spPr>
            <a:xfrm>
              <a:off x="701019" y="38890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5" name="Google Shape;1545;p132"/>
            <p:cNvSpPr/>
            <p:nvPr/>
          </p:nvSpPr>
          <p:spPr>
            <a:xfrm>
              <a:off x="952433" y="38890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6" name="Google Shape;1546;p132"/>
            <p:cNvSpPr/>
            <p:nvPr/>
          </p:nvSpPr>
          <p:spPr>
            <a:xfrm>
              <a:off x="1211605" y="38890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7" name="Google Shape;1547;p132"/>
            <p:cNvSpPr/>
            <p:nvPr/>
          </p:nvSpPr>
          <p:spPr>
            <a:xfrm>
              <a:off x="1463019" y="38890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132"/>
            <p:cNvSpPr/>
            <p:nvPr/>
          </p:nvSpPr>
          <p:spPr>
            <a:xfrm>
              <a:off x="455308" y="413682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9" name="Google Shape;1549;p132"/>
            <p:cNvSpPr/>
            <p:nvPr/>
          </p:nvSpPr>
          <p:spPr>
            <a:xfrm>
              <a:off x="701019" y="413682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0" name="Google Shape;1550;p132"/>
            <p:cNvSpPr/>
            <p:nvPr/>
          </p:nvSpPr>
          <p:spPr>
            <a:xfrm>
              <a:off x="952433" y="413682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1" name="Google Shape;1551;p132"/>
            <p:cNvSpPr/>
            <p:nvPr/>
          </p:nvSpPr>
          <p:spPr>
            <a:xfrm>
              <a:off x="1211605" y="413682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2" name="Google Shape;1552;p132"/>
            <p:cNvSpPr/>
            <p:nvPr/>
          </p:nvSpPr>
          <p:spPr>
            <a:xfrm>
              <a:off x="1463019" y="413682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3" name="Google Shape;1553;p132"/>
            <p:cNvSpPr/>
            <p:nvPr/>
          </p:nvSpPr>
          <p:spPr>
            <a:xfrm>
              <a:off x="457633" y="43845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4" name="Google Shape;1554;p132"/>
            <p:cNvSpPr/>
            <p:nvPr/>
          </p:nvSpPr>
          <p:spPr>
            <a:xfrm>
              <a:off x="703344" y="43845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5" name="Google Shape;1555;p132"/>
            <p:cNvSpPr/>
            <p:nvPr/>
          </p:nvSpPr>
          <p:spPr>
            <a:xfrm>
              <a:off x="954758" y="43845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6" name="Google Shape;1556;p132"/>
            <p:cNvSpPr/>
            <p:nvPr/>
          </p:nvSpPr>
          <p:spPr>
            <a:xfrm>
              <a:off x="1213930" y="43845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132"/>
            <p:cNvSpPr/>
            <p:nvPr/>
          </p:nvSpPr>
          <p:spPr>
            <a:xfrm>
              <a:off x="1465344" y="438456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132"/>
            <p:cNvSpPr/>
            <p:nvPr/>
          </p:nvSpPr>
          <p:spPr>
            <a:xfrm>
              <a:off x="462315" y="46266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9" name="Google Shape;1559;p132"/>
            <p:cNvSpPr/>
            <p:nvPr/>
          </p:nvSpPr>
          <p:spPr>
            <a:xfrm>
              <a:off x="708026" y="46266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0" name="Google Shape;1560;p132"/>
            <p:cNvSpPr/>
            <p:nvPr/>
          </p:nvSpPr>
          <p:spPr>
            <a:xfrm>
              <a:off x="959441" y="46266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1" name="Google Shape;1561;p132"/>
            <p:cNvSpPr/>
            <p:nvPr/>
          </p:nvSpPr>
          <p:spPr>
            <a:xfrm>
              <a:off x="1218612" y="46266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2" name="Google Shape;1562;p132"/>
            <p:cNvSpPr/>
            <p:nvPr/>
          </p:nvSpPr>
          <p:spPr>
            <a:xfrm>
              <a:off x="1470026" y="4626613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132"/>
            <p:cNvSpPr/>
            <p:nvPr/>
          </p:nvSpPr>
          <p:spPr>
            <a:xfrm>
              <a:off x="462315" y="487437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132"/>
            <p:cNvSpPr/>
            <p:nvPr/>
          </p:nvSpPr>
          <p:spPr>
            <a:xfrm>
              <a:off x="708026" y="487437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132"/>
            <p:cNvSpPr/>
            <p:nvPr/>
          </p:nvSpPr>
          <p:spPr>
            <a:xfrm>
              <a:off x="959441" y="487437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132"/>
            <p:cNvSpPr/>
            <p:nvPr/>
          </p:nvSpPr>
          <p:spPr>
            <a:xfrm>
              <a:off x="1218612" y="487437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132"/>
            <p:cNvSpPr/>
            <p:nvPr/>
          </p:nvSpPr>
          <p:spPr>
            <a:xfrm>
              <a:off x="1470026" y="487437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8" name="Google Shape;1568;p132"/>
          <p:cNvGrpSpPr/>
          <p:nvPr/>
        </p:nvGrpSpPr>
        <p:grpSpPr>
          <a:xfrm>
            <a:off x="3938989" y="2640838"/>
            <a:ext cx="1485864" cy="1198300"/>
            <a:chOff x="5031464" y="2640838"/>
            <a:chExt cx="1485864" cy="1198300"/>
          </a:xfrm>
        </p:grpSpPr>
        <p:sp>
          <p:nvSpPr>
            <p:cNvPr id="1569" name="Google Shape;1569;p132"/>
            <p:cNvSpPr/>
            <p:nvPr/>
          </p:nvSpPr>
          <p:spPr>
            <a:xfrm>
              <a:off x="5031464" y="26408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132"/>
            <p:cNvSpPr/>
            <p:nvPr/>
          </p:nvSpPr>
          <p:spPr>
            <a:xfrm>
              <a:off x="5277174" y="26408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132"/>
            <p:cNvSpPr/>
            <p:nvPr/>
          </p:nvSpPr>
          <p:spPr>
            <a:xfrm>
              <a:off x="5528589" y="26408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132"/>
            <p:cNvSpPr/>
            <p:nvPr/>
          </p:nvSpPr>
          <p:spPr>
            <a:xfrm>
              <a:off x="5787760" y="26408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3" name="Google Shape;1573;p132"/>
            <p:cNvSpPr/>
            <p:nvPr/>
          </p:nvSpPr>
          <p:spPr>
            <a:xfrm>
              <a:off x="6039174" y="26408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4" name="Google Shape;1574;p132"/>
            <p:cNvSpPr/>
            <p:nvPr/>
          </p:nvSpPr>
          <p:spPr>
            <a:xfrm>
              <a:off x="5036146" y="28828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5" name="Google Shape;1575;p132"/>
            <p:cNvSpPr/>
            <p:nvPr/>
          </p:nvSpPr>
          <p:spPr>
            <a:xfrm>
              <a:off x="5281857" y="28828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132"/>
            <p:cNvSpPr/>
            <p:nvPr/>
          </p:nvSpPr>
          <p:spPr>
            <a:xfrm>
              <a:off x="5533271" y="28828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132"/>
            <p:cNvSpPr/>
            <p:nvPr/>
          </p:nvSpPr>
          <p:spPr>
            <a:xfrm>
              <a:off x="5792442" y="28828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132"/>
            <p:cNvSpPr/>
            <p:nvPr/>
          </p:nvSpPr>
          <p:spPr>
            <a:xfrm>
              <a:off x="6043857" y="28828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9" name="Google Shape;1579;p132"/>
            <p:cNvSpPr/>
            <p:nvPr/>
          </p:nvSpPr>
          <p:spPr>
            <a:xfrm>
              <a:off x="5036146" y="313065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132"/>
            <p:cNvSpPr/>
            <p:nvPr/>
          </p:nvSpPr>
          <p:spPr>
            <a:xfrm>
              <a:off x="5281857" y="313065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1" name="Google Shape;1581;p132"/>
            <p:cNvSpPr/>
            <p:nvPr/>
          </p:nvSpPr>
          <p:spPr>
            <a:xfrm>
              <a:off x="5533271" y="313065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2" name="Google Shape;1582;p132"/>
            <p:cNvSpPr/>
            <p:nvPr/>
          </p:nvSpPr>
          <p:spPr>
            <a:xfrm>
              <a:off x="5792442" y="313065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3" name="Google Shape;1583;p132"/>
            <p:cNvSpPr/>
            <p:nvPr/>
          </p:nvSpPr>
          <p:spPr>
            <a:xfrm>
              <a:off x="6043857" y="313065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4" name="Google Shape;1584;p132"/>
            <p:cNvSpPr/>
            <p:nvPr/>
          </p:nvSpPr>
          <p:spPr>
            <a:xfrm>
              <a:off x="5038471" y="33783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5" name="Google Shape;1585;p132"/>
            <p:cNvSpPr/>
            <p:nvPr/>
          </p:nvSpPr>
          <p:spPr>
            <a:xfrm>
              <a:off x="5284182" y="33783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6" name="Google Shape;1586;p132"/>
            <p:cNvSpPr/>
            <p:nvPr/>
          </p:nvSpPr>
          <p:spPr>
            <a:xfrm>
              <a:off x="5535596" y="33783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7" name="Google Shape;1587;p132"/>
            <p:cNvSpPr/>
            <p:nvPr/>
          </p:nvSpPr>
          <p:spPr>
            <a:xfrm>
              <a:off x="5794767" y="33783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8" name="Google Shape;1588;p132"/>
            <p:cNvSpPr/>
            <p:nvPr/>
          </p:nvSpPr>
          <p:spPr>
            <a:xfrm>
              <a:off x="6046182" y="33783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9" name="Google Shape;1589;p132"/>
            <p:cNvSpPr/>
            <p:nvPr/>
          </p:nvSpPr>
          <p:spPr>
            <a:xfrm>
              <a:off x="5043153" y="36204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0" name="Google Shape;1590;p132"/>
            <p:cNvSpPr/>
            <p:nvPr/>
          </p:nvSpPr>
          <p:spPr>
            <a:xfrm>
              <a:off x="5288864" y="36204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1" name="Google Shape;1591;p132"/>
            <p:cNvSpPr/>
            <p:nvPr/>
          </p:nvSpPr>
          <p:spPr>
            <a:xfrm>
              <a:off x="5540278" y="36204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2" name="Google Shape;1592;p132"/>
            <p:cNvSpPr/>
            <p:nvPr/>
          </p:nvSpPr>
          <p:spPr>
            <a:xfrm>
              <a:off x="5799449" y="36204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3" name="Google Shape;1593;p132"/>
            <p:cNvSpPr/>
            <p:nvPr/>
          </p:nvSpPr>
          <p:spPr>
            <a:xfrm>
              <a:off x="6050864" y="36204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4" name="Google Shape;1594;p132"/>
            <p:cNvSpPr/>
            <p:nvPr/>
          </p:nvSpPr>
          <p:spPr>
            <a:xfrm>
              <a:off x="6286938" y="26408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5" name="Google Shape;1595;p132"/>
            <p:cNvSpPr/>
            <p:nvPr/>
          </p:nvSpPr>
          <p:spPr>
            <a:xfrm>
              <a:off x="6291621" y="28828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6" name="Google Shape;1596;p132"/>
            <p:cNvSpPr/>
            <p:nvPr/>
          </p:nvSpPr>
          <p:spPr>
            <a:xfrm>
              <a:off x="6291621" y="313065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7" name="Google Shape;1597;p132"/>
            <p:cNvSpPr/>
            <p:nvPr/>
          </p:nvSpPr>
          <p:spPr>
            <a:xfrm>
              <a:off x="6293946" y="337838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8" name="Google Shape;1598;p132"/>
            <p:cNvSpPr/>
            <p:nvPr/>
          </p:nvSpPr>
          <p:spPr>
            <a:xfrm>
              <a:off x="6298628" y="3620438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9" name="Google Shape;1599;p132"/>
          <p:cNvSpPr txBox="1"/>
          <p:nvPr>
            <p:ph idx="4294967295" type="subTitle"/>
          </p:nvPr>
        </p:nvSpPr>
        <p:spPr>
          <a:xfrm>
            <a:off x="6160200" y="3063175"/>
            <a:ext cx="2659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Product of 5 and 6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sp>
        <p:nvSpPr>
          <p:cNvPr id="1605" name="Google Shape;1605;p133"/>
          <p:cNvSpPr txBox="1"/>
          <p:nvPr>
            <p:ph idx="4294967295" type="subTitle"/>
          </p:nvPr>
        </p:nvSpPr>
        <p:spPr>
          <a:xfrm>
            <a:off x="450625" y="1764200"/>
            <a:ext cx="1594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Example:</a:t>
            </a:r>
            <a:endParaRPr b="0"/>
          </a:p>
        </p:txBody>
      </p:sp>
      <p:sp>
        <p:nvSpPr>
          <p:cNvPr id="1606" name="Google Shape;1606;p133"/>
          <p:cNvSpPr txBox="1"/>
          <p:nvPr>
            <p:ph idx="4294967295" type="subTitle"/>
          </p:nvPr>
        </p:nvSpPr>
        <p:spPr>
          <a:xfrm>
            <a:off x="450625" y="2226713"/>
            <a:ext cx="6441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different ways can 8 ÷ 2  be written? </a:t>
            </a:r>
            <a:endParaRPr b="0"/>
          </a:p>
        </p:txBody>
      </p:sp>
      <p:sp>
        <p:nvSpPr>
          <p:cNvPr id="1607" name="Google Shape;1607;p133"/>
          <p:cNvSpPr txBox="1"/>
          <p:nvPr>
            <p:ph idx="4294967295" type="subTitle"/>
          </p:nvPr>
        </p:nvSpPr>
        <p:spPr>
          <a:xfrm>
            <a:off x="857050" y="2783978"/>
            <a:ext cx="2659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 shared by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8" name="Google Shape;1608;p133"/>
          <p:cNvSpPr txBox="1"/>
          <p:nvPr>
            <p:ph idx="4294967295" type="subTitle"/>
          </p:nvPr>
        </p:nvSpPr>
        <p:spPr>
          <a:xfrm>
            <a:off x="3368400" y="3120578"/>
            <a:ext cx="2659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grouped into 2s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09" name="Google Shape;1609;p133"/>
          <p:cNvGrpSpPr/>
          <p:nvPr/>
        </p:nvGrpSpPr>
        <p:grpSpPr>
          <a:xfrm>
            <a:off x="1037151" y="3226941"/>
            <a:ext cx="225707" cy="956250"/>
            <a:chOff x="1037151" y="3115387"/>
            <a:chExt cx="225707" cy="956250"/>
          </a:xfrm>
        </p:grpSpPr>
        <p:sp>
          <p:nvSpPr>
            <p:cNvPr id="1610" name="Google Shape;1610;p133"/>
            <p:cNvSpPr/>
            <p:nvPr/>
          </p:nvSpPr>
          <p:spPr>
            <a:xfrm>
              <a:off x="1037151" y="311538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1" name="Google Shape;1611;p133"/>
            <p:cNvSpPr/>
            <p:nvPr/>
          </p:nvSpPr>
          <p:spPr>
            <a:xfrm>
              <a:off x="1041833" y="335743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2" name="Google Shape;1612;p133"/>
            <p:cNvSpPr/>
            <p:nvPr/>
          </p:nvSpPr>
          <p:spPr>
            <a:xfrm>
              <a:off x="1041833" y="3605201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3" name="Google Shape;1613;p133"/>
            <p:cNvSpPr/>
            <p:nvPr/>
          </p:nvSpPr>
          <p:spPr>
            <a:xfrm>
              <a:off x="1044158" y="385293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4" name="Google Shape;1614;p133"/>
          <p:cNvGrpSpPr/>
          <p:nvPr/>
        </p:nvGrpSpPr>
        <p:grpSpPr>
          <a:xfrm>
            <a:off x="2044862" y="3226941"/>
            <a:ext cx="225707" cy="956250"/>
            <a:chOff x="2044862" y="3115387"/>
            <a:chExt cx="225707" cy="956250"/>
          </a:xfrm>
        </p:grpSpPr>
        <p:sp>
          <p:nvSpPr>
            <p:cNvPr id="1615" name="Google Shape;1615;p133"/>
            <p:cNvSpPr/>
            <p:nvPr/>
          </p:nvSpPr>
          <p:spPr>
            <a:xfrm>
              <a:off x="2044862" y="311538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6" name="Google Shape;1616;p133"/>
            <p:cNvSpPr/>
            <p:nvPr/>
          </p:nvSpPr>
          <p:spPr>
            <a:xfrm>
              <a:off x="2049544" y="335743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7" name="Google Shape;1617;p133"/>
            <p:cNvSpPr/>
            <p:nvPr/>
          </p:nvSpPr>
          <p:spPr>
            <a:xfrm>
              <a:off x="2049544" y="3605201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8" name="Google Shape;1618;p133"/>
            <p:cNvSpPr/>
            <p:nvPr/>
          </p:nvSpPr>
          <p:spPr>
            <a:xfrm>
              <a:off x="2051869" y="385293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9" name="Google Shape;1619;p133"/>
          <p:cNvGrpSpPr/>
          <p:nvPr/>
        </p:nvGrpSpPr>
        <p:grpSpPr>
          <a:xfrm>
            <a:off x="3425308" y="3661541"/>
            <a:ext cx="221025" cy="466436"/>
            <a:chOff x="3425308" y="3481339"/>
            <a:chExt cx="221025" cy="466436"/>
          </a:xfrm>
        </p:grpSpPr>
        <p:sp>
          <p:nvSpPr>
            <p:cNvPr id="1620" name="Google Shape;1620;p133"/>
            <p:cNvSpPr/>
            <p:nvPr/>
          </p:nvSpPr>
          <p:spPr>
            <a:xfrm>
              <a:off x="3425308" y="3481339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1" name="Google Shape;1621;p133"/>
            <p:cNvSpPr/>
            <p:nvPr/>
          </p:nvSpPr>
          <p:spPr>
            <a:xfrm>
              <a:off x="3427633" y="3729074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2" name="Google Shape;1622;p133"/>
          <p:cNvGrpSpPr/>
          <p:nvPr/>
        </p:nvGrpSpPr>
        <p:grpSpPr>
          <a:xfrm>
            <a:off x="3920933" y="3661529"/>
            <a:ext cx="221025" cy="466436"/>
            <a:chOff x="3920933" y="3481326"/>
            <a:chExt cx="221025" cy="466436"/>
          </a:xfrm>
        </p:grpSpPr>
        <p:sp>
          <p:nvSpPr>
            <p:cNvPr id="1623" name="Google Shape;1623;p133"/>
            <p:cNvSpPr/>
            <p:nvPr/>
          </p:nvSpPr>
          <p:spPr>
            <a:xfrm>
              <a:off x="3920933" y="3481326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4" name="Google Shape;1624;p133"/>
            <p:cNvSpPr/>
            <p:nvPr/>
          </p:nvSpPr>
          <p:spPr>
            <a:xfrm>
              <a:off x="3923258" y="372906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5" name="Google Shape;1625;p133"/>
          <p:cNvGrpSpPr/>
          <p:nvPr/>
        </p:nvGrpSpPr>
        <p:grpSpPr>
          <a:xfrm>
            <a:off x="4453208" y="3661541"/>
            <a:ext cx="221025" cy="466436"/>
            <a:chOff x="4495083" y="3481339"/>
            <a:chExt cx="221025" cy="466436"/>
          </a:xfrm>
        </p:grpSpPr>
        <p:sp>
          <p:nvSpPr>
            <p:cNvPr id="1626" name="Google Shape;1626;p133"/>
            <p:cNvSpPr/>
            <p:nvPr/>
          </p:nvSpPr>
          <p:spPr>
            <a:xfrm>
              <a:off x="4495083" y="3481339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7" name="Google Shape;1627;p133"/>
            <p:cNvSpPr/>
            <p:nvPr/>
          </p:nvSpPr>
          <p:spPr>
            <a:xfrm>
              <a:off x="4497408" y="3729074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8" name="Google Shape;1628;p133"/>
          <p:cNvGrpSpPr/>
          <p:nvPr/>
        </p:nvGrpSpPr>
        <p:grpSpPr>
          <a:xfrm>
            <a:off x="4972308" y="3661529"/>
            <a:ext cx="221025" cy="466436"/>
            <a:chOff x="4972308" y="3481326"/>
            <a:chExt cx="221025" cy="466436"/>
          </a:xfrm>
        </p:grpSpPr>
        <p:sp>
          <p:nvSpPr>
            <p:cNvPr id="1629" name="Google Shape;1629;p133"/>
            <p:cNvSpPr/>
            <p:nvPr/>
          </p:nvSpPr>
          <p:spPr>
            <a:xfrm>
              <a:off x="4972308" y="3481326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0" name="Google Shape;1630;p133"/>
            <p:cNvSpPr/>
            <p:nvPr/>
          </p:nvSpPr>
          <p:spPr>
            <a:xfrm>
              <a:off x="4974633" y="372906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1" name="Google Shape;1631;p133"/>
          <p:cNvGrpSpPr/>
          <p:nvPr/>
        </p:nvGrpSpPr>
        <p:grpSpPr>
          <a:xfrm>
            <a:off x="7067000" y="2917325"/>
            <a:ext cx="1891675" cy="1027572"/>
            <a:chOff x="6746425" y="3267225"/>
            <a:chExt cx="1891675" cy="1027572"/>
          </a:xfrm>
        </p:grpSpPr>
        <p:sp>
          <p:nvSpPr>
            <p:cNvPr id="1632" name="Google Shape;1632;p133"/>
            <p:cNvSpPr/>
            <p:nvPr/>
          </p:nvSpPr>
          <p:spPr>
            <a:xfrm rot="-8813971">
              <a:off x="6877630" y="3688192"/>
              <a:ext cx="302295" cy="570340"/>
            </a:xfrm>
            <a:custGeom>
              <a:rect b="b" l="l" r="r" t="t"/>
              <a:pathLst>
                <a:path extrusionOk="0" h="22814" w="12092">
                  <a:moveTo>
                    <a:pt x="12092" y="0"/>
                  </a:moveTo>
                  <a:cubicBezTo>
                    <a:pt x="5480" y="5510"/>
                    <a:pt x="0" y="14207"/>
                    <a:pt x="0" y="22814"/>
                  </a:cubicBez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1633" name="Google Shape;1633;p133"/>
            <p:cNvSpPr txBox="1"/>
            <p:nvPr/>
          </p:nvSpPr>
          <p:spPr>
            <a:xfrm>
              <a:off x="7321100" y="3267225"/>
              <a:ext cx="13170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The line indicates division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begin{array}{l}\frac{8}{2}\\&amp;#13;&amp;#10;\end{array}&quot;&gt;&lt;mtable columnalign=&quot;left&quot; columnspacing=&quot;1em&quot; rowspacing=&quot;4pt&quot;&gt;&lt;mtr&gt;&lt;mtd&gt;&lt;mfrac&gt;&lt;mn&gt;8&lt;/mn&gt;&lt;mn&gt;2&lt;/mn&gt;&lt;/mfrac&gt;&lt;/mtd&gt;&lt;/mtr&gt;&lt;/mtable&gt;&lt;/math&gt;" id="1634" name="Google Shape;1634;p133" title="1 lines Line 1: eight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6175" y="3385802"/>
            <a:ext cx="285274" cy="8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33"/>
          <p:cNvSpPr txBox="1"/>
          <p:nvPr>
            <p:ph idx="4294967295" type="subTitle"/>
          </p:nvPr>
        </p:nvSpPr>
        <p:spPr>
          <a:xfrm>
            <a:off x="450625" y="836400"/>
            <a:ext cx="779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Division can also be written in different ways too.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sp>
        <p:nvSpPr>
          <p:cNvPr id="1641" name="Google Shape;1641;p134"/>
          <p:cNvSpPr txBox="1"/>
          <p:nvPr>
            <p:ph idx="4294967295" type="subTitle"/>
          </p:nvPr>
        </p:nvSpPr>
        <p:spPr>
          <a:xfrm>
            <a:off x="450625" y="836400"/>
            <a:ext cx="779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Writing a division as a fraction makes calculating answers from division much easier.</a:t>
            </a:r>
            <a:endParaRPr sz="2100"/>
          </a:p>
        </p:txBody>
      </p:sp>
      <p:sp>
        <p:nvSpPr>
          <p:cNvPr id="1642" name="Google Shape;1642;p134"/>
          <p:cNvSpPr txBox="1"/>
          <p:nvPr/>
        </p:nvSpPr>
        <p:spPr>
          <a:xfrm>
            <a:off x="373775" y="1771800"/>
            <a:ext cx="82884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Given we know a simple fraction is where the numerator and denominator are integers, making the divisor an integer enables us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divide m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ore easily.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sp>
        <p:nvSpPr>
          <p:cNvPr id="1648" name="Google Shape;1648;p135"/>
          <p:cNvSpPr txBox="1"/>
          <p:nvPr>
            <p:ph idx="4294967295" type="subTitle"/>
          </p:nvPr>
        </p:nvSpPr>
        <p:spPr>
          <a:xfrm>
            <a:off x="450625" y="836400"/>
            <a:ext cx="779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Writing a division as a fraction makes calculating answers from division much easier.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frac{1.2}{0.4}=\frac{12}{4}=3&quot;&gt;&lt;mfrac&gt;&lt;mn&gt;1.2&lt;/mn&gt;&lt;mn&gt;0.4&lt;/mn&gt;&lt;/mfrac&gt;&lt;mo&gt;=&lt;/mo&gt;&lt;mfrac&gt;&lt;mn&gt;12&lt;/mn&gt;&lt;mn&gt;4&lt;/mn&gt;&lt;/mfrac&gt;&lt;mo&gt;=&lt;/mo&gt;&lt;mn&gt;3&lt;/mn&gt;&lt;/math&gt;" id="1649" name="Google Shape;1649;p135" title="1.2 over 0.4 equals twelve fourths equals 3"/>
          <p:cNvPicPr preferRelativeResize="0"/>
          <p:nvPr/>
        </p:nvPicPr>
        <p:blipFill rotWithShape="1">
          <a:blip r:embed="rId3">
            <a:alphaModFix/>
          </a:blip>
          <a:srcRect b="0" l="0" r="70831" t="0"/>
          <a:stretch/>
        </p:blipFill>
        <p:spPr>
          <a:xfrm>
            <a:off x="3574304" y="2106050"/>
            <a:ext cx="725900" cy="8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p135"/>
          <p:cNvSpPr txBox="1"/>
          <p:nvPr/>
        </p:nvSpPr>
        <p:spPr>
          <a:xfrm>
            <a:off x="5040725" y="2155350"/>
            <a:ext cx="404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denominator is a decimal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35"/>
          <p:cNvSpPr txBox="1"/>
          <p:nvPr/>
        </p:nvSpPr>
        <p:spPr>
          <a:xfrm>
            <a:off x="519475" y="3002225"/>
            <a:ext cx="2637600" cy="19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equivalent fractions we can multiply the numerator and denominator by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.2}{0.4}=\frac{12}{4}=3&quot;&gt;&lt;mfrac&gt;&lt;mn&gt;1.2&lt;/mn&gt;&lt;mn&gt;0.4&lt;/mn&gt;&lt;/mfrac&gt;&lt;mo&gt;=&lt;/mo&gt;&lt;mfrac&gt;&lt;mn&gt;12&lt;/mn&gt;&lt;mn&gt;4&lt;/mn&gt;&lt;/mfrac&gt;&lt;mo&gt;=&lt;/mo&gt;&lt;mn&gt;3&lt;/mn&gt;&lt;/math&gt;" id="1652" name="Google Shape;1652;p135" title="1.2 over 0.4 equals twelve fourths equals 3"/>
          <p:cNvPicPr preferRelativeResize="0"/>
          <p:nvPr/>
        </p:nvPicPr>
        <p:blipFill rotWithShape="1">
          <a:blip r:embed="rId3">
            <a:alphaModFix/>
          </a:blip>
          <a:srcRect b="7609" l="73337" r="-2505" t="-7610"/>
          <a:stretch/>
        </p:blipFill>
        <p:spPr>
          <a:xfrm>
            <a:off x="4314033" y="3240008"/>
            <a:ext cx="725900" cy="8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35"/>
          <p:cNvSpPr txBox="1"/>
          <p:nvPr/>
        </p:nvSpPr>
        <p:spPr>
          <a:xfrm>
            <a:off x="831625" y="1745100"/>
            <a:ext cx="201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For example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.2\ \div0.4&quot;&gt;&lt;mn&gt;1.2&lt;/mn&gt;&lt;mtext&gt;&lt;/mtext&gt;&lt;mo&gt;÷&lt;/mo&gt;&lt;mn&gt;0.4&lt;/mn&gt;&lt;/math&gt;" id="1654" name="Google Shape;1654;p135" title="1.2 division sign 0.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700" y="2394186"/>
            <a:ext cx="1649025" cy="31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.2}{0.4}=\frac{12}{4}=3&quot;&gt;&lt;mfrac&gt;&lt;mn&gt;1.2&lt;/mn&gt;&lt;mn&gt;0.4&lt;/mn&gt;&lt;/mfrac&gt;&lt;mo&gt;=&lt;/mo&gt;&lt;mfrac&gt;&lt;mn&gt;12&lt;/mn&gt;&lt;mn&gt;4&lt;/mn&gt;&lt;/mfrac&gt;&lt;mo&gt;=&lt;/mo&gt;&lt;mn&gt;3&lt;/mn&gt;&lt;/math&gt;" id="1655" name="Google Shape;1655;p135" title="1.2 over 0.4 equals twelve fourths equals 3"/>
          <p:cNvPicPr preferRelativeResize="0"/>
          <p:nvPr/>
        </p:nvPicPr>
        <p:blipFill rotWithShape="1">
          <a:blip r:embed="rId3">
            <a:alphaModFix/>
          </a:blip>
          <a:srcRect b="7609" l="73338" r="8327" t="-7610"/>
          <a:stretch/>
        </p:blipFill>
        <p:spPr>
          <a:xfrm>
            <a:off x="3043376" y="2018650"/>
            <a:ext cx="456275" cy="89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6" name="Google Shape;1656;p135"/>
          <p:cNvCxnSpPr>
            <a:stCxn id="1650" idx="1"/>
          </p:cNvCxnSpPr>
          <p:nvPr/>
        </p:nvCxnSpPr>
        <p:spPr>
          <a:xfrm flipH="1">
            <a:off x="4313225" y="2401650"/>
            <a:ext cx="727500" cy="380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57" name="Google Shape;1657;p135"/>
          <p:cNvGrpSpPr/>
          <p:nvPr/>
        </p:nvGrpSpPr>
        <p:grpSpPr>
          <a:xfrm>
            <a:off x="3043368" y="3239988"/>
            <a:ext cx="1236260" cy="1048575"/>
            <a:chOff x="3043368" y="3239988"/>
            <a:chExt cx="1236260" cy="1048575"/>
          </a:xfrm>
        </p:grpSpPr>
        <p:pic>
          <p:nvPicPr>
            <p:cNvPr descr="&lt;math xmlns=&quot;http://www.w3.org/1998/Math/MathML&quot; display=&quot;block&quot; data-is-equatio=&quot;1&quot; data-latex=&quot;\frac{1.2}{0.4}=\frac{12}{4}=3&quot;&gt;&lt;mfrac&gt;&lt;mn&gt;1.2&lt;/mn&gt;&lt;mn&gt;0.4&lt;/mn&gt;&lt;/mfrac&gt;&lt;mo&gt;=&lt;/mo&gt;&lt;mfrac&gt;&lt;mn&gt;12&lt;/mn&gt;&lt;mn&gt;4&lt;/mn&gt;&lt;/mfrac&gt;&lt;mo&gt;=&lt;/mo&gt;&lt;mn&gt;3&lt;/mn&gt;&lt;/math&gt;" id="1658" name="Google Shape;1658;p135" title="1.2 over 0.4 equals twelve fourths equals 3"/>
            <p:cNvPicPr preferRelativeResize="0"/>
            <p:nvPr/>
          </p:nvPicPr>
          <p:blipFill rotWithShape="1">
            <a:blip r:embed="rId3">
              <a:alphaModFix/>
            </a:blip>
            <a:srcRect b="0" l="45668" r="25163" t="0"/>
            <a:stretch/>
          </p:blipFill>
          <p:spPr>
            <a:xfrm>
              <a:off x="3553729" y="3392388"/>
              <a:ext cx="725900" cy="896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.2}{0.4}=\frac{12}{4}=3&quot;&gt;&lt;mfrac&gt;&lt;mn&gt;1.2&lt;/mn&gt;&lt;mn&gt;0.4&lt;/mn&gt;&lt;/mfrac&gt;&lt;mo&gt;=&lt;/mo&gt;&lt;mfrac&gt;&lt;mn&gt;12&lt;/mn&gt;&lt;mn&gt;4&lt;/mn&gt;&lt;/mfrac&gt;&lt;mo&gt;=&lt;/mo&gt;&lt;mn&gt;3&lt;/mn&gt;&lt;/math&gt;" id="1659" name="Google Shape;1659;p135" title="1.2 over 0.4 equals twelve fourths equals 3"/>
            <p:cNvPicPr preferRelativeResize="0"/>
            <p:nvPr/>
          </p:nvPicPr>
          <p:blipFill rotWithShape="1">
            <a:blip r:embed="rId3">
              <a:alphaModFix/>
            </a:blip>
            <a:srcRect b="7609" l="73338" r="8327" t="-7610"/>
            <a:stretch/>
          </p:blipFill>
          <p:spPr>
            <a:xfrm>
              <a:off x="3043368" y="3239988"/>
              <a:ext cx="456275" cy="896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36"/>
          <p:cNvSpPr txBox="1"/>
          <p:nvPr>
            <p:ph idx="1" type="body"/>
          </p:nvPr>
        </p:nvSpPr>
        <p:spPr>
          <a:xfrm>
            <a:off x="324000" y="759300"/>
            <a:ext cx="8237700" cy="8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blanks so the fraction is equivalent to the </a:t>
            </a:r>
            <a:r>
              <a:rPr lang="en-GB"/>
              <a:t>calculation.</a:t>
            </a:r>
            <a:endParaRPr/>
          </a:p>
        </p:txBody>
      </p:sp>
      <p:sp>
        <p:nvSpPr>
          <p:cNvPr id="1665" name="Google Shape;1665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sp>
        <p:nvSpPr>
          <p:cNvPr id="1666" name="Google Shape;1666;p136"/>
          <p:cNvSpPr/>
          <p:nvPr/>
        </p:nvSpPr>
        <p:spPr>
          <a:xfrm>
            <a:off x="3331650" y="2328300"/>
            <a:ext cx="1979100" cy="102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2.4 ÷ 0.4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7" name="Google Shape;1667;p136"/>
          <p:cNvCxnSpPr>
            <a:stCxn id="1666" idx="3"/>
          </p:cNvCxnSpPr>
          <p:nvPr/>
        </p:nvCxnSpPr>
        <p:spPr>
          <a:xfrm flipH="1" rot="10800000">
            <a:off x="5310750" y="2478300"/>
            <a:ext cx="1727700" cy="360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136"/>
          <p:cNvCxnSpPr/>
          <p:nvPr/>
        </p:nvCxnSpPr>
        <p:spPr>
          <a:xfrm>
            <a:off x="5265500" y="3296300"/>
            <a:ext cx="991200" cy="30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136"/>
          <p:cNvCxnSpPr>
            <a:stCxn id="1666" idx="2"/>
          </p:cNvCxnSpPr>
          <p:nvPr/>
        </p:nvCxnSpPr>
        <p:spPr>
          <a:xfrm flipH="1">
            <a:off x="3961800" y="3348900"/>
            <a:ext cx="359400" cy="680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136"/>
          <p:cNvCxnSpPr/>
          <p:nvPr/>
        </p:nvCxnSpPr>
        <p:spPr>
          <a:xfrm flipH="1">
            <a:off x="2507300" y="3189275"/>
            <a:ext cx="853200" cy="429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1" name="Google Shape;1671;p136"/>
          <p:cNvCxnSpPr/>
          <p:nvPr/>
        </p:nvCxnSpPr>
        <p:spPr>
          <a:xfrm rot="10800000">
            <a:off x="2857650" y="1863000"/>
            <a:ext cx="648900" cy="465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240}{40}&quot;&gt;&lt;mfrac&gt;&lt;mn&gt;240&lt;/mn&gt;&lt;mn&gt;40&lt;/mn&gt;&lt;/mfrac&gt;&lt;/math&gt;" id="1672" name="Google Shape;1672;p136" title="240 over 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150" y="3864113"/>
            <a:ext cx="657367" cy="84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4}&quot;&gt;&lt;mfrac&gt;&lt;mn&gt;24&lt;/mn&gt;&lt;mn&gt;4&lt;/mn&gt;&lt;/mfrac&gt;&lt;/math&gt;" id="1673" name="Google Shape;1673;p136" title="24 ove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5175" y="2012849"/>
            <a:ext cx="438018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.2}{0.2}&quot;&gt;&lt;mfrac&gt;&lt;mn&gt;1.2&lt;/mn&gt;&lt;mn&gt;0.2&lt;/mn&gt;&lt;/mfrac&gt;&lt;/math&gt;" id="1674" name="Google Shape;1674;p136" title="1.2 over 0.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275" y="3221700"/>
            <a:ext cx="514950" cy="778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2}&quot;&gt;&lt;mfrac&gt;&lt;mn&gt;12&lt;/mn&gt;&lt;mn&gt;2&lt;/mn&gt;&lt;/mfrac&gt;&lt;/math&gt;" id="1675" name="Google Shape;1675;p136" title="twelv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8975" y="1400038"/>
            <a:ext cx="514950" cy="928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6" name="Google Shape;1676;p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8438" y="1863000"/>
            <a:ext cx="5715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10075" y="4376075"/>
            <a:ext cx="5715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3988" y="3677125"/>
            <a:ext cx="5715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52413" y="1288450"/>
            <a:ext cx="5715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.4}{0.4}&quot;&gt;&lt;mfrac&gt;&lt;mn&gt;2.4&lt;/mn&gt;&lt;mn&gt;0.4&lt;/mn&gt;&lt;/mfrac&gt;&lt;/math&gt;" id="1680" name="Google Shape;1680;p136" title="2.4 over 0.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74400" y="1232400"/>
            <a:ext cx="514950" cy="7752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1" name="Google Shape;1681;p136"/>
          <p:cNvCxnSpPr/>
          <p:nvPr/>
        </p:nvCxnSpPr>
        <p:spPr>
          <a:xfrm flipH="1" rot="10800000">
            <a:off x="4666175" y="1694200"/>
            <a:ext cx="947700" cy="628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2" name="Google Shape;1682;p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7838" y="1080000"/>
            <a:ext cx="5715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24}{0.04}&quot;&gt;&lt;mfrac&gt;&lt;mn&gt;0.24&lt;/mn&gt;&lt;mn&gt;0.04&lt;/mn&gt;&lt;/mfrac&gt;&lt;/math&gt;" id="1683" name="Google Shape;1683;p136" title="0.24 over 0.0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45275" y="3266400"/>
            <a:ext cx="759900" cy="844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1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5275" y="3753200"/>
            <a:ext cx="726650" cy="666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3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 the question, the equivalent </a:t>
            </a:r>
            <a:r>
              <a:rPr lang="en-GB" sz="1800"/>
              <a:t>calculation</a:t>
            </a:r>
            <a:r>
              <a:rPr lang="en-GB" sz="1800"/>
              <a:t> and the simplified fraction and answer. The first has been done for you.</a:t>
            </a:r>
            <a:endParaRPr sz="1800"/>
          </a:p>
        </p:txBody>
      </p:sp>
      <p:sp>
        <p:nvSpPr>
          <p:cNvPr id="1690" name="Google Shape;1690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.8\div0.2\ \ \ \frac{4.8}{0.2}\ \ \ \frac{48}{2}=24&quot;&gt;&lt;mn&gt;4.8&lt;/mn&gt;&lt;mo&gt;÷&lt;/mo&gt;&lt;mn&gt;0.2&lt;/mn&gt;&lt;mtext&gt;&lt;/mtext&gt;&lt;mtext&gt;&lt;/mtext&gt;&lt;mtext&gt;&lt;/mtext&gt;&lt;mfrac&gt;&lt;mn&gt;4.8&lt;/mn&gt;&lt;mn&gt;0.2&lt;/mn&gt;&lt;/mfrac&gt;&lt;mtext&gt;&lt;/mtext&gt;&lt;mtext&gt;&lt;/mtext&gt;&lt;mtext&gt;&lt;/mtext&gt;&lt;mfrac&gt;&lt;mn&gt;48&lt;/mn&gt;&lt;mn&gt;2&lt;/mn&gt;&lt;/mfrac&gt;&lt;mo&gt;=&lt;/mo&gt;&lt;mn&gt;24&lt;/mn&gt;&lt;/math&gt;" id="1691" name="Google Shape;1691;p137" title="4.8 divided by 0.2 4.8 over 0.2 48 over 2 equals 24"/>
          <p:cNvPicPr preferRelativeResize="0"/>
          <p:nvPr/>
        </p:nvPicPr>
        <p:blipFill rotWithShape="1">
          <a:blip r:embed="rId3">
            <a:alphaModFix/>
          </a:blip>
          <a:srcRect b="0" l="0" r="60932" t="0"/>
          <a:stretch/>
        </p:blipFill>
        <p:spPr>
          <a:xfrm>
            <a:off x="732000" y="2246938"/>
            <a:ext cx="1734601" cy="906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80\div0.2\ \ \ \frac{480}{0.2}\ \ \ \frac{4800}{2}=\ 2400\end{array}&quot;&gt;&lt;mtable columnalign=&quot;left&quot; columnspacing=&quot;1em&quot; rowspacing=&quot;4pt&quot;&gt;&lt;mtr&gt;&lt;mtd&gt;&lt;mn&gt;480&lt;/mn&gt;&lt;mo&gt;÷&lt;/mo&gt;&lt;mn&gt;0.2&lt;/mn&gt;&lt;mtext&gt;&lt;/mtext&gt;&lt;mtext&gt;&lt;/mtext&gt;&lt;mtext&gt;&lt;/mtext&gt;&lt;mfrac&gt;&lt;mn&gt;480&lt;/mn&gt;&lt;mn&gt;0.2&lt;/mn&gt;&lt;/mfrac&gt;&lt;mtext&gt;&lt;/mtext&gt;&lt;mtext&gt;&lt;/mtext&gt;&lt;mtext&gt;&lt;/mtext&gt;&lt;mfrac&gt;&lt;mn&gt;4800&lt;/mn&gt;&lt;mn&gt;2&lt;/mn&gt;&lt;/mfrac&gt;&lt;mo&gt;=&lt;/mo&gt;&lt;mtext&gt;&lt;/mtext&gt;&lt;mn&gt;2400&lt;/mn&gt;&lt;/mtd&gt;&lt;/mtr&gt;&lt;/mtable&gt;&lt;/math&gt;" id="1692" name="Google Shape;1692;p137" title="1 lines Line 1: 480 divided by 0.2 480 over 0.2 4800 over 2 equals 2400"/>
          <p:cNvPicPr preferRelativeResize="0"/>
          <p:nvPr/>
        </p:nvPicPr>
        <p:blipFill rotWithShape="1">
          <a:blip r:embed="rId4">
            <a:alphaModFix/>
          </a:blip>
          <a:srcRect b="0" l="0" r="63215" t="0"/>
          <a:stretch/>
        </p:blipFill>
        <p:spPr>
          <a:xfrm>
            <a:off x="732000" y="3229275"/>
            <a:ext cx="1734601" cy="5466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8\div0.02\ \ \ \frac{4.8}{0.02}\ \ \ \frac{480}{2}=\ 240\end{array}&quot;&gt;&lt;mtable columnalign=&quot;left&quot; columnspacing=&quot;1em&quot; rowspacing=&quot;4pt&quot;&gt;&lt;mtr&gt;&lt;mtd&gt;&lt;mn&gt;4.8&lt;/mn&gt;&lt;mo&gt;÷&lt;/mo&gt;&lt;mn&gt;0.02&lt;/mn&gt;&lt;mtext&gt;&lt;/mtext&gt;&lt;mtext&gt;&lt;/mtext&gt;&lt;mtext&gt;&lt;/mtext&gt;&lt;mfrac&gt;&lt;mn&gt;4.8&lt;/mn&gt;&lt;mn&gt;0.02&lt;/mn&gt;&lt;/mfrac&gt;&lt;mtext&gt;&lt;/mtext&gt;&lt;mtext&gt;&lt;/mtext&gt;&lt;mtext&gt;&lt;/mtext&gt;&lt;mfrac&gt;&lt;mn&gt;480&lt;/mn&gt;&lt;mn&gt;2&lt;/mn&gt;&lt;/mfrac&gt;&lt;mo&gt;=&lt;/mo&gt;&lt;mtext&gt;&lt;/mtext&gt;&lt;mn&gt;240&lt;/mn&gt;&lt;/mtd&gt;&lt;/mtr&gt;&lt;/mtable&gt;&lt;/math&gt;" id="1693" name="Google Shape;1693;p137" title="1 lines Line 1: 4.8 divided by 0.02 4.8 over 0.02 480 over 2 equals 240"/>
          <p:cNvPicPr preferRelativeResize="0"/>
          <p:nvPr/>
        </p:nvPicPr>
        <p:blipFill rotWithShape="1">
          <a:blip r:embed="rId5">
            <a:alphaModFix/>
          </a:blip>
          <a:srcRect b="0" l="0" r="61858" t="0"/>
          <a:stretch/>
        </p:blipFill>
        <p:spPr>
          <a:xfrm>
            <a:off x="754175" y="3972350"/>
            <a:ext cx="1861239" cy="58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5\div0.1\ \ \ \frac{3.5}{0.1}\ \ \ \frac{35}{1}=\ 35\end{array}&quot;&gt;&lt;mtable columnalign=&quot;left&quot; columnspacing=&quot;1em&quot; rowspacing=&quot;4pt&quot;&gt;&lt;mtr&gt;&lt;mtd&gt;&lt;mn&gt;3.5&lt;/mn&gt;&lt;mo&gt;÷&lt;/mo&gt;&lt;mn&gt;0.1&lt;/mn&gt;&lt;mtext&gt;&lt;/mtext&gt;&lt;mtext&gt;&lt;/mtext&gt;&lt;mtext&gt;&lt;/mtext&gt;&lt;mfrac&gt;&lt;mn&gt;3.5&lt;/mn&gt;&lt;mn&gt;0.1&lt;/mn&gt;&lt;/mfrac&gt;&lt;mtext&gt;&lt;/mtext&gt;&lt;mtext&gt;&lt;/mtext&gt;&lt;mtext&gt;&lt;/mtext&gt;&lt;mfrac&gt;&lt;mn&gt;35&lt;/mn&gt;&lt;mn&gt;1&lt;/mn&gt;&lt;/mfrac&gt;&lt;mo&gt;=&lt;/mo&gt;&lt;mtext&gt;&lt;/mtext&gt;&lt;mn&gt;35&lt;/mn&gt;&lt;/mtd&gt;&lt;/mtr&gt;&lt;/mtable&gt;&lt;/math&gt;" id="1694" name="Google Shape;1694;p137" title="1 lines Line 1: 3.5 divided by 0.1 3.5 over 0.1 35 over 1 equals 35"/>
          <p:cNvPicPr preferRelativeResize="0"/>
          <p:nvPr/>
        </p:nvPicPr>
        <p:blipFill rotWithShape="1">
          <a:blip r:embed="rId6">
            <a:alphaModFix/>
          </a:blip>
          <a:srcRect b="0" l="0" r="60876" t="0"/>
          <a:stretch/>
        </p:blipFill>
        <p:spPr>
          <a:xfrm>
            <a:off x="799200" y="1696200"/>
            <a:ext cx="1600200" cy="586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5\div0.1\ \ \ \frac{3.5}{0.1}\ \ \ \frac{35}{1}=\ 35\end{array}&quot;&gt;&lt;mtable columnalign=&quot;left&quot; columnspacing=&quot;1em&quot; rowspacing=&quot;4pt&quot;&gt;&lt;mtr&gt;&lt;mtd&gt;&lt;mn&gt;3.5&lt;/mn&gt;&lt;mo&gt;÷&lt;/mo&gt;&lt;mn&gt;0.1&lt;/mn&gt;&lt;mtext&gt;&lt;/mtext&gt;&lt;mtext&gt;&lt;/mtext&gt;&lt;mtext&gt;&lt;/mtext&gt;&lt;mfrac&gt;&lt;mn&gt;3.5&lt;/mn&gt;&lt;mn&gt;0.1&lt;/mn&gt;&lt;/mfrac&gt;&lt;mtext&gt;&lt;/mtext&gt;&lt;mtext&gt;&lt;/mtext&gt;&lt;mtext&gt;&lt;/mtext&gt;&lt;mfrac&gt;&lt;mn&gt;35&lt;/mn&gt;&lt;mn&gt;1&lt;/mn&gt;&lt;/mfrac&gt;&lt;mo&gt;=&lt;/mo&gt;&lt;mtext&gt;&lt;/mtext&gt;&lt;mn&gt;35&lt;/mn&gt;&lt;/mtd&gt;&lt;/mtr&gt;&lt;/mtable&gt;&lt;/math&gt;" id="1695" name="Google Shape;1695;p137" title="1 lines Line 1: 3.5 divided by 0.1 3.5 over 0.1 35 over 1 equals 35"/>
          <p:cNvPicPr preferRelativeResize="0"/>
          <p:nvPr/>
        </p:nvPicPr>
        <p:blipFill rotWithShape="1">
          <a:blip r:embed="rId6">
            <a:alphaModFix/>
          </a:blip>
          <a:srcRect b="0" l="39493" r="42916" t="0"/>
          <a:stretch/>
        </p:blipFill>
        <p:spPr>
          <a:xfrm>
            <a:off x="4133850" y="2277213"/>
            <a:ext cx="876306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5\div0.1\ \ \ \frac{3.5}{0.1}\ \ \ \frac{35}{1}=\ 35\end{array}&quot;&gt;&lt;mtable columnalign=&quot;left&quot; columnspacing=&quot;1em&quot; rowspacing=&quot;4pt&quot;&gt;&lt;mtr&gt;&lt;mtd&gt;&lt;mn&gt;3.5&lt;/mn&gt;&lt;mo&gt;÷&lt;/mo&gt;&lt;mn&gt;0.1&lt;/mn&gt;&lt;mtext&gt;&lt;/mtext&gt;&lt;mtext&gt;&lt;/mtext&gt;&lt;mtext&gt;&lt;/mtext&gt;&lt;mfrac&gt;&lt;mn&gt;3.5&lt;/mn&gt;&lt;mn&gt;0.1&lt;/mn&gt;&lt;/mfrac&gt;&lt;mtext&gt;&lt;/mtext&gt;&lt;mtext&gt;&lt;/mtext&gt;&lt;mtext&gt;&lt;/mtext&gt;&lt;mfrac&gt;&lt;mn&gt;35&lt;/mn&gt;&lt;mn&gt;1&lt;/mn&gt;&lt;/mfrac&gt;&lt;mo&gt;=&lt;/mo&gt;&lt;mtext&gt;&lt;/mtext&gt;&lt;mn&gt;35&lt;/mn&gt;&lt;/mtd&gt;&lt;/mtr&gt;&lt;/mtable&gt;&lt;/math&gt;" id="1696" name="Google Shape;1696;p137" title="1 lines Line 1: 3.5 divided by 0.1 3.5 over 0.1 35 over 1 equals 35"/>
          <p:cNvPicPr preferRelativeResize="0"/>
          <p:nvPr/>
        </p:nvPicPr>
        <p:blipFill rotWithShape="1">
          <a:blip r:embed="rId6">
            <a:alphaModFix/>
          </a:blip>
          <a:srcRect b="-20481" l="58612" r="-4118" t="-19613"/>
          <a:stretch/>
        </p:blipFill>
        <p:spPr>
          <a:xfrm>
            <a:off x="6440025" y="1374775"/>
            <a:ext cx="1953276" cy="8623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8\div0.2\ \ \ \frac{4.8}{0.2}\ \ \ \frac{48}{2}=24&quot;&gt;&lt;mn&gt;4.8&lt;/mn&gt;&lt;mo&gt;÷&lt;/mo&gt;&lt;mn&gt;0.2&lt;/mn&gt;&lt;mtext&gt;&lt;/mtext&gt;&lt;mtext&gt;&lt;/mtext&gt;&lt;mtext&gt;&lt;/mtext&gt;&lt;mfrac&gt;&lt;mn&gt;4.8&lt;/mn&gt;&lt;mn&gt;0.2&lt;/mn&gt;&lt;/mfrac&gt;&lt;mtext&gt;&lt;/mtext&gt;&lt;mtext&gt;&lt;/mtext&gt;&lt;mtext&gt;&lt;/mtext&gt;&lt;mfrac&gt;&lt;mn&gt;48&lt;/mn&gt;&lt;mn&gt;2&lt;/mn&gt;&lt;/mfrac&gt;&lt;mo&gt;=&lt;/mo&gt;&lt;mn&gt;24&lt;/mn&gt;&lt;/math&gt;" id="1697" name="Google Shape;1697;p137" title="4.8 divided by 0.2 4.8 over 0.2 48 over 2 equals 24"/>
          <p:cNvPicPr preferRelativeResize="0"/>
          <p:nvPr/>
        </p:nvPicPr>
        <p:blipFill rotWithShape="1">
          <a:blip r:embed="rId3">
            <a:alphaModFix/>
          </a:blip>
          <a:srcRect b="-2406" l="37292" r="38218" t="0"/>
          <a:stretch/>
        </p:blipFill>
        <p:spPr>
          <a:xfrm>
            <a:off x="4203100" y="3153070"/>
            <a:ext cx="876300" cy="747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8\div0.2\ \ \ \frac{4.8}{0.2}\ \ \ \frac{48}{2}=24&quot;&gt;&lt;mn&gt;4.8&lt;/mn&gt;&lt;mo&gt;÷&lt;/mo&gt;&lt;mn&gt;0.2&lt;/mn&gt;&lt;mtext&gt;&lt;/mtext&gt;&lt;mtext&gt;&lt;/mtext&gt;&lt;mtext&gt;&lt;/mtext&gt;&lt;mfrac&gt;&lt;mn&gt;4.8&lt;/mn&gt;&lt;mn&gt;0.2&lt;/mn&gt;&lt;/mfrac&gt;&lt;mtext&gt;&lt;/mtext&gt;&lt;mtext&gt;&lt;/mtext&gt;&lt;mtext&gt;&lt;/mtext&gt;&lt;mfrac&gt;&lt;mn&gt;48&lt;/mn&gt;&lt;mn&gt;2&lt;/mn&gt;&lt;/mfrac&gt;&lt;mo&gt;=&lt;/mo&gt;&lt;mn&gt;24&lt;/mn&gt;&lt;/math&gt;" id="1698" name="Google Shape;1698;p137" title="4.8 divided by 0.2 4.8 over 0.2 48 over 2 equals 24"/>
          <p:cNvPicPr preferRelativeResize="0"/>
          <p:nvPr/>
        </p:nvPicPr>
        <p:blipFill rotWithShape="1">
          <a:blip r:embed="rId3">
            <a:alphaModFix/>
          </a:blip>
          <a:srcRect b="-2415" l="61407" r="-472" t="-8881"/>
          <a:stretch/>
        </p:blipFill>
        <p:spPr>
          <a:xfrm>
            <a:off x="6667075" y="3886625"/>
            <a:ext cx="1286289" cy="7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80\div0.2\ \ \ \frac{480}{0.2}\ \ \ \frac{4800}{2}=\ 2400\end{array}&quot;&gt;&lt;mtable columnalign=&quot;left&quot; columnspacing=&quot;1em&quot; rowspacing=&quot;4pt&quot;&gt;&lt;mtr&gt;&lt;mtd&gt;&lt;mn&gt;480&lt;/mn&gt;&lt;mo&gt;÷&lt;/mo&gt;&lt;mn&gt;0.2&lt;/mn&gt;&lt;mtext&gt;&lt;/mtext&gt;&lt;mtext&gt;&lt;/mtext&gt;&lt;mtext&gt;&lt;/mtext&gt;&lt;mfrac&gt;&lt;mn&gt;480&lt;/mn&gt;&lt;mn&gt;0.2&lt;/mn&gt;&lt;/mfrac&gt;&lt;mtext&gt;&lt;/mtext&gt;&lt;mtext&gt;&lt;/mtext&gt;&lt;mtext&gt;&lt;/mtext&gt;&lt;mfrac&gt;&lt;mn&gt;4800&lt;/mn&gt;&lt;mn&gt;2&lt;/mn&gt;&lt;/mfrac&gt;&lt;mo&gt;=&lt;/mo&gt;&lt;mtext&gt;&lt;/mtext&gt;&lt;mn&gt;2400&lt;/mn&gt;&lt;/mtd&gt;&lt;/mtr&gt;&lt;/mtable&gt;&lt;/math&gt;" id="1699" name="Google Shape;1699;p137" title="1 lines Line 1: 480 divided by 0.2 480 over 0.2 4800 over 2 equals 2400"/>
          <p:cNvPicPr preferRelativeResize="0"/>
          <p:nvPr/>
        </p:nvPicPr>
        <p:blipFill rotWithShape="1">
          <a:blip r:embed="rId4">
            <a:alphaModFix/>
          </a:blip>
          <a:srcRect b="0" l="36077" r="44757" t="0"/>
          <a:stretch/>
        </p:blipFill>
        <p:spPr>
          <a:xfrm>
            <a:off x="4241200" y="4100474"/>
            <a:ext cx="101432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80\div0.2\ \ \ \frac{480}{0.2}\ \ \ \frac{4800}{2}=\ 2400\end{array}&quot;&gt;&lt;mtable columnalign=&quot;left&quot; columnspacing=&quot;1em&quot; rowspacing=&quot;4pt&quot;&gt;&lt;mtr&gt;&lt;mtd&gt;&lt;mn&gt;480&lt;/mn&gt;&lt;mo&gt;÷&lt;/mo&gt;&lt;mn&gt;0.2&lt;/mn&gt;&lt;mtext&gt;&lt;/mtext&gt;&lt;mtext&gt;&lt;/mtext&gt;&lt;mtext&gt;&lt;/mtext&gt;&lt;mfrac&gt;&lt;mn&gt;480&lt;/mn&gt;&lt;mn&gt;0.2&lt;/mn&gt;&lt;/mfrac&gt;&lt;mtext&gt;&lt;/mtext&gt;&lt;mtext&gt;&lt;/mtext&gt;&lt;mtext&gt;&lt;/mtext&gt;&lt;mfrac&gt;&lt;mn&gt;4800&lt;/mn&gt;&lt;mn&gt;2&lt;/mn&gt;&lt;/mfrac&gt;&lt;mo&gt;=&lt;/mo&gt;&lt;mtext&gt;&lt;/mtext&gt;&lt;mn&gt;2400&lt;/mn&gt;&lt;/mtd&gt;&lt;/mtr&gt;&lt;/mtable&gt;&lt;/math&gt;" id="1700" name="Google Shape;1700;p137" title="1 lines Line 1: 480 divided by 0.2 480 over 0.2 4800 over 2 equals 2400"/>
          <p:cNvPicPr preferRelativeResize="0"/>
          <p:nvPr/>
        </p:nvPicPr>
        <p:blipFill rotWithShape="1">
          <a:blip r:embed="rId4">
            <a:alphaModFix/>
          </a:blip>
          <a:srcRect b="0" l="54625" r="0" t="0"/>
          <a:stretch/>
        </p:blipFill>
        <p:spPr>
          <a:xfrm>
            <a:off x="6387325" y="3136812"/>
            <a:ext cx="2266951" cy="579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8\div0.02\ \ \ \frac{4.8}{0.02}\ \ \ \frac{480}{2}=\ 240\end{array}&quot;&gt;&lt;mtable columnalign=&quot;left&quot; columnspacing=&quot;1em&quot; rowspacing=&quot;4pt&quot;&gt;&lt;mtr&gt;&lt;mtd&gt;&lt;mn&gt;4.8&lt;/mn&gt;&lt;mo&gt;÷&lt;/mo&gt;&lt;mn&gt;0.02&lt;/mn&gt;&lt;mtext&gt;&lt;/mtext&gt;&lt;mtext&gt;&lt;/mtext&gt;&lt;mtext&gt;&lt;/mtext&gt;&lt;mfrac&gt;&lt;mn&gt;4.8&lt;/mn&gt;&lt;mn&gt;0.02&lt;/mn&gt;&lt;/mfrac&gt;&lt;mtext&gt;&lt;/mtext&gt;&lt;mtext&gt;&lt;/mtext&gt;&lt;mtext&gt;&lt;/mtext&gt;&lt;mfrac&gt;&lt;mn&gt;480&lt;/mn&gt;&lt;mn&gt;2&lt;/mn&gt;&lt;/mfrac&gt;&lt;mo&gt;=&lt;/mo&gt;&lt;mtext&gt;&lt;/mtext&gt;&lt;mn&gt;240&lt;/mn&gt;&lt;/mtd&gt;&lt;/mtr&gt;&lt;/mtable&gt;&lt;/math&gt;" id="1701" name="Google Shape;1701;p137" title="1 lines Line 1: 4.8 divided by 0.02 4.8 over 0.02 480 over 2 equals 240"/>
          <p:cNvPicPr preferRelativeResize="0"/>
          <p:nvPr/>
        </p:nvPicPr>
        <p:blipFill rotWithShape="1">
          <a:blip r:embed="rId5">
            <a:alphaModFix/>
          </a:blip>
          <a:srcRect b="0" l="39423" r="40705" t="0"/>
          <a:stretch/>
        </p:blipFill>
        <p:spPr>
          <a:xfrm>
            <a:off x="4157250" y="1450975"/>
            <a:ext cx="1014324" cy="613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.8\div0.02\ \ \ \frac{4.8}{0.02}\ \ \ \frac{480}{2}=\ 240\end{array}&quot;&gt;&lt;mtable columnalign=&quot;left&quot; columnspacing=&quot;1em&quot; rowspacing=&quot;4pt&quot;&gt;&lt;mtr&gt;&lt;mtd&gt;&lt;mn&gt;4.8&lt;/mn&gt;&lt;mo&gt;÷&lt;/mo&gt;&lt;mn&gt;0.02&lt;/mn&gt;&lt;mtext&gt;&lt;/mtext&gt;&lt;mtext&gt;&lt;/mtext&gt;&lt;mtext&gt;&lt;/mtext&gt;&lt;mfrac&gt;&lt;mn&gt;4.8&lt;/mn&gt;&lt;mn&gt;0.02&lt;/mn&gt;&lt;/mfrac&gt;&lt;mtext&gt;&lt;/mtext&gt;&lt;mtext&gt;&lt;/mtext&gt;&lt;mtext&gt;&lt;/mtext&gt;&lt;mfrac&gt;&lt;mn&gt;480&lt;/mn&gt;&lt;mn&gt;2&lt;/mn&gt;&lt;/mfrac&gt;&lt;mo&gt;=&lt;/mo&gt;&lt;mtext&gt;&lt;/mtext&gt;&lt;mn&gt;240&lt;/mn&gt;&lt;/mtd&gt;&lt;/mtr&gt;&lt;/mtable&gt;&lt;/math&gt;" id="1702" name="Google Shape;1702;p137" title="1 lines Line 1: 4.8 divided by 0.02 4.8 over 0.02 480 over 2 equals 240"/>
          <p:cNvPicPr preferRelativeResize="0"/>
          <p:nvPr/>
        </p:nvPicPr>
        <p:blipFill rotWithShape="1">
          <a:blip r:embed="rId5">
            <a:alphaModFix/>
          </a:blip>
          <a:srcRect b="0" l="57052" r="0" t="0"/>
          <a:stretch/>
        </p:blipFill>
        <p:spPr>
          <a:xfrm>
            <a:off x="6415325" y="2343297"/>
            <a:ext cx="1953273" cy="54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3" name="Google Shape;1703;p137"/>
          <p:cNvCxnSpPr>
            <a:endCxn id="1704" idx="1"/>
          </p:cNvCxnSpPr>
          <p:nvPr/>
        </p:nvCxnSpPr>
        <p:spPr>
          <a:xfrm>
            <a:off x="2387650" y="2695238"/>
            <a:ext cx="1850100" cy="850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137"/>
          <p:cNvCxnSpPr>
            <a:stCxn id="1706" idx="3"/>
            <a:endCxn id="1707" idx="1"/>
          </p:cNvCxnSpPr>
          <p:nvPr/>
        </p:nvCxnSpPr>
        <p:spPr>
          <a:xfrm flipH="1" rot="10800000">
            <a:off x="5044750" y="1771050"/>
            <a:ext cx="1531500" cy="864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8" name="Google Shape;1708;p137"/>
          <p:cNvSpPr/>
          <p:nvPr/>
        </p:nvSpPr>
        <p:spPr>
          <a:xfrm>
            <a:off x="732450" y="1696200"/>
            <a:ext cx="1643700" cy="58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37"/>
          <p:cNvSpPr/>
          <p:nvPr/>
        </p:nvSpPr>
        <p:spPr>
          <a:xfrm>
            <a:off x="690975" y="2406750"/>
            <a:ext cx="1685100" cy="58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37"/>
          <p:cNvSpPr/>
          <p:nvPr/>
        </p:nvSpPr>
        <p:spPr>
          <a:xfrm>
            <a:off x="632650" y="3189550"/>
            <a:ext cx="1685100" cy="58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37"/>
          <p:cNvSpPr/>
          <p:nvPr/>
        </p:nvSpPr>
        <p:spPr>
          <a:xfrm>
            <a:off x="632650" y="3972350"/>
            <a:ext cx="1904700" cy="58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37"/>
          <p:cNvSpPr/>
          <p:nvPr/>
        </p:nvSpPr>
        <p:spPr>
          <a:xfrm>
            <a:off x="4203100" y="1396950"/>
            <a:ext cx="807000" cy="74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37"/>
          <p:cNvSpPr/>
          <p:nvPr/>
        </p:nvSpPr>
        <p:spPr>
          <a:xfrm>
            <a:off x="4237750" y="2205600"/>
            <a:ext cx="807000" cy="860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37"/>
          <p:cNvSpPr/>
          <p:nvPr/>
        </p:nvSpPr>
        <p:spPr>
          <a:xfrm>
            <a:off x="4237750" y="3115988"/>
            <a:ext cx="807000" cy="860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37"/>
          <p:cNvSpPr/>
          <p:nvPr/>
        </p:nvSpPr>
        <p:spPr>
          <a:xfrm>
            <a:off x="4237750" y="4026400"/>
            <a:ext cx="807000" cy="74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37"/>
          <p:cNvSpPr/>
          <p:nvPr/>
        </p:nvSpPr>
        <p:spPr>
          <a:xfrm>
            <a:off x="6576275" y="1396950"/>
            <a:ext cx="1861200" cy="74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37"/>
          <p:cNvSpPr/>
          <p:nvPr/>
        </p:nvSpPr>
        <p:spPr>
          <a:xfrm>
            <a:off x="6576275" y="2218225"/>
            <a:ext cx="1861200" cy="74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37"/>
          <p:cNvSpPr/>
          <p:nvPr/>
        </p:nvSpPr>
        <p:spPr>
          <a:xfrm>
            <a:off x="6415325" y="3052425"/>
            <a:ext cx="2334300" cy="74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37"/>
          <p:cNvSpPr/>
          <p:nvPr/>
        </p:nvSpPr>
        <p:spPr>
          <a:xfrm>
            <a:off x="6667075" y="3886625"/>
            <a:ext cx="1458000" cy="827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7" name="Google Shape;1717;p137"/>
          <p:cNvCxnSpPr>
            <a:endCxn id="1706" idx="1"/>
          </p:cNvCxnSpPr>
          <p:nvPr/>
        </p:nvCxnSpPr>
        <p:spPr>
          <a:xfrm>
            <a:off x="2367250" y="1969950"/>
            <a:ext cx="1870500" cy="665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8" name="Google Shape;1718;p137"/>
          <p:cNvCxnSpPr>
            <a:endCxn id="1713" idx="1"/>
          </p:cNvCxnSpPr>
          <p:nvPr/>
        </p:nvCxnSpPr>
        <p:spPr>
          <a:xfrm>
            <a:off x="2335450" y="3469150"/>
            <a:ext cx="1902300" cy="931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137"/>
          <p:cNvCxnSpPr>
            <a:endCxn id="1712" idx="1"/>
          </p:cNvCxnSpPr>
          <p:nvPr/>
        </p:nvCxnSpPr>
        <p:spPr>
          <a:xfrm flipH="1" rot="10800000">
            <a:off x="2537200" y="1770900"/>
            <a:ext cx="1665900" cy="252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137"/>
          <p:cNvCxnSpPr>
            <a:stCxn id="1704" idx="3"/>
            <a:endCxn id="1716" idx="1"/>
          </p:cNvCxnSpPr>
          <p:nvPr/>
        </p:nvCxnSpPr>
        <p:spPr>
          <a:xfrm>
            <a:off x="5044750" y="3546038"/>
            <a:ext cx="1622400" cy="75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137"/>
          <p:cNvCxnSpPr>
            <a:endCxn id="1715" idx="1"/>
          </p:cNvCxnSpPr>
          <p:nvPr/>
        </p:nvCxnSpPr>
        <p:spPr>
          <a:xfrm flipH="1" rot="10800000">
            <a:off x="5044625" y="3426375"/>
            <a:ext cx="1370700" cy="99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137"/>
          <p:cNvCxnSpPr>
            <a:endCxn id="1714" idx="1"/>
          </p:cNvCxnSpPr>
          <p:nvPr/>
        </p:nvCxnSpPr>
        <p:spPr>
          <a:xfrm>
            <a:off x="5009975" y="1725175"/>
            <a:ext cx="1566300" cy="867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7" name="Google Shape;1727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450" y="1399450"/>
            <a:ext cx="4156626" cy="138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138"/>
          <p:cNvSpPr txBox="1"/>
          <p:nvPr>
            <p:ph idx="1" type="body"/>
          </p:nvPr>
        </p:nvSpPr>
        <p:spPr>
          <a:xfrm>
            <a:off x="2009575" y="1544225"/>
            <a:ext cx="4000500" cy="10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 ÷ 2, 80 ÷ 20 and 800 ÷ 200 all give the same result.</a:t>
            </a:r>
            <a:endParaRPr/>
          </a:p>
        </p:txBody>
      </p:sp>
      <p:sp>
        <p:nvSpPr>
          <p:cNvPr id="1729" name="Google Shape;1729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pic>
        <p:nvPicPr>
          <p:cNvPr id="1730" name="Google Shape;1730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299" y="1764374"/>
            <a:ext cx="1016024" cy="133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38"/>
          <p:cNvSpPr txBox="1"/>
          <p:nvPr>
            <p:ph idx="4294967295" type="subTitle"/>
          </p:nvPr>
        </p:nvSpPr>
        <p:spPr>
          <a:xfrm>
            <a:off x="422100" y="762875"/>
            <a:ext cx="779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Laura says:</a:t>
            </a:r>
            <a:endParaRPr sz="2100"/>
          </a:p>
        </p:txBody>
      </p:sp>
      <p:sp>
        <p:nvSpPr>
          <p:cNvPr id="1732" name="Google Shape;1732;p138"/>
          <p:cNvSpPr txBox="1"/>
          <p:nvPr>
            <p:ph idx="4294967295" type="subTitle"/>
          </p:nvPr>
        </p:nvSpPr>
        <p:spPr>
          <a:xfrm>
            <a:off x="422100" y="3247475"/>
            <a:ext cx="4000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Laura is correct. Explain why?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frac{8}{2}=\ \frac{80}{20}\ =\ \frac{800}{200}&quot;&gt;&lt;mfrac&gt;&lt;mn&gt;8&lt;/mn&gt;&lt;mn&gt;2&lt;/mn&gt;&lt;/mfrac&gt;&lt;mo&gt;=&lt;/mo&gt;&lt;mtext&gt;&lt;/mtext&gt;&lt;mfrac&gt;&lt;mn&gt;80&lt;/mn&gt;&lt;mn&gt;20&lt;/mn&gt;&lt;/mfrac&gt;&lt;mtext&gt;&lt;/mtext&gt;&lt;mo&gt;=&lt;/mo&gt;&lt;mtext&gt;&lt;/mtext&gt;&lt;mfrac&gt;&lt;mn&gt;800&lt;/mn&gt;&lt;mn&gt;200&lt;/mn&gt;&lt;/mfrac&gt;&lt;/math&gt;" id="1733" name="Google Shape;1733;p138" title="eight halves equals 80 over 20 equals 800 over 200"/>
          <p:cNvPicPr preferRelativeResize="0"/>
          <p:nvPr/>
        </p:nvPicPr>
        <p:blipFill rotWithShape="1">
          <a:blip r:embed="rId5">
            <a:alphaModFix/>
          </a:blip>
          <a:srcRect b="0" l="0" r="87100" t="0"/>
          <a:stretch/>
        </p:blipFill>
        <p:spPr>
          <a:xfrm>
            <a:off x="5740200" y="3633700"/>
            <a:ext cx="26987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138"/>
          <p:cNvSpPr txBox="1"/>
          <p:nvPr>
            <p:ph idx="4294967295" type="subTitle"/>
          </p:nvPr>
        </p:nvSpPr>
        <p:spPr>
          <a:xfrm>
            <a:off x="412500" y="3696850"/>
            <a:ext cx="5327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Writing as fractions they are all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equivalent.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735" name="Google Shape;1735;p138"/>
          <p:cNvGrpSpPr/>
          <p:nvPr/>
        </p:nvGrpSpPr>
        <p:grpSpPr>
          <a:xfrm>
            <a:off x="5748798" y="2933985"/>
            <a:ext cx="1016010" cy="1862180"/>
            <a:chOff x="4048549" y="1858806"/>
            <a:chExt cx="1116617" cy="2056295"/>
          </a:xfrm>
        </p:grpSpPr>
        <p:grpSp>
          <p:nvGrpSpPr>
            <p:cNvPr id="1736" name="Google Shape;1736;p138"/>
            <p:cNvGrpSpPr/>
            <p:nvPr/>
          </p:nvGrpSpPr>
          <p:grpSpPr>
            <a:xfrm>
              <a:off x="4098747" y="1858806"/>
              <a:ext cx="1066419" cy="719554"/>
              <a:chOff x="4359316" y="2592225"/>
              <a:chExt cx="1066419" cy="719554"/>
            </a:xfrm>
          </p:grpSpPr>
          <p:sp>
            <p:nvSpPr>
              <p:cNvPr id="1737" name="Google Shape;1737;p138"/>
              <p:cNvSpPr/>
              <p:nvPr/>
            </p:nvSpPr>
            <p:spPr>
              <a:xfrm rot="252558">
                <a:off x="4369077" y="2969248"/>
                <a:ext cx="1046897" cy="304520"/>
              </a:xfrm>
              <a:custGeom>
                <a:rect b="b" l="l" r="r" t="t"/>
                <a:pathLst>
                  <a:path extrusionOk="0" h="20548" w="41876">
                    <a:moveTo>
                      <a:pt x="0" y="20548"/>
                    </a:moveTo>
                    <a:cubicBezTo>
                      <a:pt x="0" y="11550"/>
                      <a:pt x="9026" y="2062"/>
                      <a:pt x="17849" y="296"/>
                    </a:cubicBezTo>
                    <a:cubicBezTo>
                      <a:pt x="27699" y="-1675"/>
                      <a:pt x="38694" y="8960"/>
                      <a:pt x="41876" y="18488"/>
                    </a:cubicBezTo>
                  </a:path>
                </a:pathLst>
              </a:cu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sp>
          <p:sp>
            <p:nvSpPr>
              <p:cNvPr id="1738" name="Google Shape;1738;p138"/>
              <p:cNvSpPr txBox="1"/>
              <p:nvPr/>
            </p:nvSpPr>
            <p:spPr>
              <a:xfrm>
                <a:off x="4529075" y="2592225"/>
                <a:ext cx="742200" cy="35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✕10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39" name="Google Shape;1739;p138"/>
            <p:cNvSpPr/>
            <p:nvPr/>
          </p:nvSpPr>
          <p:spPr>
            <a:xfrm rot="10800000">
              <a:off x="4048549" y="3322295"/>
              <a:ext cx="1046900" cy="304521"/>
            </a:xfrm>
            <a:custGeom>
              <a:rect b="b" l="l" r="r" t="t"/>
              <a:pathLst>
                <a:path extrusionOk="0" h="20548" w="41876">
                  <a:moveTo>
                    <a:pt x="0" y="20548"/>
                  </a:moveTo>
                  <a:cubicBezTo>
                    <a:pt x="0" y="11550"/>
                    <a:pt x="9026" y="2062"/>
                    <a:pt x="17849" y="296"/>
                  </a:cubicBezTo>
                  <a:cubicBezTo>
                    <a:pt x="27699" y="-1675"/>
                    <a:pt x="38694" y="8960"/>
                    <a:pt x="41876" y="18488"/>
                  </a:cubicBezTo>
                </a:path>
              </a:pathLst>
            </a:cu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1740" name="Google Shape;1740;p138"/>
            <p:cNvSpPr txBox="1"/>
            <p:nvPr/>
          </p:nvSpPr>
          <p:spPr>
            <a:xfrm>
              <a:off x="4260869" y="3561401"/>
              <a:ext cx="742200" cy="35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✕10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1" name="Google Shape;1741;p138"/>
          <p:cNvGrpSpPr/>
          <p:nvPr/>
        </p:nvGrpSpPr>
        <p:grpSpPr>
          <a:xfrm>
            <a:off x="6689848" y="2933985"/>
            <a:ext cx="1016010" cy="1862180"/>
            <a:chOff x="4048549" y="1858806"/>
            <a:chExt cx="1116617" cy="2056295"/>
          </a:xfrm>
        </p:grpSpPr>
        <p:grpSp>
          <p:nvGrpSpPr>
            <p:cNvPr id="1742" name="Google Shape;1742;p138"/>
            <p:cNvGrpSpPr/>
            <p:nvPr/>
          </p:nvGrpSpPr>
          <p:grpSpPr>
            <a:xfrm>
              <a:off x="4098747" y="1858806"/>
              <a:ext cx="1066419" cy="719554"/>
              <a:chOff x="4359316" y="2592225"/>
              <a:chExt cx="1066419" cy="719554"/>
            </a:xfrm>
          </p:grpSpPr>
          <p:sp>
            <p:nvSpPr>
              <p:cNvPr id="1743" name="Google Shape;1743;p138"/>
              <p:cNvSpPr/>
              <p:nvPr/>
            </p:nvSpPr>
            <p:spPr>
              <a:xfrm rot="252558">
                <a:off x="4369077" y="2969248"/>
                <a:ext cx="1046897" cy="304520"/>
              </a:xfrm>
              <a:custGeom>
                <a:rect b="b" l="l" r="r" t="t"/>
                <a:pathLst>
                  <a:path extrusionOk="0" h="20548" w="41876">
                    <a:moveTo>
                      <a:pt x="0" y="20548"/>
                    </a:moveTo>
                    <a:cubicBezTo>
                      <a:pt x="0" y="11550"/>
                      <a:pt x="9026" y="2062"/>
                      <a:pt x="17849" y="296"/>
                    </a:cubicBezTo>
                    <a:cubicBezTo>
                      <a:pt x="27699" y="-1675"/>
                      <a:pt x="38694" y="8960"/>
                      <a:pt x="41876" y="18488"/>
                    </a:cubicBezTo>
                  </a:path>
                </a:pathLst>
              </a:cu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sp>
          <p:sp>
            <p:nvSpPr>
              <p:cNvPr id="1744" name="Google Shape;1744;p138"/>
              <p:cNvSpPr txBox="1"/>
              <p:nvPr/>
            </p:nvSpPr>
            <p:spPr>
              <a:xfrm>
                <a:off x="4529075" y="2592225"/>
                <a:ext cx="742200" cy="35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✕10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45" name="Google Shape;1745;p138"/>
            <p:cNvSpPr/>
            <p:nvPr/>
          </p:nvSpPr>
          <p:spPr>
            <a:xfrm rot="10800000">
              <a:off x="4048549" y="3322295"/>
              <a:ext cx="1046900" cy="304521"/>
            </a:xfrm>
            <a:custGeom>
              <a:rect b="b" l="l" r="r" t="t"/>
              <a:pathLst>
                <a:path extrusionOk="0" h="20548" w="41876">
                  <a:moveTo>
                    <a:pt x="0" y="20548"/>
                  </a:moveTo>
                  <a:cubicBezTo>
                    <a:pt x="0" y="11550"/>
                    <a:pt x="9026" y="2062"/>
                    <a:pt x="17849" y="296"/>
                  </a:cubicBezTo>
                  <a:cubicBezTo>
                    <a:pt x="27699" y="-1675"/>
                    <a:pt x="38694" y="8960"/>
                    <a:pt x="41876" y="18488"/>
                  </a:cubicBezTo>
                </a:path>
              </a:pathLst>
            </a:cu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1746" name="Google Shape;1746;p138"/>
            <p:cNvSpPr txBox="1"/>
            <p:nvPr/>
          </p:nvSpPr>
          <p:spPr>
            <a:xfrm>
              <a:off x="4260869" y="3561401"/>
              <a:ext cx="742200" cy="35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✕10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8}{2}=\ \frac{80}{20}\ =\ \frac{800}{200}&quot;&gt;&lt;mfrac&gt;&lt;mn&gt;8&lt;/mn&gt;&lt;mn&gt;2&lt;/mn&gt;&lt;/mfrac&gt;&lt;mo&gt;=&lt;/mo&gt;&lt;mtext&gt;&lt;/mtext&gt;&lt;mfrac&gt;&lt;mn&gt;80&lt;/mn&gt;&lt;mn&gt;20&lt;/mn&gt;&lt;/mfrac&gt;&lt;mtext&gt;&lt;/mtext&gt;&lt;mo&gt;=&lt;/mo&gt;&lt;mtext&gt;&lt;/mtext&gt;&lt;mfrac&gt;&lt;mn&gt;800&lt;/mn&gt;&lt;mn&gt;200&lt;/mn&gt;&lt;/mfrac&gt;&lt;/math&gt;" id="1747" name="Google Shape;1747;p138" title="eight halves equals 80 over 20 equals 800 over 200"/>
          <p:cNvPicPr preferRelativeResize="0"/>
          <p:nvPr/>
        </p:nvPicPr>
        <p:blipFill rotWithShape="1">
          <a:blip r:embed="rId5">
            <a:alphaModFix/>
          </a:blip>
          <a:srcRect b="0" l="12900" r="48020" t="0"/>
          <a:stretch/>
        </p:blipFill>
        <p:spPr>
          <a:xfrm>
            <a:off x="6010074" y="3633700"/>
            <a:ext cx="8175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=\ \frac{80}{20}\ =\ \frac{800}{200}&quot;&gt;&lt;mfrac&gt;&lt;mn&gt;8&lt;/mn&gt;&lt;mn&gt;2&lt;/mn&gt;&lt;/mfrac&gt;&lt;mo&gt;=&lt;/mo&gt;&lt;mtext&gt;&lt;/mtext&gt;&lt;mfrac&gt;&lt;mn&gt;80&lt;/mn&gt;&lt;mn&gt;20&lt;/mn&gt;&lt;/mfrac&gt;&lt;mtext&gt;&lt;/mtext&gt;&lt;mo&gt;=&lt;/mo&gt;&lt;mtext&gt;&lt;/mtext&gt;&lt;mfrac&gt;&lt;mn&gt;800&lt;/mn&gt;&lt;mn&gt;200&lt;/mn&gt;&lt;/mfrac&gt;&lt;/math&gt;" id="1748" name="Google Shape;1748;p138" title="eight halves equals 80 over 20 equals 800 over 200"/>
          <p:cNvPicPr preferRelativeResize="0"/>
          <p:nvPr/>
        </p:nvPicPr>
        <p:blipFill rotWithShape="1">
          <a:blip r:embed="rId5">
            <a:alphaModFix/>
          </a:blip>
          <a:srcRect b="0" l="53583" r="0" t="0"/>
          <a:stretch/>
        </p:blipFill>
        <p:spPr>
          <a:xfrm>
            <a:off x="6869794" y="3633700"/>
            <a:ext cx="971076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39"/>
          <p:cNvSpPr/>
          <p:nvPr/>
        </p:nvSpPr>
        <p:spPr>
          <a:xfrm>
            <a:off x="1901625" y="730750"/>
            <a:ext cx="5129400" cy="104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39"/>
          <p:cNvSpPr txBox="1"/>
          <p:nvPr>
            <p:ph idx="1" type="body"/>
          </p:nvPr>
        </p:nvSpPr>
        <p:spPr>
          <a:xfrm>
            <a:off x="2028925" y="817200"/>
            <a:ext cx="5002200" cy="98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Here is a calculation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Work out the answer to</a:t>
            </a:r>
            <a:endParaRPr sz="2000"/>
          </a:p>
        </p:txBody>
      </p:sp>
      <p:sp>
        <p:nvSpPr>
          <p:cNvPr id="1755" name="Google Shape;1755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6.4\ \div0.8\ =\ 33&quot;&gt;&lt;mn&gt;26.4&lt;/mn&gt;&lt;mtext&gt;&lt;/mtext&gt;&lt;mo&gt;÷&lt;/mo&gt;&lt;mn&gt;0.8&lt;/mn&gt;&lt;mtext&gt;&lt;/mtext&gt;&lt;mo&gt;=&lt;/mo&gt;&lt;mtext&gt;&lt;/mtext&gt;&lt;mn&gt;33&lt;/mn&gt;&lt;/math&gt;" id="1756" name="Google Shape;1756;p139" title="26.4 division sign 0.8 equals 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0561" y="859850"/>
            <a:ext cx="2195725" cy="22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6.4\ \div0.08\ =\ &quot;&gt;&lt;mn&gt;26.4&lt;/mn&gt;&lt;mtext&gt;&lt;/mtext&gt;&lt;mo&gt;÷&lt;/mo&gt;&lt;mn&gt;0.08&lt;/mn&gt;&lt;mtext&gt;&lt;/mtext&gt;&lt;mo&gt;=&lt;/mo&gt;&lt;mtext&gt;&lt;/mtext&gt;&lt;/math&gt;" id="1757" name="Google Shape;1757;p139" title="26.4 division sign 0.08 equals"/>
          <p:cNvPicPr preferRelativeResize="0"/>
          <p:nvPr/>
        </p:nvPicPr>
        <p:blipFill rotWithShape="1">
          <a:blip r:embed="rId4">
            <a:alphaModFix/>
          </a:blip>
          <a:srcRect b="0" l="0" r="12945" t="0"/>
          <a:stretch/>
        </p:blipFill>
        <p:spPr>
          <a:xfrm>
            <a:off x="5003475" y="1342474"/>
            <a:ext cx="1638231" cy="2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139"/>
          <p:cNvSpPr txBox="1"/>
          <p:nvPr>
            <p:ph idx="4294967295" type="subTitle"/>
          </p:nvPr>
        </p:nvSpPr>
        <p:spPr>
          <a:xfrm>
            <a:off x="459175" y="3640400"/>
            <a:ext cx="4000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Who is correct? Explain.</a:t>
            </a:r>
            <a:endParaRPr sz="2100"/>
          </a:p>
        </p:txBody>
      </p:sp>
      <p:sp>
        <p:nvSpPr>
          <p:cNvPr id="1759" name="Google Shape;1759;p139"/>
          <p:cNvSpPr txBox="1"/>
          <p:nvPr>
            <p:ph idx="4294967295" type="subTitle"/>
          </p:nvPr>
        </p:nvSpPr>
        <p:spPr>
          <a:xfrm>
            <a:off x="433200" y="4008600"/>
            <a:ext cx="8224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Aisha. Using equivalent fractions and simplifying each time, the answer is 330.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6.4}{0.08}=\ \frac{2640}{8}=\frac{1320}{4}=\frac{660}{2}=330&quot;&gt;&lt;mfrac&gt;&lt;mn&gt;26.4&lt;/mn&gt;&lt;mn&gt;0.08&lt;/mn&gt;&lt;/mfrac&gt;&lt;mo&gt;=&lt;/mo&gt;&lt;mtext&gt;&lt;/mtext&gt;&lt;mfrac&gt;&lt;mn&gt;2640&lt;/mn&gt;&lt;mn&gt;8&lt;/mn&gt;&lt;/mfrac&gt;&lt;mo&gt;=&lt;/mo&gt;&lt;mfrac&gt;&lt;mn&gt;1320&lt;/mn&gt;&lt;mn&gt;4&lt;/mn&gt;&lt;/mfrac&gt;&lt;mo&gt;=&lt;/mo&gt;&lt;mfrac&gt;&lt;mn&gt;660&lt;/mn&gt;&lt;mn&gt;2&lt;/mn&gt;&lt;/mfrac&gt;&lt;mo&gt;=&lt;/mo&gt;&lt;mn&gt;330&lt;/mn&gt;&lt;/math&gt;" id="1760" name="Google Shape;1760;p139" title="26.4 over 0.08 equals 2640 over 8 equals 1320 over 4 equals 660 over 2 equals 330"/>
          <p:cNvPicPr preferRelativeResize="0"/>
          <p:nvPr/>
        </p:nvPicPr>
        <p:blipFill rotWithShape="1">
          <a:blip r:embed="rId5">
            <a:alphaModFix/>
          </a:blip>
          <a:srcRect b="0" l="0" r="79443" t="0"/>
          <a:stretch/>
        </p:blipFill>
        <p:spPr>
          <a:xfrm>
            <a:off x="2579325" y="4353625"/>
            <a:ext cx="808272" cy="48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.4}{0.08}=\ \frac{2640}{8}=\frac{1320}{4}=\frac{660}{2}=330&quot;&gt;&lt;mfrac&gt;&lt;mn&gt;26.4&lt;/mn&gt;&lt;mn&gt;0.08&lt;/mn&gt;&lt;/mfrac&gt;&lt;mo&gt;=&lt;/mo&gt;&lt;mtext&gt;&lt;/mtext&gt;&lt;mfrac&gt;&lt;mn&gt;2640&lt;/mn&gt;&lt;mn&gt;8&lt;/mn&gt;&lt;/mfrac&gt;&lt;mo&gt;=&lt;/mo&gt;&lt;mfrac&gt;&lt;mn&gt;1320&lt;/mn&gt;&lt;mn&gt;4&lt;/mn&gt;&lt;/mfrac&gt;&lt;mo&gt;=&lt;/mo&gt;&lt;mfrac&gt;&lt;mn&gt;660&lt;/mn&gt;&lt;mn&gt;2&lt;/mn&gt;&lt;/mfrac&gt;&lt;mo&gt;=&lt;/mo&gt;&lt;mn&gt;330&lt;/mn&gt;&lt;/math&gt;" id="1761" name="Google Shape;1761;p139" title="26.4 over 0.08 equals 2640 over 8 equals 1320 over 4 equals 660 over 2 equals 330"/>
          <p:cNvPicPr preferRelativeResize="0"/>
          <p:nvPr/>
        </p:nvPicPr>
        <p:blipFill rotWithShape="1">
          <a:blip r:embed="rId5">
            <a:alphaModFix/>
          </a:blip>
          <a:srcRect b="0" l="21494" r="54953" t="0"/>
          <a:stretch/>
        </p:blipFill>
        <p:spPr>
          <a:xfrm>
            <a:off x="3424360" y="4353625"/>
            <a:ext cx="926121" cy="48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.4}{0.08}=\ \frac{2640}{8}=\frac{1320}{4}=\frac{660}{2}=330&quot;&gt;&lt;mfrac&gt;&lt;mn&gt;26.4&lt;/mn&gt;&lt;mn&gt;0.08&lt;/mn&gt;&lt;/mfrac&gt;&lt;mo&gt;=&lt;/mo&gt;&lt;mtext&gt;&lt;/mtext&gt;&lt;mfrac&gt;&lt;mn&gt;2640&lt;/mn&gt;&lt;mn&gt;8&lt;/mn&gt;&lt;/mfrac&gt;&lt;mo&gt;=&lt;/mo&gt;&lt;mfrac&gt;&lt;mn&gt;1320&lt;/mn&gt;&lt;mn&gt;4&lt;/mn&gt;&lt;/mfrac&gt;&lt;mo&gt;=&lt;/mo&gt;&lt;mfrac&gt;&lt;mn&gt;660&lt;/mn&gt;&lt;mn&gt;2&lt;/mn&gt;&lt;/mfrac&gt;&lt;mo&gt;=&lt;/mo&gt;&lt;mn&gt;330&lt;/mn&gt;&lt;/math&gt;" id="1762" name="Google Shape;1762;p139" title="26.4 over 0.08 equals 2640 over 8 equals 1320 over 4 equals 660 over 2 equals 330"/>
          <p:cNvPicPr preferRelativeResize="0"/>
          <p:nvPr/>
        </p:nvPicPr>
        <p:blipFill rotWithShape="1">
          <a:blip r:embed="rId5">
            <a:alphaModFix/>
          </a:blip>
          <a:srcRect b="0" l="45045" r="30005" t="0"/>
          <a:stretch/>
        </p:blipFill>
        <p:spPr>
          <a:xfrm>
            <a:off x="4350482" y="4353625"/>
            <a:ext cx="980992" cy="48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.4}{0.08}=\ \frac{2640}{8}=\frac{1320}{4}=\frac{660}{2}=330&quot;&gt;&lt;mfrac&gt;&lt;mn&gt;26.4&lt;/mn&gt;&lt;mn&gt;0.08&lt;/mn&gt;&lt;/mfrac&gt;&lt;mo&gt;=&lt;/mo&gt;&lt;mtext&gt;&lt;/mtext&gt;&lt;mfrac&gt;&lt;mn&gt;2640&lt;/mn&gt;&lt;mn&gt;8&lt;/mn&gt;&lt;/mfrac&gt;&lt;mo&gt;=&lt;/mo&gt;&lt;mfrac&gt;&lt;mn&gt;1320&lt;/mn&gt;&lt;mn&gt;4&lt;/mn&gt;&lt;/mfrac&gt;&lt;mo&gt;=&lt;/mo&gt;&lt;mfrac&gt;&lt;mn&gt;660&lt;/mn&gt;&lt;mn&gt;2&lt;/mn&gt;&lt;/mfrac&gt;&lt;mo&gt;=&lt;/mo&gt;&lt;mn&gt;330&lt;/mn&gt;&lt;/math&gt;" id="1763" name="Google Shape;1763;p139" title="26.4 over 0.08 equals 2640 over 8 equals 1320 over 4 equals 660 over 2 equals 330"/>
          <p:cNvPicPr preferRelativeResize="0"/>
          <p:nvPr/>
        </p:nvPicPr>
        <p:blipFill rotWithShape="1">
          <a:blip r:embed="rId5">
            <a:alphaModFix/>
          </a:blip>
          <a:srcRect b="0" l="69238" r="0" t="0"/>
          <a:stretch/>
        </p:blipFill>
        <p:spPr>
          <a:xfrm>
            <a:off x="5301756" y="4349550"/>
            <a:ext cx="1209520" cy="4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4" name="Google Shape;1764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3313" y="2788710"/>
            <a:ext cx="592170" cy="77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3200" y="2705302"/>
            <a:ext cx="439825" cy="83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1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6037" y="1832050"/>
            <a:ext cx="3621011" cy="14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39"/>
          <p:cNvSpPr txBox="1"/>
          <p:nvPr/>
        </p:nvSpPr>
        <p:spPr>
          <a:xfrm>
            <a:off x="967251" y="1812800"/>
            <a:ext cx="34269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“The answer is 330 because the divisor is 10 times smaller, so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quotient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will be 10 times bigger.”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8" name="Google Shape;1768;p1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00400" y="1812800"/>
            <a:ext cx="3674048" cy="14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139"/>
          <p:cNvSpPr txBox="1"/>
          <p:nvPr/>
        </p:nvSpPr>
        <p:spPr>
          <a:xfrm>
            <a:off x="5254825" y="1757775"/>
            <a:ext cx="35490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“The answer 3.3 because the divisor is 10 times smaller, so the quotient will be 10 times smaller.”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39"/>
          <p:cNvSpPr txBox="1"/>
          <p:nvPr/>
        </p:nvSpPr>
        <p:spPr>
          <a:xfrm>
            <a:off x="801600" y="3174575"/>
            <a:ext cx="8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/>
          </a:p>
        </p:txBody>
      </p:sp>
      <p:sp>
        <p:nvSpPr>
          <p:cNvPr id="1771" name="Google Shape;1771;p139"/>
          <p:cNvSpPr txBox="1"/>
          <p:nvPr/>
        </p:nvSpPr>
        <p:spPr>
          <a:xfrm>
            <a:off x="5200400" y="3240000"/>
            <a:ext cx="8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140"/>
          <p:cNvSpPr txBox="1"/>
          <p:nvPr>
            <p:ph idx="4294967295" type="body"/>
          </p:nvPr>
        </p:nvSpPr>
        <p:spPr>
          <a:xfrm>
            <a:off x="324000" y="759300"/>
            <a:ext cx="8594100" cy="8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blanks so the fraction is equivalent to the calculation.</a:t>
            </a:r>
            <a:endParaRPr/>
          </a:p>
        </p:txBody>
      </p:sp>
      <p:sp>
        <p:nvSpPr>
          <p:cNvPr id="1777" name="Google Shape;1777;p140"/>
          <p:cNvSpPr/>
          <p:nvPr/>
        </p:nvSpPr>
        <p:spPr>
          <a:xfrm>
            <a:off x="3078925" y="2278800"/>
            <a:ext cx="2285700" cy="94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.8 ÷ 0.8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  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8" name="Google Shape;1778;p140"/>
          <p:cNvCxnSpPr/>
          <p:nvPr/>
        </p:nvCxnSpPr>
        <p:spPr>
          <a:xfrm flipH="1" rot="10800000">
            <a:off x="5129250" y="1637388"/>
            <a:ext cx="999900" cy="623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9" name="Google Shape;1779;p140"/>
          <p:cNvCxnSpPr/>
          <p:nvPr/>
        </p:nvCxnSpPr>
        <p:spPr>
          <a:xfrm>
            <a:off x="5001600" y="3240000"/>
            <a:ext cx="1255200" cy="360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0" name="Google Shape;1780;p140"/>
          <p:cNvCxnSpPr>
            <a:stCxn id="1777" idx="2"/>
          </p:cNvCxnSpPr>
          <p:nvPr/>
        </p:nvCxnSpPr>
        <p:spPr>
          <a:xfrm flipH="1">
            <a:off x="3961675" y="3221700"/>
            <a:ext cx="260100" cy="807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1" name="Google Shape;1781;p140"/>
          <p:cNvCxnSpPr/>
          <p:nvPr/>
        </p:nvCxnSpPr>
        <p:spPr>
          <a:xfrm flipH="1">
            <a:off x="2507250" y="3221700"/>
            <a:ext cx="759900" cy="39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2" name="Google Shape;1782;p140"/>
          <p:cNvCxnSpPr/>
          <p:nvPr/>
        </p:nvCxnSpPr>
        <p:spPr>
          <a:xfrm rot="10800000">
            <a:off x="2857550" y="1862950"/>
            <a:ext cx="656400" cy="40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3" name="Google Shape;1783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84" name="Google Shape;1784;p14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0" r="77023" t="0"/>
          <a:stretch/>
        </p:blipFill>
        <p:spPr>
          <a:xfrm>
            <a:off x="6320440" y="1244375"/>
            <a:ext cx="835950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85" name="Google Shape;1785;p14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22696" r="56418" t="0"/>
          <a:stretch/>
        </p:blipFill>
        <p:spPr>
          <a:xfrm>
            <a:off x="6223935" y="3410200"/>
            <a:ext cx="759901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86" name="Google Shape;1786;p14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45227" r="29623" t="0"/>
          <a:stretch/>
        </p:blipFill>
        <p:spPr>
          <a:xfrm>
            <a:off x="3202900" y="4008448"/>
            <a:ext cx="758892" cy="62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87" name="Google Shape;1787;p14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87149" r="0" t="0"/>
          <a:stretch/>
        </p:blipFill>
        <p:spPr>
          <a:xfrm>
            <a:off x="2307464" y="1720013"/>
            <a:ext cx="467525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788" name="Google Shape;1788;p140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70396" r="13895" t="0"/>
          <a:stretch/>
        </p:blipFill>
        <p:spPr>
          <a:xfrm>
            <a:off x="1879696" y="3221688"/>
            <a:ext cx="571500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9" name="Google Shape;1789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534" y="1692046"/>
            <a:ext cx="467525" cy="49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83" y="3246975"/>
            <a:ext cx="534925" cy="4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" name="Google Shape;1791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8601" y="4360325"/>
            <a:ext cx="534925" cy="465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2" name="Google Shape;1792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7988" y="3077100"/>
            <a:ext cx="534925" cy="465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3776" y="1541988"/>
            <a:ext cx="534925" cy="465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1"/>
          <p:cNvSpPr txBox="1"/>
          <p:nvPr>
            <p:ph idx="1" type="body"/>
          </p:nvPr>
        </p:nvSpPr>
        <p:spPr>
          <a:xfrm>
            <a:off x="324000" y="711868"/>
            <a:ext cx="8237700" cy="6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Work out the answer to the following. You must show your working out.</a:t>
            </a:r>
            <a:endParaRPr sz="2000"/>
          </a:p>
        </p:txBody>
      </p:sp>
      <p:sp>
        <p:nvSpPr>
          <p:cNvPr id="1799" name="Google Shape;1799;p14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41"/>
          <p:cNvSpPr txBox="1"/>
          <p:nvPr/>
        </p:nvSpPr>
        <p:spPr>
          <a:xfrm>
            <a:off x="240250" y="1383582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41"/>
          <p:cNvSpPr txBox="1"/>
          <p:nvPr/>
        </p:nvSpPr>
        <p:spPr>
          <a:xfrm>
            <a:off x="240250" y="2714625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41"/>
          <p:cNvSpPr txBox="1"/>
          <p:nvPr/>
        </p:nvSpPr>
        <p:spPr>
          <a:xfrm>
            <a:off x="240250" y="3933825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.4\ \div0.4\ =\ \frac{12.4}{0.4}=\frac{124}{4}=\frac{62}{2}=31&quot;&gt;&lt;mn&gt;12.4&lt;/mn&gt;&lt;mtext&gt;&lt;/mtext&gt;&lt;mo&gt;÷&lt;/mo&gt;&lt;mn&gt;0.4&lt;/mn&gt;&lt;mtext&gt;&lt;/mtext&gt;&lt;mo&gt;=&lt;/mo&gt;&lt;mtext&gt;&lt;/mtext&gt;&lt;mfrac&gt;&lt;mn&gt;12.4&lt;/mn&gt;&lt;mn&gt;0.4&lt;/mn&gt;&lt;/mfrac&gt;&lt;mo&gt;=&lt;/mo&gt;&lt;mfrac&gt;&lt;mn&gt;124&lt;/mn&gt;&lt;mn&gt;4&lt;/mn&gt;&lt;/mfrac&gt;&lt;mo&gt;=&lt;/mo&gt;&lt;mfrac&gt;&lt;mn&gt;62&lt;/mn&gt;&lt;mn&gt;2&lt;/mn&gt;&lt;/mfrac&gt;&lt;mo&gt;=&lt;/mo&gt;&lt;mn&gt;31&lt;/mn&gt;&lt;/math&gt;" id="1803" name="Google Shape;1803;p141" title="12.4 division sign 0.4 equals 12.4 over 0.4 equals 124 over 4 equals 62 over 2 equals 31"/>
          <p:cNvPicPr preferRelativeResize="0"/>
          <p:nvPr/>
        </p:nvPicPr>
        <p:blipFill rotWithShape="1">
          <a:blip r:embed="rId3">
            <a:alphaModFix/>
          </a:blip>
          <a:srcRect b="0" l="0" r="63463" t="0"/>
          <a:stretch/>
        </p:blipFill>
        <p:spPr>
          <a:xfrm>
            <a:off x="701425" y="2625400"/>
            <a:ext cx="1966746" cy="70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 \div0.12\ =\ \frac{4.2}{0.12}=\frac{420}{12}=\frac{210}{6}=\frac{105}{3}=35&quot;&gt;&lt;mn&gt;4.2&lt;/mn&gt;&lt;mtext&gt;&lt;/mtext&gt;&lt;mo&gt;÷&lt;/mo&gt;&lt;mn&gt;0.12&lt;/mn&gt;&lt;mtext&gt;&lt;/mtext&gt;&lt;mo&gt;=&lt;/mo&gt;&lt;mtext&gt;&lt;/mtext&gt;&lt;mfrac&gt;&lt;mn&gt;4.2&lt;/mn&gt;&lt;mn&gt;0.12&lt;/mn&gt;&lt;/mfrac&gt;&lt;mo&gt;=&lt;/mo&gt;&lt;mfrac&gt;&lt;mn&gt;420&lt;/mn&gt;&lt;mn&gt;12&lt;/mn&gt;&lt;/mfrac&gt;&lt;mo&gt;=&lt;/mo&gt;&lt;mfrac&gt;&lt;mn&gt;210&lt;/mn&gt;&lt;mn&gt;6&lt;/mn&gt;&lt;/mfrac&gt;&lt;mo&gt;=&lt;/mo&gt;&lt;mfrac&gt;&lt;mn&gt;105&lt;/mn&gt;&lt;mn&gt;3&lt;/mn&gt;&lt;/mfrac&gt;&lt;mo&gt;=&lt;/mo&gt;&lt;mn&gt;35&lt;/mn&gt;&lt;/math&gt;" id="1804" name="Google Shape;1804;p141" title="4.2 division sign 0.12 equals 4.2 over 0.12 equals 420 over 12 equals 210 over 6 equals 105 over 3 equals 35"/>
          <p:cNvPicPr preferRelativeResize="0"/>
          <p:nvPr/>
        </p:nvPicPr>
        <p:blipFill rotWithShape="1">
          <a:blip r:embed="rId4">
            <a:alphaModFix/>
          </a:blip>
          <a:srcRect b="0" l="0" r="70329" t="0"/>
          <a:stretch/>
        </p:blipFill>
        <p:spPr>
          <a:xfrm>
            <a:off x="701425" y="3878538"/>
            <a:ext cx="1966745" cy="70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6.2\div0.2=\frac{46.2}{0.2}=\frac{462}{2}=231&quot;&gt;&lt;mn&gt;46.2&lt;/mn&gt;&lt;mo&gt;÷&lt;/mo&gt;&lt;mn&gt;0.2&lt;/mn&gt;&lt;mo&gt;=&lt;/mo&gt;&lt;mfrac&gt;&lt;mn&gt;46.2&lt;/mn&gt;&lt;mn&gt;0.2&lt;/mn&gt;&lt;/mfrac&gt;&lt;mo&gt;=&lt;/mo&gt;&lt;mfrac&gt;&lt;mn&gt;462&lt;/mn&gt;&lt;mn&gt;2&lt;/mn&gt;&lt;/mfrac&gt;&lt;mo&gt;=&lt;/mo&gt;&lt;mn&gt;231&lt;/mn&gt;&lt;/math&gt;" id="1805" name="Google Shape;1805;p141" title="46.2 divided by 0.2 equals 46.2 over 0.2 equals 462 over 2 equals 231"/>
          <p:cNvPicPr preferRelativeResize="0"/>
          <p:nvPr/>
        </p:nvPicPr>
        <p:blipFill rotWithShape="1">
          <a:blip r:embed="rId5">
            <a:alphaModFix/>
          </a:blip>
          <a:srcRect b="0" l="0" r="60575" t="0"/>
          <a:stretch/>
        </p:blipFill>
        <p:spPr>
          <a:xfrm>
            <a:off x="692575" y="1316975"/>
            <a:ext cx="1752549" cy="7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0" name="Google Shape;1810;p142"/>
          <p:cNvGraphicFramePr/>
          <p:nvPr/>
        </p:nvGraphicFramePr>
        <p:xfrm>
          <a:off x="2602475" y="73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{8ABB1200-652E-41C6-A384-FE8306D777DB}</a:tableStyleId>
              </a:tblPr>
              <a:tblGrid>
                <a:gridCol w="970475"/>
                <a:gridCol w="970475"/>
                <a:gridCol w="970475"/>
                <a:gridCol w="970475"/>
                <a:gridCol w="970475"/>
                <a:gridCol w="970475"/>
              </a:tblGrid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11" name="Google Shape;1811;p14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142"/>
          <p:cNvSpPr txBox="1"/>
          <p:nvPr>
            <p:ph idx="1" type="body"/>
          </p:nvPr>
        </p:nvSpPr>
        <p:spPr>
          <a:xfrm>
            <a:off x="324000" y="1079995"/>
            <a:ext cx="2086800" cy="21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Shade in all the equivalent fractions to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4.8 ÷ 0.4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to reveal a word</a:t>
            </a:r>
            <a:endParaRPr sz="1900"/>
          </a:p>
        </p:txBody>
      </p:sp>
      <p:grpSp>
        <p:nvGrpSpPr>
          <p:cNvPr id="1813" name="Google Shape;1813;p142"/>
          <p:cNvGrpSpPr/>
          <p:nvPr/>
        </p:nvGrpSpPr>
        <p:grpSpPr>
          <a:xfrm>
            <a:off x="2857325" y="800775"/>
            <a:ext cx="5384884" cy="3766774"/>
            <a:chOff x="9258125" y="800775"/>
            <a:chExt cx="5384884" cy="3766774"/>
          </a:xfrm>
        </p:grpSpPr>
        <p:pic>
          <p:nvPicPr>
            <p:cNvPr descr="&lt;math xmlns=&quot;http://www.w3.org/1998/Math/MathML&quot; display=&quot;block&quot; data-is-equatio=&quot;1&quot; data-latex=&quot;\frac{48}{4}&quot;&gt;&lt;mfrac&gt;&lt;mn&gt;48&lt;/mn&gt;&lt;mn&gt;4&lt;/mn&gt;&lt;/mfrac&gt;&lt;/math&gt;" id="1814" name="Google Shape;1814;p142" title="48 over 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323164" y="3219276"/>
              <a:ext cx="287250" cy="5607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80}{40}&quot;&gt;&lt;mfrac&gt;&lt;mn&gt;480&lt;/mn&gt;&lt;mn&gt;40&lt;/mn&gt;&lt;/mfrac&gt;&lt;/math&gt;" id="1815" name="Google Shape;1815;p142" title="480 over 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97876" y="2461363"/>
              <a:ext cx="365425" cy="501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4}&quot;&gt;&lt;mfrac&gt;&lt;mn&gt;4.8&lt;/mn&gt;&lt;mn&gt;4&lt;/mn&gt;&lt;/mfrac&gt;&lt;/math&gt;" id="1816" name="Google Shape;1816;p142" title="4.8 over 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310949" y="3225900"/>
              <a:ext cx="365425" cy="581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817" name="Google Shape;1817;p142" title="0.48 over 0.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32797" y="4038327"/>
              <a:ext cx="443575" cy="526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}{2}&quot;&gt;&lt;mfrac&gt;&lt;mn&gt;24&lt;/mn&gt;&lt;mn&gt;2&lt;/mn&gt;&lt;/mfrac&gt;&lt;/math&gt;" id="1818" name="Google Shape;1818;p142" title="24 over 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1317966" y="3981576"/>
              <a:ext cx="287250" cy="56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.4}{0.2}&quot;&gt;&lt;mfrac&gt;&lt;mn&gt;2.4&lt;/mn&gt;&lt;mn&gt;0.2&lt;/mn&gt;&lt;/mfrac&gt;&lt;/math&gt;" id="1819" name="Google Shape;1819;p142" title="2.4 over 0.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258801" y="1610512"/>
              <a:ext cx="365425" cy="587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0}{20}&quot;&gt;&lt;mfrac&gt;&lt;mn&gt;240&lt;/mn&gt;&lt;mn&gt;20&lt;/mn&gt;&lt;/mfrac&gt;&lt;/math&gt;" id="1820" name="Google Shape;1820;p142" title="240 over 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1239812" y="2408874"/>
              <a:ext cx="443575" cy="6088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2}{1}&quot;&gt;&lt;mfrac&gt;&lt;mn&gt;12&lt;/mn&gt;&lt;mn&gt;1&lt;/mn&gt;&lt;/mfrac&gt;&lt;/math&gt;" id="1821" name="Google Shape;1821;p142" title="twelve one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9297887" y="828337"/>
              <a:ext cx="287250" cy="55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.2}{0.1}&quot;&gt;&lt;mfrac&gt;&lt;mn&gt;1.2&lt;/mn&gt;&lt;mn&gt;0.1&lt;/mn&gt;&lt;/mfrac&gt;&lt;/math&gt;" id="1822" name="Google Shape;1822;p142" title="1.2 over 0.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1239800" y="810000"/>
              <a:ext cx="365425" cy="59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96}{8}&quot;&gt;&lt;mfrac&gt;&lt;mn&gt;96&lt;/mn&gt;&lt;mn&gt;8&lt;/mn&gt;&lt;/mfrac&gt;&lt;/math&gt;" id="1823" name="Google Shape;1823;p142" title="96 over 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1317976" y="1620001"/>
              <a:ext cx="287240" cy="568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9.6}{0.8}&quot;&gt;&lt;mfrac&gt;&lt;mn&gt;9.6&lt;/mn&gt;&lt;mn&gt;0.8&lt;/mn&gt;&lt;/mfrac&gt;&lt;/math&gt;" id="1824" name="Google Shape;1824;p142" title="9.6 over 0.8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0310949" y="2404987"/>
              <a:ext cx="365425" cy="59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960}{80}&quot;&gt;&lt;mfrac&gt;&lt;mn&gt;960&lt;/mn&gt;&lt;mn&gt;80&lt;/mn&gt;&lt;/mfrac&gt;&lt;/math&gt;" id="1825" name="Google Shape;1825;p142" title="960 over 80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13199498" y="3240000"/>
              <a:ext cx="406031" cy="55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2}{1}&quot;&gt;&lt;mfrac&gt;&lt;mn&gt;12&lt;/mn&gt;&lt;mn&gt;1&lt;/mn&gt;&lt;/mfrac&gt;&lt;/math&gt;" id="1826" name="Google Shape;1826;p142" title="twelve one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3259887" y="2436625"/>
              <a:ext cx="287250" cy="55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4}&quot;&gt;&lt;mfrac&gt;&lt;mn&gt;4.8&lt;/mn&gt;&lt;mn&gt;4&lt;/mn&gt;&lt;/mfrac&gt;&lt;/math&gt;" id="1827" name="Google Shape;1827;p142" title="4.8 over 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175211" y="3971163"/>
              <a:ext cx="365425" cy="581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1828" name="Google Shape;1828;p142" title="4.8 over 0.4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9258125" y="3194026"/>
              <a:ext cx="406025" cy="6112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1829" name="Google Shape;1829;p142" title="4.8 over 0.4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9297875" y="3956326"/>
              <a:ext cx="406025" cy="6112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8}{40}&quot;&gt;&lt;mfrac&gt;&lt;mn&gt;48&lt;/mn&gt;&lt;mn&gt;40&lt;/mn&gt;&lt;/mfrac&gt;&lt;/math&gt;" id="1830" name="Google Shape;1830;p142" title="48 over 40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12197641" y="800775"/>
              <a:ext cx="320549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800}{40}&quot;&gt;&lt;mfrac&gt;&lt;mn&gt;4800&lt;/mn&gt;&lt;mn&gt;40&lt;/mn&gt;&lt;/mfrac&gt;&lt;/math&gt;" id="1831" name="Google Shape;1831;p142" title="4800 over 40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10173000" y="822488"/>
              <a:ext cx="563163" cy="61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0.04}&quot;&gt;&lt;mfrac&gt;&lt;mn&gt;4.8&lt;/mn&gt;&lt;mn&gt;0.04&lt;/mn&gt;&lt;/mfrac&gt;&lt;/math&gt;" id="1832" name="Google Shape;1832;p142" title="4.8 over 0.04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12092191" y="3178580"/>
              <a:ext cx="531437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8}{0.04}&quot;&gt;&lt;mfrac&gt;&lt;mn&gt;48&lt;/mn&gt;&lt;mn&gt;0.04&lt;/mn&gt;&lt;/mfrac&gt;&lt;/math&gt;" id="1833" name="Google Shape;1833;p142" title="48 over 0.04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12092197" y="2385980"/>
              <a:ext cx="531437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1834" name="Google Shape;1834;p142" title="240 over 0.02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12130622" y="1577124"/>
              <a:ext cx="531437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1835" name="Google Shape;1835;p142" title="24 over 0.02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10205388" y="1583580"/>
              <a:ext cx="531437" cy="59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4}&quot;&gt;&lt;mfrac&gt;&lt;mn&gt;4.8&lt;/mn&gt;&lt;mn&gt;4&lt;/mn&gt;&lt;/mfrac&gt;&lt;/math&gt;" id="1836" name="Google Shape;1836;p142" title="4.8 over 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161399" y="3219450"/>
              <a:ext cx="365425" cy="581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837" name="Google Shape;1837;p142" title="0.48 over 0.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083247" y="4031877"/>
              <a:ext cx="443575" cy="526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1838" name="Google Shape;1838;p142" title="24 over 0.02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14055838" y="1577130"/>
              <a:ext cx="531437" cy="59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1839" name="Google Shape;1839;p142" title="240 over 0.02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14111572" y="2366212"/>
              <a:ext cx="531437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4}&quot;&gt;&lt;mfrac&gt;&lt;mn&gt;4.8&lt;/mn&gt;&lt;mn&gt;4&lt;/mn&gt;&lt;/mfrac&gt;&lt;/math&gt;" id="1840" name="Google Shape;1840;p142" title="4.8 over 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220786" y="1605075"/>
              <a:ext cx="365425" cy="581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841" name="Google Shape;1841;p142" title="0.48 over 0.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083247" y="851852"/>
              <a:ext cx="443575" cy="526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1842" name="Google Shape;1842;p142" title="0.48 over 0.04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13122518" y="819094"/>
              <a:ext cx="531425" cy="590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1843" name="Google Shape;1843;p142" title="0.48 over 0.04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13126641" y="3963780"/>
              <a:ext cx="531425" cy="5904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143"/>
          <p:cNvSpPr txBox="1"/>
          <p:nvPr>
            <p:ph idx="4294967295" type="body"/>
          </p:nvPr>
        </p:nvSpPr>
        <p:spPr>
          <a:xfrm>
            <a:off x="324000" y="759300"/>
            <a:ext cx="8594100" cy="8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blanks so the fraction is equivalent to the calculation.</a:t>
            </a:r>
            <a:endParaRPr/>
          </a:p>
        </p:txBody>
      </p:sp>
      <p:sp>
        <p:nvSpPr>
          <p:cNvPr id="1849" name="Google Shape;1849;p14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50" name="Google Shape;1850;p143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0" r="77023" t="0"/>
          <a:stretch/>
        </p:blipFill>
        <p:spPr>
          <a:xfrm>
            <a:off x="6320440" y="1244375"/>
            <a:ext cx="835950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51" name="Google Shape;1851;p143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22696" r="56418" t="0"/>
          <a:stretch/>
        </p:blipFill>
        <p:spPr>
          <a:xfrm>
            <a:off x="6223935" y="3410200"/>
            <a:ext cx="759901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52" name="Google Shape;1852;p143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45227" r="29623" t="0"/>
          <a:stretch/>
        </p:blipFill>
        <p:spPr>
          <a:xfrm>
            <a:off x="3202900" y="4008448"/>
            <a:ext cx="758892" cy="62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53" name="Google Shape;1853;p143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87149" r="0" t="0"/>
          <a:stretch/>
        </p:blipFill>
        <p:spPr>
          <a:xfrm>
            <a:off x="2307464" y="1720013"/>
            <a:ext cx="467525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.8}{0.8}\ \ \frac{168}{8}\ \ \frac{1.68}{0.08}\ \frac{84}{4}\ \frac{42}{2}&quot;&gt;&lt;mfrac&gt;&lt;mn&gt;16.8&lt;/mn&gt;&lt;mn&gt;0.8&lt;/mn&gt;&lt;/mfrac&gt;&lt;mtext&gt;&lt;/mtext&gt;&lt;mtext&gt;&lt;/mtext&gt;&lt;mfrac&gt;&lt;mn&gt;168&lt;/mn&gt;&lt;mn&gt;8&lt;/mn&gt;&lt;/mfrac&gt;&lt;mtext&gt;&lt;/mtext&gt;&lt;mtext&gt;&lt;/mtext&gt;&lt;mfrac&gt;&lt;mn&gt;1.68&lt;/mn&gt;&lt;mn&gt;0.08&lt;/mn&gt;&lt;/mfrac&gt;&lt;mtext&gt;&lt;/mtext&gt;&lt;mfrac&gt;&lt;mn&gt;84&lt;/mn&gt;&lt;mn&gt;4&lt;/mn&gt;&lt;/mfrac&gt;&lt;mtext&gt;&lt;/mtext&gt;&lt;mfrac&gt;&lt;mn&gt;42&lt;/mn&gt;&lt;mn&gt;2&lt;/mn&gt;&lt;/mfrac&gt;&lt;/math&gt;" id="1854" name="Google Shape;1854;p143" title="16.8 over 0.8 168 over 8 1.68 over 0.08 84 over 4 42 over 2"/>
          <p:cNvPicPr preferRelativeResize="0"/>
          <p:nvPr/>
        </p:nvPicPr>
        <p:blipFill rotWithShape="1">
          <a:blip r:embed="rId3">
            <a:alphaModFix/>
          </a:blip>
          <a:srcRect b="0" l="70396" r="13895" t="0"/>
          <a:stretch/>
        </p:blipFill>
        <p:spPr>
          <a:xfrm>
            <a:off x="1879696" y="3221688"/>
            <a:ext cx="571500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5" name="Google Shape;1855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534" y="1692046"/>
            <a:ext cx="467525" cy="49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83" y="3246975"/>
            <a:ext cx="534925" cy="4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7" name="Google Shape;1857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8601" y="4360325"/>
            <a:ext cx="534925" cy="465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" name="Google Shape;1858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7988" y="3077100"/>
            <a:ext cx="534925" cy="465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9" name="Google Shape;1859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3776" y="1541988"/>
            <a:ext cx="534925" cy="465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60" name="Google Shape;1860;p143"/>
          <p:cNvSpPr/>
          <p:nvPr/>
        </p:nvSpPr>
        <p:spPr>
          <a:xfrm>
            <a:off x="3078925" y="2278800"/>
            <a:ext cx="2285700" cy="94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16.8 ÷ 0.8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  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1" name="Google Shape;1861;p143"/>
          <p:cNvCxnSpPr/>
          <p:nvPr/>
        </p:nvCxnSpPr>
        <p:spPr>
          <a:xfrm flipH="1" rot="10800000">
            <a:off x="5129250" y="1637388"/>
            <a:ext cx="999900" cy="623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2" name="Google Shape;1862;p143"/>
          <p:cNvCxnSpPr/>
          <p:nvPr/>
        </p:nvCxnSpPr>
        <p:spPr>
          <a:xfrm>
            <a:off x="5001600" y="3240000"/>
            <a:ext cx="1255200" cy="360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3" name="Google Shape;1863;p143"/>
          <p:cNvCxnSpPr>
            <a:stCxn id="1860" idx="2"/>
          </p:cNvCxnSpPr>
          <p:nvPr/>
        </p:nvCxnSpPr>
        <p:spPr>
          <a:xfrm flipH="1">
            <a:off x="3961675" y="3221700"/>
            <a:ext cx="260100" cy="807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4" name="Google Shape;1864;p143"/>
          <p:cNvCxnSpPr/>
          <p:nvPr/>
        </p:nvCxnSpPr>
        <p:spPr>
          <a:xfrm flipH="1">
            <a:off x="2507250" y="3221700"/>
            <a:ext cx="759900" cy="39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143"/>
          <p:cNvCxnSpPr/>
          <p:nvPr/>
        </p:nvCxnSpPr>
        <p:spPr>
          <a:xfrm rot="10800000">
            <a:off x="2857550" y="1862950"/>
            <a:ext cx="656400" cy="40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Work out the answer to the following. You must show your working out.</a:t>
            </a:r>
            <a:endParaRPr sz="2000"/>
          </a:p>
        </p:txBody>
      </p:sp>
      <p:sp>
        <p:nvSpPr>
          <p:cNvPr id="1871" name="Google Shape;1871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144"/>
          <p:cNvSpPr txBox="1"/>
          <p:nvPr/>
        </p:nvSpPr>
        <p:spPr>
          <a:xfrm>
            <a:off x="240250" y="1383582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144"/>
          <p:cNvSpPr txBox="1"/>
          <p:nvPr/>
        </p:nvSpPr>
        <p:spPr>
          <a:xfrm>
            <a:off x="240250" y="2714625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144"/>
          <p:cNvSpPr txBox="1"/>
          <p:nvPr/>
        </p:nvSpPr>
        <p:spPr>
          <a:xfrm>
            <a:off x="240250" y="3933825"/>
            <a:ext cx="5619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.4\ \div0.4\ =\ \frac{12.4}{0.4}=\frac{124}{4}=\frac{62}{2}=31&quot;&gt;&lt;mn&gt;12.4&lt;/mn&gt;&lt;mtext&gt;&lt;/mtext&gt;&lt;mo&gt;÷&lt;/mo&gt;&lt;mn&gt;0.4&lt;/mn&gt;&lt;mtext&gt;&lt;/mtext&gt;&lt;mo&gt;=&lt;/mo&gt;&lt;mtext&gt;&lt;/mtext&gt;&lt;mfrac&gt;&lt;mn&gt;12.4&lt;/mn&gt;&lt;mn&gt;0.4&lt;/mn&gt;&lt;/mfrac&gt;&lt;mo&gt;=&lt;/mo&gt;&lt;mfrac&gt;&lt;mn&gt;124&lt;/mn&gt;&lt;mn&gt;4&lt;/mn&gt;&lt;/mfrac&gt;&lt;mo&gt;=&lt;/mo&gt;&lt;mfrac&gt;&lt;mn&gt;62&lt;/mn&gt;&lt;mn&gt;2&lt;/mn&gt;&lt;/mfrac&gt;&lt;mo&gt;=&lt;/mo&gt;&lt;mn&gt;31&lt;/mn&gt;&lt;/math&gt;" id="1875" name="Google Shape;1875;p144" title="12.4 division sign 0.4 equals 12.4 over 0.4 equals 124 over 4 equals 62 over 2 equals 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150" y="2571750"/>
            <a:ext cx="5948376" cy="77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 \div0.12\ =\ \frac{4.2}{0.12}=\frac{420}{12}=\frac{210}{6}=\frac{105}{3}=35&quot;&gt;&lt;mn&gt;4.2&lt;/mn&gt;&lt;mtext&gt;&lt;/mtext&gt;&lt;mo&gt;÷&lt;/mo&gt;&lt;mn&gt;0.12&lt;/mn&gt;&lt;mtext&gt;&lt;/mtext&gt;&lt;mo&gt;=&lt;/mo&gt;&lt;mtext&gt;&lt;/mtext&gt;&lt;mfrac&gt;&lt;mn&gt;4.2&lt;/mn&gt;&lt;mn&gt;0.12&lt;/mn&gt;&lt;/mfrac&gt;&lt;mo&gt;=&lt;/mo&gt;&lt;mfrac&gt;&lt;mn&gt;420&lt;/mn&gt;&lt;mn&gt;12&lt;/mn&gt;&lt;/mfrac&gt;&lt;mo&gt;=&lt;/mo&gt;&lt;mfrac&gt;&lt;mn&gt;210&lt;/mn&gt;&lt;mn&gt;6&lt;/mn&gt;&lt;/mfrac&gt;&lt;mo&gt;=&lt;/mo&gt;&lt;mfrac&gt;&lt;mn&gt;105&lt;/mn&gt;&lt;mn&gt;3&lt;/mn&gt;&lt;/mfrac&gt;&lt;mo&gt;=&lt;/mo&gt;&lt;mn&gt;35&lt;/mn&gt;&lt;/math&gt;" id="1876" name="Google Shape;1876;p144" title="4.2 division sign 0.12 equals 4.2 over 0.12 equals 420 over 12 equals 210 over 6 equals 105 over 3 equals 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575" y="3829650"/>
            <a:ext cx="7324736" cy="77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6.2\div0.2=\frac{46.2}{0.2}=\frac{462}{2}=231&quot;&gt;&lt;mn&gt;46.2&lt;/mn&gt;&lt;mo&gt;÷&lt;/mo&gt;&lt;mn&gt;0.2&lt;/mn&gt;&lt;mo&gt;=&lt;/mo&gt;&lt;mfrac&gt;&lt;mn&gt;46.2&lt;/mn&gt;&lt;mn&gt;0.2&lt;/mn&gt;&lt;/mfrac&gt;&lt;mo&gt;=&lt;/mo&gt;&lt;mfrac&gt;&lt;mn&gt;462&lt;/mn&gt;&lt;mn&gt;2&lt;/mn&gt;&lt;/mfrac&gt;&lt;mo&gt;=&lt;/mo&gt;&lt;mn&gt;231&lt;/mn&gt;&lt;/math&gt;" id="1877" name="Google Shape;1877;p144" title="46.2 divided by 0.2 equals 46.2 over 0.2 equals 462 over 2 equals 2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575" y="1316975"/>
            <a:ext cx="4892732" cy="7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.4\ \div0.4\ =\ \frac{12.4}{0.4}=\frac{124}{4}=\frac{62}{2}=31&quot;&gt;&lt;mn&gt;12.4&lt;/mn&gt;&lt;mtext&gt;&lt;/mtext&gt;&lt;mo&gt;÷&lt;/mo&gt;&lt;mn&gt;0.4&lt;/mn&gt;&lt;mtext&gt;&lt;/mtext&gt;&lt;mo&gt;=&lt;/mo&gt;&lt;mtext&gt;&lt;/mtext&gt;&lt;mfrac&gt;&lt;mn&gt;12.4&lt;/mn&gt;&lt;mn&gt;0.4&lt;/mn&gt;&lt;/mfrac&gt;&lt;mo&gt;=&lt;/mo&gt;&lt;mfrac&gt;&lt;mn&gt;124&lt;/mn&gt;&lt;mn&gt;4&lt;/mn&gt;&lt;/mfrac&gt;&lt;mo&gt;=&lt;/mo&gt;&lt;mfrac&gt;&lt;mn&gt;62&lt;/mn&gt;&lt;mn&gt;2&lt;/mn&gt;&lt;/mfrac&gt;&lt;mo&gt;=&lt;/mo&gt;&lt;mn&gt;31&lt;/mn&gt;&lt;/math&gt;" id="1878" name="Google Shape;1878;p144" title="12.4 division sign 0.4 equals 12.4 over 0.4 equals 124 over 4 equals 62 over 2 equals 31"/>
          <p:cNvPicPr preferRelativeResize="0"/>
          <p:nvPr/>
        </p:nvPicPr>
        <p:blipFill rotWithShape="1">
          <a:blip r:embed="rId3">
            <a:alphaModFix/>
          </a:blip>
          <a:srcRect b="0" l="0" r="63463" t="0"/>
          <a:stretch/>
        </p:blipFill>
        <p:spPr>
          <a:xfrm>
            <a:off x="802150" y="2571750"/>
            <a:ext cx="2173351" cy="77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 \div0.12\ =\ \frac{4.2}{0.12}=\frac{420}{12}=\frac{210}{6}=\frac{105}{3}=35&quot;&gt;&lt;mn&gt;4.2&lt;/mn&gt;&lt;mtext&gt;&lt;/mtext&gt;&lt;mo&gt;÷&lt;/mo&gt;&lt;mn&gt;0.12&lt;/mn&gt;&lt;mtext&gt;&lt;/mtext&gt;&lt;mo&gt;=&lt;/mo&gt;&lt;mtext&gt;&lt;/mtext&gt;&lt;mfrac&gt;&lt;mn&gt;4.2&lt;/mn&gt;&lt;mn&gt;0.12&lt;/mn&gt;&lt;/mfrac&gt;&lt;mo&gt;=&lt;/mo&gt;&lt;mfrac&gt;&lt;mn&gt;420&lt;/mn&gt;&lt;mn&gt;12&lt;/mn&gt;&lt;/mfrac&gt;&lt;mo&gt;=&lt;/mo&gt;&lt;mfrac&gt;&lt;mn&gt;210&lt;/mn&gt;&lt;mn&gt;6&lt;/mn&gt;&lt;/mfrac&gt;&lt;mo&gt;=&lt;/mo&gt;&lt;mfrac&gt;&lt;mn&gt;105&lt;/mn&gt;&lt;mn&gt;3&lt;/mn&gt;&lt;/mfrac&gt;&lt;mo&gt;=&lt;/mo&gt;&lt;mn&gt;35&lt;/mn&gt;&lt;/math&gt;" id="1879" name="Google Shape;1879;p144" title="4.2 division sign 0.12 equals 4.2 over 0.12 equals 420 over 12 equals 210 over 6 equals 105 over 3 equals 35"/>
          <p:cNvPicPr preferRelativeResize="0"/>
          <p:nvPr/>
        </p:nvPicPr>
        <p:blipFill rotWithShape="1">
          <a:blip r:embed="rId4">
            <a:alphaModFix/>
          </a:blip>
          <a:srcRect b="0" l="0" r="70329" t="0"/>
          <a:stretch/>
        </p:blipFill>
        <p:spPr>
          <a:xfrm>
            <a:off x="692575" y="3829650"/>
            <a:ext cx="2173351" cy="77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6.2\div0.2=\frac{46.2}{0.2}=\frac{462}{2}=231&quot;&gt;&lt;mn&gt;46.2&lt;/mn&gt;&lt;mo&gt;÷&lt;/mo&gt;&lt;mn&gt;0.2&lt;/mn&gt;&lt;mo&gt;=&lt;/mo&gt;&lt;mfrac&gt;&lt;mn&gt;46.2&lt;/mn&gt;&lt;mn&gt;0.2&lt;/mn&gt;&lt;/mfrac&gt;&lt;mo&gt;=&lt;/mo&gt;&lt;mfrac&gt;&lt;mn&gt;462&lt;/mn&gt;&lt;mn&gt;2&lt;/mn&gt;&lt;/mfrac&gt;&lt;mo&gt;=&lt;/mo&gt;&lt;mn&gt;231&lt;/mn&gt;&lt;/math&gt;" id="1880" name="Google Shape;1880;p144" title="46.2 divided by 0.2 equals 46.2 over 0.2 equals 462 over 2 equals 231"/>
          <p:cNvPicPr preferRelativeResize="0"/>
          <p:nvPr/>
        </p:nvPicPr>
        <p:blipFill rotWithShape="1">
          <a:blip r:embed="rId5">
            <a:alphaModFix/>
          </a:blip>
          <a:srcRect b="0" l="0" r="60575" t="0"/>
          <a:stretch/>
        </p:blipFill>
        <p:spPr>
          <a:xfrm>
            <a:off x="692575" y="1316975"/>
            <a:ext cx="1928901" cy="7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5" name="Google Shape;1885;p145"/>
          <p:cNvGraphicFramePr/>
          <p:nvPr/>
        </p:nvGraphicFramePr>
        <p:xfrm>
          <a:off x="2602475" y="73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{8ABB1200-652E-41C6-A384-FE8306D777DB}</a:tableStyleId>
              </a:tblPr>
              <a:tblGrid>
                <a:gridCol w="970475"/>
                <a:gridCol w="970475"/>
                <a:gridCol w="970475"/>
                <a:gridCol w="970475"/>
                <a:gridCol w="970475"/>
                <a:gridCol w="970475"/>
              </a:tblGrid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6" name="Google Shape;1886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145"/>
          <p:cNvSpPr txBox="1"/>
          <p:nvPr>
            <p:ph idx="1" type="body"/>
          </p:nvPr>
        </p:nvSpPr>
        <p:spPr>
          <a:xfrm>
            <a:off x="324125" y="894150"/>
            <a:ext cx="2170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Shade in all the equivalent fractions to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4.8 ÷ 0.4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To reveal a word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frac{48}{4}&quot;&gt;&lt;mfrac&gt;&lt;mn&gt;48&lt;/mn&gt;&lt;mn&gt;4&lt;/mn&gt;&lt;/mfrac&gt;&lt;/math&gt;" id="1888" name="Google Shape;1888;p145" title="48 over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364" y="3219276"/>
            <a:ext cx="287250" cy="560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0}{40}&quot;&gt;&lt;mfrac&gt;&lt;mn&gt;480&lt;/mn&gt;&lt;mn&gt;40&lt;/mn&gt;&lt;/mfrac&gt;&lt;/math&gt;" id="1889" name="Google Shape;1889;p145" title="480 over 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7076" y="2461363"/>
            <a:ext cx="365425" cy="501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1890" name="Google Shape;1890;p145" title="4.8 over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0149" y="3225900"/>
            <a:ext cx="365425" cy="58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891" name="Google Shape;1891;p145" title="0.48 over 0.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1997" y="4038327"/>
            <a:ext cx="443575" cy="526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}&quot;&gt;&lt;mfrac&gt;&lt;mn&gt;24&lt;/mn&gt;&lt;mn&gt;2&lt;/mn&gt;&lt;/mfrac&gt;&lt;/math&gt;" id="1892" name="Google Shape;1892;p145" title="24 ove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7166" y="3981576"/>
            <a:ext cx="287250" cy="56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.4}{0.2}&quot;&gt;&lt;mfrac&gt;&lt;mn&gt;2.4&lt;/mn&gt;&lt;mn&gt;0.2&lt;/mn&gt;&lt;/mfrac&gt;&lt;/math&gt;" id="1893" name="Google Shape;1893;p145" title="2.4 over 0.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58001" y="1610512"/>
            <a:ext cx="365425" cy="587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20}&quot;&gt;&lt;mfrac&gt;&lt;mn&gt;240&lt;/mn&gt;&lt;mn&gt;20&lt;/mn&gt;&lt;/mfrac&gt;&lt;/math&gt;" id="1894" name="Google Shape;1894;p145" title="240 over 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39012" y="2408874"/>
            <a:ext cx="443575" cy="608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&quot;&gt;&lt;mfrac&gt;&lt;mn&gt;12&lt;/mn&gt;&lt;mn&gt;1&lt;/mn&gt;&lt;/mfrac&gt;&lt;/math&gt;" id="1895" name="Google Shape;1895;p145" title="twelve one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97087" y="828337"/>
            <a:ext cx="287250" cy="55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.2}{0.1}&quot;&gt;&lt;mfrac&gt;&lt;mn&gt;1.2&lt;/mn&gt;&lt;mn&gt;0.1&lt;/mn&gt;&lt;/mfrac&gt;&lt;/math&gt;" id="1896" name="Google Shape;1896;p145" title="1.2 over 0.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839000" y="810000"/>
            <a:ext cx="365425" cy="59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6}{8}&quot;&gt;&lt;mfrac&gt;&lt;mn&gt;96&lt;/mn&gt;&lt;mn&gt;8&lt;/mn&gt;&lt;/mfrac&gt;&lt;/math&gt;" id="1897" name="Google Shape;1897;p145" title="96 over 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17176" y="1620001"/>
            <a:ext cx="287240" cy="56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.6}{0.8}&quot;&gt;&lt;mfrac&gt;&lt;mn&gt;9.6&lt;/mn&gt;&lt;mn&gt;0.8&lt;/mn&gt;&lt;/mfrac&gt;&lt;/math&gt;" id="1898" name="Google Shape;1898;p145" title="9.6 over 0.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10149" y="2404987"/>
            <a:ext cx="365425" cy="59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60}{80}&quot;&gt;&lt;mfrac&gt;&lt;mn&gt;960&lt;/mn&gt;&lt;mn&gt;80&lt;/mn&gt;&lt;/mfrac&gt;&lt;/math&gt;" id="1899" name="Google Shape;1899;p145" title="960 over 8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98698" y="3240000"/>
            <a:ext cx="406031" cy="55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&quot;&gt;&lt;mfrac&gt;&lt;mn&gt;12&lt;/mn&gt;&lt;mn&gt;1&lt;/mn&gt;&lt;/mfrac&gt;&lt;/math&gt;" id="1900" name="Google Shape;1900;p145" title="twelve one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59087" y="2436625"/>
            <a:ext cx="287250" cy="55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1901" name="Google Shape;1901;p145" title="4.8 over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411" y="3971163"/>
            <a:ext cx="365425" cy="58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1902" name="Google Shape;1902;p145" title="4.8 over 0.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857325" y="3194026"/>
            <a:ext cx="406025" cy="611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1903" name="Google Shape;1903;p145" title="4.8 over 0.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897075" y="3956326"/>
            <a:ext cx="406025" cy="611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}{40}&quot;&gt;&lt;mfrac&gt;&lt;mn&gt;48&lt;/mn&gt;&lt;mn&gt;40&lt;/mn&gt;&lt;/mfrac&gt;&lt;/math&gt;" id="1904" name="Google Shape;1904;p145" title="48 over 4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796841" y="800775"/>
            <a:ext cx="320549" cy="654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00}{40}&quot;&gt;&lt;mfrac&gt;&lt;mn&gt;4800&lt;/mn&gt;&lt;mn&gt;40&lt;/mn&gt;&lt;/mfrac&gt;&lt;/math&gt;" id="1905" name="Google Shape;1905;p145" title="4800 over 4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710099" y="777688"/>
            <a:ext cx="603139" cy="654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0.04}&quot;&gt;&lt;mfrac&gt;&lt;mn&gt;4.8&lt;/mn&gt;&lt;mn&gt;0.04&lt;/mn&gt;&lt;/mfrac&gt;&lt;/math&gt;" id="1906" name="Google Shape;1906;p145" title="4.8 over 0.0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691391" y="3178580"/>
            <a:ext cx="531437" cy="654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8}{0.04}&quot;&gt;&lt;mfrac&gt;&lt;mn&gt;48&lt;/mn&gt;&lt;mn&gt;0.04&lt;/mn&gt;&lt;/mfrac&gt;&lt;/math&gt;" id="1907" name="Google Shape;1907;p145" title="48 over 0.0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691397" y="2385980"/>
            <a:ext cx="531437" cy="654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1908" name="Google Shape;1908;p145" title="240 over 0.0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729822" y="1577124"/>
            <a:ext cx="531437" cy="654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1909" name="Google Shape;1909;p145" title="24 over 0.02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804588" y="1583580"/>
            <a:ext cx="531437" cy="590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1910" name="Google Shape;1910;p145" title="4.8 over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0599" y="3219450"/>
            <a:ext cx="365425" cy="58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911" name="Google Shape;1911;p145" title="0.48 over 0.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82447" y="4031877"/>
            <a:ext cx="443575" cy="526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1912" name="Google Shape;1912;p145" title="24 over 0.02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655038" y="1577130"/>
            <a:ext cx="531437" cy="590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1913" name="Google Shape;1913;p145" title="240 over 0.0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710772" y="2366212"/>
            <a:ext cx="531437" cy="654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.8}{4}&quot;&gt;&lt;mfrac&gt;&lt;mn&gt;4.8&lt;/mn&gt;&lt;mn&gt;4&lt;/mn&gt;&lt;/mfrac&gt;&lt;/math&gt;" id="1914" name="Google Shape;1914;p145" title="4.8 over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9986" y="1605075"/>
            <a:ext cx="365425" cy="5815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915" name="Google Shape;1915;p145" title="0.48 over 0.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82447" y="851852"/>
            <a:ext cx="443575" cy="526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1916" name="Google Shape;1916;p145" title="0.48 over 0.0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6706085" y="819564"/>
            <a:ext cx="531425" cy="590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1917" name="Google Shape;1917;p145" title="0.48 over 0.0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6710209" y="3964250"/>
            <a:ext cx="531425" cy="5904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8" name="Google Shape;1918;p145"/>
          <p:cNvGraphicFramePr/>
          <p:nvPr/>
        </p:nvGraphicFramePr>
        <p:xfrm>
          <a:off x="2602475" y="73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{8ABB1200-652E-41C6-A384-FE8306D777DB}</a:tableStyleId>
              </a:tblPr>
              <a:tblGrid>
                <a:gridCol w="970475"/>
                <a:gridCol w="970475"/>
                <a:gridCol w="970475"/>
                <a:gridCol w="970475"/>
                <a:gridCol w="970475"/>
                <a:gridCol w="970475"/>
              </a:tblGrid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78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pSp>
        <p:nvGrpSpPr>
          <p:cNvPr id="1919" name="Google Shape;1919;p145"/>
          <p:cNvGrpSpPr/>
          <p:nvPr/>
        </p:nvGrpSpPr>
        <p:grpSpPr>
          <a:xfrm>
            <a:off x="2857325" y="800775"/>
            <a:ext cx="5384884" cy="3766774"/>
            <a:chOff x="9258125" y="800775"/>
            <a:chExt cx="5384884" cy="3766774"/>
          </a:xfrm>
        </p:grpSpPr>
        <p:pic>
          <p:nvPicPr>
            <p:cNvPr descr="&lt;math xmlns=&quot;http://www.w3.org/1998/Math/MathML&quot; display=&quot;block&quot; data-is-equatio=&quot;1&quot; data-latex=&quot;\frac{48}{4}&quot;&gt;&lt;mfrac&gt;&lt;mn&gt;48&lt;/mn&gt;&lt;mn&gt;4&lt;/mn&gt;&lt;/mfrac&gt;&lt;/math&gt;" id="1920" name="Google Shape;1920;p145" title="48 over 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323164" y="3219276"/>
              <a:ext cx="287250" cy="5607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80}{40}&quot;&gt;&lt;mfrac&gt;&lt;mn&gt;480&lt;/mn&gt;&lt;mn&gt;40&lt;/mn&gt;&lt;/mfrac&gt;&lt;/math&gt;" id="1921" name="Google Shape;1921;p145" title="480 over 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97876" y="2461363"/>
              <a:ext cx="365425" cy="501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4}&quot;&gt;&lt;mfrac&gt;&lt;mn&gt;4.8&lt;/mn&gt;&lt;mn&gt;4&lt;/mn&gt;&lt;/mfrac&gt;&lt;/math&gt;" id="1922" name="Google Shape;1922;p145" title="4.8 over 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310949" y="3225900"/>
              <a:ext cx="365425" cy="581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923" name="Google Shape;1923;p145" title="0.48 over 0.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32797" y="4038327"/>
              <a:ext cx="443575" cy="526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}{2}&quot;&gt;&lt;mfrac&gt;&lt;mn&gt;24&lt;/mn&gt;&lt;mn&gt;2&lt;/mn&gt;&lt;/mfrac&gt;&lt;/math&gt;" id="1924" name="Google Shape;1924;p145" title="24 over 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1317966" y="3981576"/>
              <a:ext cx="287250" cy="56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.4}{0.2}&quot;&gt;&lt;mfrac&gt;&lt;mn&gt;2.4&lt;/mn&gt;&lt;mn&gt;0.2&lt;/mn&gt;&lt;/mfrac&gt;&lt;/math&gt;" id="1925" name="Google Shape;1925;p145" title="2.4 over 0.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258801" y="1610512"/>
              <a:ext cx="365425" cy="587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0}{20}&quot;&gt;&lt;mfrac&gt;&lt;mn&gt;240&lt;/mn&gt;&lt;mn&gt;20&lt;/mn&gt;&lt;/mfrac&gt;&lt;/math&gt;" id="1926" name="Google Shape;1926;p145" title="240 over 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1239812" y="2408874"/>
              <a:ext cx="443575" cy="6088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2}{1}&quot;&gt;&lt;mfrac&gt;&lt;mn&gt;12&lt;/mn&gt;&lt;mn&gt;1&lt;/mn&gt;&lt;/mfrac&gt;&lt;/math&gt;" id="1927" name="Google Shape;1927;p145" title="twelve one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9297887" y="828337"/>
              <a:ext cx="287250" cy="55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.2}{0.1}&quot;&gt;&lt;mfrac&gt;&lt;mn&gt;1.2&lt;/mn&gt;&lt;mn&gt;0.1&lt;/mn&gt;&lt;/mfrac&gt;&lt;/math&gt;" id="1928" name="Google Shape;1928;p145" title="1.2 over 0.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1239800" y="810000"/>
              <a:ext cx="365425" cy="59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96}{8}&quot;&gt;&lt;mfrac&gt;&lt;mn&gt;96&lt;/mn&gt;&lt;mn&gt;8&lt;/mn&gt;&lt;/mfrac&gt;&lt;/math&gt;" id="1929" name="Google Shape;1929;p145" title="96 over 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1317976" y="1620001"/>
              <a:ext cx="287240" cy="568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9.6}{0.8}&quot;&gt;&lt;mfrac&gt;&lt;mn&gt;9.6&lt;/mn&gt;&lt;mn&gt;0.8&lt;/mn&gt;&lt;/mfrac&gt;&lt;/math&gt;" id="1930" name="Google Shape;1930;p145" title="9.6 over 0.8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0310949" y="2404987"/>
              <a:ext cx="365425" cy="59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960}{80}&quot;&gt;&lt;mfrac&gt;&lt;mn&gt;960&lt;/mn&gt;&lt;mn&gt;80&lt;/mn&gt;&lt;/mfrac&gt;&lt;/math&gt;" id="1931" name="Google Shape;1931;p145" title="960 over 80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13199498" y="3240000"/>
              <a:ext cx="406031" cy="55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2}{1}&quot;&gt;&lt;mfrac&gt;&lt;mn&gt;12&lt;/mn&gt;&lt;mn&gt;1&lt;/mn&gt;&lt;/mfrac&gt;&lt;/math&gt;" id="1932" name="Google Shape;1932;p145" title="twelve one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3259887" y="2436625"/>
              <a:ext cx="287250" cy="55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4}&quot;&gt;&lt;mfrac&gt;&lt;mn&gt;4.8&lt;/mn&gt;&lt;mn&gt;4&lt;/mn&gt;&lt;/mfrac&gt;&lt;/math&gt;" id="1933" name="Google Shape;1933;p145" title="4.8 over 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175211" y="3971163"/>
              <a:ext cx="365425" cy="581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1934" name="Google Shape;1934;p145" title="4.8 over 0.4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9258125" y="3194026"/>
              <a:ext cx="406025" cy="6112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0.4}&quot;&gt;&lt;mfrac&gt;&lt;mn&gt;4.8&lt;/mn&gt;&lt;mn&gt;0.4&lt;/mn&gt;&lt;/mfrac&gt;&lt;/math&gt;" id="1935" name="Google Shape;1935;p145" title="4.8 over 0.4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9297875" y="3956326"/>
              <a:ext cx="406025" cy="6112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8}{40}&quot;&gt;&lt;mfrac&gt;&lt;mn&gt;48&lt;/mn&gt;&lt;mn&gt;40&lt;/mn&gt;&lt;/mfrac&gt;&lt;/math&gt;" id="1936" name="Google Shape;1936;p145" title="48 over 40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12197641" y="800775"/>
              <a:ext cx="320549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800}{40}&quot;&gt;&lt;mfrac&gt;&lt;mn&gt;4800&lt;/mn&gt;&lt;mn&gt;40&lt;/mn&gt;&lt;/mfrac&gt;&lt;/math&gt;" id="1937" name="Google Shape;1937;p145" title="4800 over 40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10173000" y="822488"/>
              <a:ext cx="563163" cy="61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0.04}&quot;&gt;&lt;mfrac&gt;&lt;mn&gt;4.8&lt;/mn&gt;&lt;mn&gt;0.04&lt;/mn&gt;&lt;/mfrac&gt;&lt;/math&gt;" id="1938" name="Google Shape;1938;p145" title="4.8 over 0.04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12092191" y="3178580"/>
              <a:ext cx="531437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8}{0.04}&quot;&gt;&lt;mfrac&gt;&lt;mn&gt;48&lt;/mn&gt;&lt;mn&gt;0.04&lt;/mn&gt;&lt;/mfrac&gt;&lt;/math&gt;" id="1939" name="Google Shape;1939;p145" title="48 over 0.04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12092197" y="2385980"/>
              <a:ext cx="531437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1940" name="Google Shape;1940;p145" title="240 over 0.02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12130622" y="1577124"/>
              <a:ext cx="531437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1941" name="Google Shape;1941;p145" title="24 over 0.02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10205388" y="1583580"/>
              <a:ext cx="531437" cy="59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4}&quot;&gt;&lt;mfrac&gt;&lt;mn&gt;4.8&lt;/mn&gt;&lt;mn&gt;4&lt;/mn&gt;&lt;/mfrac&gt;&lt;/math&gt;" id="1942" name="Google Shape;1942;p145" title="4.8 over 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161399" y="3219450"/>
              <a:ext cx="365425" cy="581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943" name="Google Shape;1943;p145" title="0.48 over 0.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083247" y="4031877"/>
              <a:ext cx="443575" cy="526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}{0.02}&quot;&gt;&lt;mfrac&gt;&lt;mn&gt;24&lt;/mn&gt;&lt;mn&gt;0.02&lt;/mn&gt;&lt;/mfrac&gt;&lt;/math&gt;" id="1944" name="Google Shape;1944;p145" title="24 over 0.02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14055838" y="1577130"/>
              <a:ext cx="531437" cy="59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40}{0.02}&quot;&gt;&lt;mfrac&gt;&lt;mn&gt;240&lt;/mn&gt;&lt;mn&gt;0.02&lt;/mn&gt;&lt;/mfrac&gt;&lt;/math&gt;" id="1945" name="Google Shape;1945;p145" title="240 over 0.02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14111572" y="2366212"/>
              <a:ext cx="531437" cy="65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.8}{4}&quot;&gt;&lt;mfrac&gt;&lt;mn&gt;4.8&lt;/mn&gt;&lt;mn&gt;4&lt;/mn&gt;&lt;/mfrac&gt;&lt;/math&gt;" id="1946" name="Google Shape;1946;p145" title="4.8 over 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220786" y="1605075"/>
              <a:ext cx="365425" cy="581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4}&quot;&gt;&lt;mfrac&gt;&lt;mn&gt;0.48&lt;/mn&gt;&lt;mn&gt;0.4&lt;/mn&gt;&lt;/mfrac&gt;&lt;/math&gt;" id="1947" name="Google Shape;1947;p145" title="0.48 over 0.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083247" y="851852"/>
              <a:ext cx="443575" cy="526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1948" name="Google Shape;1948;p145" title="0.48 over 0.04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13122518" y="819094"/>
              <a:ext cx="531425" cy="590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0.48}{0.04}&quot;&gt;&lt;mfrac&gt;&lt;mn&gt;0.48&lt;/mn&gt;&lt;mn&gt;0.04&lt;/mn&gt;&lt;/mfrac&gt;&lt;/math&gt;" id="1949" name="Google Shape;1949;p145" title="0.48 over 0.04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13126641" y="3963780"/>
              <a:ext cx="531425" cy="5904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146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Division written as fractions</a:t>
            </a:r>
            <a:endParaRPr/>
          </a:p>
        </p:txBody>
      </p:sp>
      <p:sp>
        <p:nvSpPr>
          <p:cNvPr id="1955" name="Google Shape;1955;p146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</p:txBody>
      </p:sp>
      <p:sp>
        <p:nvSpPr>
          <p:cNvPr id="1956" name="Google Shape;1956;p14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with decimals</a:t>
            </a:r>
            <a:endParaRPr/>
          </a:p>
        </p:txBody>
      </p:sp>
      <p:pic>
        <p:nvPicPr>
          <p:cNvPr id="1957" name="Google Shape;1957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75" y="299279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147"/>
          <p:cNvSpPr txBox="1"/>
          <p:nvPr>
            <p:ph idx="1" type="body"/>
          </p:nvPr>
        </p:nvSpPr>
        <p:spPr>
          <a:xfrm>
            <a:off x="324000" y="759300"/>
            <a:ext cx="7695900" cy="13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Not all division of decimals will give integer results, but writing the </a:t>
            </a:r>
            <a:r>
              <a:rPr b="1" lang="en-GB" sz="2100">
                <a:solidFill>
                  <a:schemeClr val="accent5"/>
                </a:solidFill>
              </a:rPr>
              <a:t>divisor as an integer</a:t>
            </a:r>
            <a:r>
              <a:rPr lang="en-GB" sz="2100"/>
              <a:t> will enable us to calculate more efficiently.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</p:txBody>
      </p:sp>
      <p:sp>
        <p:nvSpPr>
          <p:cNvPr id="1964" name="Google Shape;1964;p147"/>
          <p:cNvSpPr txBox="1"/>
          <p:nvPr/>
        </p:nvSpPr>
        <p:spPr>
          <a:xfrm>
            <a:off x="184800" y="22701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.8\div1.5\ =\frac{1.8}{1.5}=\ \frac{18}{15}=\frac{6}{5}&quot;&gt;&lt;mn&gt;1.8&lt;/mn&gt;&lt;mo&gt;÷&lt;/mo&gt;&lt;mn&gt;1.5&lt;/mn&gt;&lt;mtext&gt;&lt;/mtext&gt;&lt;mo&gt;=&lt;/mo&gt;&lt;mfrac&gt;&lt;mn&gt;1.8&lt;/mn&gt;&lt;mn&gt;1.5&lt;/mn&gt;&lt;/mfrac&gt;&lt;mo&gt;=&lt;/mo&gt;&lt;mtext&gt;&lt;/mtext&gt;&lt;mfrac&gt;&lt;mn&gt;18&lt;/mn&gt;&lt;mn&gt;15&lt;/mn&gt;&lt;/mfrac&gt;&lt;mo&gt;=&lt;/mo&gt;&lt;mfrac&gt;&lt;mn&gt;6&lt;/mn&gt;&lt;mn&gt;5&lt;/mn&gt;&lt;/mfrac&gt;&lt;/math&gt;" id="1965" name="Google Shape;1965;p147" title="1.8 divided by 1.5 equals 1.8 over 1.5 equals 18 over 15 equals six fifths"/>
          <p:cNvPicPr preferRelativeResize="0"/>
          <p:nvPr/>
        </p:nvPicPr>
        <p:blipFill rotWithShape="1">
          <a:blip r:embed="rId3">
            <a:alphaModFix/>
          </a:blip>
          <a:srcRect b="0" l="0" r="57164" t="0"/>
          <a:stretch/>
        </p:blipFill>
        <p:spPr>
          <a:xfrm>
            <a:off x="324000" y="2780000"/>
            <a:ext cx="1909751" cy="81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8\div1.5\ =\frac{1.8}{1.5}=\ \frac{18}{15}=\frac{6}{5}&quot;&gt;&lt;mn&gt;1.8&lt;/mn&gt;&lt;mo&gt;÷&lt;/mo&gt;&lt;mn&gt;1.5&lt;/mn&gt;&lt;mtext&gt;&lt;/mtext&gt;&lt;mo&gt;=&lt;/mo&gt;&lt;mfrac&gt;&lt;mn&gt;1.8&lt;/mn&gt;&lt;mn&gt;1.5&lt;/mn&gt;&lt;/mfrac&gt;&lt;mo&gt;=&lt;/mo&gt;&lt;mtext&gt;&lt;/mtext&gt;&lt;mfrac&gt;&lt;mn&gt;18&lt;/mn&gt;&lt;mn&gt;15&lt;/mn&gt;&lt;/mfrac&gt;&lt;mo&gt;=&lt;/mo&gt;&lt;mfrac&gt;&lt;mn&gt;6&lt;/mn&gt;&lt;mn&gt;5&lt;/mn&gt;&lt;/mfrac&gt;&lt;/math&gt;" id="1966" name="Google Shape;1966;p147" title="1.8 divided by 1.5 equals 1.8 over 1.5 equals 18 over 15 equals six fifths"/>
          <p:cNvPicPr preferRelativeResize="0"/>
          <p:nvPr/>
        </p:nvPicPr>
        <p:blipFill rotWithShape="1">
          <a:blip r:embed="rId3">
            <a:alphaModFix/>
          </a:blip>
          <a:srcRect b="-8275" l="43105" r="40633" t="-9774"/>
          <a:stretch/>
        </p:blipFill>
        <p:spPr>
          <a:xfrm>
            <a:off x="2233750" y="2703600"/>
            <a:ext cx="724951" cy="9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8\div1.5\ =\frac{1.8}{1.5}=\ \frac{18}{15}=\frac{6}{5}&quot;&gt;&lt;mn&gt;1.8&lt;/mn&gt;&lt;mo&gt;÷&lt;/mo&gt;&lt;mn&gt;1.5&lt;/mn&gt;&lt;mtext&gt;&lt;/mtext&gt;&lt;mo&gt;=&lt;/mo&gt;&lt;mfrac&gt;&lt;mn&gt;1.8&lt;/mn&gt;&lt;mn&gt;1.5&lt;/mn&gt;&lt;/mfrac&gt;&lt;mo&gt;=&lt;/mo&gt;&lt;mtext&gt;&lt;/mtext&gt;&lt;mfrac&gt;&lt;mn&gt;18&lt;/mn&gt;&lt;mn&gt;15&lt;/mn&gt;&lt;/mfrac&gt;&lt;mo&gt;=&lt;/mo&gt;&lt;mfrac&gt;&lt;mn&gt;6&lt;/mn&gt;&lt;mn&gt;5&lt;/mn&gt;&lt;/mfrac&gt;&lt;/math&gt;" id="1967" name="Google Shape;1967;p147" title="1.8 divided by 1.5 equals 1.8 over 1.5 equals 18 over 15 equals six fifths"/>
          <p:cNvPicPr preferRelativeResize="0"/>
          <p:nvPr/>
        </p:nvPicPr>
        <p:blipFill rotWithShape="1">
          <a:blip r:embed="rId3">
            <a:alphaModFix/>
          </a:blip>
          <a:srcRect b="-9019" l="59248" r="16503" t="-9030"/>
          <a:stretch/>
        </p:blipFill>
        <p:spPr>
          <a:xfrm>
            <a:off x="2958700" y="2703600"/>
            <a:ext cx="1081051" cy="9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8\div1.5\ =\frac{1.8}{1.5}=\ \frac{18}{15}=\frac{6}{5}&quot;&gt;&lt;mn&gt;1.8&lt;/mn&gt;&lt;mo&gt;÷&lt;/mo&gt;&lt;mn&gt;1.5&lt;/mn&gt;&lt;mtext&gt;&lt;/mtext&gt;&lt;mo&gt;=&lt;/mo&gt;&lt;mfrac&gt;&lt;mn&gt;1.8&lt;/mn&gt;&lt;mn&gt;1.5&lt;/mn&gt;&lt;/mfrac&gt;&lt;mo&gt;=&lt;/mo&gt;&lt;mtext&gt;&lt;/mtext&gt;&lt;mfrac&gt;&lt;mn&gt;18&lt;/mn&gt;&lt;mn&gt;15&lt;/mn&gt;&lt;/mfrac&gt;&lt;mo&gt;=&lt;/mo&gt;&lt;mfrac&gt;&lt;mn&gt;6&lt;/mn&gt;&lt;mn&gt;5&lt;/mn&gt;&lt;/mfrac&gt;&lt;/math&gt;" id="1968" name="Google Shape;1968;p147" title="1.8 divided by 1.5 equals 1.8 over 1.5 equals 18 over 15 equals six fifths"/>
          <p:cNvPicPr preferRelativeResize="0"/>
          <p:nvPr/>
        </p:nvPicPr>
        <p:blipFill rotWithShape="1">
          <a:blip r:embed="rId3">
            <a:alphaModFix/>
          </a:blip>
          <a:srcRect b="-9019" l="83366" r="-3695" t="-9030"/>
          <a:stretch/>
        </p:blipFill>
        <p:spPr>
          <a:xfrm>
            <a:off x="4039750" y="2706075"/>
            <a:ext cx="906351" cy="9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1.2&quot;&gt;&lt;mo&gt;=&lt;/mo&gt;&lt;mn&gt;1.2&lt;/mn&gt;&lt;/math&gt;" id="1969" name="Google Shape;1969;p147" title="equals 1.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2213" y="3039588"/>
            <a:ext cx="906350" cy="29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47"/>
          <p:cNvSpPr txBox="1"/>
          <p:nvPr>
            <p:ph idx="1" type="body"/>
          </p:nvPr>
        </p:nvSpPr>
        <p:spPr>
          <a:xfrm>
            <a:off x="324000" y="4066200"/>
            <a:ext cx="59328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Any of these divisions would give the same result as they are all equivalent fractions.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47"/>
          <p:cNvSpPr txBox="1"/>
          <p:nvPr/>
        </p:nvSpPr>
        <p:spPr>
          <a:xfrm>
            <a:off x="7077575" y="2381325"/>
            <a:ext cx="97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1 . 2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2" name="Google Shape;1972;p147"/>
          <p:cNvGrpSpPr/>
          <p:nvPr/>
        </p:nvGrpSpPr>
        <p:grpSpPr>
          <a:xfrm>
            <a:off x="6505800" y="2889227"/>
            <a:ext cx="1654200" cy="537591"/>
            <a:chOff x="6886800" y="2889227"/>
            <a:chExt cx="1654200" cy="537591"/>
          </a:xfrm>
        </p:grpSpPr>
        <p:sp>
          <p:nvSpPr>
            <p:cNvPr id="1973" name="Google Shape;1973;p147"/>
            <p:cNvSpPr txBox="1"/>
            <p:nvPr/>
          </p:nvSpPr>
          <p:spPr>
            <a:xfrm>
              <a:off x="6886800" y="2916613"/>
              <a:ext cx="5742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74" name="Google Shape;1974;p147"/>
            <p:cNvGrpSpPr/>
            <p:nvPr/>
          </p:nvGrpSpPr>
          <p:grpSpPr>
            <a:xfrm>
              <a:off x="7368629" y="2889227"/>
              <a:ext cx="974775" cy="537591"/>
              <a:chOff x="5726000" y="1634450"/>
              <a:chExt cx="1061500" cy="412200"/>
            </a:xfrm>
          </p:grpSpPr>
          <p:cxnSp>
            <p:nvCxnSpPr>
              <p:cNvPr id="1975" name="Google Shape;1975;p147"/>
              <p:cNvCxnSpPr/>
              <p:nvPr/>
            </p:nvCxnSpPr>
            <p:spPr>
              <a:xfrm flipH="1" rot="10800000">
                <a:off x="5726100" y="1644795"/>
                <a:ext cx="1061400" cy="3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6" name="Google Shape;1976;p147"/>
              <p:cNvCxnSpPr/>
              <p:nvPr/>
            </p:nvCxnSpPr>
            <p:spPr>
              <a:xfrm>
                <a:off x="5726000" y="1634450"/>
                <a:ext cx="0" cy="412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77" name="Google Shape;1977;p147"/>
            <p:cNvSpPr txBox="1"/>
            <p:nvPr/>
          </p:nvSpPr>
          <p:spPr>
            <a:xfrm>
              <a:off x="7461000" y="2916613"/>
              <a:ext cx="1080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6 . 0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8" name="Google Shape;1978;p147"/>
          <p:cNvSpPr txBox="1"/>
          <p:nvPr/>
        </p:nvSpPr>
        <p:spPr>
          <a:xfrm>
            <a:off x="7425302" y="2827788"/>
            <a:ext cx="7347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9" name="Google Shape;1979;p147"/>
          <p:cNvGrpSpPr/>
          <p:nvPr/>
        </p:nvGrpSpPr>
        <p:grpSpPr>
          <a:xfrm>
            <a:off x="3905351" y="1662600"/>
            <a:ext cx="4635649" cy="1635050"/>
            <a:chOff x="3875676" y="1720650"/>
            <a:chExt cx="4635649" cy="1635050"/>
          </a:xfrm>
        </p:grpSpPr>
        <p:cxnSp>
          <p:nvCxnSpPr>
            <p:cNvPr id="1980" name="Google Shape;1980;p147"/>
            <p:cNvCxnSpPr/>
            <p:nvPr/>
          </p:nvCxnSpPr>
          <p:spPr>
            <a:xfrm flipH="1">
              <a:off x="3875676" y="2124200"/>
              <a:ext cx="499200" cy="1231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1" name="Google Shape;1981;p147"/>
            <p:cNvSpPr txBox="1"/>
            <p:nvPr/>
          </p:nvSpPr>
          <p:spPr>
            <a:xfrm>
              <a:off x="4374925" y="1720650"/>
              <a:ext cx="4136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It might be tricky to divide by 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2" name="Google Shape;1982;p147"/>
          <p:cNvGrpSpPr/>
          <p:nvPr/>
        </p:nvGrpSpPr>
        <p:grpSpPr>
          <a:xfrm>
            <a:off x="4761650" y="1940175"/>
            <a:ext cx="3409375" cy="1357500"/>
            <a:chOff x="4761650" y="1940175"/>
            <a:chExt cx="3409375" cy="1357500"/>
          </a:xfrm>
        </p:grpSpPr>
        <p:cxnSp>
          <p:nvCxnSpPr>
            <p:cNvPr id="1983" name="Google Shape;1983;p147"/>
            <p:cNvCxnSpPr/>
            <p:nvPr/>
          </p:nvCxnSpPr>
          <p:spPr>
            <a:xfrm flipH="1">
              <a:off x="4761650" y="2200575"/>
              <a:ext cx="544200" cy="10971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4" name="Google Shape;1984;p147"/>
            <p:cNvSpPr txBox="1"/>
            <p:nvPr/>
          </p:nvSpPr>
          <p:spPr>
            <a:xfrm>
              <a:off x="5237925" y="1940175"/>
              <a:ext cx="2933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 is easier to divide by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5" name="Google Shape;1985;p147"/>
          <p:cNvSpPr/>
          <p:nvPr/>
        </p:nvSpPr>
        <p:spPr>
          <a:xfrm>
            <a:off x="7483750" y="2975250"/>
            <a:ext cx="155100" cy="18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47"/>
          <p:cNvSpPr/>
          <p:nvPr/>
        </p:nvSpPr>
        <p:spPr>
          <a:xfrm>
            <a:off x="7133975" y="2511600"/>
            <a:ext cx="246900" cy="31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147"/>
          <p:cNvSpPr/>
          <p:nvPr/>
        </p:nvSpPr>
        <p:spPr>
          <a:xfrm>
            <a:off x="7624825" y="2522200"/>
            <a:ext cx="246900" cy="31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47"/>
          <p:cNvSpPr/>
          <p:nvPr/>
        </p:nvSpPr>
        <p:spPr>
          <a:xfrm>
            <a:off x="6901425" y="2698809"/>
            <a:ext cx="1551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9" name="Google Shape;1989;p147"/>
          <p:cNvGrpSpPr/>
          <p:nvPr/>
        </p:nvGrpSpPr>
        <p:grpSpPr>
          <a:xfrm>
            <a:off x="7425300" y="2649988"/>
            <a:ext cx="827050" cy="788088"/>
            <a:chOff x="7806300" y="2649988"/>
            <a:chExt cx="827050" cy="788088"/>
          </a:xfrm>
        </p:grpSpPr>
        <p:sp>
          <p:nvSpPr>
            <p:cNvPr id="1990" name="Google Shape;1990;p147"/>
            <p:cNvSpPr/>
            <p:nvPr/>
          </p:nvSpPr>
          <p:spPr>
            <a:xfrm>
              <a:off x="7864750" y="2876000"/>
              <a:ext cx="768600" cy="6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91" name="Google Shape;1991;p147"/>
            <p:cNvGrpSpPr/>
            <p:nvPr/>
          </p:nvGrpSpPr>
          <p:grpSpPr>
            <a:xfrm>
              <a:off x="7806300" y="2649988"/>
              <a:ext cx="485045" cy="788088"/>
              <a:chOff x="7806300" y="2649988"/>
              <a:chExt cx="485045" cy="788088"/>
            </a:xfrm>
          </p:grpSpPr>
          <p:sp>
            <p:nvSpPr>
              <p:cNvPr id="1992" name="Google Shape;1992;p147"/>
              <p:cNvSpPr/>
              <p:nvPr/>
            </p:nvSpPr>
            <p:spPr>
              <a:xfrm>
                <a:off x="7806300" y="2649988"/>
                <a:ext cx="155100" cy="188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3" name="Google Shape;1993;p147"/>
              <p:cNvSpPr/>
              <p:nvPr/>
            </p:nvSpPr>
            <p:spPr>
              <a:xfrm>
                <a:off x="7806300" y="3249675"/>
                <a:ext cx="155100" cy="188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4" name="Google Shape;1994;p147"/>
              <p:cNvSpPr/>
              <p:nvPr/>
            </p:nvSpPr>
            <p:spPr>
              <a:xfrm>
                <a:off x="8044445" y="3054450"/>
                <a:ext cx="246900" cy="316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95" name="Google Shape;1995;p147"/>
          <p:cNvSpPr txBox="1"/>
          <p:nvPr>
            <p:ph idx="1" type="body"/>
          </p:nvPr>
        </p:nvSpPr>
        <p:spPr>
          <a:xfrm>
            <a:off x="324000" y="4066200"/>
            <a:ext cx="59328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Instead of giving a remainder you use trailing zeros to work out the decimal answer.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996" name="Google Shape;1996;p147"/>
          <p:cNvGrpSpPr/>
          <p:nvPr/>
        </p:nvGrpSpPr>
        <p:grpSpPr>
          <a:xfrm>
            <a:off x="4791625" y="3408575"/>
            <a:ext cx="2215163" cy="778500"/>
            <a:chOff x="4791625" y="3408575"/>
            <a:chExt cx="2215163" cy="778500"/>
          </a:xfrm>
        </p:grpSpPr>
        <p:grpSp>
          <p:nvGrpSpPr>
            <p:cNvPr id="1997" name="Google Shape;1997;p147"/>
            <p:cNvGrpSpPr/>
            <p:nvPr/>
          </p:nvGrpSpPr>
          <p:grpSpPr>
            <a:xfrm>
              <a:off x="5925888" y="3408575"/>
              <a:ext cx="1080900" cy="778500"/>
              <a:chOff x="5925888" y="3408575"/>
              <a:chExt cx="1080900" cy="778500"/>
            </a:xfrm>
          </p:grpSpPr>
          <p:cxnSp>
            <p:nvCxnSpPr>
              <p:cNvPr id="1998" name="Google Shape;1998;p147"/>
              <p:cNvCxnSpPr/>
              <p:nvPr/>
            </p:nvCxnSpPr>
            <p:spPr>
              <a:xfrm flipH="1" rot="10800000">
                <a:off x="6600325" y="3408575"/>
                <a:ext cx="110700" cy="405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999" name="Google Shape;1999;p147"/>
              <p:cNvSpPr txBox="1"/>
              <p:nvPr/>
            </p:nvSpPr>
            <p:spPr>
              <a:xfrm>
                <a:off x="5925888" y="3725375"/>
                <a:ext cx="1080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divisor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000" name="Google Shape;2000;p147"/>
            <p:cNvCxnSpPr/>
            <p:nvPr/>
          </p:nvCxnSpPr>
          <p:spPr>
            <a:xfrm rot="10800000">
              <a:off x="4791625" y="3571050"/>
              <a:ext cx="1446900" cy="213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148"/>
          <p:cNvSpPr/>
          <p:nvPr/>
        </p:nvSpPr>
        <p:spPr>
          <a:xfrm>
            <a:off x="314475" y="2395300"/>
            <a:ext cx="8294400" cy="103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48"/>
          <p:cNvSpPr/>
          <p:nvPr/>
        </p:nvSpPr>
        <p:spPr>
          <a:xfrm>
            <a:off x="314475" y="1189438"/>
            <a:ext cx="8350800" cy="103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48"/>
          <p:cNvSpPr txBox="1"/>
          <p:nvPr>
            <p:ph idx="1" type="body"/>
          </p:nvPr>
        </p:nvSpPr>
        <p:spPr>
          <a:xfrm>
            <a:off x="371025" y="750800"/>
            <a:ext cx="82377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and Jun are given the same calculation.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Who is correct?</a:t>
            </a:r>
            <a:endParaRPr/>
          </a:p>
        </p:txBody>
      </p:sp>
      <p:sp>
        <p:nvSpPr>
          <p:cNvPr id="2008" name="Google Shape;2008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.88\ \div1.2\ =\ \frac{2.88}{1.2}=\frac{28.8}{12}=\frac{14.4}{6}=\frac{7.2}{3}&quot;&gt;&lt;mn&gt;2.88&lt;/mn&gt;&lt;mtext&gt;&lt;/mtext&gt;&lt;mo&gt;÷&lt;/mo&gt;&lt;mn&gt;1.2&lt;/mn&gt;&lt;mtext&gt;&lt;/mtext&gt;&lt;mo&gt;=&lt;/mo&gt;&lt;mtext&gt;&lt;/mtext&gt;&lt;mfrac&gt;&lt;mn&gt;2.88&lt;/mn&gt;&lt;mn&gt;1.2&lt;/mn&gt;&lt;/mfrac&gt;&lt;mo&gt;=&lt;/mo&gt;&lt;mfrac&gt;&lt;mn&gt;28.8&lt;/mn&gt;&lt;mn&gt;12&lt;/mn&gt;&lt;/mfrac&gt;&lt;mo&gt;=&lt;/mo&gt;&lt;mfrac&gt;&lt;mn&gt;14.4&lt;/mn&gt;&lt;mn&gt;6&lt;/mn&gt;&lt;/mfrac&gt;&lt;mo&gt;=&lt;/mo&gt;&lt;mfrac&gt;&lt;mn&gt;7.2&lt;/mn&gt;&lt;mn&gt;3&lt;/mn&gt;&lt;/mfrac&gt;&lt;/math&gt;" id="2009" name="Google Shape;2009;p148" title="2.88 division sign 1.2 equals 2.88 over 1.2 equals 28.8 over 12 equals 14.4 over 6 equals 7.2 ove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250" y="1608550"/>
            <a:ext cx="4296751" cy="511245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48"/>
          <p:cNvSpPr txBox="1"/>
          <p:nvPr/>
        </p:nvSpPr>
        <p:spPr>
          <a:xfrm>
            <a:off x="5552175" y="1521950"/>
            <a:ext cx="6327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3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148"/>
          <p:cNvSpPr txBox="1"/>
          <p:nvPr/>
        </p:nvSpPr>
        <p:spPr>
          <a:xfrm>
            <a:off x="5343075" y="1557297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3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2" name="Google Shape;2012;p148"/>
          <p:cNvGrpSpPr/>
          <p:nvPr/>
        </p:nvGrpSpPr>
        <p:grpSpPr>
          <a:xfrm>
            <a:off x="6044500" y="1138831"/>
            <a:ext cx="389000" cy="685375"/>
            <a:chOff x="7664850" y="2396881"/>
            <a:chExt cx="389000" cy="685375"/>
          </a:xfrm>
        </p:grpSpPr>
        <p:sp>
          <p:nvSpPr>
            <p:cNvPr id="2013" name="Google Shape;2013;p148"/>
            <p:cNvSpPr txBox="1"/>
            <p:nvPr/>
          </p:nvSpPr>
          <p:spPr>
            <a:xfrm>
              <a:off x="7698650" y="287585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4" name="Google Shape;2014;p148"/>
            <p:cNvSpPr txBox="1"/>
            <p:nvPr/>
          </p:nvSpPr>
          <p:spPr>
            <a:xfrm>
              <a:off x="7664850" y="239688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2.88\ \div1.2\ =\ \frac{2.88}{1.2}=\frac{288}{120}&quot;&gt;&lt;mn&gt;2.88&lt;/mn&gt;&lt;mtext&gt;&lt;/mtext&gt;&lt;mo&gt;÷&lt;/mo&gt;&lt;mn&gt;1.2&lt;/mn&gt;&lt;mtext&gt;&lt;/mtext&gt;&lt;mo&gt;=&lt;/mo&gt;&lt;mtext&gt;&lt;/mtext&gt;&lt;mfrac&gt;&lt;mn&gt;2.88&lt;/mn&gt;&lt;mn&gt;1.2&lt;/mn&gt;&lt;/mfrac&gt;&lt;mo&gt;=&lt;/mo&gt;&lt;mfrac&gt;&lt;mn&gt;288&lt;/mn&gt;&lt;mn&gt;120&lt;/mn&gt;&lt;/mfrac&gt;&lt;/math&gt;" id="2015" name="Google Shape;2015;p148" title="2.88 division sign 1.2 equals 2.88 over 1.2 equals 288 over 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50" y="2571750"/>
            <a:ext cx="3281711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48"/>
          <p:cNvSpPr txBox="1"/>
          <p:nvPr/>
        </p:nvSpPr>
        <p:spPr>
          <a:xfrm>
            <a:off x="6155288" y="2335444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148"/>
          <p:cNvSpPr txBox="1"/>
          <p:nvPr/>
        </p:nvSpPr>
        <p:spPr>
          <a:xfrm>
            <a:off x="324000" y="3771500"/>
            <a:ext cx="754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are correct, but which method do you think is easier?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8" name="Google Shape;2018;p148"/>
          <p:cNvSpPr txBox="1"/>
          <p:nvPr/>
        </p:nvSpPr>
        <p:spPr>
          <a:xfrm>
            <a:off x="324000" y="4216300"/>
            <a:ext cx="754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Jun’s method is a more efficient approach.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9" name="Google Shape;2019;p148"/>
          <p:cNvSpPr txBox="1"/>
          <p:nvPr/>
        </p:nvSpPr>
        <p:spPr>
          <a:xfrm>
            <a:off x="7679400" y="1667300"/>
            <a:ext cx="114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148"/>
          <p:cNvSpPr txBox="1"/>
          <p:nvPr/>
        </p:nvSpPr>
        <p:spPr>
          <a:xfrm>
            <a:off x="7227900" y="2882929"/>
            <a:ext cx="13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1" name="Google Shape;2021;p148"/>
          <p:cNvGrpSpPr/>
          <p:nvPr/>
        </p:nvGrpSpPr>
        <p:grpSpPr>
          <a:xfrm>
            <a:off x="5726000" y="1634450"/>
            <a:ext cx="1061500" cy="412200"/>
            <a:chOff x="5726000" y="1634450"/>
            <a:chExt cx="1061500" cy="412200"/>
          </a:xfrm>
        </p:grpSpPr>
        <p:cxnSp>
          <p:nvCxnSpPr>
            <p:cNvPr id="2022" name="Google Shape;2022;p148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3" name="Google Shape;2023;p148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4" name="Google Shape;2024;p148"/>
          <p:cNvSpPr txBox="1"/>
          <p:nvPr/>
        </p:nvSpPr>
        <p:spPr>
          <a:xfrm>
            <a:off x="5785875" y="1557300"/>
            <a:ext cx="1357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7 . 2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48"/>
          <p:cNvSpPr txBox="1"/>
          <p:nvPr/>
        </p:nvSpPr>
        <p:spPr>
          <a:xfrm>
            <a:off x="6156072" y="1529388"/>
            <a:ext cx="2874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48"/>
          <p:cNvSpPr txBox="1"/>
          <p:nvPr/>
        </p:nvSpPr>
        <p:spPr>
          <a:xfrm>
            <a:off x="5785875" y="1173000"/>
            <a:ext cx="1357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 . 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148"/>
          <p:cNvSpPr txBox="1"/>
          <p:nvPr/>
        </p:nvSpPr>
        <p:spPr>
          <a:xfrm>
            <a:off x="4385730" y="2829350"/>
            <a:ext cx="893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120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8" name="Google Shape;2028;p148"/>
          <p:cNvGrpSpPr/>
          <p:nvPr/>
        </p:nvGrpSpPr>
        <p:grpSpPr>
          <a:xfrm>
            <a:off x="5187121" y="2801746"/>
            <a:ext cx="1691819" cy="465291"/>
            <a:chOff x="5726000" y="1634450"/>
            <a:chExt cx="1061500" cy="412200"/>
          </a:xfrm>
        </p:grpSpPr>
        <p:cxnSp>
          <p:nvCxnSpPr>
            <p:cNvPr id="2029" name="Google Shape;2029;p148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0" name="Google Shape;2030;p148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31" name="Google Shape;2031;p148"/>
          <p:cNvSpPr txBox="1"/>
          <p:nvPr/>
        </p:nvSpPr>
        <p:spPr>
          <a:xfrm>
            <a:off x="5246930" y="2829350"/>
            <a:ext cx="2156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2  8  8</a:t>
            </a: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 . 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148"/>
          <p:cNvSpPr txBox="1"/>
          <p:nvPr/>
        </p:nvSpPr>
        <p:spPr>
          <a:xfrm>
            <a:off x="6042730" y="2328660"/>
            <a:ext cx="1357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2 . 4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48"/>
          <p:cNvSpPr txBox="1"/>
          <p:nvPr/>
        </p:nvSpPr>
        <p:spPr>
          <a:xfrm>
            <a:off x="5831074" y="2697350"/>
            <a:ext cx="13572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28   48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149"/>
          <p:cNvSpPr txBox="1"/>
          <p:nvPr/>
        </p:nvSpPr>
        <p:spPr>
          <a:xfrm>
            <a:off x="6537625" y="3614692"/>
            <a:ext cx="9735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27 6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49"/>
          <p:cNvSpPr txBox="1"/>
          <p:nvPr>
            <p:ph idx="1" type="subTitle"/>
          </p:nvPr>
        </p:nvSpPr>
        <p:spPr>
          <a:xfrm>
            <a:off x="337825" y="810000"/>
            <a:ext cx="3982200" cy="26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Work out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Showing all your working out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2040" name="Google Shape;2040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96.3\div1.5\ =\ \frac{96.3}{1.5}=\frac{963}{15}=\frac{321}{5}&quot;&gt;&lt;mn&gt;96.3&lt;/mn&gt;&lt;mo&gt;÷&lt;/mo&gt;&lt;mn&gt;1.5&lt;/mn&gt;&lt;mtext&gt;&lt;/mtext&gt;&lt;mo&gt;=&lt;/mo&gt;&lt;mtext&gt;&lt;/mtext&gt;&lt;mfrac&gt;&lt;mn&gt;96.3&lt;/mn&gt;&lt;mn&gt;1.5&lt;/mn&gt;&lt;/mfrac&gt;&lt;mo&gt;=&lt;/mo&gt;&lt;mfrac&gt;&lt;mn&gt;963&lt;/mn&gt;&lt;mn&gt;15&lt;/mn&gt;&lt;/mfrac&gt;&lt;mo&gt;=&lt;/mo&gt;&lt;mfrac&gt;&lt;mn&gt;321&lt;/mn&gt;&lt;mn&gt;5&lt;/mn&gt;&lt;/mfrac&gt;&lt;/math&gt;" id="2041" name="Google Shape;2041;p149" title="96.3 divided by 1.5 equals 96.3 over 1.5 equals 963 over 15 equals 321 over 5"/>
          <p:cNvPicPr preferRelativeResize="0"/>
          <p:nvPr/>
        </p:nvPicPr>
        <p:blipFill rotWithShape="1">
          <a:blip r:embed="rId3">
            <a:alphaModFix/>
          </a:blip>
          <a:srcRect b="0" l="0" r="58034" t="0"/>
          <a:stretch/>
        </p:blipFill>
        <p:spPr>
          <a:xfrm>
            <a:off x="1477912" y="1220375"/>
            <a:ext cx="1584025" cy="56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6.3\div1.5\ =\ \frac{96.3}{1.5}=\frac{963}{15}=\frac{321}{5}&quot;&gt;&lt;mn&gt;96.3&lt;/mn&gt;&lt;mo&gt;÷&lt;/mo&gt;&lt;mn&gt;1.5&lt;/mn&gt;&lt;mtext&gt;&lt;/mtext&gt;&lt;mo&gt;=&lt;/mo&gt;&lt;mtext&gt;&lt;/mtext&gt;&lt;mfrac&gt;&lt;mn&gt;96.3&lt;/mn&gt;&lt;mn&gt;1.5&lt;/mn&gt;&lt;/mfrac&gt;&lt;mo&gt;=&lt;/mo&gt;&lt;mfrac&gt;&lt;mn&gt;963&lt;/mn&gt;&lt;mn&gt;15&lt;/mn&gt;&lt;/mfrac&gt;&lt;mo&gt;=&lt;/mo&gt;&lt;mfrac&gt;&lt;mn&gt;321&lt;/mn&gt;&lt;mn&gt;5&lt;/mn&gt;&lt;/mfrac&gt;&lt;/math&gt;" id="2042" name="Google Shape;2042;p149" title="96.3 divided by 1.5 equals 96.3 over 1.5 equals 963 over 15 equals 321 over 5"/>
          <p:cNvPicPr preferRelativeResize="0"/>
          <p:nvPr/>
        </p:nvPicPr>
        <p:blipFill rotWithShape="1">
          <a:blip r:embed="rId3">
            <a:alphaModFix/>
          </a:blip>
          <a:srcRect b="0" l="0" r="67444" t="0"/>
          <a:stretch/>
        </p:blipFill>
        <p:spPr>
          <a:xfrm>
            <a:off x="532175" y="2435488"/>
            <a:ext cx="1228825" cy="5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3" name="Google Shape;2043;p149"/>
          <p:cNvSpPr txBox="1"/>
          <p:nvPr/>
        </p:nvSpPr>
        <p:spPr>
          <a:xfrm>
            <a:off x="1898675" y="3167400"/>
            <a:ext cx="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2044" name="Google Shape;2044;p149"/>
          <p:cNvSpPr txBox="1"/>
          <p:nvPr/>
        </p:nvSpPr>
        <p:spPr>
          <a:xfrm>
            <a:off x="2101788" y="3167400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6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5" name="Google Shape;2045;p149"/>
          <p:cNvGrpSpPr/>
          <p:nvPr/>
        </p:nvGrpSpPr>
        <p:grpSpPr>
          <a:xfrm>
            <a:off x="2529614" y="3154223"/>
            <a:ext cx="355217" cy="685375"/>
            <a:chOff x="7664833" y="2396881"/>
            <a:chExt cx="355217" cy="685375"/>
          </a:xfrm>
        </p:grpSpPr>
        <p:sp>
          <p:nvSpPr>
            <p:cNvPr id="2046" name="Google Shape;2046;p149"/>
            <p:cNvSpPr txBox="1"/>
            <p:nvPr/>
          </p:nvSpPr>
          <p:spPr>
            <a:xfrm>
              <a:off x="7664833" y="287585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7" name="Google Shape;2047;p149"/>
            <p:cNvSpPr txBox="1"/>
            <p:nvPr/>
          </p:nvSpPr>
          <p:spPr>
            <a:xfrm>
              <a:off x="7664850" y="239688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8" name="Google Shape;2048;p149"/>
          <p:cNvSpPr txBox="1"/>
          <p:nvPr/>
        </p:nvSpPr>
        <p:spPr>
          <a:xfrm>
            <a:off x="2270875" y="3520429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149"/>
          <p:cNvSpPr txBox="1"/>
          <p:nvPr/>
        </p:nvSpPr>
        <p:spPr>
          <a:xfrm>
            <a:off x="2626075" y="3167388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49"/>
          <p:cNvSpPr txBox="1"/>
          <p:nvPr/>
        </p:nvSpPr>
        <p:spPr>
          <a:xfrm>
            <a:off x="2091000" y="3520429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49"/>
          <p:cNvSpPr txBox="1"/>
          <p:nvPr/>
        </p:nvSpPr>
        <p:spPr>
          <a:xfrm>
            <a:off x="2299075" y="3167388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49"/>
          <p:cNvSpPr txBox="1"/>
          <p:nvPr/>
        </p:nvSpPr>
        <p:spPr>
          <a:xfrm>
            <a:off x="2529625" y="3521488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49"/>
          <p:cNvSpPr txBox="1"/>
          <p:nvPr/>
        </p:nvSpPr>
        <p:spPr>
          <a:xfrm>
            <a:off x="2586536" y="3627910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96.3\div1.5\ =\ 64.2&quot;&gt;&lt;mn&gt;96.3&lt;/mn&gt;&lt;mo&gt;÷&lt;/mo&gt;&lt;mn&gt;1.5&lt;/mn&gt;&lt;mtext&gt;&lt;/mtext&gt;&lt;mo&gt;=&lt;/mo&gt;&lt;mtext&gt;&lt;/mtext&gt;&lt;mn&gt;64.2&lt;/mn&gt;&lt;/math&gt;" id="2054" name="Google Shape;2054;p149" title="96.3 divided by 1.5 equals 64.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200" y="4412800"/>
            <a:ext cx="2656200" cy="25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6.3\div1.5\ =\ \frac{96.3}{1.5}=\frac{963}{15}=\frac{321}{5}&quot;&gt;&lt;mn&gt;96.3&lt;/mn&gt;&lt;mo&gt;÷&lt;/mo&gt;&lt;mn&gt;1.5&lt;/mn&gt;&lt;mtext&gt;&lt;/mtext&gt;&lt;mo&gt;=&lt;/mo&gt;&lt;mtext&gt;&lt;/mtext&gt;&lt;mfrac&gt;&lt;mn&gt;96.3&lt;/mn&gt;&lt;mn&gt;1.5&lt;/mn&gt;&lt;/mfrac&gt;&lt;mo&gt;=&lt;/mo&gt;&lt;mfrac&gt;&lt;mn&gt;963&lt;/mn&gt;&lt;mn&gt;15&lt;/mn&gt;&lt;/mfrac&gt;&lt;mo&gt;=&lt;/mo&gt;&lt;mfrac&gt;&lt;mn&gt;321&lt;/mn&gt;&lt;mn&gt;5&lt;/mn&gt;&lt;/mfrac&gt;&lt;/math&gt;" id="2055" name="Google Shape;2055;p149" title="96.3 divided by 1.5 equals 96.3 over 1.5 equals 963 over 15 equals 321 over 5"/>
          <p:cNvPicPr preferRelativeResize="0"/>
          <p:nvPr/>
        </p:nvPicPr>
        <p:blipFill rotWithShape="1">
          <a:blip r:embed="rId3">
            <a:alphaModFix/>
          </a:blip>
          <a:srcRect b="-6850" l="31544" r="20624" t="-14611"/>
          <a:stretch/>
        </p:blipFill>
        <p:spPr>
          <a:xfrm>
            <a:off x="1808750" y="2374950"/>
            <a:ext cx="1805375" cy="68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6.3\div1.5\ =\ \frac{96.3}{1.5}=\frac{963}{15}=\frac{321}{5}&quot;&gt;&lt;mn&gt;96.3&lt;/mn&gt;&lt;mo&gt;÷&lt;/mo&gt;&lt;mn&gt;1.5&lt;/mn&gt;&lt;mtext&gt;&lt;/mtext&gt;&lt;mo&gt;=&lt;/mo&gt;&lt;mtext&gt;&lt;/mtext&gt;&lt;mfrac&gt;&lt;mn&gt;96.3&lt;/mn&gt;&lt;mn&gt;1.5&lt;/mn&gt;&lt;/mfrac&gt;&lt;mo&gt;=&lt;/mo&gt;&lt;mfrac&gt;&lt;mn&gt;963&lt;/mn&gt;&lt;mn&gt;15&lt;/mn&gt;&lt;/mfrac&gt;&lt;mo&gt;=&lt;/mo&gt;&lt;mfrac&gt;&lt;mn&gt;321&lt;/mn&gt;&lt;mn&gt;5&lt;/mn&gt;&lt;/mfrac&gt;&lt;/math&gt;" id="2056" name="Google Shape;2056;p149" title="96.3 divided by 1.5 equals 96.3 over 1.5 equals 963 over 15 equals 321 over 5"/>
          <p:cNvPicPr preferRelativeResize="0"/>
          <p:nvPr/>
        </p:nvPicPr>
        <p:blipFill rotWithShape="1">
          <a:blip r:embed="rId3">
            <a:alphaModFix/>
          </a:blip>
          <a:srcRect b="-10737" l="80093" r="-3582" t="-10725"/>
          <a:stretch/>
        </p:blipFill>
        <p:spPr>
          <a:xfrm>
            <a:off x="3567665" y="2374950"/>
            <a:ext cx="886599" cy="68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7" name="Google Shape;2057;p149"/>
          <p:cNvSpPr txBox="1"/>
          <p:nvPr/>
        </p:nvSpPr>
        <p:spPr>
          <a:xfrm>
            <a:off x="1395700" y="3609750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5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149"/>
          <p:cNvSpPr txBox="1"/>
          <p:nvPr/>
        </p:nvSpPr>
        <p:spPr>
          <a:xfrm>
            <a:off x="1954675" y="3635517"/>
            <a:ext cx="9735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321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49"/>
          <p:cNvSpPr txBox="1"/>
          <p:nvPr>
            <p:ph idx="1" type="subTitle"/>
          </p:nvPr>
        </p:nvSpPr>
        <p:spPr>
          <a:xfrm>
            <a:off x="4703550" y="789175"/>
            <a:ext cx="3982200" cy="22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Work out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/>
              <a:t>Showing all your working out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2060" name="Google Shape;2060;p149"/>
          <p:cNvSpPr txBox="1"/>
          <p:nvPr/>
        </p:nvSpPr>
        <p:spPr>
          <a:xfrm>
            <a:off x="6498775" y="3145688"/>
            <a:ext cx="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grpSp>
        <p:nvGrpSpPr>
          <p:cNvPr id="2061" name="Google Shape;2061;p149"/>
          <p:cNvGrpSpPr/>
          <p:nvPr/>
        </p:nvGrpSpPr>
        <p:grpSpPr>
          <a:xfrm>
            <a:off x="6938739" y="3132511"/>
            <a:ext cx="355217" cy="685375"/>
            <a:chOff x="7664833" y="2396881"/>
            <a:chExt cx="355217" cy="685375"/>
          </a:xfrm>
        </p:grpSpPr>
        <p:sp>
          <p:nvSpPr>
            <p:cNvPr id="2062" name="Google Shape;2062;p149"/>
            <p:cNvSpPr txBox="1"/>
            <p:nvPr/>
          </p:nvSpPr>
          <p:spPr>
            <a:xfrm>
              <a:off x="7664833" y="287585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3" name="Google Shape;2063;p149"/>
            <p:cNvSpPr txBox="1"/>
            <p:nvPr/>
          </p:nvSpPr>
          <p:spPr>
            <a:xfrm>
              <a:off x="7664850" y="239688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64" name="Google Shape;2064;p149"/>
          <p:cNvSpPr txBox="1"/>
          <p:nvPr/>
        </p:nvSpPr>
        <p:spPr>
          <a:xfrm>
            <a:off x="6664800" y="3502979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49"/>
          <p:cNvSpPr txBox="1"/>
          <p:nvPr/>
        </p:nvSpPr>
        <p:spPr>
          <a:xfrm>
            <a:off x="7035200" y="3145675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6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49"/>
          <p:cNvSpPr txBox="1"/>
          <p:nvPr/>
        </p:nvSpPr>
        <p:spPr>
          <a:xfrm>
            <a:off x="6982995" y="3520111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49"/>
          <p:cNvSpPr txBox="1"/>
          <p:nvPr/>
        </p:nvSpPr>
        <p:spPr>
          <a:xfrm>
            <a:off x="6708200" y="3145675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49"/>
          <p:cNvSpPr txBox="1"/>
          <p:nvPr/>
        </p:nvSpPr>
        <p:spPr>
          <a:xfrm>
            <a:off x="6066225" y="3588925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6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.52\div1.2\ =\ \frac{5.52}{1.2}=\frac{55.2}{12}=\frac{27.6}{6}&quot;&gt;&lt;mn&gt;5.52&lt;/mn&gt;&lt;mo&gt;÷&lt;/mo&gt;&lt;mn&gt;1.2&lt;/mn&gt;&lt;mtext&gt;&lt;/mtext&gt;&lt;mo&gt;=&lt;/mo&gt;&lt;mtext&gt;&lt;/mtext&gt;&lt;mfrac&gt;&lt;mn&gt;5.52&lt;/mn&gt;&lt;mn&gt;1.2&lt;/mn&gt;&lt;/mfrac&gt;&lt;mo&gt;=&lt;/mo&gt;&lt;mfrac&gt;&lt;mn&gt;55.2&lt;/mn&gt;&lt;mn&gt;12&lt;/mn&gt;&lt;/mfrac&gt;&lt;mo&gt;=&lt;/mo&gt;&lt;mfrac&gt;&lt;mn&gt;27.6&lt;/mn&gt;&lt;mn&gt;6&lt;/mn&gt;&lt;/mfrac&gt;&lt;/math&gt;" id="2069" name="Google Shape;2069;p149" title="5.52 divided by 1.2 equals 5.52 over 1.2 equals 55.2 over 12 equals 27.6 over 6"/>
          <p:cNvPicPr preferRelativeResize="0"/>
          <p:nvPr/>
        </p:nvPicPr>
        <p:blipFill rotWithShape="1">
          <a:blip r:embed="rId5">
            <a:alphaModFix/>
          </a:blip>
          <a:srcRect b="0" l="0" r="59415" t="0"/>
          <a:stretch/>
        </p:blipFill>
        <p:spPr>
          <a:xfrm>
            <a:off x="6174475" y="1162900"/>
            <a:ext cx="1584025" cy="56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52\div1.2\ =\ \frac{5.52}{1.2}=\frac{55.2}{12}=\frac{27.6}{6}&quot;&gt;&lt;mn&gt;5.52&lt;/mn&gt;&lt;mo&gt;÷&lt;/mo&gt;&lt;mn&gt;1.2&lt;/mn&gt;&lt;mtext&gt;&lt;/mtext&gt;&lt;mo&gt;=&lt;/mo&gt;&lt;mtext&gt;&lt;/mtext&gt;&lt;mfrac&gt;&lt;mn&gt;5.52&lt;/mn&gt;&lt;mn&gt;1.2&lt;/mn&gt;&lt;/mfrac&gt;&lt;mo&gt;=&lt;/mo&gt;&lt;mfrac&gt;&lt;mn&gt;55.2&lt;/mn&gt;&lt;mn&gt;12&lt;/mn&gt;&lt;/mfrac&gt;&lt;mo&gt;=&lt;/mo&gt;&lt;mfrac&gt;&lt;mn&gt;27.6&lt;/mn&gt;&lt;mn&gt;6&lt;/mn&gt;&lt;/mfrac&gt;&lt;/math&gt;" id="2070" name="Google Shape;2070;p149" title="5.52 divided by 1.2 equals 5.52 over 1.2 equals 55.2 over 12 equals 27.6 over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2825" y="2388798"/>
            <a:ext cx="3903105" cy="56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52\div1.2\ =\ 4.6&quot;&gt;&lt;mn&gt;5.52&lt;/mn&gt;&lt;mo&gt;÷&lt;/mo&gt;&lt;mn&gt;1.2&lt;/mn&gt;&lt;mtext&gt;&lt;/mtext&gt;&lt;mo&gt;=&lt;/mo&gt;&lt;mtext&gt;&lt;/mtext&gt;&lt;mn&gt;4.6&lt;/mn&gt;&lt;/math&gt;" id="2071" name="Google Shape;2071;p149" title="5.52 divided by 1.2 equals 4.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7825" y="4377500"/>
            <a:ext cx="2818525" cy="289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2" name="Google Shape;2072;p149"/>
          <p:cNvGrpSpPr/>
          <p:nvPr/>
        </p:nvGrpSpPr>
        <p:grpSpPr>
          <a:xfrm>
            <a:off x="1808744" y="3630872"/>
            <a:ext cx="1146526" cy="511293"/>
            <a:chOff x="5726000" y="1634450"/>
            <a:chExt cx="1061500" cy="412200"/>
          </a:xfrm>
        </p:grpSpPr>
        <p:cxnSp>
          <p:nvCxnSpPr>
            <p:cNvPr id="2073" name="Google Shape;2073;p149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4" name="Google Shape;2074;p149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75" name="Google Shape;2075;p149"/>
          <p:cNvGrpSpPr/>
          <p:nvPr/>
        </p:nvGrpSpPr>
        <p:grpSpPr>
          <a:xfrm>
            <a:off x="6451106" y="3597457"/>
            <a:ext cx="1146526" cy="511293"/>
            <a:chOff x="5726000" y="1634450"/>
            <a:chExt cx="1061500" cy="412200"/>
          </a:xfrm>
        </p:grpSpPr>
        <p:cxnSp>
          <p:nvCxnSpPr>
            <p:cNvPr id="2076" name="Google Shape;2076;p149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7" name="Google Shape;2077;p149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50"/>
          <p:cNvSpPr/>
          <p:nvPr/>
        </p:nvSpPr>
        <p:spPr>
          <a:xfrm>
            <a:off x="311850" y="1583700"/>
            <a:ext cx="8237700" cy="331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50"/>
          <p:cNvSpPr txBox="1"/>
          <p:nvPr>
            <p:ph idx="1" type="body"/>
          </p:nvPr>
        </p:nvSpPr>
        <p:spPr>
          <a:xfrm>
            <a:off x="324000" y="759300"/>
            <a:ext cx="8237700" cy="102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has </a:t>
            </a:r>
            <a:r>
              <a:rPr lang="en-GB"/>
              <a:t>spilled</a:t>
            </a:r>
            <a:r>
              <a:rPr lang="en-GB"/>
              <a:t> ink all over his maths work. Can you figure out the missing numbers?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8.4\div1.6\ =\ \frac{48.4}{1.6}=\frac{484}{16}=\frac{121}{4}=30.25&quot;&gt;&lt;mn&gt;48.4&lt;/mn&gt;&lt;mo&gt;÷&lt;/mo&gt;&lt;mn&gt;1.6&lt;/mn&gt;&lt;mtext&gt;&lt;/mtext&gt;&lt;mo&gt;=&lt;/mo&gt;&lt;mtext&gt;&lt;/mtext&gt;&lt;mfrac&gt;&lt;mn&gt;48.4&lt;/mn&gt;&lt;mn&gt;1.6&lt;/mn&gt;&lt;/mfrac&gt;&lt;mo&gt;=&lt;/mo&gt;&lt;mfrac&gt;&lt;mn&gt;484&lt;/mn&gt;&lt;mn&gt;16&lt;/mn&gt;&lt;/mfrac&gt;&lt;mo&gt;=&lt;/mo&gt;&lt;mfrac&gt;&lt;mn&gt;121&lt;/mn&gt;&lt;mn&gt;4&lt;/mn&gt;&lt;/mfrac&gt;&lt;mo&gt;=&lt;/mo&gt;&lt;mn&gt;30.25&lt;/mn&gt;&lt;/math&gt;" id="2085" name="Google Shape;2085;p150" title="48.4 divided by 1.6 equals 48.4 over 1.6 equals 484 over 16 equals 121 over 4 equals 30.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25" y="1848625"/>
            <a:ext cx="7712050" cy="9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6" name="Google Shape;2086;p150"/>
          <p:cNvSpPr txBox="1"/>
          <p:nvPr/>
        </p:nvSpPr>
        <p:spPr>
          <a:xfrm>
            <a:off x="5119375" y="3836050"/>
            <a:ext cx="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2087" name="Google Shape;2087;p150"/>
          <p:cNvSpPr txBox="1"/>
          <p:nvPr/>
        </p:nvSpPr>
        <p:spPr>
          <a:xfrm>
            <a:off x="4371875" y="3832750"/>
            <a:ext cx="7998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121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150"/>
          <p:cNvSpPr txBox="1"/>
          <p:nvPr/>
        </p:nvSpPr>
        <p:spPr>
          <a:xfrm>
            <a:off x="4301825" y="33537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9" name="Google Shape;2089;p150"/>
          <p:cNvGrpSpPr/>
          <p:nvPr/>
        </p:nvGrpSpPr>
        <p:grpSpPr>
          <a:xfrm>
            <a:off x="4939150" y="3353781"/>
            <a:ext cx="389000" cy="685375"/>
            <a:chOff x="7664850" y="2396881"/>
            <a:chExt cx="389000" cy="685375"/>
          </a:xfrm>
        </p:grpSpPr>
        <p:sp>
          <p:nvSpPr>
            <p:cNvPr id="2090" name="Google Shape;2090;p150"/>
            <p:cNvSpPr txBox="1"/>
            <p:nvPr/>
          </p:nvSpPr>
          <p:spPr>
            <a:xfrm>
              <a:off x="7698650" y="287585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1" name="Google Shape;2091;p150"/>
            <p:cNvSpPr txBox="1"/>
            <p:nvPr/>
          </p:nvSpPr>
          <p:spPr>
            <a:xfrm>
              <a:off x="7664850" y="239688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2" name="Google Shape;2092;p150"/>
          <p:cNvSpPr txBox="1"/>
          <p:nvPr/>
        </p:nvSpPr>
        <p:spPr>
          <a:xfrm>
            <a:off x="5015625" y="3741642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3" name="Google Shape;2093;p150"/>
          <p:cNvSpPr txBox="1"/>
          <p:nvPr/>
        </p:nvSpPr>
        <p:spPr>
          <a:xfrm>
            <a:off x="5370825" y="3836038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4" name="Google Shape;2094;p150"/>
          <p:cNvSpPr txBox="1"/>
          <p:nvPr/>
        </p:nvSpPr>
        <p:spPr>
          <a:xfrm>
            <a:off x="3937650" y="3825550"/>
            <a:ext cx="4233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150"/>
          <p:cNvSpPr txBox="1"/>
          <p:nvPr/>
        </p:nvSpPr>
        <p:spPr>
          <a:xfrm>
            <a:off x="4472450" y="3741642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150"/>
          <p:cNvSpPr txBox="1"/>
          <p:nvPr/>
        </p:nvSpPr>
        <p:spPr>
          <a:xfrm>
            <a:off x="5280325" y="3739892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150"/>
          <p:cNvSpPr txBox="1"/>
          <p:nvPr/>
        </p:nvSpPr>
        <p:spPr>
          <a:xfrm>
            <a:off x="5015625" y="33537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150"/>
          <p:cNvSpPr txBox="1"/>
          <p:nvPr/>
        </p:nvSpPr>
        <p:spPr>
          <a:xfrm>
            <a:off x="4719575" y="3353775"/>
            <a:ext cx="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2099" name="Google Shape;2099;p150"/>
          <p:cNvSpPr txBox="1"/>
          <p:nvPr/>
        </p:nvSpPr>
        <p:spPr>
          <a:xfrm>
            <a:off x="5225275" y="33612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5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150"/>
          <p:cNvSpPr txBox="1"/>
          <p:nvPr/>
        </p:nvSpPr>
        <p:spPr>
          <a:xfrm>
            <a:off x="4540150" y="33537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3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1" name="Google Shape;2101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799" y="1996188"/>
            <a:ext cx="799801" cy="62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2" name="Google Shape;2102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671575"/>
            <a:ext cx="799801" cy="62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3" name="Google Shape;2103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5049" y="1671575"/>
            <a:ext cx="799801" cy="62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4" name="Google Shape;2104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3275" y="1848625"/>
            <a:ext cx="1177998" cy="9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5" name="Google Shape;2105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8024" y="3227425"/>
            <a:ext cx="799801" cy="62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6" name="Google Shape;2106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1026" y="3891163"/>
            <a:ext cx="718276" cy="5604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7" name="Google Shape;2107;p150"/>
          <p:cNvGrpSpPr/>
          <p:nvPr/>
        </p:nvGrpSpPr>
        <p:grpSpPr>
          <a:xfrm>
            <a:off x="4398870" y="3832722"/>
            <a:ext cx="1371246" cy="511293"/>
            <a:chOff x="5726000" y="1634450"/>
            <a:chExt cx="1061500" cy="412200"/>
          </a:xfrm>
        </p:grpSpPr>
        <p:cxnSp>
          <p:nvCxnSpPr>
            <p:cNvPr id="2108" name="Google Shape;2108;p150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9" name="Google Shape;2109;p150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51"/>
          <p:cNvSpPr txBox="1"/>
          <p:nvPr>
            <p:ph idx="1" type="body"/>
          </p:nvPr>
        </p:nvSpPr>
        <p:spPr>
          <a:xfrm>
            <a:off x="375250" y="759300"/>
            <a:ext cx="8237700" cy="4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Show your working out for the </a:t>
            </a:r>
            <a:r>
              <a:rPr lang="en-GB"/>
              <a:t>following</a:t>
            </a:r>
            <a:r>
              <a:rPr lang="en-GB"/>
              <a:t> calculations. 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                               </a:t>
            </a:r>
            <a:endParaRPr/>
          </a:p>
        </p:txBody>
      </p:sp>
      <p:sp>
        <p:nvSpPr>
          <p:cNvPr id="2115" name="Google Shape;2115;p1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using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116" name="Google Shape;2116;p151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0" r="64384" t="0"/>
          <a:stretch/>
        </p:blipFill>
        <p:spPr>
          <a:xfrm>
            <a:off x="860500" y="2404283"/>
            <a:ext cx="1642975" cy="67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117" name="Google Shape;2117;p151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0" r="68512" t="0"/>
          <a:stretch/>
        </p:blipFill>
        <p:spPr>
          <a:xfrm>
            <a:off x="784625" y="1200808"/>
            <a:ext cx="1541825" cy="67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.48\ \div2.2\ =\ 8.4\ \ \ \ \frac{18.48}{2.2}=\frac{184.8}{22}=\frac{92.4}{11}&quot;&gt;&lt;mn&gt;18.48&lt;/mn&gt;&lt;mtext&gt;&lt;/mtext&gt;&lt;mo&gt;÷&lt;/mo&gt;&lt;mn&gt;2.2&lt;/mn&gt;&lt;mtext&gt;&lt;/mtext&gt;&lt;mo&gt;=&lt;/mo&gt;&lt;mtext&gt;&lt;/mtext&gt;&lt;mn&gt;8.4&lt;/mn&gt;&lt;mtext&gt;&lt;/mtext&gt;&lt;mtext&gt;&lt;/mtext&gt;&lt;mtext&gt;&lt;/mtext&gt;&lt;mtext&gt;&lt;/mtext&gt;&lt;mfrac&gt;&lt;mn&gt;18.48&lt;/mn&gt;&lt;mn&gt;2.2&lt;/mn&gt;&lt;/mfrac&gt;&lt;mo&gt;=&lt;/mo&gt;&lt;mfrac&gt;&lt;mn&gt;184.8&lt;/mn&gt;&lt;mn&gt;22&lt;/mn&gt;&lt;/mfrac&gt;&lt;mo&gt;=&lt;/mo&gt;&lt;mfrac&gt;&lt;mn&gt;92.4&lt;/mn&gt;&lt;mn&gt;11&lt;/mn&gt;&lt;/mfrac&gt;&lt;/math&gt;" id="2118" name="Google Shape;2118;p151" title="18.48 division sign 2.2 equals 8.4 18.48 over 2.2 equals 184.8 over 22 equals 92.4 over 11"/>
          <p:cNvPicPr preferRelativeResize="0"/>
          <p:nvPr/>
        </p:nvPicPr>
        <p:blipFill rotWithShape="1">
          <a:blip r:embed="rId5">
            <a:alphaModFix/>
          </a:blip>
          <a:srcRect b="0" l="0" r="56094" t="0"/>
          <a:stretch/>
        </p:blipFill>
        <p:spPr>
          <a:xfrm>
            <a:off x="767154" y="3711013"/>
            <a:ext cx="2292649" cy="5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119" name="Google Shape;2119;p151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84148" r="0" t="0"/>
          <a:stretch/>
        </p:blipFill>
        <p:spPr>
          <a:xfrm>
            <a:off x="2326451" y="1200808"/>
            <a:ext cx="776175" cy="67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120" name="Google Shape;2120;p151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88772" r="0" t="0"/>
          <a:stretch/>
        </p:blipFill>
        <p:spPr>
          <a:xfrm>
            <a:off x="2369270" y="2404283"/>
            <a:ext cx="517925" cy="67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151"/>
          <p:cNvSpPr txBox="1"/>
          <p:nvPr/>
        </p:nvSpPr>
        <p:spPr>
          <a:xfrm>
            <a:off x="375250" y="1277150"/>
            <a:ext cx="517800" cy="3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52"/>
          <p:cNvSpPr txBox="1"/>
          <p:nvPr>
            <p:ph idx="1" type="body"/>
          </p:nvPr>
        </p:nvSpPr>
        <p:spPr>
          <a:xfrm>
            <a:off x="324000" y="759300"/>
            <a:ext cx="82377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Use the numbers on the cards to complete the divisions. You may use each card only once.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Can you find more than one way this can be done?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1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2128" name="Google Shape;2128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967000"/>
            <a:ext cx="6952428" cy="28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954" y="2165528"/>
            <a:ext cx="647200" cy="7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153"/>
          <p:cNvSpPr txBox="1"/>
          <p:nvPr/>
        </p:nvSpPr>
        <p:spPr>
          <a:xfrm>
            <a:off x="7130375" y="3996975"/>
            <a:ext cx="5838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11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5" name="Google Shape;2135;p153"/>
          <p:cNvSpPr txBox="1"/>
          <p:nvPr/>
        </p:nvSpPr>
        <p:spPr>
          <a:xfrm>
            <a:off x="7029150" y="2672925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5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6" name="Google Shape;2136;p153"/>
          <p:cNvSpPr txBox="1"/>
          <p:nvPr/>
        </p:nvSpPr>
        <p:spPr>
          <a:xfrm>
            <a:off x="7130375" y="1465375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8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7" name="Google Shape;2137;p1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153"/>
          <p:cNvSpPr txBox="1"/>
          <p:nvPr>
            <p:ph idx="1" type="body"/>
          </p:nvPr>
        </p:nvSpPr>
        <p:spPr>
          <a:xfrm>
            <a:off x="375250" y="759300"/>
            <a:ext cx="8237700" cy="4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Show your working out for the following calculations.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139" name="Google Shape;2139;p153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0" r="64384" t="0"/>
          <a:stretch/>
        </p:blipFill>
        <p:spPr>
          <a:xfrm>
            <a:off x="860500" y="2374609"/>
            <a:ext cx="1642975" cy="67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140" name="Google Shape;2140;p153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0" r="68512" t="0"/>
          <a:stretch/>
        </p:blipFill>
        <p:spPr>
          <a:xfrm>
            <a:off x="784625" y="1094934"/>
            <a:ext cx="1541825" cy="67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.48\ \div2.2\ =\ 8.4\ \ \ \ \frac{18.48}{2.2}=\frac{184.8}{22}=\frac{92.4}{11}&quot;&gt;&lt;mn&gt;18.48&lt;/mn&gt;&lt;mtext&gt;&lt;/mtext&gt;&lt;mo&gt;÷&lt;/mo&gt;&lt;mn&gt;2.2&lt;/mn&gt;&lt;mtext&gt;&lt;/mtext&gt;&lt;mo&gt;=&lt;/mo&gt;&lt;mtext&gt;&lt;/mtext&gt;&lt;mn&gt;8.4&lt;/mn&gt;&lt;mtext&gt;&lt;/mtext&gt;&lt;mtext&gt;&lt;/mtext&gt;&lt;mtext&gt;&lt;/mtext&gt;&lt;mtext&gt;&lt;/mtext&gt;&lt;mfrac&gt;&lt;mn&gt;18.48&lt;/mn&gt;&lt;mn&gt;2.2&lt;/mn&gt;&lt;/mfrac&gt;&lt;mo&gt;=&lt;/mo&gt;&lt;mfrac&gt;&lt;mn&gt;184.8&lt;/mn&gt;&lt;mn&gt;22&lt;/mn&gt;&lt;/mfrac&gt;&lt;mo&gt;=&lt;/mo&gt;&lt;mfrac&gt;&lt;mn&gt;92.4&lt;/mn&gt;&lt;mn&gt;11&lt;/mn&gt;&lt;/mfrac&gt;&lt;/math&gt;" id="2141" name="Google Shape;2141;p153" title="18.48 division sign 2.2 equals 8.4 18.48 over 2.2 equals 184.8 over 22 equals 92.4 over 11"/>
          <p:cNvPicPr preferRelativeResize="0"/>
          <p:nvPr/>
        </p:nvPicPr>
        <p:blipFill rotWithShape="1">
          <a:blip r:embed="rId5">
            <a:alphaModFix/>
          </a:blip>
          <a:srcRect b="0" l="0" r="56094" t="0"/>
          <a:stretch/>
        </p:blipFill>
        <p:spPr>
          <a:xfrm>
            <a:off x="758725" y="3774734"/>
            <a:ext cx="2292649" cy="5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142" name="Google Shape;2142;p153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84148" r="0" t="0"/>
          <a:stretch/>
        </p:blipFill>
        <p:spPr>
          <a:xfrm>
            <a:off x="2326451" y="1094934"/>
            <a:ext cx="776175" cy="67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5\div2.4\ =\ \frac{1.5}{2.4}=\frac{15}{24}=\frac{5}{8}=\ 0.625&quot;&gt;&lt;mn&gt;1.5&lt;/mn&gt;&lt;mo&gt;÷&lt;/mo&gt;&lt;mn&gt;2.4&lt;/mn&gt;&lt;mtext&gt;&lt;/mtext&gt;&lt;mo&gt;=&lt;/mo&gt;&lt;mtext&gt;&lt;/mtext&gt;&lt;mfrac&gt;&lt;mn&gt;1.5&lt;/mn&gt;&lt;mn&gt;2.4&lt;/mn&gt;&lt;/mfrac&gt;&lt;mo&gt;=&lt;/mo&gt;&lt;mfrac&gt;&lt;mn&gt;15&lt;/mn&gt;&lt;mn&gt;24&lt;/mn&gt;&lt;/mfrac&gt;&lt;mo&gt;=&lt;/mo&gt;&lt;mfrac&gt;&lt;mn&gt;5&lt;/mn&gt;&lt;mn&gt;8&lt;/mn&gt;&lt;/mfrac&gt;&lt;mo&gt;=&lt;/mo&gt;&lt;mtext&gt;&lt;/mtext&gt;&lt;mn&gt;0.625&lt;/mn&gt;&lt;/math&gt;" id="2143" name="Google Shape;2143;p153" title="1.5 divided by 2.4 equals 1.5 over 2.4 equals 15 over 24 equals five eighths equals 0.625"/>
          <p:cNvPicPr preferRelativeResize="0"/>
          <p:nvPr/>
        </p:nvPicPr>
        <p:blipFill rotWithShape="1">
          <a:blip r:embed="rId4">
            <a:alphaModFix/>
          </a:blip>
          <a:srcRect b="0" l="31191" r="23405" t="0"/>
          <a:stretch/>
        </p:blipFill>
        <p:spPr>
          <a:xfrm>
            <a:off x="4163987" y="1217385"/>
            <a:ext cx="2223174" cy="67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144" name="Google Shape;2144;p153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88772" r="0" t="0"/>
          <a:stretch/>
        </p:blipFill>
        <p:spPr>
          <a:xfrm>
            <a:off x="2369270" y="2374609"/>
            <a:ext cx="517925" cy="67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.2\div3.5\ =\ \frac{4.2}{3.5}=\frac{42}{35}=\frac{6}{5}=\ 1.2&quot;&gt;&lt;mn&gt;4.2&lt;/mn&gt;&lt;mo&gt;÷&lt;/mo&gt;&lt;mn&gt;3.5&lt;/mn&gt;&lt;mtext&gt;&lt;/mtext&gt;&lt;mo&gt;=&lt;/mo&gt;&lt;mtext&gt;&lt;/mtext&gt;&lt;mfrac&gt;&lt;mn&gt;4.2&lt;/mn&gt;&lt;mn&gt;3.5&lt;/mn&gt;&lt;/mfrac&gt;&lt;mo&gt;=&lt;/mo&gt;&lt;mfrac&gt;&lt;mn&gt;42&lt;/mn&gt;&lt;mn&gt;35&lt;/mn&gt;&lt;/mfrac&gt;&lt;mo&gt;=&lt;/mo&gt;&lt;mfrac&gt;&lt;mn&gt;6&lt;/mn&gt;&lt;mn&gt;5&lt;/mn&gt;&lt;/mfrac&gt;&lt;mo&gt;=&lt;/mo&gt;&lt;mtext&gt;&lt;/mtext&gt;&lt;mn&gt;1.2&lt;/mn&gt;&lt;/math&gt;" id="2145" name="Google Shape;2145;p153" title="4.2 divided by 3.5 equals 4.2 over 3.5 equals 42 over 35 equals six fifths equals 1.2"/>
          <p:cNvPicPr preferRelativeResize="0"/>
          <p:nvPr/>
        </p:nvPicPr>
        <p:blipFill rotWithShape="1">
          <a:blip r:embed="rId3">
            <a:alphaModFix/>
          </a:blip>
          <a:srcRect b="0" l="36498" r="17000" t="0"/>
          <a:stretch/>
        </p:blipFill>
        <p:spPr>
          <a:xfrm>
            <a:off x="4241986" y="2365535"/>
            <a:ext cx="2145175" cy="67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8.48\ \div2.2\ =\ 8.4\ \ \ \ \frac{18.48}{2.2}=\frac{184.8}{22}=\frac{92.4}{11}&quot;&gt;&lt;mn&gt;18.48&lt;/mn&gt;&lt;mtext&gt;&lt;/mtext&gt;&lt;mo&gt;÷&lt;/mo&gt;&lt;mn&gt;2.2&lt;/mn&gt;&lt;mtext&gt;&lt;/mtext&gt;&lt;mo&gt;=&lt;/mo&gt;&lt;mtext&gt;&lt;/mtext&gt;&lt;mn&gt;8.4&lt;/mn&gt;&lt;mtext&gt;&lt;/mtext&gt;&lt;mtext&gt;&lt;/mtext&gt;&lt;mtext&gt;&lt;/mtext&gt;&lt;mtext&gt;&lt;/mtext&gt;&lt;mfrac&gt;&lt;mn&gt;18.48&lt;/mn&gt;&lt;mn&gt;2.2&lt;/mn&gt;&lt;/mfrac&gt;&lt;mo&gt;=&lt;/mo&gt;&lt;mfrac&gt;&lt;mn&gt;184.8&lt;/mn&gt;&lt;mn&gt;22&lt;/mn&gt;&lt;/mfrac&gt;&lt;mo&gt;=&lt;/mo&gt;&lt;mfrac&gt;&lt;mn&gt;92.4&lt;/mn&gt;&lt;mn&gt;11&lt;/mn&gt;&lt;/mfrac&gt;&lt;/math&gt;" id="2146" name="Google Shape;2146;p153" title="18.48 division sign 2.2 equals 8.4 18.48 over 2.2 equals 184.8 over 22 equals 92.4 over 11"/>
          <p:cNvPicPr preferRelativeResize="0"/>
          <p:nvPr/>
        </p:nvPicPr>
        <p:blipFill rotWithShape="1">
          <a:blip r:embed="rId5">
            <a:alphaModFix/>
          </a:blip>
          <a:srcRect b="0" l="44187" r="0" t="0"/>
          <a:stretch/>
        </p:blipFill>
        <p:spPr>
          <a:xfrm>
            <a:off x="3932607" y="3789660"/>
            <a:ext cx="2914376" cy="5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153"/>
          <p:cNvSpPr txBox="1"/>
          <p:nvPr/>
        </p:nvSpPr>
        <p:spPr>
          <a:xfrm>
            <a:off x="7863425" y="2683425"/>
            <a:ext cx="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2148" name="Google Shape;2148;p153"/>
          <p:cNvSpPr txBox="1"/>
          <p:nvPr/>
        </p:nvSpPr>
        <p:spPr>
          <a:xfrm>
            <a:off x="7515150" y="2680125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6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53"/>
          <p:cNvSpPr txBox="1"/>
          <p:nvPr/>
        </p:nvSpPr>
        <p:spPr>
          <a:xfrm>
            <a:off x="7515150" y="219781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1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0" name="Google Shape;2150;p153"/>
          <p:cNvGrpSpPr/>
          <p:nvPr/>
        </p:nvGrpSpPr>
        <p:grpSpPr>
          <a:xfrm>
            <a:off x="7723925" y="2201156"/>
            <a:ext cx="389000" cy="685375"/>
            <a:chOff x="7664850" y="2396881"/>
            <a:chExt cx="389000" cy="685375"/>
          </a:xfrm>
        </p:grpSpPr>
        <p:sp>
          <p:nvSpPr>
            <p:cNvPr id="2151" name="Google Shape;2151;p153"/>
            <p:cNvSpPr txBox="1"/>
            <p:nvPr/>
          </p:nvSpPr>
          <p:spPr>
            <a:xfrm>
              <a:off x="7698650" y="287585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2" name="Google Shape;2152;p153"/>
            <p:cNvSpPr txBox="1"/>
            <p:nvPr/>
          </p:nvSpPr>
          <p:spPr>
            <a:xfrm>
              <a:off x="7664850" y="239688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3" name="Google Shape;2153;p153"/>
          <p:cNvSpPr txBox="1"/>
          <p:nvPr/>
        </p:nvSpPr>
        <p:spPr>
          <a:xfrm>
            <a:off x="7750875" y="2649017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53"/>
          <p:cNvSpPr txBox="1"/>
          <p:nvPr/>
        </p:nvSpPr>
        <p:spPr>
          <a:xfrm>
            <a:off x="7819950" y="219781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53"/>
          <p:cNvSpPr txBox="1"/>
          <p:nvPr/>
        </p:nvSpPr>
        <p:spPr>
          <a:xfrm>
            <a:off x="7982875" y="1475875"/>
            <a:ext cx="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2156" name="Google Shape;2156;p153"/>
          <p:cNvSpPr txBox="1"/>
          <p:nvPr/>
        </p:nvSpPr>
        <p:spPr>
          <a:xfrm>
            <a:off x="7637575" y="1472575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5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53"/>
          <p:cNvSpPr txBox="1"/>
          <p:nvPr/>
        </p:nvSpPr>
        <p:spPr>
          <a:xfrm>
            <a:off x="7616375" y="9902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0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8" name="Google Shape;2158;p153"/>
          <p:cNvGrpSpPr/>
          <p:nvPr/>
        </p:nvGrpSpPr>
        <p:grpSpPr>
          <a:xfrm>
            <a:off x="7825150" y="993606"/>
            <a:ext cx="389000" cy="685375"/>
            <a:chOff x="7664850" y="2396881"/>
            <a:chExt cx="389000" cy="685375"/>
          </a:xfrm>
        </p:grpSpPr>
        <p:sp>
          <p:nvSpPr>
            <p:cNvPr id="2159" name="Google Shape;2159;p153"/>
            <p:cNvSpPr txBox="1"/>
            <p:nvPr/>
          </p:nvSpPr>
          <p:spPr>
            <a:xfrm>
              <a:off x="7698650" y="287585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0" name="Google Shape;2160;p153"/>
            <p:cNvSpPr txBox="1"/>
            <p:nvPr/>
          </p:nvSpPr>
          <p:spPr>
            <a:xfrm>
              <a:off x="7664850" y="239688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1" name="Google Shape;2161;p153"/>
          <p:cNvSpPr txBox="1"/>
          <p:nvPr/>
        </p:nvSpPr>
        <p:spPr>
          <a:xfrm>
            <a:off x="7936575" y="1381467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2" name="Google Shape;2162;p153"/>
          <p:cNvSpPr txBox="1"/>
          <p:nvPr/>
        </p:nvSpPr>
        <p:spPr>
          <a:xfrm>
            <a:off x="7921175" y="9902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6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3" name="Google Shape;2163;p153"/>
          <p:cNvSpPr txBox="1"/>
          <p:nvPr/>
        </p:nvSpPr>
        <p:spPr>
          <a:xfrm>
            <a:off x="8352025" y="1381367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153"/>
          <p:cNvSpPr txBox="1"/>
          <p:nvPr/>
        </p:nvSpPr>
        <p:spPr>
          <a:xfrm>
            <a:off x="8143825" y="1379717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153"/>
          <p:cNvSpPr txBox="1"/>
          <p:nvPr/>
        </p:nvSpPr>
        <p:spPr>
          <a:xfrm>
            <a:off x="8120425" y="9868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2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53"/>
          <p:cNvSpPr txBox="1"/>
          <p:nvPr/>
        </p:nvSpPr>
        <p:spPr>
          <a:xfrm>
            <a:off x="8203963" y="1475875"/>
            <a:ext cx="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2167" name="Google Shape;2167;p153"/>
          <p:cNvSpPr txBox="1"/>
          <p:nvPr/>
        </p:nvSpPr>
        <p:spPr>
          <a:xfrm>
            <a:off x="8430925" y="1475875"/>
            <a:ext cx="4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2168" name="Google Shape;2168;p153"/>
          <p:cNvSpPr txBox="1"/>
          <p:nvPr/>
        </p:nvSpPr>
        <p:spPr>
          <a:xfrm>
            <a:off x="8337450" y="9868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5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53"/>
          <p:cNvSpPr txBox="1"/>
          <p:nvPr/>
        </p:nvSpPr>
        <p:spPr>
          <a:xfrm>
            <a:off x="7642625" y="3989225"/>
            <a:ext cx="984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92 4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153"/>
          <p:cNvSpPr txBox="1"/>
          <p:nvPr/>
        </p:nvSpPr>
        <p:spPr>
          <a:xfrm>
            <a:off x="7801325" y="35218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8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1" name="Google Shape;2171;p153"/>
          <p:cNvGrpSpPr/>
          <p:nvPr/>
        </p:nvGrpSpPr>
        <p:grpSpPr>
          <a:xfrm>
            <a:off x="8010100" y="3525206"/>
            <a:ext cx="389000" cy="685375"/>
            <a:chOff x="7664850" y="2396881"/>
            <a:chExt cx="389000" cy="685375"/>
          </a:xfrm>
        </p:grpSpPr>
        <p:sp>
          <p:nvSpPr>
            <p:cNvPr id="2172" name="Google Shape;2172;p153"/>
            <p:cNvSpPr txBox="1"/>
            <p:nvPr/>
          </p:nvSpPr>
          <p:spPr>
            <a:xfrm>
              <a:off x="7698650" y="2875856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3" name="Google Shape;2173;p153"/>
            <p:cNvSpPr txBox="1"/>
            <p:nvPr/>
          </p:nvSpPr>
          <p:spPr>
            <a:xfrm>
              <a:off x="7664850" y="2396881"/>
              <a:ext cx="355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74" name="Google Shape;2174;p153"/>
          <p:cNvSpPr txBox="1"/>
          <p:nvPr/>
        </p:nvSpPr>
        <p:spPr>
          <a:xfrm>
            <a:off x="8075725" y="3924567"/>
            <a:ext cx="355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53"/>
          <p:cNvSpPr txBox="1"/>
          <p:nvPr/>
        </p:nvSpPr>
        <p:spPr>
          <a:xfrm>
            <a:off x="8106125" y="3521863"/>
            <a:ext cx="399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4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6" name="Google Shape;2176;p153"/>
          <p:cNvGrpSpPr/>
          <p:nvPr/>
        </p:nvGrpSpPr>
        <p:grpSpPr>
          <a:xfrm>
            <a:off x="7589931" y="1465422"/>
            <a:ext cx="1146526" cy="511293"/>
            <a:chOff x="5726000" y="1634450"/>
            <a:chExt cx="1061500" cy="412200"/>
          </a:xfrm>
        </p:grpSpPr>
        <p:cxnSp>
          <p:nvCxnSpPr>
            <p:cNvPr id="2177" name="Google Shape;2177;p153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8" name="Google Shape;2178;p153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79" name="Google Shape;2179;p153"/>
          <p:cNvGrpSpPr/>
          <p:nvPr/>
        </p:nvGrpSpPr>
        <p:grpSpPr>
          <a:xfrm>
            <a:off x="7427569" y="2694997"/>
            <a:ext cx="1146526" cy="511293"/>
            <a:chOff x="5726000" y="1634450"/>
            <a:chExt cx="1061500" cy="412200"/>
          </a:xfrm>
        </p:grpSpPr>
        <p:cxnSp>
          <p:nvCxnSpPr>
            <p:cNvPr id="2180" name="Google Shape;2180;p153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1" name="Google Shape;2181;p153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82" name="Google Shape;2182;p153"/>
          <p:cNvGrpSpPr/>
          <p:nvPr/>
        </p:nvGrpSpPr>
        <p:grpSpPr>
          <a:xfrm>
            <a:off x="7631344" y="4005722"/>
            <a:ext cx="1146526" cy="511293"/>
            <a:chOff x="5726000" y="1634450"/>
            <a:chExt cx="1061500" cy="412200"/>
          </a:xfrm>
        </p:grpSpPr>
        <p:cxnSp>
          <p:nvCxnSpPr>
            <p:cNvPr id="2183" name="Google Shape;2183;p153"/>
            <p:cNvCxnSpPr/>
            <p:nvPr/>
          </p:nvCxnSpPr>
          <p:spPr>
            <a:xfrm flipH="1" rot="10800000">
              <a:off x="5726100" y="1644795"/>
              <a:ext cx="1061400" cy="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4" name="Google Shape;2184;p153"/>
            <p:cNvCxnSpPr/>
            <p:nvPr/>
          </p:nvCxnSpPr>
          <p:spPr>
            <a:xfrm>
              <a:off x="5726000" y="1634450"/>
              <a:ext cx="0" cy="412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1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2190" name="Google Shape;2190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967000"/>
            <a:ext cx="6952428" cy="28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1" name="Google Shape;2191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954" y="2165528"/>
            <a:ext cx="647200" cy="7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2" name="Google Shape;2192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7077" y="2091400"/>
            <a:ext cx="1029085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3" name="Google Shape;2193;p1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3170" y="3780003"/>
            <a:ext cx="1018020" cy="59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4" name="Google Shape;2194;p1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7652" y="2952290"/>
            <a:ext cx="1029085" cy="57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5" name="Google Shape;2195;p1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38354" y="2091400"/>
            <a:ext cx="984823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6" name="Google Shape;2196;p1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21756" y="2930175"/>
            <a:ext cx="1018020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7" name="Google Shape;2197;p1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32819" y="3780015"/>
            <a:ext cx="995889" cy="608606"/>
          </a:xfrm>
          <a:prstGeom prst="rect">
            <a:avLst/>
          </a:prstGeom>
          <a:noFill/>
          <a:ln>
            <a:noFill/>
          </a:ln>
        </p:spPr>
      </p:pic>
      <p:sp>
        <p:nvSpPr>
          <p:cNvPr id="2198" name="Google Shape;2198;p154"/>
          <p:cNvSpPr txBox="1"/>
          <p:nvPr>
            <p:ph idx="1" type="body"/>
          </p:nvPr>
        </p:nvSpPr>
        <p:spPr>
          <a:xfrm>
            <a:off x="324000" y="759300"/>
            <a:ext cx="82377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</a:t>
            </a:r>
            <a:r>
              <a:rPr lang="en-GB" sz="1900"/>
              <a:t>Use the numbers on the cards to complete the divisions. You may use each card only once.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Can you find more than one way this can be done?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1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2204" name="Google Shape;2204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967000"/>
            <a:ext cx="6952428" cy="28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5" name="Google Shape;2205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954" y="2165528"/>
            <a:ext cx="647200" cy="7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6" name="Google Shape;2206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3170" y="3780003"/>
            <a:ext cx="1018020" cy="59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7" name="Google Shape;2207;p1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7652" y="2952290"/>
            <a:ext cx="1029085" cy="57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8" name="Google Shape;2208;p1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7652" y="2080321"/>
            <a:ext cx="1029085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9" name="Google Shape;2209;p1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21756" y="2930175"/>
            <a:ext cx="1018020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0" name="Google Shape;2210;p15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32819" y="3780015"/>
            <a:ext cx="995889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1" name="Google Shape;2211;p15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21754" y="2069263"/>
            <a:ext cx="1018020" cy="6307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155"/>
          <p:cNvSpPr txBox="1"/>
          <p:nvPr>
            <p:ph idx="1" type="body"/>
          </p:nvPr>
        </p:nvSpPr>
        <p:spPr>
          <a:xfrm>
            <a:off x="324000" y="759300"/>
            <a:ext cx="82377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 the numbers on the cards to complete the divisions. You may use each card only once.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Can you find more than one way this can be done?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2218" name="Google Shape;2218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967000"/>
            <a:ext cx="6952428" cy="28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9" name="Google Shape;2219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954" y="2165528"/>
            <a:ext cx="647200" cy="7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9252" y="2091400"/>
            <a:ext cx="1029085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1" name="Google Shape;2221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9252" y="3779965"/>
            <a:ext cx="1029085" cy="57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2" name="Google Shape;2222;p1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7077" y="2930158"/>
            <a:ext cx="1029085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3" name="Google Shape;2223;p1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38354" y="2091400"/>
            <a:ext cx="984823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4" name="Google Shape;2224;p1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31106" y="2935690"/>
            <a:ext cx="995889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5" name="Google Shape;2225;p15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38341" y="3779988"/>
            <a:ext cx="1018020" cy="630737"/>
          </a:xfrm>
          <a:prstGeom prst="rect">
            <a:avLst/>
          </a:prstGeom>
          <a:noFill/>
          <a:ln>
            <a:noFill/>
          </a:ln>
        </p:spPr>
      </p:pic>
      <p:sp>
        <p:nvSpPr>
          <p:cNvPr id="2226" name="Google Shape;2226;p156"/>
          <p:cNvSpPr txBox="1"/>
          <p:nvPr>
            <p:ph idx="1" type="body"/>
          </p:nvPr>
        </p:nvSpPr>
        <p:spPr>
          <a:xfrm>
            <a:off x="324000" y="759300"/>
            <a:ext cx="82377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 the numbers on the cards to complete the divisions. You may use each card only once.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Can you find more than one way this can be done?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2232" name="Google Shape;2232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967000"/>
            <a:ext cx="6952428" cy="28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3" name="Google Shape;2233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954" y="2165528"/>
            <a:ext cx="647200" cy="7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4" name="Google Shape;2234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7295" y="2091403"/>
            <a:ext cx="1018020" cy="59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5" name="Google Shape;2235;p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3927" y="3791065"/>
            <a:ext cx="1029085" cy="57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6" name="Google Shape;2236;p1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1777" y="2930171"/>
            <a:ext cx="1029085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7" name="Google Shape;2237;p1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97606" y="2080325"/>
            <a:ext cx="1018020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15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08681" y="2927402"/>
            <a:ext cx="995889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15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97616" y="3763400"/>
            <a:ext cx="1018020" cy="630737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57"/>
          <p:cNvSpPr txBox="1"/>
          <p:nvPr>
            <p:ph idx="1" type="body"/>
          </p:nvPr>
        </p:nvSpPr>
        <p:spPr>
          <a:xfrm>
            <a:off x="324000" y="759300"/>
            <a:ext cx="82377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 the numbers on the cards to complete the divisions. You may use each card only once.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Can you find more than one way this can be done?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2246" name="Google Shape;2246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967000"/>
            <a:ext cx="6952428" cy="28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7" name="Google Shape;2247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954" y="2165528"/>
            <a:ext cx="647200" cy="7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8" name="Google Shape;2248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3927" y="3796600"/>
            <a:ext cx="1029085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9" name="Google Shape;2249;p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9445" y="2941228"/>
            <a:ext cx="1018020" cy="59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0" name="Google Shape;2250;p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3927" y="2107990"/>
            <a:ext cx="1029085" cy="57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1" name="Google Shape;2251;p1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97379" y="2930175"/>
            <a:ext cx="984823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2" name="Google Shape;2252;p1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7368" y="3768962"/>
            <a:ext cx="1018020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3" name="Google Shape;2253;p1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49681" y="2091390"/>
            <a:ext cx="995889" cy="608606"/>
          </a:xfrm>
          <a:prstGeom prst="rect">
            <a:avLst/>
          </a:prstGeom>
          <a:noFill/>
          <a:ln>
            <a:noFill/>
          </a:ln>
        </p:spPr>
      </p:pic>
      <p:sp>
        <p:nvSpPr>
          <p:cNvPr id="2254" name="Google Shape;2254;p158"/>
          <p:cNvSpPr txBox="1"/>
          <p:nvPr>
            <p:ph idx="1" type="body"/>
          </p:nvPr>
        </p:nvSpPr>
        <p:spPr>
          <a:xfrm>
            <a:off x="324000" y="759300"/>
            <a:ext cx="82377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 the numbers on the cards to complete the divisions. You may use each card only once.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Can you find more than one way this can be done?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using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2260" name="Google Shape;2260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967000"/>
            <a:ext cx="6952428" cy="28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1" name="Google Shape;2261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954" y="2165528"/>
            <a:ext cx="647200" cy="7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2" name="Google Shape;2262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6295" y="3780003"/>
            <a:ext cx="1018020" cy="59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3" name="Google Shape;2263;p1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777" y="2952290"/>
            <a:ext cx="1029085" cy="57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4" name="Google Shape;2264;p1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08652" y="2080321"/>
            <a:ext cx="1029085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5" name="Google Shape;2265;p1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55443" y="2930175"/>
            <a:ext cx="1018020" cy="61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6" name="Google Shape;2266;p15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66519" y="3774490"/>
            <a:ext cx="995889" cy="6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7" name="Google Shape;2267;p15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55441" y="2074788"/>
            <a:ext cx="1018020" cy="630737"/>
          </a:xfrm>
          <a:prstGeom prst="rect">
            <a:avLst/>
          </a:prstGeom>
          <a:noFill/>
          <a:ln>
            <a:noFill/>
          </a:ln>
        </p:spPr>
      </p:pic>
      <p:sp>
        <p:nvSpPr>
          <p:cNvPr id="2268" name="Google Shape;2268;p159"/>
          <p:cNvSpPr txBox="1"/>
          <p:nvPr>
            <p:ph idx="1" type="body"/>
          </p:nvPr>
        </p:nvSpPr>
        <p:spPr>
          <a:xfrm>
            <a:off x="324000" y="759300"/>
            <a:ext cx="82377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 the numbers on the cards to complete the divisions. You may use each card only once.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Can you find more than one way this can be done?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16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with decimals</a:t>
            </a:r>
            <a:endParaRPr/>
          </a:p>
        </p:txBody>
      </p:sp>
      <p:sp>
        <p:nvSpPr>
          <p:cNvPr id="2274" name="Google Shape;2274;p160"/>
          <p:cNvSpPr txBox="1"/>
          <p:nvPr>
            <p:ph idx="4294967295" type="subTitle"/>
          </p:nvPr>
        </p:nvSpPr>
        <p:spPr>
          <a:xfrm>
            <a:off x="450625" y="1065000"/>
            <a:ext cx="779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Writing a division as a fraction makes calculating answers from division much easier.</a:t>
            </a:r>
            <a:endParaRPr sz="2100"/>
          </a:p>
        </p:txBody>
      </p:sp>
      <p:sp>
        <p:nvSpPr>
          <p:cNvPr id="2275" name="Google Shape;2275;p160"/>
          <p:cNvSpPr txBox="1"/>
          <p:nvPr/>
        </p:nvSpPr>
        <p:spPr>
          <a:xfrm>
            <a:off x="373775" y="2076600"/>
            <a:ext cx="82884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Given we know a simple fraction is where the numerator and denominator are integers, making the divisor an integer enables us to divide more easily.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16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81" name="Google Shape;2281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