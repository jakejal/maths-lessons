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04BCA3-EAEB-45D6-923E-7750DC9E3D13}">
  <a:tblStyle styleId="{2F04BCA3-EAEB-45D6-923E-7750DC9E3D1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9CF7F76-4931-4D9F-9688-2F49517263B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8bdfff88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8bdfff88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28bdfff880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28bdfff880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9303a355f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9303a355f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9303a355f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9303a355f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9303a355f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9303a355f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29303a355fb_0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29303a355fb_0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29303a355fb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29303a355fb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9303a355fb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9303a355fb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9303a355fb_0_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9303a355fb_0_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29303a355fb_0_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29303a355fb_0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9303a355f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9303a355f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9303a355fb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9303a355fb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29303a355f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29303a355f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29303a355fb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29303a355f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9303a355fb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9303a355fb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9303a355f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29303a355f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29303a355fb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29303a355fb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9303a355fb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9303a355fb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29303a355f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29303a355f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29303a355f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29303a355f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9303a355fb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9303a355fb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9303a355fb_0_1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29303a355fb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29303a355fb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29303a355fb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29303a355fb_0_1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29303a355fb_0_1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939700a14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939700a14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29303a355fb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29303a355fb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28d225672a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28d225672a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2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1.png"/><Relationship Id="rId7" Type="http://schemas.openxmlformats.org/officeDocument/2006/relationships/image" Target="../media/image2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63.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3.png"/><Relationship Id="rId4" Type="http://schemas.openxmlformats.org/officeDocument/2006/relationships/image" Target="../media/image24.png"/><Relationship Id="rId9"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28.png"/><Relationship Id="rId7" Type="http://schemas.openxmlformats.org/officeDocument/2006/relationships/image" Target="../media/image26.png"/><Relationship Id="rId8" Type="http://schemas.openxmlformats.org/officeDocument/2006/relationships/image" Target="../media/image2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3.png"/><Relationship Id="rId4" Type="http://schemas.openxmlformats.org/officeDocument/2006/relationships/image" Target="../media/image33.png"/><Relationship Id="rId11" Type="http://schemas.openxmlformats.org/officeDocument/2006/relationships/image" Target="../media/image23.png"/><Relationship Id="rId10" Type="http://schemas.openxmlformats.org/officeDocument/2006/relationships/image" Target="../media/image36.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8.png"/><Relationship Id="rId8" Type="http://schemas.openxmlformats.org/officeDocument/2006/relationships/image" Target="../media/image2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47.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7.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4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Relationship Id="rId3"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 Id="rId3"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 Id="rId3"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5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54.png"/><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 Id="rId3" Type="http://schemas.openxmlformats.org/officeDocument/2006/relationships/image" Target="../media/image55.png"/><Relationship Id="rId4" Type="http://schemas.openxmlformats.org/officeDocument/2006/relationships/image" Target="../media/image59.png"/><Relationship Id="rId5" Type="http://schemas.openxmlformats.org/officeDocument/2006/relationships/image" Target="../media/image58.png"/><Relationship Id="rId6"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31.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6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2.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multiplication and division using multiples of 10</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Arithmetic procedures with integers and decimals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factorise multiples of 10</a:t>
            </a:r>
            <a:r>
              <a:rPr baseline="30000" lang="en-GB"/>
              <a:t>n</a:t>
            </a:r>
            <a:r>
              <a:rPr lang="en-GB"/>
              <a:t> in order to simplify multiplication and division of both integers and decimals.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Partitioning is the act of splitting an object or value down into smaller parts.</a:t>
            </a:r>
            <a:endParaRPr/>
          </a:p>
        </p:txBody>
      </p:sp>
      <p:sp>
        <p:nvSpPr>
          <p:cNvPr id="767" name="Google Shape;767;p67"/>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product is the result of two or more numbers multiplied together.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773" name="Google Shape;773;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Simplifying division using multiples of 10</a:t>
            </a:r>
            <a:endParaRPr/>
          </a:p>
        </p:txBody>
      </p:sp>
      <p:sp>
        <p:nvSpPr>
          <p:cNvPr id="774" name="Google Shape;774;p68"/>
          <p:cNvSpPr txBox="1"/>
          <p:nvPr>
            <p:ph idx="3" type="title"/>
          </p:nvPr>
        </p:nvSpPr>
        <p:spPr>
          <a:xfrm>
            <a:off x="324000" y="657600"/>
            <a:ext cx="84960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multiplication and division using multiples of 10</a:t>
            </a:r>
            <a:endParaRPr/>
          </a:p>
        </p:txBody>
      </p:sp>
      <p:pic>
        <p:nvPicPr>
          <p:cNvPr id="775" name="Google Shape;775;p68"/>
          <p:cNvPicPr preferRelativeResize="0"/>
          <p:nvPr/>
        </p:nvPicPr>
        <p:blipFill>
          <a:blip r:embed="rId3">
            <a:alphaModFix/>
          </a:blip>
          <a:stretch>
            <a:fillRect/>
          </a:stretch>
        </p:blipFill>
        <p:spPr>
          <a:xfrm>
            <a:off x="416175"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graphicFrame>
        <p:nvGraphicFramePr>
          <p:cNvPr id="781" name="Google Shape;781;p69"/>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782" name="Google Shape;782;p69"/>
          <p:cNvSpPr txBox="1"/>
          <p:nvPr/>
        </p:nvSpPr>
        <p:spPr>
          <a:xfrm>
            <a:off x="324000" y="592644"/>
            <a:ext cx="8496000" cy="43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solidFill>
                  <a:srgbClr val="000000"/>
                </a:solidFill>
                <a:latin typeface="Lexend"/>
                <a:ea typeface="Lexend"/>
                <a:cs typeface="Lexend"/>
                <a:sym typeface="Lexend"/>
              </a:rPr>
              <a:t>Here is a Gattegno chart</a:t>
            </a:r>
            <a:endParaRPr sz="2200">
              <a:solidFill>
                <a:srgbClr val="000000"/>
              </a:solidFill>
              <a:latin typeface="Lexend"/>
              <a:ea typeface="Lexend"/>
              <a:cs typeface="Lexend"/>
              <a:sym typeface="Lexend"/>
            </a:endParaRPr>
          </a:p>
        </p:txBody>
      </p:sp>
      <p:graphicFrame>
        <p:nvGraphicFramePr>
          <p:cNvPr id="783" name="Google Shape;783;p69"/>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784" name="Google Shape;784;p69"/>
          <p:cNvGraphicFramePr/>
          <p:nvPr/>
        </p:nvGraphicFramePr>
        <p:xfrm>
          <a:off x="323988" y="995494"/>
          <a:ext cx="3000000" cy="3000000"/>
        </p:xfrm>
        <a:graphic>
          <a:graphicData uri="http://schemas.openxmlformats.org/drawingml/2006/table">
            <a:tbl>
              <a:tblPr>
                <a:noFill/>
                <a:tableStyleId>{E9CF7F76-4931-4D9F-9688-2F49517263BA}</a:tableStyleId>
              </a:tblPr>
              <a:tblGrid>
                <a:gridCol w="944000"/>
                <a:gridCol w="944000"/>
                <a:gridCol w="944000"/>
                <a:gridCol w="944000"/>
                <a:gridCol w="944000"/>
                <a:gridCol w="944000"/>
                <a:gridCol w="944000"/>
                <a:gridCol w="944000"/>
                <a:gridCol w="944000"/>
              </a:tblGrid>
              <a:tr h="485250">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85250">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85250">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85250">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85250">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85250">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785" name="Google Shape;785;p69"/>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91425" marB="91425"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91425" marB="91425"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786" name="Google Shape;786;p69"/>
          <p:cNvSpPr/>
          <p:nvPr/>
        </p:nvSpPr>
        <p:spPr>
          <a:xfrm>
            <a:off x="5988000" y="1973119"/>
            <a:ext cx="944100" cy="478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7" name="Google Shape;787;p69"/>
          <p:cNvSpPr/>
          <p:nvPr/>
        </p:nvSpPr>
        <p:spPr>
          <a:xfrm>
            <a:off x="2212000" y="2936494"/>
            <a:ext cx="944100" cy="478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8" name="Google Shape;788;p69"/>
          <p:cNvSpPr txBox="1"/>
          <p:nvPr/>
        </p:nvSpPr>
        <p:spPr>
          <a:xfrm>
            <a:off x="324000" y="3938045"/>
            <a:ext cx="8496000" cy="943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GB" sz="2100">
                <a:latin typeface="Lexend"/>
                <a:ea typeface="Lexend"/>
                <a:cs typeface="Lexend"/>
                <a:sym typeface="Lexend"/>
              </a:rPr>
              <a:t>The product of the pair of numbers highlighted is 21.</a:t>
            </a:r>
            <a:endParaRPr sz="2100">
              <a:latin typeface="Lexend"/>
              <a:ea typeface="Lexend"/>
              <a:cs typeface="Lexend"/>
              <a:sym typeface="Lexend"/>
            </a:endParaRPr>
          </a:p>
          <a:p>
            <a:pPr indent="0" lvl="0" marL="0" rtl="0" algn="l">
              <a:lnSpc>
                <a:spcPct val="130000"/>
              </a:lnSpc>
              <a:spcBef>
                <a:spcPts val="1000"/>
              </a:spcBef>
              <a:spcAft>
                <a:spcPts val="1000"/>
              </a:spcAft>
              <a:buNone/>
            </a:pPr>
            <a:r>
              <a:rPr lang="en-GB" sz="2100">
                <a:latin typeface="Lexend"/>
                <a:ea typeface="Lexend"/>
                <a:cs typeface="Lexend"/>
                <a:sym typeface="Lexend"/>
              </a:rPr>
              <a:t>Find more pairs of numbers, on the chart, with a product of 21.</a:t>
            </a:r>
            <a:endParaRPr sz="21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graphicFrame>
        <p:nvGraphicFramePr>
          <p:cNvPr id="793" name="Google Shape;793;p70"/>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794" name="Google Shape;794;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graphicFrame>
        <p:nvGraphicFramePr>
          <p:cNvPr id="795" name="Google Shape;795;p70"/>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796" name="Google Shape;796;p70"/>
          <p:cNvSpPr txBox="1"/>
          <p:nvPr/>
        </p:nvSpPr>
        <p:spPr>
          <a:xfrm>
            <a:off x="324000" y="592644"/>
            <a:ext cx="8496000" cy="43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solidFill>
                  <a:srgbClr val="000000"/>
                </a:solidFill>
                <a:latin typeface="Lexend"/>
                <a:ea typeface="Lexend"/>
                <a:cs typeface="Lexend"/>
                <a:sym typeface="Lexend"/>
              </a:rPr>
              <a:t>Here is a Gattegno chart</a:t>
            </a:r>
            <a:endParaRPr sz="2200">
              <a:solidFill>
                <a:srgbClr val="000000"/>
              </a:solidFill>
              <a:latin typeface="Lexend"/>
              <a:ea typeface="Lexend"/>
              <a:cs typeface="Lexend"/>
              <a:sym typeface="Lexend"/>
            </a:endParaRPr>
          </a:p>
        </p:txBody>
      </p:sp>
      <p:graphicFrame>
        <p:nvGraphicFramePr>
          <p:cNvPr id="797" name="Google Shape;797;p70"/>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798" name="Google Shape;798;p70"/>
          <p:cNvGraphicFramePr/>
          <p:nvPr/>
        </p:nvGraphicFramePr>
        <p:xfrm>
          <a:off x="323988" y="995494"/>
          <a:ext cx="3000000" cy="3000000"/>
        </p:xfrm>
        <a:graphic>
          <a:graphicData uri="http://schemas.openxmlformats.org/drawingml/2006/table">
            <a:tbl>
              <a:tblPr>
                <a:noFill/>
                <a:tableStyleId>{E9CF7F76-4931-4D9F-9688-2F49517263BA}</a:tableStyleId>
              </a:tblPr>
              <a:tblGrid>
                <a:gridCol w="944000"/>
                <a:gridCol w="944000"/>
                <a:gridCol w="944000"/>
                <a:gridCol w="944000"/>
                <a:gridCol w="944000"/>
                <a:gridCol w="944000"/>
                <a:gridCol w="944000"/>
                <a:gridCol w="944000"/>
                <a:gridCol w="944000"/>
              </a:tblGrid>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799" name="Google Shape;799;p70"/>
          <p:cNvSpPr/>
          <p:nvPr/>
        </p:nvSpPr>
        <p:spPr>
          <a:xfrm>
            <a:off x="5988000" y="1903525"/>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0" name="Google Shape;800;p70"/>
          <p:cNvSpPr/>
          <p:nvPr/>
        </p:nvSpPr>
        <p:spPr>
          <a:xfrm>
            <a:off x="2212000" y="2827899"/>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1" name="Google Shape;801;p70"/>
          <p:cNvSpPr txBox="1"/>
          <p:nvPr/>
        </p:nvSpPr>
        <p:spPr>
          <a:xfrm>
            <a:off x="324000" y="3785650"/>
            <a:ext cx="46608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Let’s start with the factor pair of 21</a:t>
            </a:r>
            <a:r>
              <a:rPr lang="en-GB" sz="1800">
                <a:latin typeface="Lexend"/>
                <a:ea typeface="Lexend"/>
                <a:cs typeface="Lexend"/>
                <a:sym typeface="Lexend"/>
              </a:rPr>
              <a:t>.</a:t>
            </a:r>
            <a:endParaRPr sz="1800">
              <a:latin typeface="Lexend"/>
              <a:ea typeface="Lexend"/>
              <a:cs typeface="Lexend"/>
              <a:sym typeface="Lexend"/>
            </a:endParaRPr>
          </a:p>
        </p:txBody>
      </p:sp>
      <p:sp>
        <p:nvSpPr>
          <p:cNvPr id="802" name="Google Shape;802;p70"/>
          <p:cNvSpPr/>
          <p:nvPr/>
        </p:nvSpPr>
        <p:spPr>
          <a:xfrm>
            <a:off x="5988000" y="235370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3" name="Google Shape;803;p70"/>
          <p:cNvSpPr/>
          <p:nvPr/>
        </p:nvSpPr>
        <p:spPr>
          <a:xfrm>
            <a:off x="2212000" y="2358800"/>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4" name="Google Shape;804;p70"/>
          <p:cNvSpPr txBox="1"/>
          <p:nvPr/>
        </p:nvSpPr>
        <p:spPr>
          <a:xfrm>
            <a:off x="324000" y="4254375"/>
            <a:ext cx="68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3 × 7</a:t>
            </a:r>
            <a:endParaRPr sz="1800">
              <a:latin typeface="Lexend"/>
              <a:ea typeface="Lexend"/>
              <a:cs typeface="Lexend"/>
              <a:sym typeface="Lexend"/>
            </a:endParaRPr>
          </a:p>
        </p:txBody>
      </p:sp>
      <p:sp>
        <p:nvSpPr>
          <p:cNvPr id="805" name="Google Shape;805;p70"/>
          <p:cNvSpPr txBox="1"/>
          <p:nvPr/>
        </p:nvSpPr>
        <p:spPr>
          <a:xfrm>
            <a:off x="1115550" y="4209900"/>
            <a:ext cx="6930300" cy="613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Notice the number in the 3rd column went up one and the one in the 7th column went down one.</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graphicFrame>
        <p:nvGraphicFramePr>
          <p:cNvPr id="810" name="Google Shape;810;p71"/>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11" name="Google Shape;811;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graphicFrame>
        <p:nvGraphicFramePr>
          <p:cNvPr id="812" name="Google Shape;812;p71"/>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13" name="Google Shape;813;p71"/>
          <p:cNvSpPr txBox="1"/>
          <p:nvPr/>
        </p:nvSpPr>
        <p:spPr>
          <a:xfrm>
            <a:off x="324000" y="592644"/>
            <a:ext cx="8496000" cy="43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solidFill>
                  <a:srgbClr val="000000"/>
                </a:solidFill>
                <a:latin typeface="Lexend"/>
                <a:ea typeface="Lexend"/>
                <a:cs typeface="Lexend"/>
                <a:sym typeface="Lexend"/>
              </a:rPr>
              <a:t>Here is a Gattegno chart</a:t>
            </a:r>
            <a:endParaRPr sz="2200">
              <a:solidFill>
                <a:srgbClr val="000000"/>
              </a:solidFill>
              <a:latin typeface="Lexend"/>
              <a:ea typeface="Lexend"/>
              <a:cs typeface="Lexend"/>
              <a:sym typeface="Lexend"/>
            </a:endParaRPr>
          </a:p>
        </p:txBody>
      </p:sp>
      <p:graphicFrame>
        <p:nvGraphicFramePr>
          <p:cNvPr id="814" name="Google Shape;814;p71"/>
          <p:cNvGraphicFramePr/>
          <p:nvPr/>
        </p:nvGraphicFramePr>
        <p:xfrm>
          <a:off x="323988" y="1016857"/>
          <a:ext cx="3000000" cy="3000000"/>
        </p:xfrm>
        <a:graphic>
          <a:graphicData uri="http://schemas.openxmlformats.org/drawingml/2006/table">
            <a:tbl>
              <a:tblPr>
                <a:noFill/>
                <a:tableStyleId>{2F04BCA3-EAEB-45D6-923E-7750DC9E3D13}</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815" name="Google Shape;815;p71"/>
          <p:cNvGraphicFramePr/>
          <p:nvPr/>
        </p:nvGraphicFramePr>
        <p:xfrm>
          <a:off x="323988" y="995494"/>
          <a:ext cx="3000000" cy="3000000"/>
        </p:xfrm>
        <a:graphic>
          <a:graphicData uri="http://schemas.openxmlformats.org/drawingml/2006/table">
            <a:tbl>
              <a:tblPr>
                <a:noFill/>
                <a:tableStyleId>{E9CF7F76-4931-4D9F-9688-2F49517263BA}</a:tableStyleId>
              </a:tblPr>
              <a:tblGrid>
                <a:gridCol w="944000"/>
                <a:gridCol w="944000"/>
                <a:gridCol w="944000"/>
                <a:gridCol w="944000"/>
                <a:gridCol w="944000"/>
                <a:gridCol w="944000"/>
                <a:gridCol w="944000"/>
                <a:gridCol w="944000"/>
                <a:gridCol w="944000"/>
              </a:tblGrid>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816" name="Google Shape;816;p71"/>
          <p:cNvSpPr txBox="1"/>
          <p:nvPr/>
        </p:nvSpPr>
        <p:spPr>
          <a:xfrm>
            <a:off x="324000" y="4140811"/>
            <a:ext cx="18471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Other pairs:  </a:t>
            </a:r>
            <a:endParaRPr sz="2200">
              <a:latin typeface="Lexend"/>
              <a:ea typeface="Lexend"/>
              <a:cs typeface="Lexend"/>
              <a:sym typeface="Lexend"/>
            </a:endParaRPr>
          </a:p>
        </p:txBody>
      </p:sp>
      <p:sp>
        <p:nvSpPr>
          <p:cNvPr id="817" name="Google Shape;817;p71"/>
          <p:cNvSpPr/>
          <p:nvPr/>
        </p:nvSpPr>
        <p:spPr>
          <a:xfrm>
            <a:off x="5988000" y="235370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8" name="Google Shape;818;p71"/>
          <p:cNvSpPr/>
          <p:nvPr/>
        </p:nvSpPr>
        <p:spPr>
          <a:xfrm>
            <a:off x="2212000" y="2358800"/>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9" name="Google Shape;819;p71"/>
          <p:cNvSpPr txBox="1"/>
          <p:nvPr/>
        </p:nvSpPr>
        <p:spPr>
          <a:xfrm>
            <a:off x="2171005" y="4140811"/>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30 × 0.7</a:t>
            </a:r>
            <a:endParaRPr sz="2200">
              <a:latin typeface="Lexend"/>
              <a:ea typeface="Lexend"/>
              <a:cs typeface="Lexend"/>
              <a:sym typeface="Lexend"/>
            </a:endParaRPr>
          </a:p>
        </p:txBody>
      </p:sp>
      <p:sp>
        <p:nvSpPr>
          <p:cNvPr id="820" name="Google Shape;820;p71"/>
          <p:cNvSpPr/>
          <p:nvPr/>
        </p:nvSpPr>
        <p:spPr>
          <a:xfrm>
            <a:off x="2212000" y="1900650"/>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1" name="Google Shape;821;p71"/>
          <p:cNvSpPr/>
          <p:nvPr/>
        </p:nvSpPr>
        <p:spPr>
          <a:xfrm>
            <a:off x="5988000" y="280580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2" name="Google Shape;822;p71"/>
          <p:cNvSpPr/>
          <p:nvPr/>
        </p:nvSpPr>
        <p:spPr>
          <a:xfrm>
            <a:off x="2212000" y="1442500"/>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3" name="Google Shape;823;p71"/>
          <p:cNvSpPr/>
          <p:nvPr/>
        </p:nvSpPr>
        <p:spPr>
          <a:xfrm>
            <a:off x="5988000" y="325790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4" name="Google Shape;824;p71"/>
          <p:cNvSpPr txBox="1"/>
          <p:nvPr/>
        </p:nvSpPr>
        <p:spPr>
          <a:xfrm>
            <a:off x="3769675" y="4140811"/>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300 × 0.07</a:t>
            </a:r>
            <a:endParaRPr sz="2200">
              <a:latin typeface="Lexend"/>
              <a:ea typeface="Lexend"/>
              <a:cs typeface="Lexend"/>
              <a:sym typeface="Lexend"/>
            </a:endParaRPr>
          </a:p>
        </p:txBody>
      </p:sp>
      <p:sp>
        <p:nvSpPr>
          <p:cNvPr id="825" name="Google Shape;825;p71"/>
          <p:cNvSpPr/>
          <p:nvPr/>
        </p:nvSpPr>
        <p:spPr>
          <a:xfrm>
            <a:off x="2212000" y="1016850"/>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6" name="Google Shape;826;p71"/>
          <p:cNvSpPr/>
          <p:nvPr/>
        </p:nvSpPr>
        <p:spPr>
          <a:xfrm>
            <a:off x="5988000" y="371095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7" name="Google Shape;827;p71"/>
          <p:cNvSpPr txBox="1"/>
          <p:nvPr/>
        </p:nvSpPr>
        <p:spPr>
          <a:xfrm>
            <a:off x="5671192" y="4140811"/>
            <a:ext cx="21036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3000 × 0.007</a:t>
            </a:r>
            <a:endParaRPr sz="2200">
              <a:latin typeface="Lexend"/>
              <a:ea typeface="Lexend"/>
              <a:cs typeface="Lexend"/>
              <a:sym typeface="Lexend"/>
            </a:endParaRPr>
          </a:p>
        </p:txBody>
      </p:sp>
      <p:sp>
        <p:nvSpPr>
          <p:cNvPr id="828" name="Google Shape;828;p71"/>
          <p:cNvSpPr/>
          <p:nvPr/>
        </p:nvSpPr>
        <p:spPr>
          <a:xfrm>
            <a:off x="2212000" y="2814555"/>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9" name="Google Shape;829;p71"/>
          <p:cNvSpPr/>
          <p:nvPr/>
        </p:nvSpPr>
        <p:spPr>
          <a:xfrm>
            <a:off x="5988000" y="1916433"/>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0" name="Google Shape;830;p71"/>
          <p:cNvSpPr txBox="1"/>
          <p:nvPr/>
        </p:nvSpPr>
        <p:spPr>
          <a:xfrm>
            <a:off x="2171005" y="4442036"/>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0.3</a:t>
            </a:r>
            <a:r>
              <a:rPr lang="en-GB" sz="2200">
                <a:latin typeface="Lexend"/>
                <a:ea typeface="Lexend"/>
                <a:cs typeface="Lexend"/>
                <a:sym typeface="Lexend"/>
              </a:rPr>
              <a:t> × 70</a:t>
            </a:r>
            <a:endParaRPr sz="2200">
              <a:latin typeface="Lexend"/>
              <a:ea typeface="Lexend"/>
              <a:cs typeface="Lexend"/>
              <a:sym typeface="Lexend"/>
            </a:endParaRPr>
          </a:p>
        </p:txBody>
      </p:sp>
      <p:sp>
        <p:nvSpPr>
          <p:cNvPr id="831" name="Google Shape;831;p71"/>
          <p:cNvSpPr/>
          <p:nvPr/>
        </p:nvSpPr>
        <p:spPr>
          <a:xfrm>
            <a:off x="2212000" y="3270305"/>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2" name="Google Shape;832;p71"/>
          <p:cNvSpPr/>
          <p:nvPr/>
        </p:nvSpPr>
        <p:spPr>
          <a:xfrm>
            <a:off x="5988000" y="144950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3" name="Google Shape;833;p71"/>
          <p:cNvSpPr txBox="1"/>
          <p:nvPr/>
        </p:nvSpPr>
        <p:spPr>
          <a:xfrm>
            <a:off x="3769675" y="4442036"/>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0.03</a:t>
            </a:r>
            <a:r>
              <a:rPr lang="en-GB" sz="2200">
                <a:latin typeface="Lexend"/>
                <a:ea typeface="Lexend"/>
                <a:cs typeface="Lexend"/>
                <a:sym typeface="Lexend"/>
              </a:rPr>
              <a:t> × 700</a:t>
            </a:r>
            <a:endParaRPr sz="2200">
              <a:latin typeface="Lexend"/>
              <a:ea typeface="Lexend"/>
              <a:cs typeface="Lexend"/>
              <a:sym typeface="Lexend"/>
            </a:endParaRPr>
          </a:p>
        </p:txBody>
      </p:sp>
      <p:sp>
        <p:nvSpPr>
          <p:cNvPr id="834" name="Google Shape;834;p71"/>
          <p:cNvSpPr txBox="1"/>
          <p:nvPr/>
        </p:nvSpPr>
        <p:spPr>
          <a:xfrm>
            <a:off x="5671192" y="4442036"/>
            <a:ext cx="21036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0.003</a:t>
            </a:r>
            <a:r>
              <a:rPr lang="en-GB" sz="2200">
                <a:latin typeface="Lexend"/>
                <a:ea typeface="Lexend"/>
                <a:cs typeface="Lexend"/>
                <a:sym typeface="Lexend"/>
              </a:rPr>
              <a:t> × 7000</a:t>
            </a:r>
            <a:endParaRPr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840" name="Google Shape;840;p72"/>
          <p:cNvSpPr/>
          <p:nvPr/>
        </p:nvSpPr>
        <p:spPr>
          <a:xfrm>
            <a:off x="441125" y="69200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p:txBody>
      </p:sp>
      <p:sp>
        <p:nvSpPr>
          <p:cNvPr id="841" name="Google Shape;841;p72"/>
          <p:cNvSpPr/>
          <p:nvPr/>
        </p:nvSpPr>
        <p:spPr>
          <a:xfrm>
            <a:off x="1187675" y="65870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42" name="Google Shape;842;p72"/>
          <p:cNvSpPr/>
          <p:nvPr/>
        </p:nvSpPr>
        <p:spPr>
          <a:xfrm>
            <a:off x="2042050" y="65870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43" name="Google Shape;843;p72"/>
          <p:cNvSpPr/>
          <p:nvPr/>
        </p:nvSpPr>
        <p:spPr>
          <a:xfrm>
            <a:off x="2902617" y="65870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44" name="Google Shape;844;p72"/>
          <p:cNvSpPr/>
          <p:nvPr/>
        </p:nvSpPr>
        <p:spPr>
          <a:xfrm>
            <a:off x="4617575" y="65870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45" name="Google Shape;845;p72"/>
          <p:cNvSpPr/>
          <p:nvPr/>
        </p:nvSpPr>
        <p:spPr>
          <a:xfrm>
            <a:off x="5478142" y="658700"/>
            <a:ext cx="816000" cy="613500"/>
          </a:xfrm>
          <a:prstGeom prst="rightArrow">
            <a:avLst>
              <a:gd fmla="val 50000" name="adj1"/>
              <a:gd fmla="val 50000" name="adj2"/>
            </a:avLst>
          </a:prstGeom>
          <a:solidFill>
            <a:srgbClr val="845AD9">
              <a:alpha val="3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846" name="Google Shape;846;p72"/>
          <p:cNvSpPr/>
          <p:nvPr/>
        </p:nvSpPr>
        <p:spPr>
          <a:xfrm>
            <a:off x="6332109" y="658700"/>
            <a:ext cx="816000" cy="613500"/>
          </a:xfrm>
          <a:prstGeom prst="rightArrow">
            <a:avLst>
              <a:gd fmla="val 50000" name="adj1"/>
              <a:gd fmla="val 50000" name="adj2"/>
            </a:avLst>
          </a:prstGeom>
          <a:solidFill>
            <a:srgbClr val="845AD9">
              <a:alpha val="3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847" name="Google Shape;847;p72"/>
          <p:cNvSpPr/>
          <p:nvPr/>
        </p:nvSpPr>
        <p:spPr>
          <a:xfrm>
            <a:off x="7173697" y="658700"/>
            <a:ext cx="816000" cy="613500"/>
          </a:xfrm>
          <a:prstGeom prst="rightArrow">
            <a:avLst>
              <a:gd fmla="val 50000" name="adj1"/>
              <a:gd fmla="val 50000" name="adj2"/>
            </a:avLst>
          </a:prstGeom>
          <a:solidFill>
            <a:srgbClr val="845AD9">
              <a:alpha val="3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48" name="Google Shape;848;p72"/>
          <p:cNvSpPr/>
          <p:nvPr/>
        </p:nvSpPr>
        <p:spPr>
          <a:xfrm>
            <a:off x="8122825" y="692000"/>
            <a:ext cx="667200" cy="546900"/>
          </a:xfrm>
          <a:prstGeom prst="rect">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210</a:t>
            </a:r>
            <a:endParaRPr sz="2200">
              <a:latin typeface="Lexend"/>
              <a:ea typeface="Lexend"/>
              <a:cs typeface="Lexend"/>
              <a:sym typeface="Lexend"/>
            </a:endParaRPr>
          </a:p>
        </p:txBody>
      </p:sp>
      <p:grpSp>
        <p:nvGrpSpPr>
          <p:cNvPr id="849" name="Google Shape;849;p72"/>
          <p:cNvGrpSpPr/>
          <p:nvPr/>
        </p:nvGrpSpPr>
        <p:grpSpPr>
          <a:xfrm>
            <a:off x="359972" y="1148250"/>
            <a:ext cx="3289758" cy="333900"/>
            <a:chOff x="1093875" y="1498855"/>
            <a:chExt cx="2644500" cy="333900"/>
          </a:xfrm>
        </p:grpSpPr>
        <p:cxnSp>
          <p:nvCxnSpPr>
            <p:cNvPr id="850" name="Google Shape;850;p72"/>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51" name="Google Shape;851;p72"/>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52" name="Google Shape;852;p72"/>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853" name="Google Shape;853;p72"/>
          <p:cNvSpPr txBox="1"/>
          <p:nvPr>
            <p:ph idx="1" type="body"/>
          </p:nvPr>
        </p:nvSpPr>
        <p:spPr>
          <a:xfrm>
            <a:off x="1655050" y="1515650"/>
            <a:ext cx="699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3000</a:t>
            </a:r>
            <a:endParaRPr/>
          </a:p>
        </p:txBody>
      </p:sp>
      <p:grpSp>
        <p:nvGrpSpPr>
          <p:cNvPr id="854" name="Google Shape;854;p72"/>
          <p:cNvGrpSpPr/>
          <p:nvPr/>
        </p:nvGrpSpPr>
        <p:grpSpPr>
          <a:xfrm>
            <a:off x="3718594" y="1148250"/>
            <a:ext cx="4360252" cy="333900"/>
            <a:chOff x="1093875" y="1498855"/>
            <a:chExt cx="2644500" cy="333900"/>
          </a:xfrm>
        </p:grpSpPr>
        <p:cxnSp>
          <p:nvCxnSpPr>
            <p:cNvPr id="855" name="Google Shape;855;p72"/>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56" name="Google Shape;856;p72"/>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57" name="Google Shape;857;p72"/>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858" name="Google Shape;858;p72"/>
          <p:cNvSpPr txBox="1"/>
          <p:nvPr>
            <p:ph idx="1" type="body"/>
          </p:nvPr>
        </p:nvSpPr>
        <p:spPr>
          <a:xfrm>
            <a:off x="5589150" y="1515650"/>
            <a:ext cx="594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0.07</a:t>
            </a:r>
            <a:endParaRPr/>
          </a:p>
        </p:txBody>
      </p:sp>
      <p:sp>
        <p:nvSpPr>
          <p:cNvPr id="859" name="Google Shape;859;p72"/>
          <p:cNvSpPr txBox="1"/>
          <p:nvPr>
            <p:ph idx="1" type="body"/>
          </p:nvPr>
        </p:nvSpPr>
        <p:spPr>
          <a:xfrm>
            <a:off x="324000" y="1885950"/>
            <a:ext cx="2578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3000 × 0.07 = 210</a:t>
            </a:r>
            <a:endParaRPr/>
          </a:p>
        </p:txBody>
      </p:sp>
      <p:pic>
        <p:nvPicPr>
          <p:cNvPr id="860" name="Google Shape;860;p72"/>
          <p:cNvPicPr preferRelativeResize="0"/>
          <p:nvPr/>
        </p:nvPicPr>
        <p:blipFill>
          <a:blip r:embed="rId3">
            <a:alphaModFix/>
          </a:blip>
          <a:stretch>
            <a:fillRect/>
          </a:stretch>
        </p:blipFill>
        <p:spPr>
          <a:xfrm flipH="1">
            <a:off x="7684471" y="3856212"/>
            <a:ext cx="727191" cy="909325"/>
          </a:xfrm>
          <a:prstGeom prst="rect">
            <a:avLst/>
          </a:prstGeom>
          <a:noFill/>
          <a:ln>
            <a:noFill/>
          </a:ln>
        </p:spPr>
      </p:pic>
      <p:pic>
        <p:nvPicPr>
          <p:cNvPr id="861" name="Google Shape;861;p72"/>
          <p:cNvPicPr preferRelativeResize="0"/>
          <p:nvPr/>
        </p:nvPicPr>
        <p:blipFill>
          <a:blip r:embed="rId4">
            <a:alphaModFix/>
          </a:blip>
          <a:stretch>
            <a:fillRect/>
          </a:stretch>
        </p:blipFill>
        <p:spPr>
          <a:xfrm>
            <a:off x="400127" y="3697102"/>
            <a:ext cx="807750" cy="1057915"/>
          </a:xfrm>
          <a:prstGeom prst="rect">
            <a:avLst/>
          </a:prstGeom>
          <a:noFill/>
          <a:ln>
            <a:noFill/>
          </a:ln>
        </p:spPr>
      </p:pic>
      <p:sp>
        <p:nvSpPr>
          <p:cNvPr id="862" name="Google Shape;862;p72"/>
          <p:cNvSpPr txBox="1"/>
          <p:nvPr>
            <p:ph idx="1" type="body"/>
          </p:nvPr>
        </p:nvSpPr>
        <p:spPr>
          <a:xfrm>
            <a:off x="324000" y="226962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Laura and Jun decide to rearrange the function machines </a:t>
            </a:r>
            <a:endParaRPr sz="1800"/>
          </a:p>
        </p:txBody>
      </p:sp>
      <p:sp>
        <p:nvSpPr>
          <p:cNvPr id="863" name="Google Shape;863;p72"/>
          <p:cNvSpPr/>
          <p:nvPr/>
        </p:nvSpPr>
        <p:spPr>
          <a:xfrm>
            <a:off x="441125" y="267320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p:txBody>
      </p:sp>
      <p:sp>
        <p:nvSpPr>
          <p:cNvPr id="864" name="Google Shape;864;p72"/>
          <p:cNvSpPr/>
          <p:nvPr/>
        </p:nvSpPr>
        <p:spPr>
          <a:xfrm>
            <a:off x="8122875" y="2673200"/>
            <a:ext cx="667200" cy="546900"/>
          </a:xfrm>
          <a:prstGeom prst="rect">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210</a:t>
            </a:r>
            <a:endParaRPr sz="2200">
              <a:latin typeface="Lexend"/>
              <a:ea typeface="Lexend"/>
              <a:cs typeface="Lexend"/>
              <a:sym typeface="Lexend"/>
            </a:endParaRPr>
          </a:p>
        </p:txBody>
      </p:sp>
      <p:sp>
        <p:nvSpPr>
          <p:cNvPr id="865" name="Google Shape;865;p72"/>
          <p:cNvSpPr/>
          <p:nvPr/>
        </p:nvSpPr>
        <p:spPr>
          <a:xfrm>
            <a:off x="1213988" y="2590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66" name="Google Shape;866;p72"/>
          <p:cNvSpPr/>
          <p:nvPr/>
        </p:nvSpPr>
        <p:spPr>
          <a:xfrm>
            <a:off x="2068363" y="2590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67" name="Google Shape;867;p72"/>
          <p:cNvSpPr/>
          <p:nvPr/>
        </p:nvSpPr>
        <p:spPr>
          <a:xfrm>
            <a:off x="4599992" y="2590325"/>
            <a:ext cx="816000" cy="613500"/>
          </a:xfrm>
          <a:prstGeom prst="rightArrow">
            <a:avLst>
              <a:gd fmla="val 50000" name="adj1"/>
              <a:gd fmla="val 50000" name="adj2"/>
            </a:avLst>
          </a:prstGeom>
          <a:solidFill>
            <a:srgbClr val="845AD9">
              <a:alpha val="3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868" name="Google Shape;868;p72"/>
          <p:cNvSpPr/>
          <p:nvPr/>
        </p:nvSpPr>
        <p:spPr>
          <a:xfrm>
            <a:off x="5453959" y="2590325"/>
            <a:ext cx="816000" cy="613500"/>
          </a:xfrm>
          <a:prstGeom prst="rightArrow">
            <a:avLst>
              <a:gd fmla="val 50000" name="adj1"/>
              <a:gd fmla="val 50000" name="adj2"/>
            </a:avLst>
          </a:prstGeom>
          <a:solidFill>
            <a:srgbClr val="845AD9">
              <a:alpha val="3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869" name="Google Shape;869;p72"/>
          <p:cNvSpPr/>
          <p:nvPr/>
        </p:nvSpPr>
        <p:spPr>
          <a:xfrm>
            <a:off x="3742522" y="2590325"/>
            <a:ext cx="816000" cy="613500"/>
          </a:xfrm>
          <a:prstGeom prst="rightArrow">
            <a:avLst>
              <a:gd fmla="val 50000" name="adj1"/>
              <a:gd fmla="val 50000" name="adj2"/>
            </a:avLst>
          </a:prstGeom>
          <a:solidFill>
            <a:srgbClr val="845AD9">
              <a:alpha val="3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70" name="Google Shape;870;p72"/>
          <p:cNvSpPr/>
          <p:nvPr/>
        </p:nvSpPr>
        <p:spPr>
          <a:xfrm>
            <a:off x="6307900" y="2590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71" name="Google Shape;871;p72"/>
          <p:cNvSpPr/>
          <p:nvPr/>
        </p:nvSpPr>
        <p:spPr>
          <a:xfrm>
            <a:off x="7168467" y="2590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grpSp>
        <p:nvGrpSpPr>
          <p:cNvPr id="872" name="Google Shape;872;p72"/>
          <p:cNvGrpSpPr/>
          <p:nvPr/>
        </p:nvGrpSpPr>
        <p:grpSpPr>
          <a:xfrm>
            <a:off x="359935" y="3134600"/>
            <a:ext cx="2404115" cy="333900"/>
            <a:chOff x="1093875" y="1498855"/>
            <a:chExt cx="2644500" cy="333900"/>
          </a:xfrm>
        </p:grpSpPr>
        <p:cxnSp>
          <p:nvCxnSpPr>
            <p:cNvPr id="873" name="Google Shape;873;p72"/>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74" name="Google Shape;874;p72"/>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75" name="Google Shape;875;p72"/>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grpSp>
        <p:nvGrpSpPr>
          <p:cNvPr id="876" name="Google Shape;876;p72"/>
          <p:cNvGrpSpPr/>
          <p:nvPr/>
        </p:nvGrpSpPr>
        <p:grpSpPr>
          <a:xfrm>
            <a:off x="2827825" y="3134600"/>
            <a:ext cx="5250126" cy="333900"/>
            <a:chOff x="1093875" y="1498855"/>
            <a:chExt cx="2644500" cy="333900"/>
          </a:xfrm>
        </p:grpSpPr>
        <p:cxnSp>
          <p:nvCxnSpPr>
            <p:cNvPr id="877" name="Google Shape;877;p72"/>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78" name="Google Shape;878;p72"/>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879" name="Google Shape;879;p72"/>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880" name="Google Shape;880;p72"/>
          <p:cNvSpPr txBox="1"/>
          <p:nvPr>
            <p:ph idx="1" type="body"/>
          </p:nvPr>
        </p:nvSpPr>
        <p:spPr>
          <a:xfrm>
            <a:off x="1411350" y="3468500"/>
            <a:ext cx="546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a:t>
            </a:r>
            <a:endParaRPr/>
          </a:p>
        </p:txBody>
      </p:sp>
      <p:sp>
        <p:nvSpPr>
          <p:cNvPr id="881" name="Google Shape;881;p72"/>
          <p:cNvSpPr txBox="1"/>
          <p:nvPr>
            <p:ph idx="1" type="body"/>
          </p:nvPr>
        </p:nvSpPr>
        <p:spPr>
          <a:xfrm>
            <a:off x="5241538" y="3468500"/>
            <a:ext cx="422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0.7</a:t>
            </a:r>
            <a:endParaRPr/>
          </a:p>
        </p:txBody>
      </p:sp>
      <p:sp>
        <p:nvSpPr>
          <p:cNvPr id="882" name="Google Shape;882;p72"/>
          <p:cNvSpPr txBox="1"/>
          <p:nvPr>
            <p:ph idx="1" type="body"/>
          </p:nvPr>
        </p:nvSpPr>
        <p:spPr>
          <a:xfrm>
            <a:off x="1655050" y="4121700"/>
            <a:ext cx="2260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 × 0.7 = 210</a:t>
            </a:r>
            <a:endParaRPr/>
          </a:p>
        </p:txBody>
      </p:sp>
      <p:sp>
        <p:nvSpPr>
          <p:cNvPr id="883" name="Google Shape;883;p72"/>
          <p:cNvSpPr/>
          <p:nvPr/>
        </p:nvSpPr>
        <p:spPr>
          <a:xfrm>
            <a:off x="4026100" y="65870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p:txBody>
      </p:sp>
      <p:sp>
        <p:nvSpPr>
          <p:cNvPr id="884" name="Google Shape;884;p72"/>
          <p:cNvSpPr txBox="1"/>
          <p:nvPr>
            <p:ph idx="1" type="body"/>
          </p:nvPr>
        </p:nvSpPr>
        <p:spPr>
          <a:xfrm>
            <a:off x="3840404" y="771800"/>
            <a:ext cx="18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endParaRPr/>
          </a:p>
        </p:txBody>
      </p:sp>
      <p:sp>
        <p:nvSpPr>
          <p:cNvPr id="885" name="Google Shape;885;p72"/>
          <p:cNvSpPr/>
          <p:nvPr/>
        </p:nvSpPr>
        <p:spPr>
          <a:xfrm>
            <a:off x="3154150" y="2623625"/>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p:txBody>
      </p:sp>
      <p:sp>
        <p:nvSpPr>
          <p:cNvPr id="886" name="Google Shape;886;p72"/>
          <p:cNvSpPr txBox="1"/>
          <p:nvPr>
            <p:ph idx="1" type="body"/>
          </p:nvPr>
        </p:nvSpPr>
        <p:spPr>
          <a:xfrm>
            <a:off x="2968454" y="2736725"/>
            <a:ext cx="18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pic>
        <p:nvPicPr>
          <p:cNvPr id="892" name="Google Shape;892;p73"/>
          <p:cNvPicPr preferRelativeResize="0"/>
          <p:nvPr/>
        </p:nvPicPr>
        <p:blipFill>
          <a:blip r:embed="rId3">
            <a:alphaModFix/>
          </a:blip>
          <a:stretch>
            <a:fillRect/>
          </a:stretch>
        </p:blipFill>
        <p:spPr>
          <a:xfrm flipH="1">
            <a:off x="7849243" y="3868865"/>
            <a:ext cx="727191" cy="909325"/>
          </a:xfrm>
          <a:prstGeom prst="rect">
            <a:avLst/>
          </a:prstGeom>
          <a:noFill/>
          <a:ln>
            <a:noFill/>
          </a:ln>
        </p:spPr>
      </p:pic>
      <p:pic>
        <p:nvPicPr>
          <p:cNvPr id="893" name="Google Shape;893;p73"/>
          <p:cNvPicPr preferRelativeResize="0"/>
          <p:nvPr/>
        </p:nvPicPr>
        <p:blipFill>
          <a:blip r:embed="rId4">
            <a:alphaModFix/>
          </a:blip>
          <a:stretch>
            <a:fillRect/>
          </a:stretch>
        </p:blipFill>
        <p:spPr>
          <a:xfrm>
            <a:off x="400127" y="1563502"/>
            <a:ext cx="807750" cy="1057915"/>
          </a:xfrm>
          <a:prstGeom prst="rect">
            <a:avLst/>
          </a:prstGeom>
          <a:noFill/>
          <a:ln>
            <a:noFill/>
          </a:ln>
        </p:spPr>
      </p:pic>
      <p:sp>
        <p:nvSpPr>
          <p:cNvPr id="894" name="Google Shape;894;p73"/>
          <p:cNvSpPr/>
          <p:nvPr/>
        </p:nvSpPr>
        <p:spPr>
          <a:xfrm>
            <a:off x="441125" y="76820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p:txBody>
      </p:sp>
      <p:sp>
        <p:nvSpPr>
          <p:cNvPr id="895" name="Google Shape;895;p73"/>
          <p:cNvSpPr/>
          <p:nvPr/>
        </p:nvSpPr>
        <p:spPr>
          <a:xfrm>
            <a:off x="8110052" y="768200"/>
            <a:ext cx="651600" cy="546900"/>
          </a:xfrm>
          <a:prstGeom prst="rect">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210</a:t>
            </a:r>
            <a:endParaRPr sz="2200">
              <a:latin typeface="Lexend"/>
              <a:ea typeface="Lexend"/>
              <a:cs typeface="Lexend"/>
              <a:sym typeface="Lexend"/>
            </a:endParaRPr>
          </a:p>
        </p:txBody>
      </p:sp>
      <p:sp>
        <p:nvSpPr>
          <p:cNvPr id="896" name="Google Shape;896;p73"/>
          <p:cNvSpPr/>
          <p:nvPr/>
        </p:nvSpPr>
        <p:spPr>
          <a:xfrm>
            <a:off x="1213988" y="685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97" name="Google Shape;897;p73"/>
          <p:cNvSpPr/>
          <p:nvPr/>
        </p:nvSpPr>
        <p:spPr>
          <a:xfrm>
            <a:off x="2068363" y="685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898" name="Google Shape;898;p73"/>
          <p:cNvSpPr/>
          <p:nvPr/>
        </p:nvSpPr>
        <p:spPr>
          <a:xfrm>
            <a:off x="4599992" y="685325"/>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899" name="Google Shape;899;p73"/>
          <p:cNvSpPr/>
          <p:nvPr/>
        </p:nvSpPr>
        <p:spPr>
          <a:xfrm>
            <a:off x="5453959" y="685325"/>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900" name="Google Shape;900;p73"/>
          <p:cNvSpPr/>
          <p:nvPr/>
        </p:nvSpPr>
        <p:spPr>
          <a:xfrm>
            <a:off x="3742522" y="685325"/>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01" name="Google Shape;901;p73"/>
          <p:cNvSpPr/>
          <p:nvPr/>
        </p:nvSpPr>
        <p:spPr>
          <a:xfrm>
            <a:off x="6307900" y="685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02" name="Google Shape;902;p73"/>
          <p:cNvSpPr/>
          <p:nvPr/>
        </p:nvSpPr>
        <p:spPr>
          <a:xfrm>
            <a:off x="7168467" y="6853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grpSp>
        <p:nvGrpSpPr>
          <p:cNvPr id="903" name="Google Shape;903;p73"/>
          <p:cNvGrpSpPr/>
          <p:nvPr/>
        </p:nvGrpSpPr>
        <p:grpSpPr>
          <a:xfrm>
            <a:off x="359924" y="1229570"/>
            <a:ext cx="2404115" cy="261744"/>
            <a:chOff x="1093875" y="1498855"/>
            <a:chExt cx="2644500" cy="333900"/>
          </a:xfrm>
        </p:grpSpPr>
        <p:cxnSp>
          <p:nvCxnSpPr>
            <p:cNvPr id="904" name="Google Shape;904;p73"/>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05" name="Google Shape;905;p73"/>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06" name="Google Shape;906;p73"/>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grpSp>
        <p:nvGrpSpPr>
          <p:cNvPr id="907" name="Google Shape;907;p73"/>
          <p:cNvGrpSpPr/>
          <p:nvPr/>
        </p:nvGrpSpPr>
        <p:grpSpPr>
          <a:xfrm>
            <a:off x="2827818" y="1229570"/>
            <a:ext cx="5250126" cy="261744"/>
            <a:chOff x="1093875" y="1498855"/>
            <a:chExt cx="2644500" cy="333900"/>
          </a:xfrm>
        </p:grpSpPr>
        <p:cxnSp>
          <p:nvCxnSpPr>
            <p:cNvPr id="908" name="Google Shape;908;p73"/>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09" name="Google Shape;909;p73"/>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10" name="Google Shape;910;p73"/>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911" name="Google Shape;911;p73"/>
          <p:cNvSpPr txBox="1"/>
          <p:nvPr>
            <p:ph idx="1" type="body"/>
          </p:nvPr>
        </p:nvSpPr>
        <p:spPr>
          <a:xfrm>
            <a:off x="1411350" y="1563500"/>
            <a:ext cx="546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a:t>
            </a:r>
            <a:endParaRPr/>
          </a:p>
        </p:txBody>
      </p:sp>
      <p:sp>
        <p:nvSpPr>
          <p:cNvPr id="912" name="Google Shape;912;p73"/>
          <p:cNvSpPr txBox="1"/>
          <p:nvPr>
            <p:ph idx="1" type="body"/>
          </p:nvPr>
        </p:nvSpPr>
        <p:spPr>
          <a:xfrm>
            <a:off x="5241538" y="1563500"/>
            <a:ext cx="422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0.7</a:t>
            </a:r>
            <a:endParaRPr/>
          </a:p>
        </p:txBody>
      </p:sp>
      <p:sp>
        <p:nvSpPr>
          <p:cNvPr id="913" name="Google Shape;913;p73"/>
          <p:cNvSpPr txBox="1"/>
          <p:nvPr>
            <p:ph idx="1" type="body"/>
          </p:nvPr>
        </p:nvSpPr>
        <p:spPr>
          <a:xfrm>
            <a:off x="1655050" y="1988100"/>
            <a:ext cx="2260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300 × 0.7 = 210</a:t>
            </a:r>
            <a:endParaRPr/>
          </a:p>
        </p:txBody>
      </p:sp>
      <p:sp>
        <p:nvSpPr>
          <p:cNvPr id="914" name="Google Shape;914;p73"/>
          <p:cNvSpPr/>
          <p:nvPr/>
        </p:nvSpPr>
        <p:spPr>
          <a:xfrm>
            <a:off x="448778" y="269158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p:txBody>
      </p:sp>
      <p:sp>
        <p:nvSpPr>
          <p:cNvPr id="915" name="Google Shape;915;p73"/>
          <p:cNvSpPr/>
          <p:nvPr/>
        </p:nvSpPr>
        <p:spPr>
          <a:xfrm>
            <a:off x="8110125" y="2691580"/>
            <a:ext cx="651600" cy="546900"/>
          </a:xfrm>
          <a:prstGeom prst="rect">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210</a:t>
            </a:r>
            <a:endParaRPr sz="2200">
              <a:latin typeface="Lexend"/>
              <a:ea typeface="Lexend"/>
              <a:cs typeface="Lexend"/>
              <a:sym typeface="Lexend"/>
            </a:endParaRPr>
          </a:p>
        </p:txBody>
      </p:sp>
      <p:sp>
        <p:nvSpPr>
          <p:cNvPr id="916" name="Google Shape;916;p73"/>
          <p:cNvSpPr/>
          <p:nvPr/>
        </p:nvSpPr>
        <p:spPr>
          <a:xfrm>
            <a:off x="1962392" y="2658280"/>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917" name="Google Shape;917;p73"/>
          <p:cNvSpPr/>
          <p:nvPr/>
        </p:nvSpPr>
        <p:spPr>
          <a:xfrm>
            <a:off x="2816359" y="2658280"/>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918" name="Google Shape;918;p73"/>
          <p:cNvSpPr/>
          <p:nvPr/>
        </p:nvSpPr>
        <p:spPr>
          <a:xfrm>
            <a:off x="1104922" y="2658280"/>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grpSp>
        <p:nvGrpSpPr>
          <p:cNvPr id="919" name="Google Shape;919;p73"/>
          <p:cNvGrpSpPr/>
          <p:nvPr/>
        </p:nvGrpSpPr>
        <p:grpSpPr>
          <a:xfrm>
            <a:off x="359939" y="3196679"/>
            <a:ext cx="3131617" cy="261744"/>
            <a:chOff x="1093875" y="1498855"/>
            <a:chExt cx="2644500" cy="333900"/>
          </a:xfrm>
        </p:grpSpPr>
        <p:cxnSp>
          <p:nvCxnSpPr>
            <p:cNvPr id="920" name="Google Shape;920;p73"/>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21" name="Google Shape;921;p73"/>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22" name="Google Shape;922;p73"/>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923" name="Google Shape;923;p73"/>
          <p:cNvSpPr txBox="1"/>
          <p:nvPr>
            <p:ph idx="1" type="body"/>
          </p:nvPr>
        </p:nvSpPr>
        <p:spPr>
          <a:xfrm>
            <a:off x="1411350" y="3442255"/>
            <a:ext cx="86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0.003</a:t>
            </a:r>
            <a:endParaRPr/>
          </a:p>
        </p:txBody>
      </p:sp>
      <p:sp>
        <p:nvSpPr>
          <p:cNvPr id="924" name="Google Shape;924;p73"/>
          <p:cNvSpPr/>
          <p:nvPr/>
        </p:nvSpPr>
        <p:spPr>
          <a:xfrm>
            <a:off x="4448338" y="265828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25" name="Google Shape;925;p73"/>
          <p:cNvSpPr/>
          <p:nvPr/>
        </p:nvSpPr>
        <p:spPr>
          <a:xfrm>
            <a:off x="5302713" y="265828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26" name="Google Shape;926;p73"/>
          <p:cNvSpPr/>
          <p:nvPr/>
        </p:nvSpPr>
        <p:spPr>
          <a:xfrm>
            <a:off x="6142347" y="265828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27" name="Google Shape;927;p73"/>
          <p:cNvSpPr/>
          <p:nvPr/>
        </p:nvSpPr>
        <p:spPr>
          <a:xfrm>
            <a:off x="6996722" y="2658280"/>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grpSp>
        <p:nvGrpSpPr>
          <p:cNvPr id="928" name="Google Shape;928;p73"/>
          <p:cNvGrpSpPr/>
          <p:nvPr/>
        </p:nvGrpSpPr>
        <p:grpSpPr>
          <a:xfrm>
            <a:off x="3567801" y="3199097"/>
            <a:ext cx="4283032" cy="261744"/>
            <a:chOff x="1093875" y="1498855"/>
            <a:chExt cx="2644500" cy="333900"/>
          </a:xfrm>
        </p:grpSpPr>
        <p:cxnSp>
          <p:nvCxnSpPr>
            <p:cNvPr id="929" name="Google Shape;929;p73"/>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30" name="Google Shape;930;p73"/>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31" name="Google Shape;931;p73"/>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932" name="Google Shape;932;p73"/>
          <p:cNvSpPr txBox="1"/>
          <p:nvPr>
            <p:ph idx="1" type="body"/>
          </p:nvPr>
        </p:nvSpPr>
        <p:spPr>
          <a:xfrm>
            <a:off x="5264374" y="3461480"/>
            <a:ext cx="94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70 000</a:t>
            </a:r>
            <a:endParaRPr/>
          </a:p>
        </p:txBody>
      </p:sp>
      <p:sp>
        <p:nvSpPr>
          <p:cNvPr id="933" name="Google Shape;933;p73"/>
          <p:cNvSpPr txBox="1"/>
          <p:nvPr>
            <p:ph idx="1" type="body"/>
          </p:nvPr>
        </p:nvSpPr>
        <p:spPr>
          <a:xfrm>
            <a:off x="1655050" y="3839475"/>
            <a:ext cx="272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0.003 × 70 000 = 210</a:t>
            </a:r>
            <a:endParaRPr/>
          </a:p>
        </p:txBody>
      </p:sp>
      <p:sp>
        <p:nvSpPr>
          <p:cNvPr id="934" name="Google Shape;934;p73"/>
          <p:cNvSpPr txBox="1"/>
          <p:nvPr>
            <p:ph idx="1" type="body"/>
          </p:nvPr>
        </p:nvSpPr>
        <p:spPr>
          <a:xfrm>
            <a:off x="324000" y="4198534"/>
            <a:ext cx="7526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Notice the order of the machines does not change the output if the same input is used.</a:t>
            </a:r>
            <a:endParaRPr sz="1900"/>
          </a:p>
        </p:txBody>
      </p:sp>
      <p:sp>
        <p:nvSpPr>
          <p:cNvPr id="935" name="Google Shape;935;p73"/>
          <p:cNvSpPr/>
          <p:nvPr/>
        </p:nvSpPr>
        <p:spPr>
          <a:xfrm>
            <a:off x="3132850" y="699675"/>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p:txBody>
      </p:sp>
      <p:sp>
        <p:nvSpPr>
          <p:cNvPr id="936" name="Google Shape;936;p73"/>
          <p:cNvSpPr txBox="1"/>
          <p:nvPr>
            <p:ph idx="1" type="body"/>
          </p:nvPr>
        </p:nvSpPr>
        <p:spPr>
          <a:xfrm>
            <a:off x="2947154" y="812775"/>
            <a:ext cx="18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endParaRPr/>
          </a:p>
        </p:txBody>
      </p:sp>
      <p:sp>
        <p:nvSpPr>
          <p:cNvPr id="937" name="Google Shape;937;p73"/>
          <p:cNvSpPr/>
          <p:nvPr/>
        </p:nvSpPr>
        <p:spPr>
          <a:xfrm>
            <a:off x="3859750" y="264978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p:txBody>
      </p:sp>
      <p:sp>
        <p:nvSpPr>
          <p:cNvPr id="938" name="Google Shape;938;p73"/>
          <p:cNvSpPr txBox="1"/>
          <p:nvPr>
            <p:ph idx="1" type="body"/>
          </p:nvPr>
        </p:nvSpPr>
        <p:spPr>
          <a:xfrm>
            <a:off x="3674054" y="2762880"/>
            <a:ext cx="18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944" name="Google Shape;944;p74"/>
          <p:cNvSpPr txBox="1"/>
          <p:nvPr>
            <p:ph idx="1" type="body"/>
          </p:nvPr>
        </p:nvSpPr>
        <p:spPr>
          <a:xfrm>
            <a:off x="324000" y="759300"/>
            <a:ext cx="8237700" cy="45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calculation is shown here?</a:t>
            </a:r>
            <a:endParaRPr/>
          </a:p>
        </p:txBody>
      </p:sp>
      <p:sp>
        <p:nvSpPr>
          <p:cNvPr id="945" name="Google Shape;945;p74"/>
          <p:cNvSpPr/>
          <p:nvPr/>
        </p:nvSpPr>
        <p:spPr>
          <a:xfrm>
            <a:off x="441125" y="175880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p:txBody>
      </p:sp>
      <p:sp>
        <p:nvSpPr>
          <p:cNvPr id="946" name="Google Shape;946;p74"/>
          <p:cNvSpPr/>
          <p:nvPr/>
        </p:nvSpPr>
        <p:spPr>
          <a:xfrm>
            <a:off x="8029050" y="1758800"/>
            <a:ext cx="684900" cy="546900"/>
          </a:xfrm>
          <a:prstGeom prst="rect">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720</a:t>
            </a:r>
            <a:endParaRPr sz="2200">
              <a:latin typeface="Lexend"/>
              <a:ea typeface="Lexend"/>
              <a:cs typeface="Lexend"/>
              <a:sym typeface="Lexend"/>
            </a:endParaRPr>
          </a:p>
        </p:txBody>
      </p:sp>
      <p:sp>
        <p:nvSpPr>
          <p:cNvPr id="947" name="Google Shape;947;p74"/>
          <p:cNvSpPr/>
          <p:nvPr/>
        </p:nvSpPr>
        <p:spPr>
          <a:xfrm>
            <a:off x="1992163" y="17521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48" name="Google Shape;948;p74"/>
          <p:cNvSpPr/>
          <p:nvPr/>
        </p:nvSpPr>
        <p:spPr>
          <a:xfrm>
            <a:off x="2842625" y="1752125"/>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949" name="Google Shape;949;p74"/>
          <p:cNvSpPr/>
          <p:nvPr/>
        </p:nvSpPr>
        <p:spPr>
          <a:xfrm>
            <a:off x="5377759" y="1752125"/>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950" name="Google Shape;950;p74"/>
          <p:cNvSpPr/>
          <p:nvPr/>
        </p:nvSpPr>
        <p:spPr>
          <a:xfrm>
            <a:off x="6231700" y="17521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51" name="Google Shape;951;p74"/>
          <p:cNvSpPr/>
          <p:nvPr/>
        </p:nvSpPr>
        <p:spPr>
          <a:xfrm>
            <a:off x="7092267" y="17521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52" name="Google Shape;952;p74"/>
          <p:cNvSpPr/>
          <p:nvPr/>
        </p:nvSpPr>
        <p:spPr>
          <a:xfrm>
            <a:off x="4531350" y="1752125"/>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53" name="Google Shape;953;p74"/>
          <p:cNvSpPr/>
          <p:nvPr/>
        </p:nvSpPr>
        <p:spPr>
          <a:xfrm>
            <a:off x="1141725" y="1752125"/>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grpSp>
        <p:nvGrpSpPr>
          <p:cNvPr id="954" name="Google Shape;954;p74"/>
          <p:cNvGrpSpPr/>
          <p:nvPr/>
        </p:nvGrpSpPr>
        <p:grpSpPr>
          <a:xfrm>
            <a:off x="359957" y="2215050"/>
            <a:ext cx="3220208" cy="333900"/>
            <a:chOff x="1093875" y="1498855"/>
            <a:chExt cx="2644500" cy="333900"/>
          </a:xfrm>
        </p:grpSpPr>
        <p:cxnSp>
          <p:nvCxnSpPr>
            <p:cNvPr id="955" name="Google Shape;955;p74"/>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56" name="Google Shape;956;p74"/>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57" name="Google Shape;957;p74"/>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958" name="Google Shape;958;p74"/>
          <p:cNvSpPr txBox="1"/>
          <p:nvPr>
            <p:ph idx="1" type="body"/>
          </p:nvPr>
        </p:nvSpPr>
        <p:spPr>
          <a:xfrm>
            <a:off x="1655050" y="2582450"/>
            <a:ext cx="699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0.6</a:t>
            </a:r>
            <a:endParaRPr>
              <a:latin typeface="Kalam"/>
              <a:ea typeface="Kalam"/>
              <a:cs typeface="Kalam"/>
              <a:sym typeface="Kalam"/>
            </a:endParaRPr>
          </a:p>
        </p:txBody>
      </p:sp>
      <p:grpSp>
        <p:nvGrpSpPr>
          <p:cNvPr id="959" name="Google Shape;959;p74"/>
          <p:cNvGrpSpPr/>
          <p:nvPr/>
        </p:nvGrpSpPr>
        <p:grpSpPr>
          <a:xfrm>
            <a:off x="3630835" y="2215050"/>
            <a:ext cx="4334336" cy="333900"/>
            <a:chOff x="1093875" y="1498855"/>
            <a:chExt cx="2644500" cy="333900"/>
          </a:xfrm>
        </p:grpSpPr>
        <p:cxnSp>
          <p:nvCxnSpPr>
            <p:cNvPr id="960" name="Google Shape;960;p74"/>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61" name="Google Shape;961;p74"/>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62" name="Google Shape;962;p74"/>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963" name="Google Shape;963;p74"/>
          <p:cNvSpPr txBox="1"/>
          <p:nvPr>
            <p:ph idx="1" type="body"/>
          </p:nvPr>
        </p:nvSpPr>
        <p:spPr>
          <a:xfrm>
            <a:off x="5589150" y="2582450"/>
            <a:ext cx="81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1200</a:t>
            </a:r>
            <a:endParaRPr>
              <a:latin typeface="Kalam"/>
              <a:ea typeface="Kalam"/>
              <a:cs typeface="Kalam"/>
              <a:sym typeface="Kalam"/>
            </a:endParaRPr>
          </a:p>
        </p:txBody>
      </p:sp>
      <p:sp>
        <p:nvSpPr>
          <p:cNvPr id="964" name="Google Shape;964;p74"/>
          <p:cNvSpPr txBox="1"/>
          <p:nvPr>
            <p:ph idx="1" type="body"/>
          </p:nvPr>
        </p:nvSpPr>
        <p:spPr>
          <a:xfrm>
            <a:off x="324000" y="3486150"/>
            <a:ext cx="2260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0.6 × 1200 = 720</a:t>
            </a:r>
            <a:endParaRPr>
              <a:latin typeface="Kalam"/>
              <a:ea typeface="Kalam"/>
              <a:cs typeface="Kalam"/>
              <a:sym typeface="Kalam"/>
            </a:endParaRPr>
          </a:p>
        </p:txBody>
      </p:sp>
      <p:sp>
        <p:nvSpPr>
          <p:cNvPr id="965" name="Google Shape;965;p74"/>
          <p:cNvSpPr/>
          <p:nvPr/>
        </p:nvSpPr>
        <p:spPr>
          <a:xfrm>
            <a:off x="3915797" y="1758800"/>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p:txBody>
      </p:sp>
      <p:sp>
        <p:nvSpPr>
          <p:cNvPr id="966" name="Google Shape;966;p74"/>
          <p:cNvSpPr txBox="1"/>
          <p:nvPr/>
        </p:nvSpPr>
        <p:spPr>
          <a:xfrm>
            <a:off x="3534397" y="1755984"/>
            <a:ext cx="482100" cy="45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400">
                <a:solidFill>
                  <a:schemeClr val="dk1"/>
                </a:solidFill>
                <a:latin typeface="Lexend"/>
                <a:ea typeface="Lexend"/>
                <a:cs typeface="Lexend"/>
                <a:sym typeface="Lexend"/>
              </a:rPr>
              <a:t>×</a:t>
            </a:r>
            <a:endParaRPr sz="19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972" name="Google Shape;972;p75"/>
          <p:cNvSpPr/>
          <p:nvPr/>
        </p:nvSpPr>
        <p:spPr>
          <a:xfrm>
            <a:off x="6292675" y="635047"/>
            <a:ext cx="831300" cy="7275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3" name="Google Shape;973;p75"/>
          <p:cNvSpPr/>
          <p:nvPr/>
        </p:nvSpPr>
        <p:spPr>
          <a:xfrm>
            <a:off x="5469425" y="635047"/>
            <a:ext cx="807900" cy="7275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4" name="Google Shape;974;p75"/>
          <p:cNvSpPr/>
          <p:nvPr/>
        </p:nvSpPr>
        <p:spPr>
          <a:xfrm>
            <a:off x="2036024" y="635047"/>
            <a:ext cx="905100" cy="7275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5" name="Google Shape;975;p75"/>
          <p:cNvSpPr/>
          <p:nvPr/>
        </p:nvSpPr>
        <p:spPr>
          <a:xfrm>
            <a:off x="4573875" y="635047"/>
            <a:ext cx="880200" cy="7275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6" name="Google Shape;976;p75"/>
          <p:cNvSpPr/>
          <p:nvPr/>
        </p:nvSpPr>
        <p:spPr>
          <a:xfrm>
            <a:off x="1125524" y="635047"/>
            <a:ext cx="905100" cy="7275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7" name="Google Shape;977;p75"/>
          <p:cNvSpPr/>
          <p:nvPr/>
        </p:nvSpPr>
        <p:spPr>
          <a:xfrm>
            <a:off x="3687324" y="635047"/>
            <a:ext cx="905100" cy="7275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978" name="Google Shape;978;p75"/>
          <p:cNvPicPr preferRelativeResize="0"/>
          <p:nvPr/>
        </p:nvPicPr>
        <p:blipFill rotWithShape="1">
          <a:blip r:embed="rId3">
            <a:alphaModFix/>
          </a:blip>
          <a:srcRect b="0" l="0" r="69082" t="56280"/>
          <a:stretch/>
        </p:blipFill>
        <p:spPr>
          <a:xfrm flipH="1">
            <a:off x="1340623" y="3525400"/>
            <a:ext cx="3062052" cy="1217000"/>
          </a:xfrm>
          <a:prstGeom prst="rect">
            <a:avLst/>
          </a:prstGeom>
          <a:noFill/>
          <a:ln>
            <a:noFill/>
          </a:ln>
        </p:spPr>
      </p:pic>
      <p:sp>
        <p:nvSpPr>
          <p:cNvPr id="979" name="Google Shape;979;p75"/>
          <p:cNvSpPr txBox="1"/>
          <p:nvPr>
            <p:ph idx="1" type="body"/>
          </p:nvPr>
        </p:nvSpPr>
        <p:spPr>
          <a:xfrm>
            <a:off x="1577650" y="3646075"/>
            <a:ext cx="2862000" cy="90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Of course, because × 10 and ÷ 10 are inverses of each other </a:t>
            </a:r>
            <a:endParaRPr sz="1800"/>
          </a:p>
        </p:txBody>
      </p:sp>
      <p:pic>
        <p:nvPicPr>
          <p:cNvPr id="980" name="Google Shape;980;p75"/>
          <p:cNvPicPr preferRelativeResize="0"/>
          <p:nvPr/>
        </p:nvPicPr>
        <p:blipFill>
          <a:blip r:embed="rId4">
            <a:alphaModFix/>
          </a:blip>
          <a:stretch>
            <a:fillRect/>
          </a:stretch>
        </p:blipFill>
        <p:spPr>
          <a:xfrm>
            <a:off x="310702" y="3762477"/>
            <a:ext cx="807750" cy="1057915"/>
          </a:xfrm>
          <a:prstGeom prst="rect">
            <a:avLst/>
          </a:prstGeom>
          <a:noFill/>
          <a:ln>
            <a:noFill/>
          </a:ln>
        </p:spPr>
      </p:pic>
      <p:sp>
        <p:nvSpPr>
          <p:cNvPr id="981" name="Google Shape;981;p75"/>
          <p:cNvSpPr/>
          <p:nvPr/>
        </p:nvSpPr>
        <p:spPr>
          <a:xfrm>
            <a:off x="441125" y="780572"/>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p:txBody>
      </p:sp>
      <p:sp>
        <p:nvSpPr>
          <p:cNvPr id="982" name="Google Shape;982;p75"/>
          <p:cNvSpPr/>
          <p:nvPr/>
        </p:nvSpPr>
        <p:spPr>
          <a:xfrm>
            <a:off x="8110052" y="780572"/>
            <a:ext cx="651600" cy="546900"/>
          </a:xfrm>
          <a:prstGeom prst="rect">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210</a:t>
            </a:r>
            <a:endParaRPr sz="2200">
              <a:latin typeface="Lexend"/>
              <a:ea typeface="Lexend"/>
              <a:cs typeface="Lexend"/>
              <a:sym typeface="Lexend"/>
            </a:endParaRPr>
          </a:p>
        </p:txBody>
      </p:sp>
      <p:sp>
        <p:nvSpPr>
          <p:cNvPr id="983" name="Google Shape;983;p75"/>
          <p:cNvSpPr/>
          <p:nvPr/>
        </p:nvSpPr>
        <p:spPr>
          <a:xfrm>
            <a:off x="1213988" y="697697"/>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84" name="Google Shape;984;p75"/>
          <p:cNvSpPr/>
          <p:nvPr/>
        </p:nvSpPr>
        <p:spPr>
          <a:xfrm>
            <a:off x="2068363" y="697697"/>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85" name="Google Shape;985;p75"/>
          <p:cNvSpPr/>
          <p:nvPr/>
        </p:nvSpPr>
        <p:spPr>
          <a:xfrm>
            <a:off x="4599992" y="697697"/>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986" name="Google Shape;986;p75"/>
          <p:cNvSpPr/>
          <p:nvPr/>
        </p:nvSpPr>
        <p:spPr>
          <a:xfrm>
            <a:off x="5453959" y="697697"/>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a:t>
            </a:r>
            <a:r>
              <a:rPr lang="en-GB" sz="1900">
                <a:latin typeface="Lexend"/>
                <a:ea typeface="Lexend"/>
                <a:cs typeface="Lexend"/>
                <a:sym typeface="Lexend"/>
              </a:rPr>
              <a:t> 10</a:t>
            </a:r>
            <a:endParaRPr sz="1900">
              <a:latin typeface="Lexend"/>
              <a:ea typeface="Lexend"/>
              <a:cs typeface="Lexend"/>
              <a:sym typeface="Lexend"/>
            </a:endParaRPr>
          </a:p>
        </p:txBody>
      </p:sp>
      <p:sp>
        <p:nvSpPr>
          <p:cNvPr id="987" name="Google Shape;987;p75"/>
          <p:cNvSpPr/>
          <p:nvPr/>
        </p:nvSpPr>
        <p:spPr>
          <a:xfrm>
            <a:off x="3742522" y="697697"/>
            <a:ext cx="816000" cy="613500"/>
          </a:xfrm>
          <a:prstGeom prst="rightArrow">
            <a:avLst>
              <a:gd fmla="val 50000" name="adj1"/>
              <a:gd fmla="val 50000" name="adj2"/>
            </a:avLst>
          </a:prstGeom>
          <a:solidFill>
            <a:srgbClr val="845AD9">
              <a:alpha val="35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88" name="Google Shape;988;p75"/>
          <p:cNvSpPr/>
          <p:nvPr/>
        </p:nvSpPr>
        <p:spPr>
          <a:xfrm>
            <a:off x="6307900" y="697697"/>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sp>
        <p:nvSpPr>
          <p:cNvPr id="989" name="Google Shape;989;p75"/>
          <p:cNvSpPr/>
          <p:nvPr/>
        </p:nvSpPr>
        <p:spPr>
          <a:xfrm>
            <a:off x="7168467" y="697697"/>
            <a:ext cx="816000" cy="613500"/>
          </a:xfrm>
          <a:prstGeom prst="rightArrow">
            <a:avLst>
              <a:gd fmla="val 50000" name="adj1"/>
              <a:gd fmla="val 50000" name="adj2"/>
            </a:avLst>
          </a:prstGeom>
          <a:solidFill>
            <a:srgbClr val="845AD9">
              <a:alpha val="6000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 10</a:t>
            </a:r>
            <a:endParaRPr sz="1900">
              <a:latin typeface="Lexend"/>
              <a:ea typeface="Lexend"/>
              <a:cs typeface="Lexend"/>
              <a:sym typeface="Lexend"/>
            </a:endParaRPr>
          </a:p>
        </p:txBody>
      </p:sp>
      <p:grpSp>
        <p:nvGrpSpPr>
          <p:cNvPr id="990" name="Google Shape;990;p75"/>
          <p:cNvGrpSpPr/>
          <p:nvPr/>
        </p:nvGrpSpPr>
        <p:grpSpPr>
          <a:xfrm>
            <a:off x="359924" y="1241941"/>
            <a:ext cx="2404115" cy="261744"/>
            <a:chOff x="1093875" y="1498855"/>
            <a:chExt cx="2644500" cy="333900"/>
          </a:xfrm>
        </p:grpSpPr>
        <p:cxnSp>
          <p:nvCxnSpPr>
            <p:cNvPr id="991" name="Google Shape;991;p75"/>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92" name="Google Shape;992;p75"/>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93" name="Google Shape;993;p75"/>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grpSp>
        <p:nvGrpSpPr>
          <p:cNvPr id="994" name="Google Shape;994;p75"/>
          <p:cNvGrpSpPr/>
          <p:nvPr/>
        </p:nvGrpSpPr>
        <p:grpSpPr>
          <a:xfrm>
            <a:off x="2827818" y="1241941"/>
            <a:ext cx="5250126" cy="261744"/>
            <a:chOff x="1093875" y="1498855"/>
            <a:chExt cx="2644500" cy="333900"/>
          </a:xfrm>
        </p:grpSpPr>
        <p:cxnSp>
          <p:nvCxnSpPr>
            <p:cNvPr id="995" name="Google Shape;995;p75"/>
            <p:cNvCxnSpPr/>
            <p:nvPr/>
          </p:nvCxnSpPr>
          <p:spPr>
            <a:xfrm>
              <a:off x="109557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96" name="Google Shape;996;p75"/>
            <p:cNvCxnSpPr/>
            <p:nvPr/>
          </p:nvCxnSpPr>
          <p:spPr>
            <a:xfrm>
              <a:off x="3724825" y="1498855"/>
              <a:ext cx="0" cy="333900"/>
            </a:xfrm>
            <a:prstGeom prst="straightConnector1">
              <a:avLst/>
            </a:prstGeom>
            <a:noFill/>
            <a:ln cap="flat" cmpd="sng" w="38100">
              <a:solidFill>
                <a:schemeClr val="accent4"/>
              </a:solidFill>
              <a:prstDash val="solid"/>
              <a:round/>
              <a:headEnd len="med" w="med" type="none"/>
              <a:tailEnd len="med" w="med" type="none"/>
            </a:ln>
          </p:spPr>
        </p:cxnSp>
        <p:cxnSp>
          <p:nvCxnSpPr>
            <p:cNvPr id="997" name="Google Shape;997;p75"/>
            <p:cNvCxnSpPr/>
            <p:nvPr/>
          </p:nvCxnSpPr>
          <p:spPr>
            <a:xfrm>
              <a:off x="1093875" y="1819525"/>
              <a:ext cx="2644500" cy="0"/>
            </a:xfrm>
            <a:prstGeom prst="straightConnector1">
              <a:avLst/>
            </a:prstGeom>
            <a:noFill/>
            <a:ln cap="flat" cmpd="sng" w="38100">
              <a:solidFill>
                <a:schemeClr val="accent4"/>
              </a:solidFill>
              <a:prstDash val="solid"/>
              <a:round/>
              <a:headEnd len="med" w="med" type="none"/>
              <a:tailEnd len="med" w="med" type="none"/>
            </a:ln>
          </p:spPr>
        </p:cxnSp>
      </p:grpSp>
      <p:sp>
        <p:nvSpPr>
          <p:cNvPr id="998" name="Google Shape;998;p75"/>
          <p:cNvSpPr txBox="1"/>
          <p:nvPr>
            <p:ph idx="1" type="body"/>
          </p:nvPr>
        </p:nvSpPr>
        <p:spPr>
          <a:xfrm>
            <a:off x="1411350" y="1575872"/>
            <a:ext cx="546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300</a:t>
            </a:r>
            <a:endParaRPr sz="1800"/>
          </a:p>
        </p:txBody>
      </p:sp>
      <p:sp>
        <p:nvSpPr>
          <p:cNvPr id="999" name="Google Shape;999;p75"/>
          <p:cNvSpPr txBox="1"/>
          <p:nvPr>
            <p:ph idx="1" type="body"/>
          </p:nvPr>
        </p:nvSpPr>
        <p:spPr>
          <a:xfrm>
            <a:off x="5241538" y="1575872"/>
            <a:ext cx="422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0.7</a:t>
            </a:r>
            <a:endParaRPr sz="1800"/>
          </a:p>
        </p:txBody>
      </p:sp>
      <p:sp>
        <p:nvSpPr>
          <p:cNvPr id="1000" name="Google Shape;1000;p75"/>
          <p:cNvSpPr txBox="1"/>
          <p:nvPr>
            <p:ph idx="1" type="body"/>
          </p:nvPr>
        </p:nvSpPr>
        <p:spPr>
          <a:xfrm>
            <a:off x="1710800" y="1948463"/>
            <a:ext cx="2260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300 × 0.7 = 210</a:t>
            </a:r>
            <a:endParaRPr sz="1800"/>
          </a:p>
        </p:txBody>
      </p:sp>
      <p:sp>
        <p:nvSpPr>
          <p:cNvPr id="1001" name="Google Shape;1001;p75"/>
          <p:cNvSpPr/>
          <p:nvPr/>
        </p:nvSpPr>
        <p:spPr>
          <a:xfrm>
            <a:off x="3132850" y="712047"/>
            <a:ext cx="546900" cy="546900"/>
          </a:xfrm>
          <a:prstGeom prst="ellipse">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p:txBody>
      </p:sp>
      <p:sp>
        <p:nvSpPr>
          <p:cNvPr id="1002" name="Google Shape;1002;p75"/>
          <p:cNvSpPr txBox="1"/>
          <p:nvPr>
            <p:ph idx="1" type="body"/>
          </p:nvPr>
        </p:nvSpPr>
        <p:spPr>
          <a:xfrm>
            <a:off x="2947154" y="825147"/>
            <a:ext cx="18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endParaRPr/>
          </a:p>
        </p:txBody>
      </p:sp>
      <p:sp>
        <p:nvSpPr>
          <p:cNvPr id="1003" name="Google Shape;1003;p75"/>
          <p:cNvSpPr txBox="1"/>
          <p:nvPr/>
        </p:nvSpPr>
        <p:spPr>
          <a:xfrm>
            <a:off x="910400" y="2518150"/>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a:t>
            </a:r>
            <a:r>
              <a:rPr lang="en-GB" sz="1800">
                <a:solidFill>
                  <a:srgbClr val="000000"/>
                </a:solidFill>
                <a:latin typeface="Lexend"/>
                <a:ea typeface="Lexend"/>
                <a:cs typeface="Lexend"/>
                <a:sym typeface="Lexend"/>
              </a:rPr>
              <a:t> × </a:t>
            </a: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004" name="Google Shape;1004;p75"/>
          <p:cNvSpPr txBox="1"/>
          <p:nvPr/>
        </p:nvSpPr>
        <p:spPr>
          <a:xfrm>
            <a:off x="2585350" y="2518150"/>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 </a:t>
            </a:r>
            <a:r>
              <a:rPr lang="en-GB" sz="1800">
                <a:latin typeface="Lexend"/>
                <a:ea typeface="Lexend"/>
                <a:cs typeface="Lexend"/>
                <a:sym typeface="Lexend"/>
              </a:rPr>
              <a:t>0.1</a:t>
            </a:r>
            <a:endParaRPr sz="1800">
              <a:solidFill>
                <a:srgbClr val="000000"/>
              </a:solidFill>
              <a:latin typeface="Lexend"/>
              <a:ea typeface="Lexend"/>
              <a:cs typeface="Lexend"/>
              <a:sym typeface="Lexend"/>
            </a:endParaRPr>
          </a:p>
        </p:txBody>
      </p:sp>
      <p:sp>
        <p:nvSpPr>
          <p:cNvPr id="1005" name="Google Shape;1005;p75"/>
          <p:cNvSpPr txBox="1"/>
          <p:nvPr/>
        </p:nvSpPr>
        <p:spPr>
          <a:xfrm>
            <a:off x="2130500" y="25181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006" name="Google Shape;1006;p75"/>
          <p:cNvCxnSpPr/>
          <p:nvPr/>
        </p:nvCxnSpPr>
        <p:spPr>
          <a:xfrm flipH="1">
            <a:off x="1458200" y="2222304"/>
            <a:ext cx="333900" cy="302700"/>
          </a:xfrm>
          <a:prstGeom prst="straightConnector1">
            <a:avLst/>
          </a:prstGeom>
          <a:noFill/>
          <a:ln cap="flat" cmpd="sng" w="38100">
            <a:solidFill>
              <a:srgbClr val="808080"/>
            </a:solidFill>
            <a:prstDash val="solid"/>
            <a:round/>
            <a:headEnd len="med" w="med" type="none"/>
            <a:tailEnd len="med" w="med" type="triangle"/>
          </a:ln>
        </p:spPr>
      </p:cxnSp>
      <p:cxnSp>
        <p:nvCxnSpPr>
          <p:cNvPr id="1007" name="Google Shape;1007;p75"/>
          <p:cNvCxnSpPr/>
          <p:nvPr/>
        </p:nvCxnSpPr>
        <p:spPr>
          <a:xfrm>
            <a:off x="2585350" y="2204350"/>
            <a:ext cx="350700" cy="270600"/>
          </a:xfrm>
          <a:prstGeom prst="straightConnector1">
            <a:avLst/>
          </a:prstGeom>
          <a:noFill/>
          <a:ln cap="flat" cmpd="sng" w="38100">
            <a:solidFill>
              <a:srgbClr val="808080"/>
            </a:solidFill>
            <a:prstDash val="solid"/>
            <a:round/>
            <a:headEnd len="med" w="med" type="none"/>
            <a:tailEnd len="med" w="med" type="triangle"/>
          </a:ln>
        </p:spPr>
      </p:cxnSp>
      <p:sp>
        <p:nvSpPr>
          <p:cNvPr id="1008" name="Google Shape;1008;p75"/>
          <p:cNvSpPr txBox="1"/>
          <p:nvPr/>
        </p:nvSpPr>
        <p:spPr>
          <a:xfrm>
            <a:off x="1173975" y="2834500"/>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a:t>
            </a:r>
            <a:r>
              <a:rPr lang="en-GB" sz="1800">
                <a:solidFill>
                  <a:srgbClr val="000000"/>
                </a:solidFill>
                <a:latin typeface="Lexend"/>
                <a:ea typeface="Lexend"/>
                <a:cs typeface="Lexend"/>
                <a:sym typeface="Lexend"/>
              </a:rPr>
              <a:t> × </a:t>
            </a:r>
            <a:r>
              <a:rPr lang="en-GB" sz="1800">
                <a:latin typeface="Lexend"/>
                <a:ea typeface="Lexend"/>
                <a:cs typeface="Lexend"/>
                <a:sym typeface="Lexend"/>
              </a:rPr>
              <a:t>7</a:t>
            </a:r>
            <a:endParaRPr sz="1800">
              <a:solidFill>
                <a:srgbClr val="000000"/>
              </a:solidFill>
              <a:latin typeface="Lexend"/>
              <a:ea typeface="Lexend"/>
              <a:cs typeface="Lexend"/>
              <a:sym typeface="Lexend"/>
            </a:endParaRPr>
          </a:p>
        </p:txBody>
      </p:sp>
      <p:sp>
        <p:nvSpPr>
          <p:cNvPr id="1009" name="Google Shape;1009;p75"/>
          <p:cNvSpPr txBox="1"/>
          <p:nvPr/>
        </p:nvSpPr>
        <p:spPr>
          <a:xfrm>
            <a:off x="2585350" y="2805400"/>
            <a:ext cx="133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100 × 0.1</a:t>
            </a:r>
            <a:endParaRPr sz="1800">
              <a:solidFill>
                <a:srgbClr val="000000"/>
              </a:solidFill>
              <a:latin typeface="Lexend"/>
              <a:ea typeface="Lexend"/>
              <a:cs typeface="Lexend"/>
              <a:sym typeface="Lexend"/>
            </a:endParaRPr>
          </a:p>
        </p:txBody>
      </p:sp>
      <p:sp>
        <p:nvSpPr>
          <p:cNvPr id="1010" name="Google Shape;1010;p75"/>
          <p:cNvSpPr txBox="1"/>
          <p:nvPr/>
        </p:nvSpPr>
        <p:spPr>
          <a:xfrm>
            <a:off x="2130500" y="280540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11" name="Google Shape;1011;p75"/>
          <p:cNvSpPr txBox="1"/>
          <p:nvPr/>
        </p:nvSpPr>
        <p:spPr>
          <a:xfrm>
            <a:off x="1402575" y="3179950"/>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endParaRPr sz="1800">
              <a:solidFill>
                <a:srgbClr val="000000"/>
              </a:solidFill>
              <a:latin typeface="Lexend"/>
              <a:ea typeface="Lexend"/>
              <a:cs typeface="Lexend"/>
              <a:sym typeface="Lexend"/>
            </a:endParaRPr>
          </a:p>
        </p:txBody>
      </p:sp>
      <p:sp>
        <p:nvSpPr>
          <p:cNvPr id="1012" name="Google Shape;1012;p75"/>
          <p:cNvSpPr txBox="1"/>
          <p:nvPr/>
        </p:nvSpPr>
        <p:spPr>
          <a:xfrm>
            <a:off x="2585350" y="3150850"/>
            <a:ext cx="7428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013" name="Google Shape;1013;p75"/>
          <p:cNvSpPr txBox="1"/>
          <p:nvPr/>
        </p:nvSpPr>
        <p:spPr>
          <a:xfrm>
            <a:off x="2130500" y="31508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14" name="Google Shape;1014;p75"/>
          <p:cNvSpPr txBox="1"/>
          <p:nvPr/>
        </p:nvSpPr>
        <p:spPr>
          <a:xfrm>
            <a:off x="3410525" y="3179950"/>
            <a:ext cx="11388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21</a:t>
            </a:r>
            <a:r>
              <a:rPr lang="en-GB" sz="1800">
                <a:solidFill>
                  <a:srgbClr val="000000"/>
                </a:solidFill>
                <a:latin typeface="Lexend"/>
                <a:ea typeface="Lexend"/>
                <a:cs typeface="Lexend"/>
                <a:sym typeface="Lexend"/>
              </a:rPr>
              <a:t>0</a:t>
            </a:r>
            <a:endParaRPr sz="1800">
              <a:solidFill>
                <a:srgbClr val="000000"/>
              </a:solidFill>
              <a:latin typeface="Lexend"/>
              <a:ea typeface="Lexend"/>
              <a:cs typeface="Lexend"/>
              <a:sym typeface="Lexend"/>
            </a:endParaRPr>
          </a:p>
        </p:txBody>
      </p:sp>
      <p:pic>
        <p:nvPicPr>
          <p:cNvPr id="1015" name="Google Shape;1015;p75"/>
          <p:cNvPicPr preferRelativeResize="0"/>
          <p:nvPr/>
        </p:nvPicPr>
        <p:blipFill rotWithShape="1">
          <a:blip r:embed="rId3">
            <a:alphaModFix/>
          </a:blip>
          <a:srcRect b="0" l="0" r="70143" t="56280"/>
          <a:stretch/>
        </p:blipFill>
        <p:spPr>
          <a:xfrm>
            <a:off x="4439775" y="2184975"/>
            <a:ext cx="3668577" cy="1954851"/>
          </a:xfrm>
          <a:prstGeom prst="rect">
            <a:avLst/>
          </a:prstGeom>
          <a:noFill/>
          <a:ln>
            <a:noFill/>
          </a:ln>
        </p:spPr>
      </p:pic>
      <p:pic>
        <p:nvPicPr>
          <p:cNvPr id="1016" name="Google Shape;1016;p75"/>
          <p:cNvPicPr preferRelativeResize="0"/>
          <p:nvPr/>
        </p:nvPicPr>
        <p:blipFill>
          <a:blip r:embed="rId5">
            <a:alphaModFix/>
          </a:blip>
          <a:stretch>
            <a:fillRect/>
          </a:stretch>
        </p:blipFill>
        <p:spPr>
          <a:xfrm flipH="1">
            <a:off x="7773046" y="3911062"/>
            <a:ext cx="727191" cy="909325"/>
          </a:xfrm>
          <a:prstGeom prst="rect">
            <a:avLst/>
          </a:prstGeom>
          <a:noFill/>
          <a:ln>
            <a:noFill/>
          </a:ln>
        </p:spPr>
      </p:pic>
      <p:sp>
        <p:nvSpPr>
          <p:cNvPr id="1017" name="Google Shape;1017;p75"/>
          <p:cNvSpPr txBox="1"/>
          <p:nvPr>
            <p:ph idx="1" type="body"/>
          </p:nvPr>
        </p:nvSpPr>
        <p:spPr>
          <a:xfrm>
            <a:off x="4598400" y="2483475"/>
            <a:ext cx="3364500" cy="90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 all of those × 10 and ÷ 10 function machines and all we needed to do was multiply the product of 3 and 7 by 10</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pic>
        <p:nvPicPr>
          <p:cNvPr id="1023" name="Google Shape;1023;p76"/>
          <p:cNvPicPr preferRelativeResize="0"/>
          <p:nvPr/>
        </p:nvPicPr>
        <p:blipFill rotWithShape="1">
          <a:blip r:embed="rId3">
            <a:alphaModFix/>
          </a:blip>
          <a:srcRect b="0" l="0" r="69082" t="56280"/>
          <a:stretch/>
        </p:blipFill>
        <p:spPr>
          <a:xfrm flipH="1">
            <a:off x="1340627" y="2007600"/>
            <a:ext cx="3251548" cy="2430551"/>
          </a:xfrm>
          <a:prstGeom prst="rect">
            <a:avLst/>
          </a:prstGeom>
          <a:noFill/>
          <a:ln>
            <a:noFill/>
          </a:ln>
        </p:spPr>
      </p:pic>
      <p:sp>
        <p:nvSpPr>
          <p:cNvPr id="1024" name="Google Shape;1024;p76"/>
          <p:cNvSpPr txBox="1"/>
          <p:nvPr>
            <p:ph idx="1" type="body"/>
          </p:nvPr>
        </p:nvSpPr>
        <p:spPr>
          <a:xfrm>
            <a:off x="1577650" y="2350675"/>
            <a:ext cx="2862000" cy="90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Yes they are the same.</a:t>
            </a:r>
            <a:endParaRPr sz="1800"/>
          </a:p>
          <a:p>
            <a:pPr indent="0" lvl="0" marL="0" rtl="0" algn="l">
              <a:spcBef>
                <a:spcPts val="1000"/>
              </a:spcBef>
              <a:spcAft>
                <a:spcPts val="1000"/>
              </a:spcAft>
              <a:buNone/>
            </a:pPr>
            <a:r>
              <a:rPr lang="en-GB" sz="1800"/>
              <a:t>0.1 is one tenth of 1 and when you divide by ten you are finding a tenth of something.</a:t>
            </a:r>
            <a:endParaRPr sz="1800"/>
          </a:p>
        </p:txBody>
      </p:sp>
      <p:pic>
        <p:nvPicPr>
          <p:cNvPr id="1025" name="Google Shape;1025;p76"/>
          <p:cNvPicPr preferRelativeResize="0"/>
          <p:nvPr/>
        </p:nvPicPr>
        <p:blipFill>
          <a:blip r:embed="rId4">
            <a:alphaModFix/>
          </a:blip>
          <a:stretch>
            <a:fillRect/>
          </a:stretch>
        </p:blipFill>
        <p:spPr>
          <a:xfrm>
            <a:off x="310702" y="3762477"/>
            <a:ext cx="807750" cy="1057915"/>
          </a:xfrm>
          <a:prstGeom prst="rect">
            <a:avLst/>
          </a:prstGeom>
          <a:noFill/>
          <a:ln>
            <a:noFill/>
          </a:ln>
        </p:spPr>
      </p:pic>
      <p:sp>
        <p:nvSpPr>
          <p:cNvPr id="1026" name="Google Shape;1026;p76"/>
          <p:cNvSpPr txBox="1"/>
          <p:nvPr>
            <p:ph idx="1" type="body"/>
          </p:nvPr>
        </p:nvSpPr>
        <p:spPr>
          <a:xfrm>
            <a:off x="1710800" y="729263"/>
            <a:ext cx="2260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300 × 0.7 = 210</a:t>
            </a:r>
            <a:endParaRPr sz="1800"/>
          </a:p>
        </p:txBody>
      </p:sp>
      <p:sp>
        <p:nvSpPr>
          <p:cNvPr id="1027" name="Google Shape;1027;p76"/>
          <p:cNvSpPr txBox="1"/>
          <p:nvPr/>
        </p:nvSpPr>
        <p:spPr>
          <a:xfrm>
            <a:off x="910400" y="1298950"/>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a:t>
            </a:r>
            <a:r>
              <a:rPr lang="en-GB" sz="1800">
                <a:solidFill>
                  <a:srgbClr val="000000"/>
                </a:solidFill>
                <a:latin typeface="Lexend"/>
                <a:ea typeface="Lexend"/>
                <a:cs typeface="Lexend"/>
                <a:sym typeface="Lexend"/>
              </a:rPr>
              <a:t> × </a:t>
            </a: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028" name="Google Shape;1028;p76"/>
          <p:cNvSpPr txBox="1"/>
          <p:nvPr/>
        </p:nvSpPr>
        <p:spPr>
          <a:xfrm>
            <a:off x="2585350" y="1298950"/>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 </a:t>
            </a:r>
            <a:r>
              <a:rPr lang="en-GB" sz="1800">
                <a:latin typeface="Lexend"/>
                <a:ea typeface="Lexend"/>
                <a:cs typeface="Lexend"/>
                <a:sym typeface="Lexend"/>
              </a:rPr>
              <a:t>0.1</a:t>
            </a:r>
            <a:endParaRPr sz="1800">
              <a:solidFill>
                <a:srgbClr val="000000"/>
              </a:solidFill>
              <a:latin typeface="Lexend"/>
              <a:ea typeface="Lexend"/>
              <a:cs typeface="Lexend"/>
              <a:sym typeface="Lexend"/>
            </a:endParaRPr>
          </a:p>
        </p:txBody>
      </p:sp>
      <p:sp>
        <p:nvSpPr>
          <p:cNvPr id="1029" name="Google Shape;1029;p76"/>
          <p:cNvSpPr txBox="1"/>
          <p:nvPr/>
        </p:nvSpPr>
        <p:spPr>
          <a:xfrm>
            <a:off x="2130500" y="12989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030" name="Google Shape;1030;p76"/>
          <p:cNvCxnSpPr/>
          <p:nvPr/>
        </p:nvCxnSpPr>
        <p:spPr>
          <a:xfrm flipH="1">
            <a:off x="1458200" y="1003104"/>
            <a:ext cx="333900" cy="302700"/>
          </a:xfrm>
          <a:prstGeom prst="straightConnector1">
            <a:avLst/>
          </a:prstGeom>
          <a:noFill/>
          <a:ln cap="flat" cmpd="sng" w="38100">
            <a:solidFill>
              <a:srgbClr val="808080"/>
            </a:solidFill>
            <a:prstDash val="solid"/>
            <a:round/>
            <a:headEnd len="med" w="med" type="none"/>
            <a:tailEnd len="med" w="med" type="triangle"/>
          </a:ln>
        </p:spPr>
      </p:cxnSp>
      <p:cxnSp>
        <p:nvCxnSpPr>
          <p:cNvPr id="1031" name="Google Shape;1031;p76"/>
          <p:cNvCxnSpPr/>
          <p:nvPr/>
        </p:nvCxnSpPr>
        <p:spPr>
          <a:xfrm>
            <a:off x="2585350" y="985150"/>
            <a:ext cx="350700" cy="270600"/>
          </a:xfrm>
          <a:prstGeom prst="straightConnector1">
            <a:avLst/>
          </a:prstGeom>
          <a:noFill/>
          <a:ln cap="flat" cmpd="sng" w="38100">
            <a:solidFill>
              <a:srgbClr val="808080"/>
            </a:solidFill>
            <a:prstDash val="solid"/>
            <a:round/>
            <a:headEnd len="med" w="med" type="none"/>
            <a:tailEnd len="med" w="med" type="triangle"/>
          </a:ln>
        </p:spPr>
      </p:cxnSp>
      <p:sp>
        <p:nvSpPr>
          <p:cNvPr id="1032" name="Google Shape;1032;p76"/>
          <p:cNvSpPr txBox="1"/>
          <p:nvPr/>
        </p:nvSpPr>
        <p:spPr>
          <a:xfrm>
            <a:off x="1173975" y="1615300"/>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a:t>
            </a:r>
            <a:r>
              <a:rPr lang="en-GB" sz="1800">
                <a:solidFill>
                  <a:srgbClr val="000000"/>
                </a:solidFill>
                <a:latin typeface="Lexend"/>
                <a:ea typeface="Lexend"/>
                <a:cs typeface="Lexend"/>
                <a:sym typeface="Lexend"/>
              </a:rPr>
              <a:t> × </a:t>
            </a:r>
            <a:r>
              <a:rPr lang="en-GB" sz="1800">
                <a:latin typeface="Lexend"/>
                <a:ea typeface="Lexend"/>
                <a:cs typeface="Lexend"/>
                <a:sym typeface="Lexend"/>
              </a:rPr>
              <a:t>7</a:t>
            </a:r>
            <a:endParaRPr sz="1800">
              <a:solidFill>
                <a:srgbClr val="000000"/>
              </a:solidFill>
              <a:latin typeface="Lexend"/>
              <a:ea typeface="Lexend"/>
              <a:cs typeface="Lexend"/>
              <a:sym typeface="Lexend"/>
            </a:endParaRPr>
          </a:p>
        </p:txBody>
      </p:sp>
      <p:sp>
        <p:nvSpPr>
          <p:cNvPr id="1033" name="Google Shape;1033;p76"/>
          <p:cNvSpPr txBox="1"/>
          <p:nvPr/>
        </p:nvSpPr>
        <p:spPr>
          <a:xfrm>
            <a:off x="2585350" y="1586200"/>
            <a:ext cx="133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100 × 0.1</a:t>
            </a:r>
            <a:endParaRPr sz="1800">
              <a:solidFill>
                <a:srgbClr val="000000"/>
              </a:solidFill>
              <a:latin typeface="Lexend"/>
              <a:ea typeface="Lexend"/>
              <a:cs typeface="Lexend"/>
              <a:sym typeface="Lexend"/>
            </a:endParaRPr>
          </a:p>
        </p:txBody>
      </p:sp>
      <p:sp>
        <p:nvSpPr>
          <p:cNvPr id="1034" name="Google Shape;1034;p76"/>
          <p:cNvSpPr txBox="1"/>
          <p:nvPr/>
        </p:nvSpPr>
        <p:spPr>
          <a:xfrm>
            <a:off x="2130500" y="158620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35" name="Google Shape;1035;p76"/>
          <p:cNvSpPr txBox="1"/>
          <p:nvPr/>
        </p:nvSpPr>
        <p:spPr>
          <a:xfrm>
            <a:off x="1173975" y="1960750"/>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endParaRPr sz="1800">
              <a:solidFill>
                <a:srgbClr val="000000"/>
              </a:solidFill>
              <a:latin typeface="Lexend"/>
              <a:ea typeface="Lexend"/>
              <a:cs typeface="Lexend"/>
              <a:sym typeface="Lexend"/>
            </a:endParaRPr>
          </a:p>
        </p:txBody>
      </p:sp>
      <p:sp>
        <p:nvSpPr>
          <p:cNvPr id="1036" name="Google Shape;1036;p76"/>
          <p:cNvSpPr txBox="1"/>
          <p:nvPr/>
        </p:nvSpPr>
        <p:spPr>
          <a:xfrm>
            <a:off x="2585350" y="1931650"/>
            <a:ext cx="7428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037" name="Google Shape;1037;p76"/>
          <p:cNvSpPr txBox="1"/>
          <p:nvPr/>
        </p:nvSpPr>
        <p:spPr>
          <a:xfrm>
            <a:off x="2130500" y="19316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38" name="Google Shape;1038;p76"/>
          <p:cNvSpPr txBox="1"/>
          <p:nvPr/>
        </p:nvSpPr>
        <p:spPr>
          <a:xfrm>
            <a:off x="3410525" y="1960750"/>
            <a:ext cx="11388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21</a:t>
            </a:r>
            <a:r>
              <a:rPr lang="en-GB" sz="1800">
                <a:solidFill>
                  <a:srgbClr val="000000"/>
                </a:solidFill>
                <a:latin typeface="Lexend"/>
                <a:ea typeface="Lexend"/>
                <a:cs typeface="Lexend"/>
                <a:sym typeface="Lexend"/>
              </a:rPr>
              <a:t>0</a:t>
            </a:r>
            <a:endParaRPr sz="1800">
              <a:solidFill>
                <a:srgbClr val="000000"/>
              </a:solidFill>
              <a:latin typeface="Lexend"/>
              <a:ea typeface="Lexend"/>
              <a:cs typeface="Lexend"/>
              <a:sym typeface="Lexend"/>
            </a:endParaRPr>
          </a:p>
        </p:txBody>
      </p:sp>
      <p:pic>
        <p:nvPicPr>
          <p:cNvPr id="1039" name="Google Shape;1039;p76"/>
          <p:cNvPicPr preferRelativeResize="0"/>
          <p:nvPr/>
        </p:nvPicPr>
        <p:blipFill rotWithShape="1">
          <a:blip r:embed="rId3">
            <a:alphaModFix/>
          </a:blip>
          <a:srcRect b="0" l="0" r="70143" t="56280"/>
          <a:stretch/>
        </p:blipFill>
        <p:spPr>
          <a:xfrm>
            <a:off x="5049375" y="1194375"/>
            <a:ext cx="2728699" cy="2958525"/>
          </a:xfrm>
          <a:prstGeom prst="rect">
            <a:avLst/>
          </a:prstGeom>
          <a:noFill/>
          <a:ln>
            <a:noFill/>
          </a:ln>
        </p:spPr>
      </p:pic>
      <p:pic>
        <p:nvPicPr>
          <p:cNvPr id="1040" name="Google Shape;1040;p76"/>
          <p:cNvPicPr preferRelativeResize="0"/>
          <p:nvPr/>
        </p:nvPicPr>
        <p:blipFill>
          <a:blip r:embed="rId5">
            <a:alphaModFix/>
          </a:blip>
          <a:stretch>
            <a:fillRect/>
          </a:stretch>
        </p:blipFill>
        <p:spPr>
          <a:xfrm flipH="1">
            <a:off x="7773046" y="3911062"/>
            <a:ext cx="727191" cy="909325"/>
          </a:xfrm>
          <a:prstGeom prst="rect">
            <a:avLst/>
          </a:prstGeom>
          <a:noFill/>
          <a:ln>
            <a:noFill/>
          </a:ln>
        </p:spPr>
      </p:pic>
      <p:sp>
        <p:nvSpPr>
          <p:cNvPr id="1041" name="Google Shape;1041;p76"/>
          <p:cNvSpPr txBox="1"/>
          <p:nvPr>
            <p:ph idx="1" type="body"/>
          </p:nvPr>
        </p:nvSpPr>
        <p:spPr>
          <a:xfrm>
            <a:off x="5208000" y="1492875"/>
            <a:ext cx="2373000" cy="90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I’ve also noticed that 7 × 0.1 = 0.7 and</a:t>
            </a:r>
            <a:endParaRPr sz="1800"/>
          </a:p>
          <a:p>
            <a:pPr indent="0" lvl="0" marL="0" rtl="0" algn="l">
              <a:spcBef>
                <a:spcPts val="1000"/>
              </a:spcBef>
              <a:spcAft>
                <a:spcPts val="0"/>
              </a:spcAft>
              <a:buNone/>
            </a:pPr>
            <a:r>
              <a:rPr lang="en-GB" sz="1800"/>
              <a:t>7 ÷ 10 = 0.7</a:t>
            </a:r>
            <a:endParaRPr sz="1800"/>
          </a:p>
          <a:p>
            <a:pPr indent="0" lvl="0" marL="0" rtl="0" algn="l">
              <a:spcBef>
                <a:spcPts val="1000"/>
              </a:spcBef>
              <a:spcAft>
                <a:spcPts val="1000"/>
              </a:spcAft>
              <a:buNone/>
            </a:pPr>
            <a:r>
              <a:rPr lang="en-GB" sz="1800"/>
              <a:t>so, does that mean that × 0.1 is the same as ÷ 10?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047" name="Google Shape;1047;p77"/>
          <p:cNvSpPr txBox="1"/>
          <p:nvPr/>
        </p:nvSpPr>
        <p:spPr>
          <a:xfrm>
            <a:off x="324000" y="788000"/>
            <a:ext cx="8496000" cy="83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Is the product of 0.00007  and 30 000 less than, greater than or equal to 21?  </a:t>
            </a:r>
            <a:endParaRPr sz="2200">
              <a:latin typeface="Lexend"/>
              <a:ea typeface="Lexend"/>
              <a:cs typeface="Lexend"/>
              <a:sym typeface="Lexend"/>
            </a:endParaRPr>
          </a:p>
        </p:txBody>
      </p:sp>
      <p:sp>
        <p:nvSpPr>
          <p:cNvPr id="1048" name="Google Shape;1048;p77"/>
          <p:cNvSpPr txBox="1"/>
          <p:nvPr/>
        </p:nvSpPr>
        <p:spPr>
          <a:xfrm>
            <a:off x="324000" y="2199375"/>
            <a:ext cx="5338200" cy="3723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0.00007  is 100 000 times less than 7</a:t>
            </a:r>
            <a:endParaRPr sz="2200">
              <a:latin typeface="Lexend"/>
              <a:ea typeface="Lexend"/>
              <a:cs typeface="Lexend"/>
              <a:sym typeface="Lexend"/>
            </a:endParaRPr>
          </a:p>
        </p:txBody>
      </p:sp>
      <p:sp>
        <p:nvSpPr>
          <p:cNvPr id="1049" name="Google Shape;1049;p77"/>
          <p:cNvSpPr txBox="1"/>
          <p:nvPr/>
        </p:nvSpPr>
        <p:spPr>
          <a:xfrm>
            <a:off x="324000" y="2700000"/>
            <a:ext cx="5338200" cy="3723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30 000</a:t>
            </a:r>
            <a:r>
              <a:rPr lang="en-GB" sz="2200">
                <a:latin typeface="Lexend"/>
                <a:ea typeface="Lexend"/>
                <a:cs typeface="Lexend"/>
                <a:sym typeface="Lexend"/>
              </a:rPr>
              <a:t>  is 10 000 times greater than 3</a:t>
            </a:r>
            <a:endParaRPr sz="2200">
              <a:latin typeface="Lexend"/>
              <a:ea typeface="Lexend"/>
              <a:cs typeface="Lexend"/>
              <a:sym typeface="Lexend"/>
            </a:endParaRPr>
          </a:p>
        </p:txBody>
      </p:sp>
      <p:sp>
        <p:nvSpPr>
          <p:cNvPr id="1050" name="Google Shape;1050;p77"/>
          <p:cNvSpPr txBox="1"/>
          <p:nvPr/>
        </p:nvSpPr>
        <p:spPr>
          <a:xfrm>
            <a:off x="324000" y="3407700"/>
            <a:ext cx="8496000" cy="777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Since 30 000 is only 10 000 times larger than 3, the product will be less </a:t>
            </a:r>
            <a:r>
              <a:rPr lang="en-GB" sz="2200">
                <a:latin typeface="Lexend"/>
                <a:ea typeface="Lexend"/>
                <a:cs typeface="Lexend"/>
                <a:sym typeface="Lexend"/>
              </a:rPr>
              <a:t>than</a:t>
            </a:r>
            <a:r>
              <a:rPr lang="en-GB" sz="2200">
                <a:latin typeface="Lexend"/>
                <a:ea typeface="Lexend"/>
                <a:cs typeface="Lexend"/>
                <a:sym typeface="Lexend"/>
              </a:rPr>
              <a:t> 21.</a:t>
            </a:r>
            <a:endParaRPr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78"/>
          <p:cNvSpPr txBox="1"/>
          <p:nvPr>
            <p:ph idx="1" type="subTitle"/>
          </p:nvPr>
        </p:nvSpPr>
        <p:spPr>
          <a:xfrm>
            <a:off x="980575" y="3196125"/>
            <a:ext cx="67785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0</a:t>
            </a:r>
            <a:r>
              <a:rPr lang="en-GB"/>
              <a:t>.0000007 is 10 000 000 times smaller than 7 and 3 000 000 is 1 000 000 times larger than 3 </a:t>
            </a:r>
            <a:endParaRPr/>
          </a:p>
        </p:txBody>
      </p:sp>
      <p:sp>
        <p:nvSpPr>
          <p:cNvPr id="1056" name="Google Shape;1056;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057" name="Google Shape;1057;p78"/>
          <p:cNvSpPr txBox="1"/>
          <p:nvPr>
            <p:ph idx="2" type="subTitle"/>
          </p:nvPr>
        </p:nvSpPr>
        <p:spPr>
          <a:xfrm>
            <a:off x="324000" y="1080000"/>
            <a:ext cx="7564500" cy="25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a:t>
            </a:r>
            <a:r>
              <a:rPr lang="en-GB"/>
              <a:t>product</a:t>
            </a:r>
            <a:r>
              <a:rPr lang="en-GB"/>
              <a:t> of 0.0000007 and 3 000 000 is equal to 2.1</a:t>
            </a:r>
            <a:endParaRPr/>
          </a:p>
        </p:txBody>
      </p:sp>
      <p:sp>
        <p:nvSpPr>
          <p:cNvPr id="1058" name="Google Shape;1058;p78"/>
          <p:cNvSpPr txBox="1"/>
          <p:nvPr>
            <p:ph idx="3" type="subTitle"/>
          </p:nvPr>
        </p:nvSpPr>
        <p:spPr>
          <a:xfrm>
            <a:off x="980575" y="4040350"/>
            <a:ext cx="6545400" cy="730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0.0000007 is 1 000 000 times smaller than 7 and 3 000 000 is 1 000 000 times larger than 3 </a:t>
            </a:r>
            <a:endParaRPr/>
          </a:p>
        </p:txBody>
      </p:sp>
      <p:pic>
        <p:nvPicPr>
          <p:cNvPr id="1059" name="Google Shape;1059;p78"/>
          <p:cNvPicPr preferRelativeResize="0"/>
          <p:nvPr/>
        </p:nvPicPr>
        <p:blipFill>
          <a:blip r:embed="rId3">
            <a:alphaModFix/>
          </a:blip>
          <a:stretch>
            <a:fillRect/>
          </a:stretch>
        </p:blipFill>
        <p:spPr>
          <a:xfrm>
            <a:off x="3880808" y="1740900"/>
            <a:ext cx="396000" cy="419100"/>
          </a:xfrm>
          <a:prstGeom prst="rect">
            <a:avLst/>
          </a:prstGeom>
          <a:noFill/>
          <a:ln>
            <a:noFill/>
          </a:ln>
        </p:spPr>
      </p:pic>
      <p:pic>
        <p:nvPicPr>
          <p:cNvPr id="1060" name="Google Shape;1060;p78"/>
          <p:cNvPicPr preferRelativeResize="0"/>
          <p:nvPr/>
        </p:nvPicPr>
        <p:blipFill>
          <a:blip r:embed="rId3">
            <a:alphaModFix/>
          </a:blip>
          <a:stretch>
            <a:fillRect/>
          </a:stretch>
        </p:blipFill>
        <p:spPr>
          <a:xfrm>
            <a:off x="6760383" y="35078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79"/>
          <p:cNvSpPr txBox="1"/>
          <p:nvPr>
            <p:ph idx="1" type="body"/>
          </p:nvPr>
        </p:nvSpPr>
        <p:spPr>
          <a:xfrm>
            <a:off x="324000" y="651467"/>
            <a:ext cx="1360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 × 6 = 24</a:t>
            </a:r>
            <a:endParaRPr/>
          </a:p>
        </p:txBody>
      </p:sp>
      <p:sp>
        <p:nvSpPr>
          <p:cNvPr id="1066" name="Google Shape;1066;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067" name="Google Shape;1067;p79"/>
          <p:cNvSpPr txBox="1"/>
          <p:nvPr>
            <p:ph idx="1" type="body"/>
          </p:nvPr>
        </p:nvSpPr>
        <p:spPr>
          <a:xfrm>
            <a:off x="324000" y="1010400"/>
            <a:ext cx="8496000" cy="72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Write products using the digits 0, 4 and 6 into the correct group.</a:t>
            </a:r>
            <a:endParaRPr/>
          </a:p>
        </p:txBody>
      </p:sp>
      <p:sp>
        <p:nvSpPr>
          <p:cNvPr id="1068" name="Google Shape;1068;p79"/>
          <p:cNvSpPr/>
          <p:nvPr/>
        </p:nvSpPr>
        <p:spPr>
          <a:xfrm>
            <a:off x="341025" y="2383425"/>
            <a:ext cx="2595900" cy="1999200"/>
          </a:xfrm>
          <a:prstGeom prst="rect">
            <a:avLst/>
          </a:prstGeom>
          <a:noFill/>
          <a:ln cap="flat" cmpd="sng" w="38100">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Less than 24</a:t>
            </a:r>
            <a:endParaRPr sz="2200">
              <a:latin typeface="Lexend"/>
              <a:ea typeface="Lexend"/>
              <a:cs typeface="Lexend"/>
              <a:sym typeface="Lexend"/>
            </a:endParaRPr>
          </a:p>
        </p:txBody>
      </p:sp>
      <p:sp>
        <p:nvSpPr>
          <p:cNvPr id="1069" name="Google Shape;1069;p79"/>
          <p:cNvSpPr/>
          <p:nvPr/>
        </p:nvSpPr>
        <p:spPr>
          <a:xfrm>
            <a:off x="3110174" y="2383425"/>
            <a:ext cx="2595900" cy="1999200"/>
          </a:xfrm>
          <a:prstGeom prst="rect">
            <a:avLst/>
          </a:prstGeom>
          <a:noFill/>
          <a:ln cap="flat" cmpd="sng" w="38100">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Equal to 24</a:t>
            </a:r>
            <a:endParaRPr sz="2200">
              <a:latin typeface="Lexend"/>
              <a:ea typeface="Lexend"/>
              <a:cs typeface="Lexend"/>
              <a:sym typeface="Lexend"/>
            </a:endParaRPr>
          </a:p>
        </p:txBody>
      </p:sp>
      <p:sp>
        <p:nvSpPr>
          <p:cNvPr id="1070" name="Google Shape;1070;p79"/>
          <p:cNvSpPr/>
          <p:nvPr/>
        </p:nvSpPr>
        <p:spPr>
          <a:xfrm>
            <a:off x="5879326" y="2383425"/>
            <a:ext cx="2595900" cy="1999200"/>
          </a:xfrm>
          <a:prstGeom prst="rect">
            <a:avLst/>
          </a:prstGeom>
          <a:noFill/>
          <a:ln cap="flat" cmpd="sng" w="38100">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Larger than 24</a:t>
            </a:r>
            <a:endParaRPr sz="2200">
              <a:latin typeface="Lexend"/>
              <a:ea typeface="Lexend"/>
              <a:cs typeface="Lexend"/>
              <a:sym typeface="Lexend"/>
            </a:endParaRPr>
          </a:p>
        </p:txBody>
      </p:sp>
      <p:sp>
        <p:nvSpPr>
          <p:cNvPr id="1071" name="Google Shape;1071;p79"/>
          <p:cNvSpPr txBox="1"/>
          <p:nvPr>
            <p:ph idx="1" type="body"/>
          </p:nvPr>
        </p:nvSpPr>
        <p:spPr>
          <a:xfrm>
            <a:off x="324000" y="1899425"/>
            <a:ext cx="197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a:t>
            </a:r>
            <a:r>
              <a:rPr lang="en-GB" sz="1800"/>
              <a:t>4 × 60 = 24</a:t>
            </a:r>
            <a:endParaRPr sz="1800"/>
          </a:p>
        </p:txBody>
      </p:sp>
      <p:sp>
        <p:nvSpPr>
          <p:cNvPr id="1072" name="Google Shape;1072;p79"/>
          <p:cNvSpPr txBox="1"/>
          <p:nvPr>
            <p:ph idx="1" type="body"/>
          </p:nvPr>
        </p:nvSpPr>
        <p:spPr>
          <a:xfrm>
            <a:off x="3110175" y="3028950"/>
            <a:ext cx="25959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0.4 × 60 = 24</a:t>
            </a:r>
            <a:endParaRPr sz="1800"/>
          </a:p>
        </p:txBody>
      </p:sp>
      <p:sp>
        <p:nvSpPr>
          <p:cNvPr id="1073" name="Google Shape;1073;p79"/>
          <p:cNvSpPr txBox="1"/>
          <p:nvPr>
            <p:ph idx="1" type="body"/>
          </p:nvPr>
        </p:nvSpPr>
        <p:spPr>
          <a:xfrm>
            <a:off x="324000" y="1899425"/>
            <a:ext cx="2382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0.04 × 6000 = 24</a:t>
            </a:r>
            <a:endParaRPr sz="1800"/>
          </a:p>
        </p:txBody>
      </p:sp>
      <p:sp>
        <p:nvSpPr>
          <p:cNvPr id="1074" name="Google Shape;1074;p79"/>
          <p:cNvSpPr txBox="1"/>
          <p:nvPr>
            <p:ph idx="1" type="body"/>
          </p:nvPr>
        </p:nvSpPr>
        <p:spPr>
          <a:xfrm>
            <a:off x="5891325" y="3028950"/>
            <a:ext cx="25821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0.04 × 6000 = 240</a:t>
            </a:r>
            <a:endParaRPr sz="1800"/>
          </a:p>
        </p:txBody>
      </p:sp>
      <p:sp>
        <p:nvSpPr>
          <p:cNvPr id="1075" name="Google Shape;1075;p79"/>
          <p:cNvSpPr txBox="1"/>
          <p:nvPr>
            <p:ph idx="1" type="body"/>
          </p:nvPr>
        </p:nvSpPr>
        <p:spPr>
          <a:xfrm>
            <a:off x="324000" y="1899425"/>
            <a:ext cx="2976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0.00004 × 60 000 = 24</a:t>
            </a:r>
            <a:endParaRPr sz="1800"/>
          </a:p>
        </p:txBody>
      </p:sp>
      <p:sp>
        <p:nvSpPr>
          <p:cNvPr id="1076" name="Google Shape;1076;p79"/>
          <p:cNvSpPr txBox="1"/>
          <p:nvPr>
            <p:ph idx="1" type="body"/>
          </p:nvPr>
        </p:nvSpPr>
        <p:spPr>
          <a:xfrm>
            <a:off x="341150" y="3028950"/>
            <a:ext cx="25959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0.00004 × 60 000 = 2.4</a:t>
            </a:r>
            <a:endParaRPr sz="1800"/>
          </a:p>
        </p:txBody>
      </p:sp>
      <p:sp>
        <p:nvSpPr>
          <p:cNvPr id="1077" name="Google Shape;1077;p79"/>
          <p:cNvSpPr txBox="1"/>
          <p:nvPr>
            <p:ph idx="1" type="body"/>
          </p:nvPr>
        </p:nvSpPr>
        <p:spPr>
          <a:xfrm>
            <a:off x="324000" y="1899425"/>
            <a:ext cx="2464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0.0004 × 600 000 = 24</a:t>
            </a:r>
            <a:endParaRPr sz="1800"/>
          </a:p>
        </p:txBody>
      </p:sp>
      <p:sp>
        <p:nvSpPr>
          <p:cNvPr id="1078" name="Google Shape;1078;p79"/>
          <p:cNvSpPr txBox="1"/>
          <p:nvPr>
            <p:ph idx="1" type="body"/>
          </p:nvPr>
        </p:nvSpPr>
        <p:spPr>
          <a:xfrm>
            <a:off x="5891475" y="3404700"/>
            <a:ext cx="25821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0.0004 × 600 000 = 240</a:t>
            </a:r>
            <a:endParaRPr sz="1800"/>
          </a:p>
        </p:txBody>
      </p:sp>
      <p:sp>
        <p:nvSpPr>
          <p:cNvPr id="1079" name="Google Shape;1079;p79"/>
          <p:cNvSpPr txBox="1"/>
          <p:nvPr>
            <p:ph idx="1" type="body"/>
          </p:nvPr>
        </p:nvSpPr>
        <p:spPr>
          <a:xfrm>
            <a:off x="324000" y="1899425"/>
            <a:ext cx="1938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0.004 × 6000 = 24</a:t>
            </a:r>
            <a:endParaRPr sz="1800"/>
          </a:p>
        </p:txBody>
      </p:sp>
      <p:sp>
        <p:nvSpPr>
          <p:cNvPr id="1080" name="Google Shape;1080;p79"/>
          <p:cNvSpPr txBox="1"/>
          <p:nvPr>
            <p:ph idx="1" type="body"/>
          </p:nvPr>
        </p:nvSpPr>
        <p:spPr>
          <a:xfrm>
            <a:off x="3123813" y="3404700"/>
            <a:ext cx="25821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0.004 × 6000 = 24</a:t>
            </a:r>
            <a:endParaRPr sz="1800"/>
          </a:p>
        </p:txBody>
      </p:sp>
      <p:sp>
        <p:nvSpPr>
          <p:cNvPr id="1081" name="Google Shape;1081;p79"/>
          <p:cNvSpPr txBox="1"/>
          <p:nvPr>
            <p:ph idx="1" type="body"/>
          </p:nvPr>
        </p:nvSpPr>
        <p:spPr>
          <a:xfrm>
            <a:off x="324000" y="1899425"/>
            <a:ext cx="2464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0.0004 × 60 000 = 24</a:t>
            </a:r>
            <a:endParaRPr sz="1800"/>
          </a:p>
        </p:txBody>
      </p:sp>
      <p:sp>
        <p:nvSpPr>
          <p:cNvPr id="1082" name="Google Shape;1082;p79"/>
          <p:cNvSpPr txBox="1"/>
          <p:nvPr>
            <p:ph idx="1" type="body"/>
          </p:nvPr>
        </p:nvSpPr>
        <p:spPr>
          <a:xfrm>
            <a:off x="3123825" y="3844500"/>
            <a:ext cx="25821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0.0004 × 60 000 = 24</a:t>
            </a:r>
            <a:endParaRPr sz="1800"/>
          </a:p>
        </p:txBody>
      </p:sp>
      <p:sp>
        <p:nvSpPr>
          <p:cNvPr id="1083" name="Google Shape;1083;p79"/>
          <p:cNvSpPr txBox="1"/>
          <p:nvPr>
            <p:ph idx="1" type="body"/>
          </p:nvPr>
        </p:nvSpPr>
        <p:spPr>
          <a:xfrm>
            <a:off x="324000" y="1899425"/>
            <a:ext cx="2126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0.0004 × 6000 = 24</a:t>
            </a:r>
            <a:endParaRPr sz="1800"/>
          </a:p>
        </p:txBody>
      </p:sp>
      <p:sp>
        <p:nvSpPr>
          <p:cNvPr id="1084" name="Google Shape;1084;p79"/>
          <p:cNvSpPr txBox="1"/>
          <p:nvPr>
            <p:ph idx="1" type="body"/>
          </p:nvPr>
        </p:nvSpPr>
        <p:spPr>
          <a:xfrm>
            <a:off x="341000" y="3404700"/>
            <a:ext cx="25959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0.0004 × 6000 = 2.4</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7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8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60 000 has 4 zeros and 0.0004 only has 3 zeros after the decimal point.</a:t>
            </a:r>
            <a:endParaRPr/>
          </a:p>
        </p:txBody>
      </p:sp>
      <p:sp>
        <p:nvSpPr>
          <p:cNvPr id="1090" name="Google Shape;109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091" name="Google Shape;1091;p80"/>
          <p:cNvSpPr txBox="1"/>
          <p:nvPr>
            <p:ph idx="2" type="subTitle"/>
          </p:nvPr>
        </p:nvSpPr>
        <p:spPr>
          <a:xfrm>
            <a:off x="324000" y="1080000"/>
            <a:ext cx="7590000" cy="250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The product of 0.0004 and 60 000 is larger than 24.</a:t>
            </a:r>
            <a:endParaRPr/>
          </a:p>
        </p:txBody>
      </p:sp>
      <p:sp>
        <p:nvSpPr>
          <p:cNvPr id="1092" name="Google Shape;1092;p80"/>
          <p:cNvSpPr txBox="1"/>
          <p:nvPr>
            <p:ph idx="3" type="subTitle"/>
          </p:nvPr>
        </p:nvSpPr>
        <p:spPr>
          <a:xfrm>
            <a:off x="980575" y="4040350"/>
            <a:ext cx="68172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60 000 is 10 000 times larger than 6 and 0.0004 is 10 000 </a:t>
            </a:r>
            <a:r>
              <a:rPr lang="en-GB"/>
              <a:t>times </a:t>
            </a:r>
            <a:r>
              <a:rPr lang="en-GB"/>
              <a:t>smaller than 4.</a:t>
            </a:r>
            <a:endParaRPr/>
          </a:p>
        </p:txBody>
      </p:sp>
      <p:pic>
        <p:nvPicPr>
          <p:cNvPr id="1093" name="Google Shape;1093;p80"/>
          <p:cNvPicPr preferRelativeResize="0"/>
          <p:nvPr/>
        </p:nvPicPr>
        <p:blipFill>
          <a:blip r:embed="rId3">
            <a:alphaModFix/>
          </a:blip>
          <a:stretch>
            <a:fillRect/>
          </a:stretch>
        </p:blipFill>
        <p:spPr>
          <a:xfrm>
            <a:off x="6297558" y="1740900"/>
            <a:ext cx="396000" cy="419100"/>
          </a:xfrm>
          <a:prstGeom prst="rect">
            <a:avLst/>
          </a:prstGeom>
          <a:noFill/>
          <a:ln>
            <a:noFill/>
          </a:ln>
        </p:spPr>
      </p:pic>
      <p:pic>
        <p:nvPicPr>
          <p:cNvPr id="1094" name="Google Shape;1094;p80"/>
          <p:cNvPicPr preferRelativeResize="0"/>
          <p:nvPr/>
        </p:nvPicPr>
        <p:blipFill>
          <a:blip r:embed="rId3">
            <a:alphaModFix/>
          </a:blip>
          <a:stretch>
            <a:fillRect/>
          </a:stretch>
        </p:blipFill>
        <p:spPr>
          <a:xfrm>
            <a:off x="4855808" y="44013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pic>
        <p:nvPicPr>
          <p:cNvPr id="1099" name="Google Shape;1099;p81"/>
          <p:cNvPicPr preferRelativeResize="0"/>
          <p:nvPr/>
        </p:nvPicPr>
        <p:blipFill rotWithShape="1">
          <a:blip r:embed="rId3">
            <a:alphaModFix/>
          </a:blip>
          <a:srcRect b="0" l="0" r="70143" t="56280"/>
          <a:stretch/>
        </p:blipFill>
        <p:spPr>
          <a:xfrm>
            <a:off x="5277975" y="2421427"/>
            <a:ext cx="2257423" cy="1156323"/>
          </a:xfrm>
          <a:prstGeom prst="rect">
            <a:avLst/>
          </a:prstGeom>
          <a:noFill/>
          <a:ln>
            <a:noFill/>
          </a:ln>
        </p:spPr>
      </p:pic>
      <p:pic>
        <p:nvPicPr>
          <p:cNvPr id="1100" name="Google Shape;1100;p81"/>
          <p:cNvPicPr preferRelativeResize="0"/>
          <p:nvPr/>
        </p:nvPicPr>
        <p:blipFill rotWithShape="1">
          <a:blip r:embed="rId3">
            <a:alphaModFix/>
          </a:blip>
          <a:srcRect b="0" l="0" r="69082" t="56280"/>
          <a:stretch/>
        </p:blipFill>
        <p:spPr>
          <a:xfrm flipH="1">
            <a:off x="1655527" y="2387825"/>
            <a:ext cx="2228372" cy="1156323"/>
          </a:xfrm>
          <a:prstGeom prst="rect">
            <a:avLst/>
          </a:prstGeom>
          <a:noFill/>
          <a:ln>
            <a:noFill/>
          </a:ln>
        </p:spPr>
      </p:pic>
      <p:sp>
        <p:nvSpPr>
          <p:cNvPr id="1101" name="Google Shape;1101;p81"/>
          <p:cNvSpPr txBox="1"/>
          <p:nvPr>
            <p:ph idx="1" type="body"/>
          </p:nvPr>
        </p:nvSpPr>
        <p:spPr>
          <a:xfrm>
            <a:off x="324000" y="606900"/>
            <a:ext cx="8237700" cy="162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Laura and Jun are working on this problem.</a:t>
            </a:r>
            <a:endParaRPr sz="2000"/>
          </a:p>
          <a:p>
            <a:pPr indent="0" lvl="0" marL="0" rtl="0" algn="l">
              <a:spcBef>
                <a:spcPts val="1000"/>
              </a:spcBef>
              <a:spcAft>
                <a:spcPts val="0"/>
              </a:spcAft>
              <a:buNone/>
            </a:pPr>
            <a:r>
              <a:rPr lang="en-GB" sz="2000"/>
              <a:t>The decimal point or points have fallen out of this calculation.</a:t>
            </a:r>
            <a:endParaRPr sz="2000"/>
          </a:p>
          <a:p>
            <a:pPr indent="0" lvl="0" marL="0" rtl="0" algn="l">
              <a:spcBef>
                <a:spcPts val="1000"/>
              </a:spcBef>
              <a:spcAft>
                <a:spcPts val="1000"/>
              </a:spcAft>
              <a:buNone/>
            </a:pPr>
            <a:r>
              <a:rPr lang="en-GB" sz="2000"/>
              <a:t>The answer is correct, so where should the decimal point or points be in the question?</a:t>
            </a:r>
            <a:endParaRPr sz="2000"/>
          </a:p>
        </p:txBody>
      </p:sp>
      <p:sp>
        <p:nvSpPr>
          <p:cNvPr id="1102" name="Google Shape;1102;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103" name="Google Shape;1103;p81"/>
          <p:cNvSpPr txBox="1"/>
          <p:nvPr>
            <p:ph idx="1" type="body"/>
          </p:nvPr>
        </p:nvSpPr>
        <p:spPr>
          <a:xfrm>
            <a:off x="3560700" y="2155350"/>
            <a:ext cx="2022600" cy="34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24 × 79 = 189.6</a:t>
            </a:r>
            <a:endParaRPr sz="2000"/>
          </a:p>
        </p:txBody>
      </p:sp>
      <p:pic>
        <p:nvPicPr>
          <p:cNvPr id="1104" name="Google Shape;1104;p81"/>
          <p:cNvPicPr preferRelativeResize="0"/>
          <p:nvPr/>
        </p:nvPicPr>
        <p:blipFill>
          <a:blip r:embed="rId4">
            <a:alphaModFix/>
          </a:blip>
          <a:stretch>
            <a:fillRect/>
          </a:stretch>
        </p:blipFill>
        <p:spPr>
          <a:xfrm flipH="1">
            <a:off x="7684471" y="2865612"/>
            <a:ext cx="727191" cy="909325"/>
          </a:xfrm>
          <a:prstGeom prst="rect">
            <a:avLst/>
          </a:prstGeom>
          <a:noFill/>
          <a:ln>
            <a:noFill/>
          </a:ln>
        </p:spPr>
      </p:pic>
      <p:pic>
        <p:nvPicPr>
          <p:cNvPr id="1105" name="Google Shape;1105;p81"/>
          <p:cNvPicPr preferRelativeResize="0"/>
          <p:nvPr/>
        </p:nvPicPr>
        <p:blipFill>
          <a:blip r:embed="rId5">
            <a:alphaModFix/>
          </a:blip>
          <a:stretch>
            <a:fillRect/>
          </a:stretch>
        </p:blipFill>
        <p:spPr>
          <a:xfrm>
            <a:off x="400127" y="2706502"/>
            <a:ext cx="807750" cy="1057915"/>
          </a:xfrm>
          <a:prstGeom prst="rect">
            <a:avLst/>
          </a:prstGeom>
          <a:noFill/>
          <a:ln>
            <a:noFill/>
          </a:ln>
        </p:spPr>
      </p:pic>
      <p:sp>
        <p:nvSpPr>
          <p:cNvPr id="1106" name="Google Shape;1106;p81"/>
          <p:cNvSpPr txBox="1"/>
          <p:nvPr>
            <p:ph idx="1" type="body"/>
          </p:nvPr>
        </p:nvSpPr>
        <p:spPr>
          <a:xfrm>
            <a:off x="1821825" y="2508506"/>
            <a:ext cx="2022600" cy="90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It must be</a:t>
            </a:r>
            <a:endParaRPr sz="2000"/>
          </a:p>
          <a:p>
            <a:pPr indent="0" lvl="0" marL="0" rtl="0" algn="l">
              <a:spcBef>
                <a:spcPts val="1000"/>
              </a:spcBef>
              <a:spcAft>
                <a:spcPts val="1000"/>
              </a:spcAft>
              <a:buNone/>
            </a:pPr>
            <a:r>
              <a:rPr lang="en-GB" sz="2000"/>
              <a:t>2.4 × 79 = 189.6</a:t>
            </a:r>
            <a:endParaRPr sz="2000"/>
          </a:p>
        </p:txBody>
      </p:sp>
      <p:sp>
        <p:nvSpPr>
          <p:cNvPr id="1107" name="Google Shape;1107;p81"/>
          <p:cNvSpPr txBox="1"/>
          <p:nvPr>
            <p:ph idx="1" type="body"/>
          </p:nvPr>
        </p:nvSpPr>
        <p:spPr>
          <a:xfrm>
            <a:off x="5436600" y="2559675"/>
            <a:ext cx="2022600" cy="90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It must be</a:t>
            </a:r>
            <a:endParaRPr sz="2000"/>
          </a:p>
          <a:p>
            <a:pPr indent="0" lvl="0" marL="0" rtl="0" algn="l">
              <a:spcBef>
                <a:spcPts val="1000"/>
              </a:spcBef>
              <a:spcAft>
                <a:spcPts val="1000"/>
              </a:spcAft>
              <a:buNone/>
            </a:pPr>
            <a:r>
              <a:rPr lang="en-GB" sz="2000"/>
              <a:t>24 × 7.9 = 189.6</a:t>
            </a:r>
            <a:endParaRPr sz="2000"/>
          </a:p>
        </p:txBody>
      </p:sp>
      <p:sp>
        <p:nvSpPr>
          <p:cNvPr id="1108" name="Google Shape;1108;p81"/>
          <p:cNvSpPr txBox="1"/>
          <p:nvPr>
            <p:ph idx="1" type="body"/>
          </p:nvPr>
        </p:nvSpPr>
        <p:spPr>
          <a:xfrm>
            <a:off x="324000" y="3755859"/>
            <a:ext cx="3520500" cy="34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Can they both be right?</a:t>
            </a:r>
            <a:endParaRPr sz="2000"/>
          </a:p>
        </p:txBody>
      </p:sp>
      <p:sp>
        <p:nvSpPr>
          <p:cNvPr id="1109" name="Google Shape;1109;p81"/>
          <p:cNvSpPr txBox="1"/>
          <p:nvPr>
            <p:ph idx="1" type="body"/>
          </p:nvPr>
        </p:nvSpPr>
        <p:spPr>
          <a:xfrm>
            <a:off x="324000" y="4213059"/>
            <a:ext cx="8127600" cy="34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Yes they can. Laura has made 24 ten times smaller and Jun has made 79 ten </a:t>
            </a:r>
            <a:r>
              <a:rPr lang="en-GB" sz="2000">
                <a:latin typeface="Kalam"/>
                <a:ea typeface="Kalam"/>
                <a:cs typeface="Kalam"/>
                <a:sym typeface="Kalam"/>
              </a:rPr>
              <a:t>times smaller.</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pic>
        <p:nvPicPr>
          <p:cNvPr id="1114" name="Google Shape;1114;p82"/>
          <p:cNvPicPr preferRelativeResize="0"/>
          <p:nvPr/>
        </p:nvPicPr>
        <p:blipFill rotWithShape="1">
          <a:blip r:embed="rId3">
            <a:alphaModFix/>
          </a:blip>
          <a:srcRect b="0" l="0" r="70143" t="56280"/>
          <a:stretch/>
        </p:blipFill>
        <p:spPr>
          <a:xfrm>
            <a:off x="5277975" y="787625"/>
            <a:ext cx="2257423" cy="2948576"/>
          </a:xfrm>
          <a:prstGeom prst="rect">
            <a:avLst/>
          </a:prstGeom>
          <a:noFill/>
          <a:ln>
            <a:noFill/>
          </a:ln>
        </p:spPr>
      </p:pic>
      <p:pic>
        <p:nvPicPr>
          <p:cNvPr id="1115" name="Google Shape;1115;p82"/>
          <p:cNvPicPr preferRelativeResize="0"/>
          <p:nvPr/>
        </p:nvPicPr>
        <p:blipFill rotWithShape="1">
          <a:blip r:embed="rId3">
            <a:alphaModFix/>
          </a:blip>
          <a:srcRect b="0" l="0" r="69082" t="56280"/>
          <a:stretch/>
        </p:blipFill>
        <p:spPr>
          <a:xfrm flipH="1">
            <a:off x="1655527" y="1321025"/>
            <a:ext cx="2228372" cy="1156323"/>
          </a:xfrm>
          <a:prstGeom prst="rect">
            <a:avLst/>
          </a:prstGeom>
          <a:noFill/>
          <a:ln>
            <a:noFill/>
          </a:ln>
        </p:spPr>
      </p:pic>
      <p:sp>
        <p:nvSpPr>
          <p:cNvPr id="1116" name="Google Shape;1116;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117" name="Google Shape;1117;p82"/>
          <p:cNvSpPr txBox="1"/>
          <p:nvPr>
            <p:ph idx="1" type="body"/>
          </p:nvPr>
        </p:nvSpPr>
        <p:spPr>
          <a:xfrm>
            <a:off x="3560700" y="783750"/>
            <a:ext cx="2022600" cy="34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24 × 79 = 18.96</a:t>
            </a:r>
            <a:endParaRPr sz="2000"/>
          </a:p>
        </p:txBody>
      </p:sp>
      <p:pic>
        <p:nvPicPr>
          <p:cNvPr id="1118" name="Google Shape;1118;p82"/>
          <p:cNvPicPr preferRelativeResize="0"/>
          <p:nvPr/>
        </p:nvPicPr>
        <p:blipFill>
          <a:blip r:embed="rId4">
            <a:alphaModFix/>
          </a:blip>
          <a:stretch>
            <a:fillRect/>
          </a:stretch>
        </p:blipFill>
        <p:spPr>
          <a:xfrm flipH="1">
            <a:off x="7684471" y="2865612"/>
            <a:ext cx="727191" cy="909325"/>
          </a:xfrm>
          <a:prstGeom prst="rect">
            <a:avLst/>
          </a:prstGeom>
          <a:noFill/>
          <a:ln>
            <a:noFill/>
          </a:ln>
        </p:spPr>
      </p:pic>
      <p:pic>
        <p:nvPicPr>
          <p:cNvPr id="1119" name="Google Shape;1119;p82"/>
          <p:cNvPicPr preferRelativeResize="0"/>
          <p:nvPr/>
        </p:nvPicPr>
        <p:blipFill>
          <a:blip r:embed="rId5">
            <a:alphaModFix/>
          </a:blip>
          <a:stretch>
            <a:fillRect/>
          </a:stretch>
        </p:blipFill>
        <p:spPr>
          <a:xfrm>
            <a:off x="400127" y="1639702"/>
            <a:ext cx="807750" cy="1057915"/>
          </a:xfrm>
          <a:prstGeom prst="rect">
            <a:avLst/>
          </a:prstGeom>
          <a:noFill/>
          <a:ln>
            <a:noFill/>
          </a:ln>
        </p:spPr>
      </p:pic>
      <p:sp>
        <p:nvSpPr>
          <p:cNvPr id="1120" name="Google Shape;1120;p82"/>
          <p:cNvSpPr txBox="1"/>
          <p:nvPr>
            <p:ph idx="1" type="body"/>
          </p:nvPr>
        </p:nvSpPr>
        <p:spPr>
          <a:xfrm>
            <a:off x="1821825" y="1441706"/>
            <a:ext cx="2022600" cy="90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It is</a:t>
            </a:r>
            <a:endParaRPr sz="2000"/>
          </a:p>
          <a:p>
            <a:pPr indent="0" lvl="0" marL="0" rtl="0" algn="l">
              <a:spcBef>
                <a:spcPts val="1000"/>
              </a:spcBef>
              <a:spcAft>
                <a:spcPts val="1000"/>
              </a:spcAft>
              <a:buNone/>
            </a:pPr>
            <a:r>
              <a:rPr lang="en-GB" sz="2000"/>
              <a:t>2.4 × 79 = 18.96</a:t>
            </a:r>
            <a:endParaRPr sz="2000"/>
          </a:p>
        </p:txBody>
      </p:sp>
      <p:sp>
        <p:nvSpPr>
          <p:cNvPr id="1121" name="Google Shape;1121;p82"/>
          <p:cNvSpPr txBox="1"/>
          <p:nvPr>
            <p:ph idx="1" type="body"/>
          </p:nvPr>
        </p:nvSpPr>
        <p:spPr>
          <a:xfrm>
            <a:off x="5436600" y="1111875"/>
            <a:ext cx="2022600" cy="90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That can’t be right because</a:t>
            </a:r>
            <a:endParaRPr sz="2000"/>
          </a:p>
          <a:p>
            <a:pPr indent="0" lvl="0" marL="0" rtl="0" algn="l">
              <a:spcBef>
                <a:spcPts val="1000"/>
              </a:spcBef>
              <a:spcAft>
                <a:spcPts val="1000"/>
              </a:spcAft>
              <a:buNone/>
            </a:pPr>
            <a:r>
              <a:rPr lang="en-GB" sz="2000"/>
              <a:t>2 × 80 = 160.  The answer has to be close to that.</a:t>
            </a:r>
            <a:endParaRPr sz="2000"/>
          </a:p>
        </p:txBody>
      </p:sp>
      <p:sp>
        <p:nvSpPr>
          <p:cNvPr id="1122" name="Google Shape;1122;p82"/>
          <p:cNvSpPr txBox="1"/>
          <p:nvPr>
            <p:ph idx="1" type="body"/>
          </p:nvPr>
        </p:nvSpPr>
        <p:spPr>
          <a:xfrm>
            <a:off x="324000" y="3603450"/>
            <a:ext cx="6742200" cy="34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Is that the only place for the decimal point</a:t>
            </a:r>
            <a:r>
              <a:rPr lang="en-GB"/>
              <a:t>?</a:t>
            </a:r>
            <a:endParaRPr/>
          </a:p>
        </p:txBody>
      </p:sp>
      <p:sp>
        <p:nvSpPr>
          <p:cNvPr id="1123" name="Google Shape;1123;p82"/>
          <p:cNvSpPr txBox="1"/>
          <p:nvPr>
            <p:ph idx="1" type="body"/>
          </p:nvPr>
        </p:nvSpPr>
        <p:spPr>
          <a:xfrm>
            <a:off x="324000" y="4060659"/>
            <a:ext cx="8127600" cy="34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No, it could be 0.24 × 79 for example if the decimal point can be at the beginning of a number. </a:t>
            </a:r>
            <a:endParaRPr>
              <a:latin typeface="Kalam"/>
              <a:ea typeface="Kalam"/>
              <a:cs typeface="Kalam"/>
              <a:sym typeface="Kalam"/>
            </a:endParaRPr>
          </a:p>
        </p:txBody>
      </p:sp>
      <p:pic>
        <p:nvPicPr>
          <p:cNvPr id="1124" name="Google Shape;1124;p82"/>
          <p:cNvPicPr preferRelativeResize="0"/>
          <p:nvPr/>
        </p:nvPicPr>
        <p:blipFill rotWithShape="1">
          <a:blip r:embed="rId3">
            <a:alphaModFix/>
          </a:blip>
          <a:srcRect b="0" l="0" r="69082" t="56280"/>
          <a:stretch/>
        </p:blipFill>
        <p:spPr>
          <a:xfrm flipH="1">
            <a:off x="1280719" y="1016133"/>
            <a:ext cx="2228372" cy="1156323"/>
          </a:xfrm>
          <a:prstGeom prst="rect">
            <a:avLst/>
          </a:prstGeom>
          <a:noFill/>
          <a:ln>
            <a:noFill/>
          </a:ln>
        </p:spPr>
      </p:pic>
      <p:sp>
        <p:nvSpPr>
          <p:cNvPr id="1125" name="Google Shape;1125;p82"/>
          <p:cNvSpPr txBox="1"/>
          <p:nvPr>
            <p:ph idx="1" type="body"/>
          </p:nvPr>
        </p:nvSpPr>
        <p:spPr>
          <a:xfrm>
            <a:off x="1447017" y="1213014"/>
            <a:ext cx="2022600" cy="90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It must be</a:t>
            </a:r>
            <a:endParaRPr sz="2000"/>
          </a:p>
          <a:p>
            <a:pPr indent="0" lvl="0" marL="0" rtl="0" algn="l">
              <a:spcBef>
                <a:spcPts val="1000"/>
              </a:spcBef>
              <a:spcAft>
                <a:spcPts val="1000"/>
              </a:spcAft>
              <a:buNone/>
            </a:pPr>
            <a:r>
              <a:rPr lang="en-GB" sz="2000"/>
              <a:t>2.4 × 7.9 = 18.96</a:t>
            </a:r>
            <a:endParaRPr sz="2000"/>
          </a:p>
        </p:txBody>
      </p:sp>
      <p:pic>
        <p:nvPicPr>
          <p:cNvPr id="1126" name="Google Shape;1126;p82"/>
          <p:cNvPicPr preferRelativeResize="0"/>
          <p:nvPr/>
        </p:nvPicPr>
        <p:blipFill rotWithShape="1">
          <a:blip r:embed="rId3">
            <a:alphaModFix/>
          </a:blip>
          <a:srcRect b="0" l="0" r="70143" t="56280"/>
          <a:stretch/>
        </p:blipFill>
        <p:spPr>
          <a:xfrm>
            <a:off x="5277988" y="1732875"/>
            <a:ext cx="2257398" cy="1513188"/>
          </a:xfrm>
          <a:prstGeom prst="rect">
            <a:avLst/>
          </a:prstGeom>
          <a:noFill/>
          <a:ln>
            <a:noFill/>
          </a:ln>
        </p:spPr>
      </p:pic>
      <p:sp>
        <p:nvSpPr>
          <p:cNvPr id="1127" name="Google Shape;1127;p82"/>
          <p:cNvSpPr txBox="1"/>
          <p:nvPr>
            <p:ph idx="1" type="body"/>
          </p:nvPr>
        </p:nvSpPr>
        <p:spPr>
          <a:xfrm>
            <a:off x="5436611" y="1980925"/>
            <a:ext cx="1839300" cy="90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That makes more sense as 2 × 8 = 16.</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2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2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83"/>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t>12.3 × 48 = 590.4</a:t>
            </a:r>
            <a:endParaRPr/>
          </a:p>
        </p:txBody>
      </p:sp>
      <p:sp>
        <p:nvSpPr>
          <p:cNvPr id="1133" name="Google Shape;1133;p83"/>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134" name="Google Shape;1134;p83"/>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of the following have the decimal point in the correct place.  </a:t>
            </a:r>
            <a:endParaRPr/>
          </a:p>
        </p:txBody>
      </p:sp>
      <p:sp>
        <p:nvSpPr>
          <p:cNvPr id="1135" name="Google Shape;1135;p83"/>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t>1.23 × 4.8 = 5.904</a:t>
            </a:r>
            <a:endParaRPr/>
          </a:p>
        </p:txBody>
      </p:sp>
      <p:sp>
        <p:nvSpPr>
          <p:cNvPr id="1136" name="Google Shape;1136;p83"/>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t>123 × 4.8 = 59.04</a:t>
            </a:r>
            <a:endParaRPr/>
          </a:p>
        </p:txBody>
      </p:sp>
      <p:sp>
        <p:nvSpPr>
          <p:cNvPr id="1137" name="Google Shape;1137;p83"/>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t>1.23 × 48 = 59.04</a:t>
            </a:r>
            <a:endParaRPr/>
          </a:p>
        </p:txBody>
      </p:sp>
      <p:pic>
        <p:nvPicPr>
          <p:cNvPr id="1138" name="Google Shape;1138;p83"/>
          <p:cNvPicPr preferRelativeResize="0"/>
          <p:nvPr/>
        </p:nvPicPr>
        <p:blipFill>
          <a:blip r:embed="rId3">
            <a:alphaModFix/>
          </a:blip>
          <a:stretch>
            <a:fillRect/>
          </a:stretch>
        </p:blipFill>
        <p:spPr>
          <a:xfrm>
            <a:off x="3369608" y="1639125"/>
            <a:ext cx="396000" cy="419100"/>
          </a:xfrm>
          <a:prstGeom prst="rect">
            <a:avLst/>
          </a:prstGeom>
          <a:noFill/>
          <a:ln>
            <a:noFill/>
          </a:ln>
        </p:spPr>
      </p:pic>
      <p:pic>
        <p:nvPicPr>
          <p:cNvPr id="1139" name="Google Shape;1139;p83"/>
          <p:cNvPicPr preferRelativeResize="0"/>
          <p:nvPr/>
        </p:nvPicPr>
        <p:blipFill>
          <a:blip r:embed="rId3">
            <a:alphaModFix/>
          </a:blip>
          <a:stretch>
            <a:fillRect/>
          </a:stretch>
        </p:blipFill>
        <p:spPr>
          <a:xfrm>
            <a:off x="3369608" y="2411225"/>
            <a:ext cx="396000" cy="419100"/>
          </a:xfrm>
          <a:prstGeom prst="rect">
            <a:avLst/>
          </a:prstGeom>
          <a:noFill/>
          <a:ln>
            <a:noFill/>
          </a:ln>
        </p:spPr>
      </p:pic>
      <p:pic>
        <p:nvPicPr>
          <p:cNvPr id="1140" name="Google Shape;1140;p83"/>
          <p:cNvPicPr preferRelativeResize="0"/>
          <p:nvPr/>
        </p:nvPicPr>
        <p:blipFill>
          <a:blip r:embed="rId3">
            <a:alphaModFix/>
          </a:blip>
          <a:stretch>
            <a:fillRect/>
          </a:stretch>
        </p:blipFill>
        <p:spPr>
          <a:xfrm>
            <a:off x="3369608" y="40656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Use a Gattegno chart to write down at least 4 pairs of numbers with a product of the following:</a:t>
            </a:r>
            <a:endParaRPr sz="2000"/>
          </a:p>
          <a:p>
            <a:pPr indent="-355600" lvl="0" marL="457200" rtl="0" algn="l">
              <a:spcBef>
                <a:spcPts val="0"/>
              </a:spcBef>
              <a:spcAft>
                <a:spcPts val="0"/>
              </a:spcAft>
              <a:buSzPts val="2000"/>
              <a:buAutoNum type="alphaLcParenR"/>
            </a:pPr>
            <a:r>
              <a:rPr lang="en-GB" sz="2000"/>
              <a:t>5		</a:t>
            </a:r>
            <a:endParaRPr sz="2000">
              <a:latin typeface="Kalam"/>
              <a:ea typeface="Kalam"/>
              <a:cs typeface="Kalam"/>
              <a:sym typeface="Kalam"/>
            </a:endParaRPr>
          </a:p>
          <a:p>
            <a:pPr indent="-355600" lvl="0" marL="457200" rtl="0" algn="l">
              <a:spcBef>
                <a:spcPts val="0"/>
              </a:spcBef>
              <a:spcAft>
                <a:spcPts val="0"/>
              </a:spcAft>
              <a:buSzPts val="2000"/>
              <a:buAutoNum type="alphaLcParenR"/>
            </a:pPr>
            <a:r>
              <a:rPr lang="en-GB" sz="2000"/>
              <a:t>15		</a:t>
            </a:r>
            <a:endParaRPr sz="2000"/>
          </a:p>
          <a:p>
            <a:pPr indent="-355600" lvl="0" marL="457200" rtl="0" algn="l">
              <a:spcBef>
                <a:spcPts val="0"/>
              </a:spcBef>
              <a:spcAft>
                <a:spcPts val="0"/>
              </a:spcAft>
              <a:buSzPts val="2000"/>
              <a:buAutoNum type="alphaLcParenR"/>
            </a:pPr>
            <a:r>
              <a:rPr lang="en-GB" sz="2000"/>
              <a:t>180		</a:t>
            </a:r>
            <a:endParaRPr sz="2000"/>
          </a:p>
          <a:p>
            <a:pPr indent="-355600" lvl="0" marL="457200" rtl="0" algn="l">
              <a:spcBef>
                <a:spcPts val="0"/>
              </a:spcBef>
              <a:spcAft>
                <a:spcPts val="0"/>
              </a:spcAft>
              <a:buSzPts val="2000"/>
              <a:buAutoNum type="alphaLcParenR"/>
            </a:pPr>
            <a:r>
              <a:rPr lang="en-GB" sz="2000"/>
              <a:t>1600	</a:t>
            </a:r>
            <a:endParaRPr sz="2000"/>
          </a:p>
          <a:p>
            <a:pPr indent="0" lvl="0" marL="0" rtl="0" algn="l">
              <a:spcBef>
                <a:spcPts val="1000"/>
              </a:spcBef>
              <a:spcAft>
                <a:spcPts val="0"/>
              </a:spcAft>
              <a:buNone/>
            </a:pPr>
            <a:r>
              <a:rPr lang="en-GB" sz="2000"/>
              <a:t>2)   Go beyond the Gattegno chart and write down at least 3 pairs of numbers with a product of the following:</a:t>
            </a:r>
            <a:endParaRPr sz="2000"/>
          </a:p>
          <a:p>
            <a:pPr indent="-355600" lvl="0" marL="457200" rtl="0" algn="l">
              <a:spcBef>
                <a:spcPts val="1000"/>
              </a:spcBef>
              <a:spcAft>
                <a:spcPts val="0"/>
              </a:spcAft>
              <a:buSzPts val="2000"/>
              <a:buAutoNum type="alphaLcParenR"/>
            </a:pPr>
            <a:r>
              <a:rPr lang="en-GB" sz="2000"/>
              <a:t>42		</a:t>
            </a:r>
            <a:endParaRPr sz="2000"/>
          </a:p>
          <a:p>
            <a:pPr indent="-355600" lvl="0" marL="457200" rtl="0" algn="l">
              <a:spcBef>
                <a:spcPts val="0"/>
              </a:spcBef>
              <a:spcAft>
                <a:spcPts val="0"/>
              </a:spcAft>
              <a:buSzPts val="2000"/>
              <a:buAutoNum type="alphaLcParenR"/>
            </a:pPr>
            <a:r>
              <a:rPr lang="en-GB" sz="2000"/>
              <a:t>300		</a:t>
            </a:r>
            <a:endParaRPr sz="2000"/>
          </a:p>
          <a:p>
            <a:pPr indent="-355600" lvl="0" marL="457200" rtl="0" algn="l">
              <a:spcBef>
                <a:spcPts val="0"/>
              </a:spcBef>
              <a:spcAft>
                <a:spcPts val="0"/>
              </a:spcAft>
              <a:buSzPts val="2000"/>
              <a:buAutoNum type="alphaLcParenR"/>
            </a:pPr>
            <a:r>
              <a:rPr lang="en-GB" sz="2000"/>
              <a:t>8100	</a:t>
            </a:r>
            <a:endParaRPr sz="2000"/>
          </a:p>
          <a:p>
            <a:pPr indent="0" lvl="0" marL="0" rtl="0" algn="l">
              <a:spcBef>
                <a:spcPts val="1000"/>
              </a:spcBef>
              <a:spcAft>
                <a:spcPts val="1000"/>
              </a:spcAft>
              <a:buNone/>
            </a:pPr>
            <a:r>
              <a:t/>
            </a:r>
            <a:endParaRPr sz="2000"/>
          </a:p>
        </p:txBody>
      </p:sp>
      <p:sp>
        <p:nvSpPr>
          <p:cNvPr id="1146" name="Google Shape;1146;p8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Simplifying multiplication using multiples of 10</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85"/>
          <p:cNvSpPr txBox="1"/>
          <p:nvPr>
            <p:ph idx="1" type="body"/>
          </p:nvPr>
        </p:nvSpPr>
        <p:spPr>
          <a:xfrm>
            <a:off x="324000" y="6069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t>3)  Some of the decimal points have fallen out of these calculations!</a:t>
            </a:r>
            <a:endParaRPr sz="1900"/>
          </a:p>
          <a:p>
            <a:pPr indent="0" lvl="0" marL="0" rtl="0" algn="l">
              <a:spcBef>
                <a:spcPts val="1000"/>
              </a:spcBef>
              <a:spcAft>
                <a:spcPts val="0"/>
              </a:spcAft>
              <a:buClr>
                <a:schemeClr val="dk1"/>
              </a:buClr>
              <a:buSzPts val="1100"/>
              <a:buFont typeface="Arial"/>
              <a:buNone/>
            </a:pPr>
            <a:r>
              <a:rPr lang="en-GB" sz="1900"/>
              <a:t>Using these facts:	 32 × 14 = 448 and 241 × 19 = 4579</a:t>
            </a:r>
            <a:endParaRPr sz="1900"/>
          </a:p>
          <a:p>
            <a:pPr indent="0" lvl="0" marL="0" rtl="0" algn="l">
              <a:spcBef>
                <a:spcPts val="1000"/>
              </a:spcBef>
              <a:spcAft>
                <a:spcPts val="0"/>
              </a:spcAft>
              <a:buClr>
                <a:schemeClr val="dk1"/>
              </a:buClr>
              <a:buSzPts val="1100"/>
              <a:buFont typeface="Arial"/>
              <a:buNone/>
            </a:pPr>
            <a:r>
              <a:rPr lang="en-GB" sz="1900"/>
              <a:t>Put the decimal points in the correct place in the question to get the given products.</a:t>
            </a:r>
            <a:endParaRPr sz="1900"/>
          </a:p>
          <a:p>
            <a:pPr indent="-349250" lvl="0" marL="457200" rtl="0" algn="l">
              <a:spcBef>
                <a:spcPts val="1000"/>
              </a:spcBef>
              <a:spcAft>
                <a:spcPts val="0"/>
              </a:spcAft>
              <a:buSzPts val="1900"/>
              <a:buAutoNum type="alphaLcParenR"/>
            </a:pPr>
            <a:r>
              <a:rPr lang="en-GB" sz="1900"/>
              <a:t>32 × 14 = 4.48		</a:t>
            </a:r>
            <a:r>
              <a:rPr lang="en-GB" sz="1900">
                <a:latin typeface="Kalam"/>
                <a:ea typeface="Kalam"/>
                <a:cs typeface="Kalam"/>
                <a:sym typeface="Kalam"/>
              </a:rPr>
              <a:t>	</a:t>
            </a:r>
            <a:endParaRPr sz="1900">
              <a:latin typeface="Kalam"/>
              <a:ea typeface="Kalam"/>
              <a:cs typeface="Kalam"/>
              <a:sym typeface="Kalam"/>
            </a:endParaRPr>
          </a:p>
          <a:p>
            <a:pPr indent="-349250" lvl="0" marL="457200" rtl="0" algn="l">
              <a:spcBef>
                <a:spcPts val="0"/>
              </a:spcBef>
              <a:spcAft>
                <a:spcPts val="0"/>
              </a:spcAft>
              <a:buSzPts val="1900"/>
              <a:buAutoNum type="alphaLcParenR"/>
            </a:pPr>
            <a:r>
              <a:rPr lang="en-GB" sz="1900"/>
              <a:t>32 × 14 = 0.448			</a:t>
            </a:r>
            <a:endParaRPr sz="2000"/>
          </a:p>
          <a:p>
            <a:pPr indent="-349250" lvl="0" marL="457200" rtl="0" algn="l">
              <a:spcBef>
                <a:spcPts val="0"/>
              </a:spcBef>
              <a:spcAft>
                <a:spcPts val="0"/>
              </a:spcAft>
              <a:buSzPts val="1900"/>
              <a:buAutoNum type="alphaLcParenR"/>
            </a:pPr>
            <a:r>
              <a:rPr lang="en-GB" sz="1900"/>
              <a:t>32 × 14 = 44.8			</a:t>
            </a:r>
            <a:endParaRPr sz="2000"/>
          </a:p>
          <a:p>
            <a:pPr indent="-349250" lvl="0" marL="457200" rtl="0" algn="l">
              <a:spcBef>
                <a:spcPts val="0"/>
              </a:spcBef>
              <a:spcAft>
                <a:spcPts val="0"/>
              </a:spcAft>
              <a:buSzPts val="1900"/>
              <a:buAutoNum type="alphaLcParenR"/>
            </a:pPr>
            <a:r>
              <a:rPr lang="en-GB" sz="1900"/>
              <a:t>241 × 19 = 45.79			</a:t>
            </a:r>
            <a:endParaRPr sz="2000"/>
          </a:p>
          <a:p>
            <a:pPr indent="-349250" lvl="0" marL="457200" rtl="0" algn="l">
              <a:spcBef>
                <a:spcPts val="0"/>
              </a:spcBef>
              <a:spcAft>
                <a:spcPts val="0"/>
              </a:spcAft>
              <a:buSzPts val="1900"/>
              <a:buAutoNum type="alphaLcParenR"/>
            </a:pPr>
            <a:r>
              <a:rPr lang="en-GB" sz="1900"/>
              <a:t>241 × 19 = 457.9			</a:t>
            </a:r>
            <a:endParaRPr sz="2000"/>
          </a:p>
          <a:p>
            <a:pPr indent="-349250" lvl="0" marL="457200" rtl="0" algn="l">
              <a:spcBef>
                <a:spcPts val="0"/>
              </a:spcBef>
              <a:spcAft>
                <a:spcPts val="0"/>
              </a:spcAft>
              <a:buSzPts val="1900"/>
              <a:buAutoNum type="alphaLcParenR"/>
            </a:pPr>
            <a:r>
              <a:rPr lang="en-GB" sz="1900"/>
              <a:t>241 × 19 = 4.579			</a:t>
            </a:r>
            <a:endParaRPr sz="2000"/>
          </a:p>
          <a:p>
            <a:pPr indent="0" lvl="0" marL="0" rtl="0" algn="l">
              <a:spcBef>
                <a:spcPts val="1000"/>
              </a:spcBef>
              <a:spcAft>
                <a:spcPts val="1000"/>
              </a:spcAft>
              <a:buClr>
                <a:schemeClr val="dk1"/>
              </a:buClr>
              <a:buSzPts val="1100"/>
              <a:buFont typeface="Arial"/>
              <a:buNone/>
            </a:pPr>
            <a:r>
              <a:rPr lang="en-GB" sz="1900"/>
              <a:t>4)  Write some alternatives to your answers in question 3.</a:t>
            </a:r>
            <a:endParaRPr sz="2000"/>
          </a:p>
        </p:txBody>
      </p:sp>
      <p:sp>
        <p:nvSpPr>
          <p:cNvPr id="1152" name="Google Shape;1152;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Simplifying multiplication using multiples of 10</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86"/>
          <p:cNvSpPr txBox="1"/>
          <p:nvPr>
            <p:ph idx="1" type="body"/>
          </p:nvPr>
        </p:nvSpPr>
        <p:spPr>
          <a:xfrm>
            <a:off x="324000" y="759300"/>
            <a:ext cx="8237700" cy="40611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Use a Gattegno chart to write down at least 4 pairs of numbers with a product of the following:</a:t>
            </a:r>
            <a:endParaRPr sz="2000"/>
          </a:p>
          <a:p>
            <a:pPr indent="-355600" lvl="0" marL="457200" rtl="0" algn="l">
              <a:spcBef>
                <a:spcPts val="0"/>
              </a:spcBef>
              <a:spcAft>
                <a:spcPts val="0"/>
              </a:spcAft>
              <a:buSzPts val="2000"/>
              <a:buAutoNum type="alphaLcParenR"/>
            </a:pPr>
            <a:r>
              <a:rPr lang="en-GB" sz="2000"/>
              <a:t>5		</a:t>
            </a:r>
            <a:r>
              <a:rPr lang="en-GB" sz="2000">
                <a:latin typeface="Kalam"/>
                <a:ea typeface="Kalam"/>
                <a:cs typeface="Kalam"/>
                <a:sym typeface="Kalam"/>
              </a:rPr>
              <a:t>e.g. 1 × 5, </a:t>
            </a:r>
            <a:r>
              <a:rPr lang="en-GB" sz="2000">
                <a:latin typeface="Kalam"/>
                <a:ea typeface="Kalam"/>
                <a:cs typeface="Kalam"/>
                <a:sym typeface="Kalam"/>
              </a:rPr>
              <a:t>10 × 0.5, 0.1 × 50, 100 × 0.05</a:t>
            </a:r>
            <a:endParaRPr sz="2000">
              <a:latin typeface="Kalam"/>
              <a:ea typeface="Kalam"/>
              <a:cs typeface="Kalam"/>
              <a:sym typeface="Kalam"/>
            </a:endParaRPr>
          </a:p>
          <a:p>
            <a:pPr indent="-355600" lvl="0" marL="457200" rtl="0" algn="l">
              <a:spcBef>
                <a:spcPts val="0"/>
              </a:spcBef>
              <a:spcAft>
                <a:spcPts val="0"/>
              </a:spcAft>
              <a:buSzPts val="2000"/>
              <a:buAutoNum type="alphaLcParenR"/>
            </a:pPr>
            <a:r>
              <a:rPr lang="en-GB" sz="2000"/>
              <a:t>15		</a:t>
            </a:r>
            <a:r>
              <a:rPr lang="en-GB" sz="2000">
                <a:latin typeface="Kalam"/>
                <a:ea typeface="Kalam"/>
                <a:cs typeface="Kalam"/>
                <a:sym typeface="Kalam"/>
              </a:rPr>
              <a:t>e.g. 3 × 5, 30 × 0.5, 0.3 × 50, 300 × 0.05</a:t>
            </a:r>
            <a:endParaRPr sz="2000"/>
          </a:p>
          <a:p>
            <a:pPr indent="-355600" lvl="0" marL="457200" rtl="0" algn="l">
              <a:spcBef>
                <a:spcPts val="0"/>
              </a:spcBef>
              <a:spcAft>
                <a:spcPts val="0"/>
              </a:spcAft>
              <a:buSzPts val="2000"/>
              <a:buAutoNum type="alphaLcParenR"/>
            </a:pPr>
            <a:r>
              <a:rPr lang="en-GB" sz="2000"/>
              <a:t>180		</a:t>
            </a:r>
            <a:r>
              <a:rPr lang="en-GB" sz="2000">
                <a:latin typeface="Kalam"/>
                <a:ea typeface="Kalam"/>
                <a:cs typeface="Kalam"/>
                <a:sym typeface="Kalam"/>
              </a:rPr>
              <a:t>e.g. 20 × 9, 0.03 × 6000, 0.2 × 900, 3000 × 0.06</a:t>
            </a:r>
            <a:endParaRPr sz="2000"/>
          </a:p>
          <a:p>
            <a:pPr indent="-355600" lvl="0" marL="457200" rtl="0" algn="l">
              <a:spcBef>
                <a:spcPts val="0"/>
              </a:spcBef>
              <a:spcAft>
                <a:spcPts val="0"/>
              </a:spcAft>
              <a:buSzPts val="2000"/>
              <a:buAutoNum type="alphaLcParenR"/>
            </a:pPr>
            <a:r>
              <a:rPr lang="en-GB" sz="2000"/>
              <a:t>1600	</a:t>
            </a:r>
            <a:r>
              <a:rPr lang="en-GB" sz="2000">
                <a:latin typeface="Kalam"/>
                <a:ea typeface="Kalam"/>
                <a:cs typeface="Kalam"/>
                <a:sym typeface="Kalam"/>
              </a:rPr>
              <a:t>e.g. 2 × 800, 0.4 × 4000, 0.8 × 2000, 40 × 40</a:t>
            </a:r>
            <a:endParaRPr sz="2000"/>
          </a:p>
          <a:p>
            <a:pPr indent="0" lvl="0" marL="0" rtl="0" algn="l">
              <a:spcBef>
                <a:spcPts val="1000"/>
              </a:spcBef>
              <a:spcAft>
                <a:spcPts val="0"/>
              </a:spcAft>
              <a:buNone/>
            </a:pPr>
            <a:r>
              <a:rPr lang="en-GB" sz="2000"/>
              <a:t>2)   Go beyond the Gattegno chart and</a:t>
            </a:r>
            <a:r>
              <a:rPr lang="en-GB" sz="2000"/>
              <a:t> write down at least 3 pairs of numbers with a product of the following:</a:t>
            </a:r>
            <a:endParaRPr sz="2000"/>
          </a:p>
          <a:p>
            <a:pPr indent="-355600" lvl="0" marL="457200" rtl="0" algn="l">
              <a:spcBef>
                <a:spcPts val="1000"/>
              </a:spcBef>
              <a:spcAft>
                <a:spcPts val="0"/>
              </a:spcAft>
              <a:buSzPts val="2000"/>
              <a:buAutoNum type="alphaLcParenR"/>
            </a:pPr>
            <a:r>
              <a:rPr lang="en-GB" sz="2000"/>
              <a:t>42		</a:t>
            </a:r>
            <a:r>
              <a:rPr lang="en-GB" sz="2000">
                <a:latin typeface="Kalam"/>
                <a:ea typeface="Kalam"/>
                <a:cs typeface="Kalam"/>
                <a:sym typeface="Kalam"/>
              </a:rPr>
              <a:t>e.g. 0.006 × 7000, 210 × 0.2, 0.001 × 42 000, 2.1 × 20</a:t>
            </a:r>
            <a:endParaRPr sz="2000"/>
          </a:p>
          <a:p>
            <a:pPr indent="-355600" lvl="0" marL="457200" rtl="0" algn="l">
              <a:spcBef>
                <a:spcPts val="0"/>
              </a:spcBef>
              <a:spcAft>
                <a:spcPts val="0"/>
              </a:spcAft>
              <a:buSzPts val="2000"/>
              <a:buAutoNum type="alphaLcParenR"/>
            </a:pPr>
            <a:r>
              <a:rPr lang="en-GB" sz="2000"/>
              <a:t>300		</a:t>
            </a:r>
            <a:r>
              <a:rPr lang="en-GB" sz="2000">
                <a:latin typeface="Kalam"/>
                <a:ea typeface="Kalam"/>
                <a:cs typeface="Kalam"/>
                <a:sym typeface="Kalam"/>
              </a:rPr>
              <a:t>e.g. 30 × 10, 0.0015 × 200 000, 0.01 × 30 000, 600 × 0.5</a:t>
            </a:r>
            <a:endParaRPr sz="2000"/>
          </a:p>
          <a:p>
            <a:pPr indent="-355600" lvl="0" marL="457200" rtl="0" algn="l">
              <a:spcBef>
                <a:spcPts val="0"/>
              </a:spcBef>
              <a:spcAft>
                <a:spcPts val="0"/>
              </a:spcAft>
              <a:buSzPts val="2000"/>
              <a:buAutoNum type="alphaLcParenR"/>
            </a:pPr>
            <a:r>
              <a:rPr lang="en-GB" sz="2000"/>
              <a:t>8100	</a:t>
            </a:r>
            <a:r>
              <a:rPr lang="en-GB" sz="2000">
                <a:latin typeface="Kalam"/>
                <a:ea typeface="Kalam"/>
                <a:cs typeface="Kalam"/>
                <a:sym typeface="Kalam"/>
              </a:rPr>
              <a:t>e.g. 900 000 × 0.009, 81 000 × 0.1, 300 × 0.27, 162 000 × 0.05</a:t>
            </a:r>
            <a:endParaRPr sz="2000"/>
          </a:p>
          <a:p>
            <a:pPr indent="0" lvl="0" marL="0" rtl="0" algn="l">
              <a:spcBef>
                <a:spcPts val="1000"/>
              </a:spcBef>
              <a:spcAft>
                <a:spcPts val="1000"/>
              </a:spcAft>
              <a:buNone/>
            </a:pPr>
            <a:r>
              <a:t/>
            </a:r>
            <a:endParaRPr sz="2000"/>
          </a:p>
        </p:txBody>
      </p:sp>
      <p:sp>
        <p:nvSpPr>
          <p:cNvPr id="1158" name="Google Shape;1158;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Simplifying multiplication using multiples of 10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87"/>
          <p:cNvSpPr txBox="1"/>
          <p:nvPr>
            <p:ph idx="1" type="body"/>
          </p:nvPr>
        </p:nvSpPr>
        <p:spPr>
          <a:xfrm>
            <a:off x="324000" y="606900"/>
            <a:ext cx="8237700" cy="406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  Some of the decimal points have fallen out of these calculations!</a:t>
            </a:r>
            <a:endParaRPr sz="1900"/>
          </a:p>
          <a:p>
            <a:pPr indent="0" lvl="0" marL="0" rtl="0" algn="l">
              <a:spcBef>
                <a:spcPts val="1000"/>
              </a:spcBef>
              <a:spcAft>
                <a:spcPts val="0"/>
              </a:spcAft>
              <a:buNone/>
            </a:pPr>
            <a:r>
              <a:rPr lang="en-GB" sz="1900"/>
              <a:t>Using these facts:	32 × 14 = 448 and 241 × 19 = 4579</a:t>
            </a:r>
            <a:endParaRPr sz="1900"/>
          </a:p>
          <a:p>
            <a:pPr indent="0" lvl="0" marL="0" rtl="0" algn="l">
              <a:spcBef>
                <a:spcPts val="1000"/>
              </a:spcBef>
              <a:spcAft>
                <a:spcPts val="0"/>
              </a:spcAft>
              <a:buNone/>
            </a:pPr>
            <a:r>
              <a:rPr lang="en-GB" sz="1900"/>
              <a:t>Put the decimal points in the correct place in the </a:t>
            </a:r>
            <a:r>
              <a:rPr lang="en-GB" sz="1900"/>
              <a:t>question to get the given products.</a:t>
            </a:r>
            <a:endParaRPr sz="1900"/>
          </a:p>
          <a:p>
            <a:pPr indent="-349250" lvl="0" marL="457200" rtl="0" algn="l">
              <a:spcBef>
                <a:spcPts val="1000"/>
              </a:spcBef>
              <a:spcAft>
                <a:spcPts val="0"/>
              </a:spcAft>
              <a:buSzPts val="1900"/>
              <a:buAutoNum type="alphaLcParenR"/>
            </a:pPr>
            <a:r>
              <a:rPr lang="en-GB" sz="1900"/>
              <a:t>32 × 14 = 4.48		</a:t>
            </a:r>
            <a:r>
              <a:rPr lang="en-GB" sz="2000">
                <a:latin typeface="Kalam"/>
                <a:ea typeface="Kalam"/>
                <a:cs typeface="Kalam"/>
                <a:sym typeface="Kalam"/>
              </a:rPr>
              <a:t>e.g. 3.2 	× 1.4</a:t>
            </a:r>
            <a:r>
              <a:rPr lang="en-GB" sz="1900">
                <a:latin typeface="Kalam"/>
                <a:ea typeface="Kalam"/>
                <a:cs typeface="Kalam"/>
                <a:sym typeface="Kalam"/>
              </a:rPr>
              <a:t>	</a:t>
            </a:r>
            <a:endParaRPr sz="1900">
              <a:latin typeface="Kalam"/>
              <a:ea typeface="Kalam"/>
              <a:cs typeface="Kalam"/>
              <a:sym typeface="Kalam"/>
            </a:endParaRPr>
          </a:p>
          <a:p>
            <a:pPr indent="-349250" lvl="0" marL="457200" rtl="0" algn="l">
              <a:spcBef>
                <a:spcPts val="0"/>
              </a:spcBef>
              <a:spcAft>
                <a:spcPts val="0"/>
              </a:spcAft>
              <a:buSzPts val="1900"/>
              <a:buAutoNum type="alphaLcParenR"/>
            </a:pPr>
            <a:r>
              <a:rPr lang="en-GB" sz="1900"/>
              <a:t>32 × 14 = 0.448			</a:t>
            </a:r>
            <a:r>
              <a:rPr lang="en-GB" sz="2000">
                <a:latin typeface="Kalam"/>
                <a:ea typeface="Kalam"/>
                <a:cs typeface="Kalam"/>
                <a:sym typeface="Kalam"/>
              </a:rPr>
              <a:t>0.32 × 1.4</a:t>
            </a:r>
            <a:endParaRPr sz="2000"/>
          </a:p>
          <a:p>
            <a:pPr indent="-349250" lvl="0" marL="457200" rtl="0" algn="l">
              <a:spcBef>
                <a:spcPts val="0"/>
              </a:spcBef>
              <a:spcAft>
                <a:spcPts val="0"/>
              </a:spcAft>
              <a:buSzPts val="1900"/>
              <a:buAutoNum type="alphaLcParenR"/>
            </a:pPr>
            <a:r>
              <a:rPr lang="en-GB" sz="1900"/>
              <a:t>32 × 14 = 44.8			</a:t>
            </a:r>
            <a:r>
              <a:rPr lang="en-GB" sz="2000">
                <a:latin typeface="Kalam"/>
                <a:ea typeface="Kalam"/>
                <a:cs typeface="Kalam"/>
                <a:sym typeface="Kalam"/>
              </a:rPr>
              <a:t>32 	× 1.4</a:t>
            </a:r>
            <a:endParaRPr sz="2000"/>
          </a:p>
          <a:p>
            <a:pPr indent="-349250" lvl="0" marL="457200" rtl="0" algn="l">
              <a:spcBef>
                <a:spcPts val="0"/>
              </a:spcBef>
              <a:spcAft>
                <a:spcPts val="0"/>
              </a:spcAft>
              <a:buSzPts val="1900"/>
              <a:buAutoNum type="alphaLcParenR"/>
            </a:pPr>
            <a:r>
              <a:rPr lang="en-GB" sz="1900"/>
              <a:t>241 × 19 = 45.79			</a:t>
            </a:r>
            <a:r>
              <a:rPr lang="en-GB" sz="2000">
                <a:latin typeface="Kalam"/>
                <a:ea typeface="Kalam"/>
                <a:cs typeface="Kalam"/>
                <a:sym typeface="Kalam"/>
              </a:rPr>
              <a:t>24.1 × 1.9</a:t>
            </a:r>
            <a:endParaRPr sz="2000"/>
          </a:p>
          <a:p>
            <a:pPr indent="-349250" lvl="0" marL="457200" rtl="0" algn="l">
              <a:spcBef>
                <a:spcPts val="0"/>
              </a:spcBef>
              <a:spcAft>
                <a:spcPts val="0"/>
              </a:spcAft>
              <a:buSzPts val="1900"/>
              <a:buAutoNum type="alphaLcParenR"/>
            </a:pPr>
            <a:r>
              <a:rPr lang="en-GB" sz="1900"/>
              <a:t>241 × 19 = 457.9			</a:t>
            </a:r>
            <a:r>
              <a:rPr lang="en-GB" sz="2000">
                <a:latin typeface="Kalam"/>
                <a:ea typeface="Kalam"/>
                <a:cs typeface="Kalam"/>
                <a:sym typeface="Kalam"/>
              </a:rPr>
              <a:t>24.1 × 19</a:t>
            </a:r>
            <a:endParaRPr sz="2000"/>
          </a:p>
          <a:p>
            <a:pPr indent="-349250" lvl="0" marL="457200" rtl="0" algn="l">
              <a:spcBef>
                <a:spcPts val="0"/>
              </a:spcBef>
              <a:spcAft>
                <a:spcPts val="0"/>
              </a:spcAft>
              <a:buSzPts val="1900"/>
              <a:buAutoNum type="alphaLcParenR"/>
            </a:pPr>
            <a:r>
              <a:rPr lang="en-GB" sz="1900"/>
              <a:t>241 × 19 = 4.579			</a:t>
            </a:r>
            <a:r>
              <a:rPr lang="en-GB" sz="2000">
                <a:latin typeface="Kalam"/>
                <a:ea typeface="Kalam"/>
                <a:cs typeface="Kalam"/>
                <a:sym typeface="Kalam"/>
              </a:rPr>
              <a:t>2.41 × 1.9</a:t>
            </a:r>
            <a:endParaRPr sz="2000"/>
          </a:p>
          <a:p>
            <a:pPr indent="0" lvl="0" marL="0" rtl="0" algn="l">
              <a:spcBef>
                <a:spcPts val="1000"/>
              </a:spcBef>
              <a:spcAft>
                <a:spcPts val="1000"/>
              </a:spcAft>
              <a:buNone/>
            </a:pPr>
            <a:r>
              <a:rPr lang="en-GB" sz="1900"/>
              <a:t>4)  Write some alternatives to your answers in question 3.</a:t>
            </a:r>
            <a:endParaRPr sz="1900"/>
          </a:p>
        </p:txBody>
      </p:sp>
      <p:sp>
        <p:nvSpPr>
          <p:cNvPr id="1164" name="Google Shape;1164;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Simplifying multiplication using multiples of 10</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8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multiplication using multiples of 10</a:t>
            </a:r>
            <a:endParaRPr/>
          </a:p>
        </p:txBody>
      </p:sp>
      <p:sp>
        <p:nvSpPr>
          <p:cNvPr id="1170" name="Google Shape;1170;p8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division using multiples of 10</a:t>
            </a:r>
            <a:endParaRPr/>
          </a:p>
        </p:txBody>
      </p:sp>
      <p:sp>
        <p:nvSpPr>
          <p:cNvPr id="1171" name="Google Shape;1171;p88"/>
          <p:cNvSpPr txBox="1"/>
          <p:nvPr>
            <p:ph idx="3" type="title"/>
          </p:nvPr>
        </p:nvSpPr>
        <p:spPr>
          <a:xfrm>
            <a:off x="324000" y="657600"/>
            <a:ext cx="84960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multiplication and division using multiples of 10</a:t>
            </a:r>
            <a:endParaRPr/>
          </a:p>
        </p:txBody>
      </p:sp>
      <p:pic>
        <p:nvPicPr>
          <p:cNvPr id="1172" name="Google Shape;1172;p88"/>
          <p:cNvPicPr preferRelativeResize="0"/>
          <p:nvPr/>
        </p:nvPicPr>
        <p:blipFill>
          <a:blip r:embed="rId3">
            <a:alphaModFix/>
          </a:blip>
          <a:stretch>
            <a:fillRect/>
          </a:stretch>
        </p:blipFill>
        <p:spPr>
          <a:xfrm>
            <a:off x="416175" y="2992087"/>
            <a:ext cx="450575" cy="446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division using multiples of 10</a:t>
            </a:r>
            <a:endParaRPr/>
          </a:p>
        </p:txBody>
      </p:sp>
      <p:sp>
        <p:nvSpPr>
          <p:cNvPr id="1178" name="Google Shape;1178;p89"/>
          <p:cNvSpPr txBox="1"/>
          <p:nvPr>
            <p:ph idx="1" type="body"/>
          </p:nvPr>
        </p:nvSpPr>
        <p:spPr>
          <a:xfrm>
            <a:off x="324000" y="759300"/>
            <a:ext cx="82377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Partitioning</a:t>
            </a:r>
            <a:r>
              <a:rPr lang="en-GB" sz="2000"/>
              <a:t> can also help to simplify division.</a:t>
            </a:r>
            <a:endParaRPr sz="2000"/>
          </a:p>
        </p:txBody>
      </p:sp>
      <p:sp>
        <p:nvSpPr>
          <p:cNvPr id="1179" name="Google Shape;1179;p89"/>
          <p:cNvSpPr txBox="1"/>
          <p:nvPr/>
        </p:nvSpPr>
        <p:spPr>
          <a:xfrm>
            <a:off x="324000" y="1733550"/>
            <a:ext cx="84960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Here we need to remember that division can be </a:t>
            </a:r>
            <a:r>
              <a:rPr lang="en-GB" sz="2000">
                <a:solidFill>
                  <a:schemeClr val="dk1"/>
                </a:solidFill>
                <a:latin typeface="Lexend"/>
                <a:ea typeface="Lexend"/>
                <a:cs typeface="Lexend"/>
                <a:sym typeface="Lexend"/>
              </a:rPr>
              <a:t>written</a:t>
            </a:r>
            <a:r>
              <a:rPr lang="en-GB" sz="2000">
                <a:solidFill>
                  <a:schemeClr val="dk1"/>
                </a:solidFill>
                <a:latin typeface="Lexend"/>
                <a:ea typeface="Lexend"/>
                <a:cs typeface="Lexend"/>
                <a:sym typeface="Lexend"/>
              </a:rPr>
              <a:t> as a fraction.</a:t>
            </a:r>
            <a:endParaRPr sz="1200">
              <a:latin typeface="Lexend"/>
              <a:ea typeface="Lexend"/>
              <a:cs typeface="Lexend"/>
              <a:sym typeface="Lexend"/>
            </a:endParaRPr>
          </a:p>
        </p:txBody>
      </p:sp>
      <p:pic>
        <p:nvPicPr>
          <p:cNvPr descr="&lt;math xmlns=&quot;http://www.w3.org/1998/Math/MathML&quot; display=&quot;block&quot; data-is-equatio=&quot;1&quot; data-latex=&quot;6000\div200&quot;&gt;&lt;mn&gt;6000&lt;/mn&gt;&lt;mo&gt;÷&lt;/mo&gt;&lt;mn&gt;200&lt;/mn&gt;&lt;/math&gt;" id="1180" name="Google Shape;1180;p89" title="6000 divided by 200"/>
          <p:cNvPicPr preferRelativeResize="0"/>
          <p:nvPr/>
        </p:nvPicPr>
        <p:blipFill>
          <a:blip r:embed="rId3">
            <a:alphaModFix/>
          </a:blip>
          <a:stretch>
            <a:fillRect/>
          </a:stretch>
        </p:blipFill>
        <p:spPr>
          <a:xfrm>
            <a:off x="324000" y="1307525"/>
            <a:ext cx="1472140" cy="236271"/>
          </a:xfrm>
          <a:prstGeom prst="rect">
            <a:avLst/>
          </a:prstGeom>
          <a:noFill/>
          <a:ln>
            <a:noFill/>
          </a:ln>
        </p:spPr>
      </p:pic>
      <p:pic>
        <p:nvPicPr>
          <p:cNvPr descr="&lt;math xmlns=&quot;http://www.w3.org/1998/Math/MathML&quot; display=&quot;block&quot; data-is-equatio=&quot;1&quot; data-latex=&quot;\frac{6000}{200}=\ \frac{60\times100}{2\ \times100}\ =\frac{60}{2}=\ 60\div2\ =\ 30&quot;&gt;&lt;mfrac&gt;&lt;mn&gt;6000&lt;/mn&gt;&lt;mn&gt;200&lt;/mn&gt;&lt;/mfrac&gt;&lt;mo&gt;=&lt;/mo&gt;&lt;mtext&gt;&lt;/mtext&gt;&lt;mfrac&gt;&lt;mrow&gt;&lt;mn&gt;60&lt;/mn&gt;&lt;mo&gt;×&lt;/mo&gt;&lt;mn&gt;100&lt;/mn&gt;&lt;/mrow&gt;&lt;mrow&gt;&lt;mn&gt;2&lt;/mn&gt;&lt;mtext&gt;&lt;/mtext&gt;&lt;mo&gt;×&lt;/mo&gt;&lt;mn&gt;100&lt;/mn&gt;&lt;/mrow&gt;&lt;/mfrac&gt;&lt;mtext&gt;&lt;/mtext&gt;&lt;mo&gt;=&lt;/mo&gt;&lt;mfrac&gt;&lt;mn&gt;60&lt;/mn&gt;&lt;mn&gt;2&lt;/mn&gt;&lt;/mfrac&gt;&lt;mo&gt;=&lt;/mo&gt;&lt;mtext&gt;&lt;/mtext&gt;&lt;mn&gt;60&lt;/mn&gt;&lt;mo&gt;÷&lt;/mo&gt;&lt;mn&gt;2&lt;/mn&gt;&lt;mtext&gt;&lt;/mtext&gt;&lt;mo&gt;=&lt;/mo&gt;&lt;mtext&gt;&lt;/mtext&gt;&lt;mn&gt;30&lt;/mn&gt;&lt;/math&gt;" id="1181" name="Google Shape;1181;p89" title="6000 over 200 equals the fraction with numerator 60 times 100 and denominator 2 times 100 equals 60 over 2 equals 60 divided by 2 equals 30"/>
          <p:cNvPicPr preferRelativeResize="0"/>
          <p:nvPr/>
        </p:nvPicPr>
        <p:blipFill>
          <a:blip r:embed="rId4">
            <a:alphaModFix/>
          </a:blip>
          <a:stretch>
            <a:fillRect/>
          </a:stretch>
        </p:blipFill>
        <p:spPr>
          <a:xfrm>
            <a:off x="381000" y="2229819"/>
            <a:ext cx="5621999" cy="678261"/>
          </a:xfrm>
          <a:prstGeom prst="rect">
            <a:avLst/>
          </a:prstGeom>
          <a:noFill/>
          <a:ln>
            <a:noFill/>
          </a:ln>
        </p:spPr>
      </p:pic>
      <p:sp>
        <p:nvSpPr>
          <p:cNvPr id="1182" name="Google Shape;1182;p89"/>
          <p:cNvSpPr/>
          <p:nvPr/>
        </p:nvSpPr>
        <p:spPr>
          <a:xfrm>
            <a:off x="1119175" y="2150617"/>
            <a:ext cx="17967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83" name="Google Shape;1183;p89"/>
          <p:cNvCxnSpPr/>
          <p:nvPr/>
        </p:nvCxnSpPr>
        <p:spPr>
          <a:xfrm rot="10800000">
            <a:off x="2216625" y="3027325"/>
            <a:ext cx="629700" cy="659100"/>
          </a:xfrm>
          <a:prstGeom prst="straightConnector1">
            <a:avLst/>
          </a:prstGeom>
          <a:noFill/>
          <a:ln cap="flat" cmpd="sng" w="38100">
            <a:solidFill>
              <a:schemeClr val="dk2"/>
            </a:solidFill>
            <a:prstDash val="solid"/>
            <a:round/>
            <a:headEnd len="med" w="med" type="none"/>
            <a:tailEnd len="med" w="med" type="triangle"/>
          </a:ln>
        </p:spPr>
      </p:cxnSp>
      <p:sp>
        <p:nvSpPr>
          <p:cNvPr id="1184" name="Google Shape;1184;p89"/>
          <p:cNvSpPr txBox="1"/>
          <p:nvPr>
            <p:ph idx="1" type="body"/>
          </p:nvPr>
        </p:nvSpPr>
        <p:spPr>
          <a:xfrm>
            <a:off x="1210300" y="3774300"/>
            <a:ext cx="3660600" cy="9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Write as factor pairs, with a common factor.  For efficiency try to use the HCF.</a:t>
            </a:r>
            <a:endParaRPr sz="1800"/>
          </a:p>
        </p:txBody>
      </p:sp>
      <p:sp>
        <p:nvSpPr>
          <p:cNvPr id="1185" name="Google Shape;1185;p89"/>
          <p:cNvSpPr/>
          <p:nvPr/>
        </p:nvSpPr>
        <p:spPr>
          <a:xfrm>
            <a:off x="3027300" y="2195475"/>
            <a:ext cx="7869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6" name="Google Shape;1186;p89"/>
          <p:cNvSpPr/>
          <p:nvPr/>
        </p:nvSpPr>
        <p:spPr>
          <a:xfrm>
            <a:off x="3896550" y="2229825"/>
            <a:ext cx="12465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87" name="Google Shape;1187;p89"/>
          <p:cNvCxnSpPr/>
          <p:nvPr/>
        </p:nvCxnSpPr>
        <p:spPr>
          <a:xfrm rot="10800000">
            <a:off x="4583025" y="2787325"/>
            <a:ext cx="854100" cy="670500"/>
          </a:xfrm>
          <a:prstGeom prst="straightConnector1">
            <a:avLst/>
          </a:prstGeom>
          <a:noFill/>
          <a:ln cap="flat" cmpd="sng" w="38100">
            <a:solidFill>
              <a:schemeClr val="dk2"/>
            </a:solidFill>
            <a:prstDash val="solid"/>
            <a:round/>
            <a:headEnd len="med" w="med" type="none"/>
            <a:tailEnd len="med" w="med" type="triangle"/>
          </a:ln>
        </p:spPr>
      </p:cxnSp>
      <p:sp>
        <p:nvSpPr>
          <p:cNvPr id="1188" name="Google Shape;1188;p89"/>
          <p:cNvSpPr txBox="1"/>
          <p:nvPr>
            <p:ph idx="1" type="body"/>
          </p:nvPr>
        </p:nvSpPr>
        <p:spPr>
          <a:xfrm>
            <a:off x="4824000" y="3501425"/>
            <a:ext cx="2635200" cy="9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You could change it back into a division to simplify or just </a:t>
            </a:r>
            <a:r>
              <a:rPr lang="en-GB" sz="1800"/>
              <a:t>simplify</a:t>
            </a:r>
            <a:r>
              <a:rPr lang="en-GB" sz="1800"/>
              <a:t> the fraction.</a:t>
            </a:r>
            <a:endParaRPr sz="1800"/>
          </a:p>
        </p:txBody>
      </p:sp>
      <p:sp>
        <p:nvSpPr>
          <p:cNvPr id="1189" name="Google Shape;1189;p89"/>
          <p:cNvSpPr/>
          <p:nvPr/>
        </p:nvSpPr>
        <p:spPr>
          <a:xfrm>
            <a:off x="5151150" y="2229825"/>
            <a:ext cx="12465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pic>
        <p:nvPicPr>
          <p:cNvPr descr="&lt;math xmlns=&quot;http://www.w3.org/1998/Math/MathML&quot; display=&quot;block&quot; data-is-equatio=&quot;1&quot; data-latex=&quot;\frac{3400}{170}=\ \frac{340\times10}{17\ \times10}\ =\frac{340}{17}=\ 340\div17\ =\ 20&quot;&gt;&lt;mfrac&gt;&lt;mn&gt;3400&lt;/mn&gt;&lt;mn&gt;170&lt;/mn&gt;&lt;/mfrac&gt;&lt;mo&gt;=&lt;/mo&gt;&lt;mtext&gt;&lt;/mtext&gt;&lt;mfrac&gt;&lt;mrow&gt;&lt;mn&gt;340&lt;/mn&gt;&lt;mo&gt;×&lt;/mo&gt;&lt;mn&gt;10&lt;/mn&gt;&lt;/mrow&gt;&lt;mrow&gt;&lt;mn&gt;17&lt;/mn&gt;&lt;mtext&gt;&lt;/mtext&gt;&lt;mo&gt;×&lt;/mo&gt;&lt;mn&gt;10&lt;/mn&gt;&lt;/mrow&gt;&lt;/mfrac&gt;&lt;mtext&gt;&lt;/mtext&gt;&lt;mo&gt;=&lt;/mo&gt;&lt;mfrac&gt;&lt;mn&gt;340&lt;/mn&gt;&lt;mn&gt;17&lt;/mn&gt;&lt;/mfrac&gt;&lt;mo&gt;=&lt;/mo&gt;&lt;mtext&gt;&lt;/mtext&gt;&lt;mn&gt;340&lt;/mn&gt;&lt;mo&gt;÷&lt;/mo&gt;&lt;mn&gt;17&lt;/mn&gt;&lt;mtext&gt;&lt;/mtext&gt;&lt;mo&gt;=&lt;/mo&gt;&lt;mtext&gt;&lt;/mtext&gt;&lt;mn&gt;20&lt;/mn&gt;&lt;/math&gt;" id="1194" name="Google Shape;1194;p90" title="3400 over 170 equals the fraction with numerator 340 times 10 and denominator 17 times 10 equals 340 over 17 equals 340 divided by 17 equals 20"/>
          <p:cNvPicPr preferRelativeResize="0"/>
          <p:nvPr/>
        </p:nvPicPr>
        <p:blipFill>
          <a:blip r:embed="rId3">
            <a:alphaModFix/>
          </a:blip>
          <a:stretch>
            <a:fillRect/>
          </a:stretch>
        </p:blipFill>
        <p:spPr>
          <a:xfrm>
            <a:off x="381000" y="2228531"/>
            <a:ext cx="6161450" cy="685169"/>
          </a:xfrm>
          <a:prstGeom prst="rect">
            <a:avLst/>
          </a:prstGeom>
          <a:noFill/>
          <a:ln>
            <a:noFill/>
          </a:ln>
        </p:spPr>
      </p:pic>
      <p:sp>
        <p:nvSpPr>
          <p:cNvPr id="1195" name="Google Shape;1195;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division using multiples of 10</a:t>
            </a:r>
            <a:endParaRPr/>
          </a:p>
        </p:txBody>
      </p:sp>
      <p:sp>
        <p:nvSpPr>
          <p:cNvPr id="1196" name="Google Shape;1196;p90"/>
          <p:cNvSpPr txBox="1"/>
          <p:nvPr>
            <p:ph idx="1" type="body"/>
          </p:nvPr>
        </p:nvSpPr>
        <p:spPr>
          <a:xfrm>
            <a:off x="324000" y="759300"/>
            <a:ext cx="82377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Partitioning can also help to simplify division.</a:t>
            </a:r>
            <a:endParaRPr sz="2000"/>
          </a:p>
        </p:txBody>
      </p:sp>
      <p:sp>
        <p:nvSpPr>
          <p:cNvPr id="1197" name="Google Shape;1197;p90"/>
          <p:cNvSpPr txBox="1"/>
          <p:nvPr/>
        </p:nvSpPr>
        <p:spPr>
          <a:xfrm>
            <a:off x="324000" y="1733550"/>
            <a:ext cx="84960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Write as a fraction</a:t>
            </a:r>
            <a:endParaRPr sz="1200">
              <a:latin typeface="Lexend"/>
              <a:ea typeface="Lexend"/>
              <a:cs typeface="Lexend"/>
              <a:sym typeface="Lexend"/>
            </a:endParaRPr>
          </a:p>
        </p:txBody>
      </p:sp>
      <p:sp>
        <p:nvSpPr>
          <p:cNvPr id="1198" name="Google Shape;1198;p90"/>
          <p:cNvSpPr/>
          <p:nvPr/>
        </p:nvSpPr>
        <p:spPr>
          <a:xfrm>
            <a:off x="1119175" y="2150617"/>
            <a:ext cx="17967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9" name="Google Shape;1199;p90"/>
          <p:cNvCxnSpPr/>
          <p:nvPr/>
        </p:nvCxnSpPr>
        <p:spPr>
          <a:xfrm rot="10800000">
            <a:off x="2208825" y="2981125"/>
            <a:ext cx="637500" cy="705300"/>
          </a:xfrm>
          <a:prstGeom prst="straightConnector1">
            <a:avLst/>
          </a:prstGeom>
          <a:noFill/>
          <a:ln cap="flat" cmpd="sng" w="38100">
            <a:solidFill>
              <a:schemeClr val="dk2"/>
            </a:solidFill>
            <a:prstDash val="solid"/>
            <a:round/>
            <a:headEnd len="med" w="med" type="none"/>
            <a:tailEnd len="med" w="med" type="triangle"/>
          </a:ln>
        </p:spPr>
      </p:cxnSp>
      <p:sp>
        <p:nvSpPr>
          <p:cNvPr id="1200" name="Google Shape;1200;p90"/>
          <p:cNvSpPr txBox="1"/>
          <p:nvPr>
            <p:ph idx="1" type="body"/>
          </p:nvPr>
        </p:nvSpPr>
        <p:spPr>
          <a:xfrm>
            <a:off x="1210300" y="3774300"/>
            <a:ext cx="3660600" cy="9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Write as factor pairs, with a common factor.  For efficiency try to use the HCF.</a:t>
            </a:r>
            <a:endParaRPr sz="1800"/>
          </a:p>
        </p:txBody>
      </p:sp>
      <p:sp>
        <p:nvSpPr>
          <p:cNvPr id="1201" name="Google Shape;1201;p90"/>
          <p:cNvSpPr/>
          <p:nvPr/>
        </p:nvSpPr>
        <p:spPr>
          <a:xfrm>
            <a:off x="3027300" y="2119275"/>
            <a:ext cx="9339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2" name="Google Shape;1202;p90"/>
          <p:cNvSpPr/>
          <p:nvPr/>
        </p:nvSpPr>
        <p:spPr>
          <a:xfrm>
            <a:off x="4048950" y="2153625"/>
            <a:ext cx="16380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3" name="Google Shape;1203;p90"/>
          <p:cNvCxnSpPr/>
          <p:nvPr/>
        </p:nvCxnSpPr>
        <p:spPr>
          <a:xfrm rot="10800000">
            <a:off x="4583025" y="2787325"/>
            <a:ext cx="854100" cy="670500"/>
          </a:xfrm>
          <a:prstGeom prst="straightConnector1">
            <a:avLst/>
          </a:prstGeom>
          <a:noFill/>
          <a:ln cap="flat" cmpd="sng" w="38100">
            <a:solidFill>
              <a:schemeClr val="dk2"/>
            </a:solidFill>
            <a:prstDash val="solid"/>
            <a:round/>
            <a:headEnd len="med" w="med" type="none"/>
            <a:tailEnd len="med" w="med" type="triangle"/>
          </a:ln>
        </p:spPr>
      </p:cxnSp>
      <p:sp>
        <p:nvSpPr>
          <p:cNvPr id="1204" name="Google Shape;1204;p90"/>
          <p:cNvSpPr txBox="1"/>
          <p:nvPr>
            <p:ph idx="1" type="body"/>
          </p:nvPr>
        </p:nvSpPr>
        <p:spPr>
          <a:xfrm>
            <a:off x="4824000" y="3501425"/>
            <a:ext cx="2574600" cy="9141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You could change it back into a division to simplify or just simplify the fraction.</a:t>
            </a:r>
            <a:endParaRPr sz="1800"/>
          </a:p>
        </p:txBody>
      </p:sp>
      <p:sp>
        <p:nvSpPr>
          <p:cNvPr id="1205" name="Google Shape;1205;p90"/>
          <p:cNvSpPr/>
          <p:nvPr/>
        </p:nvSpPr>
        <p:spPr>
          <a:xfrm>
            <a:off x="5760750" y="2153625"/>
            <a:ext cx="1246500" cy="816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3400\div170&quot;&gt;&lt;mn&gt;3400&lt;/mn&gt;&lt;mo&gt;÷&lt;/mo&gt;&lt;mn&gt;170&lt;/mn&gt;&lt;/math&gt;" id="1206" name="Google Shape;1206;p90" title="3400 divided by 170"/>
          <p:cNvPicPr preferRelativeResize="0"/>
          <p:nvPr/>
        </p:nvPicPr>
        <p:blipFill>
          <a:blip r:embed="rId4">
            <a:alphaModFix/>
          </a:blip>
          <a:stretch>
            <a:fillRect/>
          </a:stretch>
        </p:blipFill>
        <p:spPr>
          <a:xfrm>
            <a:off x="324000" y="1207850"/>
            <a:ext cx="1511850" cy="23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0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0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Simplifying division using multiples of 10</a:t>
            </a:r>
            <a:endParaRPr/>
          </a:p>
        </p:txBody>
      </p:sp>
      <p:pic>
        <p:nvPicPr>
          <p:cNvPr descr="&lt;math xmlns=&quot;http://www.w3.org/1998/Math/MathML&quot; display=&quot;block&quot; data-is-equatio=&quot;1&quot; data-latex=&quot;450\ 000\div1500&quot;&gt;&lt;mn&gt;450&lt;/mn&gt;&lt;mtext&gt;&lt;/mtext&gt;&lt;mn&gt;000&lt;/mn&gt;&lt;mo&gt;÷&lt;/mo&gt;&lt;mn&gt;1500&lt;/mn&gt;&lt;/math&gt;" id="1212" name="Google Shape;1212;p91" title="450 000 divided by 1500"/>
          <p:cNvPicPr preferRelativeResize="0"/>
          <p:nvPr/>
        </p:nvPicPr>
        <p:blipFill>
          <a:blip r:embed="rId3">
            <a:alphaModFix/>
          </a:blip>
          <a:stretch>
            <a:fillRect/>
          </a:stretch>
        </p:blipFill>
        <p:spPr>
          <a:xfrm>
            <a:off x="324000" y="809998"/>
            <a:ext cx="1865150" cy="215625"/>
          </a:xfrm>
          <a:prstGeom prst="rect">
            <a:avLst/>
          </a:prstGeom>
          <a:noFill/>
          <a:ln>
            <a:noFill/>
          </a:ln>
        </p:spPr>
      </p:pic>
      <p:pic>
        <p:nvPicPr>
          <p:cNvPr descr="&lt;math xmlns=&quot;http://www.w3.org/1998/Math/MathML&quot; display=&quot;block&quot; data-is-equatio=&quot;1&quot; data-latex=&quot;\frac{450\ 000}{1500}=\ \frac{4500\times100}{15\ \times100}\ =\frac{4500}{15}=\ 4500\div15\ =\ 300&quot;&gt;&lt;mfrac&gt;&lt;mrow&gt;&lt;mn&gt;450&lt;/mn&gt;&lt;mtext&gt;&lt;/mtext&gt;&lt;mn&gt;000&lt;/mn&gt;&lt;/mrow&gt;&lt;mn&gt;1500&lt;/mn&gt;&lt;/mfrac&gt;&lt;mo&gt;=&lt;/mo&gt;&lt;mtext&gt;&lt;/mtext&gt;&lt;mfrac&gt;&lt;mrow&gt;&lt;mn&gt;4500&lt;/mn&gt;&lt;mo&gt;×&lt;/mo&gt;&lt;mn&gt;100&lt;/mn&gt;&lt;/mrow&gt;&lt;mrow&gt;&lt;mn&gt;15&lt;/mn&gt;&lt;mtext&gt;&lt;/mtext&gt;&lt;mo&gt;×&lt;/mo&gt;&lt;mn&gt;100&lt;/mn&gt;&lt;/mrow&gt;&lt;/mfrac&gt;&lt;mtext&gt;&lt;/mtext&gt;&lt;mo&gt;=&lt;/mo&gt;&lt;mfrac&gt;&lt;mn&gt;4500&lt;/mn&gt;&lt;mn&gt;15&lt;/mn&gt;&lt;/mfrac&gt;&lt;mo&gt;=&lt;/mo&gt;&lt;mtext&gt;&lt;/mtext&gt;&lt;mn&gt;4500&lt;/mn&gt;&lt;mo&gt;÷&lt;/mo&gt;&lt;mn&gt;15&lt;/mn&gt;&lt;mtext&gt;&lt;/mtext&gt;&lt;mo&gt;=&lt;/mo&gt;&lt;mtext&gt;&lt;/mtext&gt;&lt;mn&gt;300&lt;/mn&gt;&lt;/math&gt;" id="1213" name="Google Shape;1213;p91" title="the fraction with numerator 450 000 and denominator 1500 equals the fraction with numerator 4500 times 100 and denominator 15 times 100 equals 4500 over 15 equals 4500 divided by 15 equals 300"/>
          <p:cNvPicPr preferRelativeResize="0"/>
          <p:nvPr/>
        </p:nvPicPr>
        <p:blipFill rotWithShape="1">
          <a:blip r:embed="rId4">
            <a:alphaModFix/>
          </a:blip>
          <a:srcRect b="0" l="0" r="53375" t="0"/>
          <a:stretch/>
        </p:blipFill>
        <p:spPr>
          <a:xfrm>
            <a:off x="324000" y="1846650"/>
            <a:ext cx="3064801" cy="613500"/>
          </a:xfrm>
          <a:prstGeom prst="rect">
            <a:avLst/>
          </a:prstGeom>
          <a:noFill/>
          <a:ln>
            <a:noFill/>
          </a:ln>
        </p:spPr>
      </p:pic>
      <p:pic>
        <p:nvPicPr>
          <p:cNvPr descr="&lt;math xmlns=&quot;http://www.w3.org/1998/Math/MathML&quot; display=&quot;block&quot; data-is-equatio=&quot;1&quot; data-latex=&quot;\frac{450\ 000}{1500}=\ \frac{4500\times100}{15\ \times100}\ =\frac{4500}{15}=\ 4500\div15\ =\ 300&quot;&gt;&lt;mfrac&gt;&lt;mrow&gt;&lt;mn&gt;450&lt;/mn&gt;&lt;mtext&gt;&lt;/mtext&gt;&lt;mn&gt;000&lt;/mn&gt;&lt;/mrow&gt;&lt;mn&gt;1500&lt;/mn&gt;&lt;/mfrac&gt;&lt;mo&gt;=&lt;/mo&gt;&lt;mtext&gt;&lt;/mtext&gt;&lt;mfrac&gt;&lt;mrow&gt;&lt;mn&gt;4500&lt;/mn&gt;&lt;mo&gt;×&lt;/mo&gt;&lt;mn&gt;100&lt;/mn&gt;&lt;/mrow&gt;&lt;mrow&gt;&lt;mn&gt;15&lt;/mn&gt;&lt;mtext&gt;&lt;/mtext&gt;&lt;mo&gt;×&lt;/mo&gt;&lt;mn&gt;100&lt;/mn&gt;&lt;/mrow&gt;&lt;/mfrac&gt;&lt;mtext&gt;&lt;/mtext&gt;&lt;mo&gt;=&lt;/mo&gt;&lt;mfrac&gt;&lt;mn&gt;4500&lt;/mn&gt;&lt;mn&gt;15&lt;/mn&gt;&lt;/mfrac&gt;&lt;mo&gt;=&lt;/mo&gt;&lt;mtext&gt;&lt;/mtext&gt;&lt;mn&gt;4500&lt;/mn&gt;&lt;mo&gt;÷&lt;/mo&gt;&lt;mn&gt;15&lt;/mn&gt;&lt;mtext&gt;&lt;/mtext&gt;&lt;mo&gt;=&lt;/mo&gt;&lt;mtext&gt;&lt;/mtext&gt;&lt;mn&gt;300&lt;/mn&gt;&lt;/math&gt;" id="1214" name="Google Shape;1214;p91" title="the fraction with numerator 450 000 and denominator 1500 equals the fraction with numerator 4500 times 100 and denominator 15 times 100 equals 4500 over 15 equals 4500 divided by 15 equals 300"/>
          <p:cNvPicPr preferRelativeResize="0"/>
          <p:nvPr/>
        </p:nvPicPr>
        <p:blipFill rotWithShape="1">
          <a:blip r:embed="rId4">
            <a:alphaModFix/>
          </a:blip>
          <a:srcRect b="0" l="45875" r="0" t="0"/>
          <a:stretch/>
        </p:blipFill>
        <p:spPr>
          <a:xfrm>
            <a:off x="359720" y="3012050"/>
            <a:ext cx="3557776" cy="613500"/>
          </a:xfrm>
          <a:prstGeom prst="rect">
            <a:avLst/>
          </a:prstGeom>
          <a:noFill/>
          <a:ln>
            <a:noFill/>
          </a:ln>
        </p:spPr>
      </p:pic>
      <p:sp>
        <p:nvSpPr>
          <p:cNvPr id="1215" name="Google Shape;1215;p91"/>
          <p:cNvSpPr/>
          <p:nvPr/>
        </p:nvSpPr>
        <p:spPr>
          <a:xfrm>
            <a:off x="220825" y="1652100"/>
            <a:ext cx="1100700" cy="88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6" name="Google Shape;1216;p91"/>
          <p:cNvSpPr/>
          <p:nvPr/>
        </p:nvSpPr>
        <p:spPr>
          <a:xfrm>
            <a:off x="1372825" y="1758550"/>
            <a:ext cx="1815000" cy="88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7" name="Google Shape;1217;p91"/>
          <p:cNvSpPr/>
          <p:nvPr/>
        </p:nvSpPr>
        <p:spPr>
          <a:xfrm>
            <a:off x="315450" y="2935750"/>
            <a:ext cx="1006200" cy="88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8" name="Google Shape;1218;p91"/>
          <p:cNvSpPr/>
          <p:nvPr/>
        </p:nvSpPr>
        <p:spPr>
          <a:xfrm>
            <a:off x="1384925" y="3005900"/>
            <a:ext cx="1594200" cy="88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9" name="Google Shape;1219;p91"/>
          <p:cNvSpPr/>
          <p:nvPr/>
        </p:nvSpPr>
        <p:spPr>
          <a:xfrm>
            <a:off x="3082325" y="3053400"/>
            <a:ext cx="1061100" cy="88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270\ 000\div3000&quot;&gt;&lt;mn&gt;270&lt;/mn&gt;&lt;mtext&gt;&lt;/mtext&gt;&lt;mn&gt;000&lt;/mn&gt;&lt;mo&gt;÷&lt;/mo&gt;&lt;mn&gt;3000&lt;/mn&gt;&lt;/math&gt;" id="1220" name="Google Shape;1220;p91" title="270 000 divided by 3000"/>
          <p:cNvPicPr preferRelativeResize="0"/>
          <p:nvPr/>
        </p:nvPicPr>
        <p:blipFill>
          <a:blip r:embed="rId5">
            <a:alphaModFix/>
          </a:blip>
          <a:stretch>
            <a:fillRect/>
          </a:stretch>
        </p:blipFill>
        <p:spPr>
          <a:xfrm>
            <a:off x="4891025" y="810000"/>
            <a:ext cx="1907523" cy="215625"/>
          </a:xfrm>
          <a:prstGeom prst="rect">
            <a:avLst/>
          </a:prstGeom>
          <a:noFill/>
          <a:ln>
            <a:noFill/>
          </a:ln>
        </p:spPr>
      </p:pic>
      <p:pic>
        <p:nvPicPr>
          <p:cNvPr descr="&lt;math xmlns=&quot;http://www.w3.org/1998/Math/MathML&quot; display=&quot;block&quot; data-is-equatio=&quot;1&quot; data-latex=&quot;\frac{270\ 000}{3000}=\ \frac{270\times1000}{3\ \times1000}\ =\frac{270}{3}=\ 270\div3\ =\ 90&quot;&gt;&lt;mfrac&gt;&lt;mrow&gt;&lt;mn&gt;270&lt;/mn&gt;&lt;mtext&gt;&lt;/mtext&gt;&lt;mn&gt;000&lt;/mn&gt;&lt;/mrow&gt;&lt;mn&gt;3000&lt;/mn&gt;&lt;/mfrac&gt;&lt;mo&gt;=&lt;/mo&gt;&lt;mtext&gt;&lt;/mtext&gt;&lt;mfrac&gt;&lt;mrow&gt;&lt;mn&gt;270&lt;/mn&gt;&lt;mo&gt;×&lt;/mo&gt;&lt;mn&gt;1000&lt;/mn&gt;&lt;/mrow&gt;&lt;mrow&gt;&lt;mn&gt;3&lt;/mn&gt;&lt;mtext&gt;&lt;/mtext&gt;&lt;mo&gt;×&lt;/mo&gt;&lt;mn&gt;1000&lt;/mn&gt;&lt;/mrow&gt;&lt;/mfrac&gt;&lt;mtext&gt;&lt;/mtext&gt;&lt;mo&gt;=&lt;/mo&gt;&lt;mfrac&gt;&lt;mn&gt;270&lt;/mn&gt;&lt;mn&gt;3&lt;/mn&gt;&lt;/mfrac&gt;&lt;mo&gt;=&lt;/mo&gt;&lt;mtext&gt;&lt;/mtext&gt;&lt;mn&gt;270&lt;/mn&gt;&lt;mo&gt;÷&lt;/mo&gt;&lt;mn&gt;3&lt;/mn&gt;&lt;mtext&gt;&lt;/mtext&gt;&lt;mo&gt;=&lt;/mo&gt;&lt;mtext&gt;&lt;/mtext&gt;&lt;mn&gt;90&lt;/mn&gt;&lt;/math&gt;" id="1221" name="Google Shape;1221;p91" title="the fraction with numerator 270 000 and denominator 3000 equals the fraction with numerator 270 times 1000 and denominator 3 times 1000 equals 270 over 3 equals 270 divided by 3 equals 90"/>
          <p:cNvPicPr preferRelativeResize="0"/>
          <p:nvPr/>
        </p:nvPicPr>
        <p:blipFill rotWithShape="1">
          <a:blip r:embed="rId6">
            <a:alphaModFix/>
          </a:blip>
          <a:srcRect b="0" l="0" r="50973" t="0"/>
          <a:stretch/>
        </p:blipFill>
        <p:spPr>
          <a:xfrm>
            <a:off x="4824000" y="1610750"/>
            <a:ext cx="2959101" cy="613500"/>
          </a:xfrm>
          <a:prstGeom prst="rect">
            <a:avLst/>
          </a:prstGeom>
          <a:noFill/>
          <a:ln>
            <a:noFill/>
          </a:ln>
        </p:spPr>
      </p:pic>
      <p:pic>
        <p:nvPicPr>
          <p:cNvPr descr="&lt;math xmlns=&quot;http://www.w3.org/1998/Math/MathML&quot; display=&quot;block&quot; data-is-equatio=&quot;1&quot; data-latex=&quot;\frac{270\ 000}{3000}=\ \frac{270\times1000}{3\ \times1000}\ =\frac{270}{3}=\ 270\div3\ =\ 90&quot;&gt;&lt;mfrac&gt;&lt;mrow&gt;&lt;mn&gt;270&lt;/mn&gt;&lt;mtext&gt;&lt;/mtext&gt;&lt;mn&gt;000&lt;/mn&gt;&lt;/mrow&gt;&lt;mn&gt;3000&lt;/mn&gt;&lt;/mfrac&gt;&lt;mo&gt;=&lt;/mo&gt;&lt;mtext&gt;&lt;/mtext&gt;&lt;mfrac&gt;&lt;mrow&gt;&lt;mn&gt;270&lt;/mn&gt;&lt;mo&gt;×&lt;/mo&gt;&lt;mn&gt;1000&lt;/mn&gt;&lt;/mrow&gt;&lt;mrow&gt;&lt;mn&gt;3&lt;/mn&gt;&lt;mtext&gt;&lt;/mtext&gt;&lt;mo&gt;×&lt;/mo&gt;&lt;mn&gt;1000&lt;/mn&gt;&lt;/mrow&gt;&lt;/mfrac&gt;&lt;mtext&gt;&lt;/mtext&gt;&lt;mo&gt;=&lt;/mo&gt;&lt;mfrac&gt;&lt;mn&gt;270&lt;/mn&gt;&lt;mn&gt;3&lt;/mn&gt;&lt;/mfrac&gt;&lt;mo&gt;=&lt;/mo&gt;&lt;mtext&gt;&lt;/mtext&gt;&lt;mn&gt;270&lt;/mn&gt;&lt;mo&gt;÷&lt;/mo&gt;&lt;mn&gt;3&lt;/mn&gt;&lt;mtext&gt;&lt;/mtext&gt;&lt;mo&gt;=&lt;/mo&gt;&lt;mtext&gt;&lt;/mtext&gt;&lt;mn&gt;90&lt;/mn&gt;&lt;/math&gt;" id="1222" name="Google Shape;1222;p91" title="the fraction with numerator 270 000 and denominator 3000 equals the fraction with numerator 270 times 1000 and denominator 3 times 1000 equals 270 over 3 equals 270 divided by 3 equals 90"/>
          <p:cNvPicPr preferRelativeResize="0"/>
          <p:nvPr/>
        </p:nvPicPr>
        <p:blipFill rotWithShape="1">
          <a:blip r:embed="rId6">
            <a:alphaModFix/>
          </a:blip>
          <a:srcRect b="0" l="50082" r="0" t="0"/>
          <a:stretch/>
        </p:blipFill>
        <p:spPr>
          <a:xfrm>
            <a:off x="4824003" y="2571750"/>
            <a:ext cx="3012852" cy="61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92"/>
          <p:cNvSpPr txBox="1"/>
          <p:nvPr>
            <p:ph idx="1" type="body"/>
          </p:nvPr>
        </p:nvSpPr>
        <p:spPr>
          <a:xfrm>
            <a:off x="324000" y="606900"/>
            <a:ext cx="84960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Answer the following questions.  Find and shade them in the grid to reveal a number.  </a:t>
            </a:r>
            <a:r>
              <a:rPr lang="en-GB" sz="2000"/>
              <a:t> </a:t>
            </a:r>
            <a:endParaRPr sz="2000">
              <a:latin typeface="Kalam"/>
              <a:ea typeface="Kalam"/>
              <a:cs typeface="Kalam"/>
              <a:sym typeface="Kalam"/>
            </a:endParaRPr>
          </a:p>
          <a:p>
            <a:pPr indent="-355600" lvl="0" marL="457200" rtl="0" algn="l">
              <a:spcBef>
                <a:spcPts val="1000"/>
              </a:spcBef>
              <a:spcAft>
                <a:spcPts val="0"/>
              </a:spcAft>
              <a:buSzPts val="2000"/>
              <a:buAutoNum type="arabicParenR"/>
            </a:pPr>
            <a:r>
              <a:rPr lang="en-GB" sz="2000"/>
              <a:t>36 000 ÷ 120</a:t>
            </a:r>
            <a:r>
              <a:rPr lang="en-GB" sz="2000">
                <a:latin typeface="Kalam"/>
                <a:ea typeface="Kalam"/>
                <a:cs typeface="Kalam"/>
                <a:sym typeface="Kalam"/>
              </a:rPr>
              <a:t> </a:t>
            </a:r>
            <a:endParaRPr sz="2000">
              <a:latin typeface="Kalam"/>
              <a:ea typeface="Kalam"/>
              <a:cs typeface="Kalam"/>
              <a:sym typeface="Kalam"/>
            </a:endParaRPr>
          </a:p>
          <a:p>
            <a:pPr indent="-355600" lvl="0" marL="457200" rtl="0" algn="l">
              <a:spcBef>
                <a:spcPts val="0"/>
              </a:spcBef>
              <a:spcAft>
                <a:spcPts val="0"/>
              </a:spcAft>
              <a:buSzPts val="2000"/>
              <a:buAutoNum type="arabicParenR"/>
            </a:pPr>
            <a:r>
              <a:rPr lang="en-GB" sz="2000"/>
              <a:t>4800 ÷ 240 </a:t>
            </a:r>
            <a:endParaRPr sz="2000"/>
          </a:p>
          <a:p>
            <a:pPr indent="-355600" lvl="0" marL="457200" rtl="0" algn="l">
              <a:spcBef>
                <a:spcPts val="0"/>
              </a:spcBef>
              <a:spcAft>
                <a:spcPts val="0"/>
              </a:spcAft>
              <a:buSzPts val="2000"/>
              <a:buAutoNum type="arabicParenR"/>
            </a:pPr>
            <a:r>
              <a:rPr lang="en-GB" sz="2000"/>
              <a:t>600 000 ÷ 500 </a:t>
            </a:r>
            <a:endParaRPr sz="2000"/>
          </a:p>
          <a:p>
            <a:pPr indent="-355600" lvl="0" marL="457200" rtl="0" algn="l">
              <a:spcBef>
                <a:spcPts val="0"/>
              </a:spcBef>
              <a:spcAft>
                <a:spcPts val="0"/>
              </a:spcAft>
              <a:buSzPts val="2000"/>
              <a:buAutoNum type="arabicParenR"/>
            </a:pPr>
            <a:r>
              <a:rPr lang="en-GB" sz="2000"/>
              <a:t>4 500 000 ÷ 300 000 </a:t>
            </a:r>
            <a:endParaRPr sz="2000"/>
          </a:p>
        </p:txBody>
      </p:sp>
      <p:sp>
        <p:nvSpPr>
          <p:cNvPr id="1228" name="Google Shape;1228;p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Simplifying division using multiples of 10</a:t>
            </a:r>
            <a:endParaRPr/>
          </a:p>
        </p:txBody>
      </p:sp>
      <p:graphicFrame>
        <p:nvGraphicFramePr>
          <p:cNvPr id="1229" name="Google Shape;1229;p92"/>
          <p:cNvGraphicFramePr/>
          <p:nvPr/>
        </p:nvGraphicFramePr>
        <p:xfrm>
          <a:off x="1362613" y="2889525"/>
          <a:ext cx="3000000" cy="3000000"/>
        </p:xfrm>
        <a:graphic>
          <a:graphicData uri="http://schemas.openxmlformats.org/drawingml/2006/table">
            <a:tbl>
              <a:tblPr>
                <a:noFill/>
                <a:tableStyleId>{E9CF7F76-4931-4D9F-9688-2F49517263BA}</a:tableStyleId>
              </a:tblPr>
              <a:tblGrid>
                <a:gridCol w="583525"/>
                <a:gridCol w="583525"/>
                <a:gridCol w="583525"/>
                <a:gridCol w="583525"/>
                <a:gridCol w="583525"/>
                <a:gridCol w="583525"/>
                <a:gridCol w="583525"/>
                <a:gridCol w="583525"/>
                <a:gridCol w="583525"/>
                <a:gridCol w="583525"/>
                <a:gridCol w="583525"/>
              </a:tblGrid>
              <a:tr h="381000">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1200</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120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r>
            </a:tbl>
          </a:graphicData>
        </a:graphic>
      </p:graphicFrame>
      <p:sp>
        <p:nvSpPr>
          <p:cNvPr id="1230" name="Google Shape;1230;p92"/>
          <p:cNvSpPr txBox="1"/>
          <p:nvPr/>
        </p:nvSpPr>
        <p:spPr>
          <a:xfrm>
            <a:off x="4572000" y="1450750"/>
            <a:ext cx="3644100" cy="1369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000">
                <a:latin typeface="Lexend"/>
                <a:ea typeface="Lexend"/>
                <a:cs typeface="Lexend"/>
                <a:sym typeface="Lexend"/>
              </a:rPr>
              <a:t>5)   42 000 000 </a:t>
            </a:r>
            <a:r>
              <a:rPr lang="en-GB" sz="2000">
                <a:solidFill>
                  <a:schemeClr val="dk1"/>
                </a:solidFill>
                <a:latin typeface="Lexend"/>
                <a:ea typeface="Lexend"/>
                <a:cs typeface="Lexend"/>
                <a:sym typeface="Lexend"/>
              </a:rPr>
              <a:t>÷ 6000 </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6)   96 000 ÷  24 000 </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7)   300 000 ÷ 6000 </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8)   880 000 ÷ 8000 </a:t>
            </a:r>
            <a:endParaRPr sz="2000">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93"/>
          <p:cNvSpPr txBox="1"/>
          <p:nvPr>
            <p:ph idx="1" type="body"/>
          </p:nvPr>
        </p:nvSpPr>
        <p:spPr>
          <a:xfrm>
            <a:off x="324000" y="606900"/>
            <a:ext cx="8496000" cy="19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Answer the following questions.  Find and shade them in the grid to reveal a number.  </a:t>
            </a:r>
            <a:endParaRPr sz="2000">
              <a:latin typeface="Kalam"/>
              <a:ea typeface="Kalam"/>
              <a:cs typeface="Kalam"/>
              <a:sym typeface="Kalam"/>
            </a:endParaRPr>
          </a:p>
          <a:p>
            <a:pPr indent="-355600" lvl="0" marL="457200" rtl="0" algn="l">
              <a:spcBef>
                <a:spcPts val="1000"/>
              </a:spcBef>
              <a:spcAft>
                <a:spcPts val="0"/>
              </a:spcAft>
              <a:buSzPts val="2000"/>
              <a:buAutoNum type="arabicParenR"/>
            </a:pPr>
            <a:r>
              <a:rPr lang="en-GB" sz="2000"/>
              <a:t>36 000 ÷ 120</a:t>
            </a:r>
            <a:r>
              <a:rPr lang="en-GB" sz="2000">
                <a:latin typeface="Kalam"/>
                <a:ea typeface="Kalam"/>
                <a:cs typeface="Kalam"/>
                <a:sym typeface="Kalam"/>
              </a:rPr>
              <a:t> = 300</a:t>
            </a:r>
            <a:endParaRPr sz="2000">
              <a:latin typeface="Kalam"/>
              <a:ea typeface="Kalam"/>
              <a:cs typeface="Kalam"/>
              <a:sym typeface="Kalam"/>
            </a:endParaRPr>
          </a:p>
          <a:p>
            <a:pPr indent="-355600" lvl="0" marL="457200" rtl="0" algn="l">
              <a:spcBef>
                <a:spcPts val="0"/>
              </a:spcBef>
              <a:spcAft>
                <a:spcPts val="0"/>
              </a:spcAft>
              <a:buSzPts val="2000"/>
              <a:buAutoNum type="arabicParenR"/>
            </a:pPr>
            <a:r>
              <a:rPr lang="en-GB" sz="2000"/>
              <a:t>4800 </a:t>
            </a:r>
            <a:r>
              <a:rPr lang="en-GB" sz="2000"/>
              <a:t>÷ 240 </a:t>
            </a:r>
            <a:r>
              <a:rPr lang="en-GB" sz="2000">
                <a:latin typeface="Kalam"/>
                <a:ea typeface="Kalam"/>
                <a:cs typeface="Kalam"/>
                <a:sym typeface="Kalam"/>
              </a:rPr>
              <a:t>= 20</a:t>
            </a:r>
            <a:endParaRPr sz="2000"/>
          </a:p>
          <a:p>
            <a:pPr indent="-355600" lvl="0" marL="457200" rtl="0" algn="l">
              <a:spcBef>
                <a:spcPts val="0"/>
              </a:spcBef>
              <a:spcAft>
                <a:spcPts val="0"/>
              </a:spcAft>
              <a:buSzPts val="2000"/>
              <a:buAutoNum type="arabicParenR"/>
            </a:pPr>
            <a:r>
              <a:rPr lang="en-GB" sz="2000"/>
              <a:t>600 000 ÷ 500 </a:t>
            </a:r>
            <a:r>
              <a:rPr lang="en-GB" sz="2000">
                <a:latin typeface="Kalam"/>
                <a:ea typeface="Kalam"/>
                <a:cs typeface="Kalam"/>
                <a:sym typeface="Kalam"/>
              </a:rPr>
              <a:t>= 1200</a:t>
            </a:r>
            <a:endParaRPr sz="2000"/>
          </a:p>
          <a:p>
            <a:pPr indent="-355600" lvl="0" marL="457200" rtl="0" algn="l">
              <a:spcBef>
                <a:spcPts val="0"/>
              </a:spcBef>
              <a:spcAft>
                <a:spcPts val="0"/>
              </a:spcAft>
              <a:buSzPts val="2000"/>
              <a:buAutoNum type="arabicParenR"/>
            </a:pPr>
            <a:r>
              <a:rPr lang="en-GB" sz="2000"/>
              <a:t>4 500 000 ÷ 300 000 </a:t>
            </a:r>
            <a:r>
              <a:rPr lang="en-GB" sz="2000">
                <a:latin typeface="Kalam"/>
                <a:ea typeface="Kalam"/>
                <a:cs typeface="Kalam"/>
                <a:sym typeface="Kalam"/>
              </a:rPr>
              <a:t>= 15</a:t>
            </a:r>
            <a:endParaRPr sz="2000"/>
          </a:p>
        </p:txBody>
      </p:sp>
      <p:sp>
        <p:nvSpPr>
          <p:cNvPr id="1236" name="Google Shape;1236;p9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Simplifying division using multiples of 10</a:t>
            </a:r>
            <a:endParaRPr/>
          </a:p>
        </p:txBody>
      </p:sp>
      <p:graphicFrame>
        <p:nvGraphicFramePr>
          <p:cNvPr id="1237" name="Google Shape;1237;p93"/>
          <p:cNvGraphicFramePr/>
          <p:nvPr/>
        </p:nvGraphicFramePr>
        <p:xfrm>
          <a:off x="1362613" y="2889525"/>
          <a:ext cx="3000000" cy="3000000"/>
        </p:xfrm>
        <a:graphic>
          <a:graphicData uri="http://schemas.openxmlformats.org/drawingml/2006/table">
            <a:tbl>
              <a:tblPr>
                <a:noFill/>
                <a:tableStyleId>{E9CF7F76-4931-4D9F-9688-2F49517263BA}</a:tableStyleId>
              </a:tblPr>
              <a:tblGrid>
                <a:gridCol w="583525"/>
                <a:gridCol w="583525"/>
                <a:gridCol w="583525"/>
                <a:gridCol w="583525"/>
                <a:gridCol w="583525"/>
                <a:gridCol w="583525"/>
                <a:gridCol w="583525"/>
                <a:gridCol w="583525"/>
                <a:gridCol w="583525"/>
                <a:gridCol w="583525"/>
                <a:gridCol w="583525"/>
              </a:tblGrid>
              <a:tr h="381000">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1200</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120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7000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18000" marL="18000" anchor="ctr"/>
                </a:tc>
              </a:tr>
              <a:tr h="38100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1100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1200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18000" marL="18000" anchor="ct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0" marB="0" marR="18000" marL="18000" anchor="ctr"/>
                </a:tc>
              </a:tr>
            </a:tbl>
          </a:graphicData>
        </a:graphic>
      </p:graphicFrame>
      <p:sp>
        <p:nvSpPr>
          <p:cNvPr id="1238" name="Google Shape;1238;p93"/>
          <p:cNvSpPr txBox="1"/>
          <p:nvPr/>
        </p:nvSpPr>
        <p:spPr>
          <a:xfrm>
            <a:off x="4572000" y="1450750"/>
            <a:ext cx="3644100" cy="1369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000">
                <a:latin typeface="Lexend"/>
                <a:ea typeface="Lexend"/>
                <a:cs typeface="Lexend"/>
                <a:sym typeface="Lexend"/>
              </a:rPr>
              <a:t>5)   42 000 000 </a:t>
            </a:r>
            <a:r>
              <a:rPr lang="en-GB" sz="2000">
                <a:solidFill>
                  <a:schemeClr val="dk1"/>
                </a:solidFill>
                <a:latin typeface="Lexend"/>
                <a:ea typeface="Lexend"/>
                <a:cs typeface="Lexend"/>
                <a:sym typeface="Lexend"/>
              </a:rPr>
              <a:t>÷ 6000 </a:t>
            </a:r>
            <a:r>
              <a:rPr lang="en-GB" sz="2000">
                <a:solidFill>
                  <a:schemeClr val="dk1"/>
                </a:solidFill>
                <a:latin typeface="Kalam"/>
                <a:ea typeface="Kalam"/>
                <a:cs typeface="Kalam"/>
                <a:sym typeface="Kalam"/>
              </a:rPr>
              <a:t>= 7000</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6)   96 000 ÷  24 000 </a:t>
            </a:r>
            <a:r>
              <a:rPr lang="en-GB" sz="2000">
                <a:solidFill>
                  <a:schemeClr val="dk1"/>
                </a:solidFill>
                <a:latin typeface="Kalam"/>
                <a:ea typeface="Kalam"/>
                <a:cs typeface="Kalam"/>
                <a:sym typeface="Kalam"/>
              </a:rPr>
              <a:t>= 4</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7)   300 000 ÷ 6000 </a:t>
            </a:r>
            <a:r>
              <a:rPr lang="en-GB" sz="2000">
                <a:solidFill>
                  <a:schemeClr val="dk1"/>
                </a:solidFill>
                <a:latin typeface="Kalam"/>
                <a:ea typeface="Kalam"/>
                <a:cs typeface="Kalam"/>
                <a:sym typeface="Kalam"/>
              </a:rPr>
              <a:t>= 50</a:t>
            </a:r>
            <a:endParaRPr sz="2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8)   880 000 ÷ 8000 </a:t>
            </a:r>
            <a:r>
              <a:rPr lang="en-GB" sz="2000">
                <a:solidFill>
                  <a:schemeClr val="dk1"/>
                </a:solidFill>
                <a:latin typeface="Kalam"/>
                <a:ea typeface="Kalam"/>
                <a:cs typeface="Kalam"/>
                <a:sym typeface="Kalam"/>
              </a:rPr>
              <a:t>= 110</a:t>
            </a:r>
            <a:endParaRPr sz="2000">
              <a:solidFill>
                <a:schemeClr val="dk1"/>
              </a:solidFill>
              <a:latin typeface="Lexend"/>
              <a:ea typeface="Lexend"/>
              <a:cs typeface="Lexend"/>
              <a:sym typeface="Lexend"/>
            </a:endParaRPr>
          </a:p>
        </p:txBody>
      </p:sp>
      <p:sp>
        <p:nvSpPr>
          <p:cNvPr id="1239" name="Google Shape;1239;p93"/>
          <p:cNvSpPr/>
          <p:nvPr/>
        </p:nvSpPr>
        <p:spPr>
          <a:xfrm>
            <a:off x="1362625" y="2888725"/>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0" name="Google Shape;1240;p93"/>
          <p:cNvSpPr/>
          <p:nvPr/>
        </p:nvSpPr>
        <p:spPr>
          <a:xfrm>
            <a:off x="2539436" y="3630183"/>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1" name="Google Shape;1241;p93"/>
          <p:cNvSpPr/>
          <p:nvPr/>
        </p:nvSpPr>
        <p:spPr>
          <a:xfrm>
            <a:off x="3716246" y="4403748"/>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2" name="Google Shape;1242;p93"/>
          <p:cNvSpPr/>
          <p:nvPr/>
        </p:nvSpPr>
        <p:spPr>
          <a:xfrm>
            <a:off x="4874950" y="3630183"/>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3" name="Google Shape;1243;p93"/>
          <p:cNvSpPr/>
          <p:nvPr/>
        </p:nvSpPr>
        <p:spPr>
          <a:xfrm>
            <a:off x="7196131" y="2888725"/>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4" name="Google Shape;1244;p93"/>
          <p:cNvSpPr/>
          <p:nvPr/>
        </p:nvSpPr>
        <p:spPr>
          <a:xfrm>
            <a:off x="1951030" y="2888725"/>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5" name="Google Shape;1245;p93"/>
          <p:cNvSpPr/>
          <p:nvPr/>
        </p:nvSpPr>
        <p:spPr>
          <a:xfrm>
            <a:off x="2539436" y="4403748"/>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6" name="Google Shape;1246;p93"/>
          <p:cNvSpPr/>
          <p:nvPr/>
        </p:nvSpPr>
        <p:spPr>
          <a:xfrm>
            <a:off x="3716246" y="4021859"/>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7" name="Google Shape;1247;p93"/>
          <p:cNvSpPr/>
          <p:nvPr/>
        </p:nvSpPr>
        <p:spPr>
          <a:xfrm>
            <a:off x="4312825" y="2888725"/>
            <a:ext cx="5538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8" name="Google Shape;1248;p93"/>
          <p:cNvSpPr/>
          <p:nvPr/>
        </p:nvSpPr>
        <p:spPr>
          <a:xfrm>
            <a:off x="6030825" y="3630184"/>
            <a:ext cx="611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9" name="Google Shape;1249;p93"/>
          <p:cNvSpPr/>
          <p:nvPr/>
        </p:nvSpPr>
        <p:spPr>
          <a:xfrm>
            <a:off x="4874950" y="4403750"/>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0" name="Google Shape;1250;p93"/>
          <p:cNvSpPr/>
          <p:nvPr/>
        </p:nvSpPr>
        <p:spPr>
          <a:xfrm>
            <a:off x="2539436" y="2888725"/>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1" name="Google Shape;1251;p93"/>
          <p:cNvSpPr/>
          <p:nvPr/>
        </p:nvSpPr>
        <p:spPr>
          <a:xfrm>
            <a:off x="4312825" y="4403750"/>
            <a:ext cx="5538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2" name="Google Shape;1252;p93"/>
          <p:cNvSpPr/>
          <p:nvPr/>
        </p:nvSpPr>
        <p:spPr>
          <a:xfrm>
            <a:off x="6030825" y="4403750"/>
            <a:ext cx="611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3" name="Google Shape;1253;p93"/>
          <p:cNvSpPr/>
          <p:nvPr/>
        </p:nvSpPr>
        <p:spPr>
          <a:xfrm>
            <a:off x="7196131" y="3630183"/>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4" name="Google Shape;1254;p93"/>
          <p:cNvSpPr/>
          <p:nvPr/>
        </p:nvSpPr>
        <p:spPr>
          <a:xfrm>
            <a:off x="2539436" y="3266881"/>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5" name="Google Shape;1255;p93"/>
          <p:cNvSpPr/>
          <p:nvPr/>
        </p:nvSpPr>
        <p:spPr>
          <a:xfrm>
            <a:off x="3716246" y="2888725"/>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6" name="Google Shape;1256;p93"/>
          <p:cNvSpPr/>
          <p:nvPr/>
        </p:nvSpPr>
        <p:spPr>
          <a:xfrm>
            <a:off x="6030825" y="3266882"/>
            <a:ext cx="611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7" name="Google Shape;1257;p93"/>
          <p:cNvSpPr/>
          <p:nvPr/>
        </p:nvSpPr>
        <p:spPr>
          <a:xfrm>
            <a:off x="7196131" y="4021860"/>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8" name="Google Shape;1258;p93"/>
          <p:cNvSpPr/>
          <p:nvPr/>
        </p:nvSpPr>
        <p:spPr>
          <a:xfrm>
            <a:off x="4874950" y="4021860"/>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9" name="Google Shape;1259;p93"/>
          <p:cNvSpPr/>
          <p:nvPr/>
        </p:nvSpPr>
        <p:spPr>
          <a:xfrm>
            <a:off x="1951030" y="3630183"/>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0" name="Google Shape;1260;p93"/>
          <p:cNvSpPr/>
          <p:nvPr/>
        </p:nvSpPr>
        <p:spPr>
          <a:xfrm>
            <a:off x="4874950" y="3266882"/>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1" name="Google Shape;1261;p93"/>
          <p:cNvSpPr/>
          <p:nvPr/>
        </p:nvSpPr>
        <p:spPr>
          <a:xfrm>
            <a:off x="6642275" y="2888725"/>
            <a:ext cx="5538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2" name="Google Shape;1262;p93"/>
          <p:cNvSpPr/>
          <p:nvPr/>
        </p:nvSpPr>
        <p:spPr>
          <a:xfrm>
            <a:off x="6030825" y="4021861"/>
            <a:ext cx="611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3" name="Google Shape;1263;p93"/>
          <p:cNvSpPr/>
          <p:nvPr/>
        </p:nvSpPr>
        <p:spPr>
          <a:xfrm>
            <a:off x="3716246" y="3266881"/>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4" name="Google Shape;1264;p93"/>
          <p:cNvSpPr/>
          <p:nvPr/>
        </p:nvSpPr>
        <p:spPr>
          <a:xfrm>
            <a:off x="1362625" y="4403748"/>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5" name="Google Shape;1265;p93"/>
          <p:cNvSpPr/>
          <p:nvPr/>
        </p:nvSpPr>
        <p:spPr>
          <a:xfrm>
            <a:off x="4312825" y="3630184"/>
            <a:ext cx="5538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6" name="Google Shape;1266;p93"/>
          <p:cNvSpPr/>
          <p:nvPr/>
        </p:nvSpPr>
        <p:spPr>
          <a:xfrm>
            <a:off x="6030825" y="2888725"/>
            <a:ext cx="611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7" name="Google Shape;1267;p93"/>
          <p:cNvSpPr/>
          <p:nvPr/>
        </p:nvSpPr>
        <p:spPr>
          <a:xfrm>
            <a:off x="7196131" y="4403750"/>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8" name="Google Shape;1268;p93"/>
          <p:cNvSpPr/>
          <p:nvPr/>
        </p:nvSpPr>
        <p:spPr>
          <a:xfrm>
            <a:off x="2539436" y="4021859"/>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9" name="Google Shape;1269;p93"/>
          <p:cNvSpPr/>
          <p:nvPr/>
        </p:nvSpPr>
        <p:spPr>
          <a:xfrm>
            <a:off x="4874950" y="2888725"/>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0" name="Google Shape;1270;p93"/>
          <p:cNvSpPr/>
          <p:nvPr/>
        </p:nvSpPr>
        <p:spPr>
          <a:xfrm>
            <a:off x="6642224" y="4403750"/>
            <a:ext cx="5538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1" name="Google Shape;1271;p93"/>
          <p:cNvSpPr/>
          <p:nvPr/>
        </p:nvSpPr>
        <p:spPr>
          <a:xfrm>
            <a:off x="1362625" y="3630183"/>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2" name="Google Shape;1272;p93"/>
          <p:cNvSpPr/>
          <p:nvPr/>
        </p:nvSpPr>
        <p:spPr>
          <a:xfrm>
            <a:off x="1951030" y="4403748"/>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3" name="Google Shape;1273;p93"/>
          <p:cNvSpPr/>
          <p:nvPr/>
        </p:nvSpPr>
        <p:spPr>
          <a:xfrm>
            <a:off x="3716246" y="3630183"/>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4" name="Google Shape;1274;p93"/>
          <p:cNvSpPr/>
          <p:nvPr/>
        </p:nvSpPr>
        <p:spPr>
          <a:xfrm>
            <a:off x="7196131" y="3266882"/>
            <a:ext cx="572400" cy="381900"/>
          </a:xfrm>
          <a:prstGeom prst="rect">
            <a:avLst/>
          </a:prstGeom>
          <a:solidFill>
            <a:srgbClr val="037B7D">
              <a:alpha val="30000"/>
            </a:srgbClr>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94"/>
          <p:cNvSpPr txBox="1"/>
          <p:nvPr>
            <p:ph idx="1" type="body"/>
          </p:nvPr>
        </p:nvSpPr>
        <p:spPr>
          <a:xfrm>
            <a:off x="324000" y="6228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Multiples of 10</a:t>
            </a:r>
            <a:r>
              <a:rPr baseline="30000" lang="en-GB"/>
              <a:t>n </a:t>
            </a:r>
            <a:r>
              <a:rPr lang="en-GB"/>
              <a:t>can be used to simplify both multiplication and division.</a:t>
            </a:r>
            <a:endParaRPr/>
          </a:p>
          <a:p>
            <a:pPr indent="0" lvl="0" marL="0" rtl="0" algn="l">
              <a:spcBef>
                <a:spcPts val="1000"/>
              </a:spcBef>
              <a:spcAft>
                <a:spcPts val="0"/>
              </a:spcAft>
              <a:buNone/>
            </a:pPr>
            <a:r>
              <a:rPr lang="en-GB"/>
              <a:t>E.g.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Dividing by 10 is </a:t>
            </a:r>
            <a:r>
              <a:rPr lang="en-GB"/>
              <a:t>equivalent</a:t>
            </a:r>
            <a:r>
              <a:rPr lang="en-GB"/>
              <a:t> to multiplying by 0.1.</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It is important to consider place value when working with decimals. </a:t>
            </a:r>
            <a:endParaRPr/>
          </a:p>
        </p:txBody>
      </p:sp>
      <p:sp>
        <p:nvSpPr>
          <p:cNvPr id="1280" name="Google Shape;1280;p94"/>
          <p:cNvSpPr txBox="1"/>
          <p:nvPr>
            <p:ph type="title"/>
          </p:nvPr>
        </p:nvSpPr>
        <p:spPr>
          <a:xfrm>
            <a:off x="1684800" y="157525"/>
            <a:ext cx="71352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Simplifying multiplication and division using multiples of 10</a:t>
            </a:r>
            <a:endParaRPr/>
          </a:p>
        </p:txBody>
      </p:sp>
      <p:pic>
        <p:nvPicPr>
          <p:cNvPr id="1281" name="Google Shape;1281;p94"/>
          <p:cNvPicPr preferRelativeResize="0"/>
          <p:nvPr/>
        </p:nvPicPr>
        <p:blipFill>
          <a:blip r:embed="rId3">
            <a:alphaModFix/>
          </a:blip>
          <a:stretch>
            <a:fillRect/>
          </a:stretch>
        </p:blipFill>
        <p:spPr>
          <a:xfrm>
            <a:off x="1068475" y="1531225"/>
            <a:ext cx="2581375" cy="1251575"/>
          </a:xfrm>
          <a:prstGeom prst="rect">
            <a:avLst/>
          </a:prstGeom>
          <a:noFill/>
          <a:ln>
            <a:noFill/>
          </a:ln>
        </p:spPr>
      </p:pic>
      <p:pic>
        <p:nvPicPr>
          <p:cNvPr id="1282" name="Google Shape;1282;p94"/>
          <p:cNvPicPr preferRelativeResize="0"/>
          <p:nvPr/>
        </p:nvPicPr>
        <p:blipFill>
          <a:blip r:embed="rId4">
            <a:alphaModFix/>
          </a:blip>
          <a:stretch>
            <a:fillRect/>
          </a:stretch>
        </p:blipFill>
        <p:spPr>
          <a:xfrm>
            <a:off x="4912550" y="1812524"/>
            <a:ext cx="2455314" cy="999775"/>
          </a:xfrm>
          <a:prstGeom prst="rect">
            <a:avLst/>
          </a:prstGeom>
          <a:noFill/>
          <a:ln>
            <a:noFill/>
          </a:ln>
        </p:spPr>
      </p:pic>
      <p:pic>
        <p:nvPicPr>
          <p:cNvPr id="1283" name="Google Shape;1283;p94"/>
          <p:cNvPicPr preferRelativeResize="0"/>
          <p:nvPr/>
        </p:nvPicPr>
        <p:blipFill>
          <a:blip r:embed="rId5">
            <a:alphaModFix/>
          </a:blip>
          <a:stretch>
            <a:fillRect/>
          </a:stretch>
        </p:blipFill>
        <p:spPr>
          <a:xfrm>
            <a:off x="4912550" y="1530025"/>
            <a:ext cx="1344250" cy="19968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9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289" name="Google Shape;1289;p9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