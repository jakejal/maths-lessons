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189432-2F48-46B2-A533-8BF2E077D098}">
  <a:tblStyle styleId="{A0189432-2F48-46B2-A533-8BF2E077D0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4" Type="http://schemas.openxmlformats.org/officeDocument/2006/relationships/slide" Target="slides/slide29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d3a8aeb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d3a8aeb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01c746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01c746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901c746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901c746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901c746ce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901c746ce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01c746ce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01c746ce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901c746ce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901c746ce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901c746ce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901c746ce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901c746ceb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901c746ceb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901c746ceb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901c746ceb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901c746ceb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901c746ceb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901c746ceb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901c746ceb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901c746ceb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901c746ceb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901c746ce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901c746ce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901c746ceb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901c746ce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01c746ce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01c746ce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901c746ceb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01c746ceb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901c746ceb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901c746ceb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901c746ceb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901c746ceb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909086cf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909086cf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909086cfb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909086cfb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909086cfb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909086cfb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901c746ceb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901c746ceb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909086cfb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909086cfb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909086cfb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909086cf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55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5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5.png"/><Relationship Id="rId4" Type="http://schemas.openxmlformats.org/officeDocument/2006/relationships/image" Target="../media/image31.png"/><Relationship Id="rId11" Type="http://schemas.openxmlformats.org/officeDocument/2006/relationships/image" Target="../media/image17.png"/><Relationship Id="rId10" Type="http://schemas.openxmlformats.org/officeDocument/2006/relationships/image" Target="../media/image35.png"/><Relationship Id="rId9" Type="http://schemas.openxmlformats.org/officeDocument/2006/relationships/image" Target="../media/image3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Multiplication and division where only one value is negative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multiplication and division of one or more positive integers with one negative integer.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The dividend is what we are dividing. </a:t>
            </a:r>
            <a:endParaRPr b="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The divisor is what we are dividing by.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Divid</a:t>
            </a:r>
            <a:r>
              <a:rPr lang="en-GB"/>
              <a:t>ing when the dividend is negative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only one value is negative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5598375" y="1301050"/>
            <a:ext cx="3216900" cy="14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 groups of (−6) = (−24)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 ‘lots of’ (−6) = (−24)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4 × (−6) = (−24)</a:t>
            </a:r>
            <a:endParaRPr/>
          </a:p>
        </p:txBody>
      </p:sp>
      <p:grpSp>
        <p:nvGrpSpPr>
          <p:cNvPr id="782" name="Google Shape;782;p69"/>
          <p:cNvGrpSpPr/>
          <p:nvPr/>
        </p:nvGrpSpPr>
        <p:grpSpPr>
          <a:xfrm>
            <a:off x="452697" y="1648190"/>
            <a:ext cx="4775485" cy="606850"/>
            <a:chOff x="452697" y="1648190"/>
            <a:chExt cx="4775485" cy="606850"/>
          </a:xfrm>
        </p:grpSpPr>
        <p:sp>
          <p:nvSpPr>
            <p:cNvPr id="783" name="Google Shape;783;p69"/>
            <p:cNvSpPr/>
            <p:nvPr/>
          </p:nvSpPr>
          <p:spPr>
            <a:xfrm>
              <a:off x="452697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4" name="Google Shape;784;p69"/>
            <p:cNvSpPr/>
            <p:nvPr/>
          </p:nvSpPr>
          <p:spPr>
            <a:xfrm>
              <a:off x="816372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5" name="Google Shape;785;p69"/>
            <p:cNvSpPr/>
            <p:nvPr/>
          </p:nvSpPr>
          <p:spPr>
            <a:xfrm>
              <a:off x="1180047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6" name="Google Shape;786;p69"/>
            <p:cNvSpPr/>
            <p:nvPr/>
          </p:nvSpPr>
          <p:spPr>
            <a:xfrm>
              <a:off x="1180047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452697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816372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1694558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2058233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2421908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9"/>
            <p:cNvSpPr/>
            <p:nvPr/>
          </p:nvSpPr>
          <p:spPr>
            <a:xfrm>
              <a:off x="2421908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1694558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69"/>
            <p:cNvSpPr/>
            <p:nvPr/>
          </p:nvSpPr>
          <p:spPr>
            <a:xfrm>
              <a:off x="2058233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9"/>
            <p:cNvSpPr/>
            <p:nvPr/>
          </p:nvSpPr>
          <p:spPr>
            <a:xfrm>
              <a:off x="2963408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9"/>
            <p:cNvSpPr/>
            <p:nvPr/>
          </p:nvSpPr>
          <p:spPr>
            <a:xfrm>
              <a:off x="3327083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9"/>
            <p:cNvSpPr/>
            <p:nvPr/>
          </p:nvSpPr>
          <p:spPr>
            <a:xfrm>
              <a:off x="3690758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9"/>
            <p:cNvSpPr/>
            <p:nvPr/>
          </p:nvSpPr>
          <p:spPr>
            <a:xfrm>
              <a:off x="3690758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2963408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3327083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4220633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4584308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9"/>
            <p:cNvSpPr/>
            <p:nvPr/>
          </p:nvSpPr>
          <p:spPr>
            <a:xfrm>
              <a:off x="4947983" y="164819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4947983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4220633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4584308" y="1974840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419824" y="3542102"/>
            <a:ext cx="4860904" cy="606850"/>
            <a:chOff x="419824" y="3585815"/>
            <a:chExt cx="4860904" cy="606850"/>
          </a:xfrm>
        </p:grpSpPr>
        <p:grpSp>
          <p:nvGrpSpPr>
            <p:cNvPr id="808" name="Google Shape;808;p69"/>
            <p:cNvGrpSpPr/>
            <p:nvPr/>
          </p:nvGrpSpPr>
          <p:grpSpPr>
            <a:xfrm>
              <a:off x="419824" y="3585815"/>
              <a:ext cx="643875" cy="606850"/>
              <a:chOff x="353149" y="2699990"/>
              <a:chExt cx="643875" cy="606850"/>
            </a:xfrm>
          </p:grpSpPr>
          <p:sp>
            <p:nvSpPr>
              <p:cNvPr id="809" name="Google Shape;809;p69"/>
              <p:cNvSpPr/>
              <p:nvPr/>
            </p:nvSpPr>
            <p:spPr>
              <a:xfrm>
                <a:off x="353149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0" name="Google Shape;810;p69"/>
              <p:cNvSpPr/>
              <p:nvPr/>
            </p:nvSpPr>
            <p:spPr>
              <a:xfrm>
                <a:off x="716824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1" name="Google Shape;811;p69"/>
              <p:cNvSpPr/>
              <p:nvPr/>
            </p:nvSpPr>
            <p:spPr>
              <a:xfrm>
                <a:off x="353149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2" name="Google Shape;812;p69"/>
              <p:cNvSpPr/>
              <p:nvPr/>
            </p:nvSpPr>
            <p:spPr>
              <a:xfrm>
                <a:off x="716824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13" name="Google Shape;813;p69"/>
            <p:cNvGrpSpPr/>
            <p:nvPr/>
          </p:nvGrpSpPr>
          <p:grpSpPr>
            <a:xfrm>
              <a:off x="1254008" y="3585815"/>
              <a:ext cx="643875" cy="606850"/>
              <a:chOff x="324008" y="2699990"/>
              <a:chExt cx="643875" cy="606850"/>
            </a:xfrm>
          </p:grpSpPr>
          <p:sp>
            <p:nvSpPr>
              <p:cNvPr id="814" name="Google Shape;814;p69"/>
              <p:cNvSpPr/>
              <p:nvPr/>
            </p:nvSpPr>
            <p:spPr>
              <a:xfrm>
                <a:off x="324008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5" name="Google Shape;815;p69"/>
              <p:cNvSpPr/>
              <p:nvPr/>
            </p:nvSpPr>
            <p:spPr>
              <a:xfrm>
                <a:off x="687683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6" name="Google Shape;816;p69"/>
              <p:cNvSpPr/>
              <p:nvPr/>
            </p:nvSpPr>
            <p:spPr>
              <a:xfrm>
                <a:off x="324008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7" name="Google Shape;817;p69"/>
              <p:cNvSpPr/>
              <p:nvPr/>
            </p:nvSpPr>
            <p:spPr>
              <a:xfrm>
                <a:off x="687683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18" name="Google Shape;818;p69"/>
            <p:cNvGrpSpPr/>
            <p:nvPr/>
          </p:nvGrpSpPr>
          <p:grpSpPr>
            <a:xfrm>
              <a:off x="2088191" y="3585815"/>
              <a:ext cx="643875" cy="606850"/>
              <a:chOff x="294866" y="2699990"/>
              <a:chExt cx="643875" cy="606850"/>
            </a:xfrm>
          </p:grpSpPr>
          <p:sp>
            <p:nvSpPr>
              <p:cNvPr id="819" name="Google Shape;819;p69"/>
              <p:cNvSpPr/>
              <p:nvPr/>
            </p:nvSpPr>
            <p:spPr>
              <a:xfrm>
                <a:off x="294866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0" name="Google Shape;820;p69"/>
              <p:cNvSpPr/>
              <p:nvPr/>
            </p:nvSpPr>
            <p:spPr>
              <a:xfrm>
                <a:off x="658541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1" name="Google Shape;821;p69"/>
              <p:cNvSpPr/>
              <p:nvPr/>
            </p:nvSpPr>
            <p:spPr>
              <a:xfrm>
                <a:off x="294866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2" name="Google Shape;822;p69"/>
              <p:cNvSpPr/>
              <p:nvPr/>
            </p:nvSpPr>
            <p:spPr>
              <a:xfrm>
                <a:off x="658541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23" name="Google Shape;823;p69"/>
            <p:cNvGrpSpPr/>
            <p:nvPr/>
          </p:nvGrpSpPr>
          <p:grpSpPr>
            <a:xfrm>
              <a:off x="2940885" y="3585815"/>
              <a:ext cx="643875" cy="606850"/>
              <a:chOff x="284235" y="2699990"/>
              <a:chExt cx="643875" cy="606850"/>
            </a:xfrm>
          </p:grpSpPr>
          <p:sp>
            <p:nvSpPr>
              <p:cNvPr id="824" name="Google Shape;824;p69"/>
              <p:cNvSpPr/>
              <p:nvPr/>
            </p:nvSpPr>
            <p:spPr>
              <a:xfrm>
                <a:off x="284235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5" name="Google Shape;825;p69"/>
              <p:cNvSpPr/>
              <p:nvPr/>
            </p:nvSpPr>
            <p:spPr>
              <a:xfrm>
                <a:off x="647910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6" name="Google Shape;826;p69"/>
              <p:cNvSpPr/>
              <p:nvPr/>
            </p:nvSpPr>
            <p:spPr>
              <a:xfrm>
                <a:off x="284235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7" name="Google Shape;827;p69"/>
              <p:cNvSpPr/>
              <p:nvPr/>
            </p:nvSpPr>
            <p:spPr>
              <a:xfrm>
                <a:off x="647910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28" name="Google Shape;828;p69"/>
            <p:cNvGrpSpPr/>
            <p:nvPr/>
          </p:nvGrpSpPr>
          <p:grpSpPr>
            <a:xfrm>
              <a:off x="3792039" y="3585815"/>
              <a:ext cx="643875" cy="606850"/>
              <a:chOff x="269664" y="2699990"/>
              <a:chExt cx="643875" cy="606850"/>
            </a:xfrm>
          </p:grpSpPr>
          <p:sp>
            <p:nvSpPr>
              <p:cNvPr id="829" name="Google Shape;829;p69"/>
              <p:cNvSpPr/>
              <p:nvPr/>
            </p:nvSpPr>
            <p:spPr>
              <a:xfrm>
                <a:off x="269664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0" name="Google Shape;830;p69"/>
              <p:cNvSpPr/>
              <p:nvPr/>
            </p:nvSpPr>
            <p:spPr>
              <a:xfrm>
                <a:off x="633339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1" name="Google Shape;831;p69"/>
              <p:cNvSpPr/>
              <p:nvPr/>
            </p:nvSpPr>
            <p:spPr>
              <a:xfrm>
                <a:off x="269664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2" name="Google Shape;832;p69"/>
              <p:cNvSpPr/>
              <p:nvPr/>
            </p:nvSpPr>
            <p:spPr>
              <a:xfrm>
                <a:off x="633339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33" name="Google Shape;833;p69"/>
            <p:cNvGrpSpPr/>
            <p:nvPr/>
          </p:nvGrpSpPr>
          <p:grpSpPr>
            <a:xfrm>
              <a:off x="4636854" y="3585815"/>
              <a:ext cx="643875" cy="606850"/>
              <a:chOff x="251154" y="2699990"/>
              <a:chExt cx="643875" cy="606850"/>
            </a:xfrm>
          </p:grpSpPr>
          <p:sp>
            <p:nvSpPr>
              <p:cNvPr id="834" name="Google Shape;834;p69"/>
              <p:cNvSpPr/>
              <p:nvPr/>
            </p:nvSpPr>
            <p:spPr>
              <a:xfrm>
                <a:off x="251154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5" name="Google Shape;835;p69"/>
              <p:cNvSpPr/>
              <p:nvPr/>
            </p:nvSpPr>
            <p:spPr>
              <a:xfrm>
                <a:off x="614829" y="269999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6" name="Google Shape;836;p69"/>
              <p:cNvSpPr/>
              <p:nvPr/>
            </p:nvSpPr>
            <p:spPr>
              <a:xfrm>
                <a:off x="251154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7" name="Google Shape;837;p69"/>
              <p:cNvSpPr/>
              <p:nvPr/>
            </p:nvSpPr>
            <p:spPr>
              <a:xfrm>
                <a:off x="614829" y="3026640"/>
                <a:ext cx="280200" cy="2802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38" name="Google Shape;838;p69"/>
          <p:cNvSpPr txBox="1"/>
          <p:nvPr>
            <p:ph idx="1" type="body"/>
          </p:nvPr>
        </p:nvSpPr>
        <p:spPr>
          <a:xfrm>
            <a:off x="324000" y="750900"/>
            <a:ext cx="8496000" cy="3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&amp; Laura each have 24 negative counters.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69"/>
          <p:cNvSpPr txBox="1"/>
          <p:nvPr>
            <p:ph idx="1" type="body"/>
          </p:nvPr>
        </p:nvSpPr>
        <p:spPr>
          <a:xfrm>
            <a:off x="5688919" y="3120325"/>
            <a:ext cx="3216900" cy="14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</a:t>
            </a:r>
            <a:r>
              <a:rPr lang="en-GB"/>
              <a:t> groups of (−4) = (−24)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6 ‘lots of’ (−4) = (−24)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6 × (−4) = (−24)</a:t>
            </a:r>
            <a:endParaRPr/>
          </a:p>
        </p:txBody>
      </p:sp>
      <p:sp>
        <p:nvSpPr>
          <p:cNvPr id="840" name="Google Shape;840;p69"/>
          <p:cNvSpPr txBox="1"/>
          <p:nvPr>
            <p:ph idx="1" type="body"/>
          </p:nvPr>
        </p:nvSpPr>
        <p:spPr>
          <a:xfrm>
            <a:off x="324000" y="3174200"/>
            <a:ext cx="41763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sets hers out like this:</a:t>
            </a:r>
            <a:endParaRPr/>
          </a:p>
        </p:txBody>
      </p:sp>
      <p:graphicFrame>
        <p:nvGraphicFramePr>
          <p:cNvPr id="841" name="Google Shape;841;p69"/>
          <p:cNvGraphicFramePr/>
          <p:nvPr/>
        </p:nvGraphicFramePr>
        <p:xfrm>
          <a:off x="324000" y="233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{A0189432-2F48-46B2-A533-8BF2E077D098}</a:tableStyleId>
              </a:tblPr>
              <a:tblGrid>
                <a:gridCol w="1257400"/>
                <a:gridCol w="1257400"/>
                <a:gridCol w="1257400"/>
                <a:gridCol w="12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42" name="Google Shape;842;p69"/>
          <p:cNvGraphicFramePr/>
          <p:nvPr/>
        </p:nvGraphicFramePr>
        <p:xfrm>
          <a:off x="324000" y="42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{A0189432-2F48-46B2-A533-8BF2E077D098}</a:tableStyleId>
              </a:tblPr>
              <a:tblGrid>
                <a:gridCol w="838275"/>
                <a:gridCol w="838275"/>
                <a:gridCol w="838275"/>
                <a:gridCol w="838275"/>
                <a:gridCol w="838275"/>
                <a:gridCol w="838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3" name="Google Shape;843;p69"/>
          <p:cNvSpPr txBox="1"/>
          <p:nvPr>
            <p:ph idx="1" type="body"/>
          </p:nvPr>
        </p:nvSpPr>
        <p:spPr>
          <a:xfrm>
            <a:off x="324000" y="1254256"/>
            <a:ext cx="4176300" cy="3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Jun sets his out like this: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0"/>
          <p:cNvSpPr/>
          <p:nvPr/>
        </p:nvSpPr>
        <p:spPr>
          <a:xfrm>
            <a:off x="429851" y="692125"/>
            <a:ext cx="1610100" cy="36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0"/>
          <p:cNvSpPr/>
          <p:nvPr/>
        </p:nvSpPr>
        <p:spPr>
          <a:xfrm>
            <a:off x="429851" y="1093954"/>
            <a:ext cx="1610100" cy="36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0"/>
          <p:cNvSpPr/>
          <p:nvPr/>
        </p:nvSpPr>
        <p:spPr>
          <a:xfrm>
            <a:off x="429851" y="1509827"/>
            <a:ext cx="1610100" cy="36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1" name="Google Shape;851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85200" y="1925700"/>
            <a:ext cx="2351350" cy="156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760800" y="2116825"/>
            <a:ext cx="2351350" cy="145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0"/>
          <p:cNvSpPr txBox="1"/>
          <p:nvPr>
            <p:ph idx="1" type="body"/>
          </p:nvPr>
        </p:nvSpPr>
        <p:spPr>
          <a:xfrm>
            <a:off x="1742800" y="2001000"/>
            <a:ext cx="2241600" cy="11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see three groups of negative four.</a:t>
            </a:r>
            <a:endParaRPr/>
          </a:p>
        </p:txBody>
      </p:sp>
      <p:sp>
        <p:nvSpPr>
          <p:cNvPr id="854" name="Google Shape;85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855" name="Google Shape;855;p70"/>
          <p:cNvSpPr/>
          <p:nvPr/>
        </p:nvSpPr>
        <p:spPr>
          <a:xfrm>
            <a:off x="476408" y="7337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/>
          <p:nvPr/>
        </p:nvSpPr>
        <p:spPr>
          <a:xfrm>
            <a:off x="476408" y="11366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/>
          <p:nvPr/>
        </p:nvSpPr>
        <p:spPr>
          <a:xfrm>
            <a:off x="476408" y="15394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/>
          <p:nvPr/>
        </p:nvSpPr>
        <p:spPr>
          <a:xfrm>
            <a:off x="879633" y="7337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0"/>
          <p:cNvSpPr/>
          <p:nvPr/>
        </p:nvSpPr>
        <p:spPr>
          <a:xfrm>
            <a:off x="879633" y="11366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0"/>
          <p:cNvSpPr/>
          <p:nvPr/>
        </p:nvSpPr>
        <p:spPr>
          <a:xfrm>
            <a:off x="879633" y="15394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/>
          <p:nvPr/>
        </p:nvSpPr>
        <p:spPr>
          <a:xfrm>
            <a:off x="1282858" y="7337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0"/>
          <p:cNvSpPr/>
          <p:nvPr/>
        </p:nvSpPr>
        <p:spPr>
          <a:xfrm>
            <a:off x="1282858" y="11366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0"/>
          <p:cNvSpPr/>
          <p:nvPr/>
        </p:nvSpPr>
        <p:spPr>
          <a:xfrm>
            <a:off x="1282858" y="15394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0"/>
          <p:cNvSpPr/>
          <p:nvPr/>
        </p:nvSpPr>
        <p:spPr>
          <a:xfrm>
            <a:off x="1686083" y="7337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1686083" y="11366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1686083" y="15394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0"/>
          <p:cNvSpPr txBox="1"/>
          <p:nvPr>
            <p:ph idx="1" type="body"/>
          </p:nvPr>
        </p:nvSpPr>
        <p:spPr>
          <a:xfrm>
            <a:off x="4857333" y="2181042"/>
            <a:ext cx="2340600" cy="10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see four groups of negative three.</a:t>
            </a:r>
            <a:endParaRPr/>
          </a:p>
        </p:txBody>
      </p:sp>
      <p:sp>
        <p:nvSpPr>
          <p:cNvPr id="868" name="Google Shape;868;p70"/>
          <p:cNvSpPr txBox="1"/>
          <p:nvPr>
            <p:ph idx="1" type="body"/>
          </p:nvPr>
        </p:nvSpPr>
        <p:spPr>
          <a:xfrm>
            <a:off x="2887200" y="3779988"/>
            <a:ext cx="18627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is right?</a:t>
            </a:r>
            <a:endParaRPr/>
          </a:p>
        </p:txBody>
      </p:sp>
      <p:sp>
        <p:nvSpPr>
          <p:cNvPr id="869" name="Google Shape;869;p70"/>
          <p:cNvSpPr txBox="1"/>
          <p:nvPr>
            <p:ph idx="1" type="body"/>
          </p:nvPr>
        </p:nvSpPr>
        <p:spPr>
          <a:xfrm>
            <a:off x="2887200" y="4282700"/>
            <a:ext cx="24294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are both right.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0" name="Google Shape;87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800" y="2756615"/>
            <a:ext cx="1250248" cy="1563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1275" y="2756625"/>
            <a:ext cx="1188313" cy="156337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0"/>
          <p:cNvSpPr/>
          <p:nvPr/>
        </p:nvSpPr>
        <p:spPr>
          <a:xfrm>
            <a:off x="429850" y="694325"/>
            <a:ext cx="364200" cy="117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0"/>
          <p:cNvSpPr/>
          <p:nvPr/>
        </p:nvSpPr>
        <p:spPr>
          <a:xfrm>
            <a:off x="841779" y="694325"/>
            <a:ext cx="364200" cy="117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/>
          <p:nvPr/>
        </p:nvSpPr>
        <p:spPr>
          <a:xfrm>
            <a:off x="1242073" y="681150"/>
            <a:ext cx="364200" cy="117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/>
          <p:nvPr/>
        </p:nvSpPr>
        <p:spPr>
          <a:xfrm>
            <a:off x="1649658" y="681150"/>
            <a:ext cx="364200" cy="117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two number sentences to describe this array.</a:t>
            </a:r>
            <a:endParaRPr/>
          </a:p>
        </p:txBody>
      </p:sp>
      <p:sp>
        <p:nvSpPr>
          <p:cNvPr id="881" name="Google Shape;88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882" name="Google Shape;882;p71"/>
          <p:cNvSpPr/>
          <p:nvPr/>
        </p:nvSpPr>
        <p:spPr>
          <a:xfrm>
            <a:off x="168480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1"/>
          <p:cNvSpPr/>
          <p:nvPr/>
        </p:nvSpPr>
        <p:spPr>
          <a:xfrm>
            <a:off x="168480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1"/>
          <p:cNvSpPr/>
          <p:nvPr/>
        </p:nvSpPr>
        <p:spPr>
          <a:xfrm>
            <a:off x="168480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1"/>
          <p:cNvSpPr/>
          <p:nvPr/>
        </p:nvSpPr>
        <p:spPr>
          <a:xfrm>
            <a:off x="2037233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1"/>
          <p:cNvSpPr/>
          <p:nvPr/>
        </p:nvSpPr>
        <p:spPr>
          <a:xfrm>
            <a:off x="2037233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1"/>
          <p:cNvSpPr/>
          <p:nvPr/>
        </p:nvSpPr>
        <p:spPr>
          <a:xfrm>
            <a:off x="2037233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1"/>
          <p:cNvSpPr/>
          <p:nvPr/>
        </p:nvSpPr>
        <p:spPr>
          <a:xfrm>
            <a:off x="238965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1"/>
          <p:cNvSpPr/>
          <p:nvPr/>
        </p:nvSpPr>
        <p:spPr>
          <a:xfrm>
            <a:off x="238965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1"/>
          <p:cNvSpPr/>
          <p:nvPr/>
        </p:nvSpPr>
        <p:spPr>
          <a:xfrm>
            <a:off x="238965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1"/>
          <p:cNvSpPr/>
          <p:nvPr/>
        </p:nvSpPr>
        <p:spPr>
          <a:xfrm>
            <a:off x="2742083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1"/>
          <p:cNvSpPr/>
          <p:nvPr/>
        </p:nvSpPr>
        <p:spPr>
          <a:xfrm>
            <a:off x="2742083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1"/>
          <p:cNvSpPr/>
          <p:nvPr/>
        </p:nvSpPr>
        <p:spPr>
          <a:xfrm>
            <a:off x="2742083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1"/>
          <p:cNvSpPr/>
          <p:nvPr/>
        </p:nvSpPr>
        <p:spPr>
          <a:xfrm>
            <a:off x="309450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1"/>
          <p:cNvSpPr/>
          <p:nvPr/>
        </p:nvSpPr>
        <p:spPr>
          <a:xfrm>
            <a:off x="309450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1"/>
          <p:cNvSpPr/>
          <p:nvPr/>
        </p:nvSpPr>
        <p:spPr>
          <a:xfrm>
            <a:off x="309450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1"/>
          <p:cNvSpPr/>
          <p:nvPr/>
        </p:nvSpPr>
        <p:spPr>
          <a:xfrm>
            <a:off x="3446933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1"/>
          <p:cNvSpPr/>
          <p:nvPr/>
        </p:nvSpPr>
        <p:spPr>
          <a:xfrm>
            <a:off x="3446933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1"/>
          <p:cNvSpPr/>
          <p:nvPr/>
        </p:nvSpPr>
        <p:spPr>
          <a:xfrm>
            <a:off x="3446933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1"/>
          <p:cNvSpPr/>
          <p:nvPr/>
        </p:nvSpPr>
        <p:spPr>
          <a:xfrm>
            <a:off x="379935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1"/>
          <p:cNvSpPr/>
          <p:nvPr/>
        </p:nvSpPr>
        <p:spPr>
          <a:xfrm>
            <a:off x="379935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1"/>
          <p:cNvSpPr/>
          <p:nvPr/>
        </p:nvSpPr>
        <p:spPr>
          <a:xfrm>
            <a:off x="379935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1"/>
          <p:cNvSpPr/>
          <p:nvPr/>
        </p:nvSpPr>
        <p:spPr>
          <a:xfrm>
            <a:off x="4151783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1"/>
          <p:cNvSpPr/>
          <p:nvPr/>
        </p:nvSpPr>
        <p:spPr>
          <a:xfrm>
            <a:off x="4151783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1"/>
          <p:cNvSpPr/>
          <p:nvPr/>
        </p:nvSpPr>
        <p:spPr>
          <a:xfrm>
            <a:off x="4151783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1"/>
          <p:cNvSpPr/>
          <p:nvPr/>
        </p:nvSpPr>
        <p:spPr>
          <a:xfrm>
            <a:off x="168480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1"/>
          <p:cNvSpPr/>
          <p:nvPr/>
        </p:nvSpPr>
        <p:spPr>
          <a:xfrm>
            <a:off x="2037233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1"/>
          <p:cNvSpPr/>
          <p:nvPr/>
        </p:nvSpPr>
        <p:spPr>
          <a:xfrm>
            <a:off x="238965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1"/>
          <p:cNvSpPr/>
          <p:nvPr/>
        </p:nvSpPr>
        <p:spPr>
          <a:xfrm>
            <a:off x="2742083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1"/>
          <p:cNvSpPr/>
          <p:nvPr/>
        </p:nvSpPr>
        <p:spPr>
          <a:xfrm>
            <a:off x="309450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1"/>
          <p:cNvSpPr/>
          <p:nvPr/>
        </p:nvSpPr>
        <p:spPr>
          <a:xfrm>
            <a:off x="3446933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1"/>
          <p:cNvSpPr/>
          <p:nvPr/>
        </p:nvSpPr>
        <p:spPr>
          <a:xfrm>
            <a:off x="379935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1"/>
          <p:cNvSpPr/>
          <p:nvPr/>
        </p:nvSpPr>
        <p:spPr>
          <a:xfrm>
            <a:off x="4151783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1"/>
          <p:cNvSpPr txBox="1"/>
          <p:nvPr>
            <p:ph idx="1" type="body"/>
          </p:nvPr>
        </p:nvSpPr>
        <p:spPr>
          <a:xfrm>
            <a:off x="453150" y="296067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Eight groups of negative four.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Four groups of negative eight.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doesn’t matter which way you interpret the array.</a:t>
            </a:r>
            <a:endParaRPr/>
          </a:p>
        </p:txBody>
      </p:sp>
      <p:sp>
        <p:nvSpPr>
          <p:cNvPr id="920" name="Google Shape;92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921" name="Google Shape;921;p72"/>
          <p:cNvSpPr/>
          <p:nvPr/>
        </p:nvSpPr>
        <p:spPr>
          <a:xfrm>
            <a:off x="168480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2"/>
          <p:cNvSpPr/>
          <p:nvPr/>
        </p:nvSpPr>
        <p:spPr>
          <a:xfrm>
            <a:off x="168480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2"/>
          <p:cNvSpPr/>
          <p:nvPr/>
        </p:nvSpPr>
        <p:spPr>
          <a:xfrm>
            <a:off x="168480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2"/>
          <p:cNvSpPr/>
          <p:nvPr/>
        </p:nvSpPr>
        <p:spPr>
          <a:xfrm>
            <a:off x="2037233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2"/>
          <p:cNvSpPr/>
          <p:nvPr/>
        </p:nvSpPr>
        <p:spPr>
          <a:xfrm>
            <a:off x="2037233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2"/>
          <p:cNvSpPr/>
          <p:nvPr/>
        </p:nvSpPr>
        <p:spPr>
          <a:xfrm>
            <a:off x="2037233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2"/>
          <p:cNvSpPr/>
          <p:nvPr/>
        </p:nvSpPr>
        <p:spPr>
          <a:xfrm>
            <a:off x="238965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2"/>
          <p:cNvSpPr/>
          <p:nvPr/>
        </p:nvSpPr>
        <p:spPr>
          <a:xfrm>
            <a:off x="238965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2"/>
          <p:cNvSpPr/>
          <p:nvPr/>
        </p:nvSpPr>
        <p:spPr>
          <a:xfrm>
            <a:off x="238965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2"/>
          <p:cNvSpPr/>
          <p:nvPr/>
        </p:nvSpPr>
        <p:spPr>
          <a:xfrm>
            <a:off x="2742083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2"/>
          <p:cNvSpPr/>
          <p:nvPr/>
        </p:nvSpPr>
        <p:spPr>
          <a:xfrm>
            <a:off x="2742083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2"/>
          <p:cNvSpPr/>
          <p:nvPr/>
        </p:nvSpPr>
        <p:spPr>
          <a:xfrm>
            <a:off x="2742083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2"/>
          <p:cNvSpPr/>
          <p:nvPr/>
        </p:nvSpPr>
        <p:spPr>
          <a:xfrm>
            <a:off x="3094508" y="12957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2"/>
          <p:cNvSpPr/>
          <p:nvPr/>
        </p:nvSpPr>
        <p:spPr>
          <a:xfrm>
            <a:off x="3094508" y="16224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2"/>
          <p:cNvSpPr/>
          <p:nvPr/>
        </p:nvSpPr>
        <p:spPr>
          <a:xfrm>
            <a:off x="3094508" y="19490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2"/>
          <p:cNvSpPr/>
          <p:nvPr/>
        </p:nvSpPr>
        <p:spPr>
          <a:xfrm>
            <a:off x="168480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2"/>
          <p:cNvSpPr/>
          <p:nvPr/>
        </p:nvSpPr>
        <p:spPr>
          <a:xfrm>
            <a:off x="2037233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2"/>
          <p:cNvSpPr/>
          <p:nvPr/>
        </p:nvSpPr>
        <p:spPr>
          <a:xfrm>
            <a:off x="238965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2"/>
          <p:cNvSpPr/>
          <p:nvPr/>
        </p:nvSpPr>
        <p:spPr>
          <a:xfrm>
            <a:off x="2742083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2"/>
          <p:cNvSpPr/>
          <p:nvPr/>
        </p:nvSpPr>
        <p:spPr>
          <a:xfrm>
            <a:off x="3094508" y="22915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2"/>
          <p:cNvSpPr txBox="1"/>
          <p:nvPr>
            <p:ph idx="1" type="body"/>
          </p:nvPr>
        </p:nvSpPr>
        <p:spPr>
          <a:xfrm>
            <a:off x="324000" y="2911550"/>
            <a:ext cx="2098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× (−5) = (−20)</a:t>
            </a:r>
            <a:endParaRPr/>
          </a:p>
        </p:txBody>
      </p:sp>
      <p:sp>
        <p:nvSpPr>
          <p:cNvPr id="942" name="Google Shape;942;p72"/>
          <p:cNvSpPr txBox="1"/>
          <p:nvPr>
            <p:ph idx="1" type="body"/>
          </p:nvPr>
        </p:nvSpPr>
        <p:spPr>
          <a:xfrm>
            <a:off x="324000" y="3572050"/>
            <a:ext cx="2319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lang="en-GB"/>
              <a:t> × (−4) = (−20)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7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× (−6)</a:t>
            </a:r>
            <a:endParaRPr/>
          </a:p>
        </p:txBody>
      </p:sp>
      <p:sp>
        <p:nvSpPr>
          <p:cNvPr id="948" name="Google Shape;948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949" name="Google Shape;949;p7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</a:t>
            </a:r>
            <a:r>
              <a:rPr lang="en-GB"/>
              <a:t>3) × 6</a:t>
            </a:r>
            <a:r>
              <a:rPr lang="en-GB"/>
              <a:t> </a:t>
            </a:r>
            <a:endParaRPr/>
          </a:p>
        </p:txBody>
      </p:sp>
      <p:sp>
        <p:nvSpPr>
          <p:cNvPr id="950" name="Google Shape;950;p7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(−6) × 3</a:t>
            </a:r>
            <a:endParaRPr/>
          </a:p>
        </p:txBody>
      </p:sp>
      <p:sp>
        <p:nvSpPr>
          <p:cNvPr id="951" name="Google Shape;951;p7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</a:t>
            </a:r>
            <a:r>
              <a:rPr lang="en-GB"/>
              <a:t> all of the alternative ways of writing 6 × (−</a:t>
            </a:r>
            <a:r>
              <a:rPr lang="en-GB"/>
              <a:t>3</a:t>
            </a:r>
            <a:r>
              <a:rPr lang="en-GB"/>
              <a:t>)</a:t>
            </a:r>
            <a:endParaRPr/>
          </a:p>
        </p:txBody>
      </p:sp>
      <p:sp>
        <p:nvSpPr>
          <p:cNvPr id="952" name="Google Shape;952;p7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(−3) × (−6)</a:t>
            </a:r>
            <a:endParaRPr/>
          </a:p>
        </p:txBody>
      </p:sp>
      <p:pic>
        <p:nvPicPr>
          <p:cNvPr id="953" name="Google Shape;95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1684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3284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1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 questions: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(−3) × 5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8 × (−4)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(−9) × 8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 × (−12) 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(−15) × 5 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(−565) × 2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 × (−65)	</a:t>
            </a:r>
            <a:endParaRPr/>
          </a:p>
        </p:txBody>
      </p:sp>
      <p:sp>
        <p:nvSpPr>
          <p:cNvPr id="961" name="Google Shape;961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Write down as many products as you can with the following answers.  </a:t>
            </a:r>
            <a:endParaRPr/>
          </a:p>
          <a:p>
            <a:pPr indent="-370099" lvl="0" marL="496799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(−60)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(−18)  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(−72)  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(−100) 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(−250)  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(−165)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628800" y="2941001"/>
            <a:ext cx="2057400" cy="15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(−36) × 5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14 × (−9)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(−8) × 66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(−55) × 3 </a:t>
            </a:r>
            <a:endParaRPr/>
          </a:p>
        </p:txBody>
      </p:sp>
      <p:sp>
        <p:nvSpPr>
          <p:cNvPr id="973" name="Google Shape;973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4" name="Google Shape;974;p76"/>
          <p:cNvGraphicFramePr/>
          <p:nvPr/>
        </p:nvGraphicFramePr>
        <p:xfrm>
          <a:off x="323925" y="1484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{A0189432-2F48-46B2-A533-8BF2E077D098}</a:tableStyleId>
              </a:tblPr>
              <a:tblGrid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</a:tblGrid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5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sp>
        <p:nvSpPr>
          <p:cNvPr id="975" name="Google Shape;975;p76"/>
          <p:cNvSpPr txBox="1"/>
          <p:nvPr/>
        </p:nvSpPr>
        <p:spPr>
          <a:xfrm>
            <a:off x="324000" y="749029"/>
            <a:ext cx="2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6"/>
          <p:cNvSpPr txBox="1"/>
          <p:nvPr>
            <p:ph idx="1" type="body"/>
          </p:nvPr>
        </p:nvSpPr>
        <p:spPr>
          <a:xfrm>
            <a:off x="4824000" y="2941001"/>
            <a:ext cx="3053100" cy="17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e)   6 × (−27)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f)    (−27) × 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g)   45 × (−4)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h)   (−56) × 6 </a:t>
            </a:r>
            <a:endParaRPr/>
          </a:p>
        </p:txBody>
      </p:sp>
      <p:sp>
        <p:nvSpPr>
          <p:cNvPr id="977" name="Google Shape;977;p76"/>
          <p:cNvSpPr txBox="1"/>
          <p:nvPr/>
        </p:nvSpPr>
        <p:spPr>
          <a:xfrm>
            <a:off x="638325" y="752400"/>
            <a:ext cx="818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Decode the word.  Find the answers in the grid and rearrange the letters to make a word.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6"/>
          <p:cNvSpPr txBox="1"/>
          <p:nvPr/>
        </p:nvSpPr>
        <p:spPr>
          <a:xfrm>
            <a:off x="609600" y="4479229"/>
            <a:ext cx="793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i)   Write your own word using the code.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0100" lvl="0" marL="4608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 questions: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(−3) × 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15)</a:t>
            </a:r>
            <a:r>
              <a:rPr lang="en-GB"/>
              <a:t>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8 </a:t>
            </a:r>
            <a:r>
              <a:rPr lang="en-GB"/>
              <a:t>× (−4)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(−32)</a:t>
            </a:r>
            <a:r>
              <a:rPr lang="en-GB"/>
              <a:t>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(−9) × 8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(−72)</a:t>
            </a:r>
            <a:r>
              <a:rPr lang="en-GB"/>
              <a:t>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 × (−12)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(−60)</a:t>
            </a:r>
            <a:r>
              <a:rPr lang="en-GB"/>
              <a:t>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(−15) × 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(−75)</a:t>
            </a:r>
            <a:r>
              <a:rPr lang="en-GB"/>
              <a:t>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(−565) × 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(−1130)</a:t>
            </a:r>
            <a:r>
              <a:rPr lang="en-GB"/>
              <a:t>	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 × (−65)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(−585)</a:t>
            </a:r>
            <a:r>
              <a:rPr lang="en-GB"/>
              <a:t>	</a:t>
            </a:r>
            <a:endParaRPr/>
          </a:p>
        </p:txBody>
      </p:sp>
      <p:sp>
        <p:nvSpPr>
          <p:cNvPr id="984" name="Google Shape;984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when only one value is negative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8"/>
          <p:cNvSpPr txBox="1"/>
          <p:nvPr>
            <p:ph idx="1" type="body"/>
          </p:nvPr>
        </p:nvSpPr>
        <p:spPr>
          <a:xfrm>
            <a:off x="324000" y="759300"/>
            <a:ext cx="8237700" cy="3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Write down as many products as you can with the following answers.  </a:t>
            </a:r>
            <a:endParaRPr/>
          </a:p>
          <a:p>
            <a:pPr indent="-370099" lvl="0" marL="496799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</a:t>
            </a:r>
            <a:r>
              <a:rPr lang="en-GB"/>
              <a:t>−</a:t>
            </a:r>
            <a:r>
              <a:rPr lang="en-GB"/>
              <a:t>60)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(−6) × 10, 12 × (−5), (−1) × 60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(−18)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(−6) × 3, 2 × (−9), (−2) × 9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(−72)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(−6) × 12, 36 × (−2), (−9) × 8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(−100)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(−10) × 10, 25 × (−4), (−20) × 5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(−250)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(−10) × 25, 2 × (−125), (−50) × 5</a:t>
            </a:r>
            <a:endParaRPr/>
          </a:p>
          <a:p>
            <a:pPr indent="-370099" lvl="0" marL="496799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(−165)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(−5) × 33, 11 × (−15), (−165) ×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9"/>
          <p:cNvSpPr txBox="1"/>
          <p:nvPr>
            <p:ph idx="1" type="body"/>
          </p:nvPr>
        </p:nvSpPr>
        <p:spPr>
          <a:xfrm>
            <a:off x="571500" y="2797075"/>
            <a:ext cx="3249000" cy="15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(−36) × 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(−180)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14 × (−9)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(−126)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(−8) × 66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(−528)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(−55) × 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(−165)</a:t>
            </a:r>
            <a:endParaRPr/>
          </a:p>
        </p:txBody>
      </p:sp>
      <p:sp>
        <p:nvSpPr>
          <p:cNvPr id="996" name="Google Shape;996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when only one value is negative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9"/>
          <p:cNvSpPr txBox="1"/>
          <p:nvPr/>
        </p:nvSpPr>
        <p:spPr>
          <a:xfrm>
            <a:off x="324000" y="612075"/>
            <a:ext cx="2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9"/>
          <p:cNvSpPr txBox="1"/>
          <p:nvPr>
            <p:ph idx="1" type="body"/>
          </p:nvPr>
        </p:nvSpPr>
        <p:spPr>
          <a:xfrm>
            <a:off x="4824000" y="2797081"/>
            <a:ext cx="3053100" cy="17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e)   6 × (−27)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(−162)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f)    (−27) × 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(−135)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g)   45 × (−4)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(−180)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h)   (−56) × 6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(−336)</a:t>
            </a:r>
            <a:endParaRPr/>
          </a:p>
        </p:txBody>
      </p:sp>
      <p:sp>
        <p:nvSpPr>
          <p:cNvPr id="999" name="Google Shape;999;p79"/>
          <p:cNvSpPr txBox="1"/>
          <p:nvPr/>
        </p:nvSpPr>
        <p:spPr>
          <a:xfrm>
            <a:off x="638325" y="627525"/>
            <a:ext cx="818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Decode the word.  Find the answers in the grid and rearrange the letters to make a word.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9"/>
          <p:cNvSpPr txBox="1"/>
          <p:nvPr/>
        </p:nvSpPr>
        <p:spPr>
          <a:xfrm>
            <a:off x="609600" y="4494675"/>
            <a:ext cx="793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i)   Write your own word using the code.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9"/>
          <p:cNvSpPr txBox="1"/>
          <p:nvPr/>
        </p:nvSpPr>
        <p:spPr>
          <a:xfrm>
            <a:off x="6153150" y="4494675"/>
            <a:ext cx="249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word is negative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02" name="Google Shape;1002;p79"/>
          <p:cNvGraphicFramePr/>
          <p:nvPr/>
        </p:nvGraphicFramePr>
        <p:xfrm>
          <a:off x="323925" y="13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{A0189432-2F48-46B2-A533-8BF2E077D098}</a:tableStyleId>
              </a:tblPr>
              <a:tblGrid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  <a:gridCol w="653550"/>
              </a:tblGrid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5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only one value is negative</a:t>
            </a:r>
            <a:endParaRPr/>
          </a:p>
        </p:txBody>
      </p:sp>
      <p:sp>
        <p:nvSpPr>
          <p:cNvPr id="1008" name="Google Shape;1008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  <p:sp>
        <p:nvSpPr>
          <p:cNvPr id="1009" name="Google Shape;1009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only one value is negative</a:t>
            </a:r>
            <a:endParaRPr/>
          </a:p>
        </p:txBody>
      </p:sp>
      <p:pic>
        <p:nvPicPr>
          <p:cNvPr id="1010" name="Google Shape;101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  <p:sp>
        <p:nvSpPr>
          <p:cNvPr id="1016" name="Google Shape;1016;p81"/>
          <p:cNvSpPr txBox="1"/>
          <p:nvPr>
            <p:ph idx="1" type="body"/>
          </p:nvPr>
        </p:nvSpPr>
        <p:spPr>
          <a:xfrm>
            <a:off x="324000" y="761850"/>
            <a:ext cx="12207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/>
              <a:t>−</a:t>
            </a:r>
            <a:r>
              <a:rPr lang="en-GB"/>
              <a:t>24) ÷ 4</a:t>
            </a:r>
            <a:endParaRPr/>
          </a:p>
        </p:txBody>
      </p:sp>
      <p:sp>
        <p:nvSpPr>
          <p:cNvPr id="1017" name="Google Shape;1017;p81"/>
          <p:cNvSpPr txBox="1"/>
          <p:nvPr>
            <p:ph idx="1" type="body"/>
          </p:nvPr>
        </p:nvSpPr>
        <p:spPr>
          <a:xfrm>
            <a:off x="1923300" y="761850"/>
            <a:ext cx="35613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(−24) shared into 4 groups</a:t>
            </a:r>
            <a:endParaRPr/>
          </a:p>
        </p:txBody>
      </p:sp>
      <p:sp>
        <p:nvSpPr>
          <p:cNvPr id="1018" name="Google Shape;1018;p81"/>
          <p:cNvSpPr/>
          <p:nvPr/>
        </p:nvSpPr>
        <p:spPr>
          <a:xfrm>
            <a:off x="324008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1"/>
          <p:cNvSpPr/>
          <p:nvPr/>
        </p:nvSpPr>
        <p:spPr>
          <a:xfrm>
            <a:off x="324008" y="1848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/>
          <p:nvPr/>
        </p:nvSpPr>
        <p:spPr>
          <a:xfrm>
            <a:off x="324008" y="21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/>
          <p:nvPr/>
        </p:nvSpPr>
        <p:spPr>
          <a:xfrm>
            <a:off x="676433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/>
          <p:nvPr/>
        </p:nvSpPr>
        <p:spPr>
          <a:xfrm>
            <a:off x="676433" y="1848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676433" y="21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1028858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/>
          <p:nvPr/>
        </p:nvSpPr>
        <p:spPr>
          <a:xfrm>
            <a:off x="1028858" y="1848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1"/>
          <p:cNvSpPr/>
          <p:nvPr/>
        </p:nvSpPr>
        <p:spPr>
          <a:xfrm>
            <a:off x="1028858" y="21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1381283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1"/>
          <p:cNvSpPr/>
          <p:nvPr/>
        </p:nvSpPr>
        <p:spPr>
          <a:xfrm>
            <a:off x="1381283" y="1848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1"/>
          <p:cNvSpPr/>
          <p:nvPr/>
        </p:nvSpPr>
        <p:spPr>
          <a:xfrm>
            <a:off x="1381283" y="21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1"/>
          <p:cNvSpPr/>
          <p:nvPr/>
        </p:nvSpPr>
        <p:spPr>
          <a:xfrm>
            <a:off x="1733708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1"/>
          <p:cNvSpPr/>
          <p:nvPr/>
        </p:nvSpPr>
        <p:spPr>
          <a:xfrm>
            <a:off x="1733708" y="1848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1"/>
          <p:cNvSpPr/>
          <p:nvPr/>
        </p:nvSpPr>
        <p:spPr>
          <a:xfrm>
            <a:off x="1733708" y="21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1"/>
          <p:cNvSpPr/>
          <p:nvPr/>
        </p:nvSpPr>
        <p:spPr>
          <a:xfrm>
            <a:off x="2086133" y="15220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1"/>
          <p:cNvSpPr/>
          <p:nvPr/>
        </p:nvSpPr>
        <p:spPr>
          <a:xfrm>
            <a:off x="2086133" y="184866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1"/>
          <p:cNvSpPr/>
          <p:nvPr/>
        </p:nvSpPr>
        <p:spPr>
          <a:xfrm>
            <a:off x="2086133" y="2175315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6" name="Google Shape;1036;p81"/>
          <p:cNvGrpSpPr/>
          <p:nvPr/>
        </p:nvGrpSpPr>
        <p:grpSpPr>
          <a:xfrm>
            <a:off x="381000" y="3470400"/>
            <a:ext cx="8401350" cy="1266900"/>
            <a:chOff x="381000" y="3470400"/>
            <a:chExt cx="8401350" cy="1266900"/>
          </a:xfrm>
        </p:grpSpPr>
        <p:sp>
          <p:nvSpPr>
            <p:cNvPr id="1037" name="Google Shape;1037;p81"/>
            <p:cNvSpPr/>
            <p:nvPr/>
          </p:nvSpPr>
          <p:spPr>
            <a:xfrm>
              <a:off x="38100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81"/>
            <p:cNvSpPr/>
            <p:nvPr/>
          </p:nvSpPr>
          <p:spPr>
            <a:xfrm>
              <a:off x="252735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81"/>
            <p:cNvSpPr/>
            <p:nvPr/>
          </p:nvSpPr>
          <p:spPr>
            <a:xfrm>
              <a:off x="467370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81"/>
            <p:cNvSpPr/>
            <p:nvPr/>
          </p:nvSpPr>
          <p:spPr>
            <a:xfrm>
              <a:off x="682005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1" name="Google Shape;1041;p81"/>
          <p:cNvSpPr/>
          <p:nvPr/>
        </p:nvSpPr>
        <p:spPr>
          <a:xfrm>
            <a:off x="2438558" y="15219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1"/>
          <p:cNvSpPr/>
          <p:nvPr/>
        </p:nvSpPr>
        <p:spPr>
          <a:xfrm>
            <a:off x="2438558" y="184864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1"/>
          <p:cNvSpPr/>
          <p:nvPr/>
        </p:nvSpPr>
        <p:spPr>
          <a:xfrm>
            <a:off x="2438558" y="2175290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1"/>
          <p:cNvSpPr/>
          <p:nvPr/>
        </p:nvSpPr>
        <p:spPr>
          <a:xfrm>
            <a:off x="2790983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1"/>
          <p:cNvSpPr/>
          <p:nvPr/>
        </p:nvSpPr>
        <p:spPr>
          <a:xfrm>
            <a:off x="2790983" y="1848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1"/>
          <p:cNvSpPr/>
          <p:nvPr/>
        </p:nvSpPr>
        <p:spPr>
          <a:xfrm>
            <a:off x="2790983" y="21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1"/>
          <p:cNvSpPr/>
          <p:nvPr/>
        </p:nvSpPr>
        <p:spPr>
          <a:xfrm>
            <a:off x="4351650" y="1924200"/>
            <a:ext cx="945300" cy="531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1"/>
          <p:cNvSpPr/>
          <p:nvPr/>
        </p:nvSpPr>
        <p:spPr>
          <a:xfrm>
            <a:off x="5306625" y="1924200"/>
            <a:ext cx="945300" cy="531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1"/>
          <p:cNvSpPr/>
          <p:nvPr/>
        </p:nvSpPr>
        <p:spPr>
          <a:xfrm>
            <a:off x="6261600" y="1924200"/>
            <a:ext cx="945300" cy="531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1"/>
          <p:cNvSpPr/>
          <p:nvPr/>
        </p:nvSpPr>
        <p:spPr>
          <a:xfrm>
            <a:off x="7216575" y="1924200"/>
            <a:ext cx="945300" cy="531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1"/>
          <p:cNvSpPr/>
          <p:nvPr/>
        </p:nvSpPr>
        <p:spPr>
          <a:xfrm>
            <a:off x="4351650" y="1394400"/>
            <a:ext cx="3810300" cy="531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1"/>
          <p:cNvSpPr/>
          <p:nvPr/>
        </p:nvSpPr>
        <p:spPr>
          <a:xfrm>
            <a:off x="794258" y="36399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1"/>
          <p:cNvSpPr/>
          <p:nvPr/>
        </p:nvSpPr>
        <p:spPr>
          <a:xfrm>
            <a:off x="1529708" y="36276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1"/>
          <p:cNvSpPr/>
          <p:nvPr/>
        </p:nvSpPr>
        <p:spPr>
          <a:xfrm>
            <a:off x="556133" y="39637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1"/>
          <p:cNvSpPr/>
          <p:nvPr/>
        </p:nvSpPr>
        <p:spPr>
          <a:xfrm>
            <a:off x="1291583" y="39514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1"/>
          <p:cNvSpPr/>
          <p:nvPr/>
        </p:nvSpPr>
        <p:spPr>
          <a:xfrm>
            <a:off x="804233" y="42439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1"/>
          <p:cNvSpPr/>
          <p:nvPr/>
        </p:nvSpPr>
        <p:spPr>
          <a:xfrm>
            <a:off x="1539683" y="4231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1"/>
          <p:cNvSpPr/>
          <p:nvPr/>
        </p:nvSpPr>
        <p:spPr>
          <a:xfrm>
            <a:off x="2990933" y="365557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1"/>
          <p:cNvSpPr/>
          <p:nvPr/>
        </p:nvSpPr>
        <p:spPr>
          <a:xfrm>
            <a:off x="3726383" y="364327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1"/>
          <p:cNvSpPr/>
          <p:nvPr/>
        </p:nvSpPr>
        <p:spPr>
          <a:xfrm>
            <a:off x="2752808" y="39794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1"/>
          <p:cNvSpPr/>
          <p:nvPr/>
        </p:nvSpPr>
        <p:spPr>
          <a:xfrm>
            <a:off x="3488258" y="39671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1"/>
          <p:cNvSpPr/>
          <p:nvPr/>
        </p:nvSpPr>
        <p:spPr>
          <a:xfrm>
            <a:off x="3000908" y="42596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1"/>
          <p:cNvSpPr/>
          <p:nvPr/>
        </p:nvSpPr>
        <p:spPr>
          <a:xfrm>
            <a:off x="3736358" y="42473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1"/>
          <p:cNvSpPr/>
          <p:nvPr/>
        </p:nvSpPr>
        <p:spPr>
          <a:xfrm>
            <a:off x="5194433" y="36835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1"/>
          <p:cNvSpPr/>
          <p:nvPr/>
        </p:nvSpPr>
        <p:spPr>
          <a:xfrm>
            <a:off x="5929883" y="36712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1"/>
          <p:cNvSpPr/>
          <p:nvPr/>
        </p:nvSpPr>
        <p:spPr>
          <a:xfrm>
            <a:off x="4956308" y="40074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1"/>
          <p:cNvSpPr/>
          <p:nvPr/>
        </p:nvSpPr>
        <p:spPr>
          <a:xfrm>
            <a:off x="5691758" y="39951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1"/>
          <p:cNvSpPr/>
          <p:nvPr/>
        </p:nvSpPr>
        <p:spPr>
          <a:xfrm>
            <a:off x="5204408" y="42876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1"/>
          <p:cNvSpPr/>
          <p:nvPr/>
        </p:nvSpPr>
        <p:spPr>
          <a:xfrm>
            <a:off x="5939858" y="42753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1"/>
          <p:cNvSpPr/>
          <p:nvPr/>
        </p:nvSpPr>
        <p:spPr>
          <a:xfrm>
            <a:off x="7331258" y="366787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1"/>
          <p:cNvSpPr/>
          <p:nvPr/>
        </p:nvSpPr>
        <p:spPr>
          <a:xfrm>
            <a:off x="8066708" y="365557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1"/>
          <p:cNvSpPr/>
          <p:nvPr/>
        </p:nvSpPr>
        <p:spPr>
          <a:xfrm>
            <a:off x="7093133" y="39917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1"/>
          <p:cNvSpPr/>
          <p:nvPr/>
        </p:nvSpPr>
        <p:spPr>
          <a:xfrm>
            <a:off x="7828583" y="39794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1"/>
          <p:cNvSpPr/>
          <p:nvPr/>
        </p:nvSpPr>
        <p:spPr>
          <a:xfrm>
            <a:off x="7341233" y="42719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1"/>
          <p:cNvSpPr/>
          <p:nvPr/>
        </p:nvSpPr>
        <p:spPr>
          <a:xfrm>
            <a:off x="8076683" y="42596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1"/>
          <p:cNvSpPr/>
          <p:nvPr/>
        </p:nvSpPr>
        <p:spPr>
          <a:xfrm>
            <a:off x="4524375" y="2019300"/>
            <a:ext cx="5541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1"/>
          <p:cNvSpPr/>
          <p:nvPr/>
        </p:nvSpPr>
        <p:spPr>
          <a:xfrm>
            <a:off x="5507625" y="2019300"/>
            <a:ext cx="543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1"/>
          <p:cNvSpPr/>
          <p:nvPr/>
        </p:nvSpPr>
        <p:spPr>
          <a:xfrm>
            <a:off x="6462600" y="2001150"/>
            <a:ext cx="543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1"/>
          <p:cNvSpPr/>
          <p:nvPr/>
        </p:nvSpPr>
        <p:spPr>
          <a:xfrm>
            <a:off x="7417575" y="2019300"/>
            <a:ext cx="543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1"/>
          <p:cNvSpPr txBox="1"/>
          <p:nvPr>
            <p:ph idx="1" type="body"/>
          </p:nvPr>
        </p:nvSpPr>
        <p:spPr>
          <a:xfrm>
            <a:off x="1684800" y="761850"/>
            <a:ext cx="12207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(−6)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  <p:sp>
        <p:nvSpPr>
          <p:cNvPr id="1086" name="Google Shape;1086;p82"/>
          <p:cNvSpPr txBox="1"/>
          <p:nvPr>
            <p:ph idx="1" type="body"/>
          </p:nvPr>
        </p:nvSpPr>
        <p:spPr>
          <a:xfrm>
            <a:off x="324000" y="810000"/>
            <a:ext cx="4500000" cy="8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now know that: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(−24) ÷ 4 = (−6)</a:t>
            </a:r>
            <a:endParaRPr/>
          </a:p>
        </p:txBody>
      </p:sp>
      <p:pic>
        <p:nvPicPr>
          <p:cNvPr id="1087" name="Google Shape;1087;p8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85199" y="1925700"/>
            <a:ext cx="2587351" cy="19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8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568875" y="1490500"/>
            <a:ext cx="3085624" cy="16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82"/>
          <p:cNvSpPr txBox="1"/>
          <p:nvPr>
            <p:ph idx="1" type="body"/>
          </p:nvPr>
        </p:nvSpPr>
        <p:spPr>
          <a:xfrm>
            <a:off x="1742800" y="2001000"/>
            <a:ext cx="2241600" cy="11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Does that mean that negative 24 divided by 6 is negative four?</a:t>
            </a:r>
            <a:endParaRPr/>
          </a:p>
        </p:txBody>
      </p:sp>
      <p:sp>
        <p:nvSpPr>
          <p:cNvPr id="1090" name="Google Shape;1090;p82"/>
          <p:cNvSpPr txBox="1"/>
          <p:nvPr>
            <p:ph idx="1" type="body"/>
          </p:nvPr>
        </p:nvSpPr>
        <p:spPr>
          <a:xfrm>
            <a:off x="4649000" y="1554725"/>
            <a:ext cx="29217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Yes is it does.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(−24) ÷ 4 = (−6), then (−24) ÷ 6 = (−4).</a:t>
            </a:r>
            <a:endParaRPr/>
          </a:p>
        </p:txBody>
      </p:sp>
      <p:pic>
        <p:nvPicPr>
          <p:cNvPr id="1091" name="Google Shape;1091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062590"/>
            <a:ext cx="1250248" cy="1563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1275" y="2756625"/>
            <a:ext cx="1188313" cy="156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  <p:sp>
        <p:nvSpPr>
          <p:cNvPr id="1098" name="Google Shape;1098;p83"/>
          <p:cNvSpPr txBox="1"/>
          <p:nvPr>
            <p:ph idx="1" type="body"/>
          </p:nvPr>
        </p:nvSpPr>
        <p:spPr>
          <a:xfrm>
            <a:off x="324000" y="761850"/>
            <a:ext cx="12207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(−12) ÷ 3</a:t>
            </a:r>
            <a:endParaRPr/>
          </a:p>
        </p:txBody>
      </p:sp>
      <p:sp>
        <p:nvSpPr>
          <p:cNvPr id="1099" name="Google Shape;1099;p83"/>
          <p:cNvSpPr txBox="1"/>
          <p:nvPr>
            <p:ph idx="1" type="body"/>
          </p:nvPr>
        </p:nvSpPr>
        <p:spPr>
          <a:xfrm>
            <a:off x="1923300" y="761850"/>
            <a:ext cx="35613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(−12) shared into 3 groups</a:t>
            </a:r>
            <a:endParaRPr/>
          </a:p>
        </p:txBody>
      </p:sp>
      <p:sp>
        <p:nvSpPr>
          <p:cNvPr id="1100" name="Google Shape;1100;p83"/>
          <p:cNvSpPr/>
          <p:nvPr/>
        </p:nvSpPr>
        <p:spPr>
          <a:xfrm>
            <a:off x="324008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3"/>
          <p:cNvSpPr/>
          <p:nvPr/>
        </p:nvSpPr>
        <p:spPr>
          <a:xfrm>
            <a:off x="324008" y="18798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3"/>
          <p:cNvSpPr/>
          <p:nvPr/>
        </p:nvSpPr>
        <p:spPr>
          <a:xfrm>
            <a:off x="726773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3"/>
          <p:cNvSpPr/>
          <p:nvPr/>
        </p:nvSpPr>
        <p:spPr>
          <a:xfrm>
            <a:off x="726773" y="18798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3"/>
          <p:cNvSpPr/>
          <p:nvPr/>
        </p:nvSpPr>
        <p:spPr>
          <a:xfrm>
            <a:off x="1129538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3"/>
          <p:cNvSpPr/>
          <p:nvPr/>
        </p:nvSpPr>
        <p:spPr>
          <a:xfrm>
            <a:off x="1129538" y="18798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3"/>
          <p:cNvSpPr/>
          <p:nvPr/>
        </p:nvSpPr>
        <p:spPr>
          <a:xfrm>
            <a:off x="1532303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3"/>
          <p:cNvSpPr/>
          <p:nvPr/>
        </p:nvSpPr>
        <p:spPr>
          <a:xfrm>
            <a:off x="1532303" y="18798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3"/>
          <p:cNvSpPr/>
          <p:nvPr/>
        </p:nvSpPr>
        <p:spPr>
          <a:xfrm>
            <a:off x="1935068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3"/>
          <p:cNvSpPr/>
          <p:nvPr/>
        </p:nvSpPr>
        <p:spPr>
          <a:xfrm>
            <a:off x="1935068" y="18798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3"/>
          <p:cNvSpPr/>
          <p:nvPr/>
        </p:nvSpPr>
        <p:spPr>
          <a:xfrm>
            <a:off x="2337833" y="15220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3"/>
          <p:cNvSpPr/>
          <p:nvPr/>
        </p:nvSpPr>
        <p:spPr>
          <a:xfrm>
            <a:off x="2337833" y="18798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2" name="Google Shape;1112;p83"/>
          <p:cNvGrpSpPr/>
          <p:nvPr/>
        </p:nvGrpSpPr>
        <p:grpSpPr>
          <a:xfrm>
            <a:off x="1371600" y="2784600"/>
            <a:ext cx="6255000" cy="1266900"/>
            <a:chOff x="381000" y="3470400"/>
            <a:chExt cx="6255000" cy="1266900"/>
          </a:xfrm>
        </p:grpSpPr>
        <p:sp>
          <p:nvSpPr>
            <p:cNvPr id="1113" name="Google Shape;1113;p83"/>
            <p:cNvSpPr/>
            <p:nvPr/>
          </p:nvSpPr>
          <p:spPr>
            <a:xfrm>
              <a:off x="38100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3"/>
            <p:cNvSpPr/>
            <p:nvPr/>
          </p:nvSpPr>
          <p:spPr>
            <a:xfrm>
              <a:off x="252735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3"/>
            <p:cNvSpPr/>
            <p:nvPr/>
          </p:nvSpPr>
          <p:spPr>
            <a:xfrm>
              <a:off x="4673700" y="3470400"/>
              <a:ext cx="1962300" cy="12669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6" name="Google Shape;1116;p83"/>
          <p:cNvGrpSpPr/>
          <p:nvPr/>
        </p:nvGrpSpPr>
        <p:grpSpPr>
          <a:xfrm>
            <a:off x="4351650" y="1924200"/>
            <a:ext cx="2855250" cy="531300"/>
            <a:chOff x="4351650" y="1924200"/>
            <a:chExt cx="2855250" cy="531300"/>
          </a:xfrm>
        </p:grpSpPr>
        <p:sp>
          <p:nvSpPr>
            <p:cNvPr id="1117" name="Google Shape;1117;p83"/>
            <p:cNvSpPr/>
            <p:nvPr/>
          </p:nvSpPr>
          <p:spPr>
            <a:xfrm>
              <a:off x="4351650" y="1924200"/>
              <a:ext cx="945300" cy="5313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(−4)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83"/>
            <p:cNvSpPr/>
            <p:nvPr/>
          </p:nvSpPr>
          <p:spPr>
            <a:xfrm>
              <a:off x="5306625" y="1924200"/>
              <a:ext cx="945300" cy="5313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(−4)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83"/>
            <p:cNvSpPr/>
            <p:nvPr/>
          </p:nvSpPr>
          <p:spPr>
            <a:xfrm>
              <a:off x="6261600" y="1924200"/>
              <a:ext cx="945300" cy="5313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(−4)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0" name="Google Shape;1120;p83"/>
          <p:cNvSpPr/>
          <p:nvPr/>
        </p:nvSpPr>
        <p:spPr>
          <a:xfrm>
            <a:off x="4351650" y="1394400"/>
            <a:ext cx="2855400" cy="531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3"/>
          <p:cNvSpPr/>
          <p:nvPr/>
        </p:nvSpPr>
        <p:spPr>
          <a:xfrm>
            <a:off x="2194433" y="28874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3"/>
          <p:cNvSpPr/>
          <p:nvPr/>
        </p:nvSpPr>
        <p:spPr>
          <a:xfrm>
            <a:off x="3877808" y="34941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3"/>
          <p:cNvSpPr/>
          <p:nvPr/>
        </p:nvSpPr>
        <p:spPr>
          <a:xfrm>
            <a:off x="6877433" y="303997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3"/>
          <p:cNvSpPr/>
          <p:nvPr/>
        </p:nvSpPr>
        <p:spPr>
          <a:xfrm>
            <a:off x="3981533" y="296977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3"/>
          <p:cNvSpPr/>
          <p:nvPr/>
        </p:nvSpPr>
        <p:spPr>
          <a:xfrm>
            <a:off x="6058270" y="3547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3"/>
          <p:cNvSpPr/>
          <p:nvPr/>
        </p:nvSpPr>
        <p:spPr>
          <a:xfrm>
            <a:off x="2535308" y="35895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3"/>
          <p:cNvSpPr/>
          <p:nvPr/>
        </p:nvSpPr>
        <p:spPr>
          <a:xfrm>
            <a:off x="6185033" y="29977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3"/>
          <p:cNvSpPr/>
          <p:nvPr/>
        </p:nvSpPr>
        <p:spPr>
          <a:xfrm>
            <a:off x="2794958" y="3167627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3"/>
          <p:cNvSpPr/>
          <p:nvPr/>
        </p:nvSpPr>
        <p:spPr>
          <a:xfrm>
            <a:off x="4554458" y="34941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3"/>
          <p:cNvSpPr/>
          <p:nvPr/>
        </p:nvSpPr>
        <p:spPr>
          <a:xfrm>
            <a:off x="1594808" y="34941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3"/>
          <p:cNvSpPr/>
          <p:nvPr/>
        </p:nvSpPr>
        <p:spPr>
          <a:xfrm>
            <a:off x="4781070" y="305640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3"/>
          <p:cNvSpPr/>
          <p:nvPr/>
        </p:nvSpPr>
        <p:spPr>
          <a:xfrm>
            <a:off x="6765008" y="3547652"/>
            <a:ext cx="280200" cy="280200"/>
          </a:xfrm>
          <a:prstGeom prst="ellipse">
            <a:avLst/>
          </a:prstGeom>
          <a:solidFill>
            <a:srgbClr val="E0666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−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3"/>
          <p:cNvSpPr/>
          <p:nvPr/>
        </p:nvSpPr>
        <p:spPr>
          <a:xfrm>
            <a:off x="7329600" y="2023575"/>
            <a:ext cx="6336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3"/>
          <p:cNvSpPr/>
          <p:nvPr/>
        </p:nvSpPr>
        <p:spPr>
          <a:xfrm>
            <a:off x="8304000" y="2023575"/>
            <a:ext cx="5994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3"/>
          <p:cNvSpPr/>
          <p:nvPr/>
        </p:nvSpPr>
        <p:spPr>
          <a:xfrm>
            <a:off x="9300525" y="2023575"/>
            <a:ext cx="543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3"/>
          <p:cNvSpPr txBox="1"/>
          <p:nvPr>
            <p:ph idx="1" type="body"/>
          </p:nvPr>
        </p:nvSpPr>
        <p:spPr>
          <a:xfrm>
            <a:off x="1684800" y="761850"/>
            <a:ext cx="12207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/>
              <a:t>(−4)</a:t>
            </a:r>
            <a:endParaRPr/>
          </a:p>
        </p:txBody>
      </p:sp>
      <p:sp>
        <p:nvSpPr>
          <p:cNvPr id="1137" name="Google Shape;1137;p83"/>
          <p:cNvSpPr txBox="1"/>
          <p:nvPr>
            <p:ph idx="1" type="body"/>
          </p:nvPr>
        </p:nvSpPr>
        <p:spPr>
          <a:xfrm>
            <a:off x="324000" y="4091400"/>
            <a:ext cx="56283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other fact do we know from this?</a:t>
            </a:r>
            <a:endParaRPr/>
          </a:p>
        </p:txBody>
      </p:sp>
      <p:sp>
        <p:nvSpPr>
          <p:cNvPr id="1138" name="Google Shape;1138;p83"/>
          <p:cNvSpPr txBox="1"/>
          <p:nvPr>
            <p:ph idx="1" type="body"/>
          </p:nvPr>
        </p:nvSpPr>
        <p:spPr>
          <a:xfrm>
            <a:off x="324000" y="4489500"/>
            <a:ext cx="56283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(−12) ÷ 4 = (−3)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(−32) ÷ 8</a:t>
            </a:r>
            <a:endParaRPr/>
          </a:p>
        </p:txBody>
      </p:sp>
      <p:sp>
        <p:nvSpPr>
          <p:cNvPr id="1144" name="Google Shape;1144;p8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  <p:sp>
        <p:nvSpPr>
          <p:cNvPr id="1145" name="Google Shape;1145;p8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(−16) ÷ 4</a:t>
            </a:r>
            <a:endParaRPr/>
          </a:p>
        </p:txBody>
      </p:sp>
      <p:sp>
        <p:nvSpPr>
          <p:cNvPr id="1146" name="Google Shape;1146;p8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one of the following is the </a:t>
            </a:r>
            <a:r>
              <a:rPr lang="en-GB">
                <a:solidFill>
                  <a:schemeClr val="accent5"/>
                </a:solidFill>
              </a:rPr>
              <a:t>odd one out</a:t>
            </a:r>
            <a:r>
              <a:rPr lang="en-GB"/>
              <a:t>?  (It has a different answer to the others)</a:t>
            </a:r>
            <a:endParaRPr/>
          </a:p>
        </p:txBody>
      </p:sp>
      <p:sp>
        <p:nvSpPr>
          <p:cNvPr id="1147" name="Google Shape;1147;p8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(−25) ÷ 5</a:t>
            </a:r>
            <a:endParaRPr/>
          </a:p>
        </p:txBody>
      </p:sp>
      <p:sp>
        <p:nvSpPr>
          <p:cNvPr id="1148" name="Google Shape;1148;p8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(−28) ÷ 7</a:t>
            </a:r>
            <a:endParaRPr/>
          </a:p>
        </p:txBody>
      </p:sp>
      <p:pic>
        <p:nvPicPr>
          <p:cNvPr id="1149" name="Google Shape;114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 questions: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(−20) ÷ 5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(−72) ÷ 9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(−96) ÷ 12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(−88) ÷ 11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(−42) ÷ 6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(−850) ÷ 10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(−325) ÷ 5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(−1376) ÷ 8</a:t>
            </a:r>
            <a:endParaRPr/>
          </a:p>
        </p:txBody>
      </p:sp>
      <p:sp>
        <p:nvSpPr>
          <p:cNvPr id="1155" name="Google Shape;115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Write down as many division questions as you can with the following answers. 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(−4)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(−12)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(−10)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(−24)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(−50)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(−376)</a:t>
            </a:r>
            <a:endParaRPr/>
          </a:p>
        </p:txBody>
      </p:sp>
      <p:sp>
        <p:nvSpPr>
          <p:cNvPr id="1161" name="Google Shape;1161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6" name="Google Shape;1166;p87"/>
          <p:cNvGraphicFramePr/>
          <p:nvPr/>
        </p:nvGraphicFramePr>
        <p:xfrm>
          <a:off x="329430" y="141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{A0189432-2F48-46B2-A533-8BF2E077D098}</a:tableStyleId>
              </a:tblPr>
              <a:tblGrid>
                <a:gridCol w="606150"/>
                <a:gridCol w="606150"/>
                <a:gridCol w="606150"/>
                <a:gridCol w="606150"/>
                <a:gridCol w="606150"/>
                <a:gridCol w="606150"/>
                <a:gridCol w="606150"/>
                <a:gridCol w="606150"/>
                <a:gridCol w="606150"/>
                <a:gridCol w="606150"/>
              </a:tblGrid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sp>
        <p:nvSpPr>
          <p:cNvPr id="1167" name="Google Shape;1167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the dividend is negative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7"/>
          <p:cNvSpPr txBox="1"/>
          <p:nvPr/>
        </p:nvSpPr>
        <p:spPr>
          <a:xfrm>
            <a:off x="324000" y="612075"/>
            <a:ext cx="2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7"/>
          <p:cNvSpPr txBox="1"/>
          <p:nvPr/>
        </p:nvSpPr>
        <p:spPr>
          <a:xfrm>
            <a:off x="638325" y="627525"/>
            <a:ext cx="818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Answer the questions, shade the answers in the grid to reveal something.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7"/>
          <p:cNvSpPr txBox="1"/>
          <p:nvPr/>
        </p:nvSpPr>
        <p:spPr>
          <a:xfrm>
            <a:off x="6450773" y="1232400"/>
            <a:ext cx="1905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(−36) ÷ 6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(−81) ÷ 9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(−42) ÷ 6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(−36) ÷ 3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(−66) ÷ 6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(−150) ÷ 75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(−96) ÷ 12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(−100) ÷ 5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(−300) ÷ 75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(−180) ÷ 12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8"/>
          <p:cNvSpPr txBox="1"/>
          <p:nvPr>
            <p:ph idx="1" type="body"/>
          </p:nvPr>
        </p:nvSpPr>
        <p:spPr>
          <a:xfrm>
            <a:off x="324000" y="759300"/>
            <a:ext cx="8237700" cy="34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 questions: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(−20) ÷ 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(−4)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(−72) ÷ 9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(−8)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(−96) ÷ 12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(−8)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(−88) ÷ 11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(−8)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(−42) ÷ 6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(−7)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(−850) ÷ 10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(−85)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(−325) ÷ 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(−65)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(−1376) ÷ 8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(−172)</a:t>
            </a:r>
            <a:endParaRPr/>
          </a:p>
        </p:txBody>
      </p:sp>
      <p:sp>
        <p:nvSpPr>
          <p:cNvPr id="1176" name="Google Shape;1176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Write down as many division questions as you can with the following answers. 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(−4)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(−16) ÷ 4, (−24) ÷ 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(−12)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(−60) ÷ 5, (−24) ÷ 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(−10)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(−60) ÷ 6, (−240) ÷ 24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(−24)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(−48) ÷ 2, (−120) ÷ 5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(−50)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(−250) ÷ 5, (−800) ÷ 16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(−376)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(−1128) ÷ 3, (−3008) ÷ 8</a:t>
            </a:r>
            <a:endParaRPr/>
          </a:p>
        </p:txBody>
      </p:sp>
      <p:sp>
        <p:nvSpPr>
          <p:cNvPr id="1182" name="Google Shape;1182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when the dividend is negative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0"/>
          <p:cNvSpPr/>
          <p:nvPr/>
        </p:nvSpPr>
        <p:spPr>
          <a:xfrm>
            <a:off x="938850" y="266645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0"/>
          <p:cNvSpPr/>
          <p:nvPr/>
        </p:nvSpPr>
        <p:spPr>
          <a:xfrm>
            <a:off x="938850" y="296765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0"/>
          <p:cNvSpPr/>
          <p:nvPr/>
        </p:nvSpPr>
        <p:spPr>
          <a:xfrm>
            <a:off x="1537310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90"/>
          <p:cNvSpPr/>
          <p:nvPr/>
        </p:nvSpPr>
        <p:spPr>
          <a:xfrm>
            <a:off x="1537310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0"/>
          <p:cNvSpPr/>
          <p:nvPr/>
        </p:nvSpPr>
        <p:spPr>
          <a:xfrm>
            <a:off x="2151839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0"/>
          <p:cNvSpPr/>
          <p:nvPr/>
        </p:nvSpPr>
        <p:spPr>
          <a:xfrm>
            <a:off x="2151839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90"/>
          <p:cNvSpPr/>
          <p:nvPr/>
        </p:nvSpPr>
        <p:spPr>
          <a:xfrm>
            <a:off x="2750215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90"/>
          <p:cNvSpPr/>
          <p:nvPr/>
        </p:nvSpPr>
        <p:spPr>
          <a:xfrm>
            <a:off x="2750215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0"/>
          <p:cNvSpPr/>
          <p:nvPr/>
        </p:nvSpPr>
        <p:spPr>
          <a:xfrm>
            <a:off x="3348591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0"/>
          <p:cNvSpPr/>
          <p:nvPr/>
        </p:nvSpPr>
        <p:spPr>
          <a:xfrm>
            <a:off x="3348591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0"/>
          <p:cNvSpPr/>
          <p:nvPr/>
        </p:nvSpPr>
        <p:spPr>
          <a:xfrm>
            <a:off x="3963119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0"/>
          <p:cNvSpPr/>
          <p:nvPr/>
        </p:nvSpPr>
        <p:spPr>
          <a:xfrm>
            <a:off x="3963119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0"/>
          <p:cNvSpPr/>
          <p:nvPr/>
        </p:nvSpPr>
        <p:spPr>
          <a:xfrm>
            <a:off x="4577648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0"/>
          <p:cNvSpPr/>
          <p:nvPr/>
        </p:nvSpPr>
        <p:spPr>
          <a:xfrm>
            <a:off x="4577648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0"/>
          <p:cNvSpPr/>
          <p:nvPr/>
        </p:nvSpPr>
        <p:spPr>
          <a:xfrm>
            <a:off x="5176024" y="26663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0"/>
          <p:cNvSpPr/>
          <p:nvPr/>
        </p:nvSpPr>
        <p:spPr>
          <a:xfrm>
            <a:off x="5176024" y="2967500"/>
            <a:ext cx="5985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0"/>
          <p:cNvSpPr/>
          <p:nvPr/>
        </p:nvSpPr>
        <p:spPr>
          <a:xfrm>
            <a:off x="2765710" y="1726300"/>
            <a:ext cx="6003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0"/>
          <p:cNvSpPr/>
          <p:nvPr/>
        </p:nvSpPr>
        <p:spPr>
          <a:xfrm>
            <a:off x="2765710" y="2027500"/>
            <a:ext cx="6003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0"/>
          <p:cNvSpPr/>
          <p:nvPr/>
        </p:nvSpPr>
        <p:spPr>
          <a:xfrm>
            <a:off x="3365934" y="1726300"/>
            <a:ext cx="6003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0"/>
          <p:cNvSpPr/>
          <p:nvPr/>
        </p:nvSpPr>
        <p:spPr>
          <a:xfrm>
            <a:off x="3365934" y="2027500"/>
            <a:ext cx="6003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0"/>
          <p:cNvSpPr/>
          <p:nvPr/>
        </p:nvSpPr>
        <p:spPr>
          <a:xfrm>
            <a:off x="2765710" y="3588100"/>
            <a:ext cx="5988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0"/>
          <p:cNvSpPr/>
          <p:nvPr/>
        </p:nvSpPr>
        <p:spPr>
          <a:xfrm>
            <a:off x="2765710" y="3889300"/>
            <a:ext cx="5988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90"/>
          <p:cNvSpPr/>
          <p:nvPr/>
        </p:nvSpPr>
        <p:spPr>
          <a:xfrm>
            <a:off x="3364410" y="3588100"/>
            <a:ext cx="5988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0"/>
          <p:cNvSpPr/>
          <p:nvPr/>
        </p:nvSpPr>
        <p:spPr>
          <a:xfrm>
            <a:off x="3364410" y="3889300"/>
            <a:ext cx="598800" cy="30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Dividing when the dividend is negative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90"/>
          <p:cNvSpPr txBox="1"/>
          <p:nvPr/>
        </p:nvSpPr>
        <p:spPr>
          <a:xfrm>
            <a:off x="324000" y="612075"/>
            <a:ext cx="2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0"/>
          <p:cNvSpPr txBox="1"/>
          <p:nvPr/>
        </p:nvSpPr>
        <p:spPr>
          <a:xfrm>
            <a:off x="638325" y="627525"/>
            <a:ext cx="818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Answer the questions, shade the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answers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in the grid to reveal something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0"/>
          <p:cNvSpPr txBox="1"/>
          <p:nvPr/>
        </p:nvSpPr>
        <p:spPr>
          <a:xfrm>
            <a:off x="6952969" y="1384800"/>
            <a:ext cx="12549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(−6)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(−9)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(−7)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(−12)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(−11)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(−2)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(−8)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(−20)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(−4)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(−15)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5" name="Google Shape;1215;p90"/>
          <p:cNvGraphicFramePr/>
          <p:nvPr/>
        </p:nvGraphicFramePr>
        <p:xfrm>
          <a:off x="323103" y="141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{A0189432-2F48-46B2-A533-8BF2E077D098}</a:tableStyleId>
              </a:tblPr>
              <a:tblGrid>
                <a:gridCol w="607275"/>
                <a:gridCol w="607275"/>
                <a:gridCol w="607275"/>
                <a:gridCol w="607275"/>
                <a:gridCol w="607275"/>
                <a:gridCol w="607275"/>
                <a:gridCol w="607275"/>
                <a:gridCol w="607275"/>
                <a:gridCol w="607275"/>
                <a:gridCol w="607275"/>
              </a:tblGrid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2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 counters can be used to help with multiplication of a positive and negative integer.  E.g. 2 × (</a:t>
            </a:r>
            <a:r>
              <a:rPr lang="en-GB"/>
              <a:t>−3) = </a:t>
            </a:r>
            <a:r>
              <a:rPr lang="en-GB"/>
              <a:t>(−6)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 counters and bar models can be used to help with division of a negative integer by a positive integer.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E.g. (−12) ÷ 3 = (−4)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1" name="Google Shape;1221;p91"/>
          <p:cNvSpPr txBox="1"/>
          <p:nvPr>
            <p:ph type="title"/>
          </p:nvPr>
        </p:nvSpPr>
        <p:spPr>
          <a:xfrm>
            <a:off x="1816550" y="157200"/>
            <a:ext cx="6693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only one value is negative</a:t>
            </a:r>
            <a:endParaRPr/>
          </a:p>
        </p:txBody>
      </p:sp>
      <p:pic>
        <p:nvPicPr>
          <p:cNvPr id="1222" name="Google Shape;122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8850" y="1833050"/>
            <a:ext cx="1047575" cy="6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4" y="3904175"/>
            <a:ext cx="2124765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478" y="3904178"/>
            <a:ext cx="3990975" cy="831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30" name="Google Shape;123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