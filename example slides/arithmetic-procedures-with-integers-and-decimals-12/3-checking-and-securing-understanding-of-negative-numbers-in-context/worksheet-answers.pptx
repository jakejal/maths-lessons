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F53969-3544-481D-84D8-2515821C1A29}">
  <a:tblStyle styleId="{F0F53969-3544-481D-84D8-2515821C1A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6354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negative numbers in context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05500" y="1485475"/>
            <a:ext cx="46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Reviewing negative numbers in a context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7950" y="1826100"/>
            <a:ext cx="6590700" cy="25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following using either &lt; or &gt;: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(−3)           (−1)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(−11)           (−8)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(−57)           (−58)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(−0.5)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(−0.6)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 Write a number in the box to make the statement true: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(−14) &lt;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(−6)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(−324) &lt;           &lt; (−176)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(−6) &lt;	          &lt; (−5)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(−12) &lt;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&lt; (−12.8)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261075" y="2043213"/>
            <a:ext cx="339000" cy="154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&lt;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352626" y="2260312"/>
            <a:ext cx="339000" cy="154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&lt;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362775" y="2477204"/>
            <a:ext cx="339000" cy="154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&gt;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480477" y="3372250"/>
            <a:ext cx="339000" cy="145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574799" y="3576448"/>
            <a:ext cx="339000" cy="145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388650" y="3780627"/>
            <a:ext cx="339000" cy="145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392022" y="2694095"/>
            <a:ext cx="339000" cy="154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&gt;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480481" y="3984815"/>
            <a:ext cx="339000" cy="145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360926" y="3391304"/>
            <a:ext cx="373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Kalam"/>
              <a:buAutoNum type="alphaLcParenR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(−8), (−10), (−13)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Kalam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(−178), (−210), (−313)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Kalam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(−5.1), (−5.4), (−5.8)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Kalam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(−12.34), (−12.5), (−12.75)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44498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 Which number is halfway between the following pairs of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integers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(−6) and (−10)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(−100) and (−50)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and (−23)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(−300) and 168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(−34) and 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497122" y="4806750"/>
            <a:ext cx="10986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Kalam"/>
              <a:buAutoNum type="alphaLcParenR"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(−8)</a:t>
            </a:r>
            <a:endParaRPr sz="1300">
              <a:latin typeface="Kalam"/>
              <a:ea typeface="Kalam"/>
              <a:cs typeface="Kalam"/>
              <a:sym typeface="Kala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Kalam"/>
              <a:buAutoNum type="alphaLcParenR"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(−75)</a:t>
            </a:r>
            <a:endParaRPr sz="1300">
              <a:latin typeface="Kalam"/>
              <a:ea typeface="Kalam"/>
              <a:cs typeface="Kalam"/>
              <a:sym typeface="Kala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Kalam"/>
              <a:buAutoNum type="alphaLcParenR"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(−8)</a:t>
            </a:r>
            <a:endParaRPr sz="1300">
              <a:latin typeface="Kalam"/>
              <a:ea typeface="Kalam"/>
              <a:cs typeface="Kalam"/>
              <a:sym typeface="Kala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Kalam"/>
              <a:buAutoNum type="alphaLcParenR"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(−66)</a:t>
            </a:r>
            <a:endParaRPr sz="1300">
              <a:latin typeface="Kalam"/>
              <a:ea typeface="Kalam"/>
              <a:cs typeface="Kalam"/>
              <a:sym typeface="Kala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Kalam"/>
              <a:buAutoNum type="alphaLcParenR"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(−9.5)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73100" y="620162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 The table shows the average temperature in January in eight cities.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0"/>
          <p:cNvGraphicFramePr/>
          <p:nvPr/>
        </p:nvGraphicFramePr>
        <p:xfrm>
          <a:off x="708175" y="652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{F0F53969-3544-481D-84D8-2515821C1A29}</a:tableStyleId>
              </a:tblPr>
              <a:tblGrid>
                <a:gridCol w="1893000"/>
                <a:gridCol w="84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Alice Springs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Jaipur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 Angeles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Moscow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York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Quebec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Tromsø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8" name="Google Shape;188;p20"/>
          <p:cNvSpPr txBox="1"/>
          <p:nvPr/>
        </p:nvSpPr>
        <p:spPr>
          <a:xfrm>
            <a:off x="3527275" y="6537700"/>
            <a:ext cx="35646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cities in order from the coldest to the warmest.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Moscow, Quebec, Tromsø, New York, London, Los Angeles, Jaipur, Alice Springs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two cities have the greatest difference in temperature?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Alice Springs &amp; Moscow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two cities have the least difference in temperature?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Quebec &amp; Tromsø or Moscow &amp; Quebec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difference in temperature between London and Los Angeles?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℃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another pair of cities with the same temperature difference.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New York &amp; Tromsø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>
            <a:off x="458057" y="9831975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5" name="Google Shape;19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negative numbers in context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1064100"/>
            <a:ext cx="55797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new balance for each student: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390325" y="1384140"/>
            <a:ext cx="1619100" cy="2551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421650" y="1643240"/>
            <a:ext cx="1228200" cy="23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Apple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Melon pot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Meal deal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Sandwich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Ice Lolly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Fruit Juice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6432800" y="1643240"/>
            <a:ext cx="576600" cy="22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£2.65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£1.85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85p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95p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2" name="Google Shape;202;p21"/>
          <p:cNvGraphicFramePr/>
          <p:nvPr/>
        </p:nvGraphicFramePr>
        <p:xfrm>
          <a:off x="552600" y="137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{F0F53969-3544-481D-84D8-2515821C1A29}</a:tableStyleId>
              </a:tblPr>
              <a:tblGrid>
                <a:gridCol w="686525"/>
                <a:gridCol w="3083000"/>
                <a:gridCol w="1013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Current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balance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Bought from the canteen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balance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£2.00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Meal deal and an ice lolly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(−£1.45)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melon pot,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sandwich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 a fruit juice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(−£1.95)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meal deal and bottle of water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(−£0.35)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£2.80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 apple, melon pot and a sandwich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(−£0.25)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£0.60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melon pot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(−£0.15)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meal deal and a fruit juice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(−£2.25)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£0.25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sandwich, ice lolly and bottle of water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(−£3.35)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203" name="Google Shape;203;p21"/>
          <p:cNvSpPr txBox="1"/>
          <p:nvPr/>
        </p:nvSpPr>
        <p:spPr>
          <a:xfrm>
            <a:off x="5390325" y="1384140"/>
            <a:ext cx="161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Canteen Price List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6400" y="4767420"/>
            <a:ext cx="64146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The table shows the average temperature in January in eight cities.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5" name="Google Shape;205;p21"/>
          <p:cNvGraphicFramePr/>
          <p:nvPr/>
        </p:nvGraphicFramePr>
        <p:xfrm>
          <a:off x="711475" y="5094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{F0F53969-3544-481D-84D8-2515821C1A29}</a:tableStyleId>
              </a:tblPr>
              <a:tblGrid>
                <a:gridCol w="1893000"/>
                <a:gridCol w="84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Alice Springs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Jaipur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London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 Angeles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Moscow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York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Quebec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Tromsø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6" name="Google Shape;206;p21"/>
          <p:cNvSpPr txBox="1"/>
          <p:nvPr/>
        </p:nvSpPr>
        <p:spPr>
          <a:xfrm>
            <a:off x="3550124" y="5094720"/>
            <a:ext cx="3541800" cy="3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following sentences: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Tromsø is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warmer than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Moscow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colder than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London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New York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warmer than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Quebec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colder than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London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Quebec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warmer than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Moscow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colder than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Jaipur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London is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warmer than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New York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℃ colder than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Alice Springs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05500" y="647275"/>
            <a:ext cx="46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negative numbers in a context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