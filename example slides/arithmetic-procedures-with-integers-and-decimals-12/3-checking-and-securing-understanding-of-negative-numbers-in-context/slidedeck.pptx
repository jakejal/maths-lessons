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/>
  <p:notesSz cx="6858000" cy="9144000"/>
  <p:embeddedFontLst>
    <p:embeddedFont>
      <p:font typeface="Lexend" panose="00000000000000000000"/>
      <p:regular r:id="rId40"/>
    </p:embeddedFont>
    <p:embeddedFont>
      <p:font typeface="Lexend Medium" panose="00000000000000000000"/>
      <p:regular r:id="rId41"/>
    </p:embeddedFont>
    <p:embeddedFont>
      <p:font typeface="Kalam" panose="02000000000000000000"/>
      <p:regular r:id="rId42"/>
    </p:embeddedFont>
    <p:embeddedFont>
      <p:font typeface="Lexend Light" panose="00000000000000000000"/>
      <p:regular r:id="rId43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ABDFAA5-A200-4801-BF23-FF04C0B6870B}">
  <a:tblStyle styleId="{FABDFAA5-A200-4801-BF23-FF04C0B687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tags" Target="tags/tag1.xml" /><Relationship Id="rId4" Type="http://schemas.openxmlformats.org/officeDocument/2006/relationships/slide" Target="slides/slide2.xml" /><Relationship Id="rId40" Type="http://schemas.openxmlformats.org/officeDocument/2006/relationships/font" Target="fonts/font1.fntdata" /><Relationship Id="rId41" Type="http://schemas.openxmlformats.org/officeDocument/2006/relationships/font" Target="fonts/font2.fntdata" /><Relationship Id="rId42" Type="http://schemas.openxmlformats.org/officeDocument/2006/relationships/font" Target="fonts/font3.fntdata" /><Relationship Id="rId43" Type="http://schemas.openxmlformats.org/officeDocument/2006/relationships/font" Target="fonts/font4.fntdata" /><Relationship Id="rId44" Type="http://schemas.openxmlformats.org/officeDocument/2006/relationships/presProps" Target="presProps.xml" /><Relationship Id="rId45" Type="http://schemas.openxmlformats.org/officeDocument/2006/relationships/viewProps" Target="viewProps.xml" /><Relationship Id="rId46" Type="http://schemas.openxmlformats.org/officeDocument/2006/relationships/theme" Target="theme/theme1.xml" /><Relationship Id="rId47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22bbd2ae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22bbd2ae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d5086d886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d5086d886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8bdaf1884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8bdaf1884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8bdaf18847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8bdaf18847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g1e950de0aab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e950de0aab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g28bdaf18847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8bdaf18847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8bdaf18847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8bdaf18847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g1e950de0aab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1e950de0aab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sp>
        <p:nvSpPr>
          <p:cNvPr id="945" name="Google Shape;945;g28bdaf18847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8bdaf18847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g28bdaf18847_0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8bdaf18847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g1e950de0aab_0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e950de0aab_0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sp>
        <p:nvSpPr>
          <p:cNvPr id="1077" name="Google Shape;1077;g290ff626b30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90ff626b30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5" name="Shape 1135"/>
        <p:cNvGrpSpPr/>
        <p:nvPr/>
      </p:nvGrpSpPr>
      <p:grpSpPr>
        <a:xfrm>
          <a:off x="0" y="0"/>
          <a:ext cx="0" cy="0"/>
        </a:xfrm>
      </p:grpSpPr>
      <p:sp>
        <p:nvSpPr>
          <p:cNvPr id="1136" name="Google Shape;1136;g28bdaf18847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8bdaf18847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g290ff626b30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90ff626b30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sp>
        <p:nvSpPr>
          <p:cNvPr id="1196" name="Google Shape;1196;g290ff626b30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90ff626b30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g290ff626b30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90ff626b30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8" name="Shape 1218"/>
        <p:cNvGrpSpPr/>
        <p:nvPr/>
      </p:nvGrpSpPr>
      <p:grpSpPr>
        <a:xfrm>
          <a:off x="0" y="0"/>
          <a:ext cx="0" cy="0"/>
        </a:xfrm>
      </p:grpSpPr>
      <p:sp>
        <p:nvSpPr>
          <p:cNvPr id="1219" name="Google Shape;1219;g290ff626b30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0ff626b30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4" name="Shape 1224"/>
        <p:cNvGrpSpPr/>
        <p:nvPr/>
      </p:nvGrpSpPr>
      <p:grpSpPr>
        <a:xfrm>
          <a:off x="0" y="0"/>
          <a:ext cx="0" cy="0"/>
        </a:xfrm>
      </p:grpSpPr>
      <p:sp>
        <p:nvSpPr>
          <p:cNvPr id="1225" name="Google Shape;1225;g290ff626b30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90ff626b30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2" name="Shape 1232"/>
        <p:cNvGrpSpPr/>
        <p:nvPr/>
      </p:nvGrpSpPr>
      <p:grpSpPr>
        <a:xfrm>
          <a:off x="0" y="0"/>
          <a:ext cx="0" cy="0"/>
        </a:xfrm>
      </p:grpSpPr>
      <p:sp>
        <p:nvSpPr>
          <p:cNvPr id="1233" name="Google Shape;1233;g1e950de0aab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1e950de0aab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7" name="Shape 1247"/>
        <p:cNvGrpSpPr/>
        <p:nvPr/>
      </p:nvGrpSpPr>
      <p:grpSpPr>
        <a:xfrm>
          <a:off x="0" y="0"/>
          <a:ext cx="0" cy="0"/>
        </a:xfrm>
      </p:grpSpPr>
      <p:sp>
        <p:nvSpPr>
          <p:cNvPr id="1248" name="Google Shape;1248;g290ff626b30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0ff626b30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4" name="Shape 1254"/>
        <p:cNvGrpSpPr/>
        <p:nvPr/>
      </p:nvGrpSpPr>
      <p:grpSpPr>
        <a:xfrm>
          <a:off x="0" y="0"/>
          <a:ext cx="0" cy="0"/>
        </a:xfrm>
      </p:grpSpPr>
      <p:sp>
        <p:nvSpPr>
          <p:cNvPr id="1255" name="Google Shape;1255;g28bdaf18847_0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8bdaf18847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2" name="Shape 1262"/>
        <p:cNvGrpSpPr/>
        <p:nvPr/>
      </p:nvGrpSpPr>
      <p:grpSpPr>
        <a:xfrm>
          <a:off x="0" y="0"/>
          <a:ext cx="0" cy="0"/>
        </a:xfrm>
      </p:grpSpPr>
      <p:sp>
        <p:nvSpPr>
          <p:cNvPr id="1263" name="Google Shape;1263;g290ff626b30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90ff626b30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0" name="Shape 1270"/>
        <p:cNvGrpSpPr/>
        <p:nvPr/>
      </p:nvGrpSpPr>
      <p:grpSpPr>
        <a:xfrm>
          <a:off x="0" y="0"/>
          <a:ext cx="0" cy="0"/>
        </a:xfrm>
      </p:grpSpPr>
      <p:sp>
        <p:nvSpPr>
          <p:cNvPr id="1271" name="Google Shape;1271;g28bdaf18847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bdaf18847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8" name="Shape 1278"/>
        <p:cNvGrpSpPr/>
        <p:nvPr/>
      </p:nvGrpSpPr>
      <p:grpSpPr>
        <a:xfrm>
          <a:off x="0" y="0"/>
          <a:ext cx="0" cy="0"/>
        </a:xfrm>
      </p:grpSpPr>
      <p:sp>
        <p:nvSpPr>
          <p:cNvPr id="1279" name="Google Shape;1279;g28bdaf18847_0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8bdaf18847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8" name="Shape 1288"/>
        <p:cNvGrpSpPr/>
        <p:nvPr/>
      </p:nvGrpSpPr>
      <p:grpSpPr>
        <a:xfrm>
          <a:off x="0" y="0"/>
          <a:ext cx="0" cy="0"/>
        </a:xfrm>
      </p:grpSpPr>
      <p:sp>
        <p:nvSpPr>
          <p:cNvPr id="1289" name="Google Shape;1289;g28bdaf18847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8bdaf18847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1" name="Shape 1311"/>
        <p:cNvGrpSpPr/>
        <p:nvPr/>
      </p:nvGrpSpPr>
      <p:grpSpPr>
        <a:xfrm>
          <a:off x="0" y="0"/>
          <a:ext cx="0" cy="0"/>
        </a:xfrm>
      </p:grpSpPr>
      <p:sp>
        <p:nvSpPr>
          <p:cNvPr id="1312" name="Google Shape;1312;g2916491939c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916491939c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4" name="Shape 1334"/>
        <p:cNvGrpSpPr/>
        <p:nvPr/>
      </p:nvGrpSpPr>
      <p:grpSpPr>
        <a:xfrm>
          <a:off x="0" y="0"/>
          <a:ext cx="0" cy="0"/>
        </a:xfrm>
      </p:grpSpPr>
      <p:sp>
        <p:nvSpPr>
          <p:cNvPr id="1335" name="Google Shape;1335;g28bdaf18847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8bdaf18847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sp>
        <p:nvSpPr>
          <p:cNvPr id="1374" name="Google Shape;1374;g290ff626b30_2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90ff626b30_2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4" name="Shape 1384"/>
        <p:cNvGrpSpPr/>
        <p:nvPr/>
      </p:nvGrpSpPr>
      <p:grpSpPr>
        <a:xfrm>
          <a:off x="0" y="0"/>
          <a:ext cx="0" cy="0"/>
        </a:xfrm>
      </p:grpSpPr>
      <p:sp>
        <p:nvSpPr>
          <p:cNvPr id="1385" name="Google Shape;1385;g2916491939c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916491939c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2" name="Shape 1392"/>
        <p:cNvGrpSpPr/>
        <p:nvPr/>
      </p:nvGrpSpPr>
      <p:grpSpPr>
        <a:xfrm>
          <a:off x="0" y="0"/>
          <a:ext cx="0" cy="0"/>
        </a:xfrm>
      </p:grpSpPr>
      <p:sp>
        <p:nvSpPr>
          <p:cNvPr id="1393" name="Google Shape;1393;g28bdaf18847_0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8bdaf18847_0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3" name="Shape 1403"/>
        <p:cNvGrpSpPr/>
        <p:nvPr/>
      </p:nvGrpSpPr>
      <p:grpSpPr>
        <a:xfrm>
          <a:off x="0" y="0"/>
          <a:ext cx="0" cy="0"/>
        </a:xfrm>
      </p:grpSpPr>
      <p:sp>
        <p:nvSpPr>
          <p:cNvPr id="1404" name="Google Shape;1404;g2916491939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916491939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1" name="Shape 1411"/>
        <p:cNvGrpSpPr/>
        <p:nvPr/>
      </p:nvGrpSpPr>
      <p:grpSpPr>
        <a:xfrm>
          <a:off x="0" y="0"/>
          <a:ext cx="0" cy="0"/>
        </a:xfrm>
      </p:grpSpPr>
      <p:sp>
        <p:nvSpPr>
          <p:cNvPr id="1412" name="Google Shape;1412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7" name="Shape 1417"/>
        <p:cNvGrpSpPr/>
        <p:nvPr/>
      </p:nvGrpSpPr>
      <p:grpSpPr>
        <a:xfrm>
          <a:off x="0" y="0"/>
          <a:ext cx="0" cy="0"/>
        </a:xfrm>
      </p:grpSpPr>
      <p:sp>
        <p:nvSpPr>
          <p:cNvPr id="1418" name="Google Shape;1418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2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4.png" /><Relationship Id="rId4" Type="http://schemas.openxmlformats.org/officeDocument/2006/relationships/image" Target="../media/image56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6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interpret negative numbers in context and can think about negative numbers without context.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integer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>
                <a:solidFill>
                  <a:schemeClr val="dk1"/>
                </a:solidFill>
              </a:rPr>
              <a:t>An </a:t>
            </a:r>
            <a:r>
              <a:rPr lang="en-GB">
                <a:solidFill>
                  <a:schemeClr val="dk1"/>
                </a:solidFill>
              </a:rPr>
              <a:t>integer</a:t>
            </a:r>
            <a:r>
              <a:rPr lang="en-GB" b="0">
                <a:solidFill>
                  <a:schemeClr val="dk1"/>
                </a:solidFill>
              </a:rPr>
              <a:t> is any positive or negative whole number or zero. E.g. (−2), 0, 153 are all examples of </a:t>
            </a:r>
            <a:r>
              <a:rPr lang="en-GB">
                <a:solidFill>
                  <a:schemeClr val="dk1"/>
                </a:solidFill>
              </a:rPr>
              <a:t>integers</a:t>
            </a:r>
            <a:r>
              <a:rPr lang="en-GB" b="0">
                <a:solidFill>
                  <a:schemeClr val="dk1"/>
                </a:solidFill>
              </a:rPr>
              <a:t>.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777" name="Google Shape;777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778" name="Google Shape;778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pic>
        <p:nvPicPr>
          <p:cNvPr id="779" name="Google Shape;77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4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785" name="Google Shape;785;p70"/>
          <p:cNvSpPr txBox="1"/>
          <p:nvPr>
            <p:ph type="body" idx="1"/>
          </p:nvPr>
        </p:nvSpPr>
        <p:spPr>
          <a:xfrm>
            <a:off x="324000" y="810000"/>
            <a:ext cx="4149300" cy="1350000"/>
          </a:xfrm>
          <a:prstGeom prst="rect">
            <a:avLst/>
          </a:prstGeom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Alex places a dot on a number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It is five away from zero.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might Alex’s dot be?</a:t>
            </a:r>
            <a:endParaRPr sz="1800"/>
          </a:p>
        </p:txBody>
      </p:sp>
      <p:sp>
        <p:nvSpPr>
          <p:cNvPr id="786" name="Google Shape;786;p70"/>
          <p:cNvSpPr txBox="1"/>
          <p:nvPr>
            <p:ph type="body" idx="1"/>
          </p:nvPr>
        </p:nvSpPr>
        <p:spPr>
          <a:xfrm>
            <a:off x="320875" y="2359600"/>
            <a:ext cx="4251000" cy="1350000"/>
          </a:xfrm>
          <a:prstGeom prst="rect">
            <a:avLst/>
          </a:prstGeom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Aisha places a dot on a number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It is seven away from three.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might Aisha’s dot be?</a:t>
            </a:r>
            <a:endParaRPr sz="1800"/>
          </a:p>
        </p:txBody>
      </p:sp>
      <p:sp>
        <p:nvSpPr>
          <p:cNvPr id="787" name="Google Shape;787;p70"/>
          <p:cNvSpPr txBox="1"/>
          <p:nvPr>
            <p:ph type="body" idx="1"/>
          </p:nvPr>
        </p:nvSpPr>
        <p:spPr>
          <a:xfrm>
            <a:off x="4637875" y="810000"/>
            <a:ext cx="4198800" cy="1350000"/>
          </a:xfrm>
          <a:prstGeom prst="rect">
            <a:avLst/>
          </a:prstGeom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Lucas places a dot on a number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It is one hundred away from one.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might Lucas’ dot be?</a:t>
            </a:r>
            <a:endParaRPr sz="1800"/>
          </a:p>
        </p:txBody>
      </p:sp>
      <p:sp>
        <p:nvSpPr>
          <p:cNvPr id="788" name="Google Shape;788;p70"/>
          <p:cNvSpPr txBox="1"/>
          <p:nvPr>
            <p:ph type="body" idx="1"/>
          </p:nvPr>
        </p:nvSpPr>
        <p:spPr>
          <a:xfrm>
            <a:off x="4824000" y="2359600"/>
            <a:ext cx="4012800" cy="1350000"/>
          </a:xfrm>
          <a:prstGeom prst="rect">
            <a:avLst/>
          </a:prstGeom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Jun places a dot on a number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It is one away from one quarter.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might Jun’s dot be?</a:t>
            </a:r>
            <a:endParaRPr sz="1800"/>
          </a:p>
        </p:txBody>
      </p:sp>
      <p:sp>
        <p:nvSpPr>
          <p:cNvPr id="789" name="Google Shape;789;p70"/>
          <p:cNvSpPr txBox="1"/>
          <p:nvPr>
            <p:ph type="body" idx="1"/>
          </p:nvPr>
        </p:nvSpPr>
        <p:spPr>
          <a:xfrm>
            <a:off x="320875" y="3833004"/>
            <a:ext cx="6583200" cy="77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In each situation there are two possible answers.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How far apart are the answers?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795" name="Google Shape;795;p71"/>
          <p:cNvSpPr txBox="1"/>
          <p:nvPr>
            <p:ph type="body" idx="1"/>
          </p:nvPr>
        </p:nvSpPr>
        <p:spPr>
          <a:xfrm>
            <a:off x="324000" y="810000"/>
            <a:ext cx="4790400" cy="135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Alex places a dot on a number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is five away from zero.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Where might Alex’s dot be?</a:t>
            </a:r>
            <a:endParaRPr/>
          </a:p>
        </p:txBody>
      </p:sp>
      <p:sp>
        <p:nvSpPr>
          <p:cNvPr id="796" name="Google Shape;796;p71"/>
          <p:cNvSpPr/>
          <p:nvPr/>
        </p:nvSpPr>
        <p:spPr>
          <a:xfrm>
            <a:off x="6482550" y="2559750"/>
            <a:ext cx="1800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1"/>
          <p:cNvSpPr/>
          <p:nvPr/>
        </p:nvSpPr>
        <p:spPr>
          <a:xfrm>
            <a:off x="2443950" y="2559750"/>
            <a:ext cx="1800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8" name="Google Shape;798;p71"/>
          <p:cNvCxnSpPr/>
          <p:nvPr/>
        </p:nvCxnSpPr>
        <p:spPr>
          <a:xfrm rot="10800000" flipH="1">
            <a:off x="4552900" y="2656050"/>
            <a:ext cx="1904700" cy="3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cxnSp>
        <p:nvCxnSpPr>
          <p:cNvPr id="799" name="Google Shape;799;p71"/>
          <p:cNvCxnSpPr/>
          <p:nvPr/>
        </p:nvCxnSpPr>
        <p:spPr>
          <a:xfrm>
            <a:off x="2666263" y="2656800"/>
            <a:ext cx="1911600" cy="3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800" name="Google Shape;800;p71"/>
          <p:cNvSpPr txBox="1"/>
          <p:nvPr/>
        </p:nvSpPr>
        <p:spPr>
          <a:xfrm>
            <a:off x="3552475" y="2229375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1"/>
          <p:cNvSpPr txBox="1"/>
          <p:nvPr/>
        </p:nvSpPr>
        <p:spPr>
          <a:xfrm>
            <a:off x="5505175" y="2233050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1"/>
          <p:cNvSpPr txBox="1"/>
          <p:nvPr/>
        </p:nvSpPr>
        <p:spPr>
          <a:xfrm>
            <a:off x="351025" y="4265775"/>
            <a:ext cx="4419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Alex’s dot could be at (−5) or 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3" name="Google Shape;803;p71"/>
          <p:cNvGrpSpPr/>
          <p:nvPr/>
        </p:nvGrpSpPr>
        <p:grpSpPr>
          <a:xfrm>
            <a:off x="351025" y="2952289"/>
            <a:ext cx="8381750" cy="1100336"/>
            <a:chOff x="351025" y="2952289"/>
            <a:chExt cx="8381750" cy="1100336"/>
          </a:xfrm>
        </p:grpSpPr>
        <p:grpSp>
          <p:nvGrpSpPr>
            <p:cNvPr id="804" name="Google Shape;804;p71"/>
            <p:cNvGrpSpPr/>
            <p:nvPr/>
          </p:nvGrpSpPr>
          <p:grpSpPr>
            <a:xfrm>
              <a:off x="476412" y="2952289"/>
              <a:ext cx="8173379" cy="915545"/>
              <a:chOff x="432600" y="3082900"/>
              <a:chExt cx="7640100" cy="764100"/>
            </a:xfrm>
          </p:grpSpPr>
          <p:cxnSp>
            <p:nvCxnSpPr>
              <p:cNvPr id="805" name="Google Shape;805;p71"/>
              <p:cNvCxnSpPr/>
              <p:nvPr/>
            </p:nvCxnSpPr>
            <p:spPr>
              <a:xfrm>
                <a:off x="432600" y="3466600"/>
                <a:ext cx="7640100" cy="6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71"/>
              <p:cNvCxnSpPr/>
              <p:nvPr/>
            </p:nvCxnSpPr>
            <p:spPr>
              <a:xfrm>
                <a:off x="80627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71"/>
              <p:cNvCxnSpPr/>
              <p:nvPr/>
            </p:nvCxnSpPr>
            <p:spPr>
              <a:xfrm>
                <a:off x="69203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71"/>
              <p:cNvCxnSpPr/>
              <p:nvPr/>
            </p:nvCxnSpPr>
            <p:spPr>
              <a:xfrm>
                <a:off x="825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71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0" name="Google Shape;810;p71"/>
              <p:cNvCxnSpPr/>
              <p:nvPr/>
            </p:nvCxnSpPr>
            <p:spPr>
              <a:xfrm>
                <a:off x="76816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71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71"/>
              <p:cNvCxnSpPr/>
              <p:nvPr/>
            </p:nvCxnSpPr>
            <p:spPr>
              <a:xfrm>
                <a:off x="73021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71"/>
              <p:cNvCxnSpPr/>
              <p:nvPr/>
            </p:nvCxnSpPr>
            <p:spPr>
              <a:xfrm>
                <a:off x="432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71"/>
              <p:cNvCxnSpPr/>
              <p:nvPr/>
            </p:nvCxnSpPr>
            <p:spPr>
              <a:xfrm>
                <a:off x="65398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71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71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71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71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9" name="Google Shape;819;p71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71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71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2" name="Google Shape;822;p71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3" name="Google Shape;823;p71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4" name="Google Shape;824;p71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71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71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827" name="Google Shape;827;p71"/>
            <p:cNvSpPr txBox="1"/>
            <p:nvPr/>
          </p:nvSpPr>
          <p:spPr>
            <a:xfrm>
              <a:off x="35102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1"/>
            <p:cNvSpPr txBox="1"/>
            <p:nvPr/>
          </p:nvSpPr>
          <p:spPr>
            <a:xfrm>
              <a:off x="76185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71"/>
            <p:cNvSpPr txBox="1"/>
            <p:nvPr/>
          </p:nvSpPr>
          <p:spPr>
            <a:xfrm>
              <a:off x="117267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71"/>
            <p:cNvSpPr txBox="1"/>
            <p:nvPr/>
          </p:nvSpPr>
          <p:spPr>
            <a:xfrm>
              <a:off x="15465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71"/>
            <p:cNvSpPr txBox="1"/>
            <p:nvPr/>
          </p:nvSpPr>
          <p:spPr>
            <a:xfrm>
              <a:off x="2836625" y="3867825"/>
              <a:ext cx="196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1"/>
            <p:cNvSpPr txBox="1"/>
            <p:nvPr/>
          </p:nvSpPr>
          <p:spPr>
            <a:xfrm>
              <a:off x="2443963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1"/>
            <p:cNvSpPr txBox="1"/>
            <p:nvPr/>
          </p:nvSpPr>
          <p:spPr>
            <a:xfrm>
              <a:off x="77739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71"/>
            <p:cNvSpPr txBox="1"/>
            <p:nvPr/>
          </p:nvSpPr>
          <p:spPr>
            <a:xfrm>
              <a:off x="81881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5" name="Google Shape;835;p71"/>
            <p:cNvSpPr txBox="1"/>
            <p:nvPr/>
          </p:nvSpPr>
          <p:spPr>
            <a:xfrm>
              <a:off x="85527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71"/>
            <p:cNvSpPr txBox="1"/>
            <p:nvPr/>
          </p:nvSpPr>
          <p:spPr>
            <a:xfrm>
              <a:off x="19574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1"/>
            <p:cNvSpPr txBox="1"/>
            <p:nvPr/>
          </p:nvSpPr>
          <p:spPr>
            <a:xfrm>
              <a:off x="3252625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71"/>
            <p:cNvSpPr txBox="1"/>
            <p:nvPr/>
          </p:nvSpPr>
          <p:spPr>
            <a:xfrm>
              <a:off x="533690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71"/>
            <p:cNvSpPr txBox="1"/>
            <p:nvPr/>
          </p:nvSpPr>
          <p:spPr>
            <a:xfrm>
              <a:off x="4932750" y="3867825"/>
              <a:ext cx="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71"/>
            <p:cNvSpPr txBox="1"/>
            <p:nvPr/>
          </p:nvSpPr>
          <p:spPr>
            <a:xfrm>
              <a:off x="365482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40764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71"/>
            <p:cNvSpPr txBox="1"/>
            <p:nvPr/>
          </p:nvSpPr>
          <p:spPr>
            <a:xfrm>
              <a:off x="4514200" y="3867825"/>
              <a:ext cx="9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71"/>
            <p:cNvSpPr txBox="1"/>
            <p:nvPr/>
          </p:nvSpPr>
          <p:spPr>
            <a:xfrm>
              <a:off x="6137393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71"/>
            <p:cNvSpPr txBox="1"/>
            <p:nvPr/>
          </p:nvSpPr>
          <p:spPr>
            <a:xfrm>
              <a:off x="65565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71"/>
            <p:cNvSpPr txBox="1"/>
            <p:nvPr/>
          </p:nvSpPr>
          <p:spPr>
            <a:xfrm>
              <a:off x="574105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71"/>
            <p:cNvSpPr txBox="1"/>
            <p:nvPr/>
          </p:nvSpPr>
          <p:spPr>
            <a:xfrm>
              <a:off x="73681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71"/>
            <p:cNvSpPr txBox="1"/>
            <p:nvPr/>
          </p:nvSpPr>
          <p:spPr>
            <a:xfrm>
              <a:off x="6960700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853" name="Google Shape;853;p72"/>
          <p:cNvSpPr txBox="1"/>
          <p:nvPr>
            <p:ph type="body" idx="1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Aisha places a dot on a number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It is seven away from three.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Where might Aisha’s dot be?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854" name="Google Shape;854;p72"/>
          <p:cNvSpPr/>
          <p:nvPr/>
        </p:nvSpPr>
        <p:spPr>
          <a:xfrm>
            <a:off x="8561700" y="2652475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2892256" y="2652463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6" name="Google Shape;856;p72"/>
          <p:cNvCxnSpPr/>
          <p:nvPr/>
        </p:nvCxnSpPr>
        <p:spPr>
          <a:xfrm>
            <a:off x="5783700" y="2750400"/>
            <a:ext cx="2778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cxnSp>
        <p:nvCxnSpPr>
          <p:cNvPr id="857" name="Google Shape;857;p72"/>
          <p:cNvCxnSpPr/>
          <p:nvPr/>
        </p:nvCxnSpPr>
        <p:spPr>
          <a:xfrm>
            <a:off x="3064150" y="2751150"/>
            <a:ext cx="2778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858" name="Google Shape;858;p72"/>
          <p:cNvSpPr txBox="1"/>
          <p:nvPr/>
        </p:nvSpPr>
        <p:spPr>
          <a:xfrm>
            <a:off x="4369300" y="2345488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2"/>
          <p:cNvSpPr txBox="1"/>
          <p:nvPr/>
        </p:nvSpPr>
        <p:spPr>
          <a:xfrm>
            <a:off x="7140725" y="2345488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>
            <a:off x="351025" y="4173050"/>
            <a:ext cx="46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Aisha’s dot could be at (−4) or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72"/>
          <p:cNvGrpSpPr/>
          <p:nvPr/>
        </p:nvGrpSpPr>
        <p:grpSpPr>
          <a:xfrm>
            <a:off x="351025" y="2952289"/>
            <a:ext cx="8381750" cy="1100336"/>
            <a:chOff x="351025" y="2952289"/>
            <a:chExt cx="8381750" cy="1100336"/>
          </a:xfrm>
        </p:grpSpPr>
        <p:grpSp>
          <p:nvGrpSpPr>
            <p:cNvPr id="862" name="Google Shape;862;p72"/>
            <p:cNvGrpSpPr/>
            <p:nvPr/>
          </p:nvGrpSpPr>
          <p:grpSpPr>
            <a:xfrm>
              <a:off x="476412" y="2952289"/>
              <a:ext cx="8173379" cy="915545"/>
              <a:chOff x="432600" y="3082900"/>
              <a:chExt cx="7640100" cy="764100"/>
            </a:xfrm>
          </p:grpSpPr>
          <p:cxnSp>
            <p:nvCxnSpPr>
              <p:cNvPr id="863" name="Google Shape;863;p72"/>
              <p:cNvCxnSpPr/>
              <p:nvPr/>
            </p:nvCxnSpPr>
            <p:spPr>
              <a:xfrm>
                <a:off x="432600" y="3466600"/>
                <a:ext cx="7640100" cy="6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72"/>
              <p:cNvCxnSpPr/>
              <p:nvPr/>
            </p:nvCxnSpPr>
            <p:spPr>
              <a:xfrm>
                <a:off x="80627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5" name="Google Shape;865;p72"/>
              <p:cNvCxnSpPr/>
              <p:nvPr/>
            </p:nvCxnSpPr>
            <p:spPr>
              <a:xfrm>
                <a:off x="69203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72"/>
              <p:cNvCxnSpPr/>
              <p:nvPr/>
            </p:nvCxnSpPr>
            <p:spPr>
              <a:xfrm>
                <a:off x="825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72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72"/>
              <p:cNvCxnSpPr/>
              <p:nvPr/>
            </p:nvCxnSpPr>
            <p:spPr>
              <a:xfrm>
                <a:off x="76816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9" name="Google Shape;869;p72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0" name="Google Shape;870;p72"/>
              <p:cNvCxnSpPr/>
              <p:nvPr/>
            </p:nvCxnSpPr>
            <p:spPr>
              <a:xfrm>
                <a:off x="73021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1" name="Google Shape;871;p72"/>
              <p:cNvCxnSpPr/>
              <p:nvPr/>
            </p:nvCxnSpPr>
            <p:spPr>
              <a:xfrm>
                <a:off x="432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2" name="Google Shape;872;p72"/>
              <p:cNvCxnSpPr/>
              <p:nvPr/>
            </p:nvCxnSpPr>
            <p:spPr>
              <a:xfrm>
                <a:off x="65398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3" name="Google Shape;873;p72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4" name="Google Shape;874;p72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5" name="Google Shape;875;p72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6" name="Google Shape;876;p72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7" name="Google Shape;877;p72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8" name="Google Shape;878;p72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9" name="Google Shape;879;p72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0" name="Google Shape;880;p72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1" name="Google Shape;881;p72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2" name="Google Shape;882;p72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3" name="Google Shape;883;p72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4" name="Google Shape;884;p72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885" name="Google Shape;885;p72"/>
            <p:cNvSpPr txBox="1"/>
            <p:nvPr/>
          </p:nvSpPr>
          <p:spPr>
            <a:xfrm>
              <a:off x="35102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72"/>
            <p:cNvSpPr txBox="1"/>
            <p:nvPr/>
          </p:nvSpPr>
          <p:spPr>
            <a:xfrm>
              <a:off x="76185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2"/>
            <p:cNvSpPr txBox="1"/>
            <p:nvPr/>
          </p:nvSpPr>
          <p:spPr>
            <a:xfrm>
              <a:off x="117267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2"/>
            <p:cNvSpPr txBox="1"/>
            <p:nvPr/>
          </p:nvSpPr>
          <p:spPr>
            <a:xfrm>
              <a:off x="15465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2"/>
            <p:cNvSpPr txBox="1"/>
            <p:nvPr/>
          </p:nvSpPr>
          <p:spPr>
            <a:xfrm>
              <a:off x="2836625" y="3867825"/>
              <a:ext cx="196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2"/>
            <p:cNvSpPr txBox="1"/>
            <p:nvPr/>
          </p:nvSpPr>
          <p:spPr>
            <a:xfrm>
              <a:off x="2443963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2"/>
            <p:cNvSpPr txBox="1"/>
            <p:nvPr/>
          </p:nvSpPr>
          <p:spPr>
            <a:xfrm>
              <a:off x="77739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2"/>
            <p:cNvSpPr txBox="1"/>
            <p:nvPr/>
          </p:nvSpPr>
          <p:spPr>
            <a:xfrm>
              <a:off x="81881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72"/>
            <p:cNvSpPr txBox="1"/>
            <p:nvPr/>
          </p:nvSpPr>
          <p:spPr>
            <a:xfrm>
              <a:off x="85527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2"/>
            <p:cNvSpPr txBox="1"/>
            <p:nvPr/>
          </p:nvSpPr>
          <p:spPr>
            <a:xfrm>
              <a:off x="19574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72"/>
            <p:cNvSpPr txBox="1"/>
            <p:nvPr/>
          </p:nvSpPr>
          <p:spPr>
            <a:xfrm>
              <a:off x="3252625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2"/>
            <p:cNvSpPr txBox="1"/>
            <p:nvPr/>
          </p:nvSpPr>
          <p:spPr>
            <a:xfrm>
              <a:off x="533690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2"/>
            <p:cNvSpPr txBox="1"/>
            <p:nvPr/>
          </p:nvSpPr>
          <p:spPr>
            <a:xfrm>
              <a:off x="4932750" y="3867825"/>
              <a:ext cx="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2"/>
            <p:cNvSpPr txBox="1"/>
            <p:nvPr/>
          </p:nvSpPr>
          <p:spPr>
            <a:xfrm>
              <a:off x="365482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9" name="Google Shape;899;p72"/>
            <p:cNvSpPr txBox="1"/>
            <p:nvPr/>
          </p:nvSpPr>
          <p:spPr>
            <a:xfrm>
              <a:off x="40764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72"/>
            <p:cNvSpPr txBox="1"/>
            <p:nvPr/>
          </p:nvSpPr>
          <p:spPr>
            <a:xfrm>
              <a:off x="4514200" y="3867825"/>
              <a:ext cx="9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2"/>
            <p:cNvSpPr txBox="1"/>
            <p:nvPr/>
          </p:nvSpPr>
          <p:spPr>
            <a:xfrm>
              <a:off x="6137393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72"/>
            <p:cNvSpPr txBox="1"/>
            <p:nvPr/>
          </p:nvSpPr>
          <p:spPr>
            <a:xfrm>
              <a:off x="65565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72"/>
            <p:cNvSpPr txBox="1"/>
            <p:nvPr/>
          </p:nvSpPr>
          <p:spPr>
            <a:xfrm>
              <a:off x="574105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72"/>
            <p:cNvSpPr txBox="1"/>
            <p:nvPr/>
          </p:nvSpPr>
          <p:spPr>
            <a:xfrm>
              <a:off x="73681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2"/>
            <p:cNvSpPr txBox="1"/>
            <p:nvPr/>
          </p:nvSpPr>
          <p:spPr>
            <a:xfrm>
              <a:off x="6960700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sp>
        <p:nvSpPr>
          <p:cNvPr id="910" name="Google Shape;91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911" name="Google Shape;911;p73"/>
          <p:cNvSpPr txBox="1"/>
          <p:nvPr>
            <p:ph type="body" idx="1"/>
          </p:nvPr>
        </p:nvSpPr>
        <p:spPr>
          <a:xfrm>
            <a:off x="324000" y="759300"/>
            <a:ext cx="8237700" cy="14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Lucas places a dot on a number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is one hundred away from one.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Where might Lucas’ dot be?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12" name="Google Shape;912;p73"/>
          <p:cNvSpPr/>
          <p:nvPr/>
        </p:nvSpPr>
        <p:spPr>
          <a:xfrm>
            <a:off x="7334100" y="2916450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/>
          <p:nvPr/>
        </p:nvSpPr>
        <p:spPr>
          <a:xfrm>
            <a:off x="1647900" y="2916452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4" name="Google Shape;914;p73"/>
          <p:cNvCxnSpPr/>
          <p:nvPr/>
        </p:nvCxnSpPr>
        <p:spPr>
          <a:xfrm>
            <a:off x="4556100" y="3006150"/>
            <a:ext cx="2778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cxnSp>
        <p:nvCxnSpPr>
          <p:cNvPr id="915" name="Google Shape;915;p73"/>
          <p:cNvCxnSpPr/>
          <p:nvPr/>
        </p:nvCxnSpPr>
        <p:spPr>
          <a:xfrm>
            <a:off x="1815600" y="3006150"/>
            <a:ext cx="2778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916" name="Google Shape;916;p73"/>
          <p:cNvSpPr txBox="1"/>
          <p:nvPr>
            <p:ph type="body" idx="1"/>
          </p:nvPr>
        </p:nvSpPr>
        <p:spPr>
          <a:xfrm>
            <a:off x="4488150" y="3146300"/>
            <a:ext cx="1677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17" name="Google Shape;917;p73"/>
          <p:cNvSpPr txBox="1"/>
          <p:nvPr>
            <p:ph type="body" idx="1"/>
          </p:nvPr>
        </p:nvSpPr>
        <p:spPr>
          <a:xfrm>
            <a:off x="5774400" y="2684550"/>
            <a:ext cx="5130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100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18" name="Google Shape;918;p73"/>
          <p:cNvSpPr txBox="1"/>
          <p:nvPr>
            <p:ph type="body" idx="1"/>
          </p:nvPr>
        </p:nvSpPr>
        <p:spPr>
          <a:xfrm>
            <a:off x="2887200" y="2684550"/>
            <a:ext cx="5130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100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19" name="Google Shape;919;p73"/>
          <p:cNvSpPr txBox="1"/>
          <p:nvPr>
            <p:ph type="body" idx="1"/>
          </p:nvPr>
        </p:nvSpPr>
        <p:spPr>
          <a:xfrm>
            <a:off x="7257900" y="3146300"/>
            <a:ext cx="453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101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20" name="Google Shape;920;p73"/>
          <p:cNvSpPr txBox="1"/>
          <p:nvPr>
            <p:ph type="body" idx="1"/>
          </p:nvPr>
        </p:nvSpPr>
        <p:spPr>
          <a:xfrm>
            <a:off x="1352400" y="3163800"/>
            <a:ext cx="7281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(−99)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21" name="Google Shape;921;p73"/>
          <p:cNvSpPr txBox="1"/>
          <p:nvPr/>
        </p:nvSpPr>
        <p:spPr>
          <a:xfrm>
            <a:off x="324000" y="4080975"/>
            <a:ext cx="483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Lucas’ dot could be at (−99) or 101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5" name="Shape 925"/>
        <p:cNvGrpSpPr/>
        <p:nvPr/>
      </p:nvGrpSpPr>
      <p:grpSpPr>
        <a:xfrm>
          <a:off x="0" y="0"/>
          <a:ext cx="0" cy="0"/>
        </a:xfrm>
      </p:grpSpPr>
      <p:sp>
        <p:nvSpPr>
          <p:cNvPr id="926" name="Google Shape;92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927" name="Google Shape;927;p74"/>
          <p:cNvSpPr txBox="1"/>
          <p:nvPr>
            <p:ph type="body" idx="1"/>
          </p:nvPr>
        </p:nvSpPr>
        <p:spPr>
          <a:xfrm>
            <a:off x="324000" y="759300"/>
            <a:ext cx="8237700" cy="14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Jun places a dot on a number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It is one away from one quarter.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Where might Jun’s dot be?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28" name="Google Shape;928;p74"/>
          <p:cNvSpPr/>
          <p:nvPr/>
        </p:nvSpPr>
        <p:spPr>
          <a:xfrm>
            <a:off x="6032400" y="2433944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3010275" y="2433946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0" name="Google Shape;930;p74"/>
          <p:cNvCxnSpPr/>
          <p:nvPr/>
        </p:nvCxnSpPr>
        <p:spPr>
          <a:xfrm>
            <a:off x="3150075" y="2539094"/>
            <a:ext cx="14499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931" name="Google Shape;931;p74"/>
          <p:cNvSpPr txBox="1"/>
          <p:nvPr>
            <p:ph type="body" idx="1"/>
          </p:nvPr>
        </p:nvSpPr>
        <p:spPr>
          <a:xfrm>
            <a:off x="5223600" y="2151044"/>
            <a:ext cx="1677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932" name="Google Shape;932;p74" descr="&lt;math xmlns=&quot;http://www.w3.org/1998/Math/MathML&quot; display=&quot;block&quot; data-is-equatio=&quot;1&quot; data-latex=&quot;\begin{array}{l}\frac{1}{4}\\&amp;#13;&amp;#10;\end{array}&quot;&gt;&lt;mtable columnalign=&quot;left&quot; columnspacing=&quot;1em&quot; rowspacing=&quot;4pt&quot;&gt;&lt;mtr&gt;&lt;mtd&gt;&lt;mfrac&gt;&lt;mn&gt;1&lt;/mn&gt;&lt;mn&gt;4&lt;/mn&gt;&lt;/mfrac&gt;&lt;/mtd&gt;&lt;/mtr&gt;&lt;/mtable&gt;&lt;/math&gt;" title="1 lines Line 1: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000" y="2602519"/>
            <a:ext cx="167700" cy="4791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74"/>
          <p:cNvCxnSpPr/>
          <p:nvPr/>
        </p:nvCxnSpPr>
        <p:spPr>
          <a:xfrm>
            <a:off x="4582500" y="2523644"/>
            <a:ext cx="14499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934" name="Google Shape;934;p74"/>
          <p:cNvSpPr txBox="1"/>
          <p:nvPr>
            <p:ph type="body" idx="1"/>
          </p:nvPr>
        </p:nvSpPr>
        <p:spPr>
          <a:xfrm>
            <a:off x="3714975" y="2151044"/>
            <a:ext cx="1677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935" name="Google Shape;935;p74" descr="&lt;math xmlns=&quot;http://www.w3.org/1998/Math/MathML&quot; display=&quot;block&quot; data-is-equatio=&quot;1&quot; data-latex=&quot;\begin{array}{l}1\frac{1}{4}\\&amp;#13;&amp;#10;\end{array}&quot;&gt;&lt;mtable columnalign=&quot;left&quot; columnspacing=&quot;1em&quot; rowspacing=&quot;4pt&quot;&gt;&lt;mtr&gt;&lt;mtd&gt;&lt;mn&gt;1&lt;/mn&gt;&lt;mfrac&gt;&lt;mn&gt;1&lt;/mn&gt;&lt;mn&gt;4&lt;/mn&gt;&lt;/mfrac&gt;&lt;/mtd&gt;&lt;/mtr&gt;&lt;/mtable&gt;&lt;/math&gt;" title="1 lines Line 1: 1 and 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975" y="2681290"/>
            <a:ext cx="290550" cy="4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74" descr="&lt;math xmlns=&quot;http://www.w3.org/1998/Math/MathML&quot; display=&quot;block&quot; data-is-equatio=&quot;1&quot; data-latex=&quot;\begin{array}{l}\left(-\frac{3}{4}\right)\\&amp;#13;&amp;#10;\end{array}&quot;&gt;&lt;mtable columnalign=&quot;left&quot; columnspacing=&quot;1em&quot; rowspacing=&quot;4pt&quot;&gt;&lt;mtr&gt;&lt;mtd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td&gt;&lt;/mtr&gt;&lt;/mtable&gt;&lt;/math&gt;" title="the 1 by 1 matrix with entry negative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1052" y="2681290"/>
            <a:ext cx="606148" cy="4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4"/>
          <p:cNvSpPr txBox="1"/>
          <p:nvPr>
            <p:ph type="body" idx="1"/>
          </p:nvPr>
        </p:nvSpPr>
        <p:spPr>
          <a:xfrm>
            <a:off x="324000" y="3612638"/>
            <a:ext cx="8454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each situation the answers were double the distance away.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38" name="Google Shape;938;p74"/>
          <p:cNvSpPr txBox="1"/>
          <p:nvPr>
            <p:ph type="body" idx="1"/>
          </p:nvPr>
        </p:nvSpPr>
        <p:spPr>
          <a:xfrm>
            <a:off x="324000" y="4041600"/>
            <a:ext cx="8454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Will there always be a positive and negative answer?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939" name="Google Shape;939;p74"/>
          <p:cNvSpPr txBox="1"/>
          <p:nvPr>
            <p:ph type="body" idx="1"/>
          </p:nvPr>
        </p:nvSpPr>
        <p:spPr>
          <a:xfrm>
            <a:off x="336934" y="4463550"/>
            <a:ext cx="8454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for example three away from 10 would give 7 and 13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0" name="Google Shape;940;p74"/>
          <p:cNvGrpSpPr/>
          <p:nvPr/>
        </p:nvGrpSpPr>
        <p:grpSpPr>
          <a:xfrm>
            <a:off x="324000" y="3146765"/>
            <a:ext cx="4812600" cy="400950"/>
            <a:chOff x="324000" y="3146765"/>
            <a:chExt cx="4812600" cy="400950"/>
          </a:xfrm>
        </p:grpSpPr>
        <p:sp>
          <p:nvSpPr>
            <p:cNvPr id="941" name="Google Shape;941;p74"/>
            <p:cNvSpPr txBox="1"/>
            <p:nvPr/>
          </p:nvSpPr>
          <p:spPr>
            <a:xfrm>
              <a:off x="324000" y="3166575"/>
              <a:ext cx="481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Jun’s dot could be at         or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2" name="Google Shape;942;p74" descr="&lt;math xmlns=&quot;http://www.w3.org/1998/Math/MathML&quot; display=&quot;block&quot; data-is-equatio=&quot;1&quot; data-latex=&quot;\begin{array}{l}\left(-\frac{3}{4}\right)\\&amp;#13;&amp;#10;\end{array}&quot;&gt;&lt;mtable columnalign=&quot;left&quot; columnspacing=&quot;1em&quot; rowspacing=&quot;4pt&quot;&gt;&lt;mtr&gt;&lt;mtd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td&gt;&lt;/mtr&gt;&lt;/mtable&gt;&lt;/math&gt;" title="the 1 by 1 matrix with entry negative three four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28152" y="3146965"/>
              <a:ext cx="606148" cy="40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3" name="Google Shape;943;p74" descr="&lt;math xmlns=&quot;http://www.w3.org/1998/Math/MathML&quot; display=&quot;block&quot; data-is-equatio=&quot;1&quot; data-latex=&quot;\begin{array}{l}1\frac{1}{4}\\&amp;#13;&amp;#10;\end{array}&quot;&gt;&lt;mtable columnalign=&quot;left&quot; columnspacing=&quot;1em&quot; rowspacing=&quot;4pt&quot;&gt;&lt;mtr&gt;&lt;mtd&gt;&lt;mn&gt;1&lt;/mn&gt;&lt;mfrac&gt;&lt;mn&gt;1&lt;/mn&gt;&lt;mn&gt;4&lt;/mn&gt;&lt;/mfrac&gt;&lt;/mtd&gt;&lt;/mtr&gt;&lt;/mtable&gt;&lt;/math&gt;" title="1 lines Line 1: 1 and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38050" y="3146765"/>
              <a:ext cx="290550" cy="400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7" name="Shape 947"/>
        <p:cNvGrpSpPr/>
        <p:nvPr/>
      </p:nvGrpSpPr>
      <p:grpSpPr>
        <a:xfrm>
          <a:off x="0" y="0"/>
          <a:ext cx="0" cy="0"/>
        </a:xfrm>
      </p:grpSpPr>
      <p:sp>
        <p:nvSpPr>
          <p:cNvPr id="948" name="Google Shape;94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949" name="Google Shape;949;p75"/>
          <p:cNvSpPr txBox="1"/>
          <p:nvPr>
            <p:ph type="body" idx="1"/>
          </p:nvPr>
        </p:nvSpPr>
        <p:spPr>
          <a:xfrm>
            <a:off x="324000" y="759300"/>
            <a:ext cx="8237700" cy="80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Negative numbers are present in everyday life.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Can you think of any? </a:t>
            </a:r>
            <a:endParaRPr/>
          </a:p>
        </p:txBody>
      </p:sp>
      <p:pic>
        <p:nvPicPr>
          <p:cNvPr id="950" name="Google Shape;95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25" y="1820737"/>
            <a:ext cx="1249650" cy="24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5"/>
          <p:cNvSpPr txBox="1"/>
          <p:nvPr>
            <p:ph type="body" idx="1"/>
          </p:nvPr>
        </p:nvSpPr>
        <p:spPr>
          <a:xfrm>
            <a:off x="623850" y="4408700"/>
            <a:ext cx="17136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temperature</a:t>
            </a:r>
            <a:endParaRPr/>
          </a:p>
        </p:txBody>
      </p:sp>
      <p:pic>
        <p:nvPicPr>
          <p:cNvPr id="952" name="Google Shape;95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275" y="1391400"/>
            <a:ext cx="950693" cy="278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273" y="1712100"/>
            <a:ext cx="3169325" cy="23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5"/>
          <p:cNvSpPr txBox="1"/>
          <p:nvPr>
            <p:ph type="body" idx="1"/>
          </p:nvPr>
        </p:nvSpPr>
        <p:spPr>
          <a:xfrm>
            <a:off x="6141175" y="4320000"/>
            <a:ext cx="17136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sea level</a:t>
            </a:r>
            <a:endParaRPr/>
          </a:p>
        </p:txBody>
      </p:sp>
      <p:sp>
        <p:nvSpPr>
          <p:cNvPr id="955" name="Google Shape;955;p75"/>
          <p:cNvSpPr txBox="1"/>
          <p:nvPr>
            <p:ph type="body" idx="1"/>
          </p:nvPr>
        </p:nvSpPr>
        <p:spPr>
          <a:xfrm>
            <a:off x="2688150" y="4152300"/>
            <a:ext cx="2992500" cy="3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storeys in a building or a lift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9" name="Shape 959"/>
        <p:cNvGrpSpPr/>
        <p:nvPr/>
      </p:nvGrpSpPr>
      <p:grpSpPr>
        <a:xfrm>
          <a:off x="0" y="0"/>
          <a:ext cx="0" cy="0"/>
        </a:xfrm>
      </p:grpSpPr>
      <p:grpSp>
        <p:nvGrpSpPr>
          <p:cNvPr id="960" name="Google Shape;960;p76"/>
          <p:cNvGrpSpPr/>
          <p:nvPr/>
        </p:nvGrpSpPr>
        <p:grpSpPr>
          <a:xfrm>
            <a:off x="381125" y="3229827"/>
            <a:ext cx="8381750" cy="1100336"/>
            <a:chOff x="351025" y="2952289"/>
            <a:chExt cx="8381750" cy="1100336"/>
          </a:xfrm>
        </p:grpSpPr>
        <p:grpSp>
          <p:nvGrpSpPr>
            <p:cNvPr id="961" name="Google Shape;961;p76"/>
            <p:cNvGrpSpPr/>
            <p:nvPr/>
          </p:nvGrpSpPr>
          <p:grpSpPr>
            <a:xfrm>
              <a:off x="476412" y="2952289"/>
              <a:ext cx="8173379" cy="915545"/>
              <a:chOff x="432600" y="3082900"/>
              <a:chExt cx="7640100" cy="764100"/>
            </a:xfrm>
          </p:grpSpPr>
          <p:cxnSp>
            <p:nvCxnSpPr>
              <p:cNvPr id="962" name="Google Shape;962;p76"/>
              <p:cNvCxnSpPr/>
              <p:nvPr/>
            </p:nvCxnSpPr>
            <p:spPr>
              <a:xfrm>
                <a:off x="432600" y="3466600"/>
                <a:ext cx="7640100" cy="6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76"/>
              <p:cNvCxnSpPr/>
              <p:nvPr/>
            </p:nvCxnSpPr>
            <p:spPr>
              <a:xfrm>
                <a:off x="80627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76"/>
              <p:cNvCxnSpPr/>
              <p:nvPr/>
            </p:nvCxnSpPr>
            <p:spPr>
              <a:xfrm>
                <a:off x="69203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76"/>
              <p:cNvCxnSpPr/>
              <p:nvPr/>
            </p:nvCxnSpPr>
            <p:spPr>
              <a:xfrm>
                <a:off x="825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76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76"/>
              <p:cNvCxnSpPr/>
              <p:nvPr/>
            </p:nvCxnSpPr>
            <p:spPr>
              <a:xfrm>
                <a:off x="76816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76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76"/>
              <p:cNvCxnSpPr/>
              <p:nvPr/>
            </p:nvCxnSpPr>
            <p:spPr>
              <a:xfrm>
                <a:off x="73021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76"/>
              <p:cNvCxnSpPr/>
              <p:nvPr/>
            </p:nvCxnSpPr>
            <p:spPr>
              <a:xfrm>
                <a:off x="432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76"/>
              <p:cNvCxnSpPr/>
              <p:nvPr/>
            </p:nvCxnSpPr>
            <p:spPr>
              <a:xfrm>
                <a:off x="65398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76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76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76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5" name="Google Shape;975;p76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76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76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76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76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76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76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76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76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84" name="Google Shape;984;p76"/>
            <p:cNvSpPr txBox="1"/>
            <p:nvPr/>
          </p:nvSpPr>
          <p:spPr>
            <a:xfrm>
              <a:off x="35102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76"/>
            <p:cNvSpPr txBox="1"/>
            <p:nvPr/>
          </p:nvSpPr>
          <p:spPr>
            <a:xfrm>
              <a:off x="76185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76"/>
            <p:cNvSpPr txBox="1"/>
            <p:nvPr/>
          </p:nvSpPr>
          <p:spPr>
            <a:xfrm>
              <a:off x="117267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6"/>
            <p:cNvSpPr txBox="1"/>
            <p:nvPr/>
          </p:nvSpPr>
          <p:spPr>
            <a:xfrm>
              <a:off x="15465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76"/>
            <p:cNvSpPr txBox="1"/>
            <p:nvPr/>
          </p:nvSpPr>
          <p:spPr>
            <a:xfrm>
              <a:off x="2836625" y="3867825"/>
              <a:ext cx="196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6"/>
            <p:cNvSpPr txBox="1"/>
            <p:nvPr/>
          </p:nvSpPr>
          <p:spPr>
            <a:xfrm>
              <a:off x="2443963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6"/>
            <p:cNvSpPr txBox="1"/>
            <p:nvPr/>
          </p:nvSpPr>
          <p:spPr>
            <a:xfrm>
              <a:off x="77739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76"/>
            <p:cNvSpPr txBox="1"/>
            <p:nvPr/>
          </p:nvSpPr>
          <p:spPr>
            <a:xfrm>
              <a:off x="81881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6"/>
            <p:cNvSpPr txBox="1"/>
            <p:nvPr/>
          </p:nvSpPr>
          <p:spPr>
            <a:xfrm>
              <a:off x="85527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6"/>
            <p:cNvSpPr txBox="1"/>
            <p:nvPr/>
          </p:nvSpPr>
          <p:spPr>
            <a:xfrm>
              <a:off x="19574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76"/>
            <p:cNvSpPr txBox="1"/>
            <p:nvPr/>
          </p:nvSpPr>
          <p:spPr>
            <a:xfrm>
              <a:off x="3252625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6"/>
            <p:cNvSpPr txBox="1"/>
            <p:nvPr/>
          </p:nvSpPr>
          <p:spPr>
            <a:xfrm>
              <a:off x="533690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76"/>
            <p:cNvSpPr txBox="1"/>
            <p:nvPr/>
          </p:nvSpPr>
          <p:spPr>
            <a:xfrm>
              <a:off x="4932750" y="3867825"/>
              <a:ext cx="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76"/>
            <p:cNvSpPr txBox="1"/>
            <p:nvPr/>
          </p:nvSpPr>
          <p:spPr>
            <a:xfrm>
              <a:off x="365482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76"/>
            <p:cNvSpPr txBox="1"/>
            <p:nvPr/>
          </p:nvSpPr>
          <p:spPr>
            <a:xfrm>
              <a:off x="40764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6"/>
            <p:cNvSpPr txBox="1"/>
            <p:nvPr/>
          </p:nvSpPr>
          <p:spPr>
            <a:xfrm>
              <a:off x="4514200" y="3867825"/>
              <a:ext cx="9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6"/>
            <p:cNvSpPr txBox="1"/>
            <p:nvPr/>
          </p:nvSpPr>
          <p:spPr>
            <a:xfrm>
              <a:off x="6137393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1" name="Google Shape;1001;p76"/>
            <p:cNvSpPr txBox="1"/>
            <p:nvPr/>
          </p:nvSpPr>
          <p:spPr>
            <a:xfrm>
              <a:off x="65565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2" name="Google Shape;1002;p76"/>
            <p:cNvSpPr txBox="1"/>
            <p:nvPr/>
          </p:nvSpPr>
          <p:spPr>
            <a:xfrm>
              <a:off x="574105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76"/>
            <p:cNvSpPr txBox="1"/>
            <p:nvPr/>
          </p:nvSpPr>
          <p:spPr>
            <a:xfrm>
              <a:off x="73681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6"/>
            <p:cNvSpPr txBox="1"/>
            <p:nvPr/>
          </p:nvSpPr>
          <p:spPr>
            <a:xfrm>
              <a:off x="6960700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5" name="Google Shape;100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pic>
        <p:nvPicPr>
          <p:cNvPr id="1006" name="Google Shape;100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26" y="1300725"/>
            <a:ext cx="907226" cy="11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6"/>
          <p:cNvPicPr preferRelativeResize="0"/>
          <p:nvPr/>
        </p:nvPicPr>
        <p:blipFill>
          <a:blip r:embed="rId4">
            <a:alphaModFix/>
          </a:blip>
          <a:srcRect r="57905" b="43691"/>
          <a:stretch>
            <a:fillRect/>
          </a:stretch>
        </p:blipFill>
        <p:spPr>
          <a:xfrm flipH="1">
            <a:off x="1542373" y="696025"/>
            <a:ext cx="3029627" cy="14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6"/>
          <p:cNvSpPr txBox="1"/>
          <p:nvPr>
            <p:ph type="body" idx="1"/>
          </p:nvPr>
        </p:nvSpPr>
        <p:spPr>
          <a:xfrm>
            <a:off x="1790775" y="795725"/>
            <a:ext cx="27813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Negative 5 is between negative 1 and negative 7</a:t>
            </a:r>
            <a:endParaRPr/>
          </a:p>
        </p:txBody>
      </p:sp>
      <p:sp>
        <p:nvSpPr>
          <p:cNvPr id="1009" name="Google Shape;1009;p76"/>
          <p:cNvSpPr txBox="1"/>
          <p:nvPr>
            <p:ph type="body" idx="1"/>
          </p:nvPr>
        </p:nvSpPr>
        <p:spPr>
          <a:xfrm>
            <a:off x="4733275" y="1043525"/>
            <a:ext cx="40296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agree with Andeep?</a:t>
            </a:r>
            <a:endParaRPr/>
          </a:p>
        </p:txBody>
      </p:sp>
      <p:sp>
        <p:nvSpPr>
          <p:cNvPr id="1010" name="Google Shape;1010;p76"/>
          <p:cNvSpPr/>
          <p:nvPr/>
        </p:nvSpPr>
        <p:spPr>
          <a:xfrm>
            <a:off x="4101800" y="2983277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6"/>
          <p:cNvSpPr/>
          <p:nvPr/>
        </p:nvSpPr>
        <p:spPr>
          <a:xfrm>
            <a:off x="1655775" y="2983277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2" name="Google Shape;1012;p76"/>
          <p:cNvCxnSpPr/>
          <p:nvPr/>
        </p:nvCxnSpPr>
        <p:spPr>
          <a:xfrm flipH="1">
            <a:off x="2562575" y="2700000"/>
            <a:ext cx="0" cy="444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3" name="Google Shape;1013;p76"/>
          <p:cNvSpPr txBox="1"/>
          <p:nvPr>
            <p:ph type="body" idx="1"/>
          </p:nvPr>
        </p:nvSpPr>
        <p:spPr>
          <a:xfrm>
            <a:off x="5125775" y="1493675"/>
            <a:ext cx="24513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 is correct.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7" name="Shape 1017"/>
        <p:cNvGrpSpPr/>
        <p:nvPr/>
      </p:nvGrpSpPr>
      <p:grpSpPr>
        <a:xfrm>
          <a:off x="0" y="0"/>
          <a:ext cx="0" cy="0"/>
        </a:xfrm>
      </p:grpSpPr>
      <p:sp>
        <p:nvSpPr>
          <p:cNvPr id="1018" name="Google Shape;101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pic>
        <p:nvPicPr>
          <p:cNvPr id="1019" name="Google Shape;101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26" y="1300725"/>
            <a:ext cx="907226" cy="11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77"/>
          <p:cNvPicPr preferRelativeResize="0"/>
          <p:nvPr/>
        </p:nvPicPr>
        <p:blipFill>
          <a:blip r:embed="rId4">
            <a:alphaModFix/>
          </a:blip>
          <a:srcRect r="57905" b="43691"/>
          <a:stretch>
            <a:fillRect/>
          </a:stretch>
        </p:blipFill>
        <p:spPr>
          <a:xfrm flipH="1">
            <a:off x="1515352" y="696025"/>
            <a:ext cx="2959498" cy="14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77"/>
          <p:cNvSpPr txBox="1"/>
          <p:nvPr>
            <p:ph type="body" idx="1"/>
          </p:nvPr>
        </p:nvSpPr>
        <p:spPr>
          <a:xfrm>
            <a:off x="1790775" y="748675"/>
            <a:ext cx="2650800" cy="84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Negative 2 is halfway between 3 and negative 9</a:t>
            </a:r>
            <a:endParaRPr/>
          </a:p>
        </p:txBody>
      </p:sp>
      <p:sp>
        <p:nvSpPr>
          <p:cNvPr id="1022" name="Google Shape;1022;p77"/>
          <p:cNvSpPr/>
          <p:nvPr/>
        </p:nvSpPr>
        <p:spPr>
          <a:xfrm>
            <a:off x="5747450" y="3007327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/>
          <p:nvPr/>
        </p:nvSpPr>
        <p:spPr>
          <a:xfrm>
            <a:off x="849150" y="3007327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4" name="Google Shape;1024;p77"/>
          <p:cNvCxnSpPr/>
          <p:nvPr/>
        </p:nvCxnSpPr>
        <p:spPr>
          <a:xfrm flipH="1">
            <a:off x="3781550" y="2700000"/>
            <a:ext cx="0" cy="444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5" name="Google Shape;1025;p77"/>
          <p:cNvCxnSpPr/>
          <p:nvPr/>
        </p:nvCxnSpPr>
        <p:spPr>
          <a:xfrm>
            <a:off x="3925675" y="3097027"/>
            <a:ext cx="1754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1026" name="Google Shape;1026;p77"/>
          <p:cNvSpPr txBox="1"/>
          <p:nvPr>
            <p:ph type="body" idx="1"/>
          </p:nvPr>
        </p:nvSpPr>
        <p:spPr>
          <a:xfrm>
            <a:off x="4704925" y="2685725"/>
            <a:ext cx="195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cxnSp>
        <p:nvCxnSpPr>
          <p:cNvPr id="1027" name="Google Shape;1027;p77"/>
          <p:cNvCxnSpPr/>
          <p:nvPr/>
        </p:nvCxnSpPr>
        <p:spPr>
          <a:xfrm>
            <a:off x="1041050" y="3096000"/>
            <a:ext cx="2553300" cy="3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1028" name="Google Shape;1028;p77"/>
          <p:cNvSpPr txBox="1"/>
          <p:nvPr>
            <p:ph type="body" idx="1"/>
          </p:nvPr>
        </p:nvSpPr>
        <p:spPr>
          <a:xfrm>
            <a:off x="2158350" y="2685725"/>
            <a:ext cx="1959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29" name="Google Shape;1029;p77"/>
          <p:cNvSpPr txBox="1"/>
          <p:nvPr>
            <p:ph type="body" idx="1"/>
          </p:nvPr>
        </p:nvSpPr>
        <p:spPr>
          <a:xfrm>
            <a:off x="4733275" y="1043525"/>
            <a:ext cx="40296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agree with Andeep?</a:t>
            </a:r>
            <a:endParaRPr/>
          </a:p>
        </p:txBody>
      </p:sp>
      <p:sp>
        <p:nvSpPr>
          <p:cNvPr id="1030" name="Google Shape;1030;p77"/>
          <p:cNvSpPr txBox="1"/>
          <p:nvPr>
            <p:ph type="body" idx="1"/>
          </p:nvPr>
        </p:nvSpPr>
        <p:spPr>
          <a:xfrm>
            <a:off x="5125775" y="1493675"/>
            <a:ext cx="27630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 is not correct.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31" name="Google Shape;1031;p77"/>
          <p:cNvGrpSpPr/>
          <p:nvPr/>
        </p:nvGrpSpPr>
        <p:grpSpPr>
          <a:xfrm>
            <a:off x="381125" y="3229827"/>
            <a:ext cx="8381750" cy="1100336"/>
            <a:chOff x="351025" y="2952289"/>
            <a:chExt cx="8381750" cy="1100336"/>
          </a:xfrm>
        </p:grpSpPr>
        <p:grpSp>
          <p:nvGrpSpPr>
            <p:cNvPr id="1032" name="Google Shape;1032;p77"/>
            <p:cNvGrpSpPr/>
            <p:nvPr/>
          </p:nvGrpSpPr>
          <p:grpSpPr>
            <a:xfrm>
              <a:off x="476412" y="2952289"/>
              <a:ext cx="8173379" cy="915545"/>
              <a:chOff x="432600" y="3082900"/>
              <a:chExt cx="7640100" cy="764100"/>
            </a:xfrm>
          </p:grpSpPr>
          <p:cxnSp>
            <p:nvCxnSpPr>
              <p:cNvPr id="1033" name="Google Shape;1033;p77"/>
              <p:cNvCxnSpPr/>
              <p:nvPr/>
            </p:nvCxnSpPr>
            <p:spPr>
              <a:xfrm>
                <a:off x="432600" y="3466600"/>
                <a:ext cx="7640100" cy="6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77"/>
              <p:cNvCxnSpPr/>
              <p:nvPr/>
            </p:nvCxnSpPr>
            <p:spPr>
              <a:xfrm>
                <a:off x="80627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77"/>
              <p:cNvCxnSpPr/>
              <p:nvPr/>
            </p:nvCxnSpPr>
            <p:spPr>
              <a:xfrm>
                <a:off x="69203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77"/>
              <p:cNvCxnSpPr/>
              <p:nvPr/>
            </p:nvCxnSpPr>
            <p:spPr>
              <a:xfrm>
                <a:off x="825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7" name="Google Shape;1037;p77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8" name="Google Shape;1038;p77"/>
              <p:cNvCxnSpPr/>
              <p:nvPr/>
            </p:nvCxnSpPr>
            <p:spPr>
              <a:xfrm>
                <a:off x="76816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9" name="Google Shape;1039;p77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0" name="Google Shape;1040;p77"/>
              <p:cNvCxnSpPr/>
              <p:nvPr/>
            </p:nvCxnSpPr>
            <p:spPr>
              <a:xfrm>
                <a:off x="73021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1" name="Google Shape;1041;p77"/>
              <p:cNvCxnSpPr/>
              <p:nvPr/>
            </p:nvCxnSpPr>
            <p:spPr>
              <a:xfrm>
                <a:off x="432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2" name="Google Shape;1042;p77"/>
              <p:cNvCxnSpPr/>
              <p:nvPr/>
            </p:nvCxnSpPr>
            <p:spPr>
              <a:xfrm>
                <a:off x="65398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3" name="Google Shape;1043;p77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4" name="Google Shape;1044;p77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5" name="Google Shape;1045;p77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6" name="Google Shape;1046;p77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7" name="Google Shape;1047;p77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8" name="Google Shape;1048;p77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77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77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77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77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77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77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55" name="Google Shape;1055;p77"/>
            <p:cNvSpPr txBox="1"/>
            <p:nvPr/>
          </p:nvSpPr>
          <p:spPr>
            <a:xfrm>
              <a:off x="35102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7"/>
            <p:cNvSpPr txBox="1"/>
            <p:nvPr/>
          </p:nvSpPr>
          <p:spPr>
            <a:xfrm>
              <a:off x="76185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7"/>
            <p:cNvSpPr txBox="1"/>
            <p:nvPr/>
          </p:nvSpPr>
          <p:spPr>
            <a:xfrm>
              <a:off x="117267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7"/>
            <p:cNvSpPr txBox="1"/>
            <p:nvPr/>
          </p:nvSpPr>
          <p:spPr>
            <a:xfrm>
              <a:off x="15465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7"/>
            <p:cNvSpPr txBox="1"/>
            <p:nvPr/>
          </p:nvSpPr>
          <p:spPr>
            <a:xfrm>
              <a:off x="2836625" y="3867825"/>
              <a:ext cx="196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77"/>
            <p:cNvSpPr txBox="1"/>
            <p:nvPr/>
          </p:nvSpPr>
          <p:spPr>
            <a:xfrm>
              <a:off x="2443963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7"/>
            <p:cNvSpPr txBox="1"/>
            <p:nvPr/>
          </p:nvSpPr>
          <p:spPr>
            <a:xfrm>
              <a:off x="77739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7"/>
            <p:cNvSpPr txBox="1"/>
            <p:nvPr/>
          </p:nvSpPr>
          <p:spPr>
            <a:xfrm>
              <a:off x="81881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7"/>
            <p:cNvSpPr txBox="1"/>
            <p:nvPr/>
          </p:nvSpPr>
          <p:spPr>
            <a:xfrm>
              <a:off x="85527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7"/>
            <p:cNvSpPr txBox="1"/>
            <p:nvPr/>
          </p:nvSpPr>
          <p:spPr>
            <a:xfrm>
              <a:off x="19574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7"/>
            <p:cNvSpPr txBox="1"/>
            <p:nvPr/>
          </p:nvSpPr>
          <p:spPr>
            <a:xfrm>
              <a:off x="3252625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77"/>
            <p:cNvSpPr txBox="1"/>
            <p:nvPr/>
          </p:nvSpPr>
          <p:spPr>
            <a:xfrm>
              <a:off x="533690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77"/>
            <p:cNvSpPr txBox="1"/>
            <p:nvPr/>
          </p:nvSpPr>
          <p:spPr>
            <a:xfrm>
              <a:off x="4932750" y="3867825"/>
              <a:ext cx="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77"/>
            <p:cNvSpPr txBox="1"/>
            <p:nvPr/>
          </p:nvSpPr>
          <p:spPr>
            <a:xfrm>
              <a:off x="365482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77"/>
            <p:cNvSpPr txBox="1"/>
            <p:nvPr/>
          </p:nvSpPr>
          <p:spPr>
            <a:xfrm>
              <a:off x="40764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77"/>
            <p:cNvSpPr txBox="1"/>
            <p:nvPr/>
          </p:nvSpPr>
          <p:spPr>
            <a:xfrm>
              <a:off x="4514200" y="3867825"/>
              <a:ext cx="9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77"/>
            <p:cNvSpPr txBox="1"/>
            <p:nvPr/>
          </p:nvSpPr>
          <p:spPr>
            <a:xfrm>
              <a:off x="6137393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7"/>
            <p:cNvSpPr txBox="1"/>
            <p:nvPr/>
          </p:nvSpPr>
          <p:spPr>
            <a:xfrm>
              <a:off x="65565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77"/>
            <p:cNvSpPr txBox="1"/>
            <p:nvPr/>
          </p:nvSpPr>
          <p:spPr>
            <a:xfrm>
              <a:off x="574105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7"/>
            <p:cNvSpPr txBox="1"/>
            <p:nvPr/>
          </p:nvSpPr>
          <p:spPr>
            <a:xfrm>
              <a:off x="73681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77"/>
            <p:cNvSpPr txBox="1"/>
            <p:nvPr/>
          </p:nvSpPr>
          <p:spPr>
            <a:xfrm>
              <a:off x="6960700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sp>
        <p:nvSpPr>
          <p:cNvPr id="1080" name="Google Shape;108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081" name="Google Shape;1081;p78"/>
          <p:cNvSpPr/>
          <p:nvPr/>
        </p:nvSpPr>
        <p:spPr>
          <a:xfrm>
            <a:off x="5665394" y="2242502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8"/>
          <p:cNvSpPr/>
          <p:nvPr/>
        </p:nvSpPr>
        <p:spPr>
          <a:xfrm>
            <a:off x="815469" y="2242502"/>
            <a:ext cx="167700" cy="17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3" name="Google Shape;1083;p78"/>
          <p:cNvCxnSpPr>
            <a:stCxn id="1082" idx="6"/>
            <a:endCxn id="1081" idx="2"/>
          </p:cNvCxnSpPr>
          <p:nvPr/>
        </p:nvCxnSpPr>
        <p:spPr>
          <a:xfrm>
            <a:off x="983169" y="2332202"/>
            <a:ext cx="46821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1084" name="Google Shape;1084;p78"/>
          <p:cNvSpPr txBox="1"/>
          <p:nvPr>
            <p:ph type="body" idx="1"/>
          </p:nvPr>
        </p:nvSpPr>
        <p:spPr>
          <a:xfrm>
            <a:off x="3240194" y="1963863"/>
            <a:ext cx="5130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12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85" name="Google Shape;1085;p78"/>
          <p:cNvSpPr txBox="1"/>
          <p:nvPr>
            <p:ph type="body" idx="1"/>
          </p:nvPr>
        </p:nvSpPr>
        <p:spPr>
          <a:xfrm>
            <a:off x="324000" y="814738"/>
            <a:ext cx="66399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</a:t>
            </a:r>
            <a:r>
              <a:rPr lang="en-GB" b="1"/>
              <a:t>integer</a:t>
            </a:r>
            <a:r>
              <a:rPr lang="en-GB"/>
              <a:t> is halfway between 3 and (−9)?</a:t>
            </a:r>
            <a:endParaRPr/>
          </a:p>
        </p:txBody>
      </p:sp>
      <p:sp>
        <p:nvSpPr>
          <p:cNvPr id="1086" name="Google Shape;1086;p78"/>
          <p:cNvSpPr txBox="1"/>
          <p:nvPr>
            <p:ph type="body" idx="1"/>
          </p:nvPr>
        </p:nvSpPr>
        <p:spPr>
          <a:xfrm>
            <a:off x="324000" y="4254500"/>
            <a:ext cx="50280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(−3) is halfway between 3 and (−9)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78"/>
          <p:cNvSpPr txBox="1"/>
          <p:nvPr>
            <p:ph type="body" idx="1"/>
          </p:nvPr>
        </p:nvSpPr>
        <p:spPr>
          <a:xfrm>
            <a:off x="324000" y="3754288"/>
            <a:ext cx="6925500" cy="35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Half of 12 is 6, so halfway is 6 away from (−9) and 3 </a:t>
            </a:r>
            <a:endParaRPr/>
          </a:p>
        </p:txBody>
      </p:sp>
      <p:cxnSp>
        <p:nvCxnSpPr>
          <p:cNvPr id="1088" name="Google Shape;1088;p78"/>
          <p:cNvCxnSpPr/>
          <p:nvPr/>
        </p:nvCxnSpPr>
        <p:spPr>
          <a:xfrm>
            <a:off x="983175" y="1742950"/>
            <a:ext cx="2323800" cy="2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1089" name="Google Shape;1089;p78"/>
          <p:cNvSpPr txBox="1"/>
          <p:nvPr>
            <p:ph type="body" idx="1"/>
          </p:nvPr>
        </p:nvSpPr>
        <p:spPr>
          <a:xfrm>
            <a:off x="2190546" y="1393750"/>
            <a:ext cx="206700" cy="3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6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090" name="Google Shape;1090;p78"/>
          <p:cNvGrpSpPr/>
          <p:nvPr/>
        </p:nvGrpSpPr>
        <p:grpSpPr>
          <a:xfrm>
            <a:off x="324000" y="2504127"/>
            <a:ext cx="8381750" cy="1100336"/>
            <a:chOff x="351025" y="2952289"/>
            <a:chExt cx="8381750" cy="1100336"/>
          </a:xfrm>
        </p:grpSpPr>
        <p:grpSp>
          <p:nvGrpSpPr>
            <p:cNvPr id="1091" name="Google Shape;1091;p78"/>
            <p:cNvGrpSpPr/>
            <p:nvPr/>
          </p:nvGrpSpPr>
          <p:grpSpPr>
            <a:xfrm>
              <a:off x="476412" y="2952289"/>
              <a:ext cx="8173379" cy="915545"/>
              <a:chOff x="432600" y="3082900"/>
              <a:chExt cx="7640100" cy="764100"/>
            </a:xfrm>
          </p:grpSpPr>
          <p:cxnSp>
            <p:nvCxnSpPr>
              <p:cNvPr id="1092" name="Google Shape;1092;p78"/>
              <p:cNvCxnSpPr/>
              <p:nvPr/>
            </p:nvCxnSpPr>
            <p:spPr>
              <a:xfrm>
                <a:off x="432600" y="3466600"/>
                <a:ext cx="7640100" cy="6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3" name="Google Shape;1093;p78"/>
              <p:cNvCxnSpPr/>
              <p:nvPr/>
            </p:nvCxnSpPr>
            <p:spPr>
              <a:xfrm>
                <a:off x="80627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4" name="Google Shape;1094;p78"/>
              <p:cNvCxnSpPr/>
              <p:nvPr/>
            </p:nvCxnSpPr>
            <p:spPr>
              <a:xfrm>
                <a:off x="69203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5" name="Google Shape;1095;p78"/>
              <p:cNvCxnSpPr/>
              <p:nvPr/>
            </p:nvCxnSpPr>
            <p:spPr>
              <a:xfrm>
                <a:off x="825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6" name="Google Shape;1096;p78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7" name="Google Shape;1097;p78"/>
              <p:cNvCxnSpPr/>
              <p:nvPr/>
            </p:nvCxnSpPr>
            <p:spPr>
              <a:xfrm>
                <a:off x="76816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8" name="Google Shape;1098;p78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9" name="Google Shape;1099;p78"/>
              <p:cNvCxnSpPr/>
              <p:nvPr/>
            </p:nvCxnSpPr>
            <p:spPr>
              <a:xfrm>
                <a:off x="73021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0" name="Google Shape;1100;p78"/>
              <p:cNvCxnSpPr/>
              <p:nvPr/>
            </p:nvCxnSpPr>
            <p:spPr>
              <a:xfrm>
                <a:off x="432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1" name="Google Shape;1101;p78"/>
              <p:cNvCxnSpPr/>
              <p:nvPr/>
            </p:nvCxnSpPr>
            <p:spPr>
              <a:xfrm>
                <a:off x="6539888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2" name="Google Shape;1102;p78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3" name="Google Shape;1103;p78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4" name="Google Shape;1104;p78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78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78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78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78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78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78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78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2" name="Google Shape;1112;p78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78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4" name="Google Shape;1114;p78"/>
            <p:cNvSpPr txBox="1"/>
            <p:nvPr/>
          </p:nvSpPr>
          <p:spPr>
            <a:xfrm>
              <a:off x="35102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78"/>
            <p:cNvSpPr txBox="1"/>
            <p:nvPr/>
          </p:nvSpPr>
          <p:spPr>
            <a:xfrm>
              <a:off x="76185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78"/>
            <p:cNvSpPr txBox="1"/>
            <p:nvPr/>
          </p:nvSpPr>
          <p:spPr>
            <a:xfrm>
              <a:off x="1172675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78"/>
            <p:cNvSpPr txBox="1"/>
            <p:nvPr/>
          </p:nvSpPr>
          <p:spPr>
            <a:xfrm>
              <a:off x="15465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78"/>
            <p:cNvSpPr txBox="1"/>
            <p:nvPr/>
          </p:nvSpPr>
          <p:spPr>
            <a:xfrm>
              <a:off x="2836625" y="3867825"/>
              <a:ext cx="196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78"/>
            <p:cNvSpPr txBox="1"/>
            <p:nvPr/>
          </p:nvSpPr>
          <p:spPr>
            <a:xfrm>
              <a:off x="2443963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78"/>
            <p:cNvSpPr txBox="1"/>
            <p:nvPr/>
          </p:nvSpPr>
          <p:spPr>
            <a:xfrm>
              <a:off x="77739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78"/>
            <p:cNvSpPr txBox="1"/>
            <p:nvPr/>
          </p:nvSpPr>
          <p:spPr>
            <a:xfrm>
              <a:off x="8188150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78"/>
            <p:cNvSpPr txBox="1"/>
            <p:nvPr/>
          </p:nvSpPr>
          <p:spPr>
            <a:xfrm>
              <a:off x="85527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78"/>
            <p:cNvSpPr txBox="1"/>
            <p:nvPr/>
          </p:nvSpPr>
          <p:spPr>
            <a:xfrm>
              <a:off x="1957400" y="3867825"/>
              <a:ext cx="276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78"/>
            <p:cNvSpPr txBox="1"/>
            <p:nvPr/>
          </p:nvSpPr>
          <p:spPr>
            <a:xfrm>
              <a:off x="3252625" y="3867825"/>
              <a:ext cx="182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78"/>
            <p:cNvSpPr txBox="1"/>
            <p:nvPr/>
          </p:nvSpPr>
          <p:spPr>
            <a:xfrm>
              <a:off x="533690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78"/>
            <p:cNvSpPr txBox="1"/>
            <p:nvPr/>
          </p:nvSpPr>
          <p:spPr>
            <a:xfrm>
              <a:off x="4932750" y="3867825"/>
              <a:ext cx="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78"/>
            <p:cNvSpPr txBox="1"/>
            <p:nvPr/>
          </p:nvSpPr>
          <p:spPr>
            <a:xfrm>
              <a:off x="365482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78"/>
            <p:cNvSpPr txBox="1"/>
            <p:nvPr/>
          </p:nvSpPr>
          <p:spPr>
            <a:xfrm>
              <a:off x="4076475" y="3867825"/>
              <a:ext cx="18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78"/>
            <p:cNvSpPr txBox="1"/>
            <p:nvPr/>
          </p:nvSpPr>
          <p:spPr>
            <a:xfrm>
              <a:off x="4514200" y="3867825"/>
              <a:ext cx="9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78"/>
            <p:cNvSpPr txBox="1"/>
            <p:nvPr/>
          </p:nvSpPr>
          <p:spPr>
            <a:xfrm>
              <a:off x="6137393" y="3867825"/>
              <a:ext cx="1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78"/>
            <p:cNvSpPr txBox="1"/>
            <p:nvPr/>
          </p:nvSpPr>
          <p:spPr>
            <a:xfrm>
              <a:off x="65565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78"/>
            <p:cNvSpPr txBox="1"/>
            <p:nvPr/>
          </p:nvSpPr>
          <p:spPr>
            <a:xfrm>
              <a:off x="5741050" y="3867825"/>
              <a:ext cx="9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78"/>
            <p:cNvSpPr txBox="1"/>
            <p:nvPr/>
          </p:nvSpPr>
          <p:spPr>
            <a:xfrm>
              <a:off x="7368142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78"/>
            <p:cNvSpPr txBox="1"/>
            <p:nvPr/>
          </p:nvSpPr>
          <p:spPr>
            <a:xfrm>
              <a:off x="6960700" y="3867825"/>
              <a:ext cx="10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8" name="Shape 1138"/>
        <p:cNvGrpSpPr/>
        <p:nvPr/>
      </p:nvGrpSpPr>
      <p:grpSpPr>
        <a:xfrm>
          <a:off x="0" y="0"/>
          <a:ext cx="0" cy="0"/>
        </a:xfrm>
      </p:grpSpPr>
      <p:sp>
        <p:nvSpPr>
          <p:cNvPr id="1139" name="Google Shape;1139;p7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140" name="Google Shape;1140;p7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(−8) is between (−9) and (−10)</a:t>
            </a:r>
            <a:endParaRPr/>
          </a:p>
        </p:txBody>
      </p:sp>
      <p:sp>
        <p:nvSpPr>
          <p:cNvPr id="1141" name="Google Shape;1141;p7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 which of the following are true:</a:t>
            </a:r>
            <a:endParaRPr/>
          </a:p>
        </p:txBody>
      </p:sp>
      <p:sp>
        <p:nvSpPr>
          <p:cNvPr id="1142" name="Google Shape;1142;p7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(−7) &lt; (−5)</a:t>
            </a:r>
            <a:endParaRPr/>
          </a:p>
        </p:txBody>
      </p:sp>
      <p:sp>
        <p:nvSpPr>
          <p:cNvPr id="1143" name="Google Shape;1143;p7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(−9) &gt; (−10)</a:t>
            </a:r>
            <a:endParaRPr/>
          </a:p>
        </p:txBody>
      </p:sp>
      <p:sp>
        <p:nvSpPr>
          <p:cNvPr id="1144" name="Google Shape;1144;p7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is between (−1) and (−8)</a:t>
            </a:r>
            <a:endParaRPr/>
          </a:p>
        </p:txBody>
      </p:sp>
      <p:pic>
        <p:nvPicPr>
          <p:cNvPr id="1145" name="Google Shape;114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108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8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153" name="Google Shape;1153;p80"/>
          <p:cNvSpPr txBox="1"/>
          <p:nvPr>
            <p:ph type="body" idx="4294967295"/>
          </p:nvPr>
        </p:nvSpPr>
        <p:spPr>
          <a:xfrm>
            <a:off x="324000" y="759300"/>
            <a:ext cx="82377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table shows the average temperature in January in eight cities. </a:t>
            </a:r>
            <a:endParaRPr sz="1800"/>
          </a:p>
        </p:txBody>
      </p:sp>
      <p:graphicFrame>
        <p:nvGraphicFramePr>
          <p:cNvPr id="1154" name="Google Shape;1154;p80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155" name="Google Shape;1155;p80"/>
          <p:cNvSpPr txBox="1"/>
          <p:nvPr>
            <p:ph type="body" idx="4294967295"/>
          </p:nvPr>
        </p:nvSpPr>
        <p:spPr>
          <a:xfrm>
            <a:off x="3498600" y="1254550"/>
            <a:ext cx="30360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city is the warmest?</a:t>
            </a:r>
            <a:endParaRPr sz="1800"/>
          </a:p>
        </p:txBody>
      </p:sp>
      <p:sp>
        <p:nvSpPr>
          <p:cNvPr id="1156" name="Google Shape;1156;p80"/>
          <p:cNvSpPr txBox="1"/>
          <p:nvPr>
            <p:ph type="body" idx="4294967295"/>
          </p:nvPr>
        </p:nvSpPr>
        <p:spPr>
          <a:xfrm>
            <a:off x="3498600" y="1958563"/>
            <a:ext cx="30360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city is the coldest?</a:t>
            </a:r>
            <a:endParaRPr sz="1800"/>
          </a:p>
        </p:txBody>
      </p:sp>
      <p:sp>
        <p:nvSpPr>
          <p:cNvPr id="1157" name="Google Shape;1157;p80"/>
          <p:cNvSpPr txBox="1"/>
          <p:nvPr>
            <p:ph type="body" idx="4294967295"/>
          </p:nvPr>
        </p:nvSpPr>
        <p:spPr>
          <a:xfrm>
            <a:off x="3498600" y="2662575"/>
            <a:ext cx="53214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difference in the temperature in Moscow and New York?</a:t>
            </a:r>
            <a:endParaRPr sz="1800"/>
          </a:p>
        </p:txBody>
      </p:sp>
      <p:sp>
        <p:nvSpPr>
          <p:cNvPr id="1158" name="Google Shape;1158;p80"/>
          <p:cNvSpPr txBox="1"/>
          <p:nvPr>
            <p:ph type="body" idx="4294967295"/>
          </p:nvPr>
        </p:nvSpPr>
        <p:spPr>
          <a:xfrm>
            <a:off x="3498600" y="1602500"/>
            <a:ext cx="30360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Alice Springs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0"/>
          <p:cNvSpPr/>
          <p:nvPr/>
        </p:nvSpPr>
        <p:spPr>
          <a:xfrm>
            <a:off x="2511025" y="1205850"/>
            <a:ext cx="550500" cy="253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0"/>
          <p:cNvSpPr/>
          <p:nvPr/>
        </p:nvSpPr>
        <p:spPr>
          <a:xfrm>
            <a:off x="2511025" y="3028450"/>
            <a:ext cx="550500" cy="253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0"/>
          <p:cNvSpPr txBox="1"/>
          <p:nvPr>
            <p:ph type="body" idx="4294967295"/>
          </p:nvPr>
        </p:nvSpPr>
        <p:spPr>
          <a:xfrm>
            <a:off x="3498600" y="2333100"/>
            <a:ext cx="30360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Moscow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80"/>
          <p:cNvSpPr/>
          <p:nvPr/>
        </p:nvSpPr>
        <p:spPr>
          <a:xfrm>
            <a:off x="2511025" y="3497175"/>
            <a:ext cx="550500" cy="253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0"/>
          <p:cNvSpPr txBox="1"/>
          <p:nvPr>
            <p:ph type="body" idx="4294967295"/>
          </p:nvPr>
        </p:nvSpPr>
        <p:spPr>
          <a:xfrm>
            <a:off x="3723525" y="4368600"/>
            <a:ext cx="42573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difference is 10℃.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0"/>
          <p:cNvSpPr/>
          <p:nvPr/>
        </p:nvSpPr>
        <p:spPr>
          <a:xfrm>
            <a:off x="3628430" y="3651845"/>
            <a:ext cx="95100" cy="1017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0"/>
          <p:cNvSpPr/>
          <p:nvPr/>
        </p:nvSpPr>
        <p:spPr>
          <a:xfrm>
            <a:off x="7886770" y="3651845"/>
            <a:ext cx="95100" cy="1017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6" name="Google Shape;1166;p80"/>
          <p:cNvCxnSpPr>
            <a:stCxn id="1164" idx="6"/>
          </p:cNvCxnSpPr>
          <p:nvPr/>
        </p:nvCxnSpPr>
        <p:spPr>
          <a:xfrm>
            <a:off x="3723530" y="3702695"/>
            <a:ext cx="3372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7" name="Google Shape;1167;p80"/>
          <p:cNvSpPr txBox="1"/>
          <p:nvPr>
            <p:ph type="body" idx="4294967295"/>
          </p:nvPr>
        </p:nvSpPr>
        <p:spPr>
          <a:xfrm>
            <a:off x="5327925" y="3334544"/>
            <a:ext cx="1632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cxnSp>
        <p:nvCxnSpPr>
          <p:cNvPr id="1168" name="Google Shape;1168;p80"/>
          <p:cNvCxnSpPr/>
          <p:nvPr/>
        </p:nvCxnSpPr>
        <p:spPr>
          <a:xfrm>
            <a:off x="7057575" y="3702694"/>
            <a:ext cx="8292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9" name="Google Shape;1169;p80"/>
          <p:cNvSpPr txBox="1"/>
          <p:nvPr>
            <p:ph type="body" idx="4294967295"/>
          </p:nvPr>
        </p:nvSpPr>
        <p:spPr>
          <a:xfrm>
            <a:off x="7390575" y="3334544"/>
            <a:ext cx="163200" cy="29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grpSp>
        <p:nvGrpSpPr>
          <p:cNvPr id="1170" name="Google Shape;1170;p80"/>
          <p:cNvGrpSpPr/>
          <p:nvPr/>
        </p:nvGrpSpPr>
        <p:grpSpPr>
          <a:xfrm>
            <a:off x="3542279" y="3773586"/>
            <a:ext cx="4439284" cy="574994"/>
            <a:chOff x="1172675" y="2952289"/>
            <a:chExt cx="4254225" cy="1165136"/>
          </a:xfrm>
        </p:grpSpPr>
        <p:grpSp>
          <p:nvGrpSpPr>
            <p:cNvPr id="1171" name="Google Shape;1171;p80"/>
            <p:cNvGrpSpPr/>
            <p:nvPr/>
          </p:nvGrpSpPr>
          <p:grpSpPr>
            <a:xfrm>
              <a:off x="1311337" y="2952289"/>
              <a:ext cx="4080455" cy="915545"/>
              <a:chOff x="1213050" y="3082900"/>
              <a:chExt cx="3814223" cy="764100"/>
            </a:xfrm>
          </p:grpSpPr>
          <p:cxnSp>
            <p:nvCxnSpPr>
              <p:cNvPr id="1172" name="Google Shape;1172;p80"/>
              <p:cNvCxnSpPr/>
              <p:nvPr/>
            </p:nvCxnSpPr>
            <p:spPr>
              <a:xfrm>
                <a:off x="1219073" y="3472090"/>
                <a:ext cx="3808200" cy="7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3" name="Google Shape;1173;p80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4" name="Google Shape;1174;p80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5" name="Google Shape;1175;p80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6" name="Google Shape;1176;p80"/>
              <p:cNvCxnSpPr/>
              <p:nvPr/>
            </p:nvCxnSpPr>
            <p:spPr>
              <a:xfrm>
                <a:off x="121305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7" name="Google Shape;1177;p80"/>
              <p:cNvCxnSpPr/>
              <p:nvPr/>
            </p:nvCxnSpPr>
            <p:spPr>
              <a:xfrm>
                <a:off x="1587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8" name="Google Shape;1178;p80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80"/>
              <p:cNvCxnSpPr/>
              <p:nvPr/>
            </p:nvCxnSpPr>
            <p:spPr>
              <a:xfrm>
                <a:off x="1968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0" name="Google Shape;1180;p80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1" name="Google Shape;1181;p80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2" name="Google Shape;1182;p80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3" name="Google Shape;1183;p80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84" name="Google Shape;1184;p80"/>
            <p:cNvSpPr txBox="1"/>
            <p:nvPr/>
          </p:nvSpPr>
          <p:spPr>
            <a:xfrm>
              <a:off x="1172675" y="3867825"/>
              <a:ext cx="2766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80"/>
            <p:cNvSpPr txBox="1"/>
            <p:nvPr/>
          </p:nvSpPr>
          <p:spPr>
            <a:xfrm>
              <a:off x="1546500" y="3867825"/>
              <a:ext cx="2766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−7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80"/>
            <p:cNvSpPr txBox="1"/>
            <p:nvPr/>
          </p:nvSpPr>
          <p:spPr>
            <a:xfrm>
              <a:off x="2836625" y="3867825"/>
              <a:ext cx="1965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80"/>
            <p:cNvSpPr txBox="1"/>
            <p:nvPr/>
          </p:nvSpPr>
          <p:spPr>
            <a:xfrm>
              <a:off x="2443963" y="3867825"/>
              <a:ext cx="1827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80"/>
            <p:cNvSpPr txBox="1"/>
            <p:nvPr/>
          </p:nvSpPr>
          <p:spPr>
            <a:xfrm>
              <a:off x="1957400" y="3867825"/>
              <a:ext cx="2766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−6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80"/>
            <p:cNvSpPr txBox="1"/>
            <p:nvPr/>
          </p:nvSpPr>
          <p:spPr>
            <a:xfrm>
              <a:off x="3252625" y="3867825"/>
              <a:ext cx="1827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80"/>
            <p:cNvSpPr txBox="1"/>
            <p:nvPr/>
          </p:nvSpPr>
          <p:spPr>
            <a:xfrm>
              <a:off x="5336900" y="3867825"/>
              <a:ext cx="900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0"/>
            <p:cNvSpPr txBox="1"/>
            <p:nvPr/>
          </p:nvSpPr>
          <p:spPr>
            <a:xfrm>
              <a:off x="4932750" y="3867825"/>
              <a:ext cx="828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0"/>
            <p:cNvSpPr txBox="1"/>
            <p:nvPr/>
          </p:nvSpPr>
          <p:spPr>
            <a:xfrm>
              <a:off x="3654825" y="3867825"/>
              <a:ext cx="1800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0"/>
            <p:cNvSpPr txBox="1"/>
            <p:nvPr/>
          </p:nvSpPr>
          <p:spPr>
            <a:xfrm>
              <a:off x="4076475" y="3867825"/>
              <a:ext cx="1800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0"/>
            <p:cNvSpPr txBox="1"/>
            <p:nvPr/>
          </p:nvSpPr>
          <p:spPr>
            <a:xfrm>
              <a:off x="4514200" y="3867825"/>
              <a:ext cx="97200" cy="2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8" name="Shape 1198"/>
        <p:cNvGrpSpPr/>
        <p:nvPr/>
      </p:nvGrpSpPr>
      <p:grpSpPr>
        <a:xfrm>
          <a:off x="0" y="0"/>
          <a:ext cx="0" cy="0"/>
        </a:xfrm>
      </p:grpSpPr>
      <p:sp>
        <p:nvSpPr>
          <p:cNvPr id="1199" name="Google Shape;119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00" name="Google Shape;1200;p81"/>
          <p:cNvSpPr txBox="1"/>
          <p:nvPr>
            <p:ph type="body" idx="4294967295"/>
          </p:nvPr>
        </p:nvSpPr>
        <p:spPr>
          <a:xfrm>
            <a:off x="324000" y="759300"/>
            <a:ext cx="82377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table shows the average temperature in January in eight cities. </a:t>
            </a:r>
            <a:endParaRPr sz="1800"/>
          </a:p>
        </p:txBody>
      </p:sp>
      <p:graphicFrame>
        <p:nvGraphicFramePr>
          <p:cNvPr id="1201" name="Google Shape;1201;p81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02" name="Google Shape;1202;p81"/>
          <p:cNvSpPr txBox="1"/>
          <p:nvPr>
            <p:ph type="body" idx="4294967295"/>
          </p:nvPr>
        </p:nvSpPr>
        <p:spPr>
          <a:xfrm>
            <a:off x="3688400" y="1322725"/>
            <a:ext cx="5131500" cy="64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difference in temperature between Los Angeles and Quebec? </a:t>
            </a:r>
            <a:endParaRPr sz="1800"/>
          </a:p>
        </p:txBody>
      </p:sp>
      <p:sp>
        <p:nvSpPr>
          <p:cNvPr id="1203" name="Google Shape;1203;p81"/>
          <p:cNvSpPr txBox="1"/>
          <p:nvPr>
            <p:ph type="body" idx="4294967295"/>
          </p:nvPr>
        </p:nvSpPr>
        <p:spPr>
          <a:xfrm>
            <a:off x="3688400" y="2272900"/>
            <a:ext cx="657300" cy="29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800"/>
              <a:t>℃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7" name="Shape 1207"/>
        <p:cNvGrpSpPr/>
        <p:nvPr/>
      </p:nvGrpSpPr>
      <p:grpSpPr>
        <a:xfrm>
          <a:off x="0" y="0"/>
          <a:ext cx="0" cy="0"/>
        </a:xfrm>
      </p:grpSpPr>
      <p:sp>
        <p:nvSpPr>
          <p:cNvPr id="1208" name="Google Shape;1208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Complete the following using either &lt; or &gt;: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(−3)       (−1)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(−11)       (−8)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(−57)       (−58)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(−0.5)        (−0.6)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2)    Write a number in the box to make the statement true: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(−14) &lt;	      &lt; (−6)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(−324) &lt;        &lt; (−176)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(−6) &lt;	     &lt; (−5)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(−12.8)&lt;       &lt; (−12)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09" name="Google Shape;1209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10" name="Google Shape;1210;p82"/>
          <p:cNvSpPr/>
          <p:nvPr/>
        </p:nvSpPr>
        <p:spPr>
          <a:xfrm>
            <a:off x="1315331" y="1182900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1" name="Google Shape;1211;p82"/>
          <p:cNvSpPr/>
          <p:nvPr/>
        </p:nvSpPr>
        <p:spPr>
          <a:xfrm>
            <a:off x="1429760" y="1560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82"/>
          <p:cNvSpPr/>
          <p:nvPr/>
        </p:nvSpPr>
        <p:spPr>
          <a:xfrm>
            <a:off x="1505940" y="1937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82"/>
          <p:cNvSpPr/>
          <p:nvPr/>
        </p:nvSpPr>
        <p:spPr>
          <a:xfrm>
            <a:off x="1684800" y="3372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82"/>
          <p:cNvSpPr/>
          <p:nvPr/>
        </p:nvSpPr>
        <p:spPr>
          <a:xfrm>
            <a:off x="1897936" y="3749157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82"/>
          <p:cNvSpPr/>
          <p:nvPr/>
        </p:nvSpPr>
        <p:spPr>
          <a:xfrm>
            <a:off x="1570025" y="4126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6" name="Google Shape;1216;p82"/>
          <p:cNvSpPr/>
          <p:nvPr/>
        </p:nvSpPr>
        <p:spPr>
          <a:xfrm>
            <a:off x="1605990" y="2314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82"/>
          <p:cNvSpPr/>
          <p:nvPr/>
        </p:nvSpPr>
        <p:spPr>
          <a:xfrm>
            <a:off x="1880917" y="4503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1" name="Shape 1221"/>
        <p:cNvGrpSpPr/>
        <p:nvPr/>
      </p:nvGrpSpPr>
      <p:grpSpPr>
        <a:xfrm>
          <a:off x="0" y="0"/>
          <a:ext cx="0" cy="0"/>
        </a:xfrm>
      </p:grpSpPr>
      <p:sp>
        <p:nvSpPr>
          <p:cNvPr id="1222" name="Google Shape;1222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3)    Which number is halfway between the following pairs of </a:t>
            </a:r>
            <a:r>
              <a:rPr lang="en-GB" b="1"/>
              <a:t>integers</a:t>
            </a:r>
            <a:r>
              <a:rPr lang="en-GB"/>
              <a:t>?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(−6) and (−10)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(−100) and (−50)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7 and (−23)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(−300) and 168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(−34) and 15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23" name="Google Shape;1223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 The table shows the average temperature in January in eight cities.</a:t>
            </a:r>
            <a:endParaRPr sz="1800"/>
          </a:p>
        </p:txBody>
      </p:sp>
      <p:graphicFrame>
        <p:nvGraphicFramePr>
          <p:cNvPr id="1229" name="Google Shape;1229;p84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30" name="Google Shape;1230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31" name="Google Shape;1231;p84"/>
          <p:cNvSpPr txBox="1"/>
          <p:nvPr>
            <p:ph type="body" idx="1"/>
          </p:nvPr>
        </p:nvSpPr>
        <p:spPr>
          <a:xfrm>
            <a:off x="3475200" y="1171575"/>
            <a:ext cx="5344800" cy="3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Write the cities in order from the coldest to the warmest.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Which two cities have the greatest difference in temperature?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Which two cities have the least difference in temperature?  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What is the difference in temperature between London and Los Angeles? 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another pair of cities with the same temperature difference.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5" name="Shape 1235"/>
        <p:cNvGrpSpPr/>
        <p:nvPr/>
      </p:nvGrpSpPr>
      <p:grpSpPr>
        <a:xfrm>
          <a:off x="0" y="0"/>
          <a:ext cx="0" cy="0"/>
        </a:xfrm>
      </p:grpSpPr>
      <p:sp>
        <p:nvSpPr>
          <p:cNvPr id="1236" name="Google Shape;1236;p8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Complete the following using either &lt; or &gt;: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(−3)       (−1)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(−11)       (−8)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(−57)       (−58)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(−0.5)        (−0.6)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2)    Write a number in the box to make the statement true: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(−14) &lt;	      &lt; (−6)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(−324) &lt;        &lt; (−176)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(−6) &lt;	     &lt; (−5)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(−12.8) &lt;	      &lt; (−12)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37" name="Google Shape;1237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38" name="Google Shape;1238;p85"/>
          <p:cNvSpPr/>
          <p:nvPr/>
        </p:nvSpPr>
        <p:spPr>
          <a:xfrm>
            <a:off x="1315331" y="1182900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9" name="Google Shape;1239;p85"/>
          <p:cNvSpPr/>
          <p:nvPr/>
        </p:nvSpPr>
        <p:spPr>
          <a:xfrm>
            <a:off x="1429760" y="1560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85"/>
          <p:cNvSpPr/>
          <p:nvPr/>
        </p:nvSpPr>
        <p:spPr>
          <a:xfrm>
            <a:off x="1505940" y="1937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1" name="Google Shape;1241;p85"/>
          <p:cNvSpPr/>
          <p:nvPr/>
        </p:nvSpPr>
        <p:spPr>
          <a:xfrm>
            <a:off x="1684800" y="3372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2" name="Google Shape;1242;p85"/>
          <p:cNvSpPr/>
          <p:nvPr/>
        </p:nvSpPr>
        <p:spPr>
          <a:xfrm>
            <a:off x="1897936" y="3749157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3" name="Google Shape;1243;p85"/>
          <p:cNvSpPr/>
          <p:nvPr/>
        </p:nvSpPr>
        <p:spPr>
          <a:xfrm>
            <a:off x="1570025" y="4126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85"/>
          <p:cNvSpPr/>
          <p:nvPr/>
        </p:nvSpPr>
        <p:spPr>
          <a:xfrm>
            <a:off x="1605990" y="2314261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85"/>
          <p:cNvSpPr/>
          <p:nvPr/>
        </p:nvSpPr>
        <p:spPr>
          <a:xfrm>
            <a:off x="2065805" y="4503138"/>
            <a:ext cx="423900" cy="2682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85"/>
          <p:cNvSpPr txBox="1"/>
          <p:nvPr/>
        </p:nvSpPr>
        <p:spPr>
          <a:xfrm>
            <a:off x="3939950" y="3372150"/>
            <a:ext cx="46635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(−8), (−10), (−13)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(−178), (−210), (−313)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(−5.1), (−5.4), (−5.8)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(−12.34), (−12.5), (−12.75)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0" name="Shape 1250"/>
        <p:cNvGrpSpPr/>
        <p:nvPr/>
      </p:nvGrpSpPr>
      <p:grpSpPr>
        <a:xfrm>
          <a:off x="0" y="0"/>
          <a:ext cx="0" cy="0"/>
        </a:xfrm>
      </p:grpSpPr>
      <p:sp>
        <p:nvSpPr>
          <p:cNvPr id="1251" name="Google Shape;1251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3)    Which number is halfway between the following pairs of </a:t>
            </a:r>
            <a:r>
              <a:rPr lang="en-GB" b="1"/>
              <a:t>integers</a:t>
            </a:r>
            <a:r>
              <a:rPr lang="en-GB"/>
              <a:t>?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(−6) and (−10)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(−100) and (−50)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7 and (−23)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(−300) and 168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(−34) and 15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52" name="Google Shape;1252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53" name="Google Shape;1253;p86"/>
          <p:cNvSpPr txBox="1"/>
          <p:nvPr/>
        </p:nvSpPr>
        <p:spPr>
          <a:xfrm>
            <a:off x="3605550" y="1702994"/>
            <a:ext cx="3644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(−8)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(−75)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(−8)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(−66)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Font typeface="Kalam"/>
              <a:buAutoNum type="alphaLcParenR"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(−9.5)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7" name="Shape 1257"/>
        <p:cNvGrpSpPr/>
        <p:nvPr/>
      </p:nvGrpSpPr>
      <p:grpSpPr>
        <a:xfrm>
          <a:off x="0" y="0"/>
          <a:ext cx="0" cy="0"/>
        </a:xfrm>
      </p:grpSpPr>
      <p:sp>
        <p:nvSpPr>
          <p:cNvPr id="1258" name="Google Shape;1258;p87"/>
          <p:cNvSpPr txBox="1"/>
          <p:nvPr>
            <p:ph type="body" idx="1"/>
          </p:nvPr>
        </p:nvSpPr>
        <p:spPr>
          <a:xfrm>
            <a:off x="324000" y="759300"/>
            <a:ext cx="82377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 The table shows the average temperature in January in eight cities.</a:t>
            </a:r>
            <a:endParaRPr sz="1800"/>
          </a:p>
        </p:txBody>
      </p:sp>
      <p:graphicFrame>
        <p:nvGraphicFramePr>
          <p:cNvPr id="1259" name="Google Shape;1259;p87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60" name="Google Shape;1260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61" name="Google Shape;1261;p87"/>
          <p:cNvSpPr txBox="1"/>
          <p:nvPr>
            <p:ph type="body" idx="1"/>
          </p:nvPr>
        </p:nvSpPr>
        <p:spPr>
          <a:xfrm>
            <a:off x="3475200" y="1171575"/>
            <a:ext cx="5344800" cy="3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Write the cities in order from the coldest to the warmest.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Moscow, Quebec, Tromsø, New York, London, Los Angeles, Jaipur, Alice Springs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Which two cities have the greatest difference in temperature?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Alice Springs &amp; Moscow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Which two cities have the least difference in temperature?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Quebec &amp; Tromsø or Moscow &amp; Quebec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5" name="Shape 1265"/>
        <p:cNvGrpSpPr/>
        <p:nvPr/>
      </p:nvGrpSpPr>
      <p:grpSpPr>
        <a:xfrm>
          <a:off x="0" y="0"/>
          <a:ext cx="0" cy="0"/>
        </a:xfrm>
      </p:grpSpPr>
      <p:sp>
        <p:nvSpPr>
          <p:cNvPr id="1266" name="Google Shape;1266;p88"/>
          <p:cNvSpPr txBox="1"/>
          <p:nvPr>
            <p:ph type="body" idx="1"/>
          </p:nvPr>
        </p:nvSpPr>
        <p:spPr>
          <a:xfrm>
            <a:off x="324000" y="759300"/>
            <a:ext cx="82377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 The table shows the average temperature in January in eight cities.</a:t>
            </a:r>
            <a:endParaRPr sz="1800"/>
          </a:p>
        </p:txBody>
      </p:sp>
      <p:graphicFrame>
        <p:nvGraphicFramePr>
          <p:cNvPr id="1267" name="Google Shape;1267;p88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68" name="Google Shape;1268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69" name="Google Shape;1269;p88"/>
          <p:cNvSpPr txBox="1"/>
          <p:nvPr>
            <p:ph type="body" idx="1"/>
          </p:nvPr>
        </p:nvSpPr>
        <p:spPr>
          <a:xfrm>
            <a:off x="3475200" y="1171575"/>
            <a:ext cx="5344800" cy="3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d)	What is the difference in temperature between London and Los Angeles?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800"/>
              <a:t>℃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Find another pair of cities with the same temperature difference.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New York &amp; Tromsø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Reviewing negative numbers in a context</a:t>
            </a:r>
            <a:endParaRPr/>
          </a:p>
        </p:txBody>
      </p:sp>
      <p:sp>
        <p:nvSpPr>
          <p:cNvPr id="1275" name="Google Shape;1275;p8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276" name="Google Shape;1276;p8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pic>
        <p:nvPicPr>
          <p:cNvPr id="1277" name="Google Shape;127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69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1" name="Shape 1281"/>
        <p:cNvGrpSpPr/>
        <p:nvPr/>
      </p:nvGrpSpPr>
      <p:grpSpPr>
        <a:xfrm>
          <a:off x="0" y="0"/>
          <a:ext cx="0" cy="0"/>
        </a:xfrm>
      </p:grpSpPr>
      <p:sp>
        <p:nvSpPr>
          <p:cNvPr id="1282" name="Google Shape;128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283" name="Google Shape;1283;p90"/>
          <p:cNvSpPr txBox="1"/>
          <p:nvPr>
            <p:ph type="body" idx="1"/>
          </p:nvPr>
        </p:nvSpPr>
        <p:spPr>
          <a:xfrm>
            <a:off x="324000" y="759300"/>
            <a:ext cx="8496000" cy="224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Izzy gets her school lunch from the canteen.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She forgot to ask her dad to top up her account.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She has £1.00 credit.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Her lunch costs £3.00.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Does she have enough money?</a:t>
            </a:r>
            <a:endParaRPr sz="2000"/>
          </a:p>
        </p:txBody>
      </p:sp>
      <p:sp>
        <p:nvSpPr>
          <p:cNvPr id="1284" name="Google Shape;1284;p90"/>
          <p:cNvSpPr txBox="1"/>
          <p:nvPr>
            <p:ph type="body" idx="1"/>
          </p:nvPr>
        </p:nvSpPr>
        <p:spPr>
          <a:xfrm>
            <a:off x="324000" y="4026000"/>
            <a:ext cx="8496000" cy="7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She can pay £1.00 of the cost so will owe the canteen £2.00.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Her balance would be (−£2.00)</a:t>
            </a:r>
            <a:endParaRPr sz="2000"/>
          </a:p>
        </p:txBody>
      </p:sp>
      <p:pic>
        <p:nvPicPr>
          <p:cNvPr id="1285" name="Google Shape;12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75" y="810000"/>
            <a:ext cx="1580926" cy="1529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0"/>
          <p:cNvSpPr txBox="1"/>
          <p:nvPr>
            <p:ph type="body" idx="1"/>
          </p:nvPr>
        </p:nvSpPr>
        <p:spPr>
          <a:xfrm>
            <a:off x="324000" y="3159625"/>
            <a:ext cx="47400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she does not have enough money.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90"/>
          <p:cNvSpPr txBox="1"/>
          <p:nvPr>
            <p:ph type="body" idx="1"/>
          </p:nvPr>
        </p:nvSpPr>
        <p:spPr>
          <a:xfrm>
            <a:off x="324000" y="3612350"/>
            <a:ext cx="84960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If she buys the lunch, what will the balance on her account be?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1" name="Shape 1291"/>
        <p:cNvGrpSpPr/>
        <p:nvPr/>
      </p:nvGrpSpPr>
      <p:grpSpPr>
        <a:xfrm>
          <a:off x="0" y="0"/>
          <a:ext cx="0" cy="0"/>
        </a:xfrm>
      </p:grpSpPr>
      <p:pic>
        <p:nvPicPr>
          <p:cNvPr id="1292" name="Google Shape;1292;p91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2144098" y="3572025"/>
            <a:ext cx="3447852" cy="90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1"/>
          <p:cNvSpPr/>
          <p:nvPr/>
        </p:nvSpPr>
        <p:spPr>
          <a:xfrm>
            <a:off x="5781850" y="759300"/>
            <a:ext cx="2698800" cy="3964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295" name="Google Shape;1295;p91"/>
          <p:cNvSpPr txBox="1"/>
          <p:nvPr>
            <p:ph type="body" idx="1"/>
          </p:nvPr>
        </p:nvSpPr>
        <p:spPr>
          <a:xfrm>
            <a:off x="5917367" y="759300"/>
            <a:ext cx="25632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u="sng"/>
              <a:t>Canteen Price List</a:t>
            </a:r>
            <a:endParaRPr u="sng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Apple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Melon pot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Meal deal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Sandwich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Ice lolly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Fruit juice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Water</a:t>
            </a:r>
            <a:endParaRPr/>
          </a:p>
        </p:txBody>
      </p:sp>
      <p:sp>
        <p:nvSpPr>
          <p:cNvPr id="1296" name="Google Shape;1296;p91"/>
          <p:cNvSpPr txBox="1"/>
          <p:nvPr>
            <p:ph type="body" idx="1"/>
          </p:nvPr>
        </p:nvSpPr>
        <p:spPr>
          <a:xfrm>
            <a:off x="7683617" y="1247000"/>
            <a:ext cx="723600" cy="3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45p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75p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£2.65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£1.85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80p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95p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97" name="Google Shape;1297;p91"/>
          <p:cNvSpPr txBox="1"/>
          <p:nvPr/>
        </p:nvSpPr>
        <p:spPr>
          <a:xfrm>
            <a:off x="1321625" y="1009725"/>
            <a:ext cx="364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8" name="Google Shape;129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477075"/>
            <a:ext cx="1205501" cy="134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91"/>
          <p:cNvSpPr txBox="1"/>
          <p:nvPr/>
        </p:nvSpPr>
        <p:spPr>
          <a:xfrm>
            <a:off x="324000" y="617175"/>
            <a:ext cx="53631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Sofia buys an apple, a sandwich and a bottle of water.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She has £2.00 on her account.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is the balance on her account after she has bought those items?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1"/>
          <p:cNvSpPr txBox="1"/>
          <p:nvPr>
            <p:ph type="body" idx="1"/>
          </p:nvPr>
        </p:nvSpPr>
        <p:spPr>
          <a:xfrm>
            <a:off x="1492450" y="2191050"/>
            <a:ext cx="42819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Total cost = £0.45 + £1.85 + £0.95</a:t>
            </a:r>
            <a:endParaRPr sz="2000"/>
          </a:p>
        </p:txBody>
      </p:sp>
      <p:sp>
        <p:nvSpPr>
          <p:cNvPr id="1301" name="Google Shape;1301;p91"/>
          <p:cNvSpPr txBox="1"/>
          <p:nvPr>
            <p:ph type="body" idx="1"/>
          </p:nvPr>
        </p:nvSpPr>
        <p:spPr>
          <a:xfrm>
            <a:off x="1492450" y="2587569"/>
            <a:ext cx="40995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Total cost = £3.25</a:t>
            </a:r>
            <a:endParaRPr sz="2000"/>
          </a:p>
        </p:txBody>
      </p:sp>
      <p:sp>
        <p:nvSpPr>
          <p:cNvPr id="1302" name="Google Shape;1302;p91"/>
          <p:cNvSpPr txBox="1"/>
          <p:nvPr>
            <p:ph type="body" idx="1"/>
          </p:nvPr>
        </p:nvSpPr>
        <p:spPr>
          <a:xfrm>
            <a:off x="1492450" y="2984088"/>
            <a:ext cx="40995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Account balance = £2.00 − £3.25</a:t>
            </a:r>
            <a:endParaRPr sz="2000"/>
          </a:p>
        </p:txBody>
      </p:sp>
      <p:sp>
        <p:nvSpPr>
          <p:cNvPr id="1303" name="Google Shape;1303;p91"/>
          <p:cNvSpPr txBox="1"/>
          <p:nvPr>
            <p:ph type="body" idx="1"/>
          </p:nvPr>
        </p:nvSpPr>
        <p:spPr>
          <a:xfrm>
            <a:off x="4824000" y="4550975"/>
            <a:ext cx="6045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£2.00</a:t>
            </a:r>
            <a:endParaRPr sz="1800"/>
          </a:p>
        </p:txBody>
      </p:sp>
      <p:sp>
        <p:nvSpPr>
          <p:cNvPr id="1304" name="Google Shape;1304;p91"/>
          <p:cNvSpPr txBox="1"/>
          <p:nvPr>
            <p:ph type="body" idx="1"/>
          </p:nvPr>
        </p:nvSpPr>
        <p:spPr>
          <a:xfrm>
            <a:off x="3439050" y="4550975"/>
            <a:ext cx="6045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£0.00</a:t>
            </a:r>
            <a:endParaRPr sz="1800"/>
          </a:p>
        </p:txBody>
      </p:sp>
      <p:sp>
        <p:nvSpPr>
          <p:cNvPr id="1305" name="Google Shape;1305;p91"/>
          <p:cNvSpPr txBox="1"/>
          <p:nvPr>
            <p:ph type="body" idx="1"/>
          </p:nvPr>
        </p:nvSpPr>
        <p:spPr>
          <a:xfrm>
            <a:off x="2175425" y="4550975"/>
            <a:ext cx="9327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(−£1.25)</a:t>
            </a:r>
            <a:endParaRPr sz="1800"/>
          </a:p>
        </p:txBody>
      </p:sp>
      <p:sp>
        <p:nvSpPr>
          <p:cNvPr id="1306" name="Google Shape;1306;p91"/>
          <p:cNvSpPr txBox="1"/>
          <p:nvPr>
            <p:ph type="body" idx="1"/>
          </p:nvPr>
        </p:nvSpPr>
        <p:spPr>
          <a:xfrm>
            <a:off x="3942575" y="3910775"/>
            <a:ext cx="9720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(−£2.00)</a:t>
            </a:r>
            <a:endParaRPr sz="1800"/>
          </a:p>
        </p:txBody>
      </p:sp>
      <p:pic>
        <p:nvPicPr>
          <p:cNvPr id="1307" name="Google Shape;1307;p91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3497977" y="4135083"/>
            <a:ext cx="1813948" cy="5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91"/>
          <p:cNvSpPr txBox="1"/>
          <p:nvPr>
            <p:ph type="body" idx="1"/>
          </p:nvPr>
        </p:nvSpPr>
        <p:spPr>
          <a:xfrm>
            <a:off x="3466038" y="3366947"/>
            <a:ext cx="9720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(−£3.25)</a:t>
            </a:r>
            <a:endParaRPr sz="1800"/>
          </a:p>
        </p:txBody>
      </p:sp>
      <p:pic>
        <p:nvPicPr>
          <p:cNvPr id="1309" name="Google Shape;1309;p91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2620614" y="4097675"/>
            <a:ext cx="1110236" cy="5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91"/>
          <p:cNvSpPr txBox="1"/>
          <p:nvPr>
            <p:ph type="body" idx="1"/>
          </p:nvPr>
        </p:nvSpPr>
        <p:spPr>
          <a:xfrm>
            <a:off x="2944950" y="3861650"/>
            <a:ext cx="9327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(−£1.25)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4" name="Shape 1314"/>
        <p:cNvGrpSpPr/>
        <p:nvPr/>
      </p:nvGrpSpPr>
      <p:grpSpPr>
        <a:xfrm>
          <a:off x="0" y="0"/>
          <a:ext cx="0" cy="0"/>
        </a:xfrm>
      </p:grpSpPr>
      <p:pic>
        <p:nvPicPr>
          <p:cNvPr id="1315" name="Google Shape;1315;p92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2144098" y="3572025"/>
            <a:ext cx="3447852" cy="90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2"/>
          <p:cNvSpPr/>
          <p:nvPr/>
        </p:nvSpPr>
        <p:spPr>
          <a:xfrm>
            <a:off x="5781850" y="759300"/>
            <a:ext cx="2698800" cy="3964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318" name="Google Shape;1318;p92"/>
          <p:cNvSpPr txBox="1"/>
          <p:nvPr>
            <p:ph type="body" idx="1"/>
          </p:nvPr>
        </p:nvSpPr>
        <p:spPr>
          <a:xfrm>
            <a:off x="5917367" y="759300"/>
            <a:ext cx="25632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u="sng"/>
              <a:t>Canteen Price List</a:t>
            </a:r>
            <a:endParaRPr u="sng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Apple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Melon pot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Meal deal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Sandwich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Ice lolly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Fruit juice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Water</a:t>
            </a:r>
            <a:endParaRPr/>
          </a:p>
        </p:txBody>
      </p:sp>
      <p:sp>
        <p:nvSpPr>
          <p:cNvPr id="1319" name="Google Shape;1319;p92"/>
          <p:cNvSpPr txBox="1"/>
          <p:nvPr>
            <p:ph type="body" idx="1"/>
          </p:nvPr>
        </p:nvSpPr>
        <p:spPr>
          <a:xfrm>
            <a:off x="7683617" y="1247000"/>
            <a:ext cx="723600" cy="3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45p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75p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£2.65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£1.85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80p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85p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95p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320" name="Google Shape;1320;p92"/>
          <p:cNvSpPr txBox="1"/>
          <p:nvPr/>
        </p:nvSpPr>
        <p:spPr>
          <a:xfrm>
            <a:off x="1321625" y="1009725"/>
            <a:ext cx="364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 txBox="1"/>
          <p:nvPr/>
        </p:nvSpPr>
        <p:spPr>
          <a:xfrm>
            <a:off x="324000" y="617175"/>
            <a:ext cx="5363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 buys a meal deal and an ice lolly.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 has £0.75 on his account.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is the balance on his account after he has bought those items?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2"/>
          <p:cNvSpPr txBox="1"/>
          <p:nvPr>
            <p:ph type="body" idx="1"/>
          </p:nvPr>
        </p:nvSpPr>
        <p:spPr>
          <a:xfrm>
            <a:off x="1492450" y="2191050"/>
            <a:ext cx="42819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Total cost = £2.65 + £0.80</a:t>
            </a:r>
            <a:endParaRPr sz="2000"/>
          </a:p>
        </p:txBody>
      </p:sp>
      <p:sp>
        <p:nvSpPr>
          <p:cNvPr id="1323" name="Google Shape;1323;p92"/>
          <p:cNvSpPr txBox="1"/>
          <p:nvPr>
            <p:ph type="body" idx="1"/>
          </p:nvPr>
        </p:nvSpPr>
        <p:spPr>
          <a:xfrm>
            <a:off x="1492450" y="2587569"/>
            <a:ext cx="40995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Total cost = £3.45</a:t>
            </a:r>
            <a:endParaRPr sz="2000"/>
          </a:p>
        </p:txBody>
      </p:sp>
      <p:sp>
        <p:nvSpPr>
          <p:cNvPr id="1324" name="Google Shape;1324;p92"/>
          <p:cNvSpPr txBox="1"/>
          <p:nvPr>
            <p:ph type="body" idx="1"/>
          </p:nvPr>
        </p:nvSpPr>
        <p:spPr>
          <a:xfrm>
            <a:off x="1492450" y="2984088"/>
            <a:ext cx="40995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Account balance = £0.75 − £3.45</a:t>
            </a:r>
            <a:endParaRPr sz="2000"/>
          </a:p>
        </p:txBody>
      </p:sp>
      <p:sp>
        <p:nvSpPr>
          <p:cNvPr id="1325" name="Google Shape;1325;p92"/>
          <p:cNvSpPr txBox="1"/>
          <p:nvPr>
            <p:ph type="body" idx="1"/>
          </p:nvPr>
        </p:nvSpPr>
        <p:spPr>
          <a:xfrm>
            <a:off x="4824000" y="4550975"/>
            <a:ext cx="6045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£0.75</a:t>
            </a:r>
            <a:endParaRPr sz="1800"/>
          </a:p>
        </p:txBody>
      </p:sp>
      <p:sp>
        <p:nvSpPr>
          <p:cNvPr id="1326" name="Google Shape;1326;p92"/>
          <p:cNvSpPr txBox="1"/>
          <p:nvPr>
            <p:ph type="body" idx="1"/>
          </p:nvPr>
        </p:nvSpPr>
        <p:spPr>
          <a:xfrm>
            <a:off x="3989525" y="4550975"/>
            <a:ext cx="6636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£0.00</a:t>
            </a:r>
            <a:endParaRPr sz="1800"/>
          </a:p>
        </p:txBody>
      </p:sp>
      <p:sp>
        <p:nvSpPr>
          <p:cNvPr id="1327" name="Google Shape;1327;p92"/>
          <p:cNvSpPr txBox="1"/>
          <p:nvPr>
            <p:ph type="body" idx="1"/>
          </p:nvPr>
        </p:nvSpPr>
        <p:spPr>
          <a:xfrm>
            <a:off x="2175425" y="4550975"/>
            <a:ext cx="9129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(−£2.70)</a:t>
            </a:r>
            <a:endParaRPr sz="1800"/>
          </a:p>
        </p:txBody>
      </p:sp>
      <p:sp>
        <p:nvSpPr>
          <p:cNvPr id="1328" name="Google Shape;1328;p92"/>
          <p:cNvSpPr txBox="1"/>
          <p:nvPr>
            <p:ph type="body" idx="1"/>
          </p:nvPr>
        </p:nvSpPr>
        <p:spPr>
          <a:xfrm>
            <a:off x="4247375" y="3910775"/>
            <a:ext cx="9720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(−£0.75)</a:t>
            </a:r>
            <a:endParaRPr sz="1800"/>
          </a:p>
        </p:txBody>
      </p:sp>
      <p:pic>
        <p:nvPicPr>
          <p:cNvPr id="1329" name="Google Shape;1329;p92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4438049" y="4135075"/>
            <a:ext cx="873876" cy="5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2"/>
          <p:cNvSpPr txBox="1"/>
          <p:nvPr>
            <p:ph type="body" idx="1"/>
          </p:nvPr>
        </p:nvSpPr>
        <p:spPr>
          <a:xfrm>
            <a:off x="3466038" y="3366947"/>
            <a:ext cx="9720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(−£3.45)</a:t>
            </a:r>
            <a:endParaRPr sz="1800"/>
          </a:p>
        </p:txBody>
      </p:sp>
      <p:pic>
        <p:nvPicPr>
          <p:cNvPr id="1331" name="Google Shape;1331;p92"/>
          <p:cNvPicPr preferRelativeResize="0"/>
          <p:nvPr/>
        </p:nvPicPr>
        <p:blipFill>
          <a:blip r:embed="rId3">
            <a:alphaModFix/>
          </a:blip>
          <a:srcRect l="61559" t="27330" r="13952" b="59597"/>
          <a:stretch>
            <a:fillRect/>
          </a:stretch>
        </p:blipFill>
        <p:spPr>
          <a:xfrm flipH="1">
            <a:off x="2620630" y="4097675"/>
            <a:ext cx="1699376" cy="5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92"/>
          <p:cNvSpPr txBox="1"/>
          <p:nvPr>
            <p:ph type="body" idx="1"/>
          </p:nvPr>
        </p:nvSpPr>
        <p:spPr>
          <a:xfrm>
            <a:off x="3002599" y="3861650"/>
            <a:ext cx="9129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(−£2.70)</a:t>
            </a:r>
            <a:endParaRPr sz="1800"/>
          </a:p>
        </p:txBody>
      </p:sp>
      <p:pic>
        <p:nvPicPr>
          <p:cNvPr id="1333" name="Google Shape;133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246" y="3380635"/>
            <a:ext cx="1110225" cy="136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sp>
        <p:nvSpPr>
          <p:cNvPr id="1338" name="Google Shape;133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339" name="Google Shape;1339;p93"/>
          <p:cNvSpPr txBox="1"/>
          <p:nvPr>
            <p:ph type="body" idx="1"/>
          </p:nvPr>
        </p:nvSpPr>
        <p:spPr>
          <a:xfrm>
            <a:off x="324000" y="606900"/>
            <a:ext cx="8237700" cy="48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each box on the left to the new account balance on the right. </a:t>
            </a:r>
            <a:endParaRPr/>
          </a:p>
        </p:txBody>
      </p:sp>
      <p:sp>
        <p:nvSpPr>
          <p:cNvPr id="1340" name="Google Shape;1340;p93"/>
          <p:cNvSpPr/>
          <p:nvPr/>
        </p:nvSpPr>
        <p:spPr>
          <a:xfrm>
            <a:off x="397950" y="1620000"/>
            <a:ext cx="45045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3"/>
          <p:cNvSpPr txBox="1"/>
          <p:nvPr>
            <p:ph type="body" idx="1"/>
          </p:nvPr>
        </p:nvSpPr>
        <p:spPr>
          <a:xfrm>
            <a:off x="493728" y="1275425"/>
            <a:ext cx="23049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Account balance </a:t>
            </a:r>
            <a:endParaRPr/>
          </a:p>
        </p:txBody>
      </p:sp>
      <p:sp>
        <p:nvSpPr>
          <p:cNvPr id="1342" name="Google Shape;1342;p93"/>
          <p:cNvSpPr txBox="1"/>
          <p:nvPr>
            <p:ph type="body" idx="1"/>
          </p:nvPr>
        </p:nvSpPr>
        <p:spPr>
          <a:xfrm>
            <a:off x="2885728" y="1275425"/>
            <a:ext cx="19155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Amount spent </a:t>
            </a:r>
            <a:endParaRPr/>
          </a:p>
        </p:txBody>
      </p:sp>
      <p:sp>
        <p:nvSpPr>
          <p:cNvPr id="1343" name="Google Shape;1343;p93"/>
          <p:cNvSpPr txBox="1"/>
          <p:nvPr>
            <p:ph type="body" idx="1"/>
          </p:nvPr>
        </p:nvSpPr>
        <p:spPr>
          <a:xfrm>
            <a:off x="5685828" y="1275425"/>
            <a:ext cx="30456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New account balance </a:t>
            </a:r>
            <a:endParaRPr/>
          </a:p>
        </p:txBody>
      </p:sp>
      <p:sp>
        <p:nvSpPr>
          <p:cNvPr id="1344" name="Google Shape;1344;p93"/>
          <p:cNvSpPr/>
          <p:nvPr/>
        </p:nvSpPr>
        <p:spPr>
          <a:xfrm>
            <a:off x="5541450" y="1620000"/>
            <a:ext cx="31944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3"/>
          <p:cNvSpPr txBox="1"/>
          <p:nvPr>
            <p:ph type="body" idx="1"/>
          </p:nvPr>
        </p:nvSpPr>
        <p:spPr>
          <a:xfrm>
            <a:off x="3455427" y="167157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£3.50</a:t>
            </a:r>
            <a:endParaRPr/>
          </a:p>
        </p:txBody>
      </p:sp>
      <p:sp>
        <p:nvSpPr>
          <p:cNvPr id="1346" name="Google Shape;1346;p93"/>
          <p:cNvSpPr txBox="1"/>
          <p:nvPr>
            <p:ph type="body" idx="1"/>
          </p:nvPr>
        </p:nvSpPr>
        <p:spPr>
          <a:xfrm>
            <a:off x="1296752" y="167157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£1.00</a:t>
            </a:r>
            <a:endParaRPr/>
          </a:p>
        </p:txBody>
      </p:sp>
      <p:sp>
        <p:nvSpPr>
          <p:cNvPr id="1347" name="Google Shape;1347;p93"/>
          <p:cNvSpPr txBox="1"/>
          <p:nvPr>
            <p:ph type="body" idx="1"/>
          </p:nvPr>
        </p:nvSpPr>
        <p:spPr>
          <a:xfrm>
            <a:off x="6671249" y="1671575"/>
            <a:ext cx="11604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(−£0.80)</a:t>
            </a:r>
            <a:endParaRPr/>
          </a:p>
        </p:txBody>
      </p:sp>
      <p:sp>
        <p:nvSpPr>
          <p:cNvPr id="1348" name="Google Shape;1348;p93"/>
          <p:cNvSpPr/>
          <p:nvPr/>
        </p:nvSpPr>
        <p:spPr>
          <a:xfrm>
            <a:off x="403050" y="2234250"/>
            <a:ext cx="45045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3"/>
          <p:cNvSpPr/>
          <p:nvPr/>
        </p:nvSpPr>
        <p:spPr>
          <a:xfrm>
            <a:off x="5546550" y="2234250"/>
            <a:ext cx="31944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3"/>
          <p:cNvSpPr txBox="1"/>
          <p:nvPr>
            <p:ph type="body" idx="1"/>
          </p:nvPr>
        </p:nvSpPr>
        <p:spPr>
          <a:xfrm>
            <a:off x="3460527" y="228582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£2.80</a:t>
            </a:r>
            <a:endParaRPr/>
          </a:p>
        </p:txBody>
      </p:sp>
      <p:sp>
        <p:nvSpPr>
          <p:cNvPr id="1351" name="Google Shape;1351;p93"/>
          <p:cNvSpPr txBox="1"/>
          <p:nvPr>
            <p:ph type="body" idx="1"/>
          </p:nvPr>
        </p:nvSpPr>
        <p:spPr>
          <a:xfrm>
            <a:off x="1301852" y="228582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£2.00</a:t>
            </a:r>
            <a:endParaRPr/>
          </a:p>
        </p:txBody>
      </p:sp>
      <p:sp>
        <p:nvSpPr>
          <p:cNvPr id="1352" name="Google Shape;1352;p93"/>
          <p:cNvSpPr txBox="1"/>
          <p:nvPr>
            <p:ph type="body" idx="1"/>
          </p:nvPr>
        </p:nvSpPr>
        <p:spPr>
          <a:xfrm>
            <a:off x="6678280" y="2285825"/>
            <a:ext cx="10677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(−£1.25)</a:t>
            </a:r>
            <a:endParaRPr/>
          </a:p>
        </p:txBody>
      </p:sp>
      <p:sp>
        <p:nvSpPr>
          <p:cNvPr id="1353" name="Google Shape;1353;p93"/>
          <p:cNvSpPr/>
          <p:nvPr/>
        </p:nvSpPr>
        <p:spPr>
          <a:xfrm>
            <a:off x="397950" y="2848500"/>
            <a:ext cx="45045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3"/>
          <p:cNvSpPr/>
          <p:nvPr/>
        </p:nvSpPr>
        <p:spPr>
          <a:xfrm>
            <a:off x="5541450" y="2848500"/>
            <a:ext cx="31944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3"/>
          <p:cNvSpPr txBox="1"/>
          <p:nvPr>
            <p:ph type="body" idx="1"/>
          </p:nvPr>
        </p:nvSpPr>
        <p:spPr>
          <a:xfrm>
            <a:off x="3455427" y="290007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£3.50</a:t>
            </a:r>
            <a:endParaRPr/>
          </a:p>
        </p:txBody>
      </p:sp>
      <p:sp>
        <p:nvSpPr>
          <p:cNvPr id="1356" name="Google Shape;1356;p93"/>
          <p:cNvSpPr txBox="1"/>
          <p:nvPr>
            <p:ph type="body" idx="1"/>
          </p:nvPr>
        </p:nvSpPr>
        <p:spPr>
          <a:xfrm>
            <a:off x="1296752" y="290007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£1.50</a:t>
            </a:r>
            <a:endParaRPr/>
          </a:p>
        </p:txBody>
      </p:sp>
      <p:sp>
        <p:nvSpPr>
          <p:cNvPr id="1357" name="Google Shape;1357;p93"/>
          <p:cNvSpPr txBox="1"/>
          <p:nvPr>
            <p:ph type="body" idx="1"/>
          </p:nvPr>
        </p:nvSpPr>
        <p:spPr>
          <a:xfrm>
            <a:off x="6671262" y="2900075"/>
            <a:ext cx="10677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(−£1.35)</a:t>
            </a:r>
            <a:endParaRPr/>
          </a:p>
        </p:txBody>
      </p:sp>
      <p:sp>
        <p:nvSpPr>
          <p:cNvPr id="1358" name="Google Shape;1358;p93"/>
          <p:cNvSpPr/>
          <p:nvPr/>
        </p:nvSpPr>
        <p:spPr>
          <a:xfrm>
            <a:off x="397950" y="3412125"/>
            <a:ext cx="45045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3"/>
          <p:cNvSpPr/>
          <p:nvPr/>
        </p:nvSpPr>
        <p:spPr>
          <a:xfrm>
            <a:off x="5541450" y="3412125"/>
            <a:ext cx="31944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93"/>
          <p:cNvSpPr txBox="1"/>
          <p:nvPr>
            <p:ph type="body" idx="1"/>
          </p:nvPr>
        </p:nvSpPr>
        <p:spPr>
          <a:xfrm>
            <a:off x="3455427" y="3463698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£3.75</a:t>
            </a:r>
            <a:endParaRPr/>
          </a:p>
        </p:txBody>
      </p:sp>
      <p:sp>
        <p:nvSpPr>
          <p:cNvPr id="1361" name="Google Shape;1361;p93"/>
          <p:cNvSpPr txBox="1"/>
          <p:nvPr>
            <p:ph type="body" idx="1"/>
          </p:nvPr>
        </p:nvSpPr>
        <p:spPr>
          <a:xfrm>
            <a:off x="1296752" y="3463698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£2.50</a:t>
            </a:r>
            <a:endParaRPr/>
          </a:p>
        </p:txBody>
      </p:sp>
      <p:sp>
        <p:nvSpPr>
          <p:cNvPr id="1362" name="Google Shape;1362;p93"/>
          <p:cNvSpPr txBox="1"/>
          <p:nvPr>
            <p:ph type="body" idx="1"/>
          </p:nvPr>
        </p:nvSpPr>
        <p:spPr>
          <a:xfrm>
            <a:off x="6671249" y="3463700"/>
            <a:ext cx="11604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(−£2.50)</a:t>
            </a:r>
            <a:endParaRPr/>
          </a:p>
        </p:txBody>
      </p:sp>
      <p:sp>
        <p:nvSpPr>
          <p:cNvPr id="1363" name="Google Shape;1363;p93"/>
          <p:cNvSpPr/>
          <p:nvPr/>
        </p:nvSpPr>
        <p:spPr>
          <a:xfrm>
            <a:off x="397950" y="3975750"/>
            <a:ext cx="45045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3"/>
          <p:cNvSpPr/>
          <p:nvPr/>
        </p:nvSpPr>
        <p:spPr>
          <a:xfrm>
            <a:off x="5541450" y="3975750"/>
            <a:ext cx="3194400" cy="43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3"/>
          <p:cNvSpPr txBox="1"/>
          <p:nvPr>
            <p:ph type="body" idx="1"/>
          </p:nvPr>
        </p:nvSpPr>
        <p:spPr>
          <a:xfrm>
            <a:off x="3455427" y="402732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£2.60</a:t>
            </a:r>
            <a:endParaRPr/>
          </a:p>
        </p:txBody>
      </p:sp>
      <p:sp>
        <p:nvSpPr>
          <p:cNvPr id="1366" name="Google Shape;1366;p93"/>
          <p:cNvSpPr txBox="1"/>
          <p:nvPr>
            <p:ph type="body" idx="1"/>
          </p:nvPr>
        </p:nvSpPr>
        <p:spPr>
          <a:xfrm>
            <a:off x="1296752" y="4027323"/>
            <a:ext cx="7761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£1.25</a:t>
            </a:r>
            <a:endParaRPr/>
          </a:p>
        </p:txBody>
      </p:sp>
      <p:sp>
        <p:nvSpPr>
          <p:cNvPr id="1367" name="Google Shape;1367;p93"/>
          <p:cNvSpPr txBox="1"/>
          <p:nvPr>
            <p:ph type="body" idx="1"/>
          </p:nvPr>
        </p:nvSpPr>
        <p:spPr>
          <a:xfrm>
            <a:off x="6671249" y="4027325"/>
            <a:ext cx="1160400" cy="34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(−£2.00)</a:t>
            </a:r>
            <a:endParaRPr/>
          </a:p>
        </p:txBody>
      </p:sp>
      <p:cxnSp>
        <p:nvCxnSpPr>
          <p:cNvPr id="1368" name="Google Shape;1368;p93"/>
          <p:cNvCxnSpPr/>
          <p:nvPr/>
        </p:nvCxnSpPr>
        <p:spPr>
          <a:xfrm>
            <a:off x="4907550" y="1803900"/>
            <a:ext cx="639000" cy="1792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9" name="Google Shape;1369;p93"/>
          <p:cNvCxnSpPr>
            <a:endCxn id="1344" idx="1"/>
          </p:cNvCxnSpPr>
          <p:nvPr/>
        </p:nvCxnSpPr>
        <p:spPr>
          <a:xfrm rot="10800000" flipH="1">
            <a:off x="4907550" y="1836750"/>
            <a:ext cx="633900" cy="587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0" name="Google Shape;1370;p93"/>
          <p:cNvCxnSpPr>
            <a:endCxn id="1364" idx="1"/>
          </p:cNvCxnSpPr>
          <p:nvPr/>
        </p:nvCxnSpPr>
        <p:spPr>
          <a:xfrm>
            <a:off x="4904850" y="3028200"/>
            <a:ext cx="636600" cy="11643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1" name="Google Shape;1371;p93"/>
          <p:cNvCxnSpPr>
            <a:stCxn id="1358" idx="3"/>
            <a:endCxn id="1349" idx="1"/>
          </p:cNvCxnSpPr>
          <p:nvPr/>
        </p:nvCxnSpPr>
        <p:spPr>
          <a:xfrm rot="10800000" flipH="1">
            <a:off x="4902450" y="2451075"/>
            <a:ext cx="644100" cy="11778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2" name="Google Shape;1372;p93"/>
          <p:cNvCxnSpPr>
            <a:stCxn id="1363" idx="3"/>
            <a:endCxn id="1354" idx="1"/>
          </p:cNvCxnSpPr>
          <p:nvPr/>
        </p:nvCxnSpPr>
        <p:spPr>
          <a:xfrm rot="10800000" flipH="1">
            <a:off x="4902450" y="3065100"/>
            <a:ext cx="639000" cy="1127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6" name="Shape 1376"/>
        <p:cNvGrpSpPr/>
        <p:nvPr/>
      </p:nvGrpSpPr>
      <p:grpSpPr>
        <a:xfrm>
          <a:off x="0" y="0"/>
          <a:ext cx="0" cy="0"/>
        </a:xfrm>
      </p:grpSpPr>
      <p:sp>
        <p:nvSpPr>
          <p:cNvPr id="1377" name="Google Shape;1377;p9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Work out the new balance for each student:</a:t>
            </a:r>
            <a:endParaRPr sz="1800"/>
          </a:p>
        </p:txBody>
      </p:sp>
      <p:sp>
        <p:nvSpPr>
          <p:cNvPr id="1378" name="Google Shape;1378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379" name="Google Shape;1379;p94"/>
          <p:cNvSpPr/>
          <p:nvPr/>
        </p:nvSpPr>
        <p:spPr>
          <a:xfrm>
            <a:off x="6914325" y="683100"/>
            <a:ext cx="1871100" cy="3717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94"/>
          <p:cNvSpPr txBox="1"/>
          <p:nvPr>
            <p:ph type="body" idx="4294967295"/>
          </p:nvPr>
        </p:nvSpPr>
        <p:spPr>
          <a:xfrm>
            <a:off x="6945642" y="1323200"/>
            <a:ext cx="1228200" cy="253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Apple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Melon pot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Meal deal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Sandwich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Ice lolly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Fruit juice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Water</a:t>
            </a:r>
            <a:endParaRPr sz="1800"/>
          </a:p>
        </p:txBody>
      </p:sp>
      <p:sp>
        <p:nvSpPr>
          <p:cNvPr id="1381" name="Google Shape;1381;p94"/>
          <p:cNvSpPr txBox="1"/>
          <p:nvPr>
            <p:ph type="body" idx="4294967295"/>
          </p:nvPr>
        </p:nvSpPr>
        <p:spPr>
          <a:xfrm>
            <a:off x="8185400" y="1323200"/>
            <a:ext cx="576600" cy="31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75p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£2.65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£1.85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80p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85p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95p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aphicFrame>
        <p:nvGraphicFramePr>
          <p:cNvPr id="1382" name="Google Shape;1382;p94"/>
          <p:cNvGraphicFramePr>
            <a:graphicFrameLocks noGrp="1"/>
          </p:cNvGraphicFramePr>
          <p:nvPr/>
        </p:nvGraphicFramePr>
        <p:xfrm>
          <a:off x="324000" y="1217725"/>
          <a:ext cx="6547025" cy="334264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939775"/>
                <a:gridCol w="4452150"/>
                <a:gridCol w="1155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 from the canteen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 deal and an ice lolly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pot,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sandwich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 a fruit juice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bottle of water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 apple, melon pot and a sandwich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a fruit juice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sandwich, ice lolly and bottle of water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383" name="Google Shape;1383;p94"/>
          <p:cNvSpPr txBox="1"/>
          <p:nvPr/>
        </p:nvSpPr>
        <p:spPr>
          <a:xfrm>
            <a:off x="6914325" y="683100"/>
            <a:ext cx="168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Canteen Price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7" name="Shape 1387"/>
        <p:cNvGrpSpPr/>
        <p:nvPr/>
      </p:nvGrpSpPr>
      <p:grpSpPr>
        <a:xfrm>
          <a:off x="0" y="0"/>
          <a:ext cx="0" cy="0"/>
        </a:xfrm>
      </p:grpSpPr>
      <p:sp>
        <p:nvSpPr>
          <p:cNvPr id="1388" name="Google Shape;1388;p9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  The table shows the average temperature in January in eight cities.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389" name="Google Shape;1389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graphicFrame>
        <p:nvGraphicFramePr>
          <p:cNvPr id="1390" name="Google Shape;1390;p95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391" name="Google Shape;1391;p95"/>
          <p:cNvSpPr txBox="1"/>
          <p:nvPr>
            <p:ph type="body" idx="1"/>
          </p:nvPr>
        </p:nvSpPr>
        <p:spPr>
          <a:xfrm>
            <a:off x="3479000" y="1315200"/>
            <a:ext cx="5340900" cy="3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Complete the following sentences: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Tromsø is </a:t>
            </a:r>
            <a:r>
              <a:rPr lang="en-GB" sz="1800" u="sng"/>
              <a:t>         </a:t>
            </a:r>
            <a:r>
              <a:rPr lang="en-GB" sz="1800"/>
              <a:t>℃ warmer than </a:t>
            </a:r>
            <a:r>
              <a:rPr lang="en-GB" sz="1800" u="sng"/>
              <a:t>    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 u="sng"/>
              <a:t> </a:t>
            </a:r>
            <a:r>
              <a:rPr lang="en-GB" sz="1800"/>
              <a:t>and </a:t>
            </a:r>
            <a:r>
              <a:rPr lang="en-GB" sz="1800" u="sng"/>
              <a:t>         </a:t>
            </a:r>
            <a:r>
              <a:rPr lang="en-GB" sz="1800"/>
              <a:t>℃ colder than </a:t>
            </a:r>
            <a:r>
              <a:rPr lang="en-GB" sz="1800" u="sng"/>
              <a:t>                      </a:t>
            </a:r>
            <a:r>
              <a:rPr lang="en-GB" sz="1800"/>
              <a:t>. </a:t>
            </a:r>
            <a:r>
              <a:rPr lang="en-GB" sz="1800" u="sng"/>
              <a:t>   </a:t>
            </a:r>
            <a:endParaRPr sz="1800" u="sng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New York is </a:t>
            </a:r>
            <a:r>
              <a:rPr lang="en-GB" sz="1800" u="sng"/>
              <a:t>         </a:t>
            </a:r>
            <a:r>
              <a:rPr lang="en-GB" sz="1800"/>
              <a:t>℃ warmer than </a:t>
            </a:r>
            <a:r>
              <a:rPr lang="en-GB" sz="1800" u="sng"/>
              <a:t>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 u="sng"/>
              <a:t> </a:t>
            </a:r>
            <a:r>
              <a:rPr lang="en-GB" sz="1800"/>
              <a:t> </a:t>
            </a:r>
            <a:r>
              <a:rPr lang="en-GB" sz="1800" u="sng"/>
              <a:t>                 </a:t>
            </a:r>
            <a:r>
              <a:rPr lang="en-GB" sz="1800"/>
              <a:t> and </a:t>
            </a:r>
            <a:r>
              <a:rPr lang="en-GB" sz="1800" u="sng"/>
              <a:t>         </a:t>
            </a:r>
            <a:r>
              <a:rPr lang="en-GB" sz="1800"/>
              <a:t>℃ colder than </a:t>
            </a:r>
            <a:r>
              <a:rPr lang="en-GB" sz="1800" u="sng"/>
              <a:t>                      </a:t>
            </a:r>
            <a:r>
              <a:rPr lang="en-GB" sz="1800"/>
              <a:t>. </a:t>
            </a: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Quebec is </a:t>
            </a:r>
            <a:r>
              <a:rPr lang="en-GB" sz="1800" u="sng"/>
              <a:t>         </a:t>
            </a:r>
            <a:r>
              <a:rPr lang="en-GB" sz="1800"/>
              <a:t>℃ warmer than </a:t>
            </a:r>
            <a:r>
              <a:rPr lang="en-GB" sz="1800" u="sng"/>
              <a:t>   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/>
              <a:t> </a:t>
            </a:r>
            <a:r>
              <a:rPr lang="en-GB" sz="1800" u="sng"/>
              <a:t>                 </a:t>
            </a:r>
            <a:r>
              <a:rPr lang="en-GB" sz="1800"/>
              <a:t> and </a:t>
            </a:r>
            <a:r>
              <a:rPr lang="en-GB" sz="1800" u="sng"/>
              <a:t>         </a:t>
            </a:r>
            <a:r>
              <a:rPr lang="en-GB" sz="1800"/>
              <a:t>℃ colder than </a:t>
            </a:r>
            <a:r>
              <a:rPr lang="en-GB" sz="1800" u="sng"/>
              <a:t>                      </a:t>
            </a:r>
            <a:r>
              <a:rPr lang="en-GB" sz="1800"/>
              <a:t>. </a:t>
            </a:r>
            <a:endParaRPr sz="1800" u="sng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London is </a:t>
            </a:r>
            <a:r>
              <a:rPr lang="en-GB" sz="1800" u="sng"/>
              <a:t>         </a:t>
            </a:r>
            <a:r>
              <a:rPr lang="en-GB" sz="1800"/>
              <a:t>℃ warmer than </a:t>
            </a:r>
            <a:r>
              <a:rPr lang="en-GB" sz="1800" u="sng"/>
              <a:t>   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/>
              <a:t> </a:t>
            </a:r>
            <a:r>
              <a:rPr lang="en-GB" sz="1800" u="sng"/>
              <a:t>                 </a:t>
            </a:r>
            <a:r>
              <a:rPr lang="en-GB" sz="1800"/>
              <a:t> and </a:t>
            </a:r>
            <a:r>
              <a:rPr lang="en-GB" sz="1800" u="sng"/>
              <a:t>         </a:t>
            </a:r>
            <a:r>
              <a:rPr lang="en-GB" sz="1800"/>
              <a:t>℃ colder than </a:t>
            </a:r>
            <a:r>
              <a:rPr lang="en-GB" sz="1800" u="sng"/>
              <a:t>                      </a:t>
            </a:r>
            <a:r>
              <a:rPr lang="en-GB" sz="1800"/>
              <a:t>. </a:t>
            </a:r>
            <a:r>
              <a:rPr lang="en-GB" sz="1800" u="sng"/>
              <a:t>              </a:t>
            </a:r>
            <a:r>
              <a:rPr lang="en-GB" sz="1800"/>
              <a:t> </a:t>
            </a:r>
            <a:r>
              <a:rPr lang="en-GB" sz="1800" u="sng"/>
              <a:t>       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5" name="Shape 1395"/>
        <p:cNvGrpSpPr/>
        <p:nvPr/>
      </p:nvGrpSpPr>
      <p:grpSpPr>
        <a:xfrm>
          <a:off x="0" y="0"/>
          <a:ext cx="0" cy="0"/>
        </a:xfrm>
      </p:grpSpPr>
      <p:sp>
        <p:nvSpPr>
          <p:cNvPr id="1396" name="Google Shape;1396;p96"/>
          <p:cNvSpPr txBox="1"/>
          <p:nvPr>
            <p:ph type="body" idx="1"/>
          </p:nvPr>
        </p:nvSpPr>
        <p:spPr>
          <a:xfrm>
            <a:off x="324000" y="759300"/>
            <a:ext cx="57237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Work out the new balance for each student:</a:t>
            </a:r>
            <a:endParaRPr sz="1800"/>
          </a:p>
        </p:txBody>
      </p:sp>
      <p:sp>
        <p:nvSpPr>
          <p:cNvPr id="1397" name="Google Shape;1397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sp>
        <p:nvSpPr>
          <p:cNvPr id="1398" name="Google Shape;1398;p96"/>
          <p:cNvSpPr/>
          <p:nvPr/>
        </p:nvSpPr>
        <p:spPr>
          <a:xfrm>
            <a:off x="6914325" y="683100"/>
            <a:ext cx="1871100" cy="3717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96"/>
          <p:cNvSpPr txBox="1"/>
          <p:nvPr>
            <p:ph type="body" idx="4294967295"/>
          </p:nvPr>
        </p:nvSpPr>
        <p:spPr>
          <a:xfrm>
            <a:off x="6945642" y="1323200"/>
            <a:ext cx="1228200" cy="253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Apple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Melon pot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Meal deal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Sandwich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Ice lolly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Fruit juice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Water</a:t>
            </a:r>
            <a:endParaRPr sz="1800"/>
          </a:p>
        </p:txBody>
      </p:sp>
      <p:sp>
        <p:nvSpPr>
          <p:cNvPr id="1400" name="Google Shape;1400;p96"/>
          <p:cNvSpPr txBox="1"/>
          <p:nvPr>
            <p:ph type="body" idx="4294967295"/>
          </p:nvPr>
        </p:nvSpPr>
        <p:spPr>
          <a:xfrm>
            <a:off x="8185400" y="1323200"/>
            <a:ext cx="576600" cy="31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45p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75p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£2.65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£1.85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80p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85p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95p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aphicFrame>
        <p:nvGraphicFramePr>
          <p:cNvPr id="1401" name="Google Shape;1401;p96"/>
          <p:cNvGraphicFramePr>
            <a:graphicFrameLocks noGrp="1"/>
          </p:cNvGraphicFramePr>
          <p:nvPr/>
        </p:nvGraphicFramePr>
        <p:xfrm>
          <a:off x="324000" y="1217725"/>
          <a:ext cx="6547025" cy="334264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939775"/>
                <a:gridCol w="4452150"/>
                <a:gridCol w="1155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 from the canteen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 deal and an ice lolly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(−£1.45)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pot,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sandwich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 a fruit juice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(−£1.95)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bottle of water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(−£0.35)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 apple, melon pot and a sandwich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(−£0.25)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(−£0.15)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a fruit juice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(−£2.25)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sandwich, ice lolly and bottle of water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(−£3.35)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402" name="Google Shape;1402;p96"/>
          <p:cNvSpPr txBox="1"/>
          <p:nvPr/>
        </p:nvSpPr>
        <p:spPr>
          <a:xfrm>
            <a:off x="6914325" y="683100"/>
            <a:ext cx="168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Canteen Price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sp>
        <p:nvSpPr>
          <p:cNvPr id="1407" name="Google Shape;1407;p97"/>
          <p:cNvSpPr txBox="1"/>
          <p:nvPr>
            <p:ph type="body" idx="1"/>
          </p:nvPr>
        </p:nvSpPr>
        <p:spPr>
          <a:xfrm>
            <a:off x="324000" y="759300"/>
            <a:ext cx="82377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  The table shows the average temperature in January in eight cities.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408" name="Google Shape;1408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negative numbers in a context</a:t>
            </a:r>
            <a:endParaRPr/>
          </a:p>
        </p:txBody>
      </p:sp>
      <p:graphicFrame>
        <p:nvGraphicFramePr>
          <p:cNvPr id="1409" name="Google Shape;1409;p97"/>
          <p:cNvGraphicFramePr>
            <a:graphicFrameLocks noGrp="1"/>
          </p:cNvGraphicFramePr>
          <p:nvPr/>
        </p:nvGraphicFramePr>
        <p:xfrm>
          <a:off x="559075" y="1086600"/>
          <a:ext cx="2741325" cy="3657360"/>
        </p:xfrm>
        <a:graphic>
          <a:graphicData uri="http://schemas.openxmlformats.org/drawingml/2006/table">
            <a:tbl>
              <a:tblPr>
                <a:noFill/>
                <a:tableStyleId>{FABDFAA5-A200-4801-BF23-FF04C0B6870B}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410" name="Google Shape;1410;p97"/>
          <p:cNvSpPr txBox="1"/>
          <p:nvPr>
            <p:ph type="body" idx="1"/>
          </p:nvPr>
        </p:nvSpPr>
        <p:spPr>
          <a:xfrm>
            <a:off x="3479000" y="1315200"/>
            <a:ext cx="5340900" cy="3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Complete the following sentences: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Tromsø is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</a:t>
            </a:r>
            <a:r>
              <a:rPr lang="en-GB" sz="1800"/>
              <a:t>℃ warmer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Moscow</a:t>
            </a:r>
            <a:r>
              <a:rPr lang="en-GB" sz="1800"/>
              <a:t> and </a:t>
            </a:r>
            <a:r>
              <a:rPr lang="en-GB" sz="1800" u="sng"/>
              <a:t>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800"/>
              <a:t>℃ colder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London</a:t>
            </a:r>
            <a:r>
              <a:rPr lang="en-GB" sz="1800"/>
              <a:t>.</a:t>
            </a:r>
            <a:endParaRPr sz="1800" u="sng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New York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800"/>
              <a:t>℃ warmer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Quebec </a:t>
            </a:r>
            <a:r>
              <a:rPr lang="en-GB" sz="1800"/>
              <a:t>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/>
              <a:t>℃ colder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London</a:t>
            </a:r>
            <a:r>
              <a:rPr lang="en-GB" sz="1800"/>
              <a:t>.</a:t>
            </a:r>
            <a:endParaRPr sz="1800" u="sng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Quebec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/>
              <a:t>℃ warmer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Moscow </a:t>
            </a:r>
            <a:r>
              <a:rPr lang="en-GB" sz="1800"/>
              <a:t>and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29</a:t>
            </a:r>
            <a:r>
              <a:rPr lang="en-GB" sz="1800"/>
              <a:t>℃ colder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Jaipur</a:t>
            </a:r>
            <a:r>
              <a:rPr lang="en-GB" sz="1800"/>
              <a:t>.</a:t>
            </a:r>
            <a:endParaRPr sz="1800" u="sng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London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/>
              <a:t>℃ warmer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New York </a:t>
            </a:r>
            <a:r>
              <a:rPr lang="en-GB" sz="1800"/>
              <a:t>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800"/>
              <a:t>℃ colder than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Alice Springs</a:t>
            </a:r>
            <a:r>
              <a:rPr lang="en-GB" sz="1800"/>
              <a:t>.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4" name="Shape 1414"/>
        <p:cNvGrpSpPr/>
        <p:nvPr/>
      </p:nvGrpSpPr>
      <p:grpSpPr>
        <a:xfrm>
          <a:off x="0" y="0"/>
          <a:ext cx="0" cy="0"/>
        </a:xfrm>
      </p:grpSpPr>
      <p:sp>
        <p:nvSpPr>
          <p:cNvPr id="1415" name="Google Shape;1415;p9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Negative numbers are present in everyday life.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Negative numbers exist as they represent values below zero.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 context can help when dealing with negative numbers.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E.g. Which is a colder temperature?  Rather than which is smaller.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416" name="Google Shape;1416;p9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0" name="Shape 1420"/>
        <p:cNvGrpSpPr/>
        <p:nvPr/>
      </p:nvGrpSpPr>
      <p:grpSpPr>
        <a:xfrm>
          <a:off x="0" y="0"/>
          <a:ext cx="0" cy="0"/>
        </a:xfrm>
      </p:grpSpPr>
      <p:sp>
        <p:nvSpPr>
          <p:cNvPr id="1421" name="Google Shape;1421;p99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2" name="Google Shape;142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427</Paragraphs>
  <Slides>36</Slides>
  <Notes>36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baseType="lpstr" size="44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Checking and securing understanding of negative numbers in context</vt:lpstr>
      <vt:lpstr>PowerPoint Presentation</vt:lpstr>
      <vt:lpstr>PowerPoint Presentation</vt:lpstr>
      <vt:lpstr>PowerPoint Presentation</vt:lpstr>
      <vt:lpstr>PowerPoint Presentation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Reviewing negative numbers in a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Reviewing negative numbers in a context</vt:lpstr>
      <vt:lpstr>Using negative numbers in a context</vt:lpstr>
      <vt:lpstr>Using negative numbers in a context</vt:lpstr>
      <vt:lpstr>Using negative numbers in a context</vt:lpstr>
      <vt:lpstr>Using negative numbers in a context</vt:lpstr>
      <vt:lpstr>PowerPoint Presentation</vt:lpstr>
      <vt:lpstr>PowerPoint Presentation</vt:lpstr>
      <vt:lpstr>PowerPoint Presentation</vt:lpstr>
      <vt:lpstr>PowerPoint Presentation</vt:lpstr>
      <vt:lpstr>Checking and securing understanding of negative numbers in context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2026-03-12T15:40:36.786</cp:lastPrinted>
  <dcterms:created xsi:type="dcterms:W3CDTF">2026-03-12T15:40:36Z</dcterms:created>
  <dcterms:modified xsi:type="dcterms:W3CDTF">2026-03-12T15:40:54Z</dcterms:modified>
</cp:coreProperties>
</file>