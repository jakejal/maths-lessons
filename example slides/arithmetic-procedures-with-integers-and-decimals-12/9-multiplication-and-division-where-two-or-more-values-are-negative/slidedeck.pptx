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341C52-8A77-4DA7-9DBB-0F87BAC7D4AF}">
  <a:tblStyle styleId="{D6341C52-8A77-4DA7-9DBB-0F87BAC7D4A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907cd3f4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07cd3f4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907cd3f40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907cd3f40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2907cd3f40c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07cd3f40c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907cd3f40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907cd3f40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5d0118103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25d0118103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907cd3f40c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907cd3f40c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g25d0118103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3" name="Google Shape;983;g25d0118103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g2907cd3f40c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1" name="Google Shape;1061;g2907cd3f40c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5d01181034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5d01181034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2907cd3f40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2907cd3f40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2907cd3f40c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0" name="Google Shape;1210;g2907cd3f40c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9250395f2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9250395f2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9250395f26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9250395f2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9250395f26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9250395f26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907cd3f40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907cd3f40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2907cd3f40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2907cd3f40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907cd3f40c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907cd3f40c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2907cd3f40c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2907cd3f40c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2907cd3f40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2907cd3f40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2907cd3f40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2907cd3f40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290a926a3c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90a926a3c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2907cd3f40c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2907cd3f40c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6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7" name="Google Shape;1677;g2907cd3f40c_0_1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907cd3f40c_0_1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2907cd3f40c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2907cd3f40c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8" name="Shape 1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9" name="Google Shape;1749;g2907cd3f40c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0" name="Google Shape;1750;g2907cd3f40c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2907cd3f40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2907cd3f40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g29115fe432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0" name="Google Shape;1780;g29115fe432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Google Shape;1788;g2907cd3f40c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9" name="Google Shape;1789;g2907cd3f40c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2907cd3f40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2907cd3f40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g2907cd3f40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7" name="Google Shape;1807;g2907cd3f40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g2907cd3f40c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9" name="Google Shape;1829;g2907cd3f40c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8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9" name="Google Shape;1869;g2907cd3f40c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0" name="Google Shape;1870;g2907cd3f40c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g2907cd3f40c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0" name="Google Shape;1880;g2907cd3f40c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2907cd3f40c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2907cd3f40c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g290af41363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6" name="Google Shape;1906;g290af41363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g2907cd3f40c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4" name="Google Shape;1914;g2907cd3f40c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2" name="Shape 1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3" name="Google Shape;1933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4" name="Google Shape;1934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0" name="Shape 1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1" name="Google Shape;194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2" name="Google Shape;194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0.png"/><Relationship Id="rId4" Type="http://schemas.openxmlformats.org/officeDocument/2006/relationships/image" Target="../media/image58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58.png"/><Relationship Id="rId4" Type="http://schemas.openxmlformats.org/officeDocument/2006/relationships/image" Target="../media/image18.png"/><Relationship Id="rId9" Type="http://schemas.openxmlformats.org/officeDocument/2006/relationships/image" Target="../media/image25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58.png"/><Relationship Id="rId4" Type="http://schemas.openxmlformats.org/officeDocument/2006/relationships/image" Target="../media/image33.png"/><Relationship Id="rId11" Type="http://schemas.openxmlformats.org/officeDocument/2006/relationships/image" Target="../media/image25.png"/><Relationship Id="rId10" Type="http://schemas.openxmlformats.org/officeDocument/2006/relationships/image" Target="../media/image39.png"/><Relationship Id="rId9" Type="http://schemas.openxmlformats.org/officeDocument/2006/relationships/image" Target="../media/image27.png"/><Relationship Id="rId5" Type="http://schemas.openxmlformats.org/officeDocument/2006/relationships/image" Target="../media/image18.png"/><Relationship Id="rId6" Type="http://schemas.openxmlformats.org/officeDocument/2006/relationships/image" Target="../media/image20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8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1.png"/><Relationship Id="rId4" Type="http://schemas.openxmlformats.org/officeDocument/2006/relationships/image" Target="../media/image48.png"/><Relationship Id="rId5" Type="http://schemas.openxmlformats.org/officeDocument/2006/relationships/image" Target="../media/image5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Arithmetic procedures with integers and decimals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multiplication and division of negative integers.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>
                <a:highlight>
                  <a:schemeClr val="lt1"/>
                </a:highlight>
              </a:rPr>
              <a:t>A product is the result of two or more numbers multiplied together. </a:t>
            </a:r>
            <a:endParaRPr b="0">
              <a:highlight>
                <a:schemeClr val="lt1"/>
              </a:highlight>
            </a:endParaRPr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01" y="993650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The absolute value of a number is its distance from zero. E.g. 5 and (-5) are both 5 away from zero and so both have an absolute value of 5.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773" name="Google Shape;773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Dividi</a:t>
            </a:r>
            <a:r>
              <a:rPr lang="en-GB"/>
              <a:t>ng when two values are negative</a:t>
            </a:r>
            <a:endParaRPr/>
          </a:p>
        </p:txBody>
      </p:sp>
      <p:sp>
        <p:nvSpPr>
          <p:cNvPr id="774" name="Google Shape;774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sp>
        <p:nvSpPr>
          <p:cNvPr id="775" name="Google Shape;775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0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/>
          <p:nvPr/>
        </p:nvSpPr>
        <p:spPr>
          <a:xfrm>
            <a:off x="6844428" y="739800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2" name="Google Shape;782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1086000" y="2435700"/>
            <a:ext cx="67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× 5</a:t>
            </a:r>
            <a:endParaRPr/>
          </a:p>
        </p:txBody>
      </p:sp>
      <p:sp>
        <p:nvSpPr>
          <p:cNvPr id="784" name="Google Shape;784;p69"/>
          <p:cNvSpPr/>
          <p:nvPr/>
        </p:nvSpPr>
        <p:spPr>
          <a:xfrm>
            <a:off x="3959100" y="815975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/>
          <p:nvPr/>
        </p:nvSpPr>
        <p:spPr>
          <a:xfrm>
            <a:off x="3954000" y="1518091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/>
          <p:nvPr/>
        </p:nvSpPr>
        <p:spPr>
          <a:xfrm>
            <a:off x="3959100" y="2220207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87" name="Google Shape;787;p69"/>
          <p:cNvGrpSpPr/>
          <p:nvPr/>
        </p:nvGrpSpPr>
        <p:grpSpPr>
          <a:xfrm>
            <a:off x="4015359" y="949775"/>
            <a:ext cx="1997035" cy="331500"/>
            <a:chOff x="2948559" y="949775"/>
            <a:chExt cx="1997035" cy="331500"/>
          </a:xfrm>
        </p:grpSpPr>
        <p:sp>
          <p:nvSpPr>
            <p:cNvPr id="788" name="Google Shape;788;p69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0" name="Google Shape;790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2" name="Google Shape;792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3" name="Google Shape;793;p69"/>
          <p:cNvGrpSpPr/>
          <p:nvPr/>
        </p:nvGrpSpPr>
        <p:grpSpPr>
          <a:xfrm>
            <a:off x="4024234" y="1651888"/>
            <a:ext cx="1997035" cy="331500"/>
            <a:chOff x="2948559" y="949775"/>
            <a:chExt cx="1997035" cy="331500"/>
          </a:xfrm>
        </p:grpSpPr>
        <p:sp>
          <p:nvSpPr>
            <p:cNvPr id="794" name="Google Shape;794;p69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9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6" name="Google Shape;796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7" name="Google Shape;797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9" name="Google Shape;799;p69"/>
          <p:cNvGrpSpPr/>
          <p:nvPr/>
        </p:nvGrpSpPr>
        <p:grpSpPr>
          <a:xfrm>
            <a:off x="4024234" y="2354013"/>
            <a:ext cx="1997035" cy="331500"/>
            <a:chOff x="2948559" y="949775"/>
            <a:chExt cx="1997035" cy="331500"/>
          </a:xfrm>
        </p:grpSpPr>
        <p:sp>
          <p:nvSpPr>
            <p:cNvPr id="800" name="Google Shape;800;p69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1" name="Google Shape;801;p69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2" name="Google Shape;802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3" name="Google Shape;803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4" name="Google Shape;804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5" name="Google Shape;805;p69"/>
          <p:cNvGrpSpPr/>
          <p:nvPr/>
        </p:nvGrpSpPr>
        <p:grpSpPr>
          <a:xfrm>
            <a:off x="6940484" y="873600"/>
            <a:ext cx="1154935" cy="331500"/>
            <a:chOff x="3790659" y="949775"/>
            <a:chExt cx="1154935" cy="331500"/>
          </a:xfrm>
        </p:grpSpPr>
        <p:sp>
          <p:nvSpPr>
            <p:cNvPr id="806" name="Google Shape;806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7" name="Google Shape;807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9" name="Google Shape;809;p69"/>
          <p:cNvSpPr/>
          <p:nvPr/>
        </p:nvSpPr>
        <p:spPr>
          <a:xfrm>
            <a:off x="6841200" y="1441913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0" name="Google Shape;810;p69"/>
          <p:cNvSpPr/>
          <p:nvPr/>
        </p:nvSpPr>
        <p:spPr>
          <a:xfrm>
            <a:off x="6844428" y="2144026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/>
          <p:nvPr/>
        </p:nvSpPr>
        <p:spPr>
          <a:xfrm>
            <a:off x="6852389" y="2846112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9"/>
          <p:cNvSpPr/>
          <p:nvPr/>
        </p:nvSpPr>
        <p:spPr>
          <a:xfrm>
            <a:off x="6855616" y="3548225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3" name="Google Shape;813;p69"/>
          <p:cNvGrpSpPr/>
          <p:nvPr/>
        </p:nvGrpSpPr>
        <p:grpSpPr>
          <a:xfrm>
            <a:off x="6948134" y="1575713"/>
            <a:ext cx="1154935" cy="331500"/>
            <a:chOff x="3790659" y="949775"/>
            <a:chExt cx="1154935" cy="331500"/>
          </a:xfrm>
        </p:grpSpPr>
        <p:sp>
          <p:nvSpPr>
            <p:cNvPr id="814" name="Google Shape;814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6" name="Google Shape;816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7" name="Google Shape;817;p69"/>
          <p:cNvGrpSpPr/>
          <p:nvPr/>
        </p:nvGrpSpPr>
        <p:grpSpPr>
          <a:xfrm>
            <a:off x="6940159" y="2277800"/>
            <a:ext cx="1154935" cy="331500"/>
            <a:chOff x="3790659" y="949775"/>
            <a:chExt cx="1154935" cy="331500"/>
          </a:xfrm>
        </p:grpSpPr>
        <p:sp>
          <p:nvSpPr>
            <p:cNvPr id="818" name="Google Shape;818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9" name="Google Shape;819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0" name="Google Shape;820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1" name="Google Shape;821;p69"/>
          <p:cNvGrpSpPr/>
          <p:nvPr/>
        </p:nvGrpSpPr>
        <p:grpSpPr>
          <a:xfrm>
            <a:off x="6936934" y="2979925"/>
            <a:ext cx="1154935" cy="331500"/>
            <a:chOff x="3790659" y="949775"/>
            <a:chExt cx="1154935" cy="331500"/>
          </a:xfrm>
        </p:grpSpPr>
        <p:sp>
          <p:nvSpPr>
            <p:cNvPr id="822" name="Google Shape;822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3" name="Google Shape;823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4" name="Google Shape;824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5" name="Google Shape;825;p69"/>
          <p:cNvGrpSpPr/>
          <p:nvPr/>
        </p:nvGrpSpPr>
        <p:grpSpPr>
          <a:xfrm>
            <a:off x="6951359" y="3682000"/>
            <a:ext cx="1154935" cy="331500"/>
            <a:chOff x="3790659" y="949775"/>
            <a:chExt cx="1154935" cy="331500"/>
          </a:xfrm>
        </p:grpSpPr>
        <p:sp>
          <p:nvSpPr>
            <p:cNvPr id="826" name="Google Shape;826;p6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7" name="Google Shape;827;p6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28" name="Google Shape;828;p69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9" name="Google Shape;829;p69"/>
          <p:cNvSpPr txBox="1"/>
          <p:nvPr>
            <p:ph idx="1" type="body"/>
          </p:nvPr>
        </p:nvSpPr>
        <p:spPr>
          <a:xfrm>
            <a:off x="1808400" y="2435700"/>
            <a:ext cx="63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15</a:t>
            </a:r>
            <a:endParaRPr/>
          </a:p>
        </p:txBody>
      </p:sp>
      <p:sp>
        <p:nvSpPr>
          <p:cNvPr id="830" name="Google Shape;830;p69"/>
          <p:cNvSpPr txBox="1"/>
          <p:nvPr>
            <p:ph idx="1" type="body"/>
          </p:nvPr>
        </p:nvSpPr>
        <p:spPr>
          <a:xfrm>
            <a:off x="1086000" y="3195000"/>
            <a:ext cx="67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lang="en-GB"/>
              <a:t> × 3</a:t>
            </a:r>
            <a:endParaRPr/>
          </a:p>
        </p:txBody>
      </p:sp>
      <p:sp>
        <p:nvSpPr>
          <p:cNvPr id="831" name="Google Shape;831;p69"/>
          <p:cNvSpPr txBox="1"/>
          <p:nvPr>
            <p:ph idx="1" type="body"/>
          </p:nvPr>
        </p:nvSpPr>
        <p:spPr>
          <a:xfrm>
            <a:off x="1808400" y="3195000"/>
            <a:ext cx="63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15</a:t>
            </a:r>
            <a:endParaRPr/>
          </a:p>
        </p:txBody>
      </p:sp>
      <p:sp>
        <p:nvSpPr>
          <p:cNvPr id="832" name="Google Shape;832;p69"/>
          <p:cNvSpPr txBox="1"/>
          <p:nvPr>
            <p:ph idx="1" type="body"/>
          </p:nvPr>
        </p:nvSpPr>
        <p:spPr>
          <a:xfrm>
            <a:off x="1103850" y="2815350"/>
            <a:ext cx="63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</a:t>
            </a:r>
            <a:endParaRPr/>
          </a:p>
        </p:txBody>
      </p:sp>
      <p:sp>
        <p:nvSpPr>
          <p:cNvPr id="833" name="Google Shape;833;p69"/>
          <p:cNvSpPr txBox="1"/>
          <p:nvPr/>
        </p:nvSpPr>
        <p:spPr>
          <a:xfrm>
            <a:off x="324375" y="810900"/>
            <a:ext cx="3405900" cy="8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Let’s review multiplication using two-colour counters.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Multiplying two positive integers looks like this: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4284000" y="2846324"/>
            <a:ext cx="1784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 groups of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positive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6749896" y="4069069"/>
            <a:ext cx="18534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 groups of positive 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841" name="Google Shape;841;p70"/>
          <p:cNvSpPr txBox="1"/>
          <p:nvPr>
            <p:ph idx="1" type="body"/>
          </p:nvPr>
        </p:nvSpPr>
        <p:spPr>
          <a:xfrm>
            <a:off x="324000" y="8100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× (−5)</a:t>
            </a:r>
            <a:endParaRPr/>
          </a:p>
        </p:txBody>
      </p:sp>
      <p:sp>
        <p:nvSpPr>
          <p:cNvPr id="842" name="Google Shape;842;p70"/>
          <p:cNvSpPr/>
          <p:nvPr/>
        </p:nvSpPr>
        <p:spPr>
          <a:xfrm>
            <a:off x="377700" y="1531637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0"/>
          <p:cNvSpPr/>
          <p:nvPr/>
        </p:nvSpPr>
        <p:spPr>
          <a:xfrm>
            <a:off x="372600" y="2233753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0"/>
          <p:cNvSpPr/>
          <p:nvPr/>
        </p:nvSpPr>
        <p:spPr>
          <a:xfrm>
            <a:off x="377700" y="2935870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5" name="Google Shape;845;p70"/>
          <p:cNvGrpSpPr/>
          <p:nvPr/>
        </p:nvGrpSpPr>
        <p:grpSpPr>
          <a:xfrm>
            <a:off x="414125" y="1665426"/>
            <a:ext cx="2040800" cy="331500"/>
            <a:chOff x="2928725" y="949764"/>
            <a:chExt cx="2040800" cy="331500"/>
          </a:xfrm>
        </p:grpSpPr>
        <p:sp>
          <p:nvSpPr>
            <p:cNvPr id="846" name="Google Shape;846;p7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7" name="Google Shape;847;p7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8" name="Google Shape;848;p70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49" name="Google Shape;849;p70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0" name="Google Shape;850;p70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1" name="Google Shape;851;p70"/>
          <p:cNvGrpSpPr/>
          <p:nvPr/>
        </p:nvGrpSpPr>
        <p:grpSpPr>
          <a:xfrm>
            <a:off x="420950" y="2367538"/>
            <a:ext cx="2040800" cy="331500"/>
            <a:chOff x="2928725" y="949764"/>
            <a:chExt cx="2040800" cy="331500"/>
          </a:xfrm>
        </p:grpSpPr>
        <p:sp>
          <p:nvSpPr>
            <p:cNvPr id="852" name="Google Shape;852;p7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3" name="Google Shape;853;p7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4" name="Google Shape;854;p70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5" name="Google Shape;855;p70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6" name="Google Shape;856;p70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7" name="Google Shape;857;p70"/>
          <p:cNvGrpSpPr/>
          <p:nvPr/>
        </p:nvGrpSpPr>
        <p:grpSpPr>
          <a:xfrm>
            <a:off x="420950" y="3069676"/>
            <a:ext cx="2040800" cy="331500"/>
            <a:chOff x="2928725" y="949764"/>
            <a:chExt cx="2040800" cy="331500"/>
          </a:xfrm>
        </p:grpSpPr>
        <p:sp>
          <p:nvSpPr>
            <p:cNvPr id="858" name="Google Shape;858;p7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59" name="Google Shape;859;p7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0" name="Google Shape;860;p70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1" name="Google Shape;861;p70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62" name="Google Shape;862;p70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3" name="Google Shape;863;p70"/>
          <p:cNvSpPr txBox="1"/>
          <p:nvPr>
            <p:ph idx="1" type="body"/>
          </p:nvPr>
        </p:nvSpPr>
        <p:spPr>
          <a:xfrm>
            <a:off x="1351200" y="810000"/>
            <a:ext cx="118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(−15)</a:t>
            </a:r>
            <a:endParaRPr/>
          </a:p>
        </p:txBody>
      </p:sp>
      <p:sp>
        <p:nvSpPr>
          <p:cNvPr id="864" name="Google Shape;864;p70"/>
          <p:cNvSpPr txBox="1"/>
          <p:nvPr>
            <p:ph idx="1" type="body"/>
          </p:nvPr>
        </p:nvSpPr>
        <p:spPr>
          <a:xfrm>
            <a:off x="3483600" y="8100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(−5) </a:t>
            </a:r>
            <a:r>
              <a:rPr lang="en-GB"/>
              <a:t>× 3 </a:t>
            </a:r>
            <a:endParaRPr/>
          </a:p>
        </p:txBody>
      </p:sp>
      <p:sp>
        <p:nvSpPr>
          <p:cNvPr id="865" name="Google Shape;865;p70"/>
          <p:cNvSpPr txBox="1"/>
          <p:nvPr/>
        </p:nvSpPr>
        <p:spPr>
          <a:xfrm>
            <a:off x="2741650" y="1413300"/>
            <a:ext cx="38997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know that this will have the same product.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does it look with the two-colour counters?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6" name="Google Shape;866;p70"/>
          <p:cNvSpPr txBox="1"/>
          <p:nvPr/>
        </p:nvSpPr>
        <p:spPr>
          <a:xfrm>
            <a:off x="670825" y="3688124"/>
            <a:ext cx="17841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 groups of negative 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872" name="Google Shape;872;p71"/>
          <p:cNvSpPr txBox="1"/>
          <p:nvPr>
            <p:ph idx="1" type="body"/>
          </p:nvPr>
        </p:nvSpPr>
        <p:spPr>
          <a:xfrm>
            <a:off x="324000" y="8100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 × (−5)</a:t>
            </a:r>
            <a:endParaRPr/>
          </a:p>
        </p:txBody>
      </p:sp>
      <p:sp>
        <p:nvSpPr>
          <p:cNvPr id="873" name="Google Shape;873;p71"/>
          <p:cNvSpPr/>
          <p:nvPr/>
        </p:nvSpPr>
        <p:spPr>
          <a:xfrm>
            <a:off x="377700" y="1531637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4" name="Google Shape;874;p71"/>
          <p:cNvSpPr/>
          <p:nvPr/>
        </p:nvSpPr>
        <p:spPr>
          <a:xfrm>
            <a:off x="372600" y="2233753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1"/>
          <p:cNvSpPr/>
          <p:nvPr/>
        </p:nvSpPr>
        <p:spPr>
          <a:xfrm>
            <a:off x="377700" y="2935870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1"/>
          <p:cNvSpPr/>
          <p:nvPr/>
        </p:nvSpPr>
        <p:spPr>
          <a:xfrm>
            <a:off x="7301628" y="816000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7" name="Google Shape;877;p71"/>
          <p:cNvSpPr/>
          <p:nvPr/>
        </p:nvSpPr>
        <p:spPr>
          <a:xfrm>
            <a:off x="7298400" y="1518113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8" name="Google Shape;878;p71"/>
          <p:cNvSpPr/>
          <p:nvPr/>
        </p:nvSpPr>
        <p:spPr>
          <a:xfrm>
            <a:off x="7301628" y="2220226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1"/>
          <p:cNvSpPr/>
          <p:nvPr/>
        </p:nvSpPr>
        <p:spPr>
          <a:xfrm>
            <a:off x="7309589" y="2922312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0" name="Google Shape;880;p71"/>
          <p:cNvSpPr/>
          <p:nvPr/>
        </p:nvSpPr>
        <p:spPr>
          <a:xfrm>
            <a:off x="7312816" y="3624425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1" name="Google Shape;881;p71"/>
          <p:cNvGrpSpPr/>
          <p:nvPr/>
        </p:nvGrpSpPr>
        <p:grpSpPr>
          <a:xfrm>
            <a:off x="414125" y="1665426"/>
            <a:ext cx="2040800" cy="331500"/>
            <a:chOff x="2928725" y="949764"/>
            <a:chExt cx="2040800" cy="331500"/>
          </a:xfrm>
        </p:grpSpPr>
        <p:sp>
          <p:nvSpPr>
            <p:cNvPr id="882" name="Google Shape;882;p71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3" name="Google Shape;883;p71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4" name="Google Shape;884;p71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5" name="Google Shape;885;p71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6" name="Google Shape;886;p71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7" name="Google Shape;887;p71"/>
          <p:cNvGrpSpPr/>
          <p:nvPr/>
        </p:nvGrpSpPr>
        <p:grpSpPr>
          <a:xfrm>
            <a:off x="420950" y="2367538"/>
            <a:ext cx="2040800" cy="331500"/>
            <a:chOff x="2928725" y="949764"/>
            <a:chExt cx="2040800" cy="331500"/>
          </a:xfrm>
        </p:grpSpPr>
        <p:sp>
          <p:nvSpPr>
            <p:cNvPr id="888" name="Google Shape;888;p71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89" name="Google Shape;889;p71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0" name="Google Shape;890;p71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1" name="Google Shape;891;p71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2" name="Google Shape;892;p71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3" name="Google Shape;893;p71"/>
          <p:cNvGrpSpPr/>
          <p:nvPr/>
        </p:nvGrpSpPr>
        <p:grpSpPr>
          <a:xfrm>
            <a:off x="420950" y="3069676"/>
            <a:ext cx="2040800" cy="331500"/>
            <a:chOff x="2928725" y="949764"/>
            <a:chExt cx="2040800" cy="331500"/>
          </a:xfrm>
        </p:grpSpPr>
        <p:sp>
          <p:nvSpPr>
            <p:cNvPr id="894" name="Google Shape;894;p71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5" name="Google Shape;895;p71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6" name="Google Shape;896;p71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7" name="Google Shape;897;p71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8" name="Google Shape;898;p71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99" name="Google Shape;899;p71"/>
          <p:cNvGrpSpPr/>
          <p:nvPr/>
        </p:nvGrpSpPr>
        <p:grpSpPr>
          <a:xfrm>
            <a:off x="7380108" y="951103"/>
            <a:ext cx="1212800" cy="3161725"/>
            <a:chOff x="7380108" y="951103"/>
            <a:chExt cx="1212800" cy="3161725"/>
          </a:xfrm>
        </p:grpSpPr>
        <p:grpSp>
          <p:nvGrpSpPr>
            <p:cNvPr id="900" name="Google Shape;900;p71"/>
            <p:cNvGrpSpPr/>
            <p:nvPr/>
          </p:nvGrpSpPr>
          <p:grpSpPr>
            <a:xfrm>
              <a:off x="7380108" y="951103"/>
              <a:ext cx="1186150" cy="331500"/>
              <a:chOff x="2928725" y="949764"/>
              <a:chExt cx="1186150" cy="331500"/>
            </a:xfrm>
          </p:grpSpPr>
          <p:sp>
            <p:nvSpPr>
              <p:cNvPr id="901" name="Google Shape;901;p71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2" name="Google Shape;902;p71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3" name="Google Shape;903;p71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04" name="Google Shape;904;p71"/>
            <p:cNvGrpSpPr/>
            <p:nvPr/>
          </p:nvGrpSpPr>
          <p:grpSpPr>
            <a:xfrm>
              <a:off x="7380108" y="1653241"/>
              <a:ext cx="1186150" cy="331500"/>
              <a:chOff x="2928725" y="949764"/>
              <a:chExt cx="1186150" cy="331500"/>
            </a:xfrm>
          </p:grpSpPr>
          <p:sp>
            <p:nvSpPr>
              <p:cNvPr id="905" name="Google Shape;905;p71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6" name="Google Shape;906;p71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07" name="Google Shape;907;p71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08" name="Google Shape;908;p71"/>
            <p:cNvGrpSpPr/>
            <p:nvPr/>
          </p:nvGrpSpPr>
          <p:grpSpPr>
            <a:xfrm>
              <a:off x="7406758" y="2355341"/>
              <a:ext cx="1186150" cy="331500"/>
              <a:chOff x="2928725" y="949764"/>
              <a:chExt cx="1186150" cy="331500"/>
            </a:xfrm>
          </p:grpSpPr>
          <p:sp>
            <p:nvSpPr>
              <p:cNvPr id="909" name="Google Shape;909;p71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0" name="Google Shape;910;p71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1" name="Google Shape;911;p71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12" name="Google Shape;912;p71"/>
            <p:cNvGrpSpPr/>
            <p:nvPr/>
          </p:nvGrpSpPr>
          <p:grpSpPr>
            <a:xfrm>
              <a:off x="7406758" y="3057453"/>
              <a:ext cx="1186150" cy="331500"/>
              <a:chOff x="2928725" y="949764"/>
              <a:chExt cx="1186150" cy="331500"/>
            </a:xfrm>
          </p:grpSpPr>
          <p:sp>
            <p:nvSpPr>
              <p:cNvPr id="913" name="Google Shape;913;p71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4" name="Google Shape;914;p71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5" name="Google Shape;915;p71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916" name="Google Shape;916;p71"/>
            <p:cNvGrpSpPr/>
            <p:nvPr/>
          </p:nvGrpSpPr>
          <p:grpSpPr>
            <a:xfrm>
              <a:off x="7392333" y="3781328"/>
              <a:ext cx="1186150" cy="331500"/>
              <a:chOff x="2928725" y="949764"/>
              <a:chExt cx="1186150" cy="331500"/>
            </a:xfrm>
          </p:grpSpPr>
          <p:sp>
            <p:nvSpPr>
              <p:cNvPr id="917" name="Google Shape;917;p71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8" name="Google Shape;918;p71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919" name="Google Shape;919;p71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920" name="Google Shape;920;p71"/>
          <p:cNvGrpSpPr/>
          <p:nvPr/>
        </p:nvGrpSpPr>
        <p:grpSpPr>
          <a:xfrm>
            <a:off x="7397684" y="949800"/>
            <a:ext cx="1154935" cy="331500"/>
            <a:chOff x="3790659" y="949775"/>
            <a:chExt cx="1154935" cy="331500"/>
          </a:xfrm>
        </p:grpSpPr>
        <p:sp>
          <p:nvSpPr>
            <p:cNvPr id="921" name="Google Shape;921;p71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2" name="Google Shape;922;p71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3" name="Google Shape;923;p71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4" name="Google Shape;924;p71"/>
          <p:cNvGrpSpPr/>
          <p:nvPr/>
        </p:nvGrpSpPr>
        <p:grpSpPr>
          <a:xfrm>
            <a:off x="7405334" y="1651913"/>
            <a:ext cx="1154935" cy="331500"/>
            <a:chOff x="3790659" y="949775"/>
            <a:chExt cx="1154935" cy="331500"/>
          </a:xfrm>
        </p:grpSpPr>
        <p:sp>
          <p:nvSpPr>
            <p:cNvPr id="925" name="Google Shape;925;p71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6" name="Google Shape;926;p71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27" name="Google Shape;927;p71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8" name="Google Shape;928;p71"/>
          <p:cNvGrpSpPr/>
          <p:nvPr/>
        </p:nvGrpSpPr>
        <p:grpSpPr>
          <a:xfrm>
            <a:off x="7397359" y="2354000"/>
            <a:ext cx="1154935" cy="331500"/>
            <a:chOff x="3790659" y="949775"/>
            <a:chExt cx="1154935" cy="331500"/>
          </a:xfrm>
        </p:grpSpPr>
        <p:sp>
          <p:nvSpPr>
            <p:cNvPr id="929" name="Google Shape;929;p71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0" name="Google Shape;930;p71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1" name="Google Shape;931;p71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2" name="Google Shape;932;p71"/>
          <p:cNvGrpSpPr/>
          <p:nvPr/>
        </p:nvGrpSpPr>
        <p:grpSpPr>
          <a:xfrm>
            <a:off x="7394134" y="3056125"/>
            <a:ext cx="1154935" cy="331500"/>
            <a:chOff x="3790659" y="949775"/>
            <a:chExt cx="1154935" cy="331500"/>
          </a:xfrm>
        </p:grpSpPr>
        <p:sp>
          <p:nvSpPr>
            <p:cNvPr id="933" name="Google Shape;933;p71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71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71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36" name="Google Shape;936;p71"/>
          <p:cNvGrpSpPr/>
          <p:nvPr/>
        </p:nvGrpSpPr>
        <p:grpSpPr>
          <a:xfrm>
            <a:off x="7408559" y="3758200"/>
            <a:ext cx="1154935" cy="331500"/>
            <a:chOff x="3790659" y="949775"/>
            <a:chExt cx="1154935" cy="331500"/>
          </a:xfrm>
        </p:grpSpPr>
        <p:sp>
          <p:nvSpPr>
            <p:cNvPr id="937" name="Google Shape;937;p71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8" name="Google Shape;938;p71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9" name="Google Shape;939;p71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40" name="Google Shape;940;p71"/>
          <p:cNvSpPr txBox="1"/>
          <p:nvPr>
            <p:ph idx="1" type="body"/>
          </p:nvPr>
        </p:nvSpPr>
        <p:spPr>
          <a:xfrm>
            <a:off x="1351200" y="810000"/>
            <a:ext cx="118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(−15)</a:t>
            </a:r>
            <a:endParaRPr/>
          </a:p>
        </p:txBody>
      </p:sp>
      <p:sp>
        <p:nvSpPr>
          <p:cNvPr id="941" name="Google Shape;941;p71"/>
          <p:cNvSpPr txBox="1"/>
          <p:nvPr>
            <p:ph idx="1" type="body"/>
          </p:nvPr>
        </p:nvSpPr>
        <p:spPr>
          <a:xfrm>
            <a:off x="3483600" y="8100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(−5) × 3 </a:t>
            </a:r>
            <a:endParaRPr/>
          </a:p>
        </p:txBody>
      </p:sp>
      <p:sp>
        <p:nvSpPr>
          <p:cNvPr id="942" name="Google Shape;942;p71"/>
          <p:cNvSpPr txBox="1"/>
          <p:nvPr>
            <p:ph idx="1" type="body"/>
          </p:nvPr>
        </p:nvSpPr>
        <p:spPr>
          <a:xfrm>
            <a:off x="4510800" y="810000"/>
            <a:ext cx="118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(−15)</a:t>
            </a:r>
            <a:endParaRPr/>
          </a:p>
        </p:txBody>
      </p:sp>
      <p:sp>
        <p:nvSpPr>
          <p:cNvPr id="943" name="Google Shape;943;p71"/>
          <p:cNvSpPr txBox="1"/>
          <p:nvPr/>
        </p:nvSpPr>
        <p:spPr>
          <a:xfrm>
            <a:off x="2736313" y="1456950"/>
            <a:ext cx="38997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you read the calculation can help.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can be read as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negative of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5 groups of 3”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1"/>
          <p:cNvSpPr txBox="1"/>
          <p:nvPr>
            <p:ph idx="1" type="body"/>
          </p:nvPr>
        </p:nvSpPr>
        <p:spPr>
          <a:xfrm>
            <a:off x="3586200" y="31119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−(5 × 3)</a:t>
            </a:r>
            <a:endParaRPr/>
          </a:p>
        </p:txBody>
      </p:sp>
      <p:sp>
        <p:nvSpPr>
          <p:cNvPr id="945" name="Google Shape;945;p71"/>
          <p:cNvSpPr txBox="1"/>
          <p:nvPr/>
        </p:nvSpPr>
        <p:spPr>
          <a:xfrm>
            <a:off x="2768550" y="3601925"/>
            <a:ext cx="42594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make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5 groups of 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1"/>
          <p:cNvSpPr txBox="1"/>
          <p:nvPr/>
        </p:nvSpPr>
        <p:spPr>
          <a:xfrm>
            <a:off x="2736325" y="3954175"/>
            <a:ext cx="43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to make the negative of this you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flip all of the counters over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952" name="Google Shape;952;p72"/>
          <p:cNvSpPr txBox="1"/>
          <p:nvPr>
            <p:ph idx="1" type="body"/>
          </p:nvPr>
        </p:nvSpPr>
        <p:spPr>
          <a:xfrm>
            <a:off x="324000" y="812331"/>
            <a:ext cx="1360800" cy="3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× </a:t>
            </a:r>
            <a:r>
              <a:rPr lang="en-GB"/>
              <a:t>(−3)</a:t>
            </a:r>
            <a:endParaRPr/>
          </a:p>
        </p:txBody>
      </p:sp>
      <p:sp>
        <p:nvSpPr>
          <p:cNvPr id="953" name="Google Shape;953;p72"/>
          <p:cNvSpPr/>
          <p:nvPr/>
        </p:nvSpPr>
        <p:spPr>
          <a:xfrm>
            <a:off x="519828" y="1273200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4" name="Google Shape;954;p72"/>
          <p:cNvSpPr/>
          <p:nvPr/>
        </p:nvSpPr>
        <p:spPr>
          <a:xfrm>
            <a:off x="516600" y="1975313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5" name="Google Shape;955;p72"/>
          <p:cNvSpPr/>
          <p:nvPr/>
        </p:nvSpPr>
        <p:spPr>
          <a:xfrm>
            <a:off x="519828" y="2677426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6" name="Google Shape;956;p72"/>
          <p:cNvSpPr/>
          <p:nvPr/>
        </p:nvSpPr>
        <p:spPr>
          <a:xfrm>
            <a:off x="527789" y="3379512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2"/>
          <p:cNvSpPr/>
          <p:nvPr/>
        </p:nvSpPr>
        <p:spPr>
          <a:xfrm>
            <a:off x="531016" y="4081625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58" name="Google Shape;958;p72"/>
          <p:cNvGrpSpPr/>
          <p:nvPr/>
        </p:nvGrpSpPr>
        <p:grpSpPr>
          <a:xfrm>
            <a:off x="598308" y="1408303"/>
            <a:ext cx="1186150" cy="331500"/>
            <a:chOff x="2928725" y="949764"/>
            <a:chExt cx="1186150" cy="331500"/>
          </a:xfrm>
        </p:grpSpPr>
        <p:sp>
          <p:nvSpPr>
            <p:cNvPr id="959" name="Google Shape;959;p72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2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2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2" name="Google Shape;962;p72"/>
          <p:cNvGrpSpPr/>
          <p:nvPr/>
        </p:nvGrpSpPr>
        <p:grpSpPr>
          <a:xfrm>
            <a:off x="598308" y="2110441"/>
            <a:ext cx="1186150" cy="331500"/>
            <a:chOff x="2928725" y="949764"/>
            <a:chExt cx="1186150" cy="331500"/>
          </a:xfrm>
        </p:grpSpPr>
        <p:sp>
          <p:nvSpPr>
            <p:cNvPr id="963" name="Google Shape;963;p72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2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5" name="Google Shape;965;p72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6" name="Google Shape;966;p72"/>
          <p:cNvGrpSpPr/>
          <p:nvPr/>
        </p:nvGrpSpPr>
        <p:grpSpPr>
          <a:xfrm>
            <a:off x="624958" y="2812541"/>
            <a:ext cx="1186150" cy="331500"/>
            <a:chOff x="2928725" y="949764"/>
            <a:chExt cx="1186150" cy="331500"/>
          </a:xfrm>
        </p:grpSpPr>
        <p:sp>
          <p:nvSpPr>
            <p:cNvPr id="967" name="Google Shape;967;p72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8" name="Google Shape;968;p72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9" name="Google Shape;969;p72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0" name="Google Shape;970;p72"/>
          <p:cNvGrpSpPr/>
          <p:nvPr/>
        </p:nvGrpSpPr>
        <p:grpSpPr>
          <a:xfrm>
            <a:off x="624958" y="3514653"/>
            <a:ext cx="1186150" cy="331500"/>
            <a:chOff x="2928725" y="949764"/>
            <a:chExt cx="1186150" cy="331500"/>
          </a:xfrm>
        </p:grpSpPr>
        <p:sp>
          <p:nvSpPr>
            <p:cNvPr id="971" name="Google Shape;971;p72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2" name="Google Shape;972;p72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3" name="Google Shape;973;p72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74" name="Google Shape;974;p72"/>
          <p:cNvGrpSpPr/>
          <p:nvPr/>
        </p:nvGrpSpPr>
        <p:grpSpPr>
          <a:xfrm>
            <a:off x="610533" y="4238528"/>
            <a:ext cx="1186150" cy="331500"/>
            <a:chOff x="2928725" y="949764"/>
            <a:chExt cx="1186150" cy="331500"/>
          </a:xfrm>
        </p:grpSpPr>
        <p:sp>
          <p:nvSpPr>
            <p:cNvPr id="975" name="Google Shape;975;p72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7" name="Google Shape;977;p72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78" name="Google Shape;978;p72"/>
          <p:cNvSpPr txBox="1"/>
          <p:nvPr>
            <p:ph idx="1" type="body"/>
          </p:nvPr>
        </p:nvSpPr>
        <p:spPr>
          <a:xfrm>
            <a:off x="1351200" y="812331"/>
            <a:ext cx="982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(−15)</a:t>
            </a:r>
            <a:endParaRPr/>
          </a:p>
        </p:txBody>
      </p:sp>
      <p:sp>
        <p:nvSpPr>
          <p:cNvPr id="979" name="Google Shape;979;p72"/>
          <p:cNvSpPr txBox="1"/>
          <p:nvPr>
            <p:ph idx="1" type="body"/>
          </p:nvPr>
        </p:nvSpPr>
        <p:spPr>
          <a:xfrm>
            <a:off x="3331200" y="8100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(−3) × 5 </a:t>
            </a:r>
            <a:endParaRPr/>
          </a:p>
        </p:txBody>
      </p:sp>
      <p:sp>
        <p:nvSpPr>
          <p:cNvPr id="980" name="Google Shape;980;p72"/>
          <p:cNvSpPr txBox="1"/>
          <p:nvPr/>
        </p:nvSpPr>
        <p:spPr>
          <a:xfrm>
            <a:off x="2589250" y="1413300"/>
            <a:ext cx="38997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know that this will have the same product.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does it look with the two-colour counters?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986" name="Google Shape;986;p73"/>
          <p:cNvSpPr txBox="1"/>
          <p:nvPr>
            <p:ph idx="1" type="body"/>
          </p:nvPr>
        </p:nvSpPr>
        <p:spPr>
          <a:xfrm>
            <a:off x="324000" y="813896"/>
            <a:ext cx="1360800" cy="39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 × (−3)</a:t>
            </a:r>
            <a:endParaRPr/>
          </a:p>
        </p:txBody>
      </p:sp>
      <p:sp>
        <p:nvSpPr>
          <p:cNvPr id="987" name="Google Shape;987;p73"/>
          <p:cNvSpPr/>
          <p:nvPr/>
        </p:nvSpPr>
        <p:spPr>
          <a:xfrm>
            <a:off x="6626100" y="1288621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3"/>
          <p:cNvSpPr/>
          <p:nvPr/>
        </p:nvSpPr>
        <p:spPr>
          <a:xfrm>
            <a:off x="6621000" y="1990737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3"/>
          <p:cNvSpPr/>
          <p:nvPr/>
        </p:nvSpPr>
        <p:spPr>
          <a:xfrm>
            <a:off x="6626100" y="2692853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3"/>
          <p:cNvSpPr/>
          <p:nvPr/>
        </p:nvSpPr>
        <p:spPr>
          <a:xfrm>
            <a:off x="519828" y="1273200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1" name="Google Shape;991;p73"/>
          <p:cNvSpPr/>
          <p:nvPr/>
        </p:nvSpPr>
        <p:spPr>
          <a:xfrm>
            <a:off x="516600" y="1975313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2" name="Google Shape;992;p73"/>
          <p:cNvSpPr/>
          <p:nvPr/>
        </p:nvSpPr>
        <p:spPr>
          <a:xfrm>
            <a:off x="519828" y="2677426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3" name="Google Shape;993;p73"/>
          <p:cNvSpPr/>
          <p:nvPr/>
        </p:nvSpPr>
        <p:spPr>
          <a:xfrm>
            <a:off x="527789" y="3379512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3"/>
          <p:cNvSpPr/>
          <p:nvPr/>
        </p:nvSpPr>
        <p:spPr>
          <a:xfrm>
            <a:off x="531016" y="4081625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95" name="Google Shape;995;p73"/>
          <p:cNvGrpSpPr/>
          <p:nvPr/>
        </p:nvGrpSpPr>
        <p:grpSpPr>
          <a:xfrm>
            <a:off x="6682359" y="1422421"/>
            <a:ext cx="1997035" cy="331500"/>
            <a:chOff x="2948559" y="949775"/>
            <a:chExt cx="1997035" cy="331500"/>
          </a:xfrm>
        </p:grpSpPr>
        <p:sp>
          <p:nvSpPr>
            <p:cNvPr id="996" name="Google Shape;996;p73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7" name="Google Shape;997;p73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8" name="Google Shape;998;p73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9" name="Google Shape;999;p73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0" name="Google Shape;1000;p73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1" name="Google Shape;1001;p73"/>
          <p:cNvGrpSpPr/>
          <p:nvPr/>
        </p:nvGrpSpPr>
        <p:grpSpPr>
          <a:xfrm>
            <a:off x="6691234" y="2124533"/>
            <a:ext cx="1997035" cy="331500"/>
            <a:chOff x="2948559" y="949775"/>
            <a:chExt cx="1997035" cy="331500"/>
          </a:xfrm>
        </p:grpSpPr>
        <p:sp>
          <p:nvSpPr>
            <p:cNvPr id="1002" name="Google Shape;1002;p73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3" name="Google Shape;1003;p73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4" name="Google Shape;1004;p73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5" name="Google Shape;1005;p73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6" name="Google Shape;1006;p73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7" name="Google Shape;1007;p73"/>
          <p:cNvGrpSpPr/>
          <p:nvPr/>
        </p:nvGrpSpPr>
        <p:grpSpPr>
          <a:xfrm>
            <a:off x="6691234" y="2826658"/>
            <a:ext cx="1997035" cy="331500"/>
            <a:chOff x="2948559" y="949775"/>
            <a:chExt cx="1997035" cy="331500"/>
          </a:xfrm>
        </p:grpSpPr>
        <p:sp>
          <p:nvSpPr>
            <p:cNvPr id="1008" name="Google Shape;1008;p73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73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73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1" name="Google Shape;1011;p73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2" name="Google Shape;1012;p73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73"/>
          <p:cNvGrpSpPr/>
          <p:nvPr/>
        </p:nvGrpSpPr>
        <p:grpSpPr>
          <a:xfrm>
            <a:off x="6662525" y="1422409"/>
            <a:ext cx="2047625" cy="1735750"/>
            <a:chOff x="642725" y="949764"/>
            <a:chExt cx="2047625" cy="1735750"/>
          </a:xfrm>
        </p:grpSpPr>
        <p:grpSp>
          <p:nvGrpSpPr>
            <p:cNvPr id="1014" name="Google Shape;1014;p73"/>
            <p:cNvGrpSpPr/>
            <p:nvPr/>
          </p:nvGrpSpPr>
          <p:grpSpPr>
            <a:xfrm>
              <a:off x="642725" y="949764"/>
              <a:ext cx="2040800" cy="331500"/>
              <a:chOff x="2928725" y="949764"/>
              <a:chExt cx="2040800" cy="331500"/>
            </a:xfrm>
          </p:grpSpPr>
          <p:sp>
            <p:nvSpPr>
              <p:cNvPr id="1015" name="Google Shape;1015;p73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6" name="Google Shape;1016;p73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7" name="Google Shape;1017;p73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8" name="Google Shape;1018;p73"/>
              <p:cNvSpPr/>
              <p:nvPr/>
            </p:nvSpPr>
            <p:spPr>
              <a:xfrm>
                <a:off x="421070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19" name="Google Shape;1019;p73"/>
              <p:cNvSpPr/>
              <p:nvPr/>
            </p:nvSpPr>
            <p:spPr>
              <a:xfrm>
                <a:off x="46380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20" name="Google Shape;1020;p73"/>
            <p:cNvGrpSpPr/>
            <p:nvPr/>
          </p:nvGrpSpPr>
          <p:grpSpPr>
            <a:xfrm>
              <a:off x="649550" y="1651876"/>
              <a:ext cx="2040800" cy="331500"/>
              <a:chOff x="2928725" y="949764"/>
              <a:chExt cx="2040800" cy="331500"/>
            </a:xfrm>
          </p:grpSpPr>
          <p:sp>
            <p:nvSpPr>
              <p:cNvPr id="1021" name="Google Shape;1021;p73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2" name="Google Shape;1022;p73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3" name="Google Shape;1023;p73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4" name="Google Shape;1024;p73"/>
              <p:cNvSpPr/>
              <p:nvPr/>
            </p:nvSpPr>
            <p:spPr>
              <a:xfrm>
                <a:off x="421070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5" name="Google Shape;1025;p73"/>
              <p:cNvSpPr/>
              <p:nvPr/>
            </p:nvSpPr>
            <p:spPr>
              <a:xfrm>
                <a:off x="46380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26" name="Google Shape;1026;p73"/>
            <p:cNvGrpSpPr/>
            <p:nvPr/>
          </p:nvGrpSpPr>
          <p:grpSpPr>
            <a:xfrm>
              <a:off x="649550" y="2354014"/>
              <a:ext cx="2040800" cy="331500"/>
              <a:chOff x="2928725" y="949764"/>
              <a:chExt cx="2040800" cy="331500"/>
            </a:xfrm>
          </p:grpSpPr>
          <p:sp>
            <p:nvSpPr>
              <p:cNvPr id="1027" name="Google Shape;1027;p73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8" name="Google Shape;1028;p73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29" name="Google Shape;1029;p73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0" name="Google Shape;1030;p73"/>
              <p:cNvSpPr/>
              <p:nvPr/>
            </p:nvSpPr>
            <p:spPr>
              <a:xfrm>
                <a:off x="421070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1" name="Google Shape;1031;p73"/>
              <p:cNvSpPr/>
              <p:nvPr/>
            </p:nvSpPr>
            <p:spPr>
              <a:xfrm>
                <a:off x="46380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032" name="Google Shape;1032;p73"/>
          <p:cNvGrpSpPr/>
          <p:nvPr/>
        </p:nvGrpSpPr>
        <p:grpSpPr>
          <a:xfrm>
            <a:off x="598308" y="1408303"/>
            <a:ext cx="1186150" cy="331500"/>
            <a:chOff x="2928725" y="949764"/>
            <a:chExt cx="1186150" cy="331500"/>
          </a:xfrm>
        </p:grpSpPr>
        <p:sp>
          <p:nvSpPr>
            <p:cNvPr id="1033" name="Google Shape;1033;p73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3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5" name="Google Shape;1035;p73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6" name="Google Shape;1036;p73"/>
          <p:cNvGrpSpPr/>
          <p:nvPr/>
        </p:nvGrpSpPr>
        <p:grpSpPr>
          <a:xfrm>
            <a:off x="598308" y="2110441"/>
            <a:ext cx="1186150" cy="331500"/>
            <a:chOff x="2928725" y="949764"/>
            <a:chExt cx="1186150" cy="331500"/>
          </a:xfrm>
        </p:grpSpPr>
        <p:sp>
          <p:nvSpPr>
            <p:cNvPr id="1037" name="Google Shape;1037;p73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8" name="Google Shape;1038;p73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9" name="Google Shape;1039;p73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0" name="Google Shape;1040;p73"/>
          <p:cNvGrpSpPr/>
          <p:nvPr/>
        </p:nvGrpSpPr>
        <p:grpSpPr>
          <a:xfrm>
            <a:off x="624958" y="2812541"/>
            <a:ext cx="1186150" cy="331500"/>
            <a:chOff x="2928725" y="949764"/>
            <a:chExt cx="1186150" cy="331500"/>
          </a:xfrm>
        </p:grpSpPr>
        <p:sp>
          <p:nvSpPr>
            <p:cNvPr id="1041" name="Google Shape;1041;p73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2" name="Google Shape;1042;p73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3" name="Google Shape;1043;p73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4" name="Google Shape;1044;p73"/>
          <p:cNvGrpSpPr/>
          <p:nvPr/>
        </p:nvGrpSpPr>
        <p:grpSpPr>
          <a:xfrm>
            <a:off x="624958" y="3514653"/>
            <a:ext cx="1186150" cy="331500"/>
            <a:chOff x="2928725" y="949764"/>
            <a:chExt cx="1186150" cy="331500"/>
          </a:xfrm>
        </p:grpSpPr>
        <p:sp>
          <p:nvSpPr>
            <p:cNvPr id="1045" name="Google Shape;1045;p73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6" name="Google Shape;1046;p73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47" name="Google Shape;1047;p73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8" name="Google Shape;1048;p73"/>
          <p:cNvGrpSpPr/>
          <p:nvPr/>
        </p:nvGrpSpPr>
        <p:grpSpPr>
          <a:xfrm>
            <a:off x="610533" y="4238528"/>
            <a:ext cx="1186150" cy="331500"/>
            <a:chOff x="2928725" y="949764"/>
            <a:chExt cx="1186150" cy="331500"/>
          </a:xfrm>
        </p:grpSpPr>
        <p:sp>
          <p:nvSpPr>
            <p:cNvPr id="1049" name="Google Shape;1049;p73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0" name="Google Shape;1050;p73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51" name="Google Shape;1051;p73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2" name="Google Shape;1052;p73"/>
          <p:cNvSpPr txBox="1"/>
          <p:nvPr>
            <p:ph idx="1" type="body"/>
          </p:nvPr>
        </p:nvSpPr>
        <p:spPr>
          <a:xfrm>
            <a:off x="1351200" y="813896"/>
            <a:ext cx="982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(−15)</a:t>
            </a:r>
            <a:endParaRPr/>
          </a:p>
        </p:txBody>
      </p:sp>
      <p:sp>
        <p:nvSpPr>
          <p:cNvPr id="1053" name="Google Shape;1053;p73"/>
          <p:cNvSpPr txBox="1"/>
          <p:nvPr>
            <p:ph idx="1" type="body"/>
          </p:nvPr>
        </p:nvSpPr>
        <p:spPr>
          <a:xfrm>
            <a:off x="3331200" y="813896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(−3) × 5 </a:t>
            </a:r>
            <a:endParaRPr/>
          </a:p>
        </p:txBody>
      </p:sp>
      <p:sp>
        <p:nvSpPr>
          <p:cNvPr id="1054" name="Google Shape;1054;p73"/>
          <p:cNvSpPr txBox="1"/>
          <p:nvPr/>
        </p:nvSpPr>
        <p:spPr>
          <a:xfrm>
            <a:off x="2355313" y="1304550"/>
            <a:ext cx="3899700" cy="14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How you read the calculation can help.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can be read as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negative of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3 groups of 5”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73"/>
          <p:cNvSpPr txBox="1"/>
          <p:nvPr>
            <p:ph idx="1" type="body"/>
          </p:nvPr>
        </p:nvSpPr>
        <p:spPr>
          <a:xfrm>
            <a:off x="3205200" y="29595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−(3 × 5)</a:t>
            </a:r>
            <a:endParaRPr/>
          </a:p>
        </p:txBody>
      </p:sp>
      <p:sp>
        <p:nvSpPr>
          <p:cNvPr id="1056" name="Google Shape;1056;p73"/>
          <p:cNvSpPr txBox="1"/>
          <p:nvPr/>
        </p:nvSpPr>
        <p:spPr>
          <a:xfrm>
            <a:off x="2387550" y="3449525"/>
            <a:ext cx="42594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make 3 groups of 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73"/>
          <p:cNvSpPr txBox="1"/>
          <p:nvPr/>
        </p:nvSpPr>
        <p:spPr>
          <a:xfrm>
            <a:off x="2355325" y="3801775"/>
            <a:ext cx="43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to make the negative of this you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flip all of the counters over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73"/>
          <p:cNvSpPr txBox="1"/>
          <p:nvPr>
            <p:ph idx="1" type="body"/>
          </p:nvPr>
        </p:nvSpPr>
        <p:spPr>
          <a:xfrm>
            <a:off x="4384275" y="813896"/>
            <a:ext cx="982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(−15)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064" name="Google Shape;1064;p74"/>
          <p:cNvSpPr txBox="1"/>
          <p:nvPr>
            <p:ph idx="1" type="body"/>
          </p:nvPr>
        </p:nvSpPr>
        <p:spPr>
          <a:xfrm>
            <a:off x="324000" y="759300"/>
            <a:ext cx="2850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can use the same idea with </a:t>
            </a:r>
            <a:r>
              <a:rPr lang="en-GB" sz="2000"/>
              <a:t>multiplying two negative numbers</a:t>
            </a:r>
            <a:endParaRPr sz="2000"/>
          </a:p>
        </p:txBody>
      </p:sp>
      <p:sp>
        <p:nvSpPr>
          <p:cNvPr id="1065" name="Google Shape;1065;p74"/>
          <p:cNvSpPr/>
          <p:nvPr/>
        </p:nvSpPr>
        <p:spPr>
          <a:xfrm>
            <a:off x="377700" y="2035175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6" name="Google Shape;1066;p74"/>
          <p:cNvSpPr/>
          <p:nvPr/>
        </p:nvSpPr>
        <p:spPr>
          <a:xfrm>
            <a:off x="372600" y="2737291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74"/>
          <p:cNvSpPr/>
          <p:nvPr/>
        </p:nvSpPr>
        <p:spPr>
          <a:xfrm>
            <a:off x="377700" y="3439407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68" name="Google Shape;1068;p74"/>
          <p:cNvGrpSpPr/>
          <p:nvPr/>
        </p:nvGrpSpPr>
        <p:grpSpPr>
          <a:xfrm>
            <a:off x="414125" y="2168964"/>
            <a:ext cx="2040800" cy="331500"/>
            <a:chOff x="2928725" y="949764"/>
            <a:chExt cx="2040800" cy="331500"/>
          </a:xfrm>
        </p:grpSpPr>
        <p:sp>
          <p:nvSpPr>
            <p:cNvPr id="1069" name="Google Shape;1069;p74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0" name="Google Shape;1070;p74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1" name="Google Shape;1071;p74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2" name="Google Shape;1072;p74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3" name="Google Shape;1073;p74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74" name="Google Shape;1074;p74"/>
          <p:cNvGrpSpPr/>
          <p:nvPr/>
        </p:nvGrpSpPr>
        <p:grpSpPr>
          <a:xfrm>
            <a:off x="420950" y="2871076"/>
            <a:ext cx="2040800" cy="331500"/>
            <a:chOff x="2928725" y="949764"/>
            <a:chExt cx="2040800" cy="331500"/>
          </a:xfrm>
        </p:grpSpPr>
        <p:sp>
          <p:nvSpPr>
            <p:cNvPr id="1075" name="Google Shape;1075;p74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6" name="Google Shape;1076;p74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7" name="Google Shape;1077;p74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8" name="Google Shape;1078;p74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79" name="Google Shape;1079;p74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0" name="Google Shape;1080;p74"/>
          <p:cNvGrpSpPr/>
          <p:nvPr/>
        </p:nvGrpSpPr>
        <p:grpSpPr>
          <a:xfrm>
            <a:off x="420950" y="3573214"/>
            <a:ext cx="2040800" cy="331500"/>
            <a:chOff x="2928725" y="949764"/>
            <a:chExt cx="2040800" cy="331500"/>
          </a:xfrm>
        </p:grpSpPr>
        <p:sp>
          <p:nvSpPr>
            <p:cNvPr id="1081" name="Google Shape;1081;p74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2" name="Google Shape;1082;p74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3" name="Google Shape;1083;p74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4" name="Google Shape;1084;p74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85" name="Google Shape;1085;p74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6" name="Google Shape;1086;p74"/>
          <p:cNvGrpSpPr/>
          <p:nvPr/>
        </p:nvGrpSpPr>
        <p:grpSpPr>
          <a:xfrm>
            <a:off x="433959" y="2168975"/>
            <a:ext cx="2005910" cy="1735738"/>
            <a:chOff x="1348359" y="949775"/>
            <a:chExt cx="2005910" cy="1735738"/>
          </a:xfrm>
        </p:grpSpPr>
        <p:grpSp>
          <p:nvGrpSpPr>
            <p:cNvPr id="1087" name="Google Shape;1087;p74"/>
            <p:cNvGrpSpPr/>
            <p:nvPr/>
          </p:nvGrpSpPr>
          <p:grpSpPr>
            <a:xfrm>
              <a:off x="1348359" y="949775"/>
              <a:ext cx="1997035" cy="331500"/>
              <a:chOff x="2948559" y="949775"/>
              <a:chExt cx="1997035" cy="331500"/>
            </a:xfrm>
          </p:grpSpPr>
          <p:sp>
            <p:nvSpPr>
              <p:cNvPr id="1088" name="Google Shape;1088;p74"/>
              <p:cNvSpPr/>
              <p:nvPr/>
            </p:nvSpPr>
            <p:spPr>
              <a:xfrm>
                <a:off x="29485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9" name="Google Shape;1089;p74"/>
              <p:cNvSpPr/>
              <p:nvPr/>
            </p:nvSpPr>
            <p:spPr>
              <a:xfrm>
                <a:off x="336960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0" name="Google Shape;1090;p74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1" name="Google Shape;1091;p74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2" name="Google Shape;1092;p74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93" name="Google Shape;1093;p74"/>
            <p:cNvGrpSpPr/>
            <p:nvPr/>
          </p:nvGrpSpPr>
          <p:grpSpPr>
            <a:xfrm>
              <a:off x="1357234" y="1651888"/>
              <a:ext cx="1997035" cy="331500"/>
              <a:chOff x="2948559" y="949775"/>
              <a:chExt cx="1997035" cy="331500"/>
            </a:xfrm>
          </p:grpSpPr>
          <p:sp>
            <p:nvSpPr>
              <p:cNvPr id="1094" name="Google Shape;1094;p74"/>
              <p:cNvSpPr/>
              <p:nvPr/>
            </p:nvSpPr>
            <p:spPr>
              <a:xfrm>
                <a:off x="29485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5" name="Google Shape;1095;p74"/>
              <p:cNvSpPr/>
              <p:nvPr/>
            </p:nvSpPr>
            <p:spPr>
              <a:xfrm>
                <a:off x="336960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6" name="Google Shape;1096;p74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7" name="Google Shape;1097;p74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8" name="Google Shape;1098;p74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99" name="Google Shape;1099;p74"/>
            <p:cNvGrpSpPr/>
            <p:nvPr/>
          </p:nvGrpSpPr>
          <p:grpSpPr>
            <a:xfrm>
              <a:off x="1357234" y="2354013"/>
              <a:ext cx="1997035" cy="331500"/>
              <a:chOff x="2948559" y="949775"/>
              <a:chExt cx="1997035" cy="331500"/>
            </a:xfrm>
          </p:grpSpPr>
          <p:sp>
            <p:nvSpPr>
              <p:cNvPr id="1100" name="Google Shape;1100;p74"/>
              <p:cNvSpPr/>
              <p:nvPr/>
            </p:nvSpPr>
            <p:spPr>
              <a:xfrm>
                <a:off x="29485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1" name="Google Shape;1101;p74"/>
              <p:cNvSpPr/>
              <p:nvPr/>
            </p:nvSpPr>
            <p:spPr>
              <a:xfrm>
                <a:off x="336960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2" name="Google Shape;1102;p74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3" name="Google Shape;1103;p74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4" name="Google Shape;1104;p74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105" name="Google Shape;1105;p74"/>
          <p:cNvSpPr txBox="1"/>
          <p:nvPr>
            <p:ph idx="1" type="body"/>
          </p:nvPr>
        </p:nvSpPr>
        <p:spPr>
          <a:xfrm>
            <a:off x="5161200" y="759300"/>
            <a:ext cx="85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15</a:t>
            </a:r>
            <a:endParaRPr/>
          </a:p>
        </p:txBody>
      </p:sp>
      <p:sp>
        <p:nvSpPr>
          <p:cNvPr id="1106" name="Google Shape;1106;p74"/>
          <p:cNvSpPr txBox="1"/>
          <p:nvPr>
            <p:ph idx="1" type="body"/>
          </p:nvPr>
        </p:nvSpPr>
        <p:spPr>
          <a:xfrm>
            <a:off x="3753000" y="759300"/>
            <a:ext cx="13608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(−3) × (−5)</a:t>
            </a:r>
            <a:endParaRPr/>
          </a:p>
        </p:txBody>
      </p:sp>
      <p:sp>
        <p:nvSpPr>
          <p:cNvPr id="1107" name="Google Shape;1107;p74"/>
          <p:cNvSpPr txBox="1"/>
          <p:nvPr/>
        </p:nvSpPr>
        <p:spPr>
          <a:xfrm>
            <a:off x="2812525" y="2035175"/>
            <a:ext cx="42594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Which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could be read as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negative of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groups of 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74"/>
          <p:cNvSpPr txBox="1"/>
          <p:nvPr>
            <p:ph idx="1" type="body"/>
          </p:nvPr>
        </p:nvSpPr>
        <p:spPr>
          <a:xfrm>
            <a:off x="4101575" y="2939375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−(</a:t>
            </a:r>
            <a:r>
              <a:rPr lang="en-GB"/>
              <a:t>3</a:t>
            </a:r>
            <a:r>
              <a:rPr lang="en-GB"/>
              <a:t> × (−5))</a:t>
            </a:r>
            <a:endParaRPr/>
          </a:p>
        </p:txBody>
      </p:sp>
      <p:sp>
        <p:nvSpPr>
          <p:cNvPr id="1109" name="Google Shape;1109;p74"/>
          <p:cNvSpPr txBox="1"/>
          <p:nvPr/>
        </p:nvSpPr>
        <p:spPr>
          <a:xfrm>
            <a:off x="2887200" y="3465150"/>
            <a:ext cx="42594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make 3 groups of 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0" name="Google Shape;1110;p74"/>
          <p:cNvSpPr txBox="1"/>
          <p:nvPr/>
        </p:nvSpPr>
        <p:spPr>
          <a:xfrm>
            <a:off x="2888725" y="4030375"/>
            <a:ext cx="43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to make the negative of this you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flip all of the counters over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116" name="Google Shape;1116;p75"/>
          <p:cNvSpPr txBox="1"/>
          <p:nvPr>
            <p:ph idx="1" type="body"/>
          </p:nvPr>
        </p:nvSpPr>
        <p:spPr>
          <a:xfrm>
            <a:off x="324000" y="759300"/>
            <a:ext cx="28503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You can use the same idea with multiplying two negative numbers</a:t>
            </a:r>
            <a:endParaRPr sz="2000"/>
          </a:p>
        </p:txBody>
      </p:sp>
      <p:sp>
        <p:nvSpPr>
          <p:cNvPr id="1117" name="Google Shape;1117;p75"/>
          <p:cNvSpPr/>
          <p:nvPr/>
        </p:nvSpPr>
        <p:spPr>
          <a:xfrm>
            <a:off x="377700" y="2035175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8" name="Google Shape;1118;p75"/>
          <p:cNvSpPr/>
          <p:nvPr/>
        </p:nvSpPr>
        <p:spPr>
          <a:xfrm>
            <a:off x="372600" y="2737291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9" name="Google Shape;1119;p75"/>
          <p:cNvSpPr/>
          <p:nvPr/>
        </p:nvSpPr>
        <p:spPr>
          <a:xfrm>
            <a:off x="377700" y="3439407"/>
            <a:ext cx="21273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75"/>
          <p:cNvSpPr/>
          <p:nvPr/>
        </p:nvSpPr>
        <p:spPr>
          <a:xfrm>
            <a:off x="7301628" y="892200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1" name="Google Shape;1121;p75"/>
          <p:cNvSpPr/>
          <p:nvPr/>
        </p:nvSpPr>
        <p:spPr>
          <a:xfrm>
            <a:off x="7298400" y="1594313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75"/>
          <p:cNvSpPr/>
          <p:nvPr/>
        </p:nvSpPr>
        <p:spPr>
          <a:xfrm>
            <a:off x="7301628" y="2296426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75"/>
          <p:cNvSpPr/>
          <p:nvPr/>
        </p:nvSpPr>
        <p:spPr>
          <a:xfrm>
            <a:off x="7309589" y="2998512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75"/>
          <p:cNvSpPr/>
          <p:nvPr/>
        </p:nvSpPr>
        <p:spPr>
          <a:xfrm>
            <a:off x="7312816" y="3700625"/>
            <a:ext cx="1346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5" name="Google Shape;1125;p75"/>
          <p:cNvGrpSpPr/>
          <p:nvPr/>
        </p:nvGrpSpPr>
        <p:grpSpPr>
          <a:xfrm>
            <a:off x="433959" y="2168975"/>
            <a:ext cx="2005910" cy="1735738"/>
            <a:chOff x="1348359" y="3007175"/>
            <a:chExt cx="2005910" cy="1735738"/>
          </a:xfrm>
        </p:grpSpPr>
        <p:grpSp>
          <p:nvGrpSpPr>
            <p:cNvPr id="1126" name="Google Shape;1126;p75"/>
            <p:cNvGrpSpPr/>
            <p:nvPr/>
          </p:nvGrpSpPr>
          <p:grpSpPr>
            <a:xfrm>
              <a:off x="1348359" y="3007175"/>
              <a:ext cx="1997035" cy="331500"/>
              <a:chOff x="2948559" y="3007175"/>
              <a:chExt cx="1997035" cy="331500"/>
            </a:xfrm>
          </p:grpSpPr>
          <p:sp>
            <p:nvSpPr>
              <p:cNvPr id="1127" name="Google Shape;1127;p75"/>
              <p:cNvSpPr/>
              <p:nvPr/>
            </p:nvSpPr>
            <p:spPr>
              <a:xfrm>
                <a:off x="294855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8" name="Google Shape;1128;p75"/>
              <p:cNvSpPr/>
              <p:nvPr/>
            </p:nvSpPr>
            <p:spPr>
              <a:xfrm>
                <a:off x="336960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9" name="Google Shape;1129;p75"/>
              <p:cNvSpPr/>
              <p:nvPr/>
            </p:nvSpPr>
            <p:spPr>
              <a:xfrm>
                <a:off x="379065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0" name="Google Shape;1130;p75"/>
              <p:cNvSpPr/>
              <p:nvPr/>
            </p:nvSpPr>
            <p:spPr>
              <a:xfrm>
                <a:off x="4193045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1" name="Google Shape;1131;p75"/>
              <p:cNvSpPr/>
              <p:nvPr/>
            </p:nvSpPr>
            <p:spPr>
              <a:xfrm>
                <a:off x="4614095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32" name="Google Shape;1132;p75"/>
            <p:cNvGrpSpPr/>
            <p:nvPr/>
          </p:nvGrpSpPr>
          <p:grpSpPr>
            <a:xfrm>
              <a:off x="1357234" y="3709288"/>
              <a:ext cx="1997035" cy="331500"/>
              <a:chOff x="2948559" y="3007175"/>
              <a:chExt cx="1997035" cy="331500"/>
            </a:xfrm>
          </p:grpSpPr>
          <p:sp>
            <p:nvSpPr>
              <p:cNvPr id="1133" name="Google Shape;1133;p75"/>
              <p:cNvSpPr/>
              <p:nvPr/>
            </p:nvSpPr>
            <p:spPr>
              <a:xfrm>
                <a:off x="294855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4" name="Google Shape;1134;p75"/>
              <p:cNvSpPr/>
              <p:nvPr/>
            </p:nvSpPr>
            <p:spPr>
              <a:xfrm>
                <a:off x="336960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5" name="Google Shape;1135;p75"/>
              <p:cNvSpPr/>
              <p:nvPr/>
            </p:nvSpPr>
            <p:spPr>
              <a:xfrm>
                <a:off x="379065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6" name="Google Shape;1136;p75"/>
              <p:cNvSpPr/>
              <p:nvPr/>
            </p:nvSpPr>
            <p:spPr>
              <a:xfrm>
                <a:off x="4193045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37" name="Google Shape;1137;p75"/>
              <p:cNvSpPr/>
              <p:nvPr/>
            </p:nvSpPr>
            <p:spPr>
              <a:xfrm>
                <a:off x="4614095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38" name="Google Shape;1138;p75"/>
            <p:cNvGrpSpPr/>
            <p:nvPr/>
          </p:nvGrpSpPr>
          <p:grpSpPr>
            <a:xfrm>
              <a:off x="1357234" y="4411413"/>
              <a:ext cx="1997035" cy="331500"/>
              <a:chOff x="2948559" y="3007175"/>
              <a:chExt cx="1997035" cy="331500"/>
            </a:xfrm>
          </p:grpSpPr>
          <p:sp>
            <p:nvSpPr>
              <p:cNvPr id="1139" name="Google Shape;1139;p75"/>
              <p:cNvSpPr/>
              <p:nvPr/>
            </p:nvSpPr>
            <p:spPr>
              <a:xfrm>
                <a:off x="294855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0" name="Google Shape;1140;p75"/>
              <p:cNvSpPr/>
              <p:nvPr/>
            </p:nvSpPr>
            <p:spPr>
              <a:xfrm>
                <a:off x="336960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1" name="Google Shape;1141;p75"/>
              <p:cNvSpPr/>
              <p:nvPr/>
            </p:nvSpPr>
            <p:spPr>
              <a:xfrm>
                <a:off x="3790659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2" name="Google Shape;1142;p75"/>
              <p:cNvSpPr/>
              <p:nvPr/>
            </p:nvSpPr>
            <p:spPr>
              <a:xfrm>
                <a:off x="4193045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43" name="Google Shape;1143;p75"/>
              <p:cNvSpPr/>
              <p:nvPr/>
            </p:nvSpPr>
            <p:spPr>
              <a:xfrm>
                <a:off x="4614095" y="30071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144" name="Google Shape;1144;p75"/>
          <p:cNvGrpSpPr/>
          <p:nvPr/>
        </p:nvGrpSpPr>
        <p:grpSpPr>
          <a:xfrm>
            <a:off x="7380108" y="1027303"/>
            <a:ext cx="1186150" cy="331500"/>
            <a:chOff x="2928725" y="949764"/>
            <a:chExt cx="1186150" cy="331500"/>
          </a:xfrm>
        </p:grpSpPr>
        <p:sp>
          <p:nvSpPr>
            <p:cNvPr id="1145" name="Google Shape;1145;p75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75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7" name="Google Shape;1147;p75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48" name="Google Shape;1148;p75"/>
          <p:cNvGrpSpPr/>
          <p:nvPr/>
        </p:nvGrpSpPr>
        <p:grpSpPr>
          <a:xfrm>
            <a:off x="7380108" y="1729441"/>
            <a:ext cx="1186150" cy="331500"/>
            <a:chOff x="2928725" y="949764"/>
            <a:chExt cx="1186150" cy="331500"/>
          </a:xfrm>
        </p:grpSpPr>
        <p:sp>
          <p:nvSpPr>
            <p:cNvPr id="1149" name="Google Shape;1149;p75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0" name="Google Shape;1150;p75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1" name="Google Shape;1151;p75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2" name="Google Shape;1152;p75"/>
          <p:cNvGrpSpPr/>
          <p:nvPr/>
        </p:nvGrpSpPr>
        <p:grpSpPr>
          <a:xfrm>
            <a:off x="7406758" y="2431541"/>
            <a:ext cx="1186150" cy="331500"/>
            <a:chOff x="2928725" y="949764"/>
            <a:chExt cx="1186150" cy="331500"/>
          </a:xfrm>
        </p:grpSpPr>
        <p:sp>
          <p:nvSpPr>
            <p:cNvPr id="1153" name="Google Shape;1153;p75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4" name="Google Shape;1154;p75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75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75"/>
          <p:cNvGrpSpPr/>
          <p:nvPr/>
        </p:nvGrpSpPr>
        <p:grpSpPr>
          <a:xfrm>
            <a:off x="7406758" y="3133653"/>
            <a:ext cx="1186150" cy="331500"/>
            <a:chOff x="2928725" y="949764"/>
            <a:chExt cx="1186150" cy="331500"/>
          </a:xfrm>
        </p:grpSpPr>
        <p:sp>
          <p:nvSpPr>
            <p:cNvPr id="1157" name="Google Shape;1157;p75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75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75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0" name="Google Shape;1160;p75"/>
          <p:cNvGrpSpPr/>
          <p:nvPr/>
        </p:nvGrpSpPr>
        <p:grpSpPr>
          <a:xfrm>
            <a:off x="7392333" y="3857528"/>
            <a:ext cx="1186150" cy="331500"/>
            <a:chOff x="2928725" y="949764"/>
            <a:chExt cx="1186150" cy="331500"/>
          </a:xfrm>
        </p:grpSpPr>
        <p:sp>
          <p:nvSpPr>
            <p:cNvPr id="1161" name="Google Shape;1161;p75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75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75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4" name="Google Shape;1164;p75"/>
          <p:cNvGrpSpPr/>
          <p:nvPr/>
        </p:nvGrpSpPr>
        <p:grpSpPr>
          <a:xfrm>
            <a:off x="7394134" y="1026000"/>
            <a:ext cx="1169360" cy="3139900"/>
            <a:chOff x="6479734" y="949800"/>
            <a:chExt cx="1169360" cy="3139900"/>
          </a:xfrm>
        </p:grpSpPr>
        <p:grpSp>
          <p:nvGrpSpPr>
            <p:cNvPr id="1165" name="Google Shape;1165;p75"/>
            <p:cNvGrpSpPr/>
            <p:nvPr/>
          </p:nvGrpSpPr>
          <p:grpSpPr>
            <a:xfrm>
              <a:off x="6483284" y="949800"/>
              <a:ext cx="1154935" cy="331500"/>
              <a:chOff x="3790659" y="949775"/>
              <a:chExt cx="1154935" cy="331500"/>
            </a:xfrm>
          </p:grpSpPr>
          <p:sp>
            <p:nvSpPr>
              <p:cNvPr id="1166" name="Google Shape;1166;p75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7" name="Google Shape;1167;p75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68" name="Google Shape;1168;p75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69" name="Google Shape;1169;p75"/>
            <p:cNvGrpSpPr/>
            <p:nvPr/>
          </p:nvGrpSpPr>
          <p:grpSpPr>
            <a:xfrm>
              <a:off x="6490934" y="1651913"/>
              <a:ext cx="1154935" cy="331500"/>
              <a:chOff x="3790659" y="949775"/>
              <a:chExt cx="1154935" cy="331500"/>
            </a:xfrm>
          </p:grpSpPr>
          <p:sp>
            <p:nvSpPr>
              <p:cNvPr id="1170" name="Google Shape;1170;p75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1" name="Google Shape;1171;p75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2" name="Google Shape;1172;p75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73" name="Google Shape;1173;p75"/>
            <p:cNvGrpSpPr/>
            <p:nvPr/>
          </p:nvGrpSpPr>
          <p:grpSpPr>
            <a:xfrm>
              <a:off x="6482959" y="2354000"/>
              <a:ext cx="1154935" cy="331500"/>
              <a:chOff x="3790659" y="949775"/>
              <a:chExt cx="1154935" cy="331500"/>
            </a:xfrm>
          </p:grpSpPr>
          <p:sp>
            <p:nvSpPr>
              <p:cNvPr id="1174" name="Google Shape;1174;p75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5" name="Google Shape;1175;p75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6" name="Google Shape;1176;p75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77" name="Google Shape;1177;p75"/>
            <p:cNvGrpSpPr/>
            <p:nvPr/>
          </p:nvGrpSpPr>
          <p:grpSpPr>
            <a:xfrm>
              <a:off x="6479734" y="3056125"/>
              <a:ext cx="1154935" cy="331500"/>
              <a:chOff x="3790659" y="949775"/>
              <a:chExt cx="1154935" cy="331500"/>
            </a:xfrm>
          </p:grpSpPr>
          <p:sp>
            <p:nvSpPr>
              <p:cNvPr id="1178" name="Google Shape;1178;p75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79" name="Google Shape;1179;p75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80" name="Google Shape;1180;p75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81" name="Google Shape;1181;p75"/>
            <p:cNvGrpSpPr/>
            <p:nvPr/>
          </p:nvGrpSpPr>
          <p:grpSpPr>
            <a:xfrm>
              <a:off x="6494159" y="3758200"/>
              <a:ext cx="1154935" cy="331500"/>
              <a:chOff x="3790659" y="949775"/>
              <a:chExt cx="1154935" cy="331500"/>
            </a:xfrm>
          </p:grpSpPr>
          <p:sp>
            <p:nvSpPr>
              <p:cNvPr id="1182" name="Google Shape;1182;p75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83" name="Google Shape;1183;p75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84" name="Google Shape;1184;p75"/>
              <p:cNvSpPr/>
              <p:nvPr/>
            </p:nvSpPr>
            <p:spPr>
              <a:xfrm>
                <a:off x="461409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185" name="Google Shape;1185;p75"/>
          <p:cNvSpPr txBox="1"/>
          <p:nvPr>
            <p:ph idx="1" type="body"/>
          </p:nvPr>
        </p:nvSpPr>
        <p:spPr>
          <a:xfrm>
            <a:off x="5161200" y="759300"/>
            <a:ext cx="85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15</a:t>
            </a:r>
            <a:endParaRPr/>
          </a:p>
        </p:txBody>
      </p:sp>
      <p:sp>
        <p:nvSpPr>
          <p:cNvPr id="1186" name="Google Shape;1186;p75"/>
          <p:cNvSpPr txBox="1"/>
          <p:nvPr>
            <p:ph idx="1" type="body"/>
          </p:nvPr>
        </p:nvSpPr>
        <p:spPr>
          <a:xfrm>
            <a:off x="3753000" y="759300"/>
            <a:ext cx="13608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(−3) × (−5)</a:t>
            </a:r>
            <a:endParaRPr/>
          </a:p>
        </p:txBody>
      </p:sp>
      <p:sp>
        <p:nvSpPr>
          <p:cNvPr id="1187" name="Google Shape;1187;p75"/>
          <p:cNvSpPr txBox="1"/>
          <p:nvPr/>
        </p:nvSpPr>
        <p:spPr>
          <a:xfrm>
            <a:off x="2812525" y="2035175"/>
            <a:ext cx="4259400" cy="9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Which could be read as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“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negative of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5 groups of 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)”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8" name="Google Shape;1188;p75"/>
          <p:cNvSpPr txBox="1"/>
          <p:nvPr>
            <p:ph idx="1" type="body"/>
          </p:nvPr>
        </p:nvSpPr>
        <p:spPr>
          <a:xfrm>
            <a:off x="4101575" y="2939375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−(5 × (−3))</a:t>
            </a:r>
            <a:endParaRPr/>
          </a:p>
        </p:txBody>
      </p:sp>
      <p:sp>
        <p:nvSpPr>
          <p:cNvPr id="1189" name="Google Shape;1189;p75"/>
          <p:cNvSpPr txBox="1"/>
          <p:nvPr/>
        </p:nvSpPr>
        <p:spPr>
          <a:xfrm>
            <a:off x="2887200" y="3465150"/>
            <a:ext cx="42594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You make 5 groups of (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−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75"/>
          <p:cNvSpPr txBox="1"/>
          <p:nvPr/>
        </p:nvSpPr>
        <p:spPr>
          <a:xfrm>
            <a:off x="2888725" y="4030375"/>
            <a:ext cx="43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to make the negative of this you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flip all of the counters over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1" name="Google Shape;1191;p75"/>
          <p:cNvSpPr txBox="1"/>
          <p:nvPr>
            <p:ph idx="1" type="body"/>
          </p:nvPr>
        </p:nvSpPr>
        <p:spPr>
          <a:xfrm>
            <a:off x="4075650" y="1138950"/>
            <a:ext cx="63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or</a:t>
            </a:r>
            <a:endParaRPr/>
          </a:p>
        </p:txBody>
      </p:sp>
      <p:sp>
        <p:nvSpPr>
          <p:cNvPr id="1192" name="Google Shape;1192;p75"/>
          <p:cNvSpPr txBox="1"/>
          <p:nvPr>
            <p:ph idx="1" type="body"/>
          </p:nvPr>
        </p:nvSpPr>
        <p:spPr>
          <a:xfrm>
            <a:off x="3753000" y="1562463"/>
            <a:ext cx="13608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(−5) × (−3)</a:t>
            </a:r>
            <a:endParaRPr/>
          </a:p>
        </p:txBody>
      </p:sp>
      <p:sp>
        <p:nvSpPr>
          <p:cNvPr id="1193" name="Google Shape;1193;p75"/>
          <p:cNvSpPr txBox="1"/>
          <p:nvPr>
            <p:ph idx="1" type="body"/>
          </p:nvPr>
        </p:nvSpPr>
        <p:spPr>
          <a:xfrm>
            <a:off x="5161200" y="1562475"/>
            <a:ext cx="85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15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199" name="Google Shape;1199;p76"/>
          <p:cNvSpPr txBox="1"/>
          <p:nvPr>
            <p:ph idx="1" type="body"/>
          </p:nvPr>
        </p:nvSpPr>
        <p:spPr>
          <a:xfrm>
            <a:off x="324000" y="759300"/>
            <a:ext cx="5751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are the products we just looked at.</a:t>
            </a:r>
            <a:endParaRPr/>
          </a:p>
        </p:txBody>
      </p:sp>
      <p:sp>
        <p:nvSpPr>
          <p:cNvPr id="1200" name="Google Shape;1200;p76"/>
          <p:cNvSpPr txBox="1"/>
          <p:nvPr>
            <p:ph idx="1" type="body"/>
          </p:nvPr>
        </p:nvSpPr>
        <p:spPr>
          <a:xfrm>
            <a:off x="324000" y="1375500"/>
            <a:ext cx="2036400" cy="19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 × 5 = 15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3 × (−5) = (−15)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(−3) × 5 = (−15)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(−3) × (−5) = 15</a:t>
            </a:r>
            <a:endParaRPr/>
          </a:p>
        </p:txBody>
      </p:sp>
      <p:grpSp>
        <p:nvGrpSpPr>
          <p:cNvPr id="1201" name="Google Shape;1201;p76"/>
          <p:cNvGrpSpPr/>
          <p:nvPr/>
        </p:nvGrpSpPr>
        <p:grpSpPr>
          <a:xfrm>
            <a:off x="5041462" y="1563619"/>
            <a:ext cx="3031556" cy="2604520"/>
            <a:chOff x="2954650" y="1356275"/>
            <a:chExt cx="4432748" cy="2430950"/>
          </a:xfrm>
        </p:grpSpPr>
        <p:pic>
          <p:nvPicPr>
            <p:cNvPr id="1202" name="Google Shape;1202;p76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2954650" y="1356275"/>
              <a:ext cx="4432748" cy="2430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3" name="Google Shape;1203;p76"/>
            <p:cNvSpPr txBox="1"/>
            <p:nvPr/>
          </p:nvSpPr>
          <p:spPr>
            <a:xfrm>
              <a:off x="3053585" y="1477650"/>
              <a:ext cx="3898800" cy="11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I’ve noticed that if both numbers are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positive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or both are negative, the answer is positive.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00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if there is one of each it is negative.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204" name="Google Shape;1204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4597" y="3597325"/>
            <a:ext cx="918325" cy="11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76"/>
          <p:cNvSpPr txBox="1"/>
          <p:nvPr>
            <p:ph idx="1" type="body"/>
          </p:nvPr>
        </p:nvSpPr>
        <p:spPr>
          <a:xfrm>
            <a:off x="324000" y="3787225"/>
            <a:ext cx="387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Andeep?</a:t>
            </a:r>
            <a:endParaRPr/>
          </a:p>
        </p:txBody>
      </p:sp>
      <p:sp>
        <p:nvSpPr>
          <p:cNvPr id="1206" name="Google Shape;1206;p76"/>
          <p:cNvSpPr txBox="1"/>
          <p:nvPr>
            <p:ph idx="1" type="body"/>
          </p:nvPr>
        </p:nvSpPr>
        <p:spPr>
          <a:xfrm>
            <a:off x="324000" y="4384025"/>
            <a:ext cx="3879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It does look like he’s right. </a:t>
            </a:r>
            <a:endParaRPr/>
          </a:p>
        </p:txBody>
      </p:sp>
      <p:sp>
        <p:nvSpPr>
          <p:cNvPr id="1207" name="Google Shape;1207;p76"/>
          <p:cNvSpPr txBox="1"/>
          <p:nvPr>
            <p:ph idx="1" type="body"/>
          </p:nvPr>
        </p:nvSpPr>
        <p:spPr>
          <a:xfrm>
            <a:off x="2644625" y="1375500"/>
            <a:ext cx="2036400" cy="190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5</a:t>
            </a:r>
            <a:r>
              <a:rPr lang="en-GB"/>
              <a:t> × 3 = 15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(−5)</a:t>
            </a:r>
            <a:r>
              <a:rPr lang="en-GB"/>
              <a:t> × 3</a:t>
            </a:r>
            <a:r>
              <a:rPr lang="en-GB"/>
              <a:t>= (−15)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5 </a:t>
            </a:r>
            <a:r>
              <a:rPr lang="en-GB"/>
              <a:t>× (−3) </a:t>
            </a:r>
            <a:r>
              <a:rPr lang="en-GB"/>
              <a:t>= (−15)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(−5) × (−3) = 15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77"/>
          <p:cNvSpPr/>
          <p:nvPr/>
        </p:nvSpPr>
        <p:spPr>
          <a:xfrm>
            <a:off x="5776641" y="134940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214" name="Google Shape;1214;p77"/>
          <p:cNvSpPr txBox="1"/>
          <p:nvPr>
            <p:ph idx="1" type="body"/>
          </p:nvPr>
        </p:nvSpPr>
        <p:spPr>
          <a:xfrm>
            <a:off x="324000" y="1292700"/>
            <a:ext cx="67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 × 4</a:t>
            </a:r>
            <a:endParaRPr/>
          </a:p>
        </p:txBody>
      </p:sp>
      <p:sp>
        <p:nvSpPr>
          <p:cNvPr id="1215" name="Google Shape;1215;p77"/>
          <p:cNvSpPr/>
          <p:nvPr/>
        </p:nvSpPr>
        <p:spPr>
          <a:xfrm>
            <a:off x="2891298" y="1349375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77"/>
          <p:cNvSpPr/>
          <p:nvPr/>
        </p:nvSpPr>
        <p:spPr>
          <a:xfrm>
            <a:off x="2887200" y="2051496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17" name="Google Shape;1217;p77"/>
          <p:cNvGrpSpPr/>
          <p:nvPr/>
        </p:nvGrpSpPr>
        <p:grpSpPr>
          <a:xfrm>
            <a:off x="2948559" y="1483175"/>
            <a:ext cx="1575985" cy="331500"/>
            <a:chOff x="2948559" y="949775"/>
            <a:chExt cx="1575985" cy="331500"/>
          </a:xfrm>
        </p:grpSpPr>
        <p:sp>
          <p:nvSpPr>
            <p:cNvPr id="1218" name="Google Shape;1218;p77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77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0" name="Google Shape;1220;p7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7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77"/>
          <p:cNvGrpSpPr/>
          <p:nvPr/>
        </p:nvGrpSpPr>
        <p:grpSpPr>
          <a:xfrm>
            <a:off x="2957434" y="2185288"/>
            <a:ext cx="1575985" cy="331500"/>
            <a:chOff x="2948559" y="949775"/>
            <a:chExt cx="1575985" cy="331500"/>
          </a:xfrm>
        </p:grpSpPr>
        <p:sp>
          <p:nvSpPr>
            <p:cNvPr id="1223" name="Google Shape;1223;p77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77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7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7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7" name="Google Shape;1227;p77"/>
          <p:cNvGrpSpPr/>
          <p:nvPr/>
        </p:nvGrpSpPr>
        <p:grpSpPr>
          <a:xfrm>
            <a:off x="5873684" y="1483200"/>
            <a:ext cx="733885" cy="331500"/>
            <a:chOff x="3790659" y="949775"/>
            <a:chExt cx="733885" cy="331500"/>
          </a:xfrm>
        </p:grpSpPr>
        <p:sp>
          <p:nvSpPr>
            <p:cNvPr id="1228" name="Google Shape;1228;p7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7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0" name="Google Shape;1230;p77"/>
          <p:cNvSpPr/>
          <p:nvPr/>
        </p:nvSpPr>
        <p:spPr>
          <a:xfrm>
            <a:off x="5774400" y="205151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77"/>
          <p:cNvSpPr/>
          <p:nvPr/>
        </p:nvSpPr>
        <p:spPr>
          <a:xfrm>
            <a:off x="5776641" y="275362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77"/>
          <p:cNvSpPr/>
          <p:nvPr/>
        </p:nvSpPr>
        <p:spPr>
          <a:xfrm>
            <a:off x="5782170" y="3455703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3" name="Google Shape;1233;p77"/>
          <p:cNvGrpSpPr/>
          <p:nvPr/>
        </p:nvGrpSpPr>
        <p:grpSpPr>
          <a:xfrm>
            <a:off x="5881334" y="2185313"/>
            <a:ext cx="733885" cy="331500"/>
            <a:chOff x="3790659" y="949775"/>
            <a:chExt cx="733885" cy="331500"/>
          </a:xfrm>
        </p:grpSpPr>
        <p:sp>
          <p:nvSpPr>
            <p:cNvPr id="1234" name="Google Shape;1234;p7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7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6" name="Google Shape;1236;p77"/>
          <p:cNvGrpSpPr/>
          <p:nvPr/>
        </p:nvGrpSpPr>
        <p:grpSpPr>
          <a:xfrm>
            <a:off x="5873359" y="2887400"/>
            <a:ext cx="733885" cy="331500"/>
            <a:chOff x="3790659" y="949775"/>
            <a:chExt cx="733885" cy="331500"/>
          </a:xfrm>
        </p:grpSpPr>
        <p:sp>
          <p:nvSpPr>
            <p:cNvPr id="1237" name="Google Shape;1237;p7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7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9" name="Google Shape;1239;p77"/>
          <p:cNvGrpSpPr/>
          <p:nvPr/>
        </p:nvGrpSpPr>
        <p:grpSpPr>
          <a:xfrm>
            <a:off x="5870134" y="3589525"/>
            <a:ext cx="733885" cy="331500"/>
            <a:chOff x="3790659" y="949775"/>
            <a:chExt cx="733885" cy="331500"/>
          </a:xfrm>
        </p:grpSpPr>
        <p:sp>
          <p:nvSpPr>
            <p:cNvPr id="1240" name="Google Shape;1240;p7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1" name="Google Shape;1241;p7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42" name="Google Shape;1242;p77"/>
          <p:cNvSpPr txBox="1"/>
          <p:nvPr>
            <p:ph idx="1" type="body"/>
          </p:nvPr>
        </p:nvSpPr>
        <p:spPr>
          <a:xfrm>
            <a:off x="1046400" y="1292700"/>
            <a:ext cx="638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8</a:t>
            </a:r>
            <a:endParaRPr/>
          </a:p>
        </p:txBody>
      </p:sp>
      <p:sp>
        <p:nvSpPr>
          <p:cNvPr id="1243" name="Google Shape;1243;p77"/>
          <p:cNvSpPr txBox="1"/>
          <p:nvPr>
            <p:ph idx="1" type="body"/>
          </p:nvPr>
        </p:nvSpPr>
        <p:spPr>
          <a:xfrm>
            <a:off x="324000" y="7659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will check Andeep’s idea with a different pair of numbers.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8" name="Google Shape;1248;p78"/>
          <p:cNvGrpSpPr/>
          <p:nvPr/>
        </p:nvGrpSpPr>
        <p:grpSpPr>
          <a:xfrm>
            <a:off x="5864270" y="1333858"/>
            <a:ext cx="733885" cy="331500"/>
            <a:chOff x="3790659" y="949775"/>
            <a:chExt cx="733885" cy="331500"/>
          </a:xfrm>
        </p:grpSpPr>
        <p:sp>
          <p:nvSpPr>
            <p:cNvPr id="1249" name="Google Shape;1249;p78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0" name="Google Shape;1250;p78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1" name="Google Shape;1251;p78"/>
          <p:cNvGrpSpPr/>
          <p:nvPr/>
        </p:nvGrpSpPr>
        <p:grpSpPr>
          <a:xfrm>
            <a:off x="5871920" y="2035970"/>
            <a:ext cx="733885" cy="331500"/>
            <a:chOff x="3790659" y="949775"/>
            <a:chExt cx="733885" cy="331500"/>
          </a:xfrm>
        </p:grpSpPr>
        <p:sp>
          <p:nvSpPr>
            <p:cNvPr id="1252" name="Google Shape;1252;p78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3" name="Google Shape;1253;p78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78"/>
          <p:cNvGrpSpPr/>
          <p:nvPr/>
        </p:nvGrpSpPr>
        <p:grpSpPr>
          <a:xfrm>
            <a:off x="5863945" y="2738058"/>
            <a:ext cx="733885" cy="331500"/>
            <a:chOff x="3790659" y="949775"/>
            <a:chExt cx="733885" cy="331500"/>
          </a:xfrm>
        </p:grpSpPr>
        <p:sp>
          <p:nvSpPr>
            <p:cNvPr id="1255" name="Google Shape;1255;p78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6" name="Google Shape;1256;p78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78"/>
          <p:cNvGrpSpPr/>
          <p:nvPr/>
        </p:nvGrpSpPr>
        <p:grpSpPr>
          <a:xfrm>
            <a:off x="5860720" y="3440183"/>
            <a:ext cx="733885" cy="331500"/>
            <a:chOff x="3790659" y="949775"/>
            <a:chExt cx="733885" cy="331500"/>
          </a:xfrm>
        </p:grpSpPr>
        <p:sp>
          <p:nvSpPr>
            <p:cNvPr id="1258" name="Google Shape;1258;p78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59" name="Google Shape;1259;p78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0" name="Google Shape;1260;p78"/>
          <p:cNvSpPr/>
          <p:nvPr/>
        </p:nvSpPr>
        <p:spPr>
          <a:xfrm>
            <a:off x="5776641" y="119700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262" name="Google Shape;1262;p78"/>
          <p:cNvSpPr txBox="1"/>
          <p:nvPr>
            <p:ph idx="1" type="body"/>
          </p:nvPr>
        </p:nvSpPr>
        <p:spPr>
          <a:xfrm>
            <a:off x="324000" y="1140300"/>
            <a:ext cx="99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2 × (−4)</a:t>
            </a:r>
            <a:endParaRPr/>
          </a:p>
        </p:txBody>
      </p:sp>
      <p:sp>
        <p:nvSpPr>
          <p:cNvPr id="1263" name="Google Shape;1263;p78"/>
          <p:cNvSpPr/>
          <p:nvPr/>
        </p:nvSpPr>
        <p:spPr>
          <a:xfrm>
            <a:off x="2891298" y="1196975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78"/>
          <p:cNvSpPr/>
          <p:nvPr/>
        </p:nvSpPr>
        <p:spPr>
          <a:xfrm>
            <a:off x="2887200" y="1899096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78"/>
          <p:cNvSpPr/>
          <p:nvPr/>
        </p:nvSpPr>
        <p:spPr>
          <a:xfrm>
            <a:off x="5774400" y="189911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78"/>
          <p:cNvSpPr/>
          <p:nvPr/>
        </p:nvSpPr>
        <p:spPr>
          <a:xfrm>
            <a:off x="5776641" y="260122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78"/>
          <p:cNvSpPr/>
          <p:nvPr/>
        </p:nvSpPr>
        <p:spPr>
          <a:xfrm>
            <a:off x="5782170" y="3303303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78"/>
          <p:cNvSpPr txBox="1"/>
          <p:nvPr>
            <p:ph idx="1" type="body"/>
          </p:nvPr>
        </p:nvSpPr>
        <p:spPr>
          <a:xfrm>
            <a:off x="1427400" y="1140300"/>
            <a:ext cx="855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r>
              <a:rPr lang="en-GB"/>
              <a:t>(−</a:t>
            </a:r>
            <a:r>
              <a:rPr lang="en-GB"/>
              <a:t>8)</a:t>
            </a:r>
            <a:endParaRPr/>
          </a:p>
        </p:txBody>
      </p:sp>
      <p:grpSp>
        <p:nvGrpSpPr>
          <p:cNvPr id="1269" name="Google Shape;1269;p78"/>
          <p:cNvGrpSpPr/>
          <p:nvPr/>
        </p:nvGrpSpPr>
        <p:grpSpPr>
          <a:xfrm>
            <a:off x="2928725" y="1330764"/>
            <a:ext cx="1613475" cy="331500"/>
            <a:chOff x="2928725" y="949764"/>
            <a:chExt cx="1613475" cy="331500"/>
          </a:xfrm>
        </p:grpSpPr>
        <p:sp>
          <p:nvSpPr>
            <p:cNvPr id="1270" name="Google Shape;1270;p78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1" name="Google Shape;1271;p78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2" name="Google Shape;1272;p78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3" name="Google Shape;1273;p78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4" name="Google Shape;1274;p78"/>
          <p:cNvGrpSpPr/>
          <p:nvPr/>
        </p:nvGrpSpPr>
        <p:grpSpPr>
          <a:xfrm>
            <a:off x="2939263" y="2032914"/>
            <a:ext cx="1613475" cy="331500"/>
            <a:chOff x="2928725" y="949764"/>
            <a:chExt cx="1613475" cy="331500"/>
          </a:xfrm>
        </p:grpSpPr>
        <p:sp>
          <p:nvSpPr>
            <p:cNvPr id="1275" name="Google Shape;1275;p78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78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7" name="Google Shape;1277;p78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8" name="Google Shape;1278;p78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9" name="Google Shape;1279;p78"/>
          <p:cNvGrpSpPr/>
          <p:nvPr/>
        </p:nvGrpSpPr>
        <p:grpSpPr>
          <a:xfrm>
            <a:off x="5848358" y="1332103"/>
            <a:ext cx="773013" cy="2447887"/>
            <a:chOff x="5848358" y="1332103"/>
            <a:chExt cx="773013" cy="2447887"/>
          </a:xfrm>
        </p:grpSpPr>
        <p:grpSp>
          <p:nvGrpSpPr>
            <p:cNvPr id="1280" name="Google Shape;1280;p78"/>
            <p:cNvGrpSpPr/>
            <p:nvPr/>
          </p:nvGrpSpPr>
          <p:grpSpPr>
            <a:xfrm>
              <a:off x="5856108" y="1332103"/>
              <a:ext cx="758825" cy="331500"/>
              <a:chOff x="3766925" y="949764"/>
              <a:chExt cx="758825" cy="331500"/>
            </a:xfrm>
          </p:grpSpPr>
          <p:sp>
            <p:nvSpPr>
              <p:cNvPr id="1281" name="Google Shape;1281;p78"/>
              <p:cNvSpPr/>
              <p:nvPr/>
            </p:nvSpPr>
            <p:spPr>
              <a:xfrm>
                <a:off x="37669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82" name="Google Shape;1282;p78"/>
              <p:cNvSpPr/>
              <p:nvPr/>
            </p:nvSpPr>
            <p:spPr>
              <a:xfrm>
                <a:off x="41942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83" name="Google Shape;1283;p78"/>
            <p:cNvGrpSpPr/>
            <p:nvPr/>
          </p:nvGrpSpPr>
          <p:grpSpPr>
            <a:xfrm>
              <a:off x="5848358" y="2032916"/>
              <a:ext cx="758825" cy="331500"/>
              <a:chOff x="2928725" y="949764"/>
              <a:chExt cx="758825" cy="331500"/>
            </a:xfrm>
          </p:grpSpPr>
          <p:sp>
            <p:nvSpPr>
              <p:cNvPr id="1284" name="Google Shape;1284;p78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85" name="Google Shape;1285;p78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86" name="Google Shape;1286;p78"/>
            <p:cNvGrpSpPr/>
            <p:nvPr/>
          </p:nvGrpSpPr>
          <p:grpSpPr>
            <a:xfrm>
              <a:off x="5848358" y="2734991"/>
              <a:ext cx="758825" cy="331500"/>
              <a:chOff x="2928725" y="949764"/>
              <a:chExt cx="758825" cy="331500"/>
            </a:xfrm>
          </p:grpSpPr>
          <p:sp>
            <p:nvSpPr>
              <p:cNvPr id="1287" name="Google Shape;1287;p78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88" name="Google Shape;1288;p78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89" name="Google Shape;1289;p78"/>
            <p:cNvGrpSpPr/>
            <p:nvPr/>
          </p:nvGrpSpPr>
          <p:grpSpPr>
            <a:xfrm>
              <a:off x="5862546" y="3448491"/>
              <a:ext cx="758825" cy="331500"/>
              <a:chOff x="2928725" y="949764"/>
              <a:chExt cx="758825" cy="331500"/>
            </a:xfrm>
          </p:grpSpPr>
          <p:sp>
            <p:nvSpPr>
              <p:cNvPr id="1290" name="Google Shape;1290;p78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91" name="Google Shape;1291;p78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6" name="Google Shape;1296;p79"/>
          <p:cNvGrpSpPr/>
          <p:nvPr/>
        </p:nvGrpSpPr>
        <p:grpSpPr>
          <a:xfrm>
            <a:off x="2948559" y="1330775"/>
            <a:ext cx="1575985" cy="331500"/>
            <a:chOff x="2948559" y="949775"/>
            <a:chExt cx="1575985" cy="331500"/>
          </a:xfrm>
        </p:grpSpPr>
        <p:sp>
          <p:nvSpPr>
            <p:cNvPr id="1297" name="Google Shape;1297;p79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8" name="Google Shape;1298;p79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7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0" name="Google Shape;1300;p7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1" name="Google Shape;1301;p79"/>
          <p:cNvGrpSpPr/>
          <p:nvPr/>
        </p:nvGrpSpPr>
        <p:grpSpPr>
          <a:xfrm>
            <a:off x="2957434" y="2032888"/>
            <a:ext cx="1575985" cy="331500"/>
            <a:chOff x="2948559" y="949775"/>
            <a:chExt cx="1575985" cy="331500"/>
          </a:xfrm>
        </p:grpSpPr>
        <p:sp>
          <p:nvSpPr>
            <p:cNvPr id="1302" name="Google Shape;1302;p79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3" name="Google Shape;1303;p79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4" name="Google Shape;1304;p79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79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06" name="Google Shape;1306;p79"/>
          <p:cNvSpPr/>
          <p:nvPr/>
        </p:nvSpPr>
        <p:spPr>
          <a:xfrm>
            <a:off x="5776641" y="119700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7" name="Google Shape;1307;p79"/>
          <p:cNvSpPr/>
          <p:nvPr/>
        </p:nvSpPr>
        <p:spPr>
          <a:xfrm>
            <a:off x="5774400" y="189911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8" name="Google Shape;1308;p79"/>
          <p:cNvSpPr/>
          <p:nvPr/>
        </p:nvSpPr>
        <p:spPr>
          <a:xfrm>
            <a:off x="5776641" y="260122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79"/>
          <p:cNvSpPr/>
          <p:nvPr/>
        </p:nvSpPr>
        <p:spPr>
          <a:xfrm>
            <a:off x="5782170" y="3303303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311" name="Google Shape;1311;p79"/>
          <p:cNvSpPr txBox="1"/>
          <p:nvPr>
            <p:ph idx="1" type="body"/>
          </p:nvPr>
        </p:nvSpPr>
        <p:spPr>
          <a:xfrm>
            <a:off x="324000" y="1140300"/>
            <a:ext cx="99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</a:t>
            </a:r>
            <a:r>
              <a:rPr lang="en-GB"/>
              <a:t>2) × 4</a:t>
            </a:r>
            <a:endParaRPr/>
          </a:p>
        </p:txBody>
      </p:sp>
      <p:sp>
        <p:nvSpPr>
          <p:cNvPr id="1312" name="Google Shape;1312;p79"/>
          <p:cNvSpPr/>
          <p:nvPr/>
        </p:nvSpPr>
        <p:spPr>
          <a:xfrm>
            <a:off x="2891298" y="1196975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79"/>
          <p:cNvSpPr/>
          <p:nvPr/>
        </p:nvSpPr>
        <p:spPr>
          <a:xfrm>
            <a:off x="2887200" y="1899096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79"/>
          <p:cNvSpPr txBox="1"/>
          <p:nvPr>
            <p:ph idx="1" type="body"/>
          </p:nvPr>
        </p:nvSpPr>
        <p:spPr>
          <a:xfrm>
            <a:off x="1427400" y="1140300"/>
            <a:ext cx="855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(−8)</a:t>
            </a:r>
            <a:endParaRPr/>
          </a:p>
        </p:txBody>
      </p:sp>
      <p:grpSp>
        <p:nvGrpSpPr>
          <p:cNvPr id="1315" name="Google Shape;1315;p79"/>
          <p:cNvGrpSpPr/>
          <p:nvPr/>
        </p:nvGrpSpPr>
        <p:grpSpPr>
          <a:xfrm>
            <a:off x="2935867" y="1330764"/>
            <a:ext cx="1624013" cy="1033650"/>
            <a:chOff x="1328525" y="1330764"/>
            <a:chExt cx="1624013" cy="1033650"/>
          </a:xfrm>
        </p:grpSpPr>
        <p:grpSp>
          <p:nvGrpSpPr>
            <p:cNvPr id="1316" name="Google Shape;1316;p79"/>
            <p:cNvGrpSpPr/>
            <p:nvPr/>
          </p:nvGrpSpPr>
          <p:grpSpPr>
            <a:xfrm>
              <a:off x="1328525" y="1330764"/>
              <a:ext cx="1613475" cy="331500"/>
              <a:chOff x="2928725" y="949764"/>
              <a:chExt cx="1613475" cy="331500"/>
            </a:xfrm>
          </p:grpSpPr>
          <p:sp>
            <p:nvSpPr>
              <p:cNvPr id="1317" name="Google Shape;1317;p79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8" name="Google Shape;1318;p79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19" name="Google Shape;1319;p79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0" name="Google Shape;1320;p79"/>
              <p:cNvSpPr/>
              <p:nvPr/>
            </p:nvSpPr>
            <p:spPr>
              <a:xfrm>
                <a:off x="421070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21" name="Google Shape;1321;p79"/>
            <p:cNvGrpSpPr/>
            <p:nvPr/>
          </p:nvGrpSpPr>
          <p:grpSpPr>
            <a:xfrm>
              <a:off x="1339063" y="2032914"/>
              <a:ext cx="1613475" cy="331500"/>
              <a:chOff x="2928725" y="949764"/>
              <a:chExt cx="1613475" cy="331500"/>
            </a:xfrm>
          </p:grpSpPr>
          <p:sp>
            <p:nvSpPr>
              <p:cNvPr id="1322" name="Google Shape;1322;p79"/>
              <p:cNvSpPr/>
              <p:nvPr/>
            </p:nvSpPr>
            <p:spPr>
              <a:xfrm>
                <a:off x="292872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3" name="Google Shape;1323;p79"/>
              <p:cNvSpPr/>
              <p:nvPr/>
            </p:nvSpPr>
            <p:spPr>
              <a:xfrm>
                <a:off x="335605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4" name="Google Shape;1324;p79"/>
              <p:cNvSpPr/>
              <p:nvPr/>
            </p:nvSpPr>
            <p:spPr>
              <a:xfrm>
                <a:off x="3783375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25" name="Google Shape;1325;p79"/>
              <p:cNvSpPr/>
              <p:nvPr/>
            </p:nvSpPr>
            <p:spPr>
              <a:xfrm>
                <a:off x="4210700" y="949764"/>
                <a:ext cx="331500" cy="331500"/>
              </a:xfrm>
              <a:prstGeom prst="ellipse">
                <a:avLst/>
              </a:prstGeom>
              <a:solidFill>
                <a:srgbClr val="E06666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−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grpSp>
        <p:nvGrpSpPr>
          <p:cNvPr id="1326" name="Google Shape;1326;p79"/>
          <p:cNvGrpSpPr/>
          <p:nvPr/>
        </p:nvGrpSpPr>
        <p:grpSpPr>
          <a:xfrm>
            <a:off x="5856108" y="1332103"/>
            <a:ext cx="758825" cy="331500"/>
            <a:chOff x="3766925" y="949764"/>
            <a:chExt cx="758825" cy="331500"/>
          </a:xfrm>
        </p:grpSpPr>
        <p:sp>
          <p:nvSpPr>
            <p:cNvPr id="1327" name="Google Shape;1327;p79"/>
            <p:cNvSpPr/>
            <p:nvPr/>
          </p:nvSpPr>
          <p:spPr>
            <a:xfrm>
              <a:off x="37669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8" name="Google Shape;1328;p79"/>
            <p:cNvSpPr/>
            <p:nvPr/>
          </p:nvSpPr>
          <p:spPr>
            <a:xfrm>
              <a:off x="41942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9" name="Google Shape;1329;p79"/>
          <p:cNvGrpSpPr/>
          <p:nvPr/>
        </p:nvGrpSpPr>
        <p:grpSpPr>
          <a:xfrm>
            <a:off x="5848358" y="2032916"/>
            <a:ext cx="758825" cy="331500"/>
            <a:chOff x="2928725" y="949764"/>
            <a:chExt cx="758825" cy="331500"/>
          </a:xfrm>
        </p:grpSpPr>
        <p:sp>
          <p:nvSpPr>
            <p:cNvPr id="1330" name="Google Shape;1330;p79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1" name="Google Shape;1331;p79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2" name="Google Shape;1332;p79"/>
          <p:cNvGrpSpPr/>
          <p:nvPr/>
        </p:nvGrpSpPr>
        <p:grpSpPr>
          <a:xfrm>
            <a:off x="5848358" y="2734991"/>
            <a:ext cx="758825" cy="331500"/>
            <a:chOff x="2928725" y="949764"/>
            <a:chExt cx="758825" cy="331500"/>
          </a:xfrm>
        </p:grpSpPr>
        <p:sp>
          <p:nvSpPr>
            <p:cNvPr id="1333" name="Google Shape;1333;p79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4" name="Google Shape;1334;p79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5" name="Google Shape;1335;p79"/>
          <p:cNvGrpSpPr/>
          <p:nvPr/>
        </p:nvGrpSpPr>
        <p:grpSpPr>
          <a:xfrm>
            <a:off x="5862546" y="3448491"/>
            <a:ext cx="758825" cy="331500"/>
            <a:chOff x="2928725" y="949764"/>
            <a:chExt cx="758825" cy="331500"/>
          </a:xfrm>
        </p:grpSpPr>
        <p:sp>
          <p:nvSpPr>
            <p:cNvPr id="1336" name="Google Shape;1336;p79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7" name="Google Shape;1337;p79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80"/>
          <p:cNvSpPr/>
          <p:nvPr/>
        </p:nvSpPr>
        <p:spPr>
          <a:xfrm>
            <a:off x="2891298" y="1196975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3" name="Google Shape;1343;p80"/>
          <p:cNvSpPr/>
          <p:nvPr/>
        </p:nvSpPr>
        <p:spPr>
          <a:xfrm>
            <a:off x="2887200" y="1899096"/>
            <a:ext cx="17094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44" name="Google Shape;1344;p80"/>
          <p:cNvGrpSpPr/>
          <p:nvPr/>
        </p:nvGrpSpPr>
        <p:grpSpPr>
          <a:xfrm>
            <a:off x="2948559" y="1330775"/>
            <a:ext cx="1584860" cy="1033613"/>
            <a:chOff x="2948559" y="1330775"/>
            <a:chExt cx="1584860" cy="1033613"/>
          </a:xfrm>
        </p:grpSpPr>
        <p:grpSp>
          <p:nvGrpSpPr>
            <p:cNvPr id="1345" name="Google Shape;1345;p80"/>
            <p:cNvGrpSpPr/>
            <p:nvPr/>
          </p:nvGrpSpPr>
          <p:grpSpPr>
            <a:xfrm>
              <a:off x="2948559" y="1330775"/>
              <a:ext cx="1575985" cy="331500"/>
              <a:chOff x="2948559" y="949775"/>
              <a:chExt cx="1575985" cy="331500"/>
            </a:xfrm>
          </p:grpSpPr>
          <p:sp>
            <p:nvSpPr>
              <p:cNvPr id="1346" name="Google Shape;1346;p80"/>
              <p:cNvSpPr/>
              <p:nvPr/>
            </p:nvSpPr>
            <p:spPr>
              <a:xfrm>
                <a:off x="29485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7" name="Google Shape;1347;p80"/>
              <p:cNvSpPr/>
              <p:nvPr/>
            </p:nvSpPr>
            <p:spPr>
              <a:xfrm>
                <a:off x="336960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8" name="Google Shape;1348;p80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49" name="Google Shape;1349;p80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50" name="Google Shape;1350;p80"/>
            <p:cNvGrpSpPr/>
            <p:nvPr/>
          </p:nvGrpSpPr>
          <p:grpSpPr>
            <a:xfrm>
              <a:off x="2957434" y="2032888"/>
              <a:ext cx="1575985" cy="331500"/>
              <a:chOff x="2948559" y="949775"/>
              <a:chExt cx="1575985" cy="331500"/>
            </a:xfrm>
          </p:grpSpPr>
          <p:sp>
            <p:nvSpPr>
              <p:cNvPr id="1351" name="Google Shape;1351;p80"/>
              <p:cNvSpPr/>
              <p:nvPr/>
            </p:nvSpPr>
            <p:spPr>
              <a:xfrm>
                <a:off x="29485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52" name="Google Shape;1352;p80"/>
              <p:cNvSpPr/>
              <p:nvPr/>
            </p:nvSpPr>
            <p:spPr>
              <a:xfrm>
                <a:off x="336960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53" name="Google Shape;1353;p80"/>
              <p:cNvSpPr/>
              <p:nvPr/>
            </p:nvSpPr>
            <p:spPr>
              <a:xfrm>
                <a:off x="3790659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54" name="Google Shape;1354;p80"/>
              <p:cNvSpPr/>
              <p:nvPr/>
            </p:nvSpPr>
            <p:spPr>
              <a:xfrm>
                <a:off x="4193045" y="949775"/>
                <a:ext cx="331500" cy="331500"/>
              </a:xfrm>
              <a:prstGeom prst="ellipse">
                <a:avLst/>
              </a:prstGeom>
              <a:solidFill>
                <a:srgbClr val="FFE599"/>
              </a:solidFill>
              <a:ln cap="flat" cmpd="sng" w="3810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GB" sz="2500">
                    <a:latin typeface="Lexend"/>
                    <a:ea typeface="Lexend"/>
                    <a:cs typeface="Lexend"/>
                    <a:sym typeface="Lexend"/>
                  </a:rPr>
                  <a:t>+</a:t>
                </a:r>
                <a:endParaRPr b="1" sz="25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355" name="Google Shape;1355;p80"/>
          <p:cNvSpPr/>
          <p:nvPr/>
        </p:nvSpPr>
        <p:spPr>
          <a:xfrm>
            <a:off x="5776641" y="119700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80"/>
          <p:cNvSpPr/>
          <p:nvPr/>
        </p:nvSpPr>
        <p:spPr>
          <a:xfrm>
            <a:off x="5774400" y="189911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7" name="Google Shape;1357;p80"/>
          <p:cNvSpPr/>
          <p:nvPr/>
        </p:nvSpPr>
        <p:spPr>
          <a:xfrm>
            <a:off x="5776641" y="2601220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8" name="Google Shape;1358;p80"/>
          <p:cNvSpPr/>
          <p:nvPr/>
        </p:nvSpPr>
        <p:spPr>
          <a:xfrm>
            <a:off x="5782170" y="3303303"/>
            <a:ext cx="935100" cy="599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360" name="Google Shape;1360;p80"/>
          <p:cNvSpPr txBox="1"/>
          <p:nvPr>
            <p:ph idx="1" type="body"/>
          </p:nvPr>
        </p:nvSpPr>
        <p:spPr>
          <a:xfrm>
            <a:off x="324000" y="1140300"/>
            <a:ext cx="136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(−2) × </a:t>
            </a:r>
            <a:r>
              <a:rPr lang="en-GB"/>
              <a:t>(−</a:t>
            </a:r>
            <a:r>
              <a:rPr lang="en-GB"/>
              <a:t>4)</a:t>
            </a:r>
            <a:endParaRPr/>
          </a:p>
        </p:txBody>
      </p:sp>
      <p:sp>
        <p:nvSpPr>
          <p:cNvPr id="1361" name="Google Shape;1361;p80"/>
          <p:cNvSpPr txBox="1"/>
          <p:nvPr>
            <p:ph idx="1" type="body"/>
          </p:nvPr>
        </p:nvSpPr>
        <p:spPr>
          <a:xfrm>
            <a:off x="1732200" y="1140300"/>
            <a:ext cx="855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8</a:t>
            </a:r>
            <a:endParaRPr/>
          </a:p>
        </p:txBody>
      </p:sp>
      <p:grpSp>
        <p:nvGrpSpPr>
          <p:cNvPr id="1362" name="Google Shape;1362;p80"/>
          <p:cNvGrpSpPr/>
          <p:nvPr/>
        </p:nvGrpSpPr>
        <p:grpSpPr>
          <a:xfrm>
            <a:off x="2935867" y="1330764"/>
            <a:ext cx="1613475" cy="331500"/>
            <a:chOff x="2928725" y="949764"/>
            <a:chExt cx="1613475" cy="331500"/>
          </a:xfrm>
        </p:grpSpPr>
        <p:sp>
          <p:nvSpPr>
            <p:cNvPr id="1363" name="Google Shape;1363;p8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4" name="Google Shape;1364;p8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5" name="Google Shape;1365;p80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6" name="Google Shape;1366;p80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7" name="Google Shape;1367;p80"/>
          <p:cNvGrpSpPr/>
          <p:nvPr/>
        </p:nvGrpSpPr>
        <p:grpSpPr>
          <a:xfrm>
            <a:off x="2946405" y="2032914"/>
            <a:ext cx="1613475" cy="331500"/>
            <a:chOff x="2928725" y="949764"/>
            <a:chExt cx="1613475" cy="331500"/>
          </a:xfrm>
        </p:grpSpPr>
        <p:sp>
          <p:nvSpPr>
            <p:cNvPr id="1368" name="Google Shape;1368;p8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9" name="Google Shape;1369;p8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0" name="Google Shape;1370;p80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1" name="Google Shape;1371;p80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2" name="Google Shape;1372;p80"/>
          <p:cNvGrpSpPr/>
          <p:nvPr/>
        </p:nvGrpSpPr>
        <p:grpSpPr>
          <a:xfrm>
            <a:off x="5856108" y="1332103"/>
            <a:ext cx="758825" cy="331500"/>
            <a:chOff x="3766925" y="949764"/>
            <a:chExt cx="758825" cy="331500"/>
          </a:xfrm>
        </p:grpSpPr>
        <p:sp>
          <p:nvSpPr>
            <p:cNvPr id="1373" name="Google Shape;1373;p80"/>
            <p:cNvSpPr/>
            <p:nvPr/>
          </p:nvSpPr>
          <p:spPr>
            <a:xfrm>
              <a:off x="37669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80"/>
            <p:cNvSpPr/>
            <p:nvPr/>
          </p:nvSpPr>
          <p:spPr>
            <a:xfrm>
              <a:off x="41942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5" name="Google Shape;1375;p80"/>
          <p:cNvGrpSpPr/>
          <p:nvPr/>
        </p:nvGrpSpPr>
        <p:grpSpPr>
          <a:xfrm>
            <a:off x="5848358" y="2032916"/>
            <a:ext cx="758825" cy="331500"/>
            <a:chOff x="2928725" y="949764"/>
            <a:chExt cx="758825" cy="331500"/>
          </a:xfrm>
        </p:grpSpPr>
        <p:sp>
          <p:nvSpPr>
            <p:cNvPr id="1376" name="Google Shape;1376;p8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8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8" name="Google Shape;1378;p80"/>
          <p:cNvGrpSpPr/>
          <p:nvPr/>
        </p:nvGrpSpPr>
        <p:grpSpPr>
          <a:xfrm>
            <a:off x="5848358" y="2734991"/>
            <a:ext cx="758825" cy="331500"/>
            <a:chOff x="2928725" y="949764"/>
            <a:chExt cx="758825" cy="331500"/>
          </a:xfrm>
        </p:grpSpPr>
        <p:sp>
          <p:nvSpPr>
            <p:cNvPr id="1379" name="Google Shape;1379;p8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0" name="Google Shape;1380;p8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1" name="Google Shape;1381;p80"/>
          <p:cNvGrpSpPr/>
          <p:nvPr/>
        </p:nvGrpSpPr>
        <p:grpSpPr>
          <a:xfrm>
            <a:off x="5862546" y="3448491"/>
            <a:ext cx="758825" cy="331500"/>
            <a:chOff x="2928725" y="949764"/>
            <a:chExt cx="758825" cy="331500"/>
          </a:xfrm>
        </p:grpSpPr>
        <p:sp>
          <p:nvSpPr>
            <p:cNvPr id="1382" name="Google Shape;1382;p80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80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4" name="Google Shape;1384;p80"/>
          <p:cNvGrpSpPr/>
          <p:nvPr/>
        </p:nvGrpSpPr>
        <p:grpSpPr>
          <a:xfrm>
            <a:off x="5873684" y="1330800"/>
            <a:ext cx="733885" cy="331500"/>
            <a:chOff x="3790659" y="949775"/>
            <a:chExt cx="733885" cy="331500"/>
          </a:xfrm>
        </p:grpSpPr>
        <p:sp>
          <p:nvSpPr>
            <p:cNvPr id="1385" name="Google Shape;1385;p80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6" name="Google Shape;1386;p80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7" name="Google Shape;1387;p80"/>
          <p:cNvGrpSpPr/>
          <p:nvPr/>
        </p:nvGrpSpPr>
        <p:grpSpPr>
          <a:xfrm>
            <a:off x="5881334" y="2032913"/>
            <a:ext cx="733885" cy="331500"/>
            <a:chOff x="3790659" y="949775"/>
            <a:chExt cx="733885" cy="331500"/>
          </a:xfrm>
        </p:grpSpPr>
        <p:sp>
          <p:nvSpPr>
            <p:cNvPr id="1388" name="Google Shape;1388;p80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9" name="Google Shape;1389;p80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0" name="Google Shape;1390;p80"/>
          <p:cNvGrpSpPr/>
          <p:nvPr/>
        </p:nvGrpSpPr>
        <p:grpSpPr>
          <a:xfrm>
            <a:off x="5873359" y="2735000"/>
            <a:ext cx="733885" cy="331500"/>
            <a:chOff x="3790659" y="949775"/>
            <a:chExt cx="733885" cy="331500"/>
          </a:xfrm>
        </p:grpSpPr>
        <p:sp>
          <p:nvSpPr>
            <p:cNvPr id="1391" name="Google Shape;1391;p80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2" name="Google Shape;1392;p80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93" name="Google Shape;1393;p80"/>
          <p:cNvGrpSpPr/>
          <p:nvPr/>
        </p:nvGrpSpPr>
        <p:grpSpPr>
          <a:xfrm>
            <a:off x="5870134" y="3437125"/>
            <a:ext cx="733885" cy="331500"/>
            <a:chOff x="3790659" y="949775"/>
            <a:chExt cx="733885" cy="331500"/>
          </a:xfrm>
        </p:grpSpPr>
        <p:sp>
          <p:nvSpPr>
            <p:cNvPr id="1394" name="Google Shape;1394;p80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5" name="Google Shape;1395;p80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401" name="Google Shape;1401;p81"/>
          <p:cNvSpPr txBox="1"/>
          <p:nvPr>
            <p:ph idx="1" type="body"/>
          </p:nvPr>
        </p:nvSpPr>
        <p:spPr>
          <a:xfrm>
            <a:off x="324000" y="759300"/>
            <a:ext cx="8237700" cy="383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Andeep was right.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Generalising for product</a:t>
            </a:r>
            <a:r>
              <a:rPr lang="en-GB"/>
              <a:t> of two integers: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</a:t>
            </a:r>
            <a:r>
              <a:rPr lang="en-GB">
                <a:solidFill>
                  <a:schemeClr val="accent4"/>
                </a:solidFill>
              </a:rPr>
              <a:t>both</a:t>
            </a:r>
            <a:r>
              <a:rPr lang="en-GB"/>
              <a:t> integers are </a:t>
            </a:r>
            <a:r>
              <a:rPr lang="en-GB">
                <a:solidFill>
                  <a:schemeClr val="accent4"/>
                </a:solidFill>
              </a:rPr>
              <a:t>positive</a:t>
            </a:r>
            <a:r>
              <a:rPr lang="en-GB"/>
              <a:t> or </a:t>
            </a:r>
            <a:r>
              <a:rPr lang="en-GB">
                <a:solidFill>
                  <a:schemeClr val="accent4"/>
                </a:solidFill>
              </a:rPr>
              <a:t>both</a:t>
            </a:r>
            <a:r>
              <a:rPr lang="en-GB"/>
              <a:t> integers are </a:t>
            </a:r>
            <a:r>
              <a:rPr lang="en-GB">
                <a:solidFill>
                  <a:schemeClr val="accent4"/>
                </a:solidFill>
              </a:rPr>
              <a:t>negative</a:t>
            </a:r>
            <a:r>
              <a:rPr lang="en-GB"/>
              <a:t> the product is the </a:t>
            </a:r>
            <a:r>
              <a:rPr lang="en-GB">
                <a:solidFill>
                  <a:schemeClr val="accent4"/>
                </a:solidFill>
              </a:rPr>
              <a:t>absolute value</a:t>
            </a:r>
            <a:r>
              <a:rPr lang="en-GB"/>
              <a:t> of the product.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r>
              <a:rPr lang="en-GB"/>
              <a:t>3 × 4 = 12 and </a:t>
            </a:r>
            <a:r>
              <a:rPr lang="en-GB"/>
              <a:t>(−3) × (−4) = 12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there is </a:t>
            </a:r>
            <a:r>
              <a:rPr lang="en-GB">
                <a:solidFill>
                  <a:schemeClr val="accent4"/>
                </a:solidFill>
              </a:rPr>
              <a:t>one positive</a:t>
            </a:r>
            <a:r>
              <a:rPr lang="en-GB"/>
              <a:t> integer and </a:t>
            </a:r>
            <a:r>
              <a:rPr lang="en-GB">
                <a:solidFill>
                  <a:schemeClr val="accent4"/>
                </a:solidFill>
              </a:rPr>
              <a:t>one negative</a:t>
            </a:r>
            <a:r>
              <a:rPr lang="en-GB"/>
              <a:t> integer the product is the </a:t>
            </a:r>
            <a:r>
              <a:rPr lang="en-GB">
                <a:solidFill>
                  <a:schemeClr val="accent4"/>
                </a:solidFill>
              </a:rPr>
              <a:t>negative</a:t>
            </a:r>
            <a:r>
              <a:rPr lang="en-GB"/>
              <a:t> of the </a:t>
            </a:r>
            <a:r>
              <a:rPr lang="en-GB">
                <a:solidFill>
                  <a:schemeClr val="accent4"/>
                </a:solidFill>
              </a:rPr>
              <a:t>absolute value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e.g. </a:t>
            </a:r>
            <a:r>
              <a:rPr lang="en-GB"/>
              <a:t>(−3) × 4 = (−12) and 3 × (−4) = (−12)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5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" name="Google Shape;140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407" name="Google Shape;1407;p82"/>
          <p:cNvSpPr txBox="1"/>
          <p:nvPr>
            <p:ph idx="1" type="body"/>
          </p:nvPr>
        </p:nvSpPr>
        <p:spPr>
          <a:xfrm>
            <a:off x="324000" y="759300"/>
            <a:ext cx="6672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each question to the correct product:</a:t>
            </a:r>
            <a:endParaRPr/>
          </a:p>
        </p:txBody>
      </p:sp>
      <p:sp>
        <p:nvSpPr>
          <p:cNvPr id="1408" name="Google Shape;1408;p82"/>
          <p:cNvSpPr txBox="1"/>
          <p:nvPr>
            <p:ph idx="1" type="body"/>
          </p:nvPr>
        </p:nvSpPr>
        <p:spPr>
          <a:xfrm>
            <a:off x="1684800" y="1398685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(−5) × 4</a:t>
            </a:r>
            <a:endParaRPr/>
          </a:p>
        </p:txBody>
      </p:sp>
      <p:sp>
        <p:nvSpPr>
          <p:cNvPr id="1409" name="Google Shape;1409;p82"/>
          <p:cNvSpPr txBox="1"/>
          <p:nvPr>
            <p:ph idx="1" type="body"/>
          </p:nvPr>
        </p:nvSpPr>
        <p:spPr>
          <a:xfrm>
            <a:off x="1684800" y="3558685"/>
            <a:ext cx="142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(−5) × (−4)</a:t>
            </a:r>
            <a:endParaRPr/>
          </a:p>
        </p:txBody>
      </p:sp>
      <p:sp>
        <p:nvSpPr>
          <p:cNvPr id="1410" name="Google Shape;1410;p82"/>
          <p:cNvSpPr txBox="1"/>
          <p:nvPr>
            <p:ph idx="1" type="body"/>
          </p:nvPr>
        </p:nvSpPr>
        <p:spPr>
          <a:xfrm>
            <a:off x="1684800" y="3018685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7</a:t>
            </a:r>
            <a:r>
              <a:rPr lang="en-GB"/>
              <a:t> × (−4)</a:t>
            </a:r>
            <a:endParaRPr/>
          </a:p>
        </p:txBody>
      </p:sp>
      <p:sp>
        <p:nvSpPr>
          <p:cNvPr id="1411" name="Google Shape;1411;p82"/>
          <p:cNvSpPr txBox="1"/>
          <p:nvPr>
            <p:ph idx="1" type="body"/>
          </p:nvPr>
        </p:nvSpPr>
        <p:spPr>
          <a:xfrm>
            <a:off x="1684800" y="1938685"/>
            <a:ext cx="1484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</a:t>
            </a:r>
            <a:r>
              <a:rPr lang="en-GB"/>
              <a:t>7) × (−4)</a:t>
            </a:r>
            <a:endParaRPr/>
          </a:p>
        </p:txBody>
      </p:sp>
      <p:sp>
        <p:nvSpPr>
          <p:cNvPr id="1412" name="Google Shape;1412;p82"/>
          <p:cNvSpPr txBox="1"/>
          <p:nvPr>
            <p:ph idx="1" type="body"/>
          </p:nvPr>
        </p:nvSpPr>
        <p:spPr>
          <a:xfrm>
            <a:off x="1684800" y="2478685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(−6) × 4</a:t>
            </a:r>
            <a:endParaRPr/>
          </a:p>
        </p:txBody>
      </p:sp>
      <p:sp>
        <p:nvSpPr>
          <p:cNvPr id="1413" name="Google Shape;1413;p82"/>
          <p:cNvSpPr txBox="1"/>
          <p:nvPr>
            <p:ph idx="1" type="body"/>
          </p:nvPr>
        </p:nvSpPr>
        <p:spPr>
          <a:xfrm>
            <a:off x="1684800" y="4098685"/>
            <a:ext cx="142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(−4) × (−6)</a:t>
            </a:r>
            <a:endParaRPr/>
          </a:p>
        </p:txBody>
      </p:sp>
      <p:cxnSp>
        <p:nvCxnSpPr>
          <p:cNvPr id="1414" name="Google Shape;1414;p82"/>
          <p:cNvCxnSpPr>
            <a:stCxn id="1408" idx="3"/>
            <a:endCxn id="1415" idx="1"/>
          </p:cNvCxnSpPr>
          <p:nvPr/>
        </p:nvCxnSpPr>
        <p:spPr>
          <a:xfrm>
            <a:off x="2887200" y="1559035"/>
            <a:ext cx="2887200" cy="600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6" name="Google Shape;1416;p82"/>
          <p:cNvCxnSpPr>
            <a:stCxn id="1411" idx="3"/>
            <a:endCxn id="1417" idx="1"/>
          </p:cNvCxnSpPr>
          <p:nvPr/>
        </p:nvCxnSpPr>
        <p:spPr>
          <a:xfrm>
            <a:off x="3169200" y="2099035"/>
            <a:ext cx="2605200" cy="1617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8" name="Google Shape;1418;p82"/>
          <p:cNvCxnSpPr>
            <a:stCxn id="1412" idx="3"/>
            <a:endCxn id="1419" idx="1"/>
          </p:cNvCxnSpPr>
          <p:nvPr/>
        </p:nvCxnSpPr>
        <p:spPr>
          <a:xfrm>
            <a:off x="2887200" y="2639035"/>
            <a:ext cx="2865600" cy="600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0" name="Google Shape;1420;p82"/>
          <p:cNvCxnSpPr>
            <a:endCxn id="1421" idx="1"/>
          </p:cNvCxnSpPr>
          <p:nvPr/>
        </p:nvCxnSpPr>
        <p:spPr>
          <a:xfrm>
            <a:off x="2887200" y="3169135"/>
            <a:ext cx="2887200" cy="10899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2" name="Google Shape;1422;p82"/>
          <p:cNvCxnSpPr>
            <a:stCxn id="1409" idx="3"/>
            <a:endCxn id="1423" idx="1"/>
          </p:cNvCxnSpPr>
          <p:nvPr/>
        </p:nvCxnSpPr>
        <p:spPr>
          <a:xfrm flipH="1" rot="10800000">
            <a:off x="3111000" y="1559035"/>
            <a:ext cx="2663400" cy="2160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4" name="Google Shape;1424;p82"/>
          <p:cNvCxnSpPr>
            <a:stCxn id="1413" idx="3"/>
          </p:cNvCxnSpPr>
          <p:nvPr/>
        </p:nvCxnSpPr>
        <p:spPr>
          <a:xfrm flipH="1" rot="10800000">
            <a:off x="3111000" y="2673535"/>
            <a:ext cx="2658300" cy="1585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5" name="Google Shape;1425;p82"/>
          <p:cNvSpPr txBox="1"/>
          <p:nvPr>
            <p:ph idx="1" type="body"/>
          </p:nvPr>
        </p:nvSpPr>
        <p:spPr>
          <a:xfrm>
            <a:off x="6000250" y="200123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(−20) </a:t>
            </a:r>
            <a:endParaRPr/>
          </a:p>
        </p:txBody>
      </p:sp>
      <p:sp>
        <p:nvSpPr>
          <p:cNvPr id="1426" name="Google Shape;1426;p82"/>
          <p:cNvSpPr txBox="1"/>
          <p:nvPr>
            <p:ph idx="1" type="body"/>
          </p:nvPr>
        </p:nvSpPr>
        <p:spPr>
          <a:xfrm>
            <a:off x="6000250" y="140026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20 </a:t>
            </a:r>
            <a:endParaRPr/>
          </a:p>
        </p:txBody>
      </p:sp>
      <p:sp>
        <p:nvSpPr>
          <p:cNvPr id="1427" name="Google Shape;1427;p82"/>
          <p:cNvSpPr txBox="1"/>
          <p:nvPr>
            <p:ph idx="1" type="body"/>
          </p:nvPr>
        </p:nvSpPr>
        <p:spPr>
          <a:xfrm>
            <a:off x="6000250" y="410026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(−28) </a:t>
            </a:r>
            <a:endParaRPr/>
          </a:p>
        </p:txBody>
      </p:sp>
      <p:sp>
        <p:nvSpPr>
          <p:cNvPr id="1428" name="Google Shape;1428;p82"/>
          <p:cNvSpPr txBox="1"/>
          <p:nvPr>
            <p:ph idx="1" type="body"/>
          </p:nvPr>
        </p:nvSpPr>
        <p:spPr>
          <a:xfrm>
            <a:off x="6000250" y="355747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28 </a:t>
            </a:r>
            <a:endParaRPr/>
          </a:p>
        </p:txBody>
      </p:sp>
      <p:sp>
        <p:nvSpPr>
          <p:cNvPr id="1429" name="Google Shape;1429;p82"/>
          <p:cNvSpPr txBox="1"/>
          <p:nvPr>
            <p:ph idx="1" type="body"/>
          </p:nvPr>
        </p:nvSpPr>
        <p:spPr>
          <a:xfrm>
            <a:off x="5978650" y="3081235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(−24) </a:t>
            </a:r>
            <a:endParaRPr/>
          </a:p>
        </p:txBody>
      </p:sp>
      <p:sp>
        <p:nvSpPr>
          <p:cNvPr id="1430" name="Google Shape;1430;p82"/>
          <p:cNvSpPr txBox="1"/>
          <p:nvPr>
            <p:ph idx="1" type="body"/>
          </p:nvPr>
        </p:nvSpPr>
        <p:spPr>
          <a:xfrm>
            <a:off x="6000250" y="247189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436" name="Google Shape;1436;p83"/>
          <p:cNvSpPr txBox="1"/>
          <p:nvPr>
            <p:ph idx="1" type="body"/>
          </p:nvPr>
        </p:nvSpPr>
        <p:spPr>
          <a:xfrm>
            <a:off x="324000" y="759300"/>
            <a:ext cx="39480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Product number pyramids</a:t>
            </a:r>
            <a:endParaRPr/>
          </a:p>
        </p:txBody>
      </p:sp>
      <p:sp>
        <p:nvSpPr>
          <p:cNvPr id="1437" name="Google Shape;1437;p83"/>
          <p:cNvSpPr/>
          <p:nvPr/>
        </p:nvSpPr>
        <p:spPr>
          <a:xfrm>
            <a:off x="2194483" y="29754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83"/>
          <p:cNvSpPr/>
          <p:nvPr/>
        </p:nvSpPr>
        <p:spPr>
          <a:xfrm>
            <a:off x="3391483" y="29754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9" name="Google Shape;1439;p83"/>
          <p:cNvSpPr/>
          <p:nvPr/>
        </p:nvSpPr>
        <p:spPr>
          <a:xfrm>
            <a:off x="4588483" y="29754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0" name="Google Shape;1440;p83"/>
          <p:cNvSpPr/>
          <p:nvPr/>
        </p:nvSpPr>
        <p:spPr>
          <a:xfrm>
            <a:off x="5785483" y="2975427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1" name="Google Shape;1441;p83"/>
          <p:cNvSpPr/>
          <p:nvPr/>
        </p:nvSpPr>
        <p:spPr>
          <a:xfrm>
            <a:off x="2793471" y="2435715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(−6)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2" name="Google Shape;1442;p83"/>
          <p:cNvSpPr/>
          <p:nvPr/>
        </p:nvSpPr>
        <p:spPr>
          <a:xfrm>
            <a:off x="3990471" y="2435715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83"/>
          <p:cNvSpPr/>
          <p:nvPr/>
        </p:nvSpPr>
        <p:spPr>
          <a:xfrm>
            <a:off x="5187471" y="2435715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4" name="Google Shape;1444;p83"/>
          <p:cNvSpPr/>
          <p:nvPr/>
        </p:nvSpPr>
        <p:spPr>
          <a:xfrm>
            <a:off x="3391958" y="1887002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(−18)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5" name="Google Shape;1445;p83"/>
          <p:cNvSpPr/>
          <p:nvPr/>
        </p:nvSpPr>
        <p:spPr>
          <a:xfrm>
            <a:off x="4588958" y="1887002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(−9)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83"/>
          <p:cNvSpPr/>
          <p:nvPr/>
        </p:nvSpPr>
        <p:spPr>
          <a:xfrm>
            <a:off x="3990471" y="1347015"/>
            <a:ext cx="1197000" cy="531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162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47" name="Google Shape;1447;p83"/>
          <p:cNvCxnSpPr/>
          <p:nvPr/>
        </p:nvCxnSpPr>
        <p:spPr>
          <a:xfrm>
            <a:off x="2375050" y="2025350"/>
            <a:ext cx="677700" cy="539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8" name="Google Shape;1448;p83"/>
          <p:cNvSpPr txBox="1"/>
          <p:nvPr>
            <p:ph idx="1" type="body"/>
          </p:nvPr>
        </p:nvSpPr>
        <p:spPr>
          <a:xfrm>
            <a:off x="324000" y="1289700"/>
            <a:ext cx="25632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product of the 2 bricks below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2 × (−3)</a:t>
            </a:r>
            <a:endParaRPr/>
          </a:p>
        </p:txBody>
      </p:sp>
      <p:sp>
        <p:nvSpPr>
          <p:cNvPr id="1449" name="Google Shape;1449;p83"/>
          <p:cNvSpPr/>
          <p:nvPr/>
        </p:nvSpPr>
        <p:spPr>
          <a:xfrm>
            <a:off x="3125450" y="2564475"/>
            <a:ext cx="5610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0" name="Google Shape;1450;p83"/>
          <p:cNvSpPr/>
          <p:nvPr/>
        </p:nvSpPr>
        <p:spPr>
          <a:xfrm>
            <a:off x="4308475" y="2564475"/>
            <a:ext cx="5610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83"/>
          <p:cNvSpPr/>
          <p:nvPr/>
        </p:nvSpPr>
        <p:spPr>
          <a:xfrm>
            <a:off x="5491500" y="2564475"/>
            <a:ext cx="5610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2" name="Google Shape;1452;p83"/>
          <p:cNvSpPr/>
          <p:nvPr/>
        </p:nvSpPr>
        <p:spPr>
          <a:xfrm>
            <a:off x="3600600" y="1993225"/>
            <a:ext cx="7851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3" name="Google Shape;1453;p83"/>
          <p:cNvSpPr/>
          <p:nvPr/>
        </p:nvSpPr>
        <p:spPr>
          <a:xfrm>
            <a:off x="4794900" y="1993225"/>
            <a:ext cx="7851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83"/>
          <p:cNvSpPr/>
          <p:nvPr/>
        </p:nvSpPr>
        <p:spPr>
          <a:xfrm>
            <a:off x="4196425" y="1425038"/>
            <a:ext cx="7851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5" name="Google Shape;1455;p83"/>
          <p:cNvSpPr/>
          <p:nvPr/>
        </p:nvSpPr>
        <p:spPr>
          <a:xfrm>
            <a:off x="324000" y="2236550"/>
            <a:ext cx="11133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56" name="Google Shape;1456;p83"/>
          <p:cNvCxnSpPr>
            <a:endCxn id="1451" idx="3"/>
          </p:cNvCxnSpPr>
          <p:nvPr/>
        </p:nvCxnSpPr>
        <p:spPr>
          <a:xfrm flipH="1">
            <a:off x="6052500" y="2207325"/>
            <a:ext cx="1043400" cy="521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57" name="Google Shape;1457;p83"/>
          <p:cNvSpPr txBox="1"/>
          <p:nvPr>
            <p:ph idx="1" type="body"/>
          </p:nvPr>
        </p:nvSpPr>
        <p:spPr>
          <a:xfrm>
            <a:off x="6094825" y="887238"/>
            <a:ext cx="2563200" cy="3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product of the 2 bricks below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(−1) × 3</a:t>
            </a:r>
            <a:endParaRPr/>
          </a:p>
        </p:txBody>
      </p:sp>
      <p:sp>
        <p:nvSpPr>
          <p:cNvPr id="1458" name="Google Shape;1458;p83"/>
          <p:cNvSpPr/>
          <p:nvPr/>
        </p:nvSpPr>
        <p:spPr>
          <a:xfrm>
            <a:off x="6069850" y="1829138"/>
            <a:ext cx="1113300" cy="32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Complete the number pyramids.  Each brick is the </a:t>
            </a:r>
            <a:r>
              <a:rPr lang="en-GB" sz="1800">
                <a:solidFill>
                  <a:schemeClr val="accent4"/>
                </a:solidFill>
              </a:rPr>
              <a:t>product </a:t>
            </a:r>
            <a:r>
              <a:rPr lang="en-GB" sz="1800"/>
              <a:t>of the 2 bricks below it.</a:t>
            </a:r>
            <a:endParaRPr sz="1800"/>
          </a:p>
        </p:txBody>
      </p:sp>
      <p:sp>
        <p:nvSpPr>
          <p:cNvPr id="1464" name="Google Shape;1464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465" name="Google Shape;1465;p84"/>
          <p:cNvSpPr/>
          <p:nvPr/>
        </p:nvSpPr>
        <p:spPr>
          <a:xfrm>
            <a:off x="324000" y="211417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6" name="Google Shape;1466;p84"/>
          <p:cNvSpPr/>
          <p:nvPr/>
        </p:nvSpPr>
        <p:spPr>
          <a:xfrm>
            <a:off x="1123002" y="211417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7" name="Google Shape;1467;p84"/>
          <p:cNvSpPr/>
          <p:nvPr/>
        </p:nvSpPr>
        <p:spPr>
          <a:xfrm>
            <a:off x="723501" y="179088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8" name="Google Shape;1468;p84"/>
          <p:cNvSpPr/>
          <p:nvPr/>
        </p:nvSpPr>
        <p:spPr>
          <a:xfrm>
            <a:off x="1522503" y="179088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9" name="Google Shape;1469;p84"/>
          <p:cNvSpPr/>
          <p:nvPr/>
        </p:nvSpPr>
        <p:spPr>
          <a:xfrm>
            <a:off x="1922004" y="211417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0" name="Google Shape;1470;p84"/>
          <p:cNvSpPr/>
          <p:nvPr/>
        </p:nvSpPr>
        <p:spPr>
          <a:xfrm>
            <a:off x="1123002" y="1467591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1" name="Google Shape;1471;p84"/>
          <p:cNvSpPr/>
          <p:nvPr/>
        </p:nvSpPr>
        <p:spPr>
          <a:xfrm>
            <a:off x="2942149" y="211418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2" name="Google Shape;1472;p84"/>
          <p:cNvSpPr/>
          <p:nvPr/>
        </p:nvSpPr>
        <p:spPr>
          <a:xfrm>
            <a:off x="3741151" y="211418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84"/>
          <p:cNvSpPr/>
          <p:nvPr/>
        </p:nvSpPr>
        <p:spPr>
          <a:xfrm>
            <a:off x="3341650" y="179089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4" name="Google Shape;1474;p84"/>
          <p:cNvSpPr/>
          <p:nvPr/>
        </p:nvSpPr>
        <p:spPr>
          <a:xfrm>
            <a:off x="4140652" y="179089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5" name="Google Shape;1475;p84"/>
          <p:cNvSpPr/>
          <p:nvPr/>
        </p:nvSpPr>
        <p:spPr>
          <a:xfrm>
            <a:off x="4540153" y="211418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84"/>
          <p:cNvSpPr/>
          <p:nvPr/>
        </p:nvSpPr>
        <p:spPr>
          <a:xfrm>
            <a:off x="3741151" y="1467601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7" name="Google Shape;1477;p84"/>
          <p:cNvSpPr/>
          <p:nvPr/>
        </p:nvSpPr>
        <p:spPr>
          <a:xfrm>
            <a:off x="5947220" y="1791469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8" name="Google Shape;1478;p84"/>
          <p:cNvSpPr/>
          <p:nvPr/>
        </p:nvSpPr>
        <p:spPr>
          <a:xfrm>
            <a:off x="6746222" y="1791469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9" name="Google Shape;1479;p84"/>
          <p:cNvSpPr/>
          <p:nvPr/>
        </p:nvSpPr>
        <p:spPr>
          <a:xfrm>
            <a:off x="6346721" y="1468176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0" name="Google Shape;1480;p84"/>
          <p:cNvSpPr/>
          <p:nvPr/>
        </p:nvSpPr>
        <p:spPr>
          <a:xfrm>
            <a:off x="7145723" y="1468176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1" name="Google Shape;1481;p84"/>
          <p:cNvSpPr/>
          <p:nvPr/>
        </p:nvSpPr>
        <p:spPr>
          <a:xfrm>
            <a:off x="7545224" y="1791469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2" name="Google Shape;1482;p84"/>
          <p:cNvSpPr/>
          <p:nvPr/>
        </p:nvSpPr>
        <p:spPr>
          <a:xfrm>
            <a:off x="6746222" y="1144883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3" name="Google Shape;1483;p84"/>
          <p:cNvSpPr/>
          <p:nvPr/>
        </p:nvSpPr>
        <p:spPr>
          <a:xfrm>
            <a:off x="5547719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84"/>
          <p:cNvSpPr/>
          <p:nvPr/>
        </p:nvSpPr>
        <p:spPr>
          <a:xfrm>
            <a:off x="6346721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5" name="Google Shape;1485;p84"/>
          <p:cNvSpPr/>
          <p:nvPr/>
        </p:nvSpPr>
        <p:spPr>
          <a:xfrm>
            <a:off x="7145723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6" name="Google Shape;1486;p84"/>
          <p:cNvSpPr/>
          <p:nvPr/>
        </p:nvSpPr>
        <p:spPr>
          <a:xfrm>
            <a:off x="7944725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7" name="Google Shape;1487;p84"/>
          <p:cNvSpPr/>
          <p:nvPr/>
        </p:nvSpPr>
        <p:spPr>
          <a:xfrm>
            <a:off x="810066" y="3548470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8" name="Google Shape;1488;p84"/>
          <p:cNvSpPr/>
          <p:nvPr/>
        </p:nvSpPr>
        <p:spPr>
          <a:xfrm>
            <a:off x="1629798" y="3548470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89" name="Google Shape;1489;p84"/>
          <p:cNvSpPr/>
          <p:nvPr/>
        </p:nvSpPr>
        <p:spPr>
          <a:xfrm>
            <a:off x="1219932" y="3225176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0" name="Google Shape;1490;p84"/>
          <p:cNvSpPr/>
          <p:nvPr/>
        </p:nvSpPr>
        <p:spPr>
          <a:xfrm>
            <a:off x="2039664" y="3225176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1" name="Google Shape;1491;p84"/>
          <p:cNvSpPr/>
          <p:nvPr/>
        </p:nvSpPr>
        <p:spPr>
          <a:xfrm>
            <a:off x="2449530" y="3548470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2" name="Google Shape;1492;p84"/>
          <p:cNvSpPr/>
          <p:nvPr/>
        </p:nvSpPr>
        <p:spPr>
          <a:xfrm>
            <a:off x="1629798" y="29018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3" name="Google Shape;1493;p84"/>
          <p:cNvSpPr/>
          <p:nvPr/>
        </p:nvSpPr>
        <p:spPr>
          <a:xfrm>
            <a:off x="400200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84"/>
          <p:cNvSpPr/>
          <p:nvPr/>
        </p:nvSpPr>
        <p:spPr>
          <a:xfrm>
            <a:off x="1219932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84"/>
          <p:cNvSpPr/>
          <p:nvPr/>
        </p:nvSpPr>
        <p:spPr>
          <a:xfrm>
            <a:off x="2039664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6" name="Google Shape;1496;p84"/>
          <p:cNvSpPr/>
          <p:nvPr/>
        </p:nvSpPr>
        <p:spPr>
          <a:xfrm>
            <a:off x="2859396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7" name="Google Shape;1497;p84"/>
          <p:cNvSpPr/>
          <p:nvPr/>
        </p:nvSpPr>
        <p:spPr>
          <a:xfrm>
            <a:off x="4875374" y="323124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8" name="Google Shape;1498;p84"/>
          <p:cNvSpPr/>
          <p:nvPr/>
        </p:nvSpPr>
        <p:spPr>
          <a:xfrm>
            <a:off x="5868505" y="323124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9" name="Google Shape;1499;p84"/>
          <p:cNvSpPr/>
          <p:nvPr/>
        </p:nvSpPr>
        <p:spPr>
          <a:xfrm>
            <a:off x="5371939" y="2907950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0" name="Google Shape;1500;p84"/>
          <p:cNvSpPr/>
          <p:nvPr/>
        </p:nvSpPr>
        <p:spPr>
          <a:xfrm>
            <a:off x="6365071" y="2907950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1" name="Google Shape;1501;p84"/>
          <p:cNvSpPr/>
          <p:nvPr/>
        </p:nvSpPr>
        <p:spPr>
          <a:xfrm>
            <a:off x="6861636" y="323124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2" name="Google Shape;1502;p84"/>
          <p:cNvSpPr/>
          <p:nvPr/>
        </p:nvSpPr>
        <p:spPr>
          <a:xfrm>
            <a:off x="5701529" y="2584656"/>
            <a:ext cx="132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3" name="Google Shape;1503;p84"/>
          <p:cNvSpPr/>
          <p:nvPr/>
        </p:nvSpPr>
        <p:spPr>
          <a:xfrm>
            <a:off x="4378808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4" name="Google Shape;1504;p84"/>
          <p:cNvSpPr/>
          <p:nvPr/>
        </p:nvSpPr>
        <p:spPr>
          <a:xfrm>
            <a:off x="5371939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5" name="Google Shape;1505;p84"/>
          <p:cNvSpPr/>
          <p:nvPr/>
        </p:nvSpPr>
        <p:spPr>
          <a:xfrm>
            <a:off x="6365071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6" name="Google Shape;1506;p84"/>
          <p:cNvSpPr/>
          <p:nvPr/>
        </p:nvSpPr>
        <p:spPr>
          <a:xfrm>
            <a:off x="7358202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7" name="Google Shape;1507;p84"/>
          <p:cNvSpPr/>
          <p:nvPr/>
        </p:nvSpPr>
        <p:spPr>
          <a:xfrm>
            <a:off x="3853975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84"/>
          <p:cNvSpPr/>
          <p:nvPr/>
        </p:nvSpPr>
        <p:spPr>
          <a:xfrm>
            <a:off x="4847106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84"/>
          <p:cNvSpPr/>
          <p:nvPr/>
        </p:nvSpPr>
        <p:spPr>
          <a:xfrm>
            <a:off x="5840237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84"/>
          <p:cNvSpPr/>
          <p:nvPr/>
        </p:nvSpPr>
        <p:spPr>
          <a:xfrm>
            <a:off x="6833369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(−5)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84"/>
          <p:cNvSpPr/>
          <p:nvPr/>
        </p:nvSpPr>
        <p:spPr>
          <a:xfrm>
            <a:off x="7826500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2" name="Google Shape;1512;p84"/>
          <p:cNvSpPr txBox="1"/>
          <p:nvPr/>
        </p:nvSpPr>
        <p:spPr>
          <a:xfrm>
            <a:off x="723500" y="1305075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3" name="Google Shape;1513;p84"/>
          <p:cNvSpPr txBox="1"/>
          <p:nvPr/>
        </p:nvSpPr>
        <p:spPr>
          <a:xfrm>
            <a:off x="3369600" y="1305075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84"/>
          <p:cNvSpPr txBox="1"/>
          <p:nvPr/>
        </p:nvSpPr>
        <p:spPr>
          <a:xfrm>
            <a:off x="6346725" y="997275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5" name="Google Shape;1515;p84"/>
          <p:cNvSpPr txBox="1"/>
          <p:nvPr/>
        </p:nvSpPr>
        <p:spPr>
          <a:xfrm>
            <a:off x="1219925" y="2745806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6" name="Google Shape;1516;p84"/>
          <p:cNvSpPr txBox="1"/>
          <p:nvPr/>
        </p:nvSpPr>
        <p:spPr>
          <a:xfrm>
            <a:off x="5339350" y="2431094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7" name="Google Shape;1517;p84"/>
          <p:cNvSpPr txBox="1"/>
          <p:nvPr/>
        </p:nvSpPr>
        <p:spPr>
          <a:xfrm>
            <a:off x="324000" y="4258204"/>
            <a:ext cx="814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  Create a pyramid with a base of 4 which has a positive number at the top.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85"/>
          <p:cNvSpPr txBox="1"/>
          <p:nvPr>
            <p:ph idx="1" type="body"/>
          </p:nvPr>
        </p:nvSpPr>
        <p:spPr>
          <a:xfrm>
            <a:off x="324000" y="759300"/>
            <a:ext cx="8237700" cy="7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Complete the number pyramids.  Each brick is the product of the 2 bricks below it.</a:t>
            </a:r>
            <a:endParaRPr sz="1800"/>
          </a:p>
        </p:txBody>
      </p:sp>
      <p:sp>
        <p:nvSpPr>
          <p:cNvPr id="1523" name="Google Shape;1523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524" name="Google Shape;1524;p85"/>
          <p:cNvSpPr/>
          <p:nvPr/>
        </p:nvSpPr>
        <p:spPr>
          <a:xfrm>
            <a:off x="324000" y="211417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85"/>
          <p:cNvSpPr/>
          <p:nvPr/>
        </p:nvSpPr>
        <p:spPr>
          <a:xfrm>
            <a:off x="1123002" y="211417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85"/>
          <p:cNvSpPr/>
          <p:nvPr/>
        </p:nvSpPr>
        <p:spPr>
          <a:xfrm>
            <a:off x="723501" y="179088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(−20)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7" name="Google Shape;1527;p85"/>
          <p:cNvSpPr/>
          <p:nvPr/>
        </p:nvSpPr>
        <p:spPr>
          <a:xfrm>
            <a:off x="1522503" y="179088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(−10)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8" name="Google Shape;1528;p85"/>
          <p:cNvSpPr/>
          <p:nvPr/>
        </p:nvSpPr>
        <p:spPr>
          <a:xfrm>
            <a:off x="1922004" y="211417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9" name="Google Shape;1529;p85"/>
          <p:cNvSpPr/>
          <p:nvPr/>
        </p:nvSpPr>
        <p:spPr>
          <a:xfrm>
            <a:off x="1123002" y="1467591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0" name="Google Shape;1530;p85"/>
          <p:cNvSpPr/>
          <p:nvPr/>
        </p:nvSpPr>
        <p:spPr>
          <a:xfrm>
            <a:off x="2942149" y="211418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1" name="Google Shape;1531;p85"/>
          <p:cNvSpPr/>
          <p:nvPr/>
        </p:nvSpPr>
        <p:spPr>
          <a:xfrm>
            <a:off x="3741151" y="211418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(−3)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85"/>
          <p:cNvSpPr/>
          <p:nvPr/>
        </p:nvSpPr>
        <p:spPr>
          <a:xfrm>
            <a:off x="3341650" y="179089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(−6)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3" name="Google Shape;1533;p85"/>
          <p:cNvSpPr/>
          <p:nvPr/>
        </p:nvSpPr>
        <p:spPr>
          <a:xfrm>
            <a:off x="4140652" y="1790894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4" name="Google Shape;1534;p85"/>
          <p:cNvSpPr/>
          <p:nvPr/>
        </p:nvSpPr>
        <p:spPr>
          <a:xfrm>
            <a:off x="4540153" y="2114187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(−4)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5" name="Google Shape;1535;p85"/>
          <p:cNvSpPr/>
          <p:nvPr/>
        </p:nvSpPr>
        <p:spPr>
          <a:xfrm>
            <a:off x="3741151" y="1467601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(−72)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6" name="Google Shape;1536;p85"/>
          <p:cNvSpPr/>
          <p:nvPr/>
        </p:nvSpPr>
        <p:spPr>
          <a:xfrm>
            <a:off x="5947220" y="1791469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7" name="Google Shape;1537;p85"/>
          <p:cNvSpPr/>
          <p:nvPr/>
        </p:nvSpPr>
        <p:spPr>
          <a:xfrm>
            <a:off x="6746222" y="1791469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(−6)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8" name="Google Shape;1538;p85"/>
          <p:cNvSpPr/>
          <p:nvPr/>
        </p:nvSpPr>
        <p:spPr>
          <a:xfrm>
            <a:off x="6346721" y="1468176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(−12)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39" name="Google Shape;1539;p85"/>
          <p:cNvSpPr/>
          <p:nvPr/>
        </p:nvSpPr>
        <p:spPr>
          <a:xfrm>
            <a:off x="7145723" y="1468176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0" name="Google Shape;1540;p85"/>
          <p:cNvSpPr/>
          <p:nvPr/>
        </p:nvSpPr>
        <p:spPr>
          <a:xfrm>
            <a:off x="7545224" y="1791469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(−3)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1" name="Google Shape;1541;p85"/>
          <p:cNvSpPr/>
          <p:nvPr/>
        </p:nvSpPr>
        <p:spPr>
          <a:xfrm>
            <a:off x="6746225" y="1144875"/>
            <a:ext cx="8514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(−216)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2" name="Google Shape;1542;p85"/>
          <p:cNvSpPr/>
          <p:nvPr/>
        </p:nvSpPr>
        <p:spPr>
          <a:xfrm>
            <a:off x="5547719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3" name="Google Shape;1543;p85"/>
          <p:cNvSpPr/>
          <p:nvPr/>
        </p:nvSpPr>
        <p:spPr>
          <a:xfrm>
            <a:off x="6346721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4" name="Google Shape;1544;p85"/>
          <p:cNvSpPr/>
          <p:nvPr/>
        </p:nvSpPr>
        <p:spPr>
          <a:xfrm>
            <a:off x="7145723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3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5" name="Google Shape;1545;p85"/>
          <p:cNvSpPr/>
          <p:nvPr/>
        </p:nvSpPr>
        <p:spPr>
          <a:xfrm>
            <a:off x="7944725" y="2115778"/>
            <a:ext cx="7992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6" name="Google Shape;1546;p85"/>
          <p:cNvSpPr/>
          <p:nvPr/>
        </p:nvSpPr>
        <p:spPr>
          <a:xfrm>
            <a:off x="810066" y="3548470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7" name="Google Shape;1547;p85"/>
          <p:cNvSpPr/>
          <p:nvPr/>
        </p:nvSpPr>
        <p:spPr>
          <a:xfrm>
            <a:off x="1629798" y="3548470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8" name="Google Shape;1548;p85"/>
          <p:cNvSpPr/>
          <p:nvPr/>
        </p:nvSpPr>
        <p:spPr>
          <a:xfrm>
            <a:off x="1219932" y="3225176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49" name="Google Shape;1549;p85"/>
          <p:cNvSpPr/>
          <p:nvPr/>
        </p:nvSpPr>
        <p:spPr>
          <a:xfrm>
            <a:off x="2039664" y="3225176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(−50)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0" name="Google Shape;1550;p85"/>
          <p:cNvSpPr/>
          <p:nvPr/>
        </p:nvSpPr>
        <p:spPr>
          <a:xfrm>
            <a:off x="2449530" y="3548470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1" name="Google Shape;1551;p85"/>
          <p:cNvSpPr/>
          <p:nvPr/>
        </p:nvSpPr>
        <p:spPr>
          <a:xfrm>
            <a:off x="1629800" y="2901875"/>
            <a:ext cx="8514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(−500)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2" name="Google Shape;1552;p85"/>
          <p:cNvSpPr/>
          <p:nvPr/>
        </p:nvSpPr>
        <p:spPr>
          <a:xfrm>
            <a:off x="400200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3" name="Google Shape;1553;p85"/>
          <p:cNvSpPr/>
          <p:nvPr/>
        </p:nvSpPr>
        <p:spPr>
          <a:xfrm>
            <a:off x="1219932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4" name="Google Shape;1554;p85"/>
          <p:cNvSpPr/>
          <p:nvPr/>
        </p:nvSpPr>
        <p:spPr>
          <a:xfrm>
            <a:off x="2039664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5" name="Google Shape;1555;p85"/>
          <p:cNvSpPr/>
          <p:nvPr/>
        </p:nvSpPr>
        <p:spPr>
          <a:xfrm>
            <a:off x="2859396" y="3872781"/>
            <a:ext cx="81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6" name="Google Shape;1556;p85"/>
          <p:cNvSpPr/>
          <p:nvPr/>
        </p:nvSpPr>
        <p:spPr>
          <a:xfrm>
            <a:off x="4875374" y="323124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7" name="Google Shape;1557;p85"/>
          <p:cNvSpPr/>
          <p:nvPr/>
        </p:nvSpPr>
        <p:spPr>
          <a:xfrm>
            <a:off x="5868505" y="323124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(−10)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8" name="Google Shape;1558;p85"/>
          <p:cNvSpPr/>
          <p:nvPr/>
        </p:nvSpPr>
        <p:spPr>
          <a:xfrm>
            <a:off x="5371939" y="2907950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(−80)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9" name="Google Shape;1559;p85"/>
          <p:cNvSpPr/>
          <p:nvPr/>
        </p:nvSpPr>
        <p:spPr>
          <a:xfrm>
            <a:off x="6365071" y="2907950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0" name="Google Shape;1560;p85"/>
          <p:cNvSpPr/>
          <p:nvPr/>
        </p:nvSpPr>
        <p:spPr>
          <a:xfrm>
            <a:off x="6861636" y="323124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(−50)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85"/>
          <p:cNvSpPr/>
          <p:nvPr/>
        </p:nvSpPr>
        <p:spPr>
          <a:xfrm>
            <a:off x="5701529" y="2584656"/>
            <a:ext cx="1329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(−40 000)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2" name="Google Shape;1562;p85"/>
          <p:cNvSpPr/>
          <p:nvPr/>
        </p:nvSpPr>
        <p:spPr>
          <a:xfrm>
            <a:off x="4378808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3" name="Google Shape;1563;p85"/>
          <p:cNvSpPr/>
          <p:nvPr/>
        </p:nvSpPr>
        <p:spPr>
          <a:xfrm>
            <a:off x="5371939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(−2)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4" name="Google Shape;1564;p85"/>
          <p:cNvSpPr/>
          <p:nvPr/>
        </p:nvSpPr>
        <p:spPr>
          <a:xfrm>
            <a:off x="6365071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5" name="Google Shape;1565;p85"/>
          <p:cNvSpPr/>
          <p:nvPr/>
        </p:nvSpPr>
        <p:spPr>
          <a:xfrm>
            <a:off x="7358202" y="3555554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(−10)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6" name="Google Shape;1566;p85"/>
          <p:cNvSpPr/>
          <p:nvPr/>
        </p:nvSpPr>
        <p:spPr>
          <a:xfrm>
            <a:off x="3853975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(−2)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85"/>
          <p:cNvSpPr/>
          <p:nvPr/>
        </p:nvSpPr>
        <p:spPr>
          <a:xfrm>
            <a:off x="4847106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85"/>
          <p:cNvSpPr/>
          <p:nvPr/>
        </p:nvSpPr>
        <p:spPr>
          <a:xfrm>
            <a:off x="5840237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(−1)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85"/>
          <p:cNvSpPr/>
          <p:nvPr/>
        </p:nvSpPr>
        <p:spPr>
          <a:xfrm>
            <a:off x="6833369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(−5)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85"/>
          <p:cNvSpPr/>
          <p:nvPr/>
        </p:nvSpPr>
        <p:spPr>
          <a:xfrm>
            <a:off x="7826500" y="3879856"/>
            <a:ext cx="993600" cy="3234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36000" spcFirstLastPara="1" rIns="18000" wrap="square" tIns="18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1" name="Google Shape;1571;p85"/>
          <p:cNvSpPr txBox="1"/>
          <p:nvPr/>
        </p:nvSpPr>
        <p:spPr>
          <a:xfrm>
            <a:off x="723500" y="1305075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2" name="Google Shape;1572;p85"/>
          <p:cNvSpPr txBox="1"/>
          <p:nvPr/>
        </p:nvSpPr>
        <p:spPr>
          <a:xfrm>
            <a:off x="3369600" y="1305075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3" name="Google Shape;1573;p85"/>
          <p:cNvSpPr txBox="1"/>
          <p:nvPr/>
        </p:nvSpPr>
        <p:spPr>
          <a:xfrm>
            <a:off x="6346725" y="997275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4" name="Google Shape;1574;p85"/>
          <p:cNvSpPr txBox="1"/>
          <p:nvPr/>
        </p:nvSpPr>
        <p:spPr>
          <a:xfrm>
            <a:off x="1219925" y="2745806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5" name="Google Shape;1575;p85"/>
          <p:cNvSpPr txBox="1"/>
          <p:nvPr/>
        </p:nvSpPr>
        <p:spPr>
          <a:xfrm>
            <a:off x="5339350" y="2431094"/>
            <a:ext cx="306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6" name="Google Shape;1576;p85"/>
          <p:cNvSpPr txBox="1"/>
          <p:nvPr/>
        </p:nvSpPr>
        <p:spPr>
          <a:xfrm>
            <a:off x="324000" y="4258204"/>
            <a:ext cx="8148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)  Create a pyramid with a base of 4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a positive number at the top.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8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582" name="Google Shape;1582;p8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sp>
        <p:nvSpPr>
          <p:cNvPr id="1583" name="Google Shape;1583;p8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sp>
        <p:nvSpPr>
          <p:cNvPr id="1584" name="Google Shape;1584;p8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pic>
        <p:nvPicPr>
          <p:cNvPr id="1585" name="Google Shape;158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52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grpSp>
        <p:nvGrpSpPr>
          <p:cNvPr id="1591" name="Google Shape;1591;p87"/>
          <p:cNvGrpSpPr/>
          <p:nvPr/>
        </p:nvGrpSpPr>
        <p:grpSpPr>
          <a:xfrm>
            <a:off x="3558159" y="949775"/>
            <a:ext cx="1997035" cy="331500"/>
            <a:chOff x="2948559" y="949775"/>
            <a:chExt cx="1997035" cy="331500"/>
          </a:xfrm>
        </p:grpSpPr>
        <p:sp>
          <p:nvSpPr>
            <p:cNvPr id="1592" name="Google Shape;1592;p87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3" name="Google Shape;1593;p87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4" name="Google Shape;1594;p8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5" name="Google Shape;1595;p8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6" name="Google Shape;1596;p87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7" name="Google Shape;1597;p87"/>
          <p:cNvGrpSpPr/>
          <p:nvPr/>
        </p:nvGrpSpPr>
        <p:grpSpPr>
          <a:xfrm>
            <a:off x="3567034" y="1651888"/>
            <a:ext cx="1997035" cy="331500"/>
            <a:chOff x="2948559" y="949775"/>
            <a:chExt cx="1997035" cy="331500"/>
          </a:xfrm>
        </p:grpSpPr>
        <p:sp>
          <p:nvSpPr>
            <p:cNvPr id="1598" name="Google Shape;1598;p87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99" name="Google Shape;1599;p87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0" name="Google Shape;1600;p8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1" name="Google Shape;1601;p8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2" name="Google Shape;1602;p87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03" name="Google Shape;1603;p87"/>
          <p:cNvGrpSpPr/>
          <p:nvPr/>
        </p:nvGrpSpPr>
        <p:grpSpPr>
          <a:xfrm>
            <a:off x="3567034" y="2354013"/>
            <a:ext cx="1997035" cy="331500"/>
            <a:chOff x="2948559" y="949775"/>
            <a:chExt cx="1997035" cy="331500"/>
          </a:xfrm>
        </p:grpSpPr>
        <p:sp>
          <p:nvSpPr>
            <p:cNvPr id="1604" name="Google Shape;1604;p87"/>
            <p:cNvSpPr/>
            <p:nvPr/>
          </p:nvSpPr>
          <p:spPr>
            <a:xfrm>
              <a:off x="29485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5" name="Google Shape;1605;p87"/>
            <p:cNvSpPr/>
            <p:nvPr/>
          </p:nvSpPr>
          <p:spPr>
            <a:xfrm>
              <a:off x="336960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6" name="Google Shape;1606;p87"/>
            <p:cNvSpPr/>
            <p:nvPr/>
          </p:nvSpPr>
          <p:spPr>
            <a:xfrm>
              <a:off x="3790659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7" name="Google Shape;1607;p87"/>
            <p:cNvSpPr/>
            <p:nvPr/>
          </p:nvSpPr>
          <p:spPr>
            <a:xfrm>
              <a:off x="419304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08" name="Google Shape;1608;p87"/>
            <p:cNvSpPr/>
            <p:nvPr/>
          </p:nvSpPr>
          <p:spPr>
            <a:xfrm>
              <a:off x="4614095" y="949775"/>
              <a:ext cx="331500" cy="331500"/>
            </a:xfrm>
            <a:prstGeom prst="ellipse">
              <a:avLst/>
            </a:prstGeom>
            <a:solidFill>
              <a:srgbClr val="FFE599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+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09" name="Google Shape;1609;p87"/>
          <p:cNvSpPr txBox="1"/>
          <p:nvPr>
            <p:ph idx="1" type="body"/>
          </p:nvPr>
        </p:nvSpPr>
        <p:spPr>
          <a:xfrm>
            <a:off x="324000" y="759300"/>
            <a:ext cx="11748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</a:t>
            </a:r>
            <a:r>
              <a:rPr lang="en-GB"/>
              <a:t> ÷ (−5)</a:t>
            </a:r>
            <a:endParaRPr/>
          </a:p>
        </p:txBody>
      </p:sp>
      <p:sp>
        <p:nvSpPr>
          <p:cNvPr id="1610" name="Google Shape;1610;p87"/>
          <p:cNvSpPr txBox="1"/>
          <p:nvPr>
            <p:ph idx="1" type="body"/>
          </p:nvPr>
        </p:nvSpPr>
        <p:spPr>
          <a:xfrm>
            <a:off x="324000" y="1302550"/>
            <a:ext cx="2563200" cy="145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Start with how many groups of 5 you can make from 15.</a:t>
            </a:r>
            <a:endParaRPr/>
          </a:p>
        </p:txBody>
      </p:sp>
      <p:sp>
        <p:nvSpPr>
          <p:cNvPr id="1611" name="Google Shape;1611;p87"/>
          <p:cNvSpPr txBox="1"/>
          <p:nvPr>
            <p:ph idx="1" type="body"/>
          </p:nvPr>
        </p:nvSpPr>
        <p:spPr>
          <a:xfrm>
            <a:off x="324000" y="3094350"/>
            <a:ext cx="25632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make 3 groups of 5</a:t>
            </a:r>
            <a:endParaRPr/>
          </a:p>
        </p:txBody>
      </p:sp>
      <p:grpSp>
        <p:nvGrpSpPr>
          <p:cNvPr id="1612" name="Google Shape;1612;p87"/>
          <p:cNvGrpSpPr/>
          <p:nvPr/>
        </p:nvGrpSpPr>
        <p:grpSpPr>
          <a:xfrm>
            <a:off x="3530019" y="949764"/>
            <a:ext cx="2040800" cy="331500"/>
            <a:chOff x="2928725" y="949764"/>
            <a:chExt cx="2040800" cy="331500"/>
          </a:xfrm>
        </p:grpSpPr>
        <p:sp>
          <p:nvSpPr>
            <p:cNvPr id="1613" name="Google Shape;1613;p87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4" name="Google Shape;1614;p87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5" name="Google Shape;1615;p87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6" name="Google Shape;1616;p87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17" name="Google Shape;1617;p87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8" name="Google Shape;1618;p87"/>
          <p:cNvGrpSpPr/>
          <p:nvPr/>
        </p:nvGrpSpPr>
        <p:grpSpPr>
          <a:xfrm>
            <a:off x="3536844" y="1651876"/>
            <a:ext cx="2040800" cy="331500"/>
            <a:chOff x="2928725" y="949764"/>
            <a:chExt cx="2040800" cy="331500"/>
          </a:xfrm>
        </p:grpSpPr>
        <p:sp>
          <p:nvSpPr>
            <p:cNvPr id="1619" name="Google Shape;1619;p87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0" name="Google Shape;1620;p87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1" name="Google Shape;1621;p87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2" name="Google Shape;1622;p87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3" name="Google Shape;1623;p87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4" name="Google Shape;1624;p87"/>
          <p:cNvGrpSpPr/>
          <p:nvPr/>
        </p:nvGrpSpPr>
        <p:grpSpPr>
          <a:xfrm>
            <a:off x="3536844" y="2354014"/>
            <a:ext cx="2040800" cy="331500"/>
            <a:chOff x="2928725" y="949764"/>
            <a:chExt cx="2040800" cy="331500"/>
          </a:xfrm>
        </p:grpSpPr>
        <p:sp>
          <p:nvSpPr>
            <p:cNvPr id="1625" name="Google Shape;1625;p87"/>
            <p:cNvSpPr/>
            <p:nvPr/>
          </p:nvSpPr>
          <p:spPr>
            <a:xfrm>
              <a:off x="29287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6" name="Google Shape;1626;p87"/>
            <p:cNvSpPr/>
            <p:nvPr/>
          </p:nvSpPr>
          <p:spPr>
            <a:xfrm>
              <a:off x="335605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7" name="Google Shape;1627;p87"/>
            <p:cNvSpPr/>
            <p:nvPr/>
          </p:nvSpPr>
          <p:spPr>
            <a:xfrm>
              <a:off x="378337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8" name="Google Shape;1628;p87"/>
            <p:cNvSpPr/>
            <p:nvPr/>
          </p:nvSpPr>
          <p:spPr>
            <a:xfrm>
              <a:off x="4210700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29" name="Google Shape;1629;p87"/>
            <p:cNvSpPr/>
            <p:nvPr/>
          </p:nvSpPr>
          <p:spPr>
            <a:xfrm>
              <a:off x="4638025" y="949764"/>
              <a:ext cx="331500" cy="3315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30" name="Google Shape;1630;p87"/>
          <p:cNvSpPr txBox="1"/>
          <p:nvPr>
            <p:ph idx="1" type="body"/>
          </p:nvPr>
        </p:nvSpPr>
        <p:spPr>
          <a:xfrm>
            <a:off x="1650650" y="759300"/>
            <a:ext cx="11748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</a:t>
            </a:r>
            <a:r>
              <a:rPr lang="en-GB"/>
              <a:t>(−3)</a:t>
            </a:r>
            <a:endParaRPr/>
          </a:p>
        </p:txBody>
      </p:sp>
      <p:sp>
        <p:nvSpPr>
          <p:cNvPr id="1631" name="Google Shape;1631;p87"/>
          <p:cNvSpPr txBox="1"/>
          <p:nvPr>
            <p:ph idx="1" type="body"/>
          </p:nvPr>
        </p:nvSpPr>
        <p:spPr>
          <a:xfrm>
            <a:off x="324000" y="4034500"/>
            <a:ext cx="7344900" cy="72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want </a:t>
            </a:r>
            <a:r>
              <a:rPr lang="en-GB">
                <a:solidFill>
                  <a:schemeClr val="accent5"/>
                </a:solidFill>
              </a:rPr>
              <a:t>the negative of</a:t>
            </a:r>
            <a:r>
              <a:rPr lang="en-GB"/>
              <a:t> this, the negative of 5 groups. So you </a:t>
            </a:r>
            <a:r>
              <a:rPr lang="en-GB">
                <a:solidFill>
                  <a:schemeClr val="accent5"/>
                </a:solidFill>
              </a:rPr>
              <a:t>flip the counters</a:t>
            </a:r>
            <a:r>
              <a:rPr lang="en-GB"/>
              <a:t>.</a:t>
            </a:r>
            <a:endParaRPr/>
          </a:p>
        </p:txBody>
      </p:sp>
      <p:sp>
        <p:nvSpPr>
          <p:cNvPr id="1632" name="Google Shape;1632;p87"/>
          <p:cNvSpPr txBox="1"/>
          <p:nvPr>
            <p:ph idx="1" type="body"/>
          </p:nvPr>
        </p:nvSpPr>
        <p:spPr>
          <a:xfrm>
            <a:off x="6318550" y="759300"/>
            <a:ext cx="11748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15 ÷ 5</a:t>
            </a:r>
            <a:endParaRPr/>
          </a:p>
        </p:txBody>
      </p:sp>
      <p:sp>
        <p:nvSpPr>
          <p:cNvPr id="1633" name="Google Shape;1633;p87"/>
          <p:cNvSpPr txBox="1"/>
          <p:nvPr>
            <p:ph idx="1" type="body"/>
          </p:nvPr>
        </p:nvSpPr>
        <p:spPr>
          <a:xfrm>
            <a:off x="7188000" y="759300"/>
            <a:ext cx="11748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sp>
        <p:nvSpPr>
          <p:cNvPr id="1639" name="Google Shape;1639;p88"/>
          <p:cNvSpPr txBox="1"/>
          <p:nvPr>
            <p:ph idx="1" type="body"/>
          </p:nvPr>
        </p:nvSpPr>
        <p:spPr>
          <a:xfrm>
            <a:off x="324000" y="580971"/>
            <a:ext cx="5450400" cy="3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calculations does this array show?</a:t>
            </a:r>
            <a:endParaRPr sz="2000"/>
          </a:p>
        </p:txBody>
      </p:sp>
      <p:sp>
        <p:nvSpPr>
          <p:cNvPr id="1640" name="Google Shape;1640;p88"/>
          <p:cNvSpPr/>
          <p:nvPr/>
        </p:nvSpPr>
        <p:spPr>
          <a:xfrm>
            <a:off x="476409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1" name="Google Shape;1641;p88"/>
          <p:cNvSpPr/>
          <p:nvPr/>
        </p:nvSpPr>
        <p:spPr>
          <a:xfrm>
            <a:off x="897459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2" name="Google Shape;1642;p88"/>
          <p:cNvSpPr/>
          <p:nvPr/>
        </p:nvSpPr>
        <p:spPr>
          <a:xfrm>
            <a:off x="1318509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3" name="Google Shape;1643;p88"/>
          <p:cNvSpPr/>
          <p:nvPr/>
        </p:nvSpPr>
        <p:spPr>
          <a:xfrm>
            <a:off x="1720895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4" name="Google Shape;1644;p88"/>
          <p:cNvSpPr/>
          <p:nvPr/>
        </p:nvSpPr>
        <p:spPr>
          <a:xfrm>
            <a:off x="476409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5" name="Google Shape;1645;p88"/>
          <p:cNvSpPr/>
          <p:nvPr/>
        </p:nvSpPr>
        <p:spPr>
          <a:xfrm>
            <a:off x="897459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6" name="Google Shape;1646;p88"/>
          <p:cNvSpPr/>
          <p:nvPr/>
        </p:nvSpPr>
        <p:spPr>
          <a:xfrm>
            <a:off x="1318509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7" name="Google Shape;1647;p88"/>
          <p:cNvSpPr/>
          <p:nvPr/>
        </p:nvSpPr>
        <p:spPr>
          <a:xfrm>
            <a:off x="1720895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8" name="Google Shape;1648;p88"/>
          <p:cNvSpPr txBox="1"/>
          <p:nvPr/>
        </p:nvSpPr>
        <p:spPr>
          <a:xfrm>
            <a:off x="2458850" y="1033950"/>
            <a:ext cx="1272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49" name="Google Shape;1649;p88"/>
          <p:cNvGrpSpPr/>
          <p:nvPr/>
        </p:nvGrpSpPr>
        <p:grpSpPr>
          <a:xfrm>
            <a:off x="4824100" y="1080004"/>
            <a:ext cx="3718700" cy="662721"/>
            <a:chOff x="4844800" y="1750629"/>
            <a:chExt cx="3718700" cy="662721"/>
          </a:xfrm>
        </p:grpSpPr>
        <p:sp>
          <p:nvSpPr>
            <p:cNvPr id="1650" name="Google Shape;1650;p88"/>
            <p:cNvSpPr/>
            <p:nvPr/>
          </p:nvSpPr>
          <p:spPr>
            <a:xfrm>
              <a:off x="48448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1" name="Google Shape;1651;p88"/>
            <p:cNvSpPr/>
            <p:nvPr/>
          </p:nvSpPr>
          <p:spPr>
            <a:xfrm>
              <a:off x="57744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2" name="Google Shape;1652;p88"/>
            <p:cNvSpPr/>
            <p:nvPr/>
          </p:nvSpPr>
          <p:spPr>
            <a:xfrm>
              <a:off x="67041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3" name="Google Shape;1653;p88"/>
            <p:cNvSpPr/>
            <p:nvPr/>
          </p:nvSpPr>
          <p:spPr>
            <a:xfrm>
              <a:off x="76338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54" name="Google Shape;1654;p88"/>
            <p:cNvSpPr/>
            <p:nvPr/>
          </p:nvSpPr>
          <p:spPr>
            <a:xfrm>
              <a:off x="4844800" y="1750629"/>
              <a:ext cx="37185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55" name="Google Shape;1655;p88"/>
          <p:cNvSpPr txBox="1"/>
          <p:nvPr/>
        </p:nvSpPr>
        <p:spPr>
          <a:xfrm>
            <a:off x="2458850" y="1838150"/>
            <a:ext cx="1272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÷ 2 = 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6" name="Google Shape;1656;p88"/>
          <p:cNvSpPr txBox="1"/>
          <p:nvPr/>
        </p:nvSpPr>
        <p:spPr>
          <a:xfrm>
            <a:off x="2458850" y="1436050"/>
            <a:ext cx="1272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2 = 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7" name="Google Shape;1657;p88"/>
          <p:cNvSpPr/>
          <p:nvPr/>
        </p:nvSpPr>
        <p:spPr>
          <a:xfrm>
            <a:off x="393400" y="954379"/>
            <a:ext cx="1728000" cy="46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8" name="Google Shape;1658;p88"/>
          <p:cNvSpPr/>
          <p:nvPr/>
        </p:nvSpPr>
        <p:spPr>
          <a:xfrm>
            <a:off x="393242" y="1460683"/>
            <a:ext cx="1728000" cy="46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9" name="Google Shape;1659;p88"/>
          <p:cNvSpPr/>
          <p:nvPr/>
        </p:nvSpPr>
        <p:spPr>
          <a:xfrm>
            <a:off x="436525" y="9543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0" name="Google Shape;1660;p88"/>
          <p:cNvSpPr/>
          <p:nvPr/>
        </p:nvSpPr>
        <p:spPr>
          <a:xfrm>
            <a:off x="846200" y="9543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1" name="Google Shape;1661;p88"/>
          <p:cNvSpPr/>
          <p:nvPr/>
        </p:nvSpPr>
        <p:spPr>
          <a:xfrm>
            <a:off x="1283550" y="9543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2" name="Google Shape;1662;p88"/>
          <p:cNvSpPr/>
          <p:nvPr/>
        </p:nvSpPr>
        <p:spPr>
          <a:xfrm>
            <a:off x="1720900" y="9543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3" name="Google Shape;1663;p88"/>
          <p:cNvSpPr/>
          <p:nvPr/>
        </p:nvSpPr>
        <p:spPr>
          <a:xfrm>
            <a:off x="4824000" y="1436725"/>
            <a:ext cx="18723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4" name="Google Shape;1664;p88"/>
          <p:cNvSpPr/>
          <p:nvPr/>
        </p:nvSpPr>
        <p:spPr>
          <a:xfrm>
            <a:off x="6696300" y="1436725"/>
            <a:ext cx="18723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5" name="Google Shape;1665;p88"/>
          <p:cNvSpPr/>
          <p:nvPr/>
        </p:nvSpPr>
        <p:spPr>
          <a:xfrm>
            <a:off x="4824000" y="1415500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6" name="Google Shape;1666;p88"/>
          <p:cNvSpPr/>
          <p:nvPr/>
        </p:nvSpPr>
        <p:spPr>
          <a:xfrm>
            <a:off x="5771250" y="1415500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7" name="Google Shape;1667;p88"/>
          <p:cNvSpPr/>
          <p:nvPr/>
        </p:nvSpPr>
        <p:spPr>
          <a:xfrm>
            <a:off x="6696300" y="1415500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8" name="Google Shape;1668;p88"/>
          <p:cNvSpPr/>
          <p:nvPr/>
        </p:nvSpPr>
        <p:spPr>
          <a:xfrm>
            <a:off x="7626000" y="1415500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9" name="Google Shape;1669;p88"/>
          <p:cNvSpPr txBox="1"/>
          <p:nvPr/>
        </p:nvSpPr>
        <p:spPr>
          <a:xfrm>
            <a:off x="2458850" y="2240250"/>
            <a:ext cx="1272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÷ 4 = 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70" name="Google Shape;1670;p88"/>
          <p:cNvGrpSpPr/>
          <p:nvPr/>
        </p:nvGrpSpPr>
        <p:grpSpPr>
          <a:xfrm>
            <a:off x="324000" y="2112800"/>
            <a:ext cx="2504700" cy="918700"/>
            <a:chOff x="324000" y="2112800"/>
            <a:chExt cx="2504700" cy="918700"/>
          </a:xfrm>
        </p:grpSpPr>
        <p:sp>
          <p:nvSpPr>
            <p:cNvPr id="1671" name="Google Shape;1671;p88"/>
            <p:cNvSpPr txBox="1"/>
            <p:nvPr/>
          </p:nvSpPr>
          <p:spPr>
            <a:xfrm>
              <a:off x="324000" y="2700000"/>
              <a:ext cx="25047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many groups of 2 can you make?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72" name="Google Shape;1672;p88"/>
            <p:cNvCxnSpPr/>
            <p:nvPr/>
          </p:nvCxnSpPr>
          <p:spPr>
            <a:xfrm flipH="1" rot="10800000">
              <a:off x="1151100" y="2112800"/>
              <a:ext cx="1151100" cy="539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73" name="Google Shape;1673;p88"/>
          <p:cNvGrpSpPr/>
          <p:nvPr/>
        </p:nvGrpSpPr>
        <p:grpSpPr>
          <a:xfrm>
            <a:off x="393250" y="2428375"/>
            <a:ext cx="2504700" cy="918700"/>
            <a:chOff x="324000" y="2112800"/>
            <a:chExt cx="2504700" cy="918700"/>
          </a:xfrm>
        </p:grpSpPr>
        <p:sp>
          <p:nvSpPr>
            <p:cNvPr id="1674" name="Google Shape;1674;p88"/>
            <p:cNvSpPr txBox="1"/>
            <p:nvPr/>
          </p:nvSpPr>
          <p:spPr>
            <a:xfrm>
              <a:off x="324000" y="2700000"/>
              <a:ext cx="25047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0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many groups of 4 can you make?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75" name="Google Shape;1675;p88"/>
            <p:cNvCxnSpPr/>
            <p:nvPr/>
          </p:nvCxnSpPr>
          <p:spPr>
            <a:xfrm flipH="1" rot="10800000">
              <a:off x="1151100" y="2112800"/>
              <a:ext cx="1151100" cy="5391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89"/>
          <p:cNvSpPr/>
          <p:nvPr/>
        </p:nvSpPr>
        <p:spPr>
          <a:xfrm>
            <a:off x="476409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1" name="Google Shape;1681;p89"/>
          <p:cNvSpPr/>
          <p:nvPr/>
        </p:nvSpPr>
        <p:spPr>
          <a:xfrm>
            <a:off x="897459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2" name="Google Shape;1682;p89"/>
          <p:cNvSpPr/>
          <p:nvPr/>
        </p:nvSpPr>
        <p:spPr>
          <a:xfrm>
            <a:off x="1318509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3" name="Google Shape;1683;p89"/>
          <p:cNvSpPr/>
          <p:nvPr/>
        </p:nvSpPr>
        <p:spPr>
          <a:xfrm>
            <a:off x="1720895" y="1019375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4" name="Google Shape;1684;p89"/>
          <p:cNvSpPr/>
          <p:nvPr/>
        </p:nvSpPr>
        <p:spPr>
          <a:xfrm>
            <a:off x="476409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5" name="Google Shape;1685;p89"/>
          <p:cNvSpPr/>
          <p:nvPr/>
        </p:nvSpPr>
        <p:spPr>
          <a:xfrm>
            <a:off x="897459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6" name="Google Shape;1686;p89"/>
          <p:cNvSpPr/>
          <p:nvPr/>
        </p:nvSpPr>
        <p:spPr>
          <a:xfrm>
            <a:off x="1318509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7" name="Google Shape;1687;p89"/>
          <p:cNvSpPr/>
          <p:nvPr/>
        </p:nvSpPr>
        <p:spPr>
          <a:xfrm>
            <a:off x="1720895" y="1517100"/>
            <a:ext cx="331500" cy="331500"/>
          </a:xfrm>
          <a:prstGeom prst="ellipse">
            <a:avLst/>
          </a:prstGeom>
          <a:solidFill>
            <a:srgbClr val="FFE599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latin typeface="Lexend"/>
                <a:ea typeface="Lexend"/>
                <a:cs typeface="Lexend"/>
                <a:sym typeface="Lexend"/>
              </a:rPr>
              <a:t>+</a:t>
            </a:r>
            <a:endParaRPr b="1" sz="25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8" name="Google Shape;1688;p89"/>
          <p:cNvSpPr/>
          <p:nvPr/>
        </p:nvSpPr>
        <p:spPr>
          <a:xfrm>
            <a:off x="393400" y="2706979"/>
            <a:ext cx="1728000" cy="46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9" name="Google Shape;1689;p89"/>
          <p:cNvSpPr/>
          <p:nvPr/>
        </p:nvSpPr>
        <p:spPr>
          <a:xfrm>
            <a:off x="393242" y="3213283"/>
            <a:ext cx="1728000" cy="464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0" name="Google Shape;1690;p89"/>
          <p:cNvSpPr/>
          <p:nvPr/>
        </p:nvSpPr>
        <p:spPr>
          <a:xfrm>
            <a:off x="440465" y="27069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1" name="Google Shape;1691;p89"/>
          <p:cNvSpPr/>
          <p:nvPr/>
        </p:nvSpPr>
        <p:spPr>
          <a:xfrm>
            <a:off x="850140" y="27069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2" name="Google Shape;1692;p89"/>
          <p:cNvSpPr/>
          <p:nvPr/>
        </p:nvSpPr>
        <p:spPr>
          <a:xfrm>
            <a:off x="1287490" y="27069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3" name="Google Shape;1693;p89"/>
          <p:cNvSpPr/>
          <p:nvPr/>
        </p:nvSpPr>
        <p:spPr>
          <a:xfrm>
            <a:off x="1724840" y="2706975"/>
            <a:ext cx="401400" cy="970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4" name="Google Shape;1694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sp>
        <p:nvSpPr>
          <p:cNvPr id="1695" name="Google Shape;1695;p89"/>
          <p:cNvSpPr txBox="1"/>
          <p:nvPr>
            <p:ph idx="1" type="body"/>
          </p:nvPr>
        </p:nvSpPr>
        <p:spPr>
          <a:xfrm>
            <a:off x="324000" y="580971"/>
            <a:ext cx="5450400" cy="33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calculations does this array show?</a:t>
            </a:r>
            <a:endParaRPr sz="2000"/>
          </a:p>
        </p:txBody>
      </p:sp>
      <p:sp>
        <p:nvSpPr>
          <p:cNvPr id="1696" name="Google Shape;1696;p89"/>
          <p:cNvSpPr txBox="1"/>
          <p:nvPr/>
        </p:nvSpPr>
        <p:spPr>
          <a:xfrm>
            <a:off x="2916050" y="2710350"/>
            <a:ext cx="1861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(−4) = (−8)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97" name="Google Shape;1697;p89"/>
          <p:cNvGrpSpPr/>
          <p:nvPr/>
        </p:nvGrpSpPr>
        <p:grpSpPr>
          <a:xfrm>
            <a:off x="4844800" y="3579429"/>
            <a:ext cx="3718700" cy="662721"/>
            <a:chOff x="4844800" y="1750629"/>
            <a:chExt cx="3718700" cy="662721"/>
          </a:xfrm>
        </p:grpSpPr>
        <p:sp>
          <p:nvSpPr>
            <p:cNvPr id="1698" name="Google Shape;1698;p89"/>
            <p:cNvSpPr/>
            <p:nvPr/>
          </p:nvSpPr>
          <p:spPr>
            <a:xfrm>
              <a:off x="48448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(−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699" name="Google Shape;1699;p89"/>
            <p:cNvSpPr/>
            <p:nvPr/>
          </p:nvSpPr>
          <p:spPr>
            <a:xfrm>
              <a:off x="57744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(−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0" name="Google Shape;1700;p89"/>
            <p:cNvSpPr/>
            <p:nvPr/>
          </p:nvSpPr>
          <p:spPr>
            <a:xfrm>
              <a:off x="67041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(−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1" name="Google Shape;1701;p89"/>
            <p:cNvSpPr/>
            <p:nvPr/>
          </p:nvSpPr>
          <p:spPr>
            <a:xfrm>
              <a:off x="76338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(−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2" name="Google Shape;1702;p89"/>
            <p:cNvSpPr/>
            <p:nvPr/>
          </p:nvSpPr>
          <p:spPr>
            <a:xfrm>
              <a:off x="4844800" y="1750629"/>
              <a:ext cx="37185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(−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8)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03" name="Google Shape;1703;p89"/>
          <p:cNvGrpSpPr/>
          <p:nvPr/>
        </p:nvGrpSpPr>
        <p:grpSpPr>
          <a:xfrm>
            <a:off x="476380" y="2766699"/>
            <a:ext cx="1208355" cy="821912"/>
            <a:chOff x="452697" y="1596802"/>
            <a:chExt cx="1007550" cy="685326"/>
          </a:xfrm>
        </p:grpSpPr>
        <p:sp>
          <p:nvSpPr>
            <p:cNvPr id="1704" name="Google Shape;1704;p89"/>
            <p:cNvSpPr/>
            <p:nvPr/>
          </p:nvSpPr>
          <p:spPr>
            <a:xfrm>
              <a:off x="452697" y="1596802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5" name="Google Shape;1705;p89"/>
            <p:cNvSpPr/>
            <p:nvPr/>
          </p:nvSpPr>
          <p:spPr>
            <a:xfrm>
              <a:off x="816372" y="1596802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6" name="Google Shape;1706;p89"/>
            <p:cNvSpPr/>
            <p:nvPr/>
          </p:nvSpPr>
          <p:spPr>
            <a:xfrm>
              <a:off x="1180027" y="1596865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7" name="Google Shape;1707;p89"/>
            <p:cNvSpPr/>
            <p:nvPr/>
          </p:nvSpPr>
          <p:spPr>
            <a:xfrm>
              <a:off x="1180047" y="2001928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8" name="Google Shape;1708;p89"/>
            <p:cNvSpPr/>
            <p:nvPr/>
          </p:nvSpPr>
          <p:spPr>
            <a:xfrm>
              <a:off x="452697" y="2001928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09" name="Google Shape;1709;p89"/>
            <p:cNvSpPr/>
            <p:nvPr/>
          </p:nvSpPr>
          <p:spPr>
            <a:xfrm>
              <a:off x="816372" y="2001928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10" name="Google Shape;1710;p89"/>
          <p:cNvGrpSpPr/>
          <p:nvPr/>
        </p:nvGrpSpPr>
        <p:grpSpPr>
          <a:xfrm>
            <a:off x="1756041" y="2771578"/>
            <a:ext cx="336069" cy="825776"/>
            <a:chOff x="1180027" y="1599654"/>
            <a:chExt cx="280221" cy="688549"/>
          </a:xfrm>
        </p:grpSpPr>
        <p:sp>
          <p:nvSpPr>
            <p:cNvPr id="1711" name="Google Shape;1711;p89"/>
            <p:cNvSpPr/>
            <p:nvPr/>
          </p:nvSpPr>
          <p:spPr>
            <a:xfrm>
              <a:off x="1180027" y="1599654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12" name="Google Shape;1712;p89"/>
            <p:cNvSpPr/>
            <p:nvPr/>
          </p:nvSpPr>
          <p:spPr>
            <a:xfrm>
              <a:off x="1180047" y="2008003"/>
              <a:ext cx="280200" cy="280200"/>
            </a:xfrm>
            <a:prstGeom prst="ellipse">
              <a:avLst/>
            </a:prstGeom>
            <a:solidFill>
              <a:srgbClr val="E06666"/>
            </a:solidFill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500">
                  <a:latin typeface="Lexend"/>
                  <a:ea typeface="Lexend"/>
                  <a:cs typeface="Lexend"/>
                  <a:sym typeface="Lexend"/>
                </a:rPr>
                <a:t>−</a:t>
              </a:r>
              <a:endParaRPr b="1" sz="25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13" name="Google Shape;1713;p89"/>
          <p:cNvSpPr txBox="1"/>
          <p:nvPr/>
        </p:nvSpPr>
        <p:spPr>
          <a:xfrm>
            <a:off x="2916050" y="3514550"/>
            <a:ext cx="1861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(−8) ÷ (−2) = 4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4" name="Google Shape;1714;p89"/>
          <p:cNvSpPr txBox="1"/>
          <p:nvPr/>
        </p:nvSpPr>
        <p:spPr>
          <a:xfrm>
            <a:off x="2916050" y="3916650"/>
            <a:ext cx="18612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(−8) ÷ (−4) = 2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5" name="Google Shape;1715;p89"/>
          <p:cNvSpPr txBox="1"/>
          <p:nvPr/>
        </p:nvSpPr>
        <p:spPr>
          <a:xfrm>
            <a:off x="2916050" y="3112450"/>
            <a:ext cx="1861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(−2) = (−8)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6" name="Google Shape;1716;p89"/>
          <p:cNvSpPr/>
          <p:nvPr/>
        </p:nvSpPr>
        <p:spPr>
          <a:xfrm>
            <a:off x="4844700" y="3936150"/>
            <a:ext cx="18723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7" name="Google Shape;1717;p89"/>
          <p:cNvSpPr/>
          <p:nvPr/>
        </p:nvSpPr>
        <p:spPr>
          <a:xfrm>
            <a:off x="6717000" y="3936150"/>
            <a:ext cx="18723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8" name="Google Shape;1718;p89"/>
          <p:cNvSpPr/>
          <p:nvPr/>
        </p:nvSpPr>
        <p:spPr>
          <a:xfrm>
            <a:off x="4844700" y="3914925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9" name="Google Shape;1719;p89"/>
          <p:cNvSpPr/>
          <p:nvPr/>
        </p:nvSpPr>
        <p:spPr>
          <a:xfrm>
            <a:off x="5791950" y="3914925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0" name="Google Shape;1720;p89"/>
          <p:cNvSpPr/>
          <p:nvPr/>
        </p:nvSpPr>
        <p:spPr>
          <a:xfrm>
            <a:off x="6717000" y="3914925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1" name="Google Shape;1721;p89"/>
          <p:cNvSpPr/>
          <p:nvPr/>
        </p:nvSpPr>
        <p:spPr>
          <a:xfrm>
            <a:off x="7646700" y="3914925"/>
            <a:ext cx="929700" cy="30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2" name="Google Shape;1722;p89"/>
          <p:cNvSpPr txBox="1"/>
          <p:nvPr/>
        </p:nvSpPr>
        <p:spPr>
          <a:xfrm>
            <a:off x="2458850" y="1033950"/>
            <a:ext cx="1272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× 4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89"/>
          <p:cNvSpPr txBox="1"/>
          <p:nvPr/>
        </p:nvSpPr>
        <p:spPr>
          <a:xfrm>
            <a:off x="2458850" y="1838150"/>
            <a:ext cx="1272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÷ 4 = 2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4" name="Google Shape;1724;p89"/>
          <p:cNvSpPr txBox="1"/>
          <p:nvPr/>
        </p:nvSpPr>
        <p:spPr>
          <a:xfrm>
            <a:off x="2458850" y="2240250"/>
            <a:ext cx="1272300" cy="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 ÷ 2 = 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5" name="Google Shape;1725;p89"/>
          <p:cNvSpPr txBox="1"/>
          <p:nvPr/>
        </p:nvSpPr>
        <p:spPr>
          <a:xfrm>
            <a:off x="2458850" y="1436050"/>
            <a:ext cx="12723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 × 2 = 8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26" name="Google Shape;1726;p89"/>
          <p:cNvGrpSpPr/>
          <p:nvPr/>
        </p:nvGrpSpPr>
        <p:grpSpPr>
          <a:xfrm>
            <a:off x="4824000" y="1080004"/>
            <a:ext cx="3718700" cy="662721"/>
            <a:chOff x="4844800" y="1750629"/>
            <a:chExt cx="3718700" cy="662721"/>
          </a:xfrm>
        </p:grpSpPr>
        <p:sp>
          <p:nvSpPr>
            <p:cNvPr id="1727" name="Google Shape;1727;p89"/>
            <p:cNvSpPr/>
            <p:nvPr/>
          </p:nvSpPr>
          <p:spPr>
            <a:xfrm>
              <a:off x="48448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8" name="Google Shape;1728;p89"/>
            <p:cNvSpPr/>
            <p:nvPr/>
          </p:nvSpPr>
          <p:spPr>
            <a:xfrm>
              <a:off x="57744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29" name="Google Shape;1729;p89"/>
            <p:cNvSpPr/>
            <p:nvPr/>
          </p:nvSpPr>
          <p:spPr>
            <a:xfrm>
              <a:off x="67041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0" name="Google Shape;1730;p89"/>
            <p:cNvSpPr/>
            <p:nvPr/>
          </p:nvSpPr>
          <p:spPr>
            <a:xfrm>
              <a:off x="7633800" y="2081850"/>
              <a:ext cx="9297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731" name="Google Shape;1731;p89"/>
            <p:cNvSpPr/>
            <p:nvPr/>
          </p:nvSpPr>
          <p:spPr>
            <a:xfrm>
              <a:off x="4844800" y="1750629"/>
              <a:ext cx="3718500" cy="331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32" name="Google Shape;1732;p89"/>
          <p:cNvSpPr/>
          <p:nvPr/>
        </p:nvSpPr>
        <p:spPr>
          <a:xfrm>
            <a:off x="400200" y="919200"/>
            <a:ext cx="8290800" cy="1748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33" name="Google Shape;1733;p89"/>
          <p:cNvGrpSpPr/>
          <p:nvPr/>
        </p:nvGrpSpPr>
        <p:grpSpPr>
          <a:xfrm>
            <a:off x="324000" y="3684727"/>
            <a:ext cx="2592000" cy="602400"/>
            <a:chOff x="324000" y="2352900"/>
            <a:chExt cx="2592000" cy="602400"/>
          </a:xfrm>
        </p:grpSpPr>
        <p:sp>
          <p:nvSpPr>
            <p:cNvPr id="1734" name="Google Shape;1734;p89"/>
            <p:cNvSpPr txBox="1"/>
            <p:nvPr/>
          </p:nvSpPr>
          <p:spPr>
            <a:xfrm>
              <a:off x="324000" y="2623800"/>
              <a:ext cx="21348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many groups of (−2) can you make?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5" name="Google Shape;1735;p89"/>
            <p:cNvCxnSpPr>
              <a:stCxn id="1734" idx="0"/>
              <a:endCxn id="1713" idx="1"/>
            </p:cNvCxnSpPr>
            <p:nvPr/>
          </p:nvCxnSpPr>
          <p:spPr>
            <a:xfrm flipH="1" rot="10800000">
              <a:off x="1391400" y="2352900"/>
              <a:ext cx="1524600" cy="2709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736" name="Google Shape;1736;p89"/>
          <p:cNvGrpSpPr/>
          <p:nvPr/>
        </p:nvGrpSpPr>
        <p:grpSpPr>
          <a:xfrm>
            <a:off x="552600" y="3955627"/>
            <a:ext cx="2343025" cy="466623"/>
            <a:chOff x="476400" y="3955627"/>
            <a:chExt cx="2343025" cy="466623"/>
          </a:xfrm>
        </p:grpSpPr>
        <p:sp>
          <p:nvSpPr>
            <p:cNvPr id="1737" name="Google Shape;1737;p89"/>
            <p:cNvSpPr txBox="1"/>
            <p:nvPr/>
          </p:nvSpPr>
          <p:spPr>
            <a:xfrm>
              <a:off x="476400" y="3955627"/>
              <a:ext cx="21348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How many groups of (−4) can you make?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738" name="Google Shape;1738;p89"/>
            <p:cNvCxnSpPr/>
            <p:nvPr/>
          </p:nvCxnSpPr>
          <p:spPr>
            <a:xfrm flipH="1" rot="10800000">
              <a:off x="2280325" y="4211050"/>
              <a:ext cx="539100" cy="211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grpSp>
        <p:nvGrpSpPr>
          <p:cNvPr id="1744" name="Google Shape;1744;p90"/>
          <p:cNvGrpSpPr/>
          <p:nvPr/>
        </p:nvGrpSpPr>
        <p:grpSpPr>
          <a:xfrm>
            <a:off x="2497450" y="1356275"/>
            <a:ext cx="4725202" cy="2430950"/>
            <a:chOff x="2497450" y="1356275"/>
            <a:chExt cx="4725202" cy="2430950"/>
          </a:xfrm>
        </p:grpSpPr>
        <p:pic>
          <p:nvPicPr>
            <p:cNvPr id="1745" name="Google Shape;1745;p90"/>
            <p:cNvPicPr preferRelativeResize="0"/>
            <p:nvPr/>
          </p:nvPicPr>
          <p:blipFill rotWithShape="1">
            <a:blip r:embed="rId3">
              <a:alphaModFix/>
            </a:blip>
            <a:srcRect b="43690" l="0" r="57905" t="0"/>
            <a:stretch/>
          </p:blipFill>
          <p:spPr>
            <a:xfrm>
              <a:off x="2497450" y="1356275"/>
              <a:ext cx="4725202" cy="2430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6" name="Google Shape;1746;p90"/>
            <p:cNvSpPr txBox="1"/>
            <p:nvPr/>
          </p:nvSpPr>
          <p:spPr>
            <a:xfrm>
              <a:off x="2596400" y="1477650"/>
              <a:ext cx="4186800" cy="11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I’ve noticed that just like when you multiply 2 negatives numbers together you get a 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positive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answer, it is the same when dividing.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47" name="Google Shape;174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7615" y="3240000"/>
            <a:ext cx="1223887" cy="1578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sp>
        <p:nvSpPr>
          <p:cNvPr id="1753" name="Google Shape;1753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Generalising for finding the quotient of two integers: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If </a:t>
            </a:r>
            <a:r>
              <a:rPr lang="en-GB">
                <a:solidFill>
                  <a:schemeClr val="accent5"/>
                </a:solidFill>
              </a:rPr>
              <a:t>both</a:t>
            </a:r>
            <a:r>
              <a:rPr lang="en-GB"/>
              <a:t> integers are </a:t>
            </a:r>
            <a:r>
              <a:rPr lang="en-GB">
                <a:solidFill>
                  <a:schemeClr val="accent5"/>
                </a:solidFill>
              </a:rPr>
              <a:t>positive</a:t>
            </a:r>
            <a:r>
              <a:rPr lang="en-GB"/>
              <a:t> or </a:t>
            </a:r>
            <a:r>
              <a:rPr lang="en-GB">
                <a:solidFill>
                  <a:schemeClr val="accent5"/>
                </a:solidFill>
              </a:rPr>
              <a:t>both</a:t>
            </a:r>
            <a:r>
              <a:rPr lang="en-GB"/>
              <a:t> integers are </a:t>
            </a:r>
            <a:r>
              <a:rPr lang="en-GB">
                <a:solidFill>
                  <a:schemeClr val="accent5"/>
                </a:solidFill>
              </a:rPr>
              <a:t>negative</a:t>
            </a:r>
            <a:r>
              <a:rPr lang="en-GB"/>
              <a:t> the result of the division is the </a:t>
            </a:r>
            <a:r>
              <a:rPr lang="en-GB">
                <a:solidFill>
                  <a:schemeClr val="accent5"/>
                </a:solidFill>
              </a:rPr>
              <a:t>absolute value</a:t>
            </a:r>
            <a:r>
              <a:rPr lang="en-GB"/>
              <a:t> of the quotient.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e.g. 12 ÷ 4 = 3 and (−12) ÷ (−4) = 3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If there is </a:t>
            </a:r>
            <a:r>
              <a:rPr lang="en-GB">
                <a:solidFill>
                  <a:schemeClr val="accent5"/>
                </a:solidFill>
              </a:rPr>
              <a:t>one positive</a:t>
            </a:r>
            <a:r>
              <a:rPr lang="en-GB"/>
              <a:t> integer and </a:t>
            </a:r>
            <a:r>
              <a:rPr lang="en-GB">
                <a:solidFill>
                  <a:schemeClr val="accent5"/>
                </a:solidFill>
              </a:rPr>
              <a:t>one negative</a:t>
            </a:r>
            <a:r>
              <a:rPr lang="en-GB"/>
              <a:t> integer, the result of the division is the </a:t>
            </a:r>
            <a:r>
              <a:rPr lang="en-GB">
                <a:solidFill>
                  <a:schemeClr val="accent5"/>
                </a:solidFill>
              </a:rPr>
              <a:t>negative</a:t>
            </a:r>
            <a:r>
              <a:rPr lang="en-GB"/>
              <a:t> of the </a:t>
            </a:r>
            <a:r>
              <a:rPr lang="en-GB">
                <a:solidFill>
                  <a:schemeClr val="accent5"/>
                </a:solidFill>
              </a:rPr>
              <a:t>absolute value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e.g. (−12) ÷ 4 = (−3) and 12 ÷ (−4) = (−3)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sp>
        <p:nvSpPr>
          <p:cNvPr id="1759" name="Google Shape;1759;p92"/>
          <p:cNvSpPr txBox="1"/>
          <p:nvPr>
            <p:ph idx="1" type="body"/>
          </p:nvPr>
        </p:nvSpPr>
        <p:spPr>
          <a:xfrm>
            <a:off x="324000" y="759300"/>
            <a:ext cx="7083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each question to the correct quotient:</a:t>
            </a:r>
            <a:endParaRPr/>
          </a:p>
        </p:txBody>
      </p:sp>
      <p:sp>
        <p:nvSpPr>
          <p:cNvPr id="1760" name="Google Shape;1760;p92"/>
          <p:cNvSpPr txBox="1"/>
          <p:nvPr>
            <p:ph idx="1" type="body"/>
          </p:nvPr>
        </p:nvSpPr>
        <p:spPr>
          <a:xfrm>
            <a:off x="1543050" y="1398675"/>
            <a:ext cx="131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25 ÷ (−5)</a:t>
            </a:r>
            <a:endParaRPr/>
          </a:p>
        </p:txBody>
      </p:sp>
      <p:sp>
        <p:nvSpPr>
          <p:cNvPr id="1761" name="Google Shape;1761;p92"/>
          <p:cNvSpPr txBox="1"/>
          <p:nvPr>
            <p:ph idx="1" type="body"/>
          </p:nvPr>
        </p:nvSpPr>
        <p:spPr>
          <a:xfrm>
            <a:off x="1543050" y="3558675"/>
            <a:ext cx="1556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(−30) ÷ (−6)</a:t>
            </a:r>
            <a:endParaRPr/>
          </a:p>
        </p:txBody>
      </p:sp>
      <p:sp>
        <p:nvSpPr>
          <p:cNvPr id="1762" name="Google Shape;1762;p92"/>
          <p:cNvSpPr txBox="1"/>
          <p:nvPr>
            <p:ph idx="1" type="body"/>
          </p:nvPr>
        </p:nvSpPr>
        <p:spPr>
          <a:xfrm>
            <a:off x="1543050" y="3018665"/>
            <a:ext cx="1689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(−24)</a:t>
            </a:r>
            <a:r>
              <a:rPr lang="en-GB"/>
              <a:t> ÷ (−6)</a:t>
            </a:r>
            <a:endParaRPr/>
          </a:p>
        </p:txBody>
      </p:sp>
      <p:sp>
        <p:nvSpPr>
          <p:cNvPr id="1763" name="Google Shape;1763;p92"/>
          <p:cNvSpPr txBox="1"/>
          <p:nvPr>
            <p:ph idx="1" type="body"/>
          </p:nvPr>
        </p:nvSpPr>
        <p:spPr>
          <a:xfrm>
            <a:off x="1543050" y="1938665"/>
            <a:ext cx="1620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(−27) ÷ (−3)</a:t>
            </a:r>
            <a:endParaRPr/>
          </a:p>
        </p:txBody>
      </p:sp>
      <p:sp>
        <p:nvSpPr>
          <p:cNvPr id="1764" name="Google Shape;1764;p92"/>
          <p:cNvSpPr txBox="1"/>
          <p:nvPr>
            <p:ph idx="1" type="body"/>
          </p:nvPr>
        </p:nvSpPr>
        <p:spPr>
          <a:xfrm>
            <a:off x="1543050" y="2478675"/>
            <a:ext cx="1312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(−16) ÷ 4</a:t>
            </a:r>
            <a:endParaRPr/>
          </a:p>
        </p:txBody>
      </p:sp>
      <p:sp>
        <p:nvSpPr>
          <p:cNvPr id="1765" name="Google Shape;1765;p92"/>
          <p:cNvSpPr txBox="1"/>
          <p:nvPr>
            <p:ph idx="1" type="body"/>
          </p:nvPr>
        </p:nvSpPr>
        <p:spPr>
          <a:xfrm>
            <a:off x="1543050" y="4098675"/>
            <a:ext cx="1556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45</a:t>
            </a:r>
            <a:r>
              <a:rPr lang="en-GB"/>
              <a:t> ÷ (−5)</a:t>
            </a:r>
            <a:endParaRPr/>
          </a:p>
        </p:txBody>
      </p:sp>
      <p:cxnSp>
        <p:nvCxnSpPr>
          <p:cNvPr id="1766" name="Google Shape;1766;p92"/>
          <p:cNvCxnSpPr/>
          <p:nvPr/>
        </p:nvCxnSpPr>
        <p:spPr>
          <a:xfrm>
            <a:off x="2876400" y="1554085"/>
            <a:ext cx="3025800" cy="27582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7" name="Google Shape;1767;p92"/>
          <p:cNvSpPr txBox="1"/>
          <p:nvPr>
            <p:ph idx="1" type="body"/>
          </p:nvPr>
        </p:nvSpPr>
        <p:spPr>
          <a:xfrm>
            <a:off x="6000250" y="200123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(−9) </a:t>
            </a:r>
            <a:endParaRPr/>
          </a:p>
        </p:txBody>
      </p:sp>
      <p:sp>
        <p:nvSpPr>
          <p:cNvPr id="1768" name="Google Shape;1768;p92"/>
          <p:cNvSpPr txBox="1"/>
          <p:nvPr>
            <p:ph idx="1" type="body"/>
          </p:nvPr>
        </p:nvSpPr>
        <p:spPr>
          <a:xfrm>
            <a:off x="6000250" y="140026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</a:t>
            </a:r>
            <a:r>
              <a:rPr lang="en-GB"/>
              <a:t> </a:t>
            </a:r>
            <a:endParaRPr/>
          </a:p>
        </p:txBody>
      </p:sp>
      <p:sp>
        <p:nvSpPr>
          <p:cNvPr id="1769" name="Google Shape;1769;p92"/>
          <p:cNvSpPr txBox="1"/>
          <p:nvPr>
            <p:ph idx="1" type="body"/>
          </p:nvPr>
        </p:nvSpPr>
        <p:spPr>
          <a:xfrm>
            <a:off x="6000250" y="410026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(−5) </a:t>
            </a:r>
            <a:endParaRPr/>
          </a:p>
        </p:txBody>
      </p:sp>
      <p:sp>
        <p:nvSpPr>
          <p:cNvPr id="1770" name="Google Shape;1770;p92"/>
          <p:cNvSpPr txBox="1"/>
          <p:nvPr>
            <p:ph idx="1" type="body"/>
          </p:nvPr>
        </p:nvSpPr>
        <p:spPr>
          <a:xfrm>
            <a:off x="6000250" y="355747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</a:t>
            </a:r>
            <a:r>
              <a:rPr lang="en-GB"/>
              <a:t> </a:t>
            </a:r>
            <a:endParaRPr/>
          </a:p>
        </p:txBody>
      </p:sp>
      <p:sp>
        <p:nvSpPr>
          <p:cNvPr id="1771" name="Google Shape;1771;p92"/>
          <p:cNvSpPr txBox="1"/>
          <p:nvPr>
            <p:ph idx="1" type="body"/>
          </p:nvPr>
        </p:nvSpPr>
        <p:spPr>
          <a:xfrm>
            <a:off x="5978650" y="3081235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(−4) </a:t>
            </a:r>
            <a:endParaRPr/>
          </a:p>
        </p:txBody>
      </p:sp>
      <p:sp>
        <p:nvSpPr>
          <p:cNvPr id="1772" name="Google Shape;1772;p92"/>
          <p:cNvSpPr txBox="1"/>
          <p:nvPr>
            <p:ph idx="1" type="body"/>
          </p:nvPr>
        </p:nvSpPr>
        <p:spPr>
          <a:xfrm>
            <a:off x="6000250" y="2471890"/>
            <a:ext cx="1202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</a:t>
            </a:r>
            <a:endParaRPr/>
          </a:p>
        </p:txBody>
      </p:sp>
      <p:cxnSp>
        <p:nvCxnSpPr>
          <p:cNvPr id="1773" name="Google Shape;1773;p92"/>
          <p:cNvCxnSpPr>
            <a:stCxn id="1763" idx="3"/>
          </p:cNvCxnSpPr>
          <p:nvPr/>
        </p:nvCxnSpPr>
        <p:spPr>
          <a:xfrm flipH="1" rot="10800000">
            <a:off x="3163350" y="1642415"/>
            <a:ext cx="2733000" cy="4566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92"/>
          <p:cNvCxnSpPr>
            <a:stCxn id="1764" idx="3"/>
          </p:cNvCxnSpPr>
          <p:nvPr/>
        </p:nvCxnSpPr>
        <p:spPr>
          <a:xfrm>
            <a:off x="2855550" y="2639025"/>
            <a:ext cx="2989500" cy="660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5" name="Google Shape;1775;p92"/>
          <p:cNvCxnSpPr>
            <a:stCxn id="1762" idx="3"/>
          </p:cNvCxnSpPr>
          <p:nvPr/>
        </p:nvCxnSpPr>
        <p:spPr>
          <a:xfrm flipH="1" rot="10800000">
            <a:off x="3232350" y="2673515"/>
            <a:ext cx="2606700" cy="505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6" name="Google Shape;1776;p92"/>
          <p:cNvCxnSpPr/>
          <p:nvPr/>
        </p:nvCxnSpPr>
        <p:spPr>
          <a:xfrm flipH="1" rot="10800000">
            <a:off x="3194800" y="3736500"/>
            <a:ext cx="2694600" cy="90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7" name="Google Shape;1777;p92"/>
          <p:cNvCxnSpPr/>
          <p:nvPr/>
        </p:nvCxnSpPr>
        <p:spPr>
          <a:xfrm flipH="1" rot="10800000">
            <a:off x="2928575" y="2218050"/>
            <a:ext cx="2941800" cy="2062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in the missing integers in the times table grid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83" name="Google Shape;1783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graphicFrame>
        <p:nvGraphicFramePr>
          <p:cNvPr id="1784" name="Google Shape;1784;p93"/>
          <p:cNvGraphicFramePr/>
          <p:nvPr/>
        </p:nvGraphicFramePr>
        <p:xfrm>
          <a:off x="323888" y="131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{D6341C52-8A77-4DA7-9DBB-0F87BAC7D4AF}</a:tableStyleId>
              </a:tblPr>
              <a:tblGrid>
                <a:gridCol w="908150"/>
                <a:gridCol w="908150"/>
                <a:gridCol w="908150"/>
                <a:gridCol w="908150"/>
                <a:gridCol w="908150"/>
                <a:gridCol w="908150"/>
                <a:gridCol w="908150"/>
                <a:gridCol w="908150"/>
                <a:gridCol w="908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(-12)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(−96)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(−90)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/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(−28)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36000" marL="36000" anchor="ctr"/>
                </a:tc>
              </a:tr>
            </a:tbl>
          </a:graphicData>
        </a:graphic>
      </p:graphicFrame>
      <p:cxnSp>
        <p:nvCxnSpPr>
          <p:cNvPr id="1785" name="Google Shape;1785;p93"/>
          <p:cNvCxnSpPr/>
          <p:nvPr/>
        </p:nvCxnSpPr>
        <p:spPr>
          <a:xfrm>
            <a:off x="334700" y="1705650"/>
            <a:ext cx="8167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6" name="Google Shape;1786;p93"/>
          <p:cNvCxnSpPr/>
          <p:nvPr/>
        </p:nvCxnSpPr>
        <p:spPr>
          <a:xfrm>
            <a:off x="1226750" y="1307075"/>
            <a:ext cx="0" cy="3416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0" name="Shape 1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Google Shape;1791;p94"/>
          <p:cNvSpPr txBox="1"/>
          <p:nvPr>
            <p:ph idx="1" type="body"/>
          </p:nvPr>
        </p:nvSpPr>
        <p:spPr>
          <a:xfrm>
            <a:off x="324000" y="759300"/>
            <a:ext cx="8237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Fill in the missing integers in the times table grid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graphicFrame>
        <p:nvGraphicFramePr>
          <p:cNvPr id="1793" name="Google Shape;1793;p94"/>
          <p:cNvGraphicFramePr/>
          <p:nvPr/>
        </p:nvGraphicFramePr>
        <p:xfrm>
          <a:off x="323888" y="131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{D6341C52-8A77-4DA7-9DBB-0F87BAC7D4AF}</a:tableStyleId>
              </a:tblPr>
              <a:tblGrid>
                <a:gridCol w="908150"/>
                <a:gridCol w="908150"/>
                <a:gridCol w="908150"/>
                <a:gridCol w="908150"/>
                <a:gridCol w="908150"/>
                <a:gridCol w="908150"/>
                <a:gridCol w="908150"/>
                <a:gridCol w="908150"/>
                <a:gridCol w="908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×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(</a:t>
                      </a: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−3)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(−18)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(−36)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(-12)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(−48)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(−84)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(−96)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(−12)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(−11)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(−44)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(−77)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(−110)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(−88)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(−36)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(−63)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(−90)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(−72)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(−15)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21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(−6)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(−18)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(−15)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(−25)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35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(−30)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12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(−16)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20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(−28)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(−40)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(−32)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36000" marL="36000" anchor="ctr"/>
                </a:tc>
              </a:tr>
            </a:tbl>
          </a:graphicData>
        </a:graphic>
      </p:graphicFrame>
      <p:cxnSp>
        <p:nvCxnSpPr>
          <p:cNvPr id="1794" name="Google Shape;1794;p94"/>
          <p:cNvCxnSpPr/>
          <p:nvPr/>
        </p:nvCxnSpPr>
        <p:spPr>
          <a:xfrm>
            <a:off x="334700" y="1705650"/>
            <a:ext cx="8167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5" name="Google Shape;1795;p94"/>
          <p:cNvCxnSpPr/>
          <p:nvPr/>
        </p:nvCxnSpPr>
        <p:spPr>
          <a:xfrm>
            <a:off x="1226750" y="1307075"/>
            <a:ext cx="0" cy="3416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9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when two values are negative</a:t>
            </a:r>
            <a:endParaRPr/>
          </a:p>
        </p:txBody>
      </p:sp>
      <p:sp>
        <p:nvSpPr>
          <p:cNvPr id="1801" name="Google Shape;1801;p9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when two values are negative</a:t>
            </a:r>
            <a:endParaRPr/>
          </a:p>
        </p:txBody>
      </p:sp>
      <p:sp>
        <p:nvSpPr>
          <p:cNvPr id="1802" name="Google Shape;1802;p9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sp>
        <p:nvSpPr>
          <p:cNvPr id="1803" name="Google Shape;1803;p9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pic>
        <p:nvPicPr>
          <p:cNvPr id="1804" name="Google Shape;1804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127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sp>
        <p:nvSpPr>
          <p:cNvPr id="1810" name="Google Shape;1810;p96"/>
          <p:cNvSpPr txBox="1"/>
          <p:nvPr>
            <p:ph idx="1" type="body"/>
          </p:nvPr>
        </p:nvSpPr>
        <p:spPr>
          <a:xfrm>
            <a:off x="324000" y="759300"/>
            <a:ext cx="39204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      ) ×         ×</a:t>
            </a:r>
            <a:r>
              <a:rPr lang="en-GB"/>
              <a:t>         × (−      )</a:t>
            </a:r>
            <a:r>
              <a:rPr lang="en-GB"/>
              <a:t>      </a:t>
            </a:r>
            <a:endParaRPr/>
          </a:p>
        </p:txBody>
      </p:sp>
      <p:pic>
        <p:nvPicPr>
          <p:cNvPr id="1811" name="Google Shape;1811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825" y="791020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2" name="Google Shape;181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8800" y="75929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3" name="Google Shape;181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9775" y="75929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4" name="Google Shape;1814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300" y="791020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5" name="Google Shape;1815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50" y="2651174"/>
            <a:ext cx="1075025" cy="2029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6" name="Google Shape;1816;p96"/>
          <p:cNvGrpSpPr/>
          <p:nvPr/>
        </p:nvGrpSpPr>
        <p:grpSpPr>
          <a:xfrm>
            <a:off x="1762698" y="1299450"/>
            <a:ext cx="2716102" cy="2480551"/>
            <a:chOff x="1825973" y="1724100"/>
            <a:chExt cx="2716102" cy="2480551"/>
          </a:xfrm>
        </p:grpSpPr>
        <p:pic>
          <p:nvPicPr>
            <p:cNvPr id="1817" name="Google Shape;1817;p96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1825973" y="1724100"/>
              <a:ext cx="2662052" cy="24805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8" name="Google Shape;1818;p96"/>
            <p:cNvSpPr txBox="1"/>
            <p:nvPr/>
          </p:nvSpPr>
          <p:spPr>
            <a:xfrm>
              <a:off x="1947675" y="1743325"/>
              <a:ext cx="2594400" cy="20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 don’t need to be able to see the numbers to know if the answer is positive or negative.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19" name="Google Shape;1819;p96"/>
          <p:cNvSpPr txBox="1"/>
          <p:nvPr/>
        </p:nvSpPr>
        <p:spPr>
          <a:xfrm>
            <a:off x="2135200" y="4020000"/>
            <a:ext cx="3996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Do you think it is possible to know this? 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0" name="Google Shape;1820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9100" y="2515521"/>
            <a:ext cx="1421550" cy="164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1" name="Google Shape;1821;p96"/>
          <p:cNvGrpSpPr/>
          <p:nvPr/>
        </p:nvGrpSpPr>
        <p:grpSpPr>
          <a:xfrm>
            <a:off x="5330000" y="1999150"/>
            <a:ext cx="2344775" cy="956826"/>
            <a:chOff x="4872800" y="1694350"/>
            <a:chExt cx="2344775" cy="956826"/>
          </a:xfrm>
        </p:grpSpPr>
        <p:pic>
          <p:nvPicPr>
            <p:cNvPr id="1822" name="Google Shape;1822;p96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>
              <a:off x="4872800" y="1756250"/>
              <a:ext cx="1845402" cy="894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3" name="Google Shape;1823;p96"/>
            <p:cNvSpPr txBox="1"/>
            <p:nvPr/>
          </p:nvSpPr>
          <p:spPr>
            <a:xfrm>
              <a:off x="4874875" y="1694350"/>
              <a:ext cx="2342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How can you know that?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24" name="Google Shape;1824;p96"/>
          <p:cNvGrpSpPr/>
          <p:nvPr/>
        </p:nvGrpSpPr>
        <p:grpSpPr>
          <a:xfrm>
            <a:off x="1723602" y="1148775"/>
            <a:ext cx="3393198" cy="2797649"/>
            <a:chOff x="2892774" y="1741166"/>
            <a:chExt cx="3393198" cy="2553998"/>
          </a:xfrm>
        </p:grpSpPr>
        <p:pic>
          <p:nvPicPr>
            <p:cNvPr id="1825" name="Google Shape;1825;p96"/>
            <p:cNvPicPr preferRelativeResize="0"/>
            <p:nvPr/>
          </p:nvPicPr>
          <p:blipFill rotWithShape="1">
            <a:blip r:embed="rId5">
              <a:alphaModFix/>
            </a:blip>
            <a:srcRect b="43690" l="0" r="57905" t="0"/>
            <a:stretch/>
          </p:blipFill>
          <p:spPr>
            <a:xfrm flipH="1">
              <a:off x="2892774" y="1741166"/>
              <a:ext cx="3393198" cy="25539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6" name="Google Shape;1826;p96"/>
            <p:cNvSpPr txBox="1"/>
            <p:nvPr/>
          </p:nvSpPr>
          <p:spPr>
            <a:xfrm>
              <a:off x="3090671" y="1743334"/>
              <a:ext cx="3195300" cy="213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 count the number of negative integers.  If there is an even number the answer will be positive.  If there is an odd number the answer will be negative.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0" name="Shape 1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1" name="Google Shape;1831;p97"/>
          <p:cNvSpPr/>
          <p:nvPr/>
        </p:nvSpPr>
        <p:spPr>
          <a:xfrm>
            <a:off x="1078319" y="4101323"/>
            <a:ext cx="1263600" cy="37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2" name="Google Shape;1832;p97"/>
          <p:cNvSpPr/>
          <p:nvPr/>
        </p:nvSpPr>
        <p:spPr>
          <a:xfrm>
            <a:off x="321950" y="3015823"/>
            <a:ext cx="1683000" cy="42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97"/>
          <p:cNvSpPr/>
          <p:nvPr/>
        </p:nvSpPr>
        <p:spPr>
          <a:xfrm>
            <a:off x="531650" y="2406000"/>
            <a:ext cx="1263600" cy="37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97"/>
          <p:cNvSpPr/>
          <p:nvPr/>
        </p:nvSpPr>
        <p:spPr>
          <a:xfrm>
            <a:off x="474350" y="3504650"/>
            <a:ext cx="2663100" cy="42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97"/>
          <p:cNvSpPr txBox="1"/>
          <p:nvPr>
            <p:ph idx="1" type="body"/>
          </p:nvPr>
        </p:nvSpPr>
        <p:spPr>
          <a:xfrm>
            <a:off x="400200" y="1902300"/>
            <a:ext cx="28827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      ) ×         × (−      )      </a:t>
            </a:r>
            <a:endParaRPr/>
          </a:p>
        </p:txBody>
      </p:sp>
      <p:sp>
        <p:nvSpPr>
          <p:cNvPr id="1836" name="Google Shape;1836;p97"/>
          <p:cNvSpPr/>
          <p:nvPr/>
        </p:nvSpPr>
        <p:spPr>
          <a:xfrm>
            <a:off x="379250" y="1896017"/>
            <a:ext cx="1683000" cy="427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7" name="Google Shape;1837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sp>
        <p:nvSpPr>
          <p:cNvPr id="1838" name="Google Shape;1838;p97"/>
          <p:cNvSpPr txBox="1"/>
          <p:nvPr>
            <p:ph idx="1" type="body"/>
          </p:nvPr>
        </p:nvSpPr>
        <p:spPr>
          <a:xfrm>
            <a:off x="400200" y="1064100"/>
            <a:ext cx="16200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      ) ×                       </a:t>
            </a:r>
            <a:endParaRPr/>
          </a:p>
        </p:txBody>
      </p:sp>
      <p:pic>
        <p:nvPicPr>
          <p:cNvPr id="1839" name="Google Shape;183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984" y="1095820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0" name="Google Shape;184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000" y="1064095"/>
            <a:ext cx="44747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1" name="Google Shape;1841;p97"/>
          <p:cNvSpPr txBox="1"/>
          <p:nvPr>
            <p:ph idx="1" type="body"/>
          </p:nvPr>
        </p:nvSpPr>
        <p:spPr>
          <a:xfrm>
            <a:off x="4829350" y="1072350"/>
            <a:ext cx="399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 negative number so the </a:t>
            </a:r>
            <a:r>
              <a:rPr lang="en-GB"/>
              <a:t>product</a:t>
            </a:r>
            <a:r>
              <a:rPr lang="en-GB"/>
              <a:t> should be negative  </a:t>
            </a:r>
            <a:endParaRPr/>
          </a:p>
        </p:txBody>
      </p:sp>
      <p:sp>
        <p:nvSpPr>
          <p:cNvPr id="1842" name="Google Shape;1842;p97"/>
          <p:cNvSpPr txBox="1"/>
          <p:nvPr>
            <p:ph idx="1" type="body"/>
          </p:nvPr>
        </p:nvSpPr>
        <p:spPr>
          <a:xfrm>
            <a:off x="558625" y="2406000"/>
            <a:ext cx="126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negative</a:t>
            </a:r>
            <a:endParaRPr/>
          </a:p>
        </p:txBody>
      </p:sp>
      <p:sp>
        <p:nvSpPr>
          <p:cNvPr id="1843" name="Google Shape;1843;p97"/>
          <p:cNvSpPr txBox="1"/>
          <p:nvPr>
            <p:ph idx="1" type="body"/>
          </p:nvPr>
        </p:nvSpPr>
        <p:spPr>
          <a:xfrm>
            <a:off x="2083375" y="2386175"/>
            <a:ext cx="109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(−      ) </a:t>
            </a:r>
            <a:endParaRPr/>
          </a:p>
        </p:txBody>
      </p:sp>
      <p:pic>
        <p:nvPicPr>
          <p:cNvPr id="1844" name="Google Shape;184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3555" y="2385295"/>
            <a:ext cx="44747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5" name="Google Shape;1845;p97"/>
          <p:cNvSpPr txBox="1"/>
          <p:nvPr>
            <p:ph idx="1" type="body"/>
          </p:nvPr>
        </p:nvSpPr>
        <p:spPr>
          <a:xfrm>
            <a:off x="2020075" y="1104075"/>
            <a:ext cx="144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negative</a:t>
            </a:r>
            <a:endParaRPr/>
          </a:p>
        </p:txBody>
      </p:sp>
      <p:pic>
        <p:nvPicPr>
          <p:cNvPr id="1846" name="Google Shape;184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84" y="194744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7" name="Google Shape;1847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063" y="194744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8" name="Google Shape;1848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5425" y="1947445"/>
            <a:ext cx="44747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9" name="Google Shape;1849;p97"/>
          <p:cNvSpPr txBox="1"/>
          <p:nvPr>
            <p:ph idx="1" type="body"/>
          </p:nvPr>
        </p:nvSpPr>
        <p:spPr>
          <a:xfrm>
            <a:off x="4829350" y="1955700"/>
            <a:ext cx="399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 negative numbers so the product should be positive  </a:t>
            </a:r>
            <a:endParaRPr/>
          </a:p>
        </p:txBody>
      </p:sp>
      <p:sp>
        <p:nvSpPr>
          <p:cNvPr id="1850" name="Google Shape;1850;p97"/>
          <p:cNvSpPr txBox="1"/>
          <p:nvPr>
            <p:ph idx="1" type="body"/>
          </p:nvPr>
        </p:nvSpPr>
        <p:spPr>
          <a:xfrm>
            <a:off x="3165750" y="2386175"/>
            <a:ext cx="144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positive</a:t>
            </a:r>
            <a:endParaRPr/>
          </a:p>
        </p:txBody>
      </p:sp>
      <p:sp>
        <p:nvSpPr>
          <p:cNvPr id="1851" name="Google Shape;1851;p97"/>
          <p:cNvSpPr txBox="1"/>
          <p:nvPr>
            <p:ph idx="1" type="body"/>
          </p:nvPr>
        </p:nvSpPr>
        <p:spPr>
          <a:xfrm>
            <a:off x="400200" y="3026250"/>
            <a:ext cx="4034100" cy="4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      ) ×         × (−      ) </a:t>
            </a:r>
            <a:r>
              <a:rPr lang="en-GB"/>
              <a:t>× (−      )</a:t>
            </a:r>
            <a:r>
              <a:rPr lang="en-GB"/>
              <a:t>     </a:t>
            </a:r>
            <a:endParaRPr/>
          </a:p>
        </p:txBody>
      </p:sp>
      <p:pic>
        <p:nvPicPr>
          <p:cNvPr id="1852" name="Google Shape;1852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813" y="307139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3" name="Google Shape;185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7263" y="307139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4" name="Google Shape;185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7413" y="307139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5" name="Google Shape;1855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9970" y="3071395"/>
            <a:ext cx="44747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97"/>
          <p:cNvSpPr txBox="1"/>
          <p:nvPr>
            <p:ph idx="1" type="body"/>
          </p:nvPr>
        </p:nvSpPr>
        <p:spPr>
          <a:xfrm>
            <a:off x="4829350" y="2874575"/>
            <a:ext cx="399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</a:t>
            </a:r>
            <a:r>
              <a:rPr lang="en-GB"/>
              <a:t> negative numbers so the product should be negative  </a:t>
            </a:r>
            <a:endParaRPr/>
          </a:p>
        </p:txBody>
      </p:sp>
      <p:sp>
        <p:nvSpPr>
          <p:cNvPr id="1857" name="Google Shape;1857;p97"/>
          <p:cNvSpPr txBox="1"/>
          <p:nvPr>
            <p:ph idx="1" type="body"/>
          </p:nvPr>
        </p:nvSpPr>
        <p:spPr>
          <a:xfrm>
            <a:off x="512591" y="3552500"/>
            <a:ext cx="126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negative</a:t>
            </a:r>
            <a:endParaRPr/>
          </a:p>
        </p:txBody>
      </p:sp>
      <p:sp>
        <p:nvSpPr>
          <p:cNvPr id="1858" name="Google Shape;1858;p97"/>
          <p:cNvSpPr/>
          <p:nvPr/>
        </p:nvSpPr>
        <p:spPr>
          <a:xfrm>
            <a:off x="474350" y="3525806"/>
            <a:ext cx="1263600" cy="37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9" name="Google Shape;1859;p97"/>
          <p:cNvSpPr txBox="1"/>
          <p:nvPr>
            <p:ph idx="1" type="body"/>
          </p:nvPr>
        </p:nvSpPr>
        <p:spPr>
          <a:xfrm>
            <a:off x="2110726" y="3545125"/>
            <a:ext cx="2323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× (−      ) </a:t>
            </a:r>
            <a:r>
              <a:rPr lang="en-GB"/>
              <a:t>× (−      )  </a:t>
            </a:r>
            <a:r>
              <a:rPr lang="en-GB"/>
              <a:t> </a:t>
            </a:r>
            <a:endParaRPr/>
          </a:p>
        </p:txBody>
      </p:sp>
      <p:pic>
        <p:nvPicPr>
          <p:cNvPr id="1860" name="Google Shape;186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4577" y="3544245"/>
            <a:ext cx="447475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1" name="Google Shape;1861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6044" y="3544245"/>
            <a:ext cx="44747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2" name="Google Shape;1862;p97"/>
          <p:cNvSpPr txBox="1"/>
          <p:nvPr>
            <p:ph idx="1" type="body"/>
          </p:nvPr>
        </p:nvSpPr>
        <p:spPr>
          <a:xfrm>
            <a:off x="1174091" y="4097150"/>
            <a:ext cx="1263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posi</a:t>
            </a:r>
            <a:r>
              <a:rPr lang="en-GB"/>
              <a:t>tive</a:t>
            </a:r>
            <a:endParaRPr/>
          </a:p>
        </p:txBody>
      </p:sp>
      <p:sp>
        <p:nvSpPr>
          <p:cNvPr id="1863" name="Google Shape;1863;p97"/>
          <p:cNvSpPr txBox="1"/>
          <p:nvPr>
            <p:ph idx="1" type="body"/>
          </p:nvPr>
        </p:nvSpPr>
        <p:spPr>
          <a:xfrm>
            <a:off x="3180720" y="4113300"/>
            <a:ext cx="109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× (−      )</a:t>
            </a:r>
            <a:endParaRPr/>
          </a:p>
        </p:txBody>
      </p:sp>
      <p:pic>
        <p:nvPicPr>
          <p:cNvPr id="1864" name="Google Shape;1864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169" y="4119770"/>
            <a:ext cx="44747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5" name="Google Shape;1865;p97"/>
          <p:cNvSpPr txBox="1"/>
          <p:nvPr>
            <p:ph idx="1" type="body"/>
          </p:nvPr>
        </p:nvSpPr>
        <p:spPr>
          <a:xfrm>
            <a:off x="4320000" y="4128025"/>
            <a:ext cx="1446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= negative</a:t>
            </a:r>
            <a:endParaRPr/>
          </a:p>
        </p:txBody>
      </p:sp>
      <p:sp>
        <p:nvSpPr>
          <p:cNvPr id="1866" name="Google Shape;1866;p97"/>
          <p:cNvSpPr txBox="1"/>
          <p:nvPr>
            <p:ph idx="1" type="body"/>
          </p:nvPr>
        </p:nvSpPr>
        <p:spPr>
          <a:xfrm>
            <a:off x="324000" y="702361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Now we will check Aisha’s idea.</a:t>
            </a:r>
            <a:endParaRPr/>
          </a:p>
        </p:txBody>
      </p:sp>
      <p:sp>
        <p:nvSpPr>
          <p:cNvPr id="1867" name="Google Shape;1867;p97"/>
          <p:cNvSpPr txBox="1"/>
          <p:nvPr>
            <p:ph idx="1" type="body"/>
          </p:nvPr>
        </p:nvSpPr>
        <p:spPr>
          <a:xfrm>
            <a:off x="6256800" y="4475425"/>
            <a:ext cx="1971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is right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sp>
        <p:nvSpPr>
          <p:cNvPr id="1873" name="Google Shape;1873;p98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is an odd number of negative integers</a:t>
            </a:r>
            <a:endParaRPr/>
          </a:p>
        </p:txBody>
      </p:sp>
      <p:sp>
        <p:nvSpPr>
          <p:cNvPr id="1874" name="Google Shape;1874;p98"/>
          <p:cNvSpPr txBox="1"/>
          <p:nvPr>
            <p:ph idx="1" type="subTitle"/>
          </p:nvPr>
        </p:nvSpPr>
        <p:spPr>
          <a:xfrm>
            <a:off x="324000" y="940253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answer to the following is negative: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(−3) × (−4) × 6 × (−2) × 8 × (−7)</a:t>
            </a:r>
            <a:endParaRPr/>
          </a:p>
        </p:txBody>
      </p:sp>
      <p:sp>
        <p:nvSpPr>
          <p:cNvPr id="1875" name="Google Shape;1875;p9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There is an even number of negative integers</a:t>
            </a:r>
            <a:endParaRPr/>
          </a:p>
        </p:txBody>
      </p:sp>
      <p:pic>
        <p:nvPicPr>
          <p:cNvPr id="1876" name="Google Shape;187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8" y="17966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7" name="Google Shape;1877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1208" y="39988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sp>
        <p:nvSpPr>
          <p:cNvPr id="1883" name="Google Shape;1883;p99"/>
          <p:cNvSpPr txBox="1"/>
          <p:nvPr>
            <p:ph idx="1" type="body"/>
          </p:nvPr>
        </p:nvSpPr>
        <p:spPr>
          <a:xfrm>
            <a:off x="324000" y="759300"/>
            <a:ext cx="8237700" cy="95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884" name="Google Shape;188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1995" y="3104174"/>
            <a:ext cx="1421553" cy="164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5" name="Google Shape;1885;p99"/>
          <p:cNvGrpSpPr/>
          <p:nvPr/>
        </p:nvGrpSpPr>
        <p:grpSpPr>
          <a:xfrm flipH="1">
            <a:off x="1526834" y="2310275"/>
            <a:ext cx="2812546" cy="950494"/>
            <a:chOff x="5444546" y="1929279"/>
            <a:chExt cx="2344765" cy="950494"/>
          </a:xfrm>
        </p:grpSpPr>
        <p:pic>
          <p:nvPicPr>
            <p:cNvPr id="1886" name="Google Shape;1886;p99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444546" y="1984847"/>
              <a:ext cx="2344765" cy="894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7" name="Google Shape;1887;p99"/>
            <p:cNvSpPr txBox="1"/>
            <p:nvPr/>
          </p:nvSpPr>
          <p:spPr>
            <a:xfrm>
              <a:off x="5721831" y="1929279"/>
              <a:ext cx="19404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Is it the same for division?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88" name="Google Shape;1888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625593" y="2765038"/>
            <a:ext cx="1075032" cy="2029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89" name="Google Shape;1889;p99"/>
          <p:cNvGrpSpPr/>
          <p:nvPr/>
        </p:nvGrpSpPr>
        <p:grpSpPr>
          <a:xfrm>
            <a:off x="4949000" y="1922950"/>
            <a:ext cx="2780075" cy="1638425"/>
            <a:chOff x="5330000" y="1465750"/>
            <a:chExt cx="2780075" cy="1638425"/>
          </a:xfrm>
        </p:grpSpPr>
        <p:sp>
          <p:nvSpPr>
            <p:cNvPr id="1890" name="Google Shape;1890;p99"/>
            <p:cNvSpPr txBox="1"/>
            <p:nvPr/>
          </p:nvSpPr>
          <p:spPr>
            <a:xfrm>
              <a:off x="5332075" y="1465750"/>
              <a:ext cx="2778000" cy="141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Well,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multiplication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and 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division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are inverses of each other so yes.</a:t>
              </a: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891" name="Google Shape;1891;p99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>
              <a:off x="5330000" y="1539975"/>
              <a:ext cx="2710451" cy="1564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5" name="Shape 1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6" name="Google Shape;1896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sp>
        <p:nvSpPr>
          <p:cNvPr id="1897" name="Google Shape;1897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(−6) ÷ (−8)</a:t>
            </a:r>
            <a:endParaRPr/>
          </a:p>
        </p:txBody>
      </p:sp>
      <p:sp>
        <p:nvSpPr>
          <p:cNvPr id="1898" name="Google Shape;1898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 all of the following that will give positive answers.</a:t>
            </a:r>
            <a:endParaRPr/>
          </a:p>
        </p:txBody>
      </p:sp>
      <p:sp>
        <p:nvSpPr>
          <p:cNvPr id="1899" name="Google Shape;1899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(−6) ÷ 4 ÷ 3</a:t>
            </a:r>
            <a:endParaRPr/>
          </a:p>
        </p:txBody>
      </p:sp>
      <p:sp>
        <p:nvSpPr>
          <p:cNvPr id="1900" name="Google Shape;1900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9 ÷ (−2) </a:t>
            </a:r>
            <a:r>
              <a:rPr lang="en-GB"/>
              <a:t>÷ (−3) ÷ (−5) ÷</a:t>
            </a:r>
            <a:r>
              <a:rPr lang="en-GB"/>
              <a:t> 6</a:t>
            </a:r>
            <a:endParaRPr/>
          </a:p>
        </p:txBody>
      </p:sp>
      <p:sp>
        <p:nvSpPr>
          <p:cNvPr id="1901" name="Google Shape;1901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(−12) </a:t>
            </a:r>
            <a:r>
              <a:rPr lang="en-GB"/>
              <a:t>÷ 9 ÷ (−2) ÷ 3 ÷ (−5) ÷ 6 ÷ (−7)</a:t>
            </a:r>
            <a:endParaRPr/>
          </a:p>
        </p:txBody>
      </p:sp>
      <p:pic>
        <p:nvPicPr>
          <p:cNvPr id="1902" name="Google Shape;190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4133" y="16391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3" name="Google Shape;1903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103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7" name="Shape 1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8" name="Google Shape;1908;p10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copy of Alex’s homework.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Mark and correct any mistakes.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sp>
        <p:nvSpPr>
          <p:cNvPr id="1910" name="Google Shape;1910;p101"/>
          <p:cNvSpPr txBox="1"/>
          <p:nvPr>
            <p:ph idx="1" type="body"/>
          </p:nvPr>
        </p:nvSpPr>
        <p:spPr>
          <a:xfrm>
            <a:off x="400200" y="1678525"/>
            <a:ext cx="3996000" cy="29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(−2) × 3 × (−4) = (−24)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4 × (−5) × 6 = (−120)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(−36) ÷ 6 ÷ (−3) ÷ (−2) = 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100 ÷ (−4) ÷ (−5) = 5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(−1) × 6 × 2 × (−12) = 144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80 ÷ (−5) ÷ (−2) ÷ 4 = 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(−3)</a:t>
            </a:r>
            <a:r>
              <a:rPr baseline="30000" lang="en-GB"/>
              <a:t>2 </a:t>
            </a:r>
            <a:r>
              <a:rPr lang="en-GB" sz="2100"/>
              <a:t>= (−9)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/>
              <a:t>(−2)</a:t>
            </a:r>
            <a:r>
              <a:rPr baseline="30000" lang="en-GB"/>
              <a:t>3 </a:t>
            </a:r>
            <a:r>
              <a:rPr lang="en-GB" sz="2100"/>
              <a:t>= 6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11" name="Google Shape;1911;p101"/>
          <p:cNvSpPr txBox="1"/>
          <p:nvPr>
            <p:ph idx="1" type="body"/>
          </p:nvPr>
        </p:nvSpPr>
        <p:spPr>
          <a:xfrm>
            <a:off x="5465550" y="1723375"/>
            <a:ext cx="33840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9)   Make up some of your own questions with incorrect answers.  Think about mistakes people might make.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02"/>
          <p:cNvSpPr txBox="1"/>
          <p:nvPr>
            <p:ph idx="1" type="body"/>
          </p:nvPr>
        </p:nvSpPr>
        <p:spPr>
          <a:xfrm>
            <a:off x="324000" y="759300"/>
            <a:ext cx="8241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Here is a copy of Alex’s homework.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Mark and correct any mistakes.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Multiplying and dividing with negative values</a:t>
            </a:r>
            <a:endParaRPr/>
          </a:p>
        </p:txBody>
      </p:sp>
      <p:sp>
        <p:nvSpPr>
          <p:cNvPr id="1918" name="Google Shape;1918;p102"/>
          <p:cNvSpPr txBox="1"/>
          <p:nvPr>
            <p:ph idx="1" type="body"/>
          </p:nvPr>
        </p:nvSpPr>
        <p:spPr>
          <a:xfrm>
            <a:off x="400200" y="1678525"/>
            <a:ext cx="3996000" cy="291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(−2) × 3 × (−4) = (−24)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4 × (−5) × 6 = (−120)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(−36) ÷ 6 ÷ (−3) ÷ (−2) = 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100 ÷ (−4) ÷ (−5) = 5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(−1) × 6 × 2 × (−12) = 144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80 ÷ (−5) ÷ (−2) ÷ 4 = 2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(−3)</a:t>
            </a:r>
            <a:r>
              <a:rPr baseline="30000" lang="en-GB"/>
              <a:t>2 </a:t>
            </a:r>
            <a:r>
              <a:rPr lang="en-GB" sz="2100"/>
              <a:t>= (−9)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AutoNum type="arabicParenR"/>
            </a:pPr>
            <a:r>
              <a:rPr lang="en-GB"/>
              <a:t>(−2)</a:t>
            </a:r>
            <a:r>
              <a:rPr baseline="30000" lang="en-GB"/>
              <a:t>3 </a:t>
            </a:r>
            <a:r>
              <a:rPr lang="en-GB" sz="2100"/>
              <a:t>= 6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102"/>
          <p:cNvSpPr txBox="1"/>
          <p:nvPr>
            <p:ph idx="1" type="body"/>
          </p:nvPr>
        </p:nvSpPr>
        <p:spPr>
          <a:xfrm>
            <a:off x="5465550" y="1723375"/>
            <a:ext cx="3384000" cy="151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9)   Make up some of your own questions with incorrect answers.  Think about mistakes people might make.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920" name="Google Shape;1920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7309" y="2071019"/>
            <a:ext cx="285746" cy="30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1" name="Google Shape;1921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4213" y="1723373"/>
            <a:ext cx="285746" cy="30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2" name="Google Shape;1922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6657" y="2457813"/>
            <a:ext cx="285746" cy="30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3" name="Google Shape;192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459" y="2824444"/>
            <a:ext cx="285746" cy="30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4" name="Google Shape;1924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3534" y="3204594"/>
            <a:ext cx="285746" cy="30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5" name="Google Shape;1925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34682" y="4381673"/>
            <a:ext cx="285746" cy="30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6" name="Google Shape;1926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5332" y="4017123"/>
            <a:ext cx="285746" cy="302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7" name="Google Shape;1927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3209" y="3628794"/>
            <a:ext cx="285746" cy="302404"/>
          </a:xfrm>
          <a:prstGeom prst="rect">
            <a:avLst/>
          </a:prstGeom>
          <a:noFill/>
          <a:ln>
            <a:noFill/>
          </a:ln>
        </p:spPr>
      </p:pic>
      <p:sp>
        <p:nvSpPr>
          <p:cNvPr id="1928" name="Google Shape;1928;p102"/>
          <p:cNvSpPr txBox="1"/>
          <p:nvPr/>
        </p:nvSpPr>
        <p:spPr>
          <a:xfrm>
            <a:off x="4105906" y="1705463"/>
            <a:ext cx="5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24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9" name="Google Shape;1929;p102"/>
          <p:cNvSpPr txBox="1"/>
          <p:nvPr/>
        </p:nvSpPr>
        <p:spPr>
          <a:xfrm>
            <a:off x="4549325" y="2439891"/>
            <a:ext cx="5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(−1)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0" name="Google Shape;1930;p102"/>
          <p:cNvSpPr txBox="1"/>
          <p:nvPr/>
        </p:nvSpPr>
        <p:spPr>
          <a:xfrm>
            <a:off x="2678700" y="3999213"/>
            <a:ext cx="56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9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1" name="Google Shape;1931;p102"/>
          <p:cNvSpPr txBox="1"/>
          <p:nvPr/>
        </p:nvSpPr>
        <p:spPr>
          <a:xfrm>
            <a:off x="2367525" y="4363775"/>
            <a:ext cx="75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(−8)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103"/>
          <p:cNvSpPr txBox="1"/>
          <p:nvPr>
            <p:ph idx="1" type="body"/>
          </p:nvPr>
        </p:nvSpPr>
        <p:spPr>
          <a:xfrm>
            <a:off x="324000" y="921150"/>
            <a:ext cx="8113800" cy="389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product of 2 negative integers will be positive.</a:t>
            </a:r>
            <a:endParaRPr sz="19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The </a:t>
            </a:r>
            <a:r>
              <a:rPr lang="en-GB" sz="1900"/>
              <a:t>product</a:t>
            </a:r>
            <a:r>
              <a:rPr lang="en-GB" sz="1900"/>
              <a:t> of an even number of negative integers will be positive.  E.g. this will give a positive product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The product of an odd number of negative integers will be negative.  E.g. this will give a negative product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As multiplication and division are inverse operations, the same is true for division.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937" name="Google Shape;1937;p103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Multiplication and division where two or more values are negative</a:t>
            </a:r>
            <a:endParaRPr/>
          </a:p>
        </p:txBody>
      </p:sp>
      <p:pic>
        <p:nvPicPr>
          <p:cNvPr id="1938" name="Google Shape;1938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4847" y="2343147"/>
            <a:ext cx="3682876" cy="382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9" name="Google Shape;1939;p10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4850" y="3708350"/>
            <a:ext cx="3931413" cy="35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3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945" name="Google Shape;1945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