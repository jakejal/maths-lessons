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6FDDC0-A590-41D4-A33F-EF3BA5629C6A}">
  <a:tblStyle styleId="{156FDDC0-A590-41D4-A33F-EF3BA5629C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bd044ff8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bd044ff8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8bd044ff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8bd044ff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8bd044ff8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8bd044ff8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8bd044ff8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8bd044ff8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8bd044ff8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8bd044ff8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8bd044ff8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8bd044ff8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92a37ae47f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92a37ae47f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92a37ae47f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92a37ae47f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8bd044ff8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8bd044ff8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8bd044ff8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8bd044ff8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92a37ae47f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2a37ae47f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92a37ae47f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92a37ae47f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92a37ae47f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92a37ae47f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8bd044ff8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8bd044ff8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8bd044ff8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8bd044ff8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8bd044ff8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8bd044ff8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8bd044ff8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8bd044ff8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92a37ae47f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92a37ae47f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92a37ae47f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92a37ae47f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92a37ae47f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92a37ae47f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8bd044ff8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8bd044ff8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8bd044ff8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8bd044ff8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8bd044ff8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8bd044ff8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92a37ae47f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92a37ae47f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8bd044ff8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8bd044ff8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92a37ae47f_0_1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92a37ae47f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92a37ae47f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92a37ae47f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92a37ae47f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292a37ae47f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92a37ae47f_0_1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92a37ae47f_0_1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92a37ae47f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92a37ae47f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292a37ae47f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292a37ae47f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57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7.png"/><Relationship Id="rId4" Type="http://schemas.openxmlformats.org/officeDocument/2006/relationships/image" Target="../media/image22.png"/><Relationship Id="rId9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7.png"/><Relationship Id="rId4" Type="http://schemas.openxmlformats.org/officeDocument/2006/relationships/image" Target="../media/image27.png"/><Relationship Id="rId11" Type="http://schemas.openxmlformats.org/officeDocument/2006/relationships/image" Target="../media/image13.png"/><Relationship Id="rId10" Type="http://schemas.openxmlformats.org/officeDocument/2006/relationships/image" Target="../media/image36.png"/><Relationship Id="rId9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Relationship Id="rId4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Relationship Id="rId4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written addition and subtraction strategies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generalise and fluently use written addition and subtraction strategies, including columnar formats, with decimals.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additive inverse of a number is a number that, when added to the original number, gives the sum of 0. 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</a:t>
            </a:r>
            <a:r>
              <a:rPr lang="en-GB"/>
              <a:t>etric units are based around the standard units of metre, gram and litre. 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absolute value of a number is its distance from zero. E.g. 5 and (-5) are both 5 away from zero and so both have an absolute value of 5.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</a:t>
            </a:r>
            <a:r>
              <a:rPr lang="en-GB"/>
              <a:t> with values not measured in the same unit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written addition and subtraction strategies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42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/>
          <p:nvPr/>
        </p:nvSpPr>
        <p:spPr>
          <a:xfrm>
            <a:off x="6313325" y="2021975"/>
            <a:ext cx="1202100" cy="279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598888"/>
            <a:ext cx="82377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about these sets of place value counters?</a:t>
            </a:r>
            <a:endParaRPr/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784" name="Google Shape;784;p69"/>
          <p:cNvSpPr/>
          <p:nvPr/>
        </p:nvSpPr>
        <p:spPr>
          <a:xfrm>
            <a:off x="1445550" y="3187975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/>
          <p:nvPr/>
        </p:nvSpPr>
        <p:spPr>
          <a:xfrm>
            <a:off x="2038463" y="3187975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/>
          <p:nvPr/>
        </p:nvSpPr>
        <p:spPr>
          <a:xfrm>
            <a:off x="1445550" y="2631800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/>
          <p:nvPr/>
        </p:nvSpPr>
        <p:spPr>
          <a:xfrm>
            <a:off x="2038463" y="2631800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/>
          <p:nvPr/>
        </p:nvSpPr>
        <p:spPr>
          <a:xfrm>
            <a:off x="2038463" y="2093488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/>
          <p:nvPr/>
        </p:nvSpPr>
        <p:spPr>
          <a:xfrm>
            <a:off x="5774400" y="4283788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/>
          <p:nvPr/>
        </p:nvSpPr>
        <p:spPr>
          <a:xfrm>
            <a:off x="6360088" y="951588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 txBox="1"/>
          <p:nvPr/>
        </p:nvSpPr>
        <p:spPr>
          <a:xfrm>
            <a:off x="324000" y="3799187"/>
            <a:ext cx="534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They both represent 23.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one on the right has not exchanged the 10 ones for a ten.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2" name="Google Shape;792;p69"/>
          <p:cNvSpPr/>
          <p:nvPr/>
        </p:nvSpPr>
        <p:spPr>
          <a:xfrm>
            <a:off x="6360088" y="1518713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3" name="Google Shape;793;p69"/>
          <p:cNvGrpSpPr/>
          <p:nvPr/>
        </p:nvGrpSpPr>
        <p:grpSpPr>
          <a:xfrm>
            <a:off x="6360088" y="2057025"/>
            <a:ext cx="1099100" cy="2696625"/>
            <a:chOff x="6360088" y="2057025"/>
            <a:chExt cx="1099100" cy="2696625"/>
          </a:xfrm>
        </p:grpSpPr>
        <p:sp>
          <p:nvSpPr>
            <p:cNvPr id="794" name="Google Shape;794;p69"/>
            <p:cNvSpPr/>
            <p:nvPr/>
          </p:nvSpPr>
          <p:spPr>
            <a:xfrm>
              <a:off x="6360088" y="4274850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9"/>
            <p:cNvSpPr/>
            <p:nvPr/>
          </p:nvSpPr>
          <p:spPr>
            <a:xfrm>
              <a:off x="6360088" y="3718675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69"/>
            <p:cNvSpPr/>
            <p:nvPr/>
          </p:nvSpPr>
          <p:spPr>
            <a:xfrm>
              <a:off x="6360088" y="3180363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9"/>
            <p:cNvSpPr/>
            <p:nvPr/>
          </p:nvSpPr>
          <p:spPr>
            <a:xfrm>
              <a:off x="6980688" y="4274850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9"/>
            <p:cNvSpPr/>
            <p:nvPr/>
          </p:nvSpPr>
          <p:spPr>
            <a:xfrm>
              <a:off x="6980688" y="3723623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9" name="Google Shape;799;p69"/>
            <p:cNvSpPr/>
            <p:nvPr/>
          </p:nvSpPr>
          <p:spPr>
            <a:xfrm>
              <a:off x="6980688" y="3172395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69"/>
            <p:cNvSpPr/>
            <p:nvPr/>
          </p:nvSpPr>
          <p:spPr>
            <a:xfrm>
              <a:off x="6360088" y="2613200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6360088" y="2057025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69"/>
            <p:cNvSpPr/>
            <p:nvPr/>
          </p:nvSpPr>
          <p:spPr>
            <a:xfrm>
              <a:off x="6980688" y="2621168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9"/>
            <p:cNvSpPr/>
            <p:nvPr/>
          </p:nvSpPr>
          <p:spPr>
            <a:xfrm>
              <a:off x="6980688" y="2069940"/>
              <a:ext cx="478500" cy="4788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4" name="Google Shape;804;p69"/>
          <p:cNvSpPr/>
          <p:nvPr/>
        </p:nvSpPr>
        <p:spPr>
          <a:xfrm>
            <a:off x="6980688" y="1518713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5774400" y="3723613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"/>
          <p:cNvSpPr/>
          <p:nvPr/>
        </p:nvSpPr>
        <p:spPr>
          <a:xfrm>
            <a:off x="6846725" y="1564775"/>
            <a:ext cx="1202100" cy="279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324000" y="598888"/>
            <a:ext cx="82377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about these sets of place value counters?</a:t>
            </a:r>
            <a:endParaRPr/>
          </a:p>
        </p:txBody>
      </p:sp>
      <p:sp>
        <p:nvSpPr>
          <p:cNvPr id="812" name="Google Shape;81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813" name="Google Shape;813;p70"/>
          <p:cNvSpPr/>
          <p:nvPr/>
        </p:nvSpPr>
        <p:spPr>
          <a:xfrm>
            <a:off x="1445550" y="3187975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0"/>
          <p:cNvSpPr/>
          <p:nvPr/>
        </p:nvSpPr>
        <p:spPr>
          <a:xfrm>
            <a:off x="2038463" y="3187975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0"/>
          <p:cNvSpPr/>
          <p:nvPr/>
        </p:nvSpPr>
        <p:spPr>
          <a:xfrm>
            <a:off x="1445550" y="2631800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0"/>
          <p:cNvSpPr/>
          <p:nvPr/>
        </p:nvSpPr>
        <p:spPr>
          <a:xfrm>
            <a:off x="2038463" y="2631800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0"/>
          <p:cNvSpPr/>
          <p:nvPr/>
        </p:nvSpPr>
        <p:spPr>
          <a:xfrm>
            <a:off x="5774400" y="3826588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0"/>
          <p:cNvSpPr txBox="1"/>
          <p:nvPr/>
        </p:nvSpPr>
        <p:spPr>
          <a:xfrm>
            <a:off x="324000" y="3799187"/>
            <a:ext cx="534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They both represent 32.1.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one on the right has not exchanged the 10 tenths for a one.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6296838" y="3826588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5774400" y="3266413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2582701" y="3187975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1445550" y="2075625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5774400" y="2706238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4" name="Google Shape;824;p70"/>
          <p:cNvGrpSpPr/>
          <p:nvPr/>
        </p:nvGrpSpPr>
        <p:grpSpPr>
          <a:xfrm>
            <a:off x="6920384" y="1618425"/>
            <a:ext cx="1066205" cy="2686975"/>
            <a:chOff x="6920384" y="1618425"/>
            <a:chExt cx="1066205" cy="2686975"/>
          </a:xfrm>
        </p:grpSpPr>
        <p:sp>
          <p:nvSpPr>
            <p:cNvPr id="825" name="Google Shape;825;p70"/>
            <p:cNvSpPr/>
            <p:nvPr/>
          </p:nvSpPr>
          <p:spPr>
            <a:xfrm>
              <a:off x="6923296" y="3826600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6" name="Google Shape;826;p70"/>
            <p:cNvSpPr/>
            <p:nvPr/>
          </p:nvSpPr>
          <p:spPr>
            <a:xfrm>
              <a:off x="7499576" y="3826600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7" name="Google Shape;827;p70"/>
            <p:cNvSpPr/>
            <p:nvPr/>
          </p:nvSpPr>
          <p:spPr>
            <a:xfrm>
              <a:off x="6920384" y="3266425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70"/>
            <p:cNvSpPr/>
            <p:nvPr/>
          </p:nvSpPr>
          <p:spPr>
            <a:xfrm>
              <a:off x="7496664" y="3266425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70"/>
            <p:cNvSpPr/>
            <p:nvPr/>
          </p:nvSpPr>
          <p:spPr>
            <a:xfrm>
              <a:off x="6920384" y="2706250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0" name="Google Shape;830;p70"/>
            <p:cNvSpPr/>
            <p:nvPr/>
          </p:nvSpPr>
          <p:spPr>
            <a:xfrm>
              <a:off x="7496664" y="2706250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1" name="Google Shape;831;p70"/>
            <p:cNvSpPr/>
            <p:nvPr/>
          </p:nvSpPr>
          <p:spPr>
            <a:xfrm>
              <a:off x="6931809" y="2146075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70"/>
            <p:cNvSpPr/>
            <p:nvPr/>
          </p:nvSpPr>
          <p:spPr>
            <a:xfrm>
              <a:off x="7508089" y="2146075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70"/>
            <p:cNvSpPr/>
            <p:nvPr/>
          </p:nvSpPr>
          <p:spPr>
            <a:xfrm>
              <a:off x="6920384" y="1618425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70"/>
            <p:cNvSpPr/>
            <p:nvPr/>
          </p:nvSpPr>
          <p:spPr>
            <a:xfrm>
              <a:off x="7496664" y="1618425"/>
              <a:ext cx="478500" cy="4788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b="1"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5" name="Google Shape;835;p70"/>
          <p:cNvSpPr/>
          <p:nvPr/>
        </p:nvSpPr>
        <p:spPr>
          <a:xfrm>
            <a:off x="6920384" y="999913"/>
            <a:ext cx="478500" cy="4788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0"/>
          <p:cNvSpPr/>
          <p:nvPr/>
        </p:nvSpPr>
        <p:spPr>
          <a:xfrm>
            <a:off x="6310551" y="3266425"/>
            <a:ext cx="478500" cy="4788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24000" y="683100"/>
            <a:ext cx="8237700" cy="3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Rewrite the following representation in its simplest form:</a:t>
            </a:r>
            <a:endParaRPr/>
          </a:p>
        </p:txBody>
      </p:sp>
      <p:sp>
        <p:nvSpPr>
          <p:cNvPr id="842" name="Google Shape;84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843" name="Google Shape;843;p71"/>
          <p:cNvSpPr/>
          <p:nvPr/>
        </p:nvSpPr>
        <p:spPr>
          <a:xfrm>
            <a:off x="511750" y="3810385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/>
          <p:nvPr/>
        </p:nvSpPr>
        <p:spPr>
          <a:xfrm>
            <a:off x="2948991" y="4306613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/>
          <p:nvPr/>
        </p:nvSpPr>
        <p:spPr>
          <a:xfrm>
            <a:off x="511750" y="430951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/>
          <p:nvPr/>
        </p:nvSpPr>
        <p:spPr>
          <a:xfrm>
            <a:off x="1752601" y="377614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/>
          <p:nvPr/>
        </p:nvSpPr>
        <p:spPr>
          <a:xfrm>
            <a:off x="2274871" y="377614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/>
          <p:nvPr/>
        </p:nvSpPr>
        <p:spPr>
          <a:xfrm>
            <a:off x="1752601" y="323429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/>
          <p:nvPr/>
        </p:nvSpPr>
        <p:spPr>
          <a:xfrm>
            <a:off x="2274871" y="323429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/>
          <p:nvPr/>
        </p:nvSpPr>
        <p:spPr>
          <a:xfrm>
            <a:off x="1752601" y="269244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/>
          <p:nvPr/>
        </p:nvSpPr>
        <p:spPr>
          <a:xfrm>
            <a:off x="2274871" y="269244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1"/>
          <p:cNvSpPr/>
          <p:nvPr/>
        </p:nvSpPr>
        <p:spPr>
          <a:xfrm>
            <a:off x="1752601" y="215059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/>
          <p:nvPr/>
        </p:nvSpPr>
        <p:spPr>
          <a:xfrm>
            <a:off x="2274871" y="215059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/>
          <p:nvPr/>
        </p:nvSpPr>
        <p:spPr>
          <a:xfrm>
            <a:off x="1752601" y="162881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/>
          <p:nvPr/>
        </p:nvSpPr>
        <p:spPr>
          <a:xfrm>
            <a:off x="2274871" y="162881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/>
          <p:nvPr/>
        </p:nvSpPr>
        <p:spPr>
          <a:xfrm>
            <a:off x="1752601" y="108696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/>
          <p:nvPr/>
        </p:nvSpPr>
        <p:spPr>
          <a:xfrm>
            <a:off x="2274871" y="108696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/>
          <p:nvPr/>
        </p:nvSpPr>
        <p:spPr>
          <a:xfrm>
            <a:off x="1752601" y="431799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/>
          <p:nvPr/>
        </p:nvSpPr>
        <p:spPr>
          <a:xfrm>
            <a:off x="2274871" y="4317991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/>
          <p:nvPr/>
        </p:nvSpPr>
        <p:spPr>
          <a:xfrm>
            <a:off x="1031100" y="430951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1"/>
          <p:cNvSpPr/>
          <p:nvPr/>
        </p:nvSpPr>
        <p:spPr>
          <a:xfrm>
            <a:off x="3480710" y="4317988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1"/>
          <p:cNvSpPr/>
          <p:nvPr/>
        </p:nvSpPr>
        <p:spPr>
          <a:xfrm>
            <a:off x="2954991" y="377045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1"/>
          <p:cNvSpPr/>
          <p:nvPr/>
        </p:nvSpPr>
        <p:spPr>
          <a:xfrm>
            <a:off x="3486710" y="3781825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1"/>
          <p:cNvSpPr/>
          <p:nvPr/>
        </p:nvSpPr>
        <p:spPr>
          <a:xfrm>
            <a:off x="2954991" y="322290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1"/>
          <p:cNvSpPr/>
          <p:nvPr/>
        </p:nvSpPr>
        <p:spPr>
          <a:xfrm>
            <a:off x="3486710" y="3234275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1"/>
          <p:cNvSpPr/>
          <p:nvPr/>
        </p:nvSpPr>
        <p:spPr>
          <a:xfrm>
            <a:off x="2954991" y="2686763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1"/>
          <p:cNvSpPr/>
          <p:nvPr/>
        </p:nvSpPr>
        <p:spPr>
          <a:xfrm>
            <a:off x="3486710" y="2698138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1"/>
          <p:cNvSpPr/>
          <p:nvPr/>
        </p:nvSpPr>
        <p:spPr>
          <a:xfrm>
            <a:off x="2954991" y="2139275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1"/>
          <p:cNvSpPr/>
          <p:nvPr/>
        </p:nvSpPr>
        <p:spPr>
          <a:xfrm>
            <a:off x="3486710" y="215065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1"/>
          <p:cNvSpPr/>
          <p:nvPr/>
        </p:nvSpPr>
        <p:spPr>
          <a:xfrm>
            <a:off x="2954991" y="162030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1"/>
          <p:cNvSpPr/>
          <p:nvPr/>
        </p:nvSpPr>
        <p:spPr>
          <a:xfrm>
            <a:off x="4927975" y="382771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1"/>
          <p:cNvSpPr/>
          <p:nvPr/>
        </p:nvSpPr>
        <p:spPr>
          <a:xfrm>
            <a:off x="7365216" y="4323938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0.1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1"/>
          <p:cNvSpPr/>
          <p:nvPr/>
        </p:nvSpPr>
        <p:spPr>
          <a:xfrm>
            <a:off x="4927975" y="4326835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1"/>
          <p:cNvSpPr/>
          <p:nvPr/>
        </p:nvSpPr>
        <p:spPr>
          <a:xfrm>
            <a:off x="6168826" y="379346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1"/>
          <p:cNvSpPr/>
          <p:nvPr/>
        </p:nvSpPr>
        <p:spPr>
          <a:xfrm>
            <a:off x="6691096" y="379346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1"/>
          <p:cNvSpPr/>
          <p:nvPr/>
        </p:nvSpPr>
        <p:spPr>
          <a:xfrm>
            <a:off x="6168826" y="433531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1"/>
          <p:cNvSpPr/>
          <p:nvPr/>
        </p:nvSpPr>
        <p:spPr>
          <a:xfrm>
            <a:off x="6691096" y="433531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1"/>
          <p:cNvSpPr/>
          <p:nvPr/>
        </p:nvSpPr>
        <p:spPr>
          <a:xfrm>
            <a:off x="5447325" y="4326835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1"/>
          <p:cNvSpPr/>
          <p:nvPr/>
        </p:nvSpPr>
        <p:spPr>
          <a:xfrm>
            <a:off x="5453969" y="3827710"/>
            <a:ext cx="469500" cy="469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10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1"/>
          <p:cNvSpPr/>
          <p:nvPr/>
        </p:nvSpPr>
        <p:spPr>
          <a:xfrm>
            <a:off x="6137751" y="3251616"/>
            <a:ext cx="469500" cy="4695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1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1"/>
          <p:cNvSpPr txBox="1"/>
          <p:nvPr>
            <p:ph idx="1" type="body"/>
          </p:nvPr>
        </p:nvSpPr>
        <p:spPr>
          <a:xfrm>
            <a:off x="6256800" y="2568767"/>
            <a:ext cx="630000" cy="3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45.1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887" name="Google Shape;887;p72"/>
          <p:cNvSpPr txBox="1"/>
          <p:nvPr>
            <p:ph idx="1" type="body"/>
          </p:nvPr>
        </p:nvSpPr>
        <p:spPr>
          <a:xfrm>
            <a:off x="324000" y="810000"/>
            <a:ext cx="8496000" cy="13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 &amp; Jacob have noticed that they can spend more money than they have on their accounts in the canteen.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wonder if this can happen anywhere else.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88" name="Google Shape;88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75" y="3175061"/>
            <a:ext cx="857946" cy="16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197" y="3483955"/>
            <a:ext cx="982696" cy="121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824000" y="2382600"/>
            <a:ext cx="2662052" cy="139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556173" y="2217950"/>
            <a:ext cx="2662052" cy="13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2"/>
          <p:cNvSpPr txBox="1"/>
          <p:nvPr/>
        </p:nvSpPr>
        <p:spPr>
          <a:xfrm>
            <a:off x="1783459" y="2248900"/>
            <a:ext cx="241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 think this can happen with a bank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account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2"/>
          <p:cNvSpPr txBox="1"/>
          <p:nvPr/>
        </p:nvSpPr>
        <p:spPr>
          <a:xfrm>
            <a:off x="4900209" y="2415075"/>
            <a:ext cx="241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Oh, yes you are right.  It’s called an overdraft.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3"/>
          <p:cNvSpPr txBox="1"/>
          <p:nvPr>
            <p:ph idx="1" type="body"/>
          </p:nvPr>
        </p:nvSpPr>
        <p:spPr>
          <a:xfrm>
            <a:off x="324000" y="6069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bank account has a balance of £75.00.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£134.95 is spent.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new balance?</a:t>
            </a:r>
            <a:endParaRPr/>
          </a:p>
        </p:txBody>
      </p:sp>
      <p:sp>
        <p:nvSpPr>
          <p:cNvPr id="899" name="Google Shape;89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pic>
        <p:nvPicPr>
          <p:cNvPr id="900" name="Google Shape;90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75" y="2717861"/>
            <a:ext cx="857946" cy="16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197" y="3331555"/>
            <a:ext cx="982696" cy="12104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2" name="Google Shape;902;p73"/>
          <p:cNvGrpSpPr/>
          <p:nvPr/>
        </p:nvGrpSpPr>
        <p:grpSpPr>
          <a:xfrm>
            <a:off x="3892225" y="3433325"/>
            <a:ext cx="1300950" cy="1006950"/>
            <a:chOff x="1608600" y="2233050"/>
            <a:chExt cx="1300950" cy="1006950"/>
          </a:xfrm>
        </p:grpSpPr>
        <p:sp>
          <p:nvSpPr>
            <p:cNvPr id="903" name="Google Shape;903;p73"/>
            <p:cNvSpPr txBox="1"/>
            <p:nvPr/>
          </p:nvSpPr>
          <p:spPr>
            <a:xfrm>
              <a:off x="1608600" y="2233050"/>
              <a:ext cx="12045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75.00</a:t>
              </a:r>
              <a:endPara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−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134.95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04" name="Google Shape;904;p73"/>
            <p:cNvCxnSpPr/>
            <p:nvPr/>
          </p:nvCxnSpPr>
          <p:spPr>
            <a:xfrm>
              <a:off x="1612650" y="2914025"/>
              <a:ext cx="1296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5" name="Google Shape;905;p73"/>
            <p:cNvCxnSpPr/>
            <p:nvPr/>
          </p:nvCxnSpPr>
          <p:spPr>
            <a:xfrm>
              <a:off x="1612650" y="3240000"/>
              <a:ext cx="1296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906" name="Google Shape;906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281200" y="1849200"/>
            <a:ext cx="2662052" cy="172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175172" y="2232400"/>
            <a:ext cx="1835628" cy="1015799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3"/>
          <p:cNvSpPr txBox="1"/>
          <p:nvPr/>
        </p:nvSpPr>
        <p:spPr>
          <a:xfrm>
            <a:off x="1331901" y="2248900"/>
            <a:ext cx="16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 is the calculation.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3"/>
          <p:cNvSpPr txBox="1"/>
          <p:nvPr/>
        </p:nvSpPr>
        <p:spPr>
          <a:xfrm>
            <a:off x="5357409" y="1881675"/>
            <a:ext cx="2416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 thought the larger number always had to go on the top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0" name="Google Shape;910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378201" y="1975400"/>
            <a:ext cx="2416799" cy="1796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3"/>
          <p:cNvSpPr txBox="1"/>
          <p:nvPr/>
        </p:nvSpPr>
        <p:spPr>
          <a:xfrm>
            <a:off x="1534925" y="1991900"/>
            <a:ext cx="23301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But then we wouldn’t be calculating £75.00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£134.95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2" name="Google Shape;912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193175" y="3027050"/>
            <a:ext cx="2662052" cy="525949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3"/>
          <p:cNvSpPr txBox="1"/>
          <p:nvPr/>
        </p:nvSpPr>
        <p:spPr>
          <a:xfrm>
            <a:off x="5269384" y="3059525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It won’t matter.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3"/>
          <p:cNvSpPr txBox="1"/>
          <p:nvPr/>
        </p:nvSpPr>
        <p:spPr>
          <a:xfrm>
            <a:off x="323988" y="4450150"/>
            <a:ext cx="544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Jacob?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4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bank account has a balance of £75.00.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£134.95 is spent.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new balance?</a:t>
            </a:r>
            <a:endParaRPr/>
          </a:p>
        </p:txBody>
      </p:sp>
      <p:sp>
        <p:nvSpPr>
          <p:cNvPr id="920" name="Google Shape;92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pic>
        <p:nvPicPr>
          <p:cNvPr id="921" name="Google Shape;92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75" y="2717861"/>
            <a:ext cx="857946" cy="16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197" y="3483955"/>
            <a:ext cx="982696" cy="12104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" name="Google Shape;923;p74"/>
          <p:cNvGrpSpPr/>
          <p:nvPr/>
        </p:nvGrpSpPr>
        <p:grpSpPr>
          <a:xfrm>
            <a:off x="5606248" y="2477000"/>
            <a:ext cx="1852813" cy="1015800"/>
            <a:chOff x="1608600" y="2233050"/>
            <a:chExt cx="1300950" cy="1015800"/>
          </a:xfrm>
        </p:grpSpPr>
        <p:sp>
          <p:nvSpPr>
            <p:cNvPr id="924" name="Google Shape;924;p74"/>
            <p:cNvSpPr txBox="1"/>
            <p:nvPr/>
          </p:nvSpPr>
          <p:spPr>
            <a:xfrm>
              <a:off x="1608600" y="2233050"/>
              <a:ext cx="1204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1 3 4 . 9 5</a:t>
              </a:r>
              <a:endPara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−    7 5 . 0 0</a:t>
              </a:r>
              <a:endPara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            .</a:t>
              </a:r>
              <a:endPara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5" name="Google Shape;925;p74"/>
            <p:cNvCxnSpPr/>
            <p:nvPr/>
          </p:nvCxnSpPr>
          <p:spPr>
            <a:xfrm>
              <a:off x="1612650" y="2914025"/>
              <a:ext cx="1296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6" name="Google Shape;926;p74"/>
            <p:cNvCxnSpPr/>
            <p:nvPr/>
          </p:nvCxnSpPr>
          <p:spPr>
            <a:xfrm>
              <a:off x="1612650" y="3240000"/>
              <a:ext cx="1296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7" name="Google Shape;927;p74"/>
          <p:cNvSpPr txBox="1"/>
          <p:nvPr/>
        </p:nvSpPr>
        <p:spPr>
          <a:xfrm>
            <a:off x="6941797" y="3145250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4"/>
          <p:cNvSpPr txBox="1"/>
          <p:nvPr/>
        </p:nvSpPr>
        <p:spPr>
          <a:xfrm>
            <a:off x="6693344" y="3145250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4"/>
          <p:cNvSpPr txBox="1"/>
          <p:nvPr/>
        </p:nvSpPr>
        <p:spPr>
          <a:xfrm>
            <a:off x="6300225" y="3145250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4"/>
          <p:cNvSpPr txBox="1"/>
          <p:nvPr/>
        </p:nvSpPr>
        <p:spPr>
          <a:xfrm>
            <a:off x="6071041" y="3145250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1" name="Google Shape;931;p74"/>
          <p:cNvCxnSpPr/>
          <p:nvPr/>
        </p:nvCxnSpPr>
        <p:spPr>
          <a:xfrm>
            <a:off x="6090850" y="2513425"/>
            <a:ext cx="126600" cy="2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74"/>
          <p:cNvCxnSpPr/>
          <p:nvPr/>
        </p:nvCxnSpPr>
        <p:spPr>
          <a:xfrm>
            <a:off x="5870350" y="2522350"/>
            <a:ext cx="126600" cy="2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74"/>
          <p:cNvSpPr txBox="1"/>
          <p:nvPr/>
        </p:nvSpPr>
        <p:spPr>
          <a:xfrm>
            <a:off x="5964984" y="2305800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4"/>
          <p:cNvSpPr txBox="1"/>
          <p:nvPr/>
        </p:nvSpPr>
        <p:spPr>
          <a:xfrm>
            <a:off x="5684344" y="2305800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5" name="Google Shape;935;p7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556178" y="2217950"/>
            <a:ext cx="3567698" cy="2102049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4"/>
          <p:cNvSpPr txBox="1"/>
          <p:nvPr/>
        </p:nvSpPr>
        <p:spPr>
          <a:xfrm>
            <a:off x="1783447" y="2248900"/>
            <a:ext cx="3182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That cannot be right as you spent more than was in the account so you will have a negative balance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4"/>
          <p:cNvSpPr txBox="1"/>
          <p:nvPr/>
        </p:nvSpPr>
        <p:spPr>
          <a:xfrm>
            <a:off x="6224587" y="2305800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4"/>
          <p:cNvSpPr txBox="1"/>
          <p:nvPr/>
        </p:nvSpPr>
        <p:spPr>
          <a:xfrm>
            <a:off x="5849397" y="2299473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4"/>
          <p:cNvSpPr txBox="1"/>
          <p:nvPr/>
        </p:nvSpPr>
        <p:spPr>
          <a:xfrm>
            <a:off x="323988" y="4450150"/>
            <a:ext cx="544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Aisha?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5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bank </a:t>
            </a:r>
            <a:r>
              <a:rPr lang="en-GB"/>
              <a:t>account</a:t>
            </a:r>
            <a:r>
              <a:rPr lang="en-GB"/>
              <a:t> has a balance of £75.00.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£134.95 is spent.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new balance?</a:t>
            </a:r>
            <a:endParaRPr/>
          </a:p>
        </p:txBody>
      </p:sp>
      <p:sp>
        <p:nvSpPr>
          <p:cNvPr id="945" name="Google Shape;94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946" name="Google Shape;946;p75"/>
          <p:cNvSpPr/>
          <p:nvPr/>
        </p:nvSpPr>
        <p:spPr>
          <a:xfrm rot="-1866696">
            <a:off x="3406361" y="2930068"/>
            <a:ext cx="638080" cy="118072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5"/>
          <p:cNvSpPr txBox="1"/>
          <p:nvPr/>
        </p:nvSpPr>
        <p:spPr>
          <a:xfrm>
            <a:off x="3489300" y="2451600"/>
            <a:ext cx="16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134.95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5"/>
          <p:cNvSpPr txBox="1"/>
          <p:nvPr/>
        </p:nvSpPr>
        <p:spPr>
          <a:xfrm>
            <a:off x="3546797" y="353217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5"/>
          <p:cNvSpPr txBox="1"/>
          <p:nvPr/>
        </p:nvSpPr>
        <p:spPr>
          <a:xfrm>
            <a:off x="4730450" y="3558050"/>
            <a:ext cx="122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59.95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5"/>
          <p:cNvSpPr txBox="1"/>
          <p:nvPr/>
        </p:nvSpPr>
        <p:spPr>
          <a:xfrm>
            <a:off x="5453625" y="2935800"/>
            <a:ext cx="141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59.95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1" name="Google Shape;951;p75"/>
          <p:cNvCxnSpPr/>
          <p:nvPr/>
        </p:nvCxnSpPr>
        <p:spPr>
          <a:xfrm flipH="1" rot="10800000">
            <a:off x="2439150" y="3690375"/>
            <a:ext cx="896100" cy="24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2" name="Google Shape;952;p75"/>
          <p:cNvSpPr txBox="1"/>
          <p:nvPr/>
        </p:nvSpPr>
        <p:spPr>
          <a:xfrm>
            <a:off x="1212350" y="3593500"/>
            <a:ext cx="1385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Additive inverses</a:t>
            </a:r>
            <a:endParaRPr sz="22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3" name="Google Shape;953;p75"/>
          <p:cNvCxnSpPr/>
          <p:nvPr/>
        </p:nvCxnSpPr>
        <p:spPr>
          <a:xfrm flipH="1">
            <a:off x="4197750" y="3226000"/>
            <a:ext cx="284700" cy="3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4" name="Google Shape;954;p75"/>
          <p:cNvCxnSpPr>
            <a:endCxn id="949" idx="0"/>
          </p:cNvCxnSpPr>
          <p:nvPr/>
        </p:nvCxnSpPr>
        <p:spPr>
          <a:xfrm>
            <a:off x="4805000" y="3240650"/>
            <a:ext cx="539400" cy="3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5" name="Google Shape;955;p75"/>
          <p:cNvSpPr txBox="1"/>
          <p:nvPr/>
        </p:nvSpPr>
        <p:spPr>
          <a:xfrm>
            <a:off x="5774400" y="2080650"/>
            <a:ext cx="304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Rewrite as an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equivalent addition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5"/>
          <p:cNvSpPr txBox="1"/>
          <p:nvPr/>
        </p:nvSpPr>
        <p:spPr>
          <a:xfrm>
            <a:off x="3489300" y="2929500"/>
            <a:ext cx="191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+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134.95)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5"/>
          <p:cNvSpPr txBox="1"/>
          <p:nvPr/>
        </p:nvSpPr>
        <p:spPr>
          <a:xfrm>
            <a:off x="323988" y="4450150"/>
            <a:ext cx="544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new balance is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−£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59.95)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6"/>
          <p:cNvSpPr txBox="1"/>
          <p:nvPr>
            <p:ph idx="1" type="body"/>
          </p:nvPr>
        </p:nvSpPr>
        <p:spPr>
          <a:xfrm>
            <a:off x="324000" y="759300"/>
            <a:ext cx="82377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about Aisha’s &amp; Jacob’s answers?</a:t>
            </a:r>
            <a:endParaRPr/>
          </a:p>
        </p:txBody>
      </p:sp>
      <p:sp>
        <p:nvSpPr>
          <p:cNvPr id="963" name="Google Shape;96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pic>
        <p:nvPicPr>
          <p:cNvPr id="964" name="Google Shape;96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075" y="3175061"/>
            <a:ext cx="857946" cy="16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197" y="3483955"/>
            <a:ext cx="982696" cy="1210489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6"/>
          <p:cNvSpPr txBox="1"/>
          <p:nvPr/>
        </p:nvSpPr>
        <p:spPr>
          <a:xfrm>
            <a:off x="324000" y="1554150"/>
            <a:ext cx="341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Aisha’s answer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−£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59.95)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6"/>
          <p:cNvSpPr txBox="1"/>
          <p:nvPr/>
        </p:nvSpPr>
        <p:spPr>
          <a:xfrm>
            <a:off x="5783100" y="1554150"/>
            <a:ext cx="303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Jacob’s answer £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59.95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8" name="Google Shape;968;p7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824000" y="2382600"/>
            <a:ext cx="2662052" cy="139739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6"/>
          <p:cNvSpPr txBox="1"/>
          <p:nvPr/>
        </p:nvSpPr>
        <p:spPr>
          <a:xfrm>
            <a:off x="4900209" y="2415075"/>
            <a:ext cx="241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So, my method gave the correct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absolute value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0" name="Google Shape;970;p7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106502" y="1924800"/>
            <a:ext cx="3465498" cy="251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6"/>
          <p:cNvSpPr txBox="1"/>
          <p:nvPr/>
        </p:nvSpPr>
        <p:spPr>
          <a:xfrm>
            <a:off x="1402447" y="2020300"/>
            <a:ext cx="3082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Yes, you just have to remember that the answer will be negative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because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you are subtracting more money than you have.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977" name="Google Shape;977;p77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Account balance:  £481.24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will the new balance be if the bike is bought?</a:t>
            </a:r>
            <a:endParaRPr/>
          </a:p>
        </p:txBody>
      </p:sp>
      <p:pic>
        <p:nvPicPr>
          <p:cNvPr id="978" name="Google Shape;97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2737" y="759312"/>
            <a:ext cx="1718973" cy="1040788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7"/>
          <p:cNvSpPr/>
          <p:nvPr/>
        </p:nvSpPr>
        <p:spPr>
          <a:xfrm rot="-762172">
            <a:off x="5484567" y="934052"/>
            <a:ext cx="1510266" cy="354227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£575.75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7"/>
          <p:cNvSpPr/>
          <p:nvPr/>
        </p:nvSpPr>
        <p:spPr>
          <a:xfrm rot="-3656410">
            <a:off x="2390889" y="2450484"/>
            <a:ext cx="638018" cy="231051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7"/>
          <p:cNvSpPr txBox="1"/>
          <p:nvPr/>
        </p:nvSpPr>
        <p:spPr>
          <a:xfrm>
            <a:off x="1834075" y="2553387"/>
            <a:ext cx="247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481.24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575.75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7"/>
          <p:cNvSpPr txBox="1"/>
          <p:nvPr/>
        </p:nvSpPr>
        <p:spPr>
          <a:xfrm>
            <a:off x="2434525" y="3633962"/>
            <a:ext cx="13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481.24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7"/>
          <p:cNvSpPr txBox="1"/>
          <p:nvPr/>
        </p:nvSpPr>
        <p:spPr>
          <a:xfrm>
            <a:off x="3892250" y="3659837"/>
            <a:ext cx="122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94.51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7"/>
          <p:cNvSpPr txBox="1"/>
          <p:nvPr/>
        </p:nvSpPr>
        <p:spPr>
          <a:xfrm>
            <a:off x="4615425" y="3037587"/>
            <a:ext cx="141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94.51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5" name="Google Shape;985;p77"/>
          <p:cNvCxnSpPr/>
          <p:nvPr/>
        </p:nvCxnSpPr>
        <p:spPr>
          <a:xfrm flipH="1" rot="10800000">
            <a:off x="1600950" y="3792162"/>
            <a:ext cx="896100" cy="24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77"/>
          <p:cNvSpPr txBox="1"/>
          <p:nvPr/>
        </p:nvSpPr>
        <p:spPr>
          <a:xfrm>
            <a:off x="374150" y="3695287"/>
            <a:ext cx="1385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Additive inverses</a:t>
            </a:r>
            <a:endParaRPr sz="22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7" name="Google Shape;987;p77"/>
          <p:cNvCxnSpPr/>
          <p:nvPr/>
        </p:nvCxnSpPr>
        <p:spPr>
          <a:xfrm flipH="1">
            <a:off x="3359550" y="3327787"/>
            <a:ext cx="284700" cy="3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77"/>
          <p:cNvCxnSpPr>
            <a:endCxn id="983" idx="0"/>
          </p:cNvCxnSpPr>
          <p:nvPr/>
        </p:nvCxnSpPr>
        <p:spPr>
          <a:xfrm>
            <a:off x="3966800" y="3342437"/>
            <a:ext cx="539400" cy="3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9" name="Google Shape;989;p77"/>
          <p:cNvSpPr txBox="1"/>
          <p:nvPr/>
        </p:nvSpPr>
        <p:spPr>
          <a:xfrm>
            <a:off x="4936200" y="2182437"/>
            <a:ext cx="304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Rewrite as an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equivalent addition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7"/>
          <p:cNvSpPr txBox="1"/>
          <p:nvPr/>
        </p:nvSpPr>
        <p:spPr>
          <a:xfrm>
            <a:off x="1650600" y="3031287"/>
            <a:ext cx="291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481.24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575.75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1" name="Google Shape;991;p77"/>
          <p:cNvGrpSpPr/>
          <p:nvPr/>
        </p:nvGrpSpPr>
        <p:grpSpPr>
          <a:xfrm>
            <a:off x="6446156" y="3255812"/>
            <a:ext cx="1955219" cy="1015800"/>
            <a:chOff x="1003018" y="2233050"/>
            <a:chExt cx="1955219" cy="1015800"/>
          </a:xfrm>
        </p:grpSpPr>
        <p:sp>
          <p:nvSpPr>
            <p:cNvPr id="992" name="Google Shape;992;p77"/>
            <p:cNvSpPr txBox="1"/>
            <p:nvPr/>
          </p:nvSpPr>
          <p:spPr>
            <a:xfrm>
              <a:off x="1173837" y="2233050"/>
              <a:ext cx="17844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5 7 5 . 7 5</a:t>
              </a:r>
              <a:endPara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− 4 8 1 . 2 4</a:t>
              </a:r>
              <a:endPara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            .</a:t>
              </a:r>
              <a:endPara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3" name="Google Shape;993;p77"/>
            <p:cNvCxnSpPr/>
            <p:nvPr/>
          </p:nvCxnSpPr>
          <p:spPr>
            <a:xfrm>
              <a:off x="1003018" y="2914025"/>
              <a:ext cx="1906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4" name="Google Shape;994;p77"/>
            <p:cNvCxnSpPr/>
            <p:nvPr/>
          </p:nvCxnSpPr>
          <p:spPr>
            <a:xfrm>
              <a:off x="1003018" y="3240000"/>
              <a:ext cx="1906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95" name="Google Shape;995;p77"/>
          <p:cNvSpPr txBox="1"/>
          <p:nvPr/>
        </p:nvSpPr>
        <p:spPr>
          <a:xfrm>
            <a:off x="7975975" y="3924062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7"/>
          <p:cNvSpPr txBox="1"/>
          <p:nvPr/>
        </p:nvSpPr>
        <p:spPr>
          <a:xfrm>
            <a:off x="7714033" y="3924062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7"/>
          <p:cNvSpPr txBox="1"/>
          <p:nvPr/>
        </p:nvSpPr>
        <p:spPr>
          <a:xfrm>
            <a:off x="7326959" y="3924062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7"/>
          <p:cNvSpPr txBox="1"/>
          <p:nvPr/>
        </p:nvSpPr>
        <p:spPr>
          <a:xfrm>
            <a:off x="7097213" y="3924062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9" name="Google Shape;999;p77"/>
          <p:cNvCxnSpPr/>
          <p:nvPr/>
        </p:nvCxnSpPr>
        <p:spPr>
          <a:xfrm>
            <a:off x="6888588" y="3327787"/>
            <a:ext cx="126600" cy="2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0" name="Google Shape;1000;p77"/>
          <p:cNvSpPr txBox="1"/>
          <p:nvPr/>
        </p:nvSpPr>
        <p:spPr>
          <a:xfrm>
            <a:off x="6967261" y="3131603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7"/>
          <p:cNvSpPr txBox="1"/>
          <p:nvPr/>
        </p:nvSpPr>
        <p:spPr>
          <a:xfrm>
            <a:off x="6676531" y="3191837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7"/>
          <p:cNvSpPr txBox="1"/>
          <p:nvPr/>
        </p:nvSpPr>
        <p:spPr>
          <a:xfrm>
            <a:off x="323988" y="4450150"/>
            <a:ext cx="544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new balance is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−£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94.51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8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Account balance:  £150.88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will the new balance be if the bike is bought?</a:t>
            </a:r>
            <a:endParaRPr/>
          </a:p>
        </p:txBody>
      </p:sp>
      <p:sp>
        <p:nvSpPr>
          <p:cNvPr id="1008" name="Google Shape;100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pic>
        <p:nvPicPr>
          <p:cNvPr id="1009" name="Google Shape;100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2737" y="759312"/>
            <a:ext cx="1718973" cy="1040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8"/>
          <p:cNvSpPr/>
          <p:nvPr/>
        </p:nvSpPr>
        <p:spPr>
          <a:xfrm rot="-762172">
            <a:off x="5484567" y="934052"/>
            <a:ext cx="1510266" cy="354227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£575.75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8"/>
          <p:cNvSpPr txBox="1"/>
          <p:nvPr/>
        </p:nvSpPr>
        <p:spPr>
          <a:xfrm>
            <a:off x="3865950" y="2361300"/>
            <a:ext cx="1412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575.75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− 150.88</a:t>
            </a:r>
            <a:endParaRPr sz="2200">
              <a:solidFill>
                <a:srgbClr val="282828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 .</a:t>
            </a:r>
            <a:endParaRPr sz="2200">
              <a:solidFill>
                <a:srgbClr val="282828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12" name="Google Shape;1012;p78"/>
          <p:cNvGrpSpPr/>
          <p:nvPr/>
        </p:nvGrpSpPr>
        <p:grpSpPr>
          <a:xfrm>
            <a:off x="3756675" y="2993500"/>
            <a:ext cx="1296900" cy="325975"/>
            <a:chOff x="1612650" y="2914025"/>
            <a:chExt cx="1296900" cy="325975"/>
          </a:xfrm>
        </p:grpSpPr>
        <p:cxnSp>
          <p:nvCxnSpPr>
            <p:cNvPr id="1013" name="Google Shape;1013;p78"/>
            <p:cNvCxnSpPr/>
            <p:nvPr/>
          </p:nvCxnSpPr>
          <p:spPr>
            <a:xfrm>
              <a:off x="1612650" y="2914025"/>
              <a:ext cx="1296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4" name="Google Shape;1014;p78"/>
            <p:cNvCxnSpPr/>
            <p:nvPr/>
          </p:nvCxnSpPr>
          <p:spPr>
            <a:xfrm>
              <a:off x="1612650" y="3240000"/>
              <a:ext cx="1296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5" name="Google Shape;1015;p78"/>
          <p:cNvSpPr txBox="1"/>
          <p:nvPr/>
        </p:nvSpPr>
        <p:spPr>
          <a:xfrm>
            <a:off x="4753547" y="2987138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6" name="Google Shape;1016;p78"/>
          <p:cNvSpPr txBox="1"/>
          <p:nvPr/>
        </p:nvSpPr>
        <p:spPr>
          <a:xfrm>
            <a:off x="4571997" y="2987125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78"/>
          <p:cNvSpPr txBox="1"/>
          <p:nvPr/>
        </p:nvSpPr>
        <p:spPr>
          <a:xfrm>
            <a:off x="4374322" y="3001050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78"/>
          <p:cNvSpPr txBox="1"/>
          <p:nvPr/>
        </p:nvSpPr>
        <p:spPr>
          <a:xfrm>
            <a:off x="4192772" y="3001038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78"/>
          <p:cNvSpPr txBox="1"/>
          <p:nvPr/>
        </p:nvSpPr>
        <p:spPr>
          <a:xfrm>
            <a:off x="4011222" y="3004031"/>
            <a:ext cx="16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20" name="Google Shape;1020;p78"/>
          <p:cNvCxnSpPr>
            <a:stCxn id="1021" idx="3"/>
          </p:cNvCxnSpPr>
          <p:nvPr/>
        </p:nvCxnSpPr>
        <p:spPr>
          <a:xfrm flipH="1" rot="10800000">
            <a:off x="2846250" y="3185925"/>
            <a:ext cx="885300" cy="22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1" name="Google Shape;1021;p78"/>
          <p:cNvSpPr txBox="1"/>
          <p:nvPr/>
        </p:nvSpPr>
        <p:spPr>
          <a:xfrm>
            <a:off x="415350" y="3074025"/>
            <a:ext cx="2430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the 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absolute</a:t>
            </a:r>
            <a:endParaRPr sz="22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value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78"/>
          <p:cNvSpPr txBox="1"/>
          <p:nvPr/>
        </p:nvSpPr>
        <p:spPr>
          <a:xfrm>
            <a:off x="324000" y="4264000"/>
            <a:ext cx="464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new balance will be (</a:t>
            </a:r>
            <a:r>
              <a:rPr lang="en-GB" sz="2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−£424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.87)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1028" name="Google Shape;1028;p79"/>
          <p:cNvSpPr txBox="1"/>
          <p:nvPr/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new balance for each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account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9"/>
          <p:cNvSpPr/>
          <p:nvPr/>
        </p:nvSpPr>
        <p:spPr>
          <a:xfrm>
            <a:off x="5952675" y="1250800"/>
            <a:ext cx="2850900" cy="2986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9"/>
          <p:cNvSpPr txBox="1"/>
          <p:nvPr/>
        </p:nvSpPr>
        <p:spPr>
          <a:xfrm>
            <a:off x="5999925" y="1704200"/>
            <a:ext cx="1754700" cy="25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Bike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TV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Mobile Phone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T-Shirt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Fridge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9"/>
          <p:cNvSpPr txBox="1"/>
          <p:nvPr/>
        </p:nvSpPr>
        <p:spPr>
          <a:xfrm>
            <a:off x="7609098" y="1704200"/>
            <a:ext cx="1219500" cy="24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£575.75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£15 650.00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£480.95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£355.65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£25.50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£289.99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32" name="Google Shape;1032;p79"/>
          <p:cNvGraphicFramePr/>
          <p:nvPr/>
        </p:nvGraphicFramePr>
        <p:xfrm>
          <a:off x="324000" y="12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{156FDDC0-A590-41D4-A33F-EF3BA5629C6A}</a:tableStyleId>
              </a:tblPr>
              <a:tblGrid>
                <a:gridCol w="1007575"/>
                <a:gridCol w="2512300"/>
                <a:gridCol w="2003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£14 570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£18.75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T-Shirt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£426.65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£152.24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58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£356.87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£128.02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£265.14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Your choice of item(s)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33" name="Google Shape;1033;p79"/>
          <p:cNvSpPr txBox="1"/>
          <p:nvPr/>
        </p:nvSpPr>
        <p:spPr>
          <a:xfrm>
            <a:off x="5847525" y="1292700"/>
            <a:ext cx="291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 List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1039" name="Google Shape;1039;p80"/>
          <p:cNvSpPr txBox="1"/>
          <p:nvPr/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new balance for each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account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0"/>
          <p:cNvSpPr/>
          <p:nvPr/>
        </p:nvSpPr>
        <p:spPr>
          <a:xfrm>
            <a:off x="5952675" y="1250800"/>
            <a:ext cx="2850900" cy="2986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0"/>
          <p:cNvSpPr txBox="1"/>
          <p:nvPr/>
        </p:nvSpPr>
        <p:spPr>
          <a:xfrm>
            <a:off x="5999925" y="1704200"/>
            <a:ext cx="1754700" cy="25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Bike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TV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Mobile Phone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T-Shirt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Fridge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0"/>
          <p:cNvSpPr txBox="1"/>
          <p:nvPr/>
        </p:nvSpPr>
        <p:spPr>
          <a:xfrm>
            <a:off x="7609098" y="1704200"/>
            <a:ext cx="1219500" cy="24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£575.75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£15 650.00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£480.95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£355.65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£25.50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£289.99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3" name="Google Shape;1043;p80"/>
          <p:cNvGraphicFramePr/>
          <p:nvPr/>
        </p:nvGraphicFramePr>
        <p:xfrm>
          <a:off x="324000" y="12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{156FDDC0-A590-41D4-A33F-EF3BA5629C6A}</a:tableStyleId>
              </a:tblPr>
              <a:tblGrid>
                <a:gridCol w="1007575"/>
                <a:gridCol w="2512300"/>
                <a:gridCol w="2003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£14 570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−£1080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£18.75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T-Shirt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−£6.75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£426.65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−£149.10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£152.24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−£137.75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58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£356.87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−£124.08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£128.02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−£227.63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£265.14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Your choice of item(s)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−£215.81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44" name="Google Shape;1044;p80"/>
          <p:cNvSpPr txBox="1"/>
          <p:nvPr/>
        </p:nvSpPr>
        <p:spPr>
          <a:xfrm>
            <a:off x="5847525" y="1292700"/>
            <a:ext cx="291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 List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addition &amp; subtraction strategies</a:t>
            </a:r>
            <a:endParaRPr/>
          </a:p>
        </p:txBody>
      </p:sp>
      <p:sp>
        <p:nvSpPr>
          <p:cNvPr id="1050" name="Google Shape;1050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051" name="Google Shape;1051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written addition and subtraction strategies</a:t>
            </a:r>
            <a:endParaRPr/>
          </a:p>
        </p:txBody>
      </p:sp>
      <p:pic>
        <p:nvPicPr>
          <p:cNvPr id="1052" name="Google Shape;105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42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2"/>
          <p:cNvSpPr txBox="1"/>
          <p:nvPr>
            <p:ph idx="1" type="body"/>
          </p:nvPr>
        </p:nvSpPr>
        <p:spPr>
          <a:xfrm>
            <a:off x="324000" y="759300"/>
            <a:ext cx="8237700" cy="7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Jun, Sam and Laura each measure the height of their sunflowers.</a:t>
            </a:r>
            <a:endParaRPr/>
          </a:p>
        </p:txBody>
      </p:sp>
      <p:sp>
        <p:nvSpPr>
          <p:cNvPr id="1058" name="Google Shape;105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pic>
        <p:nvPicPr>
          <p:cNvPr id="1059" name="Google Shape;105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337" y="267403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02808" y="2013002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032776" y="1809000"/>
            <a:ext cx="702782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8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2660300" y="1372475"/>
            <a:ext cx="2662052" cy="4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8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860273" y="2097000"/>
            <a:ext cx="2662052" cy="57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82"/>
          <p:cNvSpPr txBox="1"/>
          <p:nvPr/>
        </p:nvSpPr>
        <p:spPr>
          <a:xfrm>
            <a:off x="1087559" y="2127950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86.4 cm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2"/>
          <p:cNvSpPr txBox="1"/>
          <p:nvPr/>
        </p:nvSpPr>
        <p:spPr>
          <a:xfrm>
            <a:off x="2736509" y="1404950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2.26 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6" name="Google Shape;1066;p8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5843125" y="1428750"/>
            <a:ext cx="2662052" cy="4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2"/>
          <p:cNvSpPr txBox="1"/>
          <p:nvPr/>
        </p:nvSpPr>
        <p:spPr>
          <a:xfrm>
            <a:off x="5919334" y="1461225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376 mm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2"/>
          <p:cNvSpPr txBox="1"/>
          <p:nvPr/>
        </p:nvSpPr>
        <p:spPr>
          <a:xfrm>
            <a:off x="324002" y="3790750"/>
            <a:ext cx="63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height of their sunflowers?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pic>
        <p:nvPicPr>
          <p:cNvPr id="1074" name="Google Shape;107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387" y="386533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633" y="3323902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314526" y="3811712"/>
            <a:ext cx="702782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8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3388488" y="3291425"/>
            <a:ext cx="2662052" cy="4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8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239223" y="3170250"/>
            <a:ext cx="2662052" cy="57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83"/>
          <p:cNvSpPr txBox="1"/>
          <p:nvPr/>
        </p:nvSpPr>
        <p:spPr>
          <a:xfrm>
            <a:off x="466509" y="3201200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86.4 cm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3"/>
          <p:cNvSpPr txBox="1"/>
          <p:nvPr/>
        </p:nvSpPr>
        <p:spPr>
          <a:xfrm>
            <a:off x="3464697" y="3323900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2.26 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1" name="Google Shape;1081;p8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5900625" y="2771288"/>
            <a:ext cx="2662052" cy="4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83"/>
          <p:cNvSpPr txBox="1"/>
          <p:nvPr/>
        </p:nvSpPr>
        <p:spPr>
          <a:xfrm>
            <a:off x="5976834" y="2803763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376 mm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3"/>
          <p:cNvSpPr txBox="1"/>
          <p:nvPr/>
        </p:nvSpPr>
        <p:spPr>
          <a:xfrm>
            <a:off x="324002" y="590350"/>
            <a:ext cx="63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height of their sunflowers?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4" name="Google Shape;1084;p83"/>
          <p:cNvGrpSpPr/>
          <p:nvPr/>
        </p:nvGrpSpPr>
        <p:grpSpPr>
          <a:xfrm>
            <a:off x="339389" y="999563"/>
            <a:ext cx="1785702" cy="1366650"/>
            <a:chOff x="973000" y="1281300"/>
            <a:chExt cx="1296900" cy="1366650"/>
          </a:xfrm>
        </p:grpSpPr>
        <p:sp>
          <p:nvSpPr>
            <p:cNvPr id="1085" name="Google Shape;1085;p83"/>
            <p:cNvSpPr txBox="1"/>
            <p:nvPr/>
          </p:nvSpPr>
          <p:spPr>
            <a:xfrm>
              <a:off x="1290556" y="1281300"/>
              <a:ext cx="9420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8 6 . 4 0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   2 . 2 6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3 7 6 . 0 0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      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86" name="Google Shape;1086;p83"/>
            <p:cNvGrpSpPr/>
            <p:nvPr/>
          </p:nvGrpSpPr>
          <p:grpSpPr>
            <a:xfrm>
              <a:off x="973000" y="2245775"/>
              <a:ext cx="1296900" cy="402175"/>
              <a:chOff x="1612650" y="2914025"/>
              <a:chExt cx="1296900" cy="402175"/>
            </a:xfrm>
          </p:grpSpPr>
          <p:cxnSp>
            <p:nvCxnSpPr>
              <p:cNvPr id="1087" name="Google Shape;1087;p83"/>
              <p:cNvCxnSpPr/>
              <p:nvPr/>
            </p:nvCxnSpPr>
            <p:spPr>
              <a:xfrm>
                <a:off x="1612650" y="2914025"/>
                <a:ext cx="1296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" name="Google Shape;1088;p83"/>
              <p:cNvCxnSpPr/>
              <p:nvPr/>
            </p:nvCxnSpPr>
            <p:spPr>
              <a:xfrm>
                <a:off x="1612650" y="3316200"/>
                <a:ext cx="1296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89" name="Google Shape;1089;p83"/>
            <p:cNvSpPr txBox="1"/>
            <p:nvPr/>
          </p:nvSpPr>
          <p:spPr>
            <a:xfrm>
              <a:off x="1044380" y="1907075"/>
              <a:ext cx="186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0" name="Google Shape;1090;p83"/>
          <p:cNvSpPr txBox="1"/>
          <p:nvPr/>
        </p:nvSpPr>
        <p:spPr>
          <a:xfrm>
            <a:off x="1865247" y="1985763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3"/>
          <p:cNvSpPr txBox="1"/>
          <p:nvPr/>
        </p:nvSpPr>
        <p:spPr>
          <a:xfrm>
            <a:off x="1636772" y="1985763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3"/>
          <p:cNvSpPr txBox="1"/>
          <p:nvPr/>
        </p:nvSpPr>
        <p:spPr>
          <a:xfrm>
            <a:off x="1224972" y="1985763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3"/>
          <p:cNvSpPr txBox="1"/>
          <p:nvPr/>
        </p:nvSpPr>
        <p:spPr>
          <a:xfrm>
            <a:off x="1040830" y="2354575"/>
            <a:ext cx="18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3"/>
          <p:cNvSpPr txBox="1"/>
          <p:nvPr/>
        </p:nvSpPr>
        <p:spPr>
          <a:xfrm>
            <a:off x="977834" y="1985763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3"/>
          <p:cNvSpPr txBox="1"/>
          <p:nvPr/>
        </p:nvSpPr>
        <p:spPr>
          <a:xfrm>
            <a:off x="757680" y="2354575"/>
            <a:ext cx="18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3"/>
          <p:cNvSpPr txBox="1"/>
          <p:nvPr/>
        </p:nvSpPr>
        <p:spPr>
          <a:xfrm>
            <a:off x="757672" y="1985763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7" name="Google Shape;1097;p8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562077" y="2707975"/>
            <a:ext cx="2016348" cy="120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3"/>
          <p:cNvSpPr txBox="1"/>
          <p:nvPr/>
        </p:nvSpPr>
        <p:spPr>
          <a:xfrm>
            <a:off x="734231" y="2723925"/>
            <a:ext cx="183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units is our answer in?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9" name="Google Shape;1099;p8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3012375" y="2268550"/>
            <a:ext cx="2662052" cy="166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83"/>
          <p:cNvSpPr txBox="1"/>
          <p:nvPr/>
        </p:nvSpPr>
        <p:spPr>
          <a:xfrm>
            <a:off x="3088584" y="2300988"/>
            <a:ext cx="2416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 don’t know because we each used a different unit.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1" name="Google Shape;1101;p8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5579469" y="1586489"/>
            <a:ext cx="3328323" cy="170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83"/>
          <p:cNvSpPr txBox="1"/>
          <p:nvPr/>
        </p:nvSpPr>
        <p:spPr>
          <a:xfrm>
            <a:off x="5655666" y="1618939"/>
            <a:ext cx="3050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should have changed them all into the same units before we added them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pic>
        <p:nvPicPr>
          <p:cNvPr id="1108" name="Google Shape;110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337" y="236923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860273" y="1792200"/>
            <a:ext cx="2662052" cy="57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4"/>
          <p:cNvSpPr txBox="1"/>
          <p:nvPr/>
        </p:nvSpPr>
        <p:spPr>
          <a:xfrm>
            <a:off x="1087559" y="1823150"/>
            <a:ext cx="241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86.4 cm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4"/>
          <p:cNvSpPr txBox="1"/>
          <p:nvPr/>
        </p:nvSpPr>
        <p:spPr>
          <a:xfrm>
            <a:off x="323999" y="590350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They have decided to change all of their measurements into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metres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2" name="Google Shape;1112;p84"/>
          <p:cNvGraphicFramePr/>
          <p:nvPr/>
        </p:nvGraphicFramePr>
        <p:xfrm>
          <a:off x="1294988" y="271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{156FDDC0-A590-41D4-A33F-EF3BA5629C6A}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37B7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rgbClr val="037B7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3" name="Google Shape;1113;p84"/>
          <p:cNvSpPr/>
          <p:nvPr/>
        </p:nvSpPr>
        <p:spPr>
          <a:xfrm>
            <a:off x="3945268" y="2789100"/>
            <a:ext cx="810300" cy="335700"/>
          </a:xfrm>
          <a:prstGeom prst="rect">
            <a:avLst/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4"/>
          <p:cNvSpPr txBox="1"/>
          <p:nvPr/>
        </p:nvSpPr>
        <p:spPr>
          <a:xfrm>
            <a:off x="5084750" y="42789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4"/>
          <p:cNvSpPr txBox="1"/>
          <p:nvPr/>
        </p:nvSpPr>
        <p:spPr>
          <a:xfrm>
            <a:off x="953350" y="42561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6" name="Google Shape;1116;p84"/>
          <p:cNvCxnSpPr/>
          <p:nvPr/>
        </p:nvCxnSpPr>
        <p:spPr>
          <a:xfrm rot="10800000">
            <a:off x="953350" y="42028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7" name="Google Shape;1117;p84"/>
          <p:cNvCxnSpPr/>
          <p:nvPr/>
        </p:nvCxnSpPr>
        <p:spPr>
          <a:xfrm>
            <a:off x="5084738" y="42028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8" name="Google Shape;1118;p84"/>
          <p:cNvSpPr/>
          <p:nvPr/>
        </p:nvSpPr>
        <p:spPr>
          <a:xfrm>
            <a:off x="6497787" y="3371458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4"/>
          <p:cNvSpPr/>
          <p:nvPr/>
        </p:nvSpPr>
        <p:spPr>
          <a:xfrm>
            <a:off x="4783690" y="383571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0" name="Google Shape;1120;p8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844373" y="1780063"/>
            <a:ext cx="2786002" cy="57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84"/>
          <p:cNvSpPr txBox="1"/>
          <p:nvPr/>
        </p:nvSpPr>
        <p:spPr>
          <a:xfrm>
            <a:off x="1119399" y="1811013"/>
            <a:ext cx="25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86.4 cm is 0.864 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4"/>
          <p:cNvSpPr/>
          <p:nvPr/>
        </p:nvSpPr>
        <p:spPr>
          <a:xfrm>
            <a:off x="6812575" y="32720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4"/>
          <p:cNvSpPr/>
          <p:nvPr/>
        </p:nvSpPr>
        <p:spPr>
          <a:xfrm>
            <a:off x="5954175" y="328570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4"/>
          <p:cNvSpPr/>
          <p:nvPr/>
        </p:nvSpPr>
        <p:spPr>
          <a:xfrm>
            <a:off x="5095775" y="32720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4"/>
          <p:cNvSpPr/>
          <p:nvPr/>
        </p:nvSpPr>
        <p:spPr>
          <a:xfrm>
            <a:off x="4182863" y="3711863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4"/>
          <p:cNvSpPr/>
          <p:nvPr/>
        </p:nvSpPr>
        <p:spPr>
          <a:xfrm>
            <a:off x="5095763" y="37374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4"/>
          <p:cNvSpPr/>
          <p:nvPr/>
        </p:nvSpPr>
        <p:spPr>
          <a:xfrm>
            <a:off x="5911188" y="37442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4"/>
          <p:cNvSpPr/>
          <p:nvPr/>
        </p:nvSpPr>
        <p:spPr>
          <a:xfrm>
            <a:off x="6812563" y="37374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4"/>
          <p:cNvSpPr/>
          <p:nvPr/>
        </p:nvSpPr>
        <p:spPr>
          <a:xfrm>
            <a:off x="5761974" y="2789100"/>
            <a:ext cx="727200" cy="335700"/>
          </a:xfrm>
          <a:prstGeom prst="rect">
            <a:avLst/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135" name="Google Shape;1135;p85"/>
          <p:cNvSpPr txBox="1"/>
          <p:nvPr/>
        </p:nvSpPr>
        <p:spPr>
          <a:xfrm>
            <a:off x="323999" y="590350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They have decided to change all of their measurements into metres.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6" name="Google Shape;113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5576" y="1937925"/>
            <a:ext cx="702782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8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532575" y="1036625"/>
            <a:ext cx="2662052" cy="95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85"/>
          <p:cNvSpPr txBox="1"/>
          <p:nvPr/>
        </p:nvSpPr>
        <p:spPr>
          <a:xfrm>
            <a:off x="5589583" y="1069100"/>
            <a:ext cx="2483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already in metres it is 2.26 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144" name="Google Shape;1144;p86"/>
          <p:cNvSpPr txBox="1"/>
          <p:nvPr/>
        </p:nvSpPr>
        <p:spPr>
          <a:xfrm>
            <a:off x="323999" y="590350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They have decided to change all of their measurements into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metres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45" name="Google Shape;1145;p86"/>
          <p:cNvGraphicFramePr/>
          <p:nvPr/>
        </p:nvGraphicFramePr>
        <p:xfrm>
          <a:off x="1294988" y="271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{156FDDC0-A590-41D4-A33F-EF3BA5629C6A}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37B7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rgbClr val="037B7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6" name="Google Shape;1146;p86"/>
          <p:cNvSpPr/>
          <p:nvPr/>
        </p:nvSpPr>
        <p:spPr>
          <a:xfrm>
            <a:off x="3945268" y="2789100"/>
            <a:ext cx="810300" cy="335700"/>
          </a:xfrm>
          <a:prstGeom prst="rect">
            <a:avLst/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6"/>
          <p:cNvSpPr txBox="1"/>
          <p:nvPr/>
        </p:nvSpPr>
        <p:spPr>
          <a:xfrm>
            <a:off x="5084750" y="42789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6"/>
          <p:cNvSpPr txBox="1"/>
          <p:nvPr/>
        </p:nvSpPr>
        <p:spPr>
          <a:xfrm>
            <a:off x="953350" y="42561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9" name="Google Shape;1149;p86"/>
          <p:cNvCxnSpPr/>
          <p:nvPr/>
        </p:nvCxnSpPr>
        <p:spPr>
          <a:xfrm rot="10800000">
            <a:off x="953350" y="42028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86"/>
          <p:cNvCxnSpPr/>
          <p:nvPr/>
        </p:nvCxnSpPr>
        <p:spPr>
          <a:xfrm>
            <a:off x="5084738" y="42028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1" name="Google Shape;1151;p86"/>
          <p:cNvSpPr/>
          <p:nvPr/>
        </p:nvSpPr>
        <p:spPr>
          <a:xfrm>
            <a:off x="4783690" y="383571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2" name="Google Shape;115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02808" y="1708202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8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177800" y="1423788"/>
            <a:ext cx="2662052" cy="4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86"/>
          <p:cNvSpPr txBox="1"/>
          <p:nvPr/>
        </p:nvSpPr>
        <p:spPr>
          <a:xfrm>
            <a:off x="5254009" y="1456263"/>
            <a:ext cx="2416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Mine is 376 mm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5" name="Google Shape;1155;p8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233165" y="1439482"/>
            <a:ext cx="2662052" cy="4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86"/>
          <p:cNvSpPr txBox="1"/>
          <p:nvPr/>
        </p:nvSpPr>
        <p:spPr>
          <a:xfrm>
            <a:off x="5283774" y="1459175"/>
            <a:ext cx="261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376 mm is 0.376 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6"/>
          <p:cNvSpPr/>
          <p:nvPr/>
        </p:nvSpPr>
        <p:spPr>
          <a:xfrm>
            <a:off x="6812575" y="32720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6"/>
          <p:cNvSpPr/>
          <p:nvPr/>
        </p:nvSpPr>
        <p:spPr>
          <a:xfrm>
            <a:off x="5960575" y="32720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6"/>
          <p:cNvSpPr/>
          <p:nvPr/>
        </p:nvSpPr>
        <p:spPr>
          <a:xfrm>
            <a:off x="5108575" y="32720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6"/>
          <p:cNvSpPr/>
          <p:nvPr/>
        </p:nvSpPr>
        <p:spPr>
          <a:xfrm>
            <a:off x="4182863" y="374660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6"/>
          <p:cNvSpPr/>
          <p:nvPr/>
        </p:nvSpPr>
        <p:spPr>
          <a:xfrm>
            <a:off x="5084738" y="3737438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6"/>
          <p:cNvSpPr/>
          <p:nvPr/>
        </p:nvSpPr>
        <p:spPr>
          <a:xfrm>
            <a:off x="5960563" y="37374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6"/>
          <p:cNvSpPr/>
          <p:nvPr/>
        </p:nvSpPr>
        <p:spPr>
          <a:xfrm>
            <a:off x="6812563" y="37374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6"/>
          <p:cNvSpPr/>
          <p:nvPr/>
        </p:nvSpPr>
        <p:spPr>
          <a:xfrm>
            <a:off x="6682223" y="2789100"/>
            <a:ext cx="623100" cy="335700"/>
          </a:xfrm>
          <a:prstGeom prst="rect">
            <a:avLst/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7"/>
          <p:cNvSpPr txBox="1"/>
          <p:nvPr>
            <p:ph idx="1" type="body"/>
          </p:nvPr>
        </p:nvSpPr>
        <p:spPr>
          <a:xfrm>
            <a:off x="324000" y="759300"/>
            <a:ext cx="8237700" cy="18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they can find the </a:t>
            </a:r>
            <a:r>
              <a:rPr lang="en-GB">
                <a:solidFill>
                  <a:schemeClr val="accent5"/>
                </a:solidFill>
              </a:rPr>
              <a:t>total</a:t>
            </a:r>
            <a:r>
              <a:rPr lang="en-GB"/>
              <a:t> height of their sunflowers.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Jun’s is 0.864 m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Sam’s is 2.26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Laura’s is 0.3</a:t>
            </a:r>
            <a:r>
              <a:rPr lang="en-GB"/>
              <a:t>76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grpSp>
        <p:nvGrpSpPr>
          <p:cNvPr id="1171" name="Google Shape;1171;p87"/>
          <p:cNvGrpSpPr/>
          <p:nvPr/>
        </p:nvGrpSpPr>
        <p:grpSpPr>
          <a:xfrm>
            <a:off x="4711773" y="1725825"/>
            <a:ext cx="2281987" cy="1376350"/>
            <a:chOff x="4711852" y="1725825"/>
            <a:chExt cx="1266153" cy="1376350"/>
          </a:xfrm>
        </p:grpSpPr>
        <p:sp>
          <p:nvSpPr>
            <p:cNvPr id="1172" name="Google Shape;1172;p87"/>
            <p:cNvSpPr txBox="1"/>
            <p:nvPr/>
          </p:nvSpPr>
          <p:spPr>
            <a:xfrm>
              <a:off x="4742605" y="1725825"/>
              <a:ext cx="12354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  0 . 8 6 4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  2 . 2 6 0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+   0 . 3 7 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73" name="Google Shape;1173;p87"/>
            <p:cNvGrpSpPr/>
            <p:nvPr/>
          </p:nvGrpSpPr>
          <p:grpSpPr>
            <a:xfrm>
              <a:off x="4711852" y="2700000"/>
              <a:ext cx="857400" cy="402175"/>
              <a:chOff x="1612652" y="2914025"/>
              <a:chExt cx="857400" cy="402175"/>
            </a:xfrm>
          </p:grpSpPr>
          <p:cxnSp>
            <p:nvCxnSpPr>
              <p:cNvPr id="1174" name="Google Shape;1174;p87"/>
              <p:cNvCxnSpPr/>
              <p:nvPr/>
            </p:nvCxnSpPr>
            <p:spPr>
              <a:xfrm>
                <a:off x="1612652" y="2914025"/>
                <a:ext cx="8574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5" name="Google Shape;1175;p87"/>
              <p:cNvCxnSpPr/>
              <p:nvPr/>
            </p:nvCxnSpPr>
            <p:spPr>
              <a:xfrm>
                <a:off x="1612652" y="3316200"/>
                <a:ext cx="8574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76" name="Google Shape;1176;p87"/>
          <p:cNvSpPr txBox="1"/>
          <p:nvPr/>
        </p:nvSpPr>
        <p:spPr>
          <a:xfrm>
            <a:off x="5991922" y="2729625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7"/>
          <p:cNvSpPr txBox="1"/>
          <p:nvPr/>
        </p:nvSpPr>
        <p:spPr>
          <a:xfrm>
            <a:off x="5760821" y="3075800"/>
            <a:ext cx="18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7"/>
          <p:cNvSpPr txBox="1"/>
          <p:nvPr/>
        </p:nvSpPr>
        <p:spPr>
          <a:xfrm>
            <a:off x="5760809" y="2729625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7"/>
          <p:cNvSpPr txBox="1"/>
          <p:nvPr/>
        </p:nvSpPr>
        <p:spPr>
          <a:xfrm>
            <a:off x="5522565" y="2729625"/>
            <a:ext cx="2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7"/>
          <p:cNvSpPr txBox="1"/>
          <p:nvPr/>
        </p:nvSpPr>
        <p:spPr>
          <a:xfrm>
            <a:off x="5175061" y="3075810"/>
            <a:ext cx="18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7"/>
          <p:cNvSpPr txBox="1"/>
          <p:nvPr/>
        </p:nvSpPr>
        <p:spPr>
          <a:xfrm>
            <a:off x="5175047" y="2729613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7"/>
          <p:cNvSpPr txBox="1"/>
          <p:nvPr/>
        </p:nvSpPr>
        <p:spPr>
          <a:xfrm>
            <a:off x="324077" y="3420725"/>
            <a:ext cx="406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units is the answer in?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7"/>
          <p:cNvSpPr txBox="1"/>
          <p:nvPr/>
        </p:nvSpPr>
        <p:spPr>
          <a:xfrm>
            <a:off x="324071" y="4113100"/>
            <a:ext cx="70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height of their sunflowers is 3.5 m.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7"/>
          <p:cNvSpPr txBox="1"/>
          <p:nvPr/>
        </p:nvSpPr>
        <p:spPr>
          <a:xfrm>
            <a:off x="5557811" y="3075800"/>
            <a:ext cx="18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88"/>
          <p:cNvSpPr txBox="1"/>
          <p:nvPr>
            <p:ph idx="1" type="body"/>
          </p:nvPr>
        </p:nvSpPr>
        <p:spPr>
          <a:xfrm>
            <a:off x="324000" y="759300"/>
            <a:ext cx="8237700" cy="11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working with values in different units, we must make sure we convert them all into the same units before working with them together.</a:t>
            </a:r>
            <a:endParaRPr/>
          </a:p>
        </p:txBody>
      </p:sp>
      <p:sp>
        <p:nvSpPr>
          <p:cNvPr id="1190" name="Google Shape;119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191" name="Google Shape;1191;p88"/>
          <p:cNvSpPr txBox="1"/>
          <p:nvPr>
            <p:ph idx="1" type="body"/>
          </p:nvPr>
        </p:nvSpPr>
        <p:spPr>
          <a:xfrm>
            <a:off x="324000" y="2278250"/>
            <a:ext cx="8237700" cy="17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 lives 2.3 km from school and Izzy lives 875m from school.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both </a:t>
            </a:r>
            <a:r>
              <a:rPr lang="en-GB"/>
              <a:t>walk to school.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further does Alex walk?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89"/>
          <p:cNvSpPr txBox="1"/>
          <p:nvPr>
            <p:ph idx="1" type="body"/>
          </p:nvPr>
        </p:nvSpPr>
        <p:spPr>
          <a:xfrm>
            <a:off x="324000" y="759300"/>
            <a:ext cx="2307300" cy="3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Alex lives 2.3 km</a:t>
            </a:r>
            <a:endParaRPr/>
          </a:p>
        </p:txBody>
      </p:sp>
      <p:sp>
        <p:nvSpPr>
          <p:cNvPr id="1197" name="Google Shape;119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graphicFrame>
        <p:nvGraphicFramePr>
          <p:cNvPr id="1198" name="Google Shape;1198;p89"/>
          <p:cNvGraphicFramePr/>
          <p:nvPr/>
        </p:nvGraphicFramePr>
        <p:xfrm>
          <a:off x="1294988" y="164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{156FDDC0-A590-41D4-A33F-EF3BA5629C6A}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37B7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rgbClr val="037B7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9" name="Google Shape;1199;p89"/>
          <p:cNvSpPr/>
          <p:nvPr/>
        </p:nvSpPr>
        <p:spPr>
          <a:xfrm>
            <a:off x="3945268" y="1722300"/>
            <a:ext cx="810300" cy="335700"/>
          </a:xfrm>
          <a:prstGeom prst="rect">
            <a:avLst/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9"/>
          <p:cNvSpPr txBox="1"/>
          <p:nvPr/>
        </p:nvSpPr>
        <p:spPr>
          <a:xfrm>
            <a:off x="5084750" y="32121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9"/>
          <p:cNvSpPr txBox="1"/>
          <p:nvPr/>
        </p:nvSpPr>
        <p:spPr>
          <a:xfrm>
            <a:off x="953350" y="31893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2" name="Google Shape;1202;p89"/>
          <p:cNvCxnSpPr/>
          <p:nvPr/>
        </p:nvCxnSpPr>
        <p:spPr>
          <a:xfrm rot="10800000">
            <a:off x="953350" y="31360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89"/>
          <p:cNvCxnSpPr/>
          <p:nvPr/>
        </p:nvCxnSpPr>
        <p:spPr>
          <a:xfrm>
            <a:off x="5084738" y="31360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4" name="Google Shape;1204;p89"/>
          <p:cNvSpPr/>
          <p:nvPr/>
        </p:nvSpPr>
        <p:spPr>
          <a:xfrm>
            <a:off x="4783690" y="276891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9"/>
          <p:cNvSpPr/>
          <p:nvPr/>
        </p:nvSpPr>
        <p:spPr>
          <a:xfrm>
            <a:off x="2127090" y="229436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89"/>
          <p:cNvSpPr txBox="1"/>
          <p:nvPr>
            <p:ph idx="1" type="body"/>
          </p:nvPr>
        </p:nvSpPr>
        <p:spPr>
          <a:xfrm>
            <a:off x="324000" y="3955800"/>
            <a:ext cx="2617200" cy="3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lives 2300 m</a:t>
            </a:r>
            <a:endParaRPr/>
          </a:p>
        </p:txBody>
      </p:sp>
      <p:sp>
        <p:nvSpPr>
          <p:cNvPr id="1207" name="Google Shape;1207;p89"/>
          <p:cNvSpPr/>
          <p:nvPr/>
        </p:nvSpPr>
        <p:spPr>
          <a:xfrm>
            <a:off x="1399398" y="1706925"/>
            <a:ext cx="634200" cy="335700"/>
          </a:xfrm>
          <a:prstGeom prst="rect">
            <a:avLst/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9"/>
          <p:cNvSpPr/>
          <p:nvPr/>
        </p:nvSpPr>
        <p:spPr>
          <a:xfrm>
            <a:off x="1570825" y="22052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9"/>
          <p:cNvSpPr/>
          <p:nvPr/>
        </p:nvSpPr>
        <p:spPr>
          <a:xfrm>
            <a:off x="2458925" y="22052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9"/>
          <p:cNvSpPr/>
          <p:nvPr/>
        </p:nvSpPr>
        <p:spPr>
          <a:xfrm>
            <a:off x="1570825" y="2670638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9"/>
          <p:cNvSpPr/>
          <p:nvPr/>
        </p:nvSpPr>
        <p:spPr>
          <a:xfrm>
            <a:off x="2458925" y="26706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9"/>
          <p:cNvSpPr/>
          <p:nvPr/>
        </p:nvSpPr>
        <p:spPr>
          <a:xfrm>
            <a:off x="3289450" y="26706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9"/>
          <p:cNvSpPr/>
          <p:nvPr/>
        </p:nvSpPr>
        <p:spPr>
          <a:xfrm>
            <a:off x="4182863" y="26706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219" name="Google Shape;1219;p90"/>
          <p:cNvSpPr txBox="1"/>
          <p:nvPr>
            <p:ph idx="1" type="body"/>
          </p:nvPr>
        </p:nvSpPr>
        <p:spPr>
          <a:xfrm>
            <a:off x="324000" y="755400"/>
            <a:ext cx="2617200" cy="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 lives 2300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Izzy lives </a:t>
            </a:r>
            <a:r>
              <a:rPr lang="en-GB"/>
              <a:t>875m</a:t>
            </a:r>
            <a:r>
              <a:rPr lang="en-GB"/>
              <a:t> </a:t>
            </a:r>
            <a:endParaRPr/>
          </a:p>
        </p:txBody>
      </p:sp>
      <p:sp>
        <p:nvSpPr>
          <p:cNvPr id="1220" name="Google Shape;1220;p90"/>
          <p:cNvSpPr txBox="1"/>
          <p:nvPr>
            <p:ph idx="1" type="body"/>
          </p:nvPr>
        </p:nvSpPr>
        <p:spPr>
          <a:xfrm>
            <a:off x="3263400" y="1958000"/>
            <a:ext cx="1296900" cy="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2 3 0 0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82828"/>
                </a:solidFill>
              </a:rPr>
              <a:t>−   8 7 5</a:t>
            </a:r>
            <a:endParaRPr/>
          </a:p>
        </p:txBody>
      </p:sp>
      <p:cxnSp>
        <p:nvCxnSpPr>
          <p:cNvPr id="1221" name="Google Shape;1221;p90"/>
          <p:cNvCxnSpPr/>
          <p:nvPr/>
        </p:nvCxnSpPr>
        <p:spPr>
          <a:xfrm>
            <a:off x="3175500" y="2807550"/>
            <a:ext cx="1296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90"/>
          <p:cNvCxnSpPr/>
          <p:nvPr/>
        </p:nvCxnSpPr>
        <p:spPr>
          <a:xfrm>
            <a:off x="3175500" y="3194050"/>
            <a:ext cx="1296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90"/>
          <p:cNvSpPr txBox="1"/>
          <p:nvPr/>
        </p:nvSpPr>
        <p:spPr>
          <a:xfrm>
            <a:off x="4124038" y="2807544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4" name="Google Shape;1224;p90"/>
          <p:cNvCxnSpPr/>
          <p:nvPr/>
        </p:nvCxnSpPr>
        <p:spPr>
          <a:xfrm>
            <a:off x="3646963" y="1958000"/>
            <a:ext cx="126600" cy="2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5" name="Google Shape;1225;p90"/>
          <p:cNvSpPr txBox="1"/>
          <p:nvPr/>
        </p:nvSpPr>
        <p:spPr>
          <a:xfrm>
            <a:off x="3538556" y="1743600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0"/>
          <p:cNvSpPr txBox="1"/>
          <p:nvPr/>
        </p:nvSpPr>
        <p:spPr>
          <a:xfrm>
            <a:off x="3798006" y="1765175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7" name="Google Shape;1227;p90"/>
          <p:cNvCxnSpPr/>
          <p:nvPr/>
        </p:nvCxnSpPr>
        <p:spPr>
          <a:xfrm>
            <a:off x="3792006" y="1849125"/>
            <a:ext cx="216600" cy="39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90"/>
          <p:cNvSpPr txBox="1"/>
          <p:nvPr/>
        </p:nvSpPr>
        <p:spPr>
          <a:xfrm>
            <a:off x="4039681" y="1765175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0"/>
          <p:cNvSpPr txBox="1"/>
          <p:nvPr/>
        </p:nvSpPr>
        <p:spPr>
          <a:xfrm>
            <a:off x="3703381" y="1571925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0"/>
          <p:cNvSpPr txBox="1"/>
          <p:nvPr/>
        </p:nvSpPr>
        <p:spPr>
          <a:xfrm>
            <a:off x="3640350" y="2807544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0"/>
          <p:cNvSpPr txBox="1"/>
          <p:nvPr/>
        </p:nvSpPr>
        <p:spPr>
          <a:xfrm>
            <a:off x="3882194" y="2807544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2" name="Google Shape;1232;p90"/>
          <p:cNvCxnSpPr/>
          <p:nvPr/>
        </p:nvCxnSpPr>
        <p:spPr>
          <a:xfrm>
            <a:off x="3411938" y="1994825"/>
            <a:ext cx="126600" cy="2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90"/>
          <p:cNvSpPr txBox="1"/>
          <p:nvPr/>
        </p:nvSpPr>
        <p:spPr>
          <a:xfrm>
            <a:off x="3260356" y="1778449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0"/>
          <p:cNvSpPr txBox="1"/>
          <p:nvPr/>
        </p:nvSpPr>
        <p:spPr>
          <a:xfrm>
            <a:off x="3407344" y="1674000"/>
            <a:ext cx="16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0"/>
          <p:cNvSpPr txBox="1"/>
          <p:nvPr/>
        </p:nvSpPr>
        <p:spPr>
          <a:xfrm>
            <a:off x="3398506" y="2807544"/>
            <a:ext cx="1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0"/>
          <p:cNvSpPr txBox="1"/>
          <p:nvPr/>
        </p:nvSpPr>
        <p:spPr>
          <a:xfrm>
            <a:off x="324369" y="3780000"/>
            <a:ext cx="57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Alex walks an extra 1425 m than Izzy.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9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450 + 1870 + 7.82</a:t>
            </a:r>
            <a:endParaRPr/>
          </a:p>
        </p:txBody>
      </p:sp>
      <p:sp>
        <p:nvSpPr>
          <p:cNvPr id="1242" name="Google Shape;1242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243" name="Google Shape;1243;p91"/>
          <p:cNvSpPr txBox="1"/>
          <p:nvPr>
            <p:ph type="title"/>
          </p:nvPr>
        </p:nvSpPr>
        <p:spPr>
          <a:xfrm>
            <a:off x="324000" y="5813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total of 4.5 km, 1870 m and 782 cm.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if the correct calculation to find the total distance in metres?</a:t>
            </a:r>
            <a:endParaRPr/>
          </a:p>
        </p:txBody>
      </p:sp>
      <p:sp>
        <p:nvSpPr>
          <p:cNvPr id="1244" name="Google Shape;1244;p9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4.5 + 1.87 + 0.00782</a:t>
            </a:r>
            <a:endParaRPr/>
          </a:p>
        </p:txBody>
      </p:sp>
      <p:sp>
        <p:nvSpPr>
          <p:cNvPr id="1245" name="Google Shape;1245;p9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4500 + 1870 + 7.82</a:t>
            </a:r>
            <a:endParaRPr/>
          </a:p>
        </p:txBody>
      </p:sp>
      <p:sp>
        <p:nvSpPr>
          <p:cNvPr id="1246" name="Google Shape;1246;p9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4500 + 1870 + 0.782</a:t>
            </a:r>
            <a:endParaRPr/>
          </a:p>
        </p:txBody>
      </p:sp>
      <p:pic>
        <p:nvPicPr>
          <p:cNvPr id="1247" name="Google Shape;124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308" y="3262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253" name="Google Shape;1253;p92"/>
          <p:cNvSpPr txBox="1"/>
          <p:nvPr>
            <p:ph idx="4294967295" type="body"/>
          </p:nvPr>
        </p:nvSpPr>
        <p:spPr>
          <a:xfrm>
            <a:off x="324000" y="759300"/>
            <a:ext cx="82377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missing values in this addition pyramid.</a:t>
            </a:r>
            <a:endParaRPr/>
          </a:p>
        </p:txBody>
      </p:sp>
      <p:sp>
        <p:nvSpPr>
          <p:cNvPr id="1254" name="Google Shape;1254;p92"/>
          <p:cNvSpPr/>
          <p:nvPr/>
        </p:nvSpPr>
        <p:spPr>
          <a:xfrm>
            <a:off x="2194483" y="36612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2"/>
          <p:cNvSpPr/>
          <p:nvPr/>
        </p:nvSpPr>
        <p:spPr>
          <a:xfrm>
            <a:off x="3391483" y="36612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92"/>
          <p:cNvSpPr/>
          <p:nvPr/>
        </p:nvSpPr>
        <p:spPr>
          <a:xfrm>
            <a:off x="4588483" y="36612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0.52 km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92"/>
          <p:cNvSpPr/>
          <p:nvPr/>
        </p:nvSpPr>
        <p:spPr>
          <a:xfrm>
            <a:off x="5785483" y="36612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16.4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2"/>
          <p:cNvSpPr/>
          <p:nvPr/>
        </p:nvSpPr>
        <p:spPr>
          <a:xfrm>
            <a:off x="2793471" y="3121515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5.06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92"/>
          <p:cNvSpPr/>
          <p:nvPr/>
        </p:nvSpPr>
        <p:spPr>
          <a:xfrm>
            <a:off x="3990471" y="3121515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523.8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2"/>
          <p:cNvSpPr/>
          <p:nvPr/>
        </p:nvSpPr>
        <p:spPr>
          <a:xfrm>
            <a:off x="5187471" y="3121515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536.4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2"/>
          <p:cNvSpPr/>
          <p:nvPr/>
        </p:nvSpPr>
        <p:spPr>
          <a:xfrm>
            <a:off x="3391958" y="2572802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528.86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2"/>
          <p:cNvSpPr/>
          <p:nvPr/>
        </p:nvSpPr>
        <p:spPr>
          <a:xfrm>
            <a:off x="4588958" y="2572802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1060.2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92"/>
          <p:cNvSpPr/>
          <p:nvPr/>
        </p:nvSpPr>
        <p:spPr>
          <a:xfrm>
            <a:off x="3920602" y="2032825"/>
            <a:ext cx="12789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1589.06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4" name="Google Shape;1264;p92"/>
          <p:cNvCxnSpPr/>
          <p:nvPr/>
        </p:nvCxnSpPr>
        <p:spPr>
          <a:xfrm>
            <a:off x="2375050" y="2711150"/>
            <a:ext cx="677700" cy="539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5" name="Google Shape;1265;p92"/>
          <p:cNvSpPr txBox="1"/>
          <p:nvPr/>
        </p:nvSpPr>
        <p:spPr>
          <a:xfrm>
            <a:off x="324000" y="1975500"/>
            <a:ext cx="2563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2 bricks below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1.26 m + 3.8 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2"/>
          <p:cNvSpPr/>
          <p:nvPr/>
        </p:nvSpPr>
        <p:spPr>
          <a:xfrm>
            <a:off x="2963400" y="3273838"/>
            <a:ext cx="5610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2"/>
          <p:cNvSpPr/>
          <p:nvPr/>
        </p:nvSpPr>
        <p:spPr>
          <a:xfrm>
            <a:off x="4146425" y="3223225"/>
            <a:ext cx="5856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2"/>
          <p:cNvSpPr/>
          <p:nvPr/>
        </p:nvSpPr>
        <p:spPr>
          <a:xfrm>
            <a:off x="5329450" y="3223225"/>
            <a:ext cx="6264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92"/>
          <p:cNvSpPr/>
          <p:nvPr/>
        </p:nvSpPr>
        <p:spPr>
          <a:xfrm>
            <a:off x="3438550" y="2728175"/>
            <a:ext cx="7851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92"/>
          <p:cNvSpPr/>
          <p:nvPr/>
        </p:nvSpPr>
        <p:spPr>
          <a:xfrm>
            <a:off x="4632850" y="2728175"/>
            <a:ext cx="7851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2"/>
          <p:cNvSpPr/>
          <p:nvPr/>
        </p:nvSpPr>
        <p:spPr>
          <a:xfrm>
            <a:off x="3990474" y="2160000"/>
            <a:ext cx="8739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2"/>
          <p:cNvSpPr/>
          <p:nvPr/>
        </p:nvSpPr>
        <p:spPr>
          <a:xfrm>
            <a:off x="324025" y="2895325"/>
            <a:ext cx="19530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3" name="Google Shape;1273;p92"/>
          <p:cNvCxnSpPr/>
          <p:nvPr/>
        </p:nvCxnSpPr>
        <p:spPr>
          <a:xfrm flipH="1">
            <a:off x="5936075" y="2351675"/>
            <a:ext cx="153600" cy="690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4" name="Google Shape;1274;p92"/>
          <p:cNvSpPr txBox="1"/>
          <p:nvPr/>
        </p:nvSpPr>
        <p:spPr>
          <a:xfrm>
            <a:off x="6094825" y="1573038"/>
            <a:ext cx="2563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2 bricks below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520 m + 16.4 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2"/>
          <p:cNvSpPr/>
          <p:nvPr/>
        </p:nvSpPr>
        <p:spPr>
          <a:xfrm>
            <a:off x="6119846" y="2487900"/>
            <a:ext cx="2078400" cy="32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281" name="Google Shape;1281;p93"/>
          <p:cNvSpPr txBox="1"/>
          <p:nvPr>
            <p:ph idx="4294967295" type="body"/>
          </p:nvPr>
        </p:nvSpPr>
        <p:spPr>
          <a:xfrm>
            <a:off x="324000" y="759300"/>
            <a:ext cx="82377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value is in the missing brick?</a:t>
            </a:r>
            <a:endParaRPr/>
          </a:p>
        </p:txBody>
      </p:sp>
      <p:sp>
        <p:nvSpPr>
          <p:cNvPr id="1282" name="Google Shape;1282;p93"/>
          <p:cNvSpPr/>
          <p:nvPr/>
        </p:nvSpPr>
        <p:spPr>
          <a:xfrm>
            <a:off x="3391958" y="2953802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3"/>
          <p:cNvSpPr/>
          <p:nvPr/>
        </p:nvSpPr>
        <p:spPr>
          <a:xfrm>
            <a:off x="4588958" y="2953802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3"/>
          <p:cNvSpPr/>
          <p:nvPr/>
        </p:nvSpPr>
        <p:spPr>
          <a:xfrm>
            <a:off x="3920602" y="2413825"/>
            <a:ext cx="1278900" cy="53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652.69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3"/>
          <p:cNvSpPr txBox="1"/>
          <p:nvPr/>
        </p:nvSpPr>
        <p:spPr>
          <a:xfrm>
            <a:off x="4629623" y="3065700"/>
            <a:ext cx="80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650.24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86" name="Google Shape;1286;p93"/>
          <p:cNvCxnSpPr/>
          <p:nvPr/>
        </p:nvCxnSpPr>
        <p:spPr>
          <a:xfrm flipH="1">
            <a:off x="5433925" y="2372788"/>
            <a:ext cx="1043400" cy="521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7" name="Google Shape;1287;p93"/>
          <p:cNvSpPr txBox="1"/>
          <p:nvPr/>
        </p:nvSpPr>
        <p:spPr>
          <a:xfrm>
            <a:off x="6247225" y="1115876"/>
            <a:ext cx="25632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difference between 652.69 m and 245 cm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8" name="Google Shape;1288;p93"/>
          <p:cNvSpPr txBox="1"/>
          <p:nvPr/>
        </p:nvSpPr>
        <p:spPr>
          <a:xfrm>
            <a:off x="6298400" y="2572826"/>
            <a:ext cx="25632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652.69 </a:t>
            </a:r>
            <a:r>
              <a:rPr lang="en-GB" sz="2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− 2.45 m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Complete the addition pyramids.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Each brick is the sum of the 2 bricks below it. </a:t>
            </a:r>
            <a:endParaRPr sz="2000"/>
          </a:p>
        </p:txBody>
      </p:sp>
      <p:sp>
        <p:nvSpPr>
          <p:cNvPr id="1294" name="Google Shape;1294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grpSp>
        <p:nvGrpSpPr>
          <p:cNvPr id="1295" name="Google Shape;1295;p94"/>
          <p:cNvGrpSpPr/>
          <p:nvPr/>
        </p:nvGrpSpPr>
        <p:grpSpPr>
          <a:xfrm>
            <a:off x="400200" y="1924800"/>
            <a:ext cx="2958807" cy="969975"/>
            <a:chOff x="400200" y="1620000"/>
            <a:chExt cx="2958807" cy="969975"/>
          </a:xfrm>
        </p:grpSpPr>
        <p:sp>
          <p:nvSpPr>
            <p:cNvPr id="1296" name="Google Shape;1296;p94"/>
            <p:cNvSpPr/>
            <p:nvPr/>
          </p:nvSpPr>
          <p:spPr>
            <a:xfrm>
              <a:off x="400200" y="2266575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3.9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94"/>
            <p:cNvSpPr/>
            <p:nvPr/>
          </p:nvSpPr>
          <p:spPr>
            <a:xfrm>
              <a:off x="1386403" y="2266575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94"/>
            <p:cNvSpPr/>
            <p:nvPr/>
          </p:nvSpPr>
          <p:spPr>
            <a:xfrm>
              <a:off x="893302" y="1943288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94"/>
            <p:cNvSpPr/>
            <p:nvPr/>
          </p:nvSpPr>
          <p:spPr>
            <a:xfrm>
              <a:off x="1879505" y="1943288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94"/>
            <p:cNvSpPr/>
            <p:nvPr/>
          </p:nvSpPr>
          <p:spPr>
            <a:xfrm>
              <a:off x="2372607" y="2266575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0.05 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94"/>
            <p:cNvSpPr/>
            <p:nvPr/>
          </p:nvSpPr>
          <p:spPr>
            <a:xfrm>
              <a:off x="1386403" y="1620000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94"/>
          <p:cNvGrpSpPr/>
          <p:nvPr/>
        </p:nvGrpSpPr>
        <p:grpSpPr>
          <a:xfrm>
            <a:off x="4927750" y="1924800"/>
            <a:ext cx="3280702" cy="969975"/>
            <a:chOff x="5316500" y="1772400"/>
            <a:chExt cx="3280702" cy="969975"/>
          </a:xfrm>
        </p:grpSpPr>
        <p:sp>
          <p:nvSpPr>
            <p:cNvPr id="1303" name="Google Shape;1303;p94"/>
            <p:cNvSpPr/>
            <p:nvPr/>
          </p:nvSpPr>
          <p:spPr>
            <a:xfrm>
              <a:off x="5316500" y="241897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10.4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94"/>
            <p:cNvSpPr/>
            <p:nvPr/>
          </p:nvSpPr>
          <p:spPr>
            <a:xfrm>
              <a:off x="6409951" y="241897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94"/>
            <p:cNvSpPr/>
            <p:nvPr/>
          </p:nvSpPr>
          <p:spPr>
            <a:xfrm>
              <a:off x="5863226" y="2095688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15.61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6" name="Google Shape;1306;p94"/>
            <p:cNvSpPr/>
            <p:nvPr/>
          </p:nvSpPr>
          <p:spPr>
            <a:xfrm>
              <a:off x="6956677" y="2095688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7" name="Google Shape;1307;p94"/>
            <p:cNvSpPr/>
            <p:nvPr/>
          </p:nvSpPr>
          <p:spPr>
            <a:xfrm>
              <a:off x="7503402" y="241897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0.243 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8" name="Google Shape;1308;p94"/>
            <p:cNvSpPr/>
            <p:nvPr/>
          </p:nvSpPr>
          <p:spPr>
            <a:xfrm>
              <a:off x="6409951" y="1772400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94"/>
          <p:cNvGrpSpPr/>
          <p:nvPr/>
        </p:nvGrpSpPr>
        <p:grpSpPr>
          <a:xfrm>
            <a:off x="400200" y="3502425"/>
            <a:ext cx="3280702" cy="969975"/>
            <a:chOff x="324000" y="3502425"/>
            <a:chExt cx="3280702" cy="969975"/>
          </a:xfrm>
        </p:grpSpPr>
        <p:sp>
          <p:nvSpPr>
            <p:cNvPr id="1310" name="Google Shape;1310;p94"/>
            <p:cNvSpPr/>
            <p:nvPr/>
          </p:nvSpPr>
          <p:spPr>
            <a:xfrm>
              <a:off x="324000" y="4149000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2.201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94"/>
            <p:cNvSpPr/>
            <p:nvPr/>
          </p:nvSpPr>
          <p:spPr>
            <a:xfrm>
              <a:off x="1417451" y="4149000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94"/>
            <p:cNvSpPr/>
            <p:nvPr/>
          </p:nvSpPr>
          <p:spPr>
            <a:xfrm>
              <a:off x="870726" y="3825713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376.3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3" name="Google Shape;1313;p94"/>
            <p:cNvSpPr/>
            <p:nvPr/>
          </p:nvSpPr>
          <p:spPr>
            <a:xfrm>
              <a:off x="1964177" y="3825713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57.76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4" name="Google Shape;1314;p94"/>
            <p:cNvSpPr/>
            <p:nvPr/>
          </p:nvSpPr>
          <p:spPr>
            <a:xfrm>
              <a:off x="2510902" y="4149000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94"/>
            <p:cNvSpPr/>
            <p:nvPr/>
          </p:nvSpPr>
          <p:spPr>
            <a:xfrm>
              <a:off x="1417451" y="350242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6" name="Google Shape;1316;p94"/>
          <p:cNvGrpSpPr/>
          <p:nvPr/>
        </p:nvGrpSpPr>
        <p:grpSpPr>
          <a:xfrm>
            <a:off x="4927750" y="3502425"/>
            <a:ext cx="3497575" cy="969975"/>
            <a:chOff x="4927750" y="3610550"/>
            <a:chExt cx="3497575" cy="969975"/>
          </a:xfrm>
        </p:grpSpPr>
        <p:sp>
          <p:nvSpPr>
            <p:cNvPr id="1317" name="Google Shape;1317;p94"/>
            <p:cNvSpPr/>
            <p:nvPr/>
          </p:nvSpPr>
          <p:spPr>
            <a:xfrm>
              <a:off x="4927750" y="4257125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94"/>
            <p:cNvSpPr/>
            <p:nvPr/>
          </p:nvSpPr>
          <p:spPr>
            <a:xfrm>
              <a:off x="6093488" y="4257125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5780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94"/>
            <p:cNvSpPr/>
            <p:nvPr/>
          </p:nvSpPr>
          <p:spPr>
            <a:xfrm>
              <a:off x="5510619" y="3933838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12 810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0" name="Google Shape;1320;p94"/>
            <p:cNvSpPr/>
            <p:nvPr/>
          </p:nvSpPr>
          <p:spPr>
            <a:xfrm>
              <a:off x="6676356" y="3933838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94"/>
            <p:cNvSpPr/>
            <p:nvPr/>
          </p:nvSpPr>
          <p:spPr>
            <a:xfrm>
              <a:off x="7259225" y="4257125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466.2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94"/>
            <p:cNvSpPr/>
            <p:nvPr/>
          </p:nvSpPr>
          <p:spPr>
            <a:xfrm>
              <a:off x="6093488" y="3610550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54000" wrap="square" tIns="180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3" name="Google Shape;1323;p94"/>
          <p:cNvSpPr txBox="1"/>
          <p:nvPr/>
        </p:nvSpPr>
        <p:spPr>
          <a:xfrm>
            <a:off x="324000" y="16200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4"/>
          <p:cNvSpPr txBox="1"/>
          <p:nvPr/>
        </p:nvSpPr>
        <p:spPr>
          <a:xfrm>
            <a:off x="4824425" y="16200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4"/>
          <p:cNvSpPr txBox="1"/>
          <p:nvPr/>
        </p:nvSpPr>
        <p:spPr>
          <a:xfrm>
            <a:off x="324000" y="32718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4"/>
          <p:cNvSpPr txBox="1"/>
          <p:nvPr/>
        </p:nvSpPr>
        <p:spPr>
          <a:xfrm>
            <a:off x="4824425" y="32718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the addition pyramids.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Each brick is the sum of the 2 bricks below it. </a:t>
            </a:r>
            <a:endParaRPr/>
          </a:p>
        </p:txBody>
      </p:sp>
      <p:sp>
        <p:nvSpPr>
          <p:cNvPr id="1332" name="Google Shape;1332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333" name="Google Shape;1333;p95"/>
          <p:cNvSpPr/>
          <p:nvPr/>
        </p:nvSpPr>
        <p:spPr>
          <a:xfrm>
            <a:off x="2071408" y="271792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71.52 km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5"/>
          <p:cNvSpPr/>
          <p:nvPr/>
        </p:nvSpPr>
        <p:spPr>
          <a:xfrm>
            <a:off x="3770456" y="271792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90000" wrap="square" tIns="18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5"/>
          <p:cNvSpPr/>
          <p:nvPr/>
        </p:nvSpPr>
        <p:spPr>
          <a:xfrm>
            <a:off x="2920932" y="229993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90000" wrap="square" tIns="18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5"/>
          <p:cNvSpPr/>
          <p:nvPr/>
        </p:nvSpPr>
        <p:spPr>
          <a:xfrm>
            <a:off x="4619980" y="229993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357.75 km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95"/>
          <p:cNvSpPr/>
          <p:nvPr/>
        </p:nvSpPr>
        <p:spPr>
          <a:xfrm>
            <a:off x="5469504" y="271792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31 714 500 cm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95"/>
          <p:cNvSpPr/>
          <p:nvPr/>
        </p:nvSpPr>
        <p:spPr>
          <a:xfrm>
            <a:off x="3484795" y="1881950"/>
            <a:ext cx="22746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90000" wrap="square" tIns="18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5"/>
          <p:cNvSpPr/>
          <p:nvPr/>
        </p:nvSpPr>
        <p:spPr>
          <a:xfrm>
            <a:off x="1221884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90000" wrap="square" tIns="18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5"/>
          <p:cNvSpPr/>
          <p:nvPr/>
        </p:nvSpPr>
        <p:spPr>
          <a:xfrm>
            <a:off x="2920932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3 696 000 cm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5"/>
          <p:cNvSpPr/>
          <p:nvPr/>
        </p:nvSpPr>
        <p:spPr>
          <a:xfrm>
            <a:off x="4619980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0" spcFirstLastPara="1" rIns="90000" wrap="square" tIns="18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95"/>
          <p:cNvSpPr/>
          <p:nvPr/>
        </p:nvSpPr>
        <p:spPr>
          <a:xfrm>
            <a:off x="6319028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313 500 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95"/>
          <p:cNvSpPr/>
          <p:nvPr/>
        </p:nvSpPr>
        <p:spPr>
          <a:xfrm>
            <a:off x="324000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560 000 mm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95"/>
          <p:cNvSpPr/>
          <p:nvPr/>
        </p:nvSpPr>
        <p:spPr>
          <a:xfrm>
            <a:off x="2023048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90000" wrap="square" tIns="18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km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5"/>
          <p:cNvSpPr/>
          <p:nvPr/>
        </p:nvSpPr>
        <p:spPr>
          <a:xfrm>
            <a:off x="3722096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2960 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5"/>
          <p:cNvSpPr/>
          <p:nvPr/>
        </p:nvSpPr>
        <p:spPr>
          <a:xfrm>
            <a:off x="5421144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90000" wrap="square" tIns="18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5"/>
          <p:cNvSpPr/>
          <p:nvPr/>
        </p:nvSpPr>
        <p:spPr>
          <a:xfrm>
            <a:off x="7120192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312.815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km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5"/>
          <p:cNvSpPr txBox="1"/>
          <p:nvPr/>
        </p:nvSpPr>
        <p:spPr>
          <a:xfrm>
            <a:off x="324000" y="16200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96"/>
          <p:cNvSpPr txBox="1"/>
          <p:nvPr>
            <p:ph idx="1" type="body"/>
          </p:nvPr>
        </p:nvSpPr>
        <p:spPr>
          <a:xfrm>
            <a:off x="324000" y="759300"/>
            <a:ext cx="8237700" cy="7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Complete the addition pyramids.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Each brick is the sum of the 2 bricks below it. </a:t>
            </a:r>
            <a:endParaRPr sz="2000"/>
          </a:p>
        </p:txBody>
      </p:sp>
      <p:sp>
        <p:nvSpPr>
          <p:cNvPr id="1354" name="Google Shape;1354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grpSp>
        <p:nvGrpSpPr>
          <p:cNvPr id="1355" name="Google Shape;1355;p96"/>
          <p:cNvGrpSpPr/>
          <p:nvPr/>
        </p:nvGrpSpPr>
        <p:grpSpPr>
          <a:xfrm>
            <a:off x="400202" y="1924801"/>
            <a:ext cx="3002893" cy="969975"/>
            <a:chOff x="400200" y="1620000"/>
            <a:chExt cx="2958807" cy="969975"/>
          </a:xfrm>
        </p:grpSpPr>
        <p:sp>
          <p:nvSpPr>
            <p:cNvPr id="1356" name="Google Shape;1356;p96"/>
            <p:cNvSpPr/>
            <p:nvPr/>
          </p:nvSpPr>
          <p:spPr>
            <a:xfrm>
              <a:off x="400200" y="2266575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3.9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7" name="Google Shape;1357;p96"/>
            <p:cNvSpPr/>
            <p:nvPr/>
          </p:nvSpPr>
          <p:spPr>
            <a:xfrm>
              <a:off x="1386403" y="2266575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8" name="Google Shape;1358;p96"/>
            <p:cNvSpPr/>
            <p:nvPr/>
          </p:nvSpPr>
          <p:spPr>
            <a:xfrm>
              <a:off x="893302" y="1943288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5.16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59" name="Google Shape;1359;p96"/>
            <p:cNvSpPr/>
            <p:nvPr/>
          </p:nvSpPr>
          <p:spPr>
            <a:xfrm>
              <a:off x="1879505" y="1943288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51.26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60" name="Google Shape;1360;p96"/>
            <p:cNvSpPr/>
            <p:nvPr/>
          </p:nvSpPr>
          <p:spPr>
            <a:xfrm>
              <a:off x="2372607" y="2266575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0.05 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96"/>
            <p:cNvSpPr/>
            <p:nvPr/>
          </p:nvSpPr>
          <p:spPr>
            <a:xfrm>
              <a:off x="1386403" y="1620000"/>
              <a:ext cx="9864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56.42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96"/>
          <p:cNvGrpSpPr/>
          <p:nvPr/>
        </p:nvGrpSpPr>
        <p:grpSpPr>
          <a:xfrm>
            <a:off x="4927835" y="1924800"/>
            <a:ext cx="3334178" cy="969975"/>
            <a:chOff x="5316500" y="1772400"/>
            <a:chExt cx="3280702" cy="969975"/>
          </a:xfrm>
        </p:grpSpPr>
        <p:sp>
          <p:nvSpPr>
            <p:cNvPr id="1363" name="Google Shape;1363;p96"/>
            <p:cNvSpPr/>
            <p:nvPr/>
          </p:nvSpPr>
          <p:spPr>
            <a:xfrm>
              <a:off x="5316500" y="241897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10.4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4" name="Google Shape;1364;p96"/>
            <p:cNvSpPr/>
            <p:nvPr/>
          </p:nvSpPr>
          <p:spPr>
            <a:xfrm>
              <a:off x="6409951" y="241897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521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65" name="Google Shape;1365;p96"/>
            <p:cNvSpPr/>
            <p:nvPr/>
          </p:nvSpPr>
          <p:spPr>
            <a:xfrm>
              <a:off x="5863226" y="2095688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15.61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96"/>
            <p:cNvSpPr/>
            <p:nvPr/>
          </p:nvSpPr>
          <p:spPr>
            <a:xfrm>
              <a:off x="6956680" y="2095700"/>
              <a:ext cx="12666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248.21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67" name="Google Shape;1367;p96"/>
            <p:cNvSpPr/>
            <p:nvPr/>
          </p:nvSpPr>
          <p:spPr>
            <a:xfrm>
              <a:off x="7503402" y="241897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0.243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8" name="Google Shape;1368;p96"/>
            <p:cNvSpPr/>
            <p:nvPr/>
          </p:nvSpPr>
          <p:spPr>
            <a:xfrm>
              <a:off x="6409941" y="1772400"/>
              <a:ext cx="1180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263.82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369" name="Google Shape;1369;p96"/>
          <p:cNvGrpSpPr/>
          <p:nvPr/>
        </p:nvGrpSpPr>
        <p:grpSpPr>
          <a:xfrm>
            <a:off x="400200" y="3502425"/>
            <a:ext cx="3280702" cy="969975"/>
            <a:chOff x="324000" y="3502425"/>
            <a:chExt cx="3280702" cy="969975"/>
          </a:xfrm>
        </p:grpSpPr>
        <p:sp>
          <p:nvSpPr>
            <p:cNvPr id="1370" name="Google Shape;1370;p96"/>
            <p:cNvSpPr/>
            <p:nvPr/>
          </p:nvSpPr>
          <p:spPr>
            <a:xfrm>
              <a:off x="324000" y="4149000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2.201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1" name="Google Shape;1371;p96"/>
            <p:cNvSpPr/>
            <p:nvPr/>
          </p:nvSpPr>
          <p:spPr>
            <a:xfrm>
              <a:off x="1417451" y="4149000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156.2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72" name="Google Shape;1372;p96"/>
            <p:cNvSpPr/>
            <p:nvPr/>
          </p:nvSpPr>
          <p:spPr>
            <a:xfrm>
              <a:off x="870726" y="3825713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376.3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3" name="Google Shape;1373;p96"/>
            <p:cNvSpPr/>
            <p:nvPr/>
          </p:nvSpPr>
          <p:spPr>
            <a:xfrm>
              <a:off x="1964177" y="3825713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57.76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96"/>
            <p:cNvSpPr/>
            <p:nvPr/>
          </p:nvSpPr>
          <p:spPr>
            <a:xfrm>
              <a:off x="2510902" y="4149000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56.198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75" name="Google Shape;1375;p96"/>
            <p:cNvSpPr/>
            <p:nvPr/>
          </p:nvSpPr>
          <p:spPr>
            <a:xfrm>
              <a:off x="1417451" y="3502425"/>
              <a:ext cx="10938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61.523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376" name="Google Shape;1376;p96"/>
          <p:cNvGrpSpPr/>
          <p:nvPr/>
        </p:nvGrpSpPr>
        <p:grpSpPr>
          <a:xfrm>
            <a:off x="4927750" y="3502425"/>
            <a:ext cx="3497575" cy="969975"/>
            <a:chOff x="4927750" y="3610550"/>
            <a:chExt cx="3497575" cy="969975"/>
          </a:xfrm>
        </p:grpSpPr>
        <p:sp>
          <p:nvSpPr>
            <p:cNvPr id="1377" name="Google Shape;1377;p96"/>
            <p:cNvSpPr/>
            <p:nvPr/>
          </p:nvSpPr>
          <p:spPr>
            <a:xfrm>
              <a:off x="4927750" y="4257125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70.3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78" name="Google Shape;1378;p96"/>
            <p:cNvSpPr/>
            <p:nvPr/>
          </p:nvSpPr>
          <p:spPr>
            <a:xfrm>
              <a:off x="6093488" y="4257125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5780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96"/>
            <p:cNvSpPr/>
            <p:nvPr/>
          </p:nvSpPr>
          <p:spPr>
            <a:xfrm>
              <a:off x="5510619" y="3933838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12 810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0" name="Google Shape;1380;p96"/>
            <p:cNvSpPr/>
            <p:nvPr/>
          </p:nvSpPr>
          <p:spPr>
            <a:xfrm>
              <a:off x="6676356" y="3933838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0.524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km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81" name="Google Shape;1381;p96"/>
            <p:cNvSpPr/>
            <p:nvPr/>
          </p:nvSpPr>
          <p:spPr>
            <a:xfrm>
              <a:off x="7259225" y="4257125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466.2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96"/>
            <p:cNvSpPr/>
            <p:nvPr/>
          </p:nvSpPr>
          <p:spPr>
            <a:xfrm>
              <a:off x="6093488" y="3610550"/>
              <a:ext cx="1166100" cy="3234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652.1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383" name="Google Shape;1383;p96"/>
          <p:cNvSpPr txBox="1"/>
          <p:nvPr/>
        </p:nvSpPr>
        <p:spPr>
          <a:xfrm>
            <a:off x="324000" y="16200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96"/>
          <p:cNvSpPr txBox="1"/>
          <p:nvPr/>
        </p:nvSpPr>
        <p:spPr>
          <a:xfrm>
            <a:off x="4824425" y="16200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96"/>
          <p:cNvSpPr txBox="1"/>
          <p:nvPr/>
        </p:nvSpPr>
        <p:spPr>
          <a:xfrm>
            <a:off x="324000" y="32718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96"/>
          <p:cNvSpPr txBox="1"/>
          <p:nvPr/>
        </p:nvSpPr>
        <p:spPr>
          <a:xfrm>
            <a:off x="4824425" y="32718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97"/>
          <p:cNvSpPr txBox="1"/>
          <p:nvPr>
            <p:ph idx="1" type="body"/>
          </p:nvPr>
        </p:nvSpPr>
        <p:spPr>
          <a:xfrm>
            <a:off x="324000" y="759300"/>
            <a:ext cx="8237700" cy="7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the addition pyramids.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Each brick is the sum of the 2 bricks below it. </a:t>
            </a:r>
            <a:endParaRPr/>
          </a:p>
        </p:txBody>
      </p:sp>
      <p:sp>
        <p:nvSpPr>
          <p:cNvPr id="1392" name="Google Shape;1392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Working with values not measured in the same unit</a:t>
            </a:r>
            <a:endParaRPr/>
          </a:p>
        </p:txBody>
      </p:sp>
      <p:sp>
        <p:nvSpPr>
          <p:cNvPr id="1393" name="Google Shape;1393;p97"/>
          <p:cNvSpPr/>
          <p:nvPr/>
        </p:nvSpPr>
        <p:spPr>
          <a:xfrm>
            <a:off x="2071408" y="271792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71.52 km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97"/>
          <p:cNvSpPr/>
          <p:nvPr/>
        </p:nvSpPr>
        <p:spPr>
          <a:xfrm>
            <a:off x="3770456" y="271792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40 605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5" name="Google Shape;1395;p97"/>
          <p:cNvSpPr/>
          <p:nvPr/>
        </p:nvSpPr>
        <p:spPr>
          <a:xfrm>
            <a:off x="2920932" y="229993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11 212 500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6" name="Google Shape;1396;p97"/>
          <p:cNvSpPr/>
          <p:nvPr/>
        </p:nvSpPr>
        <p:spPr>
          <a:xfrm>
            <a:off x="4619980" y="229993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357.75 km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97"/>
          <p:cNvSpPr/>
          <p:nvPr/>
        </p:nvSpPr>
        <p:spPr>
          <a:xfrm>
            <a:off x="5469504" y="2717929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31 714 500 cm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97"/>
          <p:cNvSpPr/>
          <p:nvPr/>
        </p:nvSpPr>
        <p:spPr>
          <a:xfrm>
            <a:off x="3484795" y="1881950"/>
            <a:ext cx="22746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469 875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9" name="Google Shape;1399;p97"/>
          <p:cNvSpPr/>
          <p:nvPr/>
        </p:nvSpPr>
        <p:spPr>
          <a:xfrm>
            <a:off x="1221884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34 560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0" name="Google Shape;1400;p97"/>
          <p:cNvSpPr/>
          <p:nvPr/>
        </p:nvSpPr>
        <p:spPr>
          <a:xfrm>
            <a:off x="2920932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3 696 000 cm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97"/>
          <p:cNvSpPr/>
          <p:nvPr/>
        </p:nvSpPr>
        <p:spPr>
          <a:xfrm>
            <a:off x="4619980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3 645 000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2" name="Google Shape;1402;p97"/>
          <p:cNvSpPr/>
          <p:nvPr/>
        </p:nvSpPr>
        <p:spPr>
          <a:xfrm>
            <a:off x="6319028" y="3137232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313 500 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7"/>
          <p:cNvSpPr/>
          <p:nvPr/>
        </p:nvSpPr>
        <p:spPr>
          <a:xfrm>
            <a:off x="324000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560 000 mm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7"/>
          <p:cNvSpPr/>
          <p:nvPr/>
        </p:nvSpPr>
        <p:spPr>
          <a:xfrm>
            <a:off x="2023048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5" name="Google Shape;1405;p97"/>
          <p:cNvSpPr/>
          <p:nvPr/>
        </p:nvSpPr>
        <p:spPr>
          <a:xfrm>
            <a:off x="3722096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2960 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97"/>
          <p:cNvSpPr/>
          <p:nvPr/>
        </p:nvSpPr>
        <p:spPr>
          <a:xfrm>
            <a:off x="5421144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68 500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7" name="Google Shape;1407;p97"/>
          <p:cNvSpPr/>
          <p:nvPr/>
        </p:nvSpPr>
        <p:spPr>
          <a:xfrm>
            <a:off x="7120192" y="3556525"/>
            <a:ext cx="1699800" cy="418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312.815 km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7"/>
          <p:cNvSpPr txBox="1"/>
          <p:nvPr/>
        </p:nvSpPr>
        <p:spPr>
          <a:xfrm>
            <a:off x="324000" y="162000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subtraction can be rewritten as an addition using additive inverses.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working with decimals, the decimal point helps to ensure digits with the same place value are combined.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Numbers in different units must be changed into the same units before combining.</a:t>
            </a:r>
            <a:endParaRPr/>
          </a:p>
        </p:txBody>
      </p:sp>
      <p:sp>
        <p:nvSpPr>
          <p:cNvPr id="1414" name="Google Shape;1414;p98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written addition and subtraction strategies</a:t>
            </a:r>
            <a:endParaRPr/>
          </a:p>
        </p:txBody>
      </p:sp>
      <p:pic>
        <p:nvPicPr>
          <p:cNvPr id="1415" name="Google Shape;141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5725" y="1476850"/>
            <a:ext cx="4350476" cy="1433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1" name="Google Shape;1421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