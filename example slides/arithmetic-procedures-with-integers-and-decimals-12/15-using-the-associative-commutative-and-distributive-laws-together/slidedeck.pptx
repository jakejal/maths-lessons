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BDC329-7853-43AE-9F8E-09008B8B4FAE}">
  <a:tblStyle styleId="{15BDC329-7853-43AE-9F8E-09008B8B4F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1446ae2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1446ae2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1446ae28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1446ae28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1446ae28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1446ae28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91446ae28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91446ae28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91446ae28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91446ae28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91446ae28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91446ae28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91446ae285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91446ae28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91446ae28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91446ae28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91446ae285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91446ae285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91446ae285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91446ae285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903cd63222_0_2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903cd63222_0_2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903cd632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903cd632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92244df80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92244df80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92244df80e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92244df80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92244df80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2244df80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92244df80e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92244df80e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92244df80e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92244df80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92244df80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92244df80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903cd63222_0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903cd63222_0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92244df80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92244df80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92244df80e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92244df80e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92244df80e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92244df80e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92244df80e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92244df80e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92244df80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92244df80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92244df80e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92244df80e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91446ae285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91446ae285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922af3cbd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922af3cb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922af3cbd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922af3cbd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922af3cbd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922af3cbd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903cd63222_0_3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903cd63222_0_3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90913f4b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90913f4b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922af3cbda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2922af3cbda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922af3cbda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922af3cbda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90913f4b6f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90913f4b6f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2922af3cbda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2922af3cbda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922af3cbda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922af3cbda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922af3cbda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922af3cbda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2922af3cbda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2922af3cbda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3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3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3.png"/><Relationship Id="rId4" Type="http://schemas.openxmlformats.org/officeDocument/2006/relationships/image" Target="../media/image28.png"/><Relationship Id="rId11" Type="http://schemas.openxmlformats.org/officeDocument/2006/relationships/image" Target="../media/image14.png"/><Relationship Id="rId10" Type="http://schemas.openxmlformats.org/officeDocument/2006/relationships/image" Target="../media/image41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associative, commutative and distributive laws together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associative, distributive and commutative laws to flexibly and efficiently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793075"/>
            <a:ext cx="81138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operation is commutative if the values it is operating on can be written in either order without changing the calculation.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7"/>
          <p:cNvSpPr txBox="1"/>
          <p:nvPr/>
        </p:nvSpPr>
        <p:spPr>
          <a:xfrm>
            <a:off x="324000" y="1783575"/>
            <a:ext cx="8195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associative law states that a repeated application of the operation produces the same result regardless of how pairs of values are grouped.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group using brackets.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324001" y="3107250"/>
            <a:ext cx="830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distributive law s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ays that multiplying a sum is the same as multiplying each addend and summing the result.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657600"/>
            <a:ext cx="75198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associative, commutative and distributive laws together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44" y="205209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782" name="Google Shape;782;p69"/>
          <p:cNvSpPr txBox="1"/>
          <p:nvPr/>
        </p:nvSpPr>
        <p:spPr>
          <a:xfrm>
            <a:off x="324000" y="1010875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Commutative 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xamples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+ 4 = 4 + 3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6 = 6 ×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9"/>
          <p:cNvSpPr txBox="1"/>
          <p:nvPr/>
        </p:nvSpPr>
        <p:spPr>
          <a:xfrm>
            <a:off x="4972566" y="1025745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Associative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examples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+ 3) + 4 = 2 + (3 + 4)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(6 × 4) = (2 × 6) ×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9"/>
          <p:cNvSpPr txBox="1"/>
          <p:nvPr/>
        </p:nvSpPr>
        <p:spPr>
          <a:xfrm>
            <a:off x="370225" y="2732813"/>
            <a:ext cx="81138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Subtraction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division are not commutative or associative.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9"/>
          <p:cNvSpPr txBox="1"/>
          <p:nvPr/>
        </p:nvSpPr>
        <p:spPr>
          <a:xfrm>
            <a:off x="64450" y="3068450"/>
            <a:ext cx="3649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ommutative non examples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10 − 2 ≠ 2 − 10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÷ 4 ≠ 4 ÷ 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4747802" y="3068450"/>
            <a:ext cx="3649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Associative non examples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10 − (2 − 1) ≠ (10 − 2) − 1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÷ (8 ÷ 4) ≠ (24 ÷ 8) ÷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446425" y="666288"/>
            <a:ext cx="81138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Addition and multiplication are commutative and associative.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793" name="Google Shape;793;p70"/>
          <p:cNvSpPr txBox="1"/>
          <p:nvPr/>
        </p:nvSpPr>
        <p:spPr>
          <a:xfrm>
            <a:off x="446426" y="2571750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0"/>
          <p:cNvSpPr txBox="1"/>
          <p:nvPr/>
        </p:nvSpPr>
        <p:spPr>
          <a:xfrm>
            <a:off x="472599" y="3175550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70"/>
          <p:cNvSpPr txBox="1"/>
          <p:nvPr/>
        </p:nvSpPr>
        <p:spPr>
          <a:xfrm>
            <a:off x="2315949" y="3156047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 + 30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/>
          <p:nvPr/>
        </p:nvSpPr>
        <p:spPr>
          <a:xfrm>
            <a:off x="615750" y="3051625"/>
            <a:ext cx="621725" cy="17060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97" name="Google Shape;797;p70"/>
          <p:cNvSpPr/>
          <p:nvPr/>
        </p:nvSpPr>
        <p:spPr>
          <a:xfrm>
            <a:off x="618775" y="2982750"/>
            <a:ext cx="1102205" cy="25433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98" name="Google Shape;798;p70"/>
          <p:cNvSpPr txBox="1"/>
          <p:nvPr/>
        </p:nvSpPr>
        <p:spPr>
          <a:xfrm>
            <a:off x="2007400" y="31147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2315949" y="3556800"/>
            <a:ext cx="59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70"/>
          <p:cNvSpPr txBox="1"/>
          <p:nvPr/>
        </p:nvSpPr>
        <p:spPr>
          <a:xfrm>
            <a:off x="2035622" y="34957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324000" y="772300"/>
            <a:ext cx="8018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distributive law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says that multiplying a number by a group of numbers added together is the same as doing each multiplication separately. 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807" name="Google Shape;807;p71"/>
          <p:cNvSpPr txBox="1"/>
          <p:nvPr/>
        </p:nvSpPr>
        <p:spPr>
          <a:xfrm>
            <a:off x="324000" y="772300"/>
            <a:ext cx="8018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distributive law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says that multiplying a number by a group of numbers added together is the same as doing each multiplication separately.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1"/>
          <p:cNvSpPr txBox="1"/>
          <p:nvPr/>
        </p:nvSpPr>
        <p:spPr>
          <a:xfrm>
            <a:off x="446426" y="2571750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/>
        </p:nvSpPr>
        <p:spPr>
          <a:xfrm>
            <a:off x="472599" y="3175550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1"/>
          <p:cNvSpPr txBox="1"/>
          <p:nvPr/>
        </p:nvSpPr>
        <p:spPr>
          <a:xfrm>
            <a:off x="2315949" y="3156047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 + 30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1"/>
          <p:cNvSpPr/>
          <p:nvPr/>
        </p:nvSpPr>
        <p:spPr>
          <a:xfrm>
            <a:off x="615750" y="3051625"/>
            <a:ext cx="621725" cy="17060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12" name="Google Shape;812;p71"/>
          <p:cNvSpPr/>
          <p:nvPr/>
        </p:nvSpPr>
        <p:spPr>
          <a:xfrm>
            <a:off x="618775" y="2982750"/>
            <a:ext cx="1102205" cy="25433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13" name="Google Shape;813;p71"/>
          <p:cNvSpPr txBox="1"/>
          <p:nvPr/>
        </p:nvSpPr>
        <p:spPr>
          <a:xfrm>
            <a:off x="2007400" y="31147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1"/>
          <p:cNvSpPr txBox="1"/>
          <p:nvPr/>
        </p:nvSpPr>
        <p:spPr>
          <a:xfrm>
            <a:off x="2315949" y="3556800"/>
            <a:ext cx="59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1"/>
          <p:cNvSpPr txBox="1"/>
          <p:nvPr/>
        </p:nvSpPr>
        <p:spPr>
          <a:xfrm>
            <a:off x="2035622" y="34957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1"/>
          <p:cNvSpPr txBox="1"/>
          <p:nvPr/>
        </p:nvSpPr>
        <p:spPr>
          <a:xfrm>
            <a:off x="4027200" y="1929227"/>
            <a:ext cx="4410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Incorporating the associative law with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addition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we could also rewrite the calculation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1"/>
          <p:cNvSpPr txBox="1"/>
          <p:nvPr/>
        </p:nvSpPr>
        <p:spPr>
          <a:xfrm>
            <a:off x="4027200" y="3156050"/>
            <a:ext cx="1747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1"/>
          <p:cNvSpPr/>
          <p:nvPr/>
        </p:nvSpPr>
        <p:spPr>
          <a:xfrm>
            <a:off x="5774400" y="3024613"/>
            <a:ext cx="621725" cy="17060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19" name="Google Shape;819;p71"/>
          <p:cNvSpPr/>
          <p:nvPr/>
        </p:nvSpPr>
        <p:spPr>
          <a:xfrm>
            <a:off x="5774400" y="2982750"/>
            <a:ext cx="1037595" cy="17060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20" name="Google Shape;820;p71"/>
          <p:cNvSpPr/>
          <p:nvPr/>
        </p:nvSpPr>
        <p:spPr>
          <a:xfrm>
            <a:off x="5774400" y="2940888"/>
            <a:ext cx="1532375" cy="25433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21" name="Google Shape;821;p71"/>
          <p:cNvSpPr txBox="1"/>
          <p:nvPr/>
        </p:nvSpPr>
        <p:spPr>
          <a:xfrm>
            <a:off x="5612575" y="3082050"/>
            <a:ext cx="23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× ( 10 + 2 + 3 )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1"/>
          <p:cNvSpPr txBox="1"/>
          <p:nvPr/>
        </p:nvSpPr>
        <p:spPr>
          <a:xfrm>
            <a:off x="5433975" y="3549150"/>
            <a:ext cx="23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100 + 20 + 30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1"/>
          <p:cNvSpPr txBox="1"/>
          <p:nvPr/>
        </p:nvSpPr>
        <p:spPr>
          <a:xfrm>
            <a:off x="5795482" y="4058958"/>
            <a:ext cx="59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/>
        </p:nvSpPr>
        <p:spPr>
          <a:xfrm>
            <a:off x="5535655" y="4058958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5" name="Google Shape;825;p71"/>
          <p:cNvGrpSpPr/>
          <p:nvPr/>
        </p:nvGrpSpPr>
        <p:grpSpPr>
          <a:xfrm>
            <a:off x="4671450" y="3412850"/>
            <a:ext cx="2336958" cy="29583"/>
            <a:chOff x="4671450" y="3412850"/>
            <a:chExt cx="2336958" cy="29583"/>
          </a:xfrm>
        </p:grpSpPr>
        <p:cxnSp>
          <p:nvCxnSpPr>
            <p:cNvPr id="826" name="Google Shape;826;p71"/>
            <p:cNvCxnSpPr/>
            <p:nvPr/>
          </p:nvCxnSpPr>
          <p:spPr>
            <a:xfrm>
              <a:off x="4671450" y="3412850"/>
              <a:ext cx="2562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71"/>
            <p:cNvCxnSpPr/>
            <p:nvPr/>
          </p:nvCxnSpPr>
          <p:spPr>
            <a:xfrm>
              <a:off x="6340308" y="3442433"/>
              <a:ext cx="6681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833" name="Google Shape;833;p72"/>
          <p:cNvSpPr txBox="1"/>
          <p:nvPr/>
        </p:nvSpPr>
        <p:spPr>
          <a:xfrm>
            <a:off x="446426" y="2571750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2"/>
          <p:cNvSpPr txBox="1"/>
          <p:nvPr/>
        </p:nvSpPr>
        <p:spPr>
          <a:xfrm>
            <a:off x="472599" y="3175550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2"/>
          <p:cNvSpPr txBox="1"/>
          <p:nvPr/>
        </p:nvSpPr>
        <p:spPr>
          <a:xfrm>
            <a:off x="2315949" y="3156047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 + 30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2"/>
          <p:cNvSpPr/>
          <p:nvPr/>
        </p:nvSpPr>
        <p:spPr>
          <a:xfrm>
            <a:off x="615750" y="3051625"/>
            <a:ext cx="621725" cy="17060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37" name="Google Shape;837;p72"/>
          <p:cNvSpPr/>
          <p:nvPr/>
        </p:nvSpPr>
        <p:spPr>
          <a:xfrm>
            <a:off x="618775" y="2982750"/>
            <a:ext cx="1102205" cy="25433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38" name="Google Shape;838;p72"/>
          <p:cNvSpPr txBox="1"/>
          <p:nvPr/>
        </p:nvSpPr>
        <p:spPr>
          <a:xfrm>
            <a:off x="2007400" y="31147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2"/>
          <p:cNvSpPr txBox="1"/>
          <p:nvPr/>
        </p:nvSpPr>
        <p:spPr>
          <a:xfrm>
            <a:off x="2035622" y="3495775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2"/>
          <p:cNvSpPr txBox="1"/>
          <p:nvPr/>
        </p:nvSpPr>
        <p:spPr>
          <a:xfrm>
            <a:off x="4027200" y="1929227"/>
            <a:ext cx="4410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Incorporating the associative law with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addition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we could also rewrite the calculation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2"/>
          <p:cNvSpPr txBox="1"/>
          <p:nvPr/>
        </p:nvSpPr>
        <p:spPr>
          <a:xfrm>
            <a:off x="4027200" y="3156050"/>
            <a:ext cx="1747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2"/>
          <p:cNvSpPr/>
          <p:nvPr/>
        </p:nvSpPr>
        <p:spPr>
          <a:xfrm>
            <a:off x="5774400" y="3024613"/>
            <a:ext cx="621725" cy="17060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43" name="Google Shape;843;p72"/>
          <p:cNvSpPr/>
          <p:nvPr/>
        </p:nvSpPr>
        <p:spPr>
          <a:xfrm>
            <a:off x="5774400" y="2982750"/>
            <a:ext cx="1037595" cy="17060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44" name="Google Shape;844;p72"/>
          <p:cNvSpPr/>
          <p:nvPr/>
        </p:nvSpPr>
        <p:spPr>
          <a:xfrm>
            <a:off x="5774400" y="2940888"/>
            <a:ext cx="1532375" cy="254330"/>
          </a:xfrm>
          <a:custGeom>
            <a:rect b="b" l="l" r="r" t="t"/>
            <a:pathLst>
              <a:path extrusionOk="0" h="6824" w="26000">
                <a:moveTo>
                  <a:pt x="0" y="6824"/>
                </a:moveTo>
                <a:cubicBezTo>
                  <a:pt x="5560" y="152"/>
                  <a:pt x="26000" y="-3556"/>
                  <a:pt x="26000" y="5129"/>
                </a:cubicBezTo>
              </a:path>
            </a:pathLst>
          </a:cu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45" name="Google Shape;845;p72"/>
          <p:cNvSpPr txBox="1"/>
          <p:nvPr/>
        </p:nvSpPr>
        <p:spPr>
          <a:xfrm>
            <a:off x="5612575" y="3082050"/>
            <a:ext cx="23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× ( 10 + 2 + 3 )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6" name="Google Shape;846;p72"/>
          <p:cNvCxnSpPr/>
          <p:nvPr/>
        </p:nvCxnSpPr>
        <p:spPr>
          <a:xfrm>
            <a:off x="4671450" y="3412850"/>
            <a:ext cx="2562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72"/>
          <p:cNvCxnSpPr/>
          <p:nvPr/>
        </p:nvCxnSpPr>
        <p:spPr>
          <a:xfrm>
            <a:off x="6340308" y="3442433"/>
            <a:ext cx="668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72"/>
          <p:cNvSpPr txBox="1"/>
          <p:nvPr/>
        </p:nvSpPr>
        <p:spPr>
          <a:xfrm>
            <a:off x="324000" y="773250"/>
            <a:ext cx="8018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Can you find another way to rewrite the calculation of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× ( 12 + 3 ) using the distributive and associative law with addition?</a:t>
            </a:r>
            <a:endParaRPr sz="19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2"/>
          <p:cNvSpPr txBox="1"/>
          <p:nvPr/>
        </p:nvSpPr>
        <p:spPr>
          <a:xfrm>
            <a:off x="2315949" y="3556800"/>
            <a:ext cx="59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2"/>
          <p:cNvSpPr txBox="1"/>
          <p:nvPr/>
        </p:nvSpPr>
        <p:spPr>
          <a:xfrm>
            <a:off x="5433975" y="3549150"/>
            <a:ext cx="23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100 + 20 + 30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>
            <a:off x="5795482" y="4058958"/>
            <a:ext cx="59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2"/>
          <p:cNvSpPr txBox="1"/>
          <p:nvPr/>
        </p:nvSpPr>
        <p:spPr>
          <a:xfrm>
            <a:off x="5535655" y="4058958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3"/>
          <p:cNvSpPr txBox="1"/>
          <p:nvPr>
            <p:ph idx="1" type="body"/>
          </p:nvPr>
        </p:nvSpPr>
        <p:spPr>
          <a:xfrm>
            <a:off x="324000" y="772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82828"/>
                </a:solidFill>
              </a:rPr>
              <a:t>Can you find another way to rewrite the calculation of </a:t>
            </a:r>
            <a:r>
              <a:rPr lang="en-GB" sz="1900"/>
              <a:t>10 × ( 12 + 3 ) using the distributive and associative law with addition?</a:t>
            </a:r>
            <a:endParaRPr/>
          </a:p>
        </p:txBody>
      </p:sp>
      <p:sp>
        <p:nvSpPr>
          <p:cNvPr id="858" name="Google Shape;85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859" name="Google Shape;859;p73"/>
          <p:cNvSpPr txBox="1"/>
          <p:nvPr/>
        </p:nvSpPr>
        <p:spPr>
          <a:xfrm>
            <a:off x="4187800" y="2083925"/>
            <a:ext cx="1747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3"/>
          <p:cNvSpPr txBox="1"/>
          <p:nvPr/>
        </p:nvSpPr>
        <p:spPr>
          <a:xfrm>
            <a:off x="5773175" y="2009925"/>
            <a:ext cx="23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× ( 10 + 2 + 3 )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3"/>
          <p:cNvSpPr txBox="1"/>
          <p:nvPr/>
        </p:nvSpPr>
        <p:spPr>
          <a:xfrm>
            <a:off x="414750" y="1982275"/>
            <a:ext cx="3065400" cy="25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There’s an </a:t>
            </a: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infinite</a:t>
            </a: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number of different ways!</a:t>
            </a:r>
            <a:endParaRPr sz="19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From all these different calculations, there are some which are easier to work out than others.</a:t>
            </a:r>
            <a:endParaRPr sz="19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3"/>
          <p:cNvSpPr txBox="1"/>
          <p:nvPr/>
        </p:nvSpPr>
        <p:spPr>
          <a:xfrm>
            <a:off x="4187800" y="2569600"/>
            <a:ext cx="1747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3"/>
          <p:cNvSpPr txBox="1"/>
          <p:nvPr/>
        </p:nvSpPr>
        <p:spPr>
          <a:xfrm>
            <a:off x="5773175" y="2495600"/>
            <a:ext cx="23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× ( 15 + 0 )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3"/>
          <p:cNvSpPr txBox="1"/>
          <p:nvPr/>
        </p:nvSpPr>
        <p:spPr>
          <a:xfrm>
            <a:off x="4187800" y="3055275"/>
            <a:ext cx="1747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3"/>
          <p:cNvSpPr txBox="1"/>
          <p:nvPr/>
        </p:nvSpPr>
        <p:spPr>
          <a:xfrm>
            <a:off x="5773175" y="2981275"/>
            <a:ext cx="23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× ( 17 − 2 )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3"/>
          <p:cNvSpPr txBox="1"/>
          <p:nvPr/>
        </p:nvSpPr>
        <p:spPr>
          <a:xfrm>
            <a:off x="4187800" y="3616475"/>
            <a:ext cx="1747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× ( 12 + 3 )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3"/>
          <p:cNvSpPr txBox="1"/>
          <p:nvPr/>
        </p:nvSpPr>
        <p:spPr>
          <a:xfrm>
            <a:off x="5773175" y="3542475"/>
            <a:ext cx="23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× ( 9 + 1 + 2 + 3 )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873" name="Google Shape;873;p74"/>
          <p:cNvSpPr txBox="1"/>
          <p:nvPr/>
        </p:nvSpPr>
        <p:spPr>
          <a:xfrm>
            <a:off x="310650" y="759300"/>
            <a:ext cx="8018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Here is another example of the distributive law using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common factors.</a:t>
            </a:r>
            <a:endParaRPr sz="19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4"/>
          <p:cNvSpPr txBox="1"/>
          <p:nvPr/>
        </p:nvSpPr>
        <p:spPr>
          <a:xfrm>
            <a:off x="4395224" y="2669000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4"/>
          <p:cNvSpPr txBox="1"/>
          <p:nvPr/>
        </p:nvSpPr>
        <p:spPr>
          <a:xfrm>
            <a:off x="5885750" y="266900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 × 14 + 4 × 2 ×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6" name="Google Shape;876;p74"/>
          <p:cNvCxnSpPr/>
          <p:nvPr/>
        </p:nvCxnSpPr>
        <p:spPr>
          <a:xfrm>
            <a:off x="4308475" y="2932100"/>
            <a:ext cx="233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74"/>
          <p:cNvCxnSpPr/>
          <p:nvPr/>
        </p:nvCxnSpPr>
        <p:spPr>
          <a:xfrm>
            <a:off x="5202525" y="2928600"/>
            <a:ext cx="2562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74"/>
          <p:cNvCxnSpPr/>
          <p:nvPr/>
        </p:nvCxnSpPr>
        <p:spPr>
          <a:xfrm>
            <a:off x="6089875" y="2926350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74"/>
          <p:cNvCxnSpPr/>
          <p:nvPr/>
        </p:nvCxnSpPr>
        <p:spPr>
          <a:xfrm>
            <a:off x="7328850" y="2929850"/>
            <a:ext cx="524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74"/>
          <p:cNvSpPr txBox="1"/>
          <p:nvPr/>
        </p:nvSpPr>
        <p:spPr>
          <a:xfrm>
            <a:off x="5885750" y="312295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28 + 4 ×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5885750" y="358015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5885750" y="4014150"/>
            <a:ext cx="114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4"/>
          <p:cNvSpPr txBox="1"/>
          <p:nvPr/>
        </p:nvSpPr>
        <p:spPr>
          <a:xfrm>
            <a:off x="4384675" y="1520716"/>
            <a:ext cx="42198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Incorporating the associative law with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we could also rewrite the calculation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4"/>
          <p:cNvSpPr txBox="1"/>
          <p:nvPr/>
        </p:nvSpPr>
        <p:spPr>
          <a:xfrm>
            <a:off x="426374" y="2764709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4"/>
          <p:cNvSpPr txBox="1"/>
          <p:nvPr/>
        </p:nvSpPr>
        <p:spPr>
          <a:xfrm>
            <a:off x="2269724" y="2745206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( 14 + 6 )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4"/>
          <p:cNvSpPr txBox="1"/>
          <p:nvPr/>
        </p:nvSpPr>
        <p:spPr>
          <a:xfrm>
            <a:off x="1961175" y="2703934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2269725" y="3145959"/>
            <a:ext cx="82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1989397" y="3084934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4"/>
          <p:cNvSpPr txBox="1"/>
          <p:nvPr/>
        </p:nvSpPr>
        <p:spPr>
          <a:xfrm>
            <a:off x="2269725" y="3603159"/>
            <a:ext cx="82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1989397" y="3542134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4"/>
          <p:cNvSpPr txBox="1"/>
          <p:nvPr/>
        </p:nvSpPr>
        <p:spPr>
          <a:xfrm>
            <a:off x="426376" y="2328150"/>
            <a:ext cx="1446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897" name="Google Shape;897;p75"/>
          <p:cNvSpPr txBox="1"/>
          <p:nvPr/>
        </p:nvSpPr>
        <p:spPr>
          <a:xfrm>
            <a:off x="4395224" y="2669000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5"/>
          <p:cNvSpPr txBox="1"/>
          <p:nvPr/>
        </p:nvSpPr>
        <p:spPr>
          <a:xfrm>
            <a:off x="5885750" y="266900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 × 14 + 4 × 2 ×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9" name="Google Shape;899;p75"/>
          <p:cNvCxnSpPr/>
          <p:nvPr/>
        </p:nvCxnSpPr>
        <p:spPr>
          <a:xfrm>
            <a:off x="4308475" y="2932100"/>
            <a:ext cx="233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75"/>
          <p:cNvCxnSpPr/>
          <p:nvPr/>
        </p:nvCxnSpPr>
        <p:spPr>
          <a:xfrm>
            <a:off x="5202525" y="2928600"/>
            <a:ext cx="2562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75"/>
          <p:cNvCxnSpPr/>
          <p:nvPr/>
        </p:nvCxnSpPr>
        <p:spPr>
          <a:xfrm>
            <a:off x="6089875" y="2926350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75"/>
          <p:cNvCxnSpPr/>
          <p:nvPr/>
        </p:nvCxnSpPr>
        <p:spPr>
          <a:xfrm>
            <a:off x="7328850" y="2929850"/>
            <a:ext cx="524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75"/>
          <p:cNvSpPr txBox="1"/>
          <p:nvPr/>
        </p:nvSpPr>
        <p:spPr>
          <a:xfrm>
            <a:off x="5885750" y="312295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28 + 4 ×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5"/>
          <p:cNvSpPr txBox="1"/>
          <p:nvPr/>
        </p:nvSpPr>
        <p:spPr>
          <a:xfrm>
            <a:off x="5885750" y="358015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5"/>
          <p:cNvSpPr txBox="1"/>
          <p:nvPr/>
        </p:nvSpPr>
        <p:spPr>
          <a:xfrm>
            <a:off x="5885750" y="4014150"/>
            <a:ext cx="114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5"/>
          <p:cNvSpPr txBox="1"/>
          <p:nvPr/>
        </p:nvSpPr>
        <p:spPr>
          <a:xfrm>
            <a:off x="4384675" y="1520716"/>
            <a:ext cx="42198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Incorporating the associative law with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we could also rewrite the calculation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5"/>
          <p:cNvSpPr txBox="1"/>
          <p:nvPr/>
        </p:nvSpPr>
        <p:spPr>
          <a:xfrm>
            <a:off x="426374" y="2764709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5"/>
          <p:cNvSpPr txBox="1"/>
          <p:nvPr/>
        </p:nvSpPr>
        <p:spPr>
          <a:xfrm>
            <a:off x="2269724" y="2745206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( 14 + 6 )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5"/>
          <p:cNvSpPr txBox="1"/>
          <p:nvPr/>
        </p:nvSpPr>
        <p:spPr>
          <a:xfrm>
            <a:off x="1961175" y="2703934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5"/>
          <p:cNvSpPr txBox="1"/>
          <p:nvPr/>
        </p:nvSpPr>
        <p:spPr>
          <a:xfrm>
            <a:off x="2269725" y="3145959"/>
            <a:ext cx="82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5"/>
          <p:cNvSpPr txBox="1"/>
          <p:nvPr/>
        </p:nvSpPr>
        <p:spPr>
          <a:xfrm>
            <a:off x="1989397" y="3084934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5"/>
          <p:cNvSpPr txBox="1"/>
          <p:nvPr/>
        </p:nvSpPr>
        <p:spPr>
          <a:xfrm>
            <a:off x="2269725" y="3603159"/>
            <a:ext cx="82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5"/>
          <p:cNvSpPr txBox="1"/>
          <p:nvPr/>
        </p:nvSpPr>
        <p:spPr>
          <a:xfrm>
            <a:off x="1989397" y="3542134"/>
            <a:ext cx="37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5"/>
          <p:cNvSpPr txBox="1"/>
          <p:nvPr/>
        </p:nvSpPr>
        <p:spPr>
          <a:xfrm>
            <a:off x="307800" y="772305"/>
            <a:ext cx="80244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Can you find another way to rewrite the calculation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14 + 8 × 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common factors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a combination of laws?</a:t>
            </a:r>
            <a:endParaRPr sz="19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920" name="Google Shape;920;p76"/>
          <p:cNvSpPr txBox="1"/>
          <p:nvPr/>
        </p:nvSpPr>
        <p:spPr>
          <a:xfrm>
            <a:off x="643350" y="1982275"/>
            <a:ext cx="3065400" cy="25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There’s an infinite number of different ways!</a:t>
            </a:r>
            <a:endParaRPr sz="19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From all these different calculations, there are some which are easier to work out than others.</a:t>
            </a:r>
            <a:endParaRPr sz="19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6"/>
          <p:cNvSpPr txBox="1"/>
          <p:nvPr/>
        </p:nvSpPr>
        <p:spPr>
          <a:xfrm>
            <a:off x="4497650" y="2005625"/>
            <a:ext cx="1870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6"/>
          <p:cNvSpPr txBox="1"/>
          <p:nvPr/>
        </p:nvSpPr>
        <p:spPr>
          <a:xfrm>
            <a:off x="5988175" y="2005625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 × 7 + 8 × 2 ×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6"/>
          <p:cNvSpPr txBox="1"/>
          <p:nvPr/>
        </p:nvSpPr>
        <p:spPr>
          <a:xfrm>
            <a:off x="5988175" y="244800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7 + 16 ×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6"/>
          <p:cNvSpPr txBox="1"/>
          <p:nvPr/>
        </p:nvSpPr>
        <p:spPr>
          <a:xfrm>
            <a:off x="5988175" y="282900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(7 + 3)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6"/>
          <p:cNvSpPr txBox="1"/>
          <p:nvPr/>
        </p:nvSpPr>
        <p:spPr>
          <a:xfrm>
            <a:off x="5988175" y="321000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6"/>
          <p:cNvSpPr txBox="1"/>
          <p:nvPr/>
        </p:nvSpPr>
        <p:spPr>
          <a:xfrm>
            <a:off x="6002923" y="3591000"/>
            <a:ext cx="2642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160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6"/>
          <p:cNvSpPr txBox="1"/>
          <p:nvPr/>
        </p:nvSpPr>
        <p:spPr>
          <a:xfrm>
            <a:off x="324000" y="772288"/>
            <a:ext cx="8018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Can you find another way to rewrite the calculation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14 + 8 × 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common factors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a combination of laws?</a:t>
            </a:r>
            <a:endParaRPr sz="19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500" y="1186513"/>
            <a:ext cx="3652499" cy="28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260126" y="1418062"/>
            <a:ext cx="2798374" cy="2608563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7"/>
          <p:cNvSpPr txBox="1"/>
          <p:nvPr>
            <p:ph idx="1" type="body"/>
          </p:nvPr>
        </p:nvSpPr>
        <p:spPr>
          <a:xfrm>
            <a:off x="324000" y="772300"/>
            <a:ext cx="8385900" cy="3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Laura and Sofia </a:t>
            </a:r>
            <a:r>
              <a:rPr lang="en-GB" sz="1800"/>
              <a:t>complete two calculations. Who is correct?</a:t>
            </a:r>
            <a:endParaRPr sz="1800"/>
          </a:p>
        </p:txBody>
      </p:sp>
      <p:sp>
        <p:nvSpPr>
          <p:cNvPr id="935" name="Google Shape;935;p77"/>
          <p:cNvSpPr txBox="1"/>
          <p:nvPr/>
        </p:nvSpPr>
        <p:spPr>
          <a:xfrm>
            <a:off x="1020653" y="1272797"/>
            <a:ext cx="37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14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8 + 12 × 6 − 10 ×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6" name="Google Shape;93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050" y="3580311"/>
            <a:ext cx="690300" cy="904078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77"/>
          <p:cNvSpPr txBox="1"/>
          <p:nvPr/>
        </p:nvSpPr>
        <p:spPr>
          <a:xfrm>
            <a:off x="1020649" y="1625942"/>
            <a:ext cx="365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same as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× 2 × 4  + 4 × 3 × 6  −  10 × 4</a:t>
            </a:r>
            <a:endParaRPr sz="1800"/>
          </a:p>
        </p:txBody>
      </p:sp>
      <p:sp>
        <p:nvSpPr>
          <p:cNvPr id="938" name="Google Shape;938;p77"/>
          <p:cNvSpPr txBox="1"/>
          <p:nvPr/>
        </p:nvSpPr>
        <p:spPr>
          <a:xfrm>
            <a:off x="1020661" y="2230529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same as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(28  + 18 − 10)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39" name="Google Shape;939;p77"/>
          <p:cNvSpPr txBox="1"/>
          <p:nvPr/>
        </p:nvSpPr>
        <p:spPr>
          <a:xfrm>
            <a:off x="1020642" y="2839792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same as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36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0" name="Google Shape;940;p77"/>
          <p:cNvSpPr txBox="1"/>
          <p:nvPr/>
        </p:nvSpPr>
        <p:spPr>
          <a:xfrm>
            <a:off x="5404415" y="1565150"/>
            <a:ext cx="25098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 + 24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same as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(30 + 6)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is the same as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36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1" name="Google Shape;94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3148" y="3718600"/>
            <a:ext cx="690297" cy="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7"/>
          <p:cNvSpPr txBox="1"/>
          <p:nvPr/>
        </p:nvSpPr>
        <p:spPr>
          <a:xfrm>
            <a:off x="1771232" y="3147602"/>
            <a:ext cx="10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144</a:t>
            </a:r>
            <a:endParaRPr/>
          </a:p>
        </p:txBody>
      </p:sp>
      <p:sp>
        <p:nvSpPr>
          <p:cNvPr id="943" name="Google Shape;943;p77"/>
          <p:cNvSpPr txBox="1"/>
          <p:nvPr/>
        </p:nvSpPr>
        <p:spPr>
          <a:xfrm>
            <a:off x="6209698" y="2800355"/>
            <a:ext cx="12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144</a:t>
            </a:r>
            <a:endParaRPr/>
          </a:p>
        </p:txBody>
      </p:sp>
      <p:sp>
        <p:nvSpPr>
          <p:cNvPr id="944" name="Google Shape;944;p77"/>
          <p:cNvSpPr txBox="1"/>
          <p:nvPr>
            <p:ph idx="1" type="body"/>
          </p:nvPr>
        </p:nvSpPr>
        <p:spPr>
          <a:xfrm>
            <a:off x="1993150" y="4026625"/>
            <a:ext cx="5475600" cy="4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They are both correct! There are an infinite number of ways to write a calculation using the distributive law.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5" name="Google Shape;94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946" name="Google Shape;946;p77"/>
          <p:cNvSpPr txBox="1"/>
          <p:nvPr/>
        </p:nvSpPr>
        <p:spPr>
          <a:xfrm>
            <a:off x="-104391" y="431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7"/>
          <p:cNvSpPr txBox="1"/>
          <p:nvPr/>
        </p:nvSpPr>
        <p:spPr>
          <a:xfrm>
            <a:off x="7412088" y="43199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8"/>
          <p:cNvSpPr/>
          <p:nvPr/>
        </p:nvSpPr>
        <p:spPr>
          <a:xfrm>
            <a:off x="5254700" y="1216450"/>
            <a:ext cx="815100" cy="3509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8"/>
          <p:cNvSpPr/>
          <p:nvPr/>
        </p:nvSpPr>
        <p:spPr>
          <a:xfrm>
            <a:off x="6069800" y="1216450"/>
            <a:ext cx="1810800" cy="109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8"/>
          <p:cNvSpPr/>
          <p:nvPr/>
        </p:nvSpPr>
        <p:spPr>
          <a:xfrm>
            <a:off x="6069800" y="2304450"/>
            <a:ext cx="1810800" cy="242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5" name="Google Shape;955;p78"/>
          <p:cNvCxnSpPr/>
          <p:nvPr/>
        </p:nvCxnSpPr>
        <p:spPr>
          <a:xfrm>
            <a:off x="6061325" y="1060975"/>
            <a:ext cx="1793400" cy="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56" name="Google Shape;956;p78"/>
          <p:cNvCxnSpPr/>
          <p:nvPr/>
        </p:nvCxnSpPr>
        <p:spPr>
          <a:xfrm>
            <a:off x="5209750" y="1060975"/>
            <a:ext cx="9270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57" name="Google Shape;957;p78"/>
          <p:cNvCxnSpPr/>
          <p:nvPr/>
        </p:nvCxnSpPr>
        <p:spPr>
          <a:xfrm flipH="1">
            <a:off x="5136828" y="1232400"/>
            <a:ext cx="21600" cy="348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58" name="Google Shape;958;p78"/>
          <p:cNvCxnSpPr/>
          <p:nvPr/>
        </p:nvCxnSpPr>
        <p:spPr>
          <a:xfrm>
            <a:off x="8011625" y="1228050"/>
            <a:ext cx="14700" cy="106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59" name="Google Shape;959;p78"/>
          <p:cNvCxnSpPr/>
          <p:nvPr/>
        </p:nvCxnSpPr>
        <p:spPr>
          <a:xfrm>
            <a:off x="8020206" y="2247150"/>
            <a:ext cx="14700" cy="24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0" name="Google Shape;960;p78"/>
          <p:cNvSpPr txBox="1"/>
          <p:nvPr/>
        </p:nvSpPr>
        <p:spPr>
          <a:xfrm>
            <a:off x="4269628" y="2799000"/>
            <a:ext cx="883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8"/>
          <p:cNvSpPr txBox="1"/>
          <p:nvPr/>
        </p:nvSpPr>
        <p:spPr>
          <a:xfrm>
            <a:off x="6533287" y="654456"/>
            <a:ext cx="883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8"/>
          <p:cNvSpPr txBox="1"/>
          <p:nvPr/>
        </p:nvSpPr>
        <p:spPr>
          <a:xfrm>
            <a:off x="5332500" y="658756"/>
            <a:ext cx="883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8"/>
          <p:cNvSpPr txBox="1"/>
          <p:nvPr/>
        </p:nvSpPr>
        <p:spPr>
          <a:xfrm>
            <a:off x="8034912" y="1586856"/>
            <a:ext cx="883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8"/>
          <p:cNvSpPr txBox="1"/>
          <p:nvPr/>
        </p:nvSpPr>
        <p:spPr>
          <a:xfrm>
            <a:off x="8092912" y="3319206"/>
            <a:ext cx="883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8"/>
          <p:cNvSpPr txBox="1"/>
          <p:nvPr/>
        </p:nvSpPr>
        <p:spPr>
          <a:xfrm>
            <a:off x="324000" y="869550"/>
            <a:ext cx="4268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area of the shape can be found by calculating                                      2 × 14 + 8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+ 9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8.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area of the shape in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down some other calculations that represent the area of the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967" name="Google Shape;967;p78"/>
          <p:cNvSpPr txBox="1"/>
          <p:nvPr/>
        </p:nvSpPr>
        <p:spPr>
          <a:xfrm>
            <a:off x="1714050" y="2247150"/>
            <a:ext cx="148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140 cm</a:t>
            </a:r>
            <a:r>
              <a:rPr baseline="30000" lang="en-GB" sz="23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9"/>
          <p:cNvSpPr/>
          <p:nvPr/>
        </p:nvSpPr>
        <p:spPr>
          <a:xfrm>
            <a:off x="5254700" y="1216450"/>
            <a:ext cx="815100" cy="3509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9"/>
          <p:cNvSpPr/>
          <p:nvPr/>
        </p:nvSpPr>
        <p:spPr>
          <a:xfrm>
            <a:off x="6069800" y="1216450"/>
            <a:ext cx="1810800" cy="109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9"/>
          <p:cNvSpPr/>
          <p:nvPr/>
        </p:nvSpPr>
        <p:spPr>
          <a:xfrm>
            <a:off x="6069800" y="2304450"/>
            <a:ext cx="1810800" cy="242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5" name="Google Shape;975;p79"/>
          <p:cNvGrpSpPr/>
          <p:nvPr/>
        </p:nvGrpSpPr>
        <p:grpSpPr>
          <a:xfrm>
            <a:off x="4269628" y="1232400"/>
            <a:ext cx="888800" cy="3485100"/>
            <a:chOff x="4269628" y="1232400"/>
            <a:chExt cx="888800" cy="3485100"/>
          </a:xfrm>
        </p:grpSpPr>
        <p:cxnSp>
          <p:nvCxnSpPr>
            <p:cNvPr id="976" name="Google Shape;976;p79"/>
            <p:cNvCxnSpPr/>
            <p:nvPr/>
          </p:nvCxnSpPr>
          <p:spPr>
            <a:xfrm flipH="1">
              <a:off x="5136828" y="1232400"/>
              <a:ext cx="21600" cy="348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77" name="Google Shape;977;p79"/>
            <p:cNvSpPr txBox="1"/>
            <p:nvPr/>
          </p:nvSpPr>
          <p:spPr>
            <a:xfrm>
              <a:off x="4269628" y="2799000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8" name="Google Shape;978;p79"/>
          <p:cNvGrpSpPr/>
          <p:nvPr/>
        </p:nvGrpSpPr>
        <p:grpSpPr>
          <a:xfrm>
            <a:off x="5209750" y="654456"/>
            <a:ext cx="2644975" cy="415219"/>
            <a:chOff x="5209750" y="654456"/>
            <a:chExt cx="2644975" cy="415219"/>
          </a:xfrm>
        </p:grpSpPr>
        <p:cxnSp>
          <p:nvCxnSpPr>
            <p:cNvPr id="979" name="Google Shape;979;p79"/>
            <p:cNvCxnSpPr/>
            <p:nvPr/>
          </p:nvCxnSpPr>
          <p:spPr>
            <a:xfrm>
              <a:off x="6061325" y="1060975"/>
              <a:ext cx="1793400" cy="8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80" name="Google Shape;980;p79"/>
            <p:cNvCxnSpPr/>
            <p:nvPr/>
          </p:nvCxnSpPr>
          <p:spPr>
            <a:xfrm>
              <a:off x="5209750" y="1060975"/>
              <a:ext cx="927000" cy="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81" name="Google Shape;981;p79"/>
            <p:cNvSpPr txBox="1"/>
            <p:nvPr/>
          </p:nvSpPr>
          <p:spPr>
            <a:xfrm>
              <a:off x="6533287" y="6544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2" name="Google Shape;982;p79"/>
            <p:cNvSpPr txBox="1"/>
            <p:nvPr/>
          </p:nvSpPr>
          <p:spPr>
            <a:xfrm>
              <a:off x="5332500" y="6587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79"/>
          <p:cNvGrpSpPr/>
          <p:nvPr/>
        </p:nvGrpSpPr>
        <p:grpSpPr>
          <a:xfrm>
            <a:off x="8011625" y="1228050"/>
            <a:ext cx="965087" cy="3515100"/>
            <a:chOff x="8011625" y="1228050"/>
            <a:chExt cx="965087" cy="3515100"/>
          </a:xfrm>
        </p:grpSpPr>
        <p:cxnSp>
          <p:nvCxnSpPr>
            <p:cNvPr id="984" name="Google Shape;984;p79"/>
            <p:cNvCxnSpPr/>
            <p:nvPr/>
          </p:nvCxnSpPr>
          <p:spPr>
            <a:xfrm>
              <a:off x="8011625" y="1228050"/>
              <a:ext cx="14700" cy="106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85" name="Google Shape;985;p79"/>
            <p:cNvCxnSpPr/>
            <p:nvPr/>
          </p:nvCxnSpPr>
          <p:spPr>
            <a:xfrm>
              <a:off x="8020206" y="2247150"/>
              <a:ext cx="14700" cy="249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86" name="Google Shape;986;p79"/>
            <p:cNvSpPr txBox="1"/>
            <p:nvPr/>
          </p:nvSpPr>
          <p:spPr>
            <a:xfrm>
              <a:off x="8034912" y="15868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79"/>
            <p:cNvSpPr txBox="1"/>
            <p:nvPr/>
          </p:nvSpPr>
          <p:spPr>
            <a:xfrm>
              <a:off x="8092912" y="331920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8" name="Google Shape;988;p79"/>
          <p:cNvSpPr txBox="1"/>
          <p:nvPr/>
        </p:nvSpPr>
        <p:spPr>
          <a:xfrm>
            <a:off x="324000" y="640950"/>
            <a:ext cx="426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We know the area is 140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and there are lots of different ways to achieve this using a combination of laws.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990" name="Google Shape;990;p79"/>
          <p:cNvSpPr txBox="1"/>
          <p:nvPr/>
        </p:nvSpPr>
        <p:spPr>
          <a:xfrm>
            <a:off x="370525" y="19614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are so many! However, the importance is to know how they are formed.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0"/>
          <p:cNvSpPr/>
          <p:nvPr/>
        </p:nvSpPr>
        <p:spPr>
          <a:xfrm>
            <a:off x="5254700" y="1216450"/>
            <a:ext cx="815100" cy="3509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0"/>
          <p:cNvSpPr/>
          <p:nvPr/>
        </p:nvSpPr>
        <p:spPr>
          <a:xfrm>
            <a:off x="6069800" y="1216450"/>
            <a:ext cx="1810800" cy="109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0"/>
          <p:cNvSpPr/>
          <p:nvPr/>
        </p:nvSpPr>
        <p:spPr>
          <a:xfrm>
            <a:off x="6069800" y="2304450"/>
            <a:ext cx="1810800" cy="242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8" name="Google Shape;998;p80"/>
          <p:cNvGrpSpPr/>
          <p:nvPr/>
        </p:nvGrpSpPr>
        <p:grpSpPr>
          <a:xfrm>
            <a:off x="4269628" y="1232400"/>
            <a:ext cx="888800" cy="3485100"/>
            <a:chOff x="4269628" y="1232400"/>
            <a:chExt cx="888800" cy="3485100"/>
          </a:xfrm>
        </p:grpSpPr>
        <p:cxnSp>
          <p:nvCxnSpPr>
            <p:cNvPr id="999" name="Google Shape;999;p80"/>
            <p:cNvCxnSpPr/>
            <p:nvPr/>
          </p:nvCxnSpPr>
          <p:spPr>
            <a:xfrm flipH="1">
              <a:off x="5136828" y="1232400"/>
              <a:ext cx="21600" cy="348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00" name="Google Shape;1000;p80"/>
            <p:cNvSpPr txBox="1"/>
            <p:nvPr/>
          </p:nvSpPr>
          <p:spPr>
            <a:xfrm>
              <a:off x="4269628" y="2799000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1" name="Google Shape;1001;p80"/>
          <p:cNvGrpSpPr/>
          <p:nvPr/>
        </p:nvGrpSpPr>
        <p:grpSpPr>
          <a:xfrm>
            <a:off x="5209750" y="654456"/>
            <a:ext cx="2644975" cy="415219"/>
            <a:chOff x="5209750" y="654456"/>
            <a:chExt cx="2644975" cy="415219"/>
          </a:xfrm>
        </p:grpSpPr>
        <p:cxnSp>
          <p:nvCxnSpPr>
            <p:cNvPr id="1002" name="Google Shape;1002;p80"/>
            <p:cNvCxnSpPr/>
            <p:nvPr/>
          </p:nvCxnSpPr>
          <p:spPr>
            <a:xfrm>
              <a:off x="6061325" y="1060975"/>
              <a:ext cx="1793400" cy="8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03" name="Google Shape;1003;p80"/>
            <p:cNvCxnSpPr/>
            <p:nvPr/>
          </p:nvCxnSpPr>
          <p:spPr>
            <a:xfrm>
              <a:off x="5209750" y="1060975"/>
              <a:ext cx="927000" cy="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04" name="Google Shape;1004;p80"/>
            <p:cNvSpPr txBox="1"/>
            <p:nvPr/>
          </p:nvSpPr>
          <p:spPr>
            <a:xfrm>
              <a:off x="6533287" y="6544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80"/>
            <p:cNvSpPr txBox="1"/>
            <p:nvPr/>
          </p:nvSpPr>
          <p:spPr>
            <a:xfrm>
              <a:off x="5332500" y="6587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6" name="Google Shape;1006;p80"/>
          <p:cNvSpPr txBox="1"/>
          <p:nvPr/>
        </p:nvSpPr>
        <p:spPr>
          <a:xfrm>
            <a:off x="324000" y="640950"/>
            <a:ext cx="426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We know the area is 140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and there are lots of different ways to achieve this using a combination of laws.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1008" name="Google Shape;1008;p80"/>
          <p:cNvSpPr txBox="1"/>
          <p:nvPr/>
        </p:nvSpPr>
        <p:spPr>
          <a:xfrm>
            <a:off x="355423" y="2613550"/>
            <a:ext cx="3173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( 8 + 2 ) × 14 = 140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9" name="Google Shape;1009;p80"/>
          <p:cNvSpPr/>
          <p:nvPr/>
        </p:nvSpPr>
        <p:spPr>
          <a:xfrm>
            <a:off x="5279025" y="1244675"/>
            <a:ext cx="2575800" cy="347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0"/>
          <p:cNvSpPr txBox="1"/>
          <p:nvPr/>
        </p:nvSpPr>
        <p:spPr>
          <a:xfrm>
            <a:off x="370525" y="19614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are so many! However, the importance is to know how they are formed.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81"/>
          <p:cNvSpPr/>
          <p:nvPr/>
        </p:nvSpPr>
        <p:spPr>
          <a:xfrm>
            <a:off x="5254700" y="1216450"/>
            <a:ext cx="815100" cy="3509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1"/>
          <p:cNvSpPr/>
          <p:nvPr/>
        </p:nvSpPr>
        <p:spPr>
          <a:xfrm>
            <a:off x="6069800" y="1216450"/>
            <a:ext cx="1810800" cy="109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1"/>
          <p:cNvSpPr/>
          <p:nvPr/>
        </p:nvSpPr>
        <p:spPr>
          <a:xfrm>
            <a:off x="6069800" y="2304450"/>
            <a:ext cx="1810800" cy="242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8" name="Google Shape;1018;p81"/>
          <p:cNvGrpSpPr/>
          <p:nvPr/>
        </p:nvGrpSpPr>
        <p:grpSpPr>
          <a:xfrm>
            <a:off x="4269628" y="1232400"/>
            <a:ext cx="888800" cy="3485100"/>
            <a:chOff x="4269628" y="1232400"/>
            <a:chExt cx="888800" cy="3485100"/>
          </a:xfrm>
        </p:grpSpPr>
        <p:cxnSp>
          <p:nvCxnSpPr>
            <p:cNvPr id="1019" name="Google Shape;1019;p81"/>
            <p:cNvCxnSpPr/>
            <p:nvPr/>
          </p:nvCxnSpPr>
          <p:spPr>
            <a:xfrm flipH="1">
              <a:off x="5136828" y="1232400"/>
              <a:ext cx="21600" cy="348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20" name="Google Shape;1020;p81"/>
            <p:cNvSpPr txBox="1"/>
            <p:nvPr/>
          </p:nvSpPr>
          <p:spPr>
            <a:xfrm>
              <a:off x="4269628" y="2799000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1" name="Google Shape;1021;p81"/>
          <p:cNvGrpSpPr/>
          <p:nvPr/>
        </p:nvGrpSpPr>
        <p:grpSpPr>
          <a:xfrm>
            <a:off x="5254857" y="654441"/>
            <a:ext cx="2600071" cy="415219"/>
            <a:chOff x="6061325" y="654456"/>
            <a:chExt cx="1793400" cy="415219"/>
          </a:xfrm>
        </p:grpSpPr>
        <p:cxnSp>
          <p:nvCxnSpPr>
            <p:cNvPr id="1022" name="Google Shape;1022;p81"/>
            <p:cNvCxnSpPr/>
            <p:nvPr/>
          </p:nvCxnSpPr>
          <p:spPr>
            <a:xfrm>
              <a:off x="6061325" y="1060975"/>
              <a:ext cx="1793400" cy="8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23" name="Google Shape;1023;p81"/>
            <p:cNvSpPr txBox="1"/>
            <p:nvPr/>
          </p:nvSpPr>
          <p:spPr>
            <a:xfrm>
              <a:off x="6638405" y="6544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4" name="Google Shape;1024;p81"/>
          <p:cNvSpPr txBox="1"/>
          <p:nvPr/>
        </p:nvSpPr>
        <p:spPr>
          <a:xfrm>
            <a:off x="324000" y="640950"/>
            <a:ext cx="426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We know the area is 140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and there are lots of different ways to achieve this using a combination of laws.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1026" name="Google Shape;1026;p81"/>
          <p:cNvSpPr txBox="1"/>
          <p:nvPr/>
        </p:nvSpPr>
        <p:spPr>
          <a:xfrm>
            <a:off x="324000" y="2657648"/>
            <a:ext cx="3173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10 × 14 = 140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7" name="Google Shape;1027;p81"/>
          <p:cNvSpPr/>
          <p:nvPr/>
        </p:nvSpPr>
        <p:spPr>
          <a:xfrm>
            <a:off x="5279025" y="1244675"/>
            <a:ext cx="2575800" cy="3472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1"/>
          <p:cNvSpPr txBox="1"/>
          <p:nvPr/>
        </p:nvSpPr>
        <p:spPr>
          <a:xfrm>
            <a:off x="370525" y="19614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are so many! However, the importance is to know how they are formed.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2"/>
          <p:cNvSpPr/>
          <p:nvPr/>
        </p:nvSpPr>
        <p:spPr>
          <a:xfrm>
            <a:off x="5254700" y="1216450"/>
            <a:ext cx="815100" cy="3509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2"/>
          <p:cNvSpPr/>
          <p:nvPr/>
        </p:nvSpPr>
        <p:spPr>
          <a:xfrm>
            <a:off x="6069800" y="1216450"/>
            <a:ext cx="1810800" cy="109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2"/>
          <p:cNvSpPr/>
          <p:nvPr/>
        </p:nvSpPr>
        <p:spPr>
          <a:xfrm>
            <a:off x="5280500" y="2304450"/>
            <a:ext cx="2600100" cy="24216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6" name="Google Shape;1036;p82"/>
          <p:cNvGrpSpPr/>
          <p:nvPr/>
        </p:nvGrpSpPr>
        <p:grpSpPr>
          <a:xfrm>
            <a:off x="5209750" y="654456"/>
            <a:ext cx="2644975" cy="415219"/>
            <a:chOff x="5209750" y="654456"/>
            <a:chExt cx="2644975" cy="415219"/>
          </a:xfrm>
        </p:grpSpPr>
        <p:cxnSp>
          <p:nvCxnSpPr>
            <p:cNvPr id="1037" name="Google Shape;1037;p82"/>
            <p:cNvCxnSpPr/>
            <p:nvPr/>
          </p:nvCxnSpPr>
          <p:spPr>
            <a:xfrm>
              <a:off x="6061325" y="1060975"/>
              <a:ext cx="1793400" cy="8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38" name="Google Shape;1038;p82"/>
            <p:cNvCxnSpPr/>
            <p:nvPr/>
          </p:nvCxnSpPr>
          <p:spPr>
            <a:xfrm>
              <a:off x="5209750" y="1060975"/>
              <a:ext cx="927000" cy="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9" name="Google Shape;1039;p82"/>
            <p:cNvSpPr txBox="1"/>
            <p:nvPr/>
          </p:nvSpPr>
          <p:spPr>
            <a:xfrm>
              <a:off x="6533287" y="6544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82"/>
            <p:cNvSpPr txBox="1"/>
            <p:nvPr/>
          </p:nvSpPr>
          <p:spPr>
            <a:xfrm>
              <a:off x="5332500" y="6587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1" name="Google Shape;1041;p82"/>
          <p:cNvGrpSpPr/>
          <p:nvPr/>
        </p:nvGrpSpPr>
        <p:grpSpPr>
          <a:xfrm>
            <a:off x="8011625" y="1228050"/>
            <a:ext cx="965087" cy="3515100"/>
            <a:chOff x="8011625" y="1228050"/>
            <a:chExt cx="965087" cy="3515100"/>
          </a:xfrm>
        </p:grpSpPr>
        <p:cxnSp>
          <p:nvCxnSpPr>
            <p:cNvPr id="1042" name="Google Shape;1042;p82"/>
            <p:cNvCxnSpPr/>
            <p:nvPr/>
          </p:nvCxnSpPr>
          <p:spPr>
            <a:xfrm>
              <a:off x="8011625" y="1228050"/>
              <a:ext cx="14700" cy="106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43" name="Google Shape;1043;p82"/>
            <p:cNvCxnSpPr/>
            <p:nvPr/>
          </p:nvCxnSpPr>
          <p:spPr>
            <a:xfrm>
              <a:off x="8020206" y="2247150"/>
              <a:ext cx="14700" cy="249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44" name="Google Shape;1044;p82"/>
            <p:cNvSpPr txBox="1"/>
            <p:nvPr/>
          </p:nvSpPr>
          <p:spPr>
            <a:xfrm>
              <a:off x="8034912" y="158685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82"/>
            <p:cNvSpPr txBox="1"/>
            <p:nvPr/>
          </p:nvSpPr>
          <p:spPr>
            <a:xfrm>
              <a:off x="8092912" y="3319206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6" name="Google Shape;1046;p82"/>
          <p:cNvSpPr txBox="1"/>
          <p:nvPr/>
        </p:nvSpPr>
        <p:spPr>
          <a:xfrm>
            <a:off x="324000" y="640950"/>
            <a:ext cx="426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We know the area is 140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and there are lots of different ways to achieve this using a combination of laws.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1048" name="Google Shape;1048;p82"/>
          <p:cNvSpPr/>
          <p:nvPr/>
        </p:nvSpPr>
        <p:spPr>
          <a:xfrm>
            <a:off x="5262841" y="1222382"/>
            <a:ext cx="2600100" cy="1095900"/>
          </a:xfrm>
          <a:prstGeom prst="rect">
            <a:avLst/>
          </a:prstGeom>
          <a:solidFill>
            <a:schemeClr val="accent3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2"/>
          <p:cNvSpPr txBox="1"/>
          <p:nvPr/>
        </p:nvSpPr>
        <p:spPr>
          <a:xfrm>
            <a:off x="324000" y="2700000"/>
            <a:ext cx="48648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( 5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(8+2))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+ ( 9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(8+2)) = 140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0" name="Google Shape;1050;p82"/>
          <p:cNvSpPr txBox="1"/>
          <p:nvPr/>
        </p:nvSpPr>
        <p:spPr>
          <a:xfrm>
            <a:off x="370525" y="19614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are so many! However, the importance is to know how they are formed.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3"/>
          <p:cNvSpPr/>
          <p:nvPr/>
        </p:nvSpPr>
        <p:spPr>
          <a:xfrm>
            <a:off x="5290650" y="1216450"/>
            <a:ext cx="815100" cy="35097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3"/>
          <p:cNvSpPr/>
          <p:nvPr/>
        </p:nvSpPr>
        <p:spPr>
          <a:xfrm>
            <a:off x="6069800" y="1216450"/>
            <a:ext cx="1810800" cy="1095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3"/>
          <p:cNvSpPr/>
          <p:nvPr/>
        </p:nvSpPr>
        <p:spPr>
          <a:xfrm>
            <a:off x="6069800" y="2304450"/>
            <a:ext cx="1810800" cy="242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8" name="Google Shape;1058;p83"/>
          <p:cNvGrpSpPr/>
          <p:nvPr/>
        </p:nvGrpSpPr>
        <p:grpSpPr>
          <a:xfrm>
            <a:off x="7989975" y="1220225"/>
            <a:ext cx="947728" cy="3507900"/>
            <a:chOff x="7989975" y="1220225"/>
            <a:chExt cx="947728" cy="3507900"/>
          </a:xfrm>
        </p:grpSpPr>
        <p:cxnSp>
          <p:nvCxnSpPr>
            <p:cNvPr id="1059" name="Google Shape;1059;p83"/>
            <p:cNvCxnSpPr/>
            <p:nvPr/>
          </p:nvCxnSpPr>
          <p:spPr>
            <a:xfrm>
              <a:off x="7989975" y="1220225"/>
              <a:ext cx="0" cy="3507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60" name="Google Shape;1060;p83"/>
            <p:cNvSpPr txBox="1"/>
            <p:nvPr/>
          </p:nvSpPr>
          <p:spPr>
            <a:xfrm>
              <a:off x="8053903" y="2726550"/>
              <a:ext cx="883800" cy="3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61" name="Google Shape;1061;p83"/>
          <p:cNvCxnSpPr/>
          <p:nvPr/>
        </p:nvCxnSpPr>
        <p:spPr>
          <a:xfrm>
            <a:off x="5290225" y="1066975"/>
            <a:ext cx="77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2" name="Google Shape;1062;p83"/>
          <p:cNvSpPr txBox="1"/>
          <p:nvPr/>
        </p:nvSpPr>
        <p:spPr>
          <a:xfrm>
            <a:off x="7001783" y="654450"/>
            <a:ext cx="1009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3"/>
          <p:cNvSpPr txBox="1"/>
          <p:nvPr/>
        </p:nvSpPr>
        <p:spPr>
          <a:xfrm>
            <a:off x="5256300" y="658756"/>
            <a:ext cx="883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3"/>
          <p:cNvSpPr txBox="1"/>
          <p:nvPr/>
        </p:nvSpPr>
        <p:spPr>
          <a:xfrm>
            <a:off x="324000" y="640950"/>
            <a:ext cx="426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We know the area is 140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and there are lots of different ways to achieve this using a combination of laws.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1066" name="Google Shape;1066;p83"/>
          <p:cNvSpPr txBox="1"/>
          <p:nvPr/>
        </p:nvSpPr>
        <p:spPr>
          <a:xfrm>
            <a:off x="415675" y="2683500"/>
            <a:ext cx="52065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(14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2) + (14 × 3) + (14 × 5) = 140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3"/>
          <p:cNvSpPr txBox="1"/>
          <p:nvPr/>
        </p:nvSpPr>
        <p:spPr>
          <a:xfrm>
            <a:off x="370525" y="19614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are so many! However, the importance is to know how they are formed.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68" name="Google Shape;1068;p83"/>
          <p:cNvCxnSpPr/>
          <p:nvPr/>
        </p:nvCxnSpPr>
        <p:spPr>
          <a:xfrm>
            <a:off x="6060550" y="1060963"/>
            <a:ext cx="9270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9" name="Google Shape;1069;p83"/>
          <p:cNvSpPr txBox="1"/>
          <p:nvPr/>
        </p:nvSpPr>
        <p:spPr>
          <a:xfrm>
            <a:off x="6183300" y="658744"/>
            <a:ext cx="883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0" name="Google Shape;1070;p83"/>
          <p:cNvCxnSpPr/>
          <p:nvPr/>
        </p:nvCxnSpPr>
        <p:spPr>
          <a:xfrm>
            <a:off x="6911350" y="1055900"/>
            <a:ext cx="945900" cy="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1" name="Google Shape;1071;p83"/>
          <p:cNvSpPr/>
          <p:nvPr/>
        </p:nvSpPr>
        <p:spPr>
          <a:xfrm>
            <a:off x="6095925" y="1216450"/>
            <a:ext cx="815100" cy="3509700"/>
          </a:xfrm>
          <a:prstGeom prst="rect">
            <a:avLst/>
          </a:prstGeom>
          <a:solidFill>
            <a:schemeClr val="accent3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3"/>
          <p:cNvSpPr/>
          <p:nvPr/>
        </p:nvSpPr>
        <p:spPr>
          <a:xfrm>
            <a:off x="6937150" y="1216450"/>
            <a:ext cx="927000" cy="3509700"/>
          </a:xfrm>
          <a:prstGeom prst="rect">
            <a:avLst/>
          </a:prstGeom>
          <a:solidFill>
            <a:srgbClr val="99999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84"/>
          <p:cNvSpPr txBox="1"/>
          <p:nvPr/>
        </p:nvSpPr>
        <p:spPr>
          <a:xfrm>
            <a:off x="401475" y="581250"/>
            <a:ext cx="8282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rabi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Lucas wants to find the area to this rectangle. He starts by writing this calculation: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4"/>
          <p:cNvSpPr txBox="1"/>
          <p:nvPr/>
        </p:nvSpPr>
        <p:spPr>
          <a:xfrm>
            <a:off x="5134075" y="1947575"/>
            <a:ext cx="363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exend"/>
              <a:buAutoNum type="alphaLcParenR"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Complete Lucas’ calculation.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4"/>
          <p:cNvSpPr txBox="1"/>
          <p:nvPr/>
        </p:nvSpPr>
        <p:spPr>
          <a:xfrm>
            <a:off x="5162421" y="2839950"/>
            <a:ext cx="363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b)  Show how Lucas split the rectangle.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4"/>
          <p:cNvSpPr txBox="1"/>
          <p:nvPr/>
        </p:nvSpPr>
        <p:spPr>
          <a:xfrm>
            <a:off x="5162421" y="3754350"/>
            <a:ext cx="363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  How many different ways can you split the rectangle to find the same area?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2" name="Google Shape;1082;p84"/>
          <p:cNvGrpSpPr/>
          <p:nvPr/>
        </p:nvGrpSpPr>
        <p:grpSpPr>
          <a:xfrm>
            <a:off x="477675" y="2042850"/>
            <a:ext cx="4221050" cy="1890600"/>
            <a:chOff x="477675" y="2042850"/>
            <a:chExt cx="4221050" cy="1890600"/>
          </a:xfrm>
        </p:grpSpPr>
        <p:sp>
          <p:nvSpPr>
            <p:cNvPr id="1083" name="Google Shape;1083;p84"/>
            <p:cNvSpPr/>
            <p:nvPr/>
          </p:nvSpPr>
          <p:spPr>
            <a:xfrm>
              <a:off x="1654925" y="2800350"/>
              <a:ext cx="3043800" cy="1133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4" name="Google Shape;1084;p84"/>
            <p:cNvCxnSpPr/>
            <p:nvPr/>
          </p:nvCxnSpPr>
          <p:spPr>
            <a:xfrm>
              <a:off x="1589100" y="2492525"/>
              <a:ext cx="3043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85" name="Google Shape;1085;p84"/>
            <p:cNvCxnSpPr/>
            <p:nvPr/>
          </p:nvCxnSpPr>
          <p:spPr>
            <a:xfrm>
              <a:off x="1276200" y="2800350"/>
              <a:ext cx="6600" cy="1110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86" name="Google Shape;1086;p84"/>
            <p:cNvSpPr txBox="1"/>
            <p:nvPr/>
          </p:nvSpPr>
          <p:spPr>
            <a:xfrm>
              <a:off x="2659950" y="2042850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19 cm</a:t>
              </a:r>
              <a:endParaRPr/>
            </a:p>
          </p:txBody>
        </p:sp>
        <p:sp>
          <p:nvSpPr>
            <p:cNvPr id="1087" name="Google Shape;1087;p84"/>
            <p:cNvSpPr txBox="1"/>
            <p:nvPr/>
          </p:nvSpPr>
          <p:spPr>
            <a:xfrm>
              <a:off x="477675" y="3128400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/>
            </a:p>
          </p:txBody>
        </p:sp>
      </p:grpSp>
      <p:sp>
        <p:nvSpPr>
          <p:cNvPr id="1088" name="Google Shape;1088;p84"/>
          <p:cNvSpPr txBox="1"/>
          <p:nvPr/>
        </p:nvSpPr>
        <p:spPr>
          <a:xfrm>
            <a:off x="1589100" y="1425150"/>
            <a:ext cx="5502600" cy="477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( 5 × 10 ) +  (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10) + ( 5 × ⬚ ) + ( ⬚ × ⬚ )  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5"/>
          <p:cNvSpPr txBox="1"/>
          <p:nvPr>
            <p:ph idx="4294967295" type="body"/>
          </p:nvPr>
        </p:nvSpPr>
        <p:spPr>
          <a:xfrm>
            <a:off x="324000" y="759300"/>
            <a:ext cx="8237700" cy="5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</a:t>
            </a:r>
            <a:r>
              <a:rPr lang="en-GB" sz="2000"/>
              <a:t>Fill in the blanks using your knowledge on the </a:t>
            </a:r>
            <a:r>
              <a:rPr lang="en-GB" sz="2000"/>
              <a:t>distributive law.</a:t>
            </a:r>
            <a:endParaRPr sz="2000"/>
          </a:p>
        </p:txBody>
      </p:sp>
      <p:sp>
        <p:nvSpPr>
          <p:cNvPr id="1094" name="Google Shape;1094;p85"/>
          <p:cNvSpPr txBox="1"/>
          <p:nvPr/>
        </p:nvSpPr>
        <p:spPr>
          <a:xfrm>
            <a:off x="339100" y="1408600"/>
            <a:ext cx="35697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7 ×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8 + 12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× ⬚ × 2 + 3 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14 +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33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( 14 + 33 ) = 188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85"/>
          <p:cNvSpPr txBox="1"/>
          <p:nvPr/>
        </p:nvSpPr>
        <p:spPr>
          <a:xfrm>
            <a:off x="4198350" y="1312800"/>
            <a:ext cx="49458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15 × 9 + 25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9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+ 30 × 3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15 × 9 + 25 × 9 + 10 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15 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+ 25 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+ 10 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× ( 15 +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× (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86"/>
          <p:cNvSpPr txBox="1"/>
          <p:nvPr/>
        </p:nvSpPr>
        <p:spPr>
          <a:xfrm>
            <a:off x="401475" y="809850"/>
            <a:ext cx="8282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3) How many different ways can you split the calculation? Some have been suggested for you to fill in.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6"/>
          <p:cNvSpPr/>
          <p:nvPr/>
        </p:nvSpPr>
        <p:spPr>
          <a:xfrm>
            <a:off x="2973700" y="2396813"/>
            <a:ext cx="2268864" cy="1317060"/>
          </a:xfrm>
          <a:prstGeom prst="cloud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28 × 84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4" name="Google Shape;1104;p86"/>
          <p:cNvCxnSpPr/>
          <p:nvPr/>
        </p:nvCxnSpPr>
        <p:spPr>
          <a:xfrm flipH="1" rot="10800000">
            <a:off x="5005513" y="2241438"/>
            <a:ext cx="717300" cy="329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86"/>
          <p:cNvCxnSpPr/>
          <p:nvPr/>
        </p:nvCxnSpPr>
        <p:spPr>
          <a:xfrm flipH="1" rot="10800000">
            <a:off x="2019875" y="3074650"/>
            <a:ext cx="953700" cy="18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86"/>
          <p:cNvCxnSpPr/>
          <p:nvPr/>
        </p:nvCxnSpPr>
        <p:spPr>
          <a:xfrm>
            <a:off x="2455250" y="2270100"/>
            <a:ext cx="906300" cy="27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86"/>
          <p:cNvCxnSpPr/>
          <p:nvPr/>
        </p:nvCxnSpPr>
        <p:spPr>
          <a:xfrm flipH="1">
            <a:off x="3167648" y="3583618"/>
            <a:ext cx="254700" cy="436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8" name="Google Shape;1108;p86"/>
          <p:cNvSpPr txBox="1"/>
          <p:nvPr/>
        </p:nvSpPr>
        <p:spPr>
          <a:xfrm>
            <a:off x="5543825" y="1762350"/>
            <a:ext cx="2500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× (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+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6"/>
          <p:cNvSpPr txBox="1"/>
          <p:nvPr/>
        </p:nvSpPr>
        <p:spPr>
          <a:xfrm>
            <a:off x="434550" y="1846050"/>
            <a:ext cx="2500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6"/>
          <p:cNvSpPr txBox="1"/>
          <p:nvPr/>
        </p:nvSpPr>
        <p:spPr>
          <a:xfrm>
            <a:off x="0" y="2797738"/>
            <a:ext cx="2500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 ×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</a:t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1" name="Google Shape;1111;p86"/>
          <p:cNvCxnSpPr/>
          <p:nvPr/>
        </p:nvCxnSpPr>
        <p:spPr>
          <a:xfrm>
            <a:off x="5242575" y="2919450"/>
            <a:ext cx="1018800" cy="164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2" name="Google Shape;1112;p86"/>
          <p:cNvSpPr txBox="1"/>
          <p:nvPr/>
        </p:nvSpPr>
        <p:spPr>
          <a:xfrm>
            <a:off x="6028200" y="2741400"/>
            <a:ext cx="2500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- 2) × (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+ 4)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6"/>
          <p:cNvSpPr txBox="1"/>
          <p:nvPr/>
        </p:nvSpPr>
        <p:spPr>
          <a:xfrm>
            <a:off x="-17675" y="3939650"/>
            <a:ext cx="4420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(28 × 40) +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(28 × 40) + ( 28 × 4 )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4" name="Google Shape;1114;p86"/>
          <p:cNvCxnSpPr/>
          <p:nvPr/>
        </p:nvCxnSpPr>
        <p:spPr>
          <a:xfrm>
            <a:off x="4887350" y="3432450"/>
            <a:ext cx="730800" cy="410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86"/>
          <p:cNvSpPr txBox="1"/>
          <p:nvPr/>
        </p:nvSpPr>
        <p:spPr>
          <a:xfrm>
            <a:off x="4320000" y="3720450"/>
            <a:ext cx="4628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(84 × 10) + (84 × 10)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(84 × 10)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(84 × 2)</a:t>
            </a:r>
            <a:endParaRPr sz="5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6" name="Google Shape;111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375" y="4080454"/>
            <a:ext cx="906300" cy="2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234" y="4080454"/>
            <a:ext cx="906300" cy="2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649" y="4080454"/>
            <a:ext cx="906300" cy="2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000" y="3780000"/>
            <a:ext cx="4420500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87"/>
          <p:cNvSpPr txBox="1"/>
          <p:nvPr/>
        </p:nvSpPr>
        <p:spPr>
          <a:xfrm>
            <a:off x="401475" y="581250"/>
            <a:ext cx="8282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rabi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Lucas wants to find the area to this rectangle. He starts by writing this calculation: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7"/>
          <p:cNvSpPr txBox="1"/>
          <p:nvPr/>
        </p:nvSpPr>
        <p:spPr>
          <a:xfrm>
            <a:off x="5134075" y="1947575"/>
            <a:ext cx="363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Lexend"/>
              <a:buAutoNum type="alphaLcParenR"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Complete Lucas’ calculation.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7"/>
          <p:cNvSpPr txBox="1"/>
          <p:nvPr/>
        </p:nvSpPr>
        <p:spPr>
          <a:xfrm>
            <a:off x="5162421" y="2839950"/>
            <a:ext cx="363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b)  Show how Lucas split the rectangle.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7"/>
          <p:cNvSpPr txBox="1"/>
          <p:nvPr/>
        </p:nvSpPr>
        <p:spPr>
          <a:xfrm>
            <a:off x="5162421" y="3754350"/>
            <a:ext cx="363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c)  How many different ways can you split the rectangle to find the same area?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7"/>
          <p:cNvSpPr txBox="1"/>
          <p:nvPr/>
        </p:nvSpPr>
        <p:spPr>
          <a:xfrm>
            <a:off x="1589100" y="1425150"/>
            <a:ext cx="5502600" cy="477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( 5 × 10 ) + ( 2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10 ) + ( 5 × 9 ) + ( 2 × 9 )  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0" name="Google Shape;1130;p87"/>
          <p:cNvGrpSpPr/>
          <p:nvPr/>
        </p:nvGrpSpPr>
        <p:grpSpPr>
          <a:xfrm>
            <a:off x="-857125" y="2129658"/>
            <a:ext cx="5555850" cy="1811333"/>
            <a:chOff x="-857125" y="2129658"/>
            <a:chExt cx="5555850" cy="1811333"/>
          </a:xfrm>
        </p:grpSpPr>
        <p:sp>
          <p:nvSpPr>
            <p:cNvPr id="1131" name="Google Shape;1131;p87"/>
            <p:cNvSpPr/>
            <p:nvPr/>
          </p:nvSpPr>
          <p:spPr>
            <a:xfrm>
              <a:off x="1654925" y="2800350"/>
              <a:ext cx="3043800" cy="1133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2" name="Google Shape;1132;p87"/>
            <p:cNvCxnSpPr/>
            <p:nvPr/>
          </p:nvCxnSpPr>
          <p:spPr>
            <a:xfrm>
              <a:off x="1628250" y="2567250"/>
              <a:ext cx="1639800" cy="9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33" name="Google Shape;1133;p87"/>
            <p:cNvCxnSpPr/>
            <p:nvPr/>
          </p:nvCxnSpPr>
          <p:spPr>
            <a:xfrm>
              <a:off x="1504800" y="2808491"/>
              <a:ext cx="14700" cy="633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34" name="Google Shape;1134;p87"/>
            <p:cNvSpPr txBox="1"/>
            <p:nvPr/>
          </p:nvSpPr>
          <p:spPr>
            <a:xfrm>
              <a:off x="2188450" y="2129658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/>
            </a:p>
          </p:txBody>
        </p:sp>
        <p:sp>
          <p:nvSpPr>
            <p:cNvPr id="1135" name="Google Shape;1135;p87"/>
            <p:cNvSpPr txBox="1"/>
            <p:nvPr/>
          </p:nvSpPr>
          <p:spPr>
            <a:xfrm>
              <a:off x="-857125" y="2904000"/>
              <a:ext cx="23196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/>
            </a:p>
          </p:txBody>
        </p:sp>
        <p:sp>
          <p:nvSpPr>
            <p:cNvPr id="1136" name="Google Shape;1136;p87"/>
            <p:cNvSpPr/>
            <p:nvPr/>
          </p:nvSpPr>
          <p:spPr>
            <a:xfrm>
              <a:off x="3191609" y="3489775"/>
              <a:ext cx="1500300" cy="439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87"/>
            <p:cNvSpPr/>
            <p:nvPr/>
          </p:nvSpPr>
          <p:spPr>
            <a:xfrm>
              <a:off x="1654925" y="2800350"/>
              <a:ext cx="1539300" cy="689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87"/>
            <p:cNvSpPr/>
            <p:nvPr/>
          </p:nvSpPr>
          <p:spPr>
            <a:xfrm>
              <a:off x="3194275" y="2800350"/>
              <a:ext cx="1500300" cy="689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9" name="Google Shape;1139;p87"/>
            <p:cNvCxnSpPr/>
            <p:nvPr/>
          </p:nvCxnSpPr>
          <p:spPr>
            <a:xfrm>
              <a:off x="1504800" y="3418091"/>
              <a:ext cx="17100" cy="52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40" name="Google Shape;1140;p87"/>
            <p:cNvSpPr txBox="1"/>
            <p:nvPr/>
          </p:nvSpPr>
          <p:spPr>
            <a:xfrm>
              <a:off x="693128" y="3446686"/>
              <a:ext cx="8004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/>
            </a:p>
          </p:txBody>
        </p:sp>
        <p:cxnSp>
          <p:nvCxnSpPr>
            <p:cNvPr id="1141" name="Google Shape;1141;p87"/>
            <p:cNvCxnSpPr/>
            <p:nvPr/>
          </p:nvCxnSpPr>
          <p:spPr>
            <a:xfrm flipH="1" rot="10800000">
              <a:off x="3263907" y="2568593"/>
              <a:ext cx="1421100" cy="8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42" name="Google Shape;1142;p87"/>
            <p:cNvSpPr txBox="1"/>
            <p:nvPr/>
          </p:nvSpPr>
          <p:spPr>
            <a:xfrm>
              <a:off x="3483850" y="2129658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/>
            </a:p>
          </p:txBody>
        </p:sp>
        <p:sp>
          <p:nvSpPr>
            <p:cNvPr id="1143" name="Google Shape;1143;p87"/>
            <p:cNvSpPr/>
            <p:nvPr/>
          </p:nvSpPr>
          <p:spPr>
            <a:xfrm>
              <a:off x="1651875" y="3489775"/>
              <a:ext cx="1539300" cy="439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4" name="Google Shape;1144;p87"/>
          <p:cNvGrpSpPr/>
          <p:nvPr/>
        </p:nvGrpSpPr>
        <p:grpSpPr>
          <a:xfrm>
            <a:off x="477675" y="2042850"/>
            <a:ext cx="4221050" cy="1890600"/>
            <a:chOff x="477675" y="2042850"/>
            <a:chExt cx="4221050" cy="1890600"/>
          </a:xfrm>
        </p:grpSpPr>
        <p:sp>
          <p:nvSpPr>
            <p:cNvPr id="1145" name="Google Shape;1145;p87"/>
            <p:cNvSpPr/>
            <p:nvPr/>
          </p:nvSpPr>
          <p:spPr>
            <a:xfrm>
              <a:off x="1654925" y="2800350"/>
              <a:ext cx="3043800" cy="1133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6" name="Google Shape;1146;p87"/>
            <p:cNvCxnSpPr/>
            <p:nvPr/>
          </p:nvCxnSpPr>
          <p:spPr>
            <a:xfrm>
              <a:off x="1589100" y="2492525"/>
              <a:ext cx="3043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47" name="Google Shape;1147;p87"/>
            <p:cNvCxnSpPr/>
            <p:nvPr/>
          </p:nvCxnSpPr>
          <p:spPr>
            <a:xfrm>
              <a:off x="1276200" y="2800350"/>
              <a:ext cx="6600" cy="1110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48" name="Google Shape;1148;p87"/>
            <p:cNvSpPr txBox="1"/>
            <p:nvPr/>
          </p:nvSpPr>
          <p:spPr>
            <a:xfrm>
              <a:off x="2659950" y="2042850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19 cm</a:t>
              </a:r>
              <a:endParaRPr/>
            </a:p>
          </p:txBody>
        </p:sp>
        <p:sp>
          <p:nvSpPr>
            <p:cNvPr id="1149" name="Google Shape;1149;p87"/>
            <p:cNvSpPr txBox="1"/>
            <p:nvPr/>
          </p:nvSpPr>
          <p:spPr>
            <a:xfrm>
              <a:off x="477675" y="3128400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/>
            </a:p>
          </p:txBody>
        </p:sp>
      </p:grpSp>
      <p:sp>
        <p:nvSpPr>
          <p:cNvPr id="1150" name="Google Shape;1150;p87"/>
          <p:cNvSpPr txBox="1"/>
          <p:nvPr/>
        </p:nvSpPr>
        <p:spPr>
          <a:xfrm>
            <a:off x="555344" y="4015354"/>
            <a:ext cx="481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so many different ways! Ensure to check your calculation.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88"/>
          <p:cNvSpPr txBox="1"/>
          <p:nvPr/>
        </p:nvSpPr>
        <p:spPr>
          <a:xfrm>
            <a:off x="401475" y="581250"/>
            <a:ext cx="8282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Lucas wants to find the area to this rectangle. He starts by writing this calculation: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8"/>
          <p:cNvSpPr txBox="1"/>
          <p:nvPr/>
        </p:nvSpPr>
        <p:spPr>
          <a:xfrm>
            <a:off x="5365550" y="2700000"/>
            <a:ext cx="363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( 10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7 ) + ( 9 × 7 )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8"/>
          <p:cNvSpPr txBox="1"/>
          <p:nvPr/>
        </p:nvSpPr>
        <p:spPr>
          <a:xfrm>
            <a:off x="1589100" y="1425150"/>
            <a:ext cx="5502600" cy="477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( 5 × 10 ) + ( 2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10 ) + ( 5 × 9 ) + ( 2 × 9 )  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9" name="Google Shape;1159;p88"/>
          <p:cNvGrpSpPr/>
          <p:nvPr/>
        </p:nvGrpSpPr>
        <p:grpSpPr>
          <a:xfrm>
            <a:off x="-857125" y="2129658"/>
            <a:ext cx="5555850" cy="1811217"/>
            <a:chOff x="-857125" y="2129658"/>
            <a:chExt cx="5555850" cy="1811217"/>
          </a:xfrm>
        </p:grpSpPr>
        <p:sp>
          <p:nvSpPr>
            <p:cNvPr id="1160" name="Google Shape;1160;p88"/>
            <p:cNvSpPr/>
            <p:nvPr/>
          </p:nvSpPr>
          <p:spPr>
            <a:xfrm>
              <a:off x="1654925" y="2800350"/>
              <a:ext cx="3043800" cy="1133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1" name="Google Shape;1161;p88"/>
            <p:cNvCxnSpPr/>
            <p:nvPr/>
          </p:nvCxnSpPr>
          <p:spPr>
            <a:xfrm>
              <a:off x="1628250" y="2567250"/>
              <a:ext cx="1639800" cy="9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62" name="Google Shape;1162;p88"/>
            <p:cNvSpPr txBox="1"/>
            <p:nvPr/>
          </p:nvSpPr>
          <p:spPr>
            <a:xfrm>
              <a:off x="2188450" y="2129658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/>
            </a:p>
          </p:txBody>
        </p:sp>
        <p:sp>
          <p:nvSpPr>
            <p:cNvPr id="1163" name="Google Shape;1163;p88"/>
            <p:cNvSpPr txBox="1"/>
            <p:nvPr/>
          </p:nvSpPr>
          <p:spPr>
            <a:xfrm>
              <a:off x="-857125" y="2904000"/>
              <a:ext cx="23196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/>
            </a:p>
          </p:txBody>
        </p:sp>
        <p:sp>
          <p:nvSpPr>
            <p:cNvPr id="1164" name="Google Shape;1164;p88"/>
            <p:cNvSpPr/>
            <p:nvPr/>
          </p:nvSpPr>
          <p:spPr>
            <a:xfrm>
              <a:off x="3191609" y="3489775"/>
              <a:ext cx="1500300" cy="439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8"/>
            <p:cNvSpPr/>
            <p:nvPr/>
          </p:nvSpPr>
          <p:spPr>
            <a:xfrm>
              <a:off x="1654925" y="2800350"/>
              <a:ext cx="1539300" cy="1133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88"/>
            <p:cNvSpPr/>
            <p:nvPr/>
          </p:nvSpPr>
          <p:spPr>
            <a:xfrm>
              <a:off x="3194275" y="2800350"/>
              <a:ext cx="1500300" cy="1133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7" name="Google Shape;1167;p88"/>
            <p:cNvCxnSpPr/>
            <p:nvPr/>
          </p:nvCxnSpPr>
          <p:spPr>
            <a:xfrm flipH="1">
              <a:off x="1521950" y="2830575"/>
              <a:ext cx="11700" cy="111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68" name="Google Shape;1168;p88"/>
            <p:cNvSpPr txBox="1"/>
            <p:nvPr/>
          </p:nvSpPr>
          <p:spPr>
            <a:xfrm>
              <a:off x="662078" y="3147236"/>
              <a:ext cx="8004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/>
            </a:p>
          </p:txBody>
        </p:sp>
        <p:cxnSp>
          <p:nvCxnSpPr>
            <p:cNvPr id="1169" name="Google Shape;1169;p88"/>
            <p:cNvCxnSpPr/>
            <p:nvPr/>
          </p:nvCxnSpPr>
          <p:spPr>
            <a:xfrm flipH="1" rot="10800000">
              <a:off x="3263907" y="2568593"/>
              <a:ext cx="1421100" cy="8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70" name="Google Shape;1170;p88"/>
            <p:cNvSpPr txBox="1"/>
            <p:nvPr/>
          </p:nvSpPr>
          <p:spPr>
            <a:xfrm>
              <a:off x="3483850" y="2129658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/>
            </a:p>
          </p:txBody>
        </p:sp>
        <p:sp>
          <p:nvSpPr>
            <p:cNvPr id="1171" name="Google Shape;1171;p88"/>
            <p:cNvSpPr/>
            <p:nvPr/>
          </p:nvSpPr>
          <p:spPr>
            <a:xfrm flipH="1" rot="10800000">
              <a:off x="1651875" y="3929312"/>
              <a:ext cx="1539300" cy="8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88"/>
          <p:cNvGrpSpPr/>
          <p:nvPr/>
        </p:nvGrpSpPr>
        <p:grpSpPr>
          <a:xfrm>
            <a:off x="483634" y="2025522"/>
            <a:ext cx="4221050" cy="1890600"/>
            <a:chOff x="477675" y="2042850"/>
            <a:chExt cx="4221050" cy="1890600"/>
          </a:xfrm>
        </p:grpSpPr>
        <p:sp>
          <p:nvSpPr>
            <p:cNvPr id="1173" name="Google Shape;1173;p88"/>
            <p:cNvSpPr/>
            <p:nvPr/>
          </p:nvSpPr>
          <p:spPr>
            <a:xfrm>
              <a:off x="1654925" y="2800350"/>
              <a:ext cx="3043800" cy="1133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74" name="Google Shape;1174;p88"/>
            <p:cNvCxnSpPr/>
            <p:nvPr/>
          </p:nvCxnSpPr>
          <p:spPr>
            <a:xfrm>
              <a:off x="1589100" y="2492525"/>
              <a:ext cx="3043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75" name="Google Shape;1175;p88"/>
            <p:cNvCxnSpPr/>
            <p:nvPr/>
          </p:nvCxnSpPr>
          <p:spPr>
            <a:xfrm>
              <a:off x="1276200" y="2800350"/>
              <a:ext cx="6600" cy="1110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76" name="Google Shape;1176;p88"/>
            <p:cNvSpPr txBox="1"/>
            <p:nvPr/>
          </p:nvSpPr>
          <p:spPr>
            <a:xfrm>
              <a:off x="2659950" y="2042850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19 cm</a:t>
              </a:r>
              <a:endParaRPr/>
            </a:p>
          </p:txBody>
        </p:sp>
        <p:sp>
          <p:nvSpPr>
            <p:cNvPr id="1177" name="Google Shape;1177;p88"/>
            <p:cNvSpPr txBox="1"/>
            <p:nvPr/>
          </p:nvSpPr>
          <p:spPr>
            <a:xfrm>
              <a:off x="477675" y="3128400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/>
            </a:p>
          </p:txBody>
        </p:sp>
      </p:grpSp>
      <p:sp>
        <p:nvSpPr>
          <p:cNvPr id="1178" name="Google Shape;1178;p88"/>
          <p:cNvSpPr txBox="1"/>
          <p:nvPr/>
        </p:nvSpPr>
        <p:spPr>
          <a:xfrm>
            <a:off x="555344" y="4015354"/>
            <a:ext cx="481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so many different ways! Ensure to check your calculation.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89"/>
          <p:cNvSpPr txBox="1"/>
          <p:nvPr/>
        </p:nvSpPr>
        <p:spPr>
          <a:xfrm>
            <a:off x="401475" y="581250"/>
            <a:ext cx="8282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Lucas wants to find the area to this rectangle. He starts by writing this calculation: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9"/>
          <p:cNvSpPr txBox="1"/>
          <p:nvPr/>
        </p:nvSpPr>
        <p:spPr>
          <a:xfrm>
            <a:off x="5365550" y="2700000"/>
            <a:ext cx="363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( 10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7 ) + ( 5 × 7 ) +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( 4 × 7 )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9"/>
          <p:cNvSpPr txBox="1"/>
          <p:nvPr/>
        </p:nvSpPr>
        <p:spPr>
          <a:xfrm>
            <a:off x="1589100" y="1425150"/>
            <a:ext cx="5502600" cy="477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( 5 × 10 ) + ( 2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10 ) + ( 5 × 9 ) + ( 2 × 9 )  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7" name="Google Shape;1187;p89"/>
          <p:cNvGrpSpPr/>
          <p:nvPr/>
        </p:nvGrpSpPr>
        <p:grpSpPr>
          <a:xfrm>
            <a:off x="-857125" y="2129650"/>
            <a:ext cx="5555850" cy="1811225"/>
            <a:chOff x="-857125" y="2129650"/>
            <a:chExt cx="5555850" cy="1811225"/>
          </a:xfrm>
        </p:grpSpPr>
        <p:sp>
          <p:nvSpPr>
            <p:cNvPr id="1188" name="Google Shape;1188;p89"/>
            <p:cNvSpPr/>
            <p:nvPr/>
          </p:nvSpPr>
          <p:spPr>
            <a:xfrm>
              <a:off x="1654925" y="2800350"/>
              <a:ext cx="3043800" cy="1133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89" name="Google Shape;1189;p89"/>
            <p:cNvCxnSpPr/>
            <p:nvPr/>
          </p:nvCxnSpPr>
          <p:spPr>
            <a:xfrm>
              <a:off x="1628250" y="2567250"/>
              <a:ext cx="1178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90" name="Google Shape;1190;p89"/>
            <p:cNvSpPr txBox="1"/>
            <p:nvPr/>
          </p:nvSpPr>
          <p:spPr>
            <a:xfrm>
              <a:off x="1811763" y="2129650"/>
              <a:ext cx="1177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/>
            </a:p>
          </p:txBody>
        </p:sp>
        <p:sp>
          <p:nvSpPr>
            <p:cNvPr id="1191" name="Google Shape;1191;p89"/>
            <p:cNvSpPr txBox="1"/>
            <p:nvPr/>
          </p:nvSpPr>
          <p:spPr>
            <a:xfrm>
              <a:off x="-857125" y="2904000"/>
              <a:ext cx="23196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/>
            </a:p>
          </p:txBody>
        </p:sp>
        <p:sp>
          <p:nvSpPr>
            <p:cNvPr id="1192" name="Google Shape;1192;p89"/>
            <p:cNvSpPr/>
            <p:nvPr/>
          </p:nvSpPr>
          <p:spPr>
            <a:xfrm>
              <a:off x="3851304" y="3489775"/>
              <a:ext cx="840600" cy="439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89"/>
            <p:cNvSpPr/>
            <p:nvPr/>
          </p:nvSpPr>
          <p:spPr>
            <a:xfrm>
              <a:off x="1654925" y="2800350"/>
              <a:ext cx="1138200" cy="1133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9"/>
            <p:cNvSpPr/>
            <p:nvPr/>
          </p:nvSpPr>
          <p:spPr>
            <a:xfrm>
              <a:off x="3853763" y="2800350"/>
              <a:ext cx="840600" cy="1133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5" name="Google Shape;1195;p89"/>
            <p:cNvCxnSpPr/>
            <p:nvPr/>
          </p:nvCxnSpPr>
          <p:spPr>
            <a:xfrm flipH="1">
              <a:off x="1521950" y="2830575"/>
              <a:ext cx="11700" cy="111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96" name="Google Shape;1196;p89"/>
            <p:cNvSpPr txBox="1"/>
            <p:nvPr/>
          </p:nvSpPr>
          <p:spPr>
            <a:xfrm>
              <a:off x="662078" y="3147236"/>
              <a:ext cx="8004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/>
            </a:p>
          </p:txBody>
        </p:sp>
        <p:cxnSp>
          <p:nvCxnSpPr>
            <p:cNvPr id="1197" name="Google Shape;1197;p89"/>
            <p:cNvCxnSpPr/>
            <p:nvPr/>
          </p:nvCxnSpPr>
          <p:spPr>
            <a:xfrm>
              <a:off x="3798725" y="2568600"/>
              <a:ext cx="886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98" name="Google Shape;1198;p89"/>
            <p:cNvSpPr txBox="1"/>
            <p:nvPr/>
          </p:nvSpPr>
          <p:spPr>
            <a:xfrm>
              <a:off x="3897850" y="2129650"/>
              <a:ext cx="8004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/>
            </a:p>
          </p:txBody>
        </p:sp>
        <p:sp>
          <p:nvSpPr>
            <p:cNvPr id="1199" name="Google Shape;1199;p89"/>
            <p:cNvSpPr/>
            <p:nvPr/>
          </p:nvSpPr>
          <p:spPr>
            <a:xfrm flipH="1" rot="10800000">
              <a:off x="1651875" y="3929312"/>
              <a:ext cx="1539300" cy="8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0" name="Google Shape;1200;p89"/>
          <p:cNvGrpSpPr/>
          <p:nvPr/>
        </p:nvGrpSpPr>
        <p:grpSpPr>
          <a:xfrm>
            <a:off x="479159" y="2066097"/>
            <a:ext cx="4221050" cy="1890600"/>
            <a:chOff x="477675" y="2042850"/>
            <a:chExt cx="4221050" cy="1890600"/>
          </a:xfrm>
        </p:grpSpPr>
        <p:sp>
          <p:nvSpPr>
            <p:cNvPr id="1201" name="Google Shape;1201;p89"/>
            <p:cNvSpPr/>
            <p:nvPr/>
          </p:nvSpPr>
          <p:spPr>
            <a:xfrm>
              <a:off x="1654925" y="2800350"/>
              <a:ext cx="3043800" cy="1133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2" name="Google Shape;1202;p89"/>
            <p:cNvCxnSpPr/>
            <p:nvPr/>
          </p:nvCxnSpPr>
          <p:spPr>
            <a:xfrm>
              <a:off x="1589100" y="2492525"/>
              <a:ext cx="3043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03" name="Google Shape;1203;p89"/>
            <p:cNvCxnSpPr/>
            <p:nvPr/>
          </p:nvCxnSpPr>
          <p:spPr>
            <a:xfrm>
              <a:off x="1276200" y="2800350"/>
              <a:ext cx="6600" cy="1110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04" name="Google Shape;1204;p89"/>
            <p:cNvSpPr txBox="1"/>
            <p:nvPr/>
          </p:nvSpPr>
          <p:spPr>
            <a:xfrm>
              <a:off x="2659950" y="2042850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19 cm</a:t>
              </a:r>
              <a:endParaRPr/>
            </a:p>
          </p:txBody>
        </p:sp>
        <p:sp>
          <p:nvSpPr>
            <p:cNvPr id="1205" name="Google Shape;1205;p89"/>
            <p:cNvSpPr txBox="1"/>
            <p:nvPr/>
          </p:nvSpPr>
          <p:spPr>
            <a:xfrm>
              <a:off x="477675" y="3128400"/>
              <a:ext cx="1138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/>
            </a:p>
          </p:txBody>
        </p:sp>
      </p:grpSp>
      <p:sp>
        <p:nvSpPr>
          <p:cNvPr id="1206" name="Google Shape;1206;p89"/>
          <p:cNvSpPr txBox="1"/>
          <p:nvPr/>
        </p:nvSpPr>
        <p:spPr>
          <a:xfrm>
            <a:off x="555344" y="4015354"/>
            <a:ext cx="481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so many different ways! Ensure to check your calculation.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07" name="Google Shape;1207;p89"/>
          <p:cNvGrpSpPr/>
          <p:nvPr/>
        </p:nvGrpSpPr>
        <p:grpSpPr>
          <a:xfrm>
            <a:off x="2799264" y="2129650"/>
            <a:ext cx="1003200" cy="477000"/>
            <a:chOff x="2799264" y="2129650"/>
            <a:chExt cx="1003200" cy="477000"/>
          </a:xfrm>
        </p:grpSpPr>
        <p:sp>
          <p:nvSpPr>
            <p:cNvPr id="1208" name="Google Shape;1208;p89"/>
            <p:cNvSpPr txBox="1"/>
            <p:nvPr/>
          </p:nvSpPr>
          <p:spPr>
            <a:xfrm>
              <a:off x="2941225" y="2129650"/>
              <a:ext cx="8004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/>
            </a:p>
          </p:txBody>
        </p:sp>
        <p:cxnSp>
          <p:nvCxnSpPr>
            <p:cNvPr id="1209" name="Google Shape;1209;p89"/>
            <p:cNvCxnSpPr/>
            <p:nvPr/>
          </p:nvCxnSpPr>
          <p:spPr>
            <a:xfrm>
              <a:off x="2799264" y="2567547"/>
              <a:ext cx="1003200" cy="5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90"/>
          <p:cNvSpPr txBox="1"/>
          <p:nvPr>
            <p:ph idx="4294967295" type="body"/>
          </p:nvPr>
        </p:nvSpPr>
        <p:spPr>
          <a:xfrm>
            <a:off x="324000" y="759300"/>
            <a:ext cx="8237700" cy="5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</a:t>
            </a:r>
            <a:r>
              <a:rPr lang="en-GB" sz="2000"/>
              <a:t>Fill in the blanks using your knowledge on the </a:t>
            </a:r>
            <a:r>
              <a:rPr lang="en-GB" sz="2000"/>
              <a:t>distributive law.</a:t>
            </a:r>
            <a:endParaRPr sz="2000"/>
          </a:p>
        </p:txBody>
      </p:sp>
      <p:sp>
        <p:nvSpPr>
          <p:cNvPr id="1215" name="Google Shape;1215;p90"/>
          <p:cNvSpPr txBox="1"/>
          <p:nvPr/>
        </p:nvSpPr>
        <p:spPr>
          <a:xfrm>
            <a:off x="339100" y="1408600"/>
            <a:ext cx="3569700" cy="18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exend"/>
              <a:buAutoNum type="alphaLcParenR"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7 × 8 + 12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× 4 × 2 + 3 × 4 × 11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14 + 4 × 33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( 14 + 33 ) = 188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0"/>
          <p:cNvSpPr txBox="1"/>
          <p:nvPr/>
        </p:nvSpPr>
        <p:spPr>
          <a:xfrm>
            <a:off x="4198350" y="1312800"/>
            <a:ext cx="4363200" cy="30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b)  15 × 9 + 25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9 + 30 × 3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15 × 9 + 25 × 9 + 10 × 3 × 3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15 × 9 + 25 × 9 + 10  × 9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× ( 15 + 25 + 10 )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× ( 50 ) = 450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91"/>
          <p:cNvSpPr txBox="1"/>
          <p:nvPr/>
        </p:nvSpPr>
        <p:spPr>
          <a:xfrm>
            <a:off x="401475" y="809850"/>
            <a:ext cx="8282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3) How many different ways can you split the calculation? Some have been suggested for you to fill in.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1"/>
          <p:cNvSpPr/>
          <p:nvPr/>
        </p:nvSpPr>
        <p:spPr>
          <a:xfrm>
            <a:off x="2973700" y="2396813"/>
            <a:ext cx="2268864" cy="1317060"/>
          </a:xfrm>
          <a:prstGeom prst="cloud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28 × 84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5" name="Google Shape;1225;p91"/>
          <p:cNvCxnSpPr/>
          <p:nvPr/>
        </p:nvCxnSpPr>
        <p:spPr>
          <a:xfrm flipH="1" rot="10800000">
            <a:off x="5005513" y="2241438"/>
            <a:ext cx="717300" cy="329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91"/>
          <p:cNvCxnSpPr/>
          <p:nvPr/>
        </p:nvCxnSpPr>
        <p:spPr>
          <a:xfrm flipH="1" rot="10800000">
            <a:off x="2019875" y="3074650"/>
            <a:ext cx="953700" cy="18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91"/>
          <p:cNvCxnSpPr/>
          <p:nvPr/>
        </p:nvCxnSpPr>
        <p:spPr>
          <a:xfrm>
            <a:off x="2455250" y="2270100"/>
            <a:ext cx="906300" cy="27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91"/>
          <p:cNvCxnSpPr/>
          <p:nvPr/>
        </p:nvCxnSpPr>
        <p:spPr>
          <a:xfrm flipH="1">
            <a:off x="3095048" y="3583618"/>
            <a:ext cx="327300" cy="610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9" name="Google Shape;1229;p91"/>
          <p:cNvSpPr txBox="1"/>
          <p:nvPr/>
        </p:nvSpPr>
        <p:spPr>
          <a:xfrm>
            <a:off x="5543825" y="1762350"/>
            <a:ext cx="2826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( 20 + 8 ) × ( 80 + 4 )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1"/>
          <p:cNvSpPr txBox="1"/>
          <p:nvPr/>
        </p:nvSpPr>
        <p:spPr>
          <a:xfrm>
            <a:off x="434550" y="1846050"/>
            <a:ext cx="2500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7 × 4 × 21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1"/>
          <p:cNvSpPr txBox="1"/>
          <p:nvPr/>
        </p:nvSpPr>
        <p:spPr>
          <a:xfrm>
            <a:off x="0" y="2797738"/>
            <a:ext cx="2500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7 × 4 × 7 × 3 </a:t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2" name="Google Shape;1232;p91"/>
          <p:cNvCxnSpPr/>
          <p:nvPr/>
        </p:nvCxnSpPr>
        <p:spPr>
          <a:xfrm>
            <a:off x="5242575" y="2919450"/>
            <a:ext cx="1018800" cy="164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91"/>
          <p:cNvSpPr txBox="1"/>
          <p:nvPr/>
        </p:nvSpPr>
        <p:spPr>
          <a:xfrm>
            <a:off x="6028200" y="2741400"/>
            <a:ext cx="27918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( 30 - 2 ) × ( 80 + 4 )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1"/>
          <p:cNvSpPr txBox="1"/>
          <p:nvPr/>
        </p:nvSpPr>
        <p:spPr>
          <a:xfrm>
            <a:off x="134725" y="4168250"/>
            <a:ext cx="4420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( 28 × 40 ) + ( 28 × 40 ) + ( 28 × 4 )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5" name="Google Shape;1235;p91"/>
          <p:cNvCxnSpPr/>
          <p:nvPr/>
        </p:nvCxnSpPr>
        <p:spPr>
          <a:xfrm>
            <a:off x="4887350" y="3432450"/>
            <a:ext cx="730800" cy="410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91"/>
          <p:cNvSpPr txBox="1"/>
          <p:nvPr/>
        </p:nvSpPr>
        <p:spPr>
          <a:xfrm>
            <a:off x="3851025" y="3796650"/>
            <a:ext cx="5097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( 84 × 10 ) + ( 84 × 10 ) + ( 84 × 10 ) - ( 84 × 2 )</a:t>
            </a:r>
            <a:endParaRPr sz="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1"/>
          <p:cNvSpPr txBox="1"/>
          <p:nvPr/>
        </p:nvSpPr>
        <p:spPr>
          <a:xfrm>
            <a:off x="401475" y="641000"/>
            <a:ext cx="8282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There are an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infinite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number of different ways. The last two are simply common examples. Check your answers with a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calculator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to see if the result is the same as 28 × 84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more than one law</a:t>
            </a:r>
            <a:endParaRPr/>
          </a:p>
        </p:txBody>
      </p:sp>
      <p:sp>
        <p:nvSpPr>
          <p:cNvPr id="1243" name="Google Shape;1243;p9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</p:txBody>
      </p:sp>
      <p:sp>
        <p:nvSpPr>
          <p:cNvPr id="1244" name="Google Shape;1244;p92"/>
          <p:cNvSpPr txBox="1"/>
          <p:nvPr>
            <p:ph idx="3" type="title"/>
          </p:nvPr>
        </p:nvSpPr>
        <p:spPr>
          <a:xfrm>
            <a:off x="324000" y="657600"/>
            <a:ext cx="75198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associative, commutative and distributive laws together</a:t>
            </a:r>
            <a:endParaRPr/>
          </a:p>
        </p:txBody>
      </p:sp>
      <p:pic>
        <p:nvPicPr>
          <p:cNvPr id="1245" name="Google Shape;124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00" y="298839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93"/>
          <p:cNvSpPr txBox="1"/>
          <p:nvPr>
            <p:ph idx="1" type="body"/>
          </p:nvPr>
        </p:nvSpPr>
        <p:spPr>
          <a:xfrm>
            <a:off x="400200" y="759300"/>
            <a:ext cx="8237700" cy="11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combination of the laws allows us to rewrite a calculation for efficiency and ease. </a:t>
            </a:r>
            <a:r>
              <a:rPr lang="en-GB"/>
              <a:t>Especially when using decimals.</a:t>
            </a:r>
            <a:endParaRPr/>
          </a:p>
        </p:txBody>
      </p:sp>
      <p:sp>
        <p:nvSpPr>
          <p:cNvPr id="1251" name="Google Shape;125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</p:txBody>
      </p:sp>
      <p:sp>
        <p:nvSpPr>
          <p:cNvPr id="1252" name="Google Shape;1252;p93"/>
          <p:cNvSpPr txBox="1"/>
          <p:nvPr/>
        </p:nvSpPr>
        <p:spPr>
          <a:xfrm>
            <a:off x="292350" y="1946400"/>
            <a:ext cx="8301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Identifying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common factors can help identify an easier calculation.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4"/>
          <p:cNvSpPr txBox="1"/>
          <p:nvPr/>
        </p:nvSpPr>
        <p:spPr>
          <a:xfrm>
            <a:off x="3764600" y="1724400"/>
            <a:ext cx="5402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4.5 × 4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+ 1.3 × 4 × 2 +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4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</p:txBody>
      </p:sp>
      <p:sp>
        <p:nvSpPr>
          <p:cNvPr id="1259" name="Google Shape;1259;p94"/>
          <p:cNvSpPr txBox="1"/>
          <p:nvPr/>
        </p:nvSpPr>
        <p:spPr>
          <a:xfrm>
            <a:off x="4171400" y="891750"/>
            <a:ext cx="4588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4.5 × 12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+ 1.3 × 8 +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4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4"/>
          <p:cNvSpPr txBox="1"/>
          <p:nvPr/>
        </p:nvSpPr>
        <p:spPr>
          <a:xfrm>
            <a:off x="376050" y="1473900"/>
            <a:ext cx="27138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spot any common factors we can use here?</a:t>
            </a:r>
            <a:endParaRPr/>
          </a:p>
        </p:txBody>
      </p:sp>
      <p:sp>
        <p:nvSpPr>
          <p:cNvPr id="1261" name="Google Shape;1261;p94"/>
          <p:cNvSpPr txBox="1"/>
          <p:nvPr/>
        </p:nvSpPr>
        <p:spPr>
          <a:xfrm>
            <a:off x="324000" y="810000"/>
            <a:ext cx="83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look at an example.</a:t>
            </a:r>
            <a:endParaRPr/>
          </a:p>
        </p:txBody>
      </p:sp>
      <p:cxnSp>
        <p:nvCxnSpPr>
          <p:cNvPr id="1262" name="Google Shape;1262;p94"/>
          <p:cNvCxnSpPr/>
          <p:nvPr/>
        </p:nvCxnSpPr>
        <p:spPr>
          <a:xfrm>
            <a:off x="4991258" y="1324583"/>
            <a:ext cx="267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94"/>
          <p:cNvCxnSpPr/>
          <p:nvPr/>
        </p:nvCxnSpPr>
        <p:spPr>
          <a:xfrm>
            <a:off x="6258183" y="1324583"/>
            <a:ext cx="267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94"/>
          <p:cNvCxnSpPr/>
          <p:nvPr/>
        </p:nvCxnSpPr>
        <p:spPr>
          <a:xfrm>
            <a:off x="7555810" y="1324583"/>
            <a:ext cx="267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94"/>
          <p:cNvCxnSpPr/>
          <p:nvPr/>
        </p:nvCxnSpPr>
        <p:spPr>
          <a:xfrm flipH="1">
            <a:off x="4923908" y="1324583"/>
            <a:ext cx="220500" cy="459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6" name="Google Shape;1266;p94"/>
          <p:cNvGrpSpPr/>
          <p:nvPr/>
        </p:nvGrpSpPr>
        <p:grpSpPr>
          <a:xfrm>
            <a:off x="4580325" y="1770814"/>
            <a:ext cx="624683" cy="85104"/>
            <a:chOff x="4199325" y="2532814"/>
            <a:chExt cx="624683" cy="85104"/>
          </a:xfrm>
        </p:grpSpPr>
        <p:cxnSp>
          <p:nvCxnSpPr>
            <p:cNvPr id="1267" name="Google Shape;1267;p94"/>
            <p:cNvCxnSpPr/>
            <p:nvPr/>
          </p:nvCxnSpPr>
          <p:spPr>
            <a:xfrm>
              <a:off x="4206008" y="2546183"/>
              <a:ext cx="618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8" name="Google Shape;1268;p94"/>
            <p:cNvCxnSpPr/>
            <p:nvPr/>
          </p:nvCxnSpPr>
          <p:spPr>
            <a:xfrm>
              <a:off x="4199325" y="2532814"/>
              <a:ext cx="3300" cy="78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9" name="Google Shape;1269;p94"/>
            <p:cNvCxnSpPr/>
            <p:nvPr/>
          </p:nvCxnSpPr>
          <p:spPr>
            <a:xfrm>
              <a:off x="4808925" y="2539618"/>
              <a:ext cx="3300" cy="78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0" name="Google Shape;1270;p94"/>
          <p:cNvGrpSpPr/>
          <p:nvPr/>
        </p:nvGrpSpPr>
        <p:grpSpPr>
          <a:xfrm>
            <a:off x="6215475" y="1767189"/>
            <a:ext cx="624683" cy="85104"/>
            <a:chOff x="4199325" y="2532814"/>
            <a:chExt cx="624683" cy="85104"/>
          </a:xfrm>
        </p:grpSpPr>
        <p:cxnSp>
          <p:nvCxnSpPr>
            <p:cNvPr id="1271" name="Google Shape;1271;p94"/>
            <p:cNvCxnSpPr/>
            <p:nvPr/>
          </p:nvCxnSpPr>
          <p:spPr>
            <a:xfrm>
              <a:off x="4206008" y="2546183"/>
              <a:ext cx="618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94"/>
            <p:cNvCxnSpPr/>
            <p:nvPr/>
          </p:nvCxnSpPr>
          <p:spPr>
            <a:xfrm>
              <a:off x="4199325" y="2532814"/>
              <a:ext cx="3300" cy="78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3" name="Google Shape;1273;p94"/>
            <p:cNvCxnSpPr/>
            <p:nvPr/>
          </p:nvCxnSpPr>
          <p:spPr>
            <a:xfrm>
              <a:off x="4808925" y="2539618"/>
              <a:ext cx="3300" cy="78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74" name="Google Shape;1274;p94"/>
          <p:cNvCxnSpPr/>
          <p:nvPr/>
        </p:nvCxnSpPr>
        <p:spPr>
          <a:xfrm>
            <a:off x="6396608" y="1307608"/>
            <a:ext cx="156600" cy="461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75" name="Google Shape;1275;p94"/>
          <p:cNvGrpSpPr/>
          <p:nvPr/>
        </p:nvGrpSpPr>
        <p:grpSpPr>
          <a:xfrm>
            <a:off x="7835039" y="1770927"/>
            <a:ext cx="513302" cy="85104"/>
            <a:chOff x="4199325" y="2532814"/>
            <a:chExt cx="624683" cy="85104"/>
          </a:xfrm>
        </p:grpSpPr>
        <p:cxnSp>
          <p:nvCxnSpPr>
            <p:cNvPr id="1276" name="Google Shape;1276;p94"/>
            <p:cNvCxnSpPr/>
            <p:nvPr/>
          </p:nvCxnSpPr>
          <p:spPr>
            <a:xfrm>
              <a:off x="4206008" y="2546183"/>
              <a:ext cx="618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7" name="Google Shape;1277;p94"/>
            <p:cNvCxnSpPr/>
            <p:nvPr/>
          </p:nvCxnSpPr>
          <p:spPr>
            <a:xfrm>
              <a:off x="4199325" y="2532814"/>
              <a:ext cx="3300" cy="78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8" name="Google Shape;1278;p94"/>
            <p:cNvCxnSpPr/>
            <p:nvPr/>
          </p:nvCxnSpPr>
          <p:spPr>
            <a:xfrm>
              <a:off x="4808925" y="2539618"/>
              <a:ext cx="3300" cy="78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79" name="Google Shape;1279;p94"/>
          <p:cNvCxnSpPr/>
          <p:nvPr/>
        </p:nvCxnSpPr>
        <p:spPr>
          <a:xfrm>
            <a:off x="7731185" y="1334033"/>
            <a:ext cx="400800" cy="432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94"/>
          <p:cNvSpPr txBox="1"/>
          <p:nvPr/>
        </p:nvSpPr>
        <p:spPr>
          <a:xfrm>
            <a:off x="3773700" y="2222900"/>
            <a:ext cx="5402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4.5 × 3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+ 1.3 × 2 × 4 +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0.9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4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4"/>
          <p:cNvSpPr txBox="1"/>
          <p:nvPr/>
        </p:nvSpPr>
        <p:spPr>
          <a:xfrm>
            <a:off x="4222875" y="2735000"/>
            <a:ext cx="4953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13.5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+ 2.6 × 4 +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 × 4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4"/>
          <p:cNvSpPr txBox="1"/>
          <p:nvPr/>
        </p:nvSpPr>
        <p:spPr>
          <a:xfrm>
            <a:off x="4222875" y="3301950"/>
            <a:ext cx="4953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(13.5 +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2.6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+ 0.9)  =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4"/>
          <p:cNvSpPr txBox="1"/>
          <p:nvPr/>
        </p:nvSpPr>
        <p:spPr>
          <a:xfrm>
            <a:off x="4207875" y="3821800"/>
            <a:ext cx="1662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(17)  =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4"/>
          <p:cNvSpPr txBox="1"/>
          <p:nvPr/>
        </p:nvSpPr>
        <p:spPr>
          <a:xfrm>
            <a:off x="5743674" y="3827932"/>
            <a:ext cx="778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95"/>
          <p:cNvSpPr/>
          <p:nvPr/>
        </p:nvSpPr>
        <p:spPr>
          <a:xfrm>
            <a:off x="5439675" y="1629525"/>
            <a:ext cx="3461700" cy="181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5"/>
          <p:cNvSpPr/>
          <p:nvPr/>
        </p:nvSpPr>
        <p:spPr>
          <a:xfrm>
            <a:off x="328875" y="1629525"/>
            <a:ext cx="5110800" cy="181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5"/>
          <p:cNvSpPr txBox="1"/>
          <p:nvPr>
            <p:ph idx="1" type="body"/>
          </p:nvPr>
        </p:nvSpPr>
        <p:spPr>
          <a:xfrm>
            <a:off x="324000" y="759300"/>
            <a:ext cx="82377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Laura and Andeep were each given the same question. Here is their working out for each.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Who is correct?</a:t>
            </a:r>
            <a:endParaRPr sz="1900"/>
          </a:p>
        </p:txBody>
      </p:sp>
      <p:sp>
        <p:nvSpPr>
          <p:cNvPr id="1292" name="Google Shape;129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</p:txBody>
      </p:sp>
      <p:sp>
        <p:nvSpPr>
          <p:cNvPr id="1293" name="Google Shape;1293;p95"/>
          <p:cNvSpPr txBox="1"/>
          <p:nvPr/>
        </p:nvSpPr>
        <p:spPr>
          <a:xfrm>
            <a:off x="2244125" y="3638175"/>
            <a:ext cx="63177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both are! Andeep’s method is much more efficient and time saving, but both are correct. This is another fantastic quality about mathematics - there is more than one way to get a solution.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4" name="Google Shape;1294;p95"/>
          <p:cNvSpPr txBox="1"/>
          <p:nvPr/>
        </p:nvSpPr>
        <p:spPr>
          <a:xfrm>
            <a:off x="324000" y="1639250"/>
            <a:ext cx="55254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Laura:                3.4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9 - 1.1 × 6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34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9 × 0.1 - 11 × 6 × 0.1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(270+36) × 0.1 - 6.6 = 26.4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30.6 - 6.6 = 24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95" name="Google Shape;1295;p95"/>
          <p:cNvGraphicFramePr/>
          <p:nvPr/>
        </p:nvGraphicFramePr>
        <p:xfrm>
          <a:off x="467375" y="22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{15BDC329-7853-43AE-9F8E-09008B8B4FAE}</a:tableStyleId>
              </a:tblPr>
              <a:tblGrid>
                <a:gridCol w="562050"/>
                <a:gridCol w="675200"/>
                <a:gridCol w="448900"/>
              </a:tblGrid>
              <a:tr h="42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2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6" name="Google Shape;1296;p95"/>
          <p:cNvSpPr txBox="1"/>
          <p:nvPr/>
        </p:nvSpPr>
        <p:spPr>
          <a:xfrm>
            <a:off x="5439600" y="1639250"/>
            <a:ext cx="3461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Andeep: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3.4 × 9 - 1.1 × 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3.4 × 3 × 3 - 1.1 × 2 × 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10.2 × 3 - 2.2 × 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3 × (10.2 - 2.2)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3 × (8) = 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6"/>
          <p:cNvSpPr txBox="1"/>
          <p:nvPr/>
        </p:nvSpPr>
        <p:spPr>
          <a:xfrm>
            <a:off x="324000" y="640950"/>
            <a:ext cx="833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rabi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Fill in the blanks with your knowledge of the distributive law.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6"/>
          <p:cNvSpPr txBox="1"/>
          <p:nvPr/>
        </p:nvSpPr>
        <p:spPr>
          <a:xfrm>
            <a:off x="332553" y="1123800"/>
            <a:ext cx="432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)  15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3.2 + 10 × 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- 20 × 3.2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6"/>
          <p:cNvSpPr txBox="1"/>
          <p:nvPr/>
        </p:nvSpPr>
        <p:spPr>
          <a:xfrm>
            <a:off x="455775" y="1787625"/>
            <a:ext cx="516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 × 3.2   + 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2 × 3.2 - 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4 × 3.2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6"/>
          <p:cNvSpPr txBox="1"/>
          <p:nvPr/>
        </p:nvSpPr>
        <p:spPr>
          <a:xfrm>
            <a:off x="480545" y="2440075"/>
            <a:ext cx="4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9.6  +  5 × 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-  5 × 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96"/>
          <p:cNvSpPr txBox="1"/>
          <p:nvPr/>
        </p:nvSpPr>
        <p:spPr>
          <a:xfrm>
            <a:off x="3667969" y="3126031"/>
            <a:ext cx="203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4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96"/>
          <p:cNvSpPr txBox="1"/>
          <p:nvPr/>
        </p:nvSpPr>
        <p:spPr>
          <a:xfrm>
            <a:off x="448925" y="3064100"/>
            <a:ext cx="3474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(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+ 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</a:t>
            </a:r>
            <a:r>
              <a:rPr lang="en-GB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=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97"/>
          <p:cNvSpPr txBox="1"/>
          <p:nvPr/>
        </p:nvSpPr>
        <p:spPr>
          <a:xfrm>
            <a:off x="324000" y="878125"/>
            <a:ext cx="759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    Are the following statements true or false?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7"/>
          <p:cNvSpPr txBox="1"/>
          <p:nvPr/>
        </p:nvSpPr>
        <p:spPr>
          <a:xfrm>
            <a:off x="324000" y="2056200"/>
            <a:ext cx="8701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3.2 + 3.2 × 3 = 2.5 × 4 × 3.2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(17 × 3.2 + 1.8 × 17) = 17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− (7 × 17)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98"/>
          <p:cNvSpPr txBox="1"/>
          <p:nvPr/>
        </p:nvSpPr>
        <p:spPr>
          <a:xfrm>
            <a:off x="324000" y="2086800"/>
            <a:ext cx="8331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3a) Fill the three gaps in this calculation with the same single-digit number. Try a different single-digit number.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What do you notice? Can you explain why this happens?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8"/>
          <p:cNvSpPr txBox="1"/>
          <p:nvPr/>
        </p:nvSpPr>
        <p:spPr>
          <a:xfrm>
            <a:off x="2036850" y="1221075"/>
            <a:ext cx="49059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( 7 × ⬚ +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× 3   ) + ⬚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99"/>
          <p:cNvSpPr txBox="1"/>
          <p:nvPr/>
        </p:nvSpPr>
        <p:spPr>
          <a:xfrm>
            <a:off x="324000" y="640950"/>
            <a:ext cx="833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rabi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Fill in the blanks with your knowledge of the distributive law.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99"/>
          <p:cNvSpPr txBox="1"/>
          <p:nvPr/>
        </p:nvSpPr>
        <p:spPr>
          <a:xfrm>
            <a:off x="332553" y="1123800"/>
            <a:ext cx="432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a)  15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3.2  + 10 ×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3.2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 20 ×  3.2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9"/>
          <p:cNvSpPr txBox="1"/>
          <p:nvPr/>
        </p:nvSpPr>
        <p:spPr>
          <a:xfrm>
            <a:off x="455775" y="1787625"/>
            <a:ext cx="516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3.2   + 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2 × 3.2 -  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4 × 3.2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9"/>
          <p:cNvSpPr txBox="1"/>
          <p:nvPr/>
        </p:nvSpPr>
        <p:spPr>
          <a:xfrm>
            <a:off x="480545" y="2440075"/>
            <a:ext cx="4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9.6  +  5 ×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6.4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-  5 ×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12.8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1" name="Google Shape;1331;p99"/>
          <p:cNvSpPr txBox="1"/>
          <p:nvPr/>
        </p:nvSpPr>
        <p:spPr>
          <a:xfrm>
            <a:off x="3902369" y="3072681"/>
            <a:ext cx="203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4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9"/>
          <p:cNvSpPr txBox="1"/>
          <p:nvPr/>
        </p:nvSpPr>
        <p:spPr>
          <a:xfrm>
            <a:off x="448920" y="3064100"/>
            <a:ext cx="4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(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9.6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+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6.4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-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12.8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00"/>
          <p:cNvSpPr txBox="1"/>
          <p:nvPr/>
        </p:nvSpPr>
        <p:spPr>
          <a:xfrm>
            <a:off x="324000" y="725725"/>
            <a:ext cx="864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    Are the following statements true or false?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100"/>
          <p:cNvSpPr txBox="1"/>
          <p:nvPr/>
        </p:nvSpPr>
        <p:spPr>
          <a:xfrm>
            <a:off x="401200" y="1586700"/>
            <a:ext cx="8701200" cy="2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3.2    +     3.2 × 3      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2.5 × 4 × 3.2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(17 × 3.2 + 1.8 × 17)     =    17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− (7 × 17)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85858"/>
              </a:solidFill>
            </a:endParaRPr>
          </a:p>
        </p:txBody>
      </p:sp>
      <p:sp>
        <p:nvSpPr>
          <p:cNvPr id="1340" name="Google Shape;1340;p100"/>
          <p:cNvSpPr txBox="1"/>
          <p:nvPr/>
        </p:nvSpPr>
        <p:spPr>
          <a:xfrm>
            <a:off x="1081225" y="3502100"/>
            <a:ext cx="3123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0"/>
          <p:cNvSpPr txBox="1"/>
          <p:nvPr/>
        </p:nvSpPr>
        <p:spPr>
          <a:xfrm>
            <a:off x="3973032" y="2175820"/>
            <a:ext cx="33294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2.5 ×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3.2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2" name="Google Shape;1342;p100"/>
          <p:cNvSpPr txBox="1"/>
          <p:nvPr/>
        </p:nvSpPr>
        <p:spPr>
          <a:xfrm>
            <a:off x="3998775" y="2566500"/>
            <a:ext cx="1707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3.2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3" name="Google Shape;1343;p100"/>
          <p:cNvSpPr txBox="1"/>
          <p:nvPr/>
        </p:nvSpPr>
        <p:spPr>
          <a:xfrm>
            <a:off x="5491900" y="2566500"/>
            <a:ext cx="21645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3.2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4" name="Google Shape;1344;p100"/>
          <p:cNvSpPr txBox="1"/>
          <p:nvPr/>
        </p:nvSpPr>
        <p:spPr>
          <a:xfrm>
            <a:off x="6827100" y="2566500"/>
            <a:ext cx="897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45" name="Google Shape;1345;p100"/>
          <p:cNvCxnSpPr/>
          <p:nvPr/>
        </p:nvCxnSpPr>
        <p:spPr>
          <a:xfrm flipH="1">
            <a:off x="3992525" y="1641975"/>
            <a:ext cx="6600" cy="13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p100"/>
          <p:cNvSpPr txBox="1"/>
          <p:nvPr/>
        </p:nvSpPr>
        <p:spPr>
          <a:xfrm>
            <a:off x="831000" y="2184396"/>
            <a:ext cx="2538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3.2 × (5 + 3)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7" name="Google Shape;1347;p100"/>
          <p:cNvSpPr txBox="1"/>
          <p:nvPr/>
        </p:nvSpPr>
        <p:spPr>
          <a:xfrm>
            <a:off x="831000" y="2571600"/>
            <a:ext cx="12027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8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8" name="Google Shape;1348;p100"/>
          <p:cNvSpPr txBox="1"/>
          <p:nvPr/>
        </p:nvSpPr>
        <p:spPr>
          <a:xfrm>
            <a:off x="1757750" y="2566500"/>
            <a:ext cx="12027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25.6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9" name="Google Shape;1349;p100"/>
          <p:cNvSpPr txBox="1"/>
          <p:nvPr/>
        </p:nvSpPr>
        <p:spPr>
          <a:xfrm>
            <a:off x="3621956" y="1586712"/>
            <a:ext cx="60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≠</a:t>
            </a:r>
            <a:endParaRPr/>
          </a:p>
        </p:txBody>
      </p:sp>
      <p:sp>
        <p:nvSpPr>
          <p:cNvPr id="1350" name="Google Shape;1350;p100"/>
          <p:cNvSpPr txBox="1"/>
          <p:nvPr/>
        </p:nvSpPr>
        <p:spPr>
          <a:xfrm>
            <a:off x="831000" y="3794000"/>
            <a:ext cx="3186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17 × (3.2 + 1.8)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1" name="Google Shape;1351;p100"/>
          <p:cNvSpPr txBox="1"/>
          <p:nvPr/>
        </p:nvSpPr>
        <p:spPr>
          <a:xfrm>
            <a:off x="765650" y="4237200"/>
            <a:ext cx="1053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34 × 5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2" name="Google Shape;1352;p100"/>
          <p:cNvSpPr txBox="1"/>
          <p:nvPr/>
        </p:nvSpPr>
        <p:spPr>
          <a:xfrm>
            <a:off x="1676219" y="4256886"/>
            <a:ext cx="1053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170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53" name="Google Shape;1353;p100"/>
          <p:cNvCxnSpPr/>
          <p:nvPr/>
        </p:nvCxnSpPr>
        <p:spPr>
          <a:xfrm flipH="1">
            <a:off x="4162075" y="3171950"/>
            <a:ext cx="6600" cy="13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100"/>
          <p:cNvSpPr txBox="1"/>
          <p:nvPr/>
        </p:nvSpPr>
        <p:spPr>
          <a:xfrm>
            <a:off x="4312850" y="3762350"/>
            <a:ext cx="3186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 × 17 - (7 × 17)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5" name="Google Shape;1355;p100"/>
          <p:cNvSpPr txBox="1"/>
          <p:nvPr/>
        </p:nvSpPr>
        <p:spPr>
          <a:xfrm>
            <a:off x="4312850" y="4256875"/>
            <a:ext cx="1539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 × (17 - 7)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6" name="Google Shape;1356;p100"/>
          <p:cNvSpPr txBox="1"/>
          <p:nvPr/>
        </p:nvSpPr>
        <p:spPr>
          <a:xfrm>
            <a:off x="5729994" y="4256886"/>
            <a:ext cx="1053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170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7" name="Google Shape;1357;p100"/>
          <p:cNvSpPr txBox="1"/>
          <p:nvPr/>
        </p:nvSpPr>
        <p:spPr>
          <a:xfrm>
            <a:off x="7656394" y="1647911"/>
            <a:ext cx="1053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False, so they are not equal.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8" name="Google Shape;1358;p100"/>
          <p:cNvSpPr txBox="1"/>
          <p:nvPr/>
        </p:nvSpPr>
        <p:spPr>
          <a:xfrm>
            <a:off x="7643919" y="3258911"/>
            <a:ext cx="1053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True, so they are equal.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1"/>
          <p:cNvSpPr txBox="1"/>
          <p:nvPr/>
        </p:nvSpPr>
        <p:spPr>
          <a:xfrm>
            <a:off x="324000" y="1629600"/>
            <a:ext cx="8331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3a) Fill the three gaps in this calculation with the same single-digit number. Try a different single-digit number.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What do you notice? Can you explain why this happens?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01"/>
          <p:cNvSpPr txBox="1"/>
          <p:nvPr/>
        </p:nvSpPr>
        <p:spPr>
          <a:xfrm>
            <a:off x="2036850" y="840075"/>
            <a:ext cx="49059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( 7 × </a:t>
            </a:r>
            <a:r>
              <a:rPr lang="en-GB" sz="29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2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3) + </a:t>
            </a:r>
            <a:r>
              <a:rPr lang="en-GB" sz="2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6" name="Google Shape;1366;p101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Example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7" name="Google Shape;1367;p101"/>
          <p:cNvSpPr txBox="1"/>
          <p:nvPr/>
        </p:nvSpPr>
        <p:spPr>
          <a:xfrm>
            <a:off x="851225" y="2421325"/>
            <a:ext cx="7138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Choosing 5:     35 + 15 + 5 = 55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102"/>
          <p:cNvSpPr txBox="1"/>
          <p:nvPr/>
        </p:nvSpPr>
        <p:spPr>
          <a:xfrm>
            <a:off x="324000" y="1629600"/>
            <a:ext cx="8331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3a) Fill the three gaps in this calculation with the same single-digit number. Try a different single-digit number.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What do you notice? Can you explain why this happens?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2"/>
          <p:cNvSpPr txBox="1"/>
          <p:nvPr/>
        </p:nvSpPr>
        <p:spPr>
          <a:xfrm>
            <a:off x="2036850" y="840075"/>
            <a:ext cx="49059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( 7 × </a:t>
            </a:r>
            <a:r>
              <a:rPr lang="en-GB" sz="2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3) + 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5" name="Google Shape;1375;p102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Example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6" name="Google Shape;1376;p102"/>
          <p:cNvSpPr txBox="1"/>
          <p:nvPr/>
        </p:nvSpPr>
        <p:spPr>
          <a:xfrm>
            <a:off x="851225" y="2421325"/>
            <a:ext cx="7138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Choosing 8:     56 + 24 + 8 = 88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03"/>
          <p:cNvSpPr txBox="1"/>
          <p:nvPr/>
        </p:nvSpPr>
        <p:spPr>
          <a:xfrm>
            <a:off x="324000" y="1629600"/>
            <a:ext cx="8331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3a) Fill the three gaps in this calculation with the same single-digit number. Try a different single-digit number.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What do you notice? Can you explain why this happens?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03"/>
          <p:cNvSpPr txBox="1"/>
          <p:nvPr/>
        </p:nvSpPr>
        <p:spPr>
          <a:xfrm>
            <a:off x="2036850" y="840075"/>
            <a:ext cx="49059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( 7 × </a:t>
            </a:r>
            <a:r>
              <a:rPr lang="en-GB" sz="3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3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3 ) + </a:t>
            </a:r>
            <a:r>
              <a:rPr lang="en-GB" sz="3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4" name="Google Shape;1384;p10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Example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5" name="Google Shape;1385;p103"/>
          <p:cNvSpPr txBox="1"/>
          <p:nvPr/>
        </p:nvSpPr>
        <p:spPr>
          <a:xfrm>
            <a:off x="851225" y="2421325"/>
            <a:ext cx="7138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Choosing 2:     14 + 6 + 2 = 22</a:t>
            </a:r>
            <a:endParaRPr sz="1900"/>
          </a:p>
        </p:txBody>
      </p:sp>
      <p:sp>
        <p:nvSpPr>
          <p:cNvPr id="1386" name="Google Shape;1386;p103"/>
          <p:cNvSpPr txBox="1"/>
          <p:nvPr/>
        </p:nvSpPr>
        <p:spPr>
          <a:xfrm>
            <a:off x="750750" y="3699225"/>
            <a:ext cx="738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We always have the number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chosen × 11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solve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04"/>
          <p:cNvSpPr txBox="1"/>
          <p:nvPr/>
        </p:nvSpPr>
        <p:spPr>
          <a:xfrm>
            <a:off x="2417850" y="1068675"/>
            <a:ext cx="49059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( 7 × ⬚ + ⬚ × 3   ) + ⬚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4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Can you explain why this happens?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4" name="Google Shape;1394;p104"/>
          <p:cNvSpPr txBox="1"/>
          <p:nvPr/>
        </p:nvSpPr>
        <p:spPr>
          <a:xfrm>
            <a:off x="2473925" y="2122675"/>
            <a:ext cx="5809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( 7 × ⬚ +  3  × ⬚  + 1 × ⬚ )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04"/>
          <p:cNvSpPr txBox="1"/>
          <p:nvPr/>
        </p:nvSpPr>
        <p:spPr>
          <a:xfrm>
            <a:off x="2550125" y="3123525"/>
            <a:ext cx="5809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( 7 + 3 + 1 )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04"/>
          <p:cNvSpPr txBox="1"/>
          <p:nvPr/>
        </p:nvSpPr>
        <p:spPr>
          <a:xfrm>
            <a:off x="2550125" y="3966950"/>
            <a:ext cx="143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× 11</a:t>
            </a:r>
            <a:endParaRPr/>
          </a:p>
        </p:txBody>
      </p:sp>
      <p:sp>
        <p:nvSpPr>
          <p:cNvPr id="1397" name="Google Shape;1397;p104"/>
          <p:cNvSpPr txBox="1"/>
          <p:nvPr>
            <p:ph idx="1" type="body"/>
          </p:nvPr>
        </p:nvSpPr>
        <p:spPr>
          <a:xfrm>
            <a:off x="324000" y="1770125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the commutative and associative laws we then have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8" name="Google Shape;1398;p104"/>
          <p:cNvSpPr txBox="1"/>
          <p:nvPr>
            <p:ph idx="1" type="body"/>
          </p:nvPr>
        </p:nvSpPr>
        <p:spPr>
          <a:xfrm>
            <a:off x="324000" y="2836925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the </a:t>
            </a:r>
            <a:r>
              <a:rPr lang="en-GB" sz="2000"/>
              <a:t>distributive</a:t>
            </a:r>
            <a:r>
              <a:rPr lang="en-GB" sz="2000"/>
              <a:t> law we then have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9" name="Google Shape;1399;p104"/>
          <p:cNvSpPr txBox="1"/>
          <p:nvPr>
            <p:ph idx="1" type="body"/>
          </p:nvPr>
        </p:nvSpPr>
        <p:spPr>
          <a:xfrm>
            <a:off x="324000" y="367555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 therefore we finally have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05"/>
          <p:cNvSpPr txBox="1"/>
          <p:nvPr>
            <p:ph idx="1" type="body"/>
          </p:nvPr>
        </p:nvSpPr>
        <p:spPr>
          <a:xfrm>
            <a:off x="324000" y="1080000"/>
            <a:ext cx="8113800" cy="1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use our knowledge and skills on the </a:t>
            </a:r>
            <a:r>
              <a:rPr lang="en-GB"/>
              <a:t>commutative</a:t>
            </a:r>
            <a:r>
              <a:rPr lang="en-GB"/>
              <a:t>, associative and </a:t>
            </a:r>
            <a:r>
              <a:rPr lang="en-GB"/>
              <a:t>distributive</a:t>
            </a:r>
            <a:r>
              <a:rPr lang="en-GB"/>
              <a:t> laws to rewrite calculations. </a:t>
            </a:r>
            <a:endParaRPr/>
          </a:p>
        </p:txBody>
      </p:sp>
      <p:sp>
        <p:nvSpPr>
          <p:cNvPr id="1405" name="Google Shape;1405;p105"/>
          <p:cNvSpPr txBox="1"/>
          <p:nvPr>
            <p:ph type="title"/>
          </p:nvPr>
        </p:nvSpPr>
        <p:spPr>
          <a:xfrm>
            <a:off x="1684800" y="157525"/>
            <a:ext cx="7237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Using the associative, commutative and distributive laws together</a:t>
            </a:r>
            <a:endParaRPr sz="1700"/>
          </a:p>
        </p:txBody>
      </p:sp>
      <p:sp>
        <p:nvSpPr>
          <p:cNvPr id="1406" name="Google Shape;1406;p105"/>
          <p:cNvSpPr txBox="1"/>
          <p:nvPr>
            <p:ph idx="1" type="body"/>
          </p:nvPr>
        </p:nvSpPr>
        <p:spPr>
          <a:xfrm>
            <a:off x="324000" y="2102875"/>
            <a:ext cx="8113800" cy="1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Rewriting a calculation allows us to reflect on the most efficient approach in order to calculate the answer.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12" name="Google Shape;1412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