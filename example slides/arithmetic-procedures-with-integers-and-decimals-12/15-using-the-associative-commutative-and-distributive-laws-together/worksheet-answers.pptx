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6354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associative, commutative and distributive laws together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99225"/>
            <a:ext cx="636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Using more than one law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882425"/>
            <a:ext cx="66240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 wants to find the area to this rectangle. He starts by writing this calculation: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2593550"/>
            <a:ext cx="66240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Complete Lucas’ calculation.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3533275"/>
            <a:ext cx="66240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Show how Lucas split the rectangle.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8003" y="5158475"/>
            <a:ext cx="6624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How many different ways can you split the rectangle to find the same area?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2068650" y="2248500"/>
            <a:ext cx="3599100" cy="346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( 5 × 10 ) +  (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10) + ( 5 ×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) + (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9" name="Google Shape;179;p20"/>
          <p:cNvGrpSpPr/>
          <p:nvPr/>
        </p:nvGrpSpPr>
        <p:grpSpPr>
          <a:xfrm>
            <a:off x="2204629" y="3823805"/>
            <a:ext cx="3213433" cy="1241489"/>
            <a:chOff x="647553" y="2326536"/>
            <a:chExt cx="4201664" cy="1623286"/>
          </a:xfrm>
        </p:grpSpPr>
        <p:sp>
          <p:nvSpPr>
            <p:cNvPr id="180" name="Google Shape;180;p20"/>
            <p:cNvSpPr/>
            <p:nvPr/>
          </p:nvSpPr>
          <p:spPr>
            <a:xfrm>
              <a:off x="1654925" y="2800350"/>
              <a:ext cx="3043800" cy="11331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1" name="Google Shape;181;p20"/>
            <p:cNvCxnSpPr/>
            <p:nvPr/>
          </p:nvCxnSpPr>
          <p:spPr>
            <a:xfrm>
              <a:off x="1643394" y="2673739"/>
              <a:ext cx="1533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2" name="Google Shape;182;p20"/>
            <p:cNvCxnSpPr/>
            <p:nvPr/>
          </p:nvCxnSpPr>
          <p:spPr>
            <a:xfrm>
              <a:off x="1519625" y="2832000"/>
              <a:ext cx="0" cy="6816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3" name="Google Shape;183;p20"/>
            <p:cNvSpPr txBox="1"/>
            <p:nvPr/>
          </p:nvSpPr>
          <p:spPr>
            <a:xfrm>
              <a:off x="2143017" y="2326536"/>
              <a:ext cx="11382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10 cm</a:t>
              </a:r>
              <a:endParaRPr sz="1200"/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647577" y="2959735"/>
              <a:ext cx="8004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5 cm</a:t>
              </a:r>
              <a:endParaRPr sz="1200"/>
            </a:p>
          </p:txBody>
        </p:sp>
        <p:sp>
          <p:nvSpPr>
            <p:cNvPr id="185" name="Google Shape;185;p20"/>
            <p:cNvSpPr/>
            <p:nvPr/>
          </p:nvSpPr>
          <p:spPr>
            <a:xfrm>
              <a:off x="3191609" y="3489775"/>
              <a:ext cx="1500300" cy="439500"/>
            </a:xfrm>
            <a:prstGeom prst="rect">
              <a:avLst/>
            </a:prstGeom>
            <a:solidFill>
              <a:srgbClr val="F0F0F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1654925" y="2800350"/>
              <a:ext cx="1539300" cy="689400"/>
            </a:xfrm>
            <a:prstGeom prst="rect">
              <a:avLst/>
            </a:prstGeom>
            <a:solidFill>
              <a:srgbClr val="F0F0F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" name="Google Shape;187;p20"/>
            <p:cNvSpPr/>
            <p:nvPr/>
          </p:nvSpPr>
          <p:spPr>
            <a:xfrm>
              <a:off x="3194275" y="2800350"/>
              <a:ext cx="1500300" cy="689400"/>
            </a:xfrm>
            <a:prstGeom prst="rect">
              <a:avLst/>
            </a:prstGeom>
            <a:solidFill>
              <a:srgbClr val="F0F0F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8" name="Google Shape;188;p20"/>
            <p:cNvCxnSpPr/>
            <p:nvPr/>
          </p:nvCxnSpPr>
          <p:spPr>
            <a:xfrm rot="10800000">
              <a:off x="1521900" y="3509122"/>
              <a:ext cx="0" cy="4407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9" name="Google Shape;189;p20"/>
            <p:cNvSpPr txBox="1"/>
            <p:nvPr/>
          </p:nvSpPr>
          <p:spPr>
            <a:xfrm>
              <a:off x="647553" y="3465300"/>
              <a:ext cx="8004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200"/>
            </a:p>
          </p:txBody>
        </p:sp>
        <p:cxnSp>
          <p:nvCxnSpPr>
            <p:cNvPr id="190" name="Google Shape;190;p20"/>
            <p:cNvCxnSpPr/>
            <p:nvPr/>
          </p:nvCxnSpPr>
          <p:spPr>
            <a:xfrm>
              <a:off x="3204369" y="2674939"/>
              <a:ext cx="14958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91" name="Google Shape;191;p20"/>
            <p:cNvSpPr txBox="1"/>
            <p:nvPr/>
          </p:nvSpPr>
          <p:spPr>
            <a:xfrm>
              <a:off x="3711017" y="2326536"/>
              <a:ext cx="11382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 cm</a:t>
              </a:r>
              <a:endParaRPr sz="1200"/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1651875" y="3489775"/>
              <a:ext cx="1539300" cy="439500"/>
            </a:xfrm>
            <a:prstGeom prst="rect">
              <a:avLst/>
            </a:prstGeom>
            <a:solidFill>
              <a:srgbClr val="F0F0F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3" name="Google Shape;193;p20"/>
          <p:cNvSpPr/>
          <p:nvPr/>
        </p:nvSpPr>
        <p:spPr>
          <a:xfrm>
            <a:off x="2975058" y="4186175"/>
            <a:ext cx="2328000" cy="866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68002" y="5541225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so many different ways!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Calculations will need to be checked.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2068650" y="3020397"/>
            <a:ext cx="3422700" cy="346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( 5 × 10 ) +  ( 2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 10) + ( 5 × 9 ) + ( 2 × 9 ) 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68000" y="5993100"/>
            <a:ext cx="66240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blanks using your knowledge on the distributive law.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68000" y="6331100"/>
            <a:ext cx="2332800" cy="14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7 × 8 + 12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 × 4 × 2 + 3 × 4 × 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4 × 14 + 4 × 33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( 14 + 33 ) = 188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3787200" y="6339600"/>
            <a:ext cx="26340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 × 9  +  25 × 9  + 30 ×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 × 9  +  25 × 9  +  10 × 3 × 3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 × 9  +  25 × 9  +  10  × 9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 × ( 15 + 25 + 10 )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9 × ( 50 ) = 450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68000" y="8109000"/>
            <a:ext cx="6624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How many different ways can you split the calculation? Some have been suggested for you to fill in.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2418192" y="8921858"/>
            <a:ext cx="1100088" cy="638496"/>
          </a:xfrm>
          <a:prstGeom prst="cloud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28 × 84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1" name="Google Shape;201;p20"/>
          <p:cNvCxnSpPr/>
          <p:nvPr/>
        </p:nvCxnSpPr>
        <p:spPr>
          <a:xfrm flipH="1" rot="10800000">
            <a:off x="3403354" y="8846792"/>
            <a:ext cx="347700" cy="159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20"/>
          <p:cNvCxnSpPr/>
          <p:nvPr/>
        </p:nvCxnSpPr>
        <p:spPr>
          <a:xfrm flipH="1" rot="10800000">
            <a:off x="1955712" y="9250826"/>
            <a:ext cx="462300" cy="90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20"/>
          <p:cNvCxnSpPr/>
          <p:nvPr/>
        </p:nvCxnSpPr>
        <p:spPr>
          <a:xfrm>
            <a:off x="2166812" y="8860418"/>
            <a:ext cx="439200" cy="13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0"/>
          <p:cNvCxnSpPr/>
          <p:nvPr/>
        </p:nvCxnSpPr>
        <p:spPr>
          <a:xfrm flipH="1">
            <a:off x="2512427" y="9497305"/>
            <a:ext cx="123300" cy="211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20"/>
          <p:cNvSpPr txBox="1"/>
          <p:nvPr/>
        </p:nvSpPr>
        <p:spPr>
          <a:xfrm>
            <a:off x="3435781" y="8614225"/>
            <a:ext cx="20043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( 20 + 8 ) × ( 80 + 4 )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1034637" y="8654809"/>
            <a:ext cx="12126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× 7 × 4 × 21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575504" y="9116250"/>
            <a:ext cx="1613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× 7 × 4 × 7 × 3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" name="Google Shape;208;p20"/>
          <p:cNvCxnSpPr/>
          <p:nvPr/>
        </p:nvCxnSpPr>
        <p:spPr>
          <a:xfrm>
            <a:off x="3518298" y="9175270"/>
            <a:ext cx="494100" cy="79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20"/>
          <p:cNvSpPr txBox="1"/>
          <p:nvPr/>
        </p:nvSpPr>
        <p:spPr>
          <a:xfrm>
            <a:off x="3594426" y="9088950"/>
            <a:ext cx="20043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( 30 - 2 ) × ( 80 + 4 )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476977" y="9669925"/>
            <a:ext cx="2634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( 28 × 40 ) + ( 28 × 40 ) + ( 28 × 4 )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1" name="Google Shape;211;p20"/>
          <p:cNvCxnSpPr/>
          <p:nvPr/>
        </p:nvCxnSpPr>
        <p:spPr>
          <a:xfrm>
            <a:off x="3346061" y="9424009"/>
            <a:ext cx="354300" cy="199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20"/>
          <p:cNvSpPr txBox="1"/>
          <p:nvPr/>
        </p:nvSpPr>
        <p:spPr>
          <a:xfrm>
            <a:off x="3070975" y="9563650"/>
            <a:ext cx="39171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( 84 × 10 ) + ( 84 × 10 ) + ( 84 × 10 ) - ( 84 × 2 )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5303050" y="8498375"/>
            <a:ext cx="17889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There are an infinite number of different ways. The last two are simply common examples.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4" name="Google Shape;214;p20"/>
          <p:cNvCxnSpPr/>
          <p:nvPr/>
        </p:nvCxnSpPr>
        <p:spPr>
          <a:xfrm>
            <a:off x="46010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0" name="Google Shape;220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associative, commutative and distributive laws together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468000" y="720000"/>
            <a:ext cx="636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Efficiently solve problems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76550" y="966775"/>
            <a:ext cx="661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Fill in the blanks with your knowledge of the distributive law.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76550" y="1367450"/>
            <a:ext cx="43269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15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3.2 + 10 × 3.2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- 20 × 3.2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5 × 3 × 3.2 + 5 × 2 × 3.2 - 5 × 4 × 3.2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5 × 9.6 + 5 × 6.4 - 5 × 12.8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5 × (9.6  + 6.4 - 12.8 ) = 16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476550" y="2864825"/>
            <a:ext cx="661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 Are the following statements true or false? Explain how you know.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476550" y="3234125"/>
            <a:ext cx="6615600" cy="3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× 3.2 + 3.2 × 3 = 2.5 × 4 × 3.2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× (17 × 3.2 + 1.8 × 17)  = 17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− (7 × 17)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17 × (3.2 + 1.8) = 17 × 17 - (7 × 17)</a:t>
            </a: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    34 × 5 = 17 × (17 - 7)</a:t>
            </a: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        170 = 170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127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85858"/>
              </a:solidFill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983550" y="3542700"/>
            <a:ext cx="2919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3.2 × (5 + 3) = 2.5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2 × 2 × 3.2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3.2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8 = 10 × 3.2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   25.6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≠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32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152957" y="3713363"/>
            <a:ext cx="21645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False, so they are not equal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4455904" y="5089100"/>
            <a:ext cx="17901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True, so they are equal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76550" y="5939875"/>
            <a:ext cx="6615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3a)  Fill the three gaps in this calculation with the same single-digit number. Try a different single-digit number.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What do you notice? Can you explain why this happens?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2913450" y="6550775"/>
            <a:ext cx="17331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( 7 ×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   ) +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476550" y="6510025"/>
            <a:ext cx="815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Example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68000" y="6943950"/>
            <a:ext cx="284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Choosing 5:     35 + 15 + 5 = 55</a:t>
            </a:r>
            <a:endParaRPr sz="1200"/>
          </a:p>
        </p:txBody>
      </p:sp>
      <p:sp>
        <p:nvSpPr>
          <p:cNvPr id="235" name="Google Shape;235;p21"/>
          <p:cNvSpPr txBox="1"/>
          <p:nvPr/>
        </p:nvSpPr>
        <p:spPr>
          <a:xfrm>
            <a:off x="2884950" y="7825263"/>
            <a:ext cx="17901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( 7 × ⬚ + ⬚ × 3   ) + ⬚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2779350" y="8465950"/>
            <a:ext cx="240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( 7 × ⬚ +  3  × ⬚  + 1 × ⬚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3105600" y="9099775"/>
            <a:ext cx="134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⬚ × ( 7 + 3 + 1 )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3376650" y="9453925"/>
            <a:ext cx="81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⬚ × 11</a:t>
            </a:r>
            <a:endParaRPr sz="1200"/>
          </a:p>
        </p:txBody>
      </p:sp>
      <p:sp>
        <p:nvSpPr>
          <p:cNvPr id="239" name="Google Shape;239;p21"/>
          <p:cNvSpPr txBox="1"/>
          <p:nvPr/>
        </p:nvSpPr>
        <p:spPr>
          <a:xfrm>
            <a:off x="468000" y="8241025"/>
            <a:ext cx="6615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commutative and associative laws we then have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68000" y="8847475"/>
            <a:ext cx="6615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distributive law we then have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4192050" y="9453925"/>
            <a:ext cx="284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We always have the number chosen × 11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