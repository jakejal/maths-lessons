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64A467-3C82-46C9-A48E-D0775AE3D04C}">
  <a:tblStyle styleId="{3664A467-3C82-46C9-A48E-D0775AE3D0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b590995bf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b590995b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8a7c8a172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8a7c8a172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8a7c8a172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8a7c8a172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8b590995bf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8b590995bf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8b590995bf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28b590995bf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8a7c8a172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8a7c8a172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8b590995bf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8b590995bf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8de0c36d4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28de0c36d4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28a7c8a172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28a7c8a172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8a7c8a172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8a7c8a172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8de0c36d4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8de0c36d4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8de0c36d4b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8de0c36d4b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8de0c36d4b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8de0c36d4b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8a7c8a172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28a7c8a172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8de0c36d4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28de0c36d4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8a7c8a17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28a7c8a17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8a7c8a172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8a7c8a172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8de0c36d4b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8de0c36d4b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8b590995bf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8b590995bf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8c6301d51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8c6301d51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8a7c8a172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8a7c8a172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8de0c36d4b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8de0c36d4b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28de0c36d4b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0" name="Google Shape;1200;g28de0c36d4b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28de0c36d4b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28de0c36d4b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28a7c8a172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g28a7c8a172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8b590995b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8b590995b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28b590995bf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28b590995b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28a7c8a172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28a7c8a172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28a7c8a172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28a7c8a172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28c6301d51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28c6301d51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8b590995b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8b590995b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28de0c36d4b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28de0c36d4b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28de0c36d4b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6" name="Google Shape;1426;g28de0c36d4b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28b590995bf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28b590995bf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8b590995b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28b590995b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7.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13.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5.png"/><Relationship Id="rId4" Type="http://schemas.openxmlformats.org/officeDocument/2006/relationships/image" Target="../media/image72.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2.png"/><Relationship Id="rId4" Type="http://schemas.openxmlformats.org/officeDocument/2006/relationships/image" Target="../media/image18.png"/><Relationship Id="rId9"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72.png"/><Relationship Id="rId4" Type="http://schemas.openxmlformats.org/officeDocument/2006/relationships/image" Target="../media/image33.png"/><Relationship Id="rId11" Type="http://schemas.openxmlformats.org/officeDocument/2006/relationships/image" Target="../media/image24.png"/><Relationship Id="rId10" Type="http://schemas.openxmlformats.org/officeDocument/2006/relationships/image" Target="../media/image35.png"/><Relationship Id="rId9" Type="http://schemas.openxmlformats.org/officeDocument/2006/relationships/image" Target="../media/image29.png"/><Relationship Id="rId5" Type="http://schemas.openxmlformats.org/officeDocument/2006/relationships/image" Target="../media/image18.png"/><Relationship Id="rId6" Type="http://schemas.openxmlformats.org/officeDocument/2006/relationships/image" Target="../media/image25.png"/><Relationship Id="rId7" Type="http://schemas.openxmlformats.org/officeDocument/2006/relationships/image" Target="../media/image27.png"/><Relationship Id="rId8"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9.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52.png"/><Relationship Id="rId6"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52.png"/><Relationship Id="rId6" Type="http://schemas.openxmlformats.org/officeDocument/2006/relationships/image" Target="../media/image5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56.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5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62.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62.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64.png"/><Relationship Id="rId5" Type="http://schemas.openxmlformats.org/officeDocument/2006/relationships/image" Target="../media/image71.png"/><Relationship Id="rId6" Type="http://schemas.openxmlformats.org/officeDocument/2006/relationships/image" Target="../media/image65.png"/><Relationship Id="rId7"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64.png"/><Relationship Id="rId5" Type="http://schemas.openxmlformats.org/officeDocument/2006/relationships/image" Target="../media/image71.png"/><Relationship Id="rId6"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69.jpg"/><Relationship Id="rId4" Type="http://schemas.openxmlformats.org/officeDocument/2006/relationships/image" Target="../media/image68.png"/><Relationship Id="rId5" Type="http://schemas.openxmlformats.org/officeDocument/2006/relationships/image" Target="../media/image70.png"/><Relationship Id="rId6" Type="http://schemas.openxmlformats.org/officeDocument/2006/relationships/image" Target="../media/image43.png"/><Relationship Id="rId7"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image" Target="../media/image73.png"/><Relationship Id="rId5" Type="http://schemas.openxmlformats.org/officeDocument/2006/relationships/image" Target="../media/image79.png"/><Relationship Id="rId6" Type="http://schemas.openxmlformats.org/officeDocument/2006/relationships/image" Target="../media/image7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image" Target="../media/image74.png"/><Relationship Id="rId5" Type="http://schemas.openxmlformats.org/officeDocument/2006/relationships/image" Target="../media/image85.png"/><Relationship Id="rId6" Type="http://schemas.openxmlformats.org/officeDocument/2006/relationships/image" Target="../media/image80.png"/><Relationship Id="rId7" Type="http://schemas.openxmlformats.org/officeDocument/2006/relationships/image" Target="../media/image7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7.xml"/><Relationship Id="rId3" Type="http://schemas.openxmlformats.org/officeDocument/2006/relationships/image" Target="../media/image76.png"/><Relationship Id="rId4" Type="http://schemas.openxmlformats.org/officeDocument/2006/relationships/image" Target="../media/image75.png"/><Relationship Id="rId5" Type="http://schemas.openxmlformats.org/officeDocument/2006/relationships/image" Target="../media/image7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73.png"/><Relationship Id="rId5" Type="http://schemas.openxmlformats.org/officeDocument/2006/relationships/image" Target="../media/image79.png"/><Relationship Id="rId6" Type="http://schemas.openxmlformats.org/officeDocument/2006/relationships/image" Target="../media/image7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9.xml"/><Relationship Id="rId3" Type="http://schemas.openxmlformats.org/officeDocument/2006/relationships/image" Target="../media/image46.png"/><Relationship Id="rId4" Type="http://schemas.openxmlformats.org/officeDocument/2006/relationships/image" Target="../media/image74.png"/><Relationship Id="rId5" Type="http://schemas.openxmlformats.org/officeDocument/2006/relationships/image" Target="../media/image85.png"/><Relationship Id="rId6" Type="http://schemas.openxmlformats.org/officeDocument/2006/relationships/image" Target="../media/image80.png"/><Relationship Id="rId7" Type="http://schemas.openxmlformats.org/officeDocument/2006/relationships/image" Target="../media/image7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0.xml"/><Relationship Id="rId3" Type="http://schemas.openxmlformats.org/officeDocument/2006/relationships/image" Target="../media/image76.png"/><Relationship Id="rId4" Type="http://schemas.openxmlformats.org/officeDocument/2006/relationships/image" Target="../media/image75.png"/><Relationship Id="rId5" Type="http://schemas.openxmlformats.org/officeDocument/2006/relationships/image" Target="../media/image7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8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6.xml"/><Relationship Id="rId3" Type="http://schemas.openxmlformats.org/officeDocument/2006/relationships/image" Target="../media/image8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 Id="rId3" Type="http://schemas.openxmlformats.org/officeDocument/2006/relationships/image" Target="../media/image8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9.xml"/><Relationship Id="rId3" Type="http://schemas.openxmlformats.org/officeDocument/2006/relationships/image" Target="../media/image8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0.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arithmetic procedures with integers and decimals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Arithmetic procedures with integers and decimals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add, subtract, multiply and divide with integers and decimals.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number is in </a:t>
            </a:r>
            <a:r>
              <a:rPr b="1" lang="en-GB"/>
              <a:t>decimal form</a:t>
            </a:r>
            <a:r>
              <a:rPr lang="en-GB"/>
              <a:t> when the decimal point is shown and there are digits to the right of the decimal point. </a:t>
            </a:r>
            <a:endParaRPr/>
          </a:p>
        </p:txBody>
      </p:sp>
      <p:sp>
        <p:nvSpPr>
          <p:cNvPr id="767" name="Google Shape;767;p67"/>
          <p:cNvSpPr txBox="1"/>
          <p:nvPr>
            <p:ph idx="1" type="subTitle"/>
          </p:nvPr>
        </p:nvSpPr>
        <p:spPr>
          <a:xfrm>
            <a:off x="324000" y="1069850"/>
            <a:ext cx="8496000" cy="5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An </a:t>
            </a:r>
            <a:r>
              <a:rPr b="1" lang="en-GB"/>
              <a:t>integer</a:t>
            </a:r>
            <a:r>
              <a:rPr lang="en-GB"/>
              <a:t> is any positive or negative whole number or zero. E.g. (−2), 0, 153 are all examples of </a:t>
            </a:r>
            <a:r>
              <a:rPr b="1" lang="en-GB"/>
              <a:t>integers</a:t>
            </a:r>
            <a:r>
              <a:rPr lang="en-GB"/>
              <a:t>. </a:t>
            </a:r>
            <a:endParaRPr/>
          </a:p>
        </p:txBody>
      </p:sp>
      <p:sp>
        <p:nvSpPr>
          <p:cNvPr id="768" name="Google Shape;768;p67"/>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r>
              <a:rPr b="1" lang="en-GB"/>
              <a:t>digit</a:t>
            </a:r>
            <a:r>
              <a:rPr lang="en-GB"/>
              <a:t> is one of the symbols of a number system. In our number system we use the </a:t>
            </a:r>
            <a:r>
              <a:rPr b="1" lang="en-GB"/>
              <a:t>digits</a:t>
            </a:r>
            <a:r>
              <a:rPr lang="en-GB"/>
              <a:t> 0, 1, 2, 3, 4, 5, 6, 7, 8 and 9.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8"/>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a:t>
            </a:r>
            <a:r>
              <a:rPr lang="en-GB"/>
              <a:t> procedures with integers</a:t>
            </a:r>
            <a:endParaRPr/>
          </a:p>
        </p:txBody>
      </p:sp>
      <p:sp>
        <p:nvSpPr>
          <p:cNvPr id="774" name="Google Shape;774;p6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775" name="Google Shape;775;p6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776" name="Google Shape;776;p6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arithmetic procedures with integers and decimals</a:t>
            </a:r>
            <a:endParaRPr/>
          </a:p>
        </p:txBody>
      </p:sp>
      <p:pic>
        <p:nvPicPr>
          <p:cNvPr id="777" name="Google Shape;777;p68"/>
          <p:cNvPicPr preferRelativeResize="0"/>
          <p:nvPr/>
        </p:nvPicPr>
        <p:blipFill>
          <a:blip r:embed="rId3">
            <a:alphaModFix/>
          </a:blip>
          <a:stretch>
            <a:fillRect/>
          </a:stretch>
        </p:blipFill>
        <p:spPr>
          <a:xfrm>
            <a:off x="413239" y="174762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p69"/>
          <p:cNvPicPr preferRelativeResize="0"/>
          <p:nvPr/>
        </p:nvPicPr>
        <p:blipFill rotWithShape="1">
          <a:blip r:embed="rId3">
            <a:alphaModFix/>
          </a:blip>
          <a:srcRect b="43690" l="0" r="57905" t="0"/>
          <a:stretch/>
        </p:blipFill>
        <p:spPr>
          <a:xfrm>
            <a:off x="5500750" y="2334612"/>
            <a:ext cx="2336952" cy="1631599"/>
          </a:xfrm>
          <a:prstGeom prst="rect">
            <a:avLst/>
          </a:prstGeom>
          <a:noFill/>
          <a:ln>
            <a:noFill/>
          </a:ln>
        </p:spPr>
      </p:pic>
      <p:pic>
        <p:nvPicPr>
          <p:cNvPr id="783" name="Google Shape;783;p69"/>
          <p:cNvPicPr preferRelativeResize="0"/>
          <p:nvPr/>
        </p:nvPicPr>
        <p:blipFill rotWithShape="1">
          <a:blip r:embed="rId3">
            <a:alphaModFix/>
          </a:blip>
          <a:srcRect b="43690" l="0" r="57905" t="0"/>
          <a:stretch/>
        </p:blipFill>
        <p:spPr>
          <a:xfrm flipH="1">
            <a:off x="923398" y="1496394"/>
            <a:ext cx="2662077" cy="2270575"/>
          </a:xfrm>
          <a:prstGeom prst="rect">
            <a:avLst/>
          </a:prstGeom>
          <a:noFill/>
          <a:ln>
            <a:noFill/>
          </a:ln>
        </p:spPr>
      </p:pic>
      <p:sp>
        <p:nvSpPr>
          <p:cNvPr id="784" name="Google Shape;784;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rithmetic procedures with integers</a:t>
            </a:r>
            <a:endParaRPr/>
          </a:p>
        </p:txBody>
      </p:sp>
      <p:sp>
        <p:nvSpPr>
          <p:cNvPr id="785" name="Google Shape;785;p69"/>
          <p:cNvSpPr txBox="1"/>
          <p:nvPr>
            <p:ph idx="1" type="body"/>
          </p:nvPr>
        </p:nvSpPr>
        <p:spPr>
          <a:xfrm>
            <a:off x="324000" y="606900"/>
            <a:ext cx="6063300" cy="760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Izzy and Lucas are working on this problem.</a:t>
            </a:r>
            <a:endParaRPr sz="1800"/>
          </a:p>
          <a:p>
            <a:pPr indent="0" lvl="0" marL="0" rtl="0" algn="l">
              <a:lnSpc>
                <a:spcPct val="100000"/>
              </a:lnSpc>
              <a:spcBef>
                <a:spcPts val="1000"/>
              </a:spcBef>
              <a:spcAft>
                <a:spcPts val="1000"/>
              </a:spcAft>
              <a:buNone/>
            </a:pPr>
            <a:r>
              <a:rPr lang="en-GB" sz="1800"/>
              <a:t>They need to find the missing </a:t>
            </a:r>
            <a:r>
              <a:rPr b="1" lang="en-GB" sz="1800"/>
              <a:t>digits</a:t>
            </a:r>
            <a:r>
              <a:rPr lang="en-GB" sz="1800"/>
              <a:t>. </a:t>
            </a:r>
            <a:endParaRPr sz="1800"/>
          </a:p>
        </p:txBody>
      </p:sp>
      <p:sp>
        <p:nvSpPr>
          <p:cNvPr id="786" name="Google Shape;786;p69"/>
          <p:cNvSpPr txBox="1"/>
          <p:nvPr/>
        </p:nvSpPr>
        <p:spPr>
          <a:xfrm>
            <a:off x="1548275" y="2830575"/>
            <a:ext cx="19800" cy="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787" name="Google Shape;787;p69"/>
          <p:cNvSpPr txBox="1"/>
          <p:nvPr>
            <p:ph idx="1" type="body"/>
          </p:nvPr>
        </p:nvSpPr>
        <p:spPr>
          <a:xfrm>
            <a:off x="1155600" y="1516046"/>
            <a:ext cx="2476200" cy="185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doesn’t work.  You can’t get a 1 in the ones column as </a:t>
            </a:r>
            <a:r>
              <a:rPr lang="en-GB" sz="1800"/>
              <a:t>you</a:t>
            </a:r>
            <a:r>
              <a:rPr lang="en-GB" sz="1800"/>
              <a:t> already have 7 ones in the top number.</a:t>
            </a:r>
            <a:endParaRPr sz="1800"/>
          </a:p>
        </p:txBody>
      </p:sp>
      <p:sp>
        <p:nvSpPr>
          <p:cNvPr id="788" name="Google Shape;788;p69"/>
          <p:cNvSpPr txBox="1"/>
          <p:nvPr>
            <p:ph idx="1" type="body"/>
          </p:nvPr>
        </p:nvSpPr>
        <p:spPr>
          <a:xfrm>
            <a:off x="5611574" y="2411975"/>
            <a:ext cx="2030400" cy="11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Yes it does.  If you add 4 to 7 you get 11 which has 1 one.</a:t>
            </a:r>
            <a:endParaRPr sz="1800"/>
          </a:p>
        </p:txBody>
      </p:sp>
      <p:pic>
        <p:nvPicPr>
          <p:cNvPr id="789" name="Google Shape;789;p69"/>
          <p:cNvPicPr preferRelativeResize="0"/>
          <p:nvPr/>
        </p:nvPicPr>
        <p:blipFill>
          <a:blip r:embed="rId4">
            <a:alphaModFix/>
          </a:blip>
          <a:stretch>
            <a:fillRect/>
          </a:stretch>
        </p:blipFill>
        <p:spPr>
          <a:xfrm>
            <a:off x="324000" y="3540019"/>
            <a:ext cx="1310945" cy="1268648"/>
          </a:xfrm>
          <a:prstGeom prst="rect">
            <a:avLst/>
          </a:prstGeom>
          <a:noFill/>
          <a:ln>
            <a:noFill/>
          </a:ln>
        </p:spPr>
      </p:pic>
      <p:pic>
        <p:nvPicPr>
          <p:cNvPr id="790" name="Google Shape;790;p69"/>
          <p:cNvPicPr preferRelativeResize="0"/>
          <p:nvPr/>
        </p:nvPicPr>
        <p:blipFill>
          <a:blip r:embed="rId5">
            <a:alphaModFix/>
          </a:blip>
          <a:stretch>
            <a:fillRect/>
          </a:stretch>
        </p:blipFill>
        <p:spPr>
          <a:xfrm>
            <a:off x="7506284" y="3549875"/>
            <a:ext cx="1125191" cy="1268650"/>
          </a:xfrm>
          <a:prstGeom prst="rect">
            <a:avLst/>
          </a:prstGeom>
          <a:noFill/>
          <a:ln>
            <a:noFill/>
          </a:ln>
        </p:spPr>
      </p:pic>
      <p:grpSp>
        <p:nvGrpSpPr>
          <p:cNvPr id="791" name="Google Shape;791;p69"/>
          <p:cNvGrpSpPr/>
          <p:nvPr/>
        </p:nvGrpSpPr>
        <p:grpSpPr>
          <a:xfrm>
            <a:off x="4101001" y="1504000"/>
            <a:ext cx="1041386" cy="1472050"/>
            <a:chOff x="3670564" y="2402316"/>
            <a:chExt cx="1041386" cy="1472050"/>
          </a:xfrm>
        </p:grpSpPr>
        <p:pic>
          <p:nvPicPr>
            <p:cNvPr descr="&lt;math xmlns=&quot;http://www.w3.org/1998/Math/MathML&quot; display=&quot;block&quot; data-is-equatio=&quot;1&quot; data-latex=&quot;\begin{array}{l}5\ 6\ 7\\&amp;#13;&amp;#10;2\ 5\ 4\\&amp;#13;&amp;#10;8\ 2\ 1\end{array}&quot;&gt;&lt;mtable columnalign=&quot;left&quot; columnspacing=&quot;1em&quot; rowspacing=&quot;4pt&quot;&gt;&lt;mtr&gt;&lt;mtd&gt;&lt;mn&gt;5&lt;/mn&gt;&lt;mtext&gt;&lt;/mtext&gt;&lt;mn&gt;6&lt;/mn&gt;&lt;mtext&gt;&lt;/mtext&gt;&lt;mn&gt;7&lt;/mn&gt;&lt;/mtd&gt;&lt;/mtr&gt;&lt;mtr&gt;&lt;mtd&gt;&lt;mn&gt;2&lt;/mn&gt;&lt;mtext&gt;&lt;/mtext&gt;&lt;mn&gt;5&lt;/mn&gt;&lt;mtext&gt;&lt;/mtext&gt;&lt;mn&gt;4&lt;/mn&gt;&lt;/mtd&gt;&lt;/mtr&gt;&lt;mtr&gt;&lt;mtd&gt;&lt;mn&gt;8&lt;/mn&gt;&lt;mtext&gt;&lt;/mtext&gt;&lt;mn&gt;2&lt;/mn&gt;&lt;mtext&gt;&lt;/mtext&gt;&lt;mn&gt;1&lt;/mn&gt;&lt;/mtd&gt;&lt;/mtr&gt;&lt;/mtable&gt;&lt;/math&gt;" id="792" name="Google Shape;792;p69" title="3 lines Line 1: 5 6 7 Line 2: 2 5 4 Line 3: 8 2 1"/>
            <p:cNvPicPr preferRelativeResize="0"/>
            <p:nvPr/>
          </p:nvPicPr>
          <p:blipFill>
            <a:blip r:embed="rId6">
              <a:alphaModFix/>
            </a:blip>
            <a:stretch>
              <a:fillRect/>
            </a:stretch>
          </p:blipFill>
          <p:spPr>
            <a:xfrm>
              <a:off x="3914775" y="2420250"/>
              <a:ext cx="742216" cy="1323075"/>
            </a:xfrm>
            <a:prstGeom prst="rect">
              <a:avLst/>
            </a:prstGeom>
            <a:noFill/>
            <a:ln>
              <a:noFill/>
            </a:ln>
          </p:spPr>
        </p:pic>
        <p:sp>
          <p:nvSpPr>
            <p:cNvPr id="793" name="Google Shape;793;p69"/>
            <p:cNvSpPr/>
            <p:nvPr/>
          </p:nvSpPr>
          <p:spPr>
            <a:xfrm>
              <a:off x="4432050" y="2915425"/>
              <a:ext cx="279900" cy="299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4" name="Google Shape;794;p69"/>
            <p:cNvSpPr/>
            <p:nvPr/>
          </p:nvSpPr>
          <p:spPr>
            <a:xfrm>
              <a:off x="4108079" y="3370450"/>
              <a:ext cx="351000" cy="384600"/>
            </a:xfrm>
            <a:prstGeom prst="triangl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5" name="Google Shape;795;p69"/>
            <p:cNvSpPr/>
            <p:nvPr/>
          </p:nvSpPr>
          <p:spPr>
            <a:xfrm>
              <a:off x="3858561" y="2912438"/>
              <a:ext cx="279936" cy="338688"/>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6" name="Google Shape;796;p69"/>
            <p:cNvSpPr txBox="1"/>
            <p:nvPr/>
          </p:nvSpPr>
          <p:spPr>
            <a:xfrm>
              <a:off x="3670572" y="2895936"/>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797" name="Google Shape;797;p69"/>
            <p:cNvCxnSpPr/>
            <p:nvPr/>
          </p:nvCxnSpPr>
          <p:spPr>
            <a:xfrm>
              <a:off x="3670564" y="3356766"/>
              <a:ext cx="1013100" cy="0"/>
            </a:xfrm>
            <a:prstGeom prst="straightConnector1">
              <a:avLst/>
            </a:prstGeom>
            <a:noFill/>
            <a:ln cap="flat" cmpd="sng" w="38100">
              <a:solidFill>
                <a:schemeClr val="dk2"/>
              </a:solidFill>
              <a:prstDash val="solid"/>
              <a:round/>
              <a:headEnd len="med" w="med" type="none"/>
              <a:tailEnd len="med" w="med" type="none"/>
            </a:ln>
          </p:spPr>
        </p:cxnSp>
        <p:cxnSp>
          <p:nvCxnSpPr>
            <p:cNvPr id="798" name="Google Shape;798;p69"/>
            <p:cNvCxnSpPr/>
            <p:nvPr/>
          </p:nvCxnSpPr>
          <p:spPr>
            <a:xfrm>
              <a:off x="3670564" y="3874366"/>
              <a:ext cx="1013100" cy="0"/>
            </a:xfrm>
            <a:prstGeom prst="straightConnector1">
              <a:avLst/>
            </a:prstGeom>
            <a:noFill/>
            <a:ln cap="flat" cmpd="sng" w="38100">
              <a:solidFill>
                <a:schemeClr val="dk2"/>
              </a:solidFill>
              <a:prstDash val="solid"/>
              <a:round/>
              <a:headEnd len="med" w="med" type="none"/>
              <a:tailEnd len="med" w="med" type="none"/>
            </a:ln>
          </p:spPr>
        </p:cxnSp>
        <p:sp>
          <p:nvSpPr>
            <p:cNvPr id="799" name="Google Shape;799;p69"/>
            <p:cNvSpPr/>
            <p:nvPr/>
          </p:nvSpPr>
          <p:spPr>
            <a:xfrm>
              <a:off x="3743688" y="2402316"/>
              <a:ext cx="397800" cy="3387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p70"/>
          <p:cNvPicPr preferRelativeResize="0"/>
          <p:nvPr/>
        </p:nvPicPr>
        <p:blipFill rotWithShape="1">
          <a:blip r:embed="rId3">
            <a:alphaModFix/>
          </a:blip>
          <a:srcRect b="43690" l="0" r="57905" t="0"/>
          <a:stretch/>
        </p:blipFill>
        <p:spPr>
          <a:xfrm>
            <a:off x="5348350" y="2182203"/>
            <a:ext cx="2336952" cy="1144850"/>
          </a:xfrm>
          <a:prstGeom prst="rect">
            <a:avLst/>
          </a:prstGeom>
          <a:noFill/>
          <a:ln>
            <a:noFill/>
          </a:ln>
        </p:spPr>
      </p:pic>
      <p:pic>
        <p:nvPicPr>
          <p:cNvPr id="805" name="Google Shape;805;p70"/>
          <p:cNvPicPr preferRelativeResize="0"/>
          <p:nvPr/>
        </p:nvPicPr>
        <p:blipFill rotWithShape="1">
          <a:blip r:embed="rId3">
            <a:alphaModFix/>
          </a:blip>
          <a:srcRect b="43690" l="0" r="57905" t="0"/>
          <a:stretch/>
        </p:blipFill>
        <p:spPr>
          <a:xfrm flipH="1">
            <a:off x="821273" y="1281250"/>
            <a:ext cx="2662077" cy="2045801"/>
          </a:xfrm>
          <a:prstGeom prst="rect">
            <a:avLst/>
          </a:prstGeom>
          <a:noFill/>
          <a:ln>
            <a:noFill/>
          </a:ln>
        </p:spPr>
      </p:pic>
      <p:sp>
        <p:nvSpPr>
          <p:cNvPr id="806" name="Google Shape;806;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807" name="Google Shape;807;p70"/>
          <p:cNvSpPr txBox="1"/>
          <p:nvPr/>
        </p:nvSpPr>
        <p:spPr>
          <a:xfrm>
            <a:off x="1548275" y="2830575"/>
            <a:ext cx="19800" cy="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808" name="Google Shape;808;p70"/>
          <p:cNvSpPr txBox="1"/>
          <p:nvPr>
            <p:ph idx="1" type="body"/>
          </p:nvPr>
        </p:nvSpPr>
        <p:spPr>
          <a:xfrm>
            <a:off x="1053475" y="1300902"/>
            <a:ext cx="2476200" cy="185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 think the hexagon and cloud could be any </a:t>
            </a:r>
            <a:r>
              <a:rPr b="1" lang="en-GB" sz="1800"/>
              <a:t>digit</a:t>
            </a:r>
            <a:r>
              <a:rPr lang="en-GB" sz="1800"/>
              <a:t>.</a:t>
            </a:r>
            <a:endParaRPr sz="1800"/>
          </a:p>
          <a:p>
            <a:pPr indent="0" lvl="0" marL="0" rtl="0" algn="l">
              <a:spcBef>
                <a:spcPts val="1000"/>
              </a:spcBef>
              <a:spcAft>
                <a:spcPts val="1000"/>
              </a:spcAft>
              <a:buNone/>
            </a:pPr>
            <a:r>
              <a:rPr lang="en-GB" sz="1800"/>
              <a:t>What do you think Lucas?</a:t>
            </a:r>
            <a:endParaRPr sz="1800"/>
          </a:p>
        </p:txBody>
      </p:sp>
      <p:sp>
        <p:nvSpPr>
          <p:cNvPr id="809" name="Google Shape;809;p70"/>
          <p:cNvSpPr txBox="1"/>
          <p:nvPr>
            <p:ph idx="1" type="body"/>
          </p:nvPr>
        </p:nvSpPr>
        <p:spPr>
          <a:xfrm>
            <a:off x="5408888" y="2247200"/>
            <a:ext cx="2276400" cy="11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think they could be any </a:t>
            </a:r>
            <a:r>
              <a:rPr b="1" lang="en-GB" sz="1800"/>
              <a:t>digits</a:t>
            </a:r>
            <a:r>
              <a:rPr lang="en-GB" sz="1800"/>
              <a:t> that sum to 7.</a:t>
            </a:r>
            <a:endParaRPr sz="1800"/>
          </a:p>
        </p:txBody>
      </p:sp>
      <p:sp>
        <p:nvSpPr>
          <p:cNvPr id="810" name="Google Shape;810;p70"/>
          <p:cNvSpPr txBox="1"/>
          <p:nvPr/>
        </p:nvSpPr>
        <p:spPr>
          <a:xfrm>
            <a:off x="2040300" y="4543200"/>
            <a:ext cx="2276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What could they be?</a:t>
            </a:r>
            <a:endParaRPr sz="1800">
              <a:latin typeface="Lexend"/>
              <a:ea typeface="Lexend"/>
              <a:cs typeface="Lexend"/>
              <a:sym typeface="Lexend"/>
            </a:endParaRPr>
          </a:p>
        </p:txBody>
      </p:sp>
      <p:pic>
        <p:nvPicPr>
          <p:cNvPr id="811" name="Google Shape;811;p70"/>
          <p:cNvPicPr preferRelativeResize="0"/>
          <p:nvPr/>
        </p:nvPicPr>
        <p:blipFill>
          <a:blip r:embed="rId4">
            <a:alphaModFix/>
          </a:blip>
          <a:stretch>
            <a:fillRect/>
          </a:stretch>
        </p:blipFill>
        <p:spPr>
          <a:xfrm>
            <a:off x="324000" y="3245075"/>
            <a:ext cx="1310945" cy="1268648"/>
          </a:xfrm>
          <a:prstGeom prst="rect">
            <a:avLst/>
          </a:prstGeom>
          <a:noFill/>
          <a:ln>
            <a:noFill/>
          </a:ln>
        </p:spPr>
      </p:pic>
      <p:pic>
        <p:nvPicPr>
          <p:cNvPr id="812" name="Google Shape;812;p70"/>
          <p:cNvPicPr preferRelativeResize="0"/>
          <p:nvPr/>
        </p:nvPicPr>
        <p:blipFill>
          <a:blip r:embed="rId5">
            <a:alphaModFix/>
          </a:blip>
          <a:stretch>
            <a:fillRect/>
          </a:stretch>
        </p:blipFill>
        <p:spPr>
          <a:xfrm>
            <a:off x="7559084" y="2768600"/>
            <a:ext cx="1125191" cy="1268650"/>
          </a:xfrm>
          <a:prstGeom prst="rect">
            <a:avLst/>
          </a:prstGeom>
          <a:noFill/>
          <a:ln>
            <a:noFill/>
          </a:ln>
        </p:spPr>
      </p:pic>
      <p:grpSp>
        <p:nvGrpSpPr>
          <p:cNvPr id="813" name="Google Shape;813;p70"/>
          <p:cNvGrpSpPr/>
          <p:nvPr/>
        </p:nvGrpSpPr>
        <p:grpSpPr>
          <a:xfrm>
            <a:off x="3920327" y="722125"/>
            <a:ext cx="1069660" cy="1491925"/>
            <a:chOff x="3642290" y="2382441"/>
            <a:chExt cx="1069660" cy="1491925"/>
          </a:xfrm>
        </p:grpSpPr>
        <p:pic>
          <p:nvPicPr>
            <p:cNvPr descr="&lt;math xmlns=&quot;http://www.w3.org/1998/Math/MathML&quot; display=&quot;block&quot; data-is-equatio=&quot;1&quot; data-latex=&quot;\begin{array}{l}5\ 6\ 7\\&amp;#13;&amp;#10;2\ 5\ 4\\&amp;#13;&amp;#10;8\ 2\ 1\end{array}&quot;&gt;&lt;mtable columnalign=&quot;left&quot; columnspacing=&quot;1em&quot; rowspacing=&quot;4pt&quot;&gt;&lt;mtr&gt;&lt;mtd&gt;&lt;mn&gt;5&lt;/mn&gt;&lt;mtext&gt;&lt;/mtext&gt;&lt;mn&gt;6&lt;/mn&gt;&lt;mtext&gt;&lt;/mtext&gt;&lt;mn&gt;7&lt;/mn&gt;&lt;/mtd&gt;&lt;/mtr&gt;&lt;mtr&gt;&lt;mtd&gt;&lt;mn&gt;2&lt;/mn&gt;&lt;mtext&gt;&lt;/mtext&gt;&lt;mn&gt;5&lt;/mn&gt;&lt;mtext&gt;&lt;/mtext&gt;&lt;mn&gt;4&lt;/mn&gt;&lt;/mtd&gt;&lt;/mtr&gt;&lt;mtr&gt;&lt;mtd&gt;&lt;mn&gt;8&lt;/mn&gt;&lt;mtext&gt;&lt;/mtext&gt;&lt;mn&gt;2&lt;/mn&gt;&lt;mtext&gt;&lt;/mtext&gt;&lt;mn&gt;1&lt;/mn&gt;&lt;/mtd&gt;&lt;/mtr&gt;&lt;/mtable&gt;&lt;/math&gt;" id="814" name="Google Shape;814;p70" title="3 lines Line 1: 5 6 7 Line 2: 2 5 4 Line 3: 8 2 1"/>
            <p:cNvPicPr preferRelativeResize="0"/>
            <p:nvPr/>
          </p:nvPicPr>
          <p:blipFill>
            <a:blip r:embed="rId6">
              <a:alphaModFix/>
            </a:blip>
            <a:stretch>
              <a:fillRect/>
            </a:stretch>
          </p:blipFill>
          <p:spPr>
            <a:xfrm>
              <a:off x="3914775" y="2420250"/>
              <a:ext cx="742216" cy="1323075"/>
            </a:xfrm>
            <a:prstGeom prst="rect">
              <a:avLst/>
            </a:prstGeom>
            <a:noFill/>
            <a:ln>
              <a:noFill/>
            </a:ln>
          </p:spPr>
        </p:pic>
        <p:sp>
          <p:nvSpPr>
            <p:cNvPr id="815" name="Google Shape;815;p70"/>
            <p:cNvSpPr/>
            <p:nvPr/>
          </p:nvSpPr>
          <p:spPr>
            <a:xfrm>
              <a:off x="4432050" y="2915425"/>
              <a:ext cx="279900" cy="299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6" name="Google Shape;816;p70"/>
            <p:cNvSpPr/>
            <p:nvPr/>
          </p:nvSpPr>
          <p:spPr>
            <a:xfrm>
              <a:off x="4108079" y="3370450"/>
              <a:ext cx="351000" cy="384600"/>
            </a:xfrm>
            <a:prstGeom prst="triangl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7" name="Google Shape;817;p70"/>
            <p:cNvSpPr/>
            <p:nvPr/>
          </p:nvSpPr>
          <p:spPr>
            <a:xfrm>
              <a:off x="3858561" y="2912438"/>
              <a:ext cx="279936" cy="338688"/>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8" name="Google Shape;818;p70"/>
            <p:cNvSpPr txBox="1"/>
            <p:nvPr/>
          </p:nvSpPr>
          <p:spPr>
            <a:xfrm>
              <a:off x="3670572" y="2895936"/>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819" name="Google Shape;819;p70"/>
            <p:cNvCxnSpPr/>
            <p:nvPr/>
          </p:nvCxnSpPr>
          <p:spPr>
            <a:xfrm>
              <a:off x="3642290" y="3356766"/>
              <a:ext cx="1041300" cy="0"/>
            </a:xfrm>
            <a:prstGeom prst="straightConnector1">
              <a:avLst/>
            </a:prstGeom>
            <a:noFill/>
            <a:ln cap="flat" cmpd="sng" w="38100">
              <a:solidFill>
                <a:schemeClr val="dk2"/>
              </a:solidFill>
              <a:prstDash val="solid"/>
              <a:round/>
              <a:headEnd len="med" w="med" type="none"/>
              <a:tailEnd len="med" w="med" type="none"/>
            </a:ln>
          </p:spPr>
        </p:cxnSp>
        <p:cxnSp>
          <p:nvCxnSpPr>
            <p:cNvPr id="820" name="Google Shape;820;p70"/>
            <p:cNvCxnSpPr/>
            <p:nvPr/>
          </p:nvCxnSpPr>
          <p:spPr>
            <a:xfrm>
              <a:off x="3642290" y="3874366"/>
              <a:ext cx="1041300" cy="0"/>
            </a:xfrm>
            <a:prstGeom prst="straightConnector1">
              <a:avLst/>
            </a:prstGeom>
            <a:noFill/>
            <a:ln cap="flat" cmpd="sng" w="38100">
              <a:solidFill>
                <a:schemeClr val="dk2"/>
              </a:solidFill>
              <a:prstDash val="solid"/>
              <a:round/>
              <a:headEnd len="med" w="med" type="none"/>
              <a:tailEnd len="med" w="med" type="none"/>
            </a:ln>
          </p:spPr>
        </p:cxnSp>
        <p:sp>
          <p:nvSpPr>
            <p:cNvPr id="821" name="Google Shape;821;p70"/>
            <p:cNvSpPr/>
            <p:nvPr/>
          </p:nvSpPr>
          <p:spPr>
            <a:xfrm>
              <a:off x="3775767" y="2382441"/>
              <a:ext cx="387000" cy="3387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22" name="Google Shape;822;p70"/>
          <p:cNvSpPr txBox="1"/>
          <p:nvPr/>
        </p:nvSpPr>
        <p:spPr>
          <a:xfrm>
            <a:off x="2040300" y="3502800"/>
            <a:ext cx="4850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Do you agree or disagree with Lucas?</a:t>
            </a:r>
            <a:endParaRPr sz="1800">
              <a:latin typeface="Lexend"/>
              <a:ea typeface="Lexend"/>
              <a:cs typeface="Lexend"/>
              <a:sym typeface="Lexend"/>
            </a:endParaRPr>
          </a:p>
        </p:txBody>
      </p:sp>
      <p:sp>
        <p:nvSpPr>
          <p:cNvPr id="823" name="Google Shape;823;p70"/>
          <p:cNvSpPr txBox="1"/>
          <p:nvPr/>
        </p:nvSpPr>
        <p:spPr>
          <a:xfrm>
            <a:off x="2040300" y="4023000"/>
            <a:ext cx="3327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You should agree with Lucas.</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829" name="Google Shape;829;p71"/>
          <p:cNvSpPr txBox="1"/>
          <p:nvPr/>
        </p:nvSpPr>
        <p:spPr>
          <a:xfrm>
            <a:off x="1548275" y="2830575"/>
            <a:ext cx="19800" cy="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5\ 6\ 7\\&amp;#13;&amp;#10;2\ 5\ 4\\&amp;#13;&amp;#10;8\ 2\ 1\end{array}&quot;&gt;&lt;mtable columnalign=&quot;left&quot; columnspacing=&quot;1em&quot; rowspacing=&quot;4pt&quot;&gt;&lt;mtr&gt;&lt;mtd&gt;&lt;mn&gt;5&lt;/mn&gt;&lt;mtext&gt;&lt;/mtext&gt;&lt;mn&gt;6&lt;/mn&gt;&lt;mtext&gt;&lt;/mtext&gt;&lt;mn&gt;7&lt;/mn&gt;&lt;/mtd&gt;&lt;/mtr&gt;&lt;mtr&gt;&lt;mtd&gt;&lt;mn&gt;2&lt;/mn&gt;&lt;mtext&gt;&lt;/mtext&gt;&lt;mn&gt;5&lt;/mn&gt;&lt;mtext&gt;&lt;/mtext&gt;&lt;mn&gt;4&lt;/mn&gt;&lt;/mtd&gt;&lt;/mtr&gt;&lt;mtr&gt;&lt;mtd&gt;&lt;mn&gt;8&lt;/mn&gt;&lt;mtext&gt;&lt;/mtext&gt;&lt;mn&gt;2&lt;/mn&gt;&lt;mtext&gt;&lt;/mtext&gt;&lt;mn&gt;1&lt;/mn&gt;&lt;/mtd&gt;&lt;/mtr&gt;&lt;/mtable&gt;&lt;/math&gt;" id="830" name="Google Shape;830;p71" title="3 lines Line 1: 5 6 7 Line 2: 2 5 4 Line 3: 8 2 1"/>
          <p:cNvPicPr preferRelativeResize="0"/>
          <p:nvPr/>
        </p:nvPicPr>
        <p:blipFill>
          <a:blip r:embed="rId3">
            <a:alphaModFix/>
          </a:blip>
          <a:stretch>
            <a:fillRect/>
          </a:stretch>
        </p:blipFill>
        <p:spPr>
          <a:xfrm>
            <a:off x="4192812" y="759934"/>
            <a:ext cx="742216" cy="1323075"/>
          </a:xfrm>
          <a:prstGeom prst="rect">
            <a:avLst/>
          </a:prstGeom>
          <a:noFill/>
          <a:ln>
            <a:noFill/>
          </a:ln>
        </p:spPr>
      </p:pic>
      <p:sp>
        <p:nvSpPr>
          <p:cNvPr id="831" name="Google Shape;831;p71"/>
          <p:cNvSpPr/>
          <p:nvPr/>
        </p:nvSpPr>
        <p:spPr>
          <a:xfrm>
            <a:off x="4710087" y="1255109"/>
            <a:ext cx="279900" cy="299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2" name="Google Shape;832;p71"/>
          <p:cNvSpPr/>
          <p:nvPr/>
        </p:nvSpPr>
        <p:spPr>
          <a:xfrm>
            <a:off x="4386116" y="1716753"/>
            <a:ext cx="351000" cy="384600"/>
          </a:xfrm>
          <a:prstGeom prst="triangl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71"/>
          <p:cNvSpPr/>
          <p:nvPr/>
        </p:nvSpPr>
        <p:spPr>
          <a:xfrm>
            <a:off x="4136598" y="1252121"/>
            <a:ext cx="279936" cy="338688"/>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4" name="Google Shape;834;p71"/>
          <p:cNvSpPr txBox="1"/>
          <p:nvPr/>
        </p:nvSpPr>
        <p:spPr>
          <a:xfrm>
            <a:off x="3948609" y="1235619"/>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835" name="Google Shape;835;p71"/>
          <p:cNvCxnSpPr/>
          <p:nvPr/>
        </p:nvCxnSpPr>
        <p:spPr>
          <a:xfrm>
            <a:off x="3948601" y="1696450"/>
            <a:ext cx="1013100" cy="0"/>
          </a:xfrm>
          <a:prstGeom prst="straightConnector1">
            <a:avLst/>
          </a:prstGeom>
          <a:noFill/>
          <a:ln cap="flat" cmpd="sng" w="38100">
            <a:solidFill>
              <a:schemeClr val="dk2"/>
            </a:solidFill>
            <a:prstDash val="solid"/>
            <a:round/>
            <a:headEnd len="med" w="med" type="none"/>
            <a:tailEnd len="med" w="med" type="none"/>
          </a:ln>
        </p:spPr>
      </p:cxnSp>
      <p:cxnSp>
        <p:nvCxnSpPr>
          <p:cNvPr id="836" name="Google Shape;836;p71"/>
          <p:cNvCxnSpPr/>
          <p:nvPr/>
        </p:nvCxnSpPr>
        <p:spPr>
          <a:xfrm>
            <a:off x="3948601" y="2214050"/>
            <a:ext cx="1013100" cy="0"/>
          </a:xfrm>
          <a:prstGeom prst="straightConnector1">
            <a:avLst/>
          </a:prstGeom>
          <a:noFill/>
          <a:ln cap="flat" cmpd="sng" w="38100">
            <a:solidFill>
              <a:schemeClr val="dk2"/>
            </a:solidFill>
            <a:prstDash val="solid"/>
            <a:round/>
            <a:headEnd len="med" w="med" type="none"/>
            <a:tailEnd len="med" w="med" type="none"/>
          </a:ln>
        </p:spPr>
      </p:cxnSp>
      <p:sp>
        <p:nvSpPr>
          <p:cNvPr id="837" name="Google Shape;837;p71"/>
          <p:cNvSpPr/>
          <p:nvPr/>
        </p:nvSpPr>
        <p:spPr>
          <a:xfrm>
            <a:off x="4046846" y="722125"/>
            <a:ext cx="388800" cy="3387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8" name="Google Shape;838;p71"/>
          <p:cNvSpPr txBox="1"/>
          <p:nvPr/>
        </p:nvSpPr>
        <p:spPr>
          <a:xfrm>
            <a:off x="324000" y="2665075"/>
            <a:ext cx="84960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Lucas was right, the square must be 4 for the ones </a:t>
            </a:r>
            <a:r>
              <a:rPr b="1" lang="en-GB" sz="2200">
                <a:latin typeface="Lexend"/>
                <a:ea typeface="Lexend"/>
                <a:cs typeface="Lexend"/>
                <a:sym typeface="Lexend"/>
              </a:rPr>
              <a:t>digits</a:t>
            </a:r>
            <a:r>
              <a:rPr lang="en-GB" sz="2200">
                <a:latin typeface="Lexend"/>
                <a:ea typeface="Lexend"/>
                <a:cs typeface="Lexend"/>
                <a:sym typeface="Lexend"/>
              </a:rPr>
              <a:t> in the sum to be 1.</a:t>
            </a:r>
            <a:endParaRPr sz="2200">
              <a:latin typeface="Lexend"/>
              <a:ea typeface="Lexend"/>
              <a:cs typeface="Lexend"/>
              <a:sym typeface="Lexend"/>
            </a:endParaRPr>
          </a:p>
        </p:txBody>
      </p:sp>
      <p:sp>
        <p:nvSpPr>
          <p:cNvPr id="839" name="Google Shape;839;p71"/>
          <p:cNvSpPr txBox="1"/>
          <p:nvPr/>
        </p:nvSpPr>
        <p:spPr>
          <a:xfrm>
            <a:off x="4506000" y="2238375"/>
            <a:ext cx="13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40" name="Google Shape;840;p71"/>
          <p:cNvSpPr txBox="1"/>
          <p:nvPr/>
        </p:nvSpPr>
        <p:spPr>
          <a:xfrm>
            <a:off x="324000" y="3486767"/>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The triangle has to be 2 as the sum of 6, 5 and 1 is 12</a:t>
            </a:r>
            <a:r>
              <a:rPr lang="en-GB" sz="2200">
                <a:latin typeface="Lexend"/>
                <a:ea typeface="Lexend"/>
                <a:cs typeface="Lexend"/>
                <a:sym typeface="Lexend"/>
              </a:rPr>
              <a:t>.</a:t>
            </a:r>
            <a:endParaRPr sz="2200">
              <a:latin typeface="Lexend"/>
              <a:ea typeface="Lexend"/>
              <a:cs typeface="Lexend"/>
              <a:sym typeface="Lexend"/>
            </a:endParaRPr>
          </a:p>
        </p:txBody>
      </p:sp>
      <p:sp>
        <p:nvSpPr>
          <p:cNvPr id="841" name="Google Shape;841;p71"/>
          <p:cNvSpPr txBox="1"/>
          <p:nvPr/>
        </p:nvSpPr>
        <p:spPr>
          <a:xfrm>
            <a:off x="4227521" y="2238375"/>
            <a:ext cx="132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42" name="Google Shape;842;p71"/>
          <p:cNvSpPr txBox="1"/>
          <p:nvPr/>
        </p:nvSpPr>
        <p:spPr>
          <a:xfrm>
            <a:off x="324000" y="3969758"/>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So, Lucas was right. The hundreds </a:t>
            </a:r>
            <a:r>
              <a:rPr b="1" lang="en-GB" sz="2200">
                <a:latin typeface="Lexend"/>
                <a:ea typeface="Lexend"/>
                <a:cs typeface="Lexend"/>
                <a:sym typeface="Lexend"/>
              </a:rPr>
              <a:t>digits</a:t>
            </a:r>
            <a:r>
              <a:rPr lang="en-GB" sz="2200">
                <a:latin typeface="Lexend"/>
                <a:ea typeface="Lexend"/>
                <a:cs typeface="Lexend"/>
                <a:sym typeface="Lexend"/>
              </a:rPr>
              <a:t> have to sum to 7</a:t>
            </a:r>
            <a:r>
              <a:rPr lang="en-GB" sz="2200">
                <a:latin typeface="Lexend"/>
                <a:ea typeface="Lexend"/>
                <a:cs typeface="Lexend"/>
                <a:sym typeface="Lexend"/>
              </a:rPr>
              <a:t>.</a:t>
            </a:r>
            <a:endParaRPr sz="2200">
              <a:latin typeface="Lexend"/>
              <a:ea typeface="Lexend"/>
              <a:cs typeface="Lexend"/>
              <a:sym typeface="Lexend"/>
            </a:endParaRPr>
          </a:p>
        </p:txBody>
      </p:sp>
      <p:sp>
        <p:nvSpPr>
          <p:cNvPr id="843" name="Google Shape;843;p71"/>
          <p:cNvSpPr txBox="1"/>
          <p:nvPr/>
        </p:nvSpPr>
        <p:spPr>
          <a:xfrm>
            <a:off x="324000" y="4481700"/>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2200">
              <a:latin typeface="Lexend"/>
              <a:ea typeface="Lexend"/>
              <a:cs typeface="Lexend"/>
              <a:sym typeface="Lexend"/>
            </a:endParaRPr>
          </a:p>
        </p:txBody>
      </p:sp>
      <p:sp>
        <p:nvSpPr>
          <p:cNvPr id="844" name="Google Shape;844;p71"/>
          <p:cNvSpPr txBox="1"/>
          <p:nvPr/>
        </p:nvSpPr>
        <p:spPr>
          <a:xfrm>
            <a:off x="324000" y="4452750"/>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They could be 1 &amp; 6, 2 &amp; 5 or 3 &amp; 4 in either order.</a:t>
            </a:r>
            <a:endParaRPr sz="2200">
              <a:latin typeface="Lexend"/>
              <a:ea typeface="Lexend"/>
              <a:cs typeface="Lexend"/>
              <a:sym typeface="Lexend"/>
            </a:endParaRPr>
          </a:p>
        </p:txBody>
      </p:sp>
      <p:sp>
        <p:nvSpPr>
          <p:cNvPr id="845" name="Google Shape;845;p71"/>
          <p:cNvSpPr txBox="1"/>
          <p:nvPr/>
        </p:nvSpPr>
        <p:spPr>
          <a:xfrm>
            <a:off x="324000" y="702925"/>
            <a:ext cx="2839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What could they be?</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rithmetic procedures with integers</a:t>
            </a:r>
            <a:endParaRPr/>
          </a:p>
        </p:txBody>
      </p:sp>
      <p:sp>
        <p:nvSpPr>
          <p:cNvPr id="851" name="Google Shape;851;p72"/>
          <p:cNvSpPr txBox="1"/>
          <p:nvPr/>
        </p:nvSpPr>
        <p:spPr>
          <a:xfrm>
            <a:off x="1548275" y="2830575"/>
            <a:ext cx="19800" cy="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852" name="Google Shape;852;p72"/>
          <p:cNvSpPr txBox="1"/>
          <p:nvPr>
            <p:ph idx="1" type="body"/>
          </p:nvPr>
        </p:nvSpPr>
        <p:spPr>
          <a:xfrm>
            <a:off x="333850" y="2579125"/>
            <a:ext cx="8486100" cy="174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are some more clues for the puzzle:</a:t>
            </a:r>
            <a:endParaRPr/>
          </a:p>
          <a:p>
            <a:pPr indent="0" lvl="0" marL="0" rtl="0" algn="l">
              <a:spcBef>
                <a:spcPts val="1000"/>
              </a:spcBef>
              <a:spcAft>
                <a:spcPts val="0"/>
              </a:spcAft>
              <a:buNone/>
            </a:pPr>
            <a:r>
              <a:rPr lang="en-GB"/>
              <a:t>The larger number is on the top.</a:t>
            </a:r>
            <a:endParaRPr/>
          </a:p>
          <a:p>
            <a:pPr indent="0" lvl="0" marL="0" rtl="0" algn="l">
              <a:spcBef>
                <a:spcPts val="1000"/>
              </a:spcBef>
              <a:spcAft>
                <a:spcPts val="0"/>
              </a:spcAft>
              <a:buNone/>
            </a:pPr>
            <a:r>
              <a:rPr lang="en-GB"/>
              <a:t>The difference between the hundreds </a:t>
            </a:r>
            <a:r>
              <a:rPr b="1" lang="en-GB"/>
              <a:t>digits</a:t>
            </a:r>
            <a:r>
              <a:rPr lang="en-GB"/>
              <a:t> is 3</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5\ 6\ 7\\&amp;#13;&amp;#10;2\ 5\ 4\\&amp;#13;&amp;#10;8\ 2\ 1\end{array}&quot;&gt;&lt;mtable columnalign=&quot;left&quot; columnspacing=&quot;1em&quot; rowspacing=&quot;4pt&quot;&gt;&lt;mtr&gt;&lt;mtd&gt;&lt;mn&gt;5&lt;/mn&gt;&lt;mtext&gt;&lt;/mtext&gt;&lt;mn&gt;6&lt;/mn&gt;&lt;mtext&gt;&lt;/mtext&gt;&lt;mn&gt;7&lt;/mn&gt;&lt;/mtd&gt;&lt;/mtr&gt;&lt;mtr&gt;&lt;mtd&gt;&lt;mn&gt;2&lt;/mn&gt;&lt;mtext&gt;&lt;/mtext&gt;&lt;mn&gt;5&lt;/mn&gt;&lt;mtext&gt;&lt;/mtext&gt;&lt;mn&gt;4&lt;/mn&gt;&lt;/mtd&gt;&lt;/mtr&gt;&lt;mtr&gt;&lt;mtd&gt;&lt;mn&gt;8&lt;/mn&gt;&lt;mtext&gt;&lt;/mtext&gt;&lt;mn&gt;2&lt;/mn&gt;&lt;mtext&gt;&lt;/mtext&gt;&lt;mn&gt;1&lt;/mn&gt;&lt;/mtd&gt;&lt;/mtr&gt;&lt;/mtable&gt;&lt;/math&gt;" id="853" name="Google Shape;853;p72" title="3 lines Line 1: 5 6 7 Line 2: 2 5 4 Line 3: 8 2 1"/>
          <p:cNvPicPr preferRelativeResize="0"/>
          <p:nvPr/>
        </p:nvPicPr>
        <p:blipFill>
          <a:blip r:embed="rId3">
            <a:alphaModFix/>
          </a:blip>
          <a:stretch>
            <a:fillRect/>
          </a:stretch>
        </p:blipFill>
        <p:spPr>
          <a:xfrm>
            <a:off x="4192812" y="759934"/>
            <a:ext cx="742216" cy="1323075"/>
          </a:xfrm>
          <a:prstGeom prst="rect">
            <a:avLst/>
          </a:prstGeom>
          <a:noFill/>
          <a:ln>
            <a:noFill/>
          </a:ln>
        </p:spPr>
      </p:pic>
      <p:sp>
        <p:nvSpPr>
          <p:cNvPr id="854" name="Google Shape;854;p72"/>
          <p:cNvSpPr/>
          <p:nvPr/>
        </p:nvSpPr>
        <p:spPr>
          <a:xfrm>
            <a:off x="4136598" y="1252121"/>
            <a:ext cx="279936" cy="338688"/>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5" name="Google Shape;855;p72"/>
          <p:cNvSpPr txBox="1"/>
          <p:nvPr/>
        </p:nvSpPr>
        <p:spPr>
          <a:xfrm>
            <a:off x="3948609" y="1235619"/>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856" name="Google Shape;856;p72"/>
          <p:cNvCxnSpPr/>
          <p:nvPr/>
        </p:nvCxnSpPr>
        <p:spPr>
          <a:xfrm>
            <a:off x="3948602" y="1696450"/>
            <a:ext cx="1013100" cy="0"/>
          </a:xfrm>
          <a:prstGeom prst="straightConnector1">
            <a:avLst/>
          </a:prstGeom>
          <a:noFill/>
          <a:ln cap="flat" cmpd="sng" w="38100">
            <a:solidFill>
              <a:schemeClr val="dk2"/>
            </a:solidFill>
            <a:prstDash val="solid"/>
            <a:round/>
            <a:headEnd len="med" w="med" type="none"/>
            <a:tailEnd len="med" w="med" type="none"/>
          </a:ln>
        </p:spPr>
      </p:cxnSp>
      <p:cxnSp>
        <p:nvCxnSpPr>
          <p:cNvPr id="857" name="Google Shape;857;p72"/>
          <p:cNvCxnSpPr/>
          <p:nvPr/>
        </p:nvCxnSpPr>
        <p:spPr>
          <a:xfrm>
            <a:off x="3948602" y="2214050"/>
            <a:ext cx="1013100" cy="0"/>
          </a:xfrm>
          <a:prstGeom prst="straightConnector1">
            <a:avLst/>
          </a:prstGeom>
          <a:noFill/>
          <a:ln cap="flat" cmpd="sng" w="38100">
            <a:solidFill>
              <a:schemeClr val="dk2"/>
            </a:solidFill>
            <a:prstDash val="solid"/>
            <a:round/>
            <a:headEnd len="med" w="med" type="none"/>
            <a:tailEnd len="med" w="med" type="none"/>
          </a:ln>
        </p:spPr>
      </p:cxnSp>
      <p:sp>
        <p:nvSpPr>
          <p:cNvPr id="858" name="Google Shape;858;p72"/>
          <p:cNvSpPr/>
          <p:nvPr/>
        </p:nvSpPr>
        <p:spPr>
          <a:xfrm>
            <a:off x="4049931" y="724321"/>
            <a:ext cx="387000" cy="3387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9" name="Google Shape;859;p72"/>
          <p:cNvSpPr txBox="1"/>
          <p:nvPr/>
        </p:nvSpPr>
        <p:spPr>
          <a:xfrm>
            <a:off x="4506000" y="2238375"/>
            <a:ext cx="13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p:txBody>
      </p:sp>
      <p:sp>
        <p:nvSpPr>
          <p:cNvPr id="860" name="Google Shape;860;p72"/>
          <p:cNvSpPr txBox="1"/>
          <p:nvPr/>
        </p:nvSpPr>
        <p:spPr>
          <a:xfrm>
            <a:off x="4227521" y="2238375"/>
            <a:ext cx="13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p:txBody>
      </p:sp>
      <p:sp>
        <p:nvSpPr>
          <p:cNvPr id="861" name="Google Shape;861;p72"/>
          <p:cNvSpPr txBox="1"/>
          <p:nvPr>
            <p:ph idx="1" type="body"/>
          </p:nvPr>
        </p:nvSpPr>
        <p:spPr>
          <a:xfrm>
            <a:off x="330325" y="4082297"/>
            <a:ext cx="6255000" cy="24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Is there still more than one solution? </a:t>
            </a:r>
            <a:endParaRPr/>
          </a:p>
        </p:txBody>
      </p:sp>
      <p:sp>
        <p:nvSpPr>
          <p:cNvPr id="862" name="Google Shape;862;p72"/>
          <p:cNvSpPr txBox="1"/>
          <p:nvPr>
            <p:ph idx="1" type="body"/>
          </p:nvPr>
        </p:nvSpPr>
        <p:spPr>
          <a:xfrm>
            <a:off x="333877" y="4440525"/>
            <a:ext cx="6055500" cy="24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No, the hexagon is 5</a:t>
            </a:r>
            <a:r>
              <a:rPr lang="en-GB"/>
              <a:t> </a:t>
            </a:r>
            <a:r>
              <a:rPr lang="en-GB">
                <a:latin typeface="Kalam"/>
                <a:ea typeface="Kalam"/>
                <a:cs typeface="Kalam"/>
                <a:sym typeface="Kalam"/>
              </a:rPr>
              <a:t>and the cloud is 2.</a:t>
            </a:r>
            <a:r>
              <a:rPr lang="en-GB">
                <a:latin typeface="Kalam"/>
                <a:ea typeface="Kalam"/>
                <a:cs typeface="Kalam"/>
                <a:sym typeface="Kalam"/>
              </a:rPr>
              <a:t> </a:t>
            </a:r>
            <a:endParaRPr>
              <a:latin typeface="Kalam"/>
              <a:ea typeface="Kalam"/>
              <a:cs typeface="Kalam"/>
              <a:sym typeface="Kalam"/>
            </a:endParaRPr>
          </a:p>
        </p:txBody>
      </p:sp>
      <p:sp>
        <p:nvSpPr>
          <p:cNvPr id="863" name="Google Shape;863;p72"/>
          <p:cNvSpPr/>
          <p:nvPr/>
        </p:nvSpPr>
        <p:spPr>
          <a:xfrm>
            <a:off x="2819500" y="4440525"/>
            <a:ext cx="2676900" cy="45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73"/>
          <p:cNvSpPr txBox="1"/>
          <p:nvPr/>
        </p:nvSpPr>
        <p:spPr>
          <a:xfrm>
            <a:off x="4312175" y="1037233"/>
            <a:ext cx="24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p:txBody>
      </p:sp>
      <p:sp>
        <p:nvSpPr>
          <p:cNvPr id="869" name="Google Shape;869;p73"/>
          <p:cNvSpPr txBox="1"/>
          <p:nvPr/>
        </p:nvSpPr>
        <p:spPr>
          <a:xfrm>
            <a:off x="4237950" y="1038858"/>
            <a:ext cx="24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p:txBody>
      </p:sp>
      <p:pic>
        <p:nvPicPr>
          <p:cNvPr descr="&lt;math xmlns=&quot;http://www.w3.org/1998/Math/MathML&quot; display=&quot;block&quot; data-is-equatio=&quot;1&quot; data-latex=&quot;\begin{array}{l}7\ 1\ 3\\&amp;#13;&amp;#10;5\ 6\ 8\\&amp;#13;&amp;#10;1\ 4\ 5\end{array}&quot;&gt;&lt;mtable columnalign=&quot;left&quot; columnspacing=&quot;1em&quot; rowspacing=&quot;4pt&quot;&gt;&lt;mtr&gt;&lt;mtd&gt;&lt;mn&gt;7&lt;/mn&gt;&lt;mtext&gt;&lt;/mtext&gt;&lt;mn&gt;1&lt;/mn&gt;&lt;mtext&gt;&lt;/mtext&gt;&lt;mn&gt;3&lt;/mn&gt;&lt;/mtd&gt;&lt;/mtr&gt;&lt;mtr&gt;&lt;mtd&gt;&lt;mn&gt;5&lt;/mn&gt;&lt;mtext&gt;&lt;/mtext&gt;&lt;mn&gt;6&lt;/mn&gt;&lt;mtext&gt;&lt;/mtext&gt;&lt;mn&gt;8&lt;/mn&gt;&lt;/mtd&gt;&lt;/mtr&gt;&lt;mtr&gt;&lt;mtd&gt;&lt;mn&gt;1&lt;/mn&gt;&lt;mtext&gt;&lt;/mtext&gt;&lt;mn&gt;4&lt;/mn&gt;&lt;mtext&gt;&lt;/mtext&gt;&lt;mn&gt;5&lt;/mn&gt;&lt;/mtd&gt;&lt;/mtr&gt;&lt;/mtable&gt;&lt;/math&gt;" id="870" name="Google Shape;870;p73" title="3 lines Line 1: 7 1 3 Line 2: 5 6 8 Line 3: 1 4 5"/>
          <p:cNvPicPr preferRelativeResize="0"/>
          <p:nvPr/>
        </p:nvPicPr>
        <p:blipFill>
          <a:blip r:embed="rId3">
            <a:alphaModFix/>
          </a:blip>
          <a:stretch>
            <a:fillRect/>
          </a:stretch>
        </p:blipFill>
        <p:spPr>
          <a:xfrm>
            <a:off x="4154925" y="1371575"/>
            <a:ext cx="808475" cy="1456448"/>
          </a:xfrm>
          <a:prstGeom prst="rect">
            <a:avLst/>
          </a:prstGeom>
          <a:noFill/>
          <a:ln>
            <a:noFill/>
          </a:ln>
        </p:spPr>
      </p:pic>
      <p:sp>
        <p:nvSpPr>
          <p:cNvPr id="871" name="Google Shape;871;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872" name="Google Shape;872;p73"/>
          <p:cNvSpPr txBox="1"/>
          <p:nvPr>
            <p:ph idx="1" type="body"/>
          </p:nvPr>
        </p:nvSpPr>
        <p:spPr>
          <a:xfrm>
            <a:off x="324000" y="759300"/>
            <a:ext cx="8237700" cy="338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What are the </a:t>
            </a:r>
            <a:r>
              <a:rPr lang="en-GB">
                <a:solidFill>
                  <a:schemeClr val="accent4"/>
                </a:solidFill>
              </a:rPr>
              <a:t>missing</a:t>
            </a:r>
            <a:r>
              <a:rPr lang="en-GB"/>
              <a:t> </a:t>
            </a:r>
            <a:r>
              <a:rPr b="1" lang="en-GB"/>
              <a:t>digits</a:t>
            </a:r>
            <a:r>
              <a:rPr lang="en-GB"/>
              <a:t> in this calculation?</a:t>
            </a:r>
            <a:endParaRPr/>
          </a:p>
        </p:txBody>
      </p:sp>
      <p:sp>
        <p:nvSpPr>
          <p:cNvPr id="873" name="Google Shape;873;p73"/>
          <p:cNvSpPr/>
          <p:nvPr/>
        </p:nvSpPr>
        <p:spPr>
          <a:xfrm>
            <a:off x="4734576" y="1352589"/>
            <a:ext cx="277800" cy="338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4" name="Google Shape;874;p73"/>
          <p:cNvSpPr/>
          <p:nvPr/>
        </p:nvSpPr>
        <p:spPr>
          <a:xfrm>
            <a:off x="4046401" y="2442072"/>
            <a:ext cx="381564" cy="461700"/>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5" name="Google Shape;875;p73"/>
          <p:cNvSpPr/>
          <p:nvPr/>
        </p:nvSpPr>
        <p:spPr>
          <a:xfrm>
            <a:off x="4371775" y="1891526"/>
            <a:ext cx="401700" cy="3741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6" name="Google Shape;876;p73"/>
          <p:cNvSpPr txBox="1"/>
          <p:nvPr/>
        </p:nvSpPr>
        <p:spPr>
          <a:xfrm>
            <a:off x="3923022" y="1940399"/>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877" name="Google Shape;877;p73"/>
          <p:cNvCxnSpPr/>
          <p:nvPr/>
        </p:nvCxnSpPr>
        <p:spPr>
          <a:xfrm>
            <a:off x="3852277" y="2401225"/>
            <a:ext cx="1160100" cy="0"/>
          </a:xfrm>
          <a:prstGeom prst="straightConnector1">
            <a:avLst/>
          </a:prstGeom>
          <a:noFill/>
          <a:ln cap="flat" cmpd="sng" w="38100">
            <a:solidFill>
              <a:schemeClr val="dk2"/>
            </a:solidFill>
            <a:prstDash val="solid"/>
            <a:round/>
            <a:headEnd len="med" w="med" type="none"/>
            <a:tailEnd len="med" w="med" type="none"/>
          </a:ln>
        </p:spPr>
      </p:cxnSp>
      <p:cxnSp>
        <p:nvCxnSpPr>
          <p:cNvPr id="878" name="Google Shape;878;p73"/>
          <p:cNvCxnSpPr/>
          <p:nvPr/>
        </p:nvCxnSpPr>
        <p:spPr>
          <a:xfrm>
            <a:off x="3852277" y="2918825"/>
            <a:ext cx="1160100" cy="0"/>
          </a:xfrm>
          <a:prstGeom prst="straightConnector1">
            <a:avLst/>
          </a:prstGeom>
          <a:noFill/>
          <a:ln cap="flat" cmpd="sng" w="38100">
            <a:solidFill>
              <a:schemeClr val="dk2"/>
            </a:solidFill>
            <a:prstDash val="solid"/>
            <a:round/>
            <a:headEnd len="med" w="med" type="none"/>
            <a:tailEnd len="med" w="med" type="none"/>
          </a:ln>
        </p:spPr>
      </p:cxnSp>
      <p:cxnSp>
        <p:nvCxnSpPr>
          <p:cNvPr id="879" name="Google Shape;879;p73"/>
          <p:cNvCxnSpPr/>
          <p:nvPr/>
        </p:nvCxnSpPr>
        <p:spPr>
          <a:xfrm flipH="1">
            <a:off x="5041700" y="1326050"/>
            <a:ext cx="866700" cy="170700"/>
          </a:xfrm>
          <a:prstGeom prst="straightConnector1">
            <a:avLst/>
          </a:prstGeom>
          <a:noFill/>
          <a:ln cap="flat" cmpd="sng" w="38100">
            <a:solidFill>
              <a:schemeClr val="dk2"/>
            </a:solidFill>
            <a:prstDash val="solid"/>
            <a:round/>
            <a:headEnd len="med" w="med" type="none"/>
            <a:tailEnd len="med" w="med" type="triangle"/>
          </a:ln>
        </p:spPr>
      </p:cxnSp>
      <p:sp>
        <p:nvSpPr>
          <p:cNvPr id="880" name="Google Shape;880;p73"/>
          <p:cNvSpPr txBox="1"/>
          <p:nvPr>
            <p:ph idx="1" type="body"/>
          </p:nvPr>
        </p:nvSpPr>
        <p:spPr>
          <a:xfrm>
            <a:off x="6083616" y="1158050"/>
            <a:ext cx="2172000" cy="33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a:t>
            </a:r>
            <a:r>
              <a:rPr lang="en-GB" u="sng"/>
              <a:t>       </a:t>
            </a:r>
            <a:r>
              <a:rPr lang="en-GB" u="sng">
                <a:solidFill>
                  <a:schemeClr val="lt1"/>
                </a:solidFill>
              </a:rPr>
              <a:t>.</a:t>
            </a:r>
            <a:r>
              <a:rPr lang="en-GB"/>
              <a:t> − 8 =</a:t>
            </a:r>
            <a:r>
              <a:rPr lang="en-GB" u="sng">
                <a:solidFill>
                  <a:schemeClr val="lt1"/>
                </a:solidFill>
              </a:rPr>
              <a:t>.</a:t>
            </a:r>
            <a:r>
              <a:rPr lang="en-GB"/>
              <a:t>5</a:t>
            </a:r>
            <a:endParaRPr/>
          </a:p>
        </p:txBody>
      </p:sp>
      <p:sp>
        <p:nvSpPr>
          <p:cNvPr id="881" name="Google Shape;881;p73"/>
          <p:cNvSpPr txBox="1"/>
          <p:nvPr/>
        </p:nvSpPr>
        <p:spPr>
          <a:xfrm>
            <a:off x="6306975" y="1154939"/>
            <a:ext cx="316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13</a:t>
            </a:r>
            <a:endParaRPr sz="2200">
              <a:latin typeface="Lexend"/>
              <a:ea typeface="Lexend"/>
              <a:cs typeface="Lexend"/>
              <a:sym typeface="Lexend"/>
            </a:endParaRPr>
          </a:p>
        </p:txBody>
      </p:sp>
      <p:cxnSp>
        <p:nvCxnSpPr>
          <p:cNvPr id="882" name="Google Shape;882;p73"/>
          <p:cNvCxnSpPr/>
          <p:nvPr/>
        </p:nvCxnSpPr>
        <p:spPr>
          <a:xfrm rot="10800000">
            <a:off x="4734575" y="2279100"/>
            <a:ext cx="984600" cy="374100"/>
          </a:xfrm>
          <a:prstGeom prst="straightConnector1">
            <a:avLst/>
          </a:prstGeom>
          <a:noFill/>
          <a:ln cap="flat" cmpd="sng" w="38100">
            <a:solidFill>
              <a:schemeClr val="dk2"/>
            </a:solidFill>
            <a:prstDash val="solid"/>
            <a:round/>
            <a:headEnd len="med" w="med" type="none"/>
            <a:tailEnd len="med" w="med" type="triangle"/>
          </a:ln>
        </p:spPr>
      </p:cxnSp>
      <p:sp>
        <p:nvSpPr>
          <p:cNvPr id="883" name="Google Shape;883;p73"/>
          <p:cNvSpPr txBox="1"/>
          <p:nvPr>
            <p:ph idx="1" type="body"/>
          </p:nvPr>
        </p:nvSpPr>
        <p:spPr>
          <a:xfrm>
            <a:off x="5774391" y="2433702"/>
            <a:ext cx="2172000" cy="33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a:t>
            </a:r>
            <a:r>
              <a:rPr lang="en-GB" u="sng"/>
              <a:t>      </a:t>
            </a:r>
            <a:r>
              <a:rPr lang="en-GB"/>
              <a:t> 0</a:t>
            </a:r>
            <a:r>
              <a:rPr lang="en-GB" u="sng">
                <a:solidFill>
                  <a:schemeClr val="lt1"/>
                </a:solidFill>
              </a:rPr>
              <a:t>.</a:t>
            </a:r>
            <a:r>
              <a:rPr lang="en-GB"/>
              <a:t> − </a:t>
            </a:r>
            <a:r>
              <a:rPr lang="en-GB" u="sng"/>
              <a:t>      </a:t>
            </a:r>
            <a:r>
              <a:rPr lang="en-GB"/>
              <a:t> =</a:t>
            </a:r>
            <a:r>
              <a:rPr lang="en-GB" u="sng">
                <a:solidFill>
                  <a:schemeClr val="lt1"/>
                </a:solidFill>
              </a:rPr>
              <a:t>.</a:t>
            </a:r>
            <a:r>
              <a:rPr lang="en-GB"/>
              <a:t>4</a:t>
            </a:r>
            <a:endParaRPr/>
          </a:p>
        </p:txBody>
      </p:sp>
      <p:cxnSp>
        <p:nvCxnSpPr>
          <p:cNvPr id="884" name="Google Shape;884;p73"/>
          <p:cNvCxnSpPr/>
          <p:nvPr/>
        </p:nvCxnSpPr>
        <p:spPr>
          <a:xfrm>
            <a:off x="4434305" y="1370336"/>
            <a:ext cx="240300" cy="322800"/>
          </a:xfrm>
          <a:prstGeom prst="straightConnector1">
            <a:avLst/>
          </a:prstGeom>
          <a:noFill/>
          <a:ln cap="flat" cmpd="sng" w="38100">
            <a:solidFill>
              <a:schemeClr val="accent4"/>
            </a:solidFill>
            <a:prstDash val="solid"/>
            <a:round/>
            <a:headEnd len="med" w="med" type="none"/>
            <a:tailEnd len="med" w="med" type="none"/>
          </a:ln>
        </p:spPr>
      </p:cxnSp>
      <p:sp>
        <p:nvSpPr>
          <p:cNvPr id="885" name="Google Shape;885;p73"/>
          <p:cNvSpPr txBox="1"/>
          <p:nvPr/>
        </p:nvSpPr>
        <p:spPr>
          <a:xfrm>
            <a:off x="4540775" y="1037233"/>
            <a:ext cx="24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p:txBody>
      </p:sp>
      <p:sp>
        <p:nvSpPr>
          <p:cNvPr id="886" name="Google Shape;886;p73"/>
          <p:cNvSpPr txBox="1"/>
          <p:nvPr/>
        </p:nvSpPr>
        <p:spPr>
          <a:xfrm>
            <a:off x="5984600" y="2442075"/>
            <a:ext cx="316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p:txBody>
      </p:sp>
      <p:sp>
        <p:nvSpPr>
          <p:cNvPr id="887" name="Google Shape;887;p73"/>
          <p:cNvSpPr txBox="1"/>
          <p:nvPr/>
        </p:nvSpPr>
        <p:spPr>
          <a:xfrm>
            <a:off x="7029061" y="2442075"/>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p:txBody>
      </p:sp>
      <p:cxnSp>
        <p:nvCxnSpPr>
          <p:cNvPr id="888" name="Google Shape;888;p73"/>
          <p:cNvCxnSpPr/>
          <p:nvPr/>
        </p:nvCxnSpPr>
        <p:spPr>
          <a:xfrm>
            <a:off x="4131480" y="1371961"/>
            <a:ext cx="240300" cy="322800"/>
          </a:xfrm>
          <a:prstGeom prst="straightConnector1">
            <a:avLst/>
          </a:prstGeom>
          <a:noFill/>
          <a:ln cap="flat" cmpd="sng" w="38100">
            <a:solidFill>
              <a:schemeClr val="accent4"/>
            </a:solidFill>
            <a:prstDash val="solid"/>
            <a:round/>
            <a:headEnd len="med" w="med" type="none"/>
            <a:tailEnd len="med" w="med" type="none"/>
          </a:ln>
        </p:spPr>
      </p:cxnSp>
      <p:sp>
        <p:nvSpPr>
          <p:cNvPr id="889" name="Google Shape;889;p73"/>
          <p:cNvSpPr txBox="1"/>
          <p:nvPr/>
        </p:nvSpPr>
        <p:spPr>
          <a:xfrm>
            <a:off x="4009350" y="1038858"/>
            <a:ext cx="24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pic>
        <p:nvPicPr>
          <p:cNvPr descr="&lt;math xmlns=&quot;http://www.w3.org/1998/Math/MathML&quot; display=&quot;block&quot; data-is-equatio=&quot;1&quot; data-latex=&quot;\begin{array}{l}6\ 4\ 2\\&amp;#13;&amp;#10;3\ 8\ 7\\&amp;#13;&amp;#10;2\ 5\ 5\end{array}&quot;&gt;&lt;mtable columnalign=&quot;left&quot; columnspacing=&quot;1em&quot; rowspacing=&quot;4pt&quot;&gt;&lt;mtr&gt;&lt;mtd&gt;&lt;mn&gt;6&lt;/mn&gt;&lt;mtext&gt;&lt;/mtext&gt;&lt;mn&gt;4&lt;/mn&gt;&lt;mtext&gt;&lt;/mtext&gt;&lt;mn&gt;2&lt;/mn&gt;&lt;/mtd&gt;&lt;/mtr&gt;&lt;mtr&gt;&lt;mtd&gt;&lt;mn&gt;3&lt;/mn&gt;&lt;mtext&gt;&lt;/mtext&gt;&lt;mn&gt;8&lt;/mn&gt;&lt;mtext&gt;&lt;/mtext&gt;&lt;mn&gt;7&lt;/mn&gt;&lt;/mtd&gt;&lt;/mtr&gt;&lt;mtr&gt;&lt;mtd&gt;&lt;mn&gt;2&lt;/mn&gt;&lt;mtext&gt;&lt;/mtext&gt;&lt;mn&gt;5&lt;/mn&gt;&lt;mtext&gt;&lt;/mtext&gt;&lt;mn&gt;5&lt;/mn&gt;&lt;/mtd&gt;&lt;/mtr&gt;&lt;/mtable&gt;&lt;/math&gt;" id="894" name="Google Shape;894;p74" title="3 lines Line 1: 6 4 2 Line 2: 3 8 7 Line 3: 2 5 5"/>
          <p:cNvPicPr preferRelativeResize="0"/>
          <p:nvPr/>
        </p:nvPicPr>
        <p:blipFill>
          <a:blip r:embed="rId3">
            <a:alphaModFix/>
          </a:blip>
          <a:stretch>
            <a:fillRect/>
          </a:stretch>
        </p:blipFill>
        <p:spPr>
          <a:xfrm>
            <a:off x="4167763" y="1390550"/>
            <a:ext cx="808475" cy="1441200"/>
          </a:xfrm>
          <a:prstGeom prst="rect">
            <a:avLst/>
          </a:prstGeom>
          <a:noFill/>
          <a:ln>
            <a:noFill/>
          </a:ln>
        </p:spPr>
      </p:pic>
      <p:sp>
        <p:nvSpPr>
          <p:cNvPr id="895" name="Google Shape;895;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896" name="Google Shape;896;p74"/>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are the </a:t>
            </a:r>
            <a:r>
              <a:rPr lang="en-GB">
                <a:solidFill>
                  <a:schemeClr val="accent4"/>
                </a:solidFill>
              </a:rPr>
              <a:t>missing</a:t>
            </a:r>
            <a:r>
              <a:rPr lang="en-GB"/>
              <a:t> </a:t>
            </a:r>
            <a:r>
              <a:rPr b="1" lang="en-GB"/>
              <a:t>digits</a:t>
            </a:r>
            <a:r>
              <a:rPr lang="en-GB"/>
              <a:t> in this calculation?</a:t>
            </a:r>
            <a:endParaRPr/>
          </a:p>
        </p:txBody>
      </p:sp>
      <p:sp>
        <p:nvSpPr>
          <p:cNvPr id="897" name="Google Shape;897;p74"/>
          <p:cNvSpPr/>
          <p:nvPr/>
        </p:nvSpPr>
        <p:spPr>
          <a:xfrm>
            <a:off x="4734576" y="1371569"/>
            <a:ext cx="277800" cy="338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8" name="Google Shape;898;p74"/>
          <p:cNvSpPr/>
          <p:nvPr/>
        </p:nvSpPr>
        <p:spPr>
          <a:xfrm>
            <a:off x="4046401" y="2442072"/>
            <a:ext cx="381564" cy="461700"/>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9" name="Google Shape;899;p74"/>
          <p:cNvSpPr/>
          <p:nvPr/>
        </p:nvSpPr>
        <p:spPr>
          <a:xfrm>
            <a:off x="4370800" y="1940400"/>
            <a:ext cx="381600" cy="3387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4"/>
          <p:cNvSpPr txBox="1"/>
          <p:nvPr/>
        </p:nvSpPr>
        <p:spPr>
          <a:xfrm>
            <a:off x="3923022" y="1940399"/>
            <a:ext cx="18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901" name="Google Shape;901;p74"/>
          <p:cNvCxnSpPr/>
          <p:nvPr/>
        </p:nvCxnSpPr>
        <p:spPr>
          <a:xfrm>
            <a:off x="3852277" y="2401225"/>
            <a:ext cx="1160100" cy="0"/>
          </a:xfrm>
          <a:prstGeom prst="straightConnector1">
            <a:avLst/>
          </a:prstGeom>
          <a:noFill/>
          <a:ln cap="flat" cmpd="sng" w="38100">
            <a:solidFill>
              <a:schemeClr val="dk2"/>
            </a:solidFill>
            <a:prstDash val="solid"/>
            <a:round/>
            <a:headEnd len="med" w="med" type="none"/>
            <a:tailEnd len="med" w="med" type="none"/>
          </a:ln>
        </p:spPr>
      </p:cxnSp>
      <p:cxnSp>
        <p:nvCxnSpPr>
          <p:cNvPr id="902" name="Google Shape;902;p74"/>
          <p:cNvCxnSpPr/>
          <p:nvPr/>
        </p:nvCxnSpPr>
        <p:spPr>
          <a:xfrm>
            <a:off x="3852277" y="2918825"/>
            <a:ext cx="1160100" cy="0"/>
          </a:xfrm>
          <a:prstGeom prst="straightConnector1">
            <a:avLst/>
          </a:prstGeom>
          <a:noFill/>
          <a:ln cap="flat" cmpd="sng" w="38100">
            <a:solidFill>
              <a:schemeClr val="dk2"/>
            </a:solidFill>
            <a:prstDash val="solid"/>
            <a:round/>
            <a:headEnd len="med" w="med" type="none"/>
            <a:tailEnd len="med" w="med" type="none"/>
          </a:ln>
        </p:spPr>
      </p:cxnSp>
      <p:sp>
        <p:nvSpPr>
          <p:cNvPr id="903" name="Google Shape;903;p74"/>
          <p:cNvSpPr/>
          <p:nvPr/>
        </p:nvSpPr>
        <p:spPr>
          <a:xfrm>
            <a:off x="648176" y="2903769"/>
            <a:ext cx="277800" cy="338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4" name="Google Shape;904;p74"/>
          <p:cNvSpPr/>
          <p:nvPr/>
        </p:nvSpPr>
        <p:spPr>
          <a:xfrm>
            <a:off x="596288" y="4319997"/>
            <a:ext cx="381564" cy="461700"/>
          </a:xfrm>
          <a:prstGeom prst="cloud">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5" name="Google Shape;905;p74"/>
          <p:cNvSpPr txBox="1"/>
          <p:nvPr/>
        </p:nvSpPr>
        <p:spPr>
          <a:xfrm>
            <a:off x="1264700" y="2811525"/>
            <a:ext cx="753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 2 </a:t>
            </a:r>
            <a:endParaRPr sz="2200">
              <a:latin typeface="Lexend"/>
              <a:ea typeface="Lexend"/>
              <a:cs typeface="Lexend"/>
              <a:sym typeface="Lexend"/>
            </a:endParaRPr>
          </a:p>
        </p:txBody>
      </p:sp>
      <p:sp>
        <p:nvSpPr>
          <p:cNvPr id="906" name="Google Shape;906;p74"/>
          <p:cNvSpPr txBox="1"/>
          <p:nvPr/>
        </p:nvSpPr>
        <p:spPr>
          <a:xfrm>
            <a:off x="1264700" y="3550400"/>
            <a:ext cx="702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 8 </a:t>
            </a:r>
            <a:endParaRPr sz="2200">
              <a:latin typeface="Lexend"/>
              <a:ea typeface="Lexend"/>
              <a:cs typeface="Lexend"/>
              <a:sym typeface="Lexend"/>
            </a:endParaRPr>
          </a:p>
        </p:txBody>
      </p:sp>
      <p:sp>
        <p:nvSpPr>
          <p:cNvPr id="907" name="Google Shape;907;p74"/>
          <p:cNvSpPr txBox="1"/>
          <p:nvPr/>
        </p:nvSpPr>
        <p:spPr>
          <a:xfrm>
            <a:off x="1264700" y="4289250"/>
            <a:ext cx="753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 2 </a:t>
            </a:r>
            <a:endParaRPr sz="2200">
              <a:latin typeface="Lexend"/>
              <a:ea typeface="Lexend"/>
              <a:cs typeface="Lexend"/>
              <a:sym typeface="Lexend"/>
            </a:endParaRPr>
          </a:p>
        </p:txBody>
      </p:sp>
      <p:sp>
        <p:nvSpPr>
          <p:cNvPr id="908" name="Google Shape;908;p74"/>
          <p:cNvSpPr/>
          <p:nvPr/>
        </p:nvSpPr>
        <p:spPr>
          <a:xfrm>
            <a:off x="596275" y="3611900"/>
            <a:ext cx="414000" cy="367500"/>
          </a:xfrm>
          <a:prstGeom prst="hexagon">
            <a:avLst>
              <a:gd fmla="val 25000" name="adj"/>
              <a:gd fmla="val 115470" name="vf"/>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rithmetic procedures with integers</a:t>
            </a:r>
            <a:endParaRPr/>
          </a:p>
        </p:txBody>
      </p:sp>
      <p:sp>
        <p:nvSpPr>
          <p:cNvPr id="914" name="Google Shape;914;p75"/>
          <p:cNvSpPr txBox="1"/>
          <p:nvPr>
            <p:ph idx="1" type="body"/>
          </p:nvPr>
        </p:nvSpPr>
        <p:spPr>
          <a:xfrm>
            <a:off x="324000" y="759300"/>
            <a:ext cx="5995500" cy="89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Sam is working out the answer to 142 × 5</a:t>
            </a:r>
            <a:endParaRPr/>
          </a:p>
          <a:p>
            <a:pPr indent="0" lvl="0" marL="0" rtl="0" algn="l">
              <a:spcBef>
                <a:spcPts val="1000"/>
              </a:spcBef>
              <a:spcAft>
                <a:spcPts val="0"/>
              </a:spcAft>
              <a:buNone/>
            </a:pPr>
            <a:r>
              <a:rPr lang="en-GB"/>
              <a:t>This is their working out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id="915" name="Google Shape;915;p75"/>
          <p:cNvPicPr preferRelativeResize="0"/>
          <p:nvPr/>
        </p:nvPicPr>
        <p:blipFill>
          <a:blip r:embed="rId3">
            <a:alphaModFix/>
          </a:blip>
          <a:stretch>
            <a:fillRect/>
          </a:stretch>
        </p:blipFill>
        <p:spPr>
          <a:xfrm>
            <a:off x="323988" y="3512525"/>
            <a:ext cx="1002157" cy="1318450"/>
          </a:xfrm>
          <a:prstGeom prst="rect">
            <a:avLst/>
          </a:prstGeom>
          <a:noFill/>
          <a:ln>
            <a:noFill/>
          </a:ln>
        </p:spPr>
      </p:pic>
      <p:pic>
        <p:nvPicPr>
          <p:cNvPr id="916" name="Google Shape;916;p75"/>
          <p:cNvPicPr preferRelativeResize="0"/>
          <p:nvPr/>
        </p:nvPicPr>
        <p:blipFill>
          <a:blip r:embed="rId4">
            <a:alphaModFix/>
          </a:blip>
          <a:stretch>
            <a:fillRect/>
          </a:stretch>
        </p:blipFill>
        <p:spPr>
          <a:xfrm>
            <a:off x="7579926" y="3487219"/>
            <a:ext cx="911450" cy="1318450"/>
          </a:xfrm>
          <a:prstGeom prst="rect">
            <a:avLst/>
          </a:prstGeom>
          <a:noFill/>
          <a:ln>
            <a:noFill/>
          </a:ln>
        </p:spPr>
      </p:pic>
      <p:grpSp>
        <p:nvGrpSpPr>
          <p:cNvPr id="917" name="Google Shape;917;p75"/>
          <p:cNvGrpSpPr/>
          <p:nvPr/>
        </p:nvGrpSpPr>
        <p:grpSpPr>
          <a:xfrm>
            <a:off x="5634400" y="2871675"/>
            <a:ext cx="1824799" cy="1631599"/>
            <a:chOff x="5634400" y="2871675"/>
            <a:chExt cx="1824799" cy="1631599"/>
          </a:xfrm>
        </p:grpSpPr>
        <p:pic>
          <p:nvPicPr>
            <p:cNvPr id="918" name="Google Shape;918;p75"/>
            <p:cNvPicPr preferRelativeResize="0"/>
            <p:nvPr/>
          </p:nvPicPr>
          <p:blipFill rotWithShape="1">
            <a:blip r:embed="rId5">
              <a:alphaModFix/>
            </a:blip>
            <a:srcRect b="43690" l="0" r="57905" t="0"/>
            <a:stretch/>
          </p:blipFill>
          <p:spPr>
            <a:xfrm>
              <a:off x="5634400" y="2871675"/>
              <a:ext cx="1824799" cy="1631599"/>
            </a:xfrm>
            <a:prstGeom prst="rect">
              <a:avLst/>
            </a:prstGeom>
            <a:noFill/>
            <a:ln>
              <a:noFill/>
            </a:ln>
          </p:spPr>
        </p:pic>
        <p:sp>
          <p:nvSpPr>
            <p:cNvPr id="919" name="Google Shape;919;p75"/>
            <p:cNvSpPr txBox="1"/>
            <p:nvPr/>
          </p:nvSpPr>
          <p:spPr>
            <a:xfrm>
              <a:off x="5727725" y="2898575"/>
              <a:ext cx="1651200" cy="1245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Really?</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2200">
                  <a:solidFill>
                    <a:schemeClr val="dk1"/>
                  </a:solidFill>
                  <a:latin typeface="Lexend"/>
                  <a:ea typeface="Lexend"/>
                  <a:cs typeface="Lexend"/>
                  <a:sym typeface="Lexend"/>
                </a:rPr>
                <a:t>How do you do it?</a:t>
              </a:r>
              <a:endParaRPr sz="2200">
                <a:solidFill>
                  <a:schemeClr val="dk1"/>
                </a:solidFill>
                <a:latin typeface="Lexend"/>
                <a:ea typeface="Lexend"/>
                <a:cs typeface="Lexend"/>
                <a:sym typeface="Lexend"/>
              </a:endParaRPr>
            </a:p>
          </p:txBody>
        </p:sp>
      </p:grpSp>
      <p:sp>
        <p:nvSpPr>
          <p:cNvPr id="920" name="Google Shape;920;p75"/>
          <p:cNvSpPr txBox="1"/>
          <p:nvPr/>
        </p:nvSpPr>
        <p:spPr>
          <a:xfrm>
            <a:off x="1869575" y="3949475"/>
            <a:ext cx="3644100" cy="85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142 × 10 = 1420</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2200">
                <a:solidFill>
                  <a:schemeClr val="dk1"/>
                </a:solidFill>
                <a:latin typeface="Lexend"/>
                <a:ea typeface="Lexend"/>
                <a:cs typeface="Lexend"/>
                <a:sym typeface="Lexend"/>
              </a:rPr>
              <a:t>1420 ÷ 2 = 710</a:t>
            </a:r>
            <a:endParaRPr>
              <a:latin typeface="Lexend"/>
              <a:ea typeface="Lexend"/>
              <a:cs typeface="Lexend"/>
              <a:sym typeface="Lexend"/>
            </a:endParaRPr>
          </a:p>
        </p:txBody>
      </p:sp>
      <p:grpSp>
        <p:nvGrpSpPr>
          <p:cNvPr id="921" name="Google Shape;921;p75"/>
          <p:cNvGrpSpPr/>
          <p:nvPr/>
        </p:nvGrpSpPr>
        <p:grpSpPr>
          <a:xfrm>
            <a:off x="6256792" y="1080000"/>
            <a:ext cx="1755369" cy="1521000"/>
            <a:chOff x="6172517" y="1559450"/>
            <a:chExt cx="1755369" cy="1521000"/>
          </a:xfrm>
        </p:grpSpPr>
        <p:pic>
          <p:nvPicPr>
            <p:cNvPr descr="one hundred and forty-two multiplied by five in column form.  Start by working out two multiplied by five, the answer is ten, write the zero in the ones column and a carry one in the tens column.  Next multiply four by five, which is 20 add the carry you get twenty-one.  Write a one in the tens column and carry a two  into the hundreds column.  Next multiply one by five and add the 2 carries to give seven.  The answer is seven hundred and ten " id="922" name="Google Shape;922;p75"/>
            <p:cNvPicPr preferRelativeResize="0"/>
            <p:nvPr/>
          </p:nvPicPr>
          <p:blipFill>
            <a:blip r:embed="rId6">
              <a:alphaModFix/>
            </a:blip>
            <a:stretch>
              <a:fillRect/>
            </a:stretch>
          </p:blipFill>
          <p:spPr>
            <a:xfrm>
              <a:off x="6179124" y="1559450"/>
              <a:ext cx="1729414" cy="1521000"/>
            </a:xfrm>
            <a:prstGeom prst="rect">
              <a:avLst/>
            </a:prstGeom>
            <a:noFill/>
            <a:ln>
              <a:noFill/>
            </a:ln>
          </p:spPr>
        </p:pic>
        <p:cxnSp>
          <p:nvCxnSpPr>
            <p:cNvPr id="923" name="Google Shape;923;p75"/>
            <p:cNvCxnSpPr/>
            <p:nvPr/>
          </p:nvCxnSpPr>
          <p:spPr>
            <a:xfrm>
              <a:off x="6172517" y="2427783"/>
              <a:ext cx="1729500" cy="0"/>
            </a:xfrm>
            <a:prstGeom prst="straightConnector1">
              <a:avLst/>
            </a:prstGeom>
            <a:noFill/>
            <a:ln cap="flat" cmpd="sng" w="38100">
              <a:solidFill>
                <a:schemeClr val="dk2"/>
              </a:solidFill>
              <a:prstDash val="solid"/>
              <a:round/>
              <a:headEnd len="med" w="med" type="none"/>
              <a:tailEnd len="med" w="med" type="none"/>
            </a:ln>
          </p:spPr>
        </p:cxnSp>
        <p:cxnSp>
          <p:nvCxnSpPr>
            <p:cNvPr id="924" name="Google Shape;924;p75"/>
            <p:cNvCxnSpPr/>
            <p:nvPr/>
          </p:nvCxnSpPr>
          <p:spPr>
            <a:xfrm>
              <a:off x="6198385" y="2806883"/>
              <a:ext cx="1729500" cy="0"/>
            </a:xfrm>
            <a:prstGeom prst="straightConnector1">
              <a:avLst/>
            </a:prstGeom>
            <a:noFill/>
            <a:ln cap="flat" cmpd="sng" w="38100">
              <a:solidFill>
                <a:schemeClr val="dk2"/>
              </a:solidFill>
              <a:prstDash val="solid"/>
              <a:round/>
              <a:headEnd len="med" w="med" type="none"/>
              <a:tailEnd len="med" w="med" type="none"/>
            </a:ln>
          </p:spPr>
        </p:cxnSp>
      </p:grpSp>
      <p:grpSp>
        <p:nvGrpSpPr>
          <p:cNvPr id="925" name="Google Shape;925;p75"/>
          <p:cNvGrpSpPr/>
          <p:nvPr/>
        </p:nvGrpSpPr>
        <p:grpSpPr>
          <a:xfrm>
            <a:off x="923399" y="1572600"/>
            <a:ext cx="3236127" cy="2270575"/>
            <a:chOff x="923399" y="1572600"/>
            <a:chExt cx="3236127" cy="2270575"/>
          </a:xfrm>
        </p:grpSpPr>
        <p:pic>
          <p:nvPicPr>
            <p:cNvPr id="926" name="Google Shape;926;p75"/>
            <p:cNvPicPr preferRelativeResize="0"/>
            <p:nvPr/>
          </p:nvPicPr>
          <p:blipFill rotWithShape="1">
            <a:blip r:embed="rId5">
              <a:alphaModFix/>
            </a:blip>
            <a:srcRect b="43690" l="0" r="57905" t="0"/>
            <a:stretch/>
          </p:blipFill>
          <p:spPr>
            <a:xfrm flipH="1">
              <a:off x="923399" y="1572600"/>
              <a:ext cx="3236127" cy="2270575"/>
            </a:xfrm>
            <a:prstGeom prst="rect">
              <a:avLst/>
            </a:prstGeom>
            <a:noFill/>
            <a:ln>
              <a:noFill/>
            </a:ln>
          </p:spPr>
        </p:pic>
        <p:sp>
          <p:nvSpPr>
            <p:cNvPr id="927" name="Google Shape;927;p75"/>
            <p:cNvSpPr txBox="1"/>
            <p:nvPr/>
          </p:nvSpPr>
          <p:spPr>
            <a:xfrm>
              <a:off x="1145050" y="1660300"/>
              <a:ext cx="2909700" cy="1635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What are you doing?</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2200">
                  <a:solidFill>
                    <a:schemeClr val="dk1"/>
                  </a:solidFill>
                  <a:latin typeface="Lexend"/>
                  <a:ea typeface="Lexend"/>
                  <a:cs typeface="Lexend"/>
                  <a:sym typeface="Lexend"/>
                </a:rPr>
                <a:t>There is a much quicker way to multiply by 5.</a:t>
              </a:r>
              <a:endParaRPr sz="2200">
                <a:solidFill>
                  <a:schemeClr val="dk1"/>
                </a:solidFill>
                <a:latin typeface="Lexend"/>
                <a:ea typeface="Lexend"/>
                <a:cs typeface="Lexend"/>
                <a:sym typeface="Lexend"/>
              </a:endParaRPr>
            </a:p>
          </p:txBody>
        </p:sp>
      </p:grpSp>
      <p:grpSp>
        <p:nvGrpSpPr>
          <p:cNvPr id="928" name="Google Shape;928;p75"/>
          <p:cNvGrpSpPr/>
          <p:nvPr/>
        </p:nvGrpSpPr>
        <p:grpSpPr>
          <a:xfrm>
            <a:off x="945148" y="2781725"/>
            <a:ext cx="3236127" cy="1035601"/>
            <a:chOff x="923398" y="1572600"/>
            <a:chExt cx="3236127" cy="1035601"/>
          </a:xfrm>
        </p:grpSpPr>
        <p:pic>
          <p:nvPicPr>
            <p:cNvPr id="929" name="Google Shape;929;p75"/>
            <p:cNvPicPr preferRelativeResize="0"/>
            <p:nvPr/>
          </p:nvPicPr>
          <p:blipFill rotWithShape="1">
            <a:blip r:embed="rId5">
              <a:alphaModFix/>
            </a:blip>
            <a:srcRect b="43690" l="0" r="57905" t="0"/>
            <a:stretch/>
          </p:blipFill>
          <p:spPr>
            <a:xfrm flipH="1">
              <a:off x="923398" y="1572600"/>
              <a:ext cx="3236127" cy="1035601"/>
            </a:xfrm>
            <a:prstGeom prst="rect">
              <a:avLst/>
            </a:prstGeom>
            <a:noFill/>
            <a:ln>
              <a:noFill/>
            </a:ln>
          </p:spPr>
        </p:pic>
        <p:sp>
          <p:nvSpPr>
            <p:cNvPr id="930" name="Google Shape;930;p75"/>
            <p:cNvSpPr txBox="1"/>
            <p:nvPr/>
          </p:nvSpPr>
          <p:spPr>
            <a:xfrm>
              <a:off x="1145050" y="1660300"/>
              <a:ext cx="29097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Clr>
                  <a:schemeClr val="dk1"/>
                </a:buClr>
                <a:buSzPts val="1100"/>
                <a:buFont typeface="Arial"/>
                <a:buNone/>
              </a:pPr>
              <a:r>
                <a:rPr lang="en-GB" sz="2200">
                  <a:solidFill>
                    <a:schemeClr val="dk1"/>
                  </a:solidFill>
                  <a:latin typeface="Lexend"/>
                  <a:ea typeface="Lexend"/>
                  <a:cs typeface="Lexend"/>
                  <a:sym typeface="Lexend"/>
                </a:rPr>
                <a:t>I always multiply by 10 and halve it</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par>
                          <p:cTn fill="hold">
                            <p:stCondLst>
                              <p:cond delay="0"/>
                            </p:stCondLst>
                            <p:childTnLst>
                              <p:par>
                                <p:cTn fill="hold" nodeType="afterEffect" presetClass="exit" presetID="1" presetSubtype="0">
                                  <p:stCondLst>
                                    <p:cond delay="0"/>
                                  </p:stCondLst>
                                  <p:childTnLst>
                                    <p:set>
                                      <p:cBhvr>
                                        <p:cTn dur="1" fill="hold">
                                          <p:stCondLst>
                                            <p:cond delay="0"/>
                                          </p:stCondLst>
                                        </p:cTn>
                                        <p:tgtEl>
                                          <p:spTgt spid="9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graphicFrame>
        <p:nvGraphicFramePr>
          <p:cNvPr id="935" name="Google Shape;935;p76"/>
          <p:cNvGraphicFramePr/>
          <p:nvPr/>
        </p:nvGraphicFramePr>
        <p:xfrm>
          <a:off x="2508150" y="1747500"/>
          <a:ext cx="3000000" cy="3000000"/>
        </p:xfrm>
        <a:graphic>
          <a:graphicData uri="http://schemas.openxmlformats.org/drawingml/2006/table">
            <a:tbl>
              <a:tblPr>
                <a:noFill/>
                <a:tableStyleId>{3664A467-3C82-46C9-A48E-D0775AE3D04C}</a:tableStyleId>
              </a:tblPr>
              <a:tblGrid>
                <a:gridCol w="2063850"/>
                <a:gridCol w="2063850"/>
              </a:tblGrid>
              <a:tr h="381000">
                <a:tc>
                  <a:txBody>
                    <a:bodyPr/>
                    <a:lstStyle/>
                    <a:p>
                      <a:pPr indent="0" lvl="0" marL="0" rtl="0" algn="l">
                        <a:spcBef>
                          <a:spcPts val="0"/>
                        </a:spcBef>
                        <a:spcAft>
                          <a:spcPts val="0"/>
                        </a:spcAft>
                        <a:buNone/>
                      </a:pPr>
                      <a:r>
                        <a:t/>
                      </a:r>
                      <a:endParaRPr sz="2200">
                        <a:latin typeface="Lexend"/>
                        <a:ea typeface="Lexend"/>
                        <a:cs typeface="Lexend"/>
                        <a:sym typeface="Lexend"/>
                      </a:endParaRPr>
                    </a:p>
                  </a:txBody>
                  <a:tcPr marT="0" marB="0" marR="0" marL="90000">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200">
                          <a:latin typeface="Lexend"/>
                          <a:ea typeface="Lexend"/>
                          <a:cs typeface="Lexend"/>
                          <a:sym typeface="Lexend"/>
                        </a:rPr>
                        <a:t>Alternative</a:t>
                      </a:r>
                      <a:endParaRPr sz="2200">
                        <a:latin typeface="Lexend"/>
                        <a:ea typeface="Lexend"/>
                        <a:cs typeface="Lexend"/>
                        <a:sym typeface="Lexend"/>
                      </a:endParaRPr>
                    </a:p>
                  </a:txBody>
                  <a:tcPr marT="0" marB="0" marR="0" marL="90000">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200">
                          <a:latin typeface="Lexend"/>
                          <a:ea typeface="Lexend"/>
                          <a:cs typeface="Lexend"/>
                          <a:sym typeface="Lexend"/>
                        </a:rPr>
                        <a:t>× 5</a:t>
                      </a:r>
                      <a:endParaRPr sz="2200">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 10 ÷ 2 </a:t>
                      </a:r>
                      <a:endParaRPr sz="2200">
                        <a:solidFill>
                          <a:schemeClr val="dk1"/>
                        </a:solidFill>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200">
                          <a:latin typeface="Lexend"/>
                          <a:ea typeface="Lexend"/>
                          <a:cs typeface="Lexend"/>
                          <a:sym typeface="Lexend"/>
                        </a:rPr>
                        <a:t>× 4</a:t>
                      </a:r>
                      <a:endParaRPr sz="2200">
                        <a:latin typeface="Lexend"/>
                        <a:ea typeface="Lexend"/>
                        <a:cs typeface="Lexend"/>
                        <a:sym typeface="Lexend"/>
                      </a:endParaRPr>
                    </a:p>
                  </a:txBody>
                  <a:tcPr marT="0" marB="0" marR="0" marL="900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 2 × 2 </a:t>
                      </a:r>
                      <a:endParaRPr sz="2200">
                        <a:latin typeface="Lexend"/>
                        <a:ea typeface="Lexend"/>
                        <a:cs typeface="Lexend"/>
                        <a:sym typeface="Lexend"/>
                      </a:endParaRPr>
                    </a:p>
                  </a:txBody>
                  <a:tcPr marT="0" marB="0" marR="0" marL="900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200">
                          <a:latin typeface="Lexend"/>
                          <a:ea typeface="Lexend"/>
                          <a:cs typeface="Lexend"/>
                          <a:sym typeface="Lexend"/>
                        </a:rPr>
                        <a:t>× 6</a:t>
                      </a:r>
                      <a:endParaRPr sz="2200">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3 × 2 </a:t>
                      </a:r>
                      <a:endParaRPr sz="2200">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200">
                          <a:latin typeface="Lexend"/>
                          <a:ea typeface="Lexend"/>
                          <a:cs typeface="Lexend"/>
                          <a:sym typeface="Lexend"/>
                        </a:rPr>
                        <a:t>× 8</a:t>
                      </a:r>
                      <a:endParaRPr sz="2200">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2 × 2 × 2 </a:t>
                      </a:r>
                      <a:endParaRPr sz="2200">
                        <a:latin typeface="Lexend"/>
                        <a:ea typeface="Lexend"/>
                        <a:cs typeface="Lexend"/>
                        <a:sym typeface="Lexend"/>
                      </a:endParaRPr>
                    </a:p>
                  </a:txBody>
                  <a:tcPr marT="0" marB="0" marR="0" marL="90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2200">
                          <a:latin typeface="Lexend"/>
                          <a:ea typeface="Lexend"/>
                          <a:cs typeface="Lexend"/>
                          <a:sym typeface="Lexend"/>
                        </a:rPr>
                        <a:t>÷ 5</a:t>
                      </a:r>
                      <a:endParaRPr sz="2200">
                        <a:latin typeface="Lexend"/>
                        <a:ea typeface="Lexend"/>
                        <a:cs typeface="Lexend"/>
                        <a:sym typeface="Lexend"/>
                      </a:endParaRPr>
                    </a:p>
                  </a:txBody>
                  <a:tcPr marT="0" marB="0" marR="0" marL="90000">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sz="2200">
                          <a:latin typeface="Lexend"/>
                          <a:ea typeface="Lexend"/>
                          <a:cs typeface="Lexend"/>
                          <a:sym typeface="Lexend"/>
                        </a:rPr>
                        <a:t>÷ 10 × 2</a:t>
                      </a:r>
                      <a:endParaRPr sz="2200">
                        <a:latin typeface="Lexend"/>
                        <a:ea typeface="Lexend"/>
                        <a:cs typeface="Lexend"/>
                        <a:sym typeface="Lexend"/>
                      </a:endParaRPr>
                    </a:p>
                  </a:txBody>
                  <a:tcPr marT="0" marB="0" marR="0" marL="90000">
                    <a:lnT cap="flat" cmpd="sng" w="9525">
                      <a:solidFill>
                        <a:srgbClr val="9E9E9E"/>
                      </a:solidFill>
                      <a:prstDash val="solid"/>
                      <a:round/>
                      <a:headEnd len="sm" w="sm" type="none"/>
                      <a:tailEnd len="sm" w="sm" type="none"/>
                    </a:lnT>
                  </a:tcPr>
                </a:tc>
              </a:tr>
            </a:tbl>
          </a:graphicData>
        </a:graphic>
      </p:graphicFrame>
      <p:sp>
        <p:nvSpPr>
          <p:cNvPr id="936" name="Google Shape;936;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rithmetic procedures with integers</a:t>
            </a:r>
            <a:endParaRPr/>
          </a:p>
        </p:txBody>
      </p:sp>
      <p:sp>
        <p:nvSpPr>
          <p:cNvPr id="937" name="Google Shape;937;p76"/>
          <p:cNvSpPr txBox="1"/>
          <p:nvPr>
            <p:ph idx="1" type="body"/>
          </p:nvPr>
        </p:nvSpPr>
        <p:spPr>
          <a:xfrm>
            <a:off x="324000" y="759300"/>
            <a:ext cx="7330500" cy="744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Think of other ways to perform </a:t>
            </a:r>
            <a:r>
              <a:rPr lang="en-GB"/>
              <a:t>arithmetic</a:t>
            </a:r>
            <a:r>
              <a:rPr lang="en-GB"/>
              <a:t> procedures in a more efficient way:</a:t>
            </a:r>
            <a:endParaRPr/>
          </a:p>
          <a:p>
            <a:pPr indent="0" lvl="0" marL="0" rtl="0" algn="l">
              <a:spcBef>
                <a:spcPts val="1000"/>
              </a:spcBef>
              <a:spcAft>
                <a:spcPts val="1000"/>
              </a:spcAft>
              <a:buClr>
                <a:schemeClr val="dk1"/>
              </a:buClr>
              <a:buSzPts val="1100"/>
              <a:buFont typeface="Arial"/>
              <a:buNone/>
            </a:pPr>
            <a:r>
              <a:t/>
            </a:r>
            <a:endParaRPr/>
          </a:p>
        </p:txBody>
      </p:sp>
      <p:sp>
        <p:nvSpPr>
          <p:cNvPr id="938" name="Google Shape;938;p76"/>
          <p:cNvSpPr/>
          <p:nvPr/>
        </p:nvSpPr>
        <p:spPr>
          <a:xfrm>
            <a:off x="2546125" y="2534825"/>
            <a:ext cx="4872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9" name="Google Shape;939;p76"/>
          <p:cNvSpPr/>
          <p:nvPr/>
        </p:nvSpPr>
        <p:spPr>
          <a:xfrm>
            <a:off x="4621800" y="2534825"/>
            <a:ext cx="8817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76"/>
          <p:cNvSpPr/>
          <p:nvPr/>
        </p:nvSpPr>
        <p:spPr>
          <a:xfrm>
            <a:off x="2546125" y="2919450"/>
            <a:ext cx="4872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1" name="Google Shape;941;p76"/>
          <p:cNvSpPr/>
          <p:nvPr/>
        </p:nvSpPr>
        <p:spPr>
          <a:xfrm>
            <a:off x="4621800" y="2919450"/>
            <a:ext cx="8817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2" name="Google Shape;942;p76"/>
          <p:cNvSpPr/>
          <p:nvPr/>
        </p:nvSpPr>
        <p:spPr>
          <a:xfrm>
            <a:off x="2546125" y="3294250"/>
            <a:ext cx="4872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3" name="Google Shape;943;p76"/>
          <p:cNvSpPr/>
          <p:nvPr/>
        </p:nvSpPr>
        <p:spPr>
          <a:xfrm>
            <a:off x="4621800" y="3294250"/>
            <a:ext cx="13626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6"/>
          <p:cNvSpPr/>
          <p:nvPr/>
        </p:nvSpPr>
        <p:spPr>
          <a:xfrm>
            <a:off x="2546125" y="3675377"/>
            <a:ext cx="4872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76"/>
          <p:cNvSpPr/>
          <p:nvPr/>
        </p:nvSpPr>
        <p:spPr>
          <a:xfrm>
            <a:off x="4621800" y="3681703"/>
            <a:ext cx="1362600" cy="323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77"/>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951" name="Google Shape;951;p7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a:t>
            </a:r>
            <a:r>
              <a:rPr lang="en-GB"/>
              <a:t>÷ 7 </a:t>
            </a:r>
            <a:endParaRPr/>
          </a:p>
        </p:txBody>
      </p:sp>
      <p:sp>
        <p:nvSpPr>
          <p:cNvPr id="952" name="Google Shape;952;p77"/>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of the following is another way to divide by 9?</a:t>
            </a:r>
            <a:endParaRPr/>
          </a:p>
        </p:txBody>
      </p:sp>
      <p:sp>
        <p:nvSpPr>
          <p:cNvPr id="953" name="Google Shape;953;p7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 3 ÷ 3 </a:t>
            </a:r>
            <a:endParaRPr/>
          </a:p>
        </p:txBody>
      </p:sp>
      <p:sp>
        <p:nvSpPr>
          <p:cNvPr id="954" name="Google Shape;954;p7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 6 ÷ 3 </a:t>
            </a:r>
            <a:endParaRPr/>
          </a:p>
        </p:txBody>
      </p:sp>
      <p:pic>
        <p:nvPicPr>
          <p:cNvPr id="955" name="Google Shape;955;p77"/>
          <p:cNvPicPr preferRelativeResize="0"/>
          <p:nvPr/>
        </p:nvPicPr>
        <p:blipFill>
          <a:blip r:embed="rId3">
            <a:alphaModFix/>
          </a:blip>
          <a:stretch>
            <a:fillRect/>
          </a:stretch>
        </p:blipFill>
        <p:spPr>
          <a:xfrm>
            <a:off x="2192458" y="27266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7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Find the missing digits in each of the following:</a:t>
            </a:r>
            <a:endParaRPr/>
          </a:p>
          <a:p>
            <a:pPr indent="0" lvl="0" marL="457200" rtl="0" algn="l">
              <a:spcBef>
                <a:spcPts val="1000"/>
              </a:spcBef>
              <a:spcAft>
                <a:spcPts val="1000"/>
              </a:spcAft>
              <a:buNone/>
            </a:pPr>
            <a:r>
              <a:t/>
            </a:r>
            <a:endParaRPr/>
          </a:p>
        </p:txBody>
      </p:sp>
      <p:sp>
        <p:nvSpPr>
          <p:cNvPr id="961" name="Google Shape;961;p7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Arithmetic procedures with integers</a:t>
            </a:r>
            <a:endParaRPr/>
          </a:p>
        </p:txBody>
      </p:sp>
      <p:pic>
        <p:nvPicPr>
          <p:cNvPr descr="&lt;math xmlns=&quot;http://www.w3.org/1998/Math/MathML&quot; display=&quot;block&quot; data-is-equatio=&quot;1&quot; data-latex=&quot;\begin{array}{l}6\ 4\ 1\ 8\\&amp;#13;&amp;#10;4\ 3\ 2\ 5\\&amp;#13;&amp;#10;2\ 0\ 9\ 3\end{array}&quot;&gt;&lt;mtable columnalign=&quot;left&quot; columnspacing=&quot;1em&quot; rowspacing=&quot;4pt&quot;&gt;&lt;mtr&gt;&lt;mtd&gt;&lt;mn&gt;6&lt;/mn&gt;&lt;mtext&gt;&lt;/mtext&gt;&lt;mn&gt;4&lt;/mn&gt;&lt;mtext&gt;&lt;/mtext&gt;&lt;mn&gt;1&lt;/mn&gt;&lt;mtext&gt;&lt;/mtext&gt;&lt;mn&gt;8&lt;/mn&gt;&lt;/mtd&gt;&lt;/mtr&gt;&lt;mtr&gt;&lt;mtd&gt;&lt;mn&gt;4&lt;/mn&gt;&lt;mtext&gt;&lt;/mtext&gt;&lt;mn&gt;3&lt;/mn&gt;&lt;mtext&gt;&lt;/mtext&gt;&lt;mn&gt;2&lt;/mn&gt;&lt;mtext&gt;&lt;/mtext&gt;&lt;mn&gt;5&lt;/mn&gt;&lt;/mtd&gt;&lt;/mtr&gt;&lt;mtr&gt;&lt;mtd&gt;&lt;mn&gt;2&lt;/mn&gt;&lt;mtext&gt;&lt;/mtext&gt;&lt;mn&gt;0&lt;/mn&gt;&lt;mtext&gt;&lt;/mtext&gt;&lt;mn&gt;9&lt;/mn&gt;&lt;mtext&gt;&lt;/mtext&gt;&lt;mn&gt;3&lt;/mn&gt;&lt;/mtd&gt;&lt;/mtr&gt;&lt;/mtable&gt;&lt;/math&gt;" id="962" name="Google Shape;962;p78" title="3 lines Line 1: 6 4 1 8 Line 2: 4 3 2 5 Line 3: 2 0 9 3"/>
          <p:cNvPicPr preferRelativeResize="0"/>
          <p:nvPr/>
        </p:nvPicPr>
        <p:blipFill>
          <a:blip r:embed="rId3">
            <a:alphaModFix/>
          </a:blip>
          <a:stretch>
            <a:fillRect/>
          </a:stretch>
        </p:blipFill>
        <p:spPr>
          <a:xfrm>
            <a:off x="7459200" y="1491925"/>
            <a:ext cx="854806" cy="1112600"/>
          </a:xfrm>
          <a:prstGeom prst="rect">
            <a:avLst/>
          </a:prstGeom>
          <a:noFill/>
          <a:ln>
            <a:noFill/>
          </a:ln>
        </p:spPr>
      </p:pic>
      <p:pic>
        <p:nvPicPr>
          <p:cNvPr descr="&lt;math xmlns=&quot;http://www.w3.org/1998/Math/MathML&quot; display=&quot;block&quot; data-is-equatio=&quot;1&quot; data-latex=&quot;\begin{array}{l}\ \ \ 4\ 6\ 2\ 5\\&amp;#13;&amp;#10;\ \ \ 6\ 0\ 9\ 2\\&amp;#13;&amp;#10;1\ 0\ 7\ 1\ 7\end{array}&quot;&gt;&lt;mtable columnalign=&quot;left&quot; columnspacing=&quot;1em&quot; rowspacing=&quot;4pt&quot;&gt;&lt;mtr&gt;&lt;mtd&gt;&lt;mtext&gt;&lt;/mtext&gt;&lt;mtext&gt;&lt;/mtext&gt;&lt;mtext&gt;&lt;/mtext&gt;&lt;mn&gt;4&lt;/mn&gt;&lt;mtext&gt;&lt;/mtext&gt;&lt;mn&gt;6&lt;/mn&gt;&lt;mtext&gt;&lt;/mtext&gt;&lt;mn&gt;2&lt;/mn&gt;&lt;mtext&gt;&lt;/mtext&gt;&lt;mn&gt;5&lt;/mn&gt;&lt;/mtd&gt;&lt;/mtr&gt;&lt;mtr&gt;&lt;mtd&gt;&lt;mtext&gt;&lt;/mtext&gt;&lt;mtext&gt;&lt;/mtext&gt;&lt;mtext&gt;&lt;/mtext&gt;&lt;mn&gt;6&lt;/mn&gt;&lt;mtext&gt;&lt;/mtext&gt;&lt;mn&gt;0&lt;/mn&gt;&lt;mtext&gt;&lt;/mtext&gt;&lt;mn&gt;9&lt;/mn&gt;&lt;mtext&gt;&lt;/mtext&gt;&lt;mn&gt;2&lt;/mn&gt;&lt;/mtd&gt;&lt;/mtr&gt;&lt;mtr&gt;&lt;mtd&gt;&lt;mn&gt;1&lt;/mn&gt;&lt;mtext&gt;&lt;/mtext&gt;&lt;mn&gt;0&lt;/mn&gt;&lt;mtext&gt;&lt;/mtext&gt;&lt;mn&gt;7&lt;/mn&gt;&lt;mtext&gt;&lt;/mtext&gt;&lt;mn&gt;1&lt;/mn&gt;&lt;mtext&gt;&lt;/mtext&gt;&lt;mn&gt;7&lt;/mn&gt;&lt;/mtd&gt;&lt;/mtr&gt;&lt;/mtable&gt;&lt;/math&gt;" id="963" name="Google Shape;963;p78" title="3 lines Line 1: 4 6 2 5 Line 2: 6 0 9 2 Line 3: 1 0 7 1 7"/>
          <p:cNvPicPr preferRelativeResize="0"/>
          <p:nvPr/>
        </p:nvPicPr>
        <p:blipFill>
          <a:blip r:embed="rId4">
            <a:alphaModFix/>
          </a:blip>
          <a:stretch>
            <a:fillRect/>
          </a:stretch>
        </p:blipFill>
        <p:spPr>
          <a:xfrm>
            <a:off x="5015578" y="1491925"/>
            <a:ext cx="1071897" cy="1112599"/>
          </a:xfrm>
          <a:prstGeom prst="rect">
            <a:avLst/>
          </a:prstGeom>
          <a:noFill/>
          <a:ln>
            <a:noFill/>
          </a:ln>
        </p:spPr>
      </p:pic>
      <p:pic>
        <p:nvPicPr>
          <p:cNvPr descr="&lt;math xmlns=&quot;http://www.w3.org/1998/Math/MathML&quot; display=&quot;block&quot; data-is-equatio=&quot;1&quot; data-latex=&quot;\begin{array}{l}7\ 3\ 5\\&amp;#13;&amp;#10;3\ 8\ 7\\&amp;#13;&amp;#10;3\ 4\ 8\end{array}&quot;&gt;&lt;mtable columnalign=&quot;left&quot; columnspacing=&quot;1em&quot; rowspacing=&quot;4pt&quot;&gt;&lt;mtr&gt;&lt;mtd&gt;&lt;mn&gt;7&lt;/mn&gt;&lt;mtext&gt;&lt;/mtext&gt;&lt;mn&gt;3&lt;/mn&gt;&lt;mtext&gt;&lt;/mtext&gt;&lt;mn&gt;5&lt;/mn&gt;&lt;/mtd&gt;&lt;/mtr&gt;&lt;mtr&gt;&lt;mtd&gt;&lt;mn&gt;3&lt;/mn&gt;&lt;mtext&gt;&lt;/mtext&gt;&lt;mn&gt;8&lt;/mn&gt;&lt;mtext&gt;&lt;/mtext&gt;&lt;mn&gt;7&lt;/mn&gt;&lt;/mtd&gt;&lt;/mtr&gt;&lt;mtr&gt;&lt;mtd&gt;&lt;mn&gt;3&lt;/mn&gt;&lt;mtext&gt;&lt;/mtext&gt;&lt;mn&gt;4&lt;/mn&gt;&lt;mtext&gt;&lt;/mtext&gt;&lt;mn&gt;8&lt;/mn&gt;&lt;/mtd&gt;&lt;/mtr&gt;&lt;/mtable&gt;&lt;/math&gt;" id="964" name="Google Shape;964;p78" title="3 lines Line 1: 7 3 5 Line 2: 3 8 7 Line 3: 3 4 8"/>
          <p:cNvPicPr preferRelativeResize="0"/>
          <p:nvPr/>
        </p:nvPicPr>
        <p:blipFill>
          <a:blip r:embed="rId5">
            <a:alphaModFix/>
          </a:blip>
          <a:stretch>
            <a:fillRect/>
          </a:stretch>
        </p:blipFill>
        <p:spPr>
          <a:xfrm>
            <a:off x="3028756" y="1491925"/>
            <a:ext cx="615097" cy="1112599"/>
          </a:xfrm>
          <a:prstGeom prst="rect">
            <a:avLst/>
          </a:prstGeom>
          <a:noFill/>
          <a:ln>
            <a:noFill/>
          </a:ln>
        </p:spPr>
      </p:pic>
      <p:pic>
        <p:nvPicPr>
          <p:cNvPr descr="&lt;math xmlns=&quot;http://www.w3.org/1998/Math/MathML&quot; display=&quot;block&quot; data-is-equatio=&quot;1&quot; data-latex=&quot;\begin{array}{l}1\ 4\ 6\\&amp;#13;&amp;#10;3\ 9\ 4\\&amp;#13;&amp;#10;5\ 4\ 0\end{array}&quot;&gt;&lt;mtable columnalign=&quot;left&quot; columnspacing=&quot;1em&quot; rowspacing=&quot;4pt&quot;&gt;&lt;mtr&gt;&lt;mtd&gt;&lt;mn&gt;1&lt;/mn&gt;&lt;mtext&gt;&lt;/mtext&gt;&lt;mn&gt;4&lt;/mn&gt;&lt;mtext&gt;&lt;/mtext&gt;&lt;mn&gt;6&lt;/mn&gt;&lt;/mtd&gt;&lt;/mtr&gt;&lt;mtr&gt;&lt;mtd&gt;&lt;mn&gt;3&lt;/mn&gt;&lt;mtext&gt;&lt;/mtext&gt;&lt;mn&gt;9&lt;/mn&gt;&lt;mtext&gt;&lt;/mtext&gt;&lt;mn&gt;4&lt;/mn&gt;&lt;/mtd&gt;&lt;/mtr&gt;&lt;mtr&gt;&lt;mtd&gt;&lt;mn&gt;5&lt;/mn&gt;&lt;mtext&gt;&lt;/mtext&gt;&lt;mn&gt;4&lt;/mn&gt;&lt;mtext&gt;&lt;/mtext&gt;&lt;mn&gt;0&lt;/mn&gt;&lt;/mtd&gt;&lt;/mtr&gt;&lt;/mtable&gt;&lt;/math&gt;" id="965" name="Google Shape;965;p78" title="3 lines Line 1: 1 4 6 Line 2: 3 9 4 Line 3: 5 4 0"/>
          <p:cNvPicPr preferRelativeResize="0"/>
          <p:nvPr/>
        </p:nvPicPr>
        <p:blipFill>
          <a:blip r:embed="rId6">
            <a:alphaModFix/>
          </a:blip>
          <a:stretch>
            <a:fillRect/>
          </a:stretch>
        </p:blipFill>
        <p:spPr>
          <a:xfrm>
            <a:off x="1037411" y="1491925"/>
            <a:ext cx="619620" cy="1112599"/>
          </a:xfrm>
          <a:prstGeom prst="rect">
            <a:avLst/>
          </a:prstGeom>
          <a:noFill/>
          <a:ln>
            <a:noFill/>
          </a:ln>
        </p:spPr>
      </p:pic>
      <p:sp>
        <p:nvSpPr>
          <p:cNvPr id="966" name="Google Shape;966;p78"/>
          <p:cNvSpPr txBox="1"/>
          <p:nvPr/>
        </p:nvSpPr>
        <p:spPr>
          <a:xfrm>
            <a:off x="793612" y="18638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967" name="Google Shape;967;p78"/>
          <p:cNvCxnSpPr/>
          <p:nvPr/>
        </p:nvCxnSpPr>
        <p:spPr>
          <a:xfrm>
            <a:off x="764900" y="2240750"/>
            <a:ext cx="947700" cy="0"/>
          </a:xfrm>
          <a:prstGeom prst="straightConnector1">
            <a:avLst/>
          </a:prstGeom>
          <a:noFill/>
          <a:ln cap="flat" cmpd="sng" w="38100">
            <a:solidFill>
              <a:schemeClr val="dk2"/>
            </a:solidFill>
            <a:prstDash val="solid"/>
            <a:round/>
            <a:headEnd len="med" w="med" type="none"/>
            <a:tailEnd len="med" w="med" type="none"/>
          </a:ln>
        </p:spPr>
      </p:cxnSp>
      <p:cxnSp>
        <p:nvCxnSpPr>
          <p:cNvPr id="968" name="Google Shape;968;p78"/>
          <p:cNvCxnSpPr/>
          <p:nvPr/>
        </p:nvCxnSpPr>
        <p:spPr>
          <a:xfrm>
            <a:off x="764900" y="2651300"/>
            <a:ext cx="947700" cy="0"/>
          </a:xfrm>
          <a:prstGeom prst="straightConnector1">
            <a:avLst/>
          </a:prstGeom>
          <a:noFill/>
          <a:ln cap="flat" cmpd="sng" w="38100">
            <a:solidFill>
              <a:schemeClr val="dk2"/>
            </a:solidFill>
            <a:prstDash val="solid"/>
            <a:round/>
            <a:headEnd len="med" w="med" type="none"/>
            <a:tailEnd len="med" w="med" type="none"/>
          </a:ln>
        </p:spPr>
      </p:cxnSp>
      <p:sp>
        <p:nvSpPr>
          <p:cNvPr id="969" name="Google Shape;969;p78"/>
          <p:cNvSpPr txBox="1"/>
          <p:nvPr/>
        </p:nvSpPr>
        <p:spPr>
          <a:xfrm>
            <a:off x="2759089" y="1895989"/>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970" name="Google Shape;970;p78"/>
          <p:cNvCxnSpPr/>
          <p:nvPr/>
        </p:nvCxnSpPr>
        <p:spPr>
          <a:xfrm>
            <a:off x="2759100" y="2272925"/>
            <a:ext cx="918900" cy="0"/>
          </a:xfrm>
          <a:prstGeom prst="straightConnector1">
            <a:avLst/>
          </a:prstGeom>
          <a:noFill/>
          <a:ln cap="flat" cmpd="sng" w="38100">
            <a:solidFill>
              <a:schemeClr val="dk2"/>
            </a:solidFill>
            <a:prstDash val="solid"/>
            <a:round/>
            <a:headEnd len="med" w="med" type="none"/>
            <a:tailEnd len="med" w="med" type="none"/>
          </a:ln>
        </p:spPr>
      </p:cxnSp>
      <p:cxnSp>
        <p:nvCxnSpPr>
          <p:cNvPr id="971" name="Google Shape;971;p78"/>
          <p:cNvCxnSpPr/>
          <p:nvPr/>
        </p:nvCxnSpPr>
        <p:spPr>
          <a:xfrm>
            <a:off x="2759100" y="2683475"/>
            <a:ext cx="918900" cy="0"/>
          </a:xfrm>
          <a:prstGeom prst="straightConnector1">
            <a:avLst/>
          </a:prstGeom>
          <a:noFill/>
          <a:ln cap="flat" cmpd="sng" w="38100">
            <a:solidFill>
              <a:schemeClr val="dk2"/>
            </a:solidFill>
            <a:prstDash val="solid"/>
            <a:round/>
            <a:headEnd len="med" w="med" type="none"/>
            <a:tailEnd len="med" w="med" type="none"/>
          </a:ln>
        </p:spPr>
      </p:cxnSp>
      <p:cxnSp>
        <p:nvCxnSpPr>
          <p:cNvPr id="972" name="Google Shape;972;p78"/>
          <p:cNvCxnSpPr/>
          <p:nvPr/>
        </p:nvCxnSpPr>
        <p:spPr>
          <a:xfrm>
            <a:off x="4954574" y="2256125"/>
            <a:ext cx="1238400" cy="0"/>
          </a:xfrm>
          <a:prstGeom prst="straightConnector1">
            <a:avLst/>
          </a:prstGeom>
          <a:noFill/>
          <a:ln cap="flat" cmpd="sng" w="38100">
            <a:solidFill>
              <a:schemeClr val="dk2"/>
            </a:solidFill>
            <a:prstDash val="solid"/>
            <a:round/>
            <a:headEnd len="med" w="med" type="none"/>
            <a:tailEnd len="med" w="med" type="none"/>
          </a:ln>
        </p:spPr>
      </p:cxnSp>
      <p:cxnSp>
        <p:nvCxnSpPr>
          <p:cNvPr id="973" name="Google Shape;973;p78"/>
          <p:cNvCxnSpPr/>
          <p:nvPr/>
        </p:nvCxnSpPr>
        <p:spPr>
          <a:xfrm>
            <a:off x="4954574" y="2666675"/>
            <a:ext cx="1238400" cy="0"/>
          </a:xfrm>
          <a:prstGeom prst="straightConnector1">
            <a:avLst/>
          </a:prstGeom>
          <a:noFill/>
          <a:ln cap="flat" cmpd="sng" w="38100">
            <a:solidFill>
              <a:schemeClr val="dk2"/>
            </a:solidFill>
            <a:prstDash val="solid"/>
            <a:round/>
            <a:headEnd len="med" w="med" type="none"/>
            <a:tailEnd len="med" w="med" type="none"/>
          </a:ln>
        </p:spPr>
      </p:cxnSp>
      <p:sp>
        <p:nvSpPr>
          <p:cNvPr id="974" name="Google Shape;974;p78"/>
          <p:cNvSpPr txBox="1"/>
          <p:nvPr/>
        </p:nvSpPr>
        <p:spPr>
          <a:xfrm>
            <a:off x="4954575" y="187888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975" name="Google Shape;975;p78"/>
          <p:cNvCxnSpPr/>
          <p:nvPr/>
        </p:nvCxnSpPr>
        <p:spPr>
          <a:xfrm>
            <a:off x="7194741" y="2273250"/>
            <a:ext cx="1238400" cy="0"/>
          </a:xfrm>
          <a:prstGeom prst="straightConnector1">
            <a:avLst/>
          </a:prstGeom>
          <a:noFill/>
          <a:ln cap="flat" cmpd="sng" w="38100">
            <a:solidFill>
              <a:schemeClr val="dk2"/>
            </a:solidFill>
            <a:prstDash val="solid"/>
            <a:round/>
            <a:headEnd len="med" w="med" type="none"/>
            <a:tailEnd len="med" w="med" type="none"/>
          </a:ln>
        </p:spPr>
      </p:cxnSp>
      <p:cxnSp>
        <p:nvCxnSpPr>
          <p:cNvPr id="976" name="Google Shape;976;p78"/>
          <p:cNvCxnSpPr/>
          <p:nvPr/>
        </p:nvCxnSpPr>
        <p:spPr>
          <a:xfrm>
            <a:off x="7194741" y="2683800"/>
            <a:ext cx="1238400" cy="0"/>
          </a:xfrm>
          <a:prstGeom prst="straightConnector1">
            <a:avLst/>
          </a:prstGeom>
          <a:noFill/>
          <a:ln cap="flat" cmpd="sng" w="38100">
            <a:solidFill>
              <a:schemeClr val="dk2"/>
            </a:solidFill>
            <a:prstDash val="solid"/>
            <a:round/>
            <a:headEnd len="med" w="med" type="none"/>
            <a:tailEnd len="med" w="med" type="none"/>
          </a:ln>
        </p:spPr>
      </p:cxnSp>
      <p:sp>
        <p:nvSpPr>
          <p:cNvPr id="977" name="Google Shape;977;p78"/>
          <p:cNvSpPr txBox="1"/>
          <p:nvPr/>
        </p:nvSpPr>
        <p:spPr>
          <a:xfrm>
            <a:off x="7194742" y="18960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sp>
        <p:nvSpPr>
          <p:cNvPr id="978" name="Google Shape;978;p78"/>
          <p:cNvSpPr/>
          <p:nvPr/>
        </p:nvSpPr>
        <p:spPr>
          <a:xfrm>
            <a:off x="999430" y="1438739"/>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78"/>
          <p:cNvSpPr/>
          <p:nvPr/>
        </p:nvSpPr>
        <p:spPr>
          <a:xfrm>
            <a:off x="1474730" y="1864539"/>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0" name="Google Shape;980;p78"/>
          <p:cNvSpPr/>
          <p:nvPr/>
        </p:nvSpPr>
        <p:spPr>
          <a:xfrm>
            <a:off x="1225567" y="2277414"/>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1" name="Google Shape;981;p78"/>
          <p:cNvSpPr/>
          <p:nvPr/>
        </p:nvSpPr>
        <p:spPr>
          <a:xfrm>
            <a:off x="3453672" y="1454961"/>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2" name="Google Shape;982;p78"/>
          <p:cNvSpPr/>
          <p:nvPr/>
        </p:nvSpPr>
        <p:spPr>
          <a:xfrm>
            <a:off x="3232494" y="1863948"/>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78"/>
          <p:cNvSpPr/>
          <p:nvPr/>
        </p:nvSpPr>
        <p:spPr>
          <a:xfrm>
            <a:off x="2978450" y="2309611"/>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4" name="Google Shape;984;p78"/>
          <p:cNvSpPr/>
          <p:nvPr/>
        </p:nvSpPr>
        <p:spPr>
          <a:xfrm>
            <a:off x="5429875" y="1419778"/>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5" name="Google Shape;985;p78"/>
          <p:cNvSpPr/>
          <p:nvPr/>
        </p:nvSpPr>
        <p:spPr>
          <a:xfrm>
            <a:off x="5173925" y="1882256"/>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6" name="Google Shape;986;p78"/>
          <p:cNvSpPr/>
          <p:nvPr/>
        </p:nvSpPr>
        <p:spPr>
          <a:xfrm>
            <a:off x="4936272" y="2292806"/>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7" name="Google Shape;987;p78"/>
          <p:cNvSpPr/>
          <p:nvPr/>
        </p:nvSpPr>
        <p:spPr>
          <a:xfrm>
            <a:off x="5652750" y="1864556"/>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8" name="Google Shape;988;p78"/>
          <p:cNvSpPr/>
          <p:nvPr/>
        </p:nvSpPr>
        <p:spPr>
          <a:xfrm>
            <a:off x="5896050" y="2309606"/>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9" name="Google Shape;989;p78"/>
          <p:cNvSpPr/>
          <p:nvPr/>
        </p:nvSpPr>
        <p:spPr>
          <a:xfrm>
            <a:off x="7412402" y="1438753"/>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0" name="Google Shape;990;p78"/>
          <p:cNvSpPr/>
          <p:nvPr/>
        </p:nvSpPr>
        <p:spPr>
          <a:xfrm>
            <a:off x="7655702" y="1856003"/>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1" name="Google Shape;991;p78"/>
          <p:cNvSpPr/>
          <p:nvPr/>
        </p:nvSpPr>
        <p:spPr>
          <a:xfrm>
            <a:off x="8122652" y="1434697"/>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2" name="Google Shape;992;p78"/>
          <p:cNvSpPr/>
          <p:nvPr/>
        </p:nvSpPr>
        <p:spPr>
          <a:xfrm>
            <a:off x="7881302" y="2309922"/>
            <a:ext cx="243300" cy="337200"/>
          </a:xfrm>
          <a:prstGeom prst="roundRect">
            <a:avLst>
              <a:gd fmla="val 16667" name="adj"/>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3" name="Google Shape;993;p78"/>
          <p:cNvSpPr txBox="1"/>
          <p:nvPr/>
        </p:nvSpPr>
        <p:spPr>
          <a:xfrm>
            <a:off x="2323200" y="1438000"/>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b)</a:t>
            </a:r>
            <a:endParaRPr sz="2200">
              <a:latin typeface="Lexend"/>
              <a:ea typeface="Lexend"/>
              <a:cs typeface="Lexend"/>
              <a:sym typeface="Lexend"/>
            </a:endParaRPr>
          </a:p>
        </p:txBody>
      </p:sp>
      <p:sp>
        <p:nvSpPr>
          <p:cNvPr id="994" name="Google Shape;994;p78"/>
          <p:cNvSpPr txBox="1"/>
          <p:nvPr/>
        </p:nvSpPr>
        <p:spPr>
          <a:xfrm>
            <a:off x="324000" y="1454200"/>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a:t>
            </a:r>
            <a:endParaRPr sz="2200">
              <a:latin typeface="Lexend"/>
              <a:ea typeface="Lexend"/>
              <a:cs typeface="Lexend"/>
              <a:sym typeface="Lexend"/>
            </a:endParaRPr>
          </a:p>
        </p:txBody>
      </p:sp>
      <p:sp>
        <p:nvSpPr>
          <p:cNvPr id="995" name="Google Shape;995;p78"/>
          <p:cNvSpPr txBox="1"/>
          <p:nvPr/>
        </p:nvSpPr>
        <p:spPr>
          <a:xfrm>
            <a:off x="4471925" y="1419025"/>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c)</a:t>
            </a:r>
            <a:endParaRPr sz="2200">
              <a:latin typeface="Lexend"/>
              <a:ea typeface="Lexend"/>
              <a:cs typeface="Lexend"/>
              <a:sym typeface="Lexend"/>
            </a:endParaRPr>
          </a:p>
        </p:txBody>
      </p:sp>
      <p:sp>
        <p:nvSpPr>
          <p:cNvPr id="996" name="Google Shape;996;p78"/>
          <p:cNvSpPr txBox="1"/>
          <p:nvPr/>
        </p:nvSpPr>
        <p:spPr>
          <a:xfrm>
            <a:off x="6859350" y="1419025"/>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d)</a:t>
            </a:r>
            <a:endParaRPr sz="2200">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9"/>
          <p:cNvSpPr txBox="1"/>
          <p:nvPr>
            <p:ph idx="1" type="body"/>
          </p:nvPr>
        </p:nvSpPr>
        <p:spPr>
          <a:xfrm>
            <a:off x="4002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Calculate the following, without a calculator.  Try to use the efficient methods we have just talked about.</a:t>
            </a:r>
            <a:endParaRPr/>
          </a:p>
          <a:p>
            <a:pPr indent="-368300" lvl="0" marL="457200" rtl="0" algn="l">
              <a:spcBef>
                <a:spcPts val="1000"/>
              </a:spcBef>
              <a:spcAft>
                <a:spcPts val="0"/>
              </a:spcAft>
              <a:buSzPts val="2200"/>
              <a:buAutoNum type="alphaLcParenR"/>
            </a:pPr>
            <a:r>
              <a:rPr lang="en-GB"/>
              <a:t>580 × 5</a:t>
            </a:r>
            <a:endParaRPr/>
          </a:p>
          <a:p>
            <a:pPr indent="-368300" lvl="0" marL="457200" rtl="0" algn="l">
              <a:spcBef>
                <a:spcPts val="0"/>
              </a:spcBef>
              <a:spcAft>
                <a:spcPts val="0"/>
              </a:spcAft>
              <a:buSzPts val="2200"/>
              <a:buAutoNum type="alphaLcParenR"/>
            </a:pPr>
            <a:r>
              <a:rPr lang="en-GB"/>
              <a:t>87 × 4</a:t>
            </a:r>
            <a:endParaRPr/>
          </a:p>
          <a:p>
            <a:pPr indent="-368300" lvl="0" marL="457200" rtl="0" algn="l">
              <a:spcBef>
                <a:spcPts val="0"/>
              </a:spcBef>
              <a:spcAft>
                <a:spcPts val="0"/>
              </a:spcAft>
              <a:buSzPts val="2200"/>
              <a:buAutoNum type="alphaLcParenR"/>
            </a:pPr>
            <a:r>
              <a:rPr lang="en-GB"/>
              <a:t>26 × 8</a:t>
            </a:r>
            <a:endParaRPr/>
          </a:p>
          <a:p>
            <a:pPr indent="-368300" lvl="0" marL="457200" rtl="0" algn="l">
              <a:spcBef>
                <a:spcPts val="0"/>
              </a:spcBef>
              <a:spcAft>
                <a:spcPts val="0"/>
              </a:spcAft>
              <a:buSzPts val="2200"/>
              <a:buAutoNum type="alphaLcParenR"/>
            </a:pPr>
            <a:r>
              <a:rPr lang="en-GB"/>
              <a:t>45 × 6</a:t>
            </a:r>
            <a:endParaRPr/>
          </a:p>
          <a:p>
            <a:pPr indent="-368300" lvl="0" marL="457200" rtl="0" algn="l">
              <a:spcBef>
                <a:spcPts val="0"/>
              </a:spcBef>
              <a:spcAft>
                <a:spcPts val="0"/>
              </a:spcAft>
              <a:buSzPts val="2200"/>
              <a:buAutoNum type="alphaLcParenR"/>
            </a:pPr>
            <a:r>
              <a:rPr lang="en-GB"/>
              <a:t>485 ÷ 5</a:t>
            </a:r>
            <a:endParaRPr/>
          </a:p>
          <a:p>
            <a:pPr indent="0" lvl="0" marL="457200" rtl="0" algn="l">
              <a:spcBef>
                <a:spcPts val="1000"/>
              </a:spcBef>
              <a:spcAft>
                <a:spcPts val="1000"/>
              </a:spcAft>
              <a:buNone/>
            </a:pPr>
            <a:r>
              <a:t/>
            </a:r>
            <a:endParaRPr/>
          </a:p>
        </p:txBody>
      </p:sp>
      <p:sp>
        <p:nvSpPr>
          <p:cNvPr id="1002" name="Google Shape;1002;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Arithmetic procedures with integers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80"/>
          <p:cNvSpPr txBox="1"/>
          <p:nvPr>
            <p:ph idx="1" type="body"/>
          </p:nvPr>
        </p:nvSpPr>
        <p:spPr>
          <a:xfrm>
            <a:off x="324000" y="759300"/>
            <a:ext cx="8237700" cy="4212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Find the missing digits in each of the following:</a:t>
            </a:r>
            <a:endParaRPr/>
          </a:p>
          <a:p>
            <a:pPr indent="0" lvl="0" marL="457200" rtl="0" algn="l">
              <a:spcBef>
                <a:spcPts val="1000"/>
              </a:spcBef>
              <a:spcAft>
                <a:spcPts val="1000"/>
              </a:spcAft>
              <a:buNone/>
            </a:pPr>
            <a:r>
              <a:t/>
            </a:r>
            <a:endParaRPr/>
          </a:p>
        </p:txBody>
      </p:sp>
      <p:sp>
        <p:nvSpPr>
          <p:cNvPr id="1008" name="Google Shape;1008;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r>
              <a:rPr lang="en-GB"/>
              <a:t>rithmetic procedures with integers</a:t>
            </a:r>
            <a:endParaRPr/>
          </a:p>
        </p:txBody>
      </p:sp>
      <p:pic>
        <p:nvPicPr>
          <p:cNvPr descr="&lt;math xmlns=&quot;http://www.w3.org/1998/Math/MathML&quot; display=&quot;block&quot; data-is-equatio=&quot;1&quot; data-latex=&quot;\begin{array}{l}6\ 4\ 1\ 8\\&amp;#13;&amp;#10;4\ 3\ 2\ 5\\&amp;#13;&amp;#10;2\ 0\ 9\ 3\end{array}&quot;&gt;&lt;mtable columnalign=&quot;left&quot; columnspacing=&quot;1em&quot; rowspacing=&quot;4pt&quot;&gt;&lt;mtr&gt;&lt;mtd&gt;&lt;mn&gt;6&lt;/mn&gt;&lt;mtext&gt;&lt;/mtext&gt;&lt;mn&gt;4&lt;/mn&gt;&lt;mtext&gt;&lt;/mtext&gt;&lt;mn&gt;1&lt;/mn&gt;&lt;mtext&gt;&lt;/mtext&gt;&lt;mn&gt;8&lt;/mn&gt;&lt;/mtd&gt;&lt;/mtr&gt;&lt;mtr&gt;&lt;mtd&gt;&lt;mn&gt;4&lt;/mn&gt;&lt;mtext&gt;&lt;/mtext&gt;&lt;mn&gt;3&lt;/mn&gt;&lt;mtext&gt;&lt;/mtext&gt;&lt;mn&gt;2&lt;/mn&gt;&lt;mtext&gt;&lt;/mtext&gt;&lt;mn&gt;5&lt;/mn&gt;&lt;/mtd&gt;&lt;/mtr&gt;&lt;mtr&gt;&lt;mtd&gt;&lt;mn&gt;2&lt;/mn&gt;&lt;mtext&gt;&lt;/mtext&gt;&lt;mn&gt;0&lt;/mn&gt;&lt;mtext&gt;&lt;/mtext&gt;&lt;mn&gt;9&lt;/mn&gt;&lt;mtext&gt;&lt;/mtext&gt;&lt;mn&gt;3&lt;/mn&gt;&lt;/mtd&gt;&lt;/mtr&gt;&lt;/mtable&gt;&lt;/math&gt;" id="1009" name="Google Shape;1009;p80" title="3 lines Line 1: 6 4 1 8 Line 2: 4 3 2 5 Line 3: 2 0 9 3"/>
          <p:cNvPicPr preferRelativeResize="0"/>
          <p:nvPr/>
        </p:nvPicPr>
        <p:blipFill>
          <a:blip r:embed="rId3">
            <a:alphaModFix/>
          </a:blip>
          <a:stretch>
            <a:fillRect/>
          </a:stretch>
        </p:blipFill>
        <p:spPr>
          <a:xfrm>
            <a:off x="7459200" y="1491925"/>
            <a:ext cx="854806" cy="1112600"/>
          </a:xfrm>
          <a:prstGeom prst="rect">
            <a:avLst/>
          </a:prstGeom>
          <a:noFill/>
          <a:ln>
            <a:noFill/>
          </a:ln>
        </p:spPr>
      </p:pic>
      <p:pic>
        <p:nvPicPr>
          <p:cNvPr descr="&lt;math xmlns=&quot;http://www.w3.org/1998/Math/MathML&quot; display=&quot;block&quot; data-is-equatio=&quot;1&quot; data-latex=&quot;\begin{array}{l}\ \ \ 4\ 6\ 2\ 5\\&amp;#13;&amp;#10;\ \ \ 6\ 0\ 9\ 2\\&amp;#13;&amp;#10;1\ 0\ 7\ 1\ 7\end{array}&quot;&gt;&lt;mtable columnalign=&quot;left&quot; columnspacing=&quot;1em&quot; rowspacing=&quot;4pt&quot;&gt;&lt;mtr&gt;&lt;mtd&gt;&lt;mtext&gt;&lt;/mtext&gt;&lt;mtext&gt;&lt;/mtext&gt;&lt;mtext&gt;&lt;/mtext&gt;&lt;mn&gt;4&lt;/mn&gt;&lt;mtext&gt;&lt;/mtext&gt;&lt;mn&gt;6&lt;/mn&gt;&lt;mtext&gt;&lt;/mtext&gt;&lt;mn&gt;2&lt;/mn&gt;&lt;mtext&gt;&lt;/mtext&gt;&lt;mn&gt;5&lt;/mn&gt;&lt;/mtd&gt;&lt;/mtr&gt;&lt;mtr&gt;&lt;mtd&gt;&lt;mtext&gt;&lt;/mtext&gt;&lt;mtext&gt;&lt;/mtext&gt;&lt;mtext&gt;&lt;/mtext&gt;&lt;mn&gt;6&lt;/mn&gt;&lt;mtext&gt;&lt;/mtext&gt;&lt;mn&gt;0&lt;/mn&gt;&lt;mtext&gt;&lt;/mtext&gt;&lt;mn&gt;9&lt;/mn&gt;&lt;mtext&gt;&lt;/mtext&gt;&lt;mn&gt;2&lt;/mn&gt;&lt;/mtd&gt;&lt;/mtr&gt;&lt;mtr&gt;&lt;mtd&gt;&lt;mn&gt;1&lt;/mn&gt;&lt;mtext&gt;&lt;/mtext&gt;&lt;mn&gt;0&lt;/mn&gt;&lt;mtext&gt;&lt;/mtext&gt;&lt;mn&gt;7&lt;/mn&gt;&lt;mtext&gt;&lt;/mtext&gt;&lt;mn&gt;1&lt;/mn&gt;&lt;mtext&gt;&lt;/mtext&gt;&lt;mn&gt;7&lt;/mn&gt;&lt;/mtd&gt;&lt;/mtr&gt;&lt;/mtable&gt;&lt;/math&gt;" id="1010" name="Google Shape;1010;p80" title="3 lines Line 1: 4 6 2 5 Line 2: 6 0 9 2 Line 3: 1 0 7 1 7"/>
          <p:cNvPicPr preferRelativeResize="0"/>
          <p:nvPr/>
        </p:nvPicPr>
        <p:blipFill>
          <a:blip r:embed="rId4">
            <a:alphaModFix/>
          </a:blip>
          <a:stretch>
            <a:fillRect/>
          </a:stretch>
        </p:blipFill>
        <p:spPr>
          <a:xfrm>
            <a:off x="5015578" y="1491925"/>
            <a:ext cx="1071897" cy="1112599"/>
          </a:xfrm>
          <a:prstGeom prst="rect">
            <a:avLst/>
          </a:prstGeom>
          <a:noFill/>
          <a:ln>
            <a:noFill/>
          </a:ln>
        </p:spPr>
      </p:pic>
      <p:pic>
        <p:nvPicPr>
          <p:cNvPr descr="&lt;math xmlns=&quot;http://www.w3.org/1998/Math/MathML&quot; display=&quot;block&quot; data-is-equatio=&quot;1&quot; data-latex=&quot;\begin{array}{l}7\ 3\ 5\\&amp;#13;&amp;#10;3\ 8\ 7\\&amp;#13;&amp;#10;3\ 4\ 8\end{array}&quot;&gt;&lt;mtable columnalign=&quot;left&quot; columnspacing=&quot;1em&quot; rowspacing=&quot;4pt&quot;&gt;&lt;mtr&gt;&lt;mtd&gt;&lt;mn&gt;7&lt;/mn&gt;&lt;mtext&gt;&lt;/mtext&gt;&lt;mn&gt;3&lt;/mn&gt;&lt;mtext&gt;&lt;/mtext&gt;&lt;mn&gt;5&lt;/mn&gt;&lt;/mtd&gt;&lt;/mtr&gt;&lt;mtr&gt;&lt;mtd&gt;&lt;mn&gt;3&lt;/mn&gt;&lt;mtext&gt;&lt;/mtext&gt;&lt;mn&gt;8&lt;/mn&gt;&lt;mtext&gt;&lt;/mtext&gt;&lt;mn&gt;7&lt;/mn&gt;&lt;/mtd&gt;&lt;/mtr&gt;&lt;mtr&gt;&lt;mtd&gt;&lt;mn&gt;3&lt;/mn&gt;&lt;mtext&gt;&lt;/mtext&gt;&lt;mn&gt;4&lt;/mn&gt;&lt;mtext&gt;&lt;/mtext&gt;&lt;mn&gt;8&lt;/mn&gt;&lt;/mtd&gt;&lt;/mtr&gt;&lt;/mtable&gt;&lt;/math&gt;" id="1011" name="Google Shape;1011;p80" title="3 lines Line 1: 7 3 5 Line 2: 3 8 7 Line 3: 3 4 8"/>
          <p:cNvPicPr preferRelativeResize="0"/>
          <p:nvPr/>
        </p:nvPicPr>
        <p:blipFill>
          <a:blip r:embed="rId5">
            <a:alphaModFix/>
          </a:blip>
          <a:stretch>
            <a:fillRect/>
          </a:stretch>
        </p:blipFill>
        <p:spPr>
          <a:xfrm>
            <a:off x="3028756" y="1491925"/>
            <a:ext cx="615097" cy="1112599"/>
          </a:xfrm>
          <a:prstGeom prst="rect">
            <a:avLst/>
          </a:prstGeom>
          <a:noFill/>
          <a:ln>
            <a:noFill/>
          </a:ln>
        </p:spPr>
      </p:pic>
      <p:pic>
        <p:nvPicPr>
          <p:cNvPr descr="&lt;math xmlns=&quot;http://www.w3.org/1998/Math/MathML&quot; display=&quot;block&quot; data-is-equatio=&quot;1&quot; data-latex=&quot;\begin{array}{l}1\ 4\ 6\\&amp;#13;&amp;#10;3\ 9\ 4\\&amp;#13;&amp;#10;5\ 4\ 0\end{array}&quot;&gt;&lt;mtable columnalign=&quot;left&quot; columnspacing=&quot;1em&quot; rowspacing=&quot;4pt&quot;&gt;&lt;mtr&gt;&lt;mtd&gt;&lt;mn&gt;1&lt;/mn&gt;&lt;mtext&gt;&lt;/mtext&gt;&lt;mn&gt;4&lt;/mn&gt;&lt;mtext&gt;&lt;/mtext&gt;&lt;mn&gt;6&lt;/mn&gt;&lt;/mtd&gt;&lt;/mtr&gt;&lt;mtr&gt;&lt;mtd&gt;&lt;mn&gt;3&lt;/mn&gt;&lt;mtext&gt;&lt;/mtext&gt;&lt;mn&gt;9&lt;/mn&gt;&lt;mtext&gt;&lt;/mtext&gt;&lt;mn&gt;4&lt;/mn&gt;&lt;/mtd&gt;&lt;/mtr&gt;&lt;mtr&gt;&lt;mtd&gt;&lt;mn&gt;5&lt;/mn&gt;&lt;mtext&gt;&lt;/mtext&gt;&lt;mn&gt;4&lt;/mn&gt;&lt;mtext&gt;&lt;/mtext&gt;&lt;mn&gt;0&lt;/mn&gt;&lt;/mtd&gt;&lt;/mtr&gt;&lt;/mtable&gt;&lt;/math&gt;" id="1012" name="Google Shape;1012;p80" title="3 lines Line 1: 1 4 6 Line 2: 3 9 4 Line 3: 5 4 0"/>
          <p:cNvPicPr preferRelativeResize="0"/>
          <p:nvPr/>
        </p:nvPicPr>
        <p:blipFill>
          <a:blip r:embed="rId6">
            <a:alphaModFix/>
          </a:blip>
          <a:stretch>
            <a:fillRect/>
          </a:stretch>
        </p:blipFill>
        <p:spPr>
          <a:xfrm>
            <a:off x="1037411" y="1491925"/>
            <a:ext cx="619620" cy="1112599"/>
          </a:xfrm>
          <a:prstGeom prst="rect">
            <a:avLst/>
          </a:prstGeom>
          <a:noFill/>
          <a:ln>
            <a:noFill/>
          </a:ln>
        </p:spPr>
      </p:pic>
      <p:sp>
        <p:nvSpPr>
          <p:cNvPr id="1013" name="Google Shape;1013;p80"/>
          <p:cNvSpPr txBox="1"/>
          <p:nvPr/>
        </p:nvSpPr>
        <p:spPr>
          <a:xfrm>
            <a:off x="793612" y="18638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14" name="Google Shape;1014;p80"/>
          <p:cNvCxnSpPr/>
          <p:nvPr/>
        </p:nvCxnSpPr>
        <p:spPr>
          <a:xfrm>
            <a:off x="764900" y="2240750"/>
            <a:ext cx="947700" cy="0"/>
          </a:xfrm>
          <a:prstGeom prst="straightConnector1">
            <a:avLst/>
          </a:prstGeom>
          <a:noFill/>
          <a:ln cap="flat" cmpd="sng" w="38100">
            <a:solidFill>
              <a:schemeClr val="dk2"/>
            </a:solidFill>
            <a:prstDash val="solid"/>
            <a:round/>
            <a:headEnd len="med" w="med" type="none"/>
            <a:tailEnd len="med" w="med" type="none"/>
          </a:ln>
        </p:spPr>
      </p:cxnSp>
      <p:cxnSp>
        <p:nvCxnSpPr>
          <p:cNvPr id="1015" name="Google Shape;1015;p80"/>
          <p:cNvCxnSpPr/>
          <p:nvPr/>
        </p:nvCxnSpPr>
        <p:spPr>
          <a:xfrm>
            <a:off x="764900" y="2651300"/>
            <a:ext cx="947700" cy="0"/>
          </a:xfrm>
          <a:prstGeom prst="straightConnector1">
            <a:avLst/>
          </a:prstGeom>
          <a:noFill/>
          <a:ln cap="flat" cmpd="sng" w="38100">
            <a:solidFill>
              <a:schemeClr val="dk2"/>
            </a:solidFill>
            <a:prstDash val="solid"/>
            <a:round/>
            <a:headEnd len="med" w="med" type="none"/>
            <a:tailEnd len="med" w="med" type="none"/>
          </a:ln>
        </p:spPr>
      </p:cxnSp>
      <p:sp>
        <p:nvSpPr>
          <p:cNvPr id="1016" name="Google Shape;1016;p80"/>
          <p:cNvSpPr txBox="1"/>
          <p:nvPr/>
        </p:nvSpPr>
        <p:spPr>
          <a:xfrm>
            <a:off x="2759089" y="1895989"/>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017" name="Google Shape;1017;p80"/>
          <p:cNvCxnSpPr/>
          <p:nvPr/>
        </p:nvCxnSpPr>
        <p:spPr>
          <a:xfrm>
            <a:off x="2759100" y="2272925"/>
            <a:ext cx="918900" cy="0"/>
          </a:xfrm>
          <a:prstGeom prst="straightConnector1">
            <a:avLst/>
          </a:prstGeom>
          <a:noFill/>
          <a:ln cap="flat" cmpd="sng" w="38100">
            <a:solidFill>
              <a:schemeClr val="dk2"/>
            </a:solidFill>
            <a:prstDash val="solid"/>
            <a:round/>
            <a:headEnd len="med" w="med" type="none"/>
            <a:tailEnd len="med" w="med" type="none"/>
          </a:ln>
        </p:spPr>
      </p:cxnSp>
      <p:cxnSp>
        <p:nvCxnSpPr>
          <p:cNvPr id="1018" name="Google Shape;1018;p80"/>
          <p:cNvCxnSpPr/>
          <p:nvPr/>
        </p:nvCxnSpPr>
        <p:spPr>
          <a:xfrm>
            <a:off x="2759100" y="2683475"/>
            <a:ext cx="918900" cy="0"/>
          </a:xfrm>
          <a:prstGeom prst="straightConnector1">
            <a:avLst/>
          </a:prstGeom>
          <a:noFill/>
          <a:ln cap="flat" cmpd="sng" w="38100">
            <a:solidFill>
              <a:schemeClr val="dk2"/>
            </a:solidFill>
            <a:prstDash val="solid"/>
            <a:round/>
            <a:headEnd len="med" w="med" type="none"/>
            <a:tailEnd len="med" w="med" type="none"/>
          </a:ln>
        </p:spPr>
      </p:cxnSp>
      <p:cxnSp>
        <p:nvCxnSpPr>
          <p:cNvPr id="1019" name="Google Shape;1019;p80"/>
          <p:cNvCxnSpPr/>
          <p:nvPr/>
        </p:nvCxnSpPr>
        <p:spPr>
          <a:xfrm>
            <a:off x="4954574" y="2256125"/>
            <a:ext cx="1238400" cy="0"/>
          </a:xfrm>
          <a:prstGeom prst="straightConnector1">
            <a:avLst/>
          </a:prstGeom>
          <a:noFill/>
          <a:ln cap="flat" cmpd="sng" w="38100">
            <a:solidFill>
              <a:schemeClr val="dk2"/>
            </a:solidFill>
            <a:prstDash val="solid"/>
            <a:round/>
            <a:headEnd len="med" w="med" type="none"/>
            <a:tailEnd len="med" w="med" type="none"/>
          </a:ln>
        </p:spPr>
      </p:cxnSp>
      <p:cxnSp>
        <p:nvCxnSpPr>
          <p:cNvPr id="1020" name="Google Shape;1020;p80"/>
          <p:cNvCxnSpPr/>
          <p:nvPr/>
        </p:nvCxnSpPr>
        <p:spPr>
          <a:xfrm>
            <a:off x="4954574" y="2666675"/>
            <a:ext cx="1238400" cy="0"/>
          </a:xfrm>
          <a:prstGeom prst="straightConnector1">
            <a:avLst/>
          </a:prstGeom>
          <a:noFill/>
          <a:ln cap="flat" cmpd="sng" w="38100">
            <a:solidFill>
              <a:schemeClr val="dk2"/>
            </a:solidFill>
            <a:prstDash val="solid"/>
            <a:round/>
            <a:headEnd len="med" w="med" type="none"/>
            <a:tailEnd len="med" w="med" type="none"/>
          </a:ln>
        </p:spPr>
      </p:cxnSp>
      <p:sp>
        <p:nvSpPr>
          <p:cNvPr id="1021" name="Google Shape;1021;p80"/>
          <p:cNvSpPr txBox="1"/>
          <p:nvPr/>
        </p:nvSpPr>
        <p:spPr>
          <a:xfrm>
            <a:off x="4954575" y="187888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22" name="Google Shape;1022;p80"/>
          <p:cNvCxnSpPr/>
          <p:nvPr/>
        </p:nvCxnSpPr>
        <p:spPr>
          <a:xfrm>
            <a:off x="7194741" y="2273250"/>
            <a:ext cx="1238400" cy="0"/>
          </a:xfrm>
          <a:prstGeom prst="straightConnector1">
            <a:avLst/>
          </a:prstGeom>
          <a:noFill/>
          <a:ln cap="flat" cmpd="sng" w="38100">
            <a:solidFill>
              <a:schemeClr val="dk2"/>
            </a:solidFill>
            <a:prstDash val="solid"/>
            <a:round/>
            <a:headEnd len="med" w="med" type="none"/>
            <a:tailEnd len="med" w="med" type="none"/>
          </a:ln>
        </p:spPr>
      </p:cxnSp>
      <p:cxnSp>
        <p:nvCxnSpPr>
          <p:cNvPr id="1023" name="Google Shape;1023;p80"/>
          <p:cNvCxnSpPr/>
          <p:nvPr/>
        </p:nvCxnSpPr>
        <p:spPr>
          <a:xfrm>
            <a:off x="7194741" y="2683800"/>
            <a:ext cx="1238400" cy="0"/>
          </a:xfrm>
          <a:prstGeom prst="straightConnector1">
            <a:avLst/>
          </a:prstGeom>
          <a:noFill/>
          <a:ln cap="flat" cmpd="sng" w="38100">
            <a:solidFill>
              <a:schemeClr val="dk2"/>
            </a:solidFill>
            <a:prstDash val="solid"/>
            <a:round/>
            <a:headEnd len="med" w="med" type="none"/>
            <a:tailEnd len="med" w="med" type="none"/>
          </a:ln>
        </p:spPr>
      </p:cxnSp>
      <p:sp>
        <p:nvSpPr>
          <p:cNvPr id="1024" name="Google Shape;1024;p80"/>
          <p:cNvSpPr txBox="1"/>
          <p:nvPr/>
        </p:nvSpPr>
        <p:spPr>
          <a:xfrm>
            <a:off x="7194742" y="18960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sp>
        <p:nvSpPr>
          <p:cNvPr id="1025" name="Google Shape;1025;p80"/>
          <p:cNvSpPr/>
          <p:nvPr/>
        </p:nvSpPr>
        <p:spPr>
          <a:xfrm>
            <a:off x="999430" y="1438739"/>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26" name="Google Shape;1026;p80"/>
          <p:cNvSpPr/>
          <p:nvPr/>
        </p:nvSpPr>
        <p:spPr>
          <a:xfrm>
            <a:off x="1474730" y="1864539"/>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27" name="Google Shape;1027;p80"/>
          <p:cNvSpPr/>
          <p:nvPr/>
        </p:nvSpPr>
        <p:spPr>
          <a:xfrm>
            <a:off x="1225567" y="2277414"/>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28" name="Google Shape;1028;p80"/>
          <p:cNvSpPr/>
          <p:nvPr/>
        </p:nvSpPr>
        <p:spPr>
          <a:xfrm>
            <a:off x="3453672" y="1454961"/>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29" name="Google Shape;1029;p80"/>
          <p:cNvSpPr/>
          <p:nvPr/>
        </p:nvSpPr>
        <p:spPr>
          <a:xfrm>
            <a:off x="3232494" y="1863948"/>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0" name="Google Shape;1030;p80"/>
          <p:cNvSpPr/>
          <p:nvPr/>
        </p:nvSpPr>
        <p:spPr>
          <a:xfrm>
            <a:off x="2978450" y="2309611"/>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1" name="Google Shape;1031;p80"/>
          <p:cNvSpPr/>
          <p:nvPr/>
        </p:nvSpPr>
        <p:spPr>
          <a:xfrm>
            <a:off x="5429875" y="1419778"/>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2" name="Google Shape;1032;p80"/>
          <p:cNvSpPr/>
          <p:nvPr/>
        </p:nvSpPr>
        <p:spPr>
          <a:xfrm>
            <a:off x="5173925" y="1882256"/>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3" name="Google Shape;1033;p80"/>
          <p:cNvSpPr/>
          <p:nvPr/>
        </p:nvSpPr>
        <p:spPr>
          <a:xfrm>
            <a:off x="4936272" y="2292806"/>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4" name="Google Shape;1034;p80"/>
          <p:cNvSpPr/>
          <p:nvPr/>
        </p:nvSpPr>
        <p:spPr>
          <a:xfrm>
            <a:off x="5652750" y="1864556"/>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5" name="Google Shape;1035;p80"/>
          <p:cNvSpPr/>
          <p:nvPr/>
        </p:nvSpPr>
        <p:spPr>
          <a:xfrm>
            <a:off x="5896050" y="2309606"/>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6" name="Google Shape;1036;p80"/>
          <p:cNvSpPr/>
          <p:nvPr/>
        </p:nvSpPr>
        <p:spPr>
          <a:xfrm>
            <a:off x="7412402" y="1438753"/>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7" name="Google Shape;1037;p80"/>
          <p:cNvSpPr/>
          <p:nvPr/>
        </p:nvSpPr>
        <p:spPr>
          <a:xfrm>
            <a:off x="7655702" y="1856003"/>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8" name="Google Shape;1038;p80"/>
          <p:cNvSpPr/>
          <p:nvPr/>
        </p:nvSpPr>
        <p:spPr>
          <a:xfrm>
            <a:off x="8122652" y="1434697"/>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39" name="Google Shape;1039;p80"/>
          <p:cNvSpPr/>
          <p:nvPr/>
        </p:nvSpPr>
        <p:spPr>
          <a:xfrm>
            <a:off x="7881302" y="2309922"/>
            <a:ext cx="243300" cy="337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Kalam"/>
              <a:ea typeface="Kalam"/>
              <a:cs typeface="Kalam"/>
              <a:sym typeface="Kalam"/>
            </a:endParaRPr>
          </a:p>
        </p:txBody>
      </p:sp>
      <p:sp>
        <p:nvSpPr>
          <p:cNvPr id="1040" name="Google Shape;1040;p80"/>
          <p:cNvSpPr txBox="1"/>
          <p:nvPr/>
        </p:nvSpPr>
        <p:spPr>
          <a:xfrm>
            <a:off x="2323200" y="1438000"/>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b)</a:t>
            </a:r>
            <a:endParaRPr sz="2200">
              <a:latin typeface="Lexend"/>
              <a:ea typeface="Lexend"/>
              <a:cs typeface="Lexend"/>
              <a:sym typeface="Lexend"/>
            </a:endParaRPr>
          </a:p>
        </p:txBody>
      </p:sp>
      <p:sp>
        <p:nvSpPr>
          <p:cNvPr id="1041" name="Google Shape;1041;p80"/>
          <p:cNvSpPr txBox="1"/>
          <p:nvPr/>
        </p:nvSpPr>
        <p:spPr>
          <a:xfrm>
            <a:off x="324000" y="1454200"/>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a:t>
            </a:r>
            <a:endParaRPr sz="2200">
              <a:latin typeface="Lexend"/>
              <a:ea typeface="Lexend"/>
              <a:cs typeface="Lexend"/>
              <a:sym typeface="Lexend"/>
            </a:endParaRPr>
          </a:p>
        </p:txBody>
      </p:sp>
      <p:sp>
        <p:nvSpPr>
          <p:cNvPr id="1042" name="Google Shape;1042;p80"/>
          <p:cNvSpPr txBox="1"/>
          <p:nvPr/>
        </p:nvSpPr>
        <p:spPr>
          <a:xfrm>
            <a:off x="4471925" y="1419025"/>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c)</a:t>
            </a:r>
            <a:endParaRPr sz="2200">
              <a:latin typeface="Lexend"/>
              <a:ea typeface="Lexend"/>
              <a:cs typeface="Lexend"/>
              <a:sym typeface="Lexend"/>
            </a:endParaRPr>
          </a:p>
        </p:txBody>
      </p:sp>
      <p:sp>
        <p:nvSpPr>
          <p:cNvPr id="1043" name="Google Shape;1043;p80"/>
          <p:cNvSpPr txBox="1"/>
          <p:nvPr/>
        </p:nvSpPr>
        <p:spPr>
          <a:xfrm>
            <a:off x="6859350" y="1419025"/>
            <a:ext cx="335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d</a:t>
            </a:r>
            <a:r>
              <a:rPr lang="en-GB" sz="2200">
                <a:latin typeface="Lexend"/>
                <a:ea typeface="Lexend"/>
                <a:cs typeface="Lexend"/>
                <a:sym typeface="Lexend"/>
              </a:rPr>
              <a:t>)</a:t>
            </a:r>
            <a:endParaRPr sz="22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81"/>
          <p:cNvSpPr txBox="1"/>
          <p:nvPr>
            <p:ph idx="1" type="body"/>
          </p:nvPr>
        </p:nvSpPr>
        <p:spPr>
          <a:xfrm>
            <a:off x="404275" y="759300"/>
            <a:ext cx="81573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Calculate the following, without a calculator.  Try to use the efficient methods we have just talked about.</a:t>
            </a:r>
            <a:endParaRPr/>
          </a:p>
          <a:p>
            <a:pPr indent="-368300" lvl="0" marL="457200" rtl="0" algn="l">
              <a:spcBef>
                <a:spcPts val="1000"/>
              </a:spcBef>
              <a:spcAft>
                <a:spcPts val="0"/>
              </a:spcAft>
              <a:buSzPts val="2200"/>
              <a:buAutoNum type="alphaLcParenR"/>
            </a:pPr>
            <a:r>
              <a:rPr lang="en-GB"/>
              <a:t>580 × 5</a:t>
            </a:r>
            <a:endParaRPr/>
          </a:p>
          <a:p>
            <a:pPr indent="-368300" lvl="0" marL="457200" rtl="0" algn="l">
              <a:spcBef>
                <a:spcPts val="0"/>
              </a:spcBef>
              <a:spcAft>
                <a:spcPts val="0"/>
              </a:spcAft>
              <a:buSzPts val="2200"/>
              <a:buAutoNum type="alphaLcParenR"/>
            </a:pPr>
            <a:r>
              <a:rPr lang="en-GB"/>
              <a:t>87 </a:t>
            </a:r>
            <a:r>
              <a:rPr lang="en-GB"/>
              <a:t>× 4</a:t>
            </a:r>
            <a:endParaRPr/>
          </a:p>
          <a:p>
            <a:pPr indent="-368300" lvl="0" marL="457200" rtl="0" algn="l">
              <a:spcBef>
                <a:spcPts val="0"/>
              </a:spcBef>
              <a:spcAft>
                <a:spcPts val="0"/>
              </a:spcAft>
              <a:buSzPts val="2200"/>
              <a:buAutoNum type="alphaLcParenR"/>
            </a:pPr>
            <a:r>
              <a:rPr lang="en-GB"/>
              <a:t>26 × 8</a:t>
            </a:r>
            <a:endParaRPr/>
          </a:p>
          <a:p>
            <a:pPr indent="-368300" lvl="0" marL="457200" rtl="0" algn="l">
              <a:spcBef>
                <a:spcPts val="0"/>
              </a:spcBef>
              <a:spcAft>
                <a:spcPts val="0"/>
              </a:spcAft>
              <a:buSzPts val="2200"/>
              <a:buAutoNum type="alphaLcParenR"/>
            </a:pPr>
            <a:r>
              <a:rPr lang="en-GB"/>
              <a:t>45 × 6</a:t>
            </a:r>
            <a:endParaRPr/>
          </a:p>
          <a:p>
            <a:pPr indent="-368300" lvl="0" marL="457200" rtl="0" algn="l">
              <a:spcBef>
                <a:spcPts val="0"/>
              </a:spcBef>
              <a:spcAft>
                <a:spcPts val="0"/>
              </a:spcAft>
              <a:buSzPts val="2200"/>
              <a:buAutoNum type="alphaLcParenR"/>
            </a:pPr>
            <a:r>
              <a:rPr lang="en-GB"/>
              <a:t>485 ÷ 5</a:t>
            </a:r>
            <a:endParaRPr/>
          </a:p>
          <a:p>
            <a:pPr indent="0" lvl="0" marL="457200" rtl="0" algn="l">
              <a:spcBef>
                <a:spcPts val="1000"/>
              </a:spcBef>
              <a:spcAft>
                <a:spcPts val="1000"/>
              </a:spcAft>
              <a:buNone/>
            </a:pPr>
            <a:r>
              <a:t/>
            </a:r>
            <a:endParaRPr/>
          </a:p>
        </p:txBody>
      </p:sp>
      <p:sp>
        <p:nvSpPr>
          <p:cNvPr id="1049" name="Google Shape;1049;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Arithmetic procedures with integers</a:t>
            </a:r>
            <a:endParaRPr/>
          </a:p>
        </p:txBody>
      </p:sp>
      <p:sp>
        <p:nvSpPr>
          <p:cNvPr id="1050" name="Google Shape;1050;p81"/>
          <p:cNvSpPr txBox="1"/>
          <p:nvPr>
            <p:ph idx="1" type="body"/>
          </p:nvPr>
        </p:nvSpPr>
        <p:spPr>
          <a:xfrm>
            <a:off x="2041150" y="1664275"/>
            <a:ext cx="44598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 </a:t>
            </a:r>
            <a:r>
              <a:rPr lang="en-GB">
                <a:latin typeface="Kalam"/>
                <a:ea typeface="Kalam"/>
                <a:cs typeface="Kalam"/>
                <a:sym typeface="Kalam"/>
              </a:rPr>
              <a:t>580 × 10 ÷ 2 = 5800 ÷ 2 =</a:t>
            </a:r>
            <a:r>
              <a:rPr lang="en-GB">
                <a:latin typeface="Kalam"/>
                <a:ea typeface="Kalam"/>
                <a:cs typeface="Kalam"/>
                <a:sym typeface="Kalam"/>
              </a:rPr>
              <a:t> 2900</a:t>
            </a:r>
            <a:endParaRPr>
              <a:latin typeface="Kalam"/>
              <a:ea typeface="Kalam"/>
              <a:cs typeface="Kalam"/>
              <a:sym typeface="Kalam"/>
            </a:endParaRPr>
          </a:p>
        </p:txBody>
      </p:sp>
      <p:sp>
        <p:nvSpPr>
          <p:cNvPr id="1051" name="Google Shape;1051;p81"/>
          <p:cNvSpPr txBox="1"/>
          <p:nvPr>
            <p:ph idx="1" type="body"/>
          </p:nvPr>
        </p:nvSpPr>
        <p:spPr>
          <a:xfrm>
            <a:off x="2041150" y="2059923"/>
            <a:ext cx="61362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 87 × 2 × 2 = 174 × 2 = 348</a:t>
            </a:r>
            <a:endParaRPr>
              <a:latin typeface="Kalam"/>
              <a:ea typeface="Kalam"/>
              <a:cs typeface="Kalam"/>
              <a:sym typeface="Kalam"/>
            </a:endParaRPr>
          </a:p>
        </p:txBody>
      </p:sp>
      <p:sp>
        <p:nvSpPr>
          <p:cNvPr id="1052" name="Google Shape;1052;p81"/>
          <p:cNvSpPr txBox="1"/>
          <p:nvPr>
            <p:ph idx="1" type="body"/>
          </p:nvPr>
        </p:nvSpPr>
        <p:spPr>
          <a:xfrm>
            <a:off x="2041150" y="2455572"/>
            <a:ext cx="6136200" cy="297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 26 × 2 × 2 × 2 = 52 × 2 × 2 = 104 × 2 = 208</a:t>
            </a:r>
            <a:endParaRPr>
              <a:latin typeface="Kalam"/>
              <a:ea typeface="Kalam"/>
              <a:cs typeface="Kalam"/>
              <a:sym typeface="Kalam"/>
            </a:endParaRPr>
          </a:p>
        </p:txBody>
      </p:sp>
      <p:sp>
        <p:nvSpPr>
          <p:cNvPr id="1053" name="Google Shape;1053;p81"/>
          <p:cNvSpPr txBox="1"/>
          <p:nvPr>
            <p:ph idx="1" type="body"/>
          </p:nvPr>
        </p:nvSpPr>
        <p:spPr>
          <a:xfrm>
            <a:off x="2041150" y="2811920"/>
            <a:ext cx="6136200" cy="297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 45 × 3 × 2 = 135 × 2 = 270</a:t>
            </a:r>
            <a:endParaRPr>
              <a:latin typeface="Kalam"/>
              <a:ea typeface="Kalam"/>
              <a:cs typeface="Kalam"/>
              <a:sym typeface="Kalam"/>
            </a:endParaRPr>
          </a:p>
        </p:txBody>
      </p:sp>
      <p:sp>
        <p:nvSpPr>
          <p:cNvPr id="1054" name="Google Shape;1054;p81"/>
          <p:cNvSpPr txBox="1"/>
          <p:nvPr>
            <p:ph idx="1" type="body"/>
          </p:nvPr>
        </p:nvSpPr>
        <p:spPr>
          <a:xfrm>
            <a:off x="2041150" y="3168269"/>
            <a:ext cx="4383600" cy="297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 485 ÷ 10 × 2 = 48.5 × 2 = 97    </a:t>
            </a:r>
            <a:endParaRPr>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82"/>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 procedures with integers</a:t>
            </a:r>
            <a:endParaRPr/>
          </a:p>
        </p:txBody>
      </p:sp>
      <p:sp>
        <p:nvSpPr>
          <p:cNvPr id="1060" name="Google Shape;1060;p82"/>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1061" name="Google Shape;1061;p82"/>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1062" name="Google Shape;1062;p82"/>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arithmetic procedures with integers and decimals</a:t>
            </a:r>
            <a:endParaRPr/>
          </a:p>
        </p:txBody>
      </p:sp>
      <p:pic>
        <p:nvPicPr>
          <p:cNvPr id="1063" name="Google Shape;1063;p82"/>
          <p:cNvPicPr preferRelativeResize="0"/>
          <p:nvPr/>
        </p:nvPicPr>
        <p:blipFill>
          <a:blip r:embed="rId3">
            <a:alphaModFix/>
          </a:blip>
          <a:stretch>
            <a:fillRect/>
          </a:stretch>
        </p:blipFill>
        <p:spPr>
          <a:xfrm>
            <a:off x="419850" y="2766070"/>
            <a:ext cx="450575" cy="44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1069" name="Google Shape;1069;p83"/>
          <p:cNvSpPr txBox="1"/>
          <p:nvPr>
            <p:ph idx="1" type="body"/>
          </p:nvPr>
        </p:nvSpPr>
        <p:spPr>
          <a:xfrm>
            <a:off x="324000" y="759300"/>
            <a:ext cx="8237700" cy="1310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Alex and Jun are </a:t>
            </a:r>
            <a:r>
              <a:rPr lang="en-GB"/>
              <a:t>hoping</a:t>
            </a:r>
            <a:r>
              <a:rPr lang="en-GB"/>
              <a:t> to enter a team competition.</a:t>
            </a:r>
            <a:endParaRPr/>
          </a:p>
          <a:p>
            <a:pPr indent="0" lvl="0" marL="0" rtl="0" algn="l">
              <a:lnSpc>
                <a:spcPct val="100000"/>
              </a:lnSpc>
              <a:spcBef>
                <a:spcPts val="1000"/>
              </a:spcBef>
              <a:spcAft>
                <a:spcPts val="0"/>
              </a:spcAft>
              <a:buNone/>
            </a:pPr>
            <a:r>
              <a:rPr lang="en-GB"/>
              <a:t>Their total time must be less </a:t>
            </a:r>
            <a:r>
              <a:rPr lang="en-GB"/>
              <a:t>than 24 seconds.</a:t>
            </a:r>
            <a:endParaRPr/>
          </a:p>
          <a:p>
            <a:pPr indent="0" lvl="0" marL="0" rtl="0" algn="l">
              <a:lnSpc>
                <a:spcPct val="100000"/>
              </a:lnSpc>
              <a:spcBef>
                <a:spcPts val="1000"/>
              </a:spcBef>
              <a:spcAft>
                <a:spcPts val="0"/>
              </a:spcAft>
              <a:buNone/>
            </a:pPr>
            <a:r>
              <a:rPr lang="en-GB"/>
              <a:t>Alex takes 14.8 seconds and Jun takes 8.7 seconds.</a:t>
            </a:r>
            <a:endParaRPr/>
          </a:p>
          <a:p>
            <a:pPr indent="0" lvl="0" marL="0" rtl="0" algn="l">
              <a:lnSpc>
                <a:spcPct val="100000"/>
              </a:lnSpc>
              <a:spcBef>
                <a:spcPts val="1000"/>
              </a:spcBef>
              <a:spcAft>
                <a:spcPts val="0"/>
              </a:spcAft>
              <a:buNone/>
            </a:pPr>
            <a:r>
              <a:rPr lang="en-GB"/>
              <a:t>Can they enter the competition?</a:t>
            </a:r>
            <a:endParaRPr/>
          </a:p>
          <a:p>
            <a:pPr indent="0" lvl="0" marL="0" rtl="0" algn="l">
              <a:lnSpc>
                <a:spcPct val="100000"/>
              </a:lnSpc>
              <a:spcBef>
                <a:spcPts val="1000"/>
              </a:spcBef>
              <a:spcAft>
                <a:spcPts val="1000"/>
              </a:spcAft>
              <a:buNone/>
            </a:pPr>
            <a:r>
              <a:t/>
            </a:r>
            <a:endParaRPr/>
          </a:p>
        </p:txBody>
      </p:sp>
      <p:sp>
        <p:nvSpPr>
          <p:cNvPr id="1070" name="Google Shape;1070;p83"/>
          <p:cNvSpPr txBox="1"/>
          <p:nvPr>
            <p:ph idx="1" type="body"/>
          </p:nvPr>
        </p:nvSpPr>
        <p:spPr>
          <a:xfrm>
            <a:off x="324000" y="4430400"/>
            <a:ext cx="7008000" cy="390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Which is the correct way to set out the calculation?</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1000"/>
              </a:spcAft>
              <a:buNone/>
            </a:pPr>
            <a:r>
              <a:t/>
            </a:r>
            <a:endParaRPr/>
          </a:p>
        </p:txBody>
      </p:sp>
      <p:grpSp>
        <p:nvGrpSpPr>
          <p:cNvPr id="1071" name="Google Shape;1071;p83"/>
          <p:cNvGrpSpPr/>
          <p:nvPr/>
        </p:nvGrpSpPr>
        <p:grpSpPr>
          <a:xfrm>
            <a:off x="1684800" y="2697962"/>
            <a:ext cx="1138800" cy="1388870"/>
            <a:chOff x="2270325" y="2571749"/>
            <a:chExt cx="1138800" cy="1388870"/>
          </a:xfrm>
        </p:grpSpPr>
        <p:pic>
          <p:nvPicPr>
            <p:cNvPr descr="&lt;math xmlns=&quot;http://www.w3.org/1998/Math/MathML&quot; display=&quot;block&quot; data-is-equatio=&quot;1&quot; data-latex=&quot;\begin{array}{l}\ \ \ 1\ 4.8\\&amp;#13;&amp;#10;\ \ \ 8.7\\&amp;#13;&amp;#10;1\ 0\ 1.8\end{array}&quot;&gt;&lt;mtable columnalign=&quot;left&quot; columnspacing=&quot;1em&quot; rowspacing=&quot;4pt&quot;&gt;&lt;mtr&gt;&lt;mtd&gt;&lt;mtext&gt;&lt;/mtext&gt;&lt;mtext&gt;&lt;/mtext&gt;&lt;mtext&gt;&lt;/mtext&gt;&lt;mn&gt;1&lt;/mn&gt;&lt;mtext&gt;&lt;/mtext&gt;&lt;mn&gt;4.8&lt;/mn&gt;&lt;/mtd&gt;&lt;/mtr&gt;&lt;mtr&gt;&lt;mtd&gt;&lt;mtext&gt;&lt;/mtext&gt;&lt;mtext&gt;&lt;/mtext&gt;&lt;mtext&gt;&lt;/mtext&gt;&lt;mn&gt;8.7&lt;/mn&gt;&lt;/mtd&gt;&lt;/mtr&gt;&lt;mtr&gt;&lt;mtd&gt;&lt;mn&gt;1&lt;/mn&gt;&lt;mtext&gt;&lt;/mtext&gt;&lt;mn&gt;0&lt;/mn&gt;&lt;mtext&gt;&lt;/mtext&gt;&lt;mn&gt;1.8&lt;/mn&gt;&lt;/mtd&gt;&lt;/mtr&gt;&lt;/mtable&gt;&lt;/math&gt;" id="1072" name="Google Shape;1072;p83" title="3 lines Line 1: 1 4.8 Line 2: 8.7 Line 3: 1 0 1.8"/>
            <p:cNvPicPr preferRelativeResize="0"/>
            <p:nvPr/>
          </p:nvPicPr>
          <p:blipFill>
            <a:blip r:embed="rId3">
              <a:alphaModFix/>
            </a:blip>
            <a:stretch>
              <a:fillRect/>
            </a:stretch>
          </p:blipFill>
          <p:spPr>
            <a:xfrm>
              <a:off x="2418388" y="2571749"/>
              <a:ext cx="937625" cy="1262175"/>
            </a:xfrm>
            <a:prstGeom prst="rect">
              <a:avLst/>
            </a:prstGeom>
            <a:noFill/>
            <a:ln>
              <a:noFill/>
            </a:ln>
          </p:spPr>
        </p:pic>
        <p:sp>
          <p:nvSpPr>
            <p:cNvPr id="1073" name="Google Shape;1073;p83"/>
            <p:cNvSpPr txBox="1"/>
            <p:nvPr/>
          </p:nvSpPr>
          <p:spPr>
            <a:xfrm>
              <a:off x="2375237" y="30972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74" name="Google Shape;1074;p83"/>
            <p:cNvCxnSpPr/>
            <p:nvPr/>
          </p:nvCxnSpPr>
          <p:spPr>
            <a:xfrm>
              <a:off x="2270325" y="3429583"/>
              <a:ext cx="1138800" cy="0"/>
            </a:xfrm>
            <a:prstGeom prst="straightConnector1">
              <a:avLst/>
            </a:prstGeom>
            <a:noFill/>
            <a:ln cap="flat" cmpd="sng" w="38100">
              <a:solidFill>
                <a:schemeClr val="dk2"/>
              </a:solidFill>
              <a:prstDash val="solid"/>
              <a:round/>
              <a:headEnd len="med" w="med" type="none"/>
              <a:tailEnd len="med" w="med" type="none"/>
            </a:ln>
          </p:spPr>
        </p:cxnSp>
        <p:cxnSp>
          <p:nvCxnSpPr>
            <p:cNvPr id="1075" name="Google Shape;1075;p83"/>
            <p:cNvCxnSpPr/>
            <p:nvPr/>
          </p:nvCxnSpPr>
          <p:spPr>
            <a:xfrm>
              <a:off x="2270325" y="3960619"/>
              <a:ext cx="1138800" cy="0"/>
            </a:xfrm>
            <a:prstGeom prst="straightConnector1">
              <a:avLst/>
            </a:prstGeom>
            <a:noFill/>
            <a:ln cap="flat" cmpd="sng" w="38100">
              <a:solidFill>
                <a:schemeClr val="dk2"/>
              </a:solidFill>
              <a:prstDash val="solid"/>
              <a:round/>
              <a:headEnd len="med" w="med" type="none"/>
              <a:tailEnd len="med" w="med" type="none"/>
            </a:ln>
          </p:spPr>
        </p:cxnSp>
      </p:grpSp>
      <p:grpSp>
        <p:nvGrpSpPr>
          <p:cNvPr id="1076" name="Google Shape;1076;p83"/>
          <p:cNvGrpSpPr/>
          <p:nvPr/>
        </p:nvGrpSpPr>
        <p:grpSpPr>
          <a:xfrm>
            <a:off x="5788050" y="2697962"/>
            <a:ext cx="937500" cy="1351850"/>
            <a:chOff x="5761600" y="2330125"/>
            <a:chExt cx="937500" cy="1351850"/>
          </a:xfrm>
        </p:grpSpPr>
        <p:pic>
          <p:nvPicPr>
            <p:cNvPr descr="&lt;math xmlns=&quot;http://www.w3.org/1998/Math/MathML&quot; display=&quot;block&quot; data-is-equatio=&quot;1&quot; data-latex=&quot;\begin{array}{l}\ \ \ 1\ 4.8\\&amp;#13;&amp;#10;\ \ \ \ \ \ 8.7\\&amp;#13;&amp;#10;\ \ \ 2\ 3.5\end{array}&quot;&gt;&lt;mtable columnalign=&quot;left&quot; columnspacing=&quot;1em&quot; rowspacing=&quot;4pt&quot;&gt;&lt;mtr&gt;&lt;mtd&gt;&lt;mtext&gt;&lt;/mtext&gt;&lt;mtext&gt;&lt;/mtext&gt;&lt;mtext&gt;&lt;/mtext&gt;&lt;mn&gt;1&lt;/mn&gt;&lt;mtext&gt;&lt;/mtext&gt;&lt;mn&gt;4.8&lt;/mn&gt;&lt;/mtd&gt;&lt;/mtr&gt;&lt;mtr&gt;&lt;mtd&gt;&lt;mtext&gt;&lt;/mtext&gt;&lt;mtext&gt;&lt;/mtext&gt;&lt;mtext&gt;&lt;/mtext&gt;&lt;mtext&gt;&lt;/mtext&gt;&lt;mtext&gt;&lt;/mtext&gt;&lt;mtext&gt;&lt;/mtext&gt;&lt;mn&gt;8.7&lt;/mn&gt;&lt;/mtd&gt;&lt;/mtr&gt;&lt;mtr&gt;&lt;mtd&gt;&lt;mtext&gt;&lt;/mtext&gt;&lt;mtext&gt;&lt;/mtext&gt;&lt;mtext&gt;&lt;/mtext&gt;&lt;mn&gt;2&lt;/mn&gt;&lt;mtext&gt;&lt;/mtext&gt;&lt;mn&gt;3.5&lt;/mn&gt;&lt;/mtd&gt;&lt;/mtr&gt;&lt;/mtable&gt;&lt;/math&gt;" id="1077" name="Google Shape;1077;p83" title="3 lines Line 1: 1 4.8 Line 2: 8.7 Line 3: 2 3.5"/>
            <p:cNvPicPr preferRelativeResize="0"/>
            <p:nvPr/>
          </p:nvPicPr>
          <p:blipFill>
            <a:blip r:embed="rId4">
              <a:alphaModFix/>
            </a:blip>
            <a:stretch>
              <a:fillRect/>
            </a:stretch>
          </p:blipFill>
          <p:spPr>
            <a:xfrm>
              <a:off x="5909050" y="2330125"/>
              <a:ext cx="695492" cy="1262175"/>
            </a:xfrm>
            <a:prstGeom prst="rect">
              <a:avLst/>
            </a:prstGeom>
            <a:noFill/>
            <a:ln>
              <a:noFill/>
            </a:ln>
          </p:spPr>
        </p:pic>
        <p:sp>
          <p:nvSpPr>
            <p:cNvPr id="1078" name="Google Shape;1078;p83"/>
            <p:cNvSpPr txBox="1"/>
            <p:nvPr/>
          </p:nvSpPr>
          <p:spPr>
            <a:xfrm>
              <a:off x="5817712" y="281855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79" name="Google Shape;1079;p83"/>
            <p:cNvCxnSpPr/>
            <p:nvPr/>
          </p:nvCxnSpPr>
          <p:spPr>
            <a:xfrm>
              <a:off x="5761600" y="3150925"/>
              <a:ext cx="937500" cy="0"/>
            </a:xfrm>
            <a:prstGeom prst="straightConnector1">
              <a:avLst/>
            </a:prstGeom>
            <a:noFill/>
            <a:ln cap="flat" cmpd="sng" w="38100">
              <a:solidFill>
                <a:schemeClr val="dk2"/>
              </a:solidFill>
              <a:prstDash val="solid"/>
              <a:round/>
              <a:headEnd len="med" w="med" type="none"/>
              <a:tailEnd len="med" w="med" type="none"/>
            </a:ln>
          </p:spPr>
        </p:cxnSp>
        <p:cxnSp>
          <p:nvCxnSpPr>
            <p:cNvPr id="1080" name="Google Shape;1080;p83"/>
            <p:cNvCxnSpPr/>
            <p:nvPr/>
          </p:nvCxnSpPr>
          <p:spPr>
            <a:xfrm>
              <a:off x="5761600" y="3681975"/>
              <a:ext cx="937500" cy="0"/>
            </a:xfrm>
            <a:prstGeom prst="straightConnector1">
              <a:avLst/>
            </a:prstGeom>
            <a:noFill/>
            <a:ln cap="flat" cmpd="sng" w="38100">
              <a:solidFill>
                <a:schemeClr val="dk2"/>
              </a:solidFill>
              <a:prstDash val="solid"/>
              <a:round/>
              <a:headEnd len="med" w="med" type="none"/>
              <a:tailEnd len="med" w="med" type="none"/>
            </a:ln>
          </p:spPr>
        </p:cxnSp>
      </p:grpSp>
      <p:sp>
        <p:nvSpPr>
          <p:cNvPr id="1081" name="Google Shape;1081;p83"/>
          <p:cNvSpPr/>
          <p:nvPr/>
        </p:nvSpPr>
        <p:spPr>
          <a:xfrm>
            <a:off x="5693300" y="2559725"/>
            <a:ext cx="1100700" cy="1594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1087" name="Google Shape;1087;p84"/>
          <p:cNvSpPr txBox="1"/>
          <p:nvPr>
            <p:ph idx="1" type="body"/>
          </p:nvPr>
        </p:nvSpPr>
        <p:spPr>
          <a:xfrm>
            <a:off x="324000" y="3921459"/>
            <a:ext cx="8237700" cy="8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The decimal point determines the place value of each </a:t>
            </a:r>
            <a:r>
              <a:rPr b="1" lang="en-GB"/>
              <a:t>digit </a:t>
            </a:r>
            <a:r>
              <a:rPr lang="en-GB"/>
              <a:t>so we have to </a:t>
            </a:r>
            <a:r>
              <a:rPr lang="en-GB">
                <a:solidFill>
                  <a:schemeClr val="accent5"/>
                </a:solidFill>
              </a:rPr>
              <a:t>line them up</a:t>
            </a:r>
            <a:r>
              <a:rPr lang="en-GB"/>
              <a:t> when </a:t>
            </a:r>
            <a:r>
              <a:rPr lang="en-GB">
                <a:solidFill>
                  <a:schemeClr val="accent5"/>
                </a:solidFill>
              </a:rPr>
              <a:t>adding &amp; subtracting</a:t>
            </a:r>
            <a:r>
              <a:rPr lang="en-GB"/>
              <a:t>.</a:t>
            </a:r>
            <a:endParaRPr/>
          </a:p>
          <a:p>
            <a:pPr indent="0" lvl="0" marL="0" rtl="0" algn="l">
              <a:lnSpc>
                <a:spcPct val="100000"/>
              </a:lnSpc>
              <a:spcBef>
                <a:spcPts val="1000"/>
              </a:spcBef>
              <a:spcAft>
                <a:spcPts val="1000"/>
              </a:spcAft>
              <a:buNone/>
            </a:pPr>
            <a:r>
              <a:t/>
            </a:r>
            <a:endParaRPr/>
          </a:p>
        </p:txBody>
      </p:sp>
      <p:grpSp>
        <p:nvGrpSpPr>
          <p:cNvPr id="1088" name="Google Shape;1088;p84"/>
          <p:cNvGrpSpPr/>
          <p:nvPr/>
        </p:nvGrpSpPr>
        <p:grpSpPr>
          <a:xfrm>
            <a:off x="1684800" y="792962"/>
            <a:ext cx="1138800" cy="1388870"/>
            <a:chOff x="2270325" y="2571749"/>
            <a:chExt cx="1138800" cy="1388870"/>
          </a:xfrm>
        </p:grpSpPr>
        <p:pic>
          <p:nvPicPr>
            <p:cNvPr descr="&lt;math xmlns=&quot;http://www.w3.org/1998/Math/MathML&quot; display=&quot;block&quot; data-is-equatio=&quot;1&quot; data-latex=&quot;\begin{array}{l}\ \ \ 1\ 4.8\\&amp;#13;&amp;#10;\ \ \ 8.7\\&amp;#13;&amp;#10;1\ 0\ 1.8\end{array}&quot;&gt;&lt;mtable columnalign=&quot;left&quot; columnspacing=&quot;1em&quot; rowspacing=&quot;4pt&quot;&gt;&lt;mtr&gt;&lt;mtd&gt;&lt;mtext&gt;&lt;/mtext&gt;&lt;mtext&gt;&lt;/mtext&gt;&lt;mtext&gt;&lt;/mtext&gt;&lt;mn&gt;1&lt;/mn&gt;&lt;mtext&gt;&lt;/mtext&gt;&lt;mn&gt;4.8&lt;/mn&gt;&lt;/mtd&gt;&lt;/mtr&gt;&lt;mtr&gt;&lt;mtd&gt;&lt;mtext&gt;&lt;/mtext&gt;&lt;mtext&gt;&lt;/mtext&gt;&lt;mtext&gt;&lt;/mtext&gt;&lt;mn&gt;8.7&lt;/mn&gt;&lt;/mtd&gt;&lt;/mtr&gt;&lt;mtr&gt;&lt;mtd&gt;&lt;mn&gt;1&lt;/mn&gt;&lt;mtext&gt;&lt;/mtext&gt;&lt;mn&gt;0&lt;/mn&gt;&lt;mtext&gt;&lt;/mtext&gt;&lt;mn&gt;1.8&lt;/mn&gt;&lt;/mtd&gt;&lt;/mtr&gt;&lt;/mtable&gt;&lt;/math&gt;" id="1089" name="Google Shape;1089;p84" title="3 lines Line 1: 1 4.8 Line 2: 8.7 Line 3: 1 0 1.8"/>
            <p:cNvPicPr preferRelativeResize="0"/>
            <p:nvPr/>
          </p:nvPicPr>
          <p:blipFill>
            <a:blip r:embed="rId3">
              <a:alphaModFix/>
            </a:blip>
            <a:stretch>
              <a:fillRect/>
            </a:stretch>
          </p:blipFill>
          <p:spPr>
            <a:xfrm>
              <a:off x="2418388" y="2571749"/>
              <a:ext cx="937625" cy="1262175"/>
            </a:xfrm>
            <a:prstGeom prst="rect">
              <a:avLst/>
            </a:prstGeom>
            <a:noFill/>
            <a:ln>
              <a:noFill/>
            </a:ln>
          </p:spPr>
        </p:pic>
        <p:sp>
          <p:nvSpPr>
            <p:cNvPr id="1090" name="Google Shape;1090;p84"/>
            <p:cNvSpPr txBox="1"/>
            <p:nvPr/>
          </p:nvSpPr>
          <p:spPr>
            <a:xfrm>
              <a:off x="2375237" y="30972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91" name="Google Shape;1091;p84"/>
            <p:cNvCxnSpPr/>
            <p:nvPr/>
          </p:nvCxnSpPr>
          <p:spPr>
            <a:xfrm>
              <a:off x="2270325" y="3429583"/>
              <a:ext cx="1138800" cy="0"/>
            </a:xfrm>
            <a:prstGeom prst="straightConnector1">
              <a:avLst/>
            </a:prstGeom>
            <a:noFill/>
            <a:ln cap="flat" cmpd="sng" w="38100">
              <a:solidFill>
                <a:schemeClr val="dk2"/>
              </a:solidFill>
              <a:prstDash val="solid"/>
              <a:round/>
              <a:headEnd len="med" w="med" type="none"/>
              <a:tailEnd len="med" w="med" type="none"/>
            </a:ln>
          </p:spPr>
        </p:cxnSp>
        <p:cxnSp>
          <p:nvCxnSpPr>
            <p:cNvPr id="1092" name="Google Shape;1092;p84"/>
            <p:cNvCxnSpPr/>
            <p:nvPr/>
          </p:nvCxnSpPr>
          <p:spPr>
            <a:xfrm>
              <a:off x="2270325" y="3960619"/>
              <a:ext cx="1138800" cy="0"/>
            </a:xfrm>
            <a:prstGeom prst="straightConnector1">
              <a:avLst/>
            </a:prstGeom>
            <a:noFill/>
            <a:ln cap="flat" cmpd="sng" w="38100">
              <a:solidFill>
                <a:schemeClr val="dk2"/>
              </a:solidFill>
              <a:prstDash val="solid"/>
              <a:round/>
              <a:headEnd len="med" w="med" type="none"/>
              <a:tailEnd len="med" w="med" type="none"/>
            </a:ln>
          </p:spPr>
        </p:cxnSp>
      </p:grpSp>
      <p:grpSp>
        <p:nvGrpSpPr>
          <p:cNvPr id="1093" name="Google Shape;1093;p84"/>
          <p:cNvGrpSpPr/>
          <p:nvPr/>
        </p:nvGrpSpPr>
        <p:grpSpPr>
          <a:xfrm>
            <a:off x="5788050" y="792962"/>
            <a:ext cx="937500" cy="1351850"/>
            <a:chOff x="5761600" y="2330125"/>
            <a:chExt cx="937500" cy="1351850"/>
          </a:xfrm>
        </p:grpSpPr>
        <p:pic>
          <p:nvPicPr>
            <p:cNvPr descr="&lt;math xmlns=&quot;http://www.w3.org/1998/Math/MathML&quot; display=&quot;block&quot; data-is-equatio=&quot;1&quot; data-latex=&quot;\begin{array}{l}\ \ \ 1\ 4.8\\&amp;#13;&amp;#10;\ \ \ \ \ \ 8.7\\&amp;#13;&amp;#10;\ \ \ 2\ 3.5\end{array}&quot;&gt;&lt;mtable columnalign=&quot;left&quot; columnspacing=&quot;1em&quot; rowspacing=&quot;4pt&quot;&gt;&lt;mtr&gt;&lt;mtd&gt;&lt;mtext&gt;&lt;/mtext&gt;&lt;mtext&gt;&lt;/mtext&gt;&lt;mtext&gt;&lt;/mtext&gt;&lt;mn&gt;1&lt;/mn&gt;&lt;mtext&gt;&lt;/mtext&gt;&lt;mn&gt;4.8&lt;/mn&gt;&lt;/mtd&gt;&lt;/mtr&gt;&lt;mtr&gt;&lt;mtd&gt;&lt;mtext&gt;&lt;/mtext&gt;&lt;mtext&gt;&lt;/mtext&gt;&lt;mtext&gt;&lt;/mtext&gt;&lt;mtext&gt;&lt;/mtext&gt;&lt;mtext&gt;&lt;/mtext&gt;&lt;mtext&gt;&lt;/mtext&gt;&lt;mn&gt;8.7&lt;/mn&gt;&lt;/mtd&gt;&lt;/mtr&gt;&lt;mtr&gt;&lt;mtd&gt;&lt;mtext&gt;&lt;/mtext&gt;&lt;mtext&gt;&lt;/mtext&gt;&lt;mtext&gt;&lt;/mtext&gt;&lt;mn&gt;2&lt;/mn&gt;&lt;mtext&gt;&lt;/mtext&gt;&lt;mn&gt;3.5&lt;/mn&gt;&lt;/mtd&gt;&lt;/mtr&gt;&lt;/mtable&gt;&lt;/math&gt;" id="1094" name="Google Shape;1094;p84" title="3 lines Line 1: 1 4.8 Line 2: 8.7 Line 3: 2 3.5"/>
            <p:cNvPicPr preferRelativeResize="0"/>
            <p:nvPr/>
          </p:nvPicPr>
          <p:blipFill>
            <a:blip r:embed="rId4">
              <a:alphaModFix/>
            </a:blip>
            <a:stretch>
              <a:fillRect/>
            </a:stretch>
          </p:blipFill>
          <p:spPr>
            <a:xfrm>
              <a:off x="5909050" y="2330125"/>
              <a:ext cx="695492" cy="1262175"/>
            </a:xfrm>
            <a:prstGeom prst="rect">
              <a:avLst/>
            </a:prstGeom>
            <a:noFill/>
            <a:ln>
              <a:noFill/>
            </a:ln>
          </p:spPr>
        </p:pic>
        <p:sp>
          <p:nvSpPr>
            <p:cNvPr id="1095" name="Google Shape;1095;p84"/>
            <p:cNvSpPr txBox="1"/>
            <p:nvPr/>
          </p:nvSpPr>
          <p:spPr>
            <a:xfrm>
              <a:off x="5817712" y="281855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096" name="Google Shape;1096;p84"/>
            <p:cNvCxnSpPr/>
            <p:nvPr/>
          </p:nvCxnSpPr>
          <p:spPr>
            <a:xfrm>
              <a:off x="5761600" y="3150925"/>
              <a:ext cx="937500" cy="0"/>
            </a:xfrm>
            <a:prstGeom prst="straightConnector1">
              <a:avLst/>
            </a:prstGeom>
            <a:noFill/>
            <a:ln cap="flat" cmpd="sng" w="38100">
              <a:solidFill>
                <a:schemeClr val="dk2"/>
              </a:solidFill>
              <a:prstDash val="solid"/>
              <a:round/>
              <a:headEnd len="med" w="med" type="none"/>
              <a:tailEnd len="med" w="med" type="none"/>
            </a:ln>
          </p:spPr>
        </p:cxnSp>
        <p:cxnSp>
          <p:nvCxnSpPr>
            <p:cNvPr id="1097" name="Google Shape;1097;p84"/>
            <p:cNvCxnSpPr/>
            <p:nvPr/>
          </p:nvCxnSpPr>
          <p:spPr>
            <a:xfrm>
              <a:off x="5761600" y="3681975"/>
              <a:ext cx="937500" cy="0"/>
            </a:xfrm>
            <a:prstGeom prst="straightConnector1">
              <a:avLst/>
            </a:prstGeom>
            <a:noFill/>
            <a:ln cap="flat" cmpd="sng" w="38100">
              <a:solidFill>
                <a:schemeClr val="dk2"/>
              </a:solidFill>
              <a:prstDash val="solid"/>
              <a:round/>
              <a:headEnd len="med" w="med" type="none"/>
              <a:tailEnd len="med" w="med" type="none"/>
            </a:ln>
          </p:spPr>
        </p:cxnSp>
      </p:grpSp>
      <p:sp>
        <p:nvSpPr>
          <p:cNvPr id="1098" name="Google Shape;1098;p84"/>
          <p:cNvSpPr txBox="1"/>
          <p:nvPr>
            <p:ph idx="1" type="body"/>
          </p:nvPr>
        </p:nvSpPr>
        <p:spPr>
          <a:xfrm>
            <a:off x="324000" y="2483650"/>
            <a:ext cx="5850000" cy="392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Why is the one in the box the correct way?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1000"/>
              </a:spcAft>
              <a:buNone/>
            </a:pPr>
            <a:r>
              <a:t/>
            </a:r>
            <a:endParaRPr/>
          </a:p>
        </p:txBody>
      </p:sp>
      <p:sp>
        <p:nvSpPr>
          <p:cNvPr id="1099" name="Google Shape;1099;p84"/>
          <p:cNvSpPr/>
          <p:nvPr/>
        </p:nvSpPr>
        <p:spPr>
          <a:xfrm>
            <a:off x="5693300" y="654725"/>
            <a:ext cx="1100700" cy="1594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0" name="Google Shape;1100;p84"/>
          <p:cNvSpPr txBox="1"/>
          <p:nvPr>
            <p:ph idx="1" type="body"/>
          </p:nvPr>
        </p:nvSpPr>
        <p:spPr>
          <a:xfrm>
            <a:off x="324000" y="3300325"/>
            <a:ext cx="5850000" cy="392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The decimal points are in line.</a:t>
            </a:r>
            <a:r>
              <a:rPr lang="en-GB"/>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85"/>
          <p:cNvSpPr txBox="1"/>
          <p:nvPr>
            <p:ph idx="1" type="body"/>
          </p:nvPr>
        </p:nvSpPr>
        <p:spPr>
          <a:xfrm>
            <a:off x="1464600" y="1229175"/>
            <a:ext cx="22422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am 1.6 metres tall.</a:t>
            </a:r>
            <a:endParaRPr sz="1800"/>
          </a:p>
        </p:txBody>
      </p:sp>
      <p:sp>
        <p:nvSpPr>
          <p:cNvPr id="1106" name="Google Shape;1106;p85"/>
          <p:cNvSpPr txBox="1"/>
          <p:nvPr>
            <p:ph idx="1" type="body"/>
          </p:nvPr>
        </p:nvSpPr>
        <p:spPr>
          <a:xfrm>
            <a:off x="1484275" y="1220525"/>
            <a:ext cx="24123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is my working</a:t>
            </a:r>
            <a:r>
              <a:rPr lang="en-GB" sz="1800"/>
              <a:t>s</a:t>
            </a:r>
            <a:r>
              <a:rPr lang="en-GB" sz="1800"/>
              <a:t>.</a:t>
            </a:r>
            <a:endParaRPr sz="1800"/>
          </a:p>
        </p:txBody>
      </p:sp>
      <p:pic>
        <p:nvPicPr>
          <p:cNvPr id="1107" name="Google Shape;1107;p85"/>
          <p:cNvPicPr preferRelativeResize="0"/>
          <p:nvPr/>
        </p:nvPicPr>
        <p:blipFill rotWithShape="1">
          <a:blip r:embed="rId3">
            <a:alphaModFix/>
          </a:blip>
          <a:srcRect b="43690" l="0" r="57905" t="0"/>
          <a:stretch/>
        </p:blipFill>
        <p:spPr>
          <a:xfrm flipH="1">
            <a:off x="1312202" y="1186425"/>
            <a:ext cx="2521073" cy="399026"/>
          </a:xfrm>
          <a:prstGeom prst="rect">
            <a:avLst/>
          </a:prstGeom>
          <a:noFill/>
          <a:ln>
            <a:noFill/>
          </a:ln>
        </p:spPr>
      </p:pic>
      <p:pic>
        <p:nvPicPr>
          <p:cNvPr id="1108" name="Google Shape;1108;p85"/>
          <p:cNvPicPr preferRelativeResize="0"/>
          <p:nvPr/>
        </p:nvPicPr>
        <p:blipFill rotWithShape="1">
          <a:blip r:embed="rId3">
            <a:alphaModFix/>
          </a:blip>
          <a:srcRect b="43690" l="0" r="57905" t="0"/>
          <a:stretch/>
        </p:blipFill>
        <p:spPr>
          <a:xfrm flipH="1">
            <a:off x="1297748" y="1186425"/>
            <a:ext cx="2365302" cy="399026"/>
          </a:xfrm>
          <a:prstGeom prst="rect">
            <a:avLst/>
          </a:prstGeom>
          <a:noFill/>
          <a:ln>
            <a:noFill/>
          </a:ln>
        </p:spPr>
      </p:pic>
      <p:sp>
        <p:nvSpPr>
          <p:cNvPr id="1109" name="Google Shape;1109;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pic>
        <p:nvPicPr>
          <p:cNvPr id="1110" name="Google Shape;1110;p85"/>
          <p:cNvPicPr preferRelativeResize="0"/>
          <p:nvPr/>
        </p:nvPicPr>
        <p:blipFill rotWithShape="1">
          <a:blip r:embed="rId3">
            <a:alphaModFix/>
          </a:blip>
          <a:srcRect b="43690" l="0" r="57905" t="0"/>
          <a:stretch/>
        </p:blipFill>
        <p:spPr>
          <a:xfrm>
            <a:off x="5597300" y="1228075"/>
            <a:ext cx="1983002" cy="448300"/>
          </a:xfrm>
          <a:prstGeom prst="rect">
            <a:avLst/>
          </a:prstGeom>
          <a:noFill/>
          <a:ln>
            <a:noFill/>
          </a:ln>
        </p:spPr>
      </p:pic>
      <p:sp>
        <p:nvSpPr>
          <p:cNvPr id="1111" name="Google Shape;1111;p85"/>
          <p:cNvSpPr txBox="1"/>
          <p:nvPr>
            <p:ph idx="1" type="body"/>
          </p:nvPr>
        </p:nvSpPr>
        <p:spPr>
          <a:xfrm>
            <a:off x="5671373" y="1261475"/>
            <a:ext cx="1712700" cy="33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I’m 1.48 metres</a:t>
            </a:r>
            <a:endParaRPr sz="1800"/>
          </a:p>
        </p:txBody>
      </p:sp>
      <p:sp>
        <p:nvSpPr>
          <p:cNvPr id="1112" name="Google Shape;1112;p85"/>
          <p:cNvSpPr txBox="1"/>
          <p:nvPr/>
        </p:nvSpPr>
        <p:spPr>
          <a:xfrm>
            <a:off x="325350" y="581400"/>
            <a:ext cx="7989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Alex and Jun now measure their height in metres.</a:t>
            </a:r>
            <a:endParaRPr sz="1800"/>
          </a:p>
        </p:txBody>
      </p:sp>
      <p:sp>
        <p:nvSpPr>
          <p:cNvPr id="1113" name="Google Shape;1113;p85"/>
          <p:cNvSpPr txBox="1"/>
          <p:nvPr/>
        </p:nvSpPr>
        <p:spPr>
          <a:xfrm>
            <a:off x="325350" y="896614"/>
            <a:ext cx="6750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They want to find the total of their heights.</a:t>
            </a:r>
            <a:endParaRPr sz="1800"/>
          </a:p>
        </p:txBody>
      </p:sp>
      <p:pic>
        <p:nvPicPr>
          <p:cNvPr id="1114" name="Google Shape;1114;p85"/>
          <p:cNvPicPr preferRelativeResize="0"/>
          <p:nvPr/>
        </p:nvPicPr>
        <p:blipFill>
          <a:blip r:embed="rId4">
            <a:alphaModFix/>
          </a:blip>
          <a:stretch>
            <a:fillRect/>
          </a:stretch>
        </p:blipFill>
        <p:spPr>
          <a:xfrm>
            <a:off x="325352" y="1284426"/>
            <a:ext cx="1035740" cy="2849894"/>
          </a:xfrm>
          <a:prstGeom prst="rect">
            <a:avLst/>
          </a:prstGeom>
          <a:noFill/>
          <a:ln>
            <a:noFill/>
          </a:ln>
        </p:spPr>
      </p:pic>
      <p:pic>
        <p:nvPicPr>
          <p:cNvPr id="1115" name="Google Shape;1115;p85"/>
          <p:cNvPicPr preferRelativeResize="0"/>
          <p:nvPr/>
        </p:nvPicPr>
        <p:blipFill>
          <a:blip r:embed="rId5">
            <a:alphaModFix/>
          </a:blip>
          <a:stretch>
            <a:fillRect/>
          </a:stretch>
        </p:blipFill>
        <p:spPr>
          <a:xfrm>
            <a:off x="7321150" y="1483230"/>
            <a:ext cx="1273999" cy="2662976"/>
          </a:xfrm>
          <a:prstGeom prst="rect">
            <a:avLst/>
          </a:prstGeom>
          <a:noFill/>
          <a:ln>
            <a:noFill/>
          </a:ln>
        </p:spPr>
      </p:pic>
      <p:pic>
        <p:nvPicPr>
          <p:cNvPr id="1116" name="Google Shape;1116;p85"/>
          <p:cNvPicPr preferRelativeResize="0"/>
          <p:nvPr/>
        </p:nvPicPr>
        <p:blipFill rotWithShape="1">
          <a:blip r:embed="rId3">
            <a:alphaModFix/>
          </a:blip>
          <a:srcRect b="43690" l="0" r="57905" t="0"/>
          <a:stretch/>
        </p:blipFill>
        <p:spPr>
          <a:xfrm>
            <a:off x="5365550" y="1224416"/>
            <a:ext cx="2303549" cy="448300"/>
          </a:xfrm>
          <a:prstGeom prst="rect">
            <a:avLst/>
          </a:prstGeom>
          <a:noFill/>
          <a:ln>
            <a:noFill/>
          </a:ln>
        </p:spPr>
      </p:pic>
      <p:sp>
        <p:nvSpPr>
          <p:cNvPr id="1117" name="Google Shape;1117;p85"/>
          <p:cNvSpPr txBox="1"/>
          <p:nvPr>
            <p:ph idx="1" type="body"/>
          </p:nvPr>
        </p:nvSpPr>
        <p:spPr>
          <a:xfrm>
            <a:off x="5471248" y="1248452"/>
            <a:ext cx="21189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And, here is mine.</a:t>
            </a:r>
            <a:endParaRPr sz="1800"/>
          </a:p>
        </p:txBody>
      </p:sp>
      <p:sp>
        <p:nvSpPr>
          <p:cNvPr id="1118" name="Google Shape;1118;p85"/>
          <p:cNvSpPr txBox="1"/>
          <p:nvPr>
            <p:ph idx="1" type="body"/>
          </p:nvPr>
        </p:nvSpPr>
        <p:spPr>
          <a:xfrm>
            <a:off x="1605474" y="2778925"/>
            <a:ext cx="5597400" cy="683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What is the </a:t>
            </a:r>
            <a:r>
              <a:rPr lang="en-GB" sz="1800">
                <a:solidFill>
                  <a:schemeClr val="accent5"/>
                </a:solidFill>
              </a:rPr>
              <a:t>same</a:t>
            </a:r>
            <a:r>
              <a:rPr lang="en-GB" sz="1800"/>
              <a:t> and what is </a:t>
            </a:r>
            <a:r>
              <a:rPr lang="en-GB" sz="1800">
                <a:solidFill>
                  <a:schemeClr val="accent5"/>
                </a:solidFill>
              </a:rPr>
              <a:t>different</a:t>
            </a:r>
            <a:r>
              <a:rPr lang="en-GB" sz="1800"/>
              <a:t> about their workings?</a:t>
            </a:r>
            <a:endParaRPr sz="1800"/>
          </a:p>
        </p:txBody>
      </p:sp>
      <p:sp>
        <p:nvSpPr>
          <p:cNvPr id="1119" name="Google Shape;1119;p85"/>
          <p:cNvSpPr txBox="1"/>
          <p:nvPr>
            <p:ph idx="1" type="body"/>
          </p:nvPr>
        </p:nvSpPr>
        <p:spPr>
          <a:xfrm>
            <a:off x="1605475" y="3493025"/>
            <a:ext cx="5658000" cy="1142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They both lined up the decimal points.</a:t>
            </a:r>
            <a:endParaRPr sz="2000">
              <a:latin typeface="Kalam"/>
              <a:ea typeface="Kalam"/>
              <a:cs typeface="Kalam"/>
              <a:sym typeface="Kalam"/>
            </a:endParaRPr>
          </a:p>
          <a:p>
            <a:pPr indent="0" lvl="0" marL="0" rtl="0" algn="l">
              <a:lnSpc>
                <a:spcPct val="100000"/>
              </a:lnSpc>
              <a:spcBef>
                <a:spcPts val="1000"/>
              </a:spcBef>
              <a:spcAft>
                <a:spcPts val="0"/>
              </a:spcAft>
              <a:buNone/>
            </a:pPr>
            <a:r>
              <a:rPr lang="en-GB" sz="2000">
                <a:latin typeface="Kalam"/>
                <a:ea typeface="Kalam"/>
                <a:cs typeface="Kalam"/>
                <a:sym typeface="Kalam"/>
              </a:rPr>
              <a:t>They both got the same answer.</a:t>
            </a:r>
            <a:endParaRPr sz="2000">
              <a:latin typeface="Kalam"/>
              <a:ea typeface="Kalam"/>
              <a:cs typeface="Kalam"/>
              <a:sym typeface="Kalam"/>
            </a:endParaRPr>
          </a:p>
          <a:p>
            <a:pPr indent="0" lvl="0" marL="0" rtl="0" algn="l">
              <a:lnSpc>
                <a:spcPct val="100000"/>
              </a:lnSpc>
              <a:spcBef>
                <a:spcPts val="1000"/>
              </a:spcBef>
              <a:spcAft>
                <a:spcPts val="1000"/>
              </a:spcAft>
              <a:buNone/>
            </a:pPr>
            <a:r>
              <a:rPr lang="en-GB" sz="2000">
                <a:latin typeface="Kalam"/>
                <a:ea typeface="Kalam"/>
                <a:cs typeface="Kalam"/>
                <a:sym typeface="Kalam"/>
              </a:rPr>
              <a:t>Jun didn’t put </a:t>
            </a:r>
            <a:r>
              <a:rPr lang="en-GB" sz="2000">
                <a:latin typeface="Kalam"/>
                <a:ea typeface="Kalam"/>
                <a:cs typeface="Kalam"/>
                <a:sym typeface="Kalam"/>
              </a:rPr>
              <a:t>the</a:t>
            </a:r>
            <a:r>
              <a:rPr lang="en-GB" sz="2000">
                <a:latin typeface="Kalam"/>
                <a:ea typeface="Kalam"/>
                <a:cs typeface="Kalam"/>
                <a:sym typeface="Kalam"/>
              </a:rPr>
              <a:t> </a:t>
            </a:r>
            <a:r>
              <a:rPr lang="en-GB" sz="2000">
                <a:latin typeface="Kalam"/>
                <a:ea typeface="Kalam"/>
                <a:cs typeface="Kalam"/>
                <a:sym typeface="Kalam"/>
              </a:rPr>
              <a:t>zero</a:t>
            </a:r>
            <a:r>
              <a:rPr lang="en-GB" sz="2000">
                <a:latin typeface="Kalam"/>
                <a:ea typeface="Kalam"/>
                <a:cs typeface="Kalam"/>
                <a:sym typeface="Kalam"/>
              </a:rPr>
              <a:t> in the </a:t>
            </a:r>
            <a:r>
              <a:rPr lang="en-GB" sz="2000">
                <a:latin typeface="Kalam"/>
                <a:ea typeface="Kalam"/>
                <a:cs typeface="Kalam"/>
                <a:sym typeface="Kalam"/>
              </a:rPr>
              <a:t>hundredths</a:t>
            </a:r>
            <a:r>
              <a:rPr lang="en-GB" sz="2000">
                <a:latin typeface="Kalam"/>
                <a:ea typeface="Kalam"/>
                <a:cs typeface="Kalam"/>
                <a:sym typeface="Kalam"/>
              </a:rPr>
              <a:t> column.</a:t>
            </a:r>
            <a:endParaRPr sz="2000">
              <a:latin typeface="Kalam"/>
              <a:ea typeface="Kalam"/>
              <a:cs typeface="Kalam"/>
              <a:sym typeface="Kalam"/>
            </a:endParaRPr>
          </a:p>
        </p:txBody>
      </p:sp>
      <p:grpSp>
        <p:nvGrpSpPr>
          <p:cNvPr id="1120" name="Google Shape;1120;p85"/>
          <p:cNvGrpSpPr/>
          <p:nvPr/>
        </p:nvGrpSpPr>
        <p:grpSpPr>
          <a:xfrm>
            <a:off x="1981174" y="1550001"/>
            <a:ext cx="1615594" cy="1048310"/>
            <a:chOff x="1564219" y="2491526"/>
            <a:chExt cx="2307003" cy="1496944"/>
          </a:xfrm>
        </p:grpSpPr>
        <p:pic>
          <p:nvPicPr>
            <p:cNvPr descr="one point six zero on the top row&#10;plus one point four eight on the middle  row with an answer of three point zero eight on the bottom row" id="1121" name="Google Shape;1121;p85"/>
            <p:cNvPicPr preferRelativeResize="0"/>
            <p:nvPr/>
          </p:nvPicPr>
          <p:blipFill>
            <a:blip r:embed="rId6">
              <a:alphaModFix/>
            </a:blip>
            <a:stretch>
              <a:fillRect/>
            </a:stretch>
          </p:blipFill>
          <p:spPr>
            <a:xfrm>
              <a:off x="1564219" y="2491526"/>
              <a:ext cx="2307003" cy="1496944"/>
            </a:xfrm>
            <a:prstGeom prst="rect">
              <a:avLst/>
            </a:prstGeom>
            <a:noFill/>
            <a:ln>
              <a:noFill/>
            </a:ln>
          </p:spPr>
        </p:pic>
        <p:grpSp>
          <p:nvGrpSpPr>
            <p:cNvPr id="1122" name="Google Shape;1122;p85"/>
            <p:cNvGrpSpPr/>
            <p:nvPr/>
          </p:nvGrpSpPr>
          <p:grpSpPr>
            <a:xfrm>
              <a:off x="1840042" y="3365483"/>
              <a:ext cx="1755369" cy="379100"/>
              <a:chOff x="6172517" y="2427783"/>
              <a:chExt cx="1755369" cy="379100"/>
            </a:xfrm>
          </p:grpSpPr>
          <p:cxnSp>
            <p:nvCxnSpPr>
              <p:cNvPr id="1123" name="Google Shape;1123;p85"/>
              <p:cNvCxnSpPr/>
              <p:nvPr/>
            </p:nvCxnSpPr>
            <p:spPr>
              <a:xfrm>
                <a:off x="6172517" y="2427783"/>
                <a:ext cx="1729500" cy="0"/>
              </a:xfrm>
              <a:prstGeom prst="straightConnector1">
                <a:avLst/>
              </a:prstGeom>
              <a:noFill/>
              <a:ln cap="flat" cmpd="sng" w="38100">
                <a:solidFill>
                  <a:schemeClr val="dk2"/>
                </a:solidFill>
                <a:prstDash val="solid"/>
                <a:round/>
                <a:headEnd len="med" w="med" type="none"/>
                <a:tailEnd len="med" w="med" type="none"/>
              </a:ln>
            </p:spPr>
          </p:cxnSp>
          <p:cxnSp>
            <p:nvCxnSpPr>
              <p:cNvPr id="1124" name="Google Shape;1124;p85"/>
              <p:cNvCxnSpPr/>
              <p:nvPr/>
            </p:nvCxnSpPr>
            <p:spPr>
              <a:xfrm>
                <a:off x="6198385" y="2806883"/>
                <a:ext cx="1729500" cy="0"/>
              </a:xfrm>
              <a:prstGeom prst="straightConnector1">
                <a:avLst/>
              </a:prstGeom>
              <a:noFill/>
              <a:ln cap="flat" cmpd="sng" w="38100">
                <a:solidFill>
                  <a:schemeClr val="dk2"/>
                </a:solidFill>
                <a:prstDash val="solid"/>
                <a:round/>
                <a:headEnd len="med" w="med" type="none"/>
                <a:tailEnd len="med" w="med" type="none"/>
              </a:ln>
            </p:spPr>
          </p:cxnSp>
        </p:grpSp>
      </p:grpSp>
      <p:grpSp>
        <p:nvGrpSpPr>
          <p:cNvPr id="1125" name="Google Shape;1125;p85"/>
          <p:cNvGrpSpPr/>
          <p:nvPr/>
        </p:nvGrpSpPr>
        <p:grpSpPr>
          <a:xfrm>
            <a:off x="5108861" y="1611126"/>
            <a:ext cx="1818146" cy="1044427"/>
            <a:chOff x="4156297" y="2649745"/>
            <a:chExt cx="2596239" cy="1491400"/>
          </a:xfrm>
        </p:grpSpPr>
        <p:pic>
          <p:nvPicPr>
            <p:cNvPr descr="one point six on the top row&#10;plus one point four eight on the middle  row with an answer of three point zero eight on the bottom row" id="1126" name="Google Shape;1126;p85"/>
            <p:cNvPicPr preferRelativeResize="0"/>
            <p:nvPr/>
          </p:nvPicPr>
          <p:blipFill>
            <a:blip r:embed="rId7">
              <a:alphaModFix/>
            </a:blip>
            <a:stretch>
              <a:fillRect/>
            </a:stretch>
          </p:blipFill>
          <p:spPr>
            <a:xfrm>
              <a:off x="4156297" y="2649745"/>
              <a:ext cx="2596239" cy="1491400"/>
            </a:xfrm>
            <a:prstGeom prst="rect">
              <a:avLst/>
            </a:prstGeom>
            <a:noFill/>
            <a:ln>
              <a:noFill/>
            </a:ln>
          </p:spPr>
        </p:pic>
        <p:grpSp>
          <p:nvGrpSpPr>
            <p:cNvPr id="1127" name="Google Shape;1127;p85"/>
            <p:cNvGrpSpPr/>
            <p:nvPr/>
          </p:nvGrpSpPr>
          <p:grpSpPr>
            <a:xfrm>
              <a:off x="4219612" y="3486225"/>
              <a:ext cx="2365359" cy="379100"/>
              <a:chOff x="6172517" y="2427783"/>
              <a:chExt cx="1755369" cy="379100"/>
            </a:xfrm>
          </p:grpSpPr>
          <p:cxnSp>
            <p:nvCxnSpPr>
              <p:cNvPr id="1128" name="Google Shape;1128;p85"/>
              <p:cNvCxnSpPr/>
              <p:nvPr/>
            </p:nvCxnSpPr>
            <p:spPr>
              <a:xfrm>
                <a:off x="6172517" y="2427783"/>
                <a:ext cx="1729500" cy="0"/>
              </a:xfrm>
              <a:prstGeom prst="straightConnector1">
                <a:avLst/>
              </a:prstGeom>
              <a:noFill/>
              <a:ln cap="flat" cmpd="sng" w="38100">
                <a:solidFill>
                  <a:schemeClr val="dk2"/>
                </a:solidFill>
                <a:prstDash val="solid"/>
                <a:round/>
                <a:headEnd len="med" w="med" type="none"/>
                <a:tailEnd len="med" w="med" type="none"/>
              </a:ln>
            </p:spPr>
          </p:cxnSp>
          <p:cxnSp>
            <p:nvCxnSpPr>
              <p:cNvPr id="1129" name="Google Shape;1129;p85"/>
              <p:cNvCxnSpPr/>
              <p:nvPr/>
            </p:nvCxnSpPr>
            <p:spPr>
              <a:xfrm>
                <a:off x="6198385" y="2806883"/>
                <a:ext cx="1729500" cy="0"/>
              </a:xfrm>
              <a:prstGeom prst="straightConnector1">
                <a:avLst/>
              </a:prstGeom>
              <a:noFill/>
              <a:ln cap="flat" cmpd="sng" w="38100">
                <a:solidFill>
                  <a:schemeClr val="dk2"/>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0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pic>
        <p:nvPicPr>
          <p:cNvPr id="1134" name="Google Shape;1134;p86"/>
          <p:cNvPicPr preferRelativeResize="0"/>
          <p:nvPr/>
        </p:nvPicPr>
        <p:blipFill rotWithShape="1">
          <a:blip r:embed="rId3">
            <a:alphaModFix/>
          </a:blip>
          <a:srcRect b="43690" l="0" r="57905" t="0"/>
          <a:stretch/>
        </p:blipFill>
        <p:spPr>
          <a:xfrm flipH="1">
            <a:off x="1312202" y="957825"/>
            <a:ext cx="2521073" cy="399026"/>
          </a:xfrm>
          <a:prstGeom prst="rect">
            <a:avLst/>
          </a:prstGeom>
          <a:noFill/>
          <a:ln>
            <a:noFill/>
          </a:ln>
        </p:spPr>
      </p:pic>
      <p:sp>
        <p:nvSpPr>
          <p:cNvPr id="1135" name="Google Shape;1135;p86"/>
          <p:cNvSpPr txBox="1"/>
          <p:nvPr>
            <p:ph idx="1" type="body"/>
          </p:nvPr>
        </p:nvSpPr>
        <p:spPr>
          <a:xfrm>
            <a:off x="1484275" y="991925"/>
            <a:ext cx="24123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is my workings.</a:t>
            </a:r>
            <a:endParaRPr sz="1800"/>
          </a:p>
        </p:txBody>
      </p:sp>
      <p:pic>
        <p:nvPicPr>
          <p:cNvPr id="1136" name="Google Shape;1136;p86"/>
          <p:cNvPicPr preferRelativeResize="0"/>
          <p:nvPr/>
        </p:nvPicPr>
        <p:blipFill rotWithShape="1">
          <a:blip r:embed="rId3">
            <a:alphaModFix/>
          </a:blip>
          <a:srcRect b="43690" l="0" r="57905" t="0"/>
          <a:stretch/>
        </p:blipFill>
        <p:spPr>
          <a:xfrm flipH="1">
            <a:off x="1297748" y="957825"/>
            <a:ext cx="2365302" cy="399026"/>
          </a:xfrm>
          <a:prstGeom prst="rect">
            <a:avLst/>
          </a:prstGeom>
          <a:noFill/>
          <a:ln>
            <a:noFill/>
          </a:ln>
        </p:spPr>
      </p:pic>
      <p:sp>
        <p:nvSpPr>
          <p:cNvPr id="1137" name="Google Shape;1137;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pic>
        <p:nvPicPr>
          <p:cNvPr id="1138" name="Google Shape;1138;p86"/>
          <p:cNvPicPr preferRelativeResize="0"/>
          <p:nvPr/>
        </p:nvPicPr>
        <p:blipFill rotWithShape="1">
          <a:blip r:embed="rId3">
            <a:alphaModFix/>
          </a:blip>
          <a:srcRect b="43690" l="0" r="57905" t="0"/>
          <a:stretch/>
        </p:blipFill>
        <p:spPr>
          <a:xfrm>
            <a:off x="5597300" y="999475"/>
            <a:ext cx="1983002" cy="448300"/>
          </a:xfrm>
          <a:prstGeom prst="rect">
            <a:avLst/>
          </a:prstGeom>
          <a:noFill/>
          <a:ln>
            <a:noFill/>
          </a:ln>
        </p:spPr>
      </p:pic>
      <p:sp>
        <p:nvSpPr>
          <p:cNvPr id="1139" name="Google Shape;1139;p86"/>
          <p:cNvSpPr txBox="1"/>
          <p:nvPr>
            <p:ph idx="1" type="body"/>
          </p:nvPr>
        </p:nvSpPr>
        <p:spPr>
          <a:xfrm>
            <a:off x="1464600" y="1000575"/>
            <a:ext cx="22422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am 1.6 metres tall</a:t>
            </a:r>
            <a:endParaRPr sz="1800"/>
          </a:p>
        </p:txBody>
      </p:sp>
      <p:sp>
        <p:nvSpPr>
          <p:cNvPr id="1140" name="Google Shape;1140;p86"/>
          <p:cNvSpPr txBox="1"/>
          <p:nvPr>
            <p:ph idx="1" type="body"/>
          </p:nvPr>
        </p:nvSpPr>
        <p:spPr>
          <a:xfrm>
            <a:off x="5671373" y="1032875"/>
            <a:ext cx="1712700" cy="33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I’m 1.48 metres</a:t>
            </a:r>
            <a:endParaRPr sz="1800"/>
          </a:p>
        </p:txBody>
      </p:sp>
      <p:sp>
        <p:nvSpPr>
          <p:cNvPr id="1141" name="Google Shape;1141;p86"/>
          <p:cNvSpPr txBox="1"/>
          <p:nvPr/>
        </p:nvSpPr>
        <p:spPr>
          <a:xfrm>
            <a:off x="325350" y="581400"/>
            <a:ext cx="37989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How much taller is Alex than Jun?</a:t>
            </a:r>
            <a:endParaRPr sz="1800">
              <a:solidFill>
                <a:schemeClr val="dk1"/>
              </a:solidFill>
              <a:latin typeface="Lexend"/>
              <a:ea typeface="Lexend"/>
              <a:cs typeface="Lexend"/>
              <a:sym typeface="Lexend"/>
            </a:endParaRPr>
          </a:p>
        </p:txBody>
      </p:sp>
      <p:pic>
        <p:nvPicPr>
          <p:cNvPr id="1142" name="Google Shape;1142;p86"/>
          <p:cNvPicPr preferRelativeResize="0"/>
          <p:nvPr/>
        </p:nvPicPr>
        <p:blipFill>
          <a:blip r:embed="rId4">
            <a:alphaModFix/>
          </a:blip>
          <a:stretch>
            <a:fillRect/>
          </a:stretch>
        </p:blipFill>
        <p:spPr>
          <a:xfrm>
            <a:off x="325352" y="1055826"/>
            <a:ext cx="1035740" cy="2849894"/>
          </a:xfrm>
          <a:prstGeom prst="rect">
            <a:avLst/>
          </a:prstGeom>
          <a:noFill/>
          <a:ln>
            <a:noFill/>
          </a:ln>
        </p:spPr>
      </p:pic>
      <p:pic>
        <p:nvPicPr>
          <p:cNvPr id="1143" name="Google Shape;1143;p86"/>
          <p:cNvPicPr preferRelativeResize="0"/>
          <p:nvPr/>
        </p:nvPicPr>
        <p:blipFill>
          <a:blip r:embed="rId5">
            <a:alphaModFix/>
          </a:blip>
          <a:stretch>
            <a:fillRect/>
          </a:stretch>
        </p:blipFill>
        <p:spPr>
          <a:xfrm>
            <a:off x="7321150" y="1254630"/>
            <a:ext cx="1273999" cy="2662976"/>
          </a:xfrm>
          <a:prstGeom prst="rect">
            <a:avLst/>
          </a:prstGeom>
          <a:noFill/>
          <a:ln>
            <a:noFill/>
          </a:ln>
        </p:spPr>
      </p:pic>
      <p:pic>
        <p:nvPicPr>
          <p:cNvPr id="1144" name="Google Shape;1144;p86"/>
          <p:cNvPicPr preferRelativeResize="0"/>
          <p:nvPr/>
        </p:nvPicPr>
        <p:blipFill rotWithShape="1">
          <a:blip r:embed="rId3">
            <a:alphaModFix/>
          </a:blip>
          <a:srcRect b="43690" l="0" r="57905" t="0"/>
          <a:stretch/>
        </p:blipFill>
        <p:spPr>
          <a:xfrm>
            <a:off x="5365550" y="995816"/>
            <a:ext cx="2303549" cy="448300"/>
          </a:xfrm>
          <a:prstGeom prst="rect">
            <a:avLst/>
          </a:prstGeom>
          <a:noFill/>
          <a:ln>
            <a:noFill/>
          </a:ln>
        </p:spPr>
      </p:pic>
      <p:sp>
        <p:nvSpPr>
          <p:cNvPr id="1145" name="Google Shape;1145;p86"/>
          <p:cNvSpPr txBox="1"/>
          <p:nvPr>
            <p:ph idx="1" type="body"/>
          </p:nvPr>
        </p:nvSpPr>
        <p:spPr>
          <a:xfrm>
            <a:off x="5471248" y="1019852"/>
            <a:ext cx="2118900" cy="27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And, here is mine.</a:t>
            </a:r>
            <a:endParaRPr sz="1800"/>
          </a:p>
        </p:txBody>
      </p:sp>
      <p:pic>
        <p:nvPicPr>
          <p:cNvPr descr="one point six on the top row&#10;minus one point four eight on the middle row  with an answer of zero point two eight" id="1146" name="Google Shape;1146;p86"/>
          <p:cNvPicPr preferRelativeResize="0"/>
          <p:nvPr/>
        </p:nvPicPr>
        <p:blipFill rotWithShape="1">
          <a:blip r:embed="rId6">
            <a:alphaModFix/>
          </a:blip>
          <a:srcRect b="0" l="0" r="-2627" t="53126"/>
          <a:stretch/>
        </p:blipFill>
        <p:spPr>
          <a:xfrm>
            <a:off x="5417418" y="1453439"/>
            <a:ext cx="1402006" cy="905861"/>
          </a:xfrm>
          <a:prstGeom prst="rect">
            <a:avLst/>
          </a:prstGeom>
          <a:noFill/>
          <a:ln>
            <a:noFill/>
          </a:ln>
        </p:spPr>
      </p:pic>
      <p:pic>
        <p:nvPicPr>
          <p:cNvPr descr="one point 6 zero on the top row&#10;minus one point four eight on the middle row  with an answer of zero point one two on the bottom row. Top row shows the six on the top row being crossed out and replaced by 5 and a one added to the zero in the hundredths column" id="1147" name="Google Shape;1147;p86"/>
          <p:cNvPicPr preferRelativeResize="0"/>
          <p:nvPr/>
        </p:nvPicPr>
        <p:blipFill rotWithShape="1">
          <a:blip r:embed="rId6">
            <a:alphaModFix/>
          </a:blip>
          <a:srcRect b="53126" l="0" r="5392" t="0"/>
          <a:stretch/>
        </p:blipFill>
        <p:spPr>
          <a:xfrm>
            <a:off x="2223575" y="1388250"/>
            <a:ext cx="1292467" cy="905861"/>
          </a:xfrm>
          <a:prstGeom prst="rect">
            <a:avLst/>
          </a:prstGeom>
          <a:noFill/>
          <a:ln>
            <a:noFill/>
          </a:ln>
        </p:spPr>
      </p:pic>
      <p:sp>
        <p:nvSpPr>
          <p:cNvPr id="1148" name="Google Shape;1148;p86"/>
          <p:cNvSpPr txBox="1"/>
          <p:nvPr>
            <p:ph idx="1" type="body"/>
          </p:nvPr>
        </p:nvSpPr>
        <p:spPr>
          <a:xfrm>
            <a:off x="1645149" y="2400352"/>
            <a:ext cx="5597400" cy="683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What is the </a:t>
            </a:r>
            <a:r>
              <a:rPr lang="en-GB" sz="1800">
                <a:solidFill>
                  <a:schemeClr val="accent5"/>
                </a:solidFill>
              </a:rPr>
              <a:t>same</a:t>
            </a:r>
            <a:r>
              <a:rPr lang="en-GB" sz="1800"/>
              <a:t> and what is </a:t>
            </a:r>
            <a:r>
              <a:rPr lang="en-GB" sz="1800">
                <a:solidFill>
                  <a:schemeClr val="accent5"/>
                </a:solidFill>
              </a:rPr>
              <a:t>different</a:t>
            </a:r>
            <a:r>
              <a:rPr lang="en-GB" sz="1800"/>
              <a:t> about their workings?</a:t>
            </a:r>
            <a:endParaRPr sz="1800"/>
          </a:p>
        </p:txBody>
      </p:sp>
      <p:sp>
        <p:nvSpPr>
          <p:cNvPr id="1149" name="Google Shape;1149;p86"/>
          <p:cNvSpPr txBox="1"/>
          <p:nvPr>
            <p:ph idx="1" type="body"/>
          </p:nvPr>
        </p:nvSpPr>
        <p:spPr>
          <a:xfrm>
            <a:off x="1645150" y="2977800"/>
            <a:ext cx="5807400" cy="1171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They both lined up the decimal points.</a:t>
            </a:r>
            <a:endParaRPr sz="2000">
              <a:latin typeface="Kalam"/>
              <a:ea typeface="Kalam"/>
              <a:cs typeface="Kalam"/>
              <a:sym typeface="Kalam"/>
            </a:endParaRPr>
          </a:p>
          <a:p>
            <a:pPr indent="0" lvl="0" marL="0" rtl="0" algn="l">
              <a:lnSpc>
                <a:spcPct val="100000"/>
              </a:lnSpc>
              <a:spcBef>
                <a:spcPts val="1000"/>
              </a:spcBef>
              <a:spcAft>
                <a:spcPts val="0"/>
              </a:spcAft>
              <a:buNone/>
            </a:pPr>
            <a:r>
              <a:rPr lang="en-GB" sz="2000">
                <a:latin typeface="Kalam"/>
                <a:ea typeface="Kalam"/>
                <a:cs typeface="Kalam"/>
                <a:sym typeface="Kalam"/>
              </a:rPr>
              <a:t>They got different answers.</a:t>
            </a:r>
            <a:endParaRPr sz="2000">
              <a:latin typeface="Kalam"/>
              <a:ea typeface="Kalam"/>
              <a:cs typeface="Kalam"/>
              <a:sym typeface="Kalam"/>
            </a:endParaRPr>
          </a:p>
          <a:p>
            <a:pPr indent="0" lvl="0" marL="0" rtl="0" algn="l">
              <a:lnSpc>
                <a:spcPct val="100000"/>
              </a:lnSpc>
              <a:spcBef>
                <a:spcPts val="1000"/>
              </a:spcBef>
              <a:spcAft>
                <a:spcPts val="1000"/>
              </a:spcAft>
              <a:buNone/>
            </a:pPr>
            <a:r>
              <a:rPr lang="en-GB" sz="2000">
                <a:latin typeface="Kalam"/>
                <a:ea typeface="Kalam"/>
                <a:cs typeface="Kalam"/>
                <a:sym typeface="Kalam"/>
              </a:rPr>
              <a:t>Jun didn’t put the zero in the hundredths column so he couldn’t see the 0 hundredths minus 8 hundredths so his answer is incorrect.</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4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1155" name="Google Shape;1155;p87"/>
          <p:cNvSpPr txBox="1"/>
          <p:nvPr>
            <p:ph idx="1" type="body"/>
          </p:nvPr>
        </p:nvSpPr>
        <p:spPr>
          <a:xfrm>
            <a:off x="324000" y="759300"/>
            <a:ext cx="6381600" cy="177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Alex’s sunflower is 1.82 metres tall and Jun’s is 2.3 metres tall.</a:t>
            </a:r>
            <a:endParaRPr/>
          </a:p>
          <a:p>
            <a:pPr indent="0" lvl="0" marL="0" rtl="0" algn="l">
              <a:spcBef>
                <a:spcPts val="1000"/>
              </a:spcBef>
              <a:spcAft>
                <a:spcPts val="0"/>
              </a:spcAft>
              <a:buNone/>
            </a:pPr>
            <a:r>
              <a:rPr lang="en-GB"/>
              <a:t>How much taller is Jun’s?</a:t>
            </a:r>
            <a:endParaRPr/>
          </a:p>
          <a:p>
            <a:pPr indent="0" lvl="0" marL="0" rtl="0" algn="l">
              <a:spcBef>
                <a:spcPts val="1000"/>
              </a:spcBef>
              <a:spcAft>
                <a:spcPts val="1000"/>
              </a:spcAft>
              <a:buNone/>
            </a:pPr>
            <a:r>
              <a:rPr lang="en-GB"/>
              <a:t>Which is the correct way of setting out this </a:t>
            </a:r>
            <a:r>
              <a:rPr lang="en-GB"/>
              <a:t>calculation</a:t>
            </a:r>
            <a:r>
              <a:rPr lang="en-GB"/>
              <a:t>?</a:t>
            </a:r>
            <a:endParaRPr/>
          </a:p>
        </p:txBody>
      </p:sp>
      <p:pic>
        <p:nvPicPr>
          <p:cNvPr id="1156" name="Google Shape;1156;p87"/>
          <p:cNvPicPr preferRelativeResize="0"/>
          <p:nvPr/>
        </p:nvPicPr>
        <p:blipFill>
          <a:blip r:embed="rId3">
            <a:alphaModFix/>
          </a:blip>
          <a:stretch>
            <a:fillRect/>
          </a:stretch>
        </p:blipFill>
        <p:spPr>
          <a:xfrm>
            <a:off x="6745272" y="683100"/>
            <a:ext cx="2074726" cy="1382600"/>
          </a:xfrm>
          <a:prstGeom prst="rect">
            <a:avLst/>
          </a:prstGeom>
          <a:noFill/>
          <a:ln>
            <a:noFill/>
          </a:ln>
        </p:spPr>
      </p:pic>
      <p:grpSp>
        <p:nvGrpSpPr>
          <p:cNvPr id="1157" name="Google Shape;1157;p87"/>
          <p:cNvGrpSpPr/>
          <p:nvPr/>
        </p:nvGrpSpPr>
        <p:grpSpPr>
          <a:xfrm>
            <a:off x="4043538" y="3008275"/>
            <a:ext cx="1138800" cy="1428931"/>
            <a:chOff x="3893125" y="3008275"/>
            <a:chExt cx="1138800" cy="1428931"/>
          </a:xfrm>
        </p:grpSpPr>
        <p:grpSp>
          <p:nvGrpSpPr>
            <p:cNvPr id="1158" name="Google Shape;1158;p87"/>
            <p:cNvGrpSpPr/>
            <p:nvPr/>
          </p:nvGrpSpPr>
          <p:grpSpPr>
            <a:xfrm>
              <a:off x="3893125" y="3529225"/>
              <a:ext cx="1138800" cy="907981"/>
              <a:chOff x="2270325" y="3052638"/>
              <a:chExt cx="1138800" cy="907981"/>
            </a:xfrm>
          </p:grpSpPr>
          <p:sp>
            <p:nvSpPr>
              <p:cNvPr id="1159" name="Google Shape;1159;p87"/>
              <p:cNvSpPr txBox="1"/>
              <p:nvPr/>
            </p:nvSpPr>
            <p:spPr>
              <a:xfrm>
                <a:off x="2375237" y="3052638"/>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latin typeface="Lexend"/>
                  <a:ea typeface="Lexend"/>
                  <a:cs typeface="Lexend"/>
                  <a:sym typeface="Lexend"/>
                </a:endParaRPr>
              </a:p>
            </p:txBody>
          </p:sp>
          <p:cxnSp>
            <p:nvCxnSpPr>
              <p:cNvPr id="1160" name="Google Shape;1160;p87"/>
              <p:cNvCxnSpPr/>
              <p:nvPr/>
            </p:nvCxnSpPr>
            <p:spPr>
              <a:xfrm>
                <a:off x="2270325" y="3429583"/>
                <a:ext cx="1138800" cy="0"/>
              </a:xfrm>
              <a:prstGeom prst="straightConnector1">
                <a:avLst/>
              </a:prstGeom>
              <a:noFill/>
              <a:ln cap="flat" cmpd="sng" w="38100">
                <a:solidFill>
                  <a:schemeClr val="dk2"/>
                </a:solidFill>
                <a:prstDash val="solid"/>
                <a:round/>
                <a:headEnd len="med" w="med" type="none"/>
                <a:tailEnd len="med" w="med" type="none"/>
              </a:ln>
            </p:spPr>
          </p:cxnSp>
          <p:cxnSp>
            <p:nvCxnSpPr>
              <p:cNvPr id="1161" name="Google Shape;1161;p87"/>
              <p:cNvCxnSpPr/>
              <p:nvPr/>
            </p:nvCxnSpPr>
            <p:spPr>
              <a:xfrm>
                <a:off x="2270325" y="3960619"/>
                <a:ext cx="1138800" cy="0"/>
              </a:xfrm>
              <a:prstGeom prst="straightConnector1">
                <a:avLst/>
              </a:prstGeom>
              <a:noFill/>
              <a:ln cap="flat" cmpd="sng" w="38100">
                <a:solidFill>
                  <a:schemeClr val="dk2"/>
                </a:solidFill>
                <a:prstDash val="solid"/>
                <a:round/>
                <a:headEnd len="med" w="med" type="none"/>
                <a:tailEnd len="med" w="med" type="none"/>
              </a:ln>
            </p:spPr>
          </p:cxnSp>
        </p:grpSp>
        <p:pic>
          <p:nvPicPr>
            <p:cNvPr descr="&lt;math xmlns=&quot;http://www.w3.org/1998/Math/MathML&quot; display=&quot;block&quot; data-is-equatio=&quot;1&quot; data-latex=&quot;\begin{array}{l}2.3\ 0\\&amp;#13;&amp;#10;1.8\ 2\end{array}&quot;&gt;&lt;mtable columnalign=&quot;left&quot; columnspacing=&quot;1em&quot; rowspacing=&quot;4pt&quot;&gt;&lt;mtr&gt;&lt;mtd&gt;&lt;mn&gt;2.3&lt;/mn&gt;&lt;mtext&gt;&lt;/mtext&gt;&lt;mn&gt;0&lt;/mn&gt;&lt;/mtd&gt;&lt;/mtr&gt;&lt;mtr&gt;&lt;mtd&gt;&lt;mn&gt;1.8&lt;/mn&gt;&lt;mtext&gt;&lt;/mtext&gt;&lt;mn&gt;2&lt;/mn&gt;&lt;/mtd&gt;&lt;/mtr&gt;&lt;/mtable&gt;&lt;/math&gt;" id="1162" name="Google Shape;1162;p87" title="2 lines Line 1: 2.3 0 Line 2: 1.8 2"/>
            <p:cNvPicPr preferRelativeResize="0"/>
            <p:nvPr/>
          </p:nvPicPr>
          <p:blipFill>
            <a:blip r:embed="rId4">
              <a:alphaModFix/>
            </a:blip>
            <a:stretch>
              <a:fillRect/>
            </a:stretch>
          </p:blipFill>
          <p:spPr>
            <a:xfrm>
              <a:off x="4202250" y="3008275"/>
              <a:ext cx="786250" cy="847200"/>
            </a:xfrm>
            <a:prstGeom prst="rect">
              <a:avLst/>
            </a:prstGeom>
            <a:noFill/>
            <a:ln>
              <a:noFill/>
            </a:ln>
          </p:spPr>
        </p:pic>
      </p:grpSp>
      <p:grpSp>
        <p:nvGrpSpPr>
          <p:cNvPr id="1163" name="Google Shape;1163;p87"/>
          <p:cNvGrpSpPr/>
          <p:nvPr/>
        </p:nvGrpSpPr>
        <p:grpSpPr>
          <a:xfrm>
            <a:off x="742500" y="3008275"/>
            <a:ext cx="1138800" cy="1433163"/>
            <a:chOff x="742500" y="3008275"/>
            <a:chExt cx="1138800" cy="1433163"/>
          </a:xfrm>
        </p:grpSpPr>
        <p:pic>
          <p:nvPicPr>
            <p:cNvPr descr="&lt;math xmlns=&quot;http://www.w3.org/1998/Math/MathML&quot; display=&quot;block&quot; data-is-equatio=&quot;1&quot; data-latex=&quot;\begin{array}{l}\ \ \ 2.3\ \\&amp;#13;&amp;#10;1.8\ 2\end{array}&quot;&gt;&lt;mtable columnalign=&quot;left&quot; columnspacing=&quot;1em&quot; rowspacing=&quot;4pt&quot;&gt;&lt;mtr&gt;&lt;mtd&gt;&lt;mtext&gt;&lt;/mtext&gt;&lt;mtext&gt;&lt;/mtext&gt;&lt;mtext&gt;&lt;/mtext&gt;&lt;mn&gt;2.3&lt;/mn&gt;&lt;mtext&gt;&lt;/mtext&gt;&lt;/mtd&gt;&lt;/mtr&gt;&lt;mtr&gt;&lt;mtd&gt;&lt;mn&gt;1.8&lt;/mn&gt;&lt;mtext&gt;&lt;/mtext&gt;&lt;mn&gt;2&lt;/mn&gt;&lt;/mtd&gt;&lt;/mtr&gt;&lt;/mtable&gt;&lt;/math&gt;" id="1164" name="Google Shape;1164;p87" title="2 lines Line 1: 2.3 Line 2: 1.8 2"/>
            <p:cNvPicPr preferRelativeResize="0"/>
            <p:nvPr/>
          </p:nvPicPr>
          <p:blipFill>
            <a:blip r:embed="rId5">
              <a:alphaModFix/>
            </a:blip>
            <a:stretch>
              <a:fillRect/>
            </a:stretch>
          </p:blipFill>
          <p:spPr>
            <a:xfrm>
              <a:off x="1059400" y="3008275"/>
              <a:ext cx="749676" cy="847200"/>
            </a:xfrm>
            <a:prstGeom prst="rect">
              <a:avLst/>
            </a:prstGeom>
            <a:noFill/>
            <a:ln>
              <a:noFill/>
            </a:ln>
          </p:spPr>
        </p:pic>
        <p:grpSp>
          <p:nvGrpSpPr>
            <p:cNvPr id="1165" name="Google Shape;1165;p87"/>
            <p:cNvGrpSpPr/>
            <p:nvPr/>
          </p:nvGrpSpPr>
          <p:grpSpPr>
            <a:xfrm>
              <a:off x="742500" y="3578024"/>
              <a:ext cx="1138800" cy="863414"/>
              <a:chOff x="2270325" y="3097205"/>
              <a:chExt cx="1138800" cy="863414"/>
            </a:xfrm>
          </p:grpSpPr>
          <p:sp>
            <p:nvSpPr>
              <p:cNvPr id="1166" name="Google Shape;1166;p87"/>
              <p:cNvSpPr txBox="1"/>
              <p:nvPr/>
            </p:nvSpPr>
            <p:spPr>
              <a:xfrm>
                <a:off x="2375237" y="30972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167" name="Google Shape;1167;p87"/>
              <p:cNvCxnSpPr/>
              <p:nvPr/>
            </p:nvCxnSpPr>
            <p:spPr>
              <a:xfrm>
                <a:off x="2270325" y="3429583"/>
                <a:ext cx="1138800" cy="0"/>
              </a:xfrm>
              <a:prstGeom prst="straightConnector1">
                <a:avLst/>
              </a:prstGeom>
              <a:noFill/>
              <a:ln cap="flat" cmpd="sng" w="38100">
                <a:solidFill>
                  <a:schemeClr val="dk2"/>
                </a:solidFill>
                <a:prstDash val="solid"/>
                <a:round/>
                <a:headEnd len="med" w="med" type="none"/>
                <a:tailEnd len="med" w="med" type="none"/>
              </a:ln>
            </p:spPr>
          </p:cxnSp>
          <p:cxnSp>
            <p:nvCxnSpPr>
              <p:cNvPr id="1168" name="Google Shape;1168;p87"/>
              <p:cNvCxnSpPr/>
              <p:nvPr/>
            </p:nvCxnSpPr>
            <p:spPr>
              <a:xfrm>
                <a:off x="2270325" y="3960619"/>
                <a:ext cx="1138800" cy="0"/>
              </a:xfrm>
              <a:prstGeom prst="straightConnector1">
                <a:avLst/>
              </a:prstGeom>
              <a:noFill/>
              <a:ln cap="flat" cmpd="sng" w="38100">
                <a:solidFill>
                  <a:schemeClr val="dk2"/>
                </a:solidFill>
                <a:prstDash val="solid"/>
                <a:round/>
                <a:headEnd len="med" w="med" type="none"/>
                <a:tailEnd len="med" w="med" type="none"/>
              </a:ln>
            </p:spPr>
          </p:cxnSp>
        </p:grpSp>
      </p:grpSp>
      <p:grpSp>
        <p:nvGrpSpPr>
          <p:cNvPr id="1169" name="Google Shape;1169;p87"/>
          <p:cNvGrpSpPr/>
          <p:nvPr/>
        </p:nvGrpSpPr>
        <p:grpSpPr>
          <a:xfrm>
            <a:off x="323991" y="3041325"/>
            <a:ext cx="457200" cy="457200"/>
            <a:chOff x="1020916" y="1442088"/>
            <a:chExt cx="457200" cy="457200"/>
          </a:xfrm>
        </p:grpSpPr>
        <p:pic>
          <p:nvPicPr>
            <p:cNvPr id="1170" name="Google Shape;1170;p87"/>
            <p:cNvPicPr preferRelativeResize="0"/>
            <p:nvPr/>
          </p:nvPicPr>
          <p:blipFill>
            <a:blip r:embed="rId6">
              <a:alphaModFix/>
            </a:blip>
            <a:stretch>
              <a:fillRect/>
            </a:stretch>
          </p:blipFill>
          <p:spPr>
            <a:xfrm>
              <a:off x="1020916" y="1442088"/>
              <a:ext cx="457200" cy="457200"/>
            </a:xfrm>
            <a:prstGeom prst="rect">
              <a:avLst/>
            </a:prstGeom>
            <a:noFill/>
            <a:ln>
              <a:noFill/>
            </a:ln>
          </p:spPr>
        </p:pic>
        <p:sp>
          <p:nvSpPr>
            <p:cNvPr id="1171" name="Google Shape;1171;p8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72" name="Google Shape;1172;p87"/>
          <p:cNvGrpSpPr/>
          <p:nvPr/>
        </p:nvGrpSpPr>
        <p:grpSpPr>
          <a:xfrm>
            <a:off x="3598191" y="3041325"/>
            <a:ext cx="457200" cy="457200"/>
            <a:chOff x="1020916" y="1442088"/>
            <a:chExt cx="457200" cy="457200"/>
          </a:xfrm>
        </p:grpSpPr>
        <p:pic>
          <p:nvPicPr>
            <p:cNvPr id="1173" name="Google Shape;1173;p87"/>
            <p:cNvPicPr preferRelativeResize="0"/>
            <p:nvPr/>
          </p:nvPicPr>
          <p:blipFill>
            <a:blip r:embed="rId6">
              <a:alphaModFix/>
            </a:blip>
            <a:stretch>
              <a:fillRect/>
            </a:stretch>
          </p:blipFill>
          <p:spPr>
            <a:xfrm>
              <a:off x="1020916" y="1442088"/>
              <a:ext cx="457200" cy="457200"/>
            </a:xfrm>
            <a:prstGeom prst="rect">
              <a:avLst/>
            </a:prstGeom>
            <a:noFill/>
            <a:ln>
              <a:noFill/>
            </a:ln>
          </p:spPr>
        </p:pic>
        <p:sp>
          <p:nvSpPr>
            <p:cNvPr id="1174" name="Google Shape;1174;p8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5" name="Google Shape;1175;p87"/>
          <p:cNvGrpSpPr/>
          <p:nvPr/>
        </p:nvGrpSpPr>
        <p:grpSpPr>
          <a:xfrm>
            <a:off x="7344575" y="3008275"/>
            <a:ext cx="1138800" cy="1428931"/>
            <a:chOff x="7115975" y="3008275"/>
            <a:chExt cx="1138800" cy="1428931"/>
          </a:xfrm>
        </p:grpSpPr>
        <p:grpSp>
          <p:nvGrpSpPr>
            <p:cNvPr id="1176" name="Google Shape;1176;p87"/>
            <p:cNvGrpSpPr/>
            <p:nvPr/>
          </p:nvGrpSpPr>
          <p:grpSpPr>
            <a:xfrm>
              <a:off x="7115975" y="3573792"/>
              <a:ext cx="1138800" cy="863414"/>
              <a:chOff x="2270325" y="3097205"/>
              <a:chExt cx="1138800" cy="863414"/>
            </a:xfrm>
          </p:grpSpPr>
          <p:sp>
            <p:nvSpPr>
              <p:cNvPr id="1177" name="Google Shape;1177;p87"/>
              <p:cNvSpPr txBox="1"/>
              <p:nvPr/>
            </p:nvSpPr>
            <p:spPr>
              <a:xfrm>
                <a:off x="2375237" y="3097205"/>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178" name="Google Shape;1178;p87"/>
              <p:cNvCxnSpPr/>
              <p:nvPr/>
            </p:nvCxnSpPr>
            <p:spPr>
              <a:xfrm>
                <a:off x="2270325" y="3429583"/>
                <a:ext cx="1138800" cy="0"/>
              </a:xfrm>
              <a:prstGeom prst="straightConnector1">
                <a:avLst/>
              </a:prstGeom>
              <a:noFill/>
              <a:ln cap="flat" cmpd="sng" w="38100">
                <a:solidFill>
                  <a:schemeClr val="dk2"/>
                </a:solidFill>
                <a:prstDash val="solid"/>
                <a:round/>
                <a:headEnd len="med" w="med" type="none"/>
                <a:tailEnd len="med" w="med" type="none"/>
              </a:ln>
            </p:spPr>
          </p:cxnSp>
          <p:cxnSp>
            <p:nvCxnSpPr>
              <p:cNvPr id="1179" name="Google Shape;1179;p87"/>
              <p:cNvCxnSpPr/>
              <p:nvPr/>
            </p:nvCxnSpPr>
            <p:spPr>
              <a:xfrm>
                <a:off x="2270325" y="3960619"/>
                <a:ext cx="1138800" cy="0"/>
              </a:xfrm>
              <a:prstGeom prst="straightConnector1">
                <a:avLst/>
              </a:prstGeom>
              <a:noFill/>
              <a:ln cap="flat" cmpd="sng" w="38100">
                <a:solidFill>
                  <a:schemeClr val="dk2"/>
                </a:solidFill>
                <a:prstDash val="solid"/>
                <a:round/>
                <a:headEnd len="med" w="med" type="none"/>
                <a:tailEnd len="med" w="med" type="none"/>
              </a:ln>
            </p:spPr>
          </p:cxnSp>
        </p:grpSp>
        <p:pic>
          <p:nvPicPr>
            <p:cNvPr descr="&lt;math xmlns=&quot;http://www.w3.org/1998/Math/MathML&quot; display=&quot;block&quot; data-is-equatio=&quot;1&quot; data-latex=&quot;\begin{array}{l}2.3\ 0\\&amp;#13;&amp;#10;1.8\ 2\end{array}&quot;&gt;&lt;mtable columnalign=&quot;left&quot; columnspacing=&quot;1em&quot; rowspacing=&quot;4pt&quot;&gt;&lt;mtr&gt;&lt;mtd&gt;&lt;mn&gt;2.3&lt;/mn&gt;&lt;mtext&gt;&lt;/mtext&gt;&lt;mn&gt;0&lt;/mn&gt;&lt;/mtd&gt;&lt;/mtr&gt;&lt;mtr&gt;&lt;mtd&gt;&lt;mn&gt;1.8&lt;/mn&gt;&lt;mtext&gt;&lt;/mtext&gt;&lt;mn&gt;2&lt;/mn&gt;&lt;/mtd&gt;&lt;/mtr&gt;&lt;/mtable&gt;&lt;/math&gt;" id="1180" name="Google Shape;1180;p87" title="2 lines Line 1: 2.3 0 Line 2: 1.8 2"/>
            <p:cNvPicPr preferRelativeResize="0"/>
            <p:nvPr/>
          </p:nvPicPr>
          <p:blipFill>
            <a:blip r:embed="rId4">
              <a:alphaModFix/>
            </a:blip>
            <a:stretch>
              <a:fillRect/>
            </a:stretch>
          </p:blipFill>
          <p:spPr>
            <a:xfrm>
              <a:off x="7425100" y="3008275"/>
              <a:ext cx="786250" cy="847200"/>
            </a:xfrm>
            <a:prstGeom prst="rect">
              <a:avLst/>
            </a:prstGeom>
            <a:noFill/>
            <a:ln>
              <a:noFill/>
            </a:ln>
          </p:spPr>
        </p:pic>
      </p:grpSp>
      <p:grpSp>
        <p:nvGrpSpPr>
          <p:cNvPr id="1181" name="Google Shape;1181;p87"/>
          <p:cNvGrpSpPr/>
          <p:nvPr/>
        </p:nvGrpSpPr>
        <p:grpSpPr>
          <a:xfrm>
            <a:off x="6922541" y="3041325"/>
            <a:ext cx="457200" cy="457200"/>
            <a:chOff x="6389141" y="3155175"/>
            <a:chExt cx="457200" cy="457200"/>
          </a:xfrm>
        </p:grpSpPr>
        <p:pic>
          <p:nvPicPr>
            <p:cNvPr id="1182" name="Google Shape;1182;p87"/>
            <p:cNvPicPr preferRelativeResize="0"/>
            <p:nvPr/>
          </p:nvPicPr>
          <p:blipFill>
            <a:blip r:embed="rId6">
              <a:alphaModFix/>
            </a:blip>
            <a:stretch>
              <a:fillRect/>
            </a:stretch>
          </p:blipFill>
          <p:spPr>
            <a:xfrm>
              <a:off x="6389141" y="3155175"/>
              <a:ext cx="457200" cy="457200"/>
            </a:xfrm>
            <a:prstGeom prst="rect">
              <a:avLst/>
            </a:prstGeom>
            <a:noFill/>
            <a:ln>
              <a:noFill/>
            </a:ln>
          </p:spPr>
        </p:pic>
        <p:sp>
          <p:nvSpPr>
            <p:cNvPr id="1183" name="Google Shape;1183;p87"/>
            <p:cNvSpPr txBox="1"/>
            <p:nvPr/>
          </p:nvSpPr>
          <p:spPr>
            <a:xfrm>
              <a:off x="6415203" y="32451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184" name="Google Shape;1184;p87"/>
          <p:cNvPicPr preferRelativeResize="0"/>
          <p:nvPr/>
        </p:nvPicPr>
        <p:blipFill>
          <a:blip r:embed="rId7">
            <a:alphaModFix/>
          </a:blip>
          <a:stretch>
            <a:fillRect/>
          </a:stretch>
        </p:blipFill>
        <p:spPr>
          <a:xfrm>
            <a:off x="7781133" y="44013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pic>
        <p:nvPicPr>
          <p:cNvPr id="1189" name="Google Shape;1189;p88"/>
          <p:cNvPicPr preferRelativeResize="0"/>
          <p:nvPr/>
        </p:nvPicPr>
        <p:blipFill rotWithShape="1">
          <a:blip r:embed="rId3">
            <a:alphaModFix/>
          </a:blip>
          <a:srcRect b="43690" l="0" r="57905" t="0"/>
          <a:stretch/>
        </p:blipFill>
        <p:spPr>
          <a:xfrm>
            <a:off x="6034400" y="2456525"/>
            <a:ext cx="1648251" cy="1144850"/>
          </a:xfrm>
          <a:prstGeom prst="rect">
            <a:avLst/>
          </a:prstGeom>
          <a:noFill/>
          <a:ln>
            <a:noFill/>
          </a:ln>
        </p:spPr>
      </p:pic>
      <p:pic>
        <p:nvPicPr>
          <p:cNvPr id="1190" name="Google Shape;1190;p88"/>
          <p:cNvPicPr preferRelativeResize="0"/>
          <p:nvPr/>
        </p:nvPicPr>
        <p:blipFill rotWithShape="1">
          <a:blip r:embed="rId3">
            <a:alphaModFix/>
          </a:blip>
          <a:srcRect b="43690" l="0" r="57905" t="0"/>
          <a:stretch/>
        </p:blipFill>
        <p:spPr>
          <a:xfrm flipH="1">
            <a:off x="1294627" y="2648125"/>
            <a:ext cx="1994573" cy="957299"/>
          </a:xfrm>
          <a:prstGeom prst="rect">
            <a:avLst/>
          </a:prstGeom>
          <a:noFill/>
          <a:ln>
            <a:noFill/>
          </a:ln>
        </p:spPr>
      </p:pic>
      <p:sp>
        <p:nvSpPr>
          <p:cNvPr id="1191" name="Google Shape;1191;p8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Sofia and Andeep record how far they kick a football.</a:t>
            </a:r>
            <a:endParaRPr/>
          </a:p>
          <a:p>
            <a:pPr indent="-368300" lvl="0" marL="457200" rtl="0" algn="l">
              <a:spcBef>
                <a:spcPts val="0"/>
              </a:spcBef>
              <a:spcAft>
                <a:spcPts val="0"/>
              </a:spcAft>
              <a:buSzPts val="2200"/>
              <a:buAutoNum type="alphaLcParenR"/>
            </a:pPr>
            <a:r>
              <a:rPr lang="en-GB"/>
              <a:t>What is the total distance? </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How</a:t>
            </a:r>
            <a:r>
              <a:rPr lang="en-GB"/>
              <a:t> much further did Sofia kick the ball?  </a:t>
            </a:r>
            <a:endParaRPr>
              <a:latin typeface="Kalam"/>
              <a:ea typeface="Kalam"/>
              <a:cs typeface="Kalam"/>
              <a:sym typeface="Kalam"/>
            </a:endParaRPr>
          </a:p>
        </p:txBody>
      </p:sp>
      <p:sp>
        <p:nvSpPr>
          <p:cNvPr id="1192" name="Google Shape;1192;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of decimals</a:t>
            </a:r>
            <a:endParaRPr/>
          </a:p>
          <a:p>
            <a:pPr indent="0" lvl="0" marL="0" rtl="0" algn="l">
              <a:spcBef>
                <a:spcPts val="1000"/>
              </a:spcBef>
              <a:spcAft>
                <a:spcPts val="1000"/>
              </a:spcAft>
              <a:buNone/>
            </a:pPr>
            <a:r>
              <a:t/>
            </a:r>
            <a:endParaRPr/>
          </a:p>
        </p:txBody>
      </p:sp>
      <p:pic>
        <p:nvPicPr>
          <p:cNvPr id="1193" name="Google Shape;1193;p88"/>
          <p:cNvPicPr preferRelativeResize="0"/>
          <p:nvPr/>
        </p:nvPicPr>
        <p:blipFill rotWithShape="1">
          <a:blip r:embed="rId4">
            <a:alphaModFix/>
          </a:blip>
          <a:srcRect b="1661" l="0" r="50804" t="0"/>
          <a:stretch/>
        </p:blipFill>
        <p:spPr>
          <a:xfrm>
            <a:off x="7805036" y="1172463"/>
            <a:ext cx="892774" cy="895075"/>
          </a:xfrm>
          <a:prstGeom prst="rect">
            <a:avLst/>
          </a:prstGeom>
          <a:noFill/>
          <a:ln>
            <a:noFill/>
          </a:ln>
        </p:spPr>
      </p:pic>
      <p:sp>
        <p:nvSpPr>
          <p:cNvPr id="1194" name="Google Shape;1194;p88"/>
          <p:cNvSpPr txBox="1"/>
          <p:nvPr>
            <p:ph idx="1" type="body"/>
          </p:nvPr>
        </p:nvSpPr>
        <p:spPr>
          <a:xfrm>
            <a:off x="1503625" y="2710500"/>
            <a:ext cx="17988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kicked it 12.73 metres.</a:t>
            </a:r>
            <a:endParaRPr/>
          </a:p>
        </p:txBody>
      </p:sp>
      <p:sp>
        <p:nvSpPr>
          <p:cNvPr id="1195" name="Google Shape;1195;p88"/>
          <p:cNvSpPr txBox="1"/>
          <p:nvPr>
            <p:ph idx="1" type="body"/>
          </p:nvPr>
        </p:nvSpPr>
        <p:spPr>
          <a:xfrm>
            <a:off x="6119400" y="2559100"/>
            <a:ext cx="17988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kicked it 9.8 metres.</a:t>
            </a:r>
            <a:endParaRPr/>
          </a:p>
        </p:txBody>
      </p:sp>
      <p:pic>
        <p:nvPicPr>
          <p:cNvPr id="1196" name="Google Shape;1196;p88"/>
          <p:cNvPicPr preferRelativeResize="0"/>
          <p:nvPr/>
        </p:nvPicPr>
        <p:blipFill>
          <a:blip r:embed="rId5">
            <a:alphaModFix/>
          </a:blip>
          <a:stretch>
            <a:fillRect/>
          </a:stretch>
        </p:blipFill>
        <p:spPr>
          <a:xfrm>
            <a:off x="324000" y="3156400"/>
            <a:ext cx="970618" cy="1081591"/>
          </a:xfrm>
          <a:prstGeom prst="rect">
            <a:avLst/>
          </a:prstGeom>
          <a:noFill/>
          <a:ln>
            <a:noFill/>
          </a:ln>
        </p:spPr>
      </p:pic>
      <p:pic>
        <p:nvPicPr>
          <p:cNvPr id="1197" name="Google Shape;1197;p88"/>
          <p:cNvPicPr preferRelativeResize="0"/>
          <p:nvPr/>
        </p:nvPicPr>
        <p:blipFill>
          <a:blip r:embed="rId6">
            <a:alphaModFix/>
          </a:blip>
          <a:stretch>
            <a:fillRect/>
          </a:stretch>
        </p:blipFill>
        <p:spPr>
          <a:xfrm>
            <a:off x="7981214" y="3156408"/>
            <a:ext cx="838786" cy="108159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pic>
        <p:nvPicPr>
          <p:cNvPr id="1202" name="Google Shape;1202;p89"/>
          <p:cNvPicPr preferRelativeResize="0"/>
          <p:nvPr/>
        </p:nvPicPr>
        <p:blipFill rotWithShape="1">
          <a:blip r:embed="rId3">
            <a:alphaModFix/>
          </a:blip>
          <a:srcRect b="43690" l="0" r="57905" t="0"/>
          <a:stretch/>
        </p:blipFill>
        <p:spPr>
          <a:xfrm>
            <a:off x="3147050" y="2438400"/>
            <a:ext cx="1648251" cy="819100"/>
          </a:xfrm>
          <a:prstGeom prst="rect">
            <a:avLst/>
          </a:prstGeom>
          <a:noFill/>
          <a:ln>
            <a:noFill/>
          </a:ln>
        </p:spPr>
      </p:pic>
      <p:pic>
        <p:nvPicPr>
          <p:cNvPr id="1203" name="Google Shape;1203;p89"/>
          <p:cNvPicPr preferRelativeResize="0"/>
          <p:nvPr/>
        </p:nvPicPr>
        <p:blipFill rotWithShape="1">
          <a:blip r:embed="rId3">
            <a:alphaModFix/>
          </a:blip>
          <a:srcRect b="43690" l="0" r="57905" t="0"/>
          <a:stretch/>
        </p:blipFill>
        <p:spPr>
          <a:xfrm flipH="1">
            <a:off x="1332575" y="2414025"/>
            <a:ext cx="1602350" cy="957299"/>
          </a:xfrm>
          <a:prstGeom prst="rect">
            <a:avLst/>
          </a:prstGeom>
          <a:noFill/>
          <a:ln>
            <a:noFill/>
          </a:ln>
        </p:spPr>
      </p:pic>
      <p:sp>
        <p:nvSpPr>
          <p:cNvPr id="1204" name="Google Shape;1204;p89"/>
          <p:cNvSpPr txBox="1"/>
          <p:nvPr>
            <p:ph idx="1" type="body"/>
          </p:nvPr>
        </p:nvSpPr>
        <p:spPr>
          <a:xfrm>
            <a:off x="1541825" y="2440600"/>
            <a:ext cx="15066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did 35.6 seconds.</a:t>
            </a:r>
            <a:endParaRPr/>
          </a:p>
        </p:txBody>
      </p:sp>
      <p:sp>
        <p:nvSpPr>
          <p:cNvPr id="1205" name="Google Shape;1205;p89"/>
          <p:cNvSpPr txBox="1"/>
          <p:nvPr>
            <p:ph idx="1" type="body"/>
          </p:nvPr>
        </p:nvSpPr>
        <p:spPr>
          <a:xfrm>
            <a:off x="3223400" y="2414025"/>
            <a:ext cx="14742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did 28.45 seconds. </a:t>
            </a:r>
            <a:endParaRPr/>
          </a:p>
        </p:txBody>
      </p:sp>
      <p:pic>
        <p:nvPicPr>
          <p:cNvPr id="1206" name="Google Shape;1206;p89"/>
          <p:cNvPicPr preferRelativeResize="0"/>
          <p:nvPr/>
        </p:nvPicPr>
        <p:blipFill rotWithShape="1">
          <a:blip r:embed="rId3">
            <a:alphaModFix/>
          </a:blip>
          <a:srcRect b="43690" l="0" r="57905" t="0"/>
          <a:stretch/>
        </p:blipFill>
        <p:spPr>
          <a:xfrm>
            <a:off x="5414650" y="2380325"/>
            <a:ext cx="2549601" cy="957299"/>
          </a:xfrm>
          <a:prstGeom prst="rect">
            <a:avLst/>
          </a:prstGeom>
          <a:noFill/>
          <a:ln>
            <a:noFill/>
          </a:ln>
        </p:spPr>
      </p:pic>
      <p:sp>
        <p:nvSpPr>
          <p:cNvPr id="1207" name="Google Shape;1207;p89"/>
          <p:cNvSpPr txBox="1"/>
          <p:nvPr>
            <p:ph idx="1" type="body"/>
          </p:nvPr>
        </p:nvSpPr>
        <p:spPr>
          <a:xfrm>
            <a:off x="324000" y="759300"/>
            <a:ext cx="7826400" cy="162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Lucas, Aisha and Jun record how long they can bounce a basketball for.</a:t>
            </a:r>
            <a:endParaRPr/>
          </a:p>
          <a:p>
            <a:pPr indent="-368300" lvl="0" marL="457200" rtl="0" algn="l">
              <a:spcBef>
                <a:spcPts val="1000"/>
              </a:spcBef>
              <a:spcAft>
                <a:spcPts val="0"/>
              </a:spcAft>
              <a:buSzPts val="2200"/>
              <a:buAutoNum type="alphaLcParenR"/>
            </a:pPr>
            <a:r>
              <a:rPr lang="en-GB"/>
              <a:t>What is the total time?  </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How much longer did Lucas manage than Jun? </a:t>
            </a:r>
            <a:endParaRPr>
              <a:latin typeface="Kalam"/>
              <a:ea typeface="Kalam"/>
              <a:cs typeface="Kalam"/>
              <a:sym typeface="Kalam"/>
            </a:endParaRPr>
          </a:p>
        </p:txBody>
      </p:sp>
      <p:sp>
        <p:nvSpPr>
          <p:cNvPr id="1208" name="Google Shape;1208;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Addition and subtraction of decimals</a:t>
            </a:r>
            <a:endParaRPr/>
          </a:p>
        </p:txBody>
      </p:sp>
      <p:pic>
        <p:nvPicPr>
          <p:cNvPr id="1209" name="Google Shape;1209;p89"/>
          <p:cNvPicPr preferRelativeResize="0"/>
          <p:nvPr/>
        </p:nvPicPr>
        <p:blipFill>
          <a:blip r:embed="rId4">
            <a:alphaModFix/>
          </a:blip>
          <a:stretch>
            <a:fillRect/>
          </a:stretch>
        </p:blipFill>
        <p:spPr>
          <a:xfrm>
            <a:off x="7788600" y="536250"/>
            <a:ext cx="1183798" cy="1183802"/>
          </a:xfrm>
          <a:prstGeom prst="rect">
            <a:avLst/>
          </a:prstGeom>
          <a:noFill/>
          <a:ln>
            <a:noFill/>
          </a:ln>
        </p:spPr>
      </p:pic>
      <p:sp>
        <p:nvSpPr>
          <p:cNvPr id="1210" name="Google Shape;1210;p89"/>
          <p:cNvSpPr txBox="1"/>
          <p:nvPr>
            <p:ph idx="1" type="body"/>
          </p:nvPr>
        </p:nvSpPr>
        <p:spPr>
          <a:xfrm>
            <a:off x="5468600" y="2430425"/>
            <a:ext cx="2324700" cy="114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And, I managed 27.87 seconds. </a:t>
            </a:r>
            <a:endParaRPr/>
          </a:p>
        </p:txBody>
      </p:sp>
      <p:pic>
        <p:nvPicPr>
          <p:cNvPr id="1211" name="Google Shape;1211;p89"/>
          <p:cNvPicPr preferRelativeResize="0"/>
          <p:nvPr/>
        </p:nvPicPr>
        <p:blipFill>
          <a:blip r:embed="rId5">
            <a:alphaModFix/>
          </a:blip>
          <a:stretch>
            <a:fillRect/>
          </a:stretch>
        </p:blipFill>
        <p:spPr>
          <a:xfrm>
            <a:off x="350600" y="2810775"/>
            <a:ext cx="1830391" cy="2009616"/>
          </a:xfrm>
          <a:prstGeom prst="rect">
            <a:avLst/>
          </a:prstGeom>
          <a:noFill/>
          <a:ln>
            <a:noFill/>
          </a:ln>
        </p:spPr>
      </p:pic>
      <p:pic>
        <p:nvPicPr>
          <p:cNvPr id="1212" name="Google Shape;1212;p89"/>
          <p:cNvPicPr preferRelativeResize="0"/>
          <p:nvPr/>
        </p:nvPicPr>
        <p:blipFill>
          <a:blip r:embed="rId6">
            <a:alphaModFix/>
          </a:blip>
          <a:stretch>
            <a:fillRect/>
          </a:stretch>
        </p:blipFill>
        <p:spPr>
          <a:xfrm>
            <a:off x="4810425" y="2992170"/>
            <a:ext cx="499900" cy="1828229"/>
          </a:xfrm>
          <a:prstGeom prst="rect">
            <a:avLst/>
          </a:prstGeom>
          <a:noFill/>
          <a:ln>
            <a:noFill/>
          </a:ln>
        </p:spPr>
      </p:pic>
      <p:pic>
        <p:nvPicPr>
          <p:cNvPr id="1213" name="Google Shape;1213;p89"/>
          <p:cNvPicPr preferRelativeResize="0"/>
          <p:nvPr/>
        </p:nvPicPr>
        <p:blipFill>
          <a:blip r:embed="rId7">
            <a:alphaModFix/>
          </a:blip>
          <a:stretch>
            <a:fillRect/>
          </a:stretch>
        </p:blipFill>
        <p:spPr>
          <a:xfrm>
            <a:off x="7723876" y="2921177"/>
            <a:ext cx="736124" cy="1899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90"/>
          <p:cNvSpPr txBox="1"/>
          <p:nvPr>
            <p:ph idx="1" type="body"/>
          </p:nvPr>
        </p:nvSpPr>
        <p:spPr>
          <a:xfrm>
            <a:off x="324000" y="638814"/>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Here are three slightly different subtractions.</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219" name="Google Shape;1219;p9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Addition and subtraction of decimals</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3\ 7\ .\ 4\\&amp;#13;&amp;#10;2\ \ \ \ .\ 3\\&amp;#13;&amp;#10;\ \ \ 0\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3&lt;/mn&gt;&lt;/mtd&gt;&lt;/mtr&gt;&lt;mtr&gt;&lt;mtd&gt;&lt;mtext&gt;&lt;/mtext&gt;&lt;mtext&gt;&lt;/mtext&gt;&lt;mtext&gt;&lt;/mtext&gt;&lt;mn&gt;0&lt;/mn&gt;&lt;mtext&gt;&lt;/mtext&gt;&lt;mo&gt;.&lt;/mo&gt;&lt;mtext&gt;&lt;/mtext&gt;&lt;/mtd&gt;&lt;/mtr&gt;&lt;/mtable&gt;&lt;/math&gt;" id="1220" name="Google Shape;1220;p90" title="3 lines Line 1: 3 7 period 4 Line 2: 2 period 3 Line 3: 0 period"/>
          <p:cNvPicPr preferRelativeResize="0"/>
          <p:nvPr/>
        </p:nvPicPr>
        <p:blipFill>
          <a:blip r:embed="rId3">
            <a:alphaModFix/>
          </a:blip>
          <a:stretch>
            <a:fillRect/>
          </a:stretch>
        </p:blipFill>
        <p:spPr>
          <a:xfrm>
            <a:off x="1228050" y="948782"/>
            <a:ext cx="730879" cy="973172"/>
          </a:xfrm>
          <a:prstGeom prst="rect">
            <a:avLst/>
          </a:prstGeom>
          <a:noFill/>
          <a:ln>
            <a:noFill/>
          </a:ln>
        </p:spPr>
      </p:pic>
      <p:pic>
        <p:nvPicPr>
          <p:cNvPr descr="&lt;math xmlns=&quot;http://www.w3.org/1998/Math/MathML&quot; display=&quot;block&quot; data-is-equatio=&quot;1&quot; data-latex=&quot;\begin{array}{l}3\ 7\ .\ 4\\&amp;#13;&amp;#10;2\ \ \ \ .\ 5\\&amp;#13;&amp;#10;\ \ \ 0\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5&lt;/mn&gt;&lt;/mtd&gt;&lt;/mtr&gt;&lt;mtr&gt;&lt;mtd&gt;&lt;mtext&gt;&lt;/mtext&gt;&lt;mtext&gt;&lt;/mtext&gt;&lt;mtext&gt;&lt;/mtext&gt;&lt;mn&gt;0&lt;/mn&gt;&lt;mtext&gt;&lt;/mtext&gt;&lt;mo&gt;.&lt;/mo&gt;&lt;mtext&gt;&lt;/mtext&gt;&lt;/mtd&gt;&lt;/mtr&gt;&lt;/mtable&gt;&lt;/math&gt;" id="1221" name="Google Shape;1221;p90" title="3 lines Line 1: 3 7 period 4 Line 2: 2 period 5 Line 3: 0 period"/>
          <p:cNvPicPr preferRelativeResize="0"/>
          <p:nvPr/>
        </p:nvPicPr>
        <p:blipFill>
          <a:blip r:embed="rId4">
            <a:alphaModFix/>
          </a:blip>
          <a:stretch>
            <a:fillRect/>
          </a:stretch>
        </p:blipFill>
        <p:spPr>
          <a:xfrm>
            <a:off x="4018878" y="948781"/>
            <a:ext cx="730879" cy="973172"/>
          </a:xfrm>
          <a:prstGeom prst="rect">
            <a:avLst/>
          </a:prstGeom>
          <a:noFill/>
          <a:ln>
            <a:noFill/>
          </a:ln>
        </p:spPr>
      </p:pic>
      <p:pic>
        <p:nvPicPr>
          <p:cNvPr descr="&lt;math xmlns=&quot;http://www.w3.org/1998/Math/MathML&quot; display=&quot;block&quot; data-is-equatio=&quot;1&quot; data-latex=&quot;\begin{array}{l}3\ 7\ .\ 4\\&amp;#13;&amp;#10;2\ \ \ \ .\ 5\\&amp;#13;&amp;#10;\ \ \ 8\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5&lt;/mn&gt;&lt;/mtd&gt;&lt;/mtr&gt;&lt;mtr&gt;&lt;mtd&gt;&lt;mtext&gt;&lt;/mtext&gt;&lt;mtext&gt;&lt;/mtext&gt;&lt;mtext&gt;&lt;/mtext&gt;&lt;mn&gt;8&lt;/mn&gt;&lt;mtext&gt;&lt;/mtext&gt;&lt;mo&gt;.&lt;/mo&gt;&lt;mtext&gt;&lt;/mtext&gt;&lt;/mtd&gt;&lt;/mtr&gt;&lt;/mtable&gt;&lt;/math&gt;" id="1222" name="Google Shape;1222;p90" title="3 lines Line 1: 3 7 period 4 Line 2: 2 period 5 Line 3: 8 period"/>
          <p:cNvPicPr preferRelativeResize="0"/>
          <p:nvPr/>
        </p:nvPicPr>
        <p:blipFill>
          <a:blip r:embed="rId5">
            <a:alphaModFix/>
          </a:blip>
          <a:stretch>
            <a:fillRect/>
          </a:stretch>
        </p:blipFill>
        <p:spPr>
          <a:xfrm>
            <a:off x="6744046" y="948780"/>
            <a:ext cx="730879" cy="973172"/>
          </a:xfrm>
          <a:prstGeom prst="rect">
            <a:avLst/>
          </a:prstGeom>
          <a:noFill/>
          <a:ln>
            <a:noFill/>
          </a:ln>
        </p:spPr>
      </p:pic>
      <p:sp>
        <p:nvSpPr>
          <p:cNvPr id="1223" name="Google Shape;1223;p90"/>
          <p:cNvSpPr txBox="1"/>
          <p:nvPr/>
        </p:nvSpPr>
        <p:spPr>
          <a:xfrm>
            <a:off x="95753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224" name="Google Shape;1224;p90"/>
          <p:cNvCxnSpPr/>
          <p:nvPr/>
        </p:nvCxnSpPr>
        <p:spPr>
          <a:xfrm>
            <a:off x="815050"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25" name="Google Shape;1225;p90"/>
          <p:cNvCxnSpPr/>
          <p:nvPr/>
        </p:nvCxnSpPr>
        <p:spPr>
          <a:xfrm>
            <a:off x="815050"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26" name="Google Shape;1226;p90"/>
          <p:cNvSpPr txBox="1"/>
          <p:nvPr/>
        </p:nvSpPr>
        <p:spPr>
          <a:xfrm>
            <a:off x="377840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sp>
        <p:nvSpPr>
          <p:cNvPr id="1227" name="Google Shape;1227;p90"/>
          <p:cNvSpPr txBox="1"/>
          <p:nvPr/>
        </p:nvSpPr>
        <p:spPr>
          <a:xfrm>
            <a:off x="654155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228" name="Google Shape;1228;p90"/>
          <p:cNvCxnSpPr/>
          <p:nvPr/>
        </p:nvCxnSpPr>
        <p:spPr>
          <a:xfrm>
            <a:off x="3800675"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29" name="Google Shape;1229;p90"/>
          <p:cNvCxnSpPr/>
          <p:nvPr/>
        </p:nvCxnSpPr>
        <p:spPr>
          <a:xfrm>
            <a:off x="3800675"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30" name="Google Shape;1230;p90"/>
          <p:cNvSpPr txBox="1"/>
          <p:nvPr/>
        </p:nvSpPr>
        <p:spPr>
          <a:xfrm>
            <a:off x="324000" y="2365875"/>
            <a:ext cx="8496000" cy="1998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Without calculating, explain why the following statements are false.</a:t>
            </a:r>
            <a:endParaRPr sz="1800">
              <a:solidFill>
                <a:schemeClr val="dk1"/>
              </a:solidFill>
              <a:latin typeface="Lexend"/>
              <a:ea typeface="Lexend"/>
              <a:cs typeface="Lexend"/>
              <a:sym typeface="Lexend"/>
            </a:endParaRPr>
          </a:p>
          <a:p>
            <a:pPr indent="-342900" lvl="0" marL="457200" rtl="0" algn="l">
              <a:lnSpc>
                <a:spcPct val="115000"/>
              </a:lnSpc>
              <a:spcBef>
                <a:spcPts val="100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1 in each calculation as the tenths digits are one apart.</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7 in both cases as the difference is 0.  </a:t>
            </a:r>
            <a:endParaRPr sz="1800">
              <a:solidFill>
                <a:schemeClr val="dk1"/>
              </a:solidFill>
              <a:latin typeface="Kalam"/>
              <a:ea typeface="Kalam"/>
              <a:cs typeface="Kalam"/>
              <a:sym typeface="Kalam"/>
            </a:endParaRPr>
          </a:p>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1 in all three calculations as 3 - 2 = 1  </a:t>
            </a:r>
            <a:endParaRPr sz="1800">
              <a:solidFill>
                <a:schemeClr val="dk1"/>
              </a:solidFill>
              <a:latin typeface="Kalam"/>
              <a:ea typeface="Kalam"/>
              <a:cs typeface="Kalam"/>
              <a:sym typeface="Kalam"/>
            </a:endParaRPr>
          </a:p>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Find the missing digits.</a:t>
            </a:r>
            <a:endParaRPr sz="1800">
              <a:latin typeface="Lexend"/>
              <a:ea typeface="Lexend"/>
              <a:cs typeface="Lexend"/>
              <a:sym typeface="Lexend"/>
            </a:endParaRPr>
          </a:p>
        </p:txBody>
      </p:sp>
      <p:cxnSp>
        <p:nvCxnSpPr>
          <p:cNvPr id="1231" name="Google Shape;1231;p90"/>
          <p:cNvCxnSpPr/>
          <p:nvPr/>
        </p:nvCxnSpPr>
        <p:spPr>
          <a:xfrm>
            <a:off x="6620825"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32" name="Google Shape;1232;p90"/>
          <p:cNvCxnSpPr/>
          <p:nvPr/>
        </p:nvCxnSpPr>
        <p:spPr>
          <a:xfrm>
            <a:off x="6620825"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33" name="Google Shape;1233;p90"/>
          <p:cNvSpPr/>
          <p:nvPr/>
        </p:nvSpPr>
        <p:spPr>
          <a:xfrm>
            <a:off x="1743475" y="1670330"/>
            <a:ext cx="252300" cy="337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90"/>
          <p:cNvSpPr/>
          <p:nvPr/>
        </p:nvSpPr>
        <p:spPr>
          <a:xfrm>
            <a:off x="4600820" y="1670330"/>
            <a:ext cx="252300" cy="337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5" name="Google Shape;1235;p90"/>
          <p:cNvSpPr/>
          <p:nvPr/>
        </p:nvSpPr>
        <p:spPr>
          <a:xfrm>
            <a:off x="7314895" y="1670330"/>
            <a:ext cx="252300" cy="337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6" name="Google Shape;1236;p90"/>
          <p:cNvSpPr/>
          <p:nvPr/>
        </p:nvSpPr>
        <p:spPr>
          <a:xfrm>
            <a:off x="2546331" y="2697286"/>
            <a:ext cx="252300" cy="337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7" name="Google Shape;1237;p90"/>
          <p:cNvSpPr/>
          <p:nvPr/>
        </p:nvSpPr>
        <p:spPr>
          <a:xfrm>
            <a:off x="2536946" y="3354722"/>
            <a:ext cx="276300" cy="3177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8" name="Google Shape;1238;p90"/>
          <p:cNvSpPr/>
          <p:nvPr/>
        </p:nvSpPr>
        <p:spPr>
          <a:xfrm>
            <a:off x="1375510" y="1254830"/>
            <a:ext cx="276300" cy="3177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9" name="Google Shape;1239;p90"/>
          <p:cNvSpPr/>
          <p:nvPr/>
        </p:nvSpPr>
        <p:spPr>
          <a:xfrm>
            <a:off x="4163032" y="1254830"/>
            <a:ext cx="276300" cy="3177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0" name="Google Shape;1240;p90"/>
          <p:cNvSpPr/>
          <p:nvPr/>
        </p:nvSpPr>
        <p:spPr>
          <a:xfrm>
            <a:off x="1032820" y="1652880"/>
            <a:ext cx="370800" cy="338700"/>
          </a:xfrm>
          <a:prstGeom prst="star5">
            <a:avLst>
              <a:gd fmla="val 19098" name="adj"/>
              <a:gd fmla="val 105146" name="hf"/>
              <a:gd fmla="val 110557" name="vf"/>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1" name="Google Shape;1241;p90"/>
          <p:cNvSpPr/>
          <p:nvPr/>
        </p:nvSpPr>
        <p:spPr>
          <a:xfrm>
            <a:off x="2480470" y="3700347"/>
            <a:ext cx="370800" cy="338700"/>
          </a:xfrm>
          <a:prstGeom prst="star5">
            <a:avLst>
              <a:gd fmla="val 19098" name="adj"/>
              <a:gd fmla="val 105146" name="hf"/>
              <a:gd fmla="val 110557" name="vf"/>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2" name="Google Shape;1242;p90"/>
          <p:cNvSpPr/>
          <p:nvPr/>
        </p:nvSpPr>
        <p:spPr>
          <a:xfrm>
            <a:off x="3820741" y="1669580"/>
            <a:ext cx="370800" cy="338700"/>
          </a:xfrm>
          <a:prstGeom prst="star5">
            <a:avLst>
              <a:gd fmla="val 19098" name="adj"/>
              <a:gd fmla="val 105146" name="hf"/>
              <a:gd fmla="val 110557" name="vf"/>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3" name="Google Shape;1243;p90"/>
          <p:cNvSpPr/>
          <p:nvPr/>
        </p:nvSpPr>
        <p:spPr>
          <a:xfrm>
            <a:off x="6560992" y="1669580"/>
            <a:ext cx="370800" cy="338700"/>
          </a:xfrm>
          <a:prstGeom prst="star5">
            <a:avLst>
              <a:gd fmla="val 19098" name="adj"/>
              <a:gd fmla="val 105146" name="hf"/>
              <a:gd fmla="val 110557" name="vf"/>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4" name="Google Shape;1244;p90"/>
          <p:cNvSpPr/>
          <p:nvPr/>
        </p:nvSpPr>
        <p:spPr>
          <a:xfrm>
            <a:off x="6944445" y="1260171"/>
            <a:ext cx="206700" cy="3177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5" name="Google Shape;1245;p90"/>
          <p:cNvSpPr txBox="1"/>
          <p:nvPr/>
        </p:nvSpPr>
        <p:spPr>
          <a:xfrm>
            <a:off x="486525"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246" name="Google Shape;1246;p90"/>
          <p:cNvSpPr txBox="1"/>
          <p:nvPr/>
        </p:nvSpPr>
        <p:spPr>
          <a:xfrm>
            <a:off x="3407600"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247" name="Google Shape;1247;p90"/>
          <p:cNvSpPr txBox="1"/>
          <p:nvPr/>
        </p:nvSpPr>
        <p:spPr>
          <a:xfrm>
            <a:off x="6071400"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pic>
        <p:nvPicPr>
          <p:cNvPr id="1252" name="Google Shape;1252;p91"/>
          <p:cNvPicPr preferRelativeResize="0"/>
          <p:nvPr/>
        </p:nvPicPr>
        <p:blipFill rotWithShape="1">
          <a:blip r:embed="rId3">
            <a:alphaModFix/>
          </a:blip>
          <a:srcRect b="43690" l="0" r="57905" t="0"/>
          <a:stretch/>
        </p:blipFill>
        <p:spPr>
          <a:xfrm>
            <a:off x="6034400" y="2456525"/>
            <a:ext cx="1648251" cy="1144850"/>
          </a:xfrm>
          <a:prstGeom prst="rect">
            <a:avLst/>
          </a:prstGeom>
          <a:noFill/>
          <a:ln>
            <a:noFill/>
          </a:ln>
        </p:spPr>
      </p:pic>
      <p:pic>
        <p:nvPicPr>
          <p:cNvPr id="1253" name="Google Shape;1253;p91"/>
          <p:cNvPicPr preferRelativeResize="0"/>
          <p:nvPr/>
        </p:nvPicPr>
        <p:blipFill rotWithShape="1">
          <a:blip r:embed="rId3">
            <a:alphaModFix/>
          </a:blip>
          <a:srcRect b="43690" l="0" r="57905" t="0"/>
          <a:stretch/>
        </p:blipFill>
        <p:spPr>
          <a:xfrm flipH="1">
            <a:off x="1294627" y="2648125"/>
            <a:ext cx="1994573" cy="957299"/>
          </a:xfrm>
          <a:prstGeom prst="rect">
            <a:avLst/>
          </a:prstGeom>
          <a:noFill/>
          <a:ln>
            <a:noFill/>
          </a:ln>
        </p:spPr>
      </p:pic>
      <p:sp>
        <p:nvSpPr>
          <p:cNvPr id="1254" name="Google Shape;1254;p91"/>
          <p:cNvSpPr txBox="1"/>
          <p:nvPr>
            <p:ph idx="1" type="body"/>
          </p:nvPr>
        </p:nvSpPr>
        <p:spPr>
          <a:xfrm>
            <a:off x="324000" y="759300"/>
            <a:ext cx="8237700" cy="11445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Sofia and Andeep record how far they kick a football.</a:t>
            </a:r>
            <a:endParaRPr/>
          </a:p>
          <a:p>
            <a:pPr indent="-368300" lvl="0" marL="457200" rtl="0" algn="l">
              <a:spcBef>
                <a:spcPts val="0"/>
              </a:spcBef>
              <a:spcAft>
                <a:spcPts val="0"/>
              </a:spcAft>
              <a:buSzPts val="2200"/>
              <a:buAutoNum type="alphaLcParenR"/>
            </a:pPr>
            <a:r>
              <a:rPr lang="en-GB"/>
              <a:t>What is the total distance? </a:t>
            </a:r>
            <a:r>
              <a:rPr lang="en-GB">
                <a:latin typeface="Kalam"/>
                <a:ea typeface="Kalam"/>
                <a:cs typeface="Kalam"/>
                <a:sym typeface="Kalam"/>
              </a:rPr>
              <a:t>22.53 metres</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How</a:t>
            </a:r>
            <a:r>
              <a:rPr lang="en-GB"/>
              <a:t> much further did Sofia kick the ball?  </a:t>
            </a:r>
            <a:r>
              <a:rPr lang="en-GB">
                <a:latin typeface="Kalam"/>
                <a:ea typeface="Kalam"/>
                <a:cs typeface="Kalam"/>
                <a:sym typeface="Kalam"/>
              </a:rPr>
              <a:t>2.93 metres</a:t>
            </a:r>
            <a:endParaRPr>
              <a:latin typeface="Kalam"/>
              <a:ea typeface="Kalam"/>
              <a:cs typeface="Kalam"/>
              <a:sym typeface="Kalam"/>
            </a:endParaRPr>
          </a:p>
        </p:txBody>
      </p:sp>
      <p:sp>
        <p:nvSpPr>
          <p:cNvPr id="1255" name="Google Shape;1255;p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Addition and subtraction of decimals</a:t>
            </a:r>
            <a:endParaRPr/>
          </a:p>
          <a:p>
            <a:pPr indent="0" lvl="0" marL="0" rtl="0" algn="l">
              <a:spcBef>
                <a:spcPts val="1000"/>
              </a:spcBef>
              <a:spcAft>
                <a:spcPts val="1000"/>
              </a:spcAft>
              <a:buNone/>
            </a:pPr>
            <a:r>
              <a:t/>
            </a:r>
            <a:endParaRPr/>
          </a:p>
        </p:txBody>
      </p:sp>
      <p:pic>
        <p:nvPicPr>
          <p:cNvPr id="1256" name="Google Shape;1256;p91"/>
          <p:cNvPicPr preferRelativeResize="0"/>
          <p:nvPr/>
        </p:nvPicPr>
        <p:blipFill rotWithShape="1">
          <a:blip r:embed="rId4">
            <a:alphaModFix/>
          </a:blip>
          <a:srcRect b="1661" l="0" r="50804" t="0"/>
          <a:stretch/>
        </p:blipFill>
        <p:spPr>
          <a:xfrm>
            <a:off x="7922311" y="759300"/>
            <a:ext cx="892774" cy="895075"/>
          </a:xfrm>
          <a:prstGeom prst="rect">
            <a:avLst/>
          </a:prstGeom>
          <a:noFill/>
          <a:ln>
            <a:noFill/>
          </a:ln>
        </p:spPr>
      </p:pic>
      <p:sp>
        <p:nvSpPr>
          <p:cNvPr id="1257" name="Google Shape;1257;p91"/>
          <p:cNvSpPr txBox="1"/>
          <p:nvPr>
            <p:ph idx="1" type="body"/>
          </p:nvPr>
        </p:nvSpPr>
        <p:spPr>
          <a:xfrm>
            <a:off x="1503625" y="2710500"/>
            <a:ext cx="17856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kicked it 12.73 metres.</a:t>
            </a:r>
            <a:endParaRPr/>
          </a:p>
        </p:txBody>
      </p:sp>
      <p:sp>
        <p:nvSpPr>
          <p:cNvPr id="1258" name="Google Shape;1258;p91"/>
          <p:cNvSpPr txBox="1"/>
          <p:nvPr>
            <p:ph idx="1" type="body"/>
          </p:nvPr>
        </p:nvSpPr>
        <p:spPr>
          <a:xfrm>
            <a:off x="6119400" y="2559100"/>
            <a:ext cx="17988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kicked it </a:t>
            </a:r>
            <a:r>
              <a:rPr lang="en-GB"/>
              <a:t>9.8 metres.</a:t>
            </a:r>
            <a:endParaRPr/>
          </a:p>
        </p:txBody>
      </p:sp>
      <p:pic>
        <p:nvPicPr>
          <p:cNvPr id="1259" name="Google Shape;1259;p91"/>
          <p:cNvPicPr preferRelativeResize="0"/>
          <p:nvPr/>
        </p:nvPicPr>
        <p:blipFill>
          <a:blip r:embed="rId5">
            <a:alphaModFix/>
          </a:blip>
          <a:stretch>
            <a:fillRect/>
          </a:stretch>
        </p:blipFill>
        <p:spPr>
          <a:xfrm>
            <a:off x="324000" y="3156400"/>
            <a:ext cx="970618" cy="1081591"/>
          </a:xfrm>
          <a:prstGeom prst="rect">
            <a:avLst/>
          </a:prstGeom>
          <a:noFill/>
          <a:ln>
            <a:noFill/>
          </a:ln>
        </p:spPr>
      </p:pic>
      <p:pic>
        <p:nvPicPr>
          <p:cNvPr id="1260" name="Google Shape;1260;p91"/>
          <p:cNvPicPr preferRelativeResize="0"/>
          <p:nvPr/>
        </p:nvPicPr>
        <p:blipFill>
          <a:blip r:embed="rId6">
            <a:alphaModFix/>
          </a:blip>
          <a:stretch>
            <a:fillRect/>
          </a:stretch>
        </p:blipFill>
        <p:spPr>
          <a:xfrm>
            <a:off x="7981214" y="3156408"/>
            <a:ext cx="838786" cy="108159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pic>
        <p:nvPicPr>
          <p:cNvPr id="1265" name="Google Shape;1265;p92"/>
          <p:cNvPicPr preferRelativeResize="0"/>
          <p:nvPr/>
        </p:nvPicPr>
        <p:blipFill rotWithShape="1">
          <a:blip r:embed="rId3">
            <a:alphaModFix/>
          </a:blip>
          <a:srcRect b="43690" l="0" r="57905" t="0"/>
          <a:stretch/>
        </p:blipFill>
        <p:spPr>
          <a:xfrm>
            <a:off x="5414650" y="2380325"/>
            <a:ext cx="2549601" cy="957299"/>
          </a:xfrm>
          <a:prstGeom prst="rect">
            <a:avLst/>
          </a:prstGeom>
          <a:noFill/>
          <a:ln>
            <a:noFill/>
          </a:ln>
        </p:spPr>
      </p:pic>
      <p:pic>
        <p:nvPicPr>
          <p:cNvPr id="1266" name="Google Shape;1266;p92"/>
          <p:cNvPicPr preferRelativeResize="0"/>
          <p:nvPr/>
        </p:nvPicPr>
        <p:blipFill rotWithShape="1">
          <a:blip r:embed="rId3">
            <a:alphaModFix/>
          </a:blip>
          <a:srcRect b="43690" l="0" r="57905" t="0"/>
          <a:stretch/>
        </p:blipFill>
        <p:spPr>
          <a:xfrm>
            <a:off x="3147050" y="2438400"/>
            <a:ext cx="1648251" cy="819100"/>
          </a:xfrm>
          <a:prstGeom prst="rect">
            <a:avLst/>
          </a:prstGeom>
          <a:noFill/>
          <a:ln>
            <a:noFill/>
          </a:ln>
        </p:spPr>
      </p:pic>
      <p:pic>
        <p:nvPicPr>
          <p:cNvPr id="1267" name="Google Shape;1267;p92"/>
          <p:cNvPicPr preferRelativeResize="0"/>
          <p:nvPr/>
        </p:nvPicPr>
        <p:blipFill rotWithShape="1">
          <a:blip r:embed="rId3">
            <a:alphaModFix/>
          </a:blip>
          <a:srcRect b="43690" l="0" r="57905" t="0"/>
          <a:stretch/>
        </p:blipFill>
        <p:spPr>
          <a:xfrm flipH="1">
            <a:off x="1332575" y="2414025"/>
            <a:ext cx="1602350" cy="957299"/>
          </a:xfrm>
          <a:prstGeom prst="rect">
            <a:avLst/>
          </a:prstGeom>
          <a:noFill/>
          <a:ln>
            <a:noFill/>
          </a:ln>
        </p:spPr>
      </p:pic>
      <p:sp>
        <p:nvSpPr>
          <p:cNvPr id="1268" name="Google Shape;1268;p92"/>
          <p:cNvSpPr txBox="1"/>
          <p:nvPr>
            <p:ph idx="1" type="body"/>
          </p:nvPr>
        </p:nvSpPr>
        <p:spPr>
          <a:xfrm>
            <a:off x="372650" y="759300"/>
            <a:ext cx="8447400" cy="162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Lucas, Aisha and Jun</a:t>
            </a:r>
            <a:r>
              <a:rPr lang="en-GB"/>
              <a:t> record how long they can bounce a basketball for.</a:t>
            </a:r>
            <a:endParaRPr/>
          </a:p>
          <a:p>
            <a:pPr indent="-368300" lvl="0" marL="457200" rtl="0" algn="l">
              <a:spcBef>
                <a:spcPts val="1000"/>
              </a:spcBef>
              <a:spcAft>
                <a:spcPts val="0"/>
              </a:spcAft>
              <a:buSzPts val="2200"/>
              <a:buAutoNum type="alphaLcParenR"/>
            </a:pPr>
            <a:r>
              <a:rPr lang="en-GB"/>
              <a:t>What is the total time?  </a:t>
            </a:r>
            <a:r>
              <a:rPr lang="en-GB">
                <a:latin typeface="Kalam"/>
                <a:ea typeface="Kalam"/>
                <a:cs typeface="Kalam"/>
                <a:sym typeface="Kalam"/>
              </a:rPr>
              <a:t>91.92 seconds</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How much longer did Lucas manage than Jun? </a:t>
            </a:r>
            <a:r>
              <a:rPr lang="en-GB">
                <a:latin typeface="Kalam"/>
                <a:ea typeface="Kalam"/>
                <a:cs typeface="Kalam"/>
                <a:sym typeface="Kalam"/>
              </a:rPr>
              <a:t>7.73 seconds</a:t>
            </a:r>
            <a:endParaRPr>
              <a:latin typeface="Kalam"/>
              <a:ea typeface="Kalam"/>
              <a:cs typeface="Kalam"/>
              <a:sym typeface="Kalam"/>
            </a:endParaRPr>
          </a:p>
        </p:txBody>
      </p:sp>
      <p:sp>
        <p:nvSpPr>
          <p:cNvPr id="1269" name="Google Shape;1269;p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Addition and subtraction of decimals</a:t>
            </a:r>
            <a:endParaRPr/>
          </a:p>
        </p:txBody>
      </p:sp>
      <p:sp>
        <p:nvSpPr>
          <p:cNvPr id="1270" name="Google Shape;1270;p92"/>
          <p:cNvSpPr txBox="1"/>
          <p:nvPr>
            <p:ph idx="1" type="body"/>
          </p:nvPr>
        </p:nvSpPr>
        <p:spPr>
          <a:xfrm>
            <a:off x="1541825" y="2440600"/>
            <a:ext cx="15066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did </a:t>
            </a:r>
            <a:r>
              <a:rPr lang="en-GB"/>
              <a:t>35.6 seconds.</a:t>
            </a:r>
            <a:endParaRPr/>
          </a:p>
        </p:txBody>
      </p:sp>
      <p:sp>
        <p:nvSpPr>
          <p:cNvPr id="1271" name="Google Shape;1271;p92"/>
          <p:cNvSpPr txBox="1"/>
          <p:nvPr>
            <p:ph idx="1" type="body"/>
          </p:nvPr>
        </p:nvSpPr>
        <p:spPr>
          <a:xfrm>
            <a:off x="3223400" y="2414025"/>
            <a:ext cx="1474200" cy="74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did </a:t>
            </a:r>
            <a:r>
              <a:rPr lang="en-GB"/>
              <a:t>28.45 seconds. </a:t>
            </a:r>
            <a:endParaRPr/>
          </a:p>
        </p:txBody>
      </p:sp>
      <p:pic>
        <p:nvPicPr>
          <p:cNvPr id="1272" name="Google Shape;1272;p92"/>
          <p:cNvPicPr preferRelativeResize="0"/>
          <p:nvPr/>
        </p:nvPicPr>
        <p:blipFill>
          <a:blip r:embed="rId4">
            <a:alphaModFix/>
          </a:blip>
          <a:stretch>
            <a:fillRect/>
          </a:stretch>
        </p:blipFill>
        <p:spPr>
          <a:xfrm>
            <a:off x="7788600" y="841050"/>
            <a:ext cx="1183798" cy="1183802"/>
          </a:xfrm>
          <a:prstGeom prst="rect">
            <a:avLst/>
          </a:prstGeom>
          <a:noFill/>
          <a:ln>
            <a:noFill/>
          </a:ln>
        </p:spPr>
      </p:pic>
      <p:sp>
        <p:nvSpPr>
          <p:cNvPr id="1273" name="Google Shape;1273;p92"/>
          <p:cNvSpPr txBox="1"/>
          <p:nvPr>
            <p:ph idx="1" type="body"/>
          </p:nvPr>
        </p:nvSpPr>
        <p:spPr>
          <a:xfrm>
            <a:off x="5468600" y="2430425"/>
            <a:ext cx="2324700" cy="114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And, I managed 27.87 </a:t>
            </a:r>
            <a:r>
              <a:rPr lang="en-GB"/>
              <a:t>seconds. </a:t>
            </a:r>
            <a:endParaRPr/>
          </a:p>
        </p:txBody>
      </p:sp>
      <p:pic>
        <p:nvPicPr>
          <p:cNvPr id="1274" name="Google Shape;1274;p92"/>
          <p:cNvPicPr preferRelativeResize="0"/>
          <p:nvPr/>
        </p:nvPicPr>
        <p:blipFill>
          <a:blip r:embed="rId5">
            <a:alphaModFix/>
          </a:blip>
          <a:stretch>
            <a:fillRect/>
          </a:stretch>
        </p:blipFill>
        <p:spPr>
          <a:xfrm>
            <a:off x="350600" y="2810775"/>
            <a:ext cx="1830391" cy="2009616"/>
          </a:xfrm>
          <a:prstGeom prst="rect">
            <a:avLst/>
          </a:prstGeom>
          <a:noFill/>
          <a:ln>
            <a:noFill/>
          </a:ln>
        </p:spPr>
      </p:pic>
      <p:pic>
        <p:nvPicPr>
          <p:cNvPr id="1275" name="Google Shape;1275;p92"/>
          <p:cNvPicPr preferRelativeResize="0"/>
          <p:nvPr/>
        </p:nvPicPr>
        <p:blipFill>
          <a:blip r:embed="rId6">
            <a:alphaModFix/>
          </a:blip>
          <a:stretch>
            <a:fillRect/>
          </a:stretch>
        </p:blipFill>
        <p:spPr>
          <a:xfrm>
            <a:off x="4810425" y="2992170"/>
            <a:ext cx="499900" cy="1828229"/>
          </a:xfrm>
          <a:prstGeom prst="rect">
            <a:avLst/>
          </a:prstGeom>
          <a:noFill/>
          <a:ln>
            <a:noFill/>
          </a:ln>
        </p:spPr>
      </p:pic>
      <p:pic>
        <p:nvPicPr>
          <p:cNvPr id="1276" name="Google Shape;1276;p92"/>
          <p:cNvPicPr preferRelativeResize="0"/>
          <p:nvPr/>
        </p:nvPicPr>
        <p:blipFill>
          <a:blip r:embed="rId7">
            <a:alphaModFix/>
          </a:blip>
          <a:stretch>
            <a:fillRect/>
          </a:stretch>
        </p:blipFill>
        <p:spPr>
          <a:xfrm>
            <a:off x="7723876" y="2921177"/>
            <a:ext cx="736124" cy="1899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93"/>
          <p:cNvSpPr txBox="1"/>
          <p:nvPr>
            <p:ph idx="1" type="body"/>
          </p:nvPr>
        </p:nvSpPr>
        <p:spPr>
          <a:xfrm>
            <a:off x="324000" y="568941"/>
            <a:ext cx="5450400" cy="28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Here are three slightly different subtractions.</a:t>
            </a:r>
            <a:endParaRPr sz="1800"/>
          </a:p>
          <a:p>
            <a:pPr indent="0" lvl="0" marL="0" rtl="0" algn="l">
              <a:spcBef>
                <a:spcPts val="1000"/>
              </a:spcBef>
              <a:spcAft>
                <a:spcPts val="0"/>
              </a:spcAft>
              <a:buNone/>
            </a:pPr>
            <a:r>
              <a:t/>
            </a:r>
            <a:endParaRPr sz="1800"/>
          </a:p>
          <a:p>
            <a:pPr indent="0" lvl="0" marL="0" rtl="0" algn="l">
              <a:lnSpc>
                <a:spcPct val="100000"/>
              </a:lnSpc>
              <a:spcBef>
                <a:spcPts val="1000"/>
              </a:spcBef>
              <a:spcAft>
                <a:spcPts val="0"/>
              </a:spcAft>
              <a:buNone/>
            </a:pPr>
            <a:r>
              <a:t/>
            </a:r>
            <a:endParaRPr sz="2000">
              <a:solidFill>
                <a:srgbClr val="000000"/>
              </a:solidFill>
              <a:latin typeface="Kalam"/>
              <a:ea typeface="Kalam"/>
              <a:cs typeface="Kalam"/>
              <a:sym typeface="Kalam"/>
            </a:endParaRPr>
          </a:p>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282" name="Google Shape;1282;p9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Addition and subtraction of decimals</a:t>
            </a:r>
            <a:endParaRPr/>
          </a:p>
          <a:p>
            <a:pPr indent="0" lvl="0" marL="0" rtl="0" algn="l">
              <a:spcBef>
                <a:spcPts val="1000"/>
              </a:spcBef>
              <a:spcAft>
                <a:spcPts val="1000"/>
              </a:spcAft>
              <a:buNone/>
            </a:pPr>
            <a:r>
              <a:t/>
            </a:r>
            <a:endParaRPr/>
          </a:p>
        </p:txBody>
      </p:sp>
      <p:pic>
        <p:nvPicPr>
          <p:cNvPr descr="&lt;math xmlns=&quot;http://www.w3.org/1998/Math/MathML&quot; display=&quot;block&quot; data-is-equatio=&quot;1&quot; data-latex=&quot;\begin{array}{l}3\ 7\ .\ 4\\&amp;#13;&amp;#10;2\ \ \ \ .\ 3\\&amp;#13;&amp;#10;\ \ \ 0\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3&lt;/mn&gt;&lt;/mtd&gt;&lt;/mtr&gt;&lt;mtr&gt;&lt;mtd&gt;&lt;mtext&gt;&lt;/mtext&gt;&lt;mtext&gt;&lt;/mtext&gt;&lt;mtext&gt;&lt;/mtext&gt;&lt;mn&gt;0&lt;/mn&gt;&lt;mtext&gt;&lt;/mtext&gt;&lt;mo&gt;.&lt;/mo&gt;&lt;mtext&gt;&lt;/mtext&gt;&lt;/mtd&gt;&lt;/mtr&gt;&lt;/mtable&gt;&lt;/math&gt;" id="1283" name="Google Shape;1283;p93" title="3 lines Line 1: 3 7 period 4 Line 2: 2 period 3 Line 3: 0 period"/>
          <p:cNvPicPr preferRelativeResize="0"/>
          <p:nvPr/>
        </p:nvPicPr>
        <p:blipFill>
          <a:blip r:embed="rId3">
            <a:alphaModFix/>
          </a:blip>
          <a:stretch>
            <a:fillRect/>
          </a:stretch>
        </p:blipFill>
        <p:spPr>
          <a:xfrm>
            <a:off x="1228050" y="948782"/>
            <a:ext cx="730879" cy="973172"/>
          </a:xfrm>
          <a:prstGeom prst="rect">
            <a:avLst/>
          </a:prstGeom>
          <a:noFill/>
          <a:ln>
            <a:noFill/>
          </a:ln>
        </p:spPr>
      </p:pic>
      <p:pic>
        <p:nvPicPr>
          <p:cNvPr descr="&lt;math xmlns=&quot;http://www.w3.org/1998/Math/MathML&quot; display=&quot;block&quot; data-is-equatio=&quot;1&quot; data-latex=&quot;\begin{array}{l}3\ 7\ .\ 4\\&amp;#13;&amp;#10;2\ \ \ \ .\ 5\\&amp;#13;&amp;#10;\ \ \ 0\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5&lt;/mn&gt;&lt;/mtd&gt;&lt;/mtr&gt;&lt;mtr&gt;&lt;mtd&gt;&lt;mtext&gt;&lt;/mtext&gt;&lt;mtext&gt;&lt;/mtext&gt;&lt;mtext&gt;&lt;/mtext&gt;&lt;mn&gt;0&lt;/mn&gt;&lt;mtext&gt;&lt;/mtext&gt;&lt;mo&gt;.&lt;/mo&gt;&lt;mtext&gt;&lt;/mtext&gt;&lt;/mtd&gt;&lt;/mtr&gt;&lt;/mtable&gt;&lt;/math&gt;" id="1284" name="Google Shape;1284;p93" title="3 lines Line 1: 3 7 period 4 Line 2: 2 period 5 Line 3: 0 period"/>
          <p:cNvPicPr preferRelativeResize="0"/>
          <p:nvPr/>
        </p:nvPicPr>
        <p:blipFill>
          <a:blip r:embed="rId4">
            <a:alphaModFix/>
          </a:blip>
          <a:stretch>
            <a:fillRect/>
          </a:stretch>
        </p:blipFill>
        <p:spPr>
          <a:xfrm>
            <a:off x="4018878" y="948781"/>
            <a:ext cx="730879" cy="973172"/>
          </a:xfrm>
          <a:prstGeom prst="rect">
            <a:avLst/>
          </a:prstGeom>
          <a:noFill/>
          <a:ln>
            <a:noFill/>
          </a:ln>
        </p:spPr>
      </p:pic>
      <p:pic>
        <p:nvPicPr>
          <p:cNvPr descr="&lt;math xmlns=&quot;http://www.w3.org/1998/Math/MathML&quot; display=&quot;block&quot; data-is-equatio=&quot;1&quot; data-latex=&quot;\begin{array}{l}3\ 7\ .\ 4\\&amp;#13;&amp;#10;2\ \ \ \ .\ 5\\&amp;#13;&amp;#10;\ \ \ 8\ .\ \end{array}&quot;&gt;&lt;mtable columnalign=&quot;left&quot; columnspacing=&quot;1em&quot; rowspacing=&quot;4pt&quot;&gt;&lt;mtr&gt;&lt;mtd&gt;&lt;mn&gt;3&lt;/mn&gt;&lt;mtext&gt;&lt;/mtext&gt;&lt;mn&gt;7&lt;/mn&gt;&lt;mtext&gt;&lt;/mtext&gt;&lt;mo&gt;.&lt;/mo&gt;&lt;mtext&gt;&lt;/mtext&gt;&lt;mn&gt;4&lt;/mn&gt;&lt;/mtd&gt;&lt;/mtr&gt;&lt;mtr&gt;&lt;mtd&gt;&lt;mn&gt;2&lt;/mn&gt;&lt;mtext&gt;&lt;/mtext&gt;&lt;mtext&gt;&lt;/mtext&gt;&lt;mtext&gt;&lt;/mtext&gt;&lt;mtext&gt;&lt;/mtext&gt;&lt;mo&gt;.&lt;/mo&gt;&lt;mtext&gt;&lt;/mtext&gt;&lt;mn&gt;5&lt;/mn&gt;&lt;/mtd&gt;&lt;/mtr&gt;&lt;mtr&gt;&lt;mtd&gt;&lt;mtext&gt;&lt;/mtext&gt;&lt;mtext&gt;&lt;/mtext&gt;&lt;mtext&gt;&lt;/mtext&gt;&lt;mn&gt;8&lt;/mn&gt;&lt;mtext&gt;&lt;/mtext&gt;&lt;mo&gt;.&lt;/mo&gt;&lt;mtext&gt;&lt;/mtext&gt;&lt;/mtd&gt;&lt;/mtr&gt;&lt;/mtable&gt;&lt;/math&gt;" id="1285" name="Google Shape;1285;p93" title="3 lines Line 1: 3 7 period 4 Line 2: 2 period 5 Line 3: 8 period"/>
          <p:cNvPicPr preferRelativeResize="0"/>
          <p:nvPr/>
        </p:nvPicPr>
        <p:blipFill>
          <a:blip r:embed="rId5">
            <a:alphaModFix/>
          </a:blip>
          <a:stretch>
            <a:fillRect/>
          </a:stretch>
        </p:blipFill>
        <p:spPr>
          <a:xfrm>
            <a:off x="6744046" y="948780"/>
            <a:ext cx="730879" cy="973172"/>
          </a:xfrm>
          <a:prstGeom prst="rect">
            <a:avLst/>
          </a:prstGeom>
          <a:noFill/>
          <a:ln>
            <a:noFill/>
          </a:ln>
        </p:spPr>
      </p:pic>
      <p:sp>
        <p:nvSpPr>
          <p:cNvPr id="1286" name="Google Shape;1286;p93"/>
          <p:cNvSpPr txBox="1"/>
          <p:nvPr/>
        </p:nvSpPr>
        <p:spPr>
          <a:xfrm>
            <a:off x="95753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287" name="Google Shape;1287;p93"/>
          <p:cNvCxnSpPr/>
          <p:nvPr/>
        </p:nvCxnSpPr>
        <p:spPr>
          <a:xfrm>
            <a:off x="815050"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88" name="Google Shape;1288;p93"/>
          <p:cNvCxnSpPr/>
          <p:nvPr/>
        </p:nvCxnSpPr>
        <p:spPr>
          <a:xfrm>
            <a:off x="815050"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89" name="Google Shape;1289;p93"/>
          <p:cNvSpPr txBox="1"/>
          <p:nvPr/>
        </p:nvSpPr>
        <p:spPr>
          <a:xfrm>
            <a:off x="377840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sp>
        <p:nvSpPr>
          <p:cNvPr id="1290" name="Google Shape;1290;p93"/>
          <p:cNvSpPr txBox="1"/>
          <p:nvPr/>
        </p:nvSpPr>
        <p:spPr>
          <a:xfrm>
            <a:off x="6541554" y="1294950"/>
            <a:ext cx="206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t>
            </a:r>
            <a:endParaRPr sz="2200">
              <a:latin typeface="Lexend"/>
              <a:ea typeface="Lexend"/>
              <a:cs typeface="Lexend"/>
              <a:sym typeface="Lexend"/>
            </a:endParaRPr>
          </a:p>
        </p:txBody>
      </p:sp>
      <p:cxnSp>
        <p:nvCxnSpPr>
          <p:cNvPr id="1291" name="Google Shape;1291;p93"/>
          <p:cNvCxnSpPr/>
          <p:nvPr/>
        </p:nvCxnSpPr>
        <p:spPr>
          <a:xfrm>
            <a:off x="3800675"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92" name="Google Shape;1292;p93"/>
          <p:cNvCxnSpPr/>
          <p:nvPr/>
        </p:nvCxnSpPr>
        <p:spPr>
          <a:xfrm>
            <a:off x="3800675"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93" name="Google Shape;1293;p93"/>
          <p:cNvSpPr txBox="1"/>
          <p:nvPr/>
        </p:nvSpPr>
        <p:spPr>
          <a:xfrm>
            <a:off x="324000" y="2160000"/>
            <a:ext cx="8496000" cy="2683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Without calculating, explain why the following statements are false.</a:t>
            </a:r>
            <a:endParaRPr sz="1800">
              <a:solidFill>
                <a:schemeClr val="dk1"/>
              </a:solidFill>
              <a:latin typeface="Lexend"/>
              <a:ea typeface="Lexend"/>
              <a:cs typeface="Lexend"/>
              <a:sym typeface="Lexend"/>
            </a:endParaRPr>
          </a:p>
          <a:p>
            <a:pPr indent="-342900" lvl="0" marL="457200" rtl="0" algn="l">
              <a:lnSpc>
                <a:spcPct val="100000"/>
              </a:lnSpc>
              <a:spcBef>
                <a:spcPts val="100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1 in each calculation as the tenths digits are one apart.</a:t>
            </a:r>
            <a:r>
              <a:rPr lang="en-GB" sz="1800">
                <a:solidFill>
                  <a:schemeClr val="dk1"/>
                </a:solidFill>
                <a:latin typeface="Kalam"/>
                <a:ea typeface="Kalam"/>
                <a:cs typeface="Kalam"/>
                <a:sym typeface="Kalam"/>
              </a:rPr>
              <a:t>  True for a but not b &amp; c, as we subtract the bottom digit from the top</a:t>
            </a:r>
            <a:endParaRPr sz="1800">
              <a:solidFill>
                <a:schemeClr val="dk1"/>
              </a:solidFill>
              <a:latin typeface="Kalam"/>
              <a:ea typeface="Kalam"/>
              <a:cs typeface="Kalam"/>
              <a:sym typeface="Kalam"/>
            </a:endParaRPr>
          </a:p>
          <a:p>
            <a:pPr indent="-342900" lvl="0" marL="457200" rtl="0" algn="l">
              <a:lnSpc>
                <a:spcPct val="100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7 in both cases as the difference is 0.  </a:t>
            </a:r>
            <a:r>
              <a:rPr lang="en-GB" sz="1800">
                <a:solidFill>
                  <a:schemeClr val="dk1"/>
                </a:solidFill>
                <a:latin typeface="Kalam"/>
                <a:ea typeface="Kalam"/>
                <a:cs typeface="Kalam"/>
                <a:sym typeface="Kalam"/>
              </a:rPr>
              <a:t>True for a but not b, as the 1 of the ones would have been exchanged for 10 tenths</a:t>
            </a:r>
            <a:endParaRPr sz="1800">
              <a:solidFill>
                <a:schemeClr val="dk1"/>
              </a:solidFill>
              <a:latin typeface="Kalam"/>
              <a:ea typeface="Kalam"/>
              <a:cs typeface="Kalam"/>
              <a:sym typeface="Kalam"/>
            </a:endParaRPr>
          </a:p>
          <a:p>
            <a:pPr indent="-342900" lvl="0" marL="457200" rtl="0" algn="l">
              <a:lnSpc>
                <a:spcPct val="100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The digit in the       must be 1 in all three calculations as 3 </a:t>
            </a:r>
            <a:r>
              <a:rPr lang="en-GB" sz="22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 2 = 1  </a:t>
            </a:r>
            <a:r>
              <a:rPr lang="en-GB" sz="1800">
                <a:solidFill>
                  <a:schemeClr val="dk1"/>
                </a:solidFill>
                <a:latin typeface="Kalam"/>
                <a:ea typeface="Kalam"/>
                <a:cs typeface="Kalam"/>
                <a:sym typeface="Kalam"/>
              </a:rPr>
              <a:t>True for a &amp; b but not c, as 1 of the tens would have been exchanged for 10 ones  </a:t>
            </a:r>
            <a:endParaRPr sz="1800">
              <a:solidFill>
                <a:schemeClr val="dk1"/>
              </a:solidFill>
              <a:latin typeface="Kalam"/>
              <a:ea typeface="Kalam"/>
              <a:cs typeface="Kalam"/>
              <a:sym typeface="Kalam"/>
            </a:endParaRPr>
          </a:p>
          <a:p>
            <a:pPr indent="-342900" lvl="0" marL="457200" rtl="0" algn="l">
              <a:lnSpc>
                <a:spcPct val="100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Find the missing digits.</a:t>
            </a:r>
            <a:endParaRPr sz="1800">
              <a:latin typeface="Lexend"/>
              <a:ea typeface="Lexend"/>
              <a:cs typeface="Lexend"/>
              <a:sym typeface="Lexend"/>
            </a:endParaRPr>
          </a:p>
        </p:txBody>
      </p:sp>
      <p:cxnSp>
        <p:nvCxnSpPr>
          <p:cNvPr id="1294" name="Google Shape;1294;p93"/>
          <p:cNvCxnSpPr/>
          <p:nvPr/>
        </p:nvCxnSpPr>
        <p:spPr>
          <a:xfrm>
            <a:off x="6620825" y="1633654"/>
            <a:ext cx="1302600" cy="0"/>
          </a:xfrm>
          <a:prstGeom prst="straightConnector1">
            <a:avLst/>
          </a:prstGeom>
          <a:noFill/>
          <a:ln cap="flat" cmpd="sng" w="38100">
            <a:solidFill>
              <a:schemeClr val="dk2"/>
            </a:solidFill>
            <a:prstDash val="solid"/>
            <a:round/>
            <a:headEnd len="med" w="med" type="none"/>
            <a:tailEnd len="med" w="med" type="none"/>
          </a:ln>
        </p:spPr>
      </p:cxnSp>
      <p:cxnSp>
        <p:nvCxnSpPr>
          <p:cNvPr id="1295" name="Google Shape;1295;p93"/>
          <p:cNvCxnSpPr/>
          <p:nvPr/>
        </p:nvCxnSpPr>
        <p:spPr>
          <a:xfrm>
            <a:off x="6620825" y="2044204"/>
            <a:ext cx="1302600" cy="0"/>
          </a:xfrm>
          <a:prstGeom prst="straightConnector1">
            <a:avLst/>
          </a:prstGeom>
          <a:noFill/>
          <a:ln cap="flat" cmpd="sng" w="38100">
            <a:solidFill>
              <a:schemeClr val="dk2"/>
            </a:solidFill>
            <a:prstDash val="solid"/>
            <a:round/>
            <a:headEnd len="med" w="med" type="none"/>
            <a:tailEnd len="med" w="med" type="none"/>
          </a:ln>
        </p:spPr>
      </p:cxnSp>
      <p:sp>
        <p:nvSpPr>
          <p:cNvPr id="1296" name="Google Shape;1296;p93"/>
          <p:cNvSpPr/>
          <p:nvPr/>
        </p:nvSpPr>
        <p:spPr>
          <a:xfrm>
            <a:off x="2552658" y="2531389"/>
            <a:ext cx="252300" cy="3372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7" name="Google Shape;1297;p93"/>
          <p:cNvSpPr/>
          <p:nvPr/>
        </p:nvSpPr>
        <p:spPr>
          <a:xfrm>
            <a:off x="2536946" y="3360205"/>
            <a:ext cx="276300" cy="317700"/>
          </a:xfrm>
          <a:prstGeom prst="triangle">
            <a:avLst>
              <a:gd fmla="val 50000"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8" name="Google Shape;1298;p93"/>
          <p:cNvSpPr/>
          <p:nvPr/>
        </p:nvSpPr>
        <p:spPr>
          <a:xfrm>
            <a:off x="2480470" y="3960017"/>
            <a:ext cx="370800" cy="338700"/>
          </a:xfrm>
          <a:prstGeom prst="star5">
            <a:avLst>
              <a:gd fmla="val 19098" name="adj"/>
              <a:gd fmla="val 105146" name="hf"/>
              <a:gd fmla="val 110557" name="vf"/>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9" name="Google Shape;1299;p93"/>
          <p:cNvSpPr txBox="1"/>
          <p:nvPr/>
        </p:nvSpPr>
        <p:spPr>
          <a:xfrm>
            <a:off x="486525"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300" name="Google Shape;1300;p93"/>
          <p:cNvSpPr txBox="1"/>
          <p:nvPr/>
        </p:nvSpPr>
        <p:spPr>
          <a:xfrm>
            <a:off x="3407600"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r>
              <a:rPr lang="en-GB" sz="1800">
                <a:latin typeface="Lexend"/>
                <a:ea typeface="Lexend"/>
                <a:cs typeface="Lexend"/>
                <a:sym typeface="Lexend"/>
              </a:rPr>
              <a:t>)</a:t>
            </a:r>
            <a:endParaRPr sz="1800">
              <a:latin typeface="Lexend"/>
              <a:ea typeface="Lexend"/>
              <a:cs typeface="Lexend"/>
              <a:sym typeface="Lexend"/>
            </a:endParaRPr>
          </a:p>
        </p:txBody>
      </p:sp>
      <p:sp>
        <p:nvSpPr>
          <p:cNvPr id="1301" name="Google Shape;1301;p93"/>
          <p:cNvSpPr txBox="1"/>
          <p:nvPr/>
        </p:nvSpPr>
        <p:spPr>
          <a:xfrm>
            <a:off x="6071400" y="935355"/>
            <a:ext cx="37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r>
              <a:rPr lang="en-GB" sz="1800">
                <a:latin typeface="Lexend"/>
                <a:ea typeface="Lexend"/>
                <a:cs typeface="Lexend"/>
                <a:sym typeface="Lexend"/>
              </a:rPr>
              <a:t>)</a:t>
            </a:r>
            <a:endParaRPr sz="1800">
              <a:latin typeface="Lexend"/>
              <a:ea typeface="Lexend"/>
              <a:cs typeface="Lexend"/>
              <a:sym typeface="Lexend"/>
            </a:endParaRPr>
          </a:p>
        </p:txBody>
      </p:sp>
      <p:sp>
        <p:nvSpPr>
          <p:cNvPr id="1302" name="Google Shape;1302;p93"/>
          <p:cNvSpPr txBox="1"/>
          <p:nvPr/>
        </p:nvSpPr>
        <p:spPr>
          <a:xfrm>
            <a:off x="1435792" y="1291325"/>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7</a:t>
            </a:r>
            <a:endParaRPr sz="2200">
              <a:latin typeface="Kalam"/>
              <a:ea typeface="Kalam"/>
              <a:cs typeface="Kalam"/>
              <a:sym typeface="Kalam"/>
            </a:endParaRPr>
          </a:p>
        </p:txBody>
      </p:sp>
      <p:sp>
        <p:nvSpPr>
          <p:cNvPr id="1303" name="Google Shape;1303;p93"/>
          <p:cNvSpPr txBox="1"/>
          <p:nvPr/>
        </p:nvSpPr>
        <p:spPr>
          <a:xfrm>
            <a:off x="1221172" y="1666051"/>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a:t>
            </a:r>
            <a:endParaRPr sz="2200">
              <a:latin typeface="Kalam"/>
              <a:ea typeface="Kalam"/>
              <a:cs typeface="Kalam"/>
              <a:sym typeface="Kalam"/>
            </a:endParaRPr>
          </a:p>
        </p:txBody>
      </p:sp>
      <p:sp>
        <p:nvSpPr>
          <p:cNvPr id="1304" name="Google Shape;1304;p93"/>
          <p:cNvSpPr txBox="1"/>
          <p:nvPr/>
        </p:nvSpPr>
        <p:spPr>
          <a:xfrm>
            <a:off x="1824681" y="1685031"/>
            <a:ext cx="172200" cy="3078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p:txBody>
      </p:sp>
      <p:sp>
        <p:nvSpPr>
          <p:cNvPr id="1305" name="Google Shape;1305;p93"/>
          <p:cNvSpPr txBox="1"/>
          <p:nvPr/>
        </p:nvSpPr>
        <p:spPr>
          <a:xfrm>
            <a:off x="4223011" y="1268816"/>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6</a:t>
            </a:r>
            <a:endParaRPr sz="2200">
              <a:latin typeface="Kalam"/>
              <a:ea typeface="Kalam"/>
              <a:cs typeface="Kalam"/>
              <a:sym typeface="Kalam"/>
            </a:endParaRPr>
          </a:p>
        </p:txBody>
      </p:sp>
      <p:sp>
        <p:nvSpPr>
          <p:cNvPr id="1306" name="Google Shape;1306;p93"/>
          <p:cNvSpPr txBox="1"/>
          <p:nvPr/>
        </p:nvSpPr>
        <p:spPr>
          <a:xfrm>
            <a:off x="4007925" y="1672366"/>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1</a:t>
            </a:r>
            <a:endParaRPr sz="2200">
              <a:latin typeface="Kalam"/>
              <a:ea typeface="Kalam"/>
              <a:cs typeface="Kalam"/>
              <a:sym typeface="Kalam"/>
            </a:endParaRPr>
          </a:p>
        </p:txBody>
      </p:sp>
      <p:sp>
        <p:nvSpPr>
          <p:cNvPr id="1307" name="Google Shape;1307;p93"/>
          <p:cNvSpPr txBox="1"/>
          <p:nvPr/>
        </p:nvSpPr>
        <p:spPr>
          <a:xfrm>
            <a:off x="4585031" y="1675403"/>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9</a:t>
            </a:r>
            <a:endParaRPr sz="2200">
              <a:latin typeface="Kalam"/>
              <a:ea typeface="Kalam"/>
              <a:cs typeface="Kalam"/>
              <a:sym typeface="Kalam"/>
            </a:endParaRPr>
          </a:p>
        </p:txBody>
      </p:sp>
      <p:sp>
        <p:nvSpPr>
          <p:cNvPr id="1308" name="Google Shape;1308;p93"/>
          <p:cNvSpPr txBox="1"/>
          <p:nvPr/>
        </p:nvSpPr>
        <p:spPr>
          <a:xfrm>
            <a:off x="6938120" y="1269761"/>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8</a:t>
            </a:r>
            <a:endParaRPr sz="2200">
              <a:latin typeface="Kalam"/>
              <a:ea typeface="Kalam"/>
              <a:cs typeface="Kalam"/>
              <a:sym typeface="Kalam"/>
            </a:endParaRPr>
          </a:p>
        </p:txBody>
      </p:sp>
      <p:sp>
        <p:nvSpPr>
          <p:cNvPr id="1309" name="Google Shape;1309;p93"/>
          <p:cNvSpPr txBox="1"/>
          <p:nvPr/>
        </p:nvSpPr>
        <p:spPr>
          <a:xfrm>
            <a:off x="6723034" y="1673311"/>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0</a:t>
            </a:r>
            <a:endParaRPr sz="2200">
              <a:latin typeface="Kalam"/>
              <a:ea typeface="Kalam"/>
              <a:cs typeface="Kalam"/>
              <a:sym typeface="Kalam"/>
            </a:endParaRPr>
          </a:p>
        </p:txBody>
      </p:sp>
      <p:sp>
        <p:nvSpPr>
          <p:cNvPr id="1310" name="Google Shape;1310;p93"/>
          <p:cNvSpPr txBox="1"/>
          <p:nvPr/>
        </p:nvSpPr>
        <p:spPr>
          <a:xfrm>
            <a:off x="7300141" y="1676348"/>
            <a:ext cx="172200" cy="338700"/>
          </a:xfrm>
          <a:prstGeom prst="rect">
            <a:avLst/>
          </a:prstGeom>
          <a:noFill/>
          <a:ln cap="flat" cmpd="sng" w="38100">
            <a:solidFill>
              <a:schemeClr val="accent5"/>
            </a:solidFill>
            <a:prstDash val="solid"/>
            <a:round/>
            <a:headEnd len="sm" w="sm" type="none"/>
            <a:tailEnd len="sm" w="sm" type="none"/>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9</a:t>
            </a:r>
            <a:endParaRPr sz="2200">
              <a:latin typeface="Kalam"/>
              <a:ea typeface="Kalam"/>
              <a:cs typeface="Kalam"/>
              <a:sym typeface="Kala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94"/>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Arithmetics procedures with integers</a:t>
            </a:r>
            <a:endParaRPr/>
          </a:p>
        </p:txBody>
      </p:sp>
      <p:sp>
        <p:nvSpPr>
          <p:cNvPr id="1316" name="Google Shape;1316;p94"/>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Addition and subtraction of decimals</a:t>
            </a:r>
            <a:endParaRPr/>
          </a:p>
        </p:txBody>
      </p:sp>
      <p:sp>
        <p:nvSpPr>
          <p:cNvPr id="1317" name="Google Shape;1317;p94"/>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1318" name="Google Shape;1318;p94"/>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arithmetic procedures with integers and decimals</a:t>
            </a:r>
            <a:endParaRPr/>
          </a:p>
        </p:txBody>
      </p:sp>
      <p:pic>
        <p:nvPicPr>
          <p:cNvPr id="1319" name="Google Shape;1319;p94"/>
          <p:cNvPicPr preferRelativeResize="0"/>
          <p:nvPr/>
        </p:nvPicPr>
        <p:blipFill>
          <a:blip r:embed="rId3">
            <a:alphaModFix/>
          </a:blip>
          <a:stretch>
            <a:fillRect/>
          </a:stretch>
        </p:blipFill>
        <p:spPr>
          <a:xfrm>
            <a:off x="429857" y="3700470"/>
            <a:ext cx="450575" cy="44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95"/>
          <p:cNvSpPr txBox="1"/>
          <p:nvPr>
            <p:ph idx="1" type="body"/>
          </p:nvPr>
        </p:nvSpPr>
        <p:spPr>
          <a:xfrm>
            <a:off x="1331700" y="3273500"/>
            <a:ext cx="13314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£38.60 ÷ 2</a:t>
            </a:r>
            <a:endParaRPr sz="1800"/>
          </a:p>
        </p:txBody>
      </p:sp>
      <p:sp>
        <p:nvSpPr>
          <p:cNvPr id="1325" name="Google Shape;1325;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1326" name="Google Shape;1326;p95"/>
          <p:cNvSpPr txBox="1"/>
          <p:nvPr>
            <p:ph idx="1" type="body"/>
          </p:nvPr>
        </p:nvSpPr>
        <p:spPr>
          <a:xfrm>
            <a:off x="324000" y="759300"/>
            <a:ext cx="5540400" cy="87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Jacob buys 5 boxes of chocolates.</a:t>
            </a:r>
            <a:endParaRPr sz="1800"/>
          </a:p>
          <a:p>
            <a:pPr indent="0" lvl="0" marL="0" rtl="0" algn="l">
              <a:spcBef>
                <a:spcPts val="1000"/>
              </a:spcBef>
              <a:spcAft>
                <a:spcPts val="1000"/>
              </a:spcAft>
              <a:buNone/>
            </a:pPr>
            <a:r>
              <a:rPr lang="en-GB" sz="1800"/>
              <a:t>What is the total cost?</a:t>
            </a:r>
            <a:endParaRPr sz="1800"/>
          </a:p>
        </p:txBody>
      </p:sp>
      <p:pic>
        <p:nvPicPr>
          <p:cNvPr id="1327" name="Google Shape;1327;p95"/>
          <p:cNvPicPr preferRelativeResize="0"/>
          <p:nvPr/>
        </p:nvPicPr>
        <p:blipFill>
          <a:blip r:embed="rId3">
            <a:alphaModFix/>
          </a:blip>
          <a:stretch>
            <a:fillRect/>
          </a:stretch>
        </p:blipFill>
        <p:spPr>
          <a:xfrm>
            <a:off x="5637601" y="1069089"/>
            <a:ext cx="894961" cy="797475"/>
          </a:xfrm>
          <a:prstGeom prst="rect">
            <a:avLst/>
          </a:prstGeom>
          <a:noFill/>
          <a:ln>
            <a:noFill/>
          </a:ln>
        </p:spPr>
      </p:pic>
      <p:sp>
        <p:nvSpPr>
          <p:cNvPr id="1328" name="Google Shape;1328;p95"/>
          <p:cNvSpPr/>
          <p:nvPr/>
        </p:nvSpPr>
        <p:spPr>
          <a:xfrm rot="8702177">
            <a:off x="6456210" y="846012"/>
            <a:ext cx="845988" cy="497782"/>
          </a:xfrm>
          <a:prstGeom prst="homePlat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9" name="Google Shape;1329;p95"/>
          <p:cNvSpPr txBox="1"/>
          <p:nvPr/>
        </p:nvSpPr>
        <p:spPr>
          <a:xfrm rot="-2042840">
            <a:off x="6494245" y="822740"/>
            <a:ext cx="827324" cy="49241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£3.86</a:t>
            </a:r>
            <a:endParaRPr sz="2000">
              <a:latin typeface="Lexend"/>
              <a:ea typeface="Lexend"/>
              <a:cs typeface="Lexend"/>
              <a:sym typeface="Lexend"/>
            </a:endParaRPr>
          </a:p>
        </p:txBody>
      </p:sp>
      <p:sp>
        <p:nvSpPr>
          <p:cNvPr id="1330" name="Google Shape;1330;p95"/>
          <p:cNvSpPr txBox="1"/>
          <p:nvPr>
            <p:ph idx="1" type="body"/>
          </p:nvPr>
        </p:nvSpPr>
        <p:spPr>
          <a:xfrm>
            <a:off x="324000" y="1734714"/>
            <a:ext cx="5450400" cy="37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you remember Laura’s method from earlier?</a:t>
            </a:r>
            <a:endParaRPr sz="1800"/>
          </a:p>
        </p:txBody>
      </p:sp>
      <p:sp>
        <p:nvSpPr>
          <p:cNvPr id="1331" name="Google Shape;1331;p95"/>
          <p:cNvSpPr txBox="1"/>
          <p:nvPr>
            <p:ph idx="1" type="body"/>
          </p:nvPr>
        </p:nvSpPr>
        <p:spPr>
          <a:xfrm>
            <a:off x="324000" y="2829850"/>
            <a:ext cx="10218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r>
              <a:rPr lang="en-GB" sz="1800"/>
              <a:t>3.86 x 5</a:t>
            </a:r>
            <a:endParaRPr sz="1800"/>
          </a:p>
        </p:txBody>
      </p:sp>
      <p:sp>
        <p:nvSpPr>
          <p:cNvPr id="1332" name="Google Shape;1332;p95"/>
          <p:cNvSpPr txBox="1"/>
          <p:nvPr>
            <p:ph idx="1" type="body"/>
          </p:nvPr>
        </p:nvSpPr>
        <p:spPr>
          <a:xfrm>
            <a:off x="324000" y="2170701"/>
            <a:ext cx="84960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 alternative to multiplying by 5 is multiplying by 10 and halving.</a:t>
            </a:r>
            <a:endParaRPr sz="1800"/>
          </a:p>
        </p:txBody>
      </p:sp>
      <p:sp>
        <p:nvSpPr>
          <p:cNvPr id="1333" name="Google Shape;1333;p95"/>
          <p:cNvSpPr txBox="1"/>
          <p:nvPr>
            <p:ph idx="1" type="body"/>
          </p:nvPr>
        </p:nvSpPr>
        <p:spPr>
          <a:xfrm>
            <a:off x="1331700" y="2823230"/>
            <a:ext cx="19791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a:t>
            </a:r>
            <a:r>
              <a:rPr lang="en-GB" sz="1800"/>
              <a:t>3.86 x 10 ÷ 2</a:t>
            </a:r>
            <a:endParaRPr sz="1800"/>
          </a:p>
        </p:txBody>
      </p:sp>
      <p:sp>
        <p:nvSpPr>
          <p:cNvPr id="1334" name="Google Shape;1334;p95"/>
          <p:cNvSpPr txBox="1"/>
          <p:nvPr>
            <p:ph idx="1" type="body"/>
          </p:nvPr>
        </p:nvSpPr>
        <p:spPr>
          <a:xfrm>
            <a:off x="1331700" y="3654505"/>
            <a:ext cx="19791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£19.30</a:t>
            </a:r>
            <a:endParaRPr sz="1800"/>
          </a:p>
        </p:txBody>
      </p:sp>
      <p:sp>
        <p:nvSpPr>
          <p:cNvPr id="1335" name="Google Shape;1335;p95"/>
          <p:cNvSpPr txBox="1"/>
          <p:nvPr>
            <p:ph idx="1" type="body"/>
          </p:nvPr>
        </p:nvSpPr>
        <p:spPr>
          <a:xfrm>
            <a:off x="4078800" y="2544980"/>
            <a:ext cx="38985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Remember we can </a:t>
            </a:r>
            <a:r>
              <a:rPr lang="en-GB" sz="1800"/>
              <a:t>partition</a:t>
            </a:r>
            <a:r>
              <a:rPr lang="en-GB" sz="1800"/>
              <a:t> £38.60</a:t>
            </a:r>
            <a:endParaRPr sz="1800"/>
          </a:p>
        </p:txBody>
      </p:sp>
      <p:sp>
        <p:nvSpPr>
          <p:cNvPr id="1336" name="Google Shape;1336;p95"/>
          <p:cNvSpPr/>
          <p:nvPr/>
        </p:nvSpPr>
        <p:spPr>
          <a:xfrm>
            <a:off x="5271775" y="2877388"/>
            <a:ext cx="1529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£38.60</a:t>
            </a:r>
            <a:endParaRPr sz="1800">
              <a:latin typeface="Lexend"/>
              <a:ea typeface="Lexend"/>
              <a:cs typeface="Lexend"/>
              <a:sym typeface="Lexend"/>
            </a:endParaRPr>
          </a:p>
        </p:txBody>
      </p:sp>
      <p:sp>
        <p:nvSpPr>
          <p:cNvPr id="1337" name="Google Shape;1337;p95"/>
          <p:cNvSpPr/>
          <p:nvPr/>
        </p:nvSpPr>
        <p:spPr>
          <a:xfrm>
            <a:off x="3523750" y="3563225"/>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p:txBody>
      </p:sp>
      <p:sp>
        <p:nvSpPr>
          <p:cNvPr id="1338" name="Google Shape;1338;p95"/>
          <p:cNvSpPr/>
          <p:nvPr/>
        </p:nvSpPr>
        <p:spPr>
          <a:xfrm>
            <a:off x="5418476" y="3590100"/>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p:txBody>
      </p:sp>
      <p:sp>
        <p:nvSpPr>
          <p:cNvPr id="1339" name="Google Shape;1339;p95"/>
          <p:cNvSpPr/>
          <p:nvPr/>
        </p:nvSpPr>
        <p:spPr>
          <a:xfrm>
            <a:off x="7241623" y="3529878"/>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£0.60</a:t>
            </a:r>
            <a:endParaRPr sz="1800">
              <a:latin typeface="Lexend"/>
              <a:ea typeface="Lexend"/>
              <a:cs typeface="Lexend"/>
              <a:sym typeface="Lexend"/>
            </a:endParaRPr>
          </a:p>
        </p:txBody>
      </p:sp>
      <p:cxnSp>
        <p:nvCxnSpPr>
          <p:cNvPr id="1340" name="Google Shape;1340;p95"/>
          <p:cNvCxnSpPr>
            <a:stCxn id="1336" idx="2"/>
            <a:endCxn id="1337" idx="0"/>
          </p:cNvCxnSpPr>
          <p:nvPr/>
        </p:nvCxnSpPr>
        <p:spPr>
          <a:xfrm flipH="1">
            <a:off x="4117375" y="3132238"/>
            <a:ext cx="1154400" cy="431100"/>
          </a:xfrm>
          <a:prstGeom prst="straightConnector1">
            <a:avLst/>
          </a:prstGeom>
          <a:noFill/>
          <a:ln cap="flat" cmpd="sng" w="38100">
            <a:solidFill>
              <a:schemeClr val="accent2"/>
            </a:solidFill>
            <a:prstDash val="solid"/>
            <a:round/>
            <a:headEnd len="med" w="med" type="none"/>
            <a:tailEnd len="med" w="med" type="none"/>
          </a:ln>
        </p:spPr>
      </p:cxnSp>
      <p:cxnSp>
        <p:nvCxnSpPr>
          <p:cNvPr id="1341" name="Google Shape;1341;p95"/>
          <p:cNvCxnSpPr>
            <a:stCxn id="1339" idx="0"/>
          </p:cNvCxnSpPr>
          <p:nvPr/>
        </p:nvCxnSpPr>
        <p:spPr>
          <a:xfrm rot="10800000">
            <a:off x="6778273" y="3144978"/>
            <a:ext cx="1056900" cy="384900"/>
          </a:xfrm>
          <a:prstGeom prst="straightConnector1">
            <a:avLst/>
          </a:prstGeom>
          <a:noFill/>
          <a:ln cap="flat" cmpd="sng" w="38100">
            <a:solidFill>
              <a:schemeClr val="accent2"/>
            </a:solidFill>
            <a:prstDash val="solid"/>
            <a:round/>
            <a:headEnd len="med" w="med" type="none"/>
            <a:tailEnd len="med" w="med" type="none"/>
          </a:ln>
        </p:spPr>
      </p:cxnSp>
      <p:sp>
        <p:nvSpPr>
          <p:cNvPr id="1342" name="Google Shape;1342;p95"/>
          <p:cNvSpPr/>
          <p:nvPr/>
        </p:nvSpPr>
        <p:spPr>
          <a:xfrm>
            <a:off x="3524033" y="4285113"/>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p:txBody>
      </p:sp>
      <p:sp>
        <p:nvSpPr>
          <p:cNvPr id="1343" name="Google Shape;1343;p95"/>
          <p:cNvSpPr/>
          <p:nvPr/>
        </p:nvSpPr>
        <p:spPr>
          <a:xfrm>
            <a:off x="5442783" y="4285113"/>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sp>
        <p:nvSpPr>
          <p:cNvPr id="1344" name="Google Shape;1344;p95"/>
          <p:cNvSpPr/>
          <p:nvPr/>
        </p:nvSpPr>
        <p:spPr>
          <a:xfrm>
            <a:off x="7241633" y="4278786"/>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£0.30</a:t>
            </a:r>
            <a:endParaRPr sz="1800">
              <a:latin typeface="Lexend"/>
              <a:ea typeface="Lexend"/>
              <a:cs typeface="Lexend"/>
              <a:sym typeface="Lexend"/>
            </a:endParaRPr>
          </a:p>
        </p:txBody>
      </p:sp>
      <p:sp>
        <p:nvSpPr>
          <p:cNvPr id="1345" name="Google Shape;1345;p95"/>
          <p:cNvSpPr txBox="1"/>
          <p:nvPr>
            <p:ph idx="1" type="body"/>
          </p:nvPr>
        </p:nvSpPr>
        <p:spPr>
          <a:xfrm>
            <a:off x="324000" y="4487400"/>
            <a:ext cx="27732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total cost is £19.30</a:t>
            </a:r>
            <a:endParaRPr sz="1800"/>
          </a:p>
        </p:txBody>
      </p:sp>
      <p:sp>
        <p:nvSpPr>
          <p:cNvPr id="1346" name="Google Shape;1346;p95"/>
          <p:cNvSpPr/>
          <p:nvPr/>
        </p:nvSpPr>
        <p:spPr>
          <a:xfrm>
            <a:off x="1511925" y="2803375"/>
            <a:ext cx="1119600" cy="3189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7" name="Google Shape;1347;p95"/>
          <p:cNvSpPr/>
          <p:nvPr/>
        </p:nvSpPr>
        <p:spPr>
          <a:xfrm>
            <a:off x="1511925" y="3247700"/>
            <a:ext cx="777900" cy="3189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48" name="Google Shape;1348;p95"/>
          <p:cNvCxnSpPr/>
          <p:nvPr/>
        </p:nvCxnSpPr>
        <p:spPr>
          <a:xfrm>
            <a:off x="3246250" y="3808875"/>
            <a:ext cx="5100" cy="600600"/>
          </a:xfrm>
          <a:prstGeom prst="straightConnector1">
            <a:avLst/>
          </a:prstGeom>
          <a:noFill/>
          <a:ln cap="flat" cmpd="sng" w="38100">
            <a:solidFill>
              <a:schemeClr val="accent2"/>
            </a:solidFill>
            <a:prstDash val="solid"/>
            <a:round/>
            <a:headEnd len="med" w="med" type="none"/>
            <a:tailEnd len="med" w="med" type="triangle"/>
          </a:ln>
        </p:spPr>
      </p:cxnSp>
      <p:sp>
        <p:nvSpPr>
          <p:cNvPr id="1349" name="Google Shape;1349;p95"/>
          <p:cNvSpPr txBox="1"/>
          <p:nvPr>
            <p:ph idx="1" type="body"/>
          </p:nvPr>
        </p:nvSpPr>
        <p:spPr>
          <a:xfrm>
            <a:off x="2798242" y="3878748"/>
            <a:ext cx="4023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2</a:t>
            </a:r>
            <a:endParaRPr sz="1800"/>
          </a:p>
        </p:txBody>
      </p:sp>
      <p:cxnSp>
        <p:nvCxnSpPr>
          <p:cNvPr id="1350" name="Google Shape;1350;p95"/>
          <p:cNvCxnSpPr/>
          <p:nvPr/>
        </p:nvCxnSpPr>
        <p:spPr>
          <a:xfrm rot="10800000">
            <a:off x="4103200" y="4090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51" name="Google Shape;1351;p95"/>
          <p:cNvCxnSpPr/>
          <p:nvPr/>
        </p:nvCxnSpPr>
        <p:spPr>
          <a:xfrm rot="10800000">
            <a:off x="6036325" y="4090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52" name="Google Shape;1352;p95"/>
          <p:cNvCxnSpPr/>
          <p:nvPr/>
        </p:nvCxnSpPr>
        <p:spPr>
          <a:xfrm rot="10800000">
            <a:off x="7881300" y="4051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53" name="Google Shape;1353;p95"/>
          <p:cNvCxnSpPr/>
          <p:nvPr/>
        </p:nvCxnSpPr>
        <p:spPr>
          <a:xfrm rot="10800000">
            <a:off x="6036325" y="3387100"/>
            <a:ext cx="0" cy="208800"/>
          </a:xfrm>
          <a:prstGeom prst="straightConnector1">
            <a:avLst/>
          </a:prstGeom>
          <a:noFill/>
          <a:ln cap="flat" cmpd="sng" w="38100">
            <a:solidFill>
              <a:schemeClr val="accent2"/>
            </a:solidFill>
            <a:prstDash val="solid"/>
            <a:round/>
            <a:headEnd len="med" w="med" type="none"/>
            <a:tailEnd len="med" w="med" type="none"/>
          </a:ln>
        </p:spPr>
      </p:cxnSp>
      <p:sp>
        <p:nvSpPr>
          <p:cNvPr id="1354" name="Google Shape;1354;p95"/>
          <p:cNvSpPr txBox="1"/>
          <p:nvPr>
            <p:ph idx="1" type="body"/>
          </p:nvPr>
        </p:nvSpPr>
        <p:spPr>
          <a:xfrm>
            <a:off x="4993100" y="4409475"/>
            <a:ext cx="1677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endParaRPr sz="1800"/>
          </a:p>
        </p:txBody>
      </p:sp>
      <p:sp>
        <p:nvSpPr>
          <p:cNvPr id="1355" name="Google Shape;1355;p95"/>
          <p:cNvSpPr txBox="1"/>
          <p:nvPr>
            <p:ph idx="1" type="body"/>
          </p:nvPr>
        </p:nvSpPr>
        <p:spPr>
          <a:xfrm>
            <a:off x="6851900" y="4373475"/>
            <a:ext cx="1677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96"/>
          <p:cNvSpPr txBox="1"/>
          <p:nvPr>
            <p:ph idx="1" type="body"/>
          </p:nvPr>
        </p:nvSpPr>
        <p:spPr>
          <a:xfrm>
            <a:off x="1712700" y="3273500"/>
            <a:ext cx="13314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£12.25  × 2</a:t>
            </a:r>
            <a:endParaRPr sz="1800"/>
          </a:p>
        </p:txBody>
      </p:sp>
      <p:sp>
        <p:nvSpPr>
          <p:cNvPr id="1361" name="Google Shape;1361;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1362" name="Google Shape;1362;p96"/>
          <p:cNvSpPr txBox="1"/>
          <p:nvPr>
            <p:ph idx="1" type="body"/>
          </p:nvPr>
        </p:nvSpPr>
        <p:spPr>
          <a:xfrm>
            <a:off x="324000" y="759300"/>
            <a:ext cx="7343100" cy="871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Aisha raises £122.50 doing a sponsored silence.</a:t>
            </a:r>
            <a:endParaRPr sz="1800"/>
          </a:p>
          <a:p>
            <a:pPr indent="0" lvl="0" marL="0" rtl="0" algn="l">
              <a:spcBef>
                <a:spcPts val="1000"/>
              </a:spcBef>
              <a:spcAft>
                <a:spcPts val="0"/>
              </a:spcAft>
              <a:buClr>
                <a:schemeClr val="dk1"/>
              </a:buClr>
              <a:buSzPts val="1100"/>
              <a:buFont typeface="Arial"/>
              <a:buNone/>
            </a:pPr>
            <a:r>
              <a:rPr lang="en-GB" sz="1800"/>
              <a:t>She wants to divide it between her 5 favourite charities.</a:t>
            </a:r>
            <a:endParaRPr sz="1800"/>
          </a:p>
          <a:p>
            <a:pPr indent="0" lvl="0" marL="0" rtl="0" algn="l">
              <a:spcBef>
                <a:spcPts val="1000"/>
              </a:spcBef>
              <a:spcAft>
                <a:spcPts val="1000"/>
              </a:spcAft>
              <a:buClr>
                <a:schemeClr val="dk1"/>
              </a:buClr>
              <a:buSzPts val="1100"/>
              <a:buFont typeface="Arial"/>
              <a:buNone/>
            </a:pPr>
            <a:r>
              <a:rPr lang="en-GB" sz="1800"/>
              <a:t>How much does each charity get?</a:t>
            </a:r>
            <a:endParaRPr sz="1800"/>
          </a:p>
        </p:txBody>
      </p:sp>
      <p:sp>
        <p:nvSpPr>
          <p:cNvPr id="1363" name="Google Shape;1363;p96"/>
          <p:cNvSpPr txBox="1"/>
          <p:nvPr>
            <p:ph idx="1" type="body"/>
          </p:nvPr>
        </p:nvSpPr>
        <p:spPr>
          <a:xfrm>
            <a:off x="324000" y="2829850"/>
            <a:ext cx="1295100" cy="3330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a:t>
            </a:r>
            <a:r>
              <a:rPr lang="en-GB" sz="1800"/>
              <a:t>122.50 ÷ 5</a:t>
            </a:r>
            <a:endParaRPr sz="1800"/>
          </a:p>
        </p:txBody>
      </p:sp>
      <p:sp>
        <p:nvSpPr>
          <p:cNvPr id="1364" name="Google Shape;1364;p96"/>
          <p:cNvSpPr txBox="1"/>
          <p:nvPr>
            <p:ph idx="1" type="body"/>
          </p:nvPr>
        </p:nvSpPr>
        <p:spPr>
          <a:xfrm>
            <a:off x="324000" y="2170701"/>
            <a:ext cx="84960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 alternative to dividing by 5 is dividing by 10 and doubling.</a:t>
            </a:r>
            <a:endParaRPr sz="1800"/>
          </a:p>
        </p:txBody>
      </p:sp>
      <p:sp>
        <p:nvSpPr>
          <p:cNvPr id="1365" name="Google Shape;1365;p96"/>
          <p:cNvSpPr txBox="1"/>
          <p:nvPr>
            <p:ph idx="1" type="body"/>
          </p:nvPr>
        </p:nvSpPr>
        <p:spPr>
          <a:xfrm>
            <a:off x="1712700" y="2823230"/>
            <a:ext cx="1979100" cy="3330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 £</a:t>
            </a:r>
            <a:r>
              <a:rPr lang="en-GB" sz="1800"/>
              <a:t>122.5 ÷ 10 × 2</a:t>
            </a:r>
            <a:endParaRPr sz="1800"/>
          </a:p>
        </p:txBody>
      </p:sp>
      <p:sp>
        <p:nvSpPr>
          <p:cNvPr id="1366" name="Google Shape;1366;p96"/>
          <p:cNvSpPr txBox="1"/>
          <p:nvPr>
            <p:ph idx="1" type="body"/>
          </p:nvPr>
        </p:nvSpPr>
        <p:spPr>
          <a:xfrm>
            <a:off x="1712700" y="3654505"/>
            <a:ext cx="19791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£24.50</a:t>
            </a:r>
            <a:endParaRPr sz="1800"/>
          </a:p>
        </p:txBody>
      </p:sp>
      <p:sp>
        <p:nvSpPr>
          <p:cNvPr id="1367" name="Google Shape;1367;p96"/>
          <p:cNvSpPr txBox="1"/>
          <p:nvPr>
            <p:ph idx="1" type="body"/>
          </p:nvPr>
        </p:nvSpPr>
        <p:spPr>
          <a:xfrm>
            <a:off x="3681175" y="2544975"/>
            <a:ext cx="50625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Again,</a:t>
            </a:r>
            <a:r>
              <a:rPr lang="en-GB" sz="1800"/>
              <a:t> you can partition £12.25 if you need to</a:t>
            </a:r>
            <a:endParaRPr sz="1800"/>
          </a:p>
        </p:txBody>
      </p:sp>
      <p:sp>
        <p:nvSpPr>
          <p:cNvPr id="1368" name="Google Shape;1368;p96"/>
          <p:cNvSpPr/>
          <p:nvPr/>
        </p:nvSpPr>
        <p:spPr>
          <a:xfrm>
            <a:off x="5271775" y="2877388"/>
            <a:ext cx="1529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£12.25</a:t>
            </a:r>
            <a:endParaRPr sz="1800">
              <a:latin typeface="Lexend"/>
              <a:ea typeface="Lexend"/>
              <a:cs typeface="Lexend"/>
              <a:sym typeface="Lexend"/>
            </a:endParaRPr>
          </a:p>
        </p:txBody>
      </p:sp>
      <p:sp>
        <p:nvSpPr>
          <p:cNvPr id="1369" name="Google Shape;1369;p96"/>
          <p:cNvSpPr/>
          <p:nvPr/>
        </p:nvSpPr>
        <p:spPr>
          <a:xfrm>
            <a:off x="3523750" y="3563225"/>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p:txBody>
      </p:sp>
      <p:sp>
        <p:nvSpPr>
          <p:cNvPr id="1370" name="Google Shape;1370;p96"/>
          <p:cNvSpPr/>
          <p:nvPr/>
        </p:nvSpPr>
        <p:spPr>
          <a:xfrm>
            <a:off x="5418476" y="3590100"/>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sp>
        <p:nvSpPr>
          <p:cNvPr id="1371" name="Google Shape;1371;p96"/>
          <p:cNvSpPr/>
          <p:nvPr/>
        </p:nvSpPr>
        <p:spPr>
          <a:xfrm>
            <a:off x="7241623" y="3529878"/>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£0.25</a:t>
            </a:r>
            <a:endParaRPr sz="1800">
              <a:latin typeface="Lexend"/>
              <a:ea typeface="Lexend"/>
              <a:cs typeface="Lexend"/>
              <a:sym typeface="Lexend"/>
            </a:endParaRPr>
          </a:p>
        </p:txBody>
      </p:sp>
      <p:cxnSp>
        <p:nvCxnSpPr>
          <p:cNvPr id="1372" name="Google Shape;1372;p96"/>
          <p:cNvCxnSpPr>
            <a:stCxn id="1368" idx="2"/>
            <a:endCxn id="1369" idx="0"/>
          </p:cNvCxnSpPr>
          <p:nvPr/>
        </p:nvCxnSpPr>
        <p:spPr>
          <a:xfrm flipH="1">
            <a:off x="4117375" y="3132238"/>
            <a:ext cx="1154400" cy="431100"/>
          </a:xfrm>
          <a:prstGeom prst="straightConnector1">
            <a:avLst/>
          </a:prstGeom>
          <a:noFill/>
          <a:ln cap="flat" cmpd="sng" w="38100">
            <a:solidFill>
              <a:schemeClr val="accent2"/>
            </a:solidFill>
            <a:prstDash val="solid"/>
            <a:round/>
            <a:headEnd len="med" w="med" type="none"/>
            <a:tailEnd len="med" w="med" type="none"/>
          </a:ln>
        </p:spPr>
      </p:cxnSp>
      <p:cxnSp>
        <p:nvCxnSpPr>
          <p:cNvPr id="1373" name="Google Shape;1373;p96"/>
          <p:cNvCxnSpPr>
            <a:stCxn id="1371" idx="0"/>
          </p:cNvCxnSpPr>
          <p:nvPr/>
        </p:nvCxnSpPr>
        <p:spPr>
          <a:xfrm rot="10800000">
            <a:off x="6778273" y="3144978"/>
            <a:ext cx="1056900" cy="384900"/>
          </a:xfrm>
          <a:prstGeom prst="straightConnector1">
            <a:avLst/>
          </a:prstGeom>
          <a:noFill/>
          <a:ln cap="flat" cmpd="sng" w="38100">
            <a:solidFill>
              <a:schemeClr val="accent2"/>
            </a:solidFill>
            <a:prstDash val="solid"/>
            <a:round/>
            <a:headEnd len="med" w="med" type="none"/>
            <a:tailEnd len="med" w="med" type="none"/>
          </a:ln>
        </p:spPr>
      </p:cxnSp>
      <p:sp>
        <p:nvSpPr>
          <p:cNvPr id="1374" name="Google Shape;1374;p96"/>
          <p:cNvSpPr/>
          <p:nvPr/>
        </p:nvSpPr>
        <p:spPr>
          <a:xfrm>
            <a:off x="3524033" y="4285113"/>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p:txBody>
      </p:sp>
      <p:sp>
        <p:nvSpPr>
          <p:cNvPr id="1375" name="Google Shape;1375;p96"/>
          <p:cNvSpPr/>
          <p:nvPr/>
        </p:nvSpPr>
        <p:spPr>
          <a:xfrm>
            <a:off x="5442783" y="4285113"/>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sp>
        <p:nvSpPr>
          <p:cNvPr id="1376" name="Google Shape;1376;p96"/>
          <p:cNvSpPr/>
          <p:nvPr/>
        </p:nvSpPr>
        <p:spPr>
          <a:xfrm>
            <a:off x="7241633" y="4278786"/>
            <a:ext cx="1187100" cy="5097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£0.50</a:t>
            </a:r>
            <a:endParaRPr sz="1800">
              <a:latin typeface="Lexend"/>
              <a:ea typeface="Lexend"/>
              <a:cs typeface="Lexend"/>
              <a:sym typeface="Lexend"/>
            </a:endParaRPr>
          </a:p>
        </p:txBody>
      </p:sp>
      <p:sp>
        <p:nvSpPr>
          <p:cNvPr id="1377" name="Google Shape;1377;p96"/>
          <p:cNvSpPr txBox="1"/>
          <p:nvPr>
            <p:ph idx="1" type="body"/>
          </p:nvPr>
        </p:nvSpPr>
        <p:spPr>
          <a:xfrm>
            <a:off x="324000" y="4487400"/>
            <a:ext cx="27732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Each charity gets £24.50</a:t>
            </a:r>
            <a:endParaRPr sz="1800"/>
          </a:p>
        </p:txBody>
      </p:sp>
      <p:sp>
        <p:nvSpPr>
          <p:cNvPr id="1378" name="Google Shape;1378;p96"/>
          <p:cNvSpPr/>
          <p:nvPr/>
        </p:nvSpPr>
        <p:spPr>
          <a:xfrm>
            <a:off x="1892925" y="2803375"/>
            <a:ext cx="1238100" cy="3189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9" name="Google Shape;1379;p96"/>
          <p:cNvSpPr/>
          <p:nvPr/>
        </p:nvSpPr>
        <p:spPr>
          <a:xfrm>
            <a:off x="1892925" y="3247700"/>
            <a:ext cx="777900" cy="3189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80" name="Google Shape;1380;p96"/>
          <p:cNvCxnSpPr/>
          <p:nvPr/>
        </p:nvCxnSpPr>
        <p:spPr>
          <a:xfrm>
            <a:off x="3246250" y="3808875"/>
            <a:ext cx="5100" cy="600600"/>
          </a:xfrm>
          <a:prstGeom prst="straightConnector1">
            <a:avLst/>
          </a:prstGeom>
          <a:noFill/>
          <a:ln cap="flat" cmpd="sng" w="38100">
            <a:solidFill>
              <a:schemeClr val="accent2"/>
            </a:solidFill>
            <a:prstDash val="solid"/>
            <a:round/>
            <a:headEnd len="med" w="med" type="none"/>
            <a:tailEnd len="med" w="med" type="triangle"/>
          </a:ln>
        </p:spPr>
      </p:cxnSp>
      <p:sp>
        <p:nvSpPr>
          <p:cNvPr id="1381" name="Google Shape;1381;p96"/>
          <p:cNvSpPr txBox="1"/>
          <p:nvPr>
            <p:ph idx="1" type="body"/>
          </p:nvPr>
        </p:nvSpPr>
        <p:spPr>
          <a:xfrm>
            <a:off x="2874450" y="3880450"/>
            <a:ext cx="4023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r>
              <a:rPr lang="en-GB" sz="1800"/>
              <a:t> 2</a:t>
            </a:r>
            <a:endParaRPr sz="1800"/>
          </a:p>
        </p:txBody>
      </p:sp>
      <p:cxnSp>
        <p:nvCxnSpPr>
          <p:cNvPr id="1382" name="Google Shape;1382;p96"/>
          <p:cNvCxnSpPr/>
          <p:nvPr/>
        </p:nvCxnSpPr>
        <p:spPr>
          <a:xfrm rot="10800000">
            <a:off x="4103200" y="4090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83" name="Google Shape;1383;p96"/>
          <p:cNvCxnSpPr/>
          <p:nvPr/>
        </p:nvCxnSpPr>
        <p:spPr>
          <a:xfrm rot="10800000">
            <a:off x="6036325" y="4090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84" name="Google Shape;1384;p96"/>
          <p:cNvCxnSpPr/>
          <p:nvPr/>
        </p:nvCxnSpPr>
        <p:spPr>
          <a:xfrm rot="10800000">
            <a:off x="7881300" y="4051625"/>
            <a:ext cx="0" cy="208800"/>
          </a:xfrm>
          <a:prstGeom prst="straightConnector1">
            <a:avLst/>
          </a:prstGeom>
          <a:noFill/>
          <a:ln cap="flat" cmpd="sng" w="38100">
            <a:solidFill>
              <a:schemeClr val="accent2"/>
            </a:solidFill>
            <a:prstDash val="solid"/>
            <a:round/>
            <a:headEnd len="med" w="med" type="none"/>
            <a:tailEnd len="med" w="med" type="none"/>
          </a:ln>
        </p:spPr>
      </p:cxnSp>
      <p:cxnSp>
        <p:nvCxnSpPr>
          <p:cNvPr id="1385" name="Google Shape;1385;p96"/>
          <p:cNvCxnSpPr/>
          <p:nvPr/>
        </p:nvCxnSpPr>
        <p:spPr>
          <a:xfrm rot="10800000">
            <a:off x="6036325" y="3387100"/>
            <a:ext cx="0" cy="208800"/>
          </a:xfrm>
          <a:prstGeom prst="straightConnector1">
            <a:avLst/>
          </a:prstGeom>
          <a:noFill/>
          <a:ln cap="flat" cmpd="sng" w="38100">
            <a:solidFill>
              <a:schemeClr val="accent2"/>
            </a:solidFill>
            <a:prstDash val="solid"/>
            <a:round/>
            <a:headEnd len="med" w="med" type="none"/>
            <a:tailEnd len="med" w="med" type="none"/>
          </a:ln>
        </p:spPr>
      </p:cxnSp>
      <p:sp>
        <p:nvSpPr>
          <p:cNvPr id="1386" name="Google Shape;1386;p96"/>
          <p:cNvSpPr txBox="1"/>
          <p:nvPr>
            <p:ph idx="1" type="body"/>
          </p:nvPr>
        </p:nvSpPr>
        <p:spPr>
          <a:xfrm>
            <a:off x="4993100" y="4409475"/>
            <a:ext cx="1677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endParaRPr sz="1800"/>
          </a:p>
        </p:txBody>
      </p:sp>
      <p:sp>
        <p:nvSpPr>
          <p:cNvPr id="1387" name="Google Shape;1387;p96"/>
          <p:cNvSpPr txBox="1"/>
          <p:nvPr>
            <p:ph idx="1" type="body"/>
          </p:nvPr>
        </p:nvSpPr>
        <p:spPr>
          <a:xfrm>
            <a:off x="6851900" y="4373475"/>
            <a:ext cx="167700" cy="33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97"/>
          <p:cNvSpPr txBox="1"/>
          <p:nvPr>
            <p:ph idx="1" type="body"/>
          </p:nvPr>
        </p:nvSpPr>
        <p:spPr>
          <a:xfrm>
            <a:off x="324000" y="759300"/>
            <a:ext cx="5647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Spot the mistake and correct the mistake</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93" name="Google Shape;1393;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Multiplication and division of decimals</a:t>
            </a:r>
            <a:endParaRPr/>
          </a:p>
        </p:txBody>
      </p:sp>
      <p:sp>
        <p:nvSpPr>
          <p:cNvPr id="1394" name="Google Shape;1394;p97"/>
          <p:cNvSpPr txBox="1"/>
          <p:nvPr>
            <p:ph idx="1" type="body"/>
          </p:nvPr>
        </p:nvSpPr>
        <p:spPr>
          <a:xfrm>
            <a:off x="4572000" y="1375650"/>
            <a:ext cx="18639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362 ÷ 10 ÷ 2</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95" name="Google Shape;1395;p97"/>
          <p:cNvSpPr txBox="1"/>
          <p:nvPr/>
        </p:nvSpPr>
        <p:spPr>
          <a:xfrm>
            <a:off x="3295500" y="1391400"/>
            <a:ext cx="102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362 ÷ 5</a:t>
            </a:r>
            <a:endParaRPr sz="2200">
              <a:latin typeface="Lexend"/>
              <a:ea typeface="Lexend"/>
              <a:cs typeface="Lexend"/>
              <a:sym typeface="Lexend"/>
            </a:endParaRPr>
          </a:p>
        </p:txBody>
      </p:sp>
      <p:sp>
        <p:nvSpPr>
          <p:cNvPr id="1396" name="Google Shape;1396;p97"/>
          <p:cNvSpPr txBox="1"/>
          <p:nvPr>
            <p:ph idx="1" type="body"/>
          </p:nvPr>
        </p:nvSpPr>
        <p:spPr>
          <a:xfrm>
            <a:off x="4572000" y="1943463"/>
            <a:ext cx="18639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36.2 ÷ 2</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97" name="Google Shape;1397;p97"/>
          <p:cNvSpPr txBox="1"/>
          <p:nvPr>
            <p:ph idx="1" type="body"/>
          </p:nvPr>
        </p:nvSpPr>
        <p:spPr>
          <a:xfrm>
            <a:off x="4572000" y="2511275"/>
            <a:ext cx="7986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18.1</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398" name="Google Shape;1398;p97"/>
          <p:cNvSpPr txBox="1"/>
          <p:nvPr>
            <p:ph idx="1" type="body"/>
          </p:nvPr>
        </p:nvSpPr>
        <p:spPr>
          <a:xfrm>
            <a:off x="4278300" y="3205425"/>
            <a:ext cx="19785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 362 ÷ 10 × 2</a:t>
            </a:r>
            <a:endParaRPr>
              <a:latin typeface="Kalam"/>
              <a:ea typeface="Kalam"/>
              <a:cs typeface="Kalam"/>
              <a:sym typeface="Kalam"/>
            </a:endParaRPr>
          </a:p>
          <a:p>
            <a:pPr indent="0" lvl="0" marL="0" rtl="0" algn="l">
              <a:spcBef>
                <a:spcPts val="1000"/>
              </a:spcBef>
              <a:spcAft>
                <a:spcPts val="0"/>
              </a:spcAft>
              <a:buNone/>
            </a:pPr>
            <a:r>
              <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399" name="Google Shape;1399;p97"/>
          <p:cNvSpPr txBox="1"/>
          <p:nvPr/>
        </p:nvSpPr>
        <p:spPr>
          <a:xfrm>
            <a:off x="3001800" y="3221175"/>
            <a:ext cx="102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362 ÷ 5</a:t>
            </a:r>
            <a:endParaRPr sz="2200">
              <a:latin typeface="Lexend"/>
              <a:ea typeface="Lexend"/>
              <a:cs typeface="Lexend"/>
              <a:sym typeface="Lexend"/>
            </a:endParaRPr>
          </a:p>
        </p:txBody>
      </p:sp>
      <p:sp>
        <p:nvSpPr>
          <p:cNvPr id="1400" name="Google Shape;1400;p97"/>
          <p:cNvSpPr txBox="1"/>
          <p:nvPr>
            <p:ph idx="1" type="body"/>
          </p:nvPr>
        </p:nvSpPr>
        <p:spPr>
          <a:xfrm>
            <a:off x="4278300" y="3773238"/>
            <a:ext cx="19785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 36.2 × 2</a:t>
            </a:r>
            <a:endParaRPr>
              <a:latin typeface="Kalam"/>
              <a:ea typeface="Kalam"/>
              <a:cs typeface="Kalam"/>
              <a:sym typeface="Kalam"/>
            </a:endParaRPr>
          </a:p>
          <a:p>
            <a:pPr indent="0" lvl="0" marL="0" rtl="0" algn="l">
              <a:spcBef>
                <a:spcPts val="1000"/>
              </a:spcBef>
              <a:spcAft>
                <a:spcPts val="0"/>
              </a:spcAft>
              <a:buNone/>
            </a:pPr>
            <a:r>
              <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401" name="Google Shape;1401;p97"/>
          <p:cNvSpPr txBox="1"/>
          <p:nvPr>
            <p:ph idx="1" type="body"/>
          </p:nvPr>
        </p:nvSpPr>
        <p:spPr>
          <a:xfrm>
            <a:off x="4278300" y="4341050"/>
            <a:ext cx="847800" cy="37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 72.4</a:t>
            </a:r>
            <a:endParaRPr>
              <a:latin typeface="Kalam"/>
              <a:ea typeface="Kalam"/>
              <a:cs typeface="Kalam"/>
              <a:sym typeface="Kalam"/>
            </a:endParaRPr>
          </a:p>
          <a:p>
            <a:pPr indent="0" lvl="0" marL="0" rtl="0" algn="l">
              <a:spcBef>
                <a:spcPts val="1000"/>
              </a:spcBef>
              <a:spcAft>
                <a:spcPts val="0"/>
              </a:spcAft>
              <a:buNone/>
            </a:pPr>
            <a:r>
              <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
        <p:nvSpPr>
          <p:cNvPr id="1402" name="Google Shape;1402;p97"/>
          <p:cNvSpPr/>
          <p:nvPr/>
        </p:nvSpPr>
        <p:spPr>
          <a:xfrm>
            <a:off x="5933700" y="1408300"/>
            <a:ext cx="259500" cy="3207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3" name="Google Shape;1403;p97"/>
          <p:cNvSpPr/>
          <p:nvPr/>
        </p:nvSpPr>
        <p:spPr>
          <a:xfrm>
            <a:off x="5718908" y="3211195"/>
            <a:ext cx="259500" cy="3207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4" name="Google Shape;1404;p97"/>
          <p:cNvSpPr/>
          <p:nvPr/>
        </p:nvSpPr>
        <p:spPr>
          <a:xfrm>
            <a:off x="4530084" y="3211200"/>
            <a:ext cx="1150500" cy="3207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5" name="Google Shape;1405;p97"/>
          <p:cNvSpPr/>
          <p:nvPr/>
        </p:nvSpPr>
        <p:spPr>
          <a:xfrm>
            <a:off x="4530079" y="3743175"/>
            <a:ext cx="638100" cy="3207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0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0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98"/>
          <p:cNvSpPr txBox="1"/>
          <p:nvPr>
            <p:ph idx="1" type="body"/>
          </p:nvPr>
        </p:nvSpPr>
        <p:spPr>
          <a:xfrm>
            <a:off x="324000" y="759300"/>
            <a:ext cx="8237700" cy="7398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Match the operation on the left to its equivalent on the right.</a:t>
            </a:r>
            <a:endParaRPr/>
          </a:p>
        </p:txBody>
      </p:sp>
      <p:sp>
        <p:nvSpPr>
          <p:cNvPr id="1411" name="Google Shape;1411;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a:t>Multiplication and division of decimals</a:t>
            </a:r>
            <a:endParaRPr/>
          </a:p>
        </p:txBody>
      </p:sp>
      <p:sp>
        <p:nvSpPr>
          <p:cNvPr id="1412" name="Google Shape;1412;p98"/>
          <p:cNvSpPr txBox="1"/>
          <p:nvPr>
            <p:ph idx="1" type="body"/>
          </p:nvPr>
        </p:nvSpPr>
        <p:spPr>
          <a:xfrm>
            <a:off x="2437500" y="162000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5</a:t>
            </a:r>
            <a:endParaRPr/>
          </a:p>
        </p:txBody>
      </p:sp>
      <p:sp>
        <p:nvSpPr>
          <p:cNvPr id="1413" name="Google Shape;1413;p98"/>
          <p:cNvSpPr txBox="1"/>
          <p:nvPr>
            <p:ph idx="1" type="body"/>
          </p:nvPr>
        </p:nvSpPr>
        <p:spPr>
          <a:xfrm>
            <a:off x="6256800" y="3259800"/>
            <a:ext cx="10836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10 ÷ 2</a:t>
            </a:r>
            <a:endParaRPr/>
          </a:p>
        </p:txBody>
      </p:sp>
      <p:sp>
        <p:nvSpPr>
          <p:cNvPr id="1414" name="Google Shape;1414;p98"/>
          <p:cNvSpPr txBox="1"/>
          <p:nvPr>
            <p:ph idx="1" type="body"/>
          </p:nvPr>
        </p:nvSpPr>
        <p:spPr>
          <a:xfrm>
            <a:off x="2437500" y="216282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4</a:t>
            </a:r>
            <a:endParaRPr/>
          </a:p>
        </p:txBody>
      </p:sp>
      <p:sp>
        <p:nvSpPr>
          <p:cNvPr id="1415" name="Google Shape;1415;p98"/>
          <p:cNvSpPr txBox="1"/>
          <p:nvPr>
            <p:ph idx="1" type="body"/>
          </p:nvPr>
        </p:nvSpPr>
        <p:spPr>
          <a:xfrm>
            <a:off x="6256800" y="21666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 2</a:t>
            </a:r>
            <a:endParaRPr/>
          </a:p>
        </p:txBody>
      </p:sp>
      <p:sp>
        <p:nvSpPr>
          <p:cNvPr id="1416" name="Google Shape;1416;p98"/>
          <p:cNvSpPr txBox="1"/>
          <p:nvPr>
            <p:ph idx="1" type="body"/>
          </p:nvPr>
        </p:nvSpPr>
        <p:spPr>
          <a:xfrm>
            <a:off x="2437500" y="270565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8</a:t>
            </a:r>
            <a:endParaRPr/>
          </a:p>
        </p:txBody>
      </p:sp>
      <p:sp>
        <p:nvSpPr>
          <p:cNvPr id="1417" name="Google Shape;1417;p98"/>
          <p:cNvSpPr txBox="1"/>
          <p:nvPr>
            <p:ph idx="1" type="body"/>
          </p:nvPr>
        </p:nvSpPr>
        <p:spPr>
          <a:xfrm>
            <a:off x="6256800" y="1620000"/>
            <a:ext cx="1348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 2 × 2</a:t>
            </a:r>
            <a:endParaRPr/>
          </a:p>
        </p:txBody>
      </p:sp>
      <p:sp>
        <p:nvSpPr>
          <p:cNvPr id="1418" name="Google Shape;1418;p98"/>
          <p:cNvSpPr txBox="1"/>
          <p:nvPr>
            <p:ph idx="1" type="body"/>
          </p:nvPr>
        </p:nvSpPr>
        <p:spPr>
          <a:xfrm>
            <a:off x="2437500" y="324847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5</a:t>
            </a:r>
            <a:endParaRPr/>
          </a:p>
        </p:txBody>
      </p:sp>
      <p:sp>
        <p:nvSpPr>
          <p:cNvPr id="1419" name="Google Shape;1419;p98"/>
          <p:cNvSpPr txBox="1"/>
          <p:nvPr>
            <p:ph idx="1" type="body"/>
          </p:nvPr>
        </p:nvSpPr>
        <p:spPr>
          <a:xfrm>
            <a:off x="6256800" y="4334125"/>
            <a:ext cx="1229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10 × 2</a:t>
            </a:r>
            <a:endParaRPr/>
          </a:p>
        </p:txBody>
      </p:sp>
      <p:sp>
        <p:nvSpPr>
          <p:cNvPr id="1420" name="Google Shape;1420;p98"/>
          <p:cNvSpPr txBox="1"/>
          <p:nvPr>
            <p:ph idx="1" type="body"/>
          </p:nvPr>
        </p:nvSpPr>
        <p:spPr>
          <a:xfrm>
            <a:off x="2437500" y="433412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6</a:t>
            </a:r>
            <a:endParaRPr/>
          </a:p>
        </p:txBody>
      </p:sp>
      <p:sp>
        <p:nvSpPr>
          <p:cNvPr id="1421" name="Google Shape;1421;p98"/>
          <p:cNvSpPr txBox="1"/>
          <p:nvPr>
            <p:ph idx="1" type="body"/>
          </p:nvPr>
        </p:nvSpPr>
        <p:spPr>
          <a:xfrm>
            <a:off x="6256800" y="38064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 3</a:t>
            </a:r>
            <a:endParaRPr/>
          </a:p>
        </p:txBody>
      </p:sp>
      <p:sp>
        <p:nvSpPr>
          <p:cNvPr id="1422" name="Google Shape;1422;p98"/>
          <p:cNvSpPr txBox="1"/>
          <p:nvPr>
            <p:ph idx="1" type="body"/>
          </p:nvPr>
        </p:nvSpPr>
        <p:spPr>
          <a:xfrm>
            <a:off x="2437500" y="379130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6</a:t>
            </a:r>
            <a:endParaRPr/>
          </a:p>
        </p:txBody>
      </p:sp>
      <p:sp>
        <p:nvSpPr>
          <p:cNvPr id="1423" name="Google Shape;1423;p98"/>
          <p:cNvSpPr txBox="1"/>
          <p:nvPr>
            <p:ph idx="1" type="body"/>
          </p:nvPr>
        </p:nvSpPr>
        <p:spPr>
          <a:xfrm>
            <a:off x="6256800" y="27132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 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99"/>
          <p:cNvSpPr/>
          <p:nvPr/>
        </p:nvSpPr>
        <p:spPr>
          <a:xfrm rot="8702177">
            <a:off x="7916410" y="893972"/>
            <a:ext cx="845988" cy="497782"/>
          </a:xfrm>
          <a:prstGeom prst="homePlat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9" name="Google Shape;1429;p9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Find the cost of the following:</a:t>
            </a:r>
            <a:endParaRPr sz="1800"/>
          </a:p>
          <a:p>
            <a:pPr indent="-342900" lvl="0" marL="457200" rtl="0" algn="l">
              <a:spcBef>
                <a:spcPts val="1000"/>
              </a:spcBef>
              <a:spcAft>
                <a:spcPts val="0"/>
              </a:spcAft>
              <a:buSzPts val="1800"/>
              <a:buAutoNum type="alphaLcParenR"/>
            </a:pPr>
            <a:r>
              <a:rPr lang="en-GB" sz="1800"/>
              <a:t>2 boxes  </a:t>
            </a:r>
            <a:endParaRPr sz="1800">
              <a:latin typeface="Kalam"/>
              <a:ea typeface="Kalam"/>
              <a:cs typeface="Kalam"/>
              <a:sym typeface="Kalam"/>
            </a:endParaRPr>
          </a:p>
          <a:p>
            <a:pPr indent="-342900" lvl="0" marL="457200" rtl="0" algn="l">
              <a:spcBef>
                <a:spcPts val="0"/>
              </a:spcBef>
              <a:spcAft>
                <a:spcPts val="0"/>
              </a:spcAft>
              <a:buSzPts val="1800"/>
              <a:buAutoNum type="alphaLcParenR"/>
            </a:pPr>
            <a:r>
              <a:rPr lang="en-GB" sz="1800"/>
              <a:t>10 boxes </a:t>
            </a:r>
            <a:endParaRPr sz="1800"/>
          </a:p>
          <a:p>
            <a:pPr indent="-342900" lvl="0" marL="457200" rtl="0" algn="l">
              <a:spcBef>
                <a:spcPts val="0"/>
              </a:spcBef>
              <a:spcAft>
                <a:spcPts val="0"/>
              </a:spcAft>
              <a:buSzPts val="1800"/>
              <a:buAutoNum type="alphaLcParenR"/>
            </a:pPr>
            <a:r>
              <a:rPr lang="en-GB" sz="1800"/>
              <a:t>5 boxes </a:t>
            </a:r>
            <a:endParaRPr sz="1800"/>
          </a:p>
          <a:p>
            <a:pPr indent="-342900" lvl="0" marL="457200" rtl="0" algn="l">
              <a:spcBef>
                <a:spcPts val="0"/>
              </a:spcBef>
              <a:spcAft>
                <a:spcPts val="0"/>
              </a:spcAft>
              <a:buSzPts val="1800"/>
              <a:buAutoNum type="alphaLcParenR"/>
            </a:pPr>
            <a:r>
              <a:rPr lang="en-GB" sz="1800"/>
              <a:t>6 boxes  </a:t>
            </a:r>
            <a:endParaRPr sz="1800"/>
          </a:p>
          <a:p>
            <a:pPr indent="0" lvl="0" marL="0" rtl="0" algn="l">
              <a:spcBef>
                <a:spcPts val="1000"/>
              </a:spcBef>
              <a:spcAft>
                <a:spcPts val="0"/>
              </a:spcAft>
              <a:buNone/>
            </a:pPr>
            <a:r>
              <a:rPr lang="en-GB" sz="1800"/>
              <a:t>3)   The Oak students decide to buy one box of chocolates between them.</a:t>
            </a:r>
            <a:endParaRPr sz="1800"/>
          </a:p>
          <a:p>
            <a:pPr indent="0" lvl="0" marL="0" rtl="0" algn="l">
              <a:spcBef>
                <a:spcPts val="1000"/>
              </a:spcBef>
              <a:spcAft>
                <a:spcPts val="0"/>
              </a:spcAft>
              <a:buNone/>
            </a:pPr>
            <a:r>
              <a:rPr lang="en-GB" sz="1800"/>
              <a:t>Work out how much each person pays if:</a:t>
            </a:r>
            <a:endParaRPr sz="1800"/>
          </a:p>
          <a:p>
            <a:pPr indent="-342900" lvl="0" marL="457200" rtl="0" algn="l">
              <a:spcBef>
                <a:spcPts val="1000"/>
              </a:spcBef>
              <a:spcAft>
                <a:spcPts val="0"/>
              </a:spcAft>
              <a:buSzPts val="1800"/>
              <a:buAutoNum type="alphaLcParenR"/>
            </a:pPr>
            <a:r>
              <a:rPr lang="en-GB" sz="1800"/>
              <a:t>2 students buy the box </a:t>
            </a:r>
            <a:endParaRPr sz="1800"/>
          </a:p>
          <a:p>
            <a:pPr indent="-342900" lvl="0" marL="457200" rtl="0" algn="l">
              <a:spcBef>
                <a:spcPts val="0"/>
              </a:spcBef>
              <a:spcAft>
                <a:spcPts val="0"/>
              </a:spcAft>
              <a:buSzPts val="1800"/>
              <a:buAutoNum type="alphaLcParenR"/>
            </a:pPr>
            <a:r>
              <a:rPr lang="en-GB" sz="1800"/>
              <a:t>4 students buy the box </a:t>
            </a:r>
            <a:endParaRPr sz="1800"/>
          </a:p>
          <a:p>
            <a:pPr indent="-355600" lvl="0" marL="457200" rtl="0" algn="l">
              <a:spcBef>
                <a:spcPts val="0"/>
              </a:spcBef>
              <a:spcAft>
                <a:spcPts val="0"/>
              </a:spcAft>
              <a:buSzPts val="2000"/>
              <a:buAutoNum type="alphaLcParenR"/>
            </a:pPr>
            <a:r>
              <a:rPr lang="en-GB" sz="1800"/>
              <a:t>5 students buy the box </a:t>
            </a:r>
            <a:r>
              <a:rPr lang="en-GB" sz="2000"/>
              <a:t> </a:t>
            </a:r>
            <a:endParaRPr sz="2000"/>
          </a:p>
        </p:txBody>
      </p:sp>
      <p:sp>
        <p:nvSpPr>
          <p:cNvPr id="1430" name="Google Shape;1430;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Multiplication and division of decimals</a:t>
            </a:r>
            <a:endParaRPr/>
          </a:p>
        </p:txBody>
      </p:sp>
      <p:pic>
        <p:nvPicPr>
          <p:cNvPr id="1431" name="Google Shape;1431;p99"/>
          <p:cNvPicPr preferRelativeResize="0"/>
          <p:nvPr/>
        </p:nvPicPr>
        <p:blipFill>
          <a:blip r:embed="rId3">
            <a:alphaModFix/>
          </a:blip>
          <a:stretch>
            <a:fillRect/>
          </a:stretch>
        </p:blipFill>
        <p:spPr>
          <a:xfrm>
            <a:off x="7088951" y="1163923"/>
            <a:ext cx="894961" cy="797475"/>
          </a:xfrm>
          <a:prstGeom prst="rect">
            <a:avLst/>
          </a:prstGeom>
          <a:noFill/>
          <a:ln>
            <a:noFill/>
          </a:ln>
        </p:spPr>
      </p:pic>
      <p:sp>
        <p:nvSpPr>
          <p:cNvPr id="1432" name="Google Shape;1432;p99"/>
          <p:cNvSpPr txBox="1"/>
          <p:nvPr/>
        </p:nvSpPr>
        <p:spPr>
          <a:xfrm rot="-2043122">
            <a:off x="7915347" y="843961"/>
            <a:ext cx="948307" cy="49241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£4.75</a:t>
            </a:r>
            <a:endParaRPr sz="2000">
              <a:latin typeface="Lexend"/>
              <a:ea typeface="Lexend"/>
              <a:cs typeface="Lexend"/>
              <a:sym typeface="Lexend"/>
            </a:endParaRPr>
          </a:p>
        </p:txBody>
      </p:sp>
      <p:sp>
        <p:nvSpPr>
          <p:cNvPr id="1433" name="Google Shape;1433;p99"/>
          <p:cNvSpPr/>
          <p:nvPr/>
        </p:nvSpPr>
        <p:spPr>
          <a:xfrm rot="8702177">
            <a:off x="7816210" y="3430497"/>
            <a:ext cx="845988" cy="497782"/>
          </a:xfrm>
          <a:prstGeom prst="homePlat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434" name="Google Shape;1434;p99"/>
          <p:cNvPicPr preferRelativeResize="0"/>
          <p:nvPr/>
        </p:nvPicPr>
        <p:blipFill>
          <a:blip r:embed="rId3">
            <a:alphaModFix/>
          </a:blip>
          <a:stretch>
            <a:fillRect/>
          </a:stretch>
        </p:blipFill>
        <p:spPr>
          <a:xfrm>
            <a:off x="6988751" y="3700448"/>
            <a:ext cx="894961" cy="797475"/>
          </a:xfrm>
          <a:prstGeom prst="rect">
            <a:avLst/>
          </a:prstGeom>
          <a:noFill/>
          <a:ln>
            <a:noFill/>
          </a:ln>
        </p:spPr>
      </p:pic>
      <p:sp>
        <p:nvSpPr>
          <p:cNvPr id="1435" name="Google Shape;1435;p99"/>
          <p:cNvSpPr txBox="1"/>
          <p:nvPr/>
        </p:nvSpPr>
        <p:spPr>
          <a:xfrm rot="-2043122">
            <a:off x="7815147" y="3380486"/>
            <a:ext cx="948307" cy="49241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£5.80</a:t>
            </a:r>
            <a:endParaRPr sz="2000">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100"/>
          <p:cNvSpPr txBox="1"/>
          <p:nvPr>
            <p:ph idx="1" type="body"/>
          </p:nvPr>
        </p:nvSpPr>
        <p:spPr>
          <a:xfrm>
            <a:off x="324000" y="759300"/>
            <a:ext cx="8237700" cy="7671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Match the operation on the left to </a:t>
            </a:r>
            <a:r>
              <a:rPr lang="en-GB"/>
              <a:t>its</a:t>
            </a:r>
            <a:r>
              <a:rPr lang="en-GB"/>
              <a:t> </a:t>
            </a:r>
            <a:r>
              <a:rPr lang="en-GB"/>
              <a:t>equivalent</a:t>
            </a:r>
            <a:r>
              <a:rPr lang="en-GB"/>
              <a:t> on the right.</a:t>
            </a:r>
            <a:endParaRPr/>
          </a:p>
        </p:txBody>
      </p:sp>
      <p:sp>
        <p:nvSpPr>
          <p:cNvPr id="1441" name="Google Shape;1441;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a:t>Multiplication and division of decimals</a:t>
            </a:r>
            <a:endParaRPr/>
          </a:p>
        </p:txBody>
      </p:sp>
      <p:sp>
        <p:nvSpPr>
          <p:cNvPr id="1442" name="Google Shape;1442;p100"/>
          <p:cNvSpPr txBox="1"/>
          <p:nvPr>
            <p:ph idx="1" type="body"/>
          </p:nvPr>
        </p:nvSpPr>
        <p:spPr>
          <a:xfrm>
            <a:off x="2437500" y="162000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5</a:t>
            </a:r>
            <a:endParaRPr/>
          </a:p>
        </p:txBody>
      </p:sp>
      <p:sp>
        <p:nvSpPr>
          <p:cNvPr id="1443" name="Google Shape;1443;p100"/>
          <p:cNvSpPr txBox="1"/>
          <p:nvPr>
            <p:ph idx="1" type="body"/>
          </p:nvPr>
        </p:nvSpPr>
        <p:spPr>
          <a:xfrm>
            <a:off x="6256800" y="3259800"/>
            <a:ext cx="10836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10 ÷ 2</a:t>
            </a:r>
            <a:endParaRPr/>
          </a:p>
        </p:txBody>
      </p:sp>
      <p:sp>
        <p:nvSpPr>
          <p:cNvPr id="1444" name="Google Shape;1444;p100"/>
          <p:cNvSpPr txBox="1"/>
          <p:nvPr>
            <p:ph idx="1" type="body"/>
          </p:nvPr>
        </p:nvSpPr>
        <p:spPr>
          <a:xfrm>
            <a:off x="2437500" y="216282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r>
              <a:rPr lang="en-GB"/>
              <a:t> 4</a:t>
            </a:r>
            <a:endParaRPr/>
          </a:p>
        </p:txBody>
      </p:sp>
      <p:sp>
        <p:nvSpPr>
          <p:cNvPr id="1445" name="Google Shape;1445;p100"/>
          <p:cNvSpPr txBox="1"/>
          <p:nvPr>
            <p:ph idx="1" type="body"/>
          </p:nvPr>
        </p:nvSpPr>
        <p:spPr>
          <a:xfrm>
            <a:off x="6256800" y="21666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a:t>
            </a:r>
            <a:r>
              <a:rPr lang="en-GB"/>
              <a:t>÷ 2</a:t>
            </a:r>
            <a:endParaRPr/>
          </a:p>
        </p:txBody>
      </p:sp>
      <p:sp>
        <p:nvSpPr>
          <p:cNvPr id="1446" name="Google Shape;1446;p100"/>
          <p:cNvSpPr txBox="1"/>
          <p:nvPr>
            <p:ph idx="1" type="body"/>
          </p:nvPr>
        </p:nvSpPr>
        <p:spPr>
          <a:xfrm>
            <a:off x="2437500" y="270565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r>
              <a:rPr lang="en-GB"/>
              <a:t> 8</a:t>
            </a:r>
            <a:endParaRPr/>
          </a:p>
        </p:txBody>
      </p:sp>
      <p:sp>
        <p:nvSpPr>
          <p:cNvPr id="1447" name="Google Shape;1447;p100"/>
          <p:cNvSpPr txBox="1"/>
          <p:nvPr>
            <p:ph idx="1" type="body"/>
          </p:nvPr>
        </p:nvSpPr>
        <p:spPr>
          <a:xfrm>
            <a:off x="6256800" y="1620000"/>
            <a:ext cx="13485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a:t>
            </a:r>
            <a:r>
              <a:rPr lang="en-GB"/>
              <a:t>×</a:t>
            </a:r>
            <a:r>
              <a:rPr lang="en-GB"/>
              <a:t> 2 </a:t>
            </a:r>
            <a:r>
              <a:rPr lang="en-GB"/>
              <a:t>× 2</a:t>
            </a:r>
            <a:endParaRPr/>
          </a:p>
        </p:txBody>
      </p:sp>
      <p:sp>
        <p:nvSpPr>
          <p:cNvPr id="1448" name="Google Shape;1448;p100"/>
          <p:cNvSpPr txBox="1"/>
          <p:nvPr>
            <p:ph idx="1" type="body"/>
          </p:nvPr>
        </p:nvSpPr>
        <p:spPr>
          <a:xfrm>
            <a:off x="2437500" y="324847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5</a:t>
            </a:r>
            <a:endParaRPr/>
          </a:p>
        </p:txBody>
      </p:sp>
      <p:sp>
        <p:nvSpPr>
          <p:cNvPr id="1449" name="Google Shape;1449;p100"/>
          <p:cNvSpPr txBox="1"/>
          <p:nvPr>
            <p:ph idx="1" type="body"/>
          </p:nvPr>
        </p:nvSpPr>
        <p:spPr>
          <a:xfrm>
            <a:off x="6256800" y="4334125"/>
            <a:ext cx="12294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10 × 2</a:t>
            </a:r>
            <a:endParaRPr/>
          </a:p>
        </p:txBody>
      </p:sp>
      <p:sp>
        <p:nvSpPr>
          <p:cNvPr id="1450" name="Google Shape;1450;p100"/>
          <p:cNvSpPr txBox="1"/>
          <p:nvPr>
            <p:ph idx="1" type="body"/>
          </p:nvPr>
        </p:nvSpPr>
        <p:spPr>
          <a:xfrm>
            <a:off x="2437500" y="4334125"/>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6</a:t>
            </a:r>
            <a:endParaRPr/>
          </a:p>
        </p:txBody>
      </p:sp>
      <p:sp>
        <p:nvSpPr>
          <p:cNvPr id="1451" name="Google Shape;1451;p100"/>
          <p:cNvSpPr txBox="1"/>
          <p:nvPr>
            <p:ph idx="1" type="body"/>
          </p:nvPr>
        </p:nvSpPr>
        <p:spPr>
          <a:xfrm>
            <a:off x="6256800" y="38064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2 </a:t>
            </a:r>
            <a:r>
              <a:rPr lang="en-GB"/>
              <a:t>× 3</a:t>
            </a:r>
            <a:endParaRPr/>
          </a:p>
        </p:txBody>
      </p:sp>
      <p:sp>
        <p:nvSpPr>
          <p:cNvPr id="1452" name="Google Shape;1452;p100"/>
          <p:cNvSpPr txBox="1"/>
          <p:nvPr>
            <p:ph idx="1" type="body"/>
          </p:nvPr>
        </p:nvSpPr>
        <p:spPr>
          <a:xfrm>
            <a:off x="2437500" y="3791300"/>
            <a:ext cx="449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6</a:t>
            </a:r>
            <a:endParaRPr/>
          </a:p>
        </p:txBody>
      </p:sp>
      <p:sp>
        <p:nvSpPr>
          <p:cNvPr id="1453" name="Google Shape;1453;p100"/>
          <p:cNvSpPr txBox="1"/>
          <p:nvPr>
            <p:ph idx="1" type="body"/>
          </p:nvPr>
        </p:nvSpPr>
        <p:spPr>
          <a:xfrm>
            <a:off x="6256800" y="2713200"/>
            <a:ext cx="9579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t>
            </a:r>
            <a:r>
              <a:rPr lang="en-GB"/>
              <a:t> 2 ÷ 3</a:t>
            </a:r>
            <a:endParaRPr/>
          </a:p>
        </p:txBody>
      </p:sp>
      <p:cxnSp>
        <p:nvCxnSpPr>
          <p:cNvPr id="1454" name="Google Shape;1454;p100"/>
          <p:cNvCxnSpPr>
            <a:stCxn id="1442" idx="3"/>
            <a:endCxn id="1443" idx="1"/>
          </p:cNvCxnSpPr>
          <p:nvPr/>
        </p:nvCxnSpPr>
        <p:spPr>
          <a:xfrm>
            <a:off x="2887200" y="1788600"/>
            <a:ext cx="3369600" cy="1639800"/>
          </a:xfrm>
          <a:prstGeom prst="straightConnector1">
            <a:avLst/>
          </a:prstGeom>
          <a:noFill/>
          <a:ln cap="flat" cmpd="sng" w="38100">
            <a:solidFill>
              <a:schemeClr val="accent2"/>
            </a:solidFill>
            <a:prstDash val="solid"/>
            <a:round/>
            <a:headEnd len="med" w="med" type="none"/>
            <a:tailEnd len="med" w="med" type="none"/>
          </a:ln>
        </p:spPr>
      </p:cxnSp>
      <p:cxnSp>
        <p:nvCxnSpPr>
          <p:cNvPr id="1455" name="Google Shape;1455;p100"/>
          <p:cNvCxnSpPr>
            <a:stCxn id="1444" idx="3"/>
            <a:endCxn id="1445" idx="1"/>
          </p:cNvCxnSpPr>
          <p:nvPr/>
        </p:nvCxnSpPr>
        <p:spPr>
          <a:xfrm>
            <a:off x="2887200" y="2331425"/>
            <a:ext cx="3369600" cy="3900"/>
          </a:xfrm>
          <a:prstGeom prst="straightConnector1">
            <a:avLst/>
          </a:prstGeom>
          <a:noFill/>
          <a:ln cap="flat" cmpd="sng" w="38100">
            <a:solidFill>
              <a:schemeClr val="accent2"/>
            </a:solidFill>
            <a:prstDash val="solid"/>
            <a:round/>
            <a:headEnd len="med" w="med" type="none"/>
            <a:tailEnd len="med" w="med" type="none"/>
          </a:ln>
        </p:spPr>
      </p:cxnSp>
      <p:cxnSp>
        <p:nvCxnSpPr>
          <p:cNvPr id="1456" name="Google Shape;1456;p100"/>
          <p:cNvCxnSpPr>
            <a:endCxn id="1447" idx="1"/>
          </p:cNvCxnSpPr>
          <p:nvPr/>
        </p:nvCxnSpPr>
        <p:spPr>
          <a:xfrm flipH="1" rot="10800000">
            <a:off x="2887200" y="1788600"/>
            <a:ext cx="3369600" cy="1093200"/>
          </a:xfrm>
          <a:prstGeom prst="straightConnector1">
            <a:avLst/>
          </a:prstGeom>
          <a:noFill/>
          <a:ln cap="flat" cmpd="sng" w="38100">
            <a:solidFill>
              <a:schemeClr val="accent2"/>
            </a:solidFill>
            <a:prstDash val="solid"/>
            <a:round/>
            <a:headEnd len="med" w="med" type="none"/>
            <a:tailEnd len="med" w="med" type="none"/>
          </a:ln>
        </p:spPr>
      </p:cxnSp>
      <p:cxnSp>
        <p:nvCxnSpPr>
          <p:cNvPr id="1457" name="Google Shape;1457;p100"/>
          <p:cNvCxnSpPr>
            <a:stCxn id="1448" idx="3"/>
            <a:endCxn id="1449" idx="1"/>
          </p:cNvCxnSpPr>
          <p:nvPr/>
        </p:nvCxnSpPr>
        <p:spPr>
          <a:xfrm>
            <a:off x="2887200" y="3417075"/>
            <a:ext cx="3369600" cy="1085700"/>
          </a:xfrm>
          <a:prstGeom prst="straightConnector1">
            <a:avLst/>
          </a:prstGeom>
          <a:noFill/>
          <a:ln cap="flat" cmpd="sng" w="38100">
            <a:solidFill>
              <a:schemeClr val="accent2"/>
            </a:solidFill>
            <a:prstDash val="solid"/>
            <a:round/>
            <a:headEnd len="med" w="med" type="none"/>
            <a:tailEnd len="med" w="med" type="none"/>
          </a:ln>
        </p:spPr>
      </p:cxnSp>
      <p:cxnSp>
        <p:nvCxnSpPr>
          <p:cNvPr id="1458" name="Google Shape;1458;p100"/>
          <p:cNvCxnSpPr/>
          <p:nvPr/>
        </p:nvCxnSpPr>
        <p:spPr>
          <a:xfrm flipH="1" rot="10800000">
            <a:off x="2887200" y="2881800"/>
            <a:ext cx="3369600" cy="1093200"/>
          </a:xfrm>
          <a:prstGeom prst="straightConnector1">
            <a:avLst/>
          </a:prstGeom>
          <a:noFill/>
          <a:ln cap="flat" cmpd="sng" w="38100">
            <a:solidFill>
              <a:schemeClr val="accent2"/>
            </a:solidFill>
            <a:prstDash val="solid"/>
            <a:round/>
            <a:headEnd len="med" w="med" type="none"/>
            <a:tailEnd len="med" w="med" type="none"/>
          </a:ln>
        </p:spPr>
      </p:cxnSp>
      <p:cxnSp>
        <p:nvCxnSpPr>
          <p:cNvPr id="1459" name="Google Shape;1459;p100"/>
          <p:cNvCxnSpPr>
            <a:endCxn id="1451" idx="1"/>
          </p:cNvCxnSpPr>
          <p:nvPr/>
        </p:nvCxnSpPr>
        <p:spPr>
          <a:xfrm flipH="1" rot="10800000">
            <a:off x="2887200" y="3975000"/>
            <a:ext cx="3369600" cy="582600"/>
          </a:xfrm>
          <a:prstGeom prst="straightConnector1">
            <a:avLst/>
          </a:prstGeom>
          <a:noFill/>
          <a:ln cap="flat" cmpd="sng" w="38100">
            <a:solidFill>
              <a:schemeClr val="accent2"/>
            </a:solidFill>
            <a:prstDash val="solid"/>
            <a:round/>
            <a:headEnd len="med" w="med" type="none"/>
            <a:tailEnd len="med" w="med"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01"/>
          <p:cNvSpPr/>
          <p:nvPr/>
        </p:nvSpPr>
        <p:spPr>
          <a:xfrm rot="8702177">
            <a:off x="7916410" y="893972"/>
            <a:ext cx="845988" cy="497782"/>
          </a:xfrm>
          <a:prstGeom prst="homePlat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5" name="Google Shape;1465;p101"/>
          <p:cNvSpPr txBox="1"/>
          <p:nvPr>
            <p:ph idx="1" type="body"/>
          </p:nvPr>
        </p:nvSpPr>
        <p:spPr>
          <a:xfrm>
            <a:off x="324000" y="759300"/>
            <a:ext cx="8496000" cy="248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Find the cost of the following:</a:t>
            </a:r>
            <a:endParaRPr sz="1800"/>
          </a:p>
          <a:p>
            <a:pPr indent="-342900" lvl="0" marL="457200" rtl="0" algn="l">
              <a:spcBef>
                <a:spcPts val="1000"/>
              </a:spcBef>
              <a:spcAft>
                <a:spcPts val="0"/>
              </a:spcAft>
              <a:buSzPts val="1800"/>
              <a:buAutoNum type="alphaLcParenR"/>
            </a:pPr>
            <a:r>
              <a:rPr lang="en-GB" sz="1800"/>
              <a:t>2 boxes  </a:t>
            </a:r>
            <a:r>
              <a:rPr lang="en-GB" sz="1800">
                <a:latin typeface="Kalam"/>
                <a:ea typeface="Kalam"/>
                <a:cs typeface="Kalam"/>
                <a:sym typeface="Kalam"/>
              </a:rPr>
              <a:t>£9.50</a:t>
            </a:r>
            <a:endParaRPr sz="1800">
              <a:latin typeface="Kalam"/>
              <a:ea typeface="Kalam"/>
              <a:cs typeface="Kalam"/>
              <a:sym typeface="Kalam"/>
            </a:endParaRPr>
          </a:p>
          <a:p>
            <a:pPr indent="-342900" lvl="0" marL="457200" rtl="0" algn="l">
              <a:spcBef>
                <a:spcPts val="0"/>
              </a:spcBef>
              <a:spcAft>
                <a:spcPts val="0"/>
              </a:spcAft>
              <a:buSzPts val="1800"/>
              <a:buAutoNum type="alphaLcParenR"/>
            </a:pPr>
            <a:r>
              <a:rPr lang="en-GB" sz="1800"/>
              <a:t>10 boxes</a:t>
            </a:r>
            <a:r>
              <a:rPr lang="en-GB" sz="1800"/>
              <a:t>  </a:t>
            </a:r>
            <a:r>
              <a:rPr lang="en-GB" sz="1800">
                <a:latin typeface="Kalam"/>
                <a:ea typeface="Kalam"/>
                <a:cs typeface="Kalam"/>
                <a:sym typeface="Kalam"/>
              </a:rPr>
              <a:t>£47.50</a:t>
            </a:r>
            <a:endParaRPr sz="1800"/>
          </a:p>
          <a:p>
            <a:pPr indent="-342900" lvl="0" marL="457200" rtl="0" algn="l">
              <a:spcBef>
                <a:spcPts val="0"/>
              </a:spcBef>
              <a:spcAft>
                <a:spcPts val="0"/>
              </a:spcAft>
              <a:buSzPts val="1800"/>
              <a:buAutoNum type="alphaLcParenR"/>
            </a:pPr>
            <a:r>
              <a:rPr lang="en-GB" sz="1800"/>
              <a:t>5 boxes</a:t>
            </a:r>
            <a:r>
              <a:rPr lang="en-GB" sz="1800"/>
              <a:t>  </a:t>
            </a:r>
            <a:r>
              <a:rPr lang="en-GB" sz="1800">
                <a:latin typeface="Kalam"/>
                <a:ea typeface="Kalam"/>
                <a:cs typeface="Kalam"/>
                <a:sym typeface="Kalam"/>
              </a:rPr>
              <a:t>£23.75</a:t>
            </a:r>
            <a:endParaRPr sz="1800"/>
          </a:p>
          <a:p>
            <a:pPr indent="-342900" lvl="0" marL="457200" rtl="0" algn="l">
              <a:spcBef>
                <a:spcPts val="0"/>
              </a:spcBef>
              <a:spcAft>
                <a:spcPts val="0"/>
              </a:spcAft>
              <a:buSzPts val="1800"/>
              <a:buAutoNum type="alphaLcParenR"/>
            </a:pPr>
            <a:r>
              <a:rPr lang="en-GB" sz="1800"/>
              <a:t>6 boxes</a:t>
            </a:r>
            <a:r>
              <a:rPr lang="en-GB" sz="1800"/>
              <a:t>  </a:t>
            </a:r>
            <a:r>
              <a:rPr lang="en-GB" sz="1800">
                <a:latin typeface="Kalam"/>
                <a:ea typeface="Kalam"/>
                <a:cs typeface="Kalam"/>
                <a:sym typeface="Kalam"/>
              </a:rPr>
              <a:t>£28.50</a:t>
            </a:r>
            <a:endParaRPr sz="1800"/>
          </a:p>
          <a:p>
            <a:pPr indent="0" lvl="0" marL="0" rtl="0" algn="l">
              <a:spcBef>
                <a:spcPts val="1000"/>
              </a:spcBef>
              <a:spcAft>
                <a:spcPts val="0"/>
              </a:spcAft>
              <a:buNone/>
            </a:pPr>
            <a:r>
              <a:rPr lang="en-GB" sz="1800"/>
              <a:t>3)   The Oak students decide to buy one box of chocolates between them.</a:t>
            </a:r>
            <a:endParaRPr sz="1800"/>
          </a:p>
          <a:p>
            <a:pPr indent="0" lvl="0" marL="0" rtl="0" algn="l">
              <a:spcBef>
                <a:spcPts val="1000"/>
              </a:spcBef>
              <a:spcAft>
                <a:spcPts val="0"/>
              </a:spcAft>
              <a:buNone/>
            </a:pPr>
            <a:r>
              <a:rPr lang="en-GB" sz="1800"/>
              <a:t>Work out how much each person pays if:</a:t>
            </a:r>
            <a:endParaRPr sz="1800"/>
          </a:p>
          <a:p>
            <a:pPr indent="-342900" lvl="0" marL="457200" rtl="0" algn="l">
              <a:spcBef>
                <a:spcPts val="1000"/>
              </a:spcBef>
              <a:spcAft>
                <a:spcPts val="0"/>
              </a:spcAft>
              <a:buSzPts val="1800"/>
              <a:buAutoNum type="alphaLcParenR"/>
            </a:pPr>
            <a:r>
              <a:rPr lang="en-GB" sz="1800"/>
              <a:t>2 students buy the box</a:t>
            </a:r>
            <a:r>
              <a:rPr lang="en-GB" sz="1800"/>
              <a:t>  </a:t>
            </a:r>
            <a:r>
              <a:rPr lang="en-GB" sz="1800">
                <a:latin typeface="Kalam"/>
                <a:ea typeface="Kalam"/>
                <a:cs typeface="Kalam"/>
                <a:sym typeface="Kalam"/>
              </a:rPr>
              <a:t>£2.90</a:t>
            </a:r>
            <a:endParaRPr sz="1800"/>
          </a:p>
          <a:p>
            <a:pPr indent="-342900" lvl="0" marL="457200" rtl="0" algn="l">
              <a:spcBef>
                <a:spcPts val="0"/>
              </a:spcBef>
              <a:spcAft>
                <a:spcPts val="0"/>
              </a:spcAft>
              <a:buSzPts val="1800"/>
              <a:buAutoNum type="alphaLcParenR"/>
            </a:pPr>
            <a:r>
              <a:rPr lang="en-GB" sz="1800"/>
              <a:t>4</a:t>
            </a:r>
            <a:r>
              <a:rPr lang="en-GB" sz="1800"/>
              <a:t> students buy the box  </a:t>
            </a:r>
            <a:r>
              <a:rPr lang="en-GB" sz="1800">
                <a:latin typeface="Kalam"/>
                <a:ea typeface="Kalam"/>
                <a:cs typeface="Kalam"/>
                <a:sym typeface="Kalam"/>
              </a:rPr>
              <a:t>£1.45</a:t>
            </a:r>
            <a:endParaRPr sz="1800"/>
          </a:p>
          <a:p>
            <a:pPr indent="-342900" lvl="0" marL="457200" rtl="0" algn="l">
              <a:spcBef>
                <a:spcPts val="0"/>
              </a:spcBef>
              <a:spcAft>
                <a:spcPts val="0"/>
              </a:spcAft>
              <a:buSzPts val="1800"/>
              <a:buAutoNum type="alphaLcParenR"/>
            </a:pPr>
            <a:r>
              <a:rPr lang="en-GB" sz="1800"/>
              <a:t>5 students buy the box</a:t>
            </a:r>
            <a:r>
              <a:rPr lang="en-GB" sz="1800"/>
              <a:t> </a:t>
            </a:r>
            <a:r>
              <a:rPr lang="en-GB" sz="1800"/>
              <a:t> </a:t>
            </a:r>
            <a:r>
              <a:rPr lang="en-GB" sz="1800">
                <a:latin typeface="Kalam"/>
                <a:ea typeface="Kalam"/>
                <a:cs typeface="Kalam"/>
                <a:sym typeface="Kalam"/>
              </a:rPr>
              <a:t>£1.16</a:t>
            </a:r>
            <a:endParaRPr sz="1800"/>
          </a:p>
        </p:txBody>
      </p:sp>
      <p:sp>
        <p:nvSpPr>
          <p:cNvPr id="1466" name="Google Shape;1466;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Multiplication and division of decimals</a:t>
            </a:r>
            <a:endParaRPr/>
          </a:p>
        </p:txBody>
      </p:sp>
      <p:pic>
        <p:nvPicPr>
          <p:cNvPr id="1467" name="Google Shape;1467;p101"/>
          <p:cNvPicPr preferRelativeResize="0"/>
          <p:nvPr/>
        </p:nvPicPr>
        <p:blipFill>
          <a:blip r:embed="rId3">
            <a:alphaModFix/>
          </a:blip>
          <a:stretch>
            <a:fillRect/>
          </a:stretch>
        </p:blipFill>
        <p:spPr>
          <a:xfrm>
            <a:off x="7088951" y="1163923"/>
            <a:ext cx="894961" cy="797475"/>
          </a:xfrm>
          <a:prstGeom prst="rect">
            <a:avLst/>
          </a:prstGeom>
          <a:noFill/>
          <a:ln>
            <a:noFill/>
          </a:ln>
        </p:spPr>
      </p:pic>
      <p:sp>
        <p:nvSpPr>
          <p:cNvPr id="1468" name="Google Shape;1468;p101"/>
          <p:cNvSpPr txBox="1"/>
          <p:nvPr/>
        </p:nvSpPr>
        <p:spPr>
          <a:xfrm rot="-2043122">
            <a:off x="7915347" y="843961"/>
            <a:ext cx="948307" cy="49241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£4.75</a:t>
            </a:r>
            <a:endParaRPr sz="2000">
              <a:latin typeface="Lexend"/>
              <a:ea typeface="Lexend"/>
              <a:cs typeface="Lexend"/>
              <a:sym typeface="Lexend"/>
            </a:endParaRPr>
          </a:p>
        </p:txBody>
      </p:sp>
      <p:sp>
        <p:nvSpPr>
          <p:cNvPr id="1469" name="Google Shape;1469;p101"/>
          <p:cNvSpPr/>
          <p:nvPr/>
        </p:nvSpPr>
        <p:spPr>
          <a:xfrm rot="8702177">
            <a:off x="7816210" y="3430497"/>
            <a:ext cx="845988" cy="497782"/>
          </a:xfrm>
          <a:prstGeom prst="homePlate">
            <a:avLst>
              <a:gd fmla="val 50000"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470" name="Google Shape;1470;p101"/>
          <p:cNvPicPr preferRelativeResize="0"/>
          <p:nvPr/>
        </p:nvPicPr>
        <p:blipFill>
          <a:blip r:embed="rId3">
            <a:alphaModFix/>
          </a:blip>
          <a:stretch>
            <a:fillRect/>
          </a:stretch>
        </p:blipFill>
        <p:spPr>
          <a:xfrm>
            <a:off x="6988751" y="3700448"/>
            <a:ext cx="894961" cy="797475"/>
          </a:xfrm>
          <a:prstGeom prst="rect">
            <a:avLst/>
          </a:prstGeom>
          <a:noFill/>
          <a:ln>
            <a:noFill/>
          </a:ln>
        </p:spPr>
      </p:pic>
      <p:sp>
        <p:nvSpPr>
          <p:cNvPr id="1471" name="Google Shape;1471;p101"/>
          <p:cNvSpPr txBox="1"/>
          <p:nvPr/>
        </p:nvSpPr>
        <p:spPr>
          <a:xfrm rot="-2043122">
            <a:off x="7815147" y="3380486"/>
            <a:ext cx="948307" cy="49241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£5.80</a:t>
            </a:r>
            <a:endParaRPr sz="2000">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02"/>
          <p:cNvSpPr txBox="1"/>
          <p:nvPr>
            <p:ph idx="1" type="body"/>
          </p:nvPr>
        </p:nvSpPr>
        <p:spPr>
          <a:xfrm>
            <a:off x="324000" y="851400"/>
            <a:ext cx="84960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Understanding of arithmetic procedures allows you to make calculations easier with both </a:t>
            </a:r>
            <a:r>
              <a:rPr b="1" lang="en-GB" sz="2000"/>
              <a:t>integers</a:t>
            </a:r>
            <a:r>
              <a:rPr lang="en-GB" sz="2000"/>
              <a:t> and decimals.</a:t>
            </a:r>
            <a:endParaRPr sz="2000"/>
          </a:p>
          <a:p>
            <a:pPr indent="0" lvl="0" marL="0" rtl="0" algn="l">
              <a:spcBef>
                <a:spcPts val="1000"/>
              </a:spcBef>
              <a:spcAft>
                <a:spcPts val="0"/>
              </a:spcAft>
              <a:buNone/>
            </a:pPr>
            <a:r>
              <a:rPr lang="en-GB" sz="2000"/>
              <a:t>E.g. an alternative way of multiplying by 5 is to multiply by 10 and then divide by 2</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rPr lang="en-GB" sz="2000"/>
              <a:t>The </a:t>
            </a:r>
            <a:r>
              <a:rPr lang="en-GB" sz="2000"/>
              <a:t>importance</a:t>
            </a:r>
            <a:r>
              <a:rPr lang="en-GB" sz="2000"/>
              <a:t> of the decimal point when adding and subtracting decimals.  </a:t>
            </a:r>
            <a:endParaRPr sz="2000"/>
          </a:p>
          <a:p>
            <a:pPr indent="0" lvl="0" marL="0" rtl="0" algn="l">
              <a:spcBef>
                <a:spcPts val="1000"/>
              </a:spcBef>
              <a:spcAft>
                <a:spcPts val="0"/>
              </a:spcAft>
              <a:buNone/>
            </a:pPr>
            <a:r>
              <a:rPr lang="en-GB" sz="2000"/>
              <a:t>Place holders must be used when subtracting decimals.</a:t>
            </a:r>
            <a:endParaRPr sz="2000"/>
          </a:p>
          <a:p>
            <a:pPr indent="0" lvl="0" marL="0" rtl="0" algn="l">
              <a:spcBef>
                <a:spcPts val="1000"/>
              </a:spcBef>
              <a:spcAft>
                <a:spcPts val="0"/>
              </a:spcAft>
              <a:buNone/>
            </a:pPr>
            <a:r>
              <a:rPr lang="en-GB" sz="2000"/>
              <a:t>E.g. </a:t>
            </a:r>
            <a:endParaRPr sz="2000"/>
          </a:p>
          <a:p>
            <a:pPr indent="0" lvl="0" marL="0" rtl="0" algn="l">
              <a:spcBef>
                <a:spcPts val="1000"/>
              </a:spcBef>
              <a:spcAft>
                <a:spcPts val="1000"/>
              </a:spcAft>
              <a:buNone/>
            </a:pPr>
            <a:r>
              <a:t/>
            </a:r>
            <a:endParaRPr sz="2000"/>
          </a:p>
        </p:txBody>
      </p:sp>
      <p:sp>
        <p:nvSpPr>
          <p:cNvPr id="1477" name="Google Shape;1477;p102"/>
          <p:cNvSpPr txBox="1"/>
          <p:nvPr>
            <p:ph type="title"/>
          </p:nvPr>
        </p:nvSpPr>
        <p:spPr>
          <a:xfrm>
            <a:off x="1684800" y="157525"/>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understanding of arithmetic procedures with integers and decimals</a:t>
            </a:r>
            <a:endParaRPr/>
          </a:p>
        </p:txBody>
      </p:sp>
      <p:pic>
        <p:nvPicPr>
          <p:cNvPr id="1478" name="Google Shape;1478;p102"/>
          <p:cNvPicPr preferRelativeResize="0"/>
          <p:nvPr/>
        </p:nvPicPr>
        <p:blipFill>
          <a:blip r:embed="rId3">
            <a:alphaModFix/>
          </a:blip>
          <a:stretch>
            <a:fillRect/>
          </a:stretch>
        </p:blipFill>
        <p:spPr>
          <a:xfrm>
            <a:off x="852150" y="4115899"/>
            <a:ext cx="709600" cy="704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03"/>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84" name="Google Shape;1484;p10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