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4" name="Shape 214"/>
        <p:cNvGrpSpPr/>
        <p:nvPr/>
      </p:nvGrpSpPr>
      <p:grpSpPr>
        <a:xfrm>
          <a:off x="0" y="0"/>
          <a:ext cx="0" cy="0"/>
        </a:xfrm>
      </p:grpSpPr>
      <p:sp>
        <p:nvSpPr>
          <p:cNvPr id="215" name="Google Shape;215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image" Target="../media/image14.png" /><Relationship Id="rId6" Type="http://schemas.openxmlformats.org/officeDocument/2006/relationships/image" Target="../media/image15.png" /><Relationship Id="rId7" Type="http://schemas.openxmlformats.org/officeDocument/2006/relationships/image" Target="../media/image1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656558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Priority of operations with positive and negative integers and decimals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505500" y="1380700"/>
            <a:ext cx="5846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Priority of operations with negatives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66150"/>
            <a:ext cx="6249000" cy="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rabi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Fill in the blanks to make the calculation in the centre 24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3389958" y="2702009"/>
            <a:ext cx="764208" cy="552852"/>
          </a:xfrm>
          <a:prstGeom prst="cloud">
            <a:avLst/>
          </a:pr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2064551" y="2333375"/>
            <a:ext cx="1144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 + (-12) × 3  </a:t>
            </a:r>
            <a:endParaRPr sz="1200"/>
          </a:p>
        </p:txBody>
      </p:sp>
      <p:sp>
        <p:nvSpPr>
          <p:cNvPr id="177" name="Google Shape;177;p20"/>
          <p:cNvSpPr txBox="1"/>
          <p:nvPr/>
        </p:nvSpPr>
        <p:spPr>
          <a:xfrm>
            <a:off x="1748298" y="3148000"/>
            <a:ext cx="1144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20 − (-8) ÷ 2</a:t>
            </a:r>
            <a:endParaRPr sz="1200"/>
          </a:p>
        </p:txBody>
      </p:sp>
      <p:sp>
        <p:nvSpPr>
          <p:cNvPr id="178" name="Google Shape;178;p20"/>
          <p:cNvSpPr txBox="1"/>
          <p:nvPr/>
        </p:nvSpPr>
        <p:spPr>
          <a:xfrm>
            <a:off x="4196728" y="2172087"/>
            <a:ext cx="167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(-240) ÷ (-10)</a:t>
            </a:r>
            <a:endParaRPr sz="1200"/>
          </a:p>
        </p:txBody>
      </p:sp>
      <p:sp>
        <p:nvSpPr>
          <p:cNvPr id="179" name="Google Shape;179;p20"/>
          <p:cNvSpPr txBox="1"/>
          <p:nvPr/>
        </p:nvSpPr>
        <p:spPr>
          <a:xfrm>
            <a:off x="3262537" y="3542619"/>
            <a:ext cx="167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+ (8) × (-2)</a:t>
            </a:r>
            <a:endParaRPr sz="1200"/>
          </a:p>
        </p:txBody>
      </p:sp>
      <p:sp>
        <p:nvSpPr>
          <p:cNvPr id="180" name="Google Shape;180;p20"/>
          <p:cNvSpPr txBox="1"/>
          <p:nvPr/>
        </p:nvSpPr>
        <p:spPr>
          <a:xfrm>
            <a:off x="4558142" y="2773417"/>
            <a:ext cx="167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+ (-2) × (-10)</a:t>
            </a:r>
            <a:endParaRPr sz="1200"/>
          </a:p>
        </p:txBody>
      </p:sp>
      <p:cxnSp>
        <p:nvCxnSpPr>
          <p:cNvPr id="181" name="Google Shape;181;p20"/>
          <p:cNvCxnSpPr/>
          <p:nvPr/>
        </p:nvCxnSpPr>
        <p:spPr>
          <a:xfrm rot="10800000">
            <a:off x="3006808" y="2610329"/>
            <a:ext cx="488400" cy="183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182;p20"/>
          <p:cNvCxnSpPr/>
          <p:nvPr/>
        </p:nvCxnSpPr>
        <p:spPr>
          <a:xfrm flipH="1">
            <a:off x="2757340" y="3062724"/>
            <a:ext cx="653100" cy="210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183;p20"/>
          <p:cNvCxnSpPr/>
          <p:nvPr/>
        </p:nvCxnSpPr>
        <p:spPr>
          <a:xfrm flipH="1">
            <a:off x="3761580" y="3242382"/>
            <a:ext cx="1200" cy="2181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184;p20"/>
          <p:cNvCxnSpPr/>
          <p:nvPr/>
        </p:nvCxnSpPr>
        <p:spPr>
          <a:xfrm rot="10800000" flipH="1">
            <a:off x="4155347" y="2906208"/>
            <a:ext cx="402900" cy="58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" name="Google Shape;185;p20"/>
          <p:cNvCxnSpPr/>
          <p:nvPr/>
        </p:nvCxnSpPr>
        <p:spPr>
          <a:xfrm rot="10800000" flipH="1">
            <a:off x="3996813" y="2453541"/>
            <a:ext cx="342600" cy="247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6" name="Google Shape;186;p20"/>
          <p:cNvSpPr txBox="1"/>
          <p:nvPr/>
        </p:nvSpPr>
        <p:spPr>
          <a:xfrm>
            <a:off x="468000" y="4101850"/>
            <a:ext cx="8158500" cy="6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Work out the following, ensuring to show your working out.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7" name="Google Shape;187;p20" descr="&lt;math xmlns=&quot;http://www.w3.org/1998/Math/MathML&quot; display=&quot;block&quot; data-is-equatio=&quot;1&quot; data-latex=&quot;\begin{array}{l}50\ -\left(-100+149\right)\div\left(-7\right)\\&amp;#13;&amp;#10;50-\left(149+\left(-100\right)\right)\div\left(-7\right)\\&amp;#13;&amp;#10;50\ -\left(49\right)\div\left(-7\right)\\&amp;#13;&amp;#10;50-\frac{49}{\left(-7\right)}\\&amp;#13;&amp;#10;50-\left(-7\right)\\&amp;#13;&amp;#10;50+7\ =\ 57\end{array}&quot;&gt;&lt;mtable columnalign=&quot;left&quot; columnspacing=&quot;1em&quot; rowspacing=&quot;4pt&quot;&gt;&lt;mtr&gt;&lt;mtd&gt;&lt;mn&gt;50&lt;/mn&gt;&lt;mtext&gt;&lt;/mtext&gt;&lt;mo&gt;−&lt;/mo&gt;&lt;mrow data-mjx-texclass=&quot;INNER&quot;&gt;&lt;mo data-mjx-texclass=&quot;OPEN&quot;&gt;(&lt;/mo&gt;&lt;mo&gt;−&lt;/mo&gt;&lt;mn&gt;100&lt;/mn&gt;&lt;mo&gt;+&lt;/mo&gt;&lt;mn&gt;1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row data-mjx-texclass=&quot;INNER&quot;&gt;&lt;mo data-mjx-texclass=&quot;OPEN&quot;&gt;(&lt;/mo&gt;&lt;mn&gt;149&lt;/mn&gt;&lt;mo&gt;+&lt;/mo&gt;&lt;mrow data-mjx-texclass=&quot;INNER&quot;&gt;&lt;mo data-mjx-texclass=&quot;OPEN&quot;&gt;(&lt;/mo&gt;&lt;mo&gt;−&lt;/mo&gt;&lt;mn&gt;100&lt;/mn&gt;&lt;mo data-mjx-texclass=&quot;CLOSE&quot;&gt;)&lt;/mo&gt;&lt;/mrow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text&gt;&lt;/mtext&gt;&lt;mo&gt;−&lt;/mo&gt;&lt;mrow data-mjx-texclass=&quot;INNER&quot;&gt;&lt;mo data-mjx-texclass=&quot;OPEN&quot;&gt;(&lt;/mo&gt;&lt;mn&gt;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frac&gt;&lt;mn&gt;49&lt;/mn&gt;&lt;mrow data-mjx-texclass=&quot;INNER&quot;&gt;&lt;mo data-mjx-texclass=&quot;OPEN&quot;&gt;(&lt;/mo&gt;&lt;mo&gt;−&lt;/mo&gt;&lt;mn&gt;7&lt;/mn&gt;&lt;mo data-mjx-texclass=&quot;CLOSE&quot;&gt;)&lt;/mo&gt;&lt;/mrow&gt;&lt;/mfrac&gt;&lt;/mtd&gt;&lt;/mtr&gt;&lt;mtr&gt;&lt;mtd&gt;&lt;mn&gt;50&lt;/mn&gt;&lt;mo&gt;−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+&lt;/mo&gt;&lt;mn&gt;7&lt;/mn&gt;&lt;mtext&gt;&lt;/mtext&gt;&lt;mo&gt;=&lt;/mo&gt;&lt;mtext&gt;&lt;/mtext&gt;&lt;mn&gt;57&lt;/mn&gt;&lt;/mtd&gt;&lt;/mtr&gt;&lt;/mtable&gt;&lt;/math&gt;" title="6 lines Line 1: 50 negative open paren negative 100 plus 149 close paren divided by negative 7 Line 2: 50 minus open paren 149 plus negative 100 close paren divided by negative 7 Line 3: 50 negative 49 divided by negative 7 Line 4: 50 minus the fraction with numerator 49 and denominator negative 7 Line 5: 50 minus negative 7 Line 6: 50 plus 7 equals 57"/>
          <p:cNvPicPr preferRelativeResize="0"/>
          <p:nvPr/>
        </p:nvPicPr>
        <p:blipFill>
          <a:blip r:embed="rId3">
            <a:alphaModFix/>
          </a:blip>
          <a:srcRect b="87114"/>
          <a:stretch>
            <a:fillRect/>
          </a:stretch>
        </p:blipFill>
        <p:spPr>
          <a:xfrm>
            <a:off x="4163204" y="4569606"/>
            <a:ext cx="2928793" cy="280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&lt;math xmlns=&quot;http://www.w3.org/1998/Math/MathML&quot; display=&quot;block&quot; data-is-equatio=&quot;1&quot; data-latex=&quot;\begin{array}{l}50\ -\left(-100+149\right)\div\left(-7\right)\\&amp;#13;&amp;#10;50-\left(149+\left(-100\right)\right)\div\left(-7\right)\\&amp;#13;&amp;#10;50\ -\left(49\right)\div\left(-7\right)\\&amp;#13;&amp;#10;50-\frac{49}{\left(-7\right)}\\&amp;#13;&amp;#10;50-\left(-7\right)\\&amp;#13;&amp;#10;50+7\ =\ 57\end{array}&quot;&gt;&lt;mtable columnalign=&quot;left&quot; columnspacing=&quot;1em&quot; rowspacing=&quot;4pt&quot;&gt;&lt;mtr&gt;&lt;mtd&gt;&lt;mn&gt;50&lt;/mn&gt;&lt;mtext&gt;&lt;/mtext&gt;&lt;mo&gt;−&lt;/mo&gt;&lt;mrow data-mjx-texclass=&quot;INNER&quot;&gt;&lt;mo data-mjx-texclass=&quot;OPEN&quot;&gt;(&lt;/mo&gt;&lt;mo&gt;−&lt;/mo&gt;&lt;mn&gt;100&lt;/mn&gt;&lt;mo&gt;+&lt;/mo&gt;&lt;mn&gt;1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row data-mjx-texclass=&quot;INNER&quot;&gt;&lt;mo data-mjx-texclass=&quot;OPEN&quot;&gt;(&lt;/mo&gt;&lt;mn&gt;149&lt;/mn&gt;&lt;mo&gt;+&lt;/mo&gt;&lt;mrow data-mjx-texclass=&quot;INNER&quot;&gt;&lt;mo data-mjx-texclass=&quot;OPEN&quot;&gt;(&lt;/mo&gt;&lt;mo&gt;−&lt;/mo&gt;&lt;mn&gt;100&lt;/mn&gt;&lt;mo data-mjx-texclass=&quot;CLOSE&quot;&gt;)&lt;/mo&gt;&lt;/mrow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text&gt;&lt;/mtext&gt;&lt;mo&gt;−&lt;/mo&gt;&lt;mrow data-mjx-texclass=&quot;INNER&quot;&gt;&lt;mo data-mjx-texclass=&quot;OPEN&quot;&gt;(&lt;/mo&gt;&lt;mn&gt;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frac&gt;&lt;mn&gt;49&lt;/mn&gt;&lt;mrow data-mjx-texclass=&quot;INNER&quot;&gt;&lt;mo data-mjx-texclass=&quot;OPEN&quot;&gt;(&lt;/mo&gt;&lt;mo&gt;−&lt;/mo&gt;&lt;mn&gt;7&lt;/mn&gt;&lt;mo data-mjx-texclass=&quot;CLOSE&quot;&gt;)&lt;/mo&gt;&lt;/mrow&gt;&lt;/mfrac&gt;&lt;/mtd&gt;&lt;/mtr&gt;&lt;mtr&gt;&lt;mtd&gt;&lt;mn&gt;50&lt;/mn&gt;&lt;mo&gt;−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+&lt;/mo&gt;&lt;mn&gt;7&lt;/mn&gt;&lt;mtext&gt;&lt;/mtext&gt;&lt;mo&gt;=&lt;/mo&gt;&lt;mtext&gt;&lt;/mtext&gt;&lt;mn&gt;57&lt;/mn&gt;&lt;/mtd&gt;&lt;/mtr&gt;&lt;/mtable&gt;&lt;/math&gt;" title="6 lines Line 1: 50 negative open paren negative 100 plus 149 close paren divided by negative 7 Line 2: 50 minus open paren 149 plus negative 100 close paren divided by negative 7 Line 3: 50 negative 49 divided by negative 7 Line 4: 50 minus the fraction with numerator 49 and denominator negative 7 Line 5: 50 minus negative 7 Line 6: 50 plus 7 equals 57"/>
          <p:cNvPicPr preferRelativeResize="0"/>
          <p:nvPr/>
        </p:nvPicPr>
        <p:blipFill>
          <a:blip r:embed="rId3">
            <a:alphaModFix/>
          </a:blip>
          <a:srcRect t="16012" b="71101"/>
          <a:stretch>
            <a:fillRect/>
          </a:stretch>
        </p:blipFill>
        <p:spPr>
          <a:xfrm>
            <a:off x="4163204" y="4937121"/>
            <a:ext cx="2928793" cy="280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&lt;math xmlns=&quot;http://www.w3.org/1998/Math/MathML&quot; display=&quot;block&quot; data-is-equatio=&quot;1&quot; data-latex=&quot;\begin{array}{l}50\ -\left(-100+149\right)\div\left(-7\right)\\&amp;#13;&amp;#10;50-\left(149+\left(-100\right)\right)\div\left(-7\right)\\&amp;#13;&amp;#10;50\ -\left(49\right)\div\left(-7\right)\\&amp;#13;&amp;#10;50-\frac{49}{\left(-7\right)}\\&amp;#13;&amp;#10;50-\left(-7\right)\\&amp;#13;&amp;#10;50+7\ =\ 57\end{array}&quot;&gt;&lt;mtable columnalign=&quot;left&quot; columnspacing=&quot;1em&quot; rowspacing=&quot;4pt&quot;&gt;&lt;mtr&gt;&lt;mtd&gt;&lt;mn&gt;50&lt;/mn&gt;&lt;mtext&gt;&lt;/mtext&gt;&lt;mo&gt;−&lt;/mo&gt;&lt;mrow data-mjx-texclass=&quot;INNER&quot;&gt;&lt;mo data-mjx-texclass=&quot;OPEN&quot;&gt;(&lt;/mo&gt;&lt;mo&gt;−&lt;/mo&gt;&lt;mn&gt;100&lt;/mn&gt;&lt;mo&gt;+&lt;/mo&gt;&lt;mn&gt;1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row data-mjx-texclass=&quot;INNER&quot;&gt;&lt;mo data-mjx-texclass=&quot;OPEN&quot;&gt;(&lt;/mo&gt;&lt;mn&gt;149&lt;/mn&gt;&lt;mo&gt;+&lt;/mo&gt;&lt;mrow data-mjx-texclass=&quot;INNER&quot;&gt;&lt;mo data-mjx-texclass=&quot;OPEN&quot;&gt;(&lt;/mo&gt;&lt;mo&gt;−&lt;/mo&gt;&lt;mn&gt;100&lt;/mn&gt;&lt;mo data-mjx-texclass=&quot;CLOSE&quot;&gt;)&lt;/mo&gt;&lt;/mrow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text&gt;&lt;/mtext&gt;&lt;mo&gt;−&lt;/mo&gt;&lt;mrow data-mjx-texclass=&quot;INNER&quot;&gt;&lt;mo data-mjx-texclass=&quot;OPEN&quot;&gt;(&lt;/mo&gt;&lt;mn&gt;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frac&gt;&lt;mn&gt;49&lt;/mn&gt;&lt;mrow data-mjx-texclass=&quot;INNER&quot;&gt;&lt;mo data-mjx-texclass=&quot;OPEN&quot;&gt;(&lt;/mo&gt;&lt;mo&gt;−&lt;/mo&gt;&lt;mn&gt;7&lt;/mn&gt;&lt;mo data-mjx-texclass=&quot;CLOSE&quot;&gt;)&lt;/mo&gt;&lt;/mrow&gt;&lt;/mfrac&gt;&lt;/mtd&gt;&lt;/mtr&gt;&lt;mtr&gt;&lt;mtd&gt;&lt;mn&gt;50&lt;/mn&gt;&lt;mo&gt;−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+&lt;/mo&gt;&lt;mn&gt;7&lt;/mn&gt;&lt;mtext&gt;&lt;/mtext&gt;&lt;mo&gt;=&lt;/mo&gt;&lt;mtext&gt;&lt;/mtext&gt;&lt;mn&gt;57&lt;/mn&gt;&lt;/mtd&gt;&lt;/mtr&gt;&lt;/mtable&gt;&lt;/math&gt;" title="6 lines Line 1: 50 negative open paren negative 100 plus 149 close paren divided by negative 7 Line 2: 50 minus open paren 149 plus negative 100 close paren divided by negative 7 Line 3: 50 negative 49 divided by negative 7 Line 4: 50 minus the fraction with numerator 49 and denominator negative 7 Line 5: 50 minus negative 7 Line 6: 50 plus 7 equals 57"/>
          <p:cNvPicPr preferRelativeResize="0"/>
          <p:nvPr/>
        </p:nvPicPr>
        <p:blipFill>
          <a:blip r:embed="rId3">
            <a:alphaModFix/>
          </a:blip>
          <a:srcRect t="32909" b="54205"/>
          <a:stretch>
            <a:fillRect/>
          </a:stretch>
        </p:blipFill>
        <p:spPr>
          <a:xfrm>
            <a:off x="4163204" y="5304636"/>
            <a:ext cx="2928793" cy="280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&lt;math xmlns=&quot;http://www.w3.org/1998/Math/MathML&quot; display=&quot;block&quot; data-is-equatio=&quot;1&quot; data-latex=&quot;\begin{array}{l}50\ -\left(-100+149\right)\div\left(-7\right)\\&amp;#13;&amp;#10;50-\left(149+\left(-100\right)\right)\div\left(-7\right)\\&amp;#13;&amp;#10;50\ -\left(49\right)\div\left(-7\right)\\&amp;#13;&amp;#10;50-\frac{49}{\left(-7\right)}\\&amp;#13;&amp;#10;50-\left(-7\right)\\&amp;#13;&amp;#10;50+7\ =\ 57\end{array}&quot;&gt;&lt;mtable columnalign=&quot;left&quot; columnspacing=&quot;1em&quot; rowspacing=&quot;4pt&quot;&gt;&lt;mtr&gt;&lt;mtd&gt;&lt;mn&gt;50&lt;/mn&gt;&lt;mtext&gt;&lt;/mtext&gt;&lt;mo&gt;−&lt;/mo&gt;&lt;mrow data-mjx-texclass=&quot;INNER&quot;&gt;&lt;mo data-mjx-texclass=&quot;OPEN&quot;&gt;(&lt;/mo&gt;&lt;mo&gt;−&lt;/mo&gt;&lt;mn&gt;100&lt;/mn&gt;&lt;mo&gt;+&lt;/mo&gt;&lt;mn&gt;1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row data-mjx-texclass=&quot;INNER&quot;&gt;&lt;mo data-mjx-texclass=&quot;OPEN&quot;&gt;(&lt;/mo&gt;&lt;mn&gt;149&lt;/mn&gt;&lt;mo&gt;+&lt;/mo&gt;&lt;mrow data-mjx-texclass=&quot;INNER&quot;&gt;&lt;mo data-mjx-texclass=&quot;OPEN&quot;&gt;(&lt;/mo&gt;&lt;mo&gt;−&lt;/mo&gt;&lt;mn&gt;100&lt;/mn&gt;&lt;mo data-mjx-texclass=&quot;CLOSE&quot;&gt;)&lt;/mo&gt;&lt;/mrow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text&gt;&lt;/mtext&gt;&lt;mo&gt;−&lt;/mo&gt;&lt;mrow data-mjx-texclass=&quot;INNER&quot;&gt;&lt;mo data-mjx-texclass=&quot;OPEN&quot;&gt;(&lt;/mo&gt;&lt;mn&gt;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frac&gt;&lt;mn&gt;49&lt;/mn&gt;&lt;mrow data-mjx-texclass=&quot;INNER&quot;&gt;&lt;mo data-mjx-texclass=&quot;OPEN&quot;&gt;(&lt;/mo&gt;&lt;mo&gt;−&lt;/mo&gt;&lt;mn&gt;7&lt;/mn&gt;&lt;mo data-mjx-texclass=&quot;CLOSE&quot;&gt;)&lt;/mo&gt;&lt;/mrow&gt;&lt;/mfrac&gt;&lt;/mtd&gt;&lt;/mtr&gt;&lt;mtr&gt;&lt;mtd&gt;&lt;mn&gt;50&lt;/mn&gt;&lt;mo&gt;−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+&lt;/mo&gt;&lt;mn&gt;7&lt;/mn&gt;&lt;mtext&gt;&lt;/mtext&gt;&lt;mo&gt;=&lt;/mo&gt;&lt;mtext&gt;&lt;/mtext&gt;&lt;mn&gt;57&lt;/mn&gt;&lt;/mtd&gt;&lt;/mtr&gt;&lt;/mtable&gt;&lt;/math&gt;" title="6 lines Line 1: 50 negative open paren negative 100 plus 149 close paren divided by negative 7 Line 2: 50 minus open paren 149 plus negative 100 close paren divided by negative 7 Line 3: 50 negative 49 divided by negative 7 Line 4: 50 minus the fraction with numerator 49 and denominator negative 7 Line 5: 50 minus negative 7 Line 6: 50 plus 7 equals 57"/>
          <p:cNvPicPr preferRelativeResize="0"/>
          <p:nvPr/>
        </p:nvPicPr>
        <p:blipFill>
          <a:blip r:embed="rId3">
            <a:alphaModFix/>
          </a:blip>
          <a:srcRect t="46246" b="29380"/>
          <a:stretch>
            <a:fillRect/>
          </a:stretch>
        </p:blipFill>
        <p:spPr>
          <a:xfrm>
            <a:off x="4163204" y="5637721"/>
            <a:ext cx="2928793" cy="530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&lt;math xmlns=&quot;http://www.w3.org/1998/Math/MathML&quot; display=&quot;block&quot; data-is-equatio=&quot;1&quot; data-latex=&quot;\begin{array}{l}50\ -\left(-100+149\right)\div\left(-7\right)\\&amp;#13;&amp;#10;50-\left(149+\left(-100\right)\right)\div\left(-7\right)\\&amp;#13;&amp;#10;50\ -\left(49\right)\div\left(-7\right)\\&amp;#13;&amp;#10;50-\frac{49}{\left(-7\right)}\\&amp;#13;&amp;#10;50-\left(-7\right)\\&amp;#13;&amp;#10;50+7\ =\ 57\end{array}&quot;&gt;&lt;mtable columnalign=&quot;left&quot; columnspacing=&quot;1em&quot; rowspacing=&quot;4pt&quot;&gt;&lt;mtr&gt;&lt;mtd&gt;&lt;mn&gt;50&lt;/mn&gt;&lt;mtext&gt;&lt;/mtext&gt;&lt;mo&gt;−&lt;/mo&gt;&lt;mrow data-mjx-texclass=&quot;INNER&quot;&gt;&lt;mo data-mjx-texclass=&quot;OPEN&quot;&gt;(&lt;/mo&gt;&lt;mo&gt;−&lt;/mo&gt;&lt;mn&gt;100&lt;/mn&gt;&lt;mo&gt;+&lt;/mo&gt;&lt;mn&gt;1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row data-mjx-texclass=&quot;INNER&quot;&gt;&lt;mo data-mjx-texclass=&quot;OPEN&quot;&gt;(&lt;/mo&gt;&lt;mn&gt;149&lt;/mn&gt;&lt;mo&gt;+&lt;/mo&gt;&lt;mrow data-mjx-texclass=&quot;INNER&quot;&gt;&lt;mo data-mjx-texclass=&quot;OPEN&quot;&gt;(&lt;/mo&gt;&lt;mo&gt;−&lt;/mo&gt;&lt;mn&gt;100&lt;/mn&gt;&lt;mo data-mjx-texclass=&quot;CLOSE&quot;&gt;)&lt;/mo&gt;&lt;/mrow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text&gt;&lt;/mtext&gt;&lt;mo&gt;−&lt;/mo&gt;&lt;mrow data-mjx-texclass=&quot;INNER&quot;&gt;&lt;mo data-mjx-texclass=&quot;OPEN&quot;&gt;(&lt;/mo&gt;&lt;mn&gt;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frac&gt;&lt;mn&gt;49&lt;/mn&gt;&lt;mrow data-mjx-texclass=&quot;INNER&quot;&gt;&lt;mo data-mjx-texclass=&quot;OPEN&quot;&gt;(&lt;/mo&gt;&lt;mo&gt;−&lt;/mo&gt;&lt;mn&gt;7&lt;/mn&gt;&lt;mo data-mjx-texclass=&quot;CLOSE&quot;&gt;)&lt;/mo&gt;&lt;/mrow&gt;&lt;/mfrac&gt;&lt;/mtd&gt;&lt;/mtr&gt;&lt;mtr&gt;&lt;mtd&gt;&lt;mn&gt;50&lt;/mn&gt;&lt;mo&gt;−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+&lt;/mo&gt;&lt;mn&gt;7&lt;/mn&gt;&lt;mtext&gt;&lt;/mtext&gt;&lt;mo&gt;=&lt;/mo&gt;&lt;mtext&gt;&lt;/mtext&gt;&lt;mn&gt;57&lt;/mn&gt;&lt;/mtd&gt;&lt;/mtr&gt;&lt;/mtable&gt;&lt;/math&gt;" title="6 lines Line 1: 50 negative open paren negative 100 plus 149 close paren divided by negative 7 Line 2: 50 minus open paren 149 plus negative 100 close paren divided by negative 7 Line 3: 50 negative 49 divided by negative 7 Line 4: 50 minus the fraction with numerator 49 and denominator negative 7 Line 5: 50 minus negative 7 Line 6: 50 plus 7 equals 57"/>
          <p:cNvPicPr preferRelativeResize="0"/>
          <p:nvPr/>
        </p:nvPicPr>
        <p:blipFill>
          <a:blip r:embed="rId3">
            <a:alphaModFix/>
          </a:blip>
          <a:srcRect t="67105" b="12354"/>
          <a:stretch>
            <a:fillRect/>
          </a:stretch>
        </p:blipFill>
        <p:spPr>
          <a:xfrm>
            <a:off x="4163204" y="6091385"/>
            <a:ext cx="2928793" cy="446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&lt;math xmlns=&quot;http://www.w3.org/1998/Math/MathML&quot; display=&quot;block&quot; data-is-equatio=&quot;1&quot; data-latex=&quot;\begin{array}{l}50\ -\left(-100+149\right)\div\left(-7\right)\\&amp;#13;&amp;#10;50-\left(149+\left(-100\right)\right)\div\left(-7\right)\\&amp;#13;&amp;#10;50\ -\left(49\right)\div\left(-7\right)\\&amp;#13;&amp;#10;50-\frac{49}{\left(-7\right)}\\&amp;#13;&amp;#10;50-\left(-7\right)\\&amp;#13;&amp;#10;50+7\ =\ 57\end{array}&quot;&gt;&lt;mtable columnalign=&quot;left&quot; columnspacing=&quot;1em&quot; rowspacing=&quot;4pt&quot;&gt;&lt;mtr&gt;&lt;mtd&gt;&lt;mn&gt;50&lt;/mn&gt;&lt;mtext&gt;&lt;/mtext&gt;&lt;mo&gt;−&lt;/mo&gt;&lt;mrow data-mjx-texclass=&quot;INNER&quot;&gt;&lt;mo data-mjx-texclass=&quot;OPEN&quot;&gt;(&lt;/mo&gt;&lt;mo&gt;−&lt;/mo&gt;&lt;mn&gt;100&lt;/mn&gt;&lt;mo&gt;+&lt;/mo&gt;&lt;mn&gt;1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row data-mjx-texclass=&quot;INNER&quot;&gt;&lt;mo data-mjx-texclass=&quot;OPEN&quot;&gt;(&lt;/mo&gt;&lt;mn&gt;149&lt;/mn&gt;&lt;mo&gt;+&lt;/mo&gt;&lt;mrow data-mjx-texclass=&quot;INNER&quot;&gt;&lt;mo data-mjx-texclass=&quot;OPEN&quot;&gt;(&lt;/mo&gt;&lt;mo&gt;−&lt;/mo&gt;&lt;mn&gt;100&lt;/mn&gt;&lt;mo data-mjx-texclass=&quot;CLOSE&quot;&gt;)&lt;/mo&gt;&lt;/mrow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text&gt;&lt;/mtext&gt;&lt;mo&gt;−&lt;/mo&gt;&lt;mrow data-mjx-texclass=&quot;INNER&quot;&gt;&lt;mo data-mjx-texclass=&quot;OPEN&quot;&gt;(&lt;/mo&gt;&lt;mn&gt;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frac&gt;&lt;mn&gt;49&lt;/mn&gt;&lt;mrow data-mjx-texclass=&quot;INNER&quot;&gt;&lt;mo data-mjx-texclass=&quot;OPEN&quot;&gt;(&lt;/mo&gt;&lt;mo&gt;−&lt;/mo&gt;&lt;mn&gt;7&lt;/mn&gt;&lt;mo data-mjx-texclass=&quot;CLOSE&quot;&gt;)&lt;/mo&gt;&lt;/mrow&gt;&lt;/mfrac&gt;&lt;/mtd&gt;&lt;/mtr&gt;&lt;mtr&gt;&lt;mtd&gt;&lt;mn&gt;50&lt;/mn&gt;&lt;mo&gt;−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+&lt;/mo&gt;&lt;mn&gt;7&lt;/mn&gt;&lt;mtext&gt;&lt;/mtext&gt;&lt;mo&gt;=&lt;/mo&gt;&lt;mtext&gt;&lt;/mtext&gt;&lt;mn&gt;57&lt;/mn&gt;&lt;/mtd&gt;&lt;/mtr&gt;&lt;/mtable&gt;&lt;/math&gt;" title="6 lines Line 1: 50 negative open paren negative 100 plus 149 close paren divided by negative 7 Line 2: 50 minus open paren 149 plus negative 100 close paren divided by negative 7 Line 3: 50 negative 49 divided by negative 7 Line 4: 50 minus the fraction with numerator 49 and denominator negative 7 Line 5: 50 minus negative 7 Line 6: 50 plus 7 equals 57"/>
          <p:cNvPicPr preferRelativeResize="0"/>
          <p:nvPr/>
        </p:nvPicPr>
        <p:blipFill>
          <a:blip r:embed="rId3">
            <a:alphaModFix/>
          </a:blip>
          <a:srcRect t="84819" b="-5358"/>
          <a:stretch>
            <a:fillRect/>
          </a:stretch>
        </p:blipFill>
        <p:spPr>
          <a:xfrm>
            <a:off x="4126384" y="6476666"/>
            <a:ext cx="2928793" cy="44674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3698689" y="4467506"/>
            <a:ext cx="597600" cy="6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" name="Google Shape;194;p20" descr="&lt;math xmlns=&quot;http://www.w3.org/1998/Math/MathML&quot; display=&quot;block&quot; data-is-equatio=&quot;1&quot; data-latex=&quot;\begin{array}{l}100\ +\ \sqrt[]{100-\left(-21\right)}\div\left(-11\right)\\&amp;#13;&amp;#10;100\ +\sqrt[]{100+21}\div\left(-11\right)\\&amp;#13;&amp;#10;100+\sqrt[]{121}\div\left(-11\right)\\&amp;#13;&amp;#10;100\ +\ 11\ \div\left(-11\right)\\&amp;#13;&amp;#10;100+\frac{11}{\left(-11\right)}\\&amp;#13;&amp;#10;100+\left(-1\right)=99\end{array}&quot;&gt;&lt;mtable columnalign=&quot;left&quot; columnspacing=&quot;1em&quot; rowspacing=&quot;4pt&quot;&gt;&lt;mtr&gt;&lt;mtd&gt;&lt;mn&gt;100&lt;/mn&gt;&lt;mtext&gt;&lt;/mtext&gt;&lt;mo&gt;+&lt;/mo&gt;&lt;mtext&gt;&lt;/mtext&gt;&lt;msqrt&gt;&lt;mn&gt;100&lt;/mn&gt;&lt;mo&gt;−&lt;/mo&gt;&lt;mrow data-mjx-texclass=&quot;INNER&quot;&gt;&lt;mo data-mjx-texclass=&quot;OPEN&quot;&gt;(&lt;/mo&gt;&lt;mo&gt;−&lt;/mo&gt;&lt;mn&gt;21&lt;/mn&gt;&lt;mo data-mjx-texclass=&quot;CLOSE&quot;&gt;)&lt;/mo&gt;&lt;/mrow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sqrt&gt;&lt;mn&gt;100&lt;/mn&gt;&lt;mo&gt;+&lt;/mo&gt;&lt;mn&gt;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sqrt&gt;&lt;mn&gt;1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text&gt;&lt;/mtext&gt;&lt;mn&gt;11&lt;/mn&gt;&lt;mtext&gt;&lt;/mtex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frac&gt;&lt;mn&gt;11&lt;/mn&gt;&lt;mrow data-mjx-texclass=&quot;INNER&quot;&gt;&lt;mo data-mjx-texclass=&quot;OPEN&quot;&gt;(&lt;/mo&gt;&lt;mo&gt;−&lt;/mo&gt;&lt;mn&gt;11&lt;/mn&gt;&lt;mo data-mjx-texclass=&quot;CLOSE&quot;&gt;)&lt;/mo&gt;&lt;/mrow&gt;&lt;/mfrac&gt;&lt;/mtd&gt;&lt;/mtr&gt;&lt;mtr&gt;&lt;mtd&gt;&lt;mn&gt;100&lt;/mn&gt;&lt;mo&gt;+&lt;/mo&gt;&lt;mrow data-mjx-texclass=&quot;INNER&quot;&gt;&lt;mo data-mjx-texclass=&quot;OPEN&quot;&gt;(&lt;/mo&gt;&lt;mo&gt;−&lt;/mo&gt;&lt;mn&gt;1&lt;/mn&gt;&lt;mo data-mjx-texclass=&quot;CLOSE&quot;&gt;)&lt;/mo&gt;&lt;/mrow&gt;&lt;mo&gt;=&lt;/mo&gt;&lt;mn&gt;99&lt;/mn&gt;&lt;/mtd&gt;&lt;/mtr&gt;&lt;/mtable&gt;&lt;/math&gt;" title="6 lines Line 1: 100 plus the square root of 100 minus negative 21 divided by negative 11 Line 2: 100 positive the square root of 100 plus 21 divided by negative 11 Line 3: 100 plus the square root of 121 divided by negative 11 Line 4: 100 plus 11 division sign negative 11 Line 5: 100 plus the fraction with numerator 11 and denominator negative 11 Line 6: 100 plus negative 1 equals 99"/>
          <p:cNvPicPr preferRelativeResize="0"/>
          <p:nvPr/>
        </p:nvPicPr>
        <p:blipFill>
          <a:blip r:embed="rId4">
            <a:alphaModFix/>
          </a:blip>
          <a:srcRect b="84379"/>
          <a:stretch>
            <a:fillRect/>
          </a:stretch>
        </p:blipFill>
        <p:spPr>
          <a:xfrm>
            <a:off x="705023" y="4531204"/>
            <a:ext cx="2887362" cy="341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&lt;math xmlns=&quot;http://www.w3.org/1998/Math/MathML&quot; display=&quot;block&quot; data-is-equatio=&quot;1&quot; data-latex=&quot;\begin{array}{l}100\ +\ \sqrt[]{100-\left(-21\right)}\div\left(-11\right)\\&amp;#13;&amp;#10;100\ +\sqrt[]{100+21}\div\left(-11\right)\\&amp;#13;&amp;#10;100+\sqrt[]{121}\div\left(-11\right)\\&amp;#13;&amp;#10;100\ +\ 11\ \div\left(-11\right)\\&amp;#13;&amp;#10;100+\frac{11}{\left(-11\right)}\\&amp;#13;&amp;#10;100+\left(-1\right)=99\end{array}&quot;&gt;&lt;mtable columnalign=&quot;left&quot; columnspacing=&quot;1em&quot; rowspacing=&quot;4pt&quot;&gt;&lt;mtr&gt;&lt;mtd&gt;&lt;mn&gt;100&lt;/mn&gt;&lt;mtext&gt;&lt;/mtext&gt;&lt;mo&gt;+&lt;/mo&gt;&lt;mtext&gt;&lt;/mtext&gt;&lt;msqrt&gt;&lt;mn&gt;100&lt;/mn&gt;&lt;mo&gt;−&lt;/mo&gt;&lt;mrow data-mjx-texclass=&quot;INNER&quot;&gt;&lt;mo data-mjx-texclass=&quot;OPEN&quot;&gt;(&lt;/mo&gt;&lt;mo&gt;−&lt;/mo&gt;&lt;mn&gt;21&lt;/mn&gt;&lt;mo data-mjx-texclass=&quot;CLOSE&quot;&gt;)&lt;/mo&gt;&lt;/mrow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sqrt&gt;&lt;mn&gt;100&lt;/mn&gt;&lt;mo&gt;+&lt;/mo&gt;&lt;mn&gt;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sqrt&gt;&lt;mn&gt;1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text&gt;&lt;/mtext&gt;&lt;mn&gt;11&lt;/mn&gt;&lt;mtext&gt;&lt;/mtex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frac&gt;&lt;mn&gt;11&lt;/mn&gt;&lt;mrow data-mjx-texclass=&quot;INNER&quot;&gt;&lt;mo data-mjx-texclass=&quot;OPEN&quot;&gt;(&lt;/mo&gt;&lt;mo&gt;−&lt;/mo&gt;&lt;mn&gt;11&lt;/mn&gt;&lt;mo data-mjx-texclass=&quot;CLOSE&quot;&gt;)&lt;/mo&gt;&lt;/mrow&gt;&lt;/mfrac&gt;&lt;/mtd&gt;&lt;/mtr&gt;&lt;mtr&gt;&lt;mtd&gt;&lt;mn&gt;100&lt;/mn&gt;&lt;mo&gt;+&lt;/mo&gt;&lt;mrow data-mjx-texclass=&quot;INNER&quot;&gt;&lt;mo data-mjx-texclass=&quot;OPEN&quot;&gt;(&lt;/mo&gt;&lt;mo&gt;−&lt;/mo&gt;&lt;mn&gt;1&lt;/mn&gt;&lt;mo data-mjx-texclass=&quot;CLOSE&quot;&gt;)&lt;/mo&gt;&lt;/mrow&gt;&lt;mo&gt;=&lt;/mo&gt;&lt;mn&gt;99&lt;/mn&gt;&lt;/mtd&gt;&lt;/mtr&gt;&lt;/mtable&gt;&lt;/math&gt;" title="6 lines Line 1: 100 plus the square root of 100 minus negative 21 divided by negative 11 Line 2: 100 positive the square root of 100 plus 21 divided by negative 11 Line 3: 100 plus the square root of 121 divided by negative 11 Line 4: 100 plus 11 division sign negative 11 Line 5: 100 plus the fraction with numerator 11 and denominator negative 11 Line 6: 100 plus negative 1 equals 99"/>
          <p:cNvPicPr preferRelativeResize="0"/>
          <p:nvPr/>
        </p:nvPicPr>
        <p:blipFill>
          <a:blip r:embed="rId4">
            <a:alphaModFix/>
          </a:blip>
          <a:srcRect t="16312" b="68067"/>
          <a:stretch>
            <a:fillRect/>
          </a:stretch>
        </p:blipFill>
        <p:spPr>
          <a:xfrm>
            <a:off x="705023" y="4868735"/>
            <a:ext cx="2887362" cy="341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&lt;math xmlns=&quot;http://www.w3.org/1998/Math/MathML&quot; display=&quot;block&quot; data-is-equatio=&quot;1&quot; data-latex=&quot;\begin{array}{l}100\ +\ \sqrt[]{100-\left(-21\right)}\div\left(-11\right)\\&amp;#13;&amp;#10;100\ +\sqrt[]{100+21}\div\left(-11\right)\\&amp;#13;&amp;#10;100+\sqrt[]{121}\div\left(-11\right)\\&amp;#13;&amp;#10;100\ +\ 11\ \div\left(-11\right)\\&amp;#13;&amp;#10;100+\frac{11}{\left(-11\right)}\\&amp;#13;&amp;#10;100+\left(-1\right)=99\end{array}&quot;&gt;&lt;mtable columnalign=&quot;left&quot; columnspacing=&quot;1em&quot; rowspacing=&quot;4pt&quot;&gt;&lt;mtr&gt;&lt;mtd&gt;&lt;mn&gt;100&lt;/mn&gt;&lt;mtext&gt;&lt;/mtext&gt;&lt;mo&gt;+&lt;/mo&gt;&lt;mtext&gt;&lt;/mtext&gt;&lt;msqrt&gt;&lt;mn&gt;100&lt;/mn&gt;&lt;mo&gt;−&lt;/mo&gt;&lt;mrow data-mjx-texclass=&quot;INNER&quot;&gt;&lt;mo data-mjx-texclass=&quot;OPEN&quot;&gt;(&lt;/mo&gt;&lt;mo&gt;−&lt;/mo&gt;&lt;mn&gt;21&lt;/mn&gt;&lt;mo data-mjx-texclass=&quot;CLOSE&quot;&gt;)&lt;/mo&gt;&lt;/mrow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sqrt&gt;&lt;mn&gt;100&lt;/mn&gt;&lt;mo&gt;+&lt;/mo&gt;&lt;mn&gt;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sqrt&gt;&lt;mn&gt;1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text&gt;&lt;/mtext&gt;&lt;mn&gt;11&lt;/mn&gt;&lt;mtext&gt;&lt;/mtex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frac&gt;&lt;mn&gt;11&lt;/mn&gt;&lt;mrow data-mjx-texclass=&quot;INNER&quot;&gt;&lt;mo data-mjx-texclass=&quot;OPEN&quot;&gt;(&lt;/mo&gt;&lt;mo&gt;−&lt;/mo&gt;&lt;mn&gt;11&lt;/mn&gt;&lt;mo data-mjx-texclass=&quot;CLOSE&quot;&gt;)&lt;/mo&gt;&lt;/mrow&gt;&lt;/mfrac&gt;&lt;/mtd&gt;&lt;/mtr&gt;&lt;mtr&gt;&lt;mtd&gt;&lt;mn&gt;100&lt;/mn&gt;&lt;mo&gt;+&lt;/mo&gt;&lt;mrow data-mjx-texclass=&quot;INNER&quot;&gt;&lt;mo data-mjx-texclass=&quot;OPEN&quot;&gt;(&lt;/mo&gt;&lt;mo&gt;−&lt;/mo&gt;&lt;mn&gt;1&lt;/mn&gt;&lt;mo data-mjx-texclass=&quot;CLOSE&quot;&gt;)&lt;/mo&gt;&lt;/mrow&gt;&lt;mo&gt;=&lt;/mo&gt;&lt;mn&gt;99&lt;/mn&gt;&lt;/mtd&gt;&lt;/mtr&gt;&lt;/mtable&gt;&lt;/math&gt;" title="6 lines Line 1: 100 plus the square root of 100 minus negative 21 divided by negative 11 Line 2: 100 positive the square root of 100 plus 21 divided by negative 11 Line 3: 100 plus the square root of 121 divided by negative 11 Line 4: 100 plus 11 division sign negative 11 Line 5: 100 plus the fraction with numerator 11 and denominator negative 11 Line 6: 100 plus negative 1 equals 99"/>
          <p:cNvPicPr preferRelativeResize="0"/>
          <p:nvPr/>
        </p:nvPicPr>
        <p:blipFill>
          <a:blip r:embed="rId4">
            <a:alphaModFix/>
          </a:blip>
          <a:srcRect t="35979" b="48399"/>
          <a:stretch>
            <a:fillRect/>
          </a:stretch>
        </p:blipFill>
        <p:spPr>
          <a:xfrm>
            <a:off x="705023" y="5307459"/>
            <a:ext cx="2887362" cy="341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&lt;math xmlns=&quot;http://www.w3.org/1998/Math/MathML&quot; display=&quot;block&quot; data-is-equatio=&quot;1&quot; data-latex=&quot;\begin{array}{l}100\ +\ \sqrt[]{100-\left(-21\right)}\div\left(-11\right)\\&amp;#13;&amp;#10;100\ +\sqrt[]{100+21}\div\left(-11\right)\\&amp;#13;&amp;#10;100+\sqrt[]{121}\div\left(-11\right)\\&amp;#13;&amp;#10;100\ +\ 11\ \div\left(-11\right)\\&amp;#13;&amp;#10;100+\frac{11}{\left(-11\right)}\\&amp;#13;&amp;#10;100+\left(-1\right)=99\end{array}&quot;&gt;&lt;mtable columnalign=&quot;left&quot; columnspacing=&quot;1em&quot; rowspacing=&quot;4pt&quot;&gt;&lt;mtr&gt;&lt;mtd&gt;&lt;mn&gt;100&lt;/mn&gt;&lt;mtext&gt;&lt;/mtext&gt;&lt;mo&gt;+&lt;/mo&gt;&lt;mtext&gt;&lt;/mtext&gt;&lt;msqrt&gt;&lt;mn&gt;100&lt;/mn&gt;&lt;mo&gt;−&lt;/mo&gt;&lt;mrow data-mjx-texclass=&quot;INNER&quot;&gt;&lt;mo data-mjx-texclass=&quot;OPEN&quot;&gt;(&lt;/mo&gt;&lt;mo&gt;−&lt;/mo&gt;&lt;mn&gt;21&lt;/mn&gt;&lt;mo data-mjx-texclass=&quot;CLOSE&quot;&gt;)&lt;/mo&gt;&lt;/mrow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sqrt&gt;&lt;mn&gt;100&lt;/mn&gt;&lt;mo&gt;+&lt;/mo&gt;&lt;mn&gt;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sqrt&gt;&lt;mn&gt;1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text&gt;&lt;/mtext&gt;&lt;mn&gt;11&lt;/mn&gt;&lt;mtext&gt;&lt;/mtex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frac&gt;&lt;mn&gt;11&lt;/mn&gt;&lt;mrow data-mjx-texclass=&quot;INNER&quot;&gt;&lt;mo data-mjx-texclass=&quot;OPEN&quot;&gt;(&lt;/mo&gt;&lt;mo&gt;−&lt;/mo&gt;&lt;mn&gt;11&lt;/mn&gt;&lt;mo data-mjx-texclass=&quot;CLOSE&quot;&gt;)&lt;/mo&gt;&lt;/mrow&gt;&lt;/mfrac&gt;&lt;/mtd&gt;&lt;/mtr&gt;&lt;mtr&gt;&lt;mtd&gt;&lt;mn&gt;100&lt;/mn&gt;&lt;mo&gt;+&lt;/mo&gt;&lt;mrow data-mjx-texclass=&quot;INNER&quot;&gt;&lt;mo data-mjx-texclass=&quot;OPEN&quot;&gt;(&lt;/mo&gt;&lt;mo&gt;−&lt;/mo&gt;&lt;mn&gt;1&lt;/mn&gt;&lt;mo data-mjx-texclass=&quot;CLOSE&quot;&gt;)&lt;/mo&gt;&lt;/mrow&gt;&lt;mo&gt;=&lt;/mo&gt;&lt;mn&gt;99&lt;/mn&gt;&lt;/mtd&gt;&lt;/mtr&gt;&lt;/mtable&gt;&lt;/math&gt;" title="6 lines Line 1: 100 plus the square root of 100 minus negative 21 divided by negative 11 Line 2: 100 positive the square root of 100 plus 21 divided by negative 11 Line 3: 100 plus the square root of 121 divided by negative 11 Line 4: 100 plus 11 division sign negative 11 Line 5: 100 plus the fraction with numerator 11 and denominator negative 11 Line 6: 100 plus negative 1 equals 99"/>
          <p:cNvPicPr preferRelativeResize="0"/>
          <p:nvPr/>
        </p:nvPicPr>
        <p:blipFill>
          <a:blip r:embed="rId4">
            <a:alphaModFix/>
          </a:blip>
          <a:srcRect t="50697" b="33682"/>
          <a:stretch>
            <a:fillRect/>
          </a:stretch>
        </p:blipFill>
        <p:spPr>
          <a:xfrm>
            <a:off x="705023" y="5695587"/>
            <a:ext cx="2887362" cy="341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&lt;math xmlns=&quot;http://www.w3.org/1998/Math/MathML&quot; display=&quot;block&quot; data-is-equatio=&quot;1&quot; data-latex=&quot;\begin{array}{l}100\ +\ \sqrt[]{100-\left(-21\right)}\div\left(-11\right)\\&amp;#13;&amp;#10;100\ +\sqrt[]{100+21}\div\left(-11\right)\\&amp;#13;&amp;#10;100+\sqrt[]{121}\div\left(-11\right)\\&amp;#13;&amp;#10;100\ +\ 11\ \div\left(-11\right)\\&amp;#13;&amp;#10;100+\frac{11}{\left(-11\right)}\\&amp;#13;&amp;#10;100+\left(-1\right)=99\end{array}&quot;&gt;&lt;mtable columnalign=&quot;left&quot; columnspacing=&quot;1em&quot; rowspacing=&quot;4pt&quot;&gt;&lt;mtr&gt;&lt;mtd&gt;&lt;mn&gt;100&lt;/mn&gt;&lt;mtext&gt;&lt;/mtext&gt;&lt;mo&gt;+&lt;/mo&gt;&lt;mtext&gt;&lt;/mtext&gt;&lt;msqrt&gt;&lt;mn&gt;100&lt;/mn&gt;&lt;mo&gt;−&lt;/mo&gt;&lt;mrow data-mjx-texclass=&quot;INNER&quot;&gt;&lt;mo data-mjx-texclass=&quot;OPEN&quot;&gt;(&lt;/mo&gt;&lt;mo&gt;−&lt;/mo&gt;&lt;mn&gt;21&lt;/mn&gt;&lt;mo data-mjx-texclass=&quot;CLOSE&quot;&gt;)&lt;/mo&gt;&lt;/mrow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sqrt&gt;&lt;mn&gt;100&lt;/mn&gt;&lt;mo&gt;+&lt;/mo&gt;&lt;mn&gt;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sqrt&gt;&lt;mn&gt;1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text&gt;&lt;/mtext&gt;&lt;mn&gt;11&lt;/mn&gt;&lt;mtext&gt;&lt;/mtex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frac&gt;&lt;mn&gt;11&lt;/mn&gt;&lt;mrow data-mjx-texclass=&quot;INNER&quot;&gt;&lt;mo data-mjx-texclass=&quot;OPEN&quot;&gt;(&lt;/mo&gt;&lt;mo&gt;−&lt;/mo&gt;&lt;mn&gt;11&lt;/mn&gt;&lt;mo data-mjx-texclass=&quot;CLOSE&quot;&gt;)&lt;/mo&gt;&lt;/mrow&gt;&lt;/mfrac&gt;&lt;/mtd&gt;&lt;/mtr&gt;&lt;mtr&gt;&lt;mtd&gt;&lt;mn&gt;100&lt;/mn&gt;&lt;mo&gt;+&lt;/mo&gt;&lt;mrow data-mjx-texclass=&quot;INNER&quot;&gt;&lt;mo data-mjx-texclass=&quot;OPEN&quot;&gt;(&lt;/mo&gt;&lt;mo&gt;−&lt;/mo&gt;&lt;mn&gt;1&lt;/mn&gt;&lt;mo data-mjx-texclass=&quot;CLOSE&quot;&gt;)&lt;/mo&gt;&lt;/mrow&gt;&lt;mo&gt;=&lt;/mo&gt;&lt;mn&gt;99&lt;/mn&gt;&lt;/mtd&gt;&lt;/mtr&gt;&lt;/mtable&gt;&lt;/math&gt;" title="6 lines Line 1: 100 plus the square root of 100 minus negative 21 divided by negative 11 Line 2: 100 positive the square root of 100 plus 21 divided by negative 11 Line 3: 100 plus the square root of 121 divided by negative 11 Line 4: 100 plus 11 division sign negative 11 Line 5: 100 plus the fraction with numerator 11 and denominator negative 11 Line 6: 100 plus negative 1 equals 99"/>
          <p:cNvPicPr preferRelativeResize="0"/>
          <p:nvPr/>
        </p:nvPicPr>
        <p:blipFill>
          <a:blip r:embed="rId4">
            <a:alphaModFix/>
          </a:blip>
          <a:srcRect t="66125" b="16037"/>
          <a:stretch>
            <a:fillRect/>
          </a:stretch>
        </p:blipFill>
        <p:spPr>
          <a:xfrm>
            <a:off x="739443" y="6083714"/>
            <a:ext cx="2887362" cy="390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&lt;math xmlns=&quot;http://www.w3.org/1998/Math/MathML&quot; display=&quot;block&quot; data-is-equatio=&quot;1&quot; data-latex=&quot;\begin{array}{l}100\ +\ \sqrt[]{100-\left(-21\right)}\div\left(-11\right)\\&amp;#13;&amp;#10;100\ +\sqrt[]{100+21}\div\left(-11\right)\\&amp;#13;&amp;#10;100+\sqrt[]{121}\div\left(-11\right)\\&amp;#13;&amp;#10;100\ +\ 11\ \div\left(-11\right)\\&amp;#13;&amp;#10;100+\frac{11}{\left(-11\right)}\\&amp;#13;&amp;#10;100+\left(-1\right)=99\end{array}&quot;&gt;&lt;mtable columnalign=&quot;left&quot; columnspacing=&quot;1em&quot; rowspacing=&quot;4pt&quot;&gt;&lt;mtr&gt;&lt;mtd&gt;&lt;mn&gt;100&lt;/mn&gt;&lt;mtext&gt;&lt;/mtext&gt;&lt;mo&gt;+&lt;/mo&gt;&lt;mtext&gt;&lt;/mtext&gt;&lt;msqrt&gt;&lt;mn&gt;100&lt;/mn&gt;&lt;mo&gt;−&lt;/mo&gt;&lt;mrow data-mjx-texclass=&quot;INNER&quot;&gt;&lt;mo data-mjx-texclass=&quot;OPEN&quot;&gt;(&lt;/mo&gt;&lt;mo&gt;−&lt;/mo&gt;&lt;mn&gt;21&lt;/mn&gt;&lt;mo data-mjx-texclass=&quot;CLOSE&quot;&gt;)&lt;/mo&gt;&lt;/mrow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sqrt&gt;&lt;mn&gt;100&lt;/mn&gt;&lt;mo&gt;+&lt;/mo&gt;&lt;mn&gt;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sqrt&gt;&lt;mn&gt;1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text&gt;&lt;/mtext&gt;&lt;mn&gt;11&lt;/mn&gt;&lt;mtext&gt;&lt;/mtex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frac&gt;&lt;mn&gt;11&lt;/mn&gt;&lt;mrow data-mjx-texclass=&quot;INNER&quot;&gt;&lt;mo data-mjx-texclass=&quot;OPEN&quot;&gt;(&lt;/mo&gt;&lt;mo&gt;−&lt;/mo&gt;&lt;mn&gt;11&lt;/mn&gt;&lt;mo data-mjx-texclass=&quot;CLOSE&quot;&gt;)&lt;/mo&gt;&lt;/mrow&gt;&lt;/mfrac&gt;&lt;/mtd&gt;&lt;/mtr&gt;&lt;mtr&gt;&lt;mtd&gt;&lt;mn&gt;100&lt;/mn&gt;&lt;mo&gt;+&lt;/mo&gt;&lt;mrow data-mjx-texclass=&quot;INNER&quot;&gt;&lt;mo data-mjx-texclass=&quot;OPEN&quot;&gt;(&lt;/mo&gt;&lt;mo&gt;−&lt;/mo&gt;&lt;mn&gt;1&lt;/mn&gt;&lt;mo data-mjx-texclass=&quot;CLOSE&quot;&gt;)&lt;/mo&gt;&lt;/mrow&gt;&lt;mo&gt;=&lt;/mo&gt;&lt;mn&gt;99&lt;/mn&gt;&lt;/mtd&gt;&lt;/mtr&gt;&lt;/mtable&gt;&lt;/math&gt;" title="6 lines Line 1: 100 plus the square root of 100 minus negative 21 divided by negative 11 Line 2: 100 positive the square root of 100 plus 21 divided by negative 11 Line 3: 100 plus the square root of 121 divided by negative 11 Line 4: 100 plus 11 division sign negative 11 Line 5: 100 plus the fraction with numerator 11 and denominator negative 11 Line 6: 100 plus negative 1 equals 99"/>
          <p:cNvPicPr preferRelativeResize="0"/>
          <p:nvPr/>
        </p:nvPicPr>
        <p:blipFill>
          <a:blip r:embed="rId4">
            <a:alphaModFix/>
          </a:blip>
          <a:srcRect t="88043" b="-5880"/>
          <a:stretch>
            <a:fillRect/>
          </a:stretch>
        </p:blipFill>
        <p:spPr>
          <a:xfrm>
            <a:off x="745646" y="6563206"/>
            <a:ext cx="2887362" cy="39022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468000" y="7042675"/>
            <a:ext cx="66240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Fill in the pyramid. The number above the block is t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 sum o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 the two below.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496325" y="8365641"/>
            <a:ext cx="2078100" cy="729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2574931" y="8365641"/>
            <a:ext cx="2289300" cy="729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4864339" y="8365641"/>
            <a:ext cx="2256000" cy="729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1403425" y="7885465"/>
            <a:ext cx="2164200" cy="469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3547871" y="7885465"/>
            <a:ext cx="2164200" cy="469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2526706" y="7416925"/>
            <a:ext cx="2164200" cy="469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1485054" y="7927004"/>
            <a:ext cx="195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(-37) + 14 = -23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3600114" y="7941388"/>
            <a:ext cx="195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14 + 2 = 16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2661431" y="7467020"/>
            <a:ext cx="195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(-23) + 16 = -7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0" name="Google Shape;210;p20" descr="&lt;math xmlns=&quot;http://www.w3.org/1998/Math/MathML&quot; display=&quot;block&quot; data-is-equatio=&quot;1&quot; data-latex=&quot;20+\frac{\left(-4\right)}{\left(-2\right)}\times\left(-3\right)&quot;&gt;&lt;mn&gt;20&lt;/mn&gt;&lt;mo&gt;+&lt;/mo&gt;&lt;mfrac&gt;&lt;mrow data-mjx-texclass=&quot;INNER&quot;&gt;&lt;mo data-mjx-texclass=&quot;OPEN&quot;&gt;(&lt;/mo&gt;&lt;mo&gt;−&lt;/mo&gt;&lt;mn&gt;4&lt;/mn&gt;&lt;mo data-mjx-texclass=&quot;CLOSE&quot;&gt;)&lt;/mo&gt;&lt;/mrow&gt;&lt;mrow data-mjx-texclass=&quot;INNER&quot;&gt;&lt;mo data-mjx-texclass=&quot;OPEN&quot;&gt;(&lt;/mo&gt;&lt;mo&gt;−&lt;/mo&gt;&lt;mn&gt;2&lt;/mn&gt;&lt;mo data-mjx-texclass=&quot;CLOSE&quot;&gt;)&lt;/mo&gt;&lt;/mrow&gt;&lt;/mfrac&gt;&lt;mo&gt;×&lt;/mo&gt;&lt;mrow data-mjx-texclass=&quot;INNER&quot;&gt;&lt;mo data-mjx-texclass=&quot;OPEN&quot;&gt;(&lt;/mo&gt;&lt;mo&gt;−&lt;/mo&gt;&lt;mn&gt;3&lt;/mn&gt;&lt;mo data-mjx-texclass=&quot;CLOSE&quot;&gt;)&lt;/mo&gt;&lt;/mrow&gt;&lt;/math&gt;" title="20 plus the fraction with numerator negative 4 and denominator negative 2 times negative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7072" y="8457185"/>
            <a:ext cx="1744616" cy="545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&lt;math xmlns=&quot;http://www.w3.org/1998/Math/MathML&quot; display=&quot;block&quot; data-is-equatio=&quot;1&quot; data-latex=&quot;4\ -\ \frac{\sqrt[]{100}}{\left(-10\right)}\times\left(-2\right)&quot;&gt;&lt;mn&gt;4&lt;/mn&gt;&lt;mtext&gt;&lt;/mtext&gt;&lt;mo&gt;−&lt;/mo&gt;&lt;mtext&gt;&lt;/mtext&gt;&lt;mfrac&gt;&lt;msqrt&gt;&lt;mn&gt;100&lt;/mn&gt;&lt;/msqrt&gt;&lt;mrow data-mjx-texclass=&quot;INNER&quot;&gt;&lt;mo data-mjx-texclass=&quot;OPEN&quot;&gt;(&lt;/mo&gt;&lt;mo&gt;−&lt;/mo&gt;&lt;mn&gt;10&lt;/mn&gt;&lt;mo data-mjx-texclass=&quot;CLOSE&quot;&gt;)&lt;/mo&gt;&lt;/mrow&gt;&lt;/mfrac&gt;&lt;mo&gt;×&lt;/mo&gt;&lt;mrow data-mjx-texclass=&quot;INNER&quot;&gt;&lt;mo data-mjx-texclass=&quot;OPEN&quot;&gt;(&lt;/mo&gt;&lt;mo&gt;−&lt;/mo&gt;&lt;mn&gt;2&lt;/mn&gt;&lt;mo data-mjx-texclass=&quot;CLOSE&quot;&gt;)&lt;/mo&gt;&lt;/mrow&gt;&lt;/math&gt;" title="4 minus the fraction with numerator the square root of 100 and denominator negative 10 times negative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65431" y="8415558"/>
            <a:ext cx="1853801" cy="629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&lt;math xmlns=&quot;http://www.w3.org/1998/Math/MathML&quot; display=&quot;block&quot; data-is-equatio=&quot;1&quot; data-latex=&quot;\frac{90}{\left(-2\right)}+\frac{4^2}{2}&quot;&gt;&lt;mfrac&gt;&lt;mn&gt;90&lt;/mn&gt;&lt;mrow data-mjx-texclass=&quot;INNER&quot;&gt;&lt;mo data-mjx-texclass=&quot;OPEN&quot;&gt;(&lt;/mo&gt;&lt;mo&gt;−&lt;/mo&gt;&lt;mn&gt;2&lt;/mn&gt;&lt;mo data-mjx-texclass=&quot;CLOSE&quot;&gt;)&lt;/mo&gt;&lt;/mrow&gt;&lt;/mfrac&gt;&lt;mo&gt;+&lt;/mo&gt;&lt;mfrac&gt;&lt;msup&gt;&lt;mn&gt;4&lt;/mn&gt;&lt;mn&gt;2&lt;/mn&gt;&lt;/msup&gt;&lt;mn&gt;2&lt;/mn&gt;&lt;/mfrac&gt;&lt;/math&gt;" title="the fraction with numerator 90 and denominator negative 2 plus the fraction with numerator 4 squared and denominator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6958" y="8415550"/>
            <a:ext cx="1140000" cy="6291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20"/>
          <p:cNvCxnSpPr/>
          <p:nvPr/>
        </p:nvCxnSpPr>
        <p:spPr>
          <a:xfrm>
            <a:off x="456932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7" name="Shape 217"/>
        <p:cNvGrpSpPr/>
        <p:nvPr/>
      </p:nvGrpSpPr>
      <p:grpSpPr>
        <a:xfrm>
          <a:off x="0" y="0"/>
          <a:ext cx="0" cy="0"/>
        </a:xfrm>
      </p:grpSpPr>
      <p:sp>
        <p:nvSpPr>
          <p:cNvPr id="218" name="Google Shape;21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9" name="Google Shape;219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Priority of operations with positive and negative integers and decimals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468000" y="7275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Priority of operations with negatives and decimals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68000" y="11076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following, ensuring to show all your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" name="Google Shape;224;p21" descr="&lt;math xmlns=&quot;http://www.w3.org/1998/Math/MathML&quot; display=&quot;block&quot; data-is-equatio=&quot;1&quot; data-latex=&quot;\begin{array}{l}3.4\ -\ 7.6\ +\ 11.2\\&amp;#13;&amp;#10;3.4\ +\ \left(-7.6\right)+11.2\\&amp;#13;&amp;#10;14.6\ +\ \left(-7.6\right)\ =\ 7\end{array}&quot;&gt;&lt;mtable columnalign=&quot;left&quot; columnspacing=&quot;1em&quot; rowspacing=&quot;4pt&quot;&gt;&lt;mtr&gt;&lt;mtd&gt;&lt;mn&gt;3.4&lt;/mn&gt;&lt;mtext&gt;&lt;/mtext&gt;&lt;mo&gt;−&lt;/mo&gt;&lt;mtext&gt;&lt;/mtext&gt;&lt;mn&gt;7.6&lt;/mn&gt;&lt;mtext&gt;&lt;/mtext&gt;&lt;mo&gt;+&lt;/mo&gt;&lt;mtext&gt;&lt;/mtext&gt;&lt;mn&gt;11.2&lt;/mn&gt;&lt;/mtd&gt;&lt;/mtr&gt;&lt;mtr&gt;&lt;mtd&gt;&lt;mn&gt;3.4&lt;/mn&gt;&lt;mtext&gt;&lt;/mtext&gt;&lt;mo&gt;+&lt;/mo&gt;&lt;mtext&gt;&lt;/mtext&gt;&lt;mrow data-mjx-texclass=&quot;INNER&quot;&gt;&lt;mo data-mjx-texclass=&quot;OPEN&quot;&gt;(&lt;/mo&gt;&lt;mo&gt;−&lt;/mo&gt;&lt;mn&gt;7.6&lt;/mn&gt;&lt;mo data-mjx-texclass=&quot;CLOSE&quot;&gt;)&lt;/mo&gt;&lt;/mrow&gt;&lt;mo&gt;+&lt;/mo&gt;&lt;mn&gt;11.2&lt;/mn&gt;&lt;/mtd&gt;&lt;/mtr&gt;&lt;mtr&gt;&lt;mtd&gt;&lt;mn&gt;14.6&lt;/mn&gt;&lt;mtext&gt;&lt;/mtext&gt;&lt;mo&gt;+&lt;/mo&gt;&lt;mtext&gt;&lt;/mtext&gt;&lt;mrow data-mjx-texclass=&quot;INNER&quot;&gt;&lt;mo data-mjx-texclass=&quot;OPEN&quot;&gt;(&lt;/mo&gt;&lt;mo&gt;−&lt;/mo&gt;&lt;mn&gt;7.6&lt;/mn&gt;&lt;mo data-mjx-texclass=&quot;CLOSE&quot;&gt;)&lt;/mo&gt;&lt;/mrow&gt;&lt;mtext&gt;&lt;/mtext&gt;&lt;mo&gt;=&lt;/mo&gt;&lt;mtext&gt;&lt;/mtext&gt;&lt;mn&gt;7&lt;/mn&gt;&lt;/mtd&gt;&lt;/mtr&gt;&lt;/mtable&gt;&lt;/math&gt;" title="3 lines Line 1: 3.4 minus 7.6 plus 11.2 Line 2: 3.4 plus negative 7.6 plus 11.2 Line 3: 14.6 plus negative 7.6 equals 7"/>
          <p:cNvPicPr preferRelativeResize="0"/>
          <p:nvPr/>
        </p:nvPicPr>
        <p:blipFill>
          <a:blip r:embed="rId3">
            <a:alphaModFix/>
          </a:blip>
          <a:srcRect b="71119"/>
          <a:stretch>
            <a:fillRect/>
          </a:stretch>
        </p:blipFill>
        <p:spPr>
          <a:xfrm>
            <a:off x="987075" y="1454702"/>
            <a:ext cx="1934533" cy="24173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468000" y="2615233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Work out the following, ensuring to show all your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6" name="Google Shape;226;p21" descr="&lt;math xmlns=&quot;http://www.w3.org/1998/Math/MathML&quot; display=&quot;block&quot; data-is-equatio=&quot;1&quot; data-latex=&quot;\begin{array}{l}13.45\ -\ 2.4\ +\ 3.2\ -\ 1.6\\&amp;#13;&amp;#10;13.45\ +\left(-2.4\right)+3.2+\left(-1.6\right)\\&amp;#13;&amp;#10;16.65\ +\ \left(-4\right)\ =\ 12.65\end{array}&quot;&gt;&lt;mtable columnalign=&quot;left&quot; columnspacing=&quot;1em&quot; rowspacing=&quot;4pt&quot;&gt;&lt;mtr&gt;&lt;mtd&gt;&lt;mn&gt;13.45&lt;/mn&gt;&lt;mtext&gt;&lt;/mtext&gt;&lt;mo&gt;−&lt;/mo&gt;&lt;mtext&gt;&lt;/mtext&gt;&lt;mn&gt;2.4&lt;/mn&gt;&lt;mtext&gt;&lt;/mtext&gt;&lt;mo&gt;+&lt;/mo&gt;&lt;mtext&gt;&lt;/mtext&gt;&lt;mn&gt;3.2&lt;/mn&gt;&lt;mtext&gt;&lt;/mtext&gt;&lt;mo&gt;−&lt;/mo&gt;&lt;mtext&gt;&lt;/mtext&gt;&lt;mn&gt;1.6&lt;/mn&gt;&lt;/mtd&gt;&lt;/mtr&gt;&lt;mtr&gt;&lt;mtd&gt;&lt;mn&gt;13.45&lt;/mn&gt;&lt;mtext&gt;&lt;/mtext&gt;&lt;mo&gt;+&lt;/mo&gt;&lt;mrow data-mjx-texclass=&quot;INNER&quot;&gt;&lt;mo data-mjx-texclass=&quot;OPEN&quot;&gt;(&lt;/mo&gt;&lt;mo&gt;−&lt;/mo&gt;&lt;mn&gt;2.4&lt;/mn&gt;&lt;mo data-mjx-texclass=&quot;CLOSE&quot;&gt;)&lt;/mo&gt;&lt;/mrow&gt;&lt;mo&gt;+&lt;/mo&gt;&lt;mn&gt;3.2&lt;/mn&gt;&lt;mo&gt;+&lt;/mo&gt;&lt;mrow data-mjx-texclass=&quot;INNER&quot;&gt;&lt;mo data-mjx-texclass=&quot;OPEN&quot;&gt;(&lt;/mo&gt;&lt;mo&gt;−&lt;/mo&gt;&lt;mn&gt;1.6&lt;/mn&gt;&lt;mo data-mjx-texclass=&quot;CLOSE&quot;&gt;)&lt;/mo&gt;&lt;/mrow&gt;&lt;/mtd&gt;&lt;/mtr&gt;&lt;mtr&gt;&lt;mtd&gt;&lt;mn&gt;16.65&lt;/mn&gt;&lt;mtext&gt;&lt;/mtext&gt;&lt;mo&gt;+&lt;/mo&gt;&lt;mtext&gt;&lt;/mtext&gt;&lt;mrow data-mjx-texclass=&quot;INNER&quot;&gt;&lt;mo data-mjx-texclass=&quot;OPEN&quot;&gt;(&lt;/mo&gt;&lt;mo&gt;−&lt;/mo&gt;&lt;mn&gt;4&lt;/mn&gt;&lt;mo data-mjx-texclass=&quot;CLOSE&quot;&gt;)&lt;/mo&gt;&lt;/mrow&gt;&lt;mtext&gt;&lt;/mtext&gt;&lt;mo&gt;=&lt;/mo&gt;&lt;mtext&gt;&lt;/mtext&gt;&lt;mn&gt;12.65&lt;/mn&gt;&lt;/mtd&gt;&lt;/mtr&gt;&lt;/mtable&gt;&lt;/math&gt;" title="3 lines Line 1: 13.45 minus 2.4 plus 3.2 minus 1.6 Line 2: 13.45 positive negative 2.4 plus 3.2 plus negative 1.6 Line 3: 16.65 plus negative 4 equals 12.65"/>
          <p:cNvPicPr preferRelativeResize="0"/>
          <p:nvPr/>
        </p:nvPicPr>
        <p:blipFill>
          <a:blip r:embed="rId4">
            <a:alphaModFix/>
          </a:blip>
          <a:srcRect b="70706"/>
          <a:stretch>
            <a:fillRect/>
          </a:stretch>
        </p:blipFill>
        <p:spPr>
          <a:xfrm>
            <a:off x="987075" y="2956331"/>
            <a:ext cx="3057551" cy="270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 descr="&lt;math xmlns=&quot;http://www.w3.org/1998/Math/MathML&quot; display=&quot;block&quot; data-is-equatio=&quot;1&quot; data-latex=&quot;\begin{array}{l}3.4\ -\ 7.6\ +\ 11.2\\&amp;#13;&amp;#10;3.4\ +\ \left(-7.6\right)+11.2\\&amp;#13;&amp;#10;14.6\ +\ \left(-7.6\right)\ =\ 7\end{array}&quot;&gt;&lt;mtable columnalign=&quot;left&quot; columnspacing=&quot;1em&quot; rowspacing=&quot;4pt&quot;&gt;&lt;mtr&gt;&lt;mtd&gt;&lt;mn&gt;3.4&lt;/mn&gt;&lt;mtext&gt;&lt;/mtext&gt;&lt;mo&gt;−&lt;/mo&gt;&lt;mtext&gt;&lt;/mtext&gt;&lt;mn&gt;7.6&lt;/mn&gt;&lt;mtext&gt;&lt;/mtext&gt;&lt;mo&gt;+&lt;/mo&gt;&lt;mtext&gt;&lt;/mtext&gt;&lt;mn&gt;11.2&lt;/mn&gt;&lt;/mtd&gt;&lt;/mtr&gt;&lt;mtr&gt;&lt;mtd&gt;&lt;mn&gt;3.4&lt;/mn&gt;&lt;mtext&gt;&lt;/mtext&gt;&lt;mo&gt;+&lt;/mo&gt;&lt;mtext&gt;&lt;/mtext&gt;&lt;mrow data-mjx-texclass=&quot;INNER&quot;&gt;&lt;mo data-mjx-texclass=&quot;OPEN&quot;&gt;(&lt;/mo&gt;&lt;mo&gt;−&lt;/mo&gt;&lt;mn&gt;7.6&lt;/mn&gt;&lt;mo data-mjx-texclass=&quot;CLOSE&quot;&gt;)&lt;/mo&gt;&lt;/mrow&gt;&lt;mo&gt;+&lt;/mo&gt;&lt;mn&gt;11.2&lt;/mn&gt;&lt;/mtd&gt;&lt;/mtr&gt;&lt;mtr&gt;&lt;mtd&gt;&lt;mn&gt;14.6&lt;/mn&gt;&lt;mtext&gt;&lt;/mtext&gt;&lt;mo&gt;+&lt;/mo&gt;&lt;mtext&gt;&lt;/mtext&gt;&lt;mrow data-mjx-texclass=&quot;INNER&quot;&gt;&lt;mo data-mjx-texclass=&quot;OPEN&quot;&gt;(&lt;/mo&gt;&lt;mo&gt;−&lt;/mo&gt;&lt;mn&gt;7.6&lt;/mn&gt;&lt;mo data-mjx-texclass=&quot;CLOSE&quot;&gt;)&lt;/mo&gt;&lt;/mrow&gt;&lt;mtext&gt;&lt;/mtext&gt;&lt;mo&gt;=&lt;/mo&gt;&lt;mtext&gt;&lt;/mtext&gt;&lt;mn&gt;7&lt;/mn&gt;&lt;/mtd&gt;&lt;/mtr&gt;&lt;/mtable&gt;&lt;/math&gt;" title="3 lines Line 1: 3.4 minus 7.6 plus 11.2 Line 2: 3.4 plus negative 7.6 plus 11.2 Line 3: 14.6 plus negative 7.6 equals 7"/>
          <p:cNvPicPr preferRelativeResize="0"/>
          <p:nvPr/>
        </p:nvPicPr>
        <p:blipFill>
          <a:blip r:embed="rId3">
            <a:alphaModFix/>
          </a:blip>
          <a:srcRect t="35561" r="-7596" b="35558"/>
          <a:stretch>
            <a:fillRect/>
          </a:stretch>
        </p:blipFill>
        <p:spPr>
          <a:xfrm>
            <a:off x="987075" y="1747328"/>
            <a:ext cx="2081489" cy="241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 descr="&lt;math xmlns=&quot;http://www.w3.org/1998/Math/MathML&quot; display=&quot;block&quot; data-is-equatio=&quot;1&quot; data-latex=&quot;\begin{array}{l}3.4\ -\ 7.6\ +\ 11.2\\&amp;#13;&amp;#10;3.4\ +\ \left(-7.6\right)+11.2\\&amp;#13;&amp;#10;14.6\ +\ \left(-7.6\right)\ =\ 7\end{array}&quot;&gt;&lt;mtable columnalign=&quot;left&quot; columnspacing=&quot;1em&quot; rowspacing=&quot;4pt&quot;&gt;&lt;mtr&gt;&lt;mtd&gt;&lt;mn&gt;3.4&lt;/mn&gt;&lt;mtext&gt;&lt;/mtext&gt;&lt;mo&gt;−&lt;/mo&gt;&lt;mtext&gt;&lt;/mtext&gt;&lt;mn&gt;7.6&lt;/mn&gt;&lt;mtext&gt;&lt;/mtext&gt;&lt;mo&gt;+&lt;/mo&gt;&lt;mtext&gt;&lt;/mtext&gt;&lt;mn&gt;11.2&lt;/mn&gt;&lt;/mtd&gt;&lt;/mtr&gt;&lt;mtr&gt;&lt;mtd&gt;&lt;mn&gt;3.4&lt;/mn&gt;&lt;mtext&gt;&lt;/mtext&gt;&lt;mo&gt;+&lt;/mo&gt;&lt;mtext&gt;&lt;/mtext&gt;&lt;mrow data-mjx-texclass=&quot;INNER&quot;&gt;&lt;mo data-mjx-texclass=&quot;OPEN&quot;&gt;(&lt;/mo&gt;&lt;mo&gt;−&lt;/mo&gt;&lt;mn&gt;7.6&lt;/mn&gt;&lt;mo data-mjx-texclass=&quot;CLOSE&quot;&gt;)&lt;/mo&gt;&lt;/mrow&gt;&lt;mo&gt;+&lt;/mo&gt;&lt;mn&gt;11.2&lt;/mn&gt;&lt;/mtd&gt;&lt;/mtr&gt;&lt;mtr&gt;&lt;mtd&gt;&lt;mn&gt;14.6&lt;/mn&gt;&lt;mtext&gt;&lt;/mtext&gt;&lt;mo&gt;+&lt;/mo&gt;&lt;mtext&gt;&lt;/mtext&gt;&lt;mrow data-mjx-texclass=&quot;INNER&quot;&gt;&lt;mo data-mjx-texclass=&quot;OPEN&quot;&gt;(&lt;/mo&gt;&lt;mo&gt;−&lt;/mo&gt;&lt;mn&gt;7.6&lt;/mn&gt;&lt;mo data-mjx-texclass=&quot;CLOSE&quot;&gt;)&lt;/mo&gt;&lt;/mrow&gt;&lt;mtext&gt;&lt;/mtext&gt;&lt;mo&gt;=&lt;/mo&gt;&lt;mtext&gt;&lt;/mtext&gt;&lt;mn&gt;7&lt;/mn&gt;&lt;/mtd&gt;&lt;/mtr&gt;&lt;/mtable&gt;&lt;/math&gt;" title="3 lines Line 1: 3.4 minus 7.6 plus 11.2 Line 2: 3.4 plus negative 7.6 plus 11.2 Line 3: 14.6 plus negative 7.6 equals 7"/>
          <p:cNvPicPr preferRelativeResize="0"/>
          <p:nvPr/>
        </p:nvPicPr>
        <p:blipFill>
          <a:blip r:embed="rId3">
            <a:alphaModFix/>
          </a:blip>
          <a:srcRect t="71119" r="-7596"/>
          <a:stretch>
            <a:fillRect/>
          </a:stretch>
        </p:blipFill>
        <p:spPr>
          <a:xfrm>
            <a:off x="972251" y="2047365"/>
            <a:ext cx="2081489" cy="241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 descr="&lt;math xmlns=&quot;http://www.w3.org/1998/Math/MathML&quot; display=&quot;block&quot; data-is-equatio=&quot;1&quot; data-latex=&quot;\begin{array}{l}13.45\ -\ 2.4\ +\ 3.2\ -\ 1.6\\&amp;#13;&amp;#10;13.45\ +\left(-2.4\right)+3.2+\left(-1.6\right)\\&amp;#13;&amp;#10;16.65\ +\ \left(-4\right)\ =\ 12.65\end{array}&quot;&gt;&lt;mtable columnalign=&quot;left&quot; columnspacing=&quot;1em&quot; rowspacing=&quot;4pt&quot;&gt;&lt;mtr&gt;&lt;mtd&gt;&lt;mn&gt;13.45&lt;/mn&gt;&lt;mtext&gt;&lt;/mtext&gt;&lt;mo&gt;−&lt;/mo&gt;&lt;mtext&gt;&lt;/mtext&gt;&lt;mn&gt;2.4&lt;/mn&gt;&lt;mtext&gt;&lt;/mtext&gt;&lt;mo&gt;+&lt;/mo&gt;&lt;mtext&gt;&lt;/mtext&gt;&lt;mn&gt;3.2&lt;/mn&gt;&lt;mtext&gt;&lt;/mtext&gt;&lt;mo&gt;−&lt;/mo&gt;&lt;mtext&gt;&lt;/mtext&gt;&lt;mn&gt;1.6&lt;/mn&gt;&lt;/mtd&gt;&lt;/mtr&gt;&lt;mtr&gt;&lt;mtd&gt;&lt;mn&gt;13.45&lt;/mn&gt;&lt;mtext&gt;&lt;/mtext&gt;&lt;mo&gt;+&lt;/mo&gt;&lt;mrow data-mjx-texclass=&quot;INNER&quot;&gt;&lt;mo data-mjx-texclass=&quot;OPEN&quot;&gt;(&lt;/mo&gt;&lt;mo&gt;−&lt;/mo&gt;&lt;mn&gt;2.4&lt;/mn&gt;&lt;mo data-mjx-texclass=&quot;CLOSE&quot;&gt;)&lt;/mo&gt;&lt;/mrow&gt;&lt;mo&gt;+&lt;/mo&gt;&lt;mn&gt;3.2&lt;/mn&gt;&lt;mo&gt;+&lt;/mo&gt;&lt;mrow data-mjx-texclass=&quot;INNER&quot;&gt;&lt;mo data-mjx-texclass=&quot;OPEN&quot;&gt;(&lt;/mo&gt;&lt;mo&gt;−&lt;/mo&gt;&lt;mn&gt;1.6&lt;/mn&gt;&lt;mo data-mjx-texclass=&quot;CLOSE&quot;&gt;)&lt;/mo&gt;&lt;/mrow&gt;&lt;/mtd&gt;&lt;/mtr&gt;&lt;mtr&gt;&lt;mtd&gt;&lt;mn&gt;16.65&lt;/mn&gt;&lt;mtext&gt;&lt;/mtext&gt;&lt;mo&gt;+&lt;/mo&gt;&lt;mtext&gt;&lt;/mtext&gt;&lt;mrow data-mjx-texclass=&quot;INNER&quot;&gt;&lt;mo data-mjx-texclass=&quot;OPEN&quot;&gt;(&lt;/mo&gt;&lt;mo&gt;−&lt;/mo&gt;&lt;mn&gt;4&lt;/mn&gt;&lt;mo data-mjx-texclass=&quot;CLOSE&quot;&gt;)&lt;/mo&gt;&lt;/mrow&gt;&lt;mtext&gt;&lt;/mtext&gt;&lt;mo&gt;=&lt;/mo&gt;&lt;mtext&gt;&lt;/mtext&gt;&lt;mn&gt;12.65&lt;/mn&gt;&lt;/mtd&gt;&lt;/mtr&gt;&lt;/mtable&gt;&lt;/math&gt;" title="3 lines Line 1: 13.45 minus 2.4 plus 3.2 minus 1.6 Line 2: 13.45 positive negative 2.4 plus 3.2 plus negative 1.6 Line 3: 16.65 plus negative 4 equals 12.65"/>
          <p:cNvPicPr preferRelativeResize="0"/>
          <p:nvPr/>
        </p:nvPicPr>
        <p:blipFill>
          <a:blip r:embed="rId4">
            <a:alphaModFix/>
          </a:blip>
          <a:srcRect t="35354" b="35351"/>
          <a:stretch>
            <a:fillRect/>
          </a:stretch>
        </p:blipFill>
        <p:spPr>
          <a:xfrm>
            <a:off x="987075" y="3256785"/>
            <a:ext cx="3057551" cy="270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&lt;math xmlns=&quot;http://www.w3.org/1998/Math/MathML&quot; display=&quot;block&quot; data-is-equatio=&quot;1&quot; data-latex=&quot;\begin{array}{l}13.45\ -\ 2.4\ +\ 3.2\ -\ 1.6\\&amp;#13;&amp;#10;13.45\ +\left(-2.4\right)+3.2+\left(-1.6\right)\\&amp;#13;&amp;#10;16.65\ +\ \left(-4\right)\ =\ 12.65\end{array}&quot;&gt;&lt;mtable columnalign=&quot;left&quot; columnspacing=&quot;1em&quot; rowspacing=&quot;4pt&quot;&gt;&lt;mtr&gt;&lt;mtd&gt;&lt;mn&gt;13.45&lt;/mn&gt;&lt;mtext&gt;&lt;/mtext&gt;&lt;mo&gt;−&lt;/mo&gt;&lt;mtext&gt;&lt;/mtext&gt;&lt;mn&gt;2.4&lt;/mn&gt;&lt;mtext&gt;&lt;/mtext&gt;&lt;mo&gt;+&lt;/mo&gt;&lt;mtext&gt;&lt;/mtext&gt;&lt;mn&gt;3.2&lt;/mn&gt;&lt;mtext&gt;&lt;/mtext&gt;&lt;mo&gt;−&lt;/mo&gt;&lt;mtext&gt;&lt;/mtext&gt;&lt;mn&gt;1.6&lt;/mn&gt;&lt;/mtd&gt;&lt;/mtr&gt;&lt;mtr&gt;&lt;mtd&gt;&lt;mn&gt;13.45&lt;/mn&gt;&lt;mtext&gt;&lt;/mtext&gt;&lt;mo&gt;+&lt;/mo&gt;&lt;mrow data-mjx-texclass=&quot;INNER&quot;&gt;&lt;mo data-mjx-texclass=&quot;OPEN&quot;&gt;(&lt;/mo&gt;&lt;mo&gt;−&lt;/mo&gt;&lt;mn&gt;2.4&lt;/mn&gt;&lt;mo data-mjx-texclass=&quot;CLOSE&quot;&gt;)&lt;/mo&gt;&lt;/mrow&gt;&lt;mo&gt;+&lt;/mo&gt;&lt;mn&gt;3.2&lt;/mn&gt;&lt;mo&gt;+&lt;/mo&gt;&lt;mrow data-mjx-texclass=&quot;INNER&quot;&gt;&lt;mo data-mjx-texclass=&quot;OPEN&quot;&gt;(&lt;/mo&gt;&lt;mo&gt;−&lt;/mo&gt;&lt;mn&gt;1.6&lt;/mn&gt;&lt;mo data-mjx-texclass=&quot;CLOSE&quot;&gt;)&lt;/mo&gt;&lt;/mrow&gt;&lt;/mtd&gt;&lt;/mtr&gt;&lt;mtr&gt;&lt;mtd&gt;&lt;mn&gt;16.65&lt;/mn&gt;&lt;mtext&gt;&lt;/mtext&gt;&lt;mo&gt;+&lt;/mo&gt;&lt;mtext&gt;&lt;/mtext&gt;&lt;mrow data-mjx-texclass=&quot;INNER&quot;&gt;&lt;mo data-mjx-texclass=&quot;OPEN&quot;&gt;(&lt;/mo&gt;&lt;mo&gt;−&lt;/mo&gt;&lt;mn&gt;4&lt;/mn&gt;&lt;mo data-mjx-texclass=&quot;CLOSE&quot;&gt;)&lt;/mo&gt;&lt;/mrow&gt;&lt;mtext&gt;&lt;/mtext&gt;&lt;mo&gt;=&lt;/mo&gt;&lt;mtext&gt;&lt;/mtext&gt;&lt;mn&gt;12.65&lt;/mn&gt;&lt;/mtd&gt;&lt;/mtr&gt;&lt;/mtable&gt;&lt;/math&gt;" title="3 lines Line 1: 13.45 minus 2.4 plus 3.2 minus 1.6 Line 2: 13.45 positive negative 2.4 plus 3.2 plus negative 1.6 Line 3: 16.65 plus negative 4 equals 12.65"/>
          <p:cNvPicPr preferRelativeResize="0"/>
          <p:nvPr/>
        </p:nvPicPr>
        <p:blipFill>
          <a:blip r:embed="rId4">
            <a:alphaModFix/>
          </a:blip>
          <a:srcRect t="70706"/>
          <a:stretch>
            <a:fillRect/>
          </a:stretch>
        </p:blipFill>
        <p:spPr>
          <a:xfrm>
            <a:off x="987075" y="3577869"/>
            <a:ext cx="3057551" cy="27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468000" y="413272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Work out the following, ensuring to show all your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" name="Google Shape;232;p21" descr="&lt;math xmlns=&quot;http://www.w3.org/1998/Math/MathML&quot; display=&quot;block&quot; data-is-equatio=&quot;1&quot; data-latex=&quot;\begin{array}{l}184.2\ -\left(-45.2\right)\times16\ \div\left(-4\right)\\&amp;#13;&amp;#10;184.2\ -\ \left(-45.2\right)\times\frac{16}{\left(-4\right)}\\&amp;#13;&amp;#10;184.2-\left(-45.2\right)\times\left(-4\right)\\&amp;#13;&amp;#10;184.2-180.8\ =\ 3.4\end{array}&quot;&gt;&lt;mtable columnalign=&quot;left&quot; columnspacing=&quot;1em&quot; rowspacing=&quot;4pt&quot;&gt;&lt;mtr&gt;&lt;mtd&gt;&lt;mn&gt;184.2&lt;/mn&gt;&lt;mtext&gt;&lt;/mtext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n&gt;16&lt;/mn&gt;&lt;mtext&gt;&lt;/mtext&gt;&lt;mo&gt;÷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text&gt;&lt;/mtext&gt;&lt;mo&gt;−&lt;/mo&gt;&lt;mtext&gt;&lt;/mtext&gt;&lt;mrow data-mjx-texclass=&quot;INNER&quot;&gt;&lt;mo data-mjx-texclass=&quot;OPEN&quot;&gt;(&lt;/mo&gt;&lt;mo&gt;−&lt;/mo&gt;&lt;mn&gt;45.2&lt;/mn&gt;&lt;mo data-mjx-texclass=&quot;CLOSE&quot;&gt;)&lt;/mo&gt;&lt;/mrow&gt;&lt;mo&gt;×&lt;/mo&gt;&lt;mfrac&gt;&lt;mn&gt;16&lt;/mn&gt;&lt;mrow data-mjx-texclass=&quot;INNER&quot;&gt;&lt;mo data-mjx-texclass=&quot;OPEN&quot;&gt;(&lt;/mo&gt;&lt;mo&gt;−&lt;/mo&gt;&lt;mn&gt;4&lt;/mn&gt;&lt;mo data-mjx-texclass=&quot;CLOSE&quot;&gt;)&lt;/mo&gt;&lt;/mrow&gt;&lt;/mfrac&gt;&lt;/mtd&gt;&lt;/mtr&gt;&lt;mtr&gt;&lt;mtd&gt;&lt;mn&gt;184.2&lt;/mn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o&gt;−&lt;/mo&gt;&lt;mn&gt;180.8&lt;/mn&gt;&lt;mtext&gt;&lt;/mtext&gt;&lt;mo&gt;=&lt;/mo&gt;&lt;mtext&gt;&lt;/mtext&gt;&lt;mn&gt;3.4&lt;/mn&gt;&lt;/mtd&gt;&lt;/mtr&gt;&lt;/mtable&gt;&lt;/math&gt;" title="4 lines Line 1: 184.2 negative negative 45.2 times 16 division sign negative 4 Line 2: 184.2 minus negative 45.2 times the fraction with numerator 16 and denominator negative 4 Line 3: 184.2 minus negative 45.2 times negative 4 Line 4: 184.2 minus 180.8 equals 3.4"/>
          <p:cNvPicPr preferRelativeResize="0"/>
          <p:nvPr/>
        </p:nvPicPr>
        <p:blipFill>
          <a:blip r:embed="rId5">
            <a:alphaModFix/>
          </a:blip>
          <a:srcRect b="78647"/>
          <a:stretch>
            <a:fillRect/>
          </a:stretch>
        </p:blipFill>
        <p:spPr>
          <a:xfrm>
            <a:off x="907500" y="4530975"/>
            <a:ext cx="3057551" cy="298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&lt;math xmlns=&quot;http://www.w3.org/1998/Math/MathML&quot; display=&quot;block&quot; data-is-equatio=&quot;1&quot; data-latex=&quot;\begin{array}{l}184.2\ -\left(-45.2\right)\times16\ \div\left(-4\right)\\&amp;#13;&amp;#10;184.2\ -\ \left(-45.2\right)\times\frac{16}{\left(-4\right)}\\&amp;#13;&amp;#10;184.2-\left(-45.2\right)\times\left(-4\right)\\&amp;#13;&amp;#10;184.2-180.8\ =\ 3.4\end{array}&quot;&gt;&lt;mtable columnalign=&quot;left&quot; columnspacing=&quot;1em&quot; rowspacing=&quot;4pt&quot;&gt;&lt;mtr&gt;&lt;mtd&gt;&lt;mn&gt;184.2&lt;/mn&gt;&lt;mtext&gt;&lt;/mtext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n&gt;16&lt;/mn&gt;&lt;mtext&gt;&lt;/mtext&gt;&lt;mo&gt;÷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text&gt;&lt;/mtext&gt;&lt;mo&gt;−&lt;/mo&gt;&lt;mtext&gt;&lt;/mtext&gt;&lt;mrow data-mjx-texclass=&quot;INNER&quot;&gt;&lt;mo data-mjx-texclass=&quot;OPEN&quot;&gt;(&lt;/mo&gt;&lt;mo&gt;−&lt;/mo&gt;&lt;mn&gt;45.2&lt;/mn&gt;&lt;mo data-mjx-texclass=&quot;CLOSE&quot;&gt;)&lt;/mo&gt;&lt;/mrow&gt;&lt;mo&gt;×&lt;/mo&gt;&lt;mfrac&gt;&lt;mn&gt;16&lt;/mn&gt;&lt;mrow data-mjx-texclass=&quot;INNER&quot;&gt;&lt;mo data-mjx-texclass=&quot;OPEN&quot;&gt;(&lt;/mo&gt;&lt;mo&gt;−&lt;/mo&gt;&lt;mn&gt;4&lt;/mn&gt;&lt;mo data-mjx-texclass=&quot;CLOSE&quot;&gt;)&lt;/mo&gt;&lt;/mrow&gt;&lt;/mfrac&gt;&lt;/mtd&gt;&lt;/mtr&gt;&lt;mtr&gt;&lt;mtd&gt;&lt;mn&gt;184.2&lt;/mn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o&gt;−&lt;/mo&gt;&lt;mn&gt;180.8&lt;/mn&gt;&lt;mtext&gt;&lt;/mtext&gt;&lt;mo&gt;=&lt;/mo&gt;&lt;mtext&gt;&lt;/mtext&gt;&lt;mn&gt;3.4&lt;/mn&gt;&lt;/mtd&gt;&lt;/mtr&gt;&lt;/mtable&gt;&lt;/math&gt;" title="4 lines Line 1: 184.2 negative negative 45.2 times 16 division sign negative 4 Line 2: 184.2 minus negative 45.2 times the fraction with numerator 16 and denominator negative 4 Line 3: 184.2 minus negative 45.2 times negative 4 Line 4: 184.2 minus 180.8 equals 3.4"/>
          <p:cNvPicPr preferRelativeResize="0"/>
          <p:nvPr/>
        </p:nvPicPr>
        <p:blipFill>
          <a:blip r:embed="rId5">
            <a:alphaModFix/>
          </a:blip>
          <a:srcRect t="23458" b="49434"/>
          <a:stretch>
            <a:fillRect/>
          </a:stretch>
        </p:blipFill>
        <p:spPr>
          <a:xfrm>
            <a:off x="907500" y="4920998"/>
            <a:ext cx="3057551" cy="379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&lt;math xmlns=&quot;http://www.w3.org/1998/Math/MathML&quot; display=&quot;block&quot; data-is-equatio=&quot;1&quot; data-latex=&quot;\begin{array}{l}184.2\ -\left(-45.2\right)\times16\ \div\left(-4\right)\\&amp;#13;&amp;#10;184.2\ -\ \left(-45.2\right)\times\frac{16}{\left(-4\right)}\\&amp;#13;&amp;#10;184.2-\left(-45.2\right)\times\left(-4\right)\\&amp;#13;&amp;#10;184.2-180.8\ =\ 3.4\end{array}&quot;&gt;&lt;mtable columnalign=&quot;left&quot; columnspacing=&quot;1em&quot; rowspacing=&quot;4pt&quot;&gt;&lt;mtr&gt;&lt;mtd&gt;&lt;mn&gt;184.2&lt;/mn&gt;&lt;mtext&gt;&lt;/mtext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n&gt;16&lt;/mn&gt;&lt;mtext&gt;&lt;/mtext&gt;&lt;mo&gt;÷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text&gt;&lt;/mtext&gt;&lt;mo&gt;−&lt;/mo&gt;&lt;mtext&gt;&lt;/mtext&gt;&lt;mrow data-mjx-texclass=&quot;INNER&quot;&gt;&lt;mo data-mjx-texclass=&quot;OPEN&quot;&gt;(&lt;/mo&gt;&lt;mo&gt;−&lt;/mo&gt;&lt;mn&gt;45.2&lt;/mn&gt;&lt;mo data-mjx-texclass=&quot;CLOSE&quot;&gt;)&lt;/mo&gt;&lt;/mrow&gt;&lt;mo&gt;×&lt;/mo&gt;&lt;mfrac&gt;&lt;mn&gt;16&lt;/mn&gt;&lt;mrow data-mjx-texclass=&quot;INNER&quot;&gt;&lt;mo data-mjx-texclass=&quot;OPEN&quot;&gt;(&lt;/mo&gt;&lt;mo&gt;−&lt;/mo&gt;&lt;mn&gt;4&lt;/mn&gt;&lt;mo data-mjx-texclass=&quot;CLOSE&quot;&gt;)&lt;/mo&gt;&lt;/mrow&gt;&lt;/mfrac&gt;&lt;/mtd&gt;&lt;/mtr&gt;&lt;mtr&gt;&lt;mtd&gt;&lt;mn&gt;184.2&lt;/mn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o&gt;−&lt;/mo&gt;&lt;mn&gt;180.8&lt;/mn&gt;&lt;mtext&gt;&lt;/mtext&gt;&lt;mo&gt;=&lt;/mo&gt;&lt;mtext&gt;&lt;/mtext&gt;&lt;mn&gt;3.4&lt;/mn&gt;&lt;/mtd&gt;&lt;/mtr&gt;&lt;/mtable&gt;&lt;/math&gt;" title="4 lines Line 1: 184.2 negative negative 45.2 times 16 division sign negative 4 Line 2: 184.2 minus negative 45.2 times the fraction with numerator 16 and denominator negative 4 Line 3: 184.2 minus negative 45.2 times negative 4 Line 4: 184.2 minus 180.8 equals 3.4"/>
          <p:cNvPicPr preferRelativeResize="0"/>
          <p:nvPr/>
        </p:nvPicPr>
        <p:blipFill>
          <a:blip r:embed="rId5">
            <a:alphaModFix/>
          </a:blip>
          <a:srcRect t="52961" b="19931"/>
          <a:stretch>
            <a:fillRect/>
          </a:stretch>
        </p:blipFill>
        <p:spPr>
          <a:xfrm>
            <a:off x="907500" y="5402395"/>
            <a:ext cx="3057551" cy="379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&lt;math xmlns=&quot;http://www.w3.org/1998/Math/MathML&quot; display=&quot;block&quot; data-is-equatio=&quot;1&quot; data-latex=&quot;\begin{array}{l}184.2\ -\left(-45.2\right)\times16\ \div\left(-4\right)\\&amp;#13;&amp;#10;184.2\ -\ \left(-45.2\right)\times\frac{16}{\left(-4\right)}\\&amp;#13;&amp;#10;184.2-\left(-45.2\right)\times\left(-4\right)\\&amp;#13;&amp;#10;184.2-180.8\ =\ 3.4\end{array}&quot;&gt;&lt;mtable columnalign=&quot;left&quot; columnspacing=&quot;1em&quot; rowspacing=&quot;4pt&quot;&gt;&lt;mtr&gt;&lt;mtd&gt;&lt;mn&gt;184.2&lt;/mn&gt;&lt;mtext&gt;&lt;/mtext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n&gt;16&lt;/mn&gt;&lt;mtext&gt;&lt;/mtext&gt;&lt;mo&gt;÷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text&gt;&lt;/mtext&gt;&lt;mo&gt;−&lt;/mo&gt;&lt;mtext&gt;&lt;/mtext&gt;&lt;mrow data-mjx-texclass=&quot;INNER&quot;&gt;&lt;mo data-mjx-texclass=&quot;OPEN&quot;&gt;(&lt;/mo&gt;&lt;mo&gt;−&lt;/mo&gt;&lt;mn&gt;45.2&lt;/mn&gt;&lt;mo data-mjx-texclass=&quot;CLOSE&quot;&gt;)&lt;/mo&gt;&lt;/mrow&gt;&lt;mo&gt;×&lt;/mo&gt;&lt;mfrac&gt;&lt;mn&gt;16&lt;/mn&gt;&lt;mrow data-mjx-texclass=&quot;INNER&quot;&gt;&lt;mo data-mjx-texclass=&quot;OPEN&quot;&gt;(&lt;/mo&gt;&lt;mo&gt;−&lt;/mo&gt;&lt;mn&gt;4&lt;/mn&gt;&lt;mo data-mjx-texclass=&quot;CLOSE&quot;&gt;)&lt;/mo&gt;&lt;/mrow&gt;&lt;/mfrac&gt;&lt;/mtd&gt;&lt;/mtr&gt;&lt;mtr&gt;&lt;mtd&gt;&lt;mn&gt;184.2&lt;/mn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o&gt;−&lt;/mo&gt;&lt;mn&gt;180.8&lt;/mn&gt;&lt;mtext&gt;&lt;/mtext&gt;&lt;mo&gt;=&lt;/mo&gt;&lt;mtext&gt;&lt;/mtext&gt;&lt;mn&gt;3.4&lt;/mn&gt;&lt;/mtd&gt;&lt;/mtr&gt;&lt;/mtable&gt;&lt;/math&gt;" title="4 lines Line 1: 184.2 negative negative 45.2 times 16 division sign negative 4 Line 2: 184.2 minus negative 45.2 times the fraction with numerator 16 and denominator negative 4 Line 3: 184.2 minus negative 45.2 times negative 4 Line 4: 184.2 minus 180.8 equals 3.4"/>
          <p:cNvPicPr preferRelativeResize="0"/>
          <p:nvPr/>
        </p:nvPicPr>
        <p:blipFill>
          <a:blip r:embed="rId5">
            <a:alphaModFix/>
          </a:blip>
          <a:srcRect t="82133" r="49713" b="-9240"/>
          <a:stretch>
            <a:fillRect/>
          </a:stretch>
        </p:blipFill>
        <p:spPr>
          <a:xfrm>
            <a:off x="943720" y="5912722"/>
            <a:ext cx="1537535" cy="379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&lt;math xmlns=&quot;http://www.w3.org/1998/Math/MathML&quot; display=&quot;block&quot; data-is-equatio=&quot;1&quot; data-latex=&quot;\begin{array}{l}184.2\ -\left(-45.2\right)\times16\ \div\left(-4\right)\\&amp;#13;&amp;#10;184.2\ -\ \left(-45.2\right)\times\frac{16}{\left(-4\right)}\\&amp;#13;&amp;#10;184.2-\left(-45.2\right)\times\left(-4\right)\\&amp;#13;&amp;#10;184.2-180.8\ =\ 3.4\end{array}&quot;&gt;&lt;mtable columnalign=&quot;left&quot; columnspacing=&quot;1em&quot; rowspacing=&quot;4pt&quot;&gt;&lt;mtr&gt;&lt;mtd&gt;&lt;mn&gt;184.2&lt;/mn&gt;&lt;mtext&gt;&lt;/mtext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n&gt;16&lt;/mn&gt;&lt;mtext&gt;&lt;/mtext&gt;&lt;mo&gt;÷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text&gt;&lt;/mtext&gt;&lt;mo&gt;−&lt;/mo&gt;&lt;mtext&gt;&lt;/mtext&gt;&lt;mrow data-mjx-texclass=&quot;INNER&quot;&gt;&lt;mo data-mjx-texclass=&quot;OPEN&quot;&gt;(&lt;/mo&gt;&lt;mo&gt;−&lt;/mo&gt;&lt;mn&gt;45.2&lt;/mn&gt;&lt;mo data-mjx-texclass=&quot;CLOSE&quot;&gt;)&lt;/mo&gt;&lt;/mrow&gt;&lt;mo&gt;×&lt;/mo&gt;&lt;mfrac&gt;&lt;mn&gt;16&lt;/mn&gt;&lt;mrow data-mjx-texclass=&quot;INNER&quot;&gt;&lt;mo data-mjx-texclass=&quot;OPEN&quot;&gt;(&lt;/mo&gt;&lt;mo&gt;−&lt;/mo&gt;&lt;mn&gt;4&lt;/mn&gt;&lt;mo data-mjx-texclass=&quot;CLOSE&quot;&gt;)&lt;/mo&gt;&lt;/mrow&gt;&lt;/mfrac&gt;&lt;/mtd&gt;&lt;/mtr&gt;&lt;mtr&gt;&lt;mtd&gt;&lt;mn&gt;184.2&lt;/mn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o&gt;−&lt;/mo&gt;&lt;mn&gt;180.8&lt;/mn&gt;&lt;mtext&gt;&lt;/mtext&gt;&lt;mo&gt;=&lt;/mo&gt;&lt;mtext&gt;&lt;/mtext&gt;&lt;mn&gt;3.4&lt;/mn&gt;&lt;/mtd&gt;&lt;/mtr&gt;&lt;/mtable&gt;&lt;/math&gt;" title="4 lines Line 1: 184.2 negative negative 45.2 times 16 division sign negative 4 Line 2: 184.2 minus negative 45.2 times the fraction with numerator 16 and denominator negative 4 Line 3: 184.2 minus negative 45.2 times negative 4 Line 4: 184.2 minus 180.8 equals 3.4"/>
          <p:cNvPicPr preferRelativeResize="0"/>
          <p:nvPr/>
        </p:nvPicPr>
        <p:blipFill>
          <a:blip r:embed="rId5">
            <a:alphaModFix/>
          </a:blip>
          <a:srcRect l="47245" t="84199" r="15424" b="-11306"/>
          <a:stretch>
            <a:fillRect/>
          </a:stretch>
        </p:blipFill>
        <p:spPr>
          <a:xfrm>
            <a:off x="2482554" y="5912722"/>
            <a:ext cx="1141405" cy="37952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468000" y="6387050"/>
            <a:ext cx="6624000" cy="4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Work out the following, ensuring to show all your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8" name="Google Shape;238;p21" descr="&lt;math xmlns=&quot;http://www.w3.org/1998/Math/MathML&quot; display=&quot;block&quot; data-is-equatio=&quot;1&quot; data-latex=&quot;10.2\ -\ 1.4\ \times\left(-3.2\right)+\frac{12^2}{\sqrt[]{25+75}}&quot;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25&lt;/mn&gt;&lt;mo&gt;+&lt;/mo&gt;&lt;mn&gt;75&lt;/mn&gt;&lt;/msqrt&gt;&lt;/mfrac&gt;&lt;/math&gt;" title="10.2 minus 1.4 times negative 3.2 plus the fraction with numerator 12 squared and denominator the square root of 25 plus 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000" y="6694476"/>
            <a:ext cx="2231783" cy="463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&lt;math xmlns=&quot;http://www.w3.org/1998/Math/MathML&quot; display=&quot;block&quot; data-is-equatio=&quot;1&quot; data-latex=&quot;\begin{array}{l}10.2\ -\ 1.4\ \times\left(-3.2\right)+\frac{12^2}{\sqrt[]{25+75}}\\&amp;#13;&amp;#10;10.2\ -\ 1.4\ \times\left(-3.2\right)+\frac{12^2}{\sqrt[]{100}}\\&amp;#13;&amp;#10;10.2\ -\ 1.4\ \times\left(-3.2\right)+\frac{12^2}{10}\\&amp;#13;&amp;#10;10.2\ -\ 1.4\ \times\left(-3.2\right)+\frac{144}{10}\\&amp;#13;&amp;#10;10.2\ -\ \left(-4.48\right)+14.4\\&amp;#13;&amp;#10;10.2\ +\ 4.48+14.4\ =\ 29.08\end{array}&quot;&gt;&lt;mtable columnalign=&quot;left&quot; columnspacing=&quot;1em&quot; rowspacing=&quot;4pt&quot;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25&lt;/mn&gt;&lt;mo&gt;+&lt;/mo&gt;&lt;mn&gt;75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100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n&gt;10&lt;/mn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n&gt;144&lt;/mn&gt;&lt;mn&gt;10&lt;/mn&gt;&lt;/mfrac&gt;&lt;/mtd&gt;&lt;/mtr&gt;&lt;mtr&gt;&lt;mtd&gt;&lt;mn&gt;10.2&lt;/mn&gt;&lt;mtext&gt;&lt;/mtext&gt;&lt;mo&gt;−&lt;/mo&gt;&lt;mtext&gt;&lt;/mtext&gt;&lt;mrow data-mjx-texclass=&quot;INNER&quot;&gt;&lt;mo data-mjx-texclass=&quot;OPEN&quot;&gt;(&lt;/mo&gt;&lt;mo&gt;−&lt;/mo&gt;&lt;mn&gt;4.48&lt;/mn&gt;&lt;mo data-mjx-texclass=&quot;CLOSE&quot;&gt;)&lt;/mo&gt;&lt;/mrow&gt;&lt;mo&gt;+&lt;/mo&gt;&lt;mn&gt;14.4&lt;/mn&gt;&lt;/mtd&gt;&lt;/mtr&gt;&lt;mtr&gt;&lt;mtd&gt;&lt;mn&gt;10.2&lt;/mn&gt;&lt;mtext&gt;&lt;/mtext&gt;&lt;mo&gt;+&lt;/mo&gt;&lt;mtext&gt;&lt;/mtext&gt;&lt;mn&gt;4.48&lt;/mn&gt;&lt;mo&gt;+&lt;/mo&gt;&lt;mn&gt;14.4&lt;/mn&gt;&lt;mtext&gt;&lt;/mtext&gt;&lt;mo&gt;=&lt;/mo&gt;&lt;mtext&gt;&lt;/mtext&gt;&lt;mn&gt;29.08&lt;/mn&gt;&lt;/mtd&gt;&lt;/mtr&gt;&lt;/mtable&gt;&lt;/math&gt;" title="6 lines Line 1: 10.2 minus 1.4 times negative 3.2 plus the fraction with numerator 12 squared and denominator the square root of 25 plus 75 Line 2: 10.2 minus 1.4 times negative 3.2 plus the fraction with numerator 12 squared and denominator the square root of 100 Line 3: 10.2 minus 1.4 times negative 3.2 plus the fraction with numerator 12 squared and denominator 10 Line 4: 10.2 minus 1.4 times negative 3.2 plus 144 over 10 Line 5: 10.2 minus negative 4.48 plus 14.4 Line 6: 10.2 plus 4.48 plus 14.4 equals 29.08"/>
          <p:cNvPicPr preferRelativeResize="0"/>
          <p:nvPr/>
        </p:nvPicPr>
        <p:blipFill>
          <a:blip r:embed="rId7">
            <a:alphaModFix/>
          </a:blip>
          <a:srcRect b="78716"/>
          <a:stretch>
            <a:fillRect/>
          </a:stretch>
        </p:blipFill>
        <p:spPr>
          <a:xfrm>
            <a:off x="468000" y="7218302"/>
            <a:ext cx="2281841" cy="416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&lt;math xmlns=&quot;http://www.w3.org/1998/Math/MathML&quot; display=&quot;block&quot; data-is-equatio=&quot;1&quot; data-latex=&quot;\begin{array}{l}10.2\ -\ 1.4\ \times\left(-3.2\right)+\frac{12^2}{\sqrt[]{25+75}}\\&amp;#13;&amp;#10;10.2\ -\ 1.4\ \times\left(-3.2\right)+\frac{12^2}{\sqrt[]{100}}\\&amp;#13;&amp;#10;10.2\ -\ 1.4\ \times\left(-3.2\right)+\frac{12^2}{10}\\&amp;#13;&amp;#10;10.2\ -\ 1.4\ \times\left(-3.2\right)+\frac{144}{10}\\&amp;#13;&amp;#10;10.2\ -\ \left(-4.48\right)+14.4\\&amp;#13;&amp;#10;10.2\ +\ 4.48+14.4\ =\ 29.08\end{array}&quot;&gt;&lt;mtable columnalign=&quot;left&quot; columnspacing=&quot;1em&quot; rowspacing=&quot;4pt&quot;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25&lt;/mn&gt;&lt;mo&gt;+&lt;/mo&gt;&lt;mn&gt;75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100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n&gt;10&lt;/mn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n&gt;144&lt;/mn&gt;&lt;mn&gt;10&lt;/mn&gt;&lt;/mfrac&gt;&lt;/mtd&gt;&lt;/mtr&gt;&lt;mtr&gt;&lt;mtd&gt;&lt;mn&gt;10.2&lt;/mn&gt;&lt;mtext&gt;&lt;/mtext&gt;&lt;mo&gt;−&lt;/mo&gt;&lt;mtext&gt;&lt;/mtext&gt;&lt;mrow data-mjx-texclass=&quot;INNER&quot;&gt;&lt;mo data-mjx-texclass=&quot;OPEN&quot;&gt;(&lt;/mo&gt;&lt;mo&gt;−&lt;/mo&gt;&lt;mn&gt;4.48&lt;/mn&gt;&lt;mo data-mjx-texclass=&quot;CLOSE&quot;&gt;)&lt;/mo&gt;&lt;/mrow&gt;&lt;mo&gt;+&lt;/mo&gt;&lt;mn&gt;14.4&lt;/mn&gt;&lt;/mtd&gt;&lt;/mtr&gt;&lt;mtr&gt;&lt;mtd&gt;&lt;mn&gt;10.2&lt;/mn&gt;&lt;mtext&gt;&lt;/mtext&gt;&lt;mo&gt;+&lt;/mo&gt;&lt;mtext&gt;&lt;/mtext&gt;&lt;mn&gt;4.48&lt;/mn&gt;&lt;mo&gt;+&lt;/mo&gt;&lt;mn&gt;14.4&lt;/mn&gt;&lt;mtext&gt;&lt;/mtext&gt;&lt;mo&gt;=&lt;/mo&gt;&lt;mtext&gt;&lt;/mtext&gt;&lt;mn&gt;29.08&lt;/mn&gt;&lt;/mtd&gt;&lt;/mtr&gt;&lt;/mtable&gt;&lt;/math&gt;" title="6 lines Line 1: 10.2 minus 1.4 times negative 3.2 plus the fraction with numerator 12 squared and denominator the square root of 25 plus 75 Line 2: 10.2 minus 1.4 times negative 3.2 plus the fraction with numerator 12 squared and denominator the square root of 100 Line 3: 10.2 minus 1.4 times negative 3.2 plus the fraction with numerator 12 squared and denominator 10 Line 4: 10.2 minus 1.4 times negative 3.2 plus 144 over 10 Line 5: 10.2 minus negative 4.48 plus 14.4 Line 6: 10.2 plus 4.48 plus 14.4 equals 29.08"/>
          <p:cNvPicPr preferRelativeResize="0"/>
          <p:nvPr/>
        </p:nvPicPr>
        <p:blipFill>
          <a:blip r:embed="rId7">
            <a:alphaModFix/>
          </a:blip>
          <a:srcRect l="-2240" t="20489" r="2240" b="58226"/>
          <a:stretch>
            <a:fillRect/>
          </a:stretch>
        </p:blipFill>
        <p:spPr>
          <a:xfrm>
            <a:off x="468000" y="7597929"/>
            <a:ext cx="2281841" cy="416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&lt;math xmlns=&quot;http://www.w3.org/1998/Math/MathML&quot; display=&quot;block&quot; data-is-equatio=&quot;1&quot; data-latex=&quot;\begin{array}{l}10.2\ -\ 1.4\ \times\left(-3.2\right)+\frac{12^2}{\sqrt[]{25+75}}\\&amp;#13;&amp;#10;10.2\ -\ 1.4\ \times\left(-3.2\right)+\frac{12^2}{\sqrt[]{100}}\\&amp;#13;&amp;#10;10.2\ -\ 1.4\ \times\left(-3.2\right)+\frac{12^2}{10}\\&amp;#13;&amp;#10;10.2\ -\ 1.4\ \times\left(-3.2\right)+\frac{144}{10}\\&amp;#13;&amp;#10;10.2\ -\ \left(-4.48\right)+14.4\\&amp;#13;&amp;#10;10.2\ +\ 4.48+14.4\ =\ 29.08\end{array}&quot;&gt;&lt;mtable columnalign=&quot;left&quot; columnspacing=&quot;1em&quot; rowspacing=&quot;4pt&quot;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25&lt;/mn&gt;&lt;mo&gt;+&lt;/mo&gt;&lt;mn&gt;75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100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n&gt;10&lt;/mn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n&gt;144&lt;/mn&gt;&lt;mn&gt;10&lt;/mn&gt;&lt;/mfrac&gt;&lt;/mtd&gt;&lt;/mtr&gt;&lt;mtr&gt;&lt;mtd&gt;&lt;mn&gt;10.2&lt;/mn&gt;&lt;mtext&gt;&lt;/mtext&gt;&lt;mo&gt;−&lt;/mo&gt;&lt;mtext&gt;&lt;/mtext&gt;&lt;mrow data-mjx-texclass=&quot;INNER&quot;&gt;&lt;mo data-mjx-texclass=&quot;OPEN&quot;&gt;(&lt;/mo&gt;&lt;mo&gt;−&lt;/mo&gt;&lt;mn&gt;4.48&lt;/mn&gt;&lt;mo data-mjx-texclass=&quot;CLOSE&quot;&gt;)&lt;/mo&gt;&lt;/mrow&gt;&lt;mo&gt;+&lt;/mo&gt;&lt;mn&gt;14.4&lt;/mn&gt;&lt;/mtd&gt;&lt;/mtr&gt;&lt;mtr&gt;&lt;mtd&gt;&lt;mn&gt;10.2&lt;/mn&gt;&lt;mtext&gt;&lt;/mtext&gt;&lt;mo&gt;+&lt;/mo&gt;&lt;mtext&gt;&lt;/mtext&gt;&lt;mn&gt;4.48&lt;/mn&gt;&lt;mo&gt;+&lt;/mo&gt;&lt;mn&gt;14.4&lt;/mn&gt;&lt;mtext&gt;&lt;/mtext&gt;&lt;mo&gt;=&lt;/mo&gt;&lt;mtext&gt;&lt;/mtext&gt;&lt;mn&gt;29.08&lt;/mn&gt;&lt;/mtd&gt;&lt;/mtr&gt;&lt;/mtable&gt;&lt;/math&gt;" title="6 lines Line 1: 10.2 minus 1.4 times negative 3.2 plus the fraction with numerator 12 squared and denominator the square root of 25 plus 75 Line 2: 10.2 minus 1.4 times negative 3.2 plus the fraction with numerator 12 squared and denominator the square root of 100 Line 3: 10.2 minus 1.4 times negative 3.2 plus the fraction with numerator 12 squared and denominator 10 Line 4: 10.2 minus 1.4 times negative 3.2 plus 144 over 10 Line 5: 10.2 minus negative 4.48 plus 14.4 Line 6: 10.2 plus 4.48 plus 14.4 equals 29.08"/>
          <p:cNvPicPr preferRelativeResize="0"/>
          <p:nvPr/>
        </p:nvPicPr>
        <p:blipFill>
          <a:blip r:embed="rId7">
            <a:alphaModFix/>
          </a:blip>
          <a:srcRect l="-2120" t="42931" r="2119" b="38384"/>
          <a:stretch>
            <a:fillRect/>
          </a:stretch>
        </p:blipFill>
        <p:spPr>
          <a:xfrm>
            <a:off x="468000" y="8040056"/>
            <a:ext cx="2281841" cy="365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&lt;math xmlns=&quot;http://www.w3.org/1998/Math/MathML&quot; display=&quot;block&quot; data-is-equatio=&quot;1&quot; data-latex=&quot;\begin{array}{l}10.2\ -\ 1.4\ \times\left(-3.2\right)+\frac{12^2}{\sqrt[]{25+75}}\\&amp;#13;&amp;#10;10.2\ -\ 1.4\ \times\left(-3.2\right)+\frac{12^2}{\sqrt[]{100}}\\&amp;#13;&amp;#10;10.2\ -\ 1.4\ \times\left(-3.2\right)+\frac{12^2}{10}\\&amp;#13;&amp;#10;10.2\ -\ 1.4\ \times\left(-3.2\right)+\frac{144}{10}\\&amp;#13;&amp;#10;10.2\ -\ \left(-4.48\right)+14.4\\&amp;#13;&amp;#10;10.2\ +\ 4.48+14.4\ =\ 29.08\end{array}&quot;&gt;&lt;mtable columnalign=&quot;left&quot; columnspacing=&quot;1em&quot; rowspacing=&quot;4pt&quot;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25&lt;/mn&gt;&lt;mo&gt;+&lt;/mo&gt;&lt;mn&gt;75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100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n&gt;10&lt;/mn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n&gt;144&lt;/mn&gt;&lt;mn&gt;10&lt;/mn&gt;&lt;/mfrac&gt;&lt;/mtd&gt;&lt;/mtr&gt;&lt;mtr&gt;&lt;mtd&gt;&lt;mn&gt;10.2&lt;/mn&gt;&lt;mtext&gt;&lt;/mtext&gt;&lt;mo&gt;−&lt;/mo&gt;&lt;mtext&gt;&lt;/mtext&gt;&lt;mrow data-mjx-texclass=&quot;INNER&quot;&gt;&lt;mo data-mjx-texclass=&quot;OPEN&quot;&gt;(&lt;/mo&gt;&lt;mo&gt;−&lt;/mo&gt;&lt;mn&gt;4.48&lt;/mn&gt;&lt;mo data-mjx-texclass=&quot;CLOSE&quot;&gt;)&lt;/mo&gt;&lt;/mrow&gt;&lt;mo&gt;+&lt;/mo&gt;&lt;mn&gt;14.4&lt;/mn&gt;&lt;/mtd&gt;&lt;/mtr&gt;&lt;mtr&gt;&lt;mtd&gt;&lt;mn&gt;10.2&lt;/mn&gt;&lt;mtext&gt;&lt;/mtext&gt;&lt;mo&gt;+&lt;/mo&gt;&lt;mtext&gt;&lt;/mtext&gt;&lt;mn&gt;4.48&lt;/mn&gt;&lt;mo&gt;+&lt;/mo&gt;&lt;mn&gt;14.4&lt;/mn&gt;&lt;mtext&gt;&lt;/mtext&gt;&lt;mo&gt;=&lt;/mo&gt;&lt;mtext&gt;&lt;/mtext&gt;&lt;mn&gt;29.08&lt;/mn&gt;&lt;/mtd&gt;&lt;/mtr&gt;&lt;/mtable&gt;&lt;/math&gt;" title="6 lines Line 1: 10.2 minus 1.4 times negative 3.2 plus the fraction with numerator 12 squared and denominator the square root of 25 plus 75 Line 2: 10.2 minus 1.4 times negative 3.2 plus the fraction with numerator 12 squared and denominator the square root of 100 Line 3: 10.2 minus 1.4 times negative 3.2 plus the fraction with numerator 12 squared and denominator 10 Line 4: 10.2 minus 1.4 times negative 3.2 plus 144 over 10 Line 5: 10.2 minus negative 4.48 plus 14.4 Line 6: 10.2 plus 4.48 plus 14.4 equals 29.08"/>
          <p:cNvPicPr preferRelativeResize="0"/>
          <p:nvPr/>
        </p:nvPicPr>
        <p:blipFill>
          <a:blip r:embed="rId7">
            <a:alphaModFix/>
          </a:blip>
          <a:srcRect l="-2120" t="58869" r="2119" b="22446"/>
          <a:stretch>
            <a:fillRect/>
          </a:stretch>
        </p:blipFill>
        <p:spPr>
          <a:xfrm>
            <a:off x="468000" y="8431254"/>
            <a:ext cx="2281841" cy="365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&lt;math xmlns=&quot;http://www.w3.org/1998/Math/MathML&quot; display=&quot;block&quot; data-is-equatio=&quot;1&quot; data-latex=&quot;\begin{array}{l}10.2\ -\ 1.4\ \times\left(-3.2\right)+\frac{12^2}{\sqrt[]{25+75}}\\&amp;#13;&amp;#10;10.2\ -\ 1.4\ \times\left(-3.2\right)+\frac{12^2}{\sqrt[]{100}}\\&amp;#13;&amp;#10;10.2\ -\ 1.4\ \times\left(-3.2\right)+\frac{12^2}{10}\\&amp;#13;&amp;#10;10.2\ -\ 1.4\ \times\left(-3.2\right)+\frac{144}{10}\\&amp;#13;&amp;#10;10.2\ -\ \left(-4.48\right)+14.4\\&amp;#13;&amp;#10;10.2\ +\ 4.48+14.4\ =\ 29.08\end{array}&quot;&gt;&lt;mtable columnalign=&quot;left&quot; columnspacing=&quot;1em&quot; rowspacing=&quot;4pt&quot;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25&lt;/mn&gt;&lt;mo&gt;+&lt;/mo&gt;&lt;mn&gt;75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100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n&gt;10&lt;/mn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n&gt;144&lt;/mn&gt;&lt;mn&gt;10&lt;/mn&gt;&lt;/mfrac&gt;&lt;/mtd&gt;&lt;/mtr&gt;&lt;mtr&gt;&lt;mtd&gt;&lt;mn&gt;10.2&lt;/mn&gt;&lt;mtext&gt;&lt;/mtext&gt;&lt;mo&gt;−&lt;/mo&gt;&lt;mtext&gt;&lt;/mtext&gt;&lt;mrow data-mjx-texclass=&quot;INNER&quot;&gt;&lt;mo data-mjx-texclass=&quot;OPEN&quot;&gt;(&lt;/mo&gt;&lt;mo&gt;−&lt;/mo&gt;&lt;mn&gt;4.48&lt;/mn&gt;&lt;mo data-mjx-texclass=&quot;CLOSE&quot;&gt;)&lt;/mo&gt;&lt;/mrow&gt;&lt;mo&gt;+&lt;/mo&gt;&lt;mn&gt;14.4&lt;/mn&gt;&lt;/mtd&gt;&lt;/mtr&gt;&lt;mtr&gt;&lt;mtd&gt;&lt;mn&gt;10.2&lt;/mn&gt;&lt;mtext&gt;&lt;/mtext&gt;&lt;mo&gt;+&lt;/mo&gt;&lt;mtext&gt;&lt;/mtext&gt;&lt;mn&gt;4.48&lt;/mn&gt;&lt;mo&gt;+&lt;/mo&gt;&lt;mn&gt;14.4&lt;/mn&gt;&lt;mtext&gt;&lt;/mtext&gt;&lt;mo&gt;=&lt;/mo&gt;&lt;mtext&gt;&lt;/mtext&gt;&lt;mn&gt;29.08&lt;/mn&gt;&lt;/mtd&gt;&lt;/mtr&gt;&lt;/mtable&gt;&lt;/math&gt;" title="6 lines Line 1: 10.2 minus 1.4 times negative 3.2 plus the fraction with numerator 12 squared and denominator the square root of 25 plus 75 Line 2: 10.2 minus 1.4 times negative 3.2 plus the fraction with numerator 12 squared and denominator the square root of 100 Line 3: 10.2 minus 1.4 times negative 3.2 plus the fraction with numerator 12 squared and denominator 10 Line 4: 10.2 minus 1.4 times negative 3.2 plus 144 over 10 Line 5: 10.2 minus negative 4.48 plus 14.4 Line 6: 10.2 plus 4.48 plus 14.4 equals 29.08"/>
          <p:cNvPicPr preferRelativeResize="0"/>
          <p:nvPr/>
        </p:nvPicPr>
        <p:blipFill>
          <a:blip r:embed="rId7">
            <a:alphaModFix/>
          </a:blip>
          <a:srcRect l="-2409" t="89236" r="25921" b="-4792"/>
          <a:stretch>
            <a:fillRect/>
          </a:stretch>
        </p:blipFill>
        <p:spPr>
          <a:xfrm>
            <a:off x="468000" y="8870112"/>
            <a:ext cx="1745347" cy="304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&lt;math xmlns=&quot;http://www.w3.org/1998/Math/MathML&quot; display=&quot;block&quot; data-is-equatio=&quot;1&quot; data-latex=&quot;\begin{array}{l}10.2\ -\ 1.4\ \times\left(-3.2\right)+\frac{12^2}{\sqrt[]{25+75}}\\&amp;#13;&amp;#10;10.2\ -\ 1.4\ \times\left(-3.2\right)+\frac{12^2}{\sqrt[]{100}}\\&amp;#13;&amp;#10;10.2\ -\ 1.4\ \times\left(-3.2\right)+\frac{12^2}{10}\\&amp;#13;&amp;#10;10.2\ -\ 1.4\ \times\left(-3.2\right)+\frac{144}{10}\\&amp;#13;&amp;#10;10.2\ -\ \left(-4.48\right)+14.4\\&amp;#13;&amp;#10;10.2\ +\ 4.48+14.4\ =\ 29.08\end{array}&quot;&gt;&lt;mtable columnalign=&quot;left&quot; columnspacing=&quot;1em&quot; rowspacing=&quot;4pt&quot;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25&lt;/mn&gt;&lt;mo&gt;+&lt;/mo&gt;&lt;mn&gt;75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100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n&gt;10&lt;/mn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n&gt;144&lt;/mn&gt;&lt;mn&gt;10&lt;/mn&gt;&lt;/mfrac&gt;&lt;/mtd&gt;&lt;/mtr&gt;&lt;mtr&gt;&lt;mtd&gt;&lt;mn&gt;10.2&lt;/mn&gt;&lt;mtext&gt;&lt;/mtext&gt;&lt;mo&gt;−&lt;/mo&gt;&lt;mtext&gt;&lt;/mtext&gt;&lt;mrow data-mjx-texclass=&quot;INNER&quot;&gt;&lt;mo data-mjx-texclass=&quot;OPEN&quot;&gt;(&lt;/mo&gt;&lt;mo&gt;−&lt;/mo&gt;&lt;mn&gt;4.48&lt;/mn&gt;&lt;mo data-mjx-texclass=&quot;CLOSE&quot;&gt;)&lt;/mo&gt;&lt;/mrow&gt;&lt;mo&gt;+&lt;/mo&gt;&lt;mn&gt;14.4&lt;/mn&gt;&lt;/mtd&gt;&lt;/mtr&gt;&lt;mtr&gt;&lt;mtd&gt;&lt;mn&gt;10.2&lt;/mn&gt;&lt;mtext&gt;&lt;/mtext&gt;&lt;mo&gt;+&lt;/mo&gt;&lt;mtext&gt;&lt;/mtext&gt;&lt;mn&gt;4.48&lt;/mn&gt;&lt;mo&gt;+&lt;/mo&gt;&lt;mn&gt;14.4&lt;/mn&gt;&lt;mtext&gt;&lt;/mtext&gt;&lt;mo&gt;=&lt;/mo&gt;&lt;mtext&gt;&lt;/mtext&gt;&lt;mn&gt;29.08&lt;/mn&gt;&lt;/mtd&gt;&lt;/mtr&gt;&lt;/mtable&gt;&lt;/math&gt;" title="6 lines Line 1: 10.2 minus 1.4 times negative 3.2 plus the fraction with numerator 12 squared and denominator the square root of 25 plus 75 Line 2: 10.2 minus 1.4 times negative 3.2 plus the fraction with numerator 12 squared and denominator the square root of 100 Line 3: 10.2 minus 1.4 times negative 3.2 plus the fraction with numerator 12 squared and denominator 10 Line 4: 10.2 minus 1.4 times negative 3.2 plus 144 over 10 Line 5: 10.2 minus negative 4.48 plus 14.4 Line 6: 10.2 plus 4.48 plus 14.4 equals 29.08"/>
          <p:cNvPicPr preferRelativeResize="0"/>
          <p:nvPr/>
        </p:nvPicPr>
        <p:blipFill>
          <a:blip r:embed="rId7">
            <a:alphaModFix/>
          </a:blip>
          <a:srcRect l="75254" t="89236" r="2409" b="-4792"/>
          <a:stretch>
            <a:fillRect/>
          </a:stretch>
        </p:blipFill>
        <p:spPr>
          <a:xfrm>
            <a:off x="2220600" y="8870112"/>
            <a:ext cx="509660" cy="30469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468000" y="9297028"/>
            <a:ext cx="6624000" cy="6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Create your own two questions using a combination of operations and decimals so the correct answer is 24. You must use decimals and ensure to check your calculation with a calculator.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an infinite number of calculation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s. These will need to be checked.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27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2023-12-08T09:07:30.189</cp:lastPrinted>
  <dcterms:created xsi:type="dcterms:W3CDTF">2023-12-08T09:07:30Z</dcterms:created>
  <dcterms:modified xsi:type="dcterms:W3CDTF">2023-12-08T09:07:39Z</dcterms:modified>
</cp:coreProperties>
</file>