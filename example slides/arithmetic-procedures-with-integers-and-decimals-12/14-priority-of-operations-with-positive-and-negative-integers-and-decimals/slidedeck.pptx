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38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C56B207-4C48-4F0F-B7F7-51BF5C690243}">
  <a:tblStyle styleId="{4C56B207-4C48-4F0F-B7F7-51BF5C69024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381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91373f574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91373f574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291373f5747_0_1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291373f5747_0_1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291373f574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291373f574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g291373f5747_0_14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7" name="Google Shape;807;g291373f5747_0_1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291373f5747_0_14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3" name="Google Shape;823;g291373f5747_0_1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291373f5747_0_14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6" name="Google Shape;846;g291373f5747_0_1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29fc0a90780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2" name="Google Shape;862;g29fc0a90780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g291373f5747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1" name="Google Shape;871;g291373f5747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291373f5747_0_2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291373f5747_0_2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291373f5747_0_2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291373f5747_0_2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291373f5747_0_2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5" name="Google Shape;905;g291373f5747_0_2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291373f5747_0_2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291373f5747_0_2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291373f5747_0_24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4" name="Google Shape;934;g291373f5747_0_2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g291373f5747_0_24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6" name="Google Shape;956;g291373f5747_0_2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1e98ab6cc2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g1e98ab6cc2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g291373f5747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9" name="Google Shape;1019;g291373f5747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291373f5747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9" name="Google Shape;1029;g291373f5747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g1e98ab6cc2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4" name="Google Shape;1044;g1e98ab6cc2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g291373f5747_0_25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6" name="Google Shape;1066;g291373f5747_0_25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g291373f5747_0_25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7" name="Google Shape;1087;g291373f5747_0_25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g291373f5747_0_2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5" name="Google Shape;1105;g291373f5747_0_2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g291373f5747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3" name="Google Shape;1113;g291373f5747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g291373f5747_0_29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9" name="Google Shape;1139;g291373f5747_0_29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7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g291373f5747_0_29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9" name="Google Shape;1149;g291373f5747_0_29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291373f5747_0_28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291373f5747_0_28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g291373f5747_0_25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0" name="Google Shape;1190;g291373f5747_0_25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g291373f5747_0_26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4" name="Google Shape;1204;g291373f5747_0_26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g291373f5747_0_27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9" name="Google Shape;1229;g291373f5747_0_27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g291373f5747_0_27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7" name="Google Shape;1257;g291373f5747_0_27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g291373f5747_0_28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4" name="Google Shape;1284;g291373f5747_0_28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g291373f5747_0_29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3" name="Google Shape;1293;g291373f5747_0_29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g291373f5747_0_28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0" name="Google Shape;1300;g291373f5747_0_28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g291373f5747_0_29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8" name="Google Shape;1308;g291373f5747_0_29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g291373f5747_0_28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1" name="Google Shape;1321;g291373f5747_0_28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g291373f5747_0_28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5" name="Google Shape;1345;g291373f5747_0_28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g291373f5747_0_6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9" name="Google Shape;1369;g291373f5747_0_6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g291373f5747_0_6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0" name="Google Shape;1390;g291373f5747_0_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image" Target="../media/image1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4.png"/><Relationship Id="rId4" Type="http://schemas.openxmlformats.org/officeDocument/2006/relationships/image" Target="../media/image19.png"/><Relationship Id="rId5" Type="http://schemas.openxmlformats.org/officeDocument/2006/relationships/image" Target="../media/image13.png"/><Relationship Id="rId6" Type="http://schemas.openxmlformats.org/officeDocument/2006/relationships/image" Target="../media/image23.png"/><Relationship Id="rId7" Type="http://schemas.openxmlformats.org/officeDocument/2006/relationships/image" Target="../media/image2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32.png"/><Relationship Id="rId4" Type="http://schemas.openxmlformats.org/officeDocument/2006/relationships/image" Target="../media/image82.png"/><Relationship Id="rId5" Type="http://schemas.openxmlformats.org/officeDocument/2006/relationships/image" Target="../media/image31.png"/><Relationship Id="rId6" Type="http://schemas.openxmlformats.org/officeDocument/2006/relationships/image" Target="../media/image28.png"/><Relationship Id="rId7" Type="http://schemas.openxmlformats.org/officeDocument/2006/relationships/image" Target="../media/image20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82.png"/><Relationship Id="rId4" Type="http://schemas.openxmlformats.org/officeDocument/2006/relationships/image" Target="../media/image24.png"/><Relationship Id="rId9" Type="http://schemas.openxmlformats.org/officeDocument/2006/relationships/image" Target="../media/image20.png"/><Relationship Id="rId5" Type="http://schemas.openxmlformats.org/officeDocument/2006/relationships/image" Target="../media/image32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28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82.png"/><Relationship Id="rId4" Type="http://schemas.openxmlformats.org/officeDocument/2006/relationships/image" Target="../media/image29.png"/><Relationship Id="rId11" Type="http://schemas.openxmlformats.org/officeDocument/2006/relationships/image" Target="../media/image20.png"/><Relationship Id="rId10" Type="http://schemas.openxmlformats.org/officeDocument/2006/relationships/image" Target="../media/image34.png"/><Relationship Id="rId9" Type="http://schemas.openxmlformats.org/officeDocument/2006/relationships/image" Target="../media/image28.png"/><Relationship Id="rId5" Type="http://schemas.openxmlformats.org/officeDocument/2006/relationships/image" Target="../media/image24.png"/><Relationship Id="rId6" Type="http://schemas.openxmlformats.org/officeDocument/2006/relationships/image" Target="../media/image32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37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37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37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37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6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6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6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6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194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8.png"/><Relationship Id="rId4" Type="http://schemas.openxmlformats.org/officeDocument/2006/relationships/image" Target="../media/image4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8.png"/><Relationship Id="rId4" Type="http://schemas.openxmlformats.org/officeDocument/2006/relationships/image" Target="../media/image4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2.png"/><Relationship Id="rId4" Type="http://schemas.openxmlformats.org/officeDocument/2006/relationships/image" Target="../media/image55.png"/><Relationship Id="rId9" Type="http://schemas.openxmlformats.org/officeDocument/2006/relationships/image" Target="../media/image57.png"/><Relationship Id="rId5" Type="http://schemas.openxmlformats.org/officeDocument/2006/relationships/image" Target="../media/image50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Relationship Id="rId8" Type="http://schemas.openxmlformats.org/officeDocument/2006/relationships/image" Target="../media/image5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5.png"/><Relationship Id="rId4" Type="http://schemas.openxmlformats.org/officeDocument/2006/relationships/image" Target="../media/image60.png"/><Relationship Id="rId9" Type="http://schemas.openxmlformats.org/officeDocument/2006/relationships/image" Target="../media/image53.png"/><Relationship Id="rId5" Type="http://schemas.openxmlformats.org/officeDocument/2006/relationships/image" Target="../media/image59.png"/><Relationship Id="rId6" Type="http://schemas.openxmlformats.org/officeDocument/2006/relationships/image" Target="../media/image58.png"/><Relationship Id="rId7" Type="http://schemas.openxmlformats.org/officeDocument/2006/relationships/image" Target="../media/image61.png"/><Relationship Id="rId8" Type="http://schemas.openxmlformats.org/officeDocument/2006/relationships/image" Target="../media/image63.png"/><Relationship Id="rId10" Type="http://schemas.openxmlformats.org/officeDocument/2006/relationships/image" Target="../media/image5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4.png"/><Relationship Id="rId4" Type="http://schemas.openxmlformats.org/officeDocument/2006/relationships/image" Target="../media/image6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5.png"/><Relationship Id="rId4" Type="http://schemas.openxmlformats.org/officeDocument/2006/relationships/image" Target="../media/image68.png"/><Relationship Id="rId5" Type="http://schemas.openxmlformats.org/officeDocument/2006/relationships/image" Target="../media/image6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4.png"/><Relationship Id="rId4" Type="http://schemas.openxmlformats.org/officeDocument/2006/relationships/image" Target="../media/image6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5.png"/><Relationship Id="rId4" Type="http://schemas.openxmlformats.org/officeDocument/2006/relationships/image" Target="../media/image68.png"/><Relationship Id="rId5" Type="http://schemas.openxmlformats.org/officeDocument/2006/relationships/image" Target="../media/image6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3.png"/><Relationship Id="rId4" Type="http://schemas.openxmlformats.org/officeDocument/2006/relationships/image" Target="../media/image69.png"/><Relationship Id="rId5" Type="http://schemas.openxmlformats.org/officeDocument/2006/relationships/image" Target="../media/image7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4.png"/><Relationship Id="rId4" Type="http://schemas.openxmlformats.org/officeDocument/2006/relationships/image" Target="../media/image73.png"/><Relationship Id="rId5" Type="http://schemas.openxmlformats.org/officeDocument/2006/relationships/image" Target="../media/image69.png"/><Relationship Id="rId6" Type="http://schemas.openxmlformats.org/officeDocument/2006/relationships/image" Target="../media/image76.png"/><Relationship Id="rId7" Type="http://schemas.openxmlformats.org/officeDocument/2006/relationships/image" Target="../media/image78.png"/><Relationship Id="rId8" Type="http://schemas.openxmlformats.org/officeDocument/2006/relationships/image" Target="../media/image7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4.png"/><Relationship Id="rId4" Type="http://schemas.openxmlformats.org/officeDocument/2006/relationships/image" Target="../media/image73.png"/><Relationship Id="rId9" Type="http://schemas.openxmlformats.org/officeDocument/2006/relationships/image" Target="../media/image79.png"/><Relationship Id="rId5" Type="http://schemas.openxmlformats.org/officeDocument/2006/relationships/image" Target="../media/image77.png"/><Relationship Id="rId6" Type="http://schemas.openxmlformats.org/officeDocument/2006/relationships/image" Target="../media/image69.png"/><Relationship Id="rId7" Type="http://schemas.openxmlformats.org/officeDocument/2006/relationships/image" Target="../media/image76.png"/><Relationship Id="rId8" Type="http://schemas.openxmlformats.org/officeDocument/2006/relationships/image" Target="../media/image75.png"/><Relationship Id="rId10" Type="http://schemas.openxmlformats.org/officeDocument/2006/relationships/image" Target="../media/image8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4.png"/><Relationship Id="rId4" Type="http://schemas.openxmlformats.org/officeDocument/2006/relationships/image" Target="../media/image73.png"/><Relationship Id="rId9" Type="http://schemas.openxmlformats.org/officeDocument/2006/relationships/image" Target="../media/image76.png"/><Relationship Id="rId5" Type="http://schemas.openxmlformats.org/officeDocument/2006/relationships/image" Target="../media/image77.png"/><Relationship Id="rId6" Type="http://schemas.openxmlformats.org/officeDocument/2006/relationships/image" Target="../media/image69.png"/><Relationship Id="rId7" Type="http://schemas.openxmlformats.org/officeDocument/2006/relationships/image" Target="../media/image81.png"/><Relationship Id="rId8" Type="http://schemas.openxmlformats.org/officeDocument/2006/relationships/image" Target="../media/image80.png"/><Relationship Id="rId10" Type="http://schemas.openxmlformats.org/officeDocument/2006/relationships/image" Target="../media/image7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83.png"/><Relationship Id="rId4" Type="http://schemas.openxmlformats.org/officeDocument/2006/relationships/image" Target="../media/image8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8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8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83.png"/><Relationship Id="rId4" Type="http://schemas.openxmlformats.org/officeDocument/2006/relationships/image" Target="../media/image8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86.png"/><Relationship Id="rId4" Type="http://schemas.openxmlformats.org/officeDocument/2006/relationships/image" Target="../media/image89.png"/><Relationship Id="rId5" Type="http://schemas.openxmlformats.org/officeDocument/2006/relationships/image" Target="../media/image88.png"/><Relationship Id="rId6" Type="http://schemas.openxmlformats.org/officeDocument/2006/relationships/image" Target="../media/image91.png"/><Relationship Id="rId7" Type="http://schemas.openxmlformats.org/officeDocument/2006/relationships/image" Target="../media/image8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84.png"/><Relationship Id="rId4" Type="http://schemas.openxmlformats.org/officeDocument/2006/relationships/image" Target="../media/image95.png"/><Relationship Id="rId5" Type="http://schemas.openxmlformats.org/officeDocument/2006/relationships/image" Target="../media/image90.png"/><Relationship Id="rId6" Type="http://schemas.openxmlformats.org/officeDocument/2006/relationships/image" Target="../media/image92.png"/><Relationship Id="rId7" Type="http://schemas.openxmlformats.org/officeDocument/2006/relationships/image" Target="../media/image96.png"/><Relationship Id="rId8" Type="http://schemas.openxmlformats.org/officeDocument/2006/relationships/image" Target="../media/image9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9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Priority of operations with positive and negative integers and decimals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Arithmetic procedures with integers and decimals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calculate using priority of operations, including brackets, powers and exponents with positive and negative integers and decimals.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/>
        </p:nvSpPr>
        <p:spPr>
          <a:xfrm>
            <a:off x="311990" y="730051"/>
            <a:ext cx="80142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he additive inverse of a number</a:t>
            </a:r>
            <a:r>
              <a:rPr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is a number that, when added to the original number, gives the sum of 0.</a:t>
            </a:r>
            <a:endParaRPr sz="2000"/>
          </a:p>
        </p:txBody>
      </p:sp>
      <p:sp>
        <p:nvSpPr>
          <p:cNvPr id="767" name="Google Shape;767;p67"/>
          <p:cNvSpPr txBox="1"/>
          <p:nvPr/>
        </p:nvSpPr>
        <p:spPr>
          <a:xfrm>
            <a:off x="336294" y="1709700"/>
            <a:ext cx="3642600" cy="9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8 is the additive inverse of (-8)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8" name="Google Shape;768;p67"/>
          <p:cNvSpPr txBox="1"/>
          <p:nvPr/>
        </p:nvSpPr>
        <p:spPr>
          <a:xfrm>
            <a:off x="4361125" y="1705650"/>
            <a:ext cx="4154100" cy="9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(-4.5) is the additive inverse of 4.5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69" name="Google Shape;769;p67"/>
          <p:cNvGrpSpPr/>
          <p:nvPr/>
        </p:nvGrpSpPr>
        <p:grpSpPr>
          <a:xfrm>
            <a:off x="311990" y="2697751"/>
            <a:ext cx="7784100" cy="2109299"/>
            <a:chOff x="616790" y="2697751"/>
            <a:chExt cx="7784100" cy="2109299"/>
          </a:xfrm>
        </p:grpSpPr>
        <p:sp>
          <p:nvSpPr>
            <p:cNvPr id="770" name="Google Shape;770;p67"/>
            <p:cNvSpPr txBox="1"/>
            <p:nvPr/>
          </p:nvSpPr>
          <p:spPr>
            <a:xfrm>
              <a:off x="616790" y="2697751"/>
              <a:ext cx="77841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282828"/>
                  </a:solidFill>
                  <a:latin typeface="Lexend"/>
                  <a:ea typeface="Lexend"/>
                  <a:cs typeface="Lexend"/>
                  <a:sym typeface="Lexend"/>
                </a:rPr>
                <a:t>An operation is commutative if the values it is operating on can be written in either order without changing the calculation. </a:t>
              </a:r>
              <a:endParaRPr sz="2000"/>
            </a:p>
          </p:txBody>
        </p:sp>
        <p:sp>
          <p:nvSpPr>
            <p:cNvPr id="771" name="Google Shape;771;p67"/>
            <p:cNvSpPr txBox="1"/>
            <p:nvPr/>
          </p:nvSpPr>
          <p:spPr>
            <a:xfrm>
              <a:off x="625636" y="3898350"/>
              <a:ext cx="3340800" cy="90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282828"/>
                  </a:solidFill>
                  <a:latin typeface="Lexend"/>
                  <a:ea typeface="Lexend"/>
                  <a:cs typeface="Lexend"/>
                  <a:sym typeface="Lexend"/>
                </a:rPr>
                <a:t>Example</a:t>
              </a:r>
              <a:endParaRPr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282828"/>
                  </a:solidFill>
                  <a:latin typeface="Lexend"/>
                  <a:ea typeface="Lexend"/>
                  <a:cs typeface="Lexend"/>
                  <a:sym typeface="Lexend"/>
                </a:rPr>
                <a:t>(-3) + 4 + 10 = 10 + (-3) + 4</a:t>
              </a:r>
              <a:endParaRPr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6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Priority of operations with negatives</a:t>
            </a:r>
            <a:endParaRPr/>
          </a:p>
        </p:txBody>
      </p:sp>
      <p:sp>
        <p:nvSpPr>
          <p:cNvPr id="777" name="Google Shape;777;p6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Priority of operations with negatives and decimals</a:t>
            </a:r>
            <a:endParaRPr/>
          </a:p>
        </p:txBody>
      </p:sp>
      <p:sp>
        <p:nvSpPr>
          <p:cNvPr id="778" name="Google Shape;778;p68"/>
          <p:cNvSpPr txBox="1"/>
          <p:nvPr>
            <p:ph idx="3" type="title"/>
          </p:nvPr>
        </p:nvSpPr>
        <p:spPr>
          <a:xfrm>
            <a:off x="324000" y="810000"/>
            <a:ext cx="69696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Priority of operations with positive and negative integers and decimals</a:t>
            </a:r>
            <a:endParaRPr/>
          </a:p>
        </p:txBody>
      </p:sp>
      <p:pic>
        <p:nvPicPr>
          <p:cNvPr id="779" name="Google Shape;779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281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4" name="Google Shape;784;p69"/>
          <p:cNvGrpSpPr/>
          <p:nvPr/>
        </p:nvGrpSpPr>
        <p:grpSpPr>
          <a:xfrm>
            <a:off x="2528947" y="1702728"/>
            <a:ext cx="3916346" cy="2889197"/>
            <a:chOff x="2529025" y="1931250"/>
            <a:chExt cx="3584100" cy="2617500"/>
          </a:xfrm>
        </p:grpSpPr>
        <p:sp>
          <p:nvSpPr>
            <p:cNvPr id="785" name="Google Shape;785;p69"/>
            <p:cNvSpPr/>
            <p:nvPr/>
          </p:nvSpPr>
          <p:spPr>
            <a:xfrm>
              <a:off x="2529025" y="1931250"/>
              <a:ext cx="3584100" cy="2617500"/>
            </a:xfrm>
            <a:prstGeom prst="triangle">
              <a:avLst>
                <a:gd fmla="val 50000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786" name="Google Shape;786;p69"/>
            <p:cNvCxnSpPr/>
            <p:nvPr/>
          </p:nvCxnSpPr>
          <p:spPr>
            <a:xfrm>
              <a:off x="3766742" y="2706800"/>
              <a:ext cx="10959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7" name="Google Shape;787;p69"/>
            <p:cNvCxnSpPr/>
            <p:nvPr/>
          </p:nvCxnSpPr>
          <p:spPr>
            <a:xfrm>
              <a:off x="3369600" y="3320300"/>
              <a:ext cx="18993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8" name="Google Shape;788;p69"/>
            <p:cNvCxnSpPr/>
            <p:nvPr/>
          </p:nvCxnSpPr>
          <p:spPr>
            <a:xfrm flipH="1" rot="10800000">
              <a:off x="2996850" y="3910986"/>
              <a:ext cx="2653800" cy="39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89" name="Google Shape;789;p69"/>
          <p:cNvSpPr txBox="1"/>
          <p:nvPr/>
        </p:nvSpPr>
        <p:spPr>
          <a:xfrm>
            <a:off x="4120302" y="2019850"/>
            <a:ext cx="1247100" cy="5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( …. 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90" name="Google Shape;790;p69"/>
          <p:cNvGrpSpPr/>
          <p:nvPr/>
        </p:nvGrpSpPr>
        <p:grpSpPr>
          <a:xfrm>
            <a:off x="4500978" y="2510325"/>
            <a:ext cx="817925" cy="656513"/>
            <a:chOff x="1546176" y="2521625"/>
            <a:chExt cx="817925" cy="656513"/>
          </a:xfrm>
        </p:grpSpPr>
        <p:sp>
          <p:nvSpPr>
            <p:cNvPr id="791" name="Google Shape;791;p69"/>
            <p:cNvSpPr txBox="1"/>
            <p:nvPr/>
          </p:nvSpPr>
          <p:spPr>
            <a:xfrm>
              <a:off x="1873601" y="2521625"/>
              <a:ext cx="490500" cy="5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000">
                  <a:latin typeface="Lexend"/>
                  <a:ea typeface="Lexend"/>
                  <a:cs typeface="Lexend"/>
                  <a:sym typeface="Lexend"/>
                </a:rPr>
                <a:t>⬚</a:t>
              </a:r>
              <a:endParaRPr b="1"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2" name="Google Shape;792;p69"/>
            <p:cNvSpPr txBox="1"/>
            <p:nvPr/>
          </p:nvSpPr>
          <p:spPr>
            <a:xfrm>
              <a:off x="1546176" y="2641138"/>
              <a:ext cx="490500" cy="5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3100">
                  <a:latin typeface="Lexend"/>
                  <a:ea typeface="Lexend"/>
                  <a:cs typeface="Lexend"/>
                  <a:sym typeface="Lexend"/>
                </a:rPr>
                <a:t>⬚</a:t>
              </a:r>
              <a:endParaRPr b="1" sz="31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93" name="Google Shape;793;p69"/>
          <p:cNvGrpSpPr/>
          <p:nvPr/>
        </p:nvGrpSpPr>
        <p:grpSpPr>
          <a:xfrm>
            <a:off x="3734648" y="2548385"/>
            <a:ext cx="627511" cy="537000"/>
            <a:chOff x="3734648" y="2776985"/>
            <a:chExt cx="627511" cy="537000"/>
          </a:xfrm>
        </p:grpSpPr>
        <p:pic>
          <p:nvPicPr>
            <p:cNvPr descr="&lt;math xmlns=&quot;http://www.w3.org/1998/Math/MathML&quot; display=&quot;block&quot; data-is-equatio=&quot;1&quot; data-latex=&quot;\begin{array}{l}\sqrt[\ \ ]{\ \ \ }\\&amp;#13;&amp;#10;\end{array}&quot;&gt;&lt;mtable columnalign=&quot;left&quot; columnspacing=&quot;1em&quot; rowspacing=&quot;4pt&quot;&gt;&lt;mtr&gt;&lt;mtd&gt;&lt;mroot&gt;&lt;mrow&gt;&lt;mtext&gt;&lt;/mtext&gt;&lt;mtext&gt;&lt;/mtext&gt;&lt;mtext&gt;&lt;/mtext&gt;&lt;/mrow&gt;&lt;mrow&gt;&lt;mtext&gt;&lt;/mtext&gt;&lt;mtext&gt;&lt;/mtext&gt;&lt;/mrow&gt;&lt;/mroot&gt;&lt;/mtd&gt;&lt;/mtr&gt;&lt;/mtable&gt;&lt;/math&gt;" id="794" name="Google Shape;794;p69" title="1 lines Line 1: the root of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871597" y="2929810"/>
              <a:ext cx="490562" cy="384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5" name="Google Shape;795;p69"/>
            <p:cNvSpPr txBox="1"/>
            <p:nvPr/>
          </p:nvSpPr>
          <p:spPr>
            <a:xfrm>
              <a:off x="3734648" y="2776985"/>
              <a:ext cx="490500" cy="5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700">
                  <a:latin typeface="Lexend"/>
                  <a:ea typeface="Lexend"/>
                  <a:cs typeface="Lexend"/>
                  <a:sym typeface="Lexend"/>
                </a:rPr>
                <a:t>⬚</a:t>
              </a:r>
              <a:endParaRPr sz="17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796" name="Google Shape;796;p69"/>
          <p:cNvSpPr txBox="1"/>
          <p:nvPr/>
        </p:nvSpPr>
        <p:spPr>
          <a:xfrm>
            <a:off x="3691500" y="3085375"/>
            <a:ext cx="2082900" cy="6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700">
                <a:latin typeface="Lexend"/>
                <a:ea typeface="Lexend"/>
                <a:cs typeface="Lexend"/>
                <a:sym typeface="Lexend"/>
              </a:rPr>
              <a:t>×    ÷</a:t>
            </a:r>
            <a:endParaRPr sz="4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7" name="Google Shape;797;p69"/>
          <p:cNvSpPr txBox="1"/>
          <p:nvPr/>
        </p:nvSpPr>
        <p:spPr>
          <a:xfrm>
            <a:off x="3637750" y="3741775"/>
            <a:ext cx="2082900" cy="6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700">
                <a:latin typeface="Lexend"/>
                <a:ea typeface="Lexend"/>
                <a:cs typeface="Lexend"/>
                <a:sym typeface="Lexend"/>
              </a:rPr>
              <a:t>+    −</a:t>
            </a:r>
            <a:endParaRPr sz="4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8" name="Google Shape;798;p69"/>
          <p:cNvSpPr/>
          <p:nvPr/>
        </p:nvSpPr>
        <p:spPr>
          <a:xfrm>
            <a:off x="6819350" y="1681968"/>
            <a:ext cx="432900" cy="656400"/>
          </a:xfrm>
          <a:prstGeom prst="downArrow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9" name="Google Shape;799;p69"/>
          <p:cNvSpPr/>
          <p:nvPr/>
        </p:nvSpPr>
        <p:spPr>
          <a:xfrm>
            <a:off x="6819350" y="2414568"/>
            <a:ext cx="432900" cy="656400"/>
          </a:xfrm>
          <a:prstGeom prst="downArrow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0" name="Google Shape;800;p69"/>
          <p:cNvSpPr/>
          <p:nvPr/>
        </p:nvSpPr>
        <p:spPr>
          <a:xfrm>
            <a:off x="6819350" y="3208943"/>
            <a:ext cx="432900" cy="656400"/>
          </a:xfrm>
          <a:prstGeom prst="downArrow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1" name="Google Shape;801;p69"/>
          <p:cNvSpPr/>
          <p:nvPr/>
        </p:nvSpPr>
        <p:spPr>
          <a:xfrm>
            <a:off x="6819350" y="3990893"/>
            <a:ext cx="432900" cy="656400"/>
          </a:xfrm>
          <a:prstGeom prst="downArrow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2" name="Google Shape;802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Priority of operations with negatives</a:t>
            </a:r>
            <a:endParaRPr/>
          </a:p>
        </p:txBody>
      </p:sp>
      <p:sp>
        <p:nvSpPr>
          <p:cNvPr id="803" name="Google Shape;803;p69"/>
          <p:cNvSpPr txBox="1"/>
          <p:nvPr>
            <p:ph idx="1" type="body"/>
          </p:nvPr>
        </p:nvSpPr>
        <p:spPr>
          <a:xfrm>
            <a:off x="369650" y="693275"/>
            <a:ext cx="7885200" cy="116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The priority of operations is important as it ensures that everyone can understand and approach a mathematical problem the same way. </a:t>
            </a:r>
            <a:endParaRPr sz="2100"/>
          </a:p>
        </p:txBody>
      </p:sp>
      <p:sp>
        <p:nvSpPr>
          <p:cNvPr id="804" name="Google Shape;804;p69"/>
          <p:cNvSpPr txBox="1"/>
          <p:nvPr>
            <p:ph idx="1" type="body"/>
          </p:nvPr>
        </p:nvSpPr>
        <p:spPr>
          <a:xfrm>
            <a:off x="369650" y="2257488"/>
            <a:ext cx="3000000" cy="116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This </a:t>
            </a:r>
            <a:r>
              <a:rPr lang="en-GB" sz="2100"/>
              <a:t>priority</a:t>
            </a:r>
            <a:r>
              <a:rPr lang="en-GB" sz="2100"/>
              <a:t> applies to both positive and negative numbers.</a:t>
            </a:r>
            <a:endParaRPr sz="2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9" name="Google Shape;809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699" y="2098025"/>
            <a:ext cx="2748225" cy="1995675"/>
          </a:xfrm>
          <a:prstGeom prst="rect">
            <a:avLst/>
          </a:prstGeom>
          <a:noFill/>
          <a:ln>
            <a:noFill/>
          </a:ln>
        </p:spPr>
      </p:pic>
      <p:sp>
        <p:nvSpPr>
          <p:cNvPr id="810" name="Google Shape;810;p70"/>
          <p:cNvSpPr txBox="1"/>
          <p:nvPr>
            <p:ph idx="1" type="body"/>
          </p:nvPr>
        </p:nvSpPr>
        <p:spPr>
          <a:xfrm>
            <a:off x="418700" y="693000"/>
            <a:ext cx="81990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When using negatives, we will be using addition with the additive inverse and rewriting the calculation in a more efficient way. </a:t>
            </a:r>
            <a:endParaRPr/>
          </a:p>
        </p:txBody>
      </p:sp>
      <p:sp>
        <p:nvSpPr>
          <p:cNvPr id="811" name="Google Shape;811;p70"/>
          <p:cNvSpPr/>
          <p:nvPr/>
        </p:nvSpPr>
        <p:spPr>
          <a:xfrm>
            <a:off x="1233541" y="3604759"/>
            <a:ext cx="448200" cy="4482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2" name="Google Shape;812;p70"/>
          <p:cNvSpPr txBox="1"/>
          <p:nvPr/>
        </p:nvSpPr>
        <p:spPr>
          <a:xfrm>
            <a:off x="3230638" y="2049588"/>
            <a:ext cx="5772900" cy="8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Rewrite the calculation so we are only using addition.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70"/>
          <p:cNvSpPr txBox="1"/>
          <p:nvPr/>
        </p:nvSpPr>
        <p:spPr>
          <a:xfrm>
            <a:off x="3229200" y="1484832"/>
            <a:ext cx="4732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Calculate 12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+ (-3) − 5 − (-10)</a:t>
            </a:r>
            <a:endParaRPr/>
          </a:p>
        </p:txBody>
      </p:sp>
      <p:sp>
        <p:nvSpPr>
          <p:cNvPr id="814" name="Google Shape;814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Priority of operations with negatives</a:t>
            </a:r>
            <a:endParaRPr/>
          </a:p>
        </p:txBody>
      </p:sp>
      <p:sp>
        <p:nvSpPr>
          <p:cNvPr id="815" name="Google Shape;815;p70"/>
          <p:cNvSpPr txBox="1"/>
          <p:nvPr/>
        </p:nvSpPr>
        <p:spPr>
          <a:xfrm>
            <a:off x="3230660" y="2986050"/>
            <a:ext cx="4732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Here we have 12 + (-3) − 5 − (-10)</a:t>
            </a:r>
            <a:endParaRPr/>
          </a:p>
        </p:txBody>
      </p:sp>
      <p:cxnSp>
        <p:nvCxnSpPr>
          <p:cNvPr id="816" name="Google Shape;816;p70"/>
          <p:cNvCxnSpPr/>
          <p:nvPr/>
        </p:nvCxnSpPr>
        <p:spPr>
          <a:xfrm flipH="1">
            <a:off x="6590650" y="3520375"/>
            <a:ext cx="6000" cy="9138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7" name="Google Shape;817;p70"/>
          <p:cNvCxnSpPr/>
          <p:nvPr/>
        </p:nvCxnSpPr>
        <p:spPr>
          <a:xfrm flipH="1">
            <a:off x="7131400" y="3524909"/>
            <a:ext cx="8700" cy="9051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18" name="Google Shape;818;p70"/>
          <p:cNvSpPr txBox="1"/>
          <p:nvPr/>
        </p:nvSpPr>
        <p:spPr>
          <a:xfrm>
            <a:off x="5224525" y="3594875"/>
            <a:ext cx="1465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(- 5)</a:t>
            </a:r>
            <a:endParaRPr/>
          </a:p>
        </p:txBody>
      </p:sp>
      <p:sp>
        <p:nvSpPr>
          <p:cNvPr id="819" name="Google Shape;819;p70"/>
          <p:cNvSpPr txBox="1"/>
          <p:nvPr/>
        </p:nvSpPr>
        <p:spPr>
          <a:xfrm>
            <a:off x="6689250" y="3592075"/>
            <a:ext cx="123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+10</a:t>
            </a:r>
            <a:endParaRPr/>
          </a:p>
        </p:txBody>
      </p:sp>
      <p:sp>
        <p:nvSpPr>
          <p:cNvPr id="820" name="Google Shape;820;p70"/>
          <p:cNvSpPr txBox="1"/>
          <p:nvPr/>
        </p:nvSpPr>
        <p:spPr>
          <a:xfrm>
            <a:off x="4974900" y="4397500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 + (-3) + (-5) + 10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5" name="Google Shape;825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699" y="2098025"/>
            <a:ext cx="2748225" cy="1995675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71"/>
          <p:cNvSpPr txBox="1"/>
          <p:nvPr>
            <p:ph idx="1" type="body"/>
          </p:nvPr>
        </p:nvSpPr>
        <p:spPr>
          <a:xfrm>
            <a:off x="418700" y="693000"/>
            <a:ext cx="81990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When using negatives, we will be using addition with the additive inverse and rewriting the calculation in a more efficient way. </a:t>
            </a:r>
            <a:endParaRPr/>
          </a:p>
        </p:txBody>
      </p:sp>
      <p:sp>
        <p:nvSpPr>
          <p:cNvPr id="827" name="Google Shape;827;p71"/>
          <p:cNvSpPr/>
          <p:nvPr/>
        </p:nvSpPr>
        <p:spPr>
          <a:xfrm>
            <a:off x="1233541" y="3604759"/>
            <a:ext cx="448200" cy="4482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8" name="Google Shape;828;p71"/>
          <p:cNvSpPr txBox="1"/>
          <p:nvPr/>
        </p:nvSpPr>
        <p:spPr>
          <a:xfrm>
            <a:off x="2843400" y="17745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Summing the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positives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829" name="Google Shape;829;p71"/>
          <p:cNvSpPr txBox="1"/>
          <p:nvPr/>
        </p:nvSpPr>
        <p:spPr>
          <a:xfrm>
            <a:off x="6028200" y="1774488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Summing the negatives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830" name="Google Shape;830;p71"/>
          <p:cNvSpPr txBox="1"/>
          <p:nvPr/>
        </p:nvSpPr>
        <p:spPr>
          <a:xfrm>
            <a:off x="3819025" y="2174225"/>
            <a:ext cx="767400" cy="10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1" name="Google Shape;831;p71"/>
          <p:cNvSpPr txBox="1"/>
          <p:nvPr/>
        </p:nvSpPr>
        <p:spPr>
          <a:xfrm>
            <a:off x="3543175" y="2648707"/>
            <a:ext cx="767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32" name="Google Shape;832;p71"/>
          <p:cNvCxnSpPr/>
          <p:nvPr/>
        </p:nvCxnSpPr>
        <p:spPr>
          <a:xfrm>
            <a:off x="3556050" y="3163775"/>
            <a:ext cx="811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3" name="Google Shape;833;p71"/>
          <p:cNvSpPr txBox="1"/>
          <p:nvPr/>
        </p:nvSpPr>
        <p:spPr>
          <a:xfrm>
            <a:off x="3819025" y="3134075"/>
            <a:ext cx="576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22</a:t>
            </a:r>
            <a:endParaRPr/>
          </a:p>
        </p:txBody>
      </p:sp>
      <p:cxnSp>
        <p:nvCxnSpPr>
          <p:cNvPr id="834" name="Google Shape;834;p71"/>
          <p:cNvCxnSpPr/>
          <p:nvPr/>
        </p:nvCxnSpPr>
        <p:spPr>
          <a:xfrm>
            <a:off x="3584400" y="3564225"/>
            <a:ext cx="811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5" name="Google Shape;835;p71"/>
          <p:cNvSpPr txBox="1"/>
          <p:nvPr/>
        </p:nvSpPr>
        <p:spPr>
          <a:xfrm>
            <a:off x="7289625" y="2096475"/>
            <a:ext cx="767400" cy="10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(-3)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(-5)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6" name="Google Shape;836;p71"/>
          <p:cNvSpPr txBox="1"/>
          <p:nvPr/>
        </p:nvSpPr>
        <p:spPr>
          <a:xfrm>
            <a:off x="7013775" y="2570957"/>
            <a:ext cx="767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37" name="Google Shape;837;p71"/>
          <p:cNvCxnSpPr/>
          <p:nvPr/>
        </p:nvCxnSpPr>
        <p:spPr>
          <a:xfrm>
            <a:off x="7026650" y="3086025"/>
            <a:ext cx="811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8" name="Google Shape;838;p71"/>
          <p:cNvSpPr txBox="1"/>
          <p:nvPr/>
        </p:nvSpPr>
        <p:spPr>
          <a:xfrm>
            <a:off x="7289625" y="2999969"/>
            <a:ext cx="679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(-8)</a:t>
            </a:r>
            <a:endParaRPr/>
          </a:p>
        </p:txBody>
      </p:sp>
      <p:cxnSp>
        <p:nvCxnSpPr>
          <p:cNvPr id="839" name="Google Shape;839;p71"/>
          <p:cNvCxnSpPr/>
          <p:nvPr/>
        </p:nvCxnSpPr>
        <p:spPr>
          <a:xfrm>
            <a:off x="7055000" y="3486475"/>
            <a:ext cx="811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0" name="Google Shape;840;p71"/>
          <p:cNvSpPr txBox="1"/>
          <p:nvPr/>
        </p:nvSpPr>
        <p:spPr>
          <a:xfrm>
            <a:off x="4933725" y="4116900"/>
            <a:ext cx="1331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22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+ (-8)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41" name="Google Shape;841;p71"/>
          <p:cNvSpPr txBox="1"/>
          <p:nvPr/>
        </p:nvSpPr>
        <p:spPr>
          <a:xfrm>
            <a:off x="6104400" y="4116900"/>
            <a:ext cx="1331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14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42" name="Google Shape;842;p71"/>
          <p:cNvSpPr txBox="1"/>
          <p:nvPr/>
        </p:nvSpPr>
        <p:spPr>
          <a:xfrm>
            <a:off x="4933725" y="3679175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 + (-3) + (-5) + 10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43" name="Google Shape;843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Priority of operations with negatives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8" name="Google Shape;848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699" y="2098025"/>
            <a:ext cx="2748225" cy="1995675"/>
          </a:xfrm>
          <a:prstGeom prst="rect">
            <a:avLst/>
          </a:prstGeom>
          <a:noFill/>
          <a:ln>
            <a:noFill/>
          </a:ln>
        </p:spPr>
      </p:pic>
      <p:sp>
        <p:nvSpPr>
          <p:cNvPr id="849" name="Google Shape;849;p72"/>
          <p:cNvSpPr/>
          <p:nvPr/>
        </p:nvSpPr>
        <p:spPr>
          <a:xfrm>
            <a:off x="1233541" y="3604759"/>
            <a:ext cx="448200" cy="4482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0" name="Google Shape;850;p72"/>
          <p:cNvSpPr txBox="1"/>
          <p:nvPr>
            <p:ph idx="1" type="body"/>
          </p:nvPr>
        </p:nvSpPr>
        <p:spPr>
          <a:xfrm>
            <a:off x="418700" y="703225"/>
            <a:ext cx="84012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Now let’s mix negatives and addition with another operation.</a:t>
            </a:r>
            <a:endParaRPr/>
          </a:p>
        </p:txBody>
      </p:sp>
      <p:sp>
        <p:nvSpPr>
          <p:cNvPr id="851" name="Google Shape;851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Priority of operations with negatives</a:t>
            </a:r>
            <a:endParaRPr/>
          </a:p>
        </p:txBody>
      </p:sp>
      <p:sp>
        <p:nvSpPr>
          <p:cNvPr id="852" name="Google Shape;852;p72"/>
          <p:cNvSpPr txBox="1"/>
          <p:nvPr/>
        </p:nvSpPr>
        <p:spPr>
          <a:xfrm>
            <a:off x="3369600" y="1165675"/>
            <a:ext cx="459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Calculate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20 </a:t>
            </a:r>
            <a:r>
              <a:rPr lang="en-GB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(-5) × 10</a:t>
            </a:r>
            <a:endParaRPr/>
          </a:p>
        </p:txBody>
      </p:sp>
      <p:sp>
        <p:nvSpPr>
          <p:cNvPr id="853" name="Google Shape;853;p72"/>
          <p:cNvSpPr txBox="1"/>
          <p:nvPr>
            <p:ph idx="1" type="body"/>
          </p:nvPr>
        </p:nvSpPr>
        <p:spPr>
          <a:xfrm>
            <a:off x="3369600" y="1638975"/>
            <a:ext cx="5805300" cy="37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Which operation do we do first?</a:t>
            </a:r>
            <a:endParaRPr sz="2100"/>
          </a:p>
        </p:txBody>
      </p:sp>
      <p:sp>
        <p:nvSpPr>
          <p:cNvPr id="854" name="Google Shape;854;p72"/>
          <p:cNvSpPr txBox="1"/>
          <p:nvPr/>
        </p:nvSpPr>
        <p:spPr>
          <a:xfrm>
            <a:off x="3369600" y="2821075"/>
            <a:ext cx="5304600" cy="6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Can you rewrite the calculation to only use addition?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5" name="Google Shape;855;p72"/>
          <p:cNvSpPr txBox="1"/>
          <p:nvPr/>
        </p:nvSpPr>
        <p:spPr>
          <a:xfrm>
            <a:off x="3369600" y="2068750"/>
            <a:ext cx="301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 </a:t>
            </a:r>
            <a:r>
              <a:rPr lang="en-GB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(-50)</a:t>
            </a:r>
            <a:endParaRPr/>
          </a:p>
        </p:txBody>
      </p:sp>
      <p:sp>
        <p:nvSpPr>
          <p:cNvPr id="856" name="Google Shape;856;p72"/>
          <p:cNvSpPr txBox="1"/>
          <p:nvPr/>
        </p:nvSpPr>
        <p:spPr>
          <a:xfrm>
            <a:off x="3378452" y="3780000"/>
            <a:ext cx="188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 </a:t>
            </a:r>
            <a:r>
              <a:rPr lang="en-GB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(-50)</a:t>
            </a:r>
            <a:endParaRPr/>
          </a:p>
        </p:txBody>
      </p:sp>
      <p:sp>
        <p:nvSpPr>
          <p:cNvPr id="857" name="Google Shape;857;p72"/>
          <p:cNvSpPr txBox="1"/>
          <p:nvPr/>
        </p:nvSpPr>
        <p:spPr>
          <a:xfrm>
            <a:off x="3369593" y="4266487"/>
            <a:ext cx="1124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 + 50</a:t>
            </a:r>
            <a:endParaRPr/>
          </a:p>
        </p:txBody>
      </p:sp>
      <p:sp>
        <p:nvSpPr>
          <p:cNvPr id="858" name="Google Shape;858;p72"/>
          <p:cNvSpPr txBox="1"/>
          <p:nvPr/>
        </p:nvSpPr>
        <p:spPr>
          <a:xfrm>
            <a:off x="4473527" y="4266487"/>
            <a:ext cx="1124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70</a:t>
            </a:r>
            <a:endParaRPr/>
          </a:p>
        </p:txBody>
      </p:sp>
      <p:sp>
        <p:nvSpPr>
          <p:cNvPr id="859" name="Google Shape;859;p72"/>
          <p:cNvSpPr/>
          <p:nvPr/>
        </p:nvSpPr>
        <p:spPr>
          <a:xfrm>
            <a:off x="1233541" y="3147559"/>
            <a:ext cx="448200" cy="4482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73"/>
          <p:cNvSpPr txBox="1"/>
          <p:nvPr/>
        </p:nvSpPr>
        <p:spPr>
          <a:xfrm>
            <a:off x="379306" y="713932"/>
            <a:ext cx="7885200" cy="39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the answers to the following.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Make 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sure to show all your working out.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Lexend"/>
              <a:buAutoNum type="alphaLcParenR"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100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+ (-6) ×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AutoNum type="alphaLcParenR" startAt="2"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100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-2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0) ÷ (5)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AutoNum type="alphaLcParenR" startAt="3"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900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(-3)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(-10)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5" name="Google Shape;865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Priority of operations with negatives</a:t>
            </a:r>
            <a:endParaRPr/>
          </a:p>
        </p:txBody>
      </p:sp>
      <p:sp>
        <p:nvSpPr>
          <p:cNvPr id="866" name="Google Shape;866;p73"/>
          <p:cNvSpPr txBox="1"/>
          <p:nvPr/>
        </p:nvSpPr>
        <p:spPr>
          <a:xfrm>
            <a:off x="635350" y="1904450"/>
            <a:ext cx="24711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100  +  (-30) = 70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7" name="Google Shape;867;p73"/>
          <p:cNvSpPr txBox="1"/>
          <p:nvPr/>
        </p:nvSpPr>
        <p:spPr>
          <a:xfrm>
            <a:off x="678475" y="2885338"/>
            <a:ext cx="24711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100  − (-4)</a:t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100  +  4 = 104</a:t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68" name="Google Shape;868;p73"/>
          <p:cNvSpPr txBox="1"/>
          <p:nvPr/>
        </p:nvSpPr>
        <p:spPr>
          <a:xfrm>
            <a:off x="678475" y="4027725"/>
            <a:ext cx="34146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900  −  30 </a:t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900  +  (-30) = 870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Priority of operations with negatives</a:t>
            </a:r>
            <a:endParaRPr/>
          </a:p>
        </p:txBody>
      </p:sp>
      <p:sp>
        <p:nvSpPr>
          <p:cNvPr id="874" name="Google Shape;874;p74"/>
          <p:cNvSpPr txBox="1"/>
          <p:nvPr>
            <p:ph idx="1" type="body"/>
          </p:nvPr>
        </p:nvSpPr>
        <p:spPr>
          <a:xfrm>
            <a:off x="381400" y="810000"/>
            <a:ext cx="8368800" cy="37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Now let’s look at two operations on the same row.</a:t>
            </a:r>
            <a:endParaRPr/>
          </a:p>
        </p:txBody>
      </p:sp>
      <p:pic>
        <p:nvPicPr>
          <p:cNvPr id="875" name="Google Shape;875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769" y="1702625"/>
            <a:ext cx="3354675" cy="24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876" name="Google Shape;876;p74"/>
          <p:cNvSpPr/>
          <p:nvPr/>
        </p:nvSpPr>
        <p:spPr>
          <a:xfrm>
            <a:off x="2223092" y="3550503"/>
            <a:ext cx="517800" cy="4764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7" name="Google Shape;877;p74"/>
          <p:cNvSpPr/>
          <p:nvPr/>
        </p:nvSpPr>
        <p:spPr>
          <a:xfrm>
            <a:off x="1380317" y="3560856"/>
            <a:ext cx="517800" cy="4764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8" name="Google Shape;878;p74"/>
          <p:cNvSpPr txBox="1"/>
          <p:nvPr>
            <p:ph idx="1" type="body"/>
          </p:nvPr>
        </p:nvSpPr>
        <p:spPr>
          <a:xfrm>
            <a:off x="4689400" y="1620000"/>
            <a:ext cx="3221700" cy="37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With addition and subtraction, it is easier and more efficient to use the additive inverse and keep all the operations as addition.</a:t>
            </a:r>
            <a:endParaRPr/>
          </a:p>
        </p:txBody>
      </p:sp>
      <p:cxnSp>
        <p:nvCxnSpPr>
          <p:cNvPr id="879" name="Google Shape;879;p74"/>
          <p:cNvCxnSpPr/>
          <p:nvPr/>
        </p:nvCxnSpPr>
        <p:spPr>
          <a:xfrm flipH="1">
            <a:off x="3552475" y="1890050"/>
            <a:ext cx="942000" cy="17703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Priority of operations with negatives</a:t>
            </a:r>
            <a:endParaRPr/>
          </a:p>
        </p:txBody>
      </p:sp>
      <p:sp>
        <p:nvSpPr>
          <p:cNvPr id="885" name="Google Shape;885;p75"/>
          <p:cNvSpPr txBox="1"/>
          <p:nvPr>
            <p:ph idx="1" type="body"/>
          </p:nvPr>
        </p:nvSpPr>
        <p:spPr>
          <a:xfrm>
            <a:off x="381600" y="810000"/>
            <a:ext cx="8368800" cy="37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Now let’s look at two operations on the same row.</a:t>
            </a:r>
            <a:endParaRPr/>
          </a:p>
        </p:txBody>
      </p:sp>
      <p:pic>
        <p:nvPicPr>
          <p:cNvPr id="886" name="Google Shape;886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769" y="1702625"/>
            <a:ext cx="3354675" cy="24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887" name="Google Shape;887;p75"/>
          <p:cNvSpPr/>
          <p:nvPr/>
        </p:nvSpPr>
        <p:spPr>
          <a:xfrm>
            <a:off x="2212738" y="3017103"/>
            <a:ext cx="517800" cy="4764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8" name="Google Shape;888;p75"/>
          <p:cNvSpPr/>
          <p:nvPr/>
        </p:nvSpPr>
        <p:spPr>
          <a:xfrm>
            <a:off x="1401026" y="3032866"/>
            <a:ext cx="517800" cy="4764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9" name="Google Shape;889;p75"/>
          <p:cNvSpPr txBox="1"/>
          <p:nvPr>
            <p:ph idx="1" type="body"/>
          </p:nvPr>
        </p:nvSpPr>
        <p:spPr>
          <a:xfrm>
            <a:off x="4689400" y="1620000"/>
            <a:ext cx="3221700" cy="37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With multiplication and division, they have the same priority, but it is better to rewrite the division as a fraction.</a:t>
            </a:r>
            <a:endParaRPr/>
          </a:p>
        </p:txBody>
      </p:sp>
      <p:cxnSp>
        <p:nvCxnSpPr>
          <p:cNvPr id="890" name="Google Shape;890;p75"/>
          <p:cNvCxnSpPr/>
          <p:nvPr/>
        </p:nvCxnSpPr>
        <p:spPr>
          <a:xfrm flipH="1">
            <a:off x="3324775" y="1882000"/>
            <a:ext cx="1190400" cy="13581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Priority of operations with negatives</a:t>
            </a:r>
            <a:endParaRPr/>
          </a:p>
        </p:txBody>
      </p:sp>
      <p:sp>
        <p:nvSpPr>
          <p:cNvPr id="896" name="Google Shape;896;p76"/>
          <p:cNvSpPr txBox="1"/>
          <p:nvPr>
            <p:ph idx="1" type="body"/>
          </p:nvPr>
        </p:nvSpPr>
        <p:spPr>
          <a:xfrm>
            <a:off x="381400" y="664025"/>
            <a:ext cx="8368800" cy="37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With multiplication and division, they have the same priority, but it is better to rewrite the division as a fraction.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897" name="Google Shape;897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769" y="1702625"/>
            <a:ext cx="3354675" cy="24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898" name="Google Shape;898;p76"/>
          <p:cNvSpPr/>
          <p:nvPr/>
        </p:nvSpPr>
        <p:spPr>
          <a:xfrm>
            <a:off x="2212738" y="3017103"/>
            <a:ext cx="517800" cy="4764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9" name="Google Shape;899;p76"/>
          <p:cNvSpPr/>
          <p:nvPr/>
        </p:nvSpPr>
        <p:spPr>
          <a:xfrm>
            <a:off x="1401026" y="3032866"/>
            <a:ext cx="517800" cy="4764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0" name="Google Shape;900;p76"/>
          <p:cNvSpPr txBox="1"/>
          <p:nvPr/>
        </p:nvSpPr>
        <p:spPr>
          <a:xfrm>
            <a:off x="3953255" y="1526825"/>
            <a:ext cx="1390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80\ -\ \left(-12\right)\ \div\left(4\right)\ \times2\\&amp;#13;&amp;#10;80-\frac{\left(-12\right)}{4}\times2\\&amp;#13;&amp;#10;80\ -\ \left(-3\right)\ \times2\\&amp;#13;&amp;#10;80\ -\left(-6\right)\\&amp;#13;&amp;#10;80\ +\left(-6\right)\ =\ 86\end{array}&quot;&gt;&lt;mtable columnalign=&quot;left&quot; columnspacing=&quot;1em&quot; rowspacing=&quot;4pt&quot;&gt;&lt;mtr&gt;&lt;mtd&gt;&lt;mn&gt;80&lt;/mn&gt;&lt;mtext&gt;&lt;/mtext&gt;&lt;mo&gt;−&lt;/mo&gt;&lt;mtext&gt;&lt;/mtext&gt;&lt;mrow data-mjx-texclass=&quot;INNER&quot;&gt;&lt;mo data-mjx-texclass=&quot;OPEN&quot;&gt;(&lt;/mo&gt;&lt;mo&gt;−&lt;/mo&gt;&lt;mn&gt;12&lt;/mn&gt;&lt;mo data-mjx-texclass=&quot;CLOSE&quot;&gt;)&lt;/mo&gt;&lt;/mrow&gt;&lt;mtext&gt;&lt;/mtext&gt;&lt;mo&gt;÷&lt;/mo&gt;&lt;mrow data-mjx-texclass=&quot;INNER&quot;&gt;&lt;mo data-mjx-texclass=&quot;OPEN&quot;&gt;(&lt;/mo&gt;&lt;mn&gt;4&lt;/mn&gt;&lt;mo data-mjx-texclass=&quot;CLOSE&quot;&gt;)&lt;/mo&gt;&lt;/mrow&gt;&lt;mtext&gt;&lt;/mtext&gt;&lt;mo&gt;×&lt;/mo&gt;&lt;mn&gt;2&lt;/mn&gt;&lt;/mtd&gt;&lt;/mtr&gt;&lt;mtr&gt;&lt;mtd&gt;&lt;mn&gt;80&lt;/mn&gt;&lt;mo&gt;−&lt;/mo&gt;&lt;mfrac&gt;&lt;mrow data-mjx-texclass=&quot;INNER&quot;&gt;&lt;mo data-mjx-texclass=&quot;OPEN&quot;&gt;(&lt;/mo&gt;&lt;mo&gt;−&lt;/mo&gt;&lt;mn&gt;12&lt;/mn&gt;&lt;mo data-mjx-texclass=&quot;CLOSE&quot;&gt;)&lt;/mo&gt;&lt;/mrow&gt;&lt;mn&gt;4&lt;/mn&gt;&lt;/mfrac&gt;&lt;mo&gt;×&lt;/mo&gt;&lt;mn&gt;2&lt;/mn&gt;&lt;/mtd&gt;&lt;/mtr&gt;&lt;mtr&gt;&lt;mtd&gt;&lt;mn&gt;80&lt;/mn&gt;&lt;mtext&gt;&lt;/mtext&gt;&lt;mo&gt;−&lt;/mo&gt;&lt;mtext&gt;&lt;/mtext&gt;&lt;mrow data-mjx-texclass=&quot;INNER&quot;&gt;&lt;mo data-mjx-texclass=&quot;OPEN&quot;&gt;(&lt;/mo&gt;&lt;mo&gt;−&lt;/mo&gt;&lt;mn&gt;3&lt;/mn&gt;&lt;mo data-mjx-texclass=&quot;CLOSE&quot;&gt;)&lt;/mo&gt;&lt;/mrow&gt;&lt;mtext&gt;&lt;/mtext&gt;&lt;mo&gt;×&lt;/mo&gt;&lt;mn&gt;2&lt;/mn&gt;&lt;/mtd&gt;&lt;/mtr&gt;&lt;mtr&gt;&lt;mtd&gt;&lt;mn&gt;80&lt;/mn&gt;&lt;mtext&gt;&lt;/mtext&gt;&lt;mo&gt;−&lt;/mo&gt;&lt;mrow data-mjx-texclass=&quot;INNER&quot;&gt;&lt;mo data-mjx-texclass=&quot;OPEN&quot;&gt;(&lt;/mo&gt;&lt;mo&gt;−&lt;/mo&gt;&lt;mn&gt;6&lt;/mn&gt;&lt;mo data-mjx-texclass=&quot;CLOSE&quot;&gt;)&lt;/mo&gt;&lt;/mrow&gt;&lt;/mtd&gt;&lt;/mtr&gt;&lt;mtr&gt;&lt;mtd&gt;&lt;mn&gt;80&lt;/mn&gt;&lt;mtext&gt;&lt;/mtext&gt;&lt;mo&gt;+&lt;/mo&gt;&lt;mrow data-mjx-texclass=&quot;INNER&quot;&gt;&lt;mo data-mjx-texclass=&quot;OPEN&quot;&gt;(&lt;/mo&gt;&lt;mo&gt;−&lt;/mo&gt;&lt;mn&gt;6&lt;/mn&gt;&lt;mo data-mjx-texclass=&quot;CLOSE&quot;&gt;)&lt;/mo&gt;&lt;/mrow&gt;&lt;mtext&gt;&lt;/mtext&gt;&lt;mo&gt;=&lt;/mo&gt;&lt;mtext&gt;&lt;/mtext&gt;&lt;mn&gt;86&lt;/mn&gt;&lt;/mtd&gt;&lt;/mtr&gt;&lt;/mtable&gt;&lt;/math&gt;" id="901" name="Google Shape;901;p76" title="5 lines Line 1: 80 minus negative 12 division sign 4 times 2 Line 2: 80 minus the fraction with numerator negative 12 and denominator 4 times 2 Line 3: 80 minus negative 3 times 2 Line 4: 80 negative negative 6 Line 5: 80 positive negative 6 equals 86"/>
          <p:cNvPicPr preferRelativeResize="0"/>
          <p:nvPr/>
        </p:nvPicPr>
        <p:blipFill rotWithShape="1">
          <a:blip r:embed="rId4">
            <a:alphaModFix/>
          </a:blip>
          <a:srcRect b="84229" l="0" r="0" t="0"/>
          <a:stretch/>
        </p:blipFill>
        <p:spPr>
          <a:xfrm>
            <a:off x="4104550" y="2127900"/>
            <a:ext cx="3354651" cy="378899"/>
          </a:xfrm>
          <a:prstGeom prst="rect">
            <a:avLst/>
          </a:prstGeom>
          <a:noFill/>
          <a:ln>
            <a:noFill/>
          </a:ln>
        </p:spPr>
      </p:pic>
      <p:sp>
        <p:nvSpPr>
          <p:cNvPr id="902" name="Google Shape;902;p76"/>
          <p:cNvSpPr txBox="1"/>
          <p:nvPr>
            <p:ph idx="1" type="body"/>
          </p:nvPr>
        </p:nvSpPr>
        <p:spPr>
          <a:xfrm>
            <a:off x="4104550" y="2599975"/>
            <a:ext cx="4313700" cy="37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Can you rewrite the division as a fraction?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Priority of operations with negatives</a:t>
            </a:r>
            <a:endParaRPr/>
          </a:p>
        </p:txBody>
      </p:sp>
      <p:pic>
        <p:nvPicPr>
          <p:cNvPr id="908" name="Google Shape;908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769" y="1702625"/>
            <a:ext cx="3354675" cy="24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909" name="Google Shape;909;p77"/>
          <p:cNvSpPr/>
          <p:nvPr/>
        </p:nvSpPr>
        <p:spPr>
          <a:xfrm>
            <a:off x="2212738" y="3017103"/>
            <a:ext cx="517800" cy="4764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0" name="Google Shape;910;p77"/>
          <p:cNvSpPr/>
          <p:nvPr/>
        </p:nvSpPr>
        <p:spPr>
          <a:xfrm>
            <a:off x="1401026" y="3032866"/>
            <a:ext cx="517800" cy="4764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1" name="Google Shape;911;p77"/>
          <p:cNvSpPr txBox="1"/>
          <p:nvPr/>
        </p:nvSpPr>
        <p:spPr>
          <a:xfrm>
            <a:off x="3952800" y="1526400"/>
            <a:ext cx="1390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 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80\ -\ \left(-12\right)\ \div\left(4\right)\ \times2\\&amp;#13;&amp;#10;80-\frac{\left(-12\right)}{4}\times2\\&amp;#13;&amp;#10;80\ -\ \left(-3\right)\ \times2\\&amp;#13;&amp;#10;80\ -\left(-6\right)\\&amp;#13;&amp;#10;80\ +\left(-6\right)\ =\ 86\end{array}&quot;&gt;&lt;mtable columnalign=&quot;left&quot; columnspacing=&quot;1em&quot; rowspacing=&quot;4pt&quot;&gt;&lt;mtr&gt;&lt;mtd&gt;&lt;mn&gt;80&lt;/mn&gt;&lt;mtext&gt;&lt;/mtext&gt;&lt;mo&gt;−&lt;/mo&gt;&lt;mtext&gt;&lt;/mtext&gt;&lt;mrow data-mjx-texclass=&quot;INNER&quot;&gt;&lt;mo data-mjx-texclass=&quot;OPEN&quot;&gt;(&lt;/mo&gt;&lt;mo&gt;−&lt;/mo&gt;&lt;mn&gt;12&lt;/mn&gt;&lt;mo data-mjx-texclass=&quot;CLOSE&quot;&gt;)&lt;/mo&gt;&lt;/mrow&gt;&lt;mtext&gt;&lt;/mtext&gt;&lt;mo&gt;÷&lt;/mo&gt;&lt;mrow data-mjx-texclass=&quot;INNER&quot;&gt;&lt;mo data-mjx-texclass=&quot;OPEN&quot;&gt;(&lt;/mo&gt;&lt;mn&gt;4&lt;/mn&gt;&lt;mo data-mjx-texclass=&quot;CLOSE&quot;&gt;)&lt;/mo&gt;&lt;/mrow&gt;&lt;mtext&gt;&lt;/mtext&gt;&lt;mo&gt;×&lt;/mo&gt;&lt;mn&gt;2&lt;/mn&gt;&lt;/mtd&gt;&lt;/mtr&gt;&lt;mtr&gt;&lt;mtd&gt;&lt;mn&gt;80&lt;/mn&gt;&lt;mo&gt;−&lt;/mo&gt;&lt;mfrac&gt;&lt;mrow data-mjx-texclass=&quot;INNER&quot;&gt;&lt;mo data-mjx-texclass=&quot;OPEN&quot;&gt;(&lt;/mo&gt;&lt;mo&gt;−&lt;/mo&gt;&lt;mn&gt;12&lt;/mn&gt;&lt;mo data-mjx-texclass=&quot;CLOSE&quot;&gt;)&lt;/mo&gt;&lt;/mrow&gt;&lt;mn&gt;4&lt;/mn&gt;&lt;/mfrac&gt;&lt;mo&gt;×&lt;/mo&gt;&lt;mn&gt;2&lt;/mn&gt;&lt;/mtd&gt;&lt;/mtr&gt;&lt;mtr&gt;&lt;mtd&gt;&lt;mn&gt;80&lt;/mn&gt;&lt;mtext&gt;&lt;/mtext&gt;&lt;mo&gt;−&lt;/mo&gt;&lt;mtext&gt;&lt;/mtext&gt;&lt;mrow data-mjx-texclass=&quot;INNER&quot;&gt;&lt;mo data-mjx-texclass=&quot;OPEN&quot;&gt;(&lt;/mo&gt;&lt;mo&gt;−&lt;/mo&gt;&lt;mn&gt;3&lt;/mn&gt;&lt;mo data-mjx-texclass=&quot;CLOSE&quot;&gt;)&lt;/mo&gt;&lt;/mrow&gt;&lt;mtext&gt;&lt;/mtext&gt;&lt;mo&gt;×&lt;/mo&gt;&lt;mn&gt;2&lt;/mn&gt;&lt;/mtd&gt;&lt;/mtr&gt;&lt;mtr&gt;&lt;mtd&gt;&lt;mn&gt;80&lt;/mn&gt;&lt;mtext&gt;&lt;/mtext&gt;&lt;mo&gt;−&lt;/mo&gt;&lt;mrow data-mjx-texclass=&quot;INNER&quot;&gt;&lt;mo data-mjx-texclass=&quot;OPEN&quot;&gt;(&lt;/mo&gt;&lt;mo&gt;−&lt;/mo&gt;&lt;mn&gt;6&lt;/mn&gt;&lt;mo data-mjx-texclass=&quot;CLOSE&quot;&gt;)&lt;/mo&gt;&lt;/mrow&gt;&lt;/mtd&gt;&lt;/mtr&gt;&lt;mtr&gt;&lt;mtd&gt;&lt;mn&gt;80&lt;/mn&gt;&lt;mtext&gt;&lt;/mtext&gt;&lt;mo&gt;+&lt;/mo&gt;&lt;mrow data-mjx-texclass=&quot;INNER&quot;&gt;&lt;mo data-mjx-texclass=&quot;OPEN&quot;&gt;(&lt;/mo&gt;&lt;mo&gt;−&lt;/mo&gt;&lt;mn&gt;6&lt;/mn&gt;&lt;mo data-mjx-texclass=&quot;CLOSE&quot;&gt;)&lt;/mo&gt;&lt;/mrow&gt;&lt;mtext&gt;&lt;/mtext&gt;&lt;mo&gt;=&lt;/mo&gt;&lt;mtext&gt;&lt;/mtext&gt;&lt;mn&gt;86&lt;/mn&gt;&lt;/mtd&gt;&lt;/mtr&gt;&lt;/mtable&gt;&lt;/math&gt;" id="912" name="Google Shape;912;p77" title="5 lines Line 1: 80 minus negative 12 division sign 4 times 2 Line 2: 80 minus the fraction with numerator negative 12 and denominator 4 times 2 Line 3: 80 minus negative 3 times 2 Line 4: 80 negative negative 6 Line 5: 80 positive negative 6 equals 86"/>
          <p:cNvPicPr preferRelativeResize="0"/>
          <p:nvPr/>
        </p:nvPicPr>
        <p:blipFill rotWithShape="1">
          <a:blip r:embed="rId4">
            <a:alphaModFix/>
          </a:blip>
          <a:srcRect b="57661" l="0" r="0" t="0"/>
          <a:stretch/>
        </p:blipFill>
        <p:spPr>
          <a:xfrm>
            <a:off x="4104000" y="2127600"/>
            <a:ext cx="3354651" cy="1017201"/>
          </a:xfrm>
          <a:prstGeom prst="rect">
            <a:avLst/>
          </a:prstGeom>
          <a:noFill/>
          <a:ln>
            <a:noFill/>
          </a:ln>
        </p:spPr>
      </p:pic>
      <p:sp>
        <p:nvSpPr>
          <p:cNvPr id="913" name="Google Shape;913;p77"/>
          <p:cNvSpPr txBox="1"/>
          <p:nvPr>
            <p:ph idx="1" type="body"/>
          </p:nvPr>
        </p:nvSpPr>
        <p:spPr>
          <a:xfrm>
            <a:off x="4099950" y="3780000"/>
            <a:ext cx="4313700" cy="37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is the next step?</a:t>
            </a:r>
            <a:endParaRPr/>
          </a:p>
        </p:txBody>
      </p:sp>
      <p:sp>
        <p:nvSpPr>
          <p:cNvPr id="914" name="Google Shape;914;p77"/>
          <p:cNvSpPr txBox="1"/>
          <p:nvPr>
            <p:ph idx="1" type="body"/>
          </p:nvPr>
        </p:nvSpPr>
        <p:spPr>
          <a:xfrm>
            <a:off x="381400" y="664025"/>
            <a:ext cx="8368800" cy="37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With multiplication and division, they have the same priority, but it is better to rewrite the division as a fraction.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Priority of operations with negatives</a:t>
            </a:r>
            <a:endParaRPr/>
          </a:p>
        </p:txBody>
      </p:sp>
      <p:sp>
        <p:nvSpPr>
          <p:cNvPr id="920" name="Google Shape;920;p78"/>
          <p:cNvSpPr txBox="1"/>
          <p:nvPr>
            <p:ph idx="1" type="body"/>
          </p:nvPr>
        </p:nvSpPr>
        <p:spPr>
          <a:xfrm>
            <a:off x="381400" y="664025"/>
            <a:ext cx="8368800" cy="37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With multiplication and division, they have the same priority, but it is better to rewrite the division as a fraction.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921" name="Google Shape;921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769" y="1702625"/>
            <a:ext cx="3354675" cy="24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922" name="Google Shape;922;p78"/>
          <p:cNvSpPr/>
          <p:nvPr/>
        </p:nvSpPr>
        <p:spPr>
          <a:xfrm>
            <a:off x="2212738" y="3017103"/>
            <a:ext cx="517800" cy="4764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3" name="Google Shape;923;p78"/>
          <p:cNvSpPr/>
          <p:nvPr/>
        </p:nvSpPr>
        <p:spPr>
          <a:xfrm>
            <a:off x="1401026" y="3032866"/>
            <a:ext cx="517800" cy="4764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4" name="Google Shape;924;p78"/>
          <p:cNvSpPr txBox="1"/>
          <p:nvPr/>
        </p:nvSpPr>
        <p:spPr>
          <a:xfrm>
            <a:off x="3953255" y="1526825"/>
            <a:ext cx="1390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 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80\ -\ \left(-12\right)\ \div\left(4\right)\ \times2\\&amp;#13;&amp;#10;80-\frac{\left(-12\right)}{4}\times2\\&amp;#13;&amp;#10;80\ -\ \left(-3\right)\ \times2\\&amp;#13;&amp;#10;80\ -\left(-6\right)\\&amp;#13;&amp;#10;80\ +\left(-6\right)\ =\ 86\end{array}&quot;&gt;&lt;mtable columnalign=&quot;left&quot; columnspacing=&quot;1em&quot; rowspacing=&quot;4pt&quot;&gt;&lt;mtr&gt;&lt;mtd&gt;&lt;mn&gt;80&lt;/mn&gt;&lt;mtext&gt;&lt;/mtext&gt;&lt;mo&gt;−&lt;/mo&gt;&lt;mtext&gt;&lt;/mtext&gt;&lt;mrow data-mjx-texclass=&quot;INNER&quot;&gt;&lt;mo data-mjx-texclass=&quot;OPEN&quot;&gt;(&lt;/mo&gt;&lt;mo&gt;−&lt;/mo&gt;&lt;mn&gt;12&lt;/mn&gt;&lt;mo data-mjx-texclass=&quot;CLOSE&quot;&gt;)&lt;/mo&gt;&lt;/mrow&gt;&lt;mtext&gt;&lt;/mtext&gt;&lt;mo&gt;÷&lt;/mo&gt;&lt;mrow data-mjx-texclass=&quot;INNER&quot;&gt;&lt;mo data-mjx-texclass=&quot;OPEN&quot;&gt;(&lt;/mo&gt;&lt;mn&gt;4&lt;/mn&gt;&lt;mo data-mjx-texclass=&quot;CLOSE&quot;&gt;)&lt;/mo&gt;&lt;/mrow&gt;&lt;mtext&gt;&lt;/mtext&gt;&lt;mo&gt;×&lt;/mo&gt;&lt;mn&gt;2&lt;/mn&gt;&lt;/mtd&gt;&lt;/mtr&gt;&lt;mtr&gt;&lt;mtd&gt;&lt;mn&gt;80&lt;/mn&gt;&lt;mo&gt;−&lt;/mo&gt;&lt;mfrac&gt;&lt;mrow data-mjx-texclass=&quot;INNER&quot;&gt;&lt;mo data-mjx-texclass=&quot;OPEN&quot;&gt;(&lt;/mo&gt;&lt;mo&gt;−&lt;/mo&gt;&lt;mn&gt;12&lt;/mn&gt;&lt;mo data-mjx-texclass=&quot;CLOSE&quot;&gt;)&lt;/mo&gt;&lt;/mrow&gt;&lt;mn&gt;4&lt;/mn&gt;&lt;/mfrac&gt;&lt;mo&gt;×&lt;/mo&gt;&lt;mn&gt;2&lt;/mn&gt;&lt;/mtd&gt;&lt;/mtr&gt;&lt;mtr&gt;&lt;mtd&gt;&lt;mn&gt;80&lt;/mn&gt;&lt;mtext&gt;&lt;/mtext&gt;&lt;mo&gt;−&lt;/mo&gt;&lt;mtext&gt;&lt;/mtext&gt;&lt;mrow data-mjx-texclass=&quot;INNER&quot;&gt;&lt;mo data-mjx-texclass=&quot;OPEN&quot;&gt;(&lt;/mo&gt;&lt;mo&gt;−&lt;/mo&gt;&lt;mn&gt;3&lt;/mn&gt;&lt;mo data-mjx-texclass=&quot;CLOSE&quot;&gt;)&lt;/mo&gt;&lt;/mrow&gt;&lt;mtext&gt;&lt;/mtext&gt;&lt;mo&gt;×&lt;/mo&gt;&lt;mn&gt;2&lt;/mn&gt;&lt;/mtd&gt;&lt;/mtr&gt;&lt;mtr&gt;&lt;mtd&gt;&lt;mn&gt;80&lt;/mn&gt;&lt;mtext&gt;&lt;/mtext&gt;&lt;mo&gt;−&lt;/mo&gt;&lt;mrow data-mjx-texclass=&quot;INNER&quot;&gt;&lt;mo data-mjx-texclass=&quot;OPEN&quot;&gt;(&lt;/mo&gt;&lt;mo&gt;−&lt;/mo&gt;&lt;mn&gt;6&lt;/mn&gt;&lt;mo data-mjx-texclass=&quot;CLOSE&quot;&gt;)&lt;/mo&gt;&lt;/mrow&gt;&lt;/mtd&gt;&lt;/mtr&gt;&lt;mtr&gt;&lt;mtd&gt;&lt;mn&gt;80&lt;/mn&gt;&lt;mtext&gt;&lt;/mtext&gt;&lt;mo&gt;+&lt;/mo&gt;&lt;mrow data-mjx-texclass=&quot;INNER&quot;&gt;&lt;mo data-mjx-texclass=&quot;OPEN&quot;&gt;(&lt;/mo&gt;&lt;mo&gt;−&lt;/mo&gt;&lt;mn&gt;6&lt;/mn&gt;&lt;mo data-mjx-texclass=&quot;CLOSE&quot;&gt;)&lt;/mo&gt;&lt;/mrow&gt;&lt;mtext&gt;&lt;/mtext&gt;&lt;mo&gt;=&lt;/mo&gt;&lt;mtext&gt;&lt;/mtext&gt;&lt;mn&gt;86&lt;/mn&gt;&lt;/mtd&gt;&lt;/mtr&gt;&lt;/mtable&gt;&lt;/math&gt;" id="925" name="Google Shape;925;p78" title="5 lines Line 1: 80 minus negative 12 division sign 4 times 2 Line 2: 80 minus the fraction with numerator negative 12 and denominator 4 times 2 Line 3: 80 minus negative 3 times 2 Line 4: 80 negative negative 6 Line 5: 80 positive negative 6 equals 86"/>
          <p:cNvPicPr preferRelativeResize="0"/>
          <p:nvPr/>
        </p:nvPicPr>
        <p:blipFill rotWithShape="1">
          <a:blip r:embed="rId4">
            <a:alphaModFix/>
          </a:blip>
          <a:srcRect b="38699" l="0" r="0" t="0"/>
          <a:stretch/>
        </p:blipFill>
        <p:spPr>
          <a:xfrm>
            <a:off x="4104550" y="2127900"/>
            <a:ext cx="3354651" cy="14727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6" name="Google Shape;926;p78"/>
          <p:cNvGrpSpPr/>
          <p:nvPr/>
        </p:nvGrpSpPr>
        <p:grpSpPr>
          <a:xfrm>
            <a:off x="5017484" y="3509275"/>
            <a:ext cx="1528803" cy="100500"/>
            <a:chOff x="1662475" y="1977025"/>
            <a:chExt cx="1089900" cy="100500"/>
          </a:xfrm>
        </p:grpSpPr>
        <p:cxnSp>
          <p:nvCxnSpPr>
            <p:cNvPr id="927" name="Google Shape;927;p78"/>
            <p:cNvCxnSpPr/>
            <p:nvPr/>
          </p:nvCxnSpPr>
          <p:spPr>
            <a:xfrm flipH="1" rot="10800000">
              <a:off x="1662475" y="2072725"/>
              <a:ext cx="1086300" cy="48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8" name="Google Shape;928;p78"/>
            <p:cNvCxnSpPr/>
            <p:nvPr/>
          </p:nvCxnSpPr>
          <p:spPr>
            <a:xfrm flipH="1">
              <a:off x="1662475" y="1977025"/>
              <a:ext cx="3600" cy="1005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9" name="Google Shape;929;p78"/>
            <p:cNvCxnSpPr/>
            <p:nvPr/>
          </p:nvCxnSpPr>
          <p:spPr>
            <a:xfrm flipH="1">
              <a:off x="2748775" y="1977025"/>
              <a:ext cx="3600" cy="1005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&lt;math xmlns=&quot;http://www.w3.org/1998/Math/MathML&quot; display=&quot;block&quot; data-is-equatio=&quot;1&quot; data-latex=&quot;\begin{array}{l}80\ -\ \left(-12\right)\ \div\left(4\right)\ \times2\\&amp;#13;&amp;#10;80-\frac{\left(-12\right)}{4}\times2\\&amp;#13;&amp;#10;80\ -\ \left(-3\right)\ \times2\\&amp;#13;&amp;#10;80\ -\left(-6\right)\\&amp;#13;&amp;#10;80\ +\left(-6\right)\ =\ 86\end{array}&quot;&gt;&lt;mtable columnalign=&quot;left&quot; columnspacing=&quot;1em&quot; rowspacing=&quot;4pt&quot;&gt;&lt;mtr&gt;&lt;mtd&gt;&lt;mn&gt;80&lt;/mn&gt;&lt;mtext&gt;&lt;/mtext&gt;&lt;mo&gt;−&lt;/mo&gt;&lt;mtext&gt;&lt;/mtext&gt;&lt;mrow data-mjx-texclass=&quot;INNER&quot;&gt;&lt;mo data-mjx-texclass=&quot;OPEN&quot;&gt;(&lt;/mo&gt;&lt;mo&gt;−&lt;/mo&gt;&lt;mn&gt;12&lt;/mn&gt;&lt;mo data-mjx-texclass=&quot;CLOSE&quot;&gt;)&lt;/mo&gt;&lt;/mrow&gt;&lt;mtext&gt;&lt;/mtext&gt;&lt;mo&gt;÷&lt;/mo&gt;&lt;mrow data-mjx-texclass=&quot;INNER&quot;&gt;&lt;mo data-mjx-texclass=&quot;OPEN&quot;&gt;(&lt;/mo&gt;&lt;mn&gt;4&lt;/mn&gt;&lt;mo data-mjx-texclass=&quot;CLOSE&quot;&gt;)&lt;/mo&gt;&lt;/mrow&gt;&lt;mtext&gt;&lt;/mtext&gt;&lt;mo&gt;×&lt;/mo&gt;&lt;mn&gt;2&lt;/mn&gt;&lt;/mtd&gt;&lt;/mtr&gt;&lt;mtr&gt;&lt;mtd&gt;&lt;mn&gt;80&lt;/mn&gt;&lt;mo&gt;−&lt;/mo&gt;&lt;mfrac&gt;&lt;mrow data-mjx-texclass=&quot;INNER&quot;&gt;&lt;mo data-mjx-texclass=&quot;OPEN&quot;&gt;(&lt;/mo&gt;&lt;mo&gt;−&lt;/mo&gt;&lt;mn&gt;12&lt;/mn&gt;&lt;mo data-mjx-texclass=&quot;CLOSE&quot;&gt;)&lt;/mo&gt;&lt;/mrow&gt;&lt;mn&gt;4&lt;/mn&gt;&lt;/mfrac&gt;&lt;mo&gt;×&lt;/mo&gt;&lt;mn&gt;2&lt;/mn&gt;&lt;/mtd&gt;&lt;/mtr&gt;&lt;mtr&gt;&lt;mtd&gt;&lt;mn&gt;80&lt;/mn&gt;&lt;mtext&gt;&lt;/mtext&gt;&lt;mo&gt;−&lt;/mo&gt;&lt;mtext&gt;&lt;/mtext&gt;&lt;mrow data-mjx-texclass=&quot;INNER&quot;&gt;&lt;mo data-mjx-texclass=&quot;OPEN&quot;&gt;(&lt;/mo&gt;&lt;mo&gt;−&lt;/mo&gt;&lt;mn&gt;3&lt;/mn&gt;&lt;mo data-mjx-texclass=&quot;CLOSE&quot;&gt;)&lt;/mo&gt;&lt;/mrow&gt;&lt;mtext&gt;&lt;/mtext&gt;&lt;mo&gt;×&lt;/mo&gt;&lt;mn&gt;2&lt;/mn&gt;&lt;/mtd&gt;&lt;/mtr&gt;&lt;mtr&gt;&lt;mtd&gt;&lt;mn&gt;80&lt;/mn&gt;&lt;mtext&gt;&lt;/mtext&gt;&lt;mo&gt;−&lt;/mo&gt;&lt;mrow data-mjx-texclass=&quot;INNER&quot;&gt;&lt;mo data-mjx-texclass=&quot;OPEN&quot;&gt;(&lt;/mo&gt;&lt;mo&gt;−&lt;/mo&gt;&lt;mn&gt;6&lt;/mn&gt;&lt;mo data-mjx-texclass=&quot;CLOSE&quot;&gt;)&lt;/mo&gt;&lt;/mrow&gt;&lt;/mtd&gt;&lt;/mtr&gt;&lt;mtr&gt;&lt;mtd&gt;&lt;mn&gt;80&lt;/mn&gt;&lt;mtext&gt;&lt;/mtext&gt;&lt;mo&gt;+&lt;/mo&gt;&lt;mrow data-mjx-texclass=&quot;INNER&quot;&gt;&lt;mo data-mjx-texclass=&quot;OPEN&quot;&gt;(&lt;/mo&gt;&lt;mo&gt;−&lt;/mo&gt;&lt;mn&gt;6&lt;/mn&gt;&lt;mo data-mjx-texclass=&quot;CLOSE&quot;&gt;)&lt;/mo&gt;&lt;/mrow&gt;&lt;mtext&gt;&lt;/mtext&gt;&lt;mo&gt;=&lt;/mo&gt;&lt;mtext&gt;&lt;/mtext&gt;&lt;mn&gt;86&lt;/mn&gt;&lt;/mtd&gt;&lt;/mtr&gt;&lt;/mtable&gt;&lt;/math&gt;" id="930" name="Google Shape;930;p78" title="5 lines Line 1: 80 minus negative 12 division sign 4 times 2 Line 2: 80 minus the fraction with numerator negative 12 and denominator 4 times 2 Line 3: 80 minus negative 3 times 2 Line 4: 80 negative negative 6 Line 5: 80 positive negative 6 equals 86"/>
          <p:cNvPicPr preferRelativeResize="0"/>
          <p:nvPr/>
        </p:nvPicPr>
        <p:blipFill rotWithShape="1">
          <a:blip r:embed="rId4">
            <a:alphaModFix/>
          </a:blip>
          <a:srcRect b="13271" l="0" r="50000" t="61192"/>
          <a:stretch/>
        </p:blipFill>
        <p:spPr>
          <a:xfrm>
            <a:off x="4114887" y="3640835"/>
            <a:ext cx="1677325" cy="6134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80\ +\ 6\ =\ 86&quot;&gt;&lt;mn&gt;80&lt;/mn&gt;&lt;mtext&gt;&lt;/mtext&gt;&lt;mo&gt;+&lt;/mo&gt;&lt;mtext&gt;&lt;/mtext&gt;&lt;mn&gt;6&lt;/mn&gt;&lt;mtext&gt;&lt;/mtext&gt;&lt;mo&gt;=&lt;/mo&gt;&lt;mtext&gt;&lt;/mtext&gt;&lt;mn&gt;86&lt;/mn&gt;&lt;/math&gt;" id="931" name="Google Shape;931;p78" title="80 plus 6 equals 8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04550" y="4261100"/>
            <a:ext cx="2148725" cy="27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79"/>
          <p:cNvSpPr/>
          <p:nvPr/>
        </p:nvSpPr>
        <p:spPr>
          <a:xfrm>
            <a:off x="1657675" y="1137700"/>
            <a:ext cx="5559600" cy="613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7" name="Google Shape;937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Priority of operations with negatives</a:t>
            </a:r>
            <a:endParaRPr/>
          </a:p>
        </p:txBody>
      </p:sp>
      <p:sp>
        <p:nvSpPr>
          <p:cNvPr id="938" name="Google Shape;938;p79"/>
          <p:cNvSpPr txBox="1"/>
          <p:nvPr>
            <p:ph idx="1" type="body"/>
          </p:nvPr>
        </p:nvSpPr>
        <p:spPr>
          <a:xfrm>
            <a:off x="510350" y="733800"/>
            <a:ext cx="4740000" cy="44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Jun created a question for his friends.</a:t>
            </a:r>
            <a:endParaRPr sz="1900"/>
          </a:p>
        </p:txBody>
      </p:sp>
      <p:sp>
        <p:nvSpPr>
          <p:cNvPr id="939" name="Google Shape;939;p79"/>
          <p:cNvSpPr txBox="1"/>
          <p:nvPr>
            <p:ph idx="1" type="body"/>
          </p:nvPr>
        </p:nvSpPr>
        <p:spPr>
          <a:xfrm>
            <a:off x="1599038" y="3867400"/>
            <a:ext cx="8049300" cy="44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Who is correct? Make sure to show your working out.</a:t>
            </a:r>
            <a:endParaRPr sz="1900"/>
          </a:p>
        </p:txBody>
      </p:sp>
      <p:pic>
        <p:nvPicPr>
          <p:cNvPr id="940" name="Google Shape;940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200" y="2317168"/>
            <a:ext cx="623346" cy="11770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0\ +\left(4^2+4\right)\div\left(-2\right)+\sqrt[]{20-\left(-5\right)}&quot;&gt;&lt;mn&gt;100&lt;/mn&gt;&lt;mtext&gt;&lt;/mtext&gt;&lt;mo&gt;+&lt;/mo&gt;&lt;mrow data-mjx-texclass=&quot;INNER&quot;&gt;&lt;mo data-mjx-texclass=&quot;OPEN&quot;&gt;(&lt;/mo&gt;&lt;msup&gt;&lt;mn&gt;4&lt;/mn&gt;&lt;mn&gt;2&lt;/mn&gt;&lt;/msup&gt;&lt;mo&gt;+&lt;/mo&gt;&lt;mn&gt;4&lt;/mn&gt;&lt;mo data-mjx-texclass=&quot;CLOSE&quot;&gt;)&lt;/mo&gt;&lt;/mrow&gt;&lt;mo&gt;÷&lt;/mo&gt;&lt;mrow data-mjx-texclass=&quot;INNER&quot;&gt;&lt;mo data-mjx-texclass=&quot;OPEN&quot;&gt;(&lt;/mo&gt;&lt;mo&gt;−&lt;/mo&gt;&lt;mn&gt;2&lt;/mn&gt;&lt;mo data-mjx-texclass=&quot;CLOSE&quot;&gt;)&lt;/mo&gt;&lt;/mrow&gt;&lt;mo&gt;+&lt;/mo&gt;&lt;msqrt&gt;&lt;mn&gt;20&lt;/mn&gt;&lt;mo&gt;−&lt;/mo&gt;&lt;mrow data-mjx-texclass=&quot;INNER&quot;&gt;&lt;mo data-mjx-texclass=&quot;OPEN&quot;&gt;(&lt;/mo&gt;&lt;mo&gt;−&lt;/mo&gt;&lt;mn&gt;5&lt;/mn&gt;&lt;mo data-mjx-texclass=&quot;CLOSE&quot;&gt;)&lt;/mo&gt;&lt;/mrow&gt;&lt;/msqrt&gt;&lt;/math&gt;" id="941" name="Google Shape;941;p79" title="100 positive open paren 4 squared plus 4 close paren divided by negative 2 plus the square root of 20 minus negative 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08898" y="1230342"/>
            <a:ext cx="5214805" cy="44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2" name="Google Shape;942;p7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22822" y="2021475"/>
            <a:ext cx="1555065" cy="1029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" name="Google Shape;943;p7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21450" y="2503989"/>
            <a:ext cx="936400" cy="90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4" name="Google Shape;944;p7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007350" y="2792137"/>
            <a:ext cx="727175" cy="895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5" name="Google Shape;945;p7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2760702" y="2297738"/>
            <a:ext cx="1677924" cy="1111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6" name="Google Shape;946;p7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flipH="1">
            <a:off x="5588851" y="2069150"/>
            <a:ext cx="2373949" cy="1710852"/>
          </a:xfrm>
          <a:prstGeom prst="rect">
            <a:avLst/>
          </a:prstGeom>
          <a:noFill/>
          <a:ln>
            <a:noFill/>
          </a:ln>
        </p:spPr>
      </p:pic>
      <p:sp>
        <p:nvSpPr>
          <p:cNvPr id="947" name="Google Shape;947;p79"/>
          <p:cNvSpPr txBox="1"/>
          <p:nvPr>
            <p:ph idx="1" type="body"/>
          </p:nvPr>
        </p:nvSpPr>
        <p:spPr>
          <a:xfrm>
            <a:off x="1453972" y="2275400"/>
            <a:ext cx="1228500" cy="44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It’s 115</a:t>
            </a:r>
            <a:endParaRPr sz="1900"/>
          </a:p>
        </p:txBody>
      </p:sp>
      <p:sp>
        <p:nvSpPr>
          <p:cNvPr id="948" name="Google Shape;948;p79"/>
          <p:cNvSpPr txBox="1"/>
          <p:nvPr>
            <p:ph idx="1" type="body"/>
          </p:nvPr>
        </p:nvSpPr>
        <p:spPr>
          <a:xfrm>
            <a:off x="3199675" y="2571750"/>
            <a:ext cx="1228500" cy="44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It’s 95</a:t>
            </a:r>
            <a:endParaRPr sz="1900"/>
          </a:p>
        </p:txBody>
      </p:sp>
      <p:sp>
        <p:nvSpPr>
          <p:cNvPr id="949" name="Google Shape;949;p79"/>
          <p:cNvSpPr txBox="1"/>
          <p:nvPr>
            <p:ph idx="1" type="body"/>
          </p:nvPr>
        </p:nvSpPr>
        <p:spPr>
          <a:xfrm>
            <a:off x="5658275" y="2175375"/>
            <a:ext cx="2252700" cy="90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It’s impossible because, I can’t square root a negative number</a:t>
            </a:r>
            <a:endParaRPr sz="1800"/>
          </a:p>
        </p:txBody>
      </p:sp>
      <p:sp>
        <p:nvSpPr>
          <p:cNvPr id="950" name="Google Shape;950;p79"/>
          <p:cNvSpPr txBox="1"/>
          <p:nvPr>
            <p:ph idx="1" type="body"/>
          </p:nvPr>
        </p:nvSpPr>
        <p:spPr>
          <a:xfrm>
            <a:off x="350864" y="3494200"/>
            <a:ext cx="1228500" cy="44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Aisha</a:t>
            </a:r>
            <a:endParaRPr sz="1900"/>
          </a:p>
        </p:txBody>
      </p:sp>
      <p:sp>
        <p:nvSpPr>
          <p:cNvPr id="951" name="Google Shape;951;p79"/>
          <p:cNvSpPr txBox="1"/>
          <p:nvPr>
            <p:ph idx="1" type="body"/>
          </p:nvPr>
        </p:nvSpPr>
        <p:spPr>
          <a:xfrm>
            <a:off x="4618064" y="3418000"/>
            <a:ext cx="1228500" cy="44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Izzy</a:t>
            </a:r>
            <a:endParaRPr sz="1900"/>
          </a:p>
        </p:txBody>
      </p:sp>
      <p:sp>
        <p:nvSpPr>
          <p:cNvPr id="952" name="Google Shape;952;p79"/>
          <p:cNvSpPr txBox="1"/>
          <p:nvPr>
            <p:ph idx="1" type="body"/>
          </p:nvPr>
        </p:nvSpPr>
        <p:spPr>
          <a:xfrm>
            <a:off x="7962797" y="3687875"/>
            <a:ext cx="936300" cy="44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Jacob</a:t>
            </a:r>
            <a:endParaRPr sz="1900"/>
          </a:p>
        </p:txBody>
      </p:sp>
      <p:pic>
        <p:nvPicPr>
          <p:cNvPr id="953" name="Google Shape;953;p7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068608" y="33609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80"/>
          <p:cNvSpPr/>
          <p:nvPr/>
        </p:nvSpPr>
        <p:spPr>
          <a:xfrm>
            <a:off x="1657675" y="1137700"/>
            <a:ext cx="5559600" cy="613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9" name="Google Shape;959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Priority of operations with negatives</a:t>
            </a:r>
            <a:endParaRPr/>
          </a:p>
        </p:txBody>
      </p:sp>
      <p:sp>
        <p:nvSpPr>
          <p:cNvPr id="960" name="Google Shape;960;p80"/>
          <p:cNvSpPr txBox="1"/>
          <p:nvPr>
            <p:ph idx="1" type="body"/>
          </p:nvPr>
        </p:nvSpPr>
        <p:spPr>
          <a:xfrm>
            <a:off x="510350" y="733800"/>
            <a:ext cx="4740000" cy="44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Jun created a question for his friends.</a:t>
            </a:r>
            <a:endParaRPr sz="1900"/>
          </a:p>
        </p:txBody>
      </p:sp>
      <p:pic>
        <p:nvPicPr>
          <p:cNvPr descr="&lt;math xmlns=&quot;http://www.w3.org/1998/Math/MathML&quot; display=&quot;block&quot; data-is-equatio=&quot;1&quot; data-latex=&quot;100\ +\left(4^2+4\right)\div\left(-2\right)+\sqrt[]{20-\left(-5\right)}&quot;&gt;&lt;mn&gt;100&lt;/mn&gt;&lt;mtext&gt;&lt;/mtext&gt;&lt;mo&gt;+&lt;/mo&gt;&lt;mrow data-mjx-texclass=&quot;INNER&quot;&gt;&lt;mo data-mjx-texclass=&quot;OPEN&quot;&gt;(&lt;/mo&gt;&lt;msup&gt;&lt;mn&gt;4&lt;/mn&gt;&lt;mn&gt;2&lt;/mn&gt;&lt;/msup&gt;&lt;mo&gt;+&lt;/mo&gt;&lt;mn&gt;4&lt;/mn&gt;&lt;mo data-mjx-texclass=&quot;CLOSE&quot;&gt;)&lt;/mo&gt;&lt;/mrow&gt;&lt;mo&gt;÷&lt;/mo&gt;&lt;mrow data-mjx-texclass=&quot;INNER&quot;&gt;&lt;mo data-mjx-texclass=&quot;OPEN&quot;&gt;(&lt;/mo&gt;&lt;mo&gt;−&lt;/mo&gt;&lt;mn&gt;2&lt;/mn&gt;&lt;mo data-mjx-texclass=&quot;CLOSE&quot;&gt;)&lt;/mo&gt;&lt;/mrow&gt;&lt;mo&gt;+&lt;/mo&gt;&lt;msqrt&gt;&lt;mn&gt;20&lt;/mn&gt;&lt;mo&gt;−&lt;/mo&gt;&lt;mrow data-mjx-texclass=&quot;INNER&quot;&gt;&lt;mo data-mjx-texclass=&quot;OPEN&quot;&gt;(&lt;/mo&gt;&lt;mo&gt;−&lt;/mo&gt;&lt;mn&gt;5&lt;/mn&gt;&lt;mo data-mjx-texclass=&quot;CLOSE&quot;&gt;)&lt;/mo&gt;&lt;/mrow&gt;&lt;/msqrt&gt;&lt;/math&gt;" id="961" name="Google Shape;961;p80" title="100 positive open paren 4 squared plus 4 close paren divided by negative 2 plus the square root of 20 minus negative 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8898" y="1230342"/>
            <a:ext cx="5214805" cy="441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00\ +\left(4^2+4\right)\div\left(-2\right)+\sqrt[]{20-\left(-5\right)}\\&amp;#13;&amp;#10;100\ +\ \left(16+4\right)\div\left(-2\right)+\sqrt[]{20+5}\\&amp;#13;&amp;#10;100\ +\ \frac{20}{\left(-2\right)}+\sqrt[]{25}\\&amp;#13;&amp;#10;100\ +\ \left(-10\right)\ +5\ =\ 95\end{array}&quot;&gt;&lt;mtable columnalign=&quot;left&quot; columnspacing=&quot;1em&quot; rowspacing=&quot;4pt&quot;&gt;&lt;mtr&gt;&lt;mtd&gt;&lt;mn&gt;100&lt;/mn&gt;&lt;mtext&gt;&lt;/mtext&gt;&lt;mo&gt;+&lt;/mo&gt;&lt;mrow data-mjx-texclass=&quot;INNER&quot;&gt;&lt;mo data-mjx-texclass=&quot;OPEN&quot;&gt;(&lt;/mo&gt;&lt;msup&gt;&lt;mn&gt;4&lt;/mn&gt;&lt;mn&gt;2&lt;/mn&gt;&lt;/msup&gt;&lt;mo&gt;+&lt;/mo&gt;&lt;mn&gt;4&lt;/mn&gt;&lt;mo data-mjx-texclass=&quot;CLOSE&quot;&gt;)&lt;/mo&gt;&lt;/mrow&gt;&lt;mo&gt;÷&lt;/mo&gt;&lt;mrow data-mjx-texclass=&quot;INNER&quot;&gt;&lt;mo data-mjx-texclass=&quot;OPEN&quot;&gt;(&lt;/mo&gt;&lt;mo&gt;−&lt;/mo&gt;&lt;mn&gt;2&lt;/mn&gt;&lt;mo data-mjx-texclass=&quot;CLOSE&quot;&gt;)&lt;/mo&gt;&lt;/mrow&gt;&lt;mo&gt;+&lt;/mo&gt;&lt;msqrt&gt;&lt;mn&gt;20&lt;/mn&gt;&lt;mo&gt;−&lt;/mo&gt;&lt;mrow data-mjx-texclass=&quot;INNER&quot;&gt;&lt;mo data-mjx-texclass=&quot;OPEN&quot;&gt;(&lt;/mo&gt;&lt;mo&gt;−&lt;/mo&gt;&lt;mn&gt;5&lt;/mn&gt;&lt;mo data-mjx-texclass=&quot;CLOSE&quot;&gt;)&lt;/mo&gt;&lt;/mrow&gt;&lt;/msqrt&gt;&lt;/mtd&gt;&lt;/mtr&gt;&lt;mtr&gt;&lt;mtd&gt;&lt;mn&gt;100&lt;/mn&gt;&lt;mtext&gt;&lt;/mtext&gt;&lt;mo&gt;+&lt;/mo&gt;&lt;mtext&gt;&lt;/mtext&gt;&lt;mrow data-mjx-texclass=&quot;INNER&quot;&gt;&lt;mo data-mjx-texclass=&quot;OPEN&quot;&gt;(&lt;/mo&gt;&lt;mn&gt;16&lt;/mn&gt;&lt;mo&gt;+&lt;/mo&gt;&lt;mn&gt;4&lt;/mn&gt;&lt;mo data-mjx-texclass=&quot;CLOSE&quot;&gt;)&lt;/mo&gt;&lt;/mrow&gt;&lt;mo&gt;÷&lt;/mo&gt;&lt;mrow data-mjx-texclass=&quot;INNER&quot;&gt;&lt;mo data-mjx-texclass=&quot;OPEN&quot;&gt;(&lt;/mo&gt;&lt;mo&gt;−&lt;/mo&gt;&lt;mn&gt;2&lt;/mn&gt;&lt;mo data-mjx-texclass=&quot;CLOSE&quot;&gt;)&lt;/mo&gt;&lt;/mrow&gt;&lt;mo&gt;+&lt;/mo&gt;&lt;msqrt&gt;&lt;mn&gt;20&lt;/mn&gt;&lt;mo&gt;+&lt;/mo&gt;&lt;mn&gt;5&lt;/mn&gt;&lt;/msqrt&gt;&lt;/mtd&gt;&lt;/mtr&gt;&lt;mtr&gt;&lt;mtd&gt;&lt;mn&gt;100&lt;/mn&gt;&lt;mtext&gt;&lt;/mtext&gt;&lt;mo&gt;+&lt;/mo&gt;&lt;mtext&gt;&lt;/mtext&gt;&lt;mfrac&gt;&lt;mn&gt;20&lt;/mn&gt;&lt;mrow data-mjx-texclass=&quot;INNER&quot;&gt;&lt;mo data-mjx-texclass=&quot;OPEN&quot;&gt;(&lt;/mo&gt;&lt;mo&gt;−&lt;/mo&gt;&lt;mn&gt;2&lt;/mn&gt;&lt;mo data-mjx-texclass=&quot;CLOSE&quot;&gt;)&lt;/mo&gt;&lt;/mrow&gt;&lt;/mfrac&gt;&lt;mo&gt;+&lt;/mo&gt;&lt;msqrt&gt;&lt;mn&gt;25&lt;/mn&gt;&lt;/msqrt&gt;&lt;/mtd&gt;&lt;/mtr&gt;&lt;mtr&gt;&lt;mtd&gt;&lt;mn&gt;100&lt;/mn&gt;&lt;mtext&gt;&lt;/mtext&gt;&lt;mo&gt;+&lt;/mo&gt;&lt;mtext&gt;&lt;/mtext&gt;&lt;mrow data-mjx-texclass=&quot;INNER&quot;&gt;&lt;mo data-mjx-texclass=&quot;OPEN&quot;&gt;(&lt;/mo&gt;&lt;mo&gt;−&lt;/mo&gt;&lt;mn&gt;10&lt;/mn&gt;&lt;mo data-mjx-texclass=&quot;CLOSE&quot;&gt;)&lt;/mo&gt;&lt;/mrow&gt;&lt;mtext&gt;&lt;/mtext&gt;&lt;mo&gt;+&lt;/mo&gt;&lt;mn&gt;5&lt;/mn&gt;&lt;mtext&gt;&lt;/mtext&gt;&lt;mo&gt;=&lt;/mo&gt;&lt;mtext&gt;&lt;/mtext&gt;&lt;mn&gt;95&lt;/mn&gt;&lt;/mtd&gt;&lt;/mtr&gt;&lt;/mtable&gt;&lt;/math&gt;" id="962" name="Google Shape;962;p80" title="4 lines Line 1: 100 positive open paren 4 squared plus 4 close paren divided by negative 2 plus the square root of 20 minus negative 5 Line 2: 100 plus open paren 16 plus 4 close paren divided by negative 2 plus the square root of 20 plus 5 Line 3: 100 plus the fraction with numerator 20 and denominator negative 2 plus the square root of 25 Line 4: 100 plus negative 10 positive 5 equals 95"/>
          <p:cNvPicPr preferRelativeResize="0"/>
          <p:nvPr/>
        </p:nvPicPr>
        <p:blipFill rotWithShape="1">
          <a:blip r:embed="rId4">
            <a:alphaModFix/>
          </a:blip>
          <a:srcRect b="51334" l="0" r="0" t="24704"/>
          <a:stretch/>
        </p:blipFill>
        <p:spPr>
          <a:xfrm>
            <a:off x="1961300" y="1818875"/>
            <a:ext cx="4801351" cy="4743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3" name="Google Shape;963;p80"/>
          <p:cNvGrpSpPr/>
          <p:nvPr/>
        </p:nvGrpSpPr>
        <p:grpSpPr>
          <a:xfrm>
            <a:off x="2787154" y="1571450"/>
            <a:ext cx="1164885" cy="100500"/>
            <a:chOff x="1662475" y="1977025"/>
            <a:chExt cx="1089900" cy="100500"/>
          </a:xfrm>
        </p:grpSpPr>
        <p:cxnSp>
          <p:nvCxnSpPr>
            <p:cNvPr id="964" name="Google Shape;964;p80"/>
            <p:cNvCxnSpPr/>
            <p:nvPr/>
          </p:nvCxnSpPr>
          <p:spPr>
            <a:xfrm flipH="1" rot="10800000">
              <a:off x="1662475" y="2072725"/>
              <a:ext cx="1086300" cy="48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65" name="Google Shape;965;p80"/>
            <p:cNvCxnSpPr/>
            <p:nvPr/>
          </p:nvCxnSpPr>
          <p:spPr>
            <a:xfrm flipH="1">
              <a:off x="1662475" y="1977025"/>
              <a:ext cx="3600" cy="1005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66" name="Google Shape;966;p80"/>
            <p:cNvCxnSpPr/>
            <p:nvPr/>
          </p:nvCxnSpPr>
          <p:spPr>
            <a:xfrm flipH="1">
              <a:off x="2748775" y="1977025"/>
              <a:ext cx="3600" cy="1005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67" name="Google Shape;967;p80"/>
          <p:cNvGrpSpPr/>
          <p:nvPr/>
        </p:nvGrpSpPr>
        <p:grpSpPr>
          <a:xfrm>
            <a:off x="5610758" y="1571450"/>
            <a:ext cx="1306463" cy="100500"/>
            <a:chOff x="1662475" y="1977025"/>
            <a:chExt cx="1089900" cy="100500"/>
          </a:xfrm>
        </p:grpSpPr>
        <p:cxnSp>
          <p:nvCxnSpPr>
            <p:cNvPr id="968" name="Google Shape;968;p80"/>
            <p:cNvCxnSpPr/>
            <p:nvPr/>
          </p:nvCxnSpPr>
          <p:spPr>
            <a:xfrm flipH="1" rot="10800000">
              <a:off x="1662475" y="2072725"/>
              <a:ext cx="1086300" cy="48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69" name="Google Shape;969;p80"/>
            <p:cNvCxnSpPr/>
            <p:nvPr/>
          </p:nvCxnSpPr>
          <p:spPr>
            <a:xfrm flipH="1">
              <a:off x="1662475" y="1977025"/>
              <a:ext cx="3600" cy="1005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0" name="Google Shape;970;p80"/>
            <p:cNvCxnSpPr/>
            <p:nvPr/>
          </p:nvCxnSpPr>
          <p:spPr>
            <a:xfrm flipH="1">
              <a:off x="2748775" y="1977025"/>
              <a:ext cx="3600" cy="1005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71" name="Google Shape;971;p80"/>
          <p:cNvGrpSpPr/>
          <p:nvPr/>
        </p:nvGrpSpPr>
        <p:grpSpPr>
          <a:xfrm>
            <a:off x="2954152" y="2201065"/>
            <a:ext cx="1072571" cy="92088"/>
            <a:chOff x="1662475" y="1977025"/>
            <a:chExt cx="1089900" cy="100500"/>
          </a:xfrm>
        </p:grpSpPr>
        <p:cxnSp>
          <p:nvCxnSpPr>
            <p:cNvPr id="972" name="Google Shape;972;p80"/>
            <p:cNvCxnSpPr/>
            <p:nvPr/>
          </p:nvCxnSpPr>
          <p:spPr>
            <a:xfrm flipH="1" rot="10800000">
              <a:off x="1662475" y="2072725"/>
              <a:ext cx="1086300" cy="48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3" name="Google Shape;973;p80"/>
            <p:cNvCxnSpPr/>
            <p:nvPr/>
          </p:nvCxnSpPr>
          <p:spPr>
            <a:xfrm flipH="1">
              <a:off x="1662475" y="1977025"/>
              <a:ext cx="3600" cy="1005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4" name="Google Shape;974;p80"/>
            <p:cNvCxnSpPr/>
            <p:nvPr/>
          </p:nvCxnSpPr>
          <p:spPr>
            <a:xfrm flipH="1">
              <a:off x="2748775" y="1977025"/>
              <a:ext cx="3600" cy="1005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75" name="Google Shape;975;p80"/>
          <p:cNvGrpSpPr/>
          <p:nvPr/>
        </p:nvGrpSpPr>
        <p:grpSpPr>
          <a:xfrm>
            <a:off x="5461628" y="2201065"/>
            <a:ext cx="907233" cy="92088"/>
            <a:chOff x="1662475" y="1977025"/>
            <a:chExt cx="1089900" cy="100500"/>
          </a:xfrm>
        </p:grpSpPr>
        <p:cxnSp>
          <p:nvCxnSpPr>
            <p:cNvPr id="976" name="Google Shape;976;p80"/>
            <p:cNvCxnSpPr/>
            <p:nvPr/>
          </p:nvCxnSpPr>
          <p:spPr>
            <a:xfrm flipH="1" rot="10800000">
              <a:off x="1662475" y="2072725"/>
              <a:ext cx="1086300" cy="48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7" name="Google Shape;977;p80"/>
            <p:cNvCxnSpPr/>
            <p:nvPr/>
          </p:nvCxnSpPr>
          <p:spPr>
            <a:xfrm flipH="1">
              <a:off x="1662475" y="1977025"/>
              <a:ext cx="3600" cy="1005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8" name="Google Shape;978;p80"/>
            <p:cNvCxnSpPr/>
            <p:nvPr/>
          </p:nvCxnSpPr>
          <p:spPr>
            <a:xfrm flipH="1">
              <a:off x="2748775" y="1977025"/>
              <a:ext cx="3600" cy="1005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&lt;math xmlns=&quot;http://www.w3.org/1998/Math/MathML&quot; display=&quot;block&quot; data-is-equatio=&quot;1&quot; data-latex=&quot;100\ +\ 20\ \div\left(-2\right)+\sqrt[]{25}&quot;&gt;&lt;mn&gt;100&lt;/mn&gt;&lt;mtext&gt;&lt;/mtext&gt;&lt;mo&gt;+&lt;/mo&gt;&lt;mtext&gt;&lt;/mtext&gt;&lt;mn&gt;20&lt;/mn&gt;&lt;mtext&gt;&lt;/mtext&gt;&lt;mo&gt;÷&lt;/mo&gt;&lt;mrow data-mjx-texclass=&quot;INNER&quot;&gt;&lt;mo data-mjx-texclass=&quot;OPEN&quot;&gt;(&lt;/mo&gt;&lt;mo&gt;−&lt;/mo&gt;&lt;mn&gt;2&lt;/mn&gt;&lt;mo data-mjx-texclass=&quot;CLOSE&quot;&gt;)&lt;/mo&gt;&lt;/mrow&gt;&lt;mo&gt;+&lt;/mo&gt;&lt;msqrt&gt;&lt;mn&gt;25&lt;/mn&gt;&lt;/msqrt&gt;&lt;/math&gt;" id="979" name="Google Shape;979;p80" title="100 plus 20 division sign negative 2 plus the square root of 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18193" y="2494873"/>
            <a:ext cx="3323180" cy="4046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0\ +\ 20\ \div\left(-2\right)+5&quot;&gt;&lt;mn&gt;100&lt;/mn&gt;&lt;mtext&gt;&lt;/mtext&gt;&lt;mo&gt;+&lt;/mo&gt;&lt;mtext&gt;&lt;/mtext&gt;&lt;mn&gt;20&lt;/mn&gt;&lt;mtext&gt;&lt;/mtext&gt;&lt;mo&gt;÷&lt;/mo&gt;&lt;mrow data-mjx-texclass=&quot;INNER&quot;&gt;&lt;mo data-mjx-texclass=&quot;OPEN&quot;&gt;(&lt;/mo&gt;&lt;mo&gt;−&lt;/mo&gt;&lt;mn&gt;2&lt;/mn&gt;&lt;mo data-mjx-texclass=&quot;CLOSE&quot;&gt;)&lt;/mo&gt;&lt;/mrow&gt;&lt;mo&gt;+&lt;/mo&gt;&lt;mn&gt;5&lt;/mn&gt;&lt;/math&gt;" id="980" name="Google Shape;980;p80" title="100 plus 20 division sign negative 2 plus 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28668" y="3171008"/>
            <a:ext cx="2949261" cy="295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0\ +\ \frac{20}{\left(-2\right)}+5&quot;&gt;&lt;mn&gt;100&lt;/mn&gt;&lt;mtext&gt;&lt;/mtext&gt;&lt;mo&gt;+&lt;/mo&gt;&lt;mtext&gt;&lt;/mtext&gt;&lt;mfrac&gt;&lt;mn&gt;20&lt;/mn&gt;&lt;mrow data-mjx-texclass=&quot;INNER&quot;&gt;&lt;mo data-mjx-texclass=&quot;OPEN&quot;&gt;(&lt;/mo&gt;&lt;mo&gt;−&lt;/mo&gt;&lt;mn&gt;2&lt;/mn&gt;&lt;mo data-mjx-texclass=&quot;CLOSE&quot;&gt;)&lt;/mo&gt;&lt;/mrow&gt;&lt;/mfrac&gt;&lt;mo&gt;+&lt;/mo&gt;&lt;mn&gt;5&lt;/mn&gt;&lt;/math&gt;" id="981" name="Google Shape;981;p80" title="100 plus the fraction with numerator 20 and denominator negative 2 plus 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24267" y="3637534"/>
            <a:ext cx="2196944" cy="7163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0\ +\ \left(-10\right)+5\ =\ 95&quot;&gt;&lt;mn&gt;100&lt;/mn&gt;&lt;mtext&gt;&lt;/mtext&gt;&lt;mo&gt;+&lt;/mo&gt;&lt;mtext&gt;&lt;/mtext&gt;&lt;mrow data-mjx-texclass=&quot;INNER&quot;&gt;&lt;mo data-mjx-texclass=&quot;OPEN&quot;&gt;(&lt;/mo&gt;&lt;mo&gt;−&lt;/mo&gt;&lt;mn&gt;10&lt;/mn&gt;&lt;mo data-mjx-texclass=&quot;CLOSE&quot;&gt;)&lt;/mo&gt;&lt;/mrow&gt;&lt;mo&gt;+&lt;/mo&gt;&lt;mn&gt;5&lt;/mn&gt;&lt;mtext&gt;&lt;/mtext&gt;&lt;mo&gt;=&lt;/mo&gt;&lt;mtext&gt;&lt;/mtext&gt;&lt;mn&gt;95&lt;/mn&gt;&lt;/math&gt;" id="982" name="Google Shape;982;p80" title="100 plus negative 10 plus 5 equals 9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215626" y="4525365"/>
            <a:ext cx="3336285" cy="29503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83" name="Google Shape;983;p80"/>
          <p:cNvGrpSpPr/>
          <p:nvPr/>
        </p:nvGrpSpPr>
        <p:grpSpPr>
          <a:xfrm>
            <a:off x="5023824" y="2822336"/>
            <a:ext cx="702550" cy="92078"/>
            <a:chOff x="1662475" y="1977025"/>
            <a:chExt cx="1089900" cy="100500"/>
          </a:xfrm>
        </p:grpSpPr>
        <p:cxnSp>
          <p:nvCxnSpPr>
            <p:cNvPr id="984" name="Google Shape;984;p80"/>
            <p:cNvCxnSpPr/>
            <p:nvPr/>
          </p:nvCxnSpPr>
          <p:spPr>
            <a:xfrm flipH="1" rot="10800000">
              <a:off x="1662475" y="2072725"/>
              <a:ext cx="1086300" cy="48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85" name="Google Shape;985;p80"/>
            <p:cNvCxnSpPr/>
            <p:nvPr/>
          </p:nvCxnSpPr>
          <p:spPr>
            <a:xfrm flipH="1">
              <a:off x="1662475" y="1977025"/>
              <a:ext cx="3600" cy="1005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86" name="Google Shape;986;p80"/>
            <p:cNvCxnSpPr/>
            <p:nvPr/>
          </p:nvCxnSpPr>
          <p:spPr>
            <a:xfrm flipH="1">
              <a:off x="2748775" y="1977025"/>
              <a:ext cx="3600" cy="1005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87" name="Google Shape;987;p80"/>
          <p:cNvGrpSpPr/>
          <p:nvPr/>
        </p:nvGrpSpPr>
        <p:grpSpPr>
          <a:xfrm>
            <a:off x="3509283" y="3419890"/>
            <a:ext cx="1378506" cy="92098"/>
            <a:chOff x="1662475" y="1977025"/>
            <a:chExt cx="1089900" cy="100500"/>
          </a:xfrm>
        </p:grpSpPr>
        <p:cxnSp>
          <p:nvCxnSpPr>
            <p:cNvPr id="988" name="Google Shape;988;p80"/>
            <p:cNvCxnSpPr/>
            <p:nvPr/>
          </p:nvCxnSpPr>
          <p:spPr>
            <a:xfrm flipH="1" rot="10800000">
              <a:off x="1662475" y="2072725"/>
              <a:ext cx="1086300" cy="48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89" name="Google Shape;989;p80"/>
            <p:cNvCxnSpPr/>
            <p:nvPr/>
          </p:nvCxnSpPr>
          <p:spPr>
            <a:xfrm flipH="1">
              <a:off x="1662475" y="1977025"/>
              <a:ext cx="3600" cy="1005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0" name="Google Shape;990;p80"/>
            <p:cNvCxnSpPr/>
            <p:nvPr/>
          </p:nvCxnSpPr>
          <p:spPr>
            <a:xfrm flipH="1">
              <a:off x="2748775" y="1977025"/>
              <a:ext cx="3600" cy="1005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991" name="Google Shape;991;p8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738425" y="2874977"/>
            <a:ext cx="936400" cy="90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2" name="Google Shape;992;p8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flipH="1">
            <a:off x="5977677" y="2668725"/>
            <a:ext cx="1677924" cy="1111199"/>
          </a:xfrm>
          <a:prstGeom prst="rect">
            <a:avLst/>
          </a:prstGeom>
          <a:noFill/>
          <a:ln>
            <a:noFill/>
          </a:ln>
        </p:spPr>
      </p:pic>
      <p:sp>
        <p:nvSpPr>
          <p:cNvPr id="993" name="Google Shape;993;p80"/>
          <p:cNvSpPr txBox="1"/>
          <p:nvPr>
            <p:ph idx="1" type="body"/>
          </p:nvPr>
        </p:nvSpPr>
        <p:spPr>
          <a:xfrm>
            <a:off x="6378927" y="2942738"/>
            <a:ext cx="1228500" cy="44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It’s 95</a:t>
            </a:r>
            <a:endParaRPr sz="1900"/>
          </a:p>
        </p:txBody>
      </p:sp>
      <p:sp>
        <p:nvSpPr>
          <p:cNvPr id="994" name="Google Shape;994;p80"/>
          <p:cNvSpPr txBox="1"/>
          <p:nvPr>
            <p:ph idx="1" type="body"/>
          </p:nvPr>
        </p:nvSpPr>
        <p:spPr>
          <a:xfrm>
            <a:off x="7835039" y="3788988"/>
            <a:ext cx="1228500" cy="44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Izzy</a:t>
            </a:r>
            <a:endParaRPr sz="1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8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Priority of operations with negatives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81"/>
          <p:cNvSpPr txBox="1"/>
          <p:nvPr/>
        </p:nvSpPr>
        <p:spPr>
          <a:xfrm>
            <a:off x="324000" y="720000"/>
            <a:ext cx="81738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Fill in the blanks to make the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calculation in the centre 24.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1" name="Google Shape;1001;p81"/>
          <p:cNvSpPr/>
          <p:nvPr/>
        </p:nvSpPr>
        <p:spPr>
          <a:xfrm>
            <a:off x="4054988" y="2571750"/>
            <a:ext cx="1366632" cy="992952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latin typeface="Lexend"/>
                <a:ea typeface="Lexend"/>
                <a:cs typeface="Lexend"/>
                <a:sym typeface="Lexend"/>
              </a:rPr>
              <a:t>24</a:t>
            </a:r>
            <a:endParaRPr sz="3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2" name="Google Shape;1002;p81"/>
          <p:cNvSpPr txBox="1"/>
          <p:nvPr/>
        </p:nvSpPr>
        <p:spPr>
          <a:xfrm>
            <a:off x="1684800" y="1909675"/>
            <a:ext cx="1869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60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+ (-12) × 3  </a:t>
            </a:r>
            <a:endParaRPr sz="900"/>
          </a:p>
        </p:txBody>
      </p:sp>
      <p:sp>
        <p:nvSpPr>
          <p:cNvPr id="1003" name="Google Shape;1003;p81"/>
          <p:cNvSpPr txBox="1"/>
          <p:nvPr/>
        </p:nvSpPr>
        <p:spPr>
          <a:xfrm>
            <a:off x="1119300" y="3372750"/>
            <a:ext cx="1767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− (-8)  ÷ 2</a:t>
            </a:r>
            <a:endParaRPr sz="900"/>
          </a:p>
        </p:txBody>
      </p:sp>
      <p:sp>
        <p:nvSpPr>
          <p:cNvPr id="1004" name="Google Shape;1004;p81"/>
          <p:cNvSpPr txBox="1"/>
          <p:nvPr/>
        </p:nvSpPr>
        <p:spPr>
          <a:xfrm>
            <a:off x="5497700" y="1620000"/>
            <a:ext cx="3000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(-240)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÷ (-10)</a:t>
            </a:r>
            <a:endParaRPr sz="900"/>
          </a:p>
        </p:txBody>
      </p:sp>
      <p:sp>
        <p:nvSpPr>
          <p:cNvPr id="1005" name="Google Shape;1005;p81"/>
          <p:cNvSpPr txBox="1"/>
          <p:nvPr/>
        </p:nvSpPr>
        <p:spPr>
          <a:xfrm>
            <a:off x="3827125" y="4081500"/>
            <a:ext cx="3000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40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+ (8) × (-2)</a:t>
            </a:r>
            <a:endParaRPr sz="900"/>
          </a:p>
        </p:txBody>
      </p:sp>
      <p:sp>
        <p:nvSpPr>
          <p:cNvPr id="1006" name="Google Shape;1006;p81"/>
          <p:cNvSpPr txBox="1"/>
          <p:nvPr/>
        </p:nvSpPr>
        <p:spPr>
          <a:xfrm>
            <a:off x="6144000" y="2700000"/>
            <a:ext cx="3000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+ (-2) × (-10)</a:t>
            </a:r>
            <a:endParaRPr sz="900"/>
          </a:p>
        </p:txBody>
      </p:sp>
      <p:pic>
        <p:nvPicPr>
          <p:cNvPr id="1007" name="Google Shape;1007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7152" y="1812687"/>
            <a:ext cx="544275" cy="538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8" name="Google Shape;1008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1115" y="3341787"/>
            <a:ext cx="544275" cy="538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9" name="Google Shape;1009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5134" y="1541100"/>
            <a:ext cx="544275" cy="538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0" name="Google Shape;1010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9063" y="2647620"/>
            <a:ext cx="544275" cy="538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1" name="Google Shape;1011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8852" y="4018237"/>
            <a:ext cx="544275" cy="53894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12" name="Google Shape;1012;p81"/>
          <p:cNvCxnSpPr/>
          <p:nvPr/>
        </p:nvCxnSpPr>
        <p:spPr>
          <a:xfrm rot="10800000">
            <a:off x="3181402" y="2351626"/>
            <a:ext cx="873600" cy="3291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3" name="Google Shape;1013;p81"/>
          <p:cNvCxnSpPr/>
          <p:nvPr/>
        </p:nvCxnSpPr>
        <p:spPr>
          <a:xfrm flipH="1">
            <a:off x="2895103" y="3191813"/>
            <a:ext cx="1167900" cy="378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4" name="Google Shape;1014;p81"/>
          <p:cNvCxnSpPr/>
          <p:nvPr/>
        </p:nvCxnSpPr>
        <p:spPr>
          <a:xfrm flipH="1">
            <a:off x="4719588" y="3542268"/>
            <a:ext cx="2100" cy="3915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5" name="Google Shape;1015;p81"/>
          <p:cNvCxnSpPr>
            <a:endCxn id="1006" idx="1"/>
          </p:cNvCxnSpPr>
          <p:nvPr/>
        </p:nvCxnSpPr>
        <p:spPr>
          <a:xfrm flipH="1" rot="10800000">
            <a:off x="5423700" y="2938500"/>
            <a:ext cx="720300" cy="105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6" name="Google Shape;1016;p81"/>
          <p:cNvCxnSpPr/>
          <p:nvPr/>
        </p:nvCxnSpPr>
        <p:spPr>
          <a:xfrm flipH="1" rot="10800000">
            <a:off x="5140200" y="2125650"/>
            <a:ext cx="612600" cy="4449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82"/>
          <p:cNvSpPr txBox="1"/>
          <p:nvPr/>
        </p:nvSpPr>
        <p:spPr>
          <a:xfrm>
            <a:off x="324000" y="720000"/>
            <a:ext cx="8158500" cy="10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2) Work out the following, ensuring you show your working out.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Lexend"/>
                <a:ea typeface="Lexend"/>
                <a:cs typeface="Lexend"/>
                <a:sym typeface="Lexend"/>
              </a:rPr>
              <a:t>a)</a:t>
            </a:r>
            <a:endParaRPr sz="23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50\ -\left(-100+149\right)\div\left(-7\right)\\&amp;#13;&amp;#10;50-\left(149+\left(-100\right)\right)\div\left(-7\right)\\&amp;#13;&amp;#10;50\ -\left(49\right)\div\left(-7\right)\\&amp;#13;&amp;#10;50-\frac{49}{\left(-7\right)}\\&amp;#13;&amp;#10;50-\left(-7\right)\\&amp;#13;&amp;#10;50+7\ =\ 57\end{array}&quot;&gt;&lt;mtable columnalign=&quot;left&quot; columnspacing=&quot;1em&quot; rowspacing=&quot;4pt&quot;&gt;&lt;mtr&gt;&lt;mtd&gt;&lt;mn&gt;50&lt;/mn&gt;&lt;mtext&gt;&lt;/mtext&gt;&lt;mo&gt;−&lt;/mo&gt;&lt;mrow data-mjx-texclass=&quot;INNER&quot;&gt;&lt;mo data-mjx-texclass=&quot;OPEN&quot;&gt;(&lt;/mo&gt;&lt;mo&gt;−&lt;/mo&gt;&lt;mn&gt;100&lt;/mn&gt;&lt;mo&gt;+&lt;/mo&gt;&lt;mn&gt;149&lt;/mn&gt;&lt;mo data-mjx-texclass=&quot;CLOSE&quot;&gt;)&lt;/mo&gt;&lt;/mrow&gt;&lt;mo&gt;÷&lt;/mo&gt;&lt;mrow data-mjx-texclass=&quot;INNER&quot;&gt;&lt;mo data-mjx-texclass=&quot;OPEN&quot;&gt;(&lt;/mo&gt;&lt;mo&gt;−&lt;/mo&gt;&lt;mn&gt;7&lt;/mn&gt;&lt;mo data-mjx-texclass=&quot;CLOSE&quot;&gt;)&lt;/mo&gt;&lt;/mrow&gt;&lt;/mtd&gt;&lt;/mtr&gt;&lt;mtr&gt;&lt;mtd&gt;&lt;mn&gt;50&lt;/mn&gt;&lt;mo&gt;−&lt;/mo&gt;&lt;mrow data-mjx-texclass=&quot;INNER&quot;&gt;&lt;mo data-mjx-texclass=&quot;OPEN&quot;&gt;(&lt;/mo&gt;&lt;mn&gt;149&lt;/mn&gt;&lt;mo&gt;+&lt;/mo&gt;&lt;mrow data-mjx-texclass=&quot;INNER&quot;&gt;&lt;mo data-mjx-texclass=&quot;OPEN&quot;&gt;(&lt;/mo&gt;&lt;mo&gt;−&lt;/mo&gt;&lt;mn&gt;100&lt;/mn&gt;&lt;mo data-mjx-texclass=&quot;CLOSE&quot;&gt;)&lt;/mo&gt;&lt;/mrow&gt;&lt;mo data-mjx-texclass=&quot;CLOSE&quot;&gt;)&lt;/mo&gt;&lt;/mrow&gt;&lt;mo&gt;÷&lt;/mo&gt;&lt;mrow data-mjx-texclass=&quot;INNER&quot;&gt;&lt;mo data-mjx-texclass=&quot;OPEN&quot;&gt;(&lt;/mo&gt;&lt;mo&gt;−&lt;/mo&gt;&lt;mn&gt;7&lt;/mn&gt;&lt;mo data-mjx-texclass=&quot;CLOSE&quot;&gt;)&lt;/mo&gt;&lt;/mrow&gt;&lt;/mtd&gt;&lt;/mtr&gt;&lt;mtr&gt;&lt;mtd&gt;&lt;mn&gt;50&lt;/mn&gt;&lt;mtext&gt;&lt;/mtext&gt;&lt;mo&gt;−&lt;/mo&gt;&lt;mrow data-mjx-texclass=&quot;INNER&quot;&gt;&lt;mo data-mjx-texclass=&quot;OPEN&quot;&gt;(&lt;/mo&gt;&lt;mn&gt;49&lt;/mn&gt;&lt;mo data-mjx-texclass=&quot;CLOSE&quot;&gt;)&lt;/mo&gt;&lt;/mrow&gt;&lt;mo&gt;÷&lt;/mo&gt;&lt;mrow data-mjx-texclass=&quot;INNER&quot;&gt;&lt;mo data-mjx-texclass=&quot;OPEN&quot;&gt;(&lt;/mo&gt;&lt;mo&gt;−&lt;/mo&gt;&lt;mn&gt;7&lt;/mn&gt;&lt;mo data-mjx-texclass=&quot;CLOSE&quot;&gt;)&lt;/mo&gt;&lt;/mrow&gt;&lt;/mtd&gt;&lt;/mtr&gt;&lt;mtr&gt;&lt;mtd&gt;&lt;mn&gt;50&lt;/mn&gt;&lt;mo&gt;−&lt;/mo&gt;&lt;mfrac&gt;&lt;mn&gt;49&lt;/mn&gt;&lt;mrow data-mjx-texclass=&quot;INNER&quot;&gt;&lt;mo data-mjx-texclass=&quot;OPEN&quot;&gt;(&lt;/mo&gt;&lt;mo&gt;−&lt;/mo&gt;&lt;mn&gt;7&lt;/mn&gt;&lt;mo data-mjx-texclass=&quot;CLOSE&quot;&gt;)&lt;/mo&gt;&lt;/mrow&gt;&lt;/mfrac&gt;&lt;/mtd&gt;&lt;/mtr&gt;&lt;mtr&gt;&lt;mtd&gt;&lt;mn&gt;50&lt;/mn&gt;&lt;mo&gt;−&lt;/mo&gt;&lt;mrow data-mjx-texclass=&quot;INNER&quot;&gt;&lt;mo data-mjx-texclass=&quot;OPEN&quot;&gt;(&lt;/mo&gt;&lt;mo&gt;−&lt;/mo&gt;&lt;mn&gt;7&lt;/mn&gt;&lt;mo data-mjx-texclass=&quot;CLOSE&quot;&gt;)&lt;/mo&gt;&lt;/mrow&gt;&lt;/mtd&gt;&lt;/mtr&gt;&lt;mtr&gt;&lt;mtd&gt;&lt;mn&gt;50&lt;/mn&gt;&lt;mo&gt;+&lt;/mo&gt;&lt;mn&gt;7&lt;/mn&gt;&lt;mtext&gt;&lt;/mtext&gt;&lt;mo&gt;=&lt;/mo&gt;&lt;mtext&gt;&lt;/mtext&gt;&lt;mn&gt;57&lt;/mn&gt;&lt;/mtd&gt;&lt;/mtr&gt;&lt;/mtable&gt;&lt;/math&gt;" id="1022" name="Google Shape;1022;p82" title="6 lines Line 1: 50 negative open paren negative 100 plus 149 close paren divided by negative 7 Line 2: 50 minus open paren 149 plus negative 100 close paren divided by negative 7 Line 3: 50 negative 49 divided by negative 7 Line 4: 50 minus the fraction with numerator 49 and denominator negative 7 Line 5: 50 minus negative 7 Line 6: 50 plus 7 equals 57"/>
          <p:cNvPicPr preferRelativeResize="0"/>
          <p:nvPr/>
        </p:nvPicPr>
        <p:blipFill rotWithShape="1">
          <a:blip r:embed="rId3">
            <a:alphaModFix/>
          </a:blip>
          <a:srcRect b="87114" l="0" r="0" t="0"/>
          <a:stretch/>
        </p:blipFill>
        <p:spPr>
          <a:xfrm>
            <a:off x="5039657" y="1453238"/>
            <a:ext cx="3523774" cy="33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3" name="Google Shape;1023;p82"/>
          <p:cNvSpPr txBox="1"/>
          <p:nvPr/>
        </p:nvSpPr>
        <p:spPr>
          <a:xfrm>
            <a:off x="4525200" y="1335975"/>
            <a:ext cx="597600" cy="6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b)</a:t>
            </a:r>
            <a:endParaRPr sz="23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100\ +\ \sqrt[]{100-\left(-21\right)}\div\left(-11\right)\\&amp;#13;&amp;#10;100\ +\sqrt[]{100+21}\div\left(-11\right)\\&amp;#13;&amp;#10;100+\sqrt[]{121}\div\left(-11\right)\\&amp;#13;&amp;#10;100\ +\ 11\ \div\left(-11\right)\\&amp;#13;&amp;#10;100+\frac{11}{\left(-11\right)}\\&amp;#13;&amp;#10;100+\left(-1\right)=99\end{array}&quot;&gt;&lt;mtable columnalign=&quot;left&quot; columnspacing=&quot;1em&quot; rowspacing=&quot;4pt&quot;&gt;&lt;mtr&gt;&lt;mtd&gt;&lt;mn&gt;100&lt;/mn&gt;&lt;mtext&gt;&lt;/mtext&gt;&lt;mo&gt;+&lt;/mo&gt;&lt;mtext&gt;&lt;/mtext&gt;&lt;msqrt&gt;&lt;mn&gt;100&lt;/mn&gt;&lt;mo&gt;−&lt;/mo&gt;&lt;mrow data-mjx-texclass=&quot;INNER&quot;&gt;&lt;mo data-mjx-texclass=&quot;OPEN&quot;&gt;(&lt;/mo&gt;&lt;mo&gt;−&lt;/mo&gt;&lt;mn&gt;21&lt;/mn&gt;&lt;mo data-mjx-texclass=&quot;CLOSE&quot;&gt;)&lt;/mo&gt;&lt;/mrow&gt;&lt;/msqrt&gt;&lt;mo&gt;÷&lt;/mo&gt;&lt;mrow data-mjx-texclass=&quot;INNER&quot;&gt;&lt;mo data-mjx-texclass=&quot;OPEN&quot;&gt;(&lt;/mo&gt;&lt;mo&gt;−&lt;/mo&gt;&lt;mn&gt;11&lt;/mn&gt;&lt;mo data-mjx-texclass=&quot;CLOSE&quot;&gt;)&lt;/mo&gt;&lt;/mrow&gt;&lt;/mtd&gt;&lt;/mtr&gt;&lt;mtr&gt;&lt;mtd&gt;&lt;mn&gt;100&lt;/mn&gt;&lt;mtext&gt;&lt;/mtext&gt;&lt;mo&gt;+&lt;/mo&gt;&lt;msqrt&gt;&lt;mn&gt;100&lt;/mn&gt;&lt;mo&gt;+&lt;/mo&gt;&lt;mn&gt;21&lt;/mn&gt;&lt;/msqrt&gt;&lt;mo&gt;÷&lt;/mo&gt;&lt;mrow data-mjx-texclass=&quot;INNER&quot;&gt;&lt;mo data-mjx-texclass=&quot;OPEN&quot;&gt;(&lt;/mo&gt;&lt;mo&gt;−&lt;/mo&gt;&lt;mn&gt;11&lt;/mn&gt;&lt;mo data-mjx-texclass=&quot;CLOSE&quot;&gt;)&lt;/mo&gt;&lt;/mrow&gt;&lt;/mtd&gt;&lt;/mtr&gt;&lt;mtr&gt;&lt;mtd&gt;&lt;mn&gt;100&lt;/mn&gt;&lt;mo&gt;+&lt;/mo&gt;&lt;msqrt&gt;&lt;mn&gt;121&lt;/mn&gt;&lt;/msqrt&gt;&lt;mo&gt;÷&lt;/mo&gt;&lt;mrow data-mjx-texclass=&quot;INNER&quot;&gt;&lt;mo data-mjx-texclass=&quot;OPEN&quot;&gt;(&lt;/mo&gt;&lt;mo&gt;−&lt;/mo&gt;&lt;mn&gt;11&lt;/mn&gt;&lt;mo data-mjx-texclass=&quot;CLOSE&quot;&gt;)&lt;/mo&gt;&lt;/mrow&gt;&lt;/mtd&gt;&lt;/mtr&gt;&lt;mtr&gt;&lt;mtd&gt;&lt;mn&gt;100&lt;/mn&gt;&lt;mtext&gt;&lt;/mtext&gt;&lt;mo&gt;+&lt;/mo&gt;&lt;mtext&gt;&lt;/mtext&gt;&lt;mn&gt;11&lt;/mn&gt;&lt;mtext&gt;&lt;/mtext&gt;&lt;mo&gt;÷&lt;/mo&gt;&lt;mrow data-mjx-texclass=&quot;INNER&quot;&gt;&lt;mo data-mjx-texclass=&quot;OPEN&quot;&gt;(&lt;/mo&gt;&lt;mo&gt;−&lt;/mo&gt;&lt;mn&gt;11&lt;/mn&gt;&lt;mo data-mjx-texclass=&quot;CLOSE&quot;&gt;)&lt;/mo&gt;&lt;/mrow&gt;&lt;/mtd&gt;&lt;/mtr&gt;&lt;mtr&gt;&lt;mtd&gt;&lt;mn&gt;100&lt;/mn&gt;&lt;mo&gt;+&lt;/mo&gt;&lt;mfrac&gt;&lt;mn&gt;11&lt;/mn&gt;&lt;mrow data-mjx-texclass=&quot;INNER&quot;&gt;&lt;mo data-mjx-texclass=&quot;OPEN&quot;&gt;(&lt;/mo&gt;&lt;mo&gt;−&lt;/mo&gt;&lt;mn&gt;11&lt;/mn&gt;&lt;mo data-mjx-texclass=&quot;CLOSE&quot;&gt;)&lt;/mo&gt;&lt;/mrow&gt;&lt;/mfrac&gt;&lt;/mtd&gt;&lt;/mtr&gt;&lt;mtr&gt;&lt;mtd&gt;&lt;mn&gt;100&lt;/mn&gt;&lt;mo&gt;+&lt;/mo&gt;&lt;mrow data-mjx-texclass=&quot;INNER&quot;&gt;&lt;mo data-mjx-texclass=&quot;OPEN&quot;&gt;(&lt;/mo&gt;&lt;mo&gt;−&lt;/mo&gt;&lt;mn&gt;1&lt;/mn&gt;&lt;mo data-mjx-texclass=&quot;CLOSE&quot;&gt;)&lt;/mo&gt;&lt;/mrow&gt;&lt;mo&gt;=&lt;/mo&gt;&lt;mn&gt;99&lt;/mn&gt;&lt;/mtd&gt;&lt;/mtr&gt;&lt;/mtable&gt;&lt;/math&gt;" id="1024" name="Google Shape;1024;p82" title="6 lines Line 1: 100 plus the square root of 100 minus negative 21 divided by negative 11 Line 2: 100 positive the square root of 100 plus 21 divided by negative 11 Line 3: 100 plus the square root of 121 divided by negative 11 Line 4: 100 plus 11 division sign negative 11 Line 5: 100 plus the fraction with numerator 11 and denominator negative 11 Line 6: 100 plus negative 1 equals 99"/>
          <p:cNvPicPr preferRelativeResize="0"/>
          <p:nvPr/>
        </p:nvPicPr>
        <p:blipFill rotWithShape="1">
          <a:blip r:embed="rId4">
            <a:alphaModFix/>
          </a:blip>
          <a:srcRect b="84379" l="0" r="0" t="0"/>
          <a:stretch/>
        </p:blipFill>
        <p:spPr>
          <a:xfrm>
            <a:off x="846075" y="1414425"/>
            <a:ext cx="3473926" cy="411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25" name="Google Shape;1025;p82"/>
          <p:cNvCxnSpPr/>
          <p:nvPr/>
        </p:nvCxnSpPr>
        <p:spPr>
          <a:xfrm>
            <a:off x="4463475" y="1240200"/>
            <a:ext cx="0" cy="34083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6" name="Google Shape;1026;p82"/>
          <p:cNvSpPr txBox="1"/>
          <p:nvPr>
            <p:ph idx="2" type="subTitle"/>
          </p:nvPr>
        </p:nvSpPr>
        <p:spPr>
          <a:xfrm>
            <a:off x="1570025" y="134975"/>
            <a:ext cx="6855300" cy="28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Priority of operations with negatives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83"/>
          <p:cNvSpPr txBox="1"/>
          <p:nvPr/>
        </p:nvSpPr>
        <p:spPr>
          <a:xfrm>
            <a:off x="324000" y="720000"/>
            <a:ext cx="8158500" cy="9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3) Fill in the pyramid. The number above the block is the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</a:t>
            </a:r>
            <a: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of the two below.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2" name="Google Shape;1032;p83"/>
          <p:cNvSpPr/>
          <p:nvPr/>
        </p:nvSpPr>
        <p:spPr>
          <a:xfrm>
            <a:off x="352325" y="2933700"/>
            <a:ext cx="2656500" cy="9318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3" name="Google Shape;1033;p83"/>
          <p:cNvSpPr/>
          <p:nvPr/>
        </p:nvSpPr>
        <p:spPr>
          <a:xfrm>
            <a:off x="3009474" y="2933700"/>
            <a:ext cx="2926500" cy="9318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4" name="Google Shape;1034;p83"/>
          <p:cNvSpPr/>
          <p:nvPr/>
        </p:nvSpPr>
        <p:spPr>
          <a:xfrm>
            <a:off x="5936100" y="2933700"/>
            <a:ext cx="2883900" cy="9318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5" name="Google Shape;1035;p83"/>
          <p:cNvSpPr/>
          <p:nvPr/>
        </p:nvSpPr>
        <p:spPr>
          <a:xfrm>
            <a:off x="1511900" y="2319874"/>
            <a:ext cx="2766600" cy="6000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6" name="Google Shape;1036;p83"/>
          <p:cNvSpPr/>
          <p:nvPr/>
        </p:nvSpPr>
        <p:spPr>
          <a:xfrm>
            <a:off x="4281507" y="2319874"/>
            <a:ext cx="2766600" cy="6000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7" name="Google Shape;1037;p83"/>
          <p:cNvSpPr/>
          <p:nvPr/>
        </p:nvSpPr>
        <p:spPr>
          <a:xfrm>
            <a:off x="2947827" y="1720925"/>
            <a:ext cx="2766600" cy="6000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8" name="Google Shape;1038;p8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Priority of operations with negatives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20+\frac{\left(-4\right)}{\left(-2\right)}\times\left(-3\right)&quot;&gt;&lt;mn&gt;20&lt;/mn&gt;&lt;mo&gt;+&lt;/mo&gt;&lt;mfrac&gt;&lt;mrow data-mjx-texclass=&quot;INNER&quot;&gt;&lt;mo data-mjx-texclass=&quot;OPEN&quot;&gt;(&lt;/mo&gt;&lt;mo&gt;−&lt;/mo&gt;&lt;mn&gt;4&lt;/mn&gt;&lt;mo data-mjx-texclass=&quot;CLOSE&quot;&gt;)&lt;/mo&gt;&lt;/mrow&gt;&lt;mrow data-mjx-texclass=&quot;INNER&quot;&gt;&lt;mo data-mjx-texclass=&quot;OPEN&quot;&gt;(&lt;/mo&gt;&lt;mo&gt;−&lt;/mo&gt;&lt;mn&gt;2&lt;/mn&gt;&lt;mo data-mjx-texclass=&quot;CLOSE&quot;&gt;)&lt;/mo&gt;&lt;/mrow&gt;&lt;/mfrac&gt;&lt;mo&gt;×&lt;/mo&gt;&lt;mrow data-mjx-texclass=&quot;INNER&quot;&gt;&lt;mo data-mjx-texclass=&quot;OPEN&quot;&gt;(&lt;/mo&gt;&lt;mo&gt;−&lt;/mo&gt;&lt;mn&gt;3&lt;/mn&gt;&lt;mo data-mjx-texclass=&quot;CLOSE&quot;&gt;)&lt;/mo&gt;&lt;/mrow&gt;&lt;/math&gt;" id="1039" name="Google Shape;1039;p83" title="20 plus the fraction with numerator negative 4 and denominator negative 2 times negative 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7361" y="3050724"/>
            <a:ext cx="2230200" cy="697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\ -\ \frac{\sqrt[]{100}}{\left(-10\right)}\times\left(-2\right)&quot;&gt;&lt;mn&gt;4&lt;/mn&gt;&lt;mtext&gt;&lt;/mtext&gt;&lt;mo&gt;−&lt;/mo&gt;&lt;mtext&gt;&lt;/mtext&gt;&lt;mfrac&gt;&lt;msqrt&gt;&lt;mn&gt;100&lt;/mn&gt;&lt;/msqrt&gt;&lt;mrow data-mjx-texclass=&quot;INNER&quot;&gt;&lt;mo data-mjx-texclass=&quot;OPEN&quot;&gt;(&lt;/mo&gt;&lt;mo&gt;−&lt;/mo&gt;&lt;mn&gt;10&lt;/mn&gt;&lt;mo data-mjx-texclass=&quot;CLOSE&quot;&gt;)&lt;/mo&gt;&lt;/mrow&gt;&lt;/mfrac&gt;&lt;mo&gt;×&lt;/mo&gt;&lt;mrow data-mjx-texclass=&quot;INNER&quot;&gt;&lt;mo data-mjx-texclass=&quot;OPEN&quot;&gt;(&lt;/mo&gt;&lt;mo&gt;−&lt;/mo&gt;&lt;mn&gt;2&lt;/mn&gt;&lt;mo data-mjx-texclass=&quot;CLOSE&quot;&gt;)&lt;/mo&gt;&lt;/mrow&gt;&lt;/math&gt;" id="1040" name="Google Shape;1040;p83" title="4 minus the fraction with numerator the square root of 100 and denominator negative 10 times negative 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93163" y="2997510"/>
            <a:ext cx="2369775" cy="8041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0}{\left(-2\right)}+\frac{4^2}{2}&quot;&gt;&lt;mfrac&gt;&lt;mn&gt;90&lt;/mn&gt;&lt;mrow data-mjx-texclass=&quot;INNER&quot;&gt;&lt;mo data-mjx-texclass=&quot;OPEN&quot;&gt;(&lt;/mo&gt;&lt;mo&gt;−&lt;/mo&gt;&lt;mn&gt;2&lt;/mn&gt;&lt;mo data-mjx-texclass=&quot;CLOSE&quot;&gt;)&lt;/mo&gt;&lt;/mrow&gt;&lt;/mfrac&gt;&lt;mo&gt;+&lt;/mo&gt;&lt;mfrac&gt;&lt;msup&gt;&lt;mn&gt;4&lt;/mn&gt;&lt;mn&gt;2&lt;/mn&gt;&lt;/msup&gt;&lt;mn&gt;2&lt;/mn&gt;&lt;/mfrac&gt;&lt;/math&gt;" id="1041" name="Google Shape;1041;p83" title="the fraction with numerator 90 and denominator negative 2 plus the fraction with numerator 4 squared and denominator 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8900" y="2997500"/>
            <a:ext cx="1457300" cy="80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84"/>
          <p:cNvSpPr/>
          <p:nvPr/>
        </p:nvSpPr>
        <p:spPr>
          <a:xfrm>
            <a:off x="4054988" y="2571750"/>
            <a:ext cx="1366632" cy="992952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latin typeface="Lexend"/>
                <a:ea typeface="Lexend"/>
                <a:cs typeface="Lexend"/>
                <a:sym typeface="Lexend"/>
              </a:rPr>
              <a:t>24</a:t>
            </a:r>
            <a:endParaRPr sz="3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7" name="Google Shape;1047;p84"/>
          <p:cNvSpPr txBox="1"/>
          <p:nvPr/>
        </p:nvSpPr>
        <p:spPr>
          <a:xfrm>
            <a:off x="1684800" y="1909675"/>
            <a:ext cx="1869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60 + (-12) × 3  </a:t>
            </a:r>
            <a:endParaRPr sz="900"/>
          </a:p>
        </p:txBody>
      </p:sp>
      <p:sp>
        <p:nvSpPr>
          <p:cNvPr id="1048" name="Google Shape;1048;p84"/>
          <p:cNvSpPr txBox="1"/>
          <p:nvPr/>
        </p:nvSpPr>
        <p:spPr>
          <a:xfrm>
            <a:off x="1119300" y="3372750"/>
            <a:ext cx="1767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20 − (-8)  ÷ 2</a:t>
            </a:r>
            <a:endParaRPr sz="900"/>
          </a:p>
        </p:txBody>
      </p:sp>
      <p:sp>
        <p:nvSpPr>
          <p:cNvPr id="1049" name="Google Shape;1049;p84"/>
          <p:cNvSpPr txBox="1"/>
          <p:nvPr/>
        </p:nvSpPr>
        <p:spPr>
          <a:xfrm>
            <a:off x="5497700" y="1620000"/>
            <a:ext cx="3000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(-240) ÷ (-10)</a:t>
            </a:r>
            <a:endParaRPr sz="900"/>
          </a:p>
        </p:txBody>
      </p:sp>
      <p:sp>
        <p:nvSpPr>
          <p:cNvPr id="1050" name="Google Shape;1050;p84"/>
          <p:cNvSpPr txBox="1"/>
          <p:nvPr/>
        </p:nvSpPr>
        <p:spPr>
          <a:xfrm>
            <a:off x="3827125" y="4081500"/>
            <a:ext cx="3000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40 + (8) × (-2)</a:t>
            </a:r>
            <a:endParaRPr sz="900"/>
          </a:p>
        </p:txBody>
      </p:sp>
      <p:sp>
        <p:nvSpPr>
          <p:cNvPr id="1051" name="Google Shape;1051;p84"/>
          <p:cNvSpPr txBox="1"/>
          <p:nvPr/>
        </p:nvSpPr>
        <p:spPr>
          <a:xfrm>
            <a:off x="6144000" y="2700000"/>
            <a:ext cx="3000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+ (-2) × (-10)</a:t>
            </a:r>
            <a:endParaRPr sz="900"/>
          </a:p>
        </p:txBody>
      </p:sp>
      <p:pic>
        <p:nvPicPr>
          <p:cNvPr id="1052" name="Google Shape;1052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6450" y="1812687"/>
            <a:ext cx="544275" cy="538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3" name="Google Shape;1053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1115" y="3341787"/>
            <a:ext cx="544275" cy="538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4" name="Google Shape;1054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5134" y="1541100"/>
            <a:ext cx="544275" cy="538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5" name="Google Shape;1055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9063" y="2647620"/>
            <a:ext cx="544275" cy="538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6" name="Google Shape;1056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8852" y="4018237"/>
            <a:ext cx="544275" cy="53894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57" name="Google Shape;1057;p84"/>
          <p:cNvCxnSpPr/>
          <p:nvPr/>
        </p:nvCxnSpPr>
        <p:spPr>
          <a:xfrm rot="10800000">
            <a:off x="3199591" y="2351626"/>
            <a:ext cx="873600" cy="3291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8" name="Google Shape;1058;p84"/>
          <p:cNvCxnSpPr/>
          <p:nvPr/>
        </p:nvCxnSpPr>
        <p:spPr>
          <a:xfrm flipH="1">
            <a:off x="2896060" y="3219600"/>
            <a:ext cx="1167900" cy="378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9" name="Google Shape;1059;p84"/>
          <p:cNvCxnSpPr/>
          <p:nvPr/>
        </p:nvCxnSpPr>
        <p:spPr>
          <a:xfrm flipH="1">
            <a:off x="4719588" y="3542268"/>
            <a:ext cx="2100" cy="3915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0" name="Google Shape;1060;p84"/>
          <p:cNvCxnSpPr/>
          <p:nvPr/>
        </p:nvCxnSpPr>
        <p:spPr>
          <a:xfrm flipH="1" rot="10800000">
            <a:off x="5423700" y="2938500"/>
            <a:ext cx="720300" cy="105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1" name="Google Shape;1061;p84"/>
          <p:cNvCxnSpPr/>
          <p:nvPr/>
        </p:nvCxnSpPr>
        <p:spPr>
          <a:xfrm flipH="1" rot="10800000">
            <a:off x="5140200" y="2125650"/>
            <a:ext cx="612600" cy="4449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2" name="Google Shape;1062;p8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Priority of operations with negatives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84"/>
          <p:cNvSpPr txBox="1"/>
          <p:nvPr/>
        </p:nvSpPr>
        <p:spPr>
          <a:xfrm>
            <a:off x="324000" y="720000"/>
            <a:ext cx="81738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Fill in the blanks to make the calculation in the centre 24.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\begin{array}{l}50\ -\left(-100+149\right)\div\left(-7\right)\\&amp;#13;&amp;#10;50-\left(149+\left(-100\right)\right)\div\left(-7\right)\\&amp;#13;&amp;#10;50\ -\left(49\right)\div\left(-7\right)\\&amp;#13;&amp;#10;50-\frac{49}{\left(-7\right)}\\&amp;#13;&amp;#10;50-\left(-7\right)\\&amp;#13;&amp;#10;50+7\ =\ 57\end{array}&quot;&gt;&lt;mtable columnalign=&quot;left&quot; columnspacing=&quot;1em&quot; rowspacing=&quot;4pt&quot;&gt;&lt;mtr&gt;&lt;mtd&gt;&lt;mn&gt;50&lt;/mn&gt;&lt;mtext&gt;&lt;/mtext&gt;&lt;mo&gt;−&lt;/mo&gt;&lt;mrow data-mjx-texclass=&quot;INNER&quot;&gt;&lt;mo data-mjx-texclass=&quot;OPEN&quot;&gt;(&lt;/mo&gt;&lt;mo&gt;−&lt;/mo&gt;&lt;mn&gt;100&lt;/mn&gt;&lt;mo&gt;+&lt;/mo&gt;&lt;mn&gt;149&lt;/mn&gt;&lt;mo data-mjx-texclass=&quot;CLOSE&quot;&gt;)&lt;/mo&gt;&lt;/mrow&gt;&lt;mo&gt;÷&lt;/mo&gt;&lt;mrow data-mjx-texclass=&quot;INNER&quot;&gt;&lt;mo data-mjx-texclass=&quot;OPEN&quot;&gt;(&lt;/mo&gt;&lt;mo&gt;−&lt;/mo&gt;&lt;mn&gt;7&lt;/mn&gt;&lt;mo data-mjx-texclass=&quot;CLOSE&quot;&gt;)&lt;/mo&gt;&lt;/mrow&gt;&lt;/mtd&gt;&lt;/mtr&gt;&lt;mtr&gt;&lt;mtd&gt;&lt;mn&gt;50&lt;/mn&gt;&lt;mo&gt;−&lt;/mo&gt;&lt;mrow data-mjx-texclass=&quot;INNER&quot;&gt;&lt;mo data-mjx-texclass=&quot;OPEN&quot;&gt;(&lt;/mo&gt;&lt;mn&gt;149&lt;/mn&gt;&lt;mo&gt;+&lt;/mo&gt;&lt;mrow data-mjx-texclass=&quot;INNER&quot;&gt;&lt;mo data-mjx-texclass=&quot;OPEN&quot;&gt;(&lt;/mo&gt;&lt;mo&gt;−&lt;/mo&gt;&lt;mn&gt;100&lt;/mn&gt;&lt;mo data-mjx-texclass=&quot;CLOSE&quot;&gt;)&lt;/mo&gt;&lt;/mrow&gt;&lt;mo data-mjx-texclass=&quot;CLOSE&quot;&gt;)&lt;/mo&gt;&lt;/mrow&gt;&lt;mo&gt;÷&lt;/mo&gt;&lt;mrow data-mjx-texclass=&quot;INNER&quot;&gt;&lt;mo data-mjx-texclass=&quot;OPEN&quot;&gt;(&lt;/mo&gt;&lt;mo&gt;−&lt;/mo&gt;&lt;mn&gt;7&lt;/mn&gt;&lt;mo data-mjx-texclass=&quot;CLOSE&quot;&gt;)&lt;/mo&gt;&lt;/mrow&gt;&lt;/mtd&gt;&lt;/mtr&gt;&lt;mtr&gt;&lt;mtd&gt;&lt;mn&gt;50&lt;/mn&gt;&lt;mtext&gt;&lt;/mtext&gt;&lt;mo&gt;−&lt;/mo&gt;&lt;mrow data-mjx-texclass=&quot;INNER&quot;&gt;&lt;mo data-mjx-texclass=&quot;OPEN&quot;&gt;(&lt;/mo&gt;&lt;mn&gt;49&lt;/mn&gt;&lt;mo data-mjx-texclass=&quot;CLOSE&quot;&gt;)&lt;/mo&gt;&lt;/mrow&gt;&lt;mo&gt;÷&lt;/mo&gt;&lt;mrow data-mjx-texclass=&quot;INNER&quot;&gt;&lt;mo data-mjx-texclass=&quot;OPEN&quot;&gt;(&lt;/mo&gt;&lt;mo&gt;−&lt;/mo&gt;&lt;mn&gt;7&lt;/mn&gt;&lt;mo data-mjx-texclass=&quot;CLOSE&quot;&gt;)&lt;/mo&gt;&lt;/mrow&gt;&lt;/mtd&gt;&lt;/mtr&gt;&lt;mtr&gt;&lt;mtd&gt;&lt;mn&gt;50&lt;/mn&gt;&lt;mo&gt;−&lt;/mo&gt;&lt;mfrac&gt;&lt;mn&gt;49&lt;/mn&gt;&lt;mrow data-mjx-texclass=&quot;INNER&quot;&gt;&lt;mo data-mjx-texclass=&quot;OPEN&quot;&gt;(&lt;/mo&gt;&lt;mo&gt;−&lt;/mo&gt;&lt;mn&gt;7&lt;/mn&gt;&lt;mo data-mjx-texclass=&quot;CLOSE&quot;&gt;)&lt;/mo&gt;&lt;/mrow&gt;&lt;/mfrac&gt;&lt;/mtd&gt;&lt;/mtr&gt;&lt;mtr&gt;&lt;mtd&gt;&lt;mn&gt;50&lt;/mn&gt;&lt;mo&gt;−&lt;/mo&gt;&lt;mrow data-mjx-texclass=&quot;INNER&quot;&gt;&lt;mo data-mjx-texclass=&quot;OPEN&quot;&gt;(&lt;/mo&gt;&lt;mo&gt;−&lt;/mo&gt;&lt;mn&gt;7&lt;/mn&gt;&lt;mo data-mjx-texclass=&quot;CLOSE&quot;&gt;)&lt;/mo&gt;&lt;/mrow&gt;&lt;/mtd&gt;&lt;/mtr&gt;&lt;mtr&gt;&lt;mtd&gt;&lt;mn&gt;50&lt;/mn&gt;&lt;mo&gt;+&lt;/mo&gt;&lt;mn&gt;7&lt;/mn&gt;&lt;mtext&gt;&lt;/mtext&gt;&lt;mo&gt;=&lt;/mo&gt;&lt;mtext&gt;&lt;/mtext&gt;&lt;mn&gt;57&lt;/mn&gt;&lt;/mtd&gt;&lt;/mtr&gt;&lt;/mtable&gt;&lt;/math&gt;" id="1068" name="Google Shape;1068;p85" title="6 lines Line 1: 50 negative open paren negative 100 plus 149 close paren divided by negative 7 Line 2: 50 minus open paren 149 plus negative 100 close paren divided by negative 7 Line 3: 50 negative 49 divided by negative 7 Line 4: 50 minus the fraction with numerator 49 and denominator negative 7 Line 5: 50 minus negative 7 Line 6: 50 plus 7 equals 57"/>
          <p:cNvPicPr preferRelativeResize="0"/>
          <p:nvPr/>
        </p:nvPicPr>
        <p:blipFill rotWithShape="1">
          <a:blip r:embed="rId3">
            <a:alphaModFix/>
          </a:blip>
          <a:srcRect b="87114" l="0" r="0" t="0"/>
          <a:stretch/>
        </p:blipFill>
        <p:spPr>
          <a:xfrm>
            <a:off x="5039657" y="1910438"/>
            <a:ext cx="3523774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50\ -\left(-100+149\right)\div\left(-7\right)\\&amp;#13;&amp;#10;50-\left(149+\left(-100\right)\right)\div\left(-7\right)\\&amp;#13;&amp;#10;50\ -\left(49\right)\div\left(-7\right)\\&amp;#13;&amp;#10;50-\frac{49}{\left(-7\right)}\\&amp;#13;&amp;#10;50-\left(-7\right)\\&amp;#13;&amp;#10;50+7\ =\ 57\end{array}&quot;&gt;&lt;mtable columnalign=&quot;left&quot; columnspacing=&quot;1em&quot; rowspacing=&quot;4pt&quot;&gt;&lt;mtr&gt;&lt;mtd&gt;&lt;mn&gt;50&lt;/mn&gt;&lt;mtext&gt;&lt;/mtext&gt;&lt;mo&gt;−&lt;/mo&gt;&lt;mrow data-mjx-texclass=&quot;INNER&quot;&gt;&lt;mo data-mjx-texclass=&quot;OPEN&quot;&gt;(&lt;/mo&gt;&lt;mo&gt;−&lt;/mo&gt;&lt;mn&gt;100&lt;/mn&gt;&lt;mo&gt;+&lt;/mo&gt;&lt;mn&gt;149&lt;/mn&gt;&lt;mo data-mjx-texclass=&quot;CLOSE&quot;&gt;)&lt;/mo&gt;&lt;/mrow&gt;&lt;mo&gt;÷&lt;/mo&gt;&lt;mrow data-mjx-texclass=&quot;INNER&quot;&gt;&lt;mo data-mjx-texclass=&quot;OPEN&quot;&gt;(&lt;/mo&gt;&lt;mo&gt;−&lt;/mo&gt;&lt;mn&gt;7&lt;/mn&gt;&lt;mo data-mjx-texclass=&quot;CLOSE&quot;&gt;)&lt;/mo&gt;&lt;/mrow&gt;&lt;/mtd&gt;&lt;/mtr&gt;&lt;mtr&gt;&lt;mtd&gt;&lt;mn&gt;50&lt;/mn&gt;&lt;mo&gt;−&lt;/mo&gt;&lt;mrow data-mjx-texclass=&quot;INNER&quot;&gt;&lt;mo data-mjx-texclass=&quot;OPEN&quot;&gt;(&lt;/mo&gt;&lt;mn&gt;149&lt;/mn&gt;&lt;mo&gt;+&lt;/mo&gt;&lt;mrow data-mjx-texclass=&quot;INNER&quot;&gt;&lt;mo data-mjx-texclass=&quot;OPEN&quot;&gt;(&lt;/mo&gt;&lt;mo&gt;−&lt;/mo&gt;&lt;mn&gt;100&lt;/mn&gt;&lt;mo data-mjx-texclass=&quot;CLOSE&quot;&gt;)&lt;/mo&gt;&lt;/mrow&gt;&lt;mo data-mjx-texclass=&quot;CLOSE&quot;&gt;)&lt;/mo&gt;&lt;/mrow&gt;&lt;mo&gt;÷&lt;/mo&gt;&lt;mrow data-mjx-texclass=&quot;INNER&quot;&gt;&lt;mo data-mjx-texclass=&quot;OPEN&quot;&gt;(&lt;/mo&gt;&lt;mo&gt;−&lt;/mo&gt;&lt;mn&gt;7&lt;/mn&gt;&lt;mo data-mjx-texclass=&quot;CLOSE&quot;&gt;)&lt;/mo&gt;&lt;/mrow&gt;&lt;/mtd&gt;&lt;/mtr&gt;&lt;mtr&gt;&lt;mtd&gt;&lt;mn&gt;50&lt;/mn&gt;&lt;mtext&gt;&lt;/mtext&gt;&lt;mo&gt;−&lt;/mo&gt;&lt;mrow data-mjx-texclass=&quot;INNER&quot;&gt;&lt;mo data-mjx-texclass=&quot;OPEN&quot;&gt;(&lt;/mo&gt;&lt;mn&gt;49&lt;/mn&gt;&lt;mo data-mjx-texclass=&quot;CLOSE&quot;&gt;)&lt;/mo&gt;&lt;/mrow&gt;&lt;mo&gt;÷&lt;/mo&gt;&lt;mrow data-mjx-texclass=&quot;INNER&quot;&gt;&lt;mo data-mjx-texclass=&quot;OPEN&quot;&gt;(&lt;/mo&gt;&lt;mo&gt;−&lt;/mo&gt;&lt;mn&gt;7&lt;/mn&gt;&lt;mo data-mjx-texclass=&quot;CLOSE&quot;&gt;)&lt;/mo&gt;&lt;/mrow&gt;&lt;/mtd&gt;&lt;/mtr&gt;&lt;mtr&gt;&lt;mtd&gt;&lt;mn&gt;50&lt;/mn&gt;&lt;mo&gt;−&lt;/mo&gt;&lt;mfrac&gt;&lt;mn&gt;49&lt;/mn&gt;&lt;mrow data-mjx-texclass=&quot;INNER&quot;&gt;&lt;mo data-mjx-texclass=&quot;OPEN&quot;&gt;(&lt;/mo&gt;&lt;mo&gt;−&lt;/mo&gt;&lt;mn&gt;7&lt;/mn&gt;&lt;mo data-mjx-texclass=&quot;CLOSE&quot;&gt;)&lt;/mo&gt;&lt;/mrow&gt;&lt;/mfrac&gt;&lt;/mtd&gt;&lt;/mtr&gt;&lt;mtr&gt;&lt;mtd&gt;&lt;mn&gt;50&lt;/mn&gt;&lt;mo&gt;−&lt;/mo&gt;&lt;mrow data-mjx-texclass=&quot;INNER&quot;&gt;&lt;mo data-mjx-texclass=&quot;OPEN&quot;&gt;(&lt;/mo&gt;&lt;mo&gt;−&lt;/mo&gt;&lt;mn&gt;7&lt;/mn&gt;&lt;mo data-mjx-texclass=&quot;CLOSE&quot;&gt;)&lt;/mo&gt;&lt;/mrow&gt;&lt;/mtd&gt;&lt;/mtr&gt;&lt;mtr&gt;&lt;mtd&gt;&lt;mn&gt;50&lt;/mn&gt;&lt;mo&gt;+&lt;/mo&gt;&lt;mn&gt;7&lt;/mn&gt;&lt;mtext&gt;&lt;/mtext&gt;&lt;mo&gt;=&lt;/mo&gt;&lt;mtext&gt;&lt;/mtext&gt;&lt;mn&gt;57&lt;/mn&gt;&lt;/mtd&gt;&lt;/mtr&gt;&lt;/mtable&gt;&lt;/math&gt;" id="1069" name="Google Shape;1069;p85" title="6 lines Line 1: 50 negative open paren negative 100 plus 149 close paren divided by negative 7 Line 2: 50 minus open paren 149 plus negative 100 close paren divided by negative 7 Line 3: 50 negative 49 divided by negative 7 Line 4: 50 minus the fraction with numerator 49 and denominator negative 7 Line 5: 50 minus negative 7 Line 6: 50 plus 7 equals 57"/>
          <p:cNvPicPr preferRelativeResize="0"/>
          <p:nvPr/>
        </p:nvPicPr>
        <p:blipFill rotWithShape="1">
          <a:blip r:embed="rId3">
            <a:alphaModFix/>
          </a:blip>
          <a:srcRect b="71101" l="0" r="0" t="16012"/>
          <a:stretch/>
        </p:blipFill>
        <p:spPr>
          <a:xfrm>
            <a:off x="5039657" y="2352613"/>
            <a:ext cx="3523774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50\ -\left(-100+149\right)\div\left(-7\right)\\&amp;#13;&amp;#10;50-\left(149+\left(-100\right)\right)\div\left(-7\right)\\&amp;#13;&amp;#10;50\ -\left(49\right)\div\left(-7\right)\\&amp;#13;&amp;#10;50-\frac{49}{\left(-7\right)}\\&amp;#13;&amp;#10;50-\left(-7\right)\\&amp;#13;&amp;#10;50+7\ =\ 57\end{array}&quot;&gt;&lt;mtable columnalign=&quot;left&quot; columnspacing=&quot;1em&quot; rowspacing=&quot;4pt&quot;&gt;&lt;mtr&gt;&lt;mtd&gt;&lt;mn&gt;50&lt;/mn&gt;&lt;mtext&gt;&lt;/mtext&gt;&lt;mo&gt;−&lt;/mo&gt;&lt;mrow data-mjx-texclass=&quot;INNER&quot;&gt;&lt;mo data-mjx-texclass=&quot;OPEN&quot;&gt;(&lt;/mo&gt;&lt;mo&gt;−&lt;/mo&gt;&lt;mn&gt;100&lt;/mn&gt;&lt;mo&gt;+&lt;/mo&gt;&lt;mn&gt;149&lt;/mn&gt;&lt;mo data-mjx-texclass=&quot;CLOSE&quot;&gt;)&lt;/mo&gt;&lt;/mrow&gt;&lt;mo&gt;÷&lt;/mo&gt;&lt;mrow data-mjx-texclass=&quot;INNER&quot;&gt;&lt;mo data-mjx-texclass=&quot;OPEN&quot;&gt;(&lt;/mo&gt;&lt;mo&gt;−&lt;/mo&gt;&lt;mn&gt;7&lt;/mn&gt;&lt;mo data-mjx-texclass=&quot;CLOSE&quot;&gt;)&lt;/mo&gt;&lt;/mrow&gt;&lt;/mtd&gt;&lt;/mtr&gt;&lt;mtr&gt;&lt;mtd&gt;&lt;mn&gt;50&lt;/mn&gt;&lt;mo&gt;−&lt;/mo&gt;&lt;mrow data-mjx-texclass=&quot;INNER&quot;&gt;&lt;mo data-mjx-texclass=&quot;OPEN&quot;&gt;(&lt;/mo&gt;&lt;mn&gt;149&lt;/mn&gt;&lt;mo&gt;+&lt;/mo&gt;&lt;mrow data-mjx-texclass=&quot;INNER&quot;&gt;&lt;mo data-mjx-texclass=&quot;OPEN&quot;&gt;(&lt;/mo&gt;&lt;mo&gt;−&lt;/mo&gt;&lt;mn&gt;100&lt;/mn&gt;&lt;mo data-mjx-texclass=&quot;CLOSE&quot;&gt;)&lt;/mo&gt;&lt;/mrow&gt;&lt;mo data-mjx-texclass=&quot;CLOSE&quot;&gt;)&lt;/mo&gt;&lt;/mrow&gt;&lt;mo&gt;÷&lt;/mo&gt;&lt;mrow data-mjx-texclass=&quot;INNER&quot;&gt;&lt;mo data-mjx-texclass=&quot;OPEN&quot;&gt;(&lt;/mo&gt;&lt;mo&gt;−&lt;/mo&gt;&lt;mn&gt;7&lt;/mn&gt;&lt;mo data-mjx-texclass=&quot;CLOSE&quot;&gt;)&lt;/mo&gt;&lt;/mrow&gt;&lt;/mtd&gt;&lt;/mtr&gt;&lt;mtr&gt;&lt;mtd&gt;&lt;mn&gt;50&lt;/mn&gt;&lt;mtext&gt;&lt;/mtext&gt;&lt;mo&gt;−&lt;/mo&gt;&lt;mrow data-mjx-texclass=&quot;INNER&quot;&gt;&lt;mo data-mjx-texclass=&quot;OPEN&quot;&gt;(&lt;/mo&gt;&lt;mn&gt;49&lt;/mn&gt;&lt;mo data-mjx-texclass=&quot;CLOSE&quot;&gt;)&lt;/mo&gt;&lt;/mrow&gt;&lt;mo&gt;÷&lt;/mo&gt;&lt;mrow data-mjx-texclass=&quot;INNER&quot;&gt;&lt;mo data-mjx-texclass=&quot;OPEN&quot;&gt;(&lt;/mo&gt;&lt;mo&gt;−&lt;/mo&gt;&lt;mn&gt;7&lt;/mn&gt;&lt;mo data-mjx-texclass=&quot;CLOSE&quot;&gt;)&lt;/mo&gt;&lt;/mrow&gt;&lt;/mtd&gt;&lt;/mtr&gt;&lt;mtr&gt;&lt;mtd&gt;&lt;mn&gt;50&lt;/mn&gt;&lt;mo&gt;−&lt;/mo&gt;&lt;mfrac&gt;&lt;mn&gt;49&lt;/mn&gt;&lt;mrow data-mjx-texclass=&quot;INNER&quot;&gt;&lt;mo data-mjx-texclass=&quot;OPEN&quot;&gt;(&lt;/mo&gt;&lt;mo&gt;−&lt;/mo&gt;&lt;mn&gt;7&lt;/mn&gt;&lt;mo data-mjx-texclass=&quot;CLOSE&quot;&gt;)&lt;/mo&gt;&lt;/mrow&gt;&lt;/mfrac&gt;&lt;/mtd&gt;&lt;/mtr&gt;&lt;mtr&gt;&lt;mtd&gt;&lt;mn&gt;50&lt;/mn&gt;&lt;mo&gt;−&lt;/mo&gt;&lt;mrow data-mjx-texclass=&quot;INNER&quot;&gt;&lt;mo data-mjx-texclass=&quot;OPEN&quot;&gt;(&lt;/mo&gt;&lt;mo&gt;−&lt;/mo&gt;&lt;mn&gt;7&lt;/mn&gt;&lt;mo data-mjx-texclass=&quot;CLOSE&quot;&gt;)&lt;/mo&gt;&lt;/mrow&gt;&lt;/mtd&gt;&lt;/mtr&gt;&lt;mtr&gt;&lt;mtd&gt;&lt;mn&gt;50&lt;/mn&gt;&lt;mo&gt;+&lt;/mo&gt;&lt;mn&gt;7&lt;/mn&gt;&lt;mtext&gt;&lt;/mtext&gt;&lt;mo&gt;=&lt;/mo&gt;&lt;mtext&gt;&lt;/mtext&gt;&lt;mn&gt;57&lt;/mn&gt;&lt;/mtd&gt;&lt;/mtr&gt;&lt;/mtable&gt;&lt;/math&gt;" id="1070" name="Google Shape;1070;p85" title="6 lines Line 1: 50 negative open paren negative 100 plus 149 close paren divided by negative 7 Line 2: 50 minus open paren 149 plus negative 100 close paren divided by negative 7 Line 3: 50 negative 49 divided by negative 7 Line 4: 50 minus the fraction with numerator 49 and denominator negative 7 Line 5: 50 minus negative 7 Line 6: 50 plus 7 equals 57"/>
          <p:cNvPicPr preferRelativeResize="0"/>
          <p:nvPr/>
        </p:nvPicPr>
        <p:blipFill rotWithShape="1">
          <a:blip r:embed="rId3">
            <a:alphaModFix/>
          </a:blip>
          <a:srcRect b="54205" l="0" r="0" t="32909"/>
          <a:stretch/>
        </p:blipFill>
        <p:spPr>
          <a:xfrm>
            <a:off x="5039657" y="2794788"/>
            <a:ext cx="3523774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50\ -\left(-100+149\right)\div\left(-7\right)\\&amp;#13;&amp;#10;50-\left(149+\left(-100\right)\right)\div\left(-7\right)\\&amp;#13;&amp;#10;50\ -\left(49\right)\div\left(-7\right)\\&amp;#13;&amp;#10;50-\frac{49}{\left(-7\right)}\\&amp;#13;&amp;#10;50-\left(-7\right)\\&amp;#13;&amp;#10;50+7\ =\ 57\end{array}&quot;&gt;&lt;mtable columnalign=&quot;left&quot; columnspacing=&quot;1em&quot; rowspacing=&quot;4pt&quot;&gt;&lt;mtr&gt;&lt;mtd&gt;&lt;mn&gt;50&lt;/mn&gt;&lt;mtext&gt;&lt;/mtext&gt;&lt;mo&gt;−&lt;/mo&gt;&lt;mrow data-mjx-texclass=&quot;INNER&quot;&gt;&lt;mo data-mjx-texclass=&quot;OPEN&quot;&gt;(&lt;/mo&gt;&lt;mo&gt;−&lt;/mo&gt;&lt;mn&gt;100&lt;/mn&gt;&lt;mo&gt;+&lt;/mo&gt;&lt;mn&gt;149&lt;/mn&gt;&lt;mo data-mjx-texclass=&quot;CLOSE&quot;&gt;)&lt;/mo&gt;&lt;/mrow&gt;&lt;mo&gt;÷&lt;/mo&gt;&lt;mrow data-mjx-texclass=&quot;INNER&quot;&gt;&lt;mo data-mjx-texclass=&quot;OPEN&quot;&gt;(&lt;/mo&gt;&lt;mo&gt;−&lt;/mo&gt;&lt;mn&gt;7&lt;/mn&gt;&lt;mo data-mjx-texclass=&quot;CLOSE&quot;&gt;)&lt;/mo&gt;&lt;/mrow&gt;&lt;/mtd&gt;&lt;/mtr&gt;&lt;mtr&gt;&lt;mtd&gt;&lt;mn&gt;50&lt;/mn&gt;&lt;mo&gt;−&lt;/mo&gt;&lt;mrow data-mjx-texclass=&quot;INNER&quot;&gt;&lt;mo data-mjx-texclass=&quot;OPEN&quot;&gt;(&lt;/mo&gt;&lt;mn&gt;149&lt;/mn&gt;&lt;mo&gt;+&lt;/mo&gt;&lt;mrow data-mjx-texclass=&quot;INNER&quot;&gt;&lt;mo data-mjx-texclass=&quot;OPEN&quot;&gt;(&lt;/mo&gt;&lt;mo&gt;−&lt;/mo&gt;&lt;mn&gt;100&lt;/mn&gt;&lt;mo data-mjx-texclass=&quot;CLOSE&quot;&gt;)&lt;/mo&gt;&lt;/mrow&gt;&lt;mo data-mjx-texclass=&quot;CLOSE&quot;&gt;)&lt;/mo&gt;&lt;/mrow&gt;&lt;mo&gt;÷&lt;/mo&gt;&lt;mrow data-mjx-texclass=&quot;INNER&quot;&gt;&lt;mo data-mjx-texclass=&quot;OPEN&quot;&gt;(&lt;/mo&gt;&lt;mo&gt;−&lt;/mo&gt;&lt;mn&gt;7&lt;/mn&gt;&lt;mo data-mjx-texclass=&quot;CLOSE&quot;&gt;)&lt;/mo&gt;&lt;/mrow&gt;&lt;/mtd&gt;&lt;/mtr&gt;&lt;mtr&gt;&lt;mtd&gt;&lt;mn&gt;50&lt;/mn&gt;&lt;mtext&gt;&lt;/mtext&gt;&lt;mo&gt;−&lt;/mo&gt;&lt;mrow data-mjx-texclass=&quot;INNER&quot;&gt;&lt;mo data-mjx-texclass=&quot;OPEN&quot;&gt;(&lt;/mo&gt;&lt;mn&gt;49&lt;/mn&gt;&lt;mo data-mjx-texclass=&quot;CLOSE&quot;&gt;)&lt;/mo&gt;&lt;/mrow&gt;&lt;mo&gt;÷&lt;/mo&gt;&lt;mrow data-mjx-texclass=&quot;INNER&quot;&gt;&lt;mo data-mjx-texclass=&quot;OPEN&quot;&gt;(&lt;/mo&gt;&lt;mo&gt;−&lt;/mo&gt;&lt;mn&gt;7&lt;/mn&gt;&lt;mo data-mjx-texclass=&quot;CLOSE&quot;&gt;)&lt;/mo&gt;&lt;/mrow&gt;&lt;/mtd&gt;&lt;/mtr&gt;&lt;mtr&gt;&lt;mtd&gt;&lt;mn&gt;50&lt;/mn&gt;&lt;mo&gt;−&lt;/mo&gt;&lt;mfrac&gt;&lt;mn&gt;49&lt;/mn&gt;&lt;mrow data-mjx-texclass=&quot;INNER&quot;&gt;&lt;mo data-mjx-texclass=&quot;OPEN&quot;&gt;(&lt;/mo&gt;&lt;mo&gt;−&lt;/mo&gt;&lt;mn&gt;7&lt;/mn&gt;&lt;mo data-mjx-texclass=&quot;CLOSE&quot;&gt;)&lt;/mo&gt;&lt;/mrow&gt;&lt;/mfrac&gt;&lt;/mtd&gt;&lt;/mtr&gt;&lt;mtr&gt;&lt;mtd&gt;&lt;mn&gt;50&lt;/mn&gt;&lt;mo&gt;−&lt;/mo&gt;&lt;mrow data-mjx-texclass=&quot;INNER&quot;&gt;&lt;mo data-mjx-texclass=&quot;OPEN&quot;&gt;(&lt;/mo&gt;&lt;mo&gt;−&lt;/mo&gt;&lt;mn&gt;7&lt;/mn&gt;&lt;mo data-mjx-texclass=&quot;CLOSE&quot;&gt;)&lt;/mo&gt;&lt;/mrow&gt;&lt;/mtd&gt;&lt;/mtr&gt;&lt;mtr&gt;&lt;mtd&gt;&lt;mn&gt;50&lt;/mn&gt;&lt;mo&gt;+&lt;/mo&gt;&lt;mn&gt;7&lt;/mn&gt;&lt;mtext&gt;&lt;/mtext&gt;&lt;mo&gt;=&lt;/mo&gt;&lt;mtext&gt;&lt;/mtext&gt;&lt;mn&gt;57&lt;/mn&gt;&lt;/mtd&gt;&lt;/mtr&gt;&lt;/mtable&gt;&lt;/math&gt;" id="1071" name="Google Shape;1071;p85" title="6 lines Line 1: 50 negative open paren negative 100 plus 149 close paren divided by negative 7 Line 2: 50 minus open paren 149 plus negative 100 close paren divided by negative 7 Line 3: 50 negative 49 divided by negative 7 Line 4: 50 minus the fraction with numerator 49 and denominator negative 7 Line 5: 50 minus negative 7 Line 6: 50 plus 7 equals 57"/>
          <p:cNvPicPr preferRelativeResize="0"/>
          <p:nvPr/>
        </p:nvPicPr>
        <p:blipFill rotWithShape="1">
          <a:blip r:embed="rId3">
            <a:alphaModFix/>
          </a:blip>
          <a:srcRect b="29380" l="0" r="0" t="46246"/>
          <a:stretch/>
        </p:blipFill>
        <p:spPr>
          <a:xfrm>
            <a:off x="5039657" y="3195538"/>
            <a:ext cx="3523774" cy="637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50\ -\left(-100+149\right)\div\left(-7\right)\\&amp;#13;&amp;#10;50-\left(149+\left(-100\right)\right)\div\left(-7\right)\\&amp;#13;&amp;#10;50\ -\left(49\right)\div\left(-7\right)\\&amp;#13;&amp;#10;50-\frac{49}{\left(-7\right)}\\&amp;#13;&amp;#10;50-\left(-7\right)\\&amp;#13;&amp;#10;50+7\ =\ 57\end{array}&quot;&gt;&lt;mtable columnalign=&quot;left&quot; columnspacing=&quot;1em&quot; rowspacing=&quot;4pt&quot;&gt;&lt;mtr&gt;&lt;mtd&gt;&lt;mn&gt;50&lt;/mn&gt;&lt;mtext&gt;&lt;/mtext&gt;&lt;mo&gt;−&lt;/mo&gt;&lt;mrow data-mjx-texclass=&quot;INNER&quot;&gt;&lt;mo data-mjx-texclass=&quot;OPEN&quot;&gt;(&lt;/mo&gt;&lt;mo&gt;−&lt;/mo&gt;&lt;mn&gt;100&lt;/mn&gt;&lt;mo&gt;+&lt;/mo&gt;&lt;mn&gt;149&lt;/mn&gt;&lt;mo data-mjx-texclass=&quot;CLOSE&quot;&gt;)&lt;/mo&gt;&lt;/mrow&gt;&lt;mo&gt;÷&lt;/mo&gt;&lt;mrow data-mjx-texclass=&quot;INNER&quot;&gt;&lt;mo data-mjx-texclass=&quot;OPEN&quot;&gt;(&lt;/mo&gt;&lt;mo&gt;−&lt;/mo&gt;&lt;mn&gt;7&lt;/mn&gt;&lt;mo data-mjx-texclass=&quot;CLOSE&quot;&gt;)&lt;/mo&gt;&lt;/mrow&gt;&lt;/mtd&gt;&lt;/mtr&gt;&lt;mtr&gt;&lt;mtd&gt;&lt;mn&gt;50&lt;/mn&gt;&lt;mo&gt;−&lt;/mo&gt;&lt;mrow data-mjx-texclass=&quot;INNER&quot;&gt;&lt;mo data-mjx-texclass=&quot;OPEN&quot;&gt;(&lt;/mo&gt;&lt;mn&gt;149&lt;/mn&gt;&lt;mo&gt;+&lt;/mo&gt;&lt;mrow data-mjx-texclass=&quot;INNER&quot;&gt;&lt;mo data-mjx-texclass=&quot;OPEN&quot;&gt;(&lt;/mo&gt;&lt;mo&gt;−&lt;/mo&gt;&lt;mn&gt;100&lt;/mn&gt;&lt;mo data-mjx-texclass=&quot;CLOSE&quot;&gt;)&lt;/mo&gt;&lt;/mrow&gt;&lt;mo data-mjx-texclass=&quot;CLOSE&quot;&gt;)&lt;/mo&gt;&lt;/mrow&gt;&lt;mo&gt;÷&lt;/mo&gt;&lt;mrow data-mjx-texclass=&quot;INNER&quot;&gt;&lt;mo data-mjx-texclass=&quot;OPEN&quot;&gt;(&lt;/mo&gt;&lt;mo&gt;−&lt;/mo&gt;&lt;mn&gt;7&lt;/mn&gt;&lt;mo data-mjx-texclass=&quot;CLOSE&quot;&gt;)&lt;/mo&gt;&lt;/mrow&gt;&lt;/mtd&gt;&lt;/mtr&gt;&lt;mtr&gt;&lt;mtd&gt;&lt;mn&gt;50&lt;/mn&gt;&lt;mtext&gt;&lt;/mtext&gt;&lt;mo&gt;−&lt;/mo&gt;&lt;mrow data-mjx-texclass=&quot;INNER&quot;&gt;&lt;mo data-mjx-texclass=&quot;OPEN&quot;&gt;(&lt;/mo&gt;&lt;mn&gt;49&lt;/mn&gt;&lt;mo data-mjx-texclass=&quot;CLOSE&quot;&gt;)&lt;/mo&gt;&lt;/mrow&gt;&lt;mo&gt;÷&lt;/mo&gt;&lt;mrow data-mjx-texclass=&quot;INNER&quot;&gt;&lt;mo data-mjx-texclass=&quot;OPEN&quot;&gt;(&lt;/mo&gt;&lt;mo&gt;−&lt;/mo&gt;&lt;mn&gt;7&lt;/mn&gt;&lt;mo data-mjx-texclass=&quot;CLOSE&quot;&gt;)&lt;/mo&gt;&lt;/mrow&gt;&lt;/mtd&gt;&lt;/mtr&gt;&lt;mtr&gt;&lt;mtd&gt;&lt;mn&gt;50&lt;/mn&gt;&lt;mo&gt;−&lt;/mo&gt;&lt;mfrac&gt;&lt;mn&gt;49&lt;/mn&gt;&lt;mrow data-mjx-texclass=&quot;INNER&quot;&gt;&lt;mo data-mjx-texclass=&quot;OPEN&quot;&gt;(&lt;/mo&gt;&lt;mo&gt;−&lt;/mo&gt;&lt;mn&gt;7&lt;/mn&gt;&lt;mo data-mjx-texclass=&quot;CLOSE&quot;&gt;)&lt;/mo&gt;&lt;/mrow&gt;&lt;/mfrac&gt;&lt;/mtd&gt;&lt;/mtr&gt;&lt;mtr&gt;&lt;mtd&gt;&lt;mn&gt;50&lt;/mn&gt;&lt;mo&gt;−&lt;/mo&gt;&lt;mrow data-mjx-texclass=&quot;INNER&quot;&gt;&lt;mo data-mjx-texclass=&quot;OPEN&quot;&gt;(&lt;/mo&gt;&lt;mo&gt;−&lt;/mo&gt;&lt;mn&gt;7&lt;/mn&gt;&lt;mo data-mjx-texclass=&quot;CLOSE&quot;&gt;)&lt;/mo&gt;&lt;/mrow&gt;&lt;/mtd&gt;&lt;/mtr&gt;&lt;mtr&gt;&lt;mtd&gt;&lt;mn&gt;50&lt;/mn&gt;&lt;mo&gt;+&lt;/mo&gt;&lt;mn&gt;7&lt;/mn&gt;&lt;mtext&gt;&lt;/mtext&gt;&lt;mo&gt;=&lt;/mo&gt;&lt;mtext&gt;&lt;/mtext&gt;&lt;mn&gt;57&lt;/mn&gt;&lt;/mtd&gt;&lt;/mtr&gt;&lt;/mtable&gt;&lt;/math&gt;" id="1072" name="Google Shape;1072;p85" title="6 lines Line 1: 50 negative open paren negative 100 plus 149 close paren divided by negative 7 Line 2: 50 minus open paren 149 plus negative 100 close paren divided by negative 7 Line 3: 50 negative 49 divided by negative 7 Line 4: 50 minus the fraction with numerator 49 and denominator negative 7 Line 5: 50 minus negative 7 Line 6: 50 plus 7 equals 57"/>
          <p:cNvPicPr preferRelativeResize="0"/>
          <p:nvPr/>
        </p:nvPicPr>
        <p:blipFill rotWithShape="1">
          <a:blip r:embed="rId3">
            <a:alphaModFix/>
          </a:blip>
          <a:srcRect b="12354" l="0" r="0" t="67105"/>
          <a:stretch/>
        </p:blipFill>
        <p:spPr>
          <a:xfrm>
            <a:off x="5039657" y="3741363"/>
            <a:ext cx="3523774" cy="53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50\ -\left(-100+149\right)\div\left(-7\right)\\&amp;#13;&amp;#10;50-\left(149+\left(-100\right)\right)\div\left(-7\right)\\&amp;#13;&amp;#10;50\ -\left(49\right)\div\left(-7\right)\\&amp;#13;&amp;#10;50-\frac{49}{\left(-7\right)}\\&amp;#13;&amp;#10;50-\left(-7\right)\\&amp;#13;&amp;#10;50+7\ =\ 57\end{array}&quot;&gt;&lt;mtable columnalign=&quot;left&quot; columnspacing=&quot;1em&quot; rowspacing=&quot;4pt&quot;&gt;&lt;mtr&gt;&lt;mtd&gt;&lt;mn&gt;50&lt;/mn&gt;&lt;mtext&gt;&lt;/mtext&gt;&lt;mo&gt;−&lt;/mo&gt;&lt;mrow data-mjx-texclass=&quot;INNER&quot;&gt;&lt;mo data-mjx-texclass=&quot;OPEN&quot;&gt;(&lt;/mo&gt;&lt;mo&gt;−&lt;/mo&gt;&lt;mn&gt;100&lt;/mn&gt;&lt;mo&gt;+&lt;/mo&gt;&lt;mn&gt;149&lt;/mn&gt;&lt;mo data-mjx-texclass=&quot;CLOSE&quot;&gt;)&lt;/mo&gt;&lt;/mrow&gt;&lt;mo&gt;÷&lt;/mo&gt;&lt;mrow data-mjx-texclass=&quot;INNER&quot;&gt;&lt;mo data-mjx-texclass=&quot;OPEN&quot;&gt;(&lt;/mo&gt;&lt;mo&gt;−&lt;/mo&gt;&lt;mn&gt;7&lt;/mn&gt;&lt;mo data-mjx-texclass=&quot;CLOSE&quot;&gt;)&lt;/mo&gt;&lt;/mrow&gt;&lt;/mtd&gt;&lt;/mtr&gt;&lt;mtr&gt;&lt;mtd&gt;&lt;mn&gt;50&lt;/mn&gt;&lt;mo&gt;−&lt;/mo&gt;&lt;mrow data-mjx-texclass=&quot;INNER&quot;&gt;&lt;mo data-mjx-texclass=&quot;OPEN&quot;&gt;(&lt;/mo&gt;&lt;mn&gt;149&lt;/mn&gt;&lt;mo&gt;+&lt;/mo&gt;&lt;mrow data-mjx-texclass=&quot;INNER&quot;&gt;&lt;mo data-mjx-texclass=&quot;OPEN&quot;&gt;(&lt;/mo&gt;&lt;mo&gt;−&lt;/mo&gt;&lt;mn&gt;100&lt;/mn&gt;&lt;mo data-mjx-texclass=&quot;CLOSE&quot;&gt;)&lt;/mo&gt;&lt;/mrow&gt;&lt;mo data-mjx-texclass=&quot;CLOSE&quot;&gt;)&lt;/mo&gt;&lt;/mrow&gt;&lt;mo&gt;÷&lt;/mo&gt;&lt;mrow data-mjx-texclass=&quot;INNER&quot;&gt;&lt;mo data-mjx-texclass=&quot;OPEN&quot;&gt;(&lt;/mo&gt;&lt;mo&gt;−&lt;/mo&gt;&lt;mn&gt;7&lt;/mn&gt;&lt;mo data-mjx-texclass=&quot;CLOSE&quot;&gt;)&lt;/mo&gt;&lt;/mrow&gt;&lt;/mtd&gt;&lt;/mtr&gt;&lt;mtr&gt;&lt;mtd&gt;&lt;mn&gt;50&lt;/mn&gt;&lt;mtext&gt;&lt;/mtext&gt;&lt;mo&gt;−&lt;/mo&gt;&lt;mrow data-mjx-texclass=&quot;INNER&quot;&gt;&lt;mo data-mjx-texclass=&quot;OPEN&quot;&gt;(&lt;/mo&gt;&lt;mn&gt;49&lt;/mn&gt;&lt;mo data-mjx-texclass=&quot;CLOSE&quot;&gt;)&lt;/mo&gt;&lt;/mrow&gt;&lt;mo&gt;÷&lt;/mo&gt;&lt;mrow data-mjx-texclass=&quot;INNER&quot;&gt;&lt;mo data-mjx-texclass=&quot;OPEN&quot;&gt;(&lt;/mo&gt;&lt;mo&gt;−&lt;/mo&gt;&lt;mn&gt;7&lt;/mn&gt;&lt;mo data-mjx-texclass=&quot;CLOSE&quot;&gt;)&lt;/mo&gt;&lt;/mrow&gt;&lt;/mtd&gt;&lt;/mtr&gt;&lt;mtr&gt;&lt;mtd&gt;&lt;mn&gt;50&lt;/mn&gt;&lt;mo&gt;−&lt;/mo&gt;&lt;mfrac&gt;&lt;mn&gt;49&lt;/mn&gt;&lt;mrow data-mjx-texclass=&quot;INNER&quot;&gt;&lt;mo data-mjx-texclass=&quot;OPEN&quot;&gt;(&lt;/mo&gt;&lt;mo&gt;−&lt;/mo&gt;&lt;mn&gt;7&lt;/mn&gt;&lt;mo data-mjx-texclass=&quot;CLOSE&quot;&gt;)&lt;/mo&gt;&lt;/mrow&gt;&lt;/mfrac&gt;&lt;/mtd&gt;&lt;/mtr&gt;&lt;mtr&gt;&lt;mtd&gt;&lt;mn&gt;50&lt;/mn&gt;&lt;mo&gt;−&lt;/mo&gt;&lt;mrow data-mjx-texclass=&quot;INNER&quot;&gt;&lt;mo data-mjx-texclass=&quot;OPEN&quot;&gt;(&lt;/mo&gt;&lt;mo&gt;−&lt;/mo&gt;&lt;mn&gt;7&lt;/mn&gt;&lt;mo data-mjx-texclass=&quot;CLOSE&quot;&gt;)&lt;/mo&gt;&lt;/mrow&gt;&lt;/mtd&gt;&lt;/mtr&gt;&lt;mtr&gt;&lt;mtd&gt;&lt;mn&gt;50&lt;/mn&gt;&lt;mo&gt;+&lt;/mo&gt;&lt;mn&gt;7&lt;/mn&gt;&lt;mtext&gt;&lt;/mtext&gt;&lt;mo&gt;=&lt;/mo&gt;&lt;mtext&gt;&lt;/mtext&gt;&lt;mn&gt;57&lt;/mn&gt;&lt;/mtd&gt;&lt;/mtr&gt;&lt;/mtable&gt;&lt;/math&gt;" id="1073" name="Google Shape;1073;p85" title="6 lines Line 1: 50 negative open paren negative 100 plus 149 close paren divided by negative 7 Line 2: 50 minus open paren 149 plus negative 100 close paren divided by negative 7 Line 3: 50 negative 49 divided by negative 7 Line 4: 50 minus the fraction with numerator 49 and denominator negative 7 Line 5: 50 minus negative 7 Line 6: 50 plus 7 equals 57"/>
          <p:cNvPicPr preferRelativeResize="0"/>
          <p:nvPr/>
        </p:nvPicPr>
        <p:blipFill rotWithShape="1">
          <a:blip r:embed="rId3">
            <a:alphaModFix/>
          </a:blip>
          <a:srcRect b="-5358" l="0" r="0" t="84819"/>
          <a:stretch/>
        </p:blipFill>
        <p:spPr>
          <a:xfrm>
            <a:off x="4995357" y="4204913"/>
            <a:ext cx="3523774" cy="53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4" name="Google Shape;1074;p85"/>
          <p:cNvSpPr txBox="1"/>
          <p:nvPr/>
        </p:nvSpPr>
        <p:spPr>
          <a:xfrm>
            <a:off x="4525200" y="1716975"/>
            <a:ext cx="597600" cy="6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b)</a:t>
            </a:r>
            <a:endParaRPr sz="23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100\ +\ \sqrt[]{100-\left(-21\right)}\div\left(-11\right)\\&amp;#13;&amp;#10;100\ +\sqrt[]{100+21}\div\left(-11\right)\\&amp;#13;&amp;#10;100+\sqrt[]{121}\div\left(-11\right)\\&amp;#13;&amp;#10;100\ +\ 11\ \div\left(-11\right)\\&amp;#13;&amp;#10;100+\frac{11}{\left(-11\right)}\\&amp;#13;&amp;#10;100+\left(-1\right)=99\end{array}&quot;&gt;&lt;mtable columnalign=&quot;left&quot; columnspacing=&quot;1em&quot; rowspacing=&quot;4pt&quot;&gt;&lt;mtr&gt;&lt;mtd&gt;&lt;mn&gt;100&lt;/mn&gt;&lt;mtext&gt;&lt;/mtext&gt;&lt;mo&gt;+&lt;/mo&gt;&lt;mtext&gt;&lt;/mtext&gt;&lt;msqrt&gt;&lt;mn&gt;100&lt;/mn&gt;&lt;mo&gt;−&lt;/mo&gt;&lt;mrow data-mjx-texclass=&quot;INNER&quot;&gt;&lt;mo data-mjx-texclass=&quot;OPEN&quot;&gt;(&lt;/mo&gt;&lt;mo&gt;−&lt;/mo&gt;&lt;mn&gt;21&lt;/mn&gt;&lt;mo data-mjx-texclass=&quot;CLOSE&quot;&gt;)&lt;/mo&gt;&lt;/mrow&gt;&lt;/msqrt&gt;&lt;mo&gt;÷&lt;/mo&gt;&lt;mrow data-mjx-texclass=&quot;INNER&quot;&gt;&lt;mo data-mjx-texclass=&quot;OPEN&quot;&gt;(&lt;/mo&gt;&lt;mo&gt;−&lt;/mo&gt;&lt;mn&gt;11&lt;/mn&gt;&lt;mo data-mjx-texclass=&quot;CLOSE&quot;&gt;)&lt;/mo&gt;&lt;/mrow&gt;&lt;/mtd&gt;&lt;/mtr&gt;&lt;mtr&gt;&lt;mtd&gt;&lt;mn&gt;100&lt;/mn&gt;&lt;mtext&gt;&lt;/mtext&gt;&lt;mo&gt;+&lt;/mo&gt;&lt;msqrt&gt;&lt;mn&gt;100&lt;/mn&gt;&lt;mo&gt;+&lt;/mo&gt;&lt;mn&gt;21&lt;/mn&gt;&lt;/msqrt&gt;&lt;mo&gt;÷&lt;/mo&gt;&lt;mrow data-mjx-texclass=&quot;INNER&quot;&gt;&lt;mo data-mjx-texclass=&quot;OPEN&quot;&gt;(&lt;/mo&gt;&lt;mo&gt;−&lt;/mo&gt;&lt;mn&gt;11&lt;/mn&gt;&lt;mo data-mjx-texclass=&quot;CLOSE&quot;&gt;)&lt;/mo&gt;&lt;/mrow&gt;&lt;/mtd&gt;&lt;/mtr&gt;&lt;mtr&gt;&lt;mtd&gt;&lt;mn&gt;100&lt;/mn&gt;&lt;mo&gt;+&lt;/mo&gt;&lt;msqrt&gt;&lt;mn&gt;121&lt;/mn&gt;&lt;/msqrt&gt;&lt;mo&gt;÷&lt;/mo&gt;&lt;mrow data-mjx-texclass=&quot;INNER&quot;&gt;&lt;mo data-mjx-texclass=&quot;OPEN&quot;&gt;(&lt;/mo&gt;&lt;mo&gt;−&lt;/mo&gt;&lt;mn&gt;11&lt;/mn&gt;&lt;mo data-mjx-texclass=&quot;CLOSE&quot;&gt;)&lt;/mo&gt;&lt;/mrow&gt;&lt;/mtd&gt;&lt;/mtr&gt;&lt;mtr&gt;&lt;mtd&gt;&lt;mn&gt;100&lt;/mn&gt;&lt;mtext&gt;&lt;/mtext&gt;&lt;mo&gt;+&lt;/mo&gt;&lt;mtext&gt;&lt;/mtext&gt;&lt;mn&gt;11&lt;/mn&gt;&lt;mtext&gt;&lt;/mtext&gt;&lt;mo&gt;÷&lt;/mo&gt;&lt;mrow data-mjx-texclass=&quot;INNER&quot;&gt;&lt;mo data-mjx-texclass=&quot;OPEN&quot;&gt;(&lt;/mo&gt;&lt;mo&gt;−&lt;/mo&gt;&lt;mn&gt;11&lt;/mn&gt;&lt;mo data-mjx-texclass=&quot;CLOSE&quot;&gt;)&lt;/mo&gt;&lt;/mrow&gt;&lt;/mtd&gt;&lt;/mtr&gt;&lt;mtr&gt;&lt;mtd&gt;&lt;mn&gt;100&lt;/mn&gt;&lt;mo&gt;+&lt;/mo&gt;&lt;mfrac&gt;&lt;mn&gt;11&lt;/mn&gt;&lt;mrow data-mjx-texclass=&quot;INNER&quot;&gt;&lt;mo data-mjx-texclass=&quot;OPEN&quot;&gt;(&lt;/mo&gt;&lt;mo&gt;−&lt;/mo&gt;&lt;mn&gt;11&lt;/mn&gt;&lt;mo data-mjx-texclass=&quot;CLOSE&quot;&gt;)&lt;/mo&gt;&lt;/mrow&gt;&lt;/mfrac&gt;&lt;/mtd&gt;&lt;/mtr&gt;&lt;mtr&gt;&lt;mtd&gt;&lt;mn&gt;100&lt;/mn&gt;&lt;mo&gt;+&lt;/mo&gt;&lt;mrow data-mjx-texclass=&quot;INNER&quot;&gt;&lt;mo data-mjx-texclass=&quot;OPEN&quot;&gt;(&lt;/mo&gt;&lt;mo&gt;−&lt;/mo&gt;&lt;mn&gt;1&lt;/mn&gt;&lt;mo data-mjx-texclass=&quot;CLOSE&quot;&gt;)&lt;/mo&gt;&lt;/mrow&gt;&lt;mo&gt;=&lt;/mo&gt;&lt;mn&gt;99&lt;/mn&gt;&lt;/mtd&gt;&lt;/mtr&gt;&lt;/mtable&gt;&lt;/math&gt;" id="1075" name="Google Shape;1075;p85" title="6 lines Line 1: 100 plus the square root of 100 minus negative 21 divided by negative 11 Line 2: 100 positive the square root of 100 plus 21 divided by negative 11 Line 3: 100 plus the square root of 121 divided by negative 11 Line 4: 100 plus 11 division sign negative 11 Line 5: 100 plus the fraction with numerator 11 and denominator negative 11 Line 6: 100 plus negative 1 equals 99"/>
          <p:cNvPicPr preferRelativeResize="0"/>
          <p:nvPr/>
        </p:nvPicPr>
        <p:blipFill rotWithShape="1">
          <a:blip r:embed="rId4">
            <a:alphaModFix/>
          </a:blip>
          <a:srcRect b="84379" l="0" r="0" t="0"/>
          <a:stretch/>
        </p:blipFill>
        <p:spPr>
          <a:xfrm>
            <a:off x="878950" y="1864234"/>
            <a:ext cx="3473926" cy="411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00\ +\ \sqrt[]{100-\left(-21\right)}\div\left(-11\right)\\&amp;#13;&amp;#10;100\ +\sqrt[]{100+21}\div\left(-11\right)\\&amp;#13;&amp;#10;100+\sqrt[]{121}\div\left(-11\right)\\&amp;#13;&amp;#10;100\ +\ 11\ \div\left(-11\right)\\&amp;#13;&amp;#10;100+\frac{11}{\left(-11\right)}\\&amp;#13;&amp;#10;100+\left(-1\right)=99\end{array}&quot;&gt;&lt;mtable columnalign=&quot;left&quot; columnspacing=&quot;1em&quot; rowspacing=&quot;4pt&quot;&gt;&lt;mtr&gt;&lt;mtd&gt;&lt;mn&gt;100&lt;/mn&gt;&lt;mtext&gt;&lt;/mtext&gt;&lt;mo&gt;+&lt;/mo&gt;&lt;mtext&gt;&lt;/mtext&gt;&lt;msqrt&gt;&lt;mn&gt;100&lt;/mn&gt;&lt;mo&gt;−&lt;/mo&gt;&lt;mrow data-mjx-texclass=&quot;INNER&quot;&gt;&lt;mo data-mjx-texclass=&quot;OPEN&quot;&gt;(&lt;/mo&gt;&lt;mo&gt;−&lt;/mo&gt;&lt;mn&gt;21&lt;/mn&gt;&lt;mo data-mjx-texclass=&quot;CLOSE&quot;&gt;)&lt;/mo&gt;&lt;/mrow&gt;&lt;/msqrt&gt;&lt;mo&gt;÷&lt;/mo&gt;&lt;mrow data-mjx-texclass=&quot;INNER&quot;&gt;&lt;mo data-mjx-texclass=&quot;OPEN&quot;&gt;(&lt;/mo&gt;&lt;mo&gt;−&lt;/mo&gt;&lt;mn&gt;11&lt;/mn&gt;&lt;mo data-mjx-texclass=&quot;CLOSE&quot;&gt;)&lt;/mo&gt;&lt;/mrow&gt;&lt;/mtd&gt;&lt;/mtr&gt;&lt;mtr&gt;&lt;mtd&gt;&lt;mn&gt;100&lt;/mn&gt;&lt;mtext&gt;&lt;/mtext&gt;&lt;mo&gt;+&lt;/mo&gt;&lt;msqrt&gt;&lt;mn&gt;100&lt;/mn&gt;&lt;mo&gt;+&lt;/mo&gt;&lt;mn&gt;21&lt;/mn&gt;&lt;/msqrt&gt;&lt;mo&gt;÷&lt;/mo&gt;&lt;mrow data-mjx-texclass=&quot;INNER&quot;&gt;&lt;mo data-mjx-texclass=&quot;OPEN&quot;&gt;(&lt;/mo&gt;&lt;mo&gt;−&lt;/mo&gt;&lt;mn&gt;11&lt;/mn&gt;&lt;mo data-mjx-texclass=&quot;CLOSE&quot;&gt;)&lt;/mo&gt;&lt;/mrow&gt;&lt;/mtd&gt;&lt;/mtr&gt;&lt;mtr&gt;&lt;mtd&gt;&lt;mn&gt;100&lt;/mn&gt;&lt;mo&gt;+&lt;/mo&gt;&lt;msqrt&gt;&lt;mn&gt;121&lt;/mn&gt;&lt;/msqrt&gt;&lt;mo&gt;÷&lt;/mo&gt;&lt;mrow data-mjx-texclass=&quot;INNER&quot;&gt;&lt;mo data-mjx-texclass=&quot;OPEN&quot;&gt;(&lt;/mo&gt;&lt;mo&gt;−&lt;/mo&gt;&lt;mn&gt;11&lt;/mn&gt;&lt;mo data-mjx-texclass=&quot;CLOSE&quot;&gt;)&lt;/mo&gt;&lt;/mrow&gt;&lt;/mtd&gt;&lt;/mtr&gt;&lt;mtr&gt;&lt;mtd&gt;&lt;mn&gt;100&lt;/mn&gt;&lt;mtext&gt;&lt;/mtext&gt;&lt;mo&gt;+&lt;/mo&gt;&lt;mtext&gt;&lt;/mtext&gt;&lt;mn&gt;11&lt;/mn&gt;&lt;mtext&gt;&lt;/mtext&gt;&lt;mo&gt;÷&lt;/mo&gt;&lt;mrow data-mjx-texclass=&quot;INNER&quot;&gt;&lt;mo data-mjx-texclass=&quot;OPEN&quot;&gt;(&lt;/mo&gt;&lt;mo&gt;−&lt;/mo&gt;&lt;mn&gt;11&lt;/mn&gt;&lt;mo data-mjx-texclass=&quot;CLOSE&quot;&gt;)&lt;/mo&gt;&lt;/mrow&gt;&lt;/mtd&gt;&lt;/mtr&gt;&lt;mtr&gt;&lt;mtd&gt;&lt;mn&gt;100&lt;/mn&gt;&lt;mo&gt;+&lt;/mo&gt;&lt;mfrac&gt;&lt;mn&gt;11&lt;/mn&gt;&lt;mrow data-mjx-texclass=&quot;INNER&quot;&gt;&lt;mo data-mjx-texclass=&quot;OPEN&quot;&gt;(&lt;/mo&gt;&lt;mo&gt;−&lt;/mo&gt;&lt;mn&gt;11&lt;/mn&gt;&lt;mo data-mjx-texclass=&quot;CLOSE&quot;&gt;)&lt;/mo&gt;&lt;/mrow&gt;&lt;/mfrac&gt;&lt;/mtd&gt;&lt;/mtr&gt;&lt;mtr&gt;&lt;mtd&gt;&lt;mn&gt;100&lt;/mn&gt;&lt;mo&gt;+&lt;/mo&gt;&lt;mrow data-mjx-texclass=&quot;INNER&quot;&gt;&lt;mo data-mjx-texclass=&quot;OPEN&quot;&gt;(&lt;/mo&gt;&lt;mo&gt;−&lt;/mo&gt;&lt;mn&gt;1&lt;/mn&gt;&lt;mo data-mjx-texclass=&quot;CLOSE&quot;&gt;)&lt;/mo&gt;&lt;/mrow&gt;&lt;mo&gt;=&lt;/mo&gt;&lt;mn&gt;99&lt;/mn&gt;&lt;/mtd&gt;&lt;/mtr&gt;&lt;/mtable&gt;&lt;/math&gt;" id="1076" name="Google Shape;1076;p85" title="6 lines Line 1: 100 plus the square root of 100 minus negative 21 divided by negative 11 Line 2: 100 positive the square root of 100 plus 21 divided by negative 11 Line 3: 100 plus the square root of 121 divided by negative 11 Line 4: 100 plus 11 division sign negative 11 Line 5: 100 plus the fraction with numerator 11 and denominator negative 11 Line 6: 100 plus negative 1 equals 99"/>
          <p:cNvPicPr preferRelativeResize="0"/>
          <p:nvPr/>
        </p:nvPicPr>
        <p:blipFill rotWithShape="1">
          <a:blip r:embed="rId4">
            <a:alphaModFix/>
          </a:blip>
          <a:srcRect b="68067" l="0" r="0" t="16312"/>
          <a:stretch/>
        </p:blipFill>
        <p:spPr>
          <a:xfrm>
            <a:off x="878950" y="2270334"/>
            <a:ext cx="3473926" cy="411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00\ +\ \sqrt[]{100-\left(-21\right)}\div\left(-11\right)\\&amp;#13;&amp;#10;100\ +\sqrt[]{100+21}\div\left(-11\right)\\&amp;#13;&amp;#10;100+\sqrt[]{121}\div\left(-11\right)\\&amp;#13;&amp;#10;100\ +\ 11\ \div\left(-11\right)\\&amp;#13;&amp;#10;100+\frac{11}{\left(-11\right)}\\&amp;#13;&amp;#10;100+\left(-1\right)=99\end{array}&quot;&gt;&lt;mtable columnalign=&quot;left&quot; columnspacing=&quot;1em&quot; rowspacing=&quot;4pt&quot;&gt;&lt;mtr&gt;&lt;mtd&gt;&lt;mn&gt;100&lt;/mn&gt;&lt;mtext&gt;&lt;/mtext&gt;&lt;mo&gt;+&lt;/mo&gt;&lt;mtext&gt;&lt;/mtext&gt;&lt;msqrt&gt;&lt;mn&gt;100&lt;/mn&gt;&lt;mo&gt;−&lt;/mo&gt;&lt;mrow data-mjx-texclass=&quot;INNER&quot;&gt;&lt;mo data-mjx-texclass=&quot;OPEN&quot;&gt;(&lt;/mo&gt;&lt;mo&gt;−&lt;/mo&gt;&lt;mn&gt;21&lt;/mn&gt;&lt;mo data-mjx-texclass=&quot;CLOSE&quot;&gt;)&lt;/mo&gt;&lt;/mrow&gt;&lt;/msqrt&gt;&lt;mo&gt;÷&lt;/mo&gt;&lt;mrow data-mjx-texclass=&quot;INNER&quot;&gt;&lt;mo data-mjx-texclass=&quot;OPEN&quot;&gt;(&lt;/mo&gt;&lt;mo&gt;−&lt;/mo&gt;&lt;mn&gt;11&lt;/mn&gt;&lt;mo data-mjx-texclass=&quot;CLOSE&quot;&gt;)&lt;/mo&gt;&lt;/mrow&gt;&lt;/mtd&gt;&lt;/mtr&gt;&lt;mtr&gt;&lt;mtd&gt;&lt;mn&gt;100&lt;/mn&gt;&lt;mtext&gt;&lt;/mtext&gt;&lt;mo&gt;+&lt;/mo&gt;&lt;msqrt&gt;&lt;mn&gt;100&lt;/mn&gt;&lt;mo&gt;+&lt;/mo&gt;&lt;mn&gt;21&lt;/mn&gt;&lt;/msqrt&gt;&lt;mo&gt;÷&lt;/mo&gt;&lt;mrow data-mjx-texclass=&quot;INNER&quot;&gt;&lt;mo data-mjx-texclass=&quot;OPEN&quot;&gt;(&lt;/mo&gt;&lt;mo&gt;−&lt;/mo&gt;&lt;mn&gt;11&lt;/mn&gt;&lt;mo data-mjx-texclass=&quot;CLOSE&quot;&gt;)&lt;/mo&gt;&lt;/mrow&gt;&lt;/mtd&gt;&lt;/mtr&gt;&lt;mtr&gt;&lt;mtd&gt;&lt;mn&gt;100&lt;/mn&gt;&lt;mo&gt;+&lt;/mo&gt;&lt;msqrt&gt;&lt;mn&gt;121&lt;/mn&gt;&lt;/msqrt&gt;&lt;mo&gt;÷&lt;/mo&gt;&lt;mrow data-mjx-texclass=&quot;INNER&quot;&gt;&lt;mo data-mjx-texclass=&quot;OPEN&quot;&gt;(&lt;/mo&gt;&lt;mo&gt;−&lt;/mo&gt;&lt;mn&gt;11&lt;/mn&gt;&lt;mo data-mjx-texclass=&quot;CLOSE&quot;&gt;)&lt;/mo&gt;&lt;/mrow&gt;&lt;/mtd&gt;&lt;/mtr&gt;&lt;mtr&gt;&lt;mtd&gt;&lt;mn&gt;100&lt;/mn&gt;&lt;mtext&gt;&lt;/mtext&gt;&lt;mo&gt;+&lt;/mo&gt;&lt;mtext&gt;&lt;/mtext&gt;&lt;mn&gt;11&lt;/mn&gt;&lt;mtext&gt;&lt;/mtext&gt;&lt;mo&gt;÷&lt;/mo&gt;&lt;mrow data-mjx-texclass=&quot;INNER&quot;&gt;&lt;mo data-mjx-texclass=&quot;OPEN&quot;&gt;(&lt;/mo&gt;&lt;mo&gt;−&lt;/mo&gt;&lt;mn&gt;11&lt;/mn&gt;&lt;mo data-mjx-texclass=&quot;CLOSE&quot;&gt;)&lt;/mo&gt;&lt;/mrow&gt;&lt;/mtd&gt;&lt;/mtr&gt;&lt;mtr&gt;&lt;mtd&gt;&lt;mn&gt;100&lt;/mn&gt;&lt;mo&gt;+&lt;/mo&gt;&lt;mfrac&gt;&lt;mn&gt;11&lt;/mn&gt;&lt;mrow data-mjx-texclass=&quot;INNER&quot;&gt;&lt;mo data-mjx-texclass=&quot;OPEN&quot;&gt;(&lt;/mo&gt;&lt;mo&gt;−&lt;/mo&gt;&lt;mn&gt;11&lt;/mn&gt;&lt;mo data-mjx-texclass=&quot;CLOSE&quot;&gt;)&lt;/mo&gt;&lt;/mrow&gt;&lt;/mfrac&gt;&lt;/mtd&gt;&lt;/mtr&gt;&lt;mtr&gt;&lt;mtd&gt;&lt;mn&gt;100&lt;/mn&gt;&lt;mo&gt;+&lt;/mo&gt;&lt;mrow data-mjx-texclass=&quot;INNER&quot;&gt;&lt;mo data-mjx-texclass=&quot;OPEN&quot;&gt;(&lt;/mo&gt;&lt;mo&gt;−&lt;/mo&gt;&lt;mn&gt;1&lt;/mn&gt;&lt;mo data-mjx-texclass=&quot;CLOSE&quot;&gt;)&lt;/mo&gt;&lt;/mrow&gt;&lt;mo&gt;=&lt;/mo&gt;&lt;mn&gt;99&lt;/mn&gt;&lt;/mtd&gt;&lt;/mtr&gt;&lt;/mtable&gt;&lt;/math&gt;" id="1077" name="Google Shape;1077;p85" title="6 lines Line 1: 100 plus the square root of 100 minus negative 21 divided by negative 11 Line 2: 100 positive the square root of 100 plus 21 divided by negative 11 Line 3: 100 plus the square root of 121 divided by negative 11 Line 4: 100 plus 11 division sign negative 11 Line 5: 100 plus the fraction with numerator 11 and denominator negative 11 Line 6: 100 plus negative 1 equals 99"/>
          <p:cNvPicPr preferRelativeResize="0"/>
          <p:nvPr/>
        </p:nvPicPr>
        <p:blipFill rotWithShape="1">
          <a:blip r:embed="rId4">
            <a:alphaModFix/>
          </a:blip>
          <a:srcRect b="48399" l="0" r="0" t="35979"/>
          <a:stretch/>
        </p:blipFill>
        <p:spPr>
          <a:xfrm>
            <a:off x="878950" y="2798184"/>
            <a:ext cx="3473926" cy="411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00\ +\ \sqrt[]{100-\left(-21\right)}\div\left(-11\right)\\&amp;#13;&amp;#10;100\ +\sqrt[]{100+21}\div\left(-11\right)\\&amp;#13;&amp;#10;100+\sqrt[]{121}\div\left(-11\right)\\&amp;#13;&amp;#10;100\ +\ 11\ \div\left(-11\right)\\&amp;#13;&amp;#10;100+\frac{11}{\left(-11\right)}\\&amp;#13;&amp;#10;100+\left(-1\right)=99\end{array}&quot;&gt;&lt;mtable columnalign=&quot;left&quot; columnspacing=&quot;1em&quot; rowspacing=&quot;4pt&quot;&gt;&lt;mtr&gt;&lt;mtd&gt;&lt;mn&gt;100&lt;/mn&gt;&lt;mtext&gt;&lt;/mtext&gt;&lt;mo&gt;+&lt;/mo&gt;&lt;mtext&gt;&lt;/mtext&gt;&lt;msqrt&gt;&lt;mn&gt;100&lt;/mn&gt;&lt;mo&gt;−&lt;/mo&gt;&lt;mrow data-mjx-texclass=&quot;INNER&quot;&gt;&lt;mo data-mjx-texclass=&quot;OPEN&quot;&gt;(&lt;/mo&gt;&lt;mo&gt;−&lt;/mo&gt;&lt;mn&gt;21&lt;/mn&gt;&lt;mo data-mjx-texclass=&quot;CLOSE&quot;&gt;)&lt;/mo&gt;&lt;/mrow&gt;&lt;/msqrt&gt;&lt;mo&gt;÷&lt;/mo&gt;&lt;mrow data-mjx-texclass=&quot;INNER&quot;&gt;&lt;mo data-mjx-texclass=&quot;OPEN&quot;&gt;(&lt;/mo&gt;&lt;mo&gt;−&lt;/mo&gt;&lt;mn&gt;11&lt;/mn&gt;&lt;mo data-mjx-texclass=&quot;CLOSE&quot;&gt;)&lt;/mo&gt;&lt;/mrow&gt;&lt;/mtd&gt;&lt;/mtr&gt;&lt;mtr&gt;&lt;mtd&gt;&lt;mn&gt;100&lt;/mn&gt;&lt;mtext&gt;&lt;/mtext&gt;&lt;mo&gt;+&lt;/mo&gt;&lt;msqrt&gt;&lt;mn&gt;100&lt;/mn&gt;&lt;mo&gt;+&lt;/mo&gt;&lt;mn&gt;21&lt;/mn&gt;&lt;/msqrt&gt;&lt;mo&gt;÷&lt;/mo&gt;&lt;mrow data-mjx-texclass=&quot;INNER&quot;&gt;&lt;mo data-mjx-texclass=&quot;OPEN&quot;&gt;(&lt;/mo&gt;&lt;mo&gt;−&lt;/mo&gt;&lt;mn&gt;11&lt;/mn&gt;&lt;mo data-mjx-texclass=&quot;CLOSE&quot;&gt;)&lt;/mo&gt;&lt;/mrow&gt;&lt;/mtd&gt;&lt;/mtr&gt;&lt;mtr&gt;&lt;mtd&gt;&lt;mn&gt;100&lt;/mn&gt;&lt;mo&gt;+&lt;/mo&gt;&lt;msqrt&gt;&lt;mn&gt;121&lt;/mn&gt;&lt;/msqrt&gt;&lt;mo&gt;÷&lt;/mo&gt;&lt;mrow data-mjx-texclass=&quot;INNER&quot;&gt;&lt;mo data-mjx-texclass=&quot;OPEN&quot;&gt;(&lt;/mo&gt;&lt;mo&gt;−&lt;/mo&gt;&lt;mn&gt;11&lt;/mn&gt;&lt;mo data-mjx-texclass=&quot;CLOSE&quot;&gt;)&lt;/mo&gt;&lt;/mrow&gt;&lt;/mtd&gt;&lt;/mtr&gt;&lt;mtr&gt;&lt;mtd&gt;&lt;mn&gt;100&lt;/mn&gt;&lt;mtext&gt;&lt;/mtext&gt;&lt;mo&gt;+&lt;/mo&gt;&lt;mtext&gt;&lt;/mtext&gt;&lt;mn&gt;11&lt;/mn&gt;&lt;mtext&gt;&lt;/mtext&gt;&lt;mo&gt;÷&lt;/mo&gt;&lt;mrow data-mjx-texclass=&quot;INNER&quot;&gt;&lt;mo data-mjx-texclass=&quot;OPEN&quot;&gt;(&lt;/mo&gt;&lt;mo&gt;−&lt;/mo&gt;&lt;mn&gt;11&lt;/mn&gt;&lt;mo data-mjx-texclass=&quot;CLOSE&quot;&gt;)&lt;/mo&gt;&lt;/mrow&gt;&lt;/mtd&gt;&lt;/mtr&gt;&lt;mtr&gt;&lt;mtd&gt;&lt;mn&gt;100&lt;/mn&gt;&lt;mo&gt;+&lt;/mo&gt;&lt;mfrac&gt;&lt;mn&gt;11&lt;/mn&gt;&lt;mrow data-mjx-texclass=&quot;INNER&quot;&gt;&lt;mo data-mjx-texclass=&quot;OPEN&quot;&gt;(&lt;/mo&gt;&lt;mo&gt;−&lt;/mo&gt;&lt;mn&gt;11&lt;/mn&gt;&lt;mo data-mjx-texclass=&quot;CLOSE&quot;&gt;)&lt;/mo&gt;&lt;/mrow&gt;&lt;/mfrac&gt;&lt;/mtd&gt;&lt;/mtr&gt;&lt;mtr&gt;&lt;mtd&gt;&lt;mn&gt;100&lt;/mn&gt;&lt;mo&gt;+&lt;/mo&gt;&lt;mrow data-mjx-texclass=&quot;INNER&quot;&gt;&lt;mo data-mjx-texclass=&quot;OPEN&quot;&gt;(&lt;/mo&gt;&lt;mo&gt;−&lt;/mo&gt;&lt;mn&gt;1&lt;/mn&gt;&lt;mo data-mjx-texclass=&quot;CLOSE&quot;&gt;)&lt;/mo&gt;&lt;/mrow&gt;&lt;mo&gt;=&lt;/mo&gt;&lt;mn&gt;99&lt;/mn&gt;&lt;/mtd&gt;&lt;/mtr&gt;&lt;/mtable&gt;&lt;/math&gt;" id="1078" name="Google Shape;1078;p85" title="6 lines Line 1: 100 plus the square root of 100 minus negative 21 divided by negative 11 Line 2: 100 positive the square root of 100 plus 21 divided by negative 11 Line 3: 100 plus the square root of 121 divided by negative 11 Line 4: 100 plus 11 division sign negative 11 Line 5: 100 plus the fraction with numerator 11 and denominator negative 11 Line 6: 100 plus negative 1 equals 99"/>
          <p:cNvPicPr preferRelativeResize="0"/>
          <p:nvPr/>
        </p:nvPicPr>
        <p:blipFill rotWithShape="1">
          <a:blip r:embed="rId4">
            <a:alphaModFix/>
          </a:blip>
          <a:srcRect b="33682" l="0" r="0" t="50697"/>
          <a:stretch/>
        </p:blipFill>
        <p:spPr>
          <a:xfrm>
            <a:off x="878950" y="3265159"/>
            <a:ext cx="3473926" cy="411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00\ +\ \sqrt[]{100-\left(-21\right)}\div\left(-11\right)\\&amp;#13;&amp;#10;100\ +\sqrt[]{100+21}\div\left(-11\right)\\&amp;#13;&amp;#10;100+\sqrt[]{121}\div\left(-11\right)\\&amp;#13;&amp;#10;100\ +\ 11\ \div\left(-11\right)\\&amp;#13;&amp;#10;100+\frac{11}{\left(-11\right)}\\&amp;#13;&amp;#10;100+\left(-1\right)=99\end{array}&quot;&gt;&lt;mtable columnalign=&quot;left&quot; columnspacing=&quot;1em&quot; rowspacing=&quot;4pt&quot;&gt;&lt;mtr&gt;&lt;mtd&gt;&lt;mn&gt;100&lt;/mn&gt;&lt;mtext&gt;&lt;/mtext&gt;&lt;mo&gt;+&lt;/mo&gt;&lt;mtext&gt;&lt;/mtext&gt;&lt;msqrt&gt;&lt;mn&gt;100&lt;/mn&gt;&lt;mo&gt;−&lt;/mo&gt;&lt;mrow data-mjx-texclass=&quot;INNER&quot;&gt;&lt;mo data-mjx-texclass=&quot;OPEN&quot;&gt;(&lt;/mo&gt;&lt;mo&gt;−&lt;/mo&gt;&lt;mn&gt;21&lt;/mn&gt;&lt;mo data-mjx-texclass=&quot;CLOSE&quot;&gt;)&lt;/mo&gt;&lt;/mrow&gt;&lt;/msqrt&gt;&lt;mo&gt;÷&lt;/mo&gt;&lt;mrow data-mjx-texclass=&quot;INNER&quot;&gt;&lt;mo data-mjx-texclass=&quot;OPEN&quot;&gt;(&lt;/mo&gt;&lt;mo&gt;−&lt;/mo&gt;&lt;mn&gt;11&lt;/mn&gt;&lt;mo data-mjx-texclass=&quot;CLOSE&quot;&gt;)&lt;/mo&gt;&lt;/mrow&gt;&lt;/mtd&gt;&lt;/mtr&gt;&lt;mtr&gt;&lt;mtd&gt;&lt;mn&gt;100&lt;/mn&gt;&lt;mtext&gt;&lt;/mtext&gt;&lt;mo&gt;+&lt;/mo&gt;&lt;msqrt&gt;&lt;mn&gt;100&lt;/mn&gt;&lt;mo&gt;+&lt;/mo&gt;&lt;mn&gt;21&lt;/mn&gt;&lt;/msqrt&gt;&lt;mo&gt;÷&lt;/mo&gt;&lt;mrow data-mjx-texclass=&quot;INNER&quot;&gt;&lt;mo data-mjx-texclass=&quot;OPEN&quot;&gt;(&lt;/mo&gt;&lt;mo&gt;−&lt;/mo&gt;&lt;mn&gt;11&lt;/mn&gt;&lt;mo data-mjx-texclass=&quot;CLOSE&quot;&gt;)&lt;/mo&gt;&lt;/mrow&gt;&lt;/mtd&gt;&lt;/mtr&gt;&lt;mtr&gt;&lt;mtd&gt;&lt;mn&gt;100&lt;/mn&gt;&lt;mo&gt;+&lt;/mo&gt;&lt;msqrt&gt;&lt;mn&gt;121&lt;/mn&gt;&lt;/msqrt&gt;&lt;mo&gt;÷&lt;/mo&gt;&lt;mrow data-mjx-texclass=&quot;INNER&quot;&gt;&lt;mo data-mjx-texclass=&quot;OPEN&quot;&gt;(&lt;/mo&gt;&lt;mo&gt;−&lt;/mo&gt;&lt;mn&gt;11&lt;/mn&gt;&lt;mo data-mjx-texclass=&quot;CLOSE&quot;&gt;)&lt;/mo&gt;&lt;/mrow&gt;&lt;/mtd&gt;&lt;/mtr&gt;&lt;mtr&gt;&lt;mtd&gt;&lt;mn&gt;100&lt;/mn&gt;&lt;mtext&gt;&lt;/mtext&gt;&lt;mo&gt;+&lt;/mo&gt;&lt;mtext&gt;&lt;/mtext&gt;&lt;mn&gt;11&lt;/mn&gt;&lt;mtext&gt;&lt;/mtext&gt;&lt;mo&gt;÷&lt;/mo&gt;&lt;mrow data-mjx-texclass=&quot;INNER&quot;&gt;&lt;mo data-mjx-texclass=&quot;OPEN&quot;&gt;(&lt;/mo&gt;&lt;mo&gt;−&lt;/mo&gt;&lt;mn&gt;11&lt;/mn&gt;&lt;mo data-mjx-texclass=&quot;CLOSE&quot;&gt;)&lt;/mo&gt;&lt;/mrow&gt;&lt;/mtd&gt;&lt;/mtr&gt;&lt;mtr&gt;&lt;mtd&gt;&lt;mn&gt;100&lt;/mn&gt;&lt;mo&gt;+&lt;/mo&gt;&lt;mfrac&gt;&lt;mn&gt;11&lt;/mn&gt;&lt;mrow data-mjx-texclass=&quot;INNER&quot;&gt;&lt;mo data-mjx-texclass=&quot;OPEN&quot;&gt;(&lt;/mo&gt;&lt;mo&gt;−&lt;/mo&gt;&lt;mn&gt;11&lt;/mn&gt;&lt;mo data-mjx-texclass=&quot;CLOSE&quot;&gt;)&lt;/mo&gt;&lt;/mrow&gt;&lt;/mfrac&gt;&lt;/mtd&gt;&lt;/mtr&gt;&lt;mtr&gt;&lt;mtd&gt;&lt;mn&gt;100&lt;/mn&gt;&lt;mo&gt;+&lt;/mo&gt;&lt;mrow data-mjx-texclass=&quot;INNER&quot;&gt;&lt;mo data-mjx-texclass=&quot;OPEN&quot;&gt;(&lt;/mo&gt;&lt;mo&gt;−&lt;/mo&gt;&lt;mn&gt;1&lt;/mn&gt;&lt;mo data-mjx-texclass=&quot;CLOSE&quot;&gt;)&lt;/mo&gt;&lt;/mrow&gt;&lt;mo&gt;=&lt;/mo&gt;&lt;mn&gt;99&lt;/mn&gt;&lt;/mtd&gt;&lt;/mtr&gt;&lt;/mtable&gt;&lt;/math&gt;" id="1079" name="Google Shape;1079;p85" title="6 lines Line 1: 100 plus the square root of 100 minus negative 21 divided by negative 11 Line 2: 100 positive the square root of 100 plus 21 divided by negative 11 Line 3: 100 plus the square root of 121 divided by negative 11 Line 4: 100 plus 11 division sign negative 11 Line 5: 100 plus the fraction with numerator 11 and denominator negative 11 Line 6: 100 plus negative 1 equals 99"/>
          <p:cNvPicPr preferRelativeResize="0"/>
          <p:nvPr/>
        </p:nvPicPr>
        <p:blipFill rotWithShape="1">
          <a:blip r:embed="rId4">
            <a:alphaModFix/>
          </a:blip>
          <a:srcRect b="16037" l="0" r="0" t="66125"/>
          <a:stretch/>
        </p:blipFill>
        <p:spPr>
          <a:xfrm>
            <a:off x="920363" y="3732134"/>
            <a:ext cx="3473926" cy="46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00\ +\ \sqrt[]{100-\left(-21\right)}\div\left(-11\right)\\&amp;#13;&amp;#10;100\ +\sqrt[]{100+21}\div\left(-11\right)\\&amp;#13;&amp;#10;100+\sqrt[]{121}\div\left(-11\right)\\&amp;#13;&amp;#10;100\ +\ 11\ \div\left(-11\right)\\&amp;#13;&amp;#10;100+\frac{11}{\left(-11\right)}\\&amp;#13;&amp;#10;100+\left(-1\right)=99\end{array}&quot;&gt;&lt;mtable columnalign=&quot;left&quot; columnspacing=&quot;1em&quot; rowspacing=&quot;4pt&quot;&gt;&lt;mtr&gt;&lt;mtd&gt;&lt;mn&gt;100&lt;/mn&gt;&lt;mtext&gt;&lt;/mtext&gt;&lt;mo&gt;+&lt;/mo&gt;&lt;mtext&gt;&lt;/mtext&gt;&lt;msqrt&gt;&lt;mn&gt;100&lt;/mn&gt;&lt;mo&gt;−&lt;/mo&gt;&lt;mrow data-mjx-texclass=&quot;INNER&quot;&gt;&lt;mo data-mjx-texclass=&quot;OPEN&quot;&gt;(&lt;/mo&gt;&lt;mo&gt;−&lt;/mo&gt;&lt;mn&gt;21&lt;/mn&gt;&lt;mo data-mjx-texclass=&quot;CLOSE&quot;&gt;)&lt;/mo&gt;&lt;/mrow&gt;&lt;/msqrt&gt;&lt;mo&gt;÷&lt;/mo&gt;&lt;mrow data-mjx-texclass=&quot;INNER&quot;&gt;&lt;mo data-mjx-texclass=&quot;OPEN&quot;&gt;(&lt;/mo&gt;&lt;mo&gt;−&lt;/mo&gt;&lt;mn&gt;11&lt;/mn&gt;&lt;mo data-mjx-texclass=&quot;CLOSE&quot;&gt;)&lt;/mo&gt;&lt;/mrow&gt;&lt;/mtd&gt;&lt;/mtr&gt;&lt;mtr&gt;&lt;mtd&gt;&lt;mn&gt;100&lt;/mn&gt;&lt;mtext&gt;&lt;/mtext&gt;&lt;mo&gt;+&lt;/mo&gt;&lt;msqrt&gt;&lt;mn&gt;100&lt;/mn&gt;&lt;mo&gt;+&lt;/mo&gt;&lt;mn&gt;21&lt;/mn&gt;&lt;/msqrt&gt;&lt;mo&gt;÷&lt;/mo&gt;&lt;mrow data-mjx-texclass=&quot;INNER&quot;&gt;&lt;mo data-mjx-texclass=&quot;OPEN&quot;&gt;(&lt;/mo&gt;&lt;mo&gt;−&lt;/mo&gt;&lt;mn&gt;11&lt;/mn&gt;&lt;mo data-mjx-texclass=&quot;CLOSE&quot;&gt;)&lt;/mo&gt;&lt;/mrow&gt;&lt;/mtd&gt;&lt;/mtr&gt;&lt;mtr&gt;&lt;mtd&gt;&lt;mn&gt;100&lt;/mn&gt;&lt;mo&gt;+&lt;/mo&gt;&lt;msqrt&gt;&lt;mn&gt;121&lt;/mn&gt;&lt;/msqrt&gt;&lt;mo&gt;÷&lt;/mo&gt;&lt;mrow data-mjx-texclass=&quot;INNER&quot;&gt;&lt;mo data-mjx-texclass=&quot;OPEN&quot;&gt;(&lt;/mo&gt;&lt;mo&gt;−&lt;/mo&gt;&lt;mn&gt;11&lt;/mn&gt;&lt;mo data-mjx-texclass=&quot;CLOSE&quot;&gt;)&lt;/mo&gt;&lt;/mrow&gt;&lt;/mtd&gt;&lt;/mtr&gt;&lt;mtr&gt;&lt;mtd&gt;&lt;mn&gt;100&lt;/mn&gt;&lt;mtext&gt;&lt;/mtext&gt;&lt;mo&gt;+&lt;/mo&gt;&lt;mtext&gt;&lt;/mtext&gt;&lt;mn&gt;11&lt;/mn&gt;&lt;mtext&gt;&lt;/mtext&gt;&lt;mo&gt;÷&lt;/mo&gt;&lt;mrow data-mjx-texclass=&quot;INNER&quot;&gt;&lt;mo data-mjx-texclass=&quot;OPEN&quot;&gt;(&lt;/mo&gt;&lt;mo&gt;−&lt;/mo&gt;&lt;mn&gt;11&lt;/mn&gt;&lt;mo data-mjx-texclass=&quot;CLOSE&quot;&gt;)&lt;/mo&gt;&lt;/mrow&gt;&lt;/mtd&gt;&lt;/mtr&gt;&lt;mtr&gt;&lt;mtd&gt;&lt;mn&gt;100&lt;/mn&gt;&lt;mo&gt;+&lt;/mo&gt;&lt;mfrac&gt;&lt;mn&gt;11&lt;/mn&gt;&lt;mrow data-mjx-texclass=&quot;INNER&quot;&gt;&lt;mo data-mjx-texclass=&quot;OPEN&quot;&gt;(&lt;/mo&gt;&lt;mo&gt;−&lt;/mo&gt;&lt;mn&gt;11&lt;/mn&gt;&lt;mo data-mjx-texclass=&quot;CLOSE&quot;&gt;)&lt;/mo&gt;&lt;/mrow&gt;&lt;/mfrac&gt;&lt;/mtd&gt;&lt;/mtr&gt;&lt;mtr&gt;&lt;mtd&gt;&lt;mn&gt;100&lt;/mn&gt;&lt;mo&gt;+&lt;/mo&gt;&lt;mrow data-mjx-texclass=&quot;INNER&quot;&gt;&lt;mo data-mjx-texclass=&quot;OPEN&quot;&gt;(&lt;/mo&gt;&lt;mo&gt;−&lt;/mo&gt;&lt;mn&gt;1&lt;/mn&gt;&lt;mo data-mjx-texclass=&quot;CLOSE&quot;&gt;)&lt;/mo&gt;&lt;/mrow&gt;&lt;mo&gt;=&lt;/mo&gt;&lt;mn&gt;99&lt;/mn&gt;&lt;/mtd&gt;&lt;/mtr&gt;&lt;/mtable&gt;&lt;/math&gt;" id="1080" name="Google Shape;1080;p85" title="6 lines Line 1: 100 plus the square root of 100 minus negative 21 divided by negative 11 Line 2: 100 positive the square root of 100 plus 21 divided by negative 11 Line 3: 100 plus the square root of 121 divided by negative 11 Line 4: 100 plus 11 division sign negative 11 Line 5: 100 plus the fraction with numerator 11 and denominator negative 11 Line 6: 100 plus negative 1 equals 99"/>
          <p:cNvPicPr preferRelativeResize="0"/>
          <p:nvPr/>
        </p:nvPicPr>
        <p:blipFill rotWithShape="1">
          <a:blip r:embed="rId4">
            <a:alphaModFix/>
          </a:blip>
          <a:srcRect b="-5880" l="0" r="0" t="88043"/>
          <a:stretch/>
        </p:blipFill>
        <p:spPr>
          <a:xfrm>
            <a:off x="927825" y="4309034"/>
            <a:ext cx="3473926" cy="469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1" name="Google Shape;1081;p85"/>
          <p:cNvCxnSpPr/>
          <p:nvPr/>
        </p:nvCxnSpPr>
        <p:spPr>
          <a:xfrm>
            <a:off x="4463475" y="1240200"/>
            <a:ext cx="0" cy="34083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2" name="Google Shape;1082;p8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Priority of operations with negatives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p85"/>
          <p:cNvSpPr txBox="1"/>
          <p:nvPr/>
        </p:nvSpPr>
        <p:spPr>
          <a:xfrm>
            <a:off x="324000" y="720000"/>
            <a:ext cx="8158500" cy="5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2) Work out the following, ensuring you show your working out.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4" name="Google Shape;1084;p85"/>
          <p:cNvSpPr txBox="1"/>
          <p:nvPr/>
        </p:nvSpPr>
        <p:spPr>
          <a:xfrm>
            <a:off x="334200" y="1716975"/>
            <a:ext cx="597600" cy="6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)</a:t>
            </a:r>
            <a:endParaRPr sz="23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86"/>
          <p:cNvSpPr txBox="1"/>
          <p:nvPr/>
        </p:nvSpPr>
        <p:spPr>
          <a:xfrm>
            <a:off x="324000" y="720000"/>
            <a:ext cx="8158500" cy="9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3)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Fill in the pyramid. The number above the block is the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</a:t>
            </a:r>
            <a: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of the two below.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0" name="Google Shape;1090;p86"/>
          <p:cNvSpPr/>
          <p:nvPr/>
        </p:nvSpPr>
        <p:spPr>
          <a:xfrm>
            <a:off x="352325" y="2933700"/>
            <a:ext cx="2656500" cy="9318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1" name="Google Shape;1091;p86"/>
          <p:cNvSpPr/>
          <p:nvPr/>
        </p:nvSpPr>
        <p:spPr>
          <a:xfrm>
            <a:off x="3009474" y="2933700"/>
            <a:ext cx="2926500" cy="9318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2" name="Google Shape;1092;p86"/>
          <p:cNvSpPr/>
          <p:nvPr/>
        </p:nvSpPr>
        <p:spPr>
          <a:xfrm>
            <a:off x="5936100" y="2933700"/>
            <a:ext cx="2883900" cy="9318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3" name="Google Shape;1093;p86"/>
          <p:cNvSpPr/>
          <p:nvPr/>
        </p:nvSpPr>
        <p:spPr>
          <a:xfrm>
            <a:off x="1511900" y="2319874"/>
            <a:ext cx="2766600" cy="6000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4" name="Google Shape;1094;p86"/>
          <p:cNvSpPr/>
          <p:nvPr/>
        </p:nvSpPr>
        <p:spPr>
          <a:xfrm>
            <a:off x="4272077" y="2319874"/>
            <a:ext cx="2766600" cy="6000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5" name="Google Shape;1095;p86"/>
          <p:cNvSpPr/>
          <p:nvPr/>
        </p:nvSpPr>
        <p:spPr>
          <a:xfrm>
            <a:off x="2947827" y="1720925"/>
            <a:ext cx="2766600" cy="6000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6" name="Google Shape;1096;p86"/>
          <p:cNvSpPr txBox="1"/>
          <p:nvPr/>
        </p:nvSpPr>
        <p:spPr>
          <a:xfrm>
            <a:off x="1616250" y="2372975"/>
            <a:ext cx="24951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(-37) + 14 = -23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97" name="Google Shape;1097;p86"/>
          <p:cNvSpPr txBox="1"/>
          <p:nvPr/>
        </p:nvSpPr>
        <p:spPr>
          <a:xfrm>
            <a:off x="4320000" y="2391363"/>
            <a:ext cx="24951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14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 + 2 = 16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98" name="Google Shape;1098;p86"/>
          <p:cNvSpPr txBox="1"/>
          <p:nvPr/>
        </p:nvSpPr>
        <p:spPr>
          <a:xfrm>
            <a:off x="3120050" y="1784963"/>
            <a:ext cx="24951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(-23)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 + 16 = -7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99" name="Google Shape;1099;p8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Priority of operations with negatives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20+\frac{\left(-4\right)}{\left(-2\right)}\times\left(-3\right)&quot;&gt;&lt;mn&gt;20&lt;/mn&gt;&lt;mo&gt;+&lt;/mo&gt;&lt;mfrac&gt;&lt;mrow data-mjx-texclass=&quot;INNER&quot;&gt;&lt;mo data-mjx-texclass=&quot;OPEN&quot;&gt;(&lt;/mo&gt;&lt;mo&gt;−&lt;/mo&gt;&lt;mn&gt;4&lt;/mn&gt;&lt;mo data-mjx-texclass=&quot;CLOSE&quot;&gt;)&lt;/mo&gt;&lt;/mrow&gt;&lt;mrow data-mjx-texclass=&quot;INNER&quot;&gt;&lt;mo data-mjx-texclass=&quot;OPEN&quot;&gt;(&lt;/mo&gt;&lt;mo&gt;−&lt;/mo&gt;&lt;mn&gt;2&lt;/mn&gt;&lt;mo data-mjx-texclass=&quot;CLOSE&quot;&gt;)&lt;/mo&gt;&lt;/mrow&gt;&lt;/mfrac&gt;&lt;mo&gt;×&lt;/mo&gt;&lt;mrow data-mjx-texclass=&quot;INNER&quot;&gt;&lt;mo data-mjx-texclass=&quot;OPEN&quot;&gt;(&lt;/mo&gt;&lt;mo&gt;−&lt;/mo&gt;&lt;mn&gt;3&lt;/mn&gt;&lt;mo data-mjx-texclass=&quot;CLOSE&quot;&gt;)&lt;/mo&gt;&lt;/mrow&gt;&lt;/math&gt;" id="1100" name="Google Shape;1100;p86" title="20 plus the fraction with numerator negative 4 and denominator negative 2 times negative 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7361" y="3050724"/>
            <a:ext cx="2230200" cy="697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\ -\ \frac{\sqrt[]{100}}{\left(-10\right)}\times\left(-2\right)&quot;&gt;&lt;mn&gt;4&lt;/mn&gt;&lt;mtext&gt;&lt;/mtext&gt;&lt;mo&gt;−&lt;/mo&gt;&lt;mtext&gt;&lt;/mtext&gt;&lt;mfrac&gt;&lt;msqrt&gt;&lt;mn&gt;100&lt;/mn&gt;&lt;/msqrt&gt;&lt;mrow data-mjx-texclass=&quot;INNER&quot;&gt;&lt;mo data-mjx-texclass=&quot;OPEN&quot;&gt;(&lt;/mo&gt;&lt;mo&gt;−&lt;/mo&gt;&lt;mn&gt;10&lt;/mn&gt;&lt;mo data-mjx-texclass=&quot;CLOSE&quot;&gt;)&lt;/mo&gt;&lt;/mrow&gt;&lt;/mfrac&gt;&lt;mo&gt;×&lt;/mo&gt;&lt;mrow data-mjx-texclass=&quot;INNER&quot;&gt;&lt;mo data-mjx-texclass=&quot;OPEN&quot;&gt;(&lt;/mo&gt;&lt;mo&gt;−&lt;/mo&gt;&lt;mn&gt;2&lt;/mn&gt;&lt;mo data-mjx-texclass=&quot;CLOSE&quot;&gt;)&lt;/mo&gt;&lt;/mrow&gt;&lt;/math&gt;" id="1101" name="Google Shape;1101;p86" title="4 minus the fraction with numerator the square root of 100 and denominator negative 10 times negative 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93163" y="2997510"/>
            <a:ext cx="2369775" cy="8041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0}{\left(-2\right)}+\frac{4^2}{2}&quot;&gt;&lt;mfrac&gt;&lt;mn&gt;90&lt;/mn&gt;&lt;mrow data-mjx-texclass=&quot;INNER&quot;&gt;&lt;mo data-mjx-texclass=&quot;OPEN&quot;&gt;(&lt;/mo&gt;&lt;mo&gt;−&lt;/mo&gt;&lt;mn&gt;2&lt;/mn&gt;&lt;mo data-mjx-texclass=&quot;CLOSE&quot;&gt;)&lt;/mo&gt;&lt;/mrow&gt;&lt;/mfrac&gt;&lt;mo&gt;+&lt;/mo&gt;&lt;mfrac&gt;&lt;msup&gt;&lt;mn&gt;4&lt;/mn&gt;&lt;mn&gt;2&lt;/mn&gt;&lt;/msup&gt;&lt;mn&gt;2&lt;/mn&gt;&lt;/mfrac&gt;&lt;/math&gt;" id="1102" name="Google Shape;1102;p86" title="the fraction with numerator 90 and denominator negative 2 plus the fraction with numerator 4 squared and denominator 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8900" y="2997500"/>
            <a:ext cx="1457300" cy="80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8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Priority of operations with negatives</a:t>
            </a:r>
            <a:endParaRPr/>
          </a:p>
        </p:txBody>
      </p:sp>
      <p:sp>
        <p:nvSpPr>
          <p:cNvPr id="1108" name="Google Shape;1108;p8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Priority of operations with negatives and decimals</a:t>
            </a:r>
            <a:endParaRPr/>
          </a:p>
        </p:txBody>
      </p:sp>
      <p:sp>
        <p:nvSpPr>
          <p:cNvPr id="1109" name="Google Shape;1109;p87"/>
          <p:cNvSpPr txBox="1"/>
          <p:nvPr>
            <p:ph idx="3" type="title"/>
          </p:nvPr>
        </p:nvSpPr>
        <p:spPr>
          <a:xfrm>
            <a:off x="324000" y="810000"/>
            <a:ext cx="69696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Priority of operations with positive and negative integers and decimals</a:t>
            </a:r>
            <a:endParaRPr/>
          </a:p>
        </p:txBody>
      </p:sp>
      <p:pic>
        <p:nvPicPr>
          <p:cNvPr id="1110" name="Google Shape;1110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287" y="2995918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Priority of operations with negatives and decimals</a:t>
            </a:r>
            <a:endParaRPr/>
          </a:p>
        </p:txBody>
      </p:sp>
      <p:grpSp>
        <p:nvGrpSpPr>
          <p:cNvPr id="1116" name="Google Shape;1116;p88"/>
          <p:cNvGrpSpPr/>
          <p:nvPr/>
        </p:nvGrpSpPr>
        <p:grpSpPr>
          <a:xfrm>
            <a:off x="2528947" y="1702728"/>
            <a:ext cx="3916346" cy="2889197"/>
            <a:chOff x="2529025" y="1931250"/>
            <a:chExt cx="3584100" cy="2617500"/>
          </a:xfrm>
        </p:grpSpPr>
        <p:sp>
          <p:nvSpPr>
            <p:cNvPr id="1117" name="Google Shape;1117;p88"/>
            <p:cNvSpPr/>
            <p:nvPr/>
          </p:nvSpPr>
          <p:spPr>
            <a:xfrm>
              <a:off x="2529025" y="1931250"/>
              <a:ext cx="3584100" cy="2617500"/>
            </a:xfrm>
            <a:prstGeom prst="triangle">
              <a:avLst>
                <a:gd fmla="val 50000" name="adj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18" name="Google Shape;1118;p88"/>
            <p:cNvCxnSpPr/>
            <p:nvPr/>
          </p:nvCxnSpPr>
          <p:spPr>
            <a:xfrm>
              <a:off x="3766742" y="2706800"/>
              <a:ext cx="10959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9" name="Google Shape;1119;p88"/>
            <p:cNvCxnSpPr/>
            <p:nvPr/>
          </p:nvCxnSpPr>
          <p:spPr>
            <a:xfrm>
              <a:off x="3369600" y="3320300"/>
              <a:ext cx="18993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0" name="Google Shape;1120;p88"/>
            <p:cNvCxnSpPr/>
            <p:nvPr/>
          </p:nvCxnSpPr>
          <p:spPr>
            <a:xfrm flipH="1" rot="10800000">
              <a:off x="2996850" y="3910986"/>
              <a:ext cx="2653800" cy="39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121" name="Google Shape;1121;p88"/>
          <p:cNvSpPr/>
          <p:nvPr/>
        </p:nvSpPr>
        <p:spPr>
          <a:xfrm>
            <a:off x="6819350" y="1681968"/>
            <a:ext cx="432900" cy="656400"/>
          </a:xfrm>
          <a:prstGeom prst="downArrow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2" name="Google Shape;1122;p88"/>
          <p:cNvSpPr/>
          <p:nvPr/>
        </p:nvSpPr>
        <p:spPr>
          <a:xfrm>
            <a:off x="6819350" y="2414568"/>
            <a:ext cx="432900" cy="656400"/>
          </a:xfrm>
          <a:prstGeom prst="downArrow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3" name="Google Shape;1123;p88"/>
          <p:cNvSpPr/>
          <p:nvPr/>
        </p:nvSpPr>
        <p:spPr>
          <a:xfrm>
            <a:off x="6819350" y="3208943"/>
            <a:ext cx="432900" cy="656400"/>
          </a:xfrm>
          <a:prstGeom prst="downArrow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4" name="Google Shape;1124;p88"/>
          <p:cNvSpPr/>
          <p:nvPr/>
        </p:nvSpPr>
        <p:spPr>
          <a:xfrm>
            <a:off x="6819350" y="3990893"/>
            <a:ext cx="432900" cy="656400"/>
          </a:xfrm>
          <a:prstGeom prst="downArrow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5" name="Google Shape;1125;p88"/>
          <p:cNvSpPr txBox="1"/>
          <p:nvPr>
            <p:ph idx="1" type="body"/>
          </p:nvPr>
        </p:nvSpPr>
        <p:spPr>
          <a:xfrm>
            <a:off x="369650" y="693275"/>
            <a:ext cx="7885200" cy="116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The priority of operations is important as it ensures that everyone can understand and approach a mathematical problem the same way. </a:t>
            </a:r>
            <a:endParaRPr sz="2100"/>
          </a:p>
        </p:txBody>
      </p:sp>
      <p:sp>
        <p:nvSpPr>
          <p:cNvPr id="1126" name="Google Shape;1126;p88"/>
          <p:cNvSpPr txBox="1"/>
          <p:nvPr>
            <p:ph idx="1" type="body"/>
          </p:nvPr>
        </p:nvSpPr>
        <p:spPr>
          <a:xfrm>
            <a:off x="369650" y="2181288"/>
            <a:ext cx="3000000" cy="116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This priority applies to both positive and negative numbers.</a:t>
            </a:r>
            <a:endParaRPr sz="2100"/>
          </a:p>
        </p:txBody>
      </p:sp>
      <p:sp>
        <p:nvSpPr>
          <p:cNvPr id="1127" name="Google Shape;1127;p88"/>
          <p:cNvSpPr txBox="1"/>
          <p:nvPr>
            <p:ph idx="1" type="body"/>
          </p:nvPr>
        </p:nvSpPr>
        <p:spPr>
          <a:xfrm>
            <a:off x="369650" y="3610875"/>
            <a:ext cx="2375100" cy="116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This includes decimals too.</a:t>
            </a:r>
            <a:endParaRPr sz="2100"/>
          </a:p>
        </p:txBody>
      </p:sp>
      <p:sp>
        <p:nvSpPr>
          <p:cNvPr id="1128" name="Google Shape;1128;p88"/>
          <p:cNvSpPr txBox="1"/>
          <p:nvPr/>
        </p:nvSpPr>
        <p:spPr>
          <a:xfrm>
            <a:off x="4120302" y="2019850"/>
            <a:ext cx="1247100" cy="5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( …. 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29" name="Google Shape;1129;p88"/>
          <p:cNvGrpSpPr/>
          <p:nvPr/>
        </p:nvGrpSpPr>
        <p:grpSpPr>
          <a:xfrm>
            <a:off x="4500978" y="2510325"/>
            <a:ext cx="817925" cy="656513"/>
            <a:chOff x="1546176" y="2521625"/>
            <a:chExt cx="817925" cy="656513"/>
          </a:xfrm>
        </p:grpSpPr>
        <p:sp>
          <p:nvSpPr>
            <p:cNvPr id="1130" name="Google Shape;1130;p88"/>
            <p:cNvSpPr txBox="1"/>
            <p:nvPr/>
          </p:nvSpPr>
          <p:spPr>
            <a:xfrm>
              <a:off x="1873601" y="2521625"/>
              <a:ext cx="490500" cy="5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000">
                  <a:latin typeface="Lexend"/>
                  <a:ea typeface="Lexend"/>
                  <a:cs typeface="Lexend"/>
                  <a:sym typeface="Lexend"/>
                </a:rPr>
                <a:t>⬚</a:t>
              </a:r>
              <a:endParaRPr b="1"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1" name="Google Shape;1131;p88"/>
            <p:cNvSpPr txBox="1"/>
            <p:nvPr/>
          </p:nvSpPr>
          <p:spPr>
            <a:xfrm>
              <a:off x="1546176" y="2641138"/>
              <a:ext cx="490500" cy="5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3100">
                  <a:latin typeface="Lexend"/>
                  <a:ea typeface="Lexend"/>
                  <a:cs typeface="Lexend"/>
                  <a:sym typeface="Lexend"/>
                </a:rPr>
                <a:t>⬚</a:t>
              </a:r>
              <a:endParaRPr b="1" sz="31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2" name="Google Shape;1132;p88"/>
          <p:cNvGrpSpPr/>
          <p:nvPr/>
        </p:nvGrpSpPr>
        <p:grpSpPr>
          <a:xfrm>
            <a:off x="3734648" y="2548385"/>
            <a:ext cx="627511" cy="537000"/>
            <a:chOff x="3734648" y="2776985"/>
            <a:chExt cx="627511" cy="537000"/>
          </a:xfrm>
        </p:grpSpPr>
        <p:pic>
          <p:nvPicPr>
            <p:cNvPr descr="&lt;math xmlns=&quot;http://www.w3.org/1998/Math/MathML&quot; display=&quot;block&quot; data-is-equatio=&quot;1&quot; data-latex=&quot;\begin{array}{l}\sqrt[\ \ ]{\ \ \ }\\&amp;#13;&amp;#10;\end{array}&quot;&gt;&lt;mtable columnalign=&quot;left&quot; columnspacing=&quot;1em&quot; rowspacing=&quot;4pt&quot;&gt;&lt;mtr&gt;&lt;mtd&gt;&lt;mroot&gt;&lt;mrow&gt;&lt;mtext&gt;&lt;/mtext&gt;&lt;mtext&gt;&lt;/mtext&gt;&lt;mtext&gt;&lt;/mtext&gt;&lt;/mrow&gt;&lt;mrow&gt;&lt;mtext&gt;&lt;/mtext&gt;&lt;mtext&gt;&lt;/mtext&gt;&lt;/mrow&gt;&lt;/mroot&gt;&lt;/mtd&gt;&lt;/mtr&gt;&lt;/mtable&gt;&lt;/math&gt;" id="1133" name="Google Shape;1133;p88" title="1 lines Line 1: the root of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871597" y="2929810"/>
              <a:ext cx="490562" cy="384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4" name="Google Shape;1134;p88"/>
            <p:cNvSpPr txBox="1"/>
            <p:nvPr/>
          </p:nvSpPr>
          <p:spPr>
            <a:xfrm>
              <a:off x="3734648" y="2776985"/>
              <a:ext cx="490500" cy="5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700">
                  <a:latin typeface="Lexend"/>
                  <a:ea typeface="Lexend"/>
                  <a:cs typeface="Lexend"/>
                  <a:sym typeface="Lexend"/>
                </a:rPr>
                <a:t>⬚</a:t>
              </a:r>
              <a:endParaRPr sz="17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35" name="Google Shape;1135;p88"/>
          <p:cNvSpPr txBox="1"/>
          <p:nvPr/>
        </p:nvSpPr>
        <p:spPr>
          <a:xfrm>
            <a:off x="3691500" y="3085375"/>
            <a:ext cx="2082900" cy="6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700">
                <a:latin typeface="Lexend"/>
                <a:ea typeface="Lexend"/>
                <a:cs typeface="Lexend"/>
                <a:sym typeface="Lexend"/>
              </a:rPr>
              <a:t>×    ÷</a:t>
            </a:r>
            <a:endParaRPr sz="4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6" name="Google Shape;1136;p88"/>
          <p:cNvSpPr txBox="1"/>
          <p:nvPr/>
        </p:nvSpPr>
        <p:spPr>
          <a:xfrm>
            <a:off x="3637750" y="3741775"/>
            <a:ext cx="2082900" cy="6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700">
                <a:latin typeface="Lexend"/>
                <a:ea typeface="Lexend"/>
                <a:cs typeface="Lexend"/>
                <a:sym typeface="Lexend"/>
              </a:rPr>
              <a:t>+    −</a:t>
            </a:r>
            <a:endParaRPr sz="47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p8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When using negatives, we will be using addition with the additive inverse and rewriting the calculation in a more efficient way. </a:t>
            </a:r>
            <a:endParaRPr/>
          </a:p>
        </p:txBody>
      </p:sp>
      <p:sp>
        <p:nvSpPr>
          <p:cNvPr id="1142" name="Google Shape;1142;p89"/>
          <p:cNvSpPr txBox="1"/>
          <p:nvPr/>
        </p:nvSpPr>
        <p:spPr>
          <a:xfrm>
            <a:off x="2605133" y="2753675"/>
            <a:ext cx="5772900" cy="8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Rewrite the calculation so we are only using addition.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3" name="Google Shape;1143;p89"/>
          <p:cNvSpPr txBox="1"/>
          <p:nvPr>
            <p:ph idx="1" type="body"/>
          </p:nvPr>
        </p:nvSpPr>
        <p:spPr>
          <a:xfrm>
            <a:off x="2702825" y="1947725"/>
            <a:ext cx="6195600" cy="37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Example</a:t>
            </a:r>
            <a:endParaRPr sz="2100"/>
          </a:p>
        </p:txBody>
      </p:sp>
      <p:sp>
        <p:nvSpPr>
          <p:cNvPr id="1144" name="Google Shape;1144;p89"/>
          <p:cNvSpPr txBox="1"/>
          <p:nvPr/>
        </p:nvSpPr>
        <p:spPr>
          <a:xfrm>
            <a:off x="2605133" y="2250425"/>
            <a:ext cx="4732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Here we have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3.2 + 7.86</a:t>
            </a:r>
            <a:endParaRPr/>
          </a:p>
        </p:txBody>
      </p:sp>
      <p:sp>
        <p:nvSpPr>
          <p:cNvPr id="1145" name="Google Shape;1145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Priority of operations with negatives and decimals</a:t>
            </a:r>
            <a:endParaRPr/>
          </a:p>
        </p:txBody>
      </p:sp>
      <p:pic>
        <p:nvPicPr>
          <p:cNvPr id="1146" name="Google Shape;1146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866185"/>
            <a:ext cx="2055006" cy="166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90"/>
          <p:cNvSpPr txBox="1"/>
          <p:nvPr>
            <p:ph idx="1" type="body"/>
          </p:nvPr>
        </p:nvSpPr>
        <p:spPr>
          <a:xfrm>
            <a:off x="324000" y="759300"/>
            <a:ext cx="8237700" cy="115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When using negatives, we will be using addition with the additive inverse and rewriting the calculation in a more efficient way. </a:t>
            </a:r>
            <a:endParaRPr/>
          </a:p>
        </p:txBody>
      </p:sp>
      <p:sp>
        <p:nvSpPr>
          <p:cNvPr id="1152" name="Google Shape;1152;p90"/>
          <p:cNvSpPr txBox="1"/>
          <p:nvPr>
            <p:ph idx="1" type="body"/>
          </p:nvPr>
        </p:nvSpPr>
        <p:spPr>
          <a:xfrm>
            <a:off x="2702825" y="1947725"/>
            <a:ext cx="3870300" cy="37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Example</a:t>
            </a:r>
            <a:endParaRPr sz="2100"/>
          </a:p>
        </p:txBody>
      </p:sp>
      <p:sp>
        <p:nvSpPr>
          <p:cNvPr id="1153" name="Google Shape;1153;p90"/>
          <p:cNvSpPr txBox="1"/>
          <p:nvPr/>
        </p:nvSpPr>
        <p:spPr>
          <a:xfrm>
            <a:off x="2605126" y="2250425"/>
            <a:ext cx="4015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Here we have 12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3.2 + 7.86</a:t>
            </a:r>
            <a:endParaRPr/>
          </a:p>
        </p:txBody>
      </p:sp>
      <p:sp>
        <p:nvSpPr>
          <p:cNvPr id="1154" name="Google Shape;1154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Priority of operations with negatives and decimals</a:t>
            </a:r>
            <a:endParaRPr/>
          </a:p>
        </p:txBody>
      </p:sp>
      <p:pic>
        <p:nvPicPr>
          <p:cNvPr id="1155" name="Google Shape;1155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866185"/>
            <a:ext cx="2055006" cy="166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6" name="Google Shape;1156;p90"/>
          <p:cNvSpPr txBox="1"/>
          <p:nvPr/>
        </p:nvSpPr>
        <p:spPr>
          <a:xfrm>
            <a:off x="4154400" y="2700000"/>
            <a:ext cx="2352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 + (-3.2) + 7.86</a:t>
            </a:r>
            <a:endParaRPr/>
          </a:p>
        </p:txBody>
      </p:sp>
      <p:sp>
        <p:nvSpPr>
          <p:cNvPr id="1157" name="Google Shape;1157;p90"/>
          <p:cNvSpPr txBox="1"/>
          <p:nvPr/>
        </p:nvSpPr>
        <p:spPr>
          <a:xfrm>
            <a:off x="2605129" y="3360300"/>
            <a:ext cx="2489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 the positives </a:t>
            </a:r>
            <a:endParaRPr/>
          </a:p>
        </p:txBody>
      </p:sp>
      <p:sp>
        <p:nvSpPr>
          <p:cNvPr id="1158" name="Google Shape;1158;p90"/>
          <p:cNvSpPr txBox="1"/>
          <p:nvPr/>
        </p:nvSpPr>
        <p:spPr>
          <a:xfrm>
            <a:off x="161041" y="3773399"/>
            <a:ext cx="5392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So this means we have  19.86 + (-3.2) =  </a:t>
            </a:r>
            <a:endParaRPr/>
          </a:p>
        </p:txBody>
      </p:sp>
      <p:sp>
        <p:nvSpPr>
          <p:cNvPr id="1159" name="Google Shape;1159;p90"/>
          <p:cNvSpPr txBox="1"/>
          <p:nvPr/>
        </p:nvSpPr>
        <p:spPr>
          <a:xfrm>
            <a:off x="5290542" y="3773400"/>
            <a:ext cx="840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16.66</a:t>
            </a:r>
            <a:endParaRPr/>
          </a:p>
        </p:txBody>
      </p:sp>
      <p:grpSp>
        <p:nvGrpSpPr>
          <p:cNvPr id="1160" name="Google Shape;1160;p90"/>
          <p:cNvGrpSpPr/>
          <p:nvPr/>
        </p:nvGrpSpPr>
        <p:grpSpPr>
          <a:xfrm>
            <a:off x="6738775" y="1620000"/>
            <a:ext cx="1647300" cy="1464600"/>
            <a:chOff x="6738775" y="1620000"/>
            <a:chExt cx="1647300" cy="1464600"/>
          </a:xfrm>
        </p:grpSpPr>
        <p:grpSp>
          <p:nvGrpSpPr>
            <p:cNvPr id="1161" name="Google Shape;1161;p90"/>
            <p:cNvGrpSpPr/>
            <p:nvPr/>
          </p:nvGrpSpPr>
          <p:grpSpPr>
            <a:xfrm>
              <a:off x="6738775" y="1620000"/>
              <a:ext cx="1647300" cy="1464600"/>
              <a:chOff x="6738775" y="1620000"/>
              <a:chExt cx="1647300" cy="1464600"/>
            </a:xfrm>
          </p:grpSpPr>
          <p:sp>
            <p:nvSpPr>
              <p:cNvPr id="1162" name="Google Shape;1162;p90"/>
              <p:cNvSpPr/>
              <p:nvPr/>
            </p:nvSpPr>
            <p:spPr>
              <a:xfrm>
                <a:off x="6738775" y="1620000"/>
                <a:ext cx="1647300" cy="146460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38100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63" name="Google Shape;1163;p90"/>
              <p:cNvSpPr txBox="1"/>
              <p:nvPr/>
            </p:nvSpPr>
            <p:spPr>
              <a:xfrm>
                <a:off x="7170900" y="1674600"/>
                <a:ext cx="1162200" cy="135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 12.00 </a:t>
                </a:r>
                <a:endParaRPr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  <a:p>
                <a:pPr indent="0" lvl="0" marL="0" rtl="0" algn="l">
                  <a:lnSpc>
                    <a:spcPct val="115000"/>
                  </a:lnSpc>
                  <a:spcBef>
                    <a:spcPts val="100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+ 7.86</a:t>
                </a:r>
                <a:endParaRPr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  <a:p>
                <a:pPr indent="0" lvl="0" marL="0" rtl="0" algn="l">
                  <a:lnSpc>
                    <a:spcPct val="115000"/>
                  </a:lnSpc>
                  <a:spcBef>
                    <a:spcPts val="1000"/>
                  </a:spcBef>
                  <a:spcAft>
                    <a:spcPts val="100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 19.86</a:t>
                </a:r>
                <a:endParaRPr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164" name="Google Shape;1164;p90"/>
              <p:cNvCxnSpPr/>
              <p:nvPr/>
            </p:nvCxnSpPr>
            <p:spPr>
              <a:xfrm>
                <a:off x="7195100" y="2576575"/>
                <a:ext cx="7005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1165" name="Google Shape;1165;p90"/>
            <p:cNvCxnSpPr/>
            <p:nvPr/>
          </p:nvCxnSpPr>
          <p:spPr>
            <a:xfrm>
              <a:off x="7195100" y="2973750"/>
              <a:ext cx="7005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66" name="Google Shape;1166;p90"/>
          <p:cNvGrpSpPr/>
          <p:nvPr/>
        </p:nvGrpSpPr>
        <p:grpSpPr>
          <a:xfrm>
            <a:off x="6738775" y="3240000"/>
            <a:ext cx="1647300" cy="1464600"/>
            <a:chOff x="6738775" y="3240000"/>
            <a:chExt cx="1647300" cy="1464600"/>
          </a:xfrm>
        </p:grpSpPr>
        <p:sp>
          <p:nvSpPr>
            <p:cNvPr id="1167" name="Google Shape;1167;p90"/>
            <p:cNvSpPr/>
            <p:nvPr/>
          </p:nvSpPr>
          <p:spPr>
            <a:xfrm>
              <a:off x="6738775" y="3240000"/>
              <a:ext cx="1647300" cy="1464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8" name="Google Shape;1168;p90"/>
            <p:cNvSpPr txBox="1"/>
            <p:nvPr/>
          </p:nvSpPr>
          <p:spPr>
            <a:xfrm>
              <a:off x="7002000" y="3254700"/>
              <a:ext cx="1241700" cy="135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 19.86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−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3.20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  16.66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69" name="Google Shape;1169;p90"/>
            <p:cNvCxnSpPr/>
            <p:nvPr/>
          </p:nvCxnSpPr>
          <p:spPr>
            <a:xfrm>
              <a:off x="7170900" y="4157725"/>
              <a:ext cx="7005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70" name="Google Shape;1170;p90"/>
            <p:cNvCxnSpPr/>
            <p:nvPr/>
          </p:nvCxnSpPr>
          <p:spPr>
            <a:xfrm>
              <a:off x="7170900" y="4554900"/>
              <a:ext cx="7005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Priority of operations with negatives and decimals</a:t>
            </a:r>
            <a:endParaRPr/>
          </a:p>
        </p:txBody>
      </p:sp>
      <p:sp>
        <p:nvSpPr>
          <p:cNvPr id="1176" name="Google Shape;1176;p91"/>
          <p:cNvSpPr txBox="1"/>
          <p:nvPr>
            <p:ph idx="4294967295" type="subTitle"/>
          </p:nvPr>
        </p:nvSpPr>
        <p:spPr>
          <a:xfrm>
            <a:off x="337825" y="733800"/>
            <a:ext cx="8015100" cy="75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Work out the following, ensuring you show all your working out.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8.2\ -\ 3.4\ \times\left(-2\right)+\frac{12}{2.5+7.5}&quot;&gt;&lt;mn&gt;8.2&lt;/mn&gt;&lt;mtext&gt;&lt;/mtext&gt;&lt;mo&gt;−&lt;/mo&gt;&lt;mtext&gt;&lt;/mtext&gt;&lt;mn&gt;3.4&lt;/mn&gt;&lt;mtext&gt;&lt;/mtext&gt;&lt;mo&gt;×&lt;/mo&gt;&lt;mrow data-mjx-texclass=&quot;INNER&quot;&gt;&lt;mo data-mjx-texclass=&quot;OPEN&quot;&gt;(&lt;/mo&gt;&lt;mo&gt;−&lt;/mo&gt;&lt;mn&gt;2&lt;/mn&gt;&lt;mo data-mjx-texclass=&quot;CLOSE&quot;&gt;)&lt;/mo&gt;&lt;/mrow&gt;&lt;mo&gt;+&lt;/mo&gt;&lt;mfrac&gt;&lt;mn&gt;12&lt;/mn&gt;&lt;mrow&gt;&lt;mn&gt;2.5&lt;/mn&gt;&lt;mo&gt;+&lt;/mo&gt;&lt;mn&gt;7.5&lt;/mn&gt;&lt;/mrow&gt;&lt;/mfrac&gt;&lt;/math&gt;" id="1177" name="Google Shape;1177;p91" title="8.2 minus 3.4 times negative 2 plus the fraction with numerator 12 and denominator 2.5 plus 7.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483" y="1214000"/>
            <a:ext cx="3431567" cy="5918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8.2\ -\ 3.4\ \times\left(-2\right)+\frac{12}{10}\\&amp;#13;&amp;#10;8.2\ -\ 3.4\ \times\left(-2\right)+1.2\\&amp;#13;&amp;#10;8.2\ -\ \left(-6.8\right)+1.2\\&amp;#13;&amp;#10;8.2+6.8+1.2\ =\ 16.2\end{array}&quot;&gt;&lt;mtable columnalign=&quot;left&quot; columnspacing=&quot;1em&quot; rowspacing=&quot;4pt&quot;&gt;&lt;mtr&gt;&lt;mtd&gt;&lt;mn&gt;8.2&lt;/mn&gt;&lt;mtext&gt;&lt;/mtext&gt;&lt;mo&gt;−&lt;/mo&gt;&lt;mtext&gt;&lt;/mtext&gt;&lt;mn&gt;3.4&lt;/mn&gt;&lt;mtext&gt;&lt;/mtext&gt;&lt;mo&gt;×&lt;/mo&gt;&lt;mrow data-mjx-texclass=&quot;INNER&quot;&gt;&lt;mo data-mjx-texclass=&quot;OPEN&quot;&gt;(&lt;/mo&gt;&lt;mo&gt;−&lt;/mo&gt;&lt;mn&gt;2&lt;/mn&gt;&lt;mo data-mjx-texclass=&quot;CLOSE&quot;&gt;)&lt;/mo&gt;&lt;/mrow&gt;&lt;mo&gt;+&lt;/mo&gt;&lt;mfrac&gt;&lt;mn&gt;12&lt;/mn&gt;&lt;mn&gt;10&lt;/mn&gt;&lt;/mfrac&gt;&lt;/mtd&gt;&lt;/mtr&gt;&lt;mtr&gt;&lt;mtd&gt;&lt;mn&gt;8.2&lt;/mn&gt;&lt;mtext&gt;&lt;/mtext&gt;&lt;mo&gt;−&lt;/mo&gt;&lt;mtext&gt;&lt;/mtext&gt;&lt;mn&gt;3.4&lt;/mn&gt;&lt;mtext&gt;&lt;/mtext&gt;&lt;mo&gt;×&lt;/mo&gt;&lt;mrow data-mjx-texclass=&quot;INNER&quot;&gt;&lt;mo data-mjx-texclass=&quot;OPEN&quot;&gt;(&lt;/mo&gt;&lt;mo&gt;−&lt;/mo&gt;&lt;mn&gt;2&lt;/mn&gt;&lt;mo data-mjx-texclass=&quot;CLOSE&quot;&gt;)&lt;/mo&gt;&lt;/mrow&gt;&lt;mo&gt;+&lt;/mo&gt;&lt;mn&gt;1.2&lt;/mn&gt;&lt;/mtd&gt;&lt;/mtr&gt;&lt;mtr&gt;&lt;mtd&gt;&lt;mn&gt;8.2&lt;/mn&gt;&lt;mtext&gt;&lt;/mtext&gt;&lt;mo&gt;−&lt;/mo&gt;&lt;mtext&gt;&lt;/mtext&gt;&lt;mrow data-mjx-texclass=&quot;INNER&quot;&gt;&lt;mo data-mjx-texclass=&quot;OPEN&quot;&gt;(&lt;/mo&gt;&lt;mo&gt;−&lt;/mo&gt;&lt;mn&gt;6.8&lt;/mn&gt;&lt;mo data-mjx-texclass=&quot;CLOSE&quot;&gt;)&lt;/mo&gt;&lt;/mrow&gt;&lt;mo&gt;+&lt;/mo&gt;&lt;mn&gt;1.2&lt;/mn&gt;&lt;/mtd&gt;&lt;/mtr&gt;&lt;mtr&gt;&lt;mtd&gt;&lt;mn&gt;8.2&lt;/mn&gt;&lt;mo&gt;+&lt;/mo&gt;&lt;mn&gt;6.8&lt;/mn&gt;&lt;mo&gt;+&lt;/mo&gt;&lt;mn&gt;1.2&lt;/mn&gt;&lt;mtext&gt;&lt;/mtext&gt;&lt;mo&gt;=&lt;/mo&gt;&lt;mtext&gt;&lt;/mtext&gt;&lt;mn&gt;16.2&lt;/mn&gt;&lt;/mtd&gt;&lt;/mtr&gt;&lt;/mtable&gt;&lt;/math&gt;" id="1178" name="Google Shape;1178;p91" title="4 lines Line 1: 8.2 minus 3.4 times negative 2 plus twelve tenths Line 2: 8.2 minus 3.4 times negative 2 plus 1.2 Line 3: 8.2 minus negative 6.8 plus 1.2 Line 4: 8.2 plus 6.8 plus 1.2 equals 16.2"/>
          <p:cNvPicPr preferRelativeResize="0"/>
          <p:nvPr/>
        </p:nvPicPr>
        <p:blipFill rotWithShape="1">
          <a:blip r:embed="rId4">
            <a:alphaModFix/>
          </a:blip>
          <a:srcRect b="70050" l="0" r="0" t="0"/>
          <a:stretch/>
        </p:blipFill>
        <p:spPr>
          <a:xfrm>
            <a:off x="487483" y="2146035"/>
            <a:ext cx="3036762" cy="5083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8.2\ -\ 3.4\ \times\left(-2\right)+\frac{12}{10}\\&amp;#13;&amp;#10;8.2\ -\ 3.4\ \times\left(-2\right)+1.2\\&amp;#13;&amp;#10;8.2\ -\ \left(-6.8\right)+1.2\\&amp;#13;&amp;#10;8.2+6.8+1.2\ =\ 16.2\end{array}&quot;&gt;&lt;mtable columnalign=&quot;left&quot; columnspacing=&quot;1em&quot; rowspacing=&quot;4pt&quot;&gt;&lt;mtr&gt;&lt;mtd&gt;&lt;mn&gt;8.2&lt;/mn&gt;&lt;mtext&gt;&lt;/mtext&gt;&lt;mo&gt;−&lt;/mo&gt;&lt;mtext&gt;&lt;/mtext&gt;&lt;mn&gt;3.4&lt;/mn&gt;&lt;mtext&gt;&lt;/mtext&gt;&lt;mo&gt;×&lt;/mo&gt;&lt;mrow data-mjx-texclass=&quot;INNER&quot;&gt;&lt;mo data-mjx-texclass=&quot;OPEN&quot;&gt;(&lt;/mo&gt;&lt;mo&gt;−&lt;/mo&gt;&lt;mn&gt;2&lt;/mn&gt;&lt;mo data-mjx-texclass=&quot;CLOSE&quot;&gt;)&lt;/mo&gt;&lt;/mrow&gt;&lt;mo&gt;+&lt;/mo&gt;&lt;mfrac&gt;&lt;mn&gt;12&lt;/mn&gt;&lt;mn&gt;10&lt;/mn&gt;&lt;/mfrac&gt;&lt;/mtd&gt;&lt;/mtr&gt;&lt;mtr&gt;&lt;mtd&gt;&lt;mn&gt;8.2&lt;/mn&gt;&lt;mtext&gt;&lt;/mtext&gt;&lt;mo&gt;−&lt;/mo&gt;&lt;mtext&gt;&lt;/mtext&gt;&lt;mn&gt;3.4&lt;/mn&gt;&lt;mtext&gt;&lt;/mtext&gt;&lt;mo&gt;×&lt;/mo&gt;&lt;mrow data-mjx-texclass=&quot;INNER&quot;&gt;&lt;mo data-mjx-texclass=&quot;OPEN&quot;&gt;(&lt;/mo&gt;&lt;mo&gt;−&lt;/mo&gt;&lt;mn&gt;2&lt;/mn&gt;&lt;mo data-mjx-texclass=&quot;CLOSE&quot;&gt;)&lt;/mo&gt;&lt;/mrow&gt;&lt;mo&gt;+&lt;/mo&gt;&lt;mn&gt;1.2&lt;/mn&gt;&lt;/mtd&gt;&lt;/mtr&gt;&lt;mtr&gt;&lt;mtd&gt;&lt;mn&gt;8.2&lt;/mn&gt;&lt;mtext&gt;&lt;/mtext&gt;&lt;mo&gt;−&lt;/mo&gt;&lt;mtext&gt;&lt;/mtext&gt;&lt;mrow data-mjx-texclass=&quot;INNER&quot;&gt;&lt;mo data-mjx-texclass=&quot;OPEN&quot;&gt;(&lt;/mo&gt;&lt;mo&gt;−&lt;/mo&gt;&lt;mn&gt;6.8&lt;/mn&gt;&lt;mo data-mjx-texclass=&quot;CLOSE&quot;&gt;)&lt;/mo&gt;&lt;/mrow&gt;&lt;mo&gt;+&lt;/mo&gt;&lt;mn&gt;1.2&lt;/mn&gt;&lt;/mtd&gt;&lt;/mtr&gt;&lt;mtr&gt;&lt;mtd&gt;&lt;mn&gt;8.2&lt;/mn&gt;&lt;mo&gt;+&lt;/mo&gt;&lt;mn&gt;6.8&lt;/mn&gt;&lt;mo&gt;+&lt;/mo&gt;&lt;mn&gt;1.2&lt;/mn&gt;&lt;mtext&gt;&lt;/mtext&gt;&lt;mo&gt;=&lt;/mo&gt;&lt;mtext&gt;&lt;/mtext&gt;&lt;mn&gt;16.2&lt;/mn&gt;&lt;/mtd&gt;&lt;/mtr&gt;&lt;/mtable&gt;&lt;/math&gt;" id="1179" name="Google Shape;1179;p91" title="4 lines Line 1: 8.2 minus 3.4 times negative 2 plus twelve tenths Line 2: 8.2 minus 3.4 times negative 2 plus 1.2 Line 3: 8.2 minus negative 6.8 plus 1.2 Line 4: 8.2 plus 6.8 plus 1.2 equals 16.2"/>
          <p:cNvPicPr preferRelativeResize="0"/>
          <p:nvPr/>
        </p:nvPicPr>
        <p:blipFill rotWithShape="1">
          <a:blip r:embed="rId4">
            <a:alphaModFix/>
          </a:blip>
          <a:srcRect b="44224" l="-3955" r="-3248" t="25825"/>
          <a:stretch/>
        </p:blipFill>
        <p:spPr>
          <a:xfrm>
            <a:off x="378078" y="2806749"/>
            <a:ext cx="3255573" cy="5083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8.2\ -\ 3.4\ \times\left(-2\right)+\frac{12}{10}\\&amp;#13;&amp;#10;8.2\ -\ 3.4\ \times\left(-2\right)+1.2\\&amp;#13;&amp;#10;8.2\ -\ \left(-6.8\right)+1.2\\&amp;#13;&amp;#10;8.2+6.8+1.2\ =\ 16.2\end{array}&quot;&gt;&lt;mtable columnalign=&quot;left&quot; columnspacing=&quot;1em&quot; rowspacing=&quot;4pt&quot;&gt;&lt;mtr&gt;&lt;mtd&gt;&lt;mn&gt;8.2&lt;/mn&gt;&lt;mtext&gt;&lt;/mtext&gt;&lt;mo&gt;−&lt;/mo&gt;&lt;mtext&gt;&lt;/mtext&gt;&lt;mn&gt;3.4&lt;/mn&gt;&lt;mtext&gt;&lt;/mtext&gt;&lt;mo&gt;×&lt;/mo&gt;&lt;mrow data-mjx-texclass=&quot;INNER&quot;&gt;&lt;mo data-mjx-texclass=&quot;OPEN&quot;&gt;(&lt;/mo&gt;&lt;mo&gt;−&lt;/mo&gt;&lt;mn&gt;2&lt;/mn&gt;&lt;mo data-mjx-texclass=&quot;CLOSE&quot;&gt;)&lt;/mo&gt;&lt;/mrow&gt;&lt;mo&gt;+&lt;/mo&gt;&lt;mfrac&gt;&lt;mn&gt;12&lt;/mn&gt;&lt;mn&gt;10&lt;/mn&gt;&lt;/mfrac&gt;&lt;/mtd&gt;&lt;/mtr&gt;&lt;mtr&gt;&lt;mtd&gt;&lt;mn&gt;8.2&lt;/mn&gt;&lt;mtext&gt;&lt;/mtext&gt;&lt;mo&gt;−&lt;/mo&gt;&lt;mtext&gt;&lt;/mtext&gt;&lt;mn&gt;3.4&lt;/mn&gt;&lt;mtext&gt;&lt;/mtext&gt;&lt;mo&gt;×&lt;/mo&gt;&lt;mrow data-mjx-texclass=&quot;INNER&quot;&gt;&lt;mo data-mjx-texclass=&quot;OPEN&quot;&gt;(&lt;/mo&gt;&lt;mo&gt;−&lt;/mo&gt;&lt;mn&gt;2&lt;/mn&gt;&lt;mo data-mjx-texclass=&quot;CLOSE&quot;&gt;)&lt;/mo&gt;&lt;/mrow&gt;&lt;mo&gt;+&lt;/mo&gt;&lt;mn&gt;1.2&lt;/mn&gt;&lt;/mtd&gt;&lt;/mtr&gt;&lt;mtr&gt;&lt;mtd&gt;&lt;mn&gt;8.2&lt;/mn&gt;&lt;mtext&gt;&lt;/mtext&gt;&lt;mo&gt;−&lt;/mo&gt;&lt;mtext&gt;&lt;/mtext&gt;&lt;mrow data-mjx-texclass=&quot;INNER&quot;&gt;&lt;mo data-mjx-texclass=&quot;OPEN&quot;&gt;(&lt;/mo&gt;&lt;mo&gt;−&lt;/mo&gt;&lt;mn&gt;6.8&lt;/mn&gt;&lt;mo data-mjx-texclass=&quot;CLOSE&quot;&gt;)&lt;/mo&gt;&lt;/mrow&gt;&lt;mo&gt;+&lt;/mo&gt;&lt;mn&gt;1.2&lt;/mn&gt;&lt;/mtd&gt;&lt;/mtr&gt;&lt;mtr&gt;&lt;mtd&gt;&lt;mn&gt;8.2&lt;/mn&gt;&lt;mo&gt;+&lt;/mo&gt;&lt;mn&gt;6.8&lt;/mn&gt;&lt;mo&gt;+&lt;/mo&gt;&lt;mn&gt;1.2&lt;/mn&gt;&lt;mtext&gt;&lt;/mtext&gt;&lt;mo&gt;=&lt;/mo&gt;&lt;mtext&gt;&lt;/mtext&gt;&lt;mn&gt;16.2&lt;/mn&gt;&lt;/mtd&gt;&lt;/mtr&gt;&lt;/mtable&gt;&lt;/math&gt;" id="1180" name="Google Shape;1180;p91" title="4 lines Line 1: 8.2 minus 3.4 times negative 2 plus twelve tenths Line 2: 8.2 minus 3.4 times negative 2 plus 1.2 Line 3: 8.2 minus negative 6.8 plus 1.2 Line 4: 8.2 plus 6.8 plus 1.2 equals 16.2"/>
          <p:cNvPicPr preferRelativeResize="0"/>
          <p:nvPr/>
        </p:nvPicPr>
        <p:blipFill rotWithShape="1">
          <a:blip r:embed="rId4">
            <a:alphaModFix/>
          </a:blip>
          <a:srcRect b="16351" l="-3598" r="11568" t="53700"/>
          <a:stretch/>
        </p:blipFill>
        <p:spPr>
          <a:xfrm>
            <a:off x="363016" y="3458221"/>
            <a:ext cx="2794655" cy="5082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8.2\ -\ 3.4\ \times\left(-2\right)+\frac{12}{10}\\&amp;#13;&amp;#10;8.2\ -\ 3.4\ \times\left(-2\right)+1.2\\&amp;#13;&amp;#10;8.2\ -\ \left(-6.8\right)+1.2\\&amp;#13;&amp;#10;8.2+6.8+1.2\ =\ 16.2\end{array}&quot;&gt;&lt;mtable columnalign=&quot;left&quot; columnspacing=&quot;1em&quot; rowspacing=&quot;4pt&quot;&gt;&lt;mtr&gt;&lt;mtd&gt;&lt;mn&gt;8.2&lt;/mn&gt;&lt;mtext&gt;&lt;/mtext&gt;&lt;mo&gt;−&lt;/mo&gt;&lt;mtext&gt;&lt;/mtext&gt;&lt;mn&gt;3.4&lt;/mn&gt;&lt;mtext&gt;&lt;/mtext&gt;&lt;mo&gt;×&lt;/mo&gt;&lt;mrow data-mjx-texclass=&quot;INNER&quot;&gt;&lt;mo data-mjx-texclass=&quot;OPEN&quot;&gt;(&lt;/mo&gt;&lt;mo&gt;−&lt;/mo&gt;&lt;mn&gt;2&lt;/mn&gt;&lt;mo data-mjx-texclass=&quot;CLOSE&quot;&gt;)&lt;/mo&gt;&lt;/mrow&gt;&lt;mo&gt;+&lt;/mo&gt;&lt;mfrac&gt;&lt;mn&gt;12&lt;/mn&gt;&lt;mn&gt;10&lt;/mn&gt;&lt;/mfrac&gt;&lt;/mtd&gt;&lt;/mtr&gt;&lt;mtr&gt;&lt;mtd&gt;&lt;mn&gt;8.2&lt;/mn&gt;&lt;mtext&gt;&lt;/mtext&gt;&lt;mo&gt;−&lt;/mo&gt;&lt;mtext&gt;&lt;/mtext&gt;&lt;mn&gt;3.4&lt;/mn&gt;&lt;mtext&gt;&lt;/mtext&gt;&lt;mo&gt;×&lt;/mo&gt;&lt;mrow data-mjx-texclass=&quot;INNER&quot;&gt;&lt;mo data-mjx-texclass=&quot;OPEN&quot;&gt;(&lt;/mo&gt;&lt;mo&gt;−&lt;/mo&gt;&lt;mn&gt;2&lt;/mn&gt;&lt;mo data-mjx-texclass=&quot;CLOSE&quot;&gt;)&lt;/mo&gt;&lt;/mrow&gt;&lt;mo&gt;+&lt;/mo&gt;&lt;mn&gt;1.2&lt;/mn&gt;&lt;/mtd&gt;&lt;/mtr&gt;&lt;mtr&gt;&lt;mtd&gt;&lt;mn&gt;8.2&lt;/mn&gt;&lt;mtext&gt;&lt;/mtext&gt;&lt;mo&gt;−&lt;/mo&gt;&lt;mtext&gt;&lt;/mtext&gt;&lt;mrow data-mjx-texclass=&quot;INNER&quot;&gt;&lt;mo data-mjx-texclass=&quot;OPEN&quot;&gt;(&lt;/mo&gt;&lt;mo&gt;−&lt;/mo&gt;&lt;mn&gt;6.8&lt;/mn&gt;&lt;mo data-mjx-texclass=&quot;CLOSE&quot;&gt;)&lt;/mo&gt;&lt;/mrow&gt;&lt;mo&gt;+&lt;/mo&gt;&lt;mn&gt;1.2&lt;/mn&gt;&lt;/mtd&gt;&lt;/mtr&gt;&lt;mtr&gt;&lt;mtd&gt;&lt;mn&gt;8.2&lt;/mn&gt;&lt;mo&gt;+&lt;/mo&gt;&lt;mn&gt;6.8&lt;/mn&gt;&lt;mo&gt;+&lt;/mo&gt;&lt;mn&gt;1.2&lt;/mn&gt;&lt;mtext&gt;&lt;/mtext&gt;&lt;mo&gt;=&lt;/mo&gt;&lt;mtext&gt;&lt;/mtext&gt;&lt;mn&gt;16.2&lt;/mn&gt;&lt;/mtd&gt;&lt;/mtr&gt;&lt;/mtable&gt;&lt;/math&gt;" id="1181" name="Google Shape;1181;p91" title="4 lines Line 1: 8.2 minus 3.4 times negative 2 plus twelve tenths Line 2: 8.2 minus 3.4 times negative 2 plus 1.2 Line 3: 8.2 minus negative 6.8 plus 1.2 Line 4: 8.2 plus 6.8 plus 1.2 equals 16.2"/>
          <p:cNvPicPr preferRelativeResize="0"/>
          <p:nvPr/>
        </p:nvPicPr>
        <p:blipFill rotWithShape="1">
          <a:blip r:embed="rId4">
            <a:alphaModFix/>
          </a:blip>
          <a:srcRect b="-9541" l="-5254" r="32680" t="79593"/>
          <a:stretch/>
        </p:blipFill>
        <p:spPr>
          <a:xfrm>
            <a:off x="324000" y="4112360"/>
            <a:ext cx="2203872" cy="5082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8.2\ -\ 3.4\ \times\left(-2\right)+\frac{12}{10}\\&amp;#13;&amp;#10;8.2\ -\ 3.4\ \times\left(-2\right)+1.2\\&amp;#13;&amp;#10;8.2\ -\ \left(-6.8\right)+1.2\\&amp;#13;&amp;#10;8.2+6.8+1.2\ =\ 16.2\end{array}&quot;&gt;&lt;mtable columnalign=&quot;left&quot; columnspacing=&quot;1em&quot; rowspacing=&quot;4pt&quot;&gt;&lt;mtr&gt;&lt;mtd&gt;&lt;mn&gt;8.2&lt;/mn&gt;&lt;mtext&gt;&lt;/mtext&gt;&lt;mo&gt;−&lt;/mo&gt;&lt;mtext&gt;&lt;/mtext&gt;&lt;mn&gt;3.4&lt;/mn&gt;&lt;mtext&gt;&lt;/mtext&gt;&lt;mo&gt;×&lt;/mo&gt;&lt;mrow data-mjx-texclass=&quot;INNER&quot;&gt;&lt;mo data-mjx-texclass=&quot;OPEN&quot;&gt;(&lt;/mo&gt;&lt;mo&gt;−&lt;/mo&gt;&lt;mn&gt;2&lt;/mn&gt;&lt;mo data-mjx-texclass=&quot;CLOSE&quot;&gt;)&lt;/mo&gt;&lt;/mrow&gt;&lt;mo&gt;+&lt;/mo&gt;&lt;mfrac&gt;&lt;mn&gt;12&lt;/mn&gt;&lt;mn&gt;10&lt;/mn&gt;&lt;/mfrac&gt;&lt;/mtd&gt;&lt;/mtr&gt;&lt;mtr&gt;&lt;mtd&gt;&lt;mn&gt;8.2&lt;/mn&gt;&lt;mtext&gt;&lt;/mtext&gt;&lt;mo&gt;−&lt;/mo&gt;&lt;mtext&gt;&lt;/mtext&gt;&lt;mn&gt;3.4&lt;/mn&gt;&lt;mtext&gt;&lt;/mtext&gt;&lt;mo&gt;×&lt;/mo&gt;&lt;mrow data-mjx-texclass=&quot;INNER&quot;&gt;&lt;mo data-mjx-texclass=&quot;OPEN&quot;&gt;(&lt;/mo&gt;&lt;mo&gt;−&lt;/mo&gt;&lt;mn&gt;2&lt;/mn&gt;&lt;mo data-mjx-texclass=&quot;CLOSE&quot;&gt;)&lt;/mo&gt;&lt;/mrow&gt;&lt;mo&gt;+&lt;/mo&gt;&lt;mn&gt;1.2&lt;/mn&gt;&lt;/mtd&gt;&lt;/mtr&gt;&lt;mtr&gt;&lt;mtd&gt;&lt;mn&gt;8.2&lt;/mn&gt;&lt;mtext&gt;&lt;/mtext&gt;&lt;mo&gt;−&lt;/mo&gt;&lt;mtext&gt;&lt;/mtext&gt;&lt;mrow data-mjx-texclass=&quot;INNER&quot;&gt;&lt;mo data-mjx-texclass=&quot;OPEN&quot;&gt;(&lt;/mo&gt;&lt;mo&gt;−&lt;/mo&gt;&lt;mn&gt;6.8&lt;/mn&gt;&lt;mo data-mjx-texclass=&quot;CLOSE&quot;&gt;)&lt;/mo&gt;&lt;/mrow&gt;&lt;mo&gt;+&lt;/mo&gt;&lt;mn&gt;1.2&lt;/mn&gt;&lt;/mtd&gt;&lt;/mtr&gt;&lt;mtr&gt;&lt;mtd&gt;&lt;mn&gt;8.2&lt;/mn&gt;&lt;mo&gt;+&lt;/mo&gt;&lt;mn&gt;6.8&lt;/mn&gt;&lt;mo&gt;+&lt;/mo&gt;&lt;mn&gt;1.2&lt;/mn&gt;&lt;mtext&gt;&lt;/mtext&gt;&lt;mo&gt;=&lt;/mo&gt;&lt;mtext&gt;&lt;/mtext&gt;&lt;mn&gt;16.2&lt;/mn&gt;&lt;/mtd&gt;&lt;/mtr&gt;&lt;/mtable&gt;&lt;/math&gt;" id="1182" name="Google Shape;1182;p91" title="4 lines Line 1: 8.2 minus 3.4 times negative 2 plus twelve tenths Line 2: 8.2 minus 3.4 times negative 2 plus 1.2 Line 3: 8.2 minus negative 6.8 plus 1.2 Line 4: 8.2 plus 6.8 plus 1.2 equals 16.2"/>
          <p:cNvPicPr preferRelativeResize="0"/>
          <p:nvPr/>
        </p:nvPicPr>
        <p:blipFill rotWithShape="1">
          <a:blip r:embed="rId4">
            <a:alphaModFix/>
          </a:blip>
          <a:srcRect b="-6023" l="64719" r="-14940" t="79614"/>
          <a:stretch/>
        </p:blipFill>
        <p:spPr>
          <a:xfrm>
            <a:off x="2393949" y="4087003"/>
            <a:ext cx="1525100" cy="448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83" name="Google Shape;1183;p91"/>
          <p:cNvGrpSpPr/>
          <p:nvPr/>
        </p:nvGrpSpPr>
        <p:grpSpPr>
          <a:xfrm>
            <a:off x="5348325" y="1377250"/>
            <a:ext cx="3036900" cy="2589300"/>
            <a:chOff x="5348325" y="1377250"/>
            <a:chExt cx="3036900" cy="2589300"/>
          </a:xfrm>
        </p:grpSpPr>
        <p:sp>
          <p:nvSpPr>
            <p:cNvPr id="1184" name="Google Shape;1184;p91"/>
            <p:cNvSpPr/>
            <p:nvPr/>
          </p:nvSpPr>
          <p:spPr>
            <a:xfrm>
              <a:off x="5348325" y="1377250"/>
              <a:ext cx="3036900" cy="25893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begin{array}{l}\ \ \ \ \ 8.2\\&amp;#13;&amp;#10;\ \ \ \ \ 6.8\\&amp;#13;&amp;#10;\ +1.2\\&amp;#13;&amp;#10;\ \ \ 16.2\end{array}&quot;&gt;&lt;mtable columnalign=&quot;left&quot; columnspacing=&quot;1em&quot; rowspacing=&quot;4pt&quot;&gt;&lt;mtr&gt;&lt;mtd&gt;&lt;mtext&gt;&lt;/mtext&gt;&lt;mtext&gt;&lt;/mtext&gt;&lt;mtext&gt;&lt;/mtext&gt;&lt;mtext&gt;&lt;/mtext&gt;&lt;mtext&gt;&lt;/mtext&gt;&lt;mn&gt;8.2&lt;/mn&gt;&lt;/mtd&gt;&lt;/mtr&gt;&lt;mtr&gt;&lt;mtd&gt;&lt;mtext&gt;&lt;/mtext&gt;&lt;mtext&gt;&lt;/mtext&gt;&lt;mtext&gt;&lt;/mtext&gt;&lt;mtext&gt;&lt;/mtext&gt;&lt;mtext&gt;&lt;/mtext&gt;&lt;mn&gt;6.8&lt;/mn&gt;&lt;/mtd&gt;&lt;/mtr&gt;&lt;mtr&gt;&lt;mtd&gt;&lt;mtext&gt;&lt;/mtext&gt;&lt;mo&gt;+&lt;/mo&gt;&lt;mn&gt;1.2&lt;/mn&gt;&lt;/mtd&gt;&lt;/mtr&gt;&lt;mtr&gt;&lt;mtd&gt;&lt;mtext&gt;&lt;/mtext&gt;&lt;mtext&gt;&lt;/mtext&gt;&lt;mtext&gt;&lt;/mtext&gt;&lt;mn&gt;16.2&lt;/mn&gt;&lt;/mtd&gt;&lt;/mtr&gt;&lt;/mtable&gt;&lt;/math&gt;" id="1185" name="Google Shape;1185;p91" title="4 lines Line 1: 8.2 Line 2: 6.8 Line 3: positive 1.2 Line 4: 16.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472575" y="1747837"/>
              <a:ext cx="706900" cy="1647833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186" name="Google Shape;1186;p91"/>
            <p:cNvCxnSpPr/>
            <p:nvPr/>
          </p:nvCxnSpPr>
          <p:spPr>
            <a:xfrm>
              <a:off x="6516525" y="3057553"/>
              <a:ext cx="7005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87" name="Google Shape;1187;p91"/>
            <p:cNvCxnSpPr/>
            <p:nvPr/>
          </p:nvCxnSpPr>
          <p:spPr>
            <a:xfrm>
              <a:off x="6536889" y="3477090"/>
              <a:ext cx="7005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Priority of operations with negatives and decimals</a:t>
            </a:r>
            <a:endParaRPr/>
          </a:p>
        </p:txBody>
      </p:sp>
      <p:sp>
        <p:nvSpPr>
          <p:cNvPr id="1193" name="Google Shape;1193;p92"/>
          <p:cNvSpPr txBox="1"/>
          <p:nvPr>
            <p:ph idx="1" type="body"/>
          </p:nvPr>
        </p:nvSpPr>
        <p:spPr>
          <a:xfrm>
            <a:off x="2506200" y="1572350"/>
            <a:ext cx="1363500" cy="4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Example</a:t>
            </a:r>
            <a:endParaRPr sz="2100"/>
          </a:p>
        </p:txBody>
      </p:sp>
      <p:sp>
        <p:nvSpPr>
          <p:cNvPr id="1194" name="Google Shape;1194;p92"/>
          <p:cNvSpPr txBox="1"/>
          <p:nvPr>
            <p:ph idx="1" type="body"/>
          </p:nvPr>
        </p:nvSpPr>
        <p:spPr>
          <a:xfrm>
            <a:off x="369650" y="693275"/>
            <a:ext cx="7885200" cy="87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With decimals, you simply need to ensure you add, subtract, multiply and divide using an efficient method.</a:t>
            </a:r>
            <a:endParaRPr sz="2100"/>
          </a:p>
        </p:txBody>
      </p:sp>
      <p:sp>
        <p:nvSpPr>
          <p:cNvPr id="1195" name="Google Shape;1195;p92"/>
          <p:cNvSpPr txBox="1"/>
          <p:nvPr>
            <p:ph idx="1" type="body"/>
          </p:nvPr>
        </p:nvSpPr>
        <p:spPr>
          <a:xfrm>
            <a:off x="2506200" y="2708900"/>
            <a:ext cx="5322000" cy="4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What is the first step?</a:t>
            </a:r>
            <a:endParaRPr sz="2100"/>
          </a:p>
        </p:txBody>
      </p:sp>
      <p:pic>
        <p:nvPicPr>
          <p:cNvPr descr="&lt;math xmlns=&quot;http://www.w3.org/1998/Math/MathML&quot; display=&quot;block&quot; data-is-equatio=&quot;1&quot; data-latex=&quot;4.5\ +\ 2.3\ \times9.1\ -\frac{3}{1+9}&quot;&gt;&lt;mn&gt;4.5&lt;/mn&gt;&lt;mtext&gt;&lt;/mtext&gt;&lt;mo&gt;+&lt;/mo&gt;&lt;mtext&gt;&lt;/mtext&gt;&lt;mn&gt;2.3&lt;/mn&gt;&lt;mtext&gt;&lt;/mtext&gt;&lt;mo&gt;×&lt;/mo&gt;&lt;mn&gt;9.1&lt;/mn&gt;&lt;mtext&gt;&lt;/mtext&gt;&lt;mo&gt;−&lt;/mo&gt;&lt;mfrac&gt;&lt;mn&gt;3&lt;/mn&gt;&lt;mrow&gt;&lt;mn&gt;1&lt;/mn&gt;&lt;mo&gt;+&lt;/mo&gt;&lt;mn&gt;9&lt;/mn&gt;&lt;/mrow&gt;&lt;/mfrac&gt;&lt;/math&gt;" id="1196" name="Google Shape;1196;p92" title="4.5 plus 2.3 times 9.1 negative the fraction with numerator 3 and denominator 1 plus 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6200" y="1865875"/>
            <a:ext cx="3041347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7" name="Google Shape;1197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1733610"/>
            <a:ext cx="2055006" cy="166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.5\ +\ 2.3\ \times9.1\ -\frac{3}{10}&quot;&gt;&lt;mn&gt;4.5&lt;/mn&gt;&lt;mtext&gt;&lt;/mtext&gt;&lt;mo&gt;+&lt;/mo&gt;&lt;mtext&gt;&lt;/mtext&gt;&lt;mn&gt;2.3&lt;/mn&gt;&lt;mtext&gt;&lt;/mtext&gt;&lt;mo&gt;×&lt;/mo&gt;&lt;mn&gt;9.1&lt;/mn&gt;&lt;mtext&gt;&lt;/mtext&gt;&lt;mo&gt;−&lt;/mo&gt;&lt;mfrac&gt;&lt;mn&gt;3&lt;/mn&gt;&lt;mn&gt;10&lt;/mn&gt;&lt;/mfrac&gt;&lt;/math&gt;" id="1198" name="Google Shape;1198;p92" title="4.5 plus 2.3 times 9.1 negative three ten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06200" y="3240001"/>
            <a:ext cx="2999892" cy="66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9" name="Google Shape;1199;p92"/>
          <p:cNvSpPr txBox="1"/>
          <p:nvPr>
            <p:ph idx="1" type="body"/>
          </p:nvPr>
        </p:nvSpPr>
        <p:spPr>
          <a:xfrm>
            <a:off x="2542025" y="4013950"/>
            <a:ext cx="3865500" cy="4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What is next?</a:t>
            </a:r>
            <a:endParaRPr sz="2100"/>
          </a:p>
        </p:txBody>
      </p:sp>
      <p:cxnSp>
        <p:nvCxnSpPr>
          <p:cNvPr id="1200" name="Google Shape;1200;p92"/>
          <p:cNvCxnSpPr>
            <a:stCxn id="1201" idx="1"/>
          </p:cNvCxnSpPr>
          <p:nvPr/>
        </p:nvCxnSpPr>
        <p:spPr>
          <a:xfrm flipH="1">
            <a:off x="5707900" y="1965650"/>
            <a:ext cx="646800" cy="3027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01" name="Google Shape;1201;p92"/>
          <p:cNvSpPr txBox="1"/>
          <p:nvPr>
            <p:ph idx="1" type="body"/>
          </p:nvPr>
        </p:nvSpPr>
        <p:spPr>
          <a:xfrm>
            <a:off x="6354700" y="1752950"/>
            <a:ext cx="2001000" cy="4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Implicit brackets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p93"/>
          <p:cNvSpPr/>
          <p:nvPr/>
        </p:nvSpPr>
        <p:spPr>
          <a:xfrm>
            <a:off x="5871450" y="1462100"/>
            <a:ext cx="2948700" cy="2135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4.5\ +\ 2.3\ \times9.1\ -\frac{3}{10}&quot;&gt;&lt;mn&gt;4.5&lt;/mn&gt;&lt;mtext&gt;&lt;/mtext&gt;&lt;mo&gt;+&lt;/mo&gt;&lt;mtext&gt;&lt;/mtext&gt;&lt;mn&gt;2.3&lt;/mn&gt;&lt;mtext&gt;&lt;/mtext&gt;&lt;mo&gt;×&lt;/mo&gt;&lt;mn&gt;9.1&lt;/mn&gt;&lt;mtext&gt;&lt;/mtext&gt;&lt;mo&gt;−&lt;/mo&gt;&lt;mfrac&gt;&lt;mn&gt;3&lt;/mn&gt;&lt;mn&gt;10&lt;/mn&gt;&lt;/mfrac&gt;&lt;/math&gt;" id="1207" name="Google Shape;1207;p93" title="4.5 plus 2.3 times 9.1 negative three t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6925" y="2633851"/>
            <a:ext cx="2999892" cy="66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8" name="Google Shape;1208;p93"/>
          <p:cNvSpPr txBox="1"/>
          <p:nvPr>
            <p:ph idx="1" type="body"/>
          </p:nvPr>
        </p:nvSpPr>
        <p:spPr>
          <a:xfrm>
            <a:off x="2506200" y="1572350"/>
            <a:ext cx="1363500" cy="4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Example</a:t>
            </a:r>
            <a:endParaRPr sz="2100"/>
          </a:p>
        </p:txBody>
      </p:sp>
      <p:sp>
        <p:nvSpPr>
          <p:cNvPr id="1209" name="Google Shape;1209;p93"/>
          <p:cNvSpPr txBox="1"/>
          <p:nvPr>
            <p:ph idx="1" type="body"/>
          </p:nvPr>
        </p:nvSpPr>
        <p:spPr>
          <a:xfrm>
            <a:off x="369650" y="693275"/>
            <a:ext cx="7885200" cy="87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With decimals, you simply need to ensure you add, subtract, multiply and divide using an efficient method.</a:t>
            </a:r>
            <a:endParaRPr sz="2100"/>
          </a:p>
        </p:txBody>
      </p:sp>
      <p:pic>
        <p:nvPicPr>
          <p:cNvPr descr="&lt;math xmlns=&quot;http://www.w3.org/1998/Math/MathML&quot; display=&quot;block&quot; data-is-equatio=&quot;1&quot; data-latex=&quot;4.5\ +\ 2.3\ \times9.1\ -\frac{3}{1+9}&quot;&gt;&lt;mn&gt;4.5&lt;/mn&gt;&lt;mtext&gt;&lt;/mtext&gt;&lt;mo&gt;+&lt;/mo&gt;&lt;mtext&gt;&lt;/mtext&gt;&lt;mn&gt;2.3&lt;/mn&gt;&lt;mtext&gt;&lt;/mtext&gt;&lt;mo&gt;×&lt;/mo&gt;&lt;mn&gt;9.1&lt;/mn&gt;&lt;mtext&gt;&lt;/mtext&gt;&lt;mo&gt;−&lt;/mo&gt;&lt;mfrac&gt;&lt;mn&gt;3&lt;/mn&gt;&lt;mrow&gt;&lt;mn&gt;1&lt;/mn&gt;&lt;mo&gt;+&lt;/mo&gt;&lt;mn&gt;9&lt;/mn&gt;&lt;/mrow&gt;&lt;/mfrac&gt;&lt;/math&gt;" id="1210" name="Google Shape;1210;p93" title="4.5 plus 2.3 times 9.1 negative the fraction with numerator 3 and denominator 1 plus 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06200" y="1865875"/>
            <a:ext cx="3041347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1" name="Google Shape;1211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000" y="1733610"/>
            <a:ext cx="2055006" cy="166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2" name="Google Shape;1212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Priority of operations with negatives and decimals</a:t>
            </a:r>
            <a:endParaRPr/>
          </a:p>
        </p:txBody>
      </p:sp>
      <p:sp>
        <p:nvSpPr>
          <p:cNvPr id="1213" name="Google Shape;1213;p93"/>
          <p:cNvSpPr txBox="1"/>
          <p:nvPr/>
        </p:nvSpPr>
        <p:spPr>
          <a:xfrm>
            <a:off x="-1587750" y="705050"/>
            <a:ext cx="1405500" cy="14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214" name="Google Shape;1214;p93"/>
          <p:cNvGraphicFramePr/>
          <p:nvPr/>
        </p:nvGraphicFramePr>
        <p:xfrm>
          <a:off x="5982025" y="1733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{4C56B207-4C48-4F0F-B7F7-51BF5C690243}</a:tableStyleId>
              </a:tblPr>
              <a:tblGrid>
                <a:gridCol w="473975"/>
                <a:gridCol w="772850"/>
                <a:gridCol w="614650"/>
              </a:tblGrid>
              <a:tr h="361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</a:tr>
              <a:tr h="361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61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begin{array}{l}\ \ 1800\\&amp;#13;&amp;#10;\ \ \ \ 270\\&amp;#13;&amp;#10;\ \ \ \ \ \ 20\\&amp;#13;&amp;#10;\ \ \ +\ 3\\&amp;#13;&amp;#10;\ \ 2093\end{array}&quot;&gt;&lt;mtable columnalign=&quot;left&quot; columnspacing=&quot;1em&quot; rowspacing=&quot;4pt&quot;&gt;&lt;mtr&gt;&lt;mtd&gt;&lt;mtext&gt;&lt;/mtext&gt;&lt;mtext&gt;&lt;/mtext&gt;&lt;mn&gt;1800&lt;/mn&gt;&lt;/mtd&gt;&lt;/mtr&gt;&lt;mtr&gt;&lt;mtd&gt;&lt;mtext&gt;&lt;/mtext&gt;&lt;mtext&gt;&lt;/mtext&gt;&lt;mtext&gt;&lt;/mtext&gt;&lt;mtext&gt;&lt;/mtext&gt;&lt;mn&gt;270&lt;/mn&gt;&lt;/mtd&gt;&lt;/mtr&gt;&lt;mtr&gt;&lt;mtd&gt;&lt;mtext&gt;&lt;/mtext&gt;&lt;mtext&gt;&lt;/mtext&gt;&lt;mtext&gt;&lt;/mtext&gt;&lt;mtext&gt;&lt;/mtext&gt;&lt;mtext&gt;&lt;/mtext&gt;&lt;mtext&gt;&lt;/mtext&gt;&lt;mn&gt;20&lt;/mn&gt;&lt;/mtd&gt;&lt;/mtr&gt;&lt;mtr&gt;&lt;mtd&gt;&lt;mtext&gt;&lt;/mtext&gt;&lt;mtext&gt;&lt;/mtext&gt;&lt;mtext&gt;&lt;/mtext&gt;&lt;mo&gt;+&lt;/mo&gt;&lt;mtext&gt;&lt;/mtext&gt;&lt;mn&gt;3&lt;/mn&gt;&lt;/mtd&gt;&lt;/mtr&gt;&lt;mtr&gt;&lt;mtd&gt;&lt;mtext&gt;&lt;/mtext&gt;&lt;mtext&gt;&lt;/mtext&gt;&lt;mn&gt;2093&lt;/mn&gt;&lt;/mtd&gt;&lt;/mtr&gt;&lt;/mtable&gt;&lt;/math&gt;" id="1215" name="Google Shape;1215;p93" title="5 lines Line 1: 1800 Line 2: 270 Line 3: 20 Line 4: plus 3 Line 5: 209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30750" y="1575850"/>
            <a:ext cx="486000" cy="15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3\times0.1\times91\times0.1&quot;&gt;&lt;mn&gt;23&lt;/mn&gt;&lt;mo&gt;×&lt;/mo&gt;&lt;mn&gt;0.1&lt;/mn&gt;&lt;mo&gt;×&lt;/mo&gt;&lt;mn&gt;91&lt;/mn&gt;&lt;mo&gt;×&lt;/mo&gt;&lt;mn&gt;0.1&lt;/mn&gt;&lt;/math&gt;" id="1216" name="Google Shape;1216;p93" title="23 times 0.1 times 91 times 0.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00038" y="3597500"/>
            <a:ext cx="2347400" cy="21863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17" name="Google Shape;1217;p93"/>
          <p:cNvGrpSpPr/>
          <p:nvPr/>
        </p:nvGrpSpPr>
        <p:grpSpPr>
          <a:xfrm>
            <a:off x="3407998" y="3031875"/>
            <a:ext cx="1326831" cy="437401"/>
            <a:chOff x="3407998" y="3031875"/>
            <a:chExt cx="1326831" cy="437401"/>
          </a:xfrm>
        </p:grpSpPr>
        <p:grpSp>
          <p:nvGrpSpPr>
            <p:cNvPr id="1218" name="Google Shape;1218;p93"/>
            <p:cNvGrpSpPr/>
            <p:nvPr/>
          </p:nvGrpSpPr>
          <p:grpSpPr>
            <a:xfrm>
              <a:off x="3407998" y="3031875"/>
              <a:ext cx="1326831" cy="132000"/>
              <a:chOff x="3998375" y="3352825"/>
              <a:chExt cx="1500600" cy="132000"/>
            </a:xfrm>
          </p:grpSpPr>
          <p:cxnSp>
            <p:nvCxnSpPr>
              <p:cNvPr id="1219" name="Google Shape;1219;p93"/>
              <p:cNvCxnSpPr/>
              <p:nvPr/>
            </p:nvCxnSpPr>
            <p:spPr>
              <a:xfrm>
                <a:off x="3998375" y="3484825"/>
                <a:ext cx="15006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20" name="Google Shape;1220;p93"/>
              <p:cNvCxnSpPr/>
              <p:nvPr/>
            </p:nvCxnSpPr>
            <p:spPr>
              <a:xfrm rot="10800000">
                <a:off x="3998375" y="3352825"/>
                <a:ext cx="1200" cy="1221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21" name="Google Shape;1221;p93"/>
              <p:cNvCxnSpPr/>
              <p:nvPr/>
            </p:nvCxnSpPr>
            <p:spPr>
              <a:xfrm rot="10800000">
                <a:off x="5475350" y="3352825"/>
                <a:ext cx="1200" cy="1221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1222" name="Google Shape;1222;p93"/>
            <p:cNvCxnSpPr/>
            <p:nvPr/>
          </p:nvCxnSpPr>
          <p:spPr>
            <a:xfrm>
              <a:off x="4026871" y="3163876"/>
              <a:ext cx="0" cy="3054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&lt;math xmlns=&quot;http://www.w3.org/1998/Math/MathML&quot; display=&quot;block&quot; data-is-equatio=&quot;1&quot; data-latex=&quot;23\times91\times0.01\ =\ 20.93&quot;&gt;&lt;mn&gt;23&lt;/mn&gt;&lt;mo&gt;×&lt;/mo&gt;&lt;mn&gt;91&lt;/mn&gt;&lt;mo&gt;×&lt;/mo&gt;&lt;mn&gt;0.01&lt;/mn&gt;&lt;mtext&gt;&lt;/mtext&gt;&lt;mo&gt;=&lt;/mo&gt;&lt;mtext&gt;&lt;/mtext&gt;&lt;mn&gt;20.93&lt;/mn&gt;&lt;/math&gt;" id="1223" name="Google Shape;1223;p93" title="23 times 91 times 0.01 equals 20.93"/>
          <p:cNvPicPr preferRelativeResize="0"/>
          <p:nvPr/>
        </p:nvPicPr>
        <p:blipFill rotWithShape="1">
          <a:blip r:embed="rId8">
            <a:alphaModFix/>
          </a:blip>
          <a:srcRect b="0" l="0" r="35312" t="0"/>
          <a:stretch/>
        </p:blipFill>
        <p:spPr>
          <a:xfrm>
            <a:off x="6049600" y="3238225"/>
            <a:ext cx="1676951" cy="192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3\times91\times0.01\ =\ 20.93&quot;&gt;&lt;mn&gt;23&lt;/mn&gt;&lt;mo&gt;×&lt;/mo&gt;&lt;mn&gt;91&lt;/mn&gt;&lt;mo&gt;×&lt;/mo&gt;&lt;mn&gt;0.01&lt;/mn&gt;&lt;mtext&gt;&lt;/mtext&gt;&lt;mo&gt;=&lt;/mo&gt;&lt;mtext&gt;&lt;/mtext&gt;&lt;mn&gt;20.93&lt;/mn&gt;&lt;/math&gt;" id="1224" name="Google Shape;1224;p93" title="23 times 91 times 0.01 equals 20.9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44400" y="3240457"/>
            <a:ext cx="2592401" cy="192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25" name="Google Shape;1225;p93"/>
          <p:cNvCxnSpPr/>
          <p:nvPr/>
        </p:nvCxnSpPr>
        <p:spPr>
          <a:xfrm>
            <a:off x="8018000" y="2843275"/>
            <a:ext cx="7005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6" name="Google Shape;1226;p93"/>
          <p:cNvCxnSpPr/>
          <p:nvPr/>
        </p:nvCxnSpPr>
        <p:spPr>
          <a:xfrm>
            <a:off x="8008140" y="3143928"/>
            <a:ext cx="7005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4.5\ +\ 2.3\ \times9.1\ -\frac{3}{10}&quot;&gt;&lt;mn&gt;4.5&lt;/mn&gt;&lt;mtext&gt;&lt;/mtext&gt;&lt;mo&gt;+&lt;/mo&gt;&lt;mtext&gt;&lt;/mtext&gt;&lt;mn&gt;2.3&lt;/mn&gt;&lt;mtext&gt;&lt;/mtext&gt;&lt;mo&gt;×&lt;/mo&gt;&lt;mn&gt;9.1&lt;/mn&gt;&lt;mtext&gt;&lt;/mtext&gt;&lt;mo&gt;−&lt;/mo&gt;&lt;mfrac&gt;&lt;mn&gt;3&lt;/mn&gt;&lt;mn&gt;10&lt;/mn&gt;&lt;/mfrac&gt;&lt;/math&gt;" id="1231" name="Google Shape;1231;p94" title="4.5 plus 2.3 times 9.1 negative three t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6925" y="2633851"/>
            <a:ext cx="2999892" cy="66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2" name="Google Shape;1232;p94"/>
          <p:cNvSpPr txBox="1"/>
          <p:nvPr>
            <p:ph idx="1" type="body"/>
          </p:nvPr>
        </p:nvSpPr>
        <p:spPr>
          <a:xfrm>
            <a:off x="2506200" y="1572350"/>
            <a:ext cx="1363500" cy="4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Example</a:t>
            </a:r>
            <a:endParaRPr sz="2100"/>
          </a:p>
        </p:txBody>
      </p:sp>
      <p:sp>
        <p:nvSpPr>
          <p:cNvPr id="1233" name="Google Shape;1233;p94"/>
          <p:cNvSpPr txBox="1"/>
          <p:nvPr>
            <p:ph idx="1" type="body"/>
          </p:nvPr>
        </p:nvSpPr>
        <p:spPr>
          <a:xfrm>
            <a:off x="369650" y="693275"/>
            <a:ext cx="7885200" cy="87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With decimals, you simply need to ensure you add, subtract, multiply and divide using an efficient method.</a:t>
            </a:r>
            <a:endParaRPr sz="2100"/>
          </a:p>
        </p:txBody>
      </p:sp>
      <p:grpSp>
        <p:nvGrpSpPr>
          <p:cNvPr id="1234" name="Google Shape;1234;p94"/>
          <p:cNvGrpSpPr/>
          <p:nvPr/>
        </p:nvGrpSpPr>
        <p:grpSpPr>
          <a:xfrm>
            <a:off x="3407998" y="3031875"/>
            <a:ext cx="1326831" cy="132000"/>
            <a:chOff x="3998375" y="3352825"/>
            <a:chExt cx="1500600" cy="132000"/>
          </a:xfrm>
        </p:grpSpPr>
        <p:cxnSp>
          <p:nvCxnSpPr>
            <p:cNvPr id="1235" name="Google Shape;1235;p94"/>
            <p:cNvCxnSpPr/>
            <p:nvPr/>
          </p:nvCxnSpPr>
          <p:spPr>
            <a:xfrm>
              <a:off x="3998375" y="3484825"/>
              <a:ext cx="15006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6" name="Google Shape;1236;p94"/>
            <p:cNvCxnSpPr/>
            <p:nvPr/>
          </p:nvCxnSpPr>
          <p:spPr>
            <a:xfrm rot="10800000">
              <a:off x="3998375" y="3352825"/>
              <a:ext cx="1200" cy="1221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7" name="Google Shape;1237;p94"/>
            <p:cNvCxnSpPr/>
            <p:nvPr/>
          </p:nvCxnSpPr>
          <p:spPr>
            <a:xfrm rot="10800000">
              <a:off x="5475350" y="3352825"/>
              <a:ext cx="1200" cy="1221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&lt;math xmlns=&quot;http://www.w3.org/1998/Math/MathML&quot; display=&quot;block&quot; data-is-equatio=&quot;1&quot; data-latex=&quot;4.5\ +\ 2.3\ \times9.1\ -\frac{3}{1+9}&quot;&gt;&lt;mn&gt;4.5&lt;/mn&gt;&lt;mtext&gt;&lt;/mtext&gt;&lt;mo&gt;+&lt;/mo&gt;&lt;mtext&gt;&lt;/mtext&gt;&lt;mn&gt;2.3&lt;/mn&gt;&lt;mtext&gt;&lt;/mtext&gt;&lt;mo&gt;×&lt;/mo&gt;&lt;mn&gt;9.1&lt;/mn&gt;&lt;mtext&gt;&lt;/mtext&gt;&lt;mo&gt;−&lt;/mo&gt;&lt;mfrac&gt;&lt;mn&gt;3&lt;/mn&gt;&lt;mrow&gt;&lt;mn&gt;1&lt;/mn&gt;&lt;mo&gt;+&lt;/mo&gt;&lt;mn&gt;9&lt;/mn&gt;&lt;/mrow&gt;&lt;/mfrac&gt;&lt;/math&gt;" id="1238" name="Google Shape;1238;p94" title="4.5 plus 2.3 times 9.1 negative the fraction with numerator 3 and denominator 1 plus 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06200" y="1865875"/>
            <a:ext cx="3041347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.5\ +\ 20.93\ -0.3\ =\ 25.13&quot;&gt;&lt;mn&gt;4.5&lt;/mn&gt;&lt;mtext&gt;&lt;/mtext&gt;&lt;mo&gt;+&lt;/mo&gt;&lt;mtext&gt;&lt;/mtext&gt;&lt;mn&gt;20.93&lt;/mn&gt;&lt;mtext&gt;&lt;/mtext&gt;&lt;mo&gt;−&lt;/mo&gt;&lt;mn&gt;0.3&lt;/mn&gt;&lt;mtext&gt;&lt;/mtext&gt;&lt;mo&gt;=&lt;/mo&gt;&lt;mtext&gt;&lt;/mtext&gt;&lt;mn&gt;25.13&lt;/mn&gt;&lt;/math&gt;" id="1239" name="Google Shape;1239;p94" title="4.5 plus 20.93 negative 0.3 equals 25.13"/>
          <p:cNvPicPr preferRelativeResize="0"/>
          <p:nvPr/>
        </p:nvPicPr>
        <p:blipFill rotWithShape="1">
          <a:blip r:embed="rId5">
            <a:alphaModFix/>
          </a:blip>
          <a:srcRect b="0" l="0" r="31072" t="0"/>
          <a:stretch/>
        </p:blipFill>
        <p:spPr>
          <a:xfrm>
            <a:off x="2526925" y="3647350"/>
            <a:ext cx="2528575" cy="22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0" name="Google Shape;1240;p9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4000" y="1733610"/>
            <a:ext cx="2055006" cy="166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1" name="Google Shape;1241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Priority of operations with negatives and decimals</a:t>
            </a:r>
            <a:endParaRPr/>
          </a:p>
        </p:txBody>
      </p:sp>
      <p:sp>
        <p:nvSpPr>
          <p:cNvPr id="1242" name="Google Shape;1242;p94"/>
          <p:cNvSpPr/>
          <p:nvPr/>
        </p:nvSpPr>
        <p:spPr>
          <a:xfrm>
            <a:off x="5871450" y="1462100"/>
            <a:ext cx="2948700" cy="2135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243" name="Google Shape;1243;p94"/>
          <p:cNvGraphicFramePr/>
          <p:nvPr/>
        </p:nvGraphicFramePr>
        <p:xfrm>
          <a:off x="5982025" y="1733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{4C56B207-4C48-4F0F-B7F7-51BF5C690243}</a:tableStyleId>
              </a:tblPr>
              <a:tblGrid>
                <a:gridCol w="473975"/>
                <a:gridCol w="772850"/>
                <a:gridCol w="614650"/>
              </a:tblGrid>
              <a:tr h="361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</a:tr>
              <a:tr h="361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61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begin{array}{l}\ \ 1800\\&amp;#13;&amp;#10;\ \ \ \ 270\\&amp;#13;&amp;#10;\ \ \ \ \ \ 20\\&amp;#13;&amp;#10;\ \ \ +\ 3\\&amp;#13;&amp;#10;\ \ 2093\end{array}&quot;&gt;&lt;mtable columnalign=&quot;left&quot; columnspacing=&quot;1em&quot; rowspacing=&quot;4pt&quot;&gt;&lt;mtr&gt;&lt;mtd&gt;&lt;mtext&gt;&lt;/mtext&gt;&lt;mtext&gt;&lt;/mtext&gt;&lt;mn&gt;1800&lt;/mn&gt;&lt;/mtd&gt;&lt;/mtr&gt;&lt;mtr&gt;&lt;mtd&gt;&lt;mtext&gt;&lt;/mtext&gt;&lt;mtext&gt;&lt;/mtext&gt;&lt;mtext&gt;&lt;/mtext&gt;&lt;mtext&gt;&lt;/mtext&gt;&lt;mn&gt;270&lt;/mn&gt;&lt;/mtd&gt;&lt;/mtr&gt;&lt;mtr&gt;&lt;mtd&gt;&lt;mtext&gt;&lt;/mtext&gt;&lt;mtext&gt;&lt;/mtext&gt;&lt;mtext&gt;&lt;/mtext&gt;&lt;mtext&gt;&lt;/mtext&gt;&lt;mtext&gt;&lt;/mtext&gt;&lt;mtext&gt;&lt;/mtext&gt;&lt;mn&gt;20&lt;/mn&gt;&lt;/mtd&gt;&lt;/mtr&gt;&lt;mtr&gt;&lt;mtd&gt;&lt;mtext&gt;&lt;/mtext&gt;&lt;mtext&gt;&lt;/mtext&gt;&lt;mtext&gt;&lt;/mtext&gt;&lt;mo&gt;+&lt;/mo&gt;&lt;mtext&gt;&lt;/mtext&gt;&lt;mn&gt;3&lt;/mn&gt;&lt;/mtd&gt;&lt;/mtr&gt;&lt;mtr&gt;&lt;mtd&gt;&lt;mtext&gt;&lt;/mtext&gt;&lt;mtext&gt;&lt;/mtext&gt;&lt;mn&gt;2093&lt;/mn&gt;&lt;/mtd&gt;&lt;/mtr&gt;&lt;/mtable&gt;&lt;/math&gt;" id="1244" name="Google Shape;1244;p94" title="5 lines Line 1: 1800 Line 2: 270 Line 3: 20 Line 4: plus 3 Line 5: 209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134074" y="1575850"/>
            <a:ext cx="487457" cy="1506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3\times91\times0.01\ =\ 20.93&quot;&gt;&lt;mn&gt;23&lt;/mn&gt;&lt;mo&gt;×&lt;/mo&gt;&lt;mn&gt;91&lt;/mn&gt;&lt;mo&gt;×&lt;/mo&gt;&lt;mn&gt;0.01&lt;/mn&gt;&lt;mtext&gt;&lt;/mtext&gt;&lt;mo&gt;=&lt;/mo&gt;&lt;mtext&gt;&lt;/mtext&gt;&lt;mn&gt;20.93&lt;/mn&gt;&lt;/math&gt;" id="1245" name="Google Shape;1245;p94" title="23 times 91 times 0.01 equals 20.93"/>
          <p:cNvPicPr preferRelativeResize="0"/>
          <p:nvPr/>
        </p:nvPicPr>
        <p:blipFill rotWithShape="1">
          <a:blip r:embed="rId8">
            <a:alphaModFix/>
          </a:blip>
          <a:srcRect b="0" l="0" r="35312" t="0"/>
          <a:stretch/>
        </p:blipFill>
        <p:spPr>
          <a:xfrm>
            <a:off x="6049600" y="3238225"/>
            <a:ext cx="1676951" cy="192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3\times91\times0.01\ =\ 20.93&quot;&gt;&lt;mn&gt;23&lt;/mn&gt;&lt;mo&gt;×&lt;/mo&gt;&lt;mn&gt;91&lt;/mn&gt;&lt;mo&gt;×&lt;/mo&gt;&lt;mn&gt;0.01&lt;/mn&gt;&lt;mtext&gt;&lt;/mtext&gt;&lt;mo&gt;=&lt;/mo&gt;&lt;mtext&gt;&lt;/mtext&gt;&lt;mn&gt;20.93&lt;/mn&gt;&lt;/math&gt;" id="1246" name="Google Shape;1246;p94" title="23 times 91 times 0.01 equals 20.9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43120" y="3240457"/>
            <a:ext cx="2592401" cy="192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47" name="Google Shape;1247;p94"/>
          <p:cNvCxnSpPr/>
          <p:nvPr/>
        </p:nvCxnSpPr>
        <p:spPr>
          <a:xfrm>
            <a:off x="8018000" y="2843275"/>
            <a:ext cx="7005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8" name="Google Shape;1248;p94"/>
          <p:cNvCxnSpPr/>
          <p:nvPr/>
        </p:nvCxnSpPr>
        <p:spPr>
          <a:xfrm>
            <a:off x="8008140" y="3143928"/>
            <a:ext cx="7005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9" name="Google Shape;1249;p94"/>
          <p:cNvSpPr/>
          <p:nvPr/>
        </p:nvSpPr>
        <p:spPr>
          <a:xfrm>
            <a:off x="5922000" y="3647350"/>
            <a:ext cx="2528700" cy="1182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4.5\ +\ 20.93\ +\left(-0.3\right)&quot;&gt;&lt;mn&gt;4.5&lt;/mn&gt;&lt;mtext&gt;&lt;/mtext&gt;&lt;mo&gt;+&lt;/mo&gt;&lt;mtext&gt;&lt;/mtext&gt;&lt;mn&gt;20.93&lt;/mn&gt;&lt;mtext&gt;&lt;/mtext&gt;&lt;mo&gt;+&lt;/mo&gt;&lt;mrow data-mjx-texclass=&quot;INNER&quot;&gt;&lt;mo data-mjx-texclass=&quot;OPEN&quot;&gt;(&lt;/mo&gt;&lt;mo&gt;−&lt;/mo&gt;&lt;mn&gt;0.3&lt;/mn&gt;&lt;mo data-mjx-texclass=&quot;CLOSE&quot;&gt;)&lt;/mo&gt;&lt;/mrow&gt;&lt;/math&gt;" id="1250" name="Google Shape;1250;p94" title="4.5 plus 20.93 positive negative 0.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506199" y="4274200"/>
            <a:ext cx="3041350" cy="2936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 \ \ \ \ \ 4.50\\&amp;#13;&amp;#10;+\ \ 20.93\\&amp;#13;&amp;#10;\ \ \ \ 25.43\end{array}&quot;&gt;&lt;mtable columnalign=&quot;left&quot; columnspacing=&quot;1em&quot; rowspacing=&quot;4pt&quot;&gt;&lt;mtr&gt;&lt;mtd&gt;&lt;mtext&gt;&lt;/mtext&gt;&lt;mtext&gt;&lt;/mtext&gt;&lt;mtext&gt;&lt;/mtext&gt;&lt;mtext&gt;&lt;/mtext&gt;&lt;mtext&gt;&lt;/mtext&gt;&lt;mtext&gt;&lt;/mtext&gt;&lt;mn&gt;4.50&lt;/mn&gt;&lt;/mtd&gt;&lt;/mtr&gt;&lt;mtr&gt;&lt;mtd&gt;&lt;mo&gt;+&lt;/mo&gt;&lt;mtext&gt;&lt;/mtext&gt;&lt;mtext&gt;&lt;/mtext&gt;&lt;mn&gt;20.93&lt;/mn&gt;&lt;/mtd&gt;&lt;/mtr&gt;&lt;mtr&gt;&lt;mtd&gt;&lt;mtext&gt;&lt;/mtext&gt;&lt;mtext&gt;&lt;/mtext&gt;&lt;mtext&gt;&lt;/mtext&gt;&lt;mtext&gt;&lt;/mtext&gt;&lt;mn&gt;25.43&lt;/mn&gt;&lt;/mtd&gt;&lt;/mtr&gt;&lt;/mtable&gt;&lt;/math&gt;" id="1251" name="Google Shape;1251;p94" title="3 lines Line 1: 4.50 Line 2: plus 20.93 Line 3: 25.4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690622" y="3698275"/>
            <a:ext cx="889600" cy="939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52" name="Google Shape;1252;p94"/>
          <p:cNvCxnSpPr/>
          <p:nvPr/>
        </p:nvCxnSpPr>
        <p:spPr>
          <a:xfrm>
            <a:off x="6879725" y="4368400"/>
            <a:ext cx="7005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3" name="Google Shape;1253;p94"/>
          <p:cNvCxnSpPr/>
          <p:nvPr/>
        </p:nvCxnSpPr>
        <p:spPr>
          <a:xfrm>
            <a:off x="6879725" y="4368400"/>
            <a:ext cx="7005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4" name="Google Shape;1254;p94"/>
          <p:cNvCxnSpPr/>
          <p:nvPr/>
        </p:nvCxnSpPr>
        <p:spPr>
          <a:xfrm>
            <a:off x="6870387" y="4707565"/>
            <a:ext cx="7005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4.5\ +\ 2.3\ \times9.1\ -\frac{3}{10}&quot;&gt;&lt;mn&gt;4.5&lt;/mn&gt;&lt;mtext&gt;&lt;/mtext&gt;&lt;mo&gt;+&lt;/mo&gt;&lt;mtext&gt;&lt;/mtext&gt;&lt;mn&gt;2.3&lt;/mn&gt;&lt;mtext&gt;&lt;/mtext&gt;&lt;mo&gt;×&lt;/mo&gt;&lt;mn&gt;9.1&lt;/mn&gt;&lt;mtext&gt;&lt;/mtext&gt;&lt;mo&gt;−&lt;/mo&gt;&lt;mfrac&gt;&lt;mn&gt;3&lt;/mn&gt;&lt;mn&gt;10&lt;/mn&gt;&lt;/mfrac&gt;&lt;/math&gt;" id="1259" name="Google Shape;1259;p95" title="4.5 plus 2.3 times 9.1 negative three t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6925" y="2633851"/>
            <a:ext cx="2999892" cy="66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0" name="Google Shape;1260;p95"/>
          <p:cNvSpPr txBox="1"/>
          <p:nvPr>
            <p:ph idx="1" type="body"/>
          </p:nvPr>
        </p:nvSpPr>
        <p:spPr>
          <a:xfrm>
            <a:off x="2506200" y="1572350"/>
            <a:ext cx="1363500" cy="4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Example</a:t>
            </a:r>
            <a:endParaRPr sz="2100"/>
          </a:p>
        </p:txBody>
      </p:sp>
      <p:sp>
        <p:nvSpPr>
          <p:cNvPr id="1261" name="Google Shape;1261;p95"/>
          <p:cNvSpPr txBox="1"/>
          <p:nvPr>
            <p:ph idx="1" type="body"/>
          </p:nvPr>
        </p:nvSpPr>
        <p:spPr>
          <a:xfrm>
            <a:off x="369650" y="693275"/>
            <a:ext cx="7885200" cy="87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With decimals, you simply need to ensure you add, subtract, multiply and divide using an efficient method.</a:t>
            </a:r>
            <a:endParaRPr sz="2100"/>
          </a:p>
        </p:txBody>
      </p:sp>
      <p:grpSp>
        <p:nvGrpSpPr>
          <p:cNvPr id="1262" name="Google Shape;1262;p95"/>
          <p:cNvGrpSpPr/>
          <p:nvPr/>
        </p:nvGrpSpPr>
        <p:grpSpPr>
          <a:xfrm>
            <a:off x="3407998" y="3031875"/>
            <a:ext cx="1326831" cy="132000"/>
            <a:chOff x="3998375" y="3352825"/>
            <a:chExt cx="1500600" cy="132000"/>
          </a:xfrm>
        </p:grpSpPr>
        <p:cxnSp>
          <p:nvCxnSpPr>
            <p:cNvPr id="1263" name="Google Shape;1263;p95"/>
            <p:cNvCxnSpPr/>
            <p:nvPr/>
          </p:nvCxnSpPr>
          <p:spPr>
            <a:xfrm>
              <a:off x="3998375" y="3484825"/>
              <a:ext cx="15006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4" name="Google Shape;1264;p95"/>
            <p:cNvCxnSpPr/>
            <p:nvPr/>
          </p:nvCxnSpPr>
          <p:spPr>
            <a:xfrm rot="10800000">
              <a:off x="3998375" y="3352825"/>
              <a:ext cx="1200" cy="1221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5" name="Google Shape;1265;p95"/>
            <p:cNvCxnSpPr/>
            <p:nvPr/>
          </p:nvCxnSpPr>
          <p:spPr>
            <a:xfrm rot="10800000">
              <a:off x="5475350" y="3352825"/>
              <a:ext cx="1200" cy="1221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&lt;math xmlns=&quot;http://www.w3.org/1998/Math/MathML&quot; display=&quot;block&quot; data-is-equatio=&quot;1&quot; data-latex=&quot;4.5\ +\ 2.3\ \times9.1\ -\frac{3}{1+9}&quot;&gt;&lt;mn&gt;4.5&lt;/mn&gt;&lt;mtext&gt;&lt;/mtext&gt;&lt;mo&gt;+&lt;/mo&gt;&lt;mtext&gt;&lt;/mtext&gt;&lt;mn&gt;2.3&lt;/mn&gt;&lt;mtext&gt;&lt;/mtext&gt;&lt;mo&gt;×&lt;/mo&gt;&lt;mn&gt;9.1&lt;/mn&gt;&lt;mtext&gt;&lt;/mtext&gt;&lt;mo&gt;−&lt;/mo&gt;&lt;mfrac&gt;&lt;mn&gt;3&lt;/mn&gt;&lt;mrow&gt;&lt;mn&gt;1&lt;/mn&gt;&lt;mo&gt;+&lt;/mo&gt;&lt;mn&gt;9&lt;/mn&gt;&lt;/mrow&gt;&lt;/mfrac&gt;&lt;/math&gt;" id="1266" name="Google Shape;1266;p95" title="4.5 plus 2.3 times 9.1 negative the fraction with numerator 3 and denominator 1 plus 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06200" y="1865875"/>
            <a:ext cx="3041347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.5\ +\ 20.93\ -0.3\ =\ 25.13&quot;&gt;&lt;mn&gt;4.5&lt;/mn&gt;&lt;mtext&gt;&lt;/mtext&gt;&lt;mo&gt;+&lt;/mo&gt;&lt;mtext&gt;&lt;/mtext&gt;&lt;mn&gt;20.93&lt;/mn&gt;&lt;mtext&gt;&lt;/mtext&gt;&lt;mo&gt;−&lt;/mo&gt;&lt;mn&gt;0.3&lt;/mn&gt;&lt;mtext&gt;&lt;/mtext&gt;&lt;mo&gt;=&lt;/mo&gt;&lt;mtext&gt;&lt;/mtext&gt;&lt;mn&gt;25.13&lt;/mn&gt;&lt;/math&gt;" id="1267" name="Google Shape;1267;p95" title="4.5 plus 20.93 negative 0.3 equals 25.13"/>
          <p:cNvPicPr preferRelativeResize="0"/>
          <p:nvPr/>
        </p:nvPicPr>
        <p:blipFill rotWithShape="1">
          <a:blip r:embed="rId5">
            <a:alphaModFix/>
          </a:blip>
          <a:srcRect b="0" l="0" r="31072" t="0"/>
          <a:stretch/>
        </p:blipFill>
        <p:spPr>
          <a:xfrm>
            <a:off x="2526925" y="3647350"/>
            <a:ext cx="2528575" cy="22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8" name="Google Shape;1268;p9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4000" y="1733610"/>
            <a:ext cx="2055006" cy="166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5.43\ +\left(-0.3\right)=25.13&quot;&gt;&lt;mn&gt;25.43&lt;/mn&gt;&lt;mtext&gt;&lt;/mtext&gt;&lt;mo&gt;+&lt;/mo&gt;&lt;mrow data-mjx-texclass=&quot;INNER&quot;&gt;&lt;mo data-mjx-texclass=&quot;OPEN&quot;&gt;(&lt;/mo&gt;&lt;mo&gt;−&lt;/mo&gt;&lt;mn&gt;0.3&lt;/mn&gt;&lt;mo data-mjx-texclass=&quot;CLOSE&quot;&gt;)&lt;/mo&gt;&lt;/mrow&gt;&lt;mo&gt;=&lt;/mo&gt;&lt;mn&gt;25.13&lt;/mn&gt;&lt;/math&gt;" id="1269" name="Google Shape;1269;p95" title="25.43 positive negative 0.3 equals 25.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06550" y="4274200"/>
            <a:ext cx="3240650" cy="293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0" name="Google Shape;1270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Priority of operations with negatives and decimals</a:t>
            </a:r>
            <a:endParaRPr/>
          </a:p>
        </p:txBody>
      </p:sp>
      <p:sp>
        <p:nvSpPr>
          <p:cNvPr id="1271" name="Google Shape;1271;p95"/>
          <p:cNvSpPr/>
          <p:nvPr/>
        </p:nvSpPr>
        <p:spPr>
          <a:xfrm>
            <a:off x="5922000" y="3647350"/>
            <a:ext cx="2528700" cy="1182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 \ \ \ \ \ 4.50\\&amp;#13;&amp;#10;+\ \ 20.93\\&amp;#13;&amp;#10;\ \ \ \ 25.43\end{array}&quot;&gt;&lt;mtable columnalign=&quot;left&quot; columnspacing=&quot;1em&quot; rowspacing=&quot;4pt&quot;&gt;&lt;mtr&gt;&lt;mtd&gt;&lt;mtext&gt;&lt;/mtext&gt;&lt;mtext&gt;&lt;/mtext&gt;&lt;mtext&gt;&lt;/mtext&gt;&lt;mtext&gt;&lt;/mtext&gt;&lt;mtext&gt;&lt;/mtext&gt;&lt;mtext&gt;&lt;/mtext&gt;&lt;mn&gt;4.50&lt;/mn&gt;&lt;/mtd&gt;&lt;/mtr&gt;&lt;mtr&gt;&lt;mtd&gt;&lt;mo&gt;+&lt;/mo&gt;&lt;mtext&gt;&lt;/mtext&gt;&lt;mtext&gt;&lt;/mtext&gt;&lt;mn&gt;20.93&lt;/mn&gt;&lt;/mtd&gt;&lt;/mtr&gt;&lt;mtr&gt;&lt;mtd&gt;&lt;mtext&gt;&lt;/mtext&gt;&lt;mtext&gt;&lt;/mtext&gt;&lt;mtext&gt;&lt;/mtext&gt;&lt;mtext&gt;&lt;/mtext&gt;&lt;mn&gt;25.43&lt;/mn&gt;&lt;/mtd&gt;&lt;/mtr&gt;&lt;/mtable&gt;&lt;/math&gt;" id="1272" name="Google Shape;1272;p95" title="3 lines Line 1: 4.50 Line 2: plus 20.93 Line 3: 25.4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90622" y="3698275"/>
            <a:ext cx="889600" cy="939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3" name="Google Shape;1273;p95"/>
          <p:cNvSpPr/>
          <p:nvPr/>
        </p:nvSpPr>
        <p:spPr>
          <a:xfrm>
            <a:off x="5871450" y="1462100"/>
            <a:ext cx="2948700" cy="2135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274" name="Google Shape;1274;p95"/>
          <p:cNvGraphicFramePr/>
          <p:nvPr/>
        </p:nvGraphicFramePr>
        <p:xfrm>
          <a:off x="5982025" y="1733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{4C56B207-4C48-4F0F-B7F7-51BF5C690243}</a:tableStyleId>
              </a:tblPr>
              <a:tblGrid>
                <a:gridCol w="473975"/>
                <a:gridCol w="772850"/>
                <a:gridCol w="614650"/>
              </a:tblGrid>
              <a:tr h="361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</a:tr>
              <a:tr h="361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61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begin{array}{l}\ \ 1800\\&amp;#13;&amp;#10;\ \ \ \ 270\\&amp;#13;&amp;#10;\ \ \ \ \ \ 20\\&amp;#13;&amp;#10;\ \ \ +\ 3\\&amp;#13;&amp;#10;\ \ 2093\end{array}&quot;&gt;&lt;mtable columnalign=&quot;left&quot; columnspacing=&quot;1em&quot; rowspacing=&quot;4pt&quot;&gt;&lt;mtr&gt;&lt;mtd&gt;&lt;mtext&gt;&lt;/mtext&gt;&lt;mtext&gt;&lt;/mtext&gt;&lt;mn&gt;1800&lt;/mn&gt;&lt;/mtd&gt;&lt;/mtr&gt;&lt;mtr&gt;&lt;mtd&gt;&lt;mtext&gt;&lt;/mtext&gt;&lt;mtext&gt;&lt;/mtext&gt;&lt;mtext&gt;&lt;/mtext&gt;&lt;mtext&gt;&lt;/mtext&gt;&lt;mn&gt;270&lt;/mn&gt;&lt;/mtd&gt;&lt;/mtr&gt;&lt;mtr&gt;&lt;mtd&gt;&lt;mtext&gt;&lt;/mtext&gt;&lt;mtext&gt;&lt;/mtext&gt;&lt;mtext&gt;&lt;/mtext&gt;&lt;mtext&gt;&lt;/mtext&gt;&lt;mtext&gt;&lt;/mtext&gt;&lt;mtext&gt;&lt;/mtext&gt;&lt;mn&gt;20&lt;/mn&gt;&lt;/mtd&gt;&lt;/mtr&gt;&lt;mtr&gt;&lt;mtd&gt;&lt;mtext&gt;&lt;/mtext&gt;&lt;mtext&gt;&lt;/mtext&gt;&lt;mtext&gt;&lt;/mtext&gt;&lt;mo&gt;+&lt;/mo&gt;&lt;mtext&gt;&lt;/mtext&gt;&lt;mn&gt;3&lt;/mn&gt;&lt;/mtd&gt;&lt;/mtr&gt;&lt;mtr&gt;&lt;mtd&gt;&lt;mtext&gt;&lt;/mtext&gt;&lt;mtext&gt;&lt;/mtext&gt;&lt;mn&gt;2093&lt;/mn&gt;&lt;/mtd&gt;&lt;/mtr&gt;&lt;/mtable&gt;&lt;/math&gt;" id="1275" name="Google Shape;1275;p95" title="5 lines Line 1: 1800 Line 2: 270 Line 3: 20 Line 4: plus 3 Line 5: 209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132400" y="1575850"/>
            <a:ext cx="487457" cy="1506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3\times91\times0.01\ =\ 20.93&quot;&gt;&lt;mn&gt;23&lt;/mn&gt;&lt;mo&gt;×&lt;/mo&gt;&lt;mn&gt;91&lt;/mn&gt;&lt;mo&gt;×&lt;/mo&gt;&lt;mn&gt;0.01&lt;/mn&gt;&lt;mtext&gt;&lt;/mtext&gt;&lt;mo&gt;=&lt;/mo&gt;&lt;mtext&gt;&lt;/mtext&gt;&lt;mn&gt;20.93&lt;/mn&gt;&lt;/math&gt;" id="1276" name="Google Shape;1276;p95" title="23 times 91 times 0.01 equals 20.93"/>
          <p:cNvPicPr preferRelativeResize="0"/>
          <p:nvPr/>
        </p:nvPicPr>
        <p:blipFill rotWithShape="1">
          <a:blip r:embed="rId10">
            <a:alphaModFix/>
          </a:blip>
          <a:srcRect b="0" l="0" r="35312" t="0"/>
          <a:stretch/>
        </p:blipFill>
        <p:spPr>
          <a:xfrm>
            <a:off x="6049600" y="3238225"/>
            <a:ext cx="1676951" cy="192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3\times91\times0.01\ =\ 20.93&quot;&gt;&lt;mn&gt;23&lt;/mn&gt;&lt;mo&gt;×&lt;/mo&gt;&lt;mn&gt;91&lt;/mn&gt;&lt;mo&gt;×&lt;/mo&gt;&lt;mn&gt;0.01&lt;/mn&gt;&lt;mtext&gt;&lt;/mtext&gt;&lt;mo&gt;=&lt;/mo&gt;&lt;mtext&gt;&lt;/mtext&gt;&lt;mn&gt;20.93&lt;/mn&gt;&lt;/math&gt;" id="1277" name="Google Shape;1277;p95" title="23 times 91 times 0.01 equals 20.9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043120" y="3240457"/>
            <a:ext cx="2592401" cy="192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78" name="Google Shape;1278;p95"/>
          <p:cNvCxnSpPr/>
          <p:nvPr/>
        </p:nvCxnSpPr>
        <p:spPr>
          <a:xfrm>
            <a:off x="8018000" y="2843275"/>
            <a:ext cx="7005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9" name="Google Shape;1279;p95"/>
          <p:cNvCxnSpPr/>
          <p:nvPr/>
        </p:nvCxnSpPr>
        <p:spPr>
          <a:xfrm>
            <a:off x="8008140" y="3143928"/>
            <a:ext cx="7005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0" name="Google Shape;1280;p95"/>
          <p:cNvCxnSpPr/>
          <p:nvPr/>
        </p:nvCxnSpPr>
        <p:spPr>
          <a:xfrm>
            <a:off x="6879725" y="4368400"/>
            <a:ext cx="7005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1" name="Google Shape;1281;p95"/>
          <p:cNvCxnSpPr/>
          <p:nvPr/>
        </p:nvCxnSpPr>
        <p:spPr>
          <a:xfrm>
            <a:off x="6870387" y="4707565"/>
            <a:ext cx="7005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5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p96"/>
          <p:cNvSpPr txBox="1"/>
          <p:nvPr>
            <p:ph idx="1" type="body"/>
          </p:nvPr>
        </p:nvSpPr>
        <p:spPr>
          <a:xfrm>
            <a:off x="324000" y="759300"/>
            <a:ext cx="8237700" cy="46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</a:t>
            </a:r>
            <a:r>
              <a:rPr lang="en-GB" sz="1800"/>
              <a:t>Work out the following, ensuring you show all your working out.</a:t>
            </a:r>
            <a:endParaRPr sz="1800"/>
          </a:p>
        </p:txBody>
      </p:sp>
      <p:sp>
        <p:nvSpPr>
          <p:cNvPr id="1287" name="Google Shape;1287;p9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Priority of operations with negatives and decimals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3.4\ -\ 7.6\ +\ 11.2\\&amp;#13;&amp;#10;3.4\ +\ \left(-7.6\right)+11.2\\&amp;#13;&amp;#10;14.6\ +\ \left(-7.6\right)\ =\ 7\end{array}&quot;&gt;&lt;mtable columnalign=&quot;left&quot; columnspacing=&quot;1em&quot; rowspacing=&quot;4pt&quot;&gt;&lt;mtr&gt;&lt;mtd&gt;&lt;mn&gt;3.4&lt;/mn&gt;&lt;mtext&gt;&lt;/mtext&gt;&lt;mo&gt;−&lt;/mo&gt;&lt;mtext&gt;&lt;/mtext&gt;&lt;mn&gt;7.6&lt;/mn&gt;&lt;mtext&gt;&lt;/mtext&gt;&lt;mo&gt;+&lt;/mo&gt;&lt;mtext&gt;&lt;/mtext&gt;&lt;mn&gt;11.2&lt;/mn&gt;&lt;/mtd&gt;&lt;/mtr&gt;&lt;mtr&gt;&lt;mtd&gt;&lt;mn&gt;3.4&lt;/mn&gt;&lt;mtext&gt;&lt;/mtext&gt;&lt;mo&gt;+&lt;/mo&gt;&lt;mtext&gt;&lt;/mtext&gt;&lt;mrow data-mjx-texclass=&quot;INNER&quot;&gt;&lt;mo data-mjx-texclass=&quot;OPEN&quot;&gt;(&lt;/mo&gt;&lt;mo&gt;−&lt;/mo&gt;&lt;mn&gt;7.6&lt;/mn&gt;&lt;mo data-mjx-texclass=&quot;CLOSE&quot;&gt;)&lt;/mo&gt;&lt;/mrow&gt;&lt;mo&gt;+&lt;/mo&gt;&lt;mn&gt;11.2&lt;/mn&gt;&lt;/mtd&gt;&lt;/mtr&gt;&lt;mtr&gt;&lt;mtd&gt;&lt;mn&gt;14.6&lt;/mn&gt;&lt;mtext&gt;&lt;/mtext&gt;&lt;mo&gt;+&lt;/mo&gt;&lt;mtext&gt;&lt;/mtext&gt;&lt;mrow data-mjx-texclass=&quot;INNER&quot;&gt;&lt;mo data-mjx-texclass=&quot;OPEN&quot;&gt;(&lt;/mo&gt;&lt;mo&gt;−&lt;/mo&gt;&lt;mn&gt;7.6&lt;/mn&gt;&lt;mo data-mjx-texclass=&quot;CLOSE&quot;&gt;)&lt;/mo&gt;&lt;/mrow&gt;&lt;mtext&gt;&lt;/mtext&gt;&lt;mo&gt;=&lt;/mo&gt;&lt;mtext&gt;&lt;/mtext&gt;&lt;mn&gt;7&lt;/mn&gt;&lt;/mtd&gt;&lt;/mtr&gt;&lt;/mtable&gt;&lt;/math&gt;" id="1288" name="Google Shape;1288;p96" title="3 lines Line 1: 3.4 minus 7.6 plus 11.2 Line 2: 3.4 plus negative 7.6 plus 11.2 Line 3: 14.6 plus negative 7.6 equals 7"/>
          <p:cNvPicPr preferRelativeResize="0"/>
          <p:nvPr/>
        </p:nvPicPr>
        <p:blipFill rotWithShape="1">
          <a:blip r:embed="rId3">
            <a:alphaModFix/>
          </a:blip>
          <a:srcRect b="67710" l="0" r="0" t="0"/>
          <a:stretch/>
        </p:blipFill>
        <p:spPr>
          <a:xfrm>
            <a:off x="723900" y="1318400"/>
            <a:ext cx="2413651" cy="33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9" name="Google Shape;1289;p96"/>
          <p:cNvSpPr txBox="1"/>
          <p:nvPr>
            <p:ph idx="1" type="body"/>
          </p:nvPr>
        </p:nvSpPr>
        <p:spPr>
          <a:xfrm>
            <a:off x="353550" y="2630375"/>
            <a:ext cx="8237700" cy="46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</a:t>
            </a:r>
            <a:r>
              <a:rPr lang="en-GB" sz="1800"/>
              <a:t>Work out the following, ensuring you show all your working out.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begin{array}{l}13.45\ -\ 2.4\ +\ 3.2\ -\ 1.6\\&amp;#13;&amp;#10;13.45\ +\left(-2.4\right)+3.2+\left(-1.6\right)\\&amp;#13;&amp;#10;16.65\ +\ \left(-4\right)\ =\ 12.65\end{array}&quot;&gt;&lt;mtable columnalign=&quot;left&quot; columnspacing=&quot;1em&quot; rowspacing=&quot;4pt&quot;&gt;&lt;mtr&gt;&lt;mtd&gt;&lt;mn&gt;13.45&lt;/mn&gt;&lt;mtext&gt;&lt;/mtext&gt;&lt;mo&gt;−&lt;/mo&gt;&lt;mtext&gt;&lt;/mtext&gt;&lt;mn&gt;2.4&lt;/mn&gt;&lt;mtext&gt;&lt;/mtext&gt;&lt;mo&gt;+&lt;/mo&gt;&lt;mtext&gt;&lt;/mtext&gt;&lt;mn&gt;3.2&lt;/mn&gt;&lt;mtext&gt;&lt;/mtext&gt;&lt;mo&gt;−&lt;/mo&gt;&lt;mtext&gt;&lt;/mtext&gt;&lt;mn&gt;1.6&lt;/mn&gt;&lt;/mtd&gt;&lt;/mtr&gt;&lt;mtr&gt;&lt;mtd&gt;&lt;mn&gt;13.45&lt;/mn&gt;&lt;mtext&gt;&lt;/mtext&gt;&lt;mo&gt;+&lt;/mo&gt;&lt;mrow data-mjx-texclass=&quot;INNER&quot;&gt;&lt;mo data-mjx-texclass=&quot;OPEN&quot;&gt;(&lt;/mo&gt;&lt;mo&gt;−&lt;/mo&gt;&lt;mn&gt;2.4&lt;/mn&gt;&lt;mo data-mjx-texclass=&quot;CLOSE&quot;&gt;)&lt;/mo&gt;&lt;/mrow&gt;&lt;mo&gt;+&lt;/mo&gt;&lt;mn&gt;3.2&lt;/mn&gt;&lt;mo&gt;+&lt;/mo&gt;&lt;mrow data-mjx-texclass=&quot;INNER&quot;&gt;&lt;mo data-mjx-texclass=&quot;OPEN&quot;&gt;(&lt;/mo&gt;&lt;mo&gt;−&lt;/mo&gt;&lt;mn&gt;1.6&lt;/mn&gt;&lt;mo data-mjx-texclass=&quot;CLOSE&quot;&gt;)&lt;/mo&gt;&lt;/mrow&gt;&lt;/mtd&gt;&lt;/mtr&gt;&lt;mtr&gt;&lt;mtd&gt;&lt;mn&gt;16.65&lt;/mn&gt;&lt;mtext&gt;&lt;/mtext&gt;&lt;mo&gt;+&lt;/mo&gt;&lt;mtext&gt;&lt;/mtext&gt;&lt;mrow data-mjx-texclass=&quot;INNER&quot;&gt;&lt;mo data-mjx-texclass=&quot;OPEN&quot;&gt;(&lt;/mo&gt;&lt;mo&gt;−&lt;/mo&gt;&lt;mn&gt;4&lt;/mn&gt;&lt;mo data-mjx-texclass=&quot;CLOSE&quot;&gt;)&lt;/mo&gt;&lt;/mrow&gt;&lt;mtext&gt;&lt;/mtext&gt;&lt;mo&gt;=&lt;/mo&gt;&lt;mtext&gt;&lt;/mtext&gt;&lt;mn&gt;12.65&lt;/mn&gt;&lt;/mtd&gt;&lt;/mtr&gt;&lt;/mtable&gt;&lt;/math&gt;" id="1290" name="Google Shape;1290;p96" title="3 lines Line 1: 13.45 minus 2.4 plus 3.2 minus 1.6 Line 2: 13.45 positive negative 2.4 plus 3.2 plus negative 1.6 Line 3: 16.65 plus negative 4 equals 12.65"/>
          <p:cNvPicPr preferRelativeResize="0"/>
          <p:nvPr/>
        </p:nvPicPr>
        <p:blipFill rotWithShape="1">
          <a:blip r:embed="rId4">
            <a:alphaModFix/>
          </a:blip>
          <a:srcRect b="70706" l="0" r="0" t="0"/>
          <a:stretch/>
        </p:blipFill>
        <p:spPr>
          <a:xfrm>
            <a:off x="876300" y="3095674"/>
            <a:ext cx="3814801" cy="33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p97"/>
          <p:cNvSpPr txBox="1"/>
          <p:nvPr>
            <p:ph idx="1" type="body"/>
          </p:nvPr>
        </p:nvSpPr>
        <p:spPr>
          <a:xfrm>
            <a:off x="324000" y="759300"/>
            <a:ext cx="8237700" cy="46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3) </a:t>
            </a:r>
            <a:r>
              <a:rPr lang="en-GB" sz="1800"/>
              <a:t>Work out the following, ensuring you show all your working out.</a:t>
            </a:r>
            <a:endParaRPr sz="1800"/>
          </a:p>
        </p:txBody>
      </p:sp>
      <p:sp>
        <p:nvSpPr>
          <p:cNvPr id="1296" name="Google Shape;1296;p9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Priority of operations with negatives and decimals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184.2\ -\left(-45.2\right)\times16\ \div\left(-4\right)\\&amp;#13;&amp;#10;184.2\ -\ \left(-45.2\right)\times\frac{16}{\left(-4\right)}\\&amp;#13;&amp;#10;184.2-\left(-45.2\right)\times\left(-4\right)\\&amp;#13;&amp;#10;184.2-180.8\ =\ 3.4\end{array}&quot;&gt;&lt;mtable columnalign=&quot;left&quot; columnspacing=&quot;1em&quot; rowspacing=&quot;4pt&quot;&gt;&lt;mtr&gt;&lt;mtd&gt;&lt;mn&gt;184.2&lt;/mn&gt;&lt;mtext&gt;&lt;/mtext&gt;&lt;mo&gt;−&lt;/mo&gt;&lt;mrow data-mjx-texclass=&quot;INNER&quot;&gt;&lt;mo data-mjx-texclass=&quot;OPEN&quot;&gt;(&lt;/mo&gt;&lt;mo&gt;−&lt;/mo&gt;&lt;mn&gt;45.2&lt;/mn&gt;&lt;mo data-mjx-texclass=&quot;CLOSE&quot;&gt;)&lt;/mo&gt;&lt;/mrow&gt;&lt;mo&gt;×&lt;/mo&gt;&lt;mn&gt;16&lt;/mn&gt;&lt;mtext&gt;&lt;/mtext&gt;&lt;mo&gt;÷&lt;/mo&gt;&lt;mrow data-mjx-texclass=&quot;INNER&quot;&gt;&lt;mo data-mjx-texclass=&quot;OPEN&quot;&gt;(&lt;/mo&gt;&lt;mo&gt;−&lt;/mo&gt;&lt;mn&gt;4&lt;/mn&gt;&lt;mo data-mjx-texclass=&quot;CLOSE&quot;&gt;)&lt;/mo&gt;&lt;/mrow&gt;&lt;/mtd&gt;&lt;/mtr&gt;&lt;mtr&gt;&lt;mtd&gt;&lt;mn&gt;184.2&lt;/mn&gt;&lt;mtext&gt;&lt;/mtext&gt;&lt;mo&gt;−&lt;/mo&gt;&lt;mtext&gt;&lt;/mtext&gt;&lt;mrow data-mjx-texclass=&quot;INNER&quot;&gt;&lt;mo data-mjx-texclass=&quot;OPEN&quot;&gt;(&lt;/mo&gt;&lt;mo&gt;−&lt;/mo&gt;&lt;mn&gt;45.2&lt;/mn&gt;&lt;mo data-mjx-texclass=&quot;CLOSE&quot;&gt;)&lt;/mo&gt;&lt;/mrow&gt;&lt;mo&gt;×&lt;/mo&gt;&lt;mfrac&gt;&lt;mn&gt;16&lt;/mn&gt;&lt;mrow data-mjx-texclass=&quot;INNER&quot;&gt;&lt;mo data-mjx-texclass=&quot;OPEN&quot;&gt;(&lt;/mo&gt;&lt;mo&gt;−&lt;/mo&gt;&lt;mn&gt;4&lt;/mn&gt;&lt;mo data-mjx-texclass=&quot;CLOSE&quot;&gt;)&lt;/mo&gt;&lt;/mrow&gt;&lt;/mfrac&gt;&lt;/mtd&gt;&lt;/mtr&gt;&lt;mtr&gt;&lt;mtd&gt;&lt;mn&gt;184.2&lt;/mn&gt;&lt;mo&gt;−&lt;/mo&gt;&lt;mrow data-mjx-texclass=&quot;INNER&quot;&gt;&lt;mo data-mjx-texclass=&quot;OPEN&quot;&gt;(&lt;/mo&gt;&lt;mo&gt;−&lt;/mo&gt;&lt;mn&gt;45.2&lt;/mn&gt;&lt;mo data-mjx-texclass=&quot;CLOSE&quot;&gt;)&lt;/mo&gt;&lt;/mrow&gt;&lt;mo&gt;×&lt;/mo&gt;&lt;mrow data-mjx-texclass=&quot;INNER&quot;&gt;&lt;mo data-mjx-texclass=&quot;OPEN&quot;&gt;(&lt;/mo&gt;&lt;mo&gt;−&lt;/mo&gt;&lt;mn&gt;4&lt;/mn&gt;&lt;mo data-mjx-texclass=&quot;CLOSE&quot;&gt;)&lt;/mo&gt;&lt;/mrow&gt;&lt;/mtd&gt;&lt;/mtr&gt;&lt;mtr&gt;&lt;mtd&gt;&lt;mn&gt;184.2&lt;/mn&gt;&lt;mo&gt;−&lt;/mo&gt;&lt;mn&gt;180.8&lt;/mn&gt;&lt;mtext&gt;&lt;/mtext&gt;&lt;mo&gt;=&lt;/mo&gt;&lt;mtext&gt;&lt;/mtext&gt;&lt;mn&gt;3.4&lt;/mn&gt;&lt;/mtd&gt;&lt;/mtr&gt;&lt;/mtable&gt;&lt;/math&gt;" id="1297" name="Google Shape;1297;p97" title="4 lines Line 1: 184.2 negative negative 45.2 times 16 division sign negative 4 Line 2: 184.2 minus negative 45.2 times the fraction with numerator 16 and denominator negative 4 Line 3: 184.2 minus negative 45.2 times negative 4 Line 4: 184.2 minus 180.8 equals 3.4"/>
          <p:cNvPicPr preferRelativeResize="0"/>
          <p:nvPr/>
        </p:nvPicPr>
        <p:blipFill rotWithShape="1">
          <a:blip r:embed="rId3">
            <a:alphaModFix/>
          </a:blip>
          <a:srcRect b="78647" l="0" r="0" t="0"/>
          <a:stretch/>
        </p:blipFill>
        <p:spPr>
          <a:xfrm>
            <a:off x="374925" y="1311600"/>
            <a:ext cx="4267200" cy="41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p98"/>
          <p:cNvSpPr txBox="1"/>
          <p:nvPr>
            <p:ph idx="1" type="body"/>
          </p:nvPr>
        </p:nvSpPr>
        <p:spPr>
          <a:xfrm>
            <a:off x="324000" y="759300"/>
            <a:ext cx="8237700" cy="46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4) </a:t>
            </a:r>
            <a:r>
              <a:rPr lang="en-GB" sz="1800"/>
              <a:t>Work out the following, ensuring you show all your working out.</a:t>
            </a:r>
            <a:endParaRPr sz="1800"/>
          </a:p>
        </p:txBody>
      </p:sp>
      <p:sp>
        <p:nvSpPr>
          <p:cNvPr id="1303" name="Google Shape;1303;p9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Priority of operations with negatives and decimals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10.2\ -\ 1.4\ \times\left(-3.2\right)+\frac{12^2}{\sqrt[]{25+75}}&quot;&gt;&lt;mn&gt;10.2&lt;/mn&gt;&lt;mtext&gt;&lt;/mtext&gt;&lt;mo&gt;−&lt;/mo&gt;&lt;mtext&gt;&lt;/mtext&gt;&lt;mn&gt;1.4&lt;/mn&gt;&lt;mtext&gt;&lt;/mtext&gt;&lt;mo&gt;×&lt;/mo&gt;&lt;mrow data-mjx-texclass=&quot;INNER&quot;&gt;&lt;mo data-mjx-texclass=&quot;OPEN&quot;&gt;(&lt;/mo&gt;&lt;mo&gt;−&lt;/mo&gt;&lt;mn&gt;3.2&lt;/mn&gt;&lt;mo data-mjx-texclass=&quot;CLOSE&quot;&gt;)&lt;/mo&gt;&lt;/mrow&gt;&lt;mo&gt;+&lt;/mo&gt;&lt;mfrac&gt;&lt;msup&gt;&lt;mn&gt;12&lt;/mn&gt;&lt;mn&gt;2&lt;/mn&gt;&lt;/msup&gt;&lt;msqrt&gt;&lt;mn&gt;25&lt;/mn&gt;&lt;mo&gt;+&lt;/mo&gt;&lt;mn&gt;75&lt;/mn&gt;&lt;/msqrt&gt;&lt;/mfrac&gt;&lt;/math&gt;" id="1304" name="Google Shape;1304;p98" title="10.2 minus 1.4 times negative 3.2 plus the fraction with numerator 12 squared and denominator the square root of 25 plus 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827" y="1188824"/>
            <a:ext cx="4148174" cy="862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5" name="Google Shape;1305;p98"/>
          <p:cNvSpPr txBox="1"/>
          <p:nvPr>
            <p:ph idx="1" type="body"/>
          </p:nvPr>
        </p:nvSpPr>
        <p:spPr>
          <a:xfrm>
            <a:off x="324000" y="3240000"/>
            <a:ext cx="8237700" cy="46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5) Create your own two questions using a combination of operations and decimals so the correct answer is 24. You must use decimals and ensure to check your calculation with a calculator.</a:t>
            </a:r>
            <a:endParaRPr sz="18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p9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</a:t>
            </a:r>
            <a:r>
              <a:rPr lang="en-GB" sz="1800"/>
              <a:t>Work out the following, ensuring you show all your working out.</a:t>
            </a:r>
            <a:endParaRPr sz="1800"/>
          </a:p>
        </p:txBody>
      </p:sp>
      <p:sp>
        <p:nvSpPr>
          <p:cNvPr id="1311" name="Google Shape;1311;p9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Priority of operations with negatives and decimals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3.4\ -\ 7.6\ +\ 11.2\\&amp;#13;&amp;#10;3.4\ +\ \left(-7.6\right)+11.2\\&amp;#13;&amp;#10;14.6\ +\ \left(-7.6\right)\ =\ 7\end{array}&quot;&gt;&lt;mtable columnalign=&quot;left&quot; columnspacing=&quot;1em&quot; rowspacing=&quot;4pt&quot;&gt;&lt;mtr&gt;&lt;mtd&gt;&lt;mn&gt;3.4&lt;/mn&gt;&lt;mtext&gt;&lt;/mtext&gt;&lt;mo&gt;−&lt;/mo&gt;&lt;mtext&gt;&lt;/mtext&gt;&lt;mn&gt;7.6&lt;/mn&gt;&lt;mtext&gt;&lt;/mtext&gt;&lt;mo&gt;+&lt;/mo&gt;&lt;mtext&gt;&lt;/mtext&gt;&lt;mn&gt;11.2&lt;/mn&gt;&lt;/mtd&gt;&lt;/mtr&gt;&lt;mtr&gt;&lt;mtd&gt;&lt;mn&gt;3.4&lt;/mn&gt;&lt;mtext&gt;&lt;/mtext&gt;&lt;mo&gt;+&lt;/mo&gt;&lt;mtext&gt;&lt;/mtext&gt;&lt;mrow data-mjx-texclass=&quot;INNER&quot;&gt;&lt;mo data-mjx-texclass=&quot;OPEN&quot;&gt;(&lt;/mo&gt;&lt;mo&gt;−&lt;/mo&gt;&lt;mn&gt;7.6&lt;/mn&gt;&lt;mo data-mjx-texclass=&quot;CLOSE&quot;&gt;)&lt;/mo&gt;&lt;/mrow&gt;&lt;mo&gt;+&lt;/mo&gt;&lt;mn&gt;11.2&lt;/mn&gt;&lt;/mtd&gt;&lt;/mtr&gt;&lt;mtr&gt;&lt;mtd&gt;&lt;mn&gt;14.6&lt;/mn&gt;&lt;mtext&gt;&lt;/mtext&gt;&lt;mo&gt;+&lt;/mo&gt;&lt;mtext&gt;&lt;/mtext&gt;&lt;mrow data-mjx-texclass=&quot;INNER&quot;&gt;&lt;mo data-mjx-texclass=&quot;OPEN&quot;&gt;(&lt;/mo&gt;&lt;mo&gt;−&lt;/mo&gt;&lt;mn&gt;7.6&lt;/mn&gt;&lt;mo data-mjx-texclass=&quot;CLOSE&quot;&gt;)&lt;/mo&gt;&lt;/mrow&gt;&lt;mtext&gt;&lt;/mtext&gt;&lt;mo&gt;=&lt;/mo&gt;&lt;mtext&gt;&lt;/mtext&gt;&lt;mn&gt;7&lt;/mn&gt;&lt;/mtd&gt;&lt;/mtr&gt;&lt;/mtable&gt;&lt;/math&gt;" id="1312" name="Google Shape;1312;p99" title="3 lines Line 1: 3.4 minus 7.6 plus 11.2 Line 2: 3.4 plus negative 7.6 plus 11.2 Line 3: 14.6 plus negative 7.6 equals 7"/>
          <p:cNvPicPr preferRelativeResize="0"/>
          <p:nvPr/>
        </p:nvPicPr>
        <p:blipFill rotWithShape="1">
          <a:blip r:embed="rId3">
            <a:alphaModFix/>
          </a:blip>
          <a:srcRect b="71119" l="0" r="0" t="0"/>
          <a:stretch/>
        </p:blipFill>
        <p:spPr>
          <a:xfrm>
            <a:off x="723900" y="1318400"/>
            <a:ext cx="2413651" cy="30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3" name="Google Shape;1313;p99"/>
          <p:cNvSpPr txBox="1"/>
          <p:nvPr>
            <p:ph idx="1" type="body"/>
          </p:nvPr>
        </p:nvSpPr>
        <p:spPr>
          <a:xfrm>
            <a:off x="353550" y="2630375"/>
            <a:ext cx="8237700" cy="46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</a:t>
            </a:r>
            <a:r>
              <a:rPr lang="en-GB" sz="1800"/>
              <a:t>Work out the following, ensuring you show all your working out.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begin{array}{l}13.45\ -\ 2.4\ +\ 3.2\ -\ 1.6\\&amp;#13;&amp;#10;13.45\ +\left(-2.4\right)+3.2+\left(-1.6\right)\\&amp;#13;&amp;#10;16.65\ +\ \left(-4\right)\ =\ 12.65\end{array}&quot;&gt;&lt;mtable columnalign=&quot;left&quot; columnspacing=&quot;1em&quot; rowspacing=&quot;4pt&quot;&gt;&lt;mtr&gt;&lt;mtd&gt;&lt;mn&gt;13.45&lt;/mn&gt;&lt;mtext&gt;&lt;/mtext&gt;&lt;mo&gt;−&lt;/mo&gt;&lt;mtext&gt;&lt;/mtext&gt;&lt;mn&gt;2.4&lt;/mn&gt;&lt;mtext&gt;&lt;/mtext&gt;&lt;mo&gt;+&lt;/mo&gt;&lt;mtext&gt;&lt;/mtext&gt;&lt;mn&gt;3.2&lt;/mn&gt;&lt;mtext&gt;&lt;/mtext&gt;&lt;mo&gt;−&lt;/mo&gt;&lt;mtext&gt;&lt;/mtext&gt;&lt;mn&gt;1.6&lt;/mn&gt;&lt;/mtd&gt;&lt;/mtr&gt;&lt;mtr&gt;&lt;mtd&gt;&lt;mn&gt;13.45&lt;/mn&gt;&lt;mtext&gt;&lt;/mtext&gt;&lt;mo&gt;+&lt;/mo&gt;&lt;mrow data-mjx-texclass=&quot;INNER&quot;&gt;&lt;mo data-mjx-texclass=&quot;OPEN&quot;&gt;(&lt;/mo&gt;&lt;mo&gt;−&lt;/mo&gt;&lt;mn&gt;2.4&lt;/mn&gt;&lt;mo data-mjx-texclass=&quot;CLOSE&quot;&gt;)&lt;/mo&gt;&lt;/mrow&gt;&lt;mo&gt;+&lt;/mo&gt;&lt;mn&gt;3.2&lt;/mn&gt;&lt;mo&gt;+&lt;/mo&gt;&lt;mrow data-mjx-texclass=&quot;INNER&quot;&gt;&lt;mo data-mjx-texclass=&quot;OPEN&quot;&gt;(&lt;/mo&gt;&lt;mo&gt;−&lt;/mo&gt;&lt;mn&gt;1.6&lt;/mn&gt;&lt;mo data-mjx-texclass=&quot;CLOSE&quot;&gt;)&lt;/mo&gt;&lt;/mrow&gt;&lt;/mtd&gt;&lt;/mtr&gt;&lt;mtr&gt;&lt;mtd&gt;&lt;mn&gt;16.65&lt;/mn&gt;&lt;mtext&gt;&lt;/mtext&gt;&lt;mo&gt;+&lt;/mo&gt;&lt;mtext&gt;&lt;/mtext&gt;&lt;mrow data-mjx-texclass=&quot;INNER&quot;&gt;&lt;mo data-mjx-texclass=&quot;OPEN&quot;&gt;(&lt;/mo&gt;&lt;mo&gt;−&lt;/mo&gt;&lt;mn&gt;4&lt;/mn&gt;&lt;mo data-mjx-texclass=&quot;CLOSE&quot;&gt;)&lt;/mo&gt;&lt;/mrow&gt;&lt;mtext&gt;&lt;/mtext&gt;&lt;mo&gt;=&lt;/mo&gt;&lt;mtext&gt;&lt;/mtext&gt;&lt;mn&gt;12.65&lt;/mn&gt;&lt;/mtd&gt;&lt;/mtr&gt;&lt;/mtable&gt;&lt;/math&gt;" id="1314" name="Google Shape;1314;p99" title="3 lines Line 1: 13.45 minus 2.4 plus 3.2 minus 1.6 Line 2: 13.45 positive negative 2.4 plus 3.2 plus negative 1.6 Line 3: 16.65 plus negative 4 equals 12.65"/>
          <p:cNvPicPr preferRelativeResize="0"/>
          <p:nvPr/>
        </p:nvPicPr>
        <p:blipFill rotWithShape="1">
          <a:blip r:embed="rId4">
            <a:alphaModFix/>
          </a:blip>
          <a:srcRect b="70706" l="0" r="0" t="0"/>
          <a:stretch/>
        </p:blipFill>
        <p:spPr>
          <a:xfrm>
            <a:off x="723900" y="3095674"/>
            <a:ext cx="3814801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3.4\ -\ 7.6\ +\ 11.2\\&amp;#13;&amp;#10;3.4\ +\ \left(-7.6\right)+11.2\\&amp;#13;&amp;#10;14.6\ +\ \left(-7.6\right)\ =\ 7\end{array}&quot;&gt;&lt;mtable columnalign=&quot;left&quot; columnspacing=&quot;1em&quot; rowspacing=&quot;4pt&quot;&gt;&lt;mtr&gt;&lt;mtd&gt;&lt;mn&gt;3.4&lt;/mn&gt;&lt;mtext&gt;&lt;/mtext&gt;&lt;mo&gt;−&lt;/mo&gt;&lt;mtext&gt;&lt;/mtext&gt;&lt;mn&gt;7.6&lt;/mn&gt;&lt;mtext&gt;&lt;/mtext&gt;&lt;mo&gt;+&lt;/mo&gt;&lt;mtext&gt;&lt;/mtext&gt;&lt;mn&gt;11.2&lt;/mn&gt;&lt;/mtd&gt;&lt;/mtr&gt;&lt;mtr&gt;&lt;mtd&gt;&lt;mn&gt;3.4&lt;/mn&gt;&lt;mtext&gt;&lt;/mtext&gt;&lt;mo&gt;+&lt;/mo&gt;&lt;mtext&gt;&lt;/mtext&gt;&lt;mrow data-mjx-texclass=&quot;INNER&quot;&gt;&lt;mo data-mjx-texclass=&quot;OPEN&quot;&gt;(&lt;/mo&gt;&lt;mo&gt;−&lt;/mo&gt;&lt;mn&gt;7.6&lt;/mn&gt;&lt;mo data-mjx-texclass=&quot;CLOSE&quot;&gt;)&lt;/mo&gt;&lt;/mrow&gt;&lt;mo&gt;+&lt;/mo&gt;&lt;mn&gt;11.2&lt;/mn&gt;&lt;/mtd&gt;&lt;/mtr&gt;&lt;mtr&gt;&lt;mtd&gt;&lt;mn&gt;14.6&lt;/mn&gt;&lt;mtext&gt;&lt;/mtext&gt;&lt;mo&gt;+&lt;/mo&gt;&lt;mtext&gt;&lt;/mtext&gt;&lt;mrow data-mjx-texclass=&quot;INNER&quot;&gt;&lt;mo data-mjx-texclass=&quot;OPEN&quot;&gt;(&lt;/mo&gt;&lt;mo&gt;−&lt;/mo&gt;&lt;mn&gt;7.6&lt;/mn&gt;&lt;mo data-mjx-texclass=&quot;CLOSE&quot;&gt;)&lt;/mo&gt;&lt;/mrow&gt;&lt;mtext&gt;&lt;/mtext&gt;&lt;mo&gt;=&lt;/mo&gt;&lt;mtext&gt;&lt;/mtext&gt;&lt;mn&gt;7&lt;/mn&gt;&lt;/mtd&gt;&lt;/mtr&gt;&lt;/mtable&gt;&lt;/math&gt;" id="1315" name="Google Shape;1315;p99" title="3 lines Line 1: 3.4 minus 7.6 plus 11.2 Line 2: 3.4 plus negative 7.6 plus 11.2 Line 3: 14.6 plus negative 7.6 equals 7"/>
          <p:cNvPicPr preferRelativeResize="0"/>
          <p:nvPr/>
        </p:nvPicPr>
        <p:blipFill rotWithShape="1">
          <a:blip r:embed="rId3">
            <a:alphaModFix/>
          </a:blip>
          <a:srcRect b="35558" l="0" r="-7596" t="35561"/>
          <a:stretch/>
        </p:blipFill>
        <p:spPr>
          <a:xfrm>
            <a:off x="723900" y="1683500"/>
            <a:ext cx="2597001" cy="301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3.4\ -\ 7.6\ +\ 11.2\\&amp;#13;&amp;#10;3.4\ +\ \left(-7.6\right)+11.2\\&amp;#13;&amp;#10;14.6\ +\ \left(-7.6\right)\ =\ 7\end{array}&quot;&gt;&lt;mtable columnalign=&quot;left&quot; columnspacing=&quot;1em&quot; rowspacing=&quot;4pt&quot;&gt;&lt;mtr&gt;&lt;mtd&gt;&lt;mn&gt;3.4&lt;/mn&gt;&lt;mtext&gt;&lt;/mtext&gt;&lt;mo&gt;−&lt;/mo&gt;&lt;mtext&gt;&lt;/mtext&gt;&lt;mn&gt;7.6&lt;/mn&gt;&lt;mtext&gt;&lt;/mtext&gt;&lt;mo&gt;+&lt;/mo&gt;&lt;mtext&gt;&lt;/mtext&gt;&lt;mn&gt;11.2&lt;/mn&gt;&lt;/mtd&gt;&lt;/mtr&gt;&lt;mtr&gt;&lt;mtd&gt;&lt;mn&gt;3.4&lt;/mn&gt;&lt;mtext&gt;&lt;/mtext&gt;&lt;mo&gt;+&lt;/mo&gt;&lt;mtext&gt;&lt;/mtext&gt;&lt;mrow data-mjx-texclass=&quot;INNER&quot;&gt;&lt;mo data-mjx-texclass=&quot;OPEN&quot;&gt;(&lt;/mo&gt;&lt;mo&gt;−&lt;/mo&gt;&lt;mn&gt;7.6&lt;/mn&gt;&lt;mo data-mjx-texclass=&quot;CLOSE&quot;&gt;)&lt;/mo&gt;&lt;/mrow&gt;&lt;mo&gt;+&lt;/mo&gt;&lt;mn&gt;11.2&lt;/mn&gt;&lt;/mtd&gt;&lt;/mtr&gt;&lt;mtr&gt;&lt;mtd&gt;&lt;mn&gt;14.6&lt;/mn&gt;&lt;mtext&gt;&lt;/mtext&gt;&lt;mo&gt;+&lt;/mo&gt;&lt;mtext&gt;&lt;/mtext&gt;&lt;mrow data-mjx-texclass=&quot;INNER&quot;&gt;&lt;mo data-mjx-texclass=&quot;OPEN&quot;&gt;(&lt;/mo&gt;&lt;mo&gt;−&lt;/mo&gt;&lt;mn&gt;7.6&lt;/mn&gt;&lt;mo data-mjx-texclass=&quot;CLOSE&quot;&gt;)&lt;/mo&gt;&lt;/mrow&gt;&lt;mtext&gt;&lt;/mtext&gt;&lt;mo&gt;=&lt;/mo&gt;&lt;mtext&gt;&lt;/mtext&gt;&lt;mn&gt;7&lt;/mn&gt;&lt;/mtd&gt;&lt;/mtr&gt;&lt;/mtable&gt;&lt;/math&gt;" id="1316" name="Google Shape;1316;p99" title="3 lines Line 1: 3.4 minus 7.6 plus 11.2 Line 2: 3.4 plus negative 7.6 plus 11.2 Line 3: 14.6 plus negative 7.6 equals 7"/>
          <p:cNvPicPr preferRelativeResize="0"/>
          <p:nvPr/>
        </p:nvPicPr>
        <p:blipFill rotWithShape="1">
          <a:blip r:embed="rId3">
            <a:alphaModFix/>
          </a:blip>
          <a:srcRect b="0" l="0" r="-7596" t="71119"/>
          <a:stretch/>
        </p:blipFill>
        <p:spPr>
          <a:xfrm>
            <a:off x="705405" y="2057848"/>
            <a:ext cx="2597001" cy="301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3.45\ -\ 2.4\ +\ 3.2\ -\ 1.6\\&amp;#13;&amp;#10;13.45\ +\left(-2.4\right)+3.2+\left(-1.6\right)\\&amp;#13;&amp;#10;16.65\ +\ \left(-4\right)\ =\ 12.65\end{array}&quot;&gt;&lt;mtable columnalign=&quot;left&quot; columnspacing=&quot;1em&quot; rowspacing=&quot;4pt&quot;&gt;&lt;mtr&gt;&lt;mtd&gt;&lt;mn&gt;13.45&lt;/mn&gt;&lt;mtext&gt;&lt;/mtext&gt;&lt;mo&gt;−&lt;/mo&gt;&lt;mtext&gt;&lt;/mtext&gt;&lt;mn&gt;2.4&lt;/mn&gt;&lt;mtext&gt;&lt;/mtext&gt;&lt;mo&gt;+&lt;/mo&gt;&lt;mtext&gt;&lt;/mtext&gt;&lt;mn&gt;3.2&lt;/mn&gt;&lt;mtext&gt;&lt;/mtext&gt;&lt;mo&gt;−&lt;/mo&gt;&lt;mtext&gt;&lt;/mtext&gt;&lt;mn&gt;1.6&lt;/mn&gt;&lt;/mtd&gt;&lt;/mtr&gt;&lt;mtr&gt;&lt;mtd&gt;&lt;mn&gt;13.45&lt;/mn&gt;&lt;mtext&gt;&lt;/mtext&gt;&lt;mo&gt;+&lt;/mo&gt;&lt;mrow data-mjx-texclass=&quot;INNER&quot;&gt;&lt;mo data-mjx-texclass=&quot;OPEN&quot;&gt;(&lt;/mo&gt;&lt;mo&gt;−&lt;/mo&gt;&lt;mn&gt;2.4&lt;/mn&gt;&lt;mo data-mjx-texclass=&quot;CLOSE&quot;&gt;)&lt;/mo&gt;&lt;/mrow&gt;&lt;mo&gt;+&lt;/mo&gt;&lt;mn&gt;3.2&lt;/mn&gt;&lt;mo&gt;+&lt;/mo&gt;&lt;mrow data-mjx-texclass=&quot;INNER&quot;&gt;&lt;mo data-mjx-texclass=&quot;OPEN&quot;&gt;(&lt;/mo&gt;&lt;mo&gt;−&lt;/mo&gt;&lt;mn&gt;1.6&lt;/mn&gt;&lt;mo data-mjx-texclass=&quot;CLOSE&quot;&gt;)&lt;/mo&gt;&lt;/mrow&gt;&lt;/mtd&gt;&lt;/mtr&gt;&lt;mtr&gt;&lt;mtd&gt;&lt;mn&gt;16.65&lt;/mn&gt;&lt;mtext&gt;&lt;/mtext&gt;&lt;mo&gt;+&lt;/mo&gt;&lt;mtext&gt;&lt;/mtext&gt;&lt;mrow data-mjx-texclass=&quot;INNER&quot;&gt;&lt;mo data-mjx-texclass=&quot;OPEN&quot;&gt;(&lt;/mo&gt;&lt;mo&gt;−&lt;/mo&gt;&lt;mn&gt;4&lt;/mn&gt;&lt;mo data-mjx-texclass=&quot;CLOSE&quot;&gt;)&lt;/mo&gt;&lt;/mrow&gt;&lt;mtext&gt;&lt;/mtext&gt;&lt;mo&gt;=&lt;/mo&gt;&lt;mtext&gt;&lt;/mtext&gt;&lt;mn&gt;12.65&lt;/mn&gt;&lt;/mtd&gt;&lt;/mtr&gt;&lt;/mtable&gt;&lt;/math&gt;" id="1317" name="Google Shape;1317;p99" title="3 lines Line 1: 13.45 minus 2.4 plus 3.2 minus 1.6 Line 2: 13.45 positive negative 2.4 plus 3.2 plus negative 1.6 Line 3: 16.65 plus negative 4 equals 12.65"/>
          <p:cNvPicPr preferRelativeResize="0"/>
          <p:nvPr/>
        </p:nvPicPr>
        <p:blipFill rotWithShape="1">
          <a:blip r:embed="rId4">
            <a:alphaModFix/>
          </a:blip>
          <a:srcRect b="35351" l="0" r="0" t="35354"/>
          <a:stretch/>
        </p:blipFill>
        <p:spPr>
          <a:xfrm>
            <a:off x="723900" y="3470542"/>
            <a:ext cx="3814801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3.45\ -\ 2.4\ +\ 3.2\ -\ 1.6\\&amp;#13;&amp;#10;13.45\ +\left(-2.4\right)+3.2+\left(-1.6\right)\\&amp;#13;&amp;#10;16.65\ +\ \left(-4\right)\ =\ 12.65\end{array}&quot;&gt;&lt;mtable columnalign=&quot;left&quot; columnspacing=&quot;1em&quot; rowspacing=&quot;4pt&quot;&gt;&lt;mtr&gt;&lt;mtd&gt;&lt;mn&gt;13.45&lt;/mn&gt;&lt;mtext&gt;&lt;/mtext&gt;&lt;mo&gt;−&lt;/mo&gt;&lt;mtext&gt;&lt;/mtext&gt;&lt;mn&gt;2.4&lt;/mn&gt;&lt;mtext&gt;&lt;/mtext&gt;&lt;mo&gt;+&lt;/mo&gt;&lt;mtext&gt;&lt;/mtext&gt;&lt;mn&gt;3.2&lt;/mn&gt;&lt;mtext&gt;&lt;/mtext&gt;&lt;mo&gt;−&lt;/mo&gt;&lt;mtext&gt;&lt;/mtext&gt;&lt;mn&gt;1.6&lt;/mn&gt;&lt;/mtd&gt;&lt;/mtr&gt;&lt;mtr&gt;&lt;mtd&gt;&lt;mn&gt;13.45&lt;/mn&gt;&lt;mtext&gt;&lt;/mtext&gt;&lt;mo&gt;+&lt;/mo&gt;&lt;mrow data-mjx-texclass=&quot;INNER&quot;&gt;&lt;mo data-mjx-texclass=&quot;OPEN&quot;&gt;(&lt;/mo&gt;&lt;mo&gt;−&lt;/mo&gt;&lt;mn&gt;2.4&lt;/mn&gt;&lt;mo data-mjx-texclass=&quot;CLOSE&quot;&gt;)&lt;/mo&gt;&lt;/mrow&gt;&lt;mo&gt;+&lt;/mo&gt;&lt;mn&gt;3.2&lt;/mn&gt;&lt;mo&gt;+&lt;/mo&gt;&lt;mrow data-mjx-texclass=&quot;INNER&quot;&gt;&lt;mo data-mjx-texclass=&quot;OPEN&quot;&gt;(&lt;/mo&gt;&lt;mo&gt;−&lt;/mo&gt;&lt;mn&gt;1.6&lt;/mn&gt;&lt;mo data-mjx-texclass=&quot;CLOSE&quot;&gt;)&lt;/mo&gt;&lt;/mrow&gt;&lt;/mtd&gt;&lt;/mtr&gt;&lt;mtr&gt;&lt;mtd&gt;&lt;mn&gt;16.65&lt;/mn&gt;&lt;mtext&gt;&lt;/mtext&gt;&lt;mo&gt;+&lt;/mo&gt;&lt;mtext&gt;&lt;/mtext&gt;&lt;mrow data-mjx-texclass=&quot;INNER&quot;&gt;&lt;mo data-mjx-texclass=&quot;OPEN&quot;&gt;(&lt;/mo&gt;&lt;mo&gt;−&lt;/mo&gt;&lt;mn&gt;4&lt;/mn&gt;&lt;mo data-mjx-texclass=&quot;CLOSE&quot;&gt;)&lt;/mo&gt;&lt;/mrow&gt;&lt;mtext&gt;&lt;/mtext&gt;&lt;mo&gt;=&lt;/mo&gt;&lt;mtext&gt;&lt;/mtext&gt;&lt;mn&gt;12.65&lt;/mn&gt;&lt;/mtd&gt;&lt;/mtr&gt;&lt;/mtable&gt;&lt;/math&gt;" id="1318" name="Google Shape;1318;p99" title="3 lines Line 1: 13.45 minus 2.4 plus 3.2 minus 1.6 Line 2: 13.45 positive negative 2.4 plus 3.2 plus negative 1.6 Line 3: 16.65 plus negative 4 equals 12.65"/>
          <p:cNvPicPr preferRelativeResize="0"/>
          <p:nvPr/>
        </p:nvPicPr>
        <p:blipFill rotWithShape="1">
          <a:blip r:embed="rId4">
            <a:alphaModFix/>
          </a:blip>
          <a:srcRect b="0" l="0" r="0" t="70706"/>
          <a:stretch/>
        </p:blipFill>
        <p:spPr>
          <a:xfrm>
            <a:off x="723900" y="3871149"/>
            <a:ext cx="3814801" cy="33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p100"/>
          <p:cNvSpPr/>
          <p:nvPr/>
        </p:nvSpPr>
        <p:spPr>
          <a:xfrm>
            <a:off x="5113008" y="3519523"/>
            <a:ext cx="3391800" cy="1308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4" name="Google Shape;1324;p100"/>
          <p:cNvSpPr/>
          <p:nvPr/>
        </p:nvSpPr>
        <p:spPr>
          <a:xfrm>
            <a:off x="5006925" y="1122650"/>
            <a:ext cx="3828000" cy="2335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5" name="Google Shape;1325;p100"/>
          <p:cNvSpPr txBox="1"/>
          <p:nvPr>
            <p:ph idx="1" type="body"/>
          </p:nvPr>
        </p:nvSpPr>
        <p:spPr>
          <a:xfrm>
            <a:off x="324000" y="759300"/>
            <a:ext cx="7755600" cy="52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3) </a:t>
            </a:r>
            <a:r>
              <a:rPr lang="en-GB" sz="1800"/>
              <a:t>Work out the following, ensuring you show all your working out.</a:t>
            </a:r>
            <a:endParaRPr sz="1800"/>
          </a:p>
        </p:txBody>
      </p:sp>
      <p:sp>
        <p:nvSpPr>
          <p:cNvPr id="1326" name="Google Shape;1326;p10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Priority of operations with negatives and decimals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184.2\ -\left(-45.2\right)\times16\ \div\left(-4\right)\\&amp;#13;&amp;#10;184.2\ -\ \left(-45.2\right)\times\frac{16}{\left(-4\right)}\\&amp;#13;&amp;#10;184.2-\left(-45.2\right)\times\left(-4\right)\\&amp;#13;&amp;#10;184.2-180.8\ =\ 3.4\end{array}&quot;&gt;&lt;mtable columnalign=&quot;left&quot; columnspacing=&quot;1em&quot; rowspacing=&quot;4pt&quot;&gt;&lt;mtr&gt;&lt;mtd&gt;&lt;mn&gt;184.2&lt;/mn&gt;&lt;mtext&gt;&lt;/mtext&gt;&lt;mo&gt;−&lt;/mo&gt;&lt;mrow data-mjx-texclass=&quot;INNER&quot;&gt;&lt;mo data-mjx-texclass=&quot;OPEN&quot;&gt;(&lt;/mo&gt;&lt;mo&gt;−&lt;/mo&gt;&lt;mn&gt;45.2&lt;/mn&gt;&lt;mo data-mjx-texclass=&quot;CLOSE&quot;&gt;)&lt;/mo&gt;&lt;/mrow&gt;&lt;mo&gt;×&lt;/mo&gt;&lt;mn&gt;16&lt;/mn&gt;&lt;mtext&gt;&lt;/mtext&gt;&lt;mo&gt;÷&lt;/mo&gt;&lt;mrow data-mjx-texclass=&quot;INNER&quot;&gt;&lt;mo data-mjx-texclass=&quot;OPEN&quot;&gt;(&lt;/mo&gt;&lt;mo&gt;−&lt;/mo&gt;&lt;mn&gt;4&lt;/mn&gt;&lt;mo data-mjx-texclass=&quot;CLOSE&quot;&gt;)&lt;/mo&gt;&lt;/mrow&gt;&lt;/mtd&gt;&lt;/mtr&gt;&lt;mtr&gt;&lt;mtd&gt;&lt;mn&gt;184.2&lt;/mn&gt;&lt;mtext&gt;&lt;/mtext&gt;&lt;mo&gt;−&lt;/mo&gt;&lt;mtext&gt;&lt;/mtext&gt;&lt;mrow data-mjx-texclass=&quot;INNER&quot;&gt;&lt;mo data-mjx-texclass=&quot;OPEN&quot;&gt;(&lt;/mo&gt;&lt;mo&gt;−&lt;/mo&gt;&lt;mn&gt;45.2&lt;/mn&gt;&lt;mo data-mjx-texclass=&quot;CLOSE&quot;&gt;)&lt;/mo&gt;&lt;/mrow&gt;&lt;mo&gt;×&lt;/mo&gt;&lt;mfrac&gt;&lt;mn&gt;16&lt;/mn&gt;&lt;mrow data-mjx-texclass=&quot;INNER&quot;&gt;&lt;mo data-mjx-texclass=&quot;OPEN&quot;&gt;(&lt;/mo&gt;&lt;mo&gt;−&lt;/mo&gt;&lt;mn&gt;4&lt;/mn&gt;&lt;mo data-mjx-texclass=&quot;CLOSE&quot;&gt;)&lt;/mo&gt;&lt;/mrow&gt;&lt;/mfrac&gt;&lt;/mtd&gt;&lt;/mtr&gt;&lt;mtr&gt;&lt;mtd&gt;&lt;mn&gt;184.2&lt;/mn&gt;&lt;mo&gt;−&lt;/mo&gt;&lt;mrow data-mjx-texclass=&quot;INNER&quot;&gt;&lt;mo data-mjx-texclass=&quot;OPEN&quot;&gt;(&lt;/mo&gt;&lt;mo&gt;−&lt;/mo&gt;&lt;mn&gt;45.2&lt;/mn&gt;&lt;mo data-mjx-texclass=&quot;CLOSE&quot;&gt;)&lt;/mo&gt;&lt;/mrow&gt;&lt;mo&gt;×&lt;/mo&gt;&lt;mrow data-mjx-texclass=&quot;INNER&quot;&gt;&lt;mo data-mjx-texclass=&quot;OPEN&quot;&gt;(&lt;/mo&gt;&lt;mo&gt;−&lt;/mo&gt;&lt;mn&gt;4&lt;/mn&gt;&lt;mo data-mjx-texclass=&quot;CLOSE&quot;&gt;)&lt;/mo&gt;&lt;/mrow&gt;&lt;/mtd&gt;&lt;/mtr&gt;&lt;mtr&gt;&lt;mtd&gt;&lt;mn&gt;184.2&lt;/mn&gt;&lt;mo&gt;−&lt;/mo&gt;&lt;mn&gt;180.8&lt;/mn&gt;&lt;mtext&gt;&lt;/mtext&gt;&lt;mo&gt;=&lt;/mo&gt;&lt;mtext&gt;&lt;/mtext&gt;&lt;mn&gt;3.4&lt;/mn&gt;&lt;/mtd&gt;&lt;/mtr&gt;&lt;/mtable&gt;&lt;/math&gt;" id="1327" name="Google Shape;1327;p100" title="4 lines Line 1: 184.2 negative negative 45.2 times 16 division sign negative 4 Line 2: 184.2 minus negative 45.2 times the fraction with numerator 16 and denominator negative 4 Line 3: 184.2 minus negative 45.2 times negative 4 Line 4: 184.2 minus 180.8 equals 3.4"/>
          <p:cNvPicPr preferRelativeResize="0"/>
          <p:nvPr/>
        </p:nvPicPr>
        <p:blipFill rotWithShape="1">
          <a:blip r:embed="rId3">
            <a:alphaModFix/>
          </a:blip>
          <a:srcRect b="78647" l="0" r="0" t="0"/>
          <a:stretch/>
        </p:blipFill>
        <p:spPr>
          <a:xfrm>
            <a:off x="374925" y="1311600"/>
            <a:ext cx="4267200" cy="417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84.2\ -\left(-45.2\right)\times16\ \div\left(-4\right)\\&amp;#13;&amp;#10;184.2\ -\ \left(-45.2\right)\times\frac{16}{\left(-4\right)}\\&amp;#13;&amp;#10;184.2-\left(-45.2\right)\times\left(-4\right)\\&amp;#13;&amp;#10;184.2-180.8\ =\ 3.4\end{array}&quot;&gt;&lt;mtable columnalign=&quot;left&quot; columnspacing=&quot;1em&quot; rowspacing=&quot;4pt&quot;&gt;&lt;mtr&gt;&lt;mtd&gt;&lt;mn&gt;184.2&lt;/mn&gt;&lt;mtext&gt;&lt;/mtext&gt;&lt;mo&gt;−&lt;/mo&gt;&lt;mrow data-mjx-texclass=&quot;INNER&quot;&gt;&lt;mo data-mjx-texclass=&quot;OPEN&quot;&gt;(&lt;/mo&gt;&lt;mo&gt;−&lt;/mo&gt;&lt;mn&gt;45.2&lt;/mn&gt;&lt;mo data-mjx-texclass=&quot;CLOSE&quot;&gt;)&lt;/mo&gt;&lt;/mrow&gt;&lt;mo&gt;×&lt;/mo&gt;&lt;mn&gt;16&lt;/mn&gt;&lt;mtext&gt;&lt;/mtext&gt;&lt;mo&gt;÷&lt;/mo&gt;&lt;mrow data-mjx-texclass=&quot;INNER&quot;&gt;&lt;mo data-mjx-texclass=&quot;OPEN&quot;&gt;(&lt;/mo&gt;&lt;mo&gt;−&lt;/mo&gt;&lt;mn&gt;4&lt;/mn&gt;&lt;mo data-mjx-texclass=&quot;CLOSE&quot;&gt;)&lt;/mo&gt;&lt;/mrow&gt;&lt;/mtd&gt;&lt;/mtr&gt;&lt;mtr&gt;&lt;mtd&gt;&lt;mn&gt;184.2&lt;/mn&gt;&lt;mtext&gt;&lt;/mtext&gt;&lt;mo&gt;−&lt;/mo&gt;&lt;mtext&gt;&lt;/mtext&gt;&lt;mrow data-mjx-texclass=&quot;INNER&quot;&gt;&lt;mo data-mjx-texclass=&quot;OPEN&quot;&gt;(&lt;/mo&gt;&lt;mo&gt;−&lt;/mo&gt;&lt;mn&gt;45.2&lt;/mn&gt;&lt;mo data-mjx-texclass=&quot;CLOSE&quot;&gt;)&lt;/mo&gt;&lt;/mrow&gt;&lt;mo&gt;×&lt;/mo&gt;&lt;mfrac&gt;&lt;mn&gt;16&lt;/mn&gt;&lt;mrow data-mjx-texclass=&quot;INNER&quot;&gt;&lt;mo data-mjx-texclass=&quot;OPEN&quot;&gt;(&lt;/mo&gt;&lt;mo&gt;−&lt;/mo&gt;&lt;mn&gt;4&lt;/mn&gt;&lt;mo data-mjx-texclass=&quot;CLOSE&quot;&gt;)&lt;/mo&gt;&lt;/mrow&gt;&lt;/mfrac&gt;&lt;/mtd&gt;&lt;/mtr&gt;&lt;mtr&gt;&lt;mtd&gt;&lt;mn&gt;184.2&lt;/mn&gt;&lt;mo&gt;−&lt;/mo&gt;&lt;mrow data-mjx-texclass=&quot;INNER&quot;&gt;&lt;mo data-mjx-texclass=&quot;OPEN&quot;&gt;(&lt;/mo&gt;&lt;mo&gt;−&lt;/mo&gt;&lt;mn&gt;45.2&lt;/mn&gt;&lt;mo data-mjx-texclass=&quot;CLOSE&quot;&gt;)&lt;/mo&gt;&lt;/mrow&gt;&lt;mo&gt;×&lt;/mo&gt;&lt;mrow data-mjx-texclass=&quot;INNER&quot;&gt;&lt;mo data-mjx-texclass=&quot;OPEN&quot;&gt;(&lt;/mo&gt;&lt;mo&gt;−&lt;/mo&gt;&lt;mn&gt;4&lt;/mn&gt;&lt;mo data-mjx-texclass=&quot;CLOSE&quot;&gt;)&lt;/mo&gt;&lt;/mrow&gt;&lt;/mtd&gt;&lt;/mtr&gt;&lt;mtr&gt;&lt;mtd&gt;&lt;mn&gt;184.2&lt;/mn&gt;&lt;mo&gt;−&lt;/mo&gt;&lt;mn&gt;180.8&lt;/mn&gt;&lt;mtext&gt;&lt;/mtext&gt;&lt;mo&gt;=&lt;/mo&gt;&lt;mtext&gt;&lt;/mtext&gt;&lt;mn&gt;3.4&lt;/mn&gt;&lt;/mtd&gt;&lt;/mtr&gt;&lt;/mtable&gt;&lt;/math&gt;" id="1328" name="Google Shape;1328;p100" title="4 lines Line 1: 184.2 negative negative 45.2 times 16 division sign negative 4 Line 2: 184.2 minus negative 45.2 times the fraction with numerator 16 and denominator negative 4 Line 3: 184.2 minus negative 45.2 times negative 4 Line 4: 184.2 minus 180.8 equals 3.4"/>
          <p:cNvPicPr preferRelativeResize="0"/>
          <p:nvPr/>
        </p:nvPicPr>
        <p:blipFill rotWithShape="1">
          <a:blip r:embed="rId3">
            <a:alphaModFix/>
          </a:blip>
          <a:srcRect b="49434" l="0" r="0" t="23458"/>
          <a:stretch/>
        </p:blipFill>
        <p:spPr>
          <a:xfrm>
            <a:off x="374925" y="1855925"/>
            <a:ext cx="4267200" cy="529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84.2\ -\left(-45.2\right)\times16\ \div\left(-4\right)\\&amp;#13;&amp;#10;184.2\ -\ \left(-45.2\right)\times\frac{16}{\left(-4\right)}\\&amp;#13;&amp;#10;184.2-\left(-45.2\right)\times\left(-4\right)\\&amp;#13;&amp;#10;184.2-180.8\ =\ 3.4\end{array}&quot;&gt;&lt;mtable columnalign=&quot;left&quot; columnspacing=&quot;1em&quot; rowspacing=&quot;4pt&quot;&gt;&lt;mtr&gt;&lt;mtd&gt;&lt;mn&gt;184.2&lt;/mn&gt;&lt;mtext&gt;&lt;/mtext&gt;&lt;mo&gt;−&lt;/mo&gt;&lt;mrow data-mjx-texclass=&quot;INNER&quot;&gt;&lt;mo data-mjx-texclass=&quot;OPEN&quot;&gt;(&lt;/mo&gt;&lt;mo&gt;−&lt;/mo&gt;&lt;mn&gt;45.2&lt;/mn&gt;&lt;mo data-mjx-texclass=&quot;CLOSE&quot;&gt;)&lt;/mo&gt;&lt;/mrow&gt;&lt;mo&gt;×&lt;/mo&gt;&lt;mn&gt;16&lt;/mn&gt;&lt;mtext&gt;&lt;/mtext&gt;&lt;mo&gt;÷&lt;/mo&gt;&lt;mrow data-mjx-texclass=&quot;INNER&quot;&gt;&lt;mo data-mjx-texclass=&quot;OPEN&quot;&gt;(&lt;/mo&gt;&lt;mo&gt;−&lt;/mo&gt;&lt;mn&gt;4&lt;/mn&gt;&lt;mo data-mjx-texclass=&quot;CLOSE&quot;&gt;)&lt;/mo&gt;&lt;/mrow&gt;&lt;/mtd&gt;&lt;/mtr&gt;&lt;mtr&gt;&lt;mtd&gt;&lt;mn&gt;184.2&lt;/mn&gt;&lt;mtext&gt;&lt;/mtext&gt;&lt;mo&gt;−&lt;/mo&gt;&lt;mtext&gt;&lt;/mtext&gt;&lt;mrow data-mjx-texclass=&quot;INNER&quot;&gt;&lt;mo data-mjx-texclass=&quot;OPEN&quot;&gt;(&lt;/mo&gt;&lt;mo&gt;−&lt;/mo&gt;&lt;mn&gt;45.2&lt;/mn&gt;&lt;mo data-mjx-texclass=&quot;CLOSE&quot;&gt;)&lt;/mo&gt;&lt;/mrow&gt;&lt;mo&gt;×&lt;/mo&gt;&lt;mfrac&gt;&lt;mn&gt;16&lt;/mn&gt;&lt;mrow data-mjx-texclass=&quot;INNER&quot;&gt;&lt;mo data-mjx-texclass=&quot;OPEN&quot;&gt;(&lt;/mo&gt;&lt;mo&gt;−&lt;/mo&gt;&lt;mn&gt;4&lt;/mn&gt;&lt;mo data-mjx-texclass=&quot;CLOSE&quot;&gt;)&lt;/mo&gt;&lt;/mrow&gt;&lt;/mfrac&gt;&lt;/mtd&gt;&lt;/mtr&gt;&lt;mtr&gt;&lt;mtd&gt;&lt;mn&gt;184.2&lt;/mn&gt;&lt;mo&gt;−&lt;/mo&gt;&lt;mrow data-mjx-texclass=&quot;INNER&quot;&gt;&lt;mo data-mjx-texclass=&quot;OPEN&quot;&gt;(&lt;/mo&gt;&lt;mo&gt;−&lt;/mo&gt;&lt;mn&gt;45.2&lt;/mn&gt;&lt;mo data-mjx-texclass=&quot;CLOSE&quot;&gt;)&lt;/mo&gt;&lt;/mrow&gt;&lt;mo&gt;×&lt;/mo&gt;&lt;mrow data-mjx-texclass=&quot;INNER&quot;&gt;&lt;mo data-mjx-texclass=&quot;OPEN&quot;&gt;(&lt;/mo&gt;&lt;mo&gt;−&lt;/mo&gt;&lt;mn&gt;4&lt;/mn&gt;&lt;mo data-mjx-texclass=&quot;CLOSE&quot;&gt;)&lt;/mo&gt;&lt;/mrow&gt;&lt;/mtd&gt;&lt;/mtr&gt;&lt;mtr&gt;&lt;mtd&gt;&lt;mn&gt;184.2&lt;/mn&gt;&lt;mo&gt;−&lt;/mo&gt;&lt;mn&gt;180.8&lt;/mn&gt;&lt;mtext&gt;&lt;/mtext&gt;&lt;mo&gt;=&lt;/mo&gt;&lt;mtext&gt;&lt;/mtext&gt;&lt;mn&gt;3.4&lt;/mn&gt;&lt;/mtd&gt;&lt;/mtr&gt;&lt;/mtable&gt;&lt;/math&gt;" id="1329" name="Google Shape;1329;p100" title="4 lines Line 1: 184.2 negative negative 45.2 times 16 division sign negative 4 Line 2: 184.2 minus negative 45.2 times the fraction with numerator 16 and denominator negative 4 Line 3: 184.2 minus negative 45.2 times negative 4 Line 4: 184.2 minus 180.8 equals 3.4"/>
          <p:cNvPicPr preferRelativeResize="0"/>
          <p:nvPr/>
        </p:nvPicPr>
        <p:blipFill rotWithShape="1">
          <a:blip r:embed="rId3">
            <a:alphaModFix/>
          </a:blip>
          <a:srcRect b="19931" l="0" r="0" t="52961"/>
          <a:stretch/>
        </p:blipFill>
        <p:spPr>
          <a:xfrm>
            <a:off x="374925" y="2527775"/>
            <a:ext cx="4267200" cy="529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84.2\ -\left(-45.2\right)\times16\ \div\left(-4\right)\\&amp;#13;&amp;#10;184.2\ -\ \left(-45.2\right)\times\frac{16}{\left(-4\right)}\\&amp;#13;&amp;#10;184.2-\left(-45.2\right)\times\left(-4\right)\\&amp;#13;&amp;#10;184.2-180.8\ =\ 3.4\end{array}&quot;&gt;&lt;mtable columnalign=&quot;left&quot; columnspacing=&quot;1em&quot; rowspacing=&quot;4pt&quot;&gt;&lt;mtr&gt;&lt;mtd&gt;&lt;mn&gt;184.2&lt;/mn&gt;&lt;mtext&gt;&lt;/mtext&gt;&lt;mo&gt;−&lt;/mo&gt;&lt;mrow data-mjx-texclass=&quot;INNER&quot;&gt;&lt;mo data-mjx-texclass=&quot;OPEN&quot;&gt;(&lt;/mo&gt;&lt;mo&gt;−&lt;/mo&gt;&lt;mn&gt;45.2&lt;/mn&gt;&lt;mo data-mjx-texclass=&quot;CLOSE&quot;&gt;)&lt;/mo&gt;&lt;/mrow&gt;&lt;mo&gt;×&lt;/mo&gt;&lt;mn&gt;16&lt;/mn&gt;&lt;mtext&gt;&lt;/mtext&gt;&lt;mo&gt;÷&lt;/mo&gt;&lt;mrow data-mjx-texclass=&quot;INNER&quot;&gt;&lt;mo data-mjx-texclass=&quot;OPEN&quot;&gt;(&lt;/mo&gt;&lt;mo&gt;−&lt;/mo&gt;&lt;mn&gt;4&lt;/mn&gt;&lt;mo data-mjx-texclass=&quot;CLOSE&quot;&gt;)&lt;/mo&gt;&lt;/mrow&gt;&lt;/mtd&gt;&lt;/mtr&gt;&lt;mtr&gt;&lt;mtd&gt;&lt;mn&gt;184.2&lt;/mn&gt;&lt;mtext&gt;&lt;/mtext&gt;&lt;mo&gt;−&lt;/mo&gt;&lt;mtext&gt;&lt;/mtext&gt;&lt;mrow data-mjx-texclass=&quot;INNER&quot;&gt;&lt;mo data-mjx-texclass=&quot;OPEN&quot;&gt;(&lt;/mo&gt;&lt;mo&gt;−&lt;/mo&gt;&lt;mn&gt;45.2&lt;/mn&gt;&lt;mo data-mjx-texclass=&quot;CLOSE&quot;&gt;)&lt;/mo&gt;&lt;/mrow&gt;&lt;mo&gt;×&lt;/mo&gt;&lt;mfrac&gt;&lt;mn&gt;16&lt;/mn&gt;&lt;mrow data-mjx-texclass=&quot;INNER&quot;&gt;&lt;mo data-mjx-texclass=&quot;OPEN&quot;&gt;(&lt;/mo&gt;&lt;mo&gt;−&lt;/mo&gt;&lt;mn&gt;4&lt;/mn&gt;&lt;mo data-mjx-texclass=&quot;CLOSE&quot;&gt;)&lt;/mo&gt;&lt;/mrow&gt;&lt;/mfrac&gt;&lt;/mtd&gt;&lt;/mtr&gt;&lt;mtr&gt;&lt;mtd&gt;&lt;mn&gt;184.2&lt;/mn&gt;&lt;mo&gt;−&lt;/mo&gt;&lt;mrow data-mjx-texclass=&quot;INNER&quot;&gt;&lt;mo data-mjx-texclass=&quot;OPEN&quot;&gt;(&lt;/mo&gt;&lt;mo&gt;−&lt;/mo&gt;&lt;mn&gt;45.2&lt;/mn&gt;&lt;mo data-mjx-texclass=&quot;CLOSE&quot;&gt;)&lt;/mo&gt;&lt;/mrow&gt;&lt;mo&gt;×&lt;/mo&gt;&lt;mrow data-mjx-texclass=&quot;INNER&quot;&gt;&lt;mo data-mjx-texclass=&quot;OPEN&quot;&gt;(&lt;/mo&gt;&lt;mo&gt;−&lt;/mo&gt;&lt;mn&gt;4&lt;/mn&gt;&lt;mo data-mjx-texclass=&quot;CLOSE&quot;&gt;)&lt;/mo&gt;&lt;/mrow&gt;&lt;/mtd&gt;&lt;/mtr&gt;&lt;mtr&gt;&lt;mtd&gt;&lt;mn&gt;184.2&lt;/mn&gt;&lt;mo&gt;−&lt;/mo&gt;&lt;mn&gt;180.8&lt;/mn&gt;&lt;mtext&gt;&lt;/mtext&gt;&lt;mo&gt;=&lt;/mo&gt;&lt;mtext&gt;&lt;/mtext&gt;&lt;mn&gt;3.4&lt;/mn&gt;&lt;/mtd&gt;&lt;/mtr&gt;&lt;/mtable&gt;&lt;/math&gt;" id="1330" name="Google Shape;1330;p100" title="4 lines Line 1: 184.2 negative negative 45.2 times 16 division sign negative 4 Line 2: 184.2 minus negative 45.2 times the fraction with numerator 16 and denominator negative 4 Line 3: 184.2 minus negative 45.2 times negative 4 Line 4: 184.2 minus 180.8 equals 3.4"/>
          <p:cNvPicPr preferRelativeResize="0"/>
          <p:nvPr/>
        </p:nvPicPr>
        <p:blipFill rotWithShape="1">
          <a:blip r:embed="rId3">
            <a:alphaModFix/>
          </a:blip>
          <a:srcRect b="-9240" l="0" r="49713" t="82133"/>
          <a:stretch/>
        </p:blipFill>
        <p:spPr>
          <a:xfrm>
            <a:off x="425475" y="3240000"/>
            <a:ext cx="2145826" cy="529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452\ \times0.1\ \times4\\&amp;#13;&amp;#10;452\ \times4\ \times0.1\end{array}&quot;&gt;&lt;mtable columnalign=&quot;left&quot; columnspacing=&quot;1em&quot; rowspacing=&quot;4pt&quot;&gt;&lt;mtr&gt;&lt;mtd&gt;&lt;mn&gt;452&lt;/mn&gt;&lt;mtext&gt;&lt;/mtext&gt;&lt;mo&gt;×&lt;/mo&gt;&lt;mn&gt;0.1&lt;/mn&gt;&lt;mtext&gt;&lt;/mtext&gt;&lt;mo&gt;×&lt;/mo&gt;&lt;mn&gt;4&lt;/mn&gt;&lt;/mtd&gt;&lt;/mtr&gt;&lt;mtr&gt;&lt;mtd&gt;&lt;mn&gt;452&lt;/mn&gt;&lt;mtext&gt;&lt;/mtext&gt;&lt;mo&gt;×&lt;/mo&gt;&lt;mn&gt;4&lt;/mn&gt;&lt;mtext&gt;&lt;/mtext&gt;&lt;mo&gt;×&lt;/mo&gt;&lt;mn&gt;0.1&lt;/mn&gt;&lt;/mtd&gt;&lt;/mtr&gt;&lt;/mtable&gt;&lt;/math&gt;" id="1331" name="Google Shape;1331;p100" title="2 lines Line 1: 452 times 0.1 times 4 Line 2: 452 times 4 times 0.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07263" y="1230775"/>
            <a:ext cx="1593000" cy="578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32" name="Google Shape;1332;p100"/>
          <p:cNvGraphicFramePr/>
          <p:nvPr/>
        </p:nvGraphicFramePr>
        <p:xfrm>
          <a:off x="5083709" y="19435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{4C56B207-4C48-4F0F-B7F7-51BF5C690243}</a:tableStyleId>
              </a:tblPr>
              <a:tblGrid>
                <a:gridCol w="476550"/>
                <a:gridCol w="816575"/>
                <a:gridCol w="677250"/>
                <a:gridCol w="622150"/>
              </a:tblGrid>
              <a:tr h="289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400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</a:tr>
              <a:tr h="289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begin{array}{l}452\ \times4\ \times0.1\\&amp;#13;&amp;#10;1808\ \times0.1\ =\ 180.8\end{array}&quot;&gt;&lt;mtable columnalign=&quot;left&quot; columnspacing=&quot;1em&quot; rowspacing=&quot;4pt&quot;&gt;&lt;mtr&gt;&lt;mtd&gt;&lt;mn&gt;452&lt;/mn&gt;&lt;mtext&gt;&lt;/mtext&gt;&lt;mo&gt;×&lt;/mo&gt;&lt;mn&gt;4&lt;/mn&gt;&lt;mtext&gt;&lt;/mtext&gt;&lt;mo&gt;×&lt;/mo&gt;&lt;mn&gt;0.1&lt;/mn&gt;&lt;/mtd&gt;&lt;/mtr&gt;&lt;mtr&gt;&lt;mtd&gt;&lt;mn&gt;1808&lt;/mn&gt;&lt;mtext&gt;&lt;/mtext&gt;&lt;mo&gt;×&lt;/mo&gt;&lt;mn&gt;0.1&lt;/mn&gt;&lt;mtext&gt;&lt;/mtext&gt;&lt;mo&gt;=&lt;/mo&gt;&lt;mtext&gt;&lt;/mtext&gt;&lt;mn&gt;180.8&lt;/mn&gt;&lt;/mtd&gt;&lt;/mtr&gt;&lt;/mtable&gt;&lt;/math&gt;" id="1333" name="Google Shape;1333;p100" title="2 lines Line 1: 452 times 4 times 0.1 Line 2: 1808 times 0.1 equals 180.8"/>
          <p:cNvPicPr preferRelativeResize="0"/>
          <p:nvPr/>
        </p:nvPicPr>
        <p:blipFill rotWithShape="1">
          <a:blip r:embed="rId5">
            <a:alphaModFix/>
          </a:blip>
          <a:srcRect b="0" l="0" r="0" t="41752"/>
          <a:stretch/>
        </p:blipFill>
        <p:spPr>
          <a:xfrm>
            <a:off x="5137638" y="2919000"/>
            <a:ext cx="2332250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84.2\ -\left(-45.2\right)\times16\ \div\left(-4\right)\\&amp;#13;&amp;#10;184.2\ -\ \left(-45.2\right)\times\frac{16}{\left(-4\right)}\\&amp;#13;&amp;#10;184.2-\left(-45.2\right)\times\left(-4\right)\\&amp;#13;&amp;#10;184.2-180.8\ =\ 3.4\end{array}&quot;&gt;&lt;mtable columnalign=&quot;left&quot; columnspacing=&quot;1em&quot; rowspacing=&quot;4pt&quot;&gt;&lt;mtr&gt;&lt;mtd&gt;&lt;mn&gt;184.2&lt;/mn&gt;&lt;mtext&gt;&lt;/mtext&gt;&lt;mo&gt;−&lt;/mo&gt;&lt;mrow data-mjx-texclass=&quot;INNER&quot;&gt;&lt;mo data-mjx-texclass=&quot;OPEN&quot;&gt;(&lt;/mo&gt;&lt;mo&gt;−&lt;/mo&gt;&lt;mn&gt;45.2&lt;/mn&gt;&lt;mo data-mjx-texclass=&quot;CLOSE&quot;&gt;)&lt;/mo&gt;&lt;/mrow&gt;&lt;mo&gt;×&lt;/mo&gt;&lt;mn&gt;16&lt;/mn&gt;&lt;mtext&gt;&lt;/mtext&gt;&lt;mo&gt;÷&lt;/mo&gt;&lt;mrow data-mjx-texclass=&quot;INNER&quot;&gt;&lt;mo data-mjx-texclass=&quot;OPEN&quot;&gt;(&lt;/mo&gt;&lt;mo&gt;−&lt;/mo&gt;&lt;mn&gt;4&lt;/mn&gt;&lt;mo data-mjx-texclass=&quot;CLOSE&quot;&gt;)&lt;/mo&gt;&lt;/mrow&gt;&lt;/mtd&gt;&lt;/mtr&gt;&lt;mtr&gt;&lt;mtd&gt;&lt;mn&gt;184.2&lt;/mn&gt;&lt;mtext&gt;&lt;/mtext&gt;&lt;mo&gt;−&lt;/mo&gt;&lt;mtext&gt;&lt;/mtext&gt;&lt;mrow data-mjx-texclass=&quot;INNER&quot;&gt;&lt;mo data-mjx-texclass=&quot;OPEN&quot;&gt;(&lt;/mo&gt;&lt;mo&gt;−&lt;/mo&gt;&lt;mn&gt;45.2&lt;/mn&gt;&lt;mo data-mjx-texclass=&quot;CLOSE&quot;&gt;)&lt;/mo&gt;&lt;/mrow&gt;&lt;mo&gt;×&lt;/mo&gt;&lt;mfrac&gt;&lt;mn&gt;16&lt;/mn&gt;&lt;mrow data-mjx-texclass=&quot;INNER&quot;&gt;&lt;mo data-mjx-texclass=&quot;OPEN&quot;&gt;(&lt;/mo&gt;&lt;mo&gt;−&lt;/mo&gt;&lt;mn&gt;4&lt;/mn&gt;&lt;mo data-mjx-texclass=&quot;CLOSE&quot;&gt;)&lt;/mo&gt;&lt;/mrow&gt;&lt;/mfrac&gt;&lt;/mtd&gt;&lt;/mtr&gt;&lt;mtr&gt;&lt;mtd&gt;&lt;mn&gt;184.2&lt;/mn&gt;&lt;mo&gt;−&lt;/mo&gt;&lt;mrow data-mjx-texclass=&quot;INNER&quot;&gt;&lt;mo data-mjx-texclass=&quot;OPEN&quot;&gt;(&lt;/mo&gt;&lt;mo&gt;−&lt;/mo&gt;&lt;mn&gt;45.2&lt;/mn&gt;&lt;mo data-mjx-texclass=&quot;CLOSE&quot;&gt;)&lt;/mo&gt;&lt;/mrow&gt;&lt;mo&gt;×&lt;/mo&gt;&lt;mrow data-mjx-texclass=&quot;INNER&quot;&gt;&lt;mo data-mjx-texclass=&quot;OPEN&quot;&gt;(&lt;/mo&gt;&lt;mo&gt;−&lt;/mo&gt;&lt;mn&gt;4&lt;/mn&gt;&lt;mo data-mjx-texclass=&quot;CLOSE&quot;&gt;)&lt;/mo&gt;&lt;/mrow&gt;&lt;/mtd&gt;&lt;/mtr&gt;&lt;mtr&gt;&lt;mtd&gt;&lt;mn&gt;184.2&lt;/mn&gt;&lt;mo&gt;−&lt;/mo&gt;&lt;mn&gt;180.8&lt;/mn&gt;&lt;mtext&gt;&lt;/mtext&gt;&lt;mo&gt;=&lt;/mo&gt;&lt;mtext&gt;&lt;/mtext&gt;&lt;mn&gt;3.4&lt;/mn&gt;&lt;/mtd&gt;&lt;/mtr&gt;&lt;/mtable&gt;&lt;/math&gt;" id="1334" name="Google Shape;1334;p100" title="4 lines Line 1: 184.2 negative negative 45.2 times 16 division sign negative 4 Line 2: 184.2 minus negative 45.2 times the fraction with numerator 16 and denominator negative 4 Line 3: 184.2 minus negative 45.2 times negative 4 Line 4: 184.2 minus 180.8 equals 3.4"/>
          <p:cNvPicPr preferRelativeResize="0"/>
          <p:nvPr/>
        </p:nvPicPr>
        <p:blipFill rotWithShape="1">
          <a:blip r:embed="rId3">
            <a:alphaModFix/>
          </a:blip>
          <a:srcRect b="-11306" l="47245" r="15424" t="84199"/>
          <a:stretch/>
        </p:blipFill>
        <p:spPr>
          <a:xfrm>
            <a:off x="2573113" y="3240000"/>
            <a:ext cx="1592974" cy="5296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35" name="Google Shape;1335;p100"/>
          <p:cNvGrpSpPr/>
          <p:nvPr/>
        </p:nvGrpSpPr>
        <p:grpSpPr>
          <a:xfrm>
            <a:off x="6307350" y="3631100"/>
            <a:ext cx="869100" cy="1036900"/>
            <a:chOff x="6231150" y="3783500"/>
            <a:chExt cx="869100" cy="1036900"/>
          </a:xfrm>
        </p:grpSpPr>
        <p:pic>
          <p:nvPicPr>
            <p:cNvPr descr="&lt;math xmlns=&quot;http://www.w3.org/1998/Math/MathML&quot; display=&quot;block&quot; data-is-equatio=&quot;1&quot; data-latex=&quot;\begin{array}{l}\ \ \ 184.2\\&amp;#13;&amp;#10;-\ 180.8\\&amp;#13;&amp;#10;\ \ \ \ \ \ \ 3.4\end{array}&quot;&gt;&lt;mtable columnalign=&quot;left&quot; columnspacing=&quot;1em&quot; rowspacing=&quot;4pt&quot;&gt;&lt;mtr&gt;&lt;mtd&gt;&lt;mtext&gt;&lt;/mtext&gt;&lt;mtext&gt;&lt;/mtext&gt;&lt;mtext&gt;&lt;/mtext&gt;&lt;mn&gt;184.2&lt;/mn&gt;&lt;/mtd&gt;&lt;/mtr&gt;&lt;mtr&gt;&lt;mtd&gt;&lt;mo&gt;−&lt;/mo&gt;&lt;mtext&gt;&lt;/mtext&gt;&lt;mn&gt;180.8&lt;/mn&gt;&lt;/mtd&gt;&lt;/mtr&gt;&lt;mtr&gt;&lt;mtd&gt;&lt;mtext&gt;&lt;/mtext&gt;&lt;mtext&gt;&lt;/mtext&gt;&lt;mtext&gt;&lt;/mtext&gt;&lt;mtext&gt;&lt;/mtext&gt;&lt;mtext&gt;&lt;/mtext&gt;&lt;mtext&gt;&lt;/mtext&gt;&lt;mtext&gt;&lt;/mtext&gt;&lt;mn&gt;3.4&lt;/mn&gt;&lt;/mtd&gt;&lt;/mtr&gt;&lt;/mtable&gt;&lt;/math&gt;" id="1336" name="Google Shape;1336;p100" title="3 lines Line 1: 184.2 Line 2: minus 180.8 Line 3: 3.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231150" y="3783500"/>
              <a:ext cx="869100" cy="985799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337" name="Google Shape;1337;p100"/>
            <p:cNvCxnSpPr/>
            <p:nvPr/>
          </p:nvCxnSpPr>
          <p:spPr>
            <a:xfrm>
              <a:off x="6399750" y="4489125"/>
              <a:ext cx="7005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38" name="Google Shape;1338;p100"/>
            <p:cNvCxnSpPr/>
            <p:nvPr/>
          </p:nvCxnSpPr>
          <p:spPr>
            <a:xfrm>
              <a:off x="6398651" y="4820400"/>
              <a:ext cx="7005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339" name="Google Shape;1339;p100"/>
          <p:cNvGrpSpPr/>
          <p:nvPr/>
        </p:nvGrpSpPr>
        <p:grpSpPr>
          <a:xfrm>
            <a:off x="7729675" y="1234645"/>
            <a:ext cx="981300" cy="1971380"/>
            <a:chOff x="7729675" y="1234645"/>
            <a:chExt cx="981300" cy="1971380"/>
          </a:xfrm>
        </p:grpSpPr>
        <p:pic>
          <p:nvPicPr>
            <p:cNvPr descr="&lt;math xmlns=&quot;http://www.w3.org/1998/Math/MathML&quot; display=&quot;block&quot; data-is-equatio=&quot;1&quot; data-latex=&quot;\begin{array}{l}\ \ \ 1600\\&amp;#13;&amp;#10;\ \ \ \ \ 200\\&amp;#13;&amp;#10;\ \ +\ \ \ 8\\&amp;#13;&amp;#10;\ \ \ 1808\end{array}&quot;&gt;&lt;mtable columnalign=&quot;left&quot; columnspacing=&quot;1em&quot; rowspacing=&quot;4pt&quot;&gt;&lt;mtr&gt;&lt;mtd&gt;&lt;mtext&gt;&lt;/mtext&gt;&lt;mtext&gt;&lt;/mtext&gt;&lt;mtext&gt;&lt;/mtext&gt;&lt;mn&gt;1600&lt;/mn&gt;&lt;/mtd&gt;&lt;/mtr&gt;&lt;mtr&gt;&lt;mtd&gt;&lt;mtext&gt;&lt;/mtext&gt;&lt;mtext&gt;&lt;/mtext&gt;&lt;mtext&gt;&lt;/mtext&gt;&lt;mtext&gt;&lt;/mtext&gt;&lt;mtext&gt;&lt;/mtext&gt;&lt;mn&gt;200&lt;/mn&gt;&lt;/mtd&gt;&lt;/mtr&gt;&lt;mtr&gt;&lt;mtd&gt;&lt;mtext&gt;&lt;/mtext&gt;&lt;mtext&gt;&lt;/mtext&gt;&lt;mo&gt;+&lt;/mo&gt;&lt;mtext&gt;&lt;/mtext&gt;&lt;mtext&gt;&lt;/mtext&gt;&lt;mtext&gt;&lt;/mtext&gt;&lt;mn&gt;8&lt;/mn&gt;&lt;/mtd&gt;&lt;/mtr&gt;&lt;mtr&gt;&lt;mtd&gt;&lt;mtext&gt;&lt;/mtext&gt;&lt;mtext&gt;&lt;/mtext&gt;&lt;mtext&gt;&lt;/mtext&gt;&lt;mn&gt;1808&lt;/mn&gt;&lt;/mtd&gt;&lt;/mtr&gt;&lt;/mtable&gt;&lt;/math&gt;" id="1340" name="Google Shape;1340;p100" title="4 lines Line 1: 1600 Line 2: 200 Line 3: plus 8 Line 4: 1808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7777550" y="1234645"/>
              <a:ext cx="784147" cy="18529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341" name="Google Shape;1341;p100"/>
            <p:cNvCxnSpPr/>
            <p:nvPr/>
          </p:nvCxnSpPr>
          <p:spPr>
            <a:xfrm>
              <a:off x="7729675" y="3206025"/>
              <a:ext cx="9813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42" name="Google Shape;1342;p100"/>
            <p:cNvCxnSpPr/>
            <p:nvPr/>
          </p:nvCxnSpPr>
          <p:spPr>
            <a:xfrm>
              <a:off x="7729675" y="2699988"/>
              <a:ext cx="9813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p101"/>
          <p:cNvSpPr txBox="1"/>
          <p:nvPr>
            <p:ph idx="1" type="body"/>
          </p:nvPr>
        </p:nvSpPr>
        <p:spPr>
          <a:xfrm>
            <a:off x="324000" y="759300"/>
            <a:ext cx="8237700" cy="4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4) </a:t>
            </a:r>
            <a:r>
              <a:rPr lang="en-GB" sz="1800"/>
              <a:t>Work out the following, ensuring you</a:t>
            </a:r>
            <a:r>
              <a:rPr lang="en-GB" sz="1800"/>
              <a:t> show all y</a:t>
            </a:r>
            <a:r>
              <a:rPr lang="en-GB" sz="1800"/>
              <a:t>our working out.</a:t>
            </a:r>
            <a:endParaRPr sz="1800"/>
          </a:p>
        </p:txBody>
      </p:sp>
      <p:sp>
        <p:nvSpPr>
          <p:cNvPr id="1348" name="Google Shape;1348;p10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Priority of operations with negatives and decimals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10.2\ -\ 1.4\ \times\left(-3.2\right)+\frac{12^2}{\sqrt[]{25+75}}&quot;&gt;&lt;mn&gt;10.2&lt;/mn&gt;&lt;mtext&gt;&lt;/mtext&gt;&lt;mo&gt;−&lt;/mo&gt;&lt;mtext&gt;&lt;/mtext&gt;&lt;mn&gt;1.4&lt;/mn&gt;&lt;mtext&gt;&lt;/mtext&gt;&lt;mo&gt;×&lt;/mo&gt;&lt;mrow data-mjx-texclass=&quot;INNER&quot;&gt;&lt;mo data-mjx-texclass=&quot;OPEN&quot;&gt;(&lt;/mo&gt;&lt;mo&gt;−&lt;/mo&gt;&lt;mn&gt;3.2&lt;/mn&gt;&lt;mo data-mjx-texclass=&quot;CLOSE&quot;&gt;)&lt;/mo&gt;&lt;/mrow&gt;&lt;mo&gt;+&lt;/mo&gt;&lt;mfrac&gt;&lt;msup&gt;&lt;mn&gt;12&lt;/mn&gt;&lt;mn&gt;2&lt;/mn&gt;&lt;/msup&gt;&lt;msqrt&gt;&lt;mn&gt;25&lt;/mn&gt;&lt;mo&gt;+&lt;/mo&gt;&lt;mn&gt;75&lt;/mn&gt;&lt;/msqrt&gt;&lt;/mfrac&gt;&lt;/math&gt;" id="1349" name="Google Shape;1349;p101" title="10.2 minus 1.4 times negative 3.2 plus the fraction with numerator 12 squared and denominator the square root of 25 plus 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238" y="1146003"/>
            <a:ext cx="3568194" cy="741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0.2\ -\ 1.4\ \times\left(-3.2\right)+\frac{12^2}{\sqrt[]{25+75}}\\&amp;#13;&amp;#10;10.2\ -\ 1.4\ \times\left(-3.2\right)+\frac{12^2}{\sqrt[]{100}}\\&amp;#13;&amp;#10;10.2\ -\ 1.4\ \times\left(-3.2\right)+\frac{12^2}{10}\\&amp;#13;&amp;#10;10.2\ -\ 1.4\ \times\left(-3.2\right)+\frac{144}{10}\\&amp;#13;&amp;#10;10.2\ -\ \left(-4.48\right)+14.4\\&amp;#13;&amp;#10;10.2\ +\ 4.48+14.4\ =\ 29.08\end{array}&quot;&gt;&lt;mtable columnalign=&quot;left&quot; columnspacing=&quot;1em&quot; rowspacing=&quot;4pt&quot;&gt;&lt;mtr&gt;&lt;mtd&gt;&lt;mn&gt;10.2&lt;/mn&gt;&lt;mtext&gt;&lt;/mtext&gt;&lt;mo&gt;−&lt;/mo&gt;&lt;mtext&gt;&lt;/mtext&gt;&lt;mn&gt;1.4&lt;/mn&gt;&lt;mtext&gt;&lt;/mtext&gt;&lt;mo&gt;×&lt;/mo&gt;&lt;mrow data-mjx-texclass=&quot;INNER&quot;&gt;&lt;mo data-mjx-texclass=&quot;OPEN&quot;&gt;(&lt;/mo&gt;&lt;mo&gt;−&lt;/mo&gt;&lt;mn&gt;3.2&lt;/mn&gt;&lt;mo data-mjx-texclass=&quot;CLOSE&quot;&gt;)&lt;/mo&gt;&lt;/mrow&gt;&lt;mo&gt;+&lt;/mo&gt;&lt;mfrac&gt;&lt;msup&gt;&lt;mn&gt;12&lt;/mn&gt;&lt;mn&gt;2&lt;/mn&gt;&lt;/msup&gt;&lt;msqrt&gt;&lt;mn&gt;25&lt;/mn&gt;&lt;mo&gt;+&lt;/mo&gt;&lt;mn&gt;75&lt;/mn&gt;&lt;/msqrt&gt;&lt;/mfrac&gt;&lt;/mtd&gt;&lt;/mtr&gt;&lt;mtr&gt;&lt;mtd&gt;&lt;mn&gt;10.2&lt;/mn&gt;&lt;mtext&gt;&lt;/mtext&gt;&lt;mo&gt;−&lt;/mo&gt;&lt;mtext&gt;&lt;/mtext&gt;&lt;mn&gt;1.4&lt;/mn&gt;&lt;mtext&gt;&lt;/mtext&gt;&lt;mo&gt;×&lt;/mo&gt;&lt;mrow data-mjx-texclass=&quot;INNER&quot;&gt;&lt;mo data-mjx-texclass=&quot;OPEN&quot;&gt;(&lt;/mo&gt;&lt;mo&gt;−&lt;/mo&gt;&lt;mn&gt;3.2&lt;/mn&gt;&lt;mo data-mjx-texclass=&quot;CLOSE&quot;&gt;)&lt;/mo&gt;&lt;/mrow&gt;&lt;mo&gt;+&lt;/mo&gt;&lt;mfrac&gt;&lt;msup&gt;&lt;mn&gt;12&lt;/mn&gt;&lt;mn&gt;2&lt;/mn&gt;&lt;/msup&gt;&lt;msqrt&gt;&lt;mn&gt;100&lt;/mn&gt;&lt;/msqrt&gt;&lt;/mfrac&gt;&lt;/mtd&gt;&lt;/mtr&gt;&lt;mtr&gt;&lt;mtd&gt;&lt;mn&gt;10.2&lt;/mn&gt;&lt;mtext&gt;&lt;/mtext&gt;&lt;mo&gt;−&lt;/mo&gt;&lt;mtext&gt;&lt;/mtext&gt;&lt;mn&gt;1.4&lt;/mn&gt;&lt;mtext&gt;&lt;/mtext&gt;&lt;mo&gt;×&lt;/mo&gt;&lt;mrow data-mjx-texclass=&quot;INNER&quot;&gt;&lt;mo data-mjx-texclass=&quot;OPEN&quot;&gt;(&lt;/mo&gt;&lt;mo&gt;−&lt;/mo&gt;&lt;mn&gt;3.2&lt;/mn&gt;&lt;mo data-mjx-texclass=&quot;CLOSE&quot;&gt;)&lt;/mo&gt;&lt;/mrow&gt;&lt;mo&gt;+&lt;/mo&gt;&lt;mfrac&gt;&lt;msup&gt;&lt;mn&gt;12&lt;/mn&gt;&lt;mn&gt;2&lt;/mn&gt;&lt;/msup&gt;&lt;mn&gt;10&lt;/mn&gt;&lt;/mfrac&gt;&lt;/mtd&gt;&lt;/mtr&gt;&lt;mtr&gt;&lt;mtd&gt;&lt;mn&gt;10.2&lt;/mn&gt;&lt;mtext&gt;&lt;/mtext&gt;&lt;mo&gt;−&lt;/mo&gt;&lt;mtext&gt;&lt;/mtext&gt;&lt;mn&gt;1.4&lt;/mn&gt;&lt;mtext&gt;&lt;/mtext&gt;&lt;mo&gt;×&lt;/mo&gt;&lt;mrow data-mjx-texclass=&quot;INNER&quot;&gt;&lt;mo data-mjx-texclass=&quot;OPEN&quot;&gt;(&lt;/mo&gt;&lt;mo&gt;−&lt;/mo&gt;&lt;mn&gt;3.2&lt;/mn&gt;&lt;mo data-mjx-texclass=&quot;CLOSE&quot;&gt;)&lt;/mo&gt;&lt;/mrow&gt;&lt;mo&gt;+&lt;/mo&gt;&lt;mfrac&gt;&lt;mn&gt;144&lt;/mn&gt;&lt;mn&gt;10&lt;/mn&gt;&lt;/mfrac&gt;&lt;/mtd&gt;&lt;/mtr&gt;&lt;mtr&gt;&lt;mtd&gt;&lt;mn&gt;10.2&lt;/mn&gt;&lt;mtext&gt;&lt;/mtext&gt;&lt;mo&gt;−&lt;/mo&gt;&lt;mtext&gt;&lt;/mtext&gt;&lt;mrow data-mjx-texclass=&quot;INNER&quot;&gt;&lt;mo data-mjx-texclass=&quot;OPEN&quot;&gt;(&lt;/mo&gt;&lt;mo&gt;−&lt;/mo&gt;&lt;mn&gt;4.48&lt;/mn&gt;&lt;mo data-mjx-texclass=&quot;CLOSE&quot;&gt;)&lt;/mo&gt;&lt;/mrow&gt;&lt;mo&gt;+&lt;/mo&gt;&lt;mn&gt;14.4&lt;/mn&gt;&lt;/mtd&gt;&lt;/mtr&gt;&lt;mtr&gt;&lt;mtd&gt;&lt;mn&gt;10.2&lt;/mn&gt;&lt;mtext&gt;&lt;/mtext&gt;&lt;mo&gt;+&lt;/mo&gt;&lt;mtext&gt;&lt;/mtext&gt;&lt;mn&gt;4.48&lt;/mn&gt;&lt;mo&gt;+&lt;/mo&gt;&lt;mn&gt;14.4&lt;/mn&gt;&lt;mtext&gt;&lt;/mtext&gt;&lt;mo&gt;=&lt;/mo&gt;&lt;mtext&gt;&lt;/mtext&gt;&lt;mn&gt;29.08&lt;/mn&gt;&lt;/mtd&gt;&lt;/mtr&gt;&lt;/mtable&gt;&lt;/math&gt;" id="1350" name="Google Shape;1350;p101" title="6 lines Line 1: 10.2 minus 1.4 times negative 3.2 plus the fraction with numerator 12 squared and denominator the square root of 25 plus 75 Line 2: 10.2 minus 1.4 times negative 3.2 plus the fraction with numerator 12 squared and denominator the square root of 100 Line 3: 10.2 minus 1.4 times negative 3.2 plus the fraction with numerator 12 squared and denominator 10 Line 4: 10.2 minus 1.4 times negative 3.2 plus 144 over 10 Line 5: 10.2 minus negative 4.48 plus 14.4 Line 6: 10.2 plus 4.48 plus 14.4 equals 29.08"/>
          <p:cNvPicPr preferRelativeResize="0"/>
          <p:nvPr/>
        </p:nvPicPr>
        <p:blipFill rotWithShape="1">
          <a:blip r:embed="rId4">
            <a:alphaModFix/>
          </a:blip>
          <a:srcRect b="58226" l="-2240" r="2240" t="20489"/>
          <a:stretch/>
        </p:blipFill>
        <p:spPr>
          <a:xfrm>
            <a:off x="246750" y="1980850"/>
            <a:ext cx="3648226" cy="666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0.2\ -\ 1.4\ \times\left(-3.2\right)+\frac{12^2}{\sqrt[]{25+75}}\\&amp;#13;&amp;#10;10.2\ -\ 1.4\ \times\left(-3.2\right)+\frac{12^2}{\sqrt[]{100}}\\&amp;#13;&amp;#10;10.2\ -\ 1.4\ \times\left(-3.2\right)+\frac{12^2}{10}\\&amp;#13;&amp;#10;10.2\ -\ 1.4\ \times\left(-3.2\right)+\frac{144}{10}\\&amp;#13;&amp;#10;10.2\ -\ \left(-4.48\right)+14.4\\&amp;#13;&amp;#10;10.2\ +\ 4.48+14.4\ =\ 29.08\end{array}&quot;&gt;&lt;mtable columnalign=&quot;left&quot; columnspacing=&quot;1em&quot; rowspacing=&quot;4pt&quot;&gt;&lt;mtr&gt;&lt;mtd&gt;&lt;mn&gt;10.2&lt;/mn&gt;&lt;mtext&gt;&lt;/mtext&gt;&lt;mo&gt;−&lt;/mo&gt;&lt;mtext&gt;&lt;/mtext&gt;&lt;mn&gt;1.4&lt;/mn&gt;&lt;mtext&gt;&lt;/mtext&gt;&lt;mo&gt;×&lt;/mo&gt;&lt;mrow data-mjx-texclass=&quot;INNER&quot;&gt;&lt;mo data-mjx-texclass=&quot;OPEN&quot;&gt;(&lt;/mo&gt;&lt;mo&gt;−&lt;/mo&gt;&lt;mn&gt;3.2&lt;/mn&gt;&lt;mo data-mjx-texclass=&quot;CLOSE&quot;&gt;)&lt;/mo&gt;&lt;/mrow&gt;&lt;mo&gt;+&lt;/mo&gt;&lt;mfrac&gt;&lt;msup&gt;&lt;mn&gt;12&lt;/mn&gt;&lt;mn&gt;2&lt;/mn&gt;&lt;/msup&gt;&lt;msqrt&gt;&lt;mn&gt;25&lt;/mn&gt;&lt;mo&gt;+&lt;/mo&gt;&lt;mn&gt;75&lt;/mn&gt;&lt;/msqrt&gt;&lt;/mfrac&gt;&lt;/mtd&gt;&lt;/mtr&gt;&lt;mtr&gt;&lt;mtd&gt;&lt;mn&gt;10.2&lt;/mn&gt;&lt;mtext&gt;&lt;/mtext&gt;&lt;mo&gt;−&lt;/mo&gt;&lt;mtext&gt;&lt;/mtext&gt;&lt;mn&gt;1.4&lt;/mn&gt;&lt;mtext&gt;&lt;/mtext&gt;&lt;mo&gt;×&lt;/mo&gt;&lt;mrow data-mjx-texclass=&quot;INNER&quot;&gt;&lt;mo data-mjx-texclass=&quot;OPEN&quot;&gt;(&lt;/mo&gt;&lt;mo&gt;−&lt;/mo&gt;&lt;mn&gt;3.2&lt;/mn&gt;&lt;mo data-mjx-texclass=&quot;CLOSE&quot;&gt;)&lt;/mo&gt;&lt;/mrow&gt;&lt;mo&gt;+&lt;/mo&gt;&lt;mfrac&gt;&lt;msup&gt;&lt;mn&gt;12&lt;/mn&gt;&lt;mn&gt;2&lt;/mn&gt;&lt;/msup&gt;&lt;msqrt&gt;&lt;mn&gt;100&lt;/mn&gt;&lt;/msqrt&gt;&lt;/mfrac&gt;&lt;/mtd&gt;&lt;/mtr&gt;&lt;mtr&gt;&lt;mtd&gt;&lt;mn&gt;10.2&lt;/mn&gt;&lt;mtext&gt;&lt;/mtext&gt;&lt;mo&gt;−&lt;/mo&gt;&lt;mtext&gt;&lt;/mtext&gt;&lt;mn&gt;1.4&lt;/mn&gt;&lt;mtext&gt;&lt;/mtext&gt;&lt;mo&gt;×&lt;/mo&gt;&lt;mrow data-mjx-texclass=&quot;INNER&quot;&gt;&lt;mo data-mjx-texclass=&quot;OPEN&quot;&gt;(&lt;/mo&gt;&lt;mo&gt;−&lt;/mo&gt;&lt;mn&gt;3.2&lt;/mn&gt;&lt;mo data-mjx-texclass=&quot;CLOSE&quot;&gt;)&lt;/mo&gt;&lt;/mrow&gt;&lt;mo&gt;+&lt;/mo&gt;&lt;mfrac&gt;&lt;msup&gt;&lt;mn&gt;12&lt;/mn&gt;&lt;mn&gt;2&lt;/mn&gt;&lt;/msup&gt;&lt;mn&gt;10&lt;/mn&gt;&lt;/mfrac&gt;&lt;/mtd&gt;&lt;/mtr&gt;&lt;mtr&gt;&lt;mtd&gt;&lt;mn&gt;10.2&lt;/mn&gt;&lt;mtext&gt;&lt;/mtext&gt;&lt;mo&gt;−&lt;/mo&gt;&lt;mtext&gt;&lt;/mtext&gt;&lt;mn&gt;1.4&lt;/mn&gt;&lt;mtext&gt;&lt;/mtext&gt;&lt;mo&gt;×&lt;/mo&gt;&lt;mrow data-mjx-texclass=&quot;INNER&quot;&gt;&lt;mo data-mjx-texclass=&quot;OPEN&quot;&gt;(&lt;/mo&gt;&lt;mo&gt;−&lt;/mo&gt;&lt;mn&gt;3.2&lt;/mn&gt;&lt;mo data-mjx-texclass=&quot;CLOSE&quot;&gt;)&lt;/mo&gt;&lt;/mrow&gt;&lt;mo&gt;+&lt;/mo&gt;&lt;mfrac&gt;&lt;mn&gt;144&lt;/mn&gt;&lt;mn&gt;10&lt;/mn&gt;&lt;/mfrac&gt;&lt;/mtd&gt;&lt;/mtr&gt;&lt;mtr&gt;&lt;mtd&gt;&lt;mn&gt;10.2&lt;/mn&gt;&lt;mtext&gt;&lt;/mtext&gt;&lt;mo&gt;−&lt;/mo&gt;&lt;mtext&gt;&lt;/mtext&gt;&lt;mrow data-mjx-texclass=&quot;INNER&quot;&gt;&lt;mo data-mjx-texclass=&quot;OPEN&quot;&gt;(&lt;/mo&gt;&lt;mo&gt;−&lt;/mo&gt;&lt;mn&gt;4.48&lt;/mn&gt;&lt;mo data-mjx-texclass=&quot;CLOSE&quot;&gt;)&lt;/mo&gt;&lt;/mrow&gt;&lt;mo&gt;+&lt;/mo&gt;&lt;mn&gt;14.4&lt;/mn&gt;&lt;/mtd&gt;&lt;/mtr&gt;&lt;mtr&gt;&lt;mtd&gt;&lt;mn&gt;10.2&lt;/mn&gt;&lt;mtext&gt;&lt;/mtext&gt;&lt;mo&gt;+&lt;/mo&gt;&lt;mtext&gt;&lt;/mtext&gt;&lt;mn&gt;4.48&lt;/mn&gt;&lt;mo&gt;+&lt;/mo&gt;&lt;mn&gt;14.4&lt;/mn&gt;&lt;mtext&gt;&lt;/mtext&gt;&lt;mo&gt;=&lt;/mo&gt;&lt;mtext&gt;&lt;/mtext&gt;&lt;mn&gt;29.08&lt;/mn&gt;&lt;/mtd&gt;&lt;/mtr&gt;&lt;/mtable&gt;&lt;/math&gt;" id="1351" name="Google Shape;1351;p101" title="6 lines Line 1: 10.2 minus 1.4 times negative 3.2 plus the fraction with numerator 12 squared and denominator the square root of 25 plus 75 Line 2: 10.2 minus 1.4 times negative 3.2 plus the fraction with numerator 12 squared and denominator the square root of 100 Line 3: 10.2 minus 1.4 times negative 3.2 plus the fraction with numerator 12 squared and denominator 10 Line 4: 10.2 minus 1.4 times negative 3.2 plus 144 over 10 Line 5: 10.2 minus negative 4.48 plus 14.4 Line 6: 10.2 plus 4.48 plus 14.4 equals 29.08"/>
          <p:cNvPicPr preferRelativeResize="0"/>
          <p:nvPr/>
        </p:nvPicPr>
        <p:blipFill rotWithShape="1">
          <a:blip r:embed="rId4">
            <a:alphaModFix/>
          </a:blip>
          <a:srcRect b="38384" l="-2120" r="2119" t="42931"/>
          <a:stretch/>
        </p:blipFill>
        <p:spPr>
          <a:xfrm>
            <a:off x="246750" y="2687725"/>
            <a:ext cx="3648226" cy="5851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0.2\ -\ 1.4\ \times\left(-3.2\right)+\frac{12^2}{\sqrt[]{25+75}}\\&amp;#13;&amp;#10;10.2\ -\ 1.4\ \times\left(-3.2\right)+\frac{12^2}{\sqrt[]{100}}\\&amp;#13;&amp;#10;10.2\ -\ 1.4\ \times\left(-3.2\right)+\frac{12^2}{10}\\&amp;#13;&amp;#10;10.2\ -\ 1.4\ \times\left(-3.2\right)+\frac{144}{10}\\&amp;#13;&amp;#10;10.2\ -\ \left(-4.48\right)+14.4\\&amp;#13;&amp;#10;10.2\ +\ 4.48+14.4\ =\ 29.08\end{array}&quot;&gt;&lt;mtable columnalign=&quot;left&quot; columnspacing=&quot;1em&quot; rowspacing=&quot;4pt&quot;&gt;&lt;mtr&gt;&lt;mtd&gt;&lt;mn&gt;10.2&lt;/mn&gt;&lt;mtext&gt;&lt;/mtext&gt;&lt;mo&gt;−&lt;/mo&gt;&lt;mtext&gt;&lt;/mtext&gt;&lt;mn&gt;1.4&lt;/mn&gt;&lt;mtext&gt;&lt;/mtext&gt;&lt;mo&gt;×&lt;/mo&gt;&lt;mrow data-mjx-texclass=&quot;INNER&quot;&gt;&lt;mo data-mjx-texclass=&quot;OPEN&quot;&gt;(&lt;/mo&gt;&lt;mo&gt;−&lt;/mo&gt;&lt;mn&gt;3.2&lt;/mn&gt;&lt;mo data-mjx-texclass=&quot;CLOSE&quot;&gt;)&lt;/mo&gt;&lt;/mrow&gt;&lt;mo&gt;+&lt;/mo&gt;&lt;mfrac&gt;&lt;msup&gt;&lt;mn&gt;12&lt;/mn&gt;&lt;mn&gt;2&lt;/mn&gt;&lt;/msup&gt;&lt;msqrt&gt;&lt;mn&gt;25&lt;/mn&gt;&lt;mo&gt;+&lt;/mo&gt;&lt;mn&gt;75&lt;/mn&gt;&lt;/msqrt&gt;&lt;/mfrac&gt;&lt;/mtd&gt;&lt;/mtr&gt;&lt;mtr&gt;&lt;mtd&gt;&lt;mn&gt;10.2&lt;/mn&gt;&lt;mtext&gt;&lt;/mtext&gt;&lt;mo&gt;−&lt;/mo&gt;&lt;mtext&gt;&lt;/mtext&gt;&lt;mn&gt;1.4&lt;/mn&gt;&lt;mtext&gt;&lt;/mtext&gt;&lt;mo&gt;×&lt;/mo&gt;&lt;mrow data-mjx-texclass=&quot;INNER&quot;&gt;&lt;mo data-mjx-texclass=&quot;OPEN&quot;&gt;(&lt;/mo&gt;&lt;mo&gt;−&lt;/mo&gt;&lt;mn&gt;3.2&lt;/mn&gt;&lt;mo data-mjx-texclass=&quot;CLOSE&quot;&gt;)&lt;/mo&gt;&lt;/mrow&gt;&lt;mo&gt;+&lt;/mo&gt;&lt;mfrac&gt;&lt;msup&gt;&lt;mn&gt;12&lt;/mn&gt;&lt;mn&gt;2&lt;/mn&gt;&lt;/msup&gt;&lt;msqrt&gt;&lt;mn&gt;100&lt;/mn&gt;&lt;/msqrt&gt;&lt;/mfrac&gt;&lt;/mtd&gt;&lt;/mtr&gt;&lt;mtr&gt;&lt;mtd&gt;&lt;mn&gt;10.2&lt;/mn&gt;&lt;mtext&gt;&lt;/mtext&gt;&lt;mo&gt;−&lt;/mo&gt;&lt;mtext&gt;&lt;/mtext&gt;&lt;mn&gt;1.4&lt;/mn&gt;&lt;mtext&gt;&lt;/mtext&gt;&lt;mo&gt;×&lt;/mo&gt;&lt;mrow data-mjx-texclass=&quot;INNER&quot;&gt;&lt;mo data-mjx-texclass=&quot;OPEN&quot;&gt;(&lt;/mo&gt;&lt;mo&gt;−&lt;/mo&gt;&lt;mn&gt;3.2&lt;/mn&gt;&lt;mo data-mjx-texclass=&quot;CLOSE&quot;&gt;)&lt;/mo&gt;&lt;/mrow&gt;&lt;mo&gt;+&lt;/mo&gt;&lt;mfrac&gt;&lt;msup&gt;&lt;mn&gt;12&lt;/mn&gt;&lt;mn&gt;2&lt;/mn&gt;&lt;/msup&gt;&lt;mn&gt;10&lt;/mn&gt;&lt;/mfrac&gt;&lt;/mtd&gt;&lt;/mtr&gt;&lt;mtr&gt;&lt;mtd&gt;&lt;mn&gt;10.2&lt;/mn&gt;&lt;mtext&gt;&lt;/mtext&gt;&lt;mo&gt;−&lt;/mo&gt;&lt;mtext&gt;&lt;/mtext&gt;&lt;mn&gt;1.4&lt;/mn&gt;&lt;mtext&gt;&lt;/mtext&gt;&lt;mo&gt;×&lt;/mo&gt;&lt;mrow data-mjx-texclass=&quot;INNER&quot;&gt;&lt;mo data-mjx-texclass=&quot;OPEN&quot;&gt;(&lt;/mo&gt;&lt;mo&gt;−&lt;/mo&gt;&lt;mn&gt;3.2&lt;/mn&gt;&lt;mo data-mjx-texclass=&quot;CLOSE&quot;&gt;)&lt;/mo&gt;&lt;/mrow&gt;&lt;mo&gt;+&lt;/mo&gt;&lt;mfrac&gt;&lt;mn&gt;144&lt;/mn&gt;&lt;mn&gt;10&lt;/mn&gt;&lt;/mfrac&gt;&lt;/mtd&gt;&lt;/mtr&gt;&lt;mtr&gt;&lt;mtd&gt;&lt;mn&gt;10.2&lt;/mn&gt;&lt;mtext&gt;&lt;/mtext&gt;&lt;mo&gt;−&lt;/mo&gt;&lt;mtext&gt;&lt;/mtext&gt;&lt;mrow data-mjx-texclass=&quot;INNER&quot;&gt;&lt;mo data-mjx-texclass=&quot;OPEN&quot;&gt;(&lt;/mo&gt;&lt;mo&gt;−&lt;/mo&gt;&lt;mn&gt;4.48&lt;/mn&gt;&lt;mo data-mjx-texclass=&quot;CLOSE&quot;&gt;)&lt;/mo&gt;&lt;/mrow&gt;&lt;mo&gt;+&lt;/mo&gt;&lt;mn&gt;14.4&lt;/mn&gt;&lt;/mtd&gt;&lt;/mtr&gt;&lt;mtr&gt;&lt;mtd&gt;&lt;mn&gt;10.2&lt;/mn&gt;&lt;mtext&gt;&lt;/mtext&gt;&lt;mo&gt;+&lt;/mo&gt;&lt;mtext&gt;&lt;/mtext&gt;&lt;mn&gt;4.48&lt;/mn&gt;&lt;mo&gt;+&lt;/mo&gt;&lt;mn&gt;14.4&lt;/mn&gt;&lt;mtext&gt;&lt;/mtext&gt;&lt;mo&gt;=&lt;/mo&gt;&lt;mtext&gt;&lt;/mtext&gt;&lt;mn&gt;29.08&lt;/mn&gt;&lt;/mtd&gt;&lt;/mtr&gt;&lt;/mtable&gt;&lt;/math&gt;" id="1352" name="Google Shape;1352;p101" title="6 lines Line 1: 10.2 minus 1.4 times negative 3.2 plus the fraction with numerator 12 squared and denominator the square root of 25 plus 75 Line 2: 10.2 minus 1.4 times negative 3.2 plus the fraction with numerator 12 squared and denominator the square root of 100 Line 3: 10.2 minus 1.4 times negative 3.2 plus the fraction with numerator 12 squared and denominator 10 Line 4: 10.2 minus 1.4 times negative 3.2 plus 144 over 10 Line 5: 10.2 minus negative 4.48 plus 14.4 Line 6: 10.2 plus 4.48 plus 14.4 equals 29.08"/>
          <p:cNvPicPr preferRelativeResize="0"/>
          <p:nvPr/>
        </p:nvPicPr>
        <p:blipFill rotWithShape="1">
          <a:blip r:embed="rId4">
            <a:alphaModFix/>
          </a:blip>
          <a:srcRect b="22446" l="-2120" r="2119" t="58869"/>
          <a:stretch/>
        </p:blipFill>
        <p:spPr>
          <a:xfrm>
            <a:off x="252025" y="3313175"/>
            <a:ext cx="3648226" cy="5851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0.2\ -\ 1.4\ \times\left(-3.2\right)+\frac{12^2}{\sqrt[]{25+75}}\\&amp;#13;&amp;#10;10.2\ -\ 1.4\ \times\left(-3.2\right)+\frac{12^2}{\sqrt[]{100}}\\&amp;#13;&amp;#10;10.2\ -\ 1.4\ \times\left(-3.2\right)+\frac{12^2}{10}\\&amp;#13;&amp;#10;10.2\ -\ 1.4\ \times\left(-3.2\right)+\frac{144}{10}\\&amp;#13;&amp;#10;10.2\ -\ \left(-4.48\right)+14.4\\&amp;#13;&amp;#10;10.2\ +\ 4.48+14.4\ =\ 29.08\end{array}&quot;&gt;&lt;mtable columnalign=&quot;left&quot; columnspacing=&quot;1em&quot; rowspacing=&quot;4pt&quot;&gt;&lt;mtr&gt;&lt;mtd&gt;&lt;mn&gt;10.2&lt;/mn&gt;&lt;mtext&gt;&lt;/mtext&gt;&lt;mo&gt;−&lt;/mo&gt;&lt;mtext&gt;&lt;/mtext&gt;&lt;mn&gt;1.4&lt;/mn&gt;&lt;mtext&gt;&lt;/mtext&gt;&lt;mo&gt;×&lt;/mo&gt;&lt;mrow data-mjx-texclass=&quot;INNER&quot;&gt;&lt;mo data-mjx-texclass=&quot;OPEN&quot;&gt;(&lt;/mo&gt;&lt;mo&gt;−&lt;/mo&gt;&lt;mn&gt;3.2&lt;/mn&gt;&lt;mo data-mjx-texclass=&quot;CLOSE&quot;&gt;)&lt;/mo&gt;&lt;/mrow&gt;&lt;mo&gt;+&lt;/mo&gt;&lt;mfrac&gt;&lt;msup&gt;&lt;mn&gt;12&lt;/mn&gt;&lt;mn&gt;2&lt;/mn&gt;&lt;/msup&gt;&lt;msqrt&gt;&lt;mn&gt;25&lt;/mn&gt;&lt;mo&gt;+&lt;/mo&gt;&lt;mn&gt;75&lt;/mn&gt;&lt;/msqrt&gt;&lt;/mfrac&gt;&lt;/mtd&gt;&lt;/mtr&gt;&lt;mtr&gt;&lt;mtd&gt;&lt;mn&gt;10.2&lt;/mn&gt;&lt;mtext&gt;&lt;/mtext&gt;&lt;mo&gt;−&lt;/mo&gt;&lt;mtext&gt;&lt;/mtext&gt;&lt;mn&gt;1.4&lt;/mn&gt;&lt;mtext&gt;&lt;/mtext&gt;&lt;mo&gt;×&lt;/mo&gt;&lt;mrow data-mjx-texclass=&quot;INNER&quot;&gt;&lt;mo data-mjx-texclass=&quot;OPEN&quot;&gt;(&lt;/mo&gt;&lt;mo&gt;−&lt;/mo&gt;&lt;mn&gt;3.2&lt;/mn&gt;&lt;mo data-mjx-texclass=&quot;CLOSE&quot;&gt;)&lt;/mo&gt;&lt;/mrow&gt;&lt;mo&gt;+&lt;/mo&gt;&lt;mfrac&gt;&lt;msup&gt;&lt;mn&gt;12&lt;/mn&gt;&lt;mn&gt;2&lt;/mn&gt;&lt;/msup&gt;&lt;msqrt&gt;&lt;mn&gt;100&lt;/mn&gt;&lt;/msqrt&gt;&lt;/mfrac&gt;&lt;/mtd&gt;&lt;/mtr&gt;&lt;mtr&gt;&lt;mtd&gt;&lt;mn&gt;10.2&lt;/mn&gt;&lt;mtext&gt;&lt;/mtext&gt;&lt;mo&gt;−&lt;/mo&gt;&lt;mtext&gt;&lt;/mtext&gt;&lt;mn&gt;1.4&lt;/mn&gt;&lt;mtext&gt;&lt;/mtext&gt;&lt;mo&gt;×&lt;/mo&gt;&lt;mrow data-mjx-texclass=&quot;INNER&quot;&gt;&lt;mo data-mjx-texclass=&quot;OPEN&quot;&gt;(&lt;/mo&gt;&lt;mo&gt;−&lt;/mo&gt;&lt;mn&gt;3.2&lt;/mn&gt;&lt;mo data-mjx-texclass=&quot;CLOSE&quot;&gt;)&lt;/mo&gt;&lt;/mrow&gt;&lt;mo&gt;+&lt;/mo&gt;&lt;mfrac&gt;&lt;msup&gt;&lt;mn&gt;12&lt;/mn&gt;&lt;mn&gt;2&lt;/mn&gt;&lt;/msup&gt;&lt;mn&gt;10&lt;/mn&gt;&lt;/mfrac&gt;&lt;/mtd&gt;&lt;/mtr&gt;&lt;mtr&gt;&lt;mtd&gt;&lt;mn&gt;10.2&lt;/mn&gt;&lt;mtext&gt;&lt;/mtext&gt;&lt;mo&gt;−&lt;/mo&gt;&lt;mtext&gt;&lt;/mtext&gt;&lt;mn&gt;1.4&lt;/mn&gt;&lt;mtext&gt;&lt;/mtext&gt;&lt;mo&gt;×&lt;/mo&gt;&lt;mrow data-mjx-texclass=&quot;INNER&quot;&gt;&lt;mo data-mjx-texclass=&quot;OPEN&quot;&gt;(&lt;/mo&gt;&lt;mo&gt;−&lt;/mo&gt;&lt;mn&gt;3.2&lt;/mn&gt;&lt;mo data-mjx-texclass=&quot;CLOSE&quot;&gt;)&lt;/mo&gt;&lt;/mrow&gt;&lt;mo&gt;+&lt;/mo&gt;&lt;mfrac&gt;&lt;mn&gt;144&lt;/mn&gt;&lt;mn&gt;10&lt;/mn&gt;&lt;/mfrac&gt;&lt;/mtd&gt;&lt;/mtr&gt;&lt;mtr&gt;&lt;mtd&gt;&lt;mn&gt;10.2&lt;/mn&gt;&lt;mtext&gt;&lt;/mtext&gt;&lt;mo&gt;−&lt;/mo&gt;&lt;mtext&gt;&lt;/mtext&gt;&lt;mrow data-mjx-texclass=&quot;INNER&quot;&gt;&lt;mo data-mjx-texclass=&quot;OPEN&quot;&gt;(&lt;/mo&gt;&lt;mo&gt;−&lt;/mo&gt;&lt;mn&gt;4.48&lt;/mn&gt;&lt;mo data-mjx-texclass=&quot;CLOSE&quot;&gt;)&lt;/mo&gt;&lt;/mrow&gt;&lt;mo&gt;+&lt;/mo&gt;&lt;mn&gt;14.4&lt;/mn&gt;&lt;/mtd&gt;&lt;/mtr&gt;&lt;mtr&gt;&lt;mtd&gt;&lt;mn&gt;10.2&lt;/mn&gt;&lt;mtext&gt;&lt;/mtext&gt;&lt;mo&gt;+&lt;/mo&gt;&lt;mtext&gt;&lt;/mtext&gt;&lt;mn&gt;4.48&lt;/mn&gt;&lt;mo&gt;+&lt;/mo&gt;&lt;mn&gt;14.4&lt;/mn&gt;&lt;mtext&gt;&lt;/mtext&gt;&lt;mo&gt;=&lt;/mo&gt;&lt;mtext&gt;&lt;/mtext&gt;&lt;mn&gt;29.08&lt;/mn&gt;&lt;/mtd&gt;&lt;/mtr&gt;&lt;/mtable&gt;&lt;/math&gt;" id="1353" name="Google Shape;1353;p101" title="6 lines Line 1: 10.2 minus 1.4 times negative 3.2 plus the fraction with numerator 12 squared and denominator the square root of 25 plus 75 Line 2: 10.2 minus 1.4 times negative 3.2 plus the fraction with numerator 12 squared and denominator the square root of 100 Line 3: 10.2 minus 1.4 times negative 3.2 plus the fraction with numerator 12 squared and denominator 10 Line 4: 10.2 minus 1.4 times negative 3.2 plus 144 over 10 Line 5: 10.2 minus negative 4.48 plus 14.4 Line 6: 10.2 plus 4.48 plus 14.4 equals 29.08"/>
          <p:cNvPicPr preferRelativeResize="0"/>
          <p:nvPr/>
        </p:nvPicPr>
        <p:blipFill rotWithShape="1">
          <a:blip r:embed="rId4">
            <a:alphaModFix/>
          </a:blip>
          <a:srcRect b="-4792" l="-2409" r="25921" t="89236"/>
          <a:stretch/>
        </p:blipFill>
        <p:spPr>
          <a:xfrm>
            <a:off x="252025" y="4014825"/>
            <a:ext cx="2790474" cy="48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4" name="Google Shape;1354;p101"/>
          <p:cNvSpPr/>
          <p:nvPr/>
        </p:nvSpPr>
        <p:spPr>
          <a:xfrm>
            <a:off x="5267750" y="1183800"/>
            <a:ext cx="2948700" cy="2135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355" name="Google Shape;1355;p101"/>
          <p:cNvGraphicFramePr/>
          <p:nvPr/>
        </p:nvGraphicFramePr>
        <p:xfrm>
          <a:off x="5378325" y="1455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{4C56B207-4C48-4F0F-B7F7-51BF5C690243}</a:tableStyleId>
              </a:tblPr>
              <a:tblGrid>
                <a:gridCol w="473975"/>
                <a:gridCol w="772850"/>
                <a:gridCol w="614650"/>
              </a:tblGrid>
              <a:tr h="361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</a:tr>
              <a:tr h="361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61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1356" name="Google Shape;1356;p101"/>
          <p:cNvCxnSpPr/>
          <p:nvPr/>
        </p:nvCxnSpPr>
        <p:spPr>
          <a:xfrm>
            <a:off x="7414300" y="2552190"/>
            <a:ext cx="7005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7" name="Google Shape;1357;p101"/>
          <p:cNvCxnSpPr/>
          <p:nvPr/>
        </p:nvCxnSpPr>
        <p:spPr>
          <a:xfrm>
            <a:off x="7404440" y="2852842"/>
            <a:ext cx="7005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58" name="Google Shape;1358;p101"/>
          <p:cNvGrpSpPr/>
          <p:nvPr/>
        </p:nvGrpSpPr>
        <p:grpSpPr>
          <a:xfrm>
            <a:off x="5318300" y="3369050"/>
            <a:ext cx="2528700" cy="1413900"/>
            <a:chOff x="5318300" y="3369050"/>
            <a:chExt cx="2528700" cy="1413900"/>
          </a:xfrm>
        </p:grpSpPr>
        <p:pic>
          <p:nvPicPr>
            <p:cNvPr descr="&lt;math xmlns=&quot;http://www.w3.org/1998/Math/MathML&quot; display=&quot;block&quot; data-is-equatio=&quot;1&quot; data-latex=&quot;\begin{array}{l}\ \ \ \ 10.20\\&amp;#13;&amp;#10;\ \ \ \ \ \ 4.48\\&amp;#13;&amp;#10;+\ \ 14.40\\&amp;#13;&amp;#10;\ \ \ \ 29.08\end{array}&quot;&gt;&lt;mtable columnalign=&quot;left&quot; columnspacing=&quot;1em&quot; rowspacing=&quot;4pt&quot;&gt;&lt;mtr&gt;&lt;mtd&gt;&lt;mtext&gt;&lt;/mtext&gt;&lt;mtext&gt;&lt;/mtext&gt;&lt;mtext&gt;&lt;/mtext&gt;&lt;mtext&gt;&lt;/mtext&gt;&lt;mn&gt;10.20&lt;/mn&gt;&lt;/mtd&gt;&lt;/mtr&gt;&lt;mtr&gt;&lt;mtd&gt;&lt;mtext&gt;&lt;/mtext&gt;&lt;mtext&gt;&lt;/mtext&gt;&lt;mtext&gt;&lt;/mtext&gt;&lt;mtext&gt;&lt;/mtext&gt;&lt;mtext&gt;&lt;/mtext&gt;&lt;mtext&gt;&lt;/mtext&gt;&lt;mn&gt;4.48&lt;/mn&gt;&lt;/mtd&gt;&lt;/mtr&gt;&lt;mtr&gt;&lt;mtd&gt;&lt;mo&gt;+&lt;/mo&gt;&lt;mtext&gt;&lt;/mtext&gt;&lt;mtext&gt;&lt;/mtext&gt;&lt;mn&gt;14.40&lt;/mn&gt;&lt;/mtd&gt;&lt;/mtr&gt;&lt;mtr&gt;&lt;mtd&gt;&lt;mtext&gt;&lt;/mtext&gt;&lt;mtext&gt;&lt;/mtext&gt;&lt;mtext&gt;&lt;/mtext&gt;&lt;mtext&gt;&lt;/mtext&gt;&lt;mn&gt;29.08&lt;/mn&gt;&lt;/mtd&gt;&lt;/mtr&gt;&lt;/mtable&gt;&lt;/math&gt;" id="1359" name="Google Shape;1359;p101" title="4 lines Line 1: 10.20 Line 2: 4.48 Line 3: plus 14.40 Line 4: 29.0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155474" y="3432753"/>
              <a:ext cx="854350" cy="12436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0" name="Google Shape;1360;p101"/>
            <p:cNvSpPr/>
            <p:nvPr/>
          </p:nvSpPr>
          <p:spPr>
            <a:xfrm>
              <a:off x="5318300" y="3369050"/>
              <a:ext cx="2528700" cy="14139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61" name="Google Shape;1361;p101"/>
            <p:cNvCxnSpPr/>
            <p:nvPr/>
          </p:nvCxnSpPr>
          <p:spPr>
            <a:xfrm>
              <a:off x="6312325" y="4715600"/>
              <a:ext cx="7005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62" name="Google Shape;1362;p101"/>
            <p:cNvCxnSpPr/>
            <p:nvPr/>
          </p:nvCxnSpPr>
          <p:spPr>
            <a:xfrm>
              <a:off x="6312337" y="4401363"/>
              <a:ext cx="7005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&lt;math xmlns=&quot;http://www.w3.org/1998/Math/MathML&quot; display=&quot;block&quot; data-is-equatio=&quot;1&quot; data-latex=&quot;14\times32\times0.01\ =\ 4.48&quot;&gt;&lt;mn&gt;14&lt;/mn&gt;&lt;mo&gt;×&lt;/mo&gt;&lt;mn&gt;32&lt;/mn&gt;&lt;mo&gt;×&lt;/mo&gt;&lt;mn&gt;0.01&lt;/mn&gt;&lt;mtext&gt;&lt;/mtext&gt;&lt;mo&gt;=&lt;/mo&gt;&lt;mtext&gt;&lt;/mtext&gt;&lt;mn&gt;4.48&lt;/mn&gt;&lt;/math&gt;" id="1363" name="Google Shape;1363;p101" title="14 times 32 times 0.01 equals 4.48"/>
          <p:cNvPicPr preferRelativeResize="0"/>
          <p:nvPr/>
        </p:nvPicPr>
        <p:blipFill rotWithShape="1">
          <a:blip r:embed="rId6">
            <a:alphaModFix/>
          </a:blip>
          <a:srcRect b="0" l="0" r="20986" t="0"/>
          <a:stretch/>
        </p:blipFill>
        <p:spPr>
          <a:xfrm>
            <a:off x="5457975" y="2999375"/>
            <a:ext cx="1696850" cy="165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 \ \ 300\\&amp;#13;&amp;#10;\ \ \ 120\\&amp;#13;&amp;#10;\ \ \ \ \ 20\\&amp;#13;&amp;#10;\ \ +\ 8\\&amp;#13;&amp;#10;\ \ \ 448\end{array}&quot;&gt;&lt;mtable columnalign=&quot;left&quot; columnspacing=&quot;1em&quot; rowspacing=&quot;4pt&quot;&gt;&lt;mtr&gt;&lt;mtd&gt;&lt;mtext&gt;&lt;/mtext&gt;&lt;mtext&gt;&lt;/mtext&gt;&lt;mtext&gt;&lt;/mtext&gt;&lt;mn&gt;300&lt;/mn&gt;&lt;/mtd&gt;&lt;/mtr&gt;&lt;mtr&gt;&lt;mtd&gt;&lt;mtext&gt;&lt;/mtext&gt;&lt;mtext&gt;&lt;/mtext&gt;&lt;mtext&gt;&lt;/mtext&gt;&lt;mn&gt;120&lt;/mn&gt;&lt;/mtd&gt;&lt;/mtr&gt;&lt;mtr&gt;&lt;mtd&gt;&lt;mtext&gt;&lt;/mtext&gt;&lt;mtext&gt;&lt;/mtext&gt;&lt;mtext&gt;&lt;/mtext&gt;&lt;mtext&gt;&lt;/mtext&gt;&lt;mtext&gt;&lt;/mtext&gt;&lt;mn&gt;20&lt;/mn&gt;&lt;/mtd&gt;&lt;/mtr&gt;&lt;mtr&gt;&lt;mtd&gt;&lt;mtext&gt;&lt;/mtext&gt;&lt;mtext&gt;&lt;/mtext&gt;&lt;mo&gt;+&lt;/mo&gt;&lt;mtext&gt;&lt;/mtext&gt;&lt;mn&gt;8&lt;/mn&gt;&lt;/mtd&gt;&lt;/mtr&gt;&lt;mtr&gt;&lt;mtd&gt;&lt;mtext&gt;&lt;/mtext&gt;&lt;mtext&gt;&lt;/mtext&gt;&lt;mtext&gt;&lt;/mtext&gt;&lt;mn&gt;448&lt;/mn&gt;&lt;/mtd&gt;&lt;/mtr&gt;&lt;/mtable&gt;&lt;/math&gt;" id="1364" name="Google Shape;1364;p101" title="5 lines Line 1: 300 Line 2: 120 Line 3: 20 Line 4: plus 8 Line 5: 44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51017" y="1327870"/>
            <a:ext cx="367725" cy="146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.48&quot;&gt;&lt;mn&gt;4.48&lt;/mn&gt;&lt;/math&gt;" id="1365" name="Google Shape;1365;p101" title="4.4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54825" y="2999375"/>
            <a:ext cx="515987" cy="21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0.2\ -\ 1.4\ \times\left(-3.2\right)+\frac{12^2}{\sqrt[]{25+75}}\\&amp;#13;&amp;#10;10.2\ -\ 1.4\ \times\left(-3.2\right)+\frac{12^2}{\sqrt[]{100}}\\&amp;#13;&amp;#10;10.2\ -\ 1.4\ \times\left(-3.2\right)+\frac{12^2}{10}\\&amp;#13;&amp;#10;10.2\ -\ 1.4\ \times\left(-3.2\right)+\frac{144}{10}\\&amp;#13;&amp;#10;10.2\ -\ \left(-4.48\right)+14.4\\&amp;#13;&amp;#10;10.2\ +\ 4.48+14.4\ =\ 29.08\end{array}&quot;&gt;&lt;mtable columnalign=&quot;left&quot; columnspacing=&quot;1em&quot; rowspacing=&quot;4pt&quot;&gt;&lt;mtr&gt;&lt;mtd&gt;&lt;mn&gt;10.2&lt;/mn&gt;&lt;mtext&gt;&lt;/mtext&gt;&lt;mo&gt;−&lt;/mo&gt;&lt;mtext&gt;&lt;/mtext&gt;&lt;mn&gt;1.4&lt;/mn&gt;&lt;mtext&gt;&lt;/mtext&gt;&lt;mo&gt;×&lt;/mo&gt;&lt;mrow data-mjx-texclass=&quot;INNER&quot;&gt;&lt;mo data-mjx-texclass=&quot;OPEN&quot;&gt;(&lt;/mo&gt;&lt;mo&gt;−&lt;/mo&gt;&lt;mn&gt;3.2&lt;/mn&gt;&lt;mo data-mjx-texclass=&quot;CLOSE&quot;&gt;)&lt;/mo&gt;&lt;/mrow&gt;&lt;mo&gt;+&lt;/mo&gt;&lt;mfrac&gt;&lt;msup&gt;&lt;mn&gt;12&lt;/mn&gt;&lt;mn&gt;2&lt;/mn&gt;&lt;/msup&gt;&lt;msqrt&gt;&lt;mn&gt;25&lt;/mn&gt;&lt;mo&gt;+&lt;/mo&gt;&lt;mn&gt;75&lt;/mn&gt;&lt;/msqrt&gt;&lt;/mfrac&gt;&lt;/mtd&gt;&lt;/mtr&gt;&lt;mtr&gt;&lt;mtd&gt;&lt;mn&gt;10.2&lt;/mn&gt;&lt;mtext&gt;&lt;/mtext&gt;&lt;mo&gt;−&lt;/mo&gt;&lt;mtext&gt;&lt;/mtext&gt;&lt;mn&gt;1.4&lt;/mn&gt;&lt;mtext&gt;&lt;/mtext&gt;&lt;mo&gt;×&lt;/mo&gt;&lt;mrow data-mjx-texclass=&quot;INNER&quot;&gt;&lt;mo data-mjx-texclass=&quot;OPEN&quot;&gt;(&lt;/mo&gt;&lt;mo&gt;−&lt;/mo&gt;&lt;mn&gt;3.2&lt;/mn&gt;&lt;mo data-mjx-texclass=&quot;CLOSE&quot;&gt;)&lt;/mo&gt;&lt;/mrow&gt;&lt;mo&gt;+&lt;/mo&gt;&lt;mfrac&gt;&lt;msup&gt;&lt;mn&gt;12&lt;/mn&gt;&lt;mn&gt;2&lt;/mn&gt;&lt;/msup&gt;&lt;msqrt&gt;&lt;mn&gt;100&lt;/mn&gt;&lt;/msqrt&gt;&lt;/mfrac&gt;&lt;/mtd&gt;&lt;/mtr&gt;&lt;mtr&gt;&lt;mtd&gt;&lt;mn&gt;10.2&lt;/mn&gt;&lt;mtext&gt;&lt;/mtext&gt;&lt;mo&gt;−&lt;/mo&gt;&lt;mtext&gt;&lt;/mtext&gt;&lt;mn&gt;1.4&lt;/mn&gt;&lt;mtext&gt;&lt;/mtext&gt;&lt;mo&gt;×&lt;/mo&gt;&lt;mrow data-mjx-texclass=&quot;INNER&quot;&gt;&lt;mo data-mjx-texclass=&quot;OPEN&quot;&gt;(&lt;/mo&gt;&lt;mo&gt;−&lt;/mo&gt;&lt;mn&gt;3.2&lt;/mn&gt;&lt;mo data-mjx-texclass=&quot;CLOSE&quot;&gt;)&lt;/mo&gt;&lt;/mrow&gt;&lt;mo&gt;+&lt;/mo&gt;&lt;mfrac&gt;&lt;msup&gt;&lt;mn&gt;12&lt;/mn&gt;&lt;mn&gt;2&lt;/mn&gt;&lt;/msup&gt;&lt;mn&gt;10&lt;/mn&gt;&lt;/mfrac&gt;&lt;/mtd&gt;&lt;/mtr&gt;&lt;mtr&gt;&lt;mtd&gt;&lt;mn&gt;10.2&lt;/mn&gt;&lt;mtext&gt;&lt;/mtext&gt;&lt;mo&gt;−&lt;/mo&gt;&lt;mtext&gt;&lt;/mtext&gt;&lt;mn&gt;1.4&lt;/mn&gt;&lt;mtext&gt;&lt;/mtext&gt;&lt;mo&gt;×&lt;/mo&gt;&lt;mrow data-mjx-texclass=&quot;INNER&quot;&gt;&lt;mo data-mjx-texclass=&quot;OPEN&quot;&gt;(&lt;/mo&gt;&lt;mo&gt;−&lt;/mo&gt;&lt;mn&gt;3.2&lt;/mn&gt;&lt;mo data-mjx-texclass=&quot;CLOSE&quot;&gt;)&lt;/mo&gt;&lt;/mrow&gt;&lt;mo&gt;+&lt;/mo&gt;&lt;mfrac&gt;&lt;mn&gt;144&lt;/mn&gt;&lt;mn&gt;10&lt;/mn&gt;&lt;/mfrac&gt;&lt;/mtd&gt;&lt;/mtr&gt;&lt;mtr&gt;&lt;mtd&gt;&lt;mn&gt;10.2&lt;/mn&gt;&lt;mtext&gt;&lt;/mtext&gt;&lt;mo&gt;−&lt;/mo&gt;&lt;mtext&gt;&lt;/mtext&gt;&lt;mrow data-mjx-texclass=&quot;INNER&quot;&gt;&lt;mo data-mjx-texclass=&quot;OPEN&quot;&gt;(&lt;/mo&gt;&lt;mo&gt;−&lt;/mo&gt;&lt;mn&gt;4.48&lt;/mn&gt;&lt;mo data-mjx-texclass=&quot;CLOSE&quot;&gt;)&lt;/mo&gt;&lt;/mrow&gt;&lt;mo&gt;+&lt;/mo&gt;&lt;mn&gt;14.4&lt;/mn&gt;&lt;/mtd&gt;&lt;/mtr&gt;&lt;mtr&gt;&lt;mtd&gt;&lt;mn&gt;10.2&lt;/mn&gt;&lt;mtext&gt;&lt;/mtext&gt;&lt;mo&gt;+&lt;/mo&gt;&lt;mtext&gt;&lt;/mtext&gt;&lt;mn&gt;4.48&lt;/mn&gt;&lt;mo&gt;+&lt;/mo&gt;&lt;mn&gt;14.4&lt;/mn&gt;&lt;mtext&gt;&lt;/mtext&gt;&lt;mo&gt;=&lt;/mo&gt;&lt;mtext&gt;&lt;/mtext&gt;&lt;mn&gt;29.08&lt;/mn&gt;&lt;/mtd&gt;&lt;/mtr&gt;&lt;/mtable&gt;&lt;/math&gt;" id="1366" name="Google Shape;1366;p101" title="6 lines Line 1: 10.2 minus 1.4 times negative 3.2 plus the fraction with numerator 12 squared and denominator the square root of 25 plus 75 Line 2: 10.2 minus 1.4 times negative 3.2 plus the fraction with numerator 12 squared and denominator the square root of 100 Line 3: 10.2 minus 1.4 times negative 3.2 plus the fraction with numerator 12 squared and denominator 10 Line 4: 10.2 minus 1.4 times negative 3.2 plus 144 over 10 Line 5: 10.2 minus negative 4.48 plus 14.4 Line 6: 10.2 plus 4.48 plus 14.4 equals 29.08"/>
          <p:cNvPicPr preferRelativeResize="0"/>
          <p:nvPr/>
        </p:nvPicPr>
        <p:blipFill rotWithShape="1">
          <a:blip r:embed="rId4">
            <a:alphaModFix/>
          </a:blip>
          <a:srcRect b="-4792" l="75254" r="2409" t="89236"/>
          <a:stretch/>
        </p:blipFill>
        <p:spPr>
          <a:xfrm>
            <a:off x="3042501" y="4014825"/>
            <a:ext cx="814849" cy="48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p102"/>
          <p:cNvSpPr txBox="1"/>
          <p:nvPr>
            <p:ph idx="1" type="body"/>
          </p:nvPr>
        </p:nvSpPr>
        <p:spPr>
          <a:xfrm>
            <a:off x="324000" y="1080000"/>
            <a:ext cx="42480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/>
              <a:t>The priority of operations is important as it ensures that everyone can understand and approach a mathematical problem the same way. </a:t>
            </a:r>
            <a:endParaRPr/>
          </a:p>
        </p:txBody>
      </p:sp>
      <p:sp>
        <p:nvSpPr>
          <p:cNvPr id="1372" name="Google Shape;1372;p102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Priority of operations with positive and negative integers and decimals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73" name="Google Shape;1373;p102"/>
          <p:cNvGrpSpPr/>
          <p:nvPr/>
        </p:nvGrpSpPr>
        <p:grpSpPr>
          <a:xfrm>
            <a:off x="4679622" y="1202203"/>
            <a:ext cx="3916346" cy="2889196"/>
            <a:chOff x="2529025" y="1931250"/>
            <a:chExt cx="3584100" cy="2617500"/>
          </a:xfrm>
        </p:grpSpPr>
        <p:sp>
          <p:nvSpPr>
            <p:cNvPr id="1374" name="Google Shape;1374;p102"/>
            <p:cNvSpPr/>
            <p:nvPr/>
          </p:nvSpPr>
          <p:spPr>
            <a:xfrm>
              <a:off x="2529025" y="1931250"/>
              <a:ext cx="3584100" cy="2617500"/>
            </a:xfrm>
            <a:prstGeom prst="triangle">
              <a:avLst>
                <a:gd fmla="val 50000" name="adj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75" name="Google Shape;1375;p102"/>
            <p:cNvCxnSpPr/>
            <p:nvPr/>
          </p:nvCxnSpPr>
          <p:spPr>
            <a:xfrm>
              <a:off x="3766742" y="2706800"/>
              <a:ext cx="10959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76" name="Google Shape;1376;p102"/>
            <p:cNvCxnSpPr/>
            <p:nvPr/>
          </p:nvCxnSpPr>
          <p:spPr>
            <a:xfrm>
              <a:off x="3369600" y="3320300"/>
              <a:ext cx="18993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77" name="Google Shape;1377;p102"/>
            <p:cNvCxnSpPr/>
            <p:nvPr/>
          </p:nvCxnSpPr>
          <p:spPr>
            <a:xfrm flipH="1" rot="10800000">
              <a:off x="2996850" y="3910986"/>
              <a:ext cx="2653800" cy="39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378" name="Google Shape;1378;p102"/>
          <p:cNvSpPr txBox="1"/>
          <p:nvPr/>
        </p:nvSpPr>
        <p:spPr>
          <a:xfrm>
            <a:off x="6306002" y="1507988"/>
            <a:ext cx="1247100" cy="5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( …. 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79" name="Google Shape;1379;p102"/>
          <p:cNvGrpSpPr/>
          <p:nvPr/>
        </p:nvGrpSpPr>
        <p:grpSpPr>
          <a:xfrm>
            <a:off x="6651653" y="2009800"/>
            <a:ext cx="817925" cy="656513"/>
            <a:chOff x="1546176" y="2521625"/>
            <a:chExt cx="817925" cy="656513"/>
          </a:xfrm>
        </p:grpSpPr>
        <p:sp>
          <p:nvSpPr>
            <p:cNvPr id="1380" name="Google Shape;1380;p102"/>
            <p:cNvSpPr txBox="1"/>
            <p:nvPr/>
          </p:nvSpPr>
          <p:spPr>
            <a:xfrm>
              <a:off x="1873601" y="2521625"/>
              <a:ext cx="490500" cy="5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000">
                  <a:latin typeface="Lexend"/>
                  <a:ea typeface="Lexend"/>
                  <a:cs typeface="Lexend"/>
                  <a:sym typeface="Lexend"/>
                </a:rPr>
                <a:t>⬚</a:t>
              </a:r>
              <a:endParaRPr b="1"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1" name="Google Shape;1381;p102"/>
            <p:cNvSpPr txBox="1"/>
            <p:nvPr/>
          </p:nvSpPr>
          <p:spPr>
            <a:xfrm>
              <a:off x="1546176" y="2641138"/>
              <a:ext cx="490500" cy="5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3100">
                  <a:latin typeface="Lexend"/>
                  <a:ea typeface="Lexend"/>
                  <a:cs typeface="Lexend"/>
                  <a:sym typeface="Lexend"/>
                </a:rPr>
                <a:t>⬚</a:t>
              </a:r>
              <a:endParaRPr b="1" sz="31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82" name="Google Shape;1382;p102"/>
          <p:cNvGrpSpPr/>
          <p:nvPr/>
        </p:nvGrpSpPr>
        <p:grpSpPr>
          <a:xfrm>
            <a:off x="5885323" y="2047860"/>
            <a:ext cx="627511" cy="537000"/>
            <a:chOff x="3734648" y="2776985"/>
            <a:chExt cx="627511" cy="537000"/>
          </a:xfrm>
        </p:grpSpPr>
        <p:pic>
          <p:nvPicPr>
            <p:cNvPr descr="&lt;math xmlns=&quot;http://www.w3.org/1998/Math/MathML&quot; display=&quot;block&quot; data-is-equatio=&quot;1&quot; data-latex=&quot;\begin{array}{l}\sqrt[\ \ ]{\ \ \ }\\&amp;#13;&amp;#10;\end{array}&quot;&gt;&lt;mtable columnalign=&quot;left&quot; columnspacing=&quot;1em&quot; rowspacing=&quot;4pt&quot;&gt;&lt;mtr&gt;&lt;mtd&gt;&lt;mroot&gt;&lt;mrow&gt;&lt;mtext&gt;&lt;/mtext&gt;&lt;mtext&gt;&lt;/mtext&gt;&lt;mtext&gt;&lt;/mtext&gt;&lt;/mrow&gt;&lt;mrow&gt;&lt;mtext&gt;&lt;/mtext&gt;&lt;mtext&gt;&lt;/mtext&gt;&lt;/mrow&gt;&lt;/mroot&gt;&lt;/mtd&gt;&lt;/mtr&gt;&lt;/mtable&gt;&lt;/math&gt;" id="1383" name="Google Shape;1383;p102" title="1 lines Line 1: the root of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871597" y="2929810"/>
              <a:ext cx="490562" cy="384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84" name="Google Shape;1384;p102"/>
            <p:cNvSpPr txBox="1"/>
            <p:nvPr/>
          </p:nvSpPr>
          <p:spPr>
            <a:xfrm>
              <a:off x="3734648" y="2776985"/>
              <a:ext cx="490500" cy="5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700">
                  <a:latin typeface="Lexend"/>
                  <a:ea typeface="Lexend"/>
                  <a:cs typeface="Lexend"/>
                  <a:sym typeface="Lexend"/>
                </a:rPr>
                <a:t>⬚</a:t>
              </a:r>
              <a:endParaRPr sz="17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85" name="Google Shape;1385;p102"/>
          <p:cNvSpPr txBox="1"/>
          <p:nvPr/>
        </p:nvSpPr>
        <p:spPr>
          <a:xfrm>
            <a:off x="5842175" y="2584850"/>
            <a:ext cx="2082900" cy="6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700">
                <a:latin typeface="Lexend"/>
                <a:ea typeface="Lexend"/>
                <a:cs typeface="Lexend"/>
                <a:sym typeface="Lexend"/>
              </a:rPr>
              <a:t>×    ÷</a:t>
            </a:r>
            <a:endParaRPr sz="4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6" name="Google Shape;1386;p102"/>
          <p:cNvSpPr txBox="1"/>
          <p:nvPr/>
        </p:nvSpPr>
        <p:spPr>
          <a:xfrm>
            <a:off x="5788425" y="3241250"/>
            <a:ext cx="2082900" cy="6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700">
                <a:latin typeface="Lexend"/>
                <a:ea typeface="Lexend"/>
                <a:cs typeface="Lexend"/>
                <a:sym typeface="Lexend"/>
              </a:rPr>
              <a:t>+    −</a:t>
            </a:r>
            <a:endParaRPr sz="4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7" name="Google Shape;1387;p102"/>
          <p:cNvSpPr txBox="1"/>
          <p:nvPr>
            <p:ph idx="1" type="body"/>
          </p:nvPr>
        </p:nvSpPr>
        <p:spPr>
          <a:xfrm>
            <a:off x="324000" y="3198900"/>
            <a:ext cx="4802100" cy="116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This priority applies to positive and negative integers and decimals.</a:t>
            </a:r>
            <a:endParaRPr sz="21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p103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393" name="Google Shape;1393;p10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