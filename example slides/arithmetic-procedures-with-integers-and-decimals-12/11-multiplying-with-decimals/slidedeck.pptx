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5"/>
    <p:sldMasterId id="21474837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91">
          <p15:clr>
            <a:srgbClr val="747775"/>
          </p15:clr>
        </p15:guide>
        <p15:guide id="2" pos="486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6C2ED4-2F6D-4BE8-A608-6CA5187FBA3F}">
  <a:tblStyle styleId="{DD6C2ED4-2F6D-4BE8-A608-6CA5187FBA3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91" orient="horz"/>
        <p:guide pos="4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8b51c7389c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8b51c7389c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8b51c7389c_0_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8b51c7389c_0_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3" name="Shape 1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Google Shape;1524;g28b51c7389c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5" name="Google Shape;1525;g28b51c7389c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g1e9416222e2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3" name="Google Shape;1533;g1e9416222e2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6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7" name="Google Shape;1547;g293236a8ad3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8" name="Google Shape;1548;g293236a8ad3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28d3d347f6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28d3d347f6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g293236a8ad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4" name="Google Shape;1594;g293236a8ad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1e9416222e2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1e9416222e2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28d3d347f62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28d3d347f62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0" name="Shape 1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1" name="Google Shape;1661;g28d3d347f6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2" name="Google Shape;1662;g28d3d347f6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1e9416222e2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1e9416222e2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" name="Google Shape;1745;g293236a8ad3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6" name="Google Shape;1746;g293236a8ad3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g293236a8ad3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0" name="Google Shape;1760;g293236a8ad3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g28d3d347f62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2" name="Google Shape;1792;g28d3d347f62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28d3d347f62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28d3d347f62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8d3d347f62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8d3d347f62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g28b51c7389c_8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1" name="Google Shape;1841;g28b51c7389c_8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93236a8ad3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93236a8ad3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g28b51c7389c_8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2" name="Google Shape;1862;g28b51c7389c_8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g28b808fcc7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2" name="Google Shape;1872;g28b808fcc7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9" name="Shape 1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0" name="Google Shape;1930;g293236a8ad3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1" name="Google Shape;1931;g293236a8ad3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0" name="Google Shape;1940;g28b808fcc7c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1" name="Google Shape;1941;g28b808fcc7c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5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28bc59e3fb2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28bc59e3fb2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3" name="Shape 1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4" name="Google Shape;1964;g28bc59e3fb2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5" name="Google Shape;1965;g28bc59e3fb2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3" name="Shape 1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4" name="Google Shape;1984;g28bc59e3fb2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5" name="Google Shape;1985;g28bc59e3fb2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g28bc59e3fb2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4" name="Google Shape;2004;g28bc59e3fb2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g28bc59e3fb2_2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7" name="Google Shape;2027;g28bc59e3fb2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g28bc59e3fb2_2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9" name="Google Shape;2049;g28bc59e3fb2_2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g28bc59e3fb2_2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9" name="Google Shape;2069;g28bc59e3fb2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g1ea2d18cb1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1" name="Google Shape;2111;g1ea2d18cb1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28bc59e3fb2_2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28bc59e3fb2_2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g28bc59e3fb2_2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7" name="Google Shape;2157;g28bc59e3fb2_2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28bc59e3fb2_2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8" name="Google Shape;2178;g28bc59e3fb2_2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g28bc59e3fb2_2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1" name="Google Shape;2211;g28bc59e3fb2_2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1" name="Shape 2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" name="Google Shape;2232;g28b808fcc7c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3" name="Google Shape;2233;g28b808fcc7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Google Shape;2239;g28bc59e3fb2_2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0" name="Google Shape;2240;g28bc59e3fb2_2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4" name="Shape 2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5" name="Google Shape;2265;g28b808fcc7c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6" name="Google Shape;2266;g28b808fcc7c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g28bc59e3fb2_2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9" name="Google Shape;2279;g28bc59e3fb2_2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6" name="Google Shape;228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8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2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4.png"/><Relationship Id="rId9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3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08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20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Relationship Id="rId7" Type="http://schemas.openxmlformats.org/officeDocument/2006/relationships/image" Target="../media/image26.png"/><Relationship Id="rId8" Type="http://schemas.openxmlformats.org/officeDocument/2006/relationships/image" Target="../media/image35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108.png"/><Relationship Id="rId4" Type="http://schemas.openxmlformats.org/officeDocument/2006/relationships/image" Target="../media/image29.png"/><Relationship Id="rId11" Type="http://schemas.openxmlformats.org/officeDocument/2006/relationships/image" Target="../media/image20.png"/><Relationship Id="rId10" Type="http://schemas.openxmlformats.org/officeDocument/2006/relationships/image" Target="../media/image34.png"/><Relationship Id="rId9" Type="http://schemas.openxmlformats.org/officeDocument/2006/relationships/image" Target="../media/image35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2.png"/><Relationship Id="rId8" Type="http://schemas.openxmlformats.org/officeDocument/2006/relationships/image" Target="../media/image2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8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47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96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4.png"/><Relationship Id="rId4" Type="http://schemas.openxmlformats.org/officeDocument/2006/relationships/image" Target="../media/image96.png"/><Relationship Id="rId5" Type="http://schemas.openxmlformats.org/officeDocument/2006/relationships/image" Target="../media/image9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4.png"/><Relationship Id="rId4" Type="http://schemas.openxmlformats.org/officeDocument/2006/relationships/image" Target="../media/image96.png"/><Relationship Id="rId5" Type="http://schemas.openxmlformats.org/officeDocument/2006/relationships/image" Target="../media/image95.png"/><Relationship Id="rId6" Type="http://schemas.openxmlformats.org/officeDocument/2006/relationships/image" Target="../media/image97.png"/><Relationship Id="rId7" Type="http://schemas.openxmlformats.org/officeDocument/2006/relationships/image" Target="../media/image9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6.png"/><Relationship Id="rId4" Type="http://schemas.openxmlformats.org/officeDocument/2006/relationships/image" Target="../media/image95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1.png"/><Relationship Id="rId4" Type="http://schemas.openxmlformats.org/officeDocument/2006/relationships/image" Target="../media/image94.png"/><Relationship Id="rId5" Type="http://schemas.openxmlformats.org/officeDocument/2006/relationships/image" Target="../media/image10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10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4.png"/><Relationship Id="rId4" Type="http://schemas.openxmlformats.org/officeDocument/2006/relationships/image" Target="../media/image10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0.png"/><Relationship Id="rId4" Type="http://schemas.openxmlformats.org/officeDocument/2006/relationships/image" Target="../media/image109.png"/><Relationship Id="rId5" Type="http://schemas.openxmlformats.org/officeDocument/2006/relationships/image" Target="../media/image10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7.png"/><Relationship Id="rId4" Type="http://schemas.openxmlformats.org/officeDocument/2006/relationships/image" Target="../media/image113.png"/><Relationship Id="rId5" Type="http://schemas.openxmlformats.org/officeDocument/2006/relationships/image" Target="../media/image10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1.png"/><Relationship Id="rId4" Type="http://schemas.openxmlformats.org/officeDocument/2006/relationships/image" Target="../media/image1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1.jpg"/><Relationship Id="rId4" Type="http://schemas.openxmlformats.org/officeDocument/2006/relationships/image" Target="../media/image43.png"/><Relationship Id="rId5" Type="http://schemas.openxmlformats.org/officeDocument/2006/relationships/image" Target="../media/image10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Relationship Id="rId4" Type="http://schemas.openxmlformats.org/officeDocument/2006/relationships/image" Target="../media/image116.png"/><Relationship Id="rId5" Type="http://schemas.openxmlformats.org/officeDocument/2006/relationships/image" Target="../media/image115.png"/><Relationship Id="rId6" Type="http://schemas.openxmlformats.org/officeDocument/2006/relationships/image" Target="../media/image1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4.png"/><Relationship Id="rId4" Type="http://schemas.openxmlformats.org/officeDocument/2006/relationships/image" Target="../media/image116.png"/><Relationship Id="rId5" Type="http://schemas.openxmlformats.org/officeDocument/2006/relationships/image" Target="../media/image43.png"/><Relationship Id="rId6" Type="http://schemas.openxmlformats.org/officeDocument/2006/relationships/image" Target="../media/image115.png"/><Relationship Id="rId7" Type="http://schemas.openxmlformats.org/officeDocument/2006/relationships/image" Target="../media/image1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3.png"/><Relationship Id="rId4" Type="http://schemas.openxmlformats.org/officeDocument/2006/relationships/image" Target="../media/image122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04.png"/><Relationship Id="rId8" Type="http://schemas.openxmlformats.org/officeDocument/2006/relationships/image" Target="../media/image1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3.png"/><Relationship Id="rId4" Type="http://schemas.openxmlformats.org/officeDocument/2006/relationships/image" Target="../media/image119.png"/><Relationship Id="rId5" Type="http://schemas.openxmlformats.org/officeDocument/2006/relationships/image" Target="../media/image124.png"/><Relationship Id="rId6" Type="http://schemas.openxmlformats.org/officeDocument/2006/relationships/image" Target="../media/image1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3.png"/><Relationship Id="rId4" Type="http://schemas.openxmlformats.org/officeDocument/2006/relationships/image" Target="../media/image119.png"/><Relationship Id="rId5" Type="http://schemas.openxmlformats.org/officeDocument/2006/relationships/image" Target="../media/image124.png"/><Relationship Id="rId6" Type="http://schemas.openxmlformats.org/officeDocument/2006/relationships/image" Target="../media/image12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3.png"/><Relationship Id="rId4" Type="http://schemas.openxmlformats.org/officeDocument/2006/relationships/image" Target="../media/image10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5.png"/><Relationship Id="rId4" Type="http://schemas.openxmlformats.org/officeDocument/2006/relationships/image" Target="../media/image43.png"/><Relationship Id="rId5" Type="http://schemas.openxmlformats.org/officeDocument/2006/relationships/image" Target="../media/image10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7.png"/><Relationship Id="rId4" Type="http://schemas.openxmlformats.org/officeDocument/2006/relationships/image" Target="../media/image43.png"/><Relationship Id="rId5" Type="http://schemas.openxmlformats.org/officeDocument/2006/relationships/image" Target="../media/image10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6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6.png"/><Relationship Id="rId4" Type="http://schemas.openxmlformats.org/officeDocument/2006/relationships/image" Target="../media/image128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9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generalise and fluently use written multiplication strategies to calculate accurately with decimals.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>
            <p:ph idx="1" type="subTitle"/>
          </p:nvPr>
        </p:nvSpPr>
        <p:spPr>
          <a:xfrm>
            <a:off x="324001" y="917450"/>
            <a:ext cx="81891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factor is a term which exactly divides another term. </a:t>
            </a:r>
            <a:endParaRPr b="0"/>
          </a:p>
        </p:txBody>
      </p:sp>
      <p:sp>
        <p:nvSpPr>
          <p:cNvPr id="1508" name="Google Shape;1508;p130"/>
          <p:cNvSpPr txBox="1"/>
          <p:nvPr>
            <p:ph idx="1" type="subTitle"/>
          </p:nvPr>
        </p:nvSpPr>
        <p:spPr>
          <a:xfrm>
            <a:off x="933595" y="2670050"/>
            <a:ext cx="1360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Example</a:t>
            </a:r>
            <a:endParaRPr b="0"/>
          </a:p>
        </p:txBody>
      </p:sp>
      <p:sp>
        <p:nvSpPr>
          <p:cNvPr id="1509" name="Google Shape;1509;p130"/>
          <p:cNvSpPr txBox="1"/>
          <p:nvPr>
            <p:ph idx="1" type="subTitle"/>
          </p:nvPr>
        </p:nvSpPr>
        <p:spPr>
          <a:xfrm>
            <a:off x="933600" y="3157250"/>
            <a:ext cx="268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10 is a factor of 50</a:t>
            </a:r>
            <a:endParaRPr b="0"/>
          </a:p>
        </p:txBody>
      </p:sp>
      <p:sp>
        <p:nvSpPr>
          <p:cNvPr id="1510" name="Google Shape;1510;p130"/>
          <p:cNvSpPr txBox="1"/>
          <p:nvPr>
            <p:ph idx="1" type="subTitle"/>
          </p:nvPr>
        </p:nvSpPr>
        <p:spPr>
          <a:xfrm>
            <a:off x="933600" y="36144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50 </a:t>
            </a:r>
            <a:r>
              <a:rPr b="0" lang="en-GB"/>
              <a:t>÷ 10 = 5</a:t>
            </a:r>
            <a:endParaRPr b="0"/>
          </a:p>
        </p:txBody>
      </p:sp>
      <p:sp>
        <p:nvSpPr>
          <p:cNvPr id="1511" name="Google Shape;1511;p130"/>
          <p:cNvSpPr txBox="1"/>
          <p:nvPr>
            <p:ph idx="1" type="subTitle"/>
          </p:nvPr>
        </p:nvSpPr>
        <p:spPr>
          <a:xfrm>
            <a:off x="5048400" y="2670050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Non example</a:t>
            </a:r>
            <a:endParaRPr b="0"/>
          </a:p>
        </p:txBody>
      </p:sp>
      <p:sp>
        <p:nvSpPr>
          <p:cNvPr id="1512" name="Google Shape;1512;p130"/>
          <p:cNvSpPr txBox="1"/>
          <p:nvPr>
            <p:ph idx="1" type="subTitle"/>
          </p:nvPr>
        </p:nvSpPr>
        <p:spPr>
          <a:xfrm>
            <a:off x="5048400" y="3157250"/>
            <a:ext cx="3466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8 is not a factor of 10</a:t>
            </a:r>
            <a:endParaRPr b="0"/>
          </a:p>
        </p:txBody>
      </p:sp>
      <p:sp>
        <p:nvSpPr>
          <p:cNvPr id="1513" name="Google Shape;1513;p130"/>
          <p:cNvSpPr txBox="1"/>
          <p:nvPr>
            <p:ph idx="1" type="subTitle"/>
          </p:nvPr>
        </p:nvSpPr>
        <p:spPr>
          <a:xfrm>
            <a:off x="5048400" y="3614450"/>
            <a:ext cx="16734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10</a:t>
            </a:r>
            <a:r>
              <a:rPr b="0" lang="en-GB"/>
              <a:t> ÷ 8 = 1.25</a:t>
            </a:r>
            <a:endParaRPr b="0"/>
          </a:p>
        </p:txBody>
      </p:sp>
      <p:sp>
        <p:nvSpPr>
          <p:cNvPr id="1514" name="Google Shape;1514;p130"/>
          <p:cNvSpPr txBox="1"/>
          <p:nvPr/>
        </p:nvSpPr>
        <p:spPr>
          <a:xfrm>
            <a:off x="228600" y="1524000"/>
            <a:ext cx="84066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Factorising means to express a term as the product of its factors.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3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520" name="Google Shape;1520;p131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1521" name="Google Shape;1521;p131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pic>
        <p:nvPicPr>
          <p:cNvPr id="1522" name="Google Shape;1522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9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7" name="Google Shape;1527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528" name="Google Shape;1528;p132"/>
          <p:cNvSpPr txBox="1"/>
          <p:nvPr/>
        </p:nvSpPr>
        <p:spPr>
          <a:xfrm>
            <a:off x="324000" y="814050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lots of different ways to multiply two integers together.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132"/>
          <p:cNvSpPr txBox="1"/>
          <p:nvPr/>
        </p:nvSpPr>
        <p:spPr>
          <a:xfrm>
            <a:off x="324001" y="1870350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is very little difference between the strategies used to multiply integers together and multiplying decimals together.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0" name="Google Shape;1530;p132"/>
          <p:cNvSpPr txBox="1"/>
          <p:nvPr/>
        </p:nvSpPr>
        <p:spPr>
          <a:xfrm>
            <a:off x="209850" y="3298200"/>
            <a:ext cx="8113500" cy="9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However it is important to have the understanding behind each process.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p133"/>
          <p:cNvSpPr txBox="1"/>
          <p:nvPr>
            <p:ph idx="1" type="body"/>
          </p:nvPr>
        </p:nvSpPr>
        <p:spPr>
          <a:xfrm>
            <a:off x="324000" y="810000"/>
            <a:ext cx="3045600" cy="229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 let’s start with a simple multiplication.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an area model.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537" name="Google Shape;1537;p133"/>
          <p:cNvGraphicFramePr/>
          <p:nvPr/>
        </p:nvGraphicFramePr>
        <p:xfrm>
          <a:off x="4079950" y="140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398125"/>
                <a:gridCol w="1398125"/>
                <a:gridCol w="1398125"/>
              </a:tblGrid>
              <a:tr h="140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0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\times3&quot;&gt;&lt;mn&gt;2&lt;/mn&gt;&lt;mo&gt;×&lt;/mo&gt;&lt;mn&gt;3&lt;/mn&gt;&lt;/math&gt;" id="1538" name="Google Shape;1538;p133" title="2 time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4925" y="1827950"/>
            <a:ext cx="730400" cy="25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times3=6&quot;&gt;&lt;mn&gt;2&lt;/mn&gt;&lt;mo&gt;×&lt;/mo&gt;&lt;mn&gt;3&lt;/mn&gt;&lt;mo&gt;=&lt;/mo&gt;&lt;mn&gt;6&lt;/mn&gt;&lt;/math&gt;" id="1539" name="Google Shape;1539;p133" title="2 times 3 equals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1588" y="3580638"/>
            <a:ext cx="1346422" cy="259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0" name="Google Shape;1540;p133"/>
          <p:cNvCxnSpPr/>
          <p:nvPr/>
        </p:nvCxnSpPr>
        <p:spPr>
          <a:xfrm>
            <a:off x="3993475" y="1400050"/>
            <a:ext cx="0" cy="282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41" name="Google Shape;1541;p133"/>
          <p:cNvCxnSpPr/>
          <p:nvPr/>
        </p:nvCxnSpPr>
        <p:spPr>
          <a:xfrm>
            <a:off x="4080888" y="1311100"/>
            <a:ext cx="4192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42" name="Google Shape;1542;p133"/>
          <p:cNvSpPr txBox="1"/>
          <p:nvPr/>
        </p:nvSpPr>
        <p:spPr>
          <a:xfrm>
            <a:off x="6000750" y="922455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133"/>
          <p:cNvSpPr txBox="1"/>
          <p:nvPr/>
        </p:nvSpPr>
        <p:spPr>
          <a:xfrm>
            <a:off x="3640675" y="2594955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133"/>
          <p:cNvSpPr txBox="1"/>
          <p:nvPr/>
        </p:nvSpPr>
        <p:spPr>
          <a:xfrm>
            <a:off x="324150" y="2996463"/>
            <a:ext cx="30453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area is 6, so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133"/>
          <p:cNvSpPr txBox="1"/>
          <p:nvPr/>
        </p:nvSpPr>
        <p:spPr>
          <a:xfrm>
            <a:off x="324000" y="4175500"/>
            <a:ext cx="3045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 us zoom in a bit…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551" name="Google Shape;1551;p134"/>
          <p:cNvSpPr txBox="1"/>
          <p:nvPr/>
        </p:nvSpPr>
        <p:spPr>
          <a:xfrm>
            <a:off x="324375" y="810000"/>
            <a:ext cx="17301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Still using our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52" name="Google Shape;1552;p134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\times3&quot;&gt;&lt;mn&gt;2&lt;/mn&gt;&lt;mo&gt;×&lt;/mo&gt;&lt;mn&gt;3&lt;/mn&gt;&lt;/math&gt;" id="1553" name="Google Shape;1553;p134" title="2 times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625" y="1360600"/>
            <a:ext cx="730400" cy="25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4" name="Google Shape;1554;p134"/>
          <p:cNvSpPr txBox="1"/>
          <p:nvPr/>
        </p:nvSpPr>
        <p:spPr>
          <a:xfrm>
            <a:off x="410000" y="1827900"/>
            <a:ext cx="1730100" cy="3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area model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134"/>
          <p:cNvSpPr txBox="1"/>
          <p:nvPr/>
        </p:nvSpPr>
        <p:spPr>
          <a:xfrm>
            <a:off x="261600" y="2415600"/>
            <a:ext cx="17301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are going to b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reak up each 1 into ten parts by ten parts.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56" name="Google Shape;1556;p134"/>
          <p:cNvCxnSpPr/>
          <p:nvPr/>
        </p:nvCxnSpPr>
        <p:spPr>
          <a:xfrm>
            <a:off x="2379231" y="711445"/>
            <a:ext cx="604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1557" name="Google Shape;1557;p134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58" name="Google Shape;1558;p134"/>
          <p:cNvCxnSpPr/>
          <p:nvPr/>
        </p:nvCxnSpPr>
        <p:spPr>
          <a:xfrm>
            <a:off x="2379231" y="711445"/>
            <a:ext cx="60435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559" name="Google Shape;1559;p134"/>
          <p:cNvCxnSpPr/>
          <p:nvPr/>
        </p:nvCxnSpPr>
        <p:spPr>
          <a:xfrm>
            <a:off x="2322175" y="802136"/>
            <a:ext cx="0" cy="202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60" name="Google Shape;1560;p134"/>
          <p:cNvSpPr txBox="1"/>
          <p:nvPr/>
        </p:nvSpPr>
        <p:spPr>
          <a:xfrm>
            <a:off x="2054325" y="1504916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1" name="Google Shape;1561;p134"/>
          <p:cNvGraphicFramePr/>
          <p:nvPr/>
        </p:nvGraphicFramePr>
        <p:xfrm>
          <a:off x="2437322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2" name="Google Shape;1562;p134"/>
          <p:cNvGraphicFramePr/>
          <p:nvPr/>
        </p:nvGraphicFramePr>
        <p:xfrm>
          <a:off x="2638147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3" name="Google Shape;1563;p134"/>
          <p:cNvGraphicFramePr/>
          <p:nvPr/>
        </p:nvGraphicFramePr>
        <p:xfrm>
          <a:off x="2838196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4" name="Google Shape;1564;p134"/>
          <p:cNvGraphicFramePr/>
          <p:nvPr/>
        </p:nvGraphicFramePr>
        <p:xfrm>
          <a:off x="3042184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5" name="Google Shape;1565;p134"/>
          <p:cNvGraphicFramePr/>
          <p:nvPr/>
        </p:nvGraphicFramePr>
        <p:xfrm>
          <a:off x="3243009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6" name="Google Shape;1566;p134"/>
          <p:cNvGraphicFramePr/>
          <p:nvPr/>
        </p:nvGraphicFramePr>
        <p:xfrm>
          <a:off x="3447796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7" name="Google Shape;1567;p134"/>
          <p:cNvGraphicFramePr/>
          <p:nvPr/>
        </p:nvGraphicFramePr>
        <p:xfrm>
          <a:off x="3651784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8" name="Google Shape;1568;p134"/>
          <p:cNvGraphicFramePr/>
          <p:nvPr/>
        </p:nvGraphicFramePr>
        <p:xfrm>
          <a:off x="3852609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9" name="Google Shape;1569;p134"/>
          <p:cNvGraphicFramePr/>
          <p:nvPr/>
        </p:nvGraphicFramePr>
        <p:xfrm>
          <a:off x="4047918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0" name="Google Shape;1570;p134"/>
          <p:cNvGraphicFramePr/>
          <p:nvPr/>
        </p:nvGraphicFramePr>
        <p:xfrm>
          <a:off x="4243133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576" name="Google Shape;1576;p135"/>
          <p:cNvGraphicFramePr/>
          <p:nvPr/>
        </p:nvGraphicFramePr>
        <p:xfrm>
          <a:off x="2437322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77" name="Google Shape;1577;p135"/>
          <p:cNvCxnSpPr/>
          <p:nvPr/>
        </p:nvCxnSpPr>
        <p:spPr>
          <a:xfrm>
            <a:off x="2322175" y="802136"/>
            <a:ext cx="0" cy="2023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578" name="Google Shape;1578;p135"/>
          <p:cNvSpPr txBox="1"/>
          <p:nvPr/>
        </p:nvSpPr>
        <p:spPr>
          <a:xfrm>
            <a:off x="2054325" y="1504916"/>
            <a:ext cx="352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.5\times1.3\end{array}&quot;&gt;&lt;mtable columnalign=&quot;left&quot; columnspacing=&quot;1em&quot; rowspacing=&quot;4pt&quot;&gt;&lt;mtr&gt;&lt;mtd&gt;&lt;mn&gt;2.5&lt;/mn&gt;&lt;mo&gt;×&lt;/mo&gt;&lt;mn&gt;1.3&lt;/mn&gt;&lt;/mtd&gt;&lt;/mtr&gt;&lt;/mtable&gt;&lt;/math&gt;" id="1579" name="Google Shape;1579;p135" title="1 lines Line 1: 2.5 times 1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50" y="3987625"/>
            <a:ext cx="855350" cy="17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80" name="Google Shape;1580;p135"/>
          <p:cNvGraphicFramePr/>
          <p:nvPr/>
        </p:nvGraphicFramePr>
        <p:xfrm>
          <a:off x="2638147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1" name="Google Shape;1581;p135"/>
          <p:cNvGraphicFramePr/>
          <p:nvPr/>
        </p:nvGraphicFramePr>
        <p:xfrm>
          <a:off x="2838196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2" name="Google Shape;1582;p135"/>
          <p:cNvGraphicFramePr/>
          <p:nvPr/>
        </p:nvGraphicFramePr>
        <p:xfrm>
          <a:off x="3042184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3" name="Google Shape;1583;p135"/>
          <p:cNvGraphicFramePr/>
          <p:nvPr/>
        </p:nvGraphicFramePr>
        <p:xfrm>
          <a:off x="3243009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4" name="Google Shape;1584;p135"/>
          <p:cNvGraphicFramePr/>
          <p:nvPr/>
        </p:nvGraphicFramePr>
        <p:xfrm>
          <a:off x="3447796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5" name="Google Shape;1585;p135"/>
          <p:cNvGraphicFramePr/>
          <p:nvPr/>
        </p:nvGraphicFramePr>
        <p:xfrm>
          <a:off x="3651784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6" name="Google Shape;1586;p135"/>
          <p:cNvGraphicFramePr/>
          <p:nvPr/>
        </p:nvGraphicFramePr>
        <p:xfrm>
          <a:off x="3852609" y="81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7" name="Google Shape;1587;p135"/>
          <p:cNvGraphicFramePr/>
          <p:nvPr/>
        </p:nvGraphicFramePr>
        <p:xfrm>
          <a:off x="4047918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88" name="Google Shape;1588;p135"/>
          <p:cNvGraphicFramePr/>
          <p:nvPr/>
        </p:nvGraphicFramePr>
        <p:xfrm>
          <a:off x="4243133" y="810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9" name="Google Shape;1589;p135"/>
          <p:cNvSpPr txBox="1"/>
          <p:nvPr/>
        </p:nvSpPr>
        <p:spPr>
          <a:xfrm>
            <a:off x="218775" y="758875"/>
            <a:ext cx="1730100" cy="9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breaking it up, it will allow us to see and understand multiplying by decimals.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0" name="Google Shape;1590;p135"/>
          <p:cNvSpPr txBox="1"/>
          <p:nvPr/>
        </p:nvSpPr>
        <p:spPr>
          <a:xfrm>
            <a:off x="218775" y="3030600"/>
            <a:ext cx="1730100" cy="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let’s, look at an example of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91" name="Google Shape;1591;p135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597" name="Google Shape;1597;p136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98" name="Google Shape;1598;p136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99" name="Google Shape;1599;p136"/>
          <p:cNvCxnSpPr/>
          <p:nvPr/>
        </p:nvCxnSpPr>
        <p:spPr>
          <a:xfrm>
            <a:off x="2322175" y="802136"/>
            <a:ext cx="300" cy="2603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0" name="Google Shape;1600;p136"/>
          <p:cNvSpPr txBox="1"/>
          <p:nvPr/>
        </p:nvSpPr>
        <p:spPr>
          <a:xfrm>
            <a:off x="1798675" y="1942800"/>
            <a:ext cx="5343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01" name="Google Shape;1601;p136"/>
          <p:cNvSpPr txBox="1"/>
          <p:nvPr/>
        </p:nvSpPr>
        <p:spPr>
          <a:xfrm>
            <a:off x="324375" y="810000"/>
            <a:ext cx="14523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you can see our 2.5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02" name="Google Shape;1602;p136"/>
          <p:cNvCxnSpPr/>
          <p:nvPr/>
        </p:nvCxnSpPr>
        <p:spPr>
          <a:xfrm>
            <a:off x="2429450" y="697650"/>
            <a:ext cx="499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603" name="Google Shape;1603;p136"/>
          <p:cNvSpPr txBox="1"/>
          <p:nvPr/>
        </p:nvSpPr>
        <p:spPr>
          <a:xfrm>
            <a:off x="324375" y="2111700"/>
            <a:ext cx="1360500" cy="6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Here you can see our 1.3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.5\times1.3\end{array}&quot;&gt;&lt;mtable columnalign=&quot;left&quot; columnspacing=&quot;1em&quot; rowspacing=&quot;4pt&quot;&gt;&lt;mtr&gt;&lt;mtd&gt;&lt;mn&gt;2.5&lt;/mn&gt;&lt;mo&gt;×&lt;/mo&gt;&lt;mn&gt;1.3&lt;/mn&gt;&lt;/mtd&gt;&lt;/mtr&gt;&lt;/mtable&gt;&lt;/math&gt;" id="1604" name="Google Shape;1604;p136" title="1 lines Line 1: 2.5 times 1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150" y="3987625"/>
            <a:ext cx="855350" cy="1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610" name="Google Shape;1610;p137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1" name="Google Shape;1611;p137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2" name="Google Shape;1612;p137"/>
          <p:cNvSpPr txBox="1"/>
          <p:nvPr/>
        </p:nvSpPr>
        <p:spPr>
          <a:xfrm>
            <a:off x="324375" y="810900"/>
            <a:ext cx="1843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this diagram help us to calculate the decimal multiplication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.5\times1.3\end{array}&quot;&gt;&lt;mtable columnalign=&quot;left&quot; columnspacing=&quot;1em&quot; rowspacing=&quot;4pt&quot;&gt;&lt;mtr&gt;&lt;mtd&gt;&lt;mn&gt;2.5&lt;/mn&gt;&lt;mo&gt;×&lt;/mo&gt;&lt;mn&gt;1.3&lt;/mn&gt;&lt;/mtd&gt;&lt;/mtr&gt;&lt;/mtable&gt;&lt;/math&gt;" id="1613" name="Google Shape;1613;p137" title="1 lines Line 1: 2.5 times 1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2231200"/>
            <a:ext cx="855350" cy="1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4" name="Google Shape;1614;p137"/>
          <p:cNvSpPr/>
          <p:nvPr/>
        </p:nvSpPr>
        <p:spPr>
          <a:xfrm rot="5400000">
            <a:off x="24418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5" name="Google Shape;1615;p137"/>
          <p:cNvSpPr txBox="1"/>
          <p:nvPr/>
        </p:nvSpPr>
        <p:spPr>
          <a:xfrm>
            <a:off x="343425" y="2626888"/>
            <a:ext cx="1805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each larger square is 1,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6" name="Google Shape;1616;p137"/>
          <p:cNvSpPr txBox="1"/>
          <p:nvPr/>
        </p:nvSpPr>
        <p:spPr>
          <a:xfrm>
            <a:off x="324375" y="3200400"/>
            <a:ext cx="172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does this represent?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7" name="Google Shape;1617;p137"/>
          <p:cNvSpPr/>
          <p:nvPr/>
        </p:nvSpPr>
        <p:spPr>
          <a:xfrm rot="5400000">
            <a:off x="15462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8" name="Google Shape;1618;p137"/>
          <p:cNvGrpSpPr/>
          <p:nvPr/>
        </p:nvGrpSpPr>
        <p:grpSpPr>
          <a:xfrm>
            <a:off x="481100" y="3926671"/>
            <a:ext cx="1013900" cy="519767"/>
            <a:chOff x="481100" y="4079071"/>
            <a:chExt cx="1013900" cy="519767"/>
          </a:xfrm>
        </p:grpSpPr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619" name="Google Shape;1619;p137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1100" y="4079071"/>
              <a:ext cx="280450" cy="519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0.1&quot;&gt;&lt;mn&gt;0.1&lt;/mn&gt;&lt;/math&gt;" id="1620" name="Google Shape;1620;p137" title="0.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14550" y="4253911"/>
              <a:ext cx="280450" cy="170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1" name="Google Shape;1621;p137"/>
            <p:cNvSpPr txBox="1"/>
            <p:nvPr/>
          </p:nvSpPr>
          <p:spPr>
            <a:xfrm>
              <a:off x="890552" y="4197187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2" name="Google Shape;1622;p137"/>
          <p:cNvSpPr/>
          <p:nvPr/>
        </p:nvSpPr>
        <p:spPr>
          <a:xfrm rot="5400000">
            <a:off x="63468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23" name="Google Shape;1623;p137"/>
          <p:cNvGrpSpPr/>
          <p:nvPr/>
        </p:nvGrpSpPr>
        <p:grpSpPr>
          <a:xfrm>
            <a:off x="7446725" y="1491175"/>
            <a:ext cx="1373400" cy="613500"/>
            <a:chOff x="7446725" y="1491175"/>
            <a:chExt cx="1373400" cy="613500"/>
          </a:xfrm>
        </p:grpSpPr>
        <p:sp>
          <p:nvSpPr>
            <p:cNvPr id="1624" name="Google Shape;1624;p137"/>
            <p:cNvSpPr/>
            <p:nvPr/>
          </p:nvSpPr>
          <p:spPr>
            <a:xfrm>
              <a:off x="7672025" y="1491175"/>
              <a:ext cx="1148100" cy="613500"/>
            </a:xfrm>
            <a:prstGeom prst="roundRect">
              <a:avLst>
                <a:gd fmla="val 16667" name="adj"/>
              </a:avLst>
            </a:prstGeom>
            <a:solidFill>
              <a:srgbClr val="F3EEFB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625" name="Google Shape;1625;p137"/>
            <p:cNvGrpSpPr/>
            <p:nvPr/>
          </p:nvGrpSpPr>
          <p:grpSpPr>
            <a:xfrm>
              <a:off x="7726650" y="1529602"/>
              <a:ext cx="1013900" cy="519767"/>
              <a:chOff x="481100" y="4079071"/>
              <a:chExt cx="1013900" cy="519767"/>
            </a:xfrm>
          </p:grpSpPr>
          <p:pic>
            <p:nvPicPr>
              <p:cNvPr descr="&lt;math xmlns=&quot;http://www.w3.org/1998/Math/MathML&quot; display=&quot;block&quot; data-is-equatio=&quot;1&quot; data-latex=&quot;\frac{1}{10}&quot;&gt;&lt;mfrac&gt;&lt;mn&gt;1&lt;/mn&gt;&lt;mn&gt;10&lt;/mn&gt;&lt;/mfrac&gt;&lt;/math&gt;" id="1626" name="Google Shape;1626;p137" title="one tenth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81100" y="4079071"/>
                <a:ext cx="280450" cy="51976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0.1&quot;&gt;&lt;mn&gt;0.1&lt;/mn&gt;&lt;/math&gt;" id="1627" name="Google Shape;1627;p137" title="0.1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214550" y="4253911"/>
                <a:ext cx="280450" cy="17011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28" name="Google Shape;1628;p137"/>
              <p:cNvSpPr txBox="1"/>
              <p:nvPr/>
            </p:nvSpPr>
            <p:spPr>
              <a:xfrm>
                <a:off x="890552" y="4197187"/>
                <a:ext cx="382200" cy="26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or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629" name="Google Shape;1629;p137"/>
            <p:cNvCxnSpPr/>
            <p:nvPr/>
          </p:nvCxnSpPr>
          <p:spPr>
            <a:xfrm rot="10800000">
              <a:off x="7446725" y="1811100"/>
              <a:ext cx="225300" cy="0"/>
            </a:xfrm>
            <a:prstGeom prst="straightConnector1">
              <a:avLst/>
            </a:prstGeom>
            <a:noFill/>
            <a:ln cap="flat" cmpd="sng" w="952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4" name="Google Shape;1634;p138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5" name="Google Shape;163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636" name="Google Shape;1636;p138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37" name="Google Shape;1637;p138"/>
          <p:cNvSpPr txBox="1"/>
          <p:nvPr/>
        </p:nvSpPr>
        <p:spPr>
          <a:xfrm>
            <a:off x="324375" y="810900"/>
            <a:ext cx="18432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can this diagram help us to calculate the decimal multiplication      </a:t>
            </a: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            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.5\times1.3\end{array}&quot;&gt;&lt;mtable columnalign=&quot;left&quot; columnspacing=&quot;1em&quot; rowspacing=&quot;4pt&quot;&gt;&lt;mtr&gt;&lt;mtd&gt;&lt;mn&gt;2.5&lt;/mn&gt;&lt;mo&gt;×&lt;/mo&gt;&lt;mn&gt;1.3&lt;/mn&gt;&lt;/mtd&gt;&lt;/mtr&gt;&lt;/mtable&gt;&lt;/math&gt;" id="1638" name="Google Shape;1638;p138" title="1 lines Line 1: 2.5 times 1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375" y="2231200"/>
            <a:ext cx="855350" cy="17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9" name="Google Shape;1639;p138"/>
          <p:cNvSpPr txBox="1"/>
          <p:nvPr/>
        </p:nvSpPr>
        <p:spPr>
          <a:xfrm>
            <a:off x="343425" y="2626888"/>
            <a:ext cx="18051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each larger square is 1,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0" name="Google Shape;1640;p138"/>
          <p:cNvSpPr txBox="1"/>
          <p:nvPr/>
        </p:nvSpPr>
        <p:spPr>
          <a:xfrm>
            <a:off x="324375" y="3200400"/>
            <a:ext cx="17298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does this represent?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138"/>
          <p:cNvSpPr/>
          <p:nvPr/>
        </p:nvSpPr>
        <p:spPr>
          <a:xfrm rot="5400000">
            <a:off x="2445300" y="260835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138"/>
          <p:cNvSpPr/>
          <p:nvPr/>
        </p:nvSpPr>
        <p:spPr>
          <a:xfrm rot="5400000">
            <a:off x="63468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138"/>
          <p:cNvSpPr/>
          <p:nvPr/>
        </p:nvSpPr>
        <p:spPr>
          <a:xfrm rot="5400000">
            <a:off x="7247400" y="320190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138"/>
          <p:cNvSpPr/>
          <p:nvPr/>
        </p:nvSpPr>
        <p:spPr>
          <a:xfrm>
            <a:off x="7672025" y="1491175"/>
            <a:ext cx="1148100" cy="613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5" name="Google Shape;1645;p138"/>
          <p:cNvGrpSpPr/>
          <p:nvPr/>
        </p:nvGrpSpPr>
        <p:grpSpPr>
          <a:xfrm>
            <a:off x="7726650" y="1529602"/>
            <a:ext cx="1013900" cy="519767"/>
            <a:chOff x="481100" y="4079071"/>
            <a:chExt cx="1013900" cy="519767"/>
          </a:xfrm>
        </p:grpSpPr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646" name="Google Shape;1646;p138" title="one ten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81100" y="4079071"/>
              <a:ext cx="280450" cy="519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0.1&quot;&gt;&lt;mn&gt;0.1&lt;/mn&gt;&lt;/math&gt;" id="1647" name="Google Shape;1647;p138" title="0.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214550" y="4253911"/>
              <a:ext cx="280450" cy="170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48" name="Google Shape;1648;p138"/>
            <p:cNvSpPr txBox="1"/>
            <p:nvPr/>
          </p:nvSpPr>
          <p:spPr>
            <a:xfrm>
              <a:off x="890552" y="4197187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49" name="Google Shape;1649;p138"/>
          <p:cNvCxnSpPr>
            <a:endCxn id="1642" idx="0"/>
          </p:cNvCxnSpPr>
          <p:nvPr/>
        </p:nvCxnSpPr>
        <p:spPr>
          <a:xfrm rot="10800000">
            <a:off x="7446600" y="1811100"/>
            <a:ext cx="225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0" name="Google Shape;1650;p138"/>
          <p:cNvSpPr/>
          <p:nvPr/>
        </p:nvSpPr>
        <p:spPr>
          <a:xfrm>
            <a:off x="7187425" y="3706500"/>
            <a:ext cx="1406700" cy="613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51" name="Google Shape;1651;p138"/>
          <p:cNvCxnSpPr>
            <a:endCxn id="1643" idx="3"/>
          </p:cNvCxnSpPr>
          <p:nvPr/>
        </p:nvCxnSpPr>
        <p:spPr>
          <a:xfrm rot="10800000">
            <a:off x="7347000" y="3399600"/>
            <a:ext cx="0" cy="310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52" name="Google Shape;1652;p138"/>
          <p:cNvGrpSpPr/>
          <p:nvPr/>
        </p:nvGrpSpPr>
        <p:grpSpPr>
          <a:xfrm>
            <a:off x="343425" y="3984526"/>
            <a:ext cx="1254889" cy="519775"/>
            <a:chOff x="343425" y="3984526"/>
            <a:chExt cx="1254889" cy="519775"/>
          </a:xfrm>
        </p:grpSpPr>
        <p:sp>
          <p:nvSpPr>
            <p:cNvPr id="1653" name="Google Shape;1653;p138"/>
            <p:cNvSpPr txBox="1"/>
            <p:nvPr/>
          </p:nvSpPr>
          <p:spPr>
            <a:xfrm>
              <a:off x="845127" y="4128912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0.01&quot;&gt;&lt;mn&gt;0.01&lt;/mn&gt;&lt;/math&gt;" id="1654" name="Google Shape;1654;p138" title="0.0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79725" y="4179804"/>
              <a:ext cx="418589" cy="1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1655" name="Google Shape;1655;p138" title="1 over 1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3425" y="3984526"/>
              <a:ext cx="407587" cy="519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56" name="Google Shape;1656;p138"/>
          <p:cNvGrpSpPr/>
          <p:nvPr/>
        </p:nvGrpSpPr>
        <p:grpSpPr>
          <a:xfrm>
            <a:off x="7281775" y="3753363"/>
            <a:ext cx="1254889" cy="519775"/>
            <a:chOff x="343425" y="3984526"/>
            <a:chExt cx="1254889" cy="519775"/>
          </a:xfrm>
        </p:grpSpPr>
        <p:sp>
          <p:nvSpPr>
            <p:cNvPr id="1657" name="Google Shape;1657;p138"/>
            <p:cNvSpPr txBox="1"/>
            <p:nvPr/>
          </p:nvSpPr>
          <p:spPr>
            <a:xfrm>
              <a:off x="845127" y="4128912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0.01&quot;&gt;&lt;mn&gt;0.01&lt;/mn&gt;&lt;/math&gt;" id="1658" name="Google Shape;1658;p138" title="0.0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179725" y="4179804"/>
              <a:ext cx="418589" cy="1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1659" name="Google Shape;1659;p138" title="1 over 100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43425" y="3984526"/>
              <a:ext cx="407587" cy="519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665" name="Google Shape;1665;p139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  <a:gridCol w="200025"/>
              </a:tblGrid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66" name="Google Shape;1666;p139"/>
          <p:cNvGraphicFramePr/>
          <p:nvPr/>
        </p:nvGraphicFramePr>
        <p:xfrm>
          <a:off x="2446800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992000"/>
                <a:gridCol w="1992000"/>
                <a:gridCol w="1992000"/>
              </a:tblGrid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7" name="Google Shape;1667;p139"/>
          <p:cNvSpPr/>
          <p:nvPr/>
        </p:nvSpPr>
        <p:spPr>
          <a:xfrm rot="5400000">
            <a:off x="63468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139"/>
          <p:cNvSpPr/>
          <p:nvPr/>
        </p:nvSpPr>
        <p:spPr>
          <a:xfrm rot="5400000">
            <a:off x="7247400" y="3201900"/>
            <a:ext cx="199200" cy="196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139"/>
          <p:cNvSpPr/>
          <p:nvPr/>
        </p:nvSpPr>
        <p:spPr>
          <a:xfrm>
            <a:off x="7672025" y="1491175"/>
            <a:ext cx="1148100" cy="613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0" name="Google Shape;1670;p139"/>
          <p:cNvGrpSpPr/>
          <p:nvPr/>
        </p:nvGrpSpPr>
        <p:grpSpPr>
          <a:xfrm>
            <a:off x="7726650" y="1529602"/>
            <a:ext cx="1013900" cy="519767"/>
            <a:chOff x="481100" y="4079071"/>
            <a:chExt cx="1013900" cy="519767"/>
          </a:xfrm>
        </p:grpSpPr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671" name="Google Shape;1671;p139" title="one tenth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1100" y="4079071"/>
              <a:ext cx="280450" cy="5197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0.1&quot;&gt;&lt;mn&gt;0.1&lt;/mn&gt;&lt;/math&gt;" id="1672" name="Google Shape;1672;p139" title="0.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214550" y="4253911"/>
              <a:ext cx="280450" cy="17011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3" name="Google Shape;1673;p139"/>
            <p:cNvSpPr txBox="1"/>
            <p:nvPr/>
          </p:nvSpPr>
          <p:spPr>
            <a:xfrm>
              <a:off x="890552" y="4197187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1674" name="Google Shape;1674;p139"/>
          <p:cNvCxnSpPr>
            <a:endCxn id="1667" idx="0"/>
          </p:cNvCxnSpPr>
          <p:nvPr/>
        </p:nvCxnSpPr>
        <p:spPr>
          <a:xfrm rot="10800000">
            <a:off x="7446600" y="1811100"/>
            <a:ext cx="225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5" name="Google Shape;1675;p139"/>
          <p:cNvSpPr/>
          <p:nvPr/>
        </p:nvSpPr>
        <p:spPr>
          <a:xfrm>
            <a:off x="7187425" y="3706500"/>
            <a:ext cx="1406700" cy="613500"/>
          </a:xfrm>
          <a:prstGeom prst="roundRect">
            <a:avLst>
              <a:gd fmla="val 16667" name="adj"/>
            </a:avLst>
          </a:prstGeom>
          <a:solidFill>
            <a:srgbClr val="F3EEFB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76" name="Google Shape;1676;p139"/>
          <p:cNvCxnSpPr>
            <a:endCxn id="1668" idx="3"/>
          </p:cNvCxnSpPr>
          <p:nvPr/>
        </p:nvCxnSpPr>
        <p:spPr>
          <a:xfrm rot="10800000">
            <a:off x="7347000" y="3399600"/>
            <a:ext cx="0" cy="3102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77" name="Google Shape;1677;p139"/>
          <p:cNvGrpSpPr/>
          <p:nvPr/>
        </p:nvGrpSpPr>
        <p:grpSpPr>
          <a:xfrm>
            <a:off x="7281775" y="3753363"/>
            <a:ext cx="1254889" cy="519775"/>
            <a:chOff x="343425" y="3984526"/>
            <a:chExt cx="1254889" cy="519775"/>
          </a:xfrm>
        </p:grpSpPr>
        <p:sp>
          <p:nvSpPr>
            <p:cNvPr id="1678" name="Google Shape;1678;p139"/>
            <p:cNvSpPr txBox="1"/>
            <p:nvPr/>
          </p:nvSpPr>
          <p:spPr>
            <a:xfrm>
              <a:off x="845127" y="4128912"/>
              <a:ext cx="382200" cy="26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0.01&quot;&gt;&lt;mn&gt;0.01&lt;/mn&gt;&lt;/math&gt;" id="1679" name="Google Shape;1679;p139" title="0.0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79725" y="4179804"/>
              <a:ext cx="418589" cy="17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0}&quot;&gt;&lt;mfrac&gt;&lt;mn&gt;1&lt;/mn&gt;&lt;mn&gt;100&lt;/mn&gt;&lt;/mfrac&gt;&lt;/math&gt;" id="1680" name="Google Shape;1680;p139" title="1 over 1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343425" y="3984526"/>
              <a:ext cx="407587" cy="5197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1" name="Google Shape;1681;p139"/>
          <p:cNvSpPr txBox="1"/>
          <p:nvPr/>
        </p:nvSpPr>
        <p:spPr>
          <a:xfrm>
            <a:off x="965300" y="1343200"/>
            <a:ext cx="16815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82" name="Google Shape;1682;p139"/>
          <p:cNvCxnSpPr/>
          <p:nvPr/>
        </p:nvCxnSpPr>
        <p:spPr>
          <a:xfrm>
            <a:off x="995567" y="2830372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139"/>
          <p:cNvSpPr txBox="1"/>
          <p:nvPr/>
        </p:nvSpPr>
        <p:spPr>
          <a:xfrm>
            <a:off x="965300" y="2865400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139"/>
          <p:cNvSpPr/>
          <p:nvPr/>
        </p:nvSpPr>
        <p:spPr>
          <a:xfrm rot="5400000">
            <a:off x="24418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139"/>
          <p:cNvSpPr/>
          <p:nvPr/>
        </p:nvSpPr>
        <p:spPr>
          <a:xfrm rot="5400000">
            <a:off x="4434600" y="815850"/>
            <a:ext cx="2000400" cy="19905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139"/>
          <p:cNvSpPr/>
          <p:nvPr/>
        </p:nvSpPr>
        <p:spPr>
          <a:xfrm rot="5400000">
            <a:off x="5546700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139"/>
          <p:cNvSpPr/>
          <p:nvPr/>
        </p:nvSpPr>
        <p:spPr>
          <a:xfrm rot="5400000">
            <a:off x="5738300" y="17143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139"/>
          <p:cNvSpPr/>
          <p:nvPr/>
        </p:nvSpPr>
        <p:spPr>
          <a:xfrm rot="5400000">
            <a:off x="5942325" y="17115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139"/>
          <p:cNvSpPr/>
          <p:nvPr/>
        </p:nvSpPr>
        <p:spPr>
          <a:xfrm rot="5400000">
            <a:off x="6142162" y="17143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139"/>
          <p:cNvSpPr/>
          <p:nvPr/>
        </p:nvSpPr>
        <p:spPr>
          <a:xfrm rot="5400000">
            <a:off x="6344087" y="17143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139"/>
          <p:cNvSpPr/>
          <p:nvPr/>
        </p:nvSpPr>
        <p:spPr>
          <a:xfrm>
            <a:off x="2450250" y="821225"/>
            <a:ext cx="3984000" cy="1985400"/>
          </a:xfrm>
          <a:prstGeom prst="rect">
            <a:avLst/>
          </a:prstGeom>
          <a:solidFill>
            <a:srgbClr val="845AD9">
              <a:alpha val="62660"/>
            </a:srgbClr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139"/>
          <p:cNvSpPr/>
          <p:nvPr/>
        </p:nvSpPr>
        <p:spPr>
          <a:xfrm>
            <a:off x="6447300" y="810900"/>
            <a:ext cx="1014000" cy="20004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139"/>
          <p:cNvSpPr/>
          <p:nvPr/>
        </p:nvSpPr>
        <p:spPr>
          <a:xfrm>
            <a:off x="2441800" y="2806625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139"/>
          <p:cNvSpPr/>
          <p:nvPr/>
        </p:nvSpPr>
        <p:spPr>
          <a:xfrm>
            <a:off x="2441800" y="320580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39"/>
          <p:cNvSpPr/>
          <p:nvPr/>
        </p:nvSpPr>
        <p:spPr>
          <a:xfrm>
            <a:off x="2441800" y="3006150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6" name="Google Shape;1696;p139"/>
          <p:cNvSpPr/>
          <p:nvPr/>
        </p:nvSpPr>
        <p:spPr>
          <a:xfrm>
            <a:off x="4433850" y="2806563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7" name="Google Shape;1697;p139"/>
          <p:cNvSpPr/>
          <p:nvPr/>
        </p:nvSpPr>
        <p:spPr>
          <a:xfrm>
            <a:off x="4433850" y="3205738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39"/>
          <p:cNvSpPr/>
          <p:nvPr/>
        </p:nvSpPr>
        <p:spPr>
          <a:xfrm>
            <a:off x="4433850" y="3006088"/>
            <a:ext cx="2000400" cy="1992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9" name="Google Shape;1699;p139"/>
          <p:cNvGrpSpPr/>
          <p:nvPr/>
        </p:nvGrpSpPr>
        <p:grpSpPr>
          <a:xfrm>
            <a:off x="6448800" y="2806625"/>
            <a:ext cx="997612" cy="600220"/>
            <a:chOff x="6448800" y="2806625"/>
            <a:chExt cx="997612" cy="600220"/>
          </a:xfrm>
        </p:grpSpPr>
        <p:sp>
          <p:nvSpPr>
            <p:cNvPr id="1700" name="Google Shape;1700;p139"/>
            <p:cNvSpPr/>
            <p:nvPr/>
          </p:nvSpPr>
          <p:spPr>
            <a:xfrm rot="5400000">
              <a:off x="6447300" y="2808125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139"/>
            <p:cNvSpPr/>
            <p:nvPr/>
          </p:nvSpPr>
          <p:spPr>
            <a:xfrm rot="5400000">
              <a:off x="6447300" y="301020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139"/>
            <p:cNvSpPr/>
            <p:nvPr/>
          </p:nvSpPr>
          <p:spPr>
            <a:xfrm rot="5400000">
              <a:off x="6447300" y="320725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3" name="Google Shape;1703;p139"/>
            <p:cNvSpPr/>
            <p:nvPr/>
          </p:nvSpPr>
          <p:spPr>
            <a:xfrm rot="5400000">
              <a:off x="6648037" y="2808353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4" name="Google Shape;1704;p139"/>
            <p:cNvSpPr/>
            <p:nvPr/>
          </p:nvSpPr>
          <p:spPr>
            <a:xfrm rot="5400000">
              <a:off x="6648037" y="3010428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139"/>
            <p:cNvSpPr/>
            <p:nvPr/>
          </p:nvSpPr>
          <p:spPr>
            <a:xfrm rot="5400000">
              <a:off x="6648037" y="3207478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139"/>
            <p:cNvSpPr/>
            <p:nvPr/>
          </p:nvSpPr>
          <p:spPr>
            <a:xfrm rot="5400000">
              <a:off x="6847250" y="2808179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139"/>
            <p:cNvSpPr/>
            <p:nvPr/>
          </p:nvSpPr>
          <p:spPr>
            <a:xfrm rot="5400000">
              <a:off x="6847250" y="3010254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8" name="Google Shape;1708;p139"/>
            <p:cNvSpPr/>
            <p:nvPr/>
          </p:nvSpPr>
          <p:spPr>
            <a:xfrm rot="5400000">
              <a:off x="6847250" y="3207304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139"/>
            <p:cNvSpPr/>
            <p:nvPr/>
          </p:nvSpPr>
          <p:spPr>
            <a:xfrm rot="5400000">
              <a:off x="7047987" y="2808407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0" name="Google Shape;1710;p139"/>
            <p:cNvSpPr/>
            <p:nvPr/>
          </p:nvSpPr>
          <p:spPr>
            <a:xfrm rot="5400000">
              <a:off x="7047987" y="3010482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1" name="Google Shape;1711;p139"/>
            <p:cNvSpPr/>
            <p:nvPr/>
          </p:nvSpPr>
          <p:spPr>
            <a:xfrm rot="5400000">
              <a:off x="7047987" y="3207532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139"/>
            <p:cNvSpPr/>
            <p:nvPr/>
          </p:nvSpPr>
          <p:spPr>
            <a:xfrm rot="5400000">
              <a:off x="7248712" y="2808407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3" name="Google Shape;1713;p139"/>
            <p:cNvSpPr/>
            <p:nvPr/>
          </p:nvSpPr>
          <p:spPr>
            <a:xfrm rot="5400000">
              <a:off x="7248712" y="3008770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4" name="Google Shape;1714;p139"/>
            <p:cNvSpPr/>
            <p:nvPr/>
          </p:nvSpPr>
          <p:spPr>
            <a:xfrm rot="5400000">
              <a:off x="7248712" y="3209145"/>
              <a:ext cx="199200" cy="196200"/>
            </a:xfrm>
            <a:prstGeom prst="rect">
              <a:avLst/>
            </a:prstGeom>
            <a:solidFill>
              <a:srgbClr val="845AD9">
                <a:alpha val="31009"/>
              </a:srgbClr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5" name="Google Shape;1715;p139"/>
          <p:cNvSpPr/>
          <p:nvPr/>
        </p:nvSpPr>
        <p:spPr>
          <a:xfrm>
            <a:off x="2446750" y="2815500"/>
            <a:ext cx="1990500" cy="5856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139"/>
          <p:cNvSpPr/>
          <p:nvPr/>
        </p:nvSpPr>
        <p:spPr>
          <a:xfrm>
            <a:off x="4443750" y="2812900"/>
            <a:ext cx="1990500" cy="585600"/>
          </a:xfrm>
          <a:prstGeom prst="rect">
            <a:avLst/>
          </a:prstGeom>
          <a:solidFill>
            <a:srgbClr val="845AD9">
              <a:alpha val="3100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0.3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139"/>
          <p:cNvSpPr/>
          <p:nvPr/>
        </p:nvSpPr>
        <p:spPr>
          <a:xfrm>
            <a:off x="6447300" y="2815500"/>
            <a:ext cx="1014000" cy="585600"/>
          </a:xfrm>
          <a:prstGeom prst="rect">
            <a:avLst/>
          </a:prstGeom>
          <a:solidFill>
            <a:srgbClr val="845AD9">
              <a:alpha val="13290"/>
            </a:srgbClr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0.15</a:t>
            </a:r>
            <a:endParaRPr sz="3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139"/>
          <p:cNvSpPr txBox="1"/>
          <p:nvPr/>
        </p:nvSpPr>
        <p:spPr>
          <a:xfrm>
            <a:off x="995575" y="853950"/>
            <a:ext cx="13086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2.5 × 1.3 =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40"/>
          <p:cNvSpPr txBox="1"/>
          <p:nvPr>
            <p:ph idx="1" type="body"/>
          </p:nvPr>
        </p:nvSpPr>
        <p:spPr>
          <a:xfrm>
            <a:off x="324000" y="759300"/>
            <a:ext cx="82377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area model does not have to be drawn to scale but here it helps to see what happens when you </a:t>
            </a:r>
            <a:r>
              <a:rPr lang="en-GB" sz="2000"/>
              <a:t>multiply</a:t>
            </a:r>
            <a:r>
              <a:rPr lang="en-GB" sz="2000"/>
              <a:t> decimals.</a:t>
            </a:r>
            <a:endParaRPr sz="2000"/>
          </a:p>
        </p:txBody>
      </p:sp>
      <p:sp>
        <p:nvSpPr>
          <p:cNvPr id="1724" name="Google Shape;1724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with decimals</a:t>
            </a:r>
            <a:endParaRPr/>
          </a:p>
        </p:txBody>
      </p:sp>
      <p:pic>
        <p:nvPicPr>
          <p:cNvPr id="1725" name="Google Shape;1725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977" y="2053625"/>
            <a:ext cx="3925401" cy="264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.5\times1.3\end{array}&quot;&gt;&lt;mtable columnalign=&quot;left&quot; columnspacing=&quot;1em&quot; rowspacing=&quot;4pt&quot;&gt;&lt;mtr&gt;&lt;mtd&gt;&lt;mn&gt;2.5&lt;/mn&gt;&lt;mo&gt;×&lt;/mo&gt;&lt;mn&gt;1.3&lt;/mn&gt;&lt;/mtd&gt;&lt;/mtr&gt;&lt;/mtable&gt;&lt;/math&gt;" id="1726" name="Google Shape;1726;p140" title="1 lines Line 1: 2.5 times 1.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9650" y="1625225"/>
            <a:ext cx="1170500" cy="240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27" name="Google Shape;1727;p140"/>
          <p:cNvGraphicFramePr/>
          <p:nvPr/>
        </p:nvGraphicFramePr>
        <p:xfrm>
          <a:off x="4563677" y="21044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009950"/>
                <a:gridCol w="1009950"/>
                <a:gridCol w="1009950"/>
              </a:tblGrid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/>
                        <a:t>×</a:t>
                      </a:r>
                      <a:endParaRPr sz="23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2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728" name="Google Shape;1728;p140"/>
          <p:cNvGrpSpPr/>
          <p:nvPr/>
        </p:nvGrpSpPr>
        <p:grpSpPr>
          <a:xfrm>
            <a:off x="337327" y="2105250"/>
            <a:ext cx="6240925" cy="1284300"/>
            <a:chOff x="631425" y="1724250"/>
            <a:chExt cx="6240925" cy="1284300"/>
          </a:xfrm>
        </p:grpSpPr>
        <p:sp>
          <p:nvSpPr>
            <p:cNvPr id="1729" name="Google Shape;1729;p140"/>
            <p:cNvSpPr/>
            <p:nvPr/>
          </p:nvSpPr>
          <p:spPr>
            <a:xfrm>
              <a:off x="631425" y="1724250"/>
              <a:ext cx="2557800" cy="12843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140"/>
            <p:cNvSpPr/>
            <p:nvPr/>
          </p:nvSpPr>
          <p:spPr>
            <a:xfrm>
              <a:off x="5873050" y="2412675"/>
              <a:ext cx="999300" cy="5604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1" name="Google Shape;1731;p140"/>
          <p:cNvGrpSpPr/>
          <p:nvPr/>
        </p:nvGrpSpPr>
        <p:grpSpPr>
          <a:xfrm>
            <a:off x="2869852" y="2105250"/>
            <a:ext cx="4707700" cy="1284300"/>
            <a:chOff x="3163950" y="1724250"/>
            <a:chExt cx="4707700" cy="1284300"/>
          </a:xfrm>
        </p:grpSpPr>
        <p:sp>
          <p:nvSpPr>
            <p:cNvPr id="1732" name="Google Shape;1732;p140"/>
            <p:cNvSpPr/>
            <p:nvPr/>
          </p:nvSpPr>
          <p:spPr>
            <a:xfrm>
              <a:off x="3163950" y="1724250"/>
              <a:ext cx="688800" cy="12843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3" name="Google Shape;1733;p140"/>
            <p:cNvSpPr/>
            <p:nvPr/>
          </p:nvSpPr>
          <p:spPr>
            <a:xfrm>
              <a:off x="6872350" y="2412675"/>
              <a:ext cx="999300" cy="5604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4" name="Google Shape;1734;p140"/>
          <p:cNvGrpSpPr/>
          <p:nvPr/>
        </p:nvGrpSpPr>
        <p:grpSpPr>
          <a:xfrm>
            <a:off x="337327" y="3389549"/>
            <a:ext cx="6240923" cy="613500"/>
            <a:chOff x="631425" y="3008549"/>
            <a:chExt cx="6240923" cy="613500"/>
          </a:xfrm>
        </p:grpSpPr>
        <p:sp>
          <p:nvSpPr>
            <p:cNvPr id="1735" name="Google Shape;1735;p140"/>
            <p:cNvSpPr/>
            <p:nvPr/>
          </p:nvSpPr>
          <p:spPr>
            <a:xfrm>
              <a:off x="631425" y="3008550"/>
              <a:ext cx="2557800" cy="3993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6" name="Google Shape;1736;p140"/>
            <p:cNvSpPr/>
            <p:nvPr/>
          </p:nvSpPr>
          <p:spPr>
            <a:xfrm>
              <a:off x="5873048" y="3008549"/>
              <a:ext cx="999300" cy="6135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7" name="Google Shape;1737;p140"/>
          <p:cNvGrpSpPr/>
          <p:nvPr/>
        </p:nvGrpSpPr>
        <p:grpSpPr>
          <a:xfrm>
            <a:off x="2869902" y="3389549"/>
            <a:ext cx="4723773" cy="613500"/>
            <a:chOff x="3164000" y="3008549"/>
            <a:chExt cx="4723773" cy="613500"/>
          </a:xfrm>
        </p:grpSpPr>
        <p:sp>
          <p:nvSpPr>
            <p:cNvPr id="1738" name="Google Shape;1738;p140"/>
            <p:cNvSpPr/>
            <p:nvPr/>
          </p:nvSpPr>
          <p:spPr>
            <a:xfrm>
              <a:off x="3164000" y="3008550"/>
              <a:ext cx="688800" cy="3993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9" name="Google Shape;1739;p140"/>
            <p:cNvSpPr/>
            <p:nvPr/>
          </p:nvSpPr>
          <p:spPr>
            <a:xfrm>
              <a:off x="6907973" y="3008549"/>
              <a:ext cx="979800" cy="6135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40" name="Google Shape;1740;p140"/>
          <p:cNvSpPr txBox="1"/>
          <p:nvPr/>
        </p:nvSpPr>
        <p:spPr>
          <a:xfrm>
            <a:off x="7826850" y="2163666"/>
            <a:ext cx="16815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41" name="Google Shape;1741;p140"/>
          <p:cNvCxnSpPr/>
          <p:nvPr/>
        </p:nvCxnSpPr>
        <p:spPr>
          <a:xfrm>
            <a:off x="7857117" y="3650839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2" name="Google Shape;1742;p140"/>
          <p:cNvSpPr txBox="1"/>
          <p:nvPr/>
        </p:nvSpPr>
        <p:spPr>
          <a:xfrm>
            <a:off x="7826850" y="3685866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2.5\times1.3\ =\ 3.25\end{array}&quot;&gt;&lt;mtable columnalign=&quot;left&quot; columnspacing=&quot;1em&quot; rowspacing=&quot;4pt&quot;&gt;&lt;mtr&gt;&lt;mtd&gt;&lt;mn&gt;2.5&lt;/mn&gt;&lt;mo&gt;×&lt;/mo&gt;&lt;mn&gt;1.3&lt;/mn&gt;&lt;mtext&gt;&lt;/mtext&gt;&lt;mo&gt;=&lt;/mo&gt;&lt;mtext&gt;&lt;/mtext&gt;&lt;mn&gt;3.25&lt;/mn&gt;&lt;/mtd&gt;&lt;/mtr&gt;&lt;/mtable&gt;&lt;/math&gt;" id="1743" name="Google Shape;1743;p140" title="1 lines Line 1: 2.5 times 1.3 equals 3.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0150" y="4199575"/>
            <a:ext cx="2335683" cy="2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41"/>
          <p:cNvSpPr txBox="1"/>
          <p:nvPr>
            <p:ph idx="1" type="body"/>
          </p:nvPr>
        </p:nvSpPr>
        <p:spPr>
          <a:xfrm>
            <a:off x="324000" y="759300"/>
            <a:ext cx="82377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Now let’s compare the same method to multiplying with integers using </a:t>
            </a:r>
            <a:endParaRPr sz="2000"/>
          </a:p>
        </p:txBody>
      </p:sp>
      <p:sp>
        <p:nvSpPr>
          <p:cNvPr id="1749" name="Google Shape;1749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750" name="Google Shape;1750;p141"/>
          <p:cNvGraphicFramePr/>
          <p:nvPr/>
        </p:nvGraphicFramePr>
        <p:xfrm>
          <a:off x="4563677" y="1916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009950"/>
                <a:gridCol w="1009950"/>
                <a:gridCol w="1009950"/>
              </a:tblGrid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/>
                        <a:t>×</a:t>
                      </a:r>
                      <a:endParaRPr sz="2300"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23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0.5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63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0.3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0.6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0.15</a:t>
                      </a:r>
                      <a:endParaRPr sz="2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51" name="Google Shape;1751;p141"/>
          <p:cNvSpPr txBox="1"/>
          <p:nvPr/>
        </p:nvSpPr>
        <p:spPr>
          <a:xfrm>
            <a:off x="7826850" y="1975250"/>
            <a:ext cx="16815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5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+ 0.15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52" name="Google Shape;1752;p141"/>
          <p:cNvCxnSpPr/>
          <p:nvPr/>
        </p:nvCxnSpPr>
        <p:spPr>
          <a:xfrm>
            <a:off x="7857117" y="3462422"/>
            <a:ext cx="756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3" name="Google Shape;1753;p141"/>
          <p:cNvSpPr txBox="1"/>
          <p:nvPr/>
        </p:nvSpPr>
        <p:spPr>
          <a:xfrm>
            <a:off x="7826850" y="3497450"/>
            <a:ext cx="11481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r>
              <a:rPr lang="en-GB" sz="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3.25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4" name="Google Shape;1754;p141"/>
          <p:cNvGraphicFramePr/>
          <p:nvPr/>
        </p:nvGraphicFramePr>
        <p:xfrm>
          <a:off x="770800" y="1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009950"/>
                <a:gridCol w="1009950"/>
                <a:gridCol w="1009950"/>
              </a:tblGrid>
              <a:tr h="69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6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begin{array}{l}25\times13\end{array}&quot;&gt;&lt;mtable columnalign=&quot;left&quot; columnspacing=&quot;1em&quot; rowspacing=&quot;4pt&quot;&gt;&lt;mtr&gt;&lt;mtd&gt;&lt;mn&gt;25&lt;/mn&gt;&lt;mo&gt;×&lt;/mo&gt;&lt;mn&gt;13&lt;/mn&gt;&lt;/mtd&gt;&lt;/mtr&gt;&lt;/mtable&gt;&lt;/math&gt;" id="1755" name="Google Shape;1755;p141" title="1 lines Line 1: 25 times 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5300" y="1257975"/>
            <a:ext cx="1002608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.5\times1.3\ =\ 3.25\end{array}&quot;&gt;&lt;mtable columnalign=&quot;left&quot; columnspacing=&quot;1em&quot; rowspacing=&quot;4pt&quot;&gt;&lt;mtr&gt;&lt;mtd&gt;&lt;mn&gt;2.5&lt;/mn&gt;&lt;mo&gt;×&lt;/mo&gt;&lt;mn&gt;1.3&lt;/mn&gt;&lt;mtext&gt;&lt;/mtext&gt;&lt;mo&gt;=&lt;/mo&gt;&lt;mtext&gt;&lt;/mtext&gt;&lt;mn&gt;3.25&lt;/mn&gt;&lt;/mtd&gt;&lt;/mtr&gt;&lt;/mtable&gt;&lt;/math&gt;" id="1756" name="Google Shape;1756;p141" title="1 lines Line 1: 2.5 times 1.3 equals 3.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8963" y="4017350"/>
            <a:ext cx="2335683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5\times13\ =\ 325\end{array}&quot;&gt;&lt;mtable columnalign=&quot;left&quot; columnspacing=&quot;1em&quot; rowspacing=&quot;4pt&quot;&gt;&lt;mtr&gt;&lt;mtd&gt;&lt;mn&gt;25&lt;/mn&gt;&lt;mo&gt;×&lt;/mo&gt;&lt;mn&gt;13&lt;/mn&gt;&lt;mtext&gt;&lt;/mtext&gt;&lt;mo&gt;=&lt;/mo&gt;&lt;mtext&gt;&lt;/mtext&gt;&lt;mn&gt;325&lt;/mn&gt;&lt;/mtd&gt;&lt;/mtr&gt;&lt;/mtable&gt;&lt;/math&gt;" id="1757" name="Google Shape;1757;p141" title="1 lines Line 1: 25 times 13 equals 3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1088" y="4017350"/>
            <a:ext cx="2089285" cy="2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142"/>
          <p:cNvSpPr txBox="1"/>
          <p:nvPr>
            <p:ph idx="1" type="body"/>
          </p:nvPr>
        </p:nvSpPr>
        <p:spPr>
          <a:xfrm>
            <a:off x="3247500" y="680700"/>
            <a:ext cx="26490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notice?</a:t>
            </a:r>
            <a:endParaRPr sz="2000"/>
          </a:p>
        </p:txBody>
      </p:sp>
      <p:sp>
        <p:nvSpPr>
          <p:cNvPr id="1763" name="Google Shape;1763;p1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graphicFrame>
        <p:nvGraphicFramePr>
          <p:cNvPr id="1764" name="Google Shape;1764;p142"/>
          <p:cNvGraphicFramePr/>
          <p:nvPr/>
        </p:nvGraphicFramePr>
        <p:xfrm>
          <a:off x="770800" y="188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1009950"/>
                <a:gridCol w="1009950"/>
                <a:gridCol w="1009950"/>
              </a:tblGrid>
              <a:tr h="69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2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1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</a:tr>
              <a:tr h="6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7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E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65" name="Google Shape;1765;p142"/>
          <p:cNvSpPr txBox="1"/>
          <p:nvPr>
            <p:ph idx="1" type="body"/>
          </p:nvPr>
        </p:nvSpPr>
        <p:spPr>
          <a:xfrm>
            <a:off x="324000" y="1051725"/>
            <a:ext cx="78852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We can use the integer multiplication strategy to find the answer to the decimal multiplication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by using multiplication or division of powers of 10.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66" name="Google Shape;1766;p142"/>
          <p:cNvSpPr txBox="1"/>
          <p:nvPr>
            <p:ph idx="1" type="body"/>
          </p:nvPr>
        </p:nvSpPr>
        <p:spPr>
          <a:xfrm>
            <a:off x="5195325" y="1884150"/>
            <a:ext cx="26034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To work out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2.5  ×  1.3</a:t>
            </a:r>
            <a:endParaRPr sz="2000"/>
          </a:p>
        </p:txBody>
      </p:sp>
      <p:sp>
        <p:nvSpPr>
          <p:cNvPr id="1767" name="Google Shape;1767;p142"/>
          <p:cNvSpPr txBox="1"/>
          <p:nvPr>
            <p:ph idx="1" type="body"/>
          </p:nvPr>
        </p:nvSpPr>
        <p:spPr>
          <a:xfrm>
            <a:off x="4790725" y="2811344"/>
            <a:ext cx="26034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25 × 0.1 × 13 × 0.1 </a:t>
            </a:r>
            <a:endParaRPr sz="2000"/>
          </a:p>
        </p:txBody>
      </p:sp>
      <p:sp>
        <p:nvSpPr>
          <p:cNvPr id="1768" name="Google Shape;1768;p142"/>
          <p:cNvSpPr txBox="1"/>
          <p:nvPr>
            <p:ph idx="1" type="body"/>
          </p:nvPr>
        </p:nvSpPr>
        <p:spPr>
          <a:xfrm>
            <a:off x="4800600" y="3304500"/>
            <a:ext cx="26034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25 × 13 × 0.1 </a:t>
            </a:r>
            <a:r>
              <a:rPr lang="en-GB" sz="2000">
                <a:solidFill>
                  <a:srgbClr val="000000"/>
                </a:solidFill>
              </a:rPr>
              <a:t>× 0.1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69" name="Google Shape;1769;p142"/>
          <p:cNvSpPr txBox="1"/>
          <p:nvPr>
            <p:ph idx="1" type="body"/>
          </p:nvPr>
        </p:nvSpPr>
        <p:spPr>
          <a:xfrm>
            <a:off x="4800600" y="3814750"/>
            <a:ext cx="26034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325</a:t>
            </a:r>
            <a:r>
              <a:rPr lang="en-GB" sz="2000"/>
              <a:t> × 0.01 =</a:t>
            </a:r>
            <a:r>
              <a:rPr lang="en-GB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70" name="Google Shape;1770;p142"/>
          <p:cNvSpPr txBox="1"/>
          <p:nvPr>
            <p:ph idx="1" type="body"/>
          </p:nvPr>
        </p:nvSpPr>
        <p:spPr>
          <a:xfrm>
            <a:off x="6290005" y="3836860"/>
            <a:ext cx="688500" cy="39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3.25</a:t>
            </a:r>
            <a:r>
              <a:rPr lang="en-GB" sz="2000">
                <a:solidFill>
                  <a:srgbClr val="000000"/>
                </a:solidFill>
              </a:rPr>
              <a:t> 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771" name="Google Shape;1771;p142"/>
          <p:cNvGrpSpPr/>
          <p:nvPr/>
        </p:nvGrpSpPr>
        <p:grpSpPr>
          <a:xfrm>
            <a:off x="4800600" y="2655450"/>
            <a:ext cx="856800" cy="155900"/>
            <a:chOff x="4800600" y="2655450"/>
            <a:chExt cx="856800" cy="155900"/>
          </a:xfrm>
        </p:grpSpPr>
        <p:cxnSp>
          <p:nvCxnSpPr>
            <p:cNvPr id="1772" name="Google Shape;1772;p142"/>
            <p:cNvCxnSpPr/>
            <p:nvPr/>
          </p:nvCxnSpPr>
          <p:spPr>
            <a:xfrm>
              <a:off x="5127750" y="2656325"/>
              <a:ext cx="445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3" name="Google Shape;1773;p142"/>
            <p:cNvCxnSpPr/>
            <p:nvPr/>
          </p:nvCxnSpPr>
          <p:spPr>
            <a:xfrm flipH="1" rot="10800000">
              <a:off x="4800600" y="2803850"/>
              <a:ext cx="856800" cy="7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4" name="Google Shape;1774;p142"/>
            <p:cNvCxnSpPr/>
            <p:nvPr/>
          </p:nvCxnSpPr>
          <p:spPr>
            <a:xfrm>
              <a:off x="5348025" y="2655450"/>
              <a:ext cx="0" cy="1527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5" name="Google Shape;1775;p142"/>
          <p:cNvGrpSpPr/>
          <p:nvPr/>
        </p:nvGrpSpPr>
        <p:grpSpPr>
          <a:xfrm>
            <a:off x="5876375" y="2656325"/>
            <a:ext cx="910650" cy="155025"/>
            <a:chOff x="4746750" y="2656325"/>
            <a:chExt cx="910650" cy="155025"/>
          </a:xfrm>
        </p:grpSpPr>
        <p:cxnSp>
          <p:nvCxnSpPr>
            <p:cNvPr id="1776" name="Google Shape;1776;p142"/>
            <p:cNvCxnSpPr/>
            <p:nvPr/>
          </p:nvCxnSpPr>
          <p:spPr>
            <a:xfrm>
              <a:off x="4746750" y="2656325"/>
              <a:ext cx="445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142"/>
            <p:cNvCxnSpPr/>
            <p:nvPr/>
          </p:nvCxnSpPr>
          <p:spPr>
            <a:xfrm flipH="1" rot="10800000">
              <a:off x="4800600" y="2803850"/>
              <a:ext cx="856800" cy="75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8" name="Google Shape;1778;p142"/>
            <p:cNvCxnSpPr/>
            <p:nvPr/>
          </p:nvCxnSpPr>
          <p:spPr>
            <a:xfrm>
              <a:off x="5032675" y="2657050"/>
              <a:ext cx="0" cy="1527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9" name="Google Shape;1779;p142"/>
          <p:cNvGrpSpPr/>
          <p:nvPr/>
        </p:nvGrpSpPr>
        <p:grpSpPr>
          <a:xfrm>
            <a:off x="4771575" y="3598250"/>
            <a:ext cx="844375" cy="216500"/>
            <a:chOff x="4800600" y="2594850"/>
            <a:chExt cx="844375" cy="216500"/>
          </a:xfrm>
        </p:grpSpPr>
        <p:cxnSp>
          <p:nvCxnSpPr>
            <p:cNvPr id="1780" name="Google Shape;1780;p142"/>
            <p:cNvCxnSpPr/>
            <p:nvPr/>
          </p:nvCxnSpPr>
          <p:spPr>
            <a:xfrm>
              <a:off x="4884475" y="2594850"/>
              <a:ext cx="7605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1" name="Google Shape;1781;p142"/>
            <p:cNvCxnSpPr/>
            <p:nvPr/>
          </p:nvCxnSpPr>
          <p:spPr>
            <a:xfrm>
              <a:off x="4800600" y="2811350"/>
              <a:ext cx="5208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82" name="Google Shape;1782;p142"/>
            <p:cNvCxnSpPr/>
            <p:nvPr/>
          </p:nvCxnSpPr>
          <p:spPr>
            <a:xfrm>
              <a:off x="5191575" y="2597200"/>
              <a:ext cx="0" cy="2118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\begin{array}{l}25\times13\ =\ 325\end{array}&quot;&gt;&lt;mtable columnalign=&quot;left&quot; columnspacing=&quot;1em&quot; rowspacing=&quot;4pt&quot;&gt;&lt;mtr&gt;&lt;mtd&gt;&lt;mn&gt;25&lt;/mn&gt;&lt;mo&gt;×&lt;/mo&gt;&lt;mn&gt;13&lt;/mn&gt;&lt;mtext&gt;&lt;/mtext&gt;&lt;mo&gt;=&lt;/mo&gt;&lt;mtext&gt;&lt;/mtext&gt;&lt;mn&gt;325&lt;/mn&gt;&lt;/mtd&gt;&lt;/mtr&gt;&lt;/mtable&gt;&lt;/math&gt;" id="1783" name="Google Shape;1783;p142" title="1 lines Line 1: 25 times 13 equals 3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088" y="4017350"/>
            <a:ext cx="2089285" cy="24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4" name="Google Shape;1784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700" y="2617745"/>
            <a:ext cx="1096500" cy="49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5" name="Google Shape;1785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0545" y="2617750"/>
            <a:ext cx="1433625" cy="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6" name="Google Shape;1786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5500" y="3151145"/>
            <a:ext cx="1096500" cy="494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7" name="Google Shape;1787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8500" y="3227350"/>
            <a:ext cx="1433625" cy="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8" name="Google Shape;1788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700" y="3608350"/>
            <a:ext cx="1388050" cy="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9" name="Google Shape;1789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9500" y="3684550"/>
            <a:ext cx="1388050" cy="49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1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342 × 100</a:t>
            </a:r>
            <a:endParaRPr/>
          </a:p>
        </p:txBody>
      </p:sp>
      <p:sp>
        <p:nvSpPr>
          <p:cNvPr id="1795" name="Google Shape;1795;p1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796" name="Google Shape;1796;p1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3.42 is equivalent to:</a:t>
            </a:r>
            <a:endParaRPr/>
          </a:p>
        </p:txBody>
      </p:sp>
      <p:sp>
        <p:nvSpPr>
          <p:cNvPr id="1797" name="Google Shape;1797;p1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342 × 0.1 × 0.1</a:t>
            </a:r>
            <a:endParaRPr/>
          </a:p>
        </p:txBody>
      </p:sp>
      <p:sp>
        <p:nvSpPr>
          <p:cNvPr id="1798" name="Google Shape;1798;p1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342 × 0.01</a:t>
            </a:r>
            <a:endParaRPr/>
          </a:p>
        </p:txBody>
      </p:sp>
      <p:pic>
        <p:nvPicPr>
          <p:cNvPr id="1799" name="Google Shape;1799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608" y="2755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0" name="Google Shape;1800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560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1" name="Google Shape;1801;p143"/>
          <p:cNvSpPr txBox="1"/>
          <p:nvPr>
            <p:ph idx="4294967295" type="body"/>
          </p:nvPr>
        </p:nvSpPr>
        <p:spPr>
          <a:xfrm>
            <a:off x="3602725" y="2858750"/>
            <a:ext cx="4938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342 × 0.1 × 0.1 = 34.2 × 0.1 = 3.42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2" name="Google Shape;1802;p143"/>
          <p:cNvSpPr txBox="1"/>
          <p:nvPr>
            <p:ph idx="4294967295" type="body"/>
          </p:nvPr>
        </p:nvSpPr>
        <p:spPr>
          <a:xfrm>
            <a:off x="3369600" y="3719725"/>
            <a:ext cx="49383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0.01 =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0.1 × 0.1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342 × 0.01 = 342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0.1 × 0.1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1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100</a:t>
            </a:r>
            <a:endParaRPr/>
          </a:p>
        </p:txBody>
      </p:sp>
      <p:sp>
        <p:nvSpPr>
          <p:cNvPr id="1808" name="Google Shape;1808;p1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by 100 is equivalent to which of the following?</a:t>
            </a:r>
            <a:endParaRPr/>
          </a:p>
        </p:txBody>
      </p:sp>
      <p:sp>
        <p:nvSpPr>
          <p:cNvPr id="1809" name="Google Shape;1809;p1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0.1 × 0.1</a:t>
            </a:r>
            <a:endParaRPr/>
          </a:p>
        </p:txBody>
      </p:sp>
      <p:sp>
        <p:nvSpPr>
          <p:cNvPr id="1810" name="Google Shape;1810;p1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0.01</a:t>
            </a:r>
            <a:endParaRPr/>
          </a:p>
        </p:txBody>
      </p:sp>
      <p:sp>
        <p:nvSpPr>
          <p:cNvPr id="1811" name="Google Shape;1811;p1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pic>
        <p:nvPicPr>
          <p:cNvPr id="1812" name="Google Shape;1812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8258" y="37197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83" y="270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4" name="Google Shape;1814;p144"/>
          <p:cNvSpPr txBox="1"/>
          <p:nvPr>
            <p:ph idx="4294967295" type="body"/>
          </p:nvPr>
        </p:nvSpPr>
        <p:spPr>
          <a:xfrm>
            <a:off x="3411025" y="1794200"/>
            <a:ext cx="4938300" cy="13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 =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0.1 × 0.1 =              =   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is the same as dividing by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5" name="Google Shape;1815;p144"/>
          <p:cNvSpPr txBox="1"/>
          <p:nvPr>
            <p:ph idx="4294967295" type="body"/>
          </p:nvPr>
        </p:nvSpPr>
        <p:spPr>
          <a:xfrm>
            <a:off x="3411025" y="3454575"/>
            <a:ext cx="4938300" cy="10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0.01 =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0.1 × 0.1 =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Which is the same as dividing by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10\ }\times\frac{1}{10}\ \ \ \ \ \ \frac{1}{100}&quot;&gt;&lt;mfrac&gt;&lt;mn&gt;1&lt;/mn&gt;&lt;mrow&gt;&lt;mn&gt;10&lt;/mn&gt;&lt;mtext&gt;&lt;/mtext&gt;&lt;/mrow&gt;&lt;/mfrac&gt;&lt;mo&gt;×&lt;/mo&gt;&lt;mfrac&gt;&lt;mn&gt;1&lt;/mn&gt;&lt;mn&gt;10&lt;/mn&gt;&lt;/mfrac&gt;&lt;mtext&gt;&lt;/mtext&gt;&lt;mtext&gt;&lt;/mtext&gt;&lt;mtext&gt;&lt;/mtext&gt;&lt;mtext&gt;&lt;/mtext&gt;&lt;mtext&gt;&lt;/mtext&gt;&lt;mtext&gt;&lt;/mtext&gt;&lt;mfrac&gt;&lt;mn&gt;1&lt;/mn&gt;&lt;mn&gt;100&lt;/mn&gt;&lt;/mfrac&gt;&lt;/math&gt;" id="1816" name="Google Shape;1816;p144" title="1 over 10 times one tenth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9929" y="2162367"/>
            <a:ext cx="1675281" cy="48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}\times\frac{1}{10}\ \ \ \ \ \ \frac{1}{100}&quot;&gt;&lt;mfrac&gt;&lt;mn&gt;1&lt;/mn&gt;&lt;mrow&gt;&lt;mn&gt;10&lt;/mn&gt;&lt;mtext&gt;&lt;/mtext&gt;&lt;/mrow&gt;&lt;/mfrac&gt;&lt;mo&gt;×&lt;/mo&gt;&lt;mfrac&gt;&lt;mn&gt;1&lt;/mn&gt;&lt;mn&gt;10&lt;/mn&gt;&lt;/mfrac&gt;&lt;mtext&gt;&lt;/mtext&gt;&lt;mtext&gt;&lt;/mtext&gt;&lt;mtext&gt;&lt;/mtext&gt;&lt;mtext&gt;&lt;/mtext&gt;&lt;mtext&gt;&lt;/mtext&gt;&lt;mtext&gt;&lt;/mtext&gt;&lt;mfrac&gt;&lt;mn&gt;1&lt;/mn&gt;&lt;mn&gt;100&lt;/mn&gt;&lt;/mfrac&gt;&lt;/math&gt;" id="1817" name="Google Shape;1817;p144" title="1 over 10 times one tenth 1 over 100"/>
          <p:cNvPicPr preferRelativeResize="0"/>
          <p:nvPr/>
        </p:nvPicPr>
        <p:blipFill rotWithShape="1">
          <a:blip r:embed="rId4">
            <a:alphaModFix/>
          </a:blip>
          <a:srcRect b="0" l="0" r="76362" t="0"/>
          <a:stretch/>
        </p:blipFill>
        <p:spPr>
          <a:xfrm>
            <a:off x="4099128" y="1675875"/>
            <a:ext cx="396000" cy="484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\ }\times\frac{1}{10}\ \ \ \ \ \ \frac{1}{100}&quot;&gt;&lt;mfrac&gt;&lt;mn&gt;1&lt;/mn&gt;&lt;mrow&gt;&lt;mn&gt;10&lt;/mn&gt;&lt;mtext&gt;&lt;/mtext&gt;&lt;/mrow&gt;&lt;/mfrac&gt;&lt;mo&gt;×&lt;/mo&gt;&lt;mfrac&gt;&lt;mn&gt;1&lt;/mn&gt;&lt;mn&gt;10&lt;/mn&gt;&lt;/mfrac&gt;&lt;mtext&gt;&lt;/mtext&gt;&lt;mtext&gt;&lt;/mtext&gt;&lt;mtext&gt;&lt;/mtext&gt;&lt;mtext&gt;&lt;/mtext&gt;&lt;mtext&gt;&lt;/mtext&gt;&lt;mtext&gt;&lt;/mtext&gt;&lt;mfrac&gt;&lt;mn&gt;1&lt;/mn&gt;&lt;mn&gt;100&lt;/mn&gt;&lt;/mfrac&gt;&lt;/math&gt;" id="1818" name="Google Shape;1818;p144" title="1 over 10 times one tenth 1 over 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0404" y="3331092"/>
            <a:ext cx="1675281" cy="4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52 </a:t>
            </a:r>
            <a:r>
              <a:rPr lang="en-GB"/>
              <a:t>× 318 × 0.0001</a:t>
            </a:r>
            <a:endParaRPr/>
          </a:p>
        </p:txBody>
      </p:sp>
      <p:sp>
        <p:nvSpPr>
          <p:cNvPr id="1824" name="Google Shape;1824;p1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will have the same product as 0.52 × 3.18</a:t>
            </a:r>
            <a:endParaRPr/>
          </a:p>
        </p:txBody>
      </p:sp>
      <p:sp>
        <p:nvSpPr>
          <p:cNvPr id="1825" name="Google Shape;1825;p1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52 × 318 ÷ 1000</a:t>
            </a:r>
            <a:endParaRPr/>
          </a:p>
        </p:txBody>
      </p:sp>
      <p:sp>
        <p:nvSpPr>
          <p:cNvPr id="1826" name="Google Shape;1826;p1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52 </a:t>
            </a:r>
            <a:r>
              <a:rPr lang="en-GB"/>
              <a:t>× 0.01 × 318</a:t>
            </a:r>
            <a:r>
              <a:rPr lang="en-GB"/>
              <a:t> </a:t>
            </a:r>
            <a:r>
              <a:rPr lang="en-GB"/>
              <a:t>× 0.01</a:t>
            </a:r>
            <a:endParaRPr/>
          </a:p>
        </p:txBody>
      </p:sp>
      <p:sp>
        <p:nvSpPr>
          <p:cNvPr id="1827" name="Google Shape;1827;p1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828" name="Google Shape;1828;p145"/>
          <p:cNvSpPr txBox="1"/>
          <p:nvPr/>
        </p:nvSpPr>
        <p:spPr>
          <a:xfrm>
            <a:off x="3532575" y="1770025"/>
            <a:ext cx="3837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know 0.0001 = 0.01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 0.01</a:t>
            </a:r>
            <a:endParaRPr/>
          </a:p>
        </p:txBody>
      </p:sp>
      <p:sp>
        <p:nvSpPr>
          <p:cNvPr id="1829" name="Google Shape;1829;p145"/>
          <p:cNvSpPr txBox="1"/>
          <p:nvPr/>
        </p:nvSpPr>
        <p:spPr>
          <a:xfrm>
            <a:off x="909500" y="2160000"/>
            <a:ext cx="26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52 × 0.01 × 318 × 0.01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0" name="Google Shape;1830;p145"/>
          <p:cNvSpPr txBox="1"/>
          <p:nvPr/>
        </p:nvSpPr>
        <p:spPr>
          <a:xfrm>
            <a:off x="3555325" y="2169248"/>
            <a:ext cx="242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0.52 × 3.18</a:t>
            </a:r>
            <a:endParaRPr/>
          </a:p>
        </p:txBody>
      </p:sp>
      <p:pic>
        <p:nvPicPr>
          <p:cNvPr id="1831" name="Google Shape;1831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3208" y="20619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2" name="Google Shape;1832;p145"/>
          <p:cNvSpPr txBox="1"/>
          <p:nvPr/>
        </p:nvSpPr>
        <p:spPr>
          <a:xfrm>
            <a:off x="3268825" y="2718375"/>
            <a:ext cx="5551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We know ÷ 1000 =         = 0.001</a:t>
            </a:r>
            <a:endParaRPr/>
          </a:p>
        </p:txBody>
      </p:sp>
      <p:sp>
        <p:nvSpPr>
          <p:cNvPr id="1833" name="Google Shape;1833;p145"/>
          <p:cNvSpPr txBox="1"/>
          <p:nvPr/>
        </p:nvSpPr>
        <p:spPr>
          <a:xfrm>
            <a:off x="7063200" y="2718375"/>
            <a:ext cx="1435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0.01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0.1</a:t>
            </a:r>
            <a:endParaRPr/>
          </a:p>
        </p:txBody>
      </p:sp>
      <p:sp>
        <p:nvSpPr>
          <p:cNvPr id="1834" name="Google Shape;1834;p145"/>
          <p:cNvSpPr txBox="1"/>
          <p:nvPr/>
        </p:nvSpPr>
        <p:spPr>
          <a:xfrm>
            <a:off x="960425" y="3116925"/>
            <a:ext cx="2669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52 × 0.01 × 318 × 0.1 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5" name="Google Shape;1835;p145"/>
          <p:cNvSpPr txBox="1"/>
          <p:nvPr/>
        </p:nvSpPr>
        <p:spPr>
          <a:xfrm>
            <a:off x="3369600" y="3101623"/>
            <a:ext cx="242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≠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0.52 × 3.18</a:t>
            </a:r>
            <a:endParaRPr/>
          </a:p>
        </p:txBody>
      </p:sp>
      <p:sp>
        <p:nvSpPr>
          <p:cNvPr id="1836" name="Google Shape;1836;p145"/>
          <p:cNvSpPr txBox="1"/>
          <p:nvPr/>
        </p:nvSpPr>
        <p:spPr>
          <a:xfrm>
            <a:off x="1402700" y="4134373"/>
            <a:ext cx="242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0.52 × 3.18</a:t>
            </a:r>
            <a:endParaRPr/>
          </a:p>
        </p:txBody>
      </p:sp>
      <p:pic>
        <p:nvPicPr>
          <p:cNvPr id="1837" name="Google Shape;1837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5508" y="40646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0}&quot;&gt;&lt;mfrac&gt;&lt;mn&gt;1&lt;/mn&gt;&lt;mn&gt;1000&lt;/mn&gt;&lt;/mfrac&gt;&lt;/math&gt;" id="1838" name="Google Shape;1838;p145" title="1 over 10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1525" y="2729699"/>
            <a:ext cx="582501" cy="57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p146"/>
          <p:cNvSpPr txBox="1"/>
          <p:nvPr>
            <p:ph idx="1" type="body"/>
          </p:nvPr>
        </p:nvSpPr>
        <p:spPr>
          <a:xfrm>
            <a:off x="324000" y="759300"/>
            <a:ext cx="37863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Work out the following:</a:t>
            </a:r>
            <a:endParaRPr/>
          </a:p>
        </p:txBody>
      </p:sp>
      <p:sp>
        <p:nvSpPr>
          <p:cNvPr id="1844" name="Google Shape;1844;p14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845" name="Google Shape;1845;p146"/>
          <p:cNvSpPr txBox="1"/>
          <p:nvPr>
            <p:ph idx="1" type="body"/>
          </p:nvPr>
        </p:nvSpPr>
        <p:spPr>
          <a:xfrm>
            <a:off x="324000" y="1368900"/>
            <a:ext cx="23634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846" name="Google Shape;1846;p146"/>
          <p:cNvSpPr txBox="1"/>
          <p:nvPr>
            <p:ph idx="1" type="body"/>
          </p:nvPr>
        </p:nvSpPr>
        <p:spPr>
          <a:xfrm>
            <a:off x="3390300" y="1368900"/>
            <a:ext cx="5019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cxnSp>
        <p:nvCxnSpPr>
          <p:cNvPr id="1847" name="Google Shape;1847;p146"/>
          <p:cNvCxnSpPr/>
          <p:nvPr/>
        </p:nvCxnSpPr>
        <p:spPr>
          <a:xfrm>
            <a:off x="3307025" y="1368900"/>
            <a:ext cx="11400" cy="3389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8" name="Google Shape;1848;p146"/>
          <p:cNvCxnSpPr/>
          <p:nvPr/>
        </p:nvCxnSpPr>
        <p:spPr>
          <a:xfrm>
            <a:off x="6114500" y="1384800"/>
            <a:ext cx="19800" cy="3389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9" name="Google Shape;1849;p146"/>
          <p:cNvSpPr txBox="1"/>
          <p:nvPr>
            <p:ph idx="1" type="body"/>
          </p:nvPr>
        </p:nvSpPr>
        <p:spPr>
          <a:xfrm>
            <a:off x="6275400" y="1384800"/>
            <a:ext cx="5019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8.3\ \times11&quot;&gt;&lt;mn&gt;8.3&lt;/mn&gt;&lt;mtext&gt;&lt;/mtext&gt;&lt;mo&gt;×&lt;/mo&gt;&lt;mn&gt;11&lt;/mn&gt;&lt;/math&gt;" id="1850" name="Google Shape;1850;p146" title="8.3 times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661" y="1436006"/>
            <a:ext cx="1129125" cy="23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7\times6.4&quot;&gt;&lt;mn&gt;3.7&lt;/mn&gt;&lt;mo&gt;×&lt;/mo&gt;&lt;mn&gt;6.4&lt;/mn&gt;&lt;/math&gt;" id="1851" name="Google Shape;1851;p146" title="3.7 times 6.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69725" y="1436006"/>
            <a:ext cx="1119187" cy="233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 2.1\times1.28\ =\ 2.688&quot;&gt;&lt;mtext&gt;&lt;/mtext&gt;&lt;mn&gt;2.1&lt;/mn&gt;&lt;mo&gt;×&lt;/mo&gt;&lt;mn&gt;1.28&lt;/mn&gt;&lt;mtext&gt;&lt;/mtext&gt;&lt;mo&gt;=&lt;/mo&gt;&lt;mtext&gt;&lt;/mtext&gt;&lt;mn&gt;2.688&lt;/mn&gt;&lt;/math&gt;" id="1852" name="Google Shape;1852;p146" title="2.1 times 1.28 equals 2.688"/>
          <p:cNvPicPr preferRelativeResize="0"/>
          <p:nvPr/>
        </p:nvPicPr>
        <p:blipFill rotWithShape="1">
          <a:blip r:embed="rId5">
            <a:alphaModFix/>
          </a:blip>
          <a:srcRect b="0" l="0" r="45133" t="0"/>
          <a:stretch/>
        </p:blipFill>
        <p:spPr>
          <a:xfrm>
            <a:off x="6629900" y="1457808"/>
            <a:ext cx="1403788" cy="23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7" name="Google Shape;1857;p14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with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47"/>
          <p:cNvSpPr txBox="1"/>
          <p:nvPr/>
        </p:nvSpPr>
        <p:spPr>
          <a:xfrm>
            <a:off x="324000" y="763225"/>
            <a:ext cx="5325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Tick the correct calculations.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147"/>
          <p:cNvSpPr txBox="1"/>
          <p:nvPr/>
        </p:nvSpPr>
        <p:spPr>
          <a:xfrm>
            <a:off x="431400" y="1363025"/>
            <a:ext cx="62568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A:    52.4 × 1.6 = 524 × 16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÷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B:    52.4 × 1.6 = 524 × 16 ÷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C:    52.4 × 1.6 = 524 × 16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0.01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D:    5.24 × 1.6 = 524 × 16 ÷ 1000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E:    0.524 × 1.6 = 524 × 16 ÷ 1000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148"/>
          <p:cNvSpPr txBox="1"/>
          <p:nvPr>
            <p:ph idx="1" type="body"/>
          </p:nvPr>
        </p:nvSpPr>
        <p:spPr>
          <a:xfrm>
            <a:off x="324000" y="759300"/>
            <a:ext cx="8237700" cy="108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Given that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65" name="Google Shape;1865;p1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with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56\ \times12\ =\ 5\ 472&quot;&gt;&lt;mn&gt;456&lt;/mn&gt;&lt;mtext&gt;&lt;/mtext&gt;&lt;mo&gt;×&lt;/mo&gt;&lt;mn&gt;12&lt;/mn&gt;&lt;mtext&gt;&lt;/mtext&gt;&lt;mo&gt;=&lt;/mo&gt;&lt;mtext&gt;&lt;/mtext&gt;&lt;mn&gt;5&lt;/mn&gt;&lt;mtext&gt;&lt;/mtext&gt;&lt;mn&gt;472&lt;/mn&gt;&lt;/math&gt;" id="1866" name="Google Shape;1866;p148" title="456 times 12 equals 5 4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525" y="810000"/>
            <a:ext cx="2596625" cy="2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7" name="Google Shape;1867;p148"/>
          <p:cNvSpPr txBox="1"/>
          <p:nvPr/>
        </p:nvSpPr>
        <p:spPr>
          <a:xfrm>
            <a:off x="687850" y="1742125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45.6 × 12 =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8" name="Google Shape;1868;p148"/>
          <p:cNvSpPr txBox="1"/>
          <p:nvPr/>
        </p:nvSpPr>
        <p:spPr>
          <a:xfrm>
            <a:off x="687850" y="2778038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4.56 × 12 =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9" name="Google Shape;1869;p148"/>
          <p:cNvSpPr txBox="1"/>
          <p:nvPr/>
        </p:nvSpPr>
        <p:spPr>
          <a:xfrm>
            <a:off x="687850" y="3780000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4.56 × 1.2 =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4" name="Google Shape;1874;p149"/>
          <p:cNvGraphicFramePr/>
          <p:nvPr/>
        </p:nvGraphicFramePr>
        <p:xfrm>
          <a:off x="331975" y="17850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466625"/>
                <a:gridCol w="533050"/>
                <a:gridCol w="621650"/>
              </a:tblGrid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75" name="Google Shape;1875;p1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with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149"/>
          <p:cNvSpPr txBox="1"/>
          <p:nvPr>
            <p:ph idx="1" type="body"/>
          </p:nvPr>
        </p:nvSpPr>
        <p:spPr>
          <a:xfrm>
            <a:off x="331975" y="730025"/>
            <a:ext cx="37863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Work out the following:</a:t>
            </a:r>
            <a:endParaRPr/>
          </a:p>
        </p:txBody>
      </p:sp>
      <p:sp>
        <p:nvSpPr>
          <p:cNvPr id="1877" name="Google Shape;1877;p149"/>
          <p:cNvSpPr txBox="1"/>
          <p:nvPr>
            <p:ph idx="1" type="body"/>
          </p:nvPr>
        </p:nvSpPr>
        <p:spPr>
          <a:xfrm>
            <a:off x="331375" y="1140300"/>
            <a:ext cx="23634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878" name="Google Shape;1878;p149"/>
          <p:cNvSpPr txBox="1"/>
          <p:nvPr>
            <p:ph idx="1" type="body"/>
          </p:nvPr>
        </p:nvSpPr>
        <p:spPr>
          <a:xfrm>
            <a:off x="2951144" y="1140300"/>
            <a:ext cx="5019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cxnSp>
        <p:nvCxnSpPr>
          <p:cNvPr id="1879" name="Google Shape;1879;p149"/>
          <p:cNvCxnSpPr/>
          <p:nvPr/>
        </p:nvCxnSpPr>
        <p:spPr>
          <a:xfrm>
            <a:off x="2841375" y="1538634"/>
            <a:ext cx="11400" cy="3187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149"/>
          <p:cNvCxnSpPr/>
          <p:nvPr/>
        </p:nvCxnSpPr>
        <p:spPr>
          <a:xfrm>
            <a:off x="5885900" y="1537200"/>
            <a:ext cx="19800" cy="3187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1" name="Google Shape;1881;p149"/>
          <p:cNvSpPr txBox="1"/>
          <p:nvPr>
            <p:ph idx="1" type="body"/>
          </p:nvPr>
        </p:nvSpPr>
        <p:spPr>
          <a:xfrm>
            <a:off x="5948188" y="1135769"/>
            <a:ext cx="5019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.7\ \times6.4\ =\ 23.68&quot;&gt;&lt;mn&gt;3.7&lt;/mn&gt;&lt;mtext&gt;&lt;/mtext&gt;&lt;mo&gt;×&lt;/mo&gt;&lt;mn&gt;6.4&lt;/mn&gt;&lt;mtext&gt;&lt;/mtext&gt;&lt;mo&gt;=&lt;/mo&gt;&lt;mtext&gt;&lt;/mtext&gt;&lt;mn&gt;23.68&lt;/mn&gt;&lt;/math&gt;" id="1882" name="Google Shape;1882;p149" title="3.7 times 6.4 equals 23.68"/>
          <p:cNvPicPr preferRelativeResize="0"/>
          <p:nvPr/>
        </p:nvPicPr>
        <p:blipFill rotWithShape="1">
          <a:blip r:embed="rId3">
            <a:alphaModFix/>
          </a:blip>
          <a:srcRect b="0" l="0" r="30905" t="0"/>
          <a:stretch/>
        </p:blipFill>
        <p:spPr>
          <a:xfrm>
            <a:off x="3273575" y="1209475"/>
            <a:ext cx="1740876" cy="23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.3\ \times11\ =\ 91.3&quot;&gt;&lt;mn&gt;8.3&lt;/mn&gt;&lt;mtext&gt;&lt;/mtext&gt;&lt;mo&gt;×&lt;/mo&gt;&lt;mn&gt;11&lt;/mn&gt;&lt;mtext&gt;&lt;/mtext&gt;&lt;mo&gt;=&lt;/mo&gt;&lt;mtext&gt;&lt;/mtext&gt;&lt;mn&gt;91.3&lt;/mn&gt;&lt;/math&gt;" id="1883" name="Google Shape;1883;p149" title="8.3 times 11 equals 91.3"/>
          <p:cNvPicPr preferRelativeResize="0"/>
          <p:nvPr/>
        </p:nvPicPr>
        <p:blipFill rotWithShape="1">
          <a:blip r:embed="rId4">
            <a:alphaModFix/>
          </a:blip>
          <a:srcRect b="0" l="0" r="26991" t="0"/>
          <a:stretch/>
        </p:blipFill>
        <p:spPr>
          <a:xfrm>
            <a:off x="771778" y="1218225"/>
            <a:ext cx="1621325" cy="232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4" name="Google Shape;1884;p149"/>
          <p:cNvGraphicFramePr/>
          <p:nvPr/>
        </p:nvGraphicFramePr>
        <p:xfrm>
          <a:off x="2953415" y="18435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528550"/>
                <a:gridCol w="603800"/>
                <a:gridCol w="704150"/>
              </a:tblGrid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 2.1\times1.28\ =\ 2.688&quot;&gt;&lt;mtext&gt;&lt;/mtext&gt;&lt;mn&gt;2.1&lt;/mn&gt;&lt;mo&gt;×&lt;/mo&gt;&lt;mn&gt;1.28&lt;/mn&gt;&lt;mtext&gt;&lt;/mtext&gt;&lt;mo&gt;=&lt;/mo&gt;&lt;mtext&gt;&lt;/mtext&gt;&lt;mn&gt;2.688&lt;/mn&gt;&lt;/math&gt;" id="1885" name="Google Shape;1885;p149" title="2.1 times 1.28 equals 2.688"/>
          <p:cNvPicPr preferRelativeResize="0"/>
          <p:nvPr/>
        </p:nvPicPr>
        <p:blipFill rotWithShape="1">
          <a:blip r:embed="rId5">
            <a:alphaModFix/>
          </a:blip>
          <a:srcRect b="0" l="0" r="45133" t="0"/>
          <a:stretch/>
        </p:blipFill>
        <p:spPr>
          <a:xfrm>
            <a:off x="6264050" y="1210575"/>
            <a:ext cx="1403788" cy="23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149"/>
          <p:cNvSpPr txBox="1"/>
          <p:nvPr/>
        </p:nvSpPr>
        <p:spPr>
          <a:xfrm>
            <a:off x="256200" y="3273500"/>
            <a:ext cx="2136900" cy="1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8.3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 11 =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83 × 0.1 ×  11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83 × 11 × 0.1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887" name="Google Shape;1887;p149"/>
          <p:cNvGrpSpPr/>
          <p:nvPr/>
        </p:nvGrpSpPr>
        <p:grpSpPr>
          <a:xfrm>
            <a:off x="2022525" y="1632600"/>
            <a:ext cx="947101" cy="1982803"/>
            <a:chOff x="2022525" y="1632600"/>
            <a:chExt cx="947101" cy="1982803"/>
          </a:xfrm>
        </p:grpSpPr>
        <p:sp>
          <p:nvSpPr>
            <p:cNvPr id="1888" name="Google Shape;1888;p149"/>
            <p:cNvSpPr txBox="1"/>
            <p:nvPr/>
          </p:nvSpPr>
          <p:spPr>
            <a:xfrm>
              <a:off x="2022525" y="1632600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800 </a:t>
              </a:r>
              <a:endParaRPr sz="1900"/>
            </a:p>
          </p:txBody>
        </p:sp>
        <p:sp>
          <p:nvSpPr>
            <p:cNvPr id="1889" name="Google Shape;1889;p149"/>
            <p:cNvSpPr txBox="1"/>
            <p:nvPr/>
          </p:nvSpPr>
          <p:spPr>
            <a:xfrm>
              <a:off x="2040590" y="1895352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30 </a:t>
              </a:r>
              <a:endParaRPr sz="1900"/>
            </a:p>
          </p:txBody>
        </p:sp>
        <p:sp>
          <p:nvSpPr>
            <p:cNvPr id="1890" name="Google Shape;1890;p149"/>
            <p:cNvSpPr txBox="1"/>
            <p:nvPr/>
          </p:nvSpPr>
          <p:spPr>
            <a:xfrm>
              <a:off x="2130526" y="2167792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80 </a:t>
              </a:r>
              <a:endParaRPr sz="1900"/>
            </a:p>
          </p:txBody>
        </p:sp>
        <p:sp>
          <p:nvSpPr>
            <p:cNvPr id="1891" name="Google Shape;1891;p149"/>
            <p:cNvSpPr txBox="1"/>
            <p:nvPr/>
          </p:nvSpPr>
          <p:spPr>
            <a:xfrm>
              <a:off x="2121540" y="2480350"/>
              <a:ext cx="74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+3</a:t>
              </a:r>
              <a:endParaRPr sz="1900"/>
            </a:p>
          </p:txBody>
        </p:sp>
        <p:cxnSp>
          <p:nvCxnSpPr>
            <p:cNvPr id="1892" name="Google Shape;1892;p149"/>
            <p:cNvCxnSpPr/>
            <p:nvPr/>
          </p:nvCxnSpPr>
          <p:spPr>
            <a:xfrm>
              <a:off x="2123025" y="2953250"/>
              <a:ext cx="550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93" name="Google Shape;1893;p149"/>
            <p:cNvCxnSpPr/>
            <p:nvPr/>
          </p:nvCxnSpPr>
          <p:spPr>
            <a:xfrm>
              <a:off x="2123025" y="3296150"/>
              <a:ext cx="550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94" name="Google Shape;1894;p149"/>
            <p:cNvSpPr txBox="1"/>
            <p:nvPr/>
          </p:nvSpPr>
          <p:spPr>
            <a:xfrm>
              <a:off x="2047138" y="2842542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913 </a:t>
              </a:r>
              <a:endParaRPr sz="1900"/>
            </a:p>
          </p:txBody>
        </p:sp>
        <p:sp>
          <p:nvSpPr>
            <p:cNvPr id="1895" name="Google Shape;1895;p149"/>
            <p:cNvSpPr txBox="1"/>
            <p:nvPr/>
          </p:nvSpPr>
          <p:spPr>
            <a:xfrm>
              <a:off x="2076525" y="3153703"/>
              <a:ext cx="839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 </a:t>
              </a:r>
              <a:endParaRPr sz="1800"/>
            </a:p>
          </p:txBody>
        </p:sp>
      </p:grpSp>
      <p:sp>
        <p:nvSpPr>
          <p:cNvPr id="1896" name="Google Shape;1896;p149"/>
          <p:cNvSpPr txBox="1"/>
          <p:nvPr/>
        </p:nvSpPr>
        <p:spPr>
          <a:xfrm>
            <a:off x="184800" y="421841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913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0.1 = 91.3</a:t>
            </a:r>
            <a:endParaRPr/>
          </a:p>
        </p:txBody>
      </p:sp>
      <p:graphicFrame>
        <p:nvGraphicFramePr>
          <p:cNvPr id="1897" name="Google Shape;1897;p149"/>
          <p:cNvGraphicFramePr/>
          <p:nvPr/>
        </p:nvGraphicFramePr>
        <p:xfrm>
          <a:off x="2960081" y="18562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528550"/>
                <a:gridCol w="603800"/>
                <a:gridCol w="704150"/>
              </a:tblGrid>
              <a:tr h="35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latin typeface="Kalam"/>
                          <a:ea typeface="Kalam"/>
                          <a:cs typeface="Kalam"/>
                          <a:sym typeface="Kalam"/>
                        </a:rPr>
                        <a:t>1800</a:t>
                      </a:r>
                      <a:endParaRPr sz="17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25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898" name="Google Shape;1898;p149"/>
          <p:cNvSpPr txBox="1"/>
          <p:nvPr/>
        </p:nvSpPr>
        <p:spPr>
          <a:xfrm>
            <a:off x="722400" y="2216775"/>
            <a:ext cx="67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800 </a:t>
            </a:r>
            <a:endParaRPr/>
          </a:p>
        </p:txBody>
      </p:sp>
      <p:sp>
        <p:nvSpPr>
          <p:cNvPr id="1899" name="Google Shape;1899;p149"/>
          <p:cNvSpPr txBox="1"/>
          <p:nvPr/>
        </p:nvSpPr>
        <p:spPr>
          <a:xfrm>
            <a:off x="1255800" y="2216775"/>
            <a:ext cx="67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30 </a:t>
            </a:r>
            <a:endParaRPr/>
          </a:p>
        </p:txBody>
      </p:sp>
      <p:sp>
        <p:nvSpPr>
          <p:cNvPr id="1900" name="Google Shape;1900;p149"/>
          <p:cNvSpPr txBox="1"/>
          <p:nvPr/>
        </p:nvSpPr>
        <p:spPr>
          <a:xfrm>
            <a:off x="898325" y="2699300"/>
            <a:ext cx="6717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 </a:t>
            </a:r>
            <a:endParaRPr/>
          </a:p>
        </p:txBody>
      </p:sp>
      <p:sp>
        <p:nvSpPr>
          <p:cNvPr id="1901" name="Google Shape;1901;p149"/>
          <p:cNvSpPr txBox="1"/>
          <p:nvPr/>
        </p:nvSpPr>
        <p:spPr>
          <a:xfrm>
            <a:off x="1387200" y="2699300"/>
            <a:ext cx="501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/>
          </a:p>
        </p:txBody>
      </p:sp>
      <p:sp>
        <p:nvSpPr>
          <p:cNvPr id="1902" name="Google Shape;1902;p149"/>
          <p:cNvSpPr txBox="1"/>
          <p:nvPr/>
        </p:nvSpPr>
        <p:spPr>
          <a:xfrm>
            <a:off x="2913952" y="3273500"/>
            <a:ext cx="2670600" cy="1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3.7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6.4 =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 × 0.1 × 64 × 0.1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37 × 64 × 0.01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3" name="Google Shape;1903;p149"/>
          <p:cNvSpPr txBox="1"/>
          <p:nvPr/>
        </p:nvSpPr>
        <p:spPr>
          <a:xfrm>
            <a:off x="2861048" y="425540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2368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0.01 = 23.68</a:t>
            </a:r>
            <a:endParaRPr/>
          </a:p>
        </p:txBody>
      </p:sp>
      <p:grpSp>
        <p:nvGrpSpPr>
          <p:cNvPr id="1904" name="Google Shape;1904;p149"/>
          <p:cNvGrpSpPr/>
          <p:nvPr/>
        </p:nvGrpSpPr>
        <p:grpSpPr>
          <a:xfrm>
            <a:off x="4798600" y="1537200"/>
            <a:ext cx="1200942" cy="1982800"/>
            <a:chOff x="4798600" y="1537200"/>
            <a:chExt cx="1200942" cy="1982800"/>
          </a:xfrm>
        </p:grpSpPr>
        <p:sp>
          <p:nvSpPr>
            <p:cNvPr id="1905" name="Google Shape;1905;p149"/>
            <p:cNvSpPr txBox="1"/>
            <p:nvPr/>
          </p:nvSpPr>
          <p:spPr>
            <a:xfrm>
              <a:off x="4798600" y="2752601"/>
              <a:ext cx="1041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2368 </a:t>
              </a:r>
              <a:endParaRPr sz="1900"/>
            </a:p>
          </p:txBody>
        </p:sp>
        <p:sp>
          <p:nvSpPr>
            <p:cNvPr id="1906" name="Google Shape;1906;p149"/>
            <p:cNvSpPr txBox="1"/>
            <p:nvPr/>
          </p:nvSpPr>
          <p:spPr>
            <a:xfrm>
              <a:off x="4955545" y="1537200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18</a:t>
              </a: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00 </a:t>
              </a:r>
              <a:endParaRPr sz="1900"/>
            </a:p>
          </p:txBody>
        </p:sp>
        <p:sp>
          <p:nvSpPr>
            <p:cNvPr id="1907" name="Google Shape;1907;p149"/>
            <p:cNvSpPr txBox="1"/>
            <p:nvPr/>
          </p:nvSpPr>
          <p:spPr>
            <a:xfrm>
              <a:off x="5022067" y="1799952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42</a:t>
              </a: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 </a:t>
              </a:r>
              <a:endParaRPr sz="1900"/>
            </a:p>
          </p:txBody>
        </p:sp>
        <p:sp>
          <p:nvSpPr>
            <p:cNvPr id="1908" name="Google Shape;1908;p149"/>
            <p:cNvSpPr txBox="1"/>
            <p:nvPr/>
          </p:nvSpPr>
          <p:spPr>
            <a:xfrm>
              <a:off x="5091288" y="2072392"/>
              <a:ext cx="8391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12</a:t>
              </a: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0 </a:t>
              </a:r>
              <a:endParaRPr sz="1900"/>
            </a:p>
          </p:txBody>
        </p:sp>
        <p:sp>
          <p:nvSpPr>
            <p:cNvPr id="1909" name="Google Shape;1909;p149"/>
            <p:cNvSpPr txBox="1"/>
            <p:nvPr/>
          </p:nvSpPr>
          <p:spPr>
            <a:xfrm>
              <a:off x="4957642" y="2384950"/>
              <a:ext cx="1041900" cy="58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6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+28</a:t>
              </a:r>
              <a:endParaRPr sz="1900"/>
            </a:p>
          </p:txBody>
        </p:sp>
        <p:cxnSp>
          <p:nvCxnSpPr>
            <p:cNvPr id="1910" name="Google Shape;1910;p149"/>
            <p:cNvCxnSpPr/>
            <p:nvPr/>
          </p:nvCxnSpPr>
          <p:spPr>
            <a:xfrm>
              <a:off x="4896094" y="2857850"/>
              <a:ext cx="733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11" name="Google Shape;1911;p149"/>
            <p:cNvCxnSpPr/>
            <p:nvPr/>
          </p:nvCxnSpPr>
          <p:spPr>
            <a:xfrm>
              <a:off x="4926025" y="3200750"/>
              <a:ext cx="784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12" name="Google Shape;1912;p149"/>
            <p:cNvSpPr txBox="1"/>
            <p:nvPr/>
          </p:nvSpPr>
          <p:spPr>
            <a:xfrm>
              <a:off x="5042240" y="3058300"/>
              <a:ext cx="24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 </a:t>
              </a:r>
              <a:endParaRPr sz="1800"/>
            </a:p>
          </p:txBody>
        </p:sp>
        <p:sp>
          <p:nvSpPr>
            <p:cNvPr id="1913" name="Google Shape;1913;p149"/>
            <p:cNvSpPr txBox="1"/>
            <p:nvPr/>
          </p:nvSpPr>
          <p:spPr>
            <a:xfrm>
              <a:off x="4861817" y="3058300"/>
              <a:ext cx="285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1 </a:t>
              </a:r>
              <a:endParaRPr sz="1800"/>
            </a:p>
          </p:txBody>
        </p:sp>
      </p:grpSp>
      <p:graphicFrame>
        <p:nvGraphicFramePr>
          <p:cNvPr id="1914" name="Google Shape;1914;p149"/>
          <p:cNvGraphicFramePr/>
          <p:nvPr/>
        </p:nvGraphicFramePr>
        <p:xfrm>
          <a:off x="5951088" y="1687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720975"/>
                <a:gridCol w="671550"/>
                <a:gridCol w="541725"/>
              </a:tblGrid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17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5" name="Google Shape;1915;p149"/>
          <p:cNvGraphicFramePr/>
          <p:nvPr/>
        </p:nvGraphicFramePr>
        <p:xfrm>
          <a:off x="5942413" y="16650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720975"/>
                <a:gridCol w="671550"/>
                <a:gridCol w="541725"/>
              </a:tblGrid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✕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</a:tr>
              <a:tr h="172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00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301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7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7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160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916" name="Google Shape;1916;p149"/>
          <p:cNvSpPr txBox="1"/>
          <p:nvPr/>
        </p:nvSpPr>
        <p:spPr>
          <a:xfrm>
            <a:off x="6012100" y="3515425"/>
            <a:ext cx="2947200" cy="11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× 0.1 × 128 × 0.01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21 × 128 × 0.001 =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7" name="Google Shape;1917;p149"/>
          <p:cNvSpPr txBox="1"/>
          <p:nvPr/>
        </p:nvSpPr>
        <p:spPr>
          <a:xfrm>
            <a:off x="5930548" y="421213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2688 × 0.001 = 2.688</a:t>
            </a:r>
            <a:endParaRPr/>
          </a:p>
        </p:txBody>
      </p:sp>
      <p:grpSp>
        <p:nvGrpSpPr>
          <p:cNvPr id="1918" name="Google Shape;1918;p149"/>
          <p:cNvGrpSpPr/>
          <p:nvPr/>
        </p:nvGrpSpPr>
        <p:grpSpPr>
          <a:xfrm>
            <a:off x="7913400" y="1351750"/>
            <a:ext cx="1311457" cy="2241249"/>
            <a:chOff x="7913400" y="1351750"/>
            <a:chExt cx="1311457" cy="2241249"/>
          </a:xfrm>
        </p:grpSpPr>
        <p:cxnSp>
          <p:nvCxnSpPr>
            <p:cNvPr id="1919" name="Google Shape;1919;p149"/>
            <p:cNvCxnSpPr/>
            <p:nvPr/>
          </p:nvCxnSpPr>
          <p:spPr>
            <a:xfrm>
              <a:off x="8040825" y="3456148"/>
              <a:ext cx="7842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20" name="Google Shape;1920;p149"/>
            <p:cNvGrpSpPr/>
            <p:nvPr/>
          </p:nvGrpSpPr>
          <p:grpSpPr>
            <a:xfrm>
              <a:off x="7913400" y="1351750"/>
              <a:ext cx="1311457" cy="2241249"/>
              <a:chOff x="7913400" y="1351750"/>
              <a:chExt cx="1311457" cy="2241249"/>
            </a:xfrm>
          </p:grpSpPr>
          <p:sp>
            <p:nvSpPr>
              <p:cNvPr id="1921" name="Google Shape;1921;p149"/>
              <p:cNvSpPr txBox="1"/>
              <p:nvPr/>
            </p:nvSpPr>
            <p:spPr>
              <a:xfrm>
                <a:off x="7913400" y="3007999"/>
                <a:ext cx="10419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2688 </a:t>
                </a:r>
                <a:endParaRPr sz="1900"/>
              </a:p>
            </p:txBody>
          </p:sp>
          <p:sp>
            <p:nvSpPr>
              <p:cNvPr id="1922" name="Google Shape;1922;p149"/>
              <p:cNvSpPr txBox="1"/>
              <p:nvPr/>
            </p:nvSpPr>
            <p:spPr>
              <a:xfrm>
                <a:off x="8051857" y="1351750"/>
                <a:ext cx="11730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2000 </a:t>
                </a:r>
                <a:endParaRPr sz="1900"/>
              </a:p>
            </p:txBody>
          </p:sp>
          <p:sp>
            <p:nvSpPr>
              <p:cNvPr id="1923" name="Google Shape;1923;p149"/>
              <p:cNvSpPr txBox="1"/>
              <p:nvPr/>
            </p:nvSpPr>
            <p:spPr>
              <a:xfrm>
                <a:off x="8289267" y="1614502"/>
                <a:ext cx="8391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100 </a:t>
                </a:r>
                <a:endParaRPr sz="1900"/>
              </a:p>
            </p:txBody>
          </p:sp>
          <p:sp>
            <p:nvSpPr>
              <p:cNvPr id="1924" name="Google Shape;1924;p149"/>
              <p:cNvSpPr txBox="1"/>
              <p:nvPr/>
            </p:nvSpPr>
            <p:spPr>
              <a:xfrm>
                <a:off x="8181560" y="1886942"/>
                <a:ext cx="8391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4</a:t>
                </a: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00 </a:t>
                </a:r>
                <a:endParaRPr sz="1900"/>
              </a:p>
            </p:txBody>
          </p:sp>
          <p:sp>
            <p:nvSpPr>
              <p:cNvPr id="1925" name="Google Shape;1925;p149"/>
              <p:cNvSpPr txBox="1"/>
              <p:nvPr/>
            </p:nvSpPr>
            <p:spPr>
              <a:xfrm>
                <a:off x="8141938" y="2664876"/>
                <a:ext cx="10419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+ 8</a:t>
                </a:r>
                <a:endParaRPr sz="1900"/>
              </a:p>
            </p:txBody>
          </p:sp>
          <p:cxnSp>
            <p:nvCxnSpPr>
              <p:cNvPr id="1926" name="Google Shape;1926;p149"/>
              <p:cNvCxnSpPr/>
              <p:nvPr/>
            </p:nvCxnSpPr>
            <p:spPr>
              <a:xfrm>
                <a:off x="8010894" y="3113248"/>
                <a:ext cx="7335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27" name="Google Shape;1927;p149"/>
              <p:cNvSpPr txBox="1"/>
              <p:nvPr/>
            </p:nvSpPr>
            <p:spPr>
              <a:xfrm>
                <a:off x="8257486" y="2412166"/>
                <a:ext cx="8391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160 </a:t>
                </a:r>
                <a:endParaRPr sz="1900"/>
              </a:p>
            </p:txBody>
          </p:sp>
          <p:sp>
            <p:nvSpPr>
              <p:cNvPr id="1928" name="Google Shape;1928;p149"/>
              <p:cNvSpPr txBox="1"/>
              <p:nvPr/>
            </p:nvSpPr>
            <p:spPr>
              <a:xfrm>
                <a:off x="8343791" y="2157166"/>
                <a:ext cx="839100" cy="58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600">
                    <a:solidFill>
                      <a:schemeClr val="dk1"/>
                    </a:solidFill>
                    <a:latin typeface="Kalam"/>
                    <a:ea typeface="Kalam"/>
                    <a:cs typeface="Kalam"/>
                    <a:sym typeface="Kalam"/>
                  </a:rPr>
                  <a:t>20 </a:t>
                </a:r>
                <a:endParaRPr sz="1900"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p1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34" name="Google Shape;1934;p150"/>
          <p:cNvSpPr txBox="1"/>
          <p:nvPr/>
        </p:nvSpPr>
        <p:spPr>
          <a:xfrm>
            <a:off x="324000" y="763225"/>
            <a:ext cx="5325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2) Tick the correct calculations.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5" name="Google Shape;1935;p150"/>
          <p:cNvSpPr txBox="1"/>
          <p:nvPr/>
        </p:nvSpPr>
        <p:spPr>
          <a:xfrm>
            <a:off x="431400" y="1363025"/>
            <a:ext cx="6256800" cy="269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A:    52.4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1.6 = 524 × 16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100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B:    52.4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1.6 = 524 × 16 ÷ 10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C:    52.4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1.6 = 524 × 16 × 0.01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D:    5.24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1.6 = 524 × 16 ÷ 1000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6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E:    0.524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1.6 = 524 × 16 ÷ 1000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36" name="Google Shape;1936;p150"/>
          <p:cNvPicPr preferRelativeResize="0"/>
          <p:nvPr/>
        </p:nvPicPr>
        <p:blipFill rotWithShape="1">
          <a:blip r:embed="rId3">
            <a:alphaModFix/>
          </a:blip>
          <a:srcRect b="-12989" l="-10470" r="10469" t="12990"/>
          <a:stretch/>
        </p:blipFill>
        <p:spPr>
          <a:xfrm>
            <a:off x="4626008" y="25018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7" name="Google Shape;1937;p150"/>
          <p:cNvPicPr preferRelativeResize="0"/>
          <p:nvPr/>
        </p:nvPicPr>
        <p:blipFill rotWithShape="1">
          <a:blip r:embed="rId3">
            <a:alphaModFix/>
          </a:blip>
          <a:srcRect b="-12989" l="-10470" r="10469" t="12990"/>
          <a:stretch/>
        </p:blipFill>
        <p:spPr>
          <a:xfrm>
            <a:off x="4799683" y="2977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8" name="Google Shape;1938;p150"/>
          <p:cNvPicPr preferRelativeResize="0"/>
          <p:nvPr/>
        </p:nvPicPr>
        <p:blipFill rotWithShape="1">
          <a:blip r:embed="rId3">
            <a:alphaModFix/>
          </a:blip>
          <a:srcRect b="-12989" l="-10470" r="10469" t="12990"/>
          <a:stretch/>
        </p:blipFill>
        <p:spPr>
          <a:xfrm>
            <a:off x="4626008" y="14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2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3" name="Google Shape;1943;p1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151"/>
          <p:cNvSpPr txBox="1"/>
          <p:nvPr>
            <p:ph idx="1" type="body"/>
          </p:nvPr>
        </p:nvSpPr>
        <p:spPr>
          <a:xfrm>
            <a:off x="324000" y="759300"/>
            <a:ext cx="8237700" cy="57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</a:t>
            </a:r>
            <a:r>
              <a:rPr lang="en-GB"/>
              <a:t>Given that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456\ \times12\ =\ 5\ 472&quot;&gt;&lt;mn&gt;456&lt;/mn&gt;&lt;mtext&gt;&lt;/mtext&gt;&lt;mo&gt;×&lt;/mo&gt;&lt;mn&gt;12&lt;/mn&gt;&lt;mtext&gt;&lt;/mtext&gt;&lt;mo&gt;=&lt;/mo&gt;&lt;mtext&gt;&lt;/mtext&gt;&lt;mn&gt;5&lt;/mn&gt;&lt;mtext&gt;&lt;/mtext&gt;&lt;mn&gt;472&lt;/mn&gt;&lt;/math&gt;" id="1945" name="Google Shape;1945;p151" title="456 times 12 equals 5 4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5625" y="810000"/>
            <a:ext cx="2743751" cy="2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6" name="Google Shape;1946;p151"/>
          <p:cNvSpPr txBox="1"/>
          <p:nvPr/>
        </p:nvSpPr>
        <p:spPr>
          <a:xfrm>
            <a:off x="4788900" y="1692750"/>
            <a:ext cx="39054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 456 × 0.1 × 12 = 547.2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7" name="Google Shape;1947;p151"/>
          <p:cNvSpPr txBox="1"/>
          <p:nvPr/>
        </p:nvSpPr>
        <p:spPr>
          <a:xfrm>
            <a:off x="4788900" y="2625650"/>
            <a:ext cx="39054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 456 × 0.01 × 12 = 54.72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8" name="Google Shape;1948;p151"/>
          <p:cNvSpPr txBox="1"/>
          <p:nvPr/>
        </p:nvSpPr>
        <p:spPr>
          <a:xfrm>
            <a:off x="4824000" y="3558538"/>
            <a:ext cx="4385100" cy="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We know 456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12 = 5472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So 456 × 0.01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12 × 0.1 = 5.472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9" name="Google Shape;1949;p151"/>
          <p:cNvSpPr txBox="1"/>
          <p:nvPr/>
        </p:nvSpPr>
        <p:spPr>
          <a:xfrm>
            <a:off x="731675" y="1905763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45.6 × 12 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547.2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0" name="Google Shape;1950;p151"/>
          <p:cNvSpPr txBox="1"/>
          <p:nvPr/>
        </p:nvSpPr>
        <p:spPr>
          <a:xfrm>
            <a:off x="731675" y="2865475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4.56 × 12 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54.72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1" name="Google Shape;1951;p151"/>
          <p:cNvSpPr txBox="1"/>
          <p:nvPr/>
        </p:nvSpPr>
        <p:spPr>
          <a:xfrm>
            <a:off x="731675" y="3791238"/>
            <a:ext cx="3409800" cy="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4.56 × 1.2 =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5.472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52" name="Google Shape;1952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3775" y="1897700"/>
            <a:ext cx="689974" cy="43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" name="Google Shape;1953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3775" y="2844475"/>
            <a:ext cx="689974" cy="43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1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900" y="3825175"/>
            <a:ext cx="689974" cy="436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8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15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1960" name="Google Shape;1960;p15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1961" name="Google Shape;1961;p15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pic>
        <p:nvPicPr>
          <p:cNvPr id="1962" name="Google Shape;1962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95" y="298500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6" name="Shape 1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7" name="Google Shape;1967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1968" name="Google Shape;1968;p153"/>
          <p:cNvSpPr txBox="1"/>
          <p:nvPr/>
        </p:nvSpPr>
        <p:spPr>
          <a:xfrm>
            <a:off x="324001" y="7261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Sometimes we know there is an error by simply looking at the reasonableness of the answer.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9" name="Google Shape;1969;p153"/>
          <p:cNvSpPr txBox="1"/>
          <p:nvPr/>
        </p:nvSpPr>
        <p:spPr>
          <a:xfrm>
            <a:off x="324001" y="16405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important to understand the context of the question and reflect on the reasonableness of an obtained answer.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70" name="Google Shape;1970;p153"/>
          <p:cNvGrpSpPr/>
          <p:nvPr/>
        </p:nvGrpSpPr>
        <p:grpSpPr>
          <a:xfrm>
            <a:off x="1085995" y="2676600"/>
            <a:ext cx="3864279" cy="1944698"/>
            <a:chOff x="1085995" y="2676600"/>
            <a:chExt cx="3864279" cy="1944698"/>
          </a:xfrm>
        </p:grpSpPr>
        <p:sp>
          <p:nvSpPr>
            <p:cNvPr id="1971" name="Google Shape;1971;p153"/>
            <p:cNvSpPr txBox="1"/>
            <p:nvPr/>
          </p:nvSpPr>
          <p:spPr>
            <a:xfrm>
              <a:off x="1086001" y="2682750"/>
              <a:ext cx="12132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Example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72" name="Google Shape;1972;p15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5995" y="3087950"/>
              <a:ext cx="1566176" cy="15333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3" name="Google Shape;1973;p153"/>
            <p:cNvSpPr txBox="1"/>
            <p:nvPr/>
          </p:nvSpPr>
          <p:spPr>
            <a:xfrm>
              <a:off x="2657074" y="2676600"/>
              <a:ext cx="22932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Which weight is an 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appropriate</a:t>
              </a: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weight for a cat?</a:t>
              </a:r>
              <a:endPara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4" name="Google Shape;1974;p153"/>
          <p:cNvGrpSpPr/>
          <p:nvPr/>
        </p:nvGrpSpPr>
        <p:grpSpPr>
          <a:xfrm>
            <a:off x="5713216" y="3240000"/>
            <a:ext cx="457200" cy="457200"/>
            <a:chOff x="1020916" y="1442088"/>
            <a:chExt cx="457200" cy="457200"/>
          </a:xfrm>
        </p:grpSpPr>
        <p:pic>
          <p:nvPicPr>
            <p:cNvPr id="1975" name="Google Shape;1975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6" name="Google Shape;1976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77" name="Google Shape;1977;p153"/>
          <p:cNvGrpSpPr/>
          <p:nvPr/>
        </p:nvGrpSpPr>
        <p:grpSpPr>
          <a:xfrm>
            <a:off x="6984816" y="3240000"/>
            <a:ext cx="457200" cy="457200"/>
            <a:chOff x="1020916" y="1442088"/>
            <a:chExt cx="457200" cy="457200"/>
          </a:xfrm>
        </p:grpSpPr>
        <p:pic>
          <p:nvPicPr>
            <p:cNvPr id="1978" name="Google Shape;1978;p1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9" name="Google Shape;1979;p1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80" name="Google Shape;1980;p153"/>
          <p:cNvSpPr txBox="1"/>
          <p:nvPr/>
        </p:nvSpPr>
        <p:spPr>
          <a:xfrm>
            <a:off x="5622000" y="2852400"/>
            <a:ext cx="789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4.2 kg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1" name="Google Shape;1981;p153"/>
          <p:cNvSpPr txBox="1"/>
          <p:nvPr/>
        </p:nvSpPr>
        <p:spPr>
          <a:xfrm>
            <a:off x="6917400" y="2852400"/>
            <a:ext cx="7896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 kg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82" name="Google Shape;1982;p1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3833" y="36972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1988" name="Google Shape;1988;p154"/>
          <p:cNvSpPr txBox="1"/>
          <p:nvPr/>
        </p:nvSpPr>
        <p:spPr>
          <a:xfrm>
            <a:off x="324001" y="7261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Sometimes we know there is an error by simply looking at the reasonableness of the answer.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9" name="Google Shape;1989;p154"/>
          <p:cNvSpPr txBox="1"/>
          <p:nvPr/>
        </p:nvSpPr>
        <p:spPr>
          <a:xfrm>
            <a:off x="324001" y="16405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 is important to understand the context of the question and reflect on the reasonableness of an obtained answer.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0" name="Google Shape;1990;p154"/>
          <p:cNvSpPr txBox="1"/>
          <p:nvPr/>
        </p:nvSpPr>
        <p:spPr>
          <a:xfrm>
            <a:off x="1086001" y="2682750"/>
            <a:ext cx="1213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1" name="Google Shape;1991;p154"/>
          <p:cNvSpPr txBox="1"/>
          <p:nvPr/>
        </p:nvSpPr>
        <p:spPr>
          <a:xfrm>
            <a:off x="2885674" y="2676600"/>
            <a:ext cx="2293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is the correct answer to the calculation?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92" name="Google Shape;1992;p154"/>
          <p:cNvGrpSpPr/>
          <p:nvPr/>
        </p:nvGrpSpPr>
        <p:grpSpPr>
          <a:xfrm>
            <a:off x="5789416" y="3468600"/>
            <a:ext cx="457200" cy="457200"/>
            <a:chOff x="1020916" y="1442088"/>
            <a:chExt cx="457200" cy="457200"/>
          </a:xfrm>
        </p:grpSpPr>
        <p:pic>
          <p:nvPicPr>
            <p:cNvPr id="1993" name="Google Shape;1993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4" name="Google Shape;1994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95" name="Google Shape;1995;p154"/>
          <p:cNvGrpSpPr/>
          <p:nvPr/>
        </p:nvGrpSpPr>
        <p:grpSpPr>
          <a:xfrm>
            <a:off x="7594416" y="3468600"/>
            <a:ext cx="457200" cy="457200"/>
            <a:chOff x="1020916" y="1442088"/>
            <a:chExt cx="457200" cy="457200"/>
          </a:xfrm>
        </p:grpSpPr>
        <p:pic>
          <p:nvPicPr>
            <p:cNvPr id="1996" name="Google Shape;1996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7" name="Google Shape;1997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5.2\ \times3.7&quot;&gt;&lt;mn&gt;5.2&lt;/mn&gt;&lt;mtext&gt;&lt;/mtext&gt;&lt;mo&gt;×&lt;/mo&gt;&lt;mn&gt;3.7&lt;/mn&gt;&lt;/math&gt;" id="1998" name="Google Shape;1998;p154" title="5.2 times 3.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4735" y="3240000"/>
            <a:ext cx="1515725" cy="2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9.24&quot;&gt;&lt;mn&gt;19.24&lt;/mn&gt;&lt;/math&gt;" id="1999" name="Google Shape;1999;p154" title="19.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6877" y="3108514"/>
            <a:ext cx="802323" cy="2838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92.4&quot;&gt;&lt;mn&gt;192.4&lt;/mn&gt;&lt;/math&gt;" id="2000" name="Google Shape;2000;p154" title="192.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16863" y="3108525"/>
            <a:ext cx="802323" cy="283886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54"/>
          <p:cNvSpPr txBox="1"/>
          <p:nvPr/>
        </p:nvSpPr>
        <p:spPr>
          <a:xfrm>
            <a:off x="2885674" y="3819600"/>
            <a:ext cx="2293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your reasoning.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5" name="Shape 2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6" name="Google Shape;2006;p155"/>
          <p:cNvSpPr txBox="1"/>
          <p:nvPr/>
        </p:nvSpPr>
        <p:spPr>
          <a:xfrm>
            <a:off x="469501" y="2959563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Thinking about place value, one answer has a digit in the hundreds place and the highest place value of option b is tens.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7" name="Google Shape;2007;p155"/>
          <p:cNvSpPr txBox="1"/>
          <p:nvPr/>
        </p:nvSpPr>
        <p:spPr>
          <a:xfrm>
            <a:off x="469501" y="3873963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Given that we are multiplying numbers that have the highest place value of 5 ones and 3 ones, the answer can’t be in the hundreds.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008" name="Google Shape;2008;p1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8833" y="2097000"/>
            <a:ext cx="396000" cy="41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9" name="Google Shape;2009;p155"/>
          <p:cNvGrpSpPr/>
          <p:nvPr/>
        </p:nvGrpSpPr>
        <p:grpSpPr>
          <a:xfrm>
            <a:off x="934735" y="771600"/>
            <a:ext cx="7274465" cy="1249200"/>
            <a:chOff x="934735" y="2676600"/>
            <a:chExt cx="7274465" cy="1249200"/>
          </a:xfrm>
        </p:grpSpPr>
        <p:grpSp>
          <p:nvGrpSpPr>
            <p:cNvPr id="2010" name="Google Shape;2010;p155"/>
            <p:cNvGrpSpPr/>
            <p:nvPr/>
          </p:nvGrpSpPr>
          <p:grpSpPr>
            <a:xfrm>
              <a:off x="934735" y="2676600"/>
              <a:ext cx="4244140" cy="859150"/>
              <a:chOff x="934735" y="2676600"/>
              <a:chExt cx="4244140" cy="859150"/>
            </a:xfrm>
          </p:grpSpPr>
          <p:sp>
            <p:nvSpPr>
              <p:cNvPr id="2011" name="Google Shape;2011;p155"/>
              <p:cNvSpPr txBox="1"/>
              <p:nvPr/>
            </p:nvSpPr>
            <p:spPr>
              <a:xfrm>
                <a:off x="1086001" y="2682750"/>
                <a:ext cx="1213200" cy="48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Example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2" name="Google Shape;2012;p155"/>
              <p:cNvSpPr txBox="1"/>
              <p:nvPr/>
            </p:nvSpPr>
            <p:spPr>
              <a:xfrm>
                <a:off x="2885674" y="2676600"/>
                <a:ext cx="2293200" cy="48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-GB" sz="2000">
                    <a:solidFill>
                      <a:schemeClr val="dk1"/>
                    </a:solidFill>
                    <a:latin typeface="Lexend"/>
                    <a:ea typeface="Lexend"/>
                    <a:cs typeface="Lexend"/>
                    <a:sym typeface="Lexend"/>
                  </a:rPr>
                  <a:t>Which is the correct answer to the calculation?</a:t>
                </a:r>
                <a:endParaRPr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5.2\ \times3.7&quot;&gt;&lt;mn&gt;5.2&lt;/mn&gt;&lt;mtext&gt;&lt;/mtext&gt;&lt;mo&gt;×&lt;/mo&gt;&lt;mn&gt;3.7&lt;/mn&gt;&lt;/math&gt;" id="2013" name="Google Shape;2013;p155" title="5.2 times 3.7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934735" y="3240000"/>
                <a:ext cx="1515725" cy="2957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14" name="Google Shape;2014;p155"/>
            <p:cNvGrpSpPr/>
            <p:nvPr/>
          </p:nvGrpSpPr>
          <p:grpSpPr>
            <a:xfrm>
              <a:off x="5616863" y="3108514"/>
              <a:ext cx="2592337" cy="817286"/>
              <a:chOff x="5616863" y="3108514"/>
              <a:chExt cx="2592337" cy="817286"/>
            </a:xfrm>
          </p:grpSpPr>
          <p:grpSp>
            <p:nvGrpSpPr>
              <p:cNvPr id="2015" name="Google Shape;2015;p155"/>
              <p:cNvGrpSpPr/>
              <p:nvPr/>
            </p:nvGrpSpPr>
            <p:grpSpPr>
              <a:xfrm>
                <a:off x="5789416" y="3468600"/>
                <a:ext cx="457200" cy="457200"/>
                <a:chOff x="1020916" y="1442088"/>
                <a:chExt cx="457200" cy="457200"/>
              </a:xfrm>
            </p:grpSpPr>
            <p:pic>
              <p:nvPicPr>
                <p:cNvPr id="2016" name="Google Shape;2016;p15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7" name="Google Shape;2017;p155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a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grpSp>
            <p:nvGrpSpPr>
              <p:cNvPr id="2018" name="Google Shape;2018;p155"/>
              <p:cNvGrpSpPr/>
              <p:nvPr/>
            </p:nvGrpSpPr>
            <p:grpSpPr>
              <a:xfrm>
                <a:off x="7594416" y="3468600"/>
                <a:ext cx="457200" cy="457200"/>
                <a:chOff x="1020916" y="1442088"/>
                <a:chExt cx="457200" cy="457200"/>
              </a:xfrm>
            </p:grpSpPr>
            <p:pic>
              <p:nvPicPr>
                <p:cNvPr id="2019" name="Google Shape;2019;p155"/>
                <p:cNvPicPr preferRelativeResize="0"/>
                <p:nvPr/>
              </p:nvPicPr>
              <p:blipFill>
                <a:blip r:embed="rId5">
                  <a:alphaModFix/>
                </a:blip>
                <a:stretch>
                  <a:fillRect/>
                </a:stretch>
              </p:blipFill>
              <p:spPr>
                <a:xfrm>
                  <a:off x="1020916" y="1442088"/>
                  <a:ext cx="457200" cy="4572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20" name="Google Shape;2020;p155"/>
                <p:cNvSpPr txBox="1"/>
                <p:nvPr/>
              </p:nvSpPr>
              <p:spPr>
                <a:xfrm>
                  <a:off x="1045528" y="1526400"/>
                  <a:ext cx="408000" cy="27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GB" sz="1800">
                      <a:solidFill>
                        <a:srgbClr val="FFFFFF"/>
                      </a:solidFill>
                      <a:latin typeface="Lexend"/>
                      <a:ea typeface="Lexend"/>
                      <a:cs typeface="Lexend"/>
                      <a:sym typeface="Lexend"/>
                    </a:rPr>
                    <a:t>b</a:t>
                  </a:r>
                  <a:endParaRPr b="1" sz="1800">
                    <a:solidFill>
                      <a:srgbClr val="FFFFFF"/>
                    </a:solidFill>
                    <a:latin typeface="Lexend"/>
                    <a:ea typeface="Lexend"/>
                    <a:cs typeface="Lexend"/>
                    <a:sym typeface="Lexend"/>
                  </a:endParaRPr>
                </a:p>
              </p:txBody>
            </p:sp>
          </p:grpSp>
          <p:pic>
            <p:nvPicPr>
              <p:cNvPr descr="&lt;math xmlns=&quot;http://www.w3.org/1998/Math/MathML&quot; display=&quot;block&quot; data-is-equatio=&quot;1&quot; data-latex=&quot;19.24&quot;&gt;&lt;mn&gt;19.24&lt;/mn&gt;&lt;/math&gt;" id="2021" name="Google Shape;2021;p155" title="19.2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7406877" y="3108514"/>
                <a:ext cx="802323" cy="2838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&lt;math xmlns=&quot;http://www.w3.org/1998/Math/MathML&quot; display=&quot;block&quot; data-is-equatio=&quot;1&quot; data-latex=&quot;192.4&quot;&gt;&lt;mn&gt;192.4&lt;/mn&gt;&lt;/math&gt;" id="2022" name="Google Shape;2022;p155" title="192.4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5616863" y="3108525"/>
                <a:ext cx="802323" cy="28388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23" name="Google Shape;2023;p155"/>
          <p:cNvSpPr txBox="1"/>
          <p:nvPr/>
        </p:nvSpPr>
        <p:spPr>
          <a:xfrm>
            <a:off x="2885674" y="1914600"/>
            <a:ext cx="2293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Explain your reasoning.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4" name="Google Shape;2024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8" name="Shape 2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" name="Google Shape;2029;p156"/>
          <p:cNvSpPr/>
          <p:nvPr/>
        </p:nvSpPr>
        <p:spPr>
          <a:xfrm>
            <a:off x="2556800" y="1169375"/>
            <a:ext cx="2644500" cy="111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0" name="Google Shape;2030;p156"/>
          <p:cNvSpPr txBox="1"/>
          <p:nvPr>
            <p:ph idx="1" type="body"/>
          </p:nvPr>
        </p:nvSpPr>
        <p:spPr>
          <a:xfrm>
            <a:off x="324000" y="759300"/>
            <a:ext cx="88200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student has an appropriate answer to the calculation?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31" name="Google Shape;2031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id="2032" name="Google Shape;2032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27" y="3240285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156"/>
          <p:cNvSpPr txBox="1"/>
          <p:nvPr>
            <p:ph idx="1" type="body"/>
          </p:nvPr>
        </p:nvSpPr>
        <p:spPr>
          <a:xfrm>
            <a:off x="324000" y="4230882"/>
            <a:ext cx="9024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</a:t>
            </a:r>
            <a:endParaRPr/>
          </a:p>
        </p:txBody>
      </p:sp>
      <p:sp>
        <p:nvSpPr>
          <p:cNvPr id="2034" name="Google Shape;2034;p156"/>
          <p:cNvSpPr txBox="1"/>
          <p:nvPr>
            <p:ph idx="1" type="body"/>
          </p:nvPr>
        </p:nvSpPr>
        <p:spPr>
          <a:xfrm>
            <a:off x="3390450" y="4188300"/>
            <a:ext cx="8076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</a:t>
            </a:r>
            <a:endParaRPr/>
          </a:p>
        </p:txBody>
      </p:sp>
      <p:sp>
        <p:nvSpPr>
          <p:cNvPr id="2035" name="Google Shape;2035;p156"/>
          <p:cNvSpPr txBox="1"/>
          <p:nvPr>
            <p:ph idx="1" type="body"/>
          </p:nvPr>
        </p:nvSpPr>
        <p:spPr>
          <a:xfrm>
            <a:off x="6276575" y="4203812"/>
            <a:ext cx="9024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Lucas</a:t>
            </a:r>
            <a:endParaRPr/>
          </a:p>
        </p:txBody>
      </p:sp>
      <p:pic>
        <p:nvPicPr>
          <p:cNvPr id="2036" name="Google Shape;2036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7820" y="318882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7" name="Google Shape;2037;p1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6571" y="3307712"/>
            <a:ext cx="798316" cy="896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8" name="Google Shape;2038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6402" y="2793895"/>
            <a:ext cx="1820925" cy="12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9" name="Google Shape;2039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5414" y="2776188"/>
            <a:ext cx="1820925" cy="120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8975" y="2765312"/>
            <a:ext cx="1738373" cy="1202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56"/>
          <p:cNvSpPr txBox="1"/>
          <p:nvPr/>
        </p:nvSpPr>
        <p:spPr>
          <a:xfrm>
            <a:off x="1315275" y="2821134"/>
            <a:ext cx="1669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2" name="Google Shape;2042;p156"/>
          <p:cNvSpPr txBox="1"/>
          <p:nvPr/>
        </p:nvSpPr>
        <p:spPr>
          <a:xfrm>
            <a:off x="4233287" y="2812169"/>
            <a:ext cx="1669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421.2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3" name="Google Shape;2043;p156"/>
          <p:cNvSpPr txBox="1"/>
          <p:nvPr/>
        </p:nvSpPr>
        <p:spPr>
          <a:xfrm>
            <a:off x="7258875" y="2800963"/>
            <a:ext cx="1669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4.212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4" name="Google Shape;2044;p1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56408" y="387851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24\ \times1.3\ =\ 4.212&quot;&gt;&lt;mn&gt;3.24&lt;/mn&gt;&lt;mtext&gt;&lt;/mtext&gt;&lt;mo&gt;×&lt;/mo&gt;&lt;mn&gt;1.3&lt;/mn&gt;&lt;mtext&gt;&lt;/mtext&gt;&lt;mo&gt;=&lt;/mo&gt;&lt;mtext&gt;&lt;/mtext&gt;&lt;mn&gt;4.212&lt;/mn&gt;&lt;/math&gt;" id="2045" name="Google Shape;2045;p156" title="3.24 times 1.3 equals 4.212"/>
          <p:cNvPicPr preferRelativeResize="0"/>
          <p:nvPr/>
        </p:nvPicPr>
        <p:blipFill rotWithShape="1">
          <a:blip r:embed="rId8">
            <a:alphaModFix/>
          </a:blip>
          <a:srcRect b="0" l="0" r="43521" t="0"/>
          <a:stretch/>
        </p:blipFill>
        <p:spPr>
          <a:xfrm>
            <a:off x="2775925" y="1772400"/>
            <a:ext cx="2313424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6" name="Google Shape;2046;p156"/>
          <p:cNvSpPr txBox="1"/>
          <p:nvPr/>
        </p:nvSpPr>
        <p:spPr>
          <a:xfrm>
            <a:off x="2673300" y="1095750"/>
            <a:ext cx="20850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Work out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157"/>
          <p:cNvSpPr/>
          <p:nvPr/>
        </p:nvSpPr>
        <p:spPr>
          <a:xfrm>
            <a:off x="5907375" y="4071700"/>
            <a:ext cx="1882500" cy="59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2" name="Google Shape;2052;p157"/>
          <p:cNvSpPr/>
          <p:nvPr/>
        </p:nvSpPr>
        <p:spPr>
          <a:xfrm>
            <a:off x="1335375" y="4071700"/>
            <a:ext cx="1882500" cy="594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3" name="Google Shape;2053;p157"/>
          <p:cNvSpPr/>
          <p:nvPr/>
        </p:nvSpPr>
        <p:spPr>
          <a:xfrm>
            <a:off x="2545600" y="1579525"/>
            <a:ext cx="4529400" cy="81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4" name="Google Shape;2054;p157"/>
          <p:cNvSpPr txBox="1"/>
          <p:nvPr>
            <p:ph idx="1" type="body"/>
          </p:nvPr>
        </p:nvSpPr>
        <p:spPr>
          <a:xfrm>
            <a:off x="324000" y="759300"/>
            <a:ext cx="7734900" cy="46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Now we know the answer, which </a:t>
            </a:r>
            <a:r>
              <a:rPr lang="en-GB" sz="2000"/>
              <a:t>calculation could Laura and Alex use to make their answer?</a:t>
            </a:r>
            <a:r>
              <a:rPr lang="en-GB" sz="2000"/>
              <a:t>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55" name="Google Shape;2055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id="2056" name="Google Shape;2056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27" y="3240285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157"/>
          <p:cNvSpPr txBox="1"/>
          <p:nvPr>
            <p:ph idx="1" type="body"/>
          </p:nvPr>
        </p:nvSpPr>
        <p:spPr>
          <a:xfrm>
            <a:off x="324000" y="4230882"/>
            <a:ext cx="9024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</a:t>
            </a:r>
            <a:endParaRPr/>
          </a:p>
        </p:txBody>
      </p:sp>
      <p:pic>
        <p:nvPicPr>
          <p:cNvPr id="2058" name="Google Shape;2058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402" y="2793895"/>
            <a:ext cx="1820925" cy="12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157"/>
          <p:cNvSpPr txBox="1"/>
          <p:nvPr/>
        </p:nvSpPr>
        <p:spPr>
          <a:xfrm>
            <a:off x="1315275" y="2821134"/>
            <a:ext cx="1669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42.12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3.24\ \times1.3\ =\ 4.212&quot;&gt;&lt;mn&gt;3.24&lt;/mn&gt;&lt;mtext&gt;&lt;/mtext&gt;&lt;mo&gt;×&lt;/mo&gt;&lt;mn&gt;1.3&lt;/mn&gt;&lt;mtext&gt;&lt;/mtext&gt;&lt;mo&gt;=&lt;/mo&gt;&lt;mtext&gt;&lt;/mtext&gt;&lt;mn&gt;4.212&lt;/mn&gt;&lt;/math&gt;" id="2060" name="Google Shape;2060;p157" title="3.24 times 1.3 equals 4.2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75929" y="1772398"/>
            <a:ext cx="4096156" cy="3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1" name="Google Shape;2061;p157"/>
          <p:cNvSpPr txBox="1"/>
          <p:nvPr>
            <p:ph idx="1" type="body"/>
          </p:nvPr>
        </p:nvSpPr>
        <p:spPr>
          <a:xfrm>
            <a:off x="4762050" y="4188300"/>
            <a:ext cx="8076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Sam</a:t>
            </a:r>
            <a:endParaRPr/>
          </a:p>
        </p:txBody>
      </p:sp>
      <p:pic>
        <p:nvPicPr>
          <p:cNvPr id="2062" name="Google Shape;2062;p1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9420" y="3188825"/>
            <a:ext cx="705943" cy="101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3" name="Google Shape;2063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014" y="2776188"/>
            <a:ext cx="1820925" cy="12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157"/>
          <p:cNvSpPr txBox="1"/>
          <p:nvPr/>
        </p:nvSpPr>
        <p:spPr>
          <a:xfrm>
            <a:off x="5604887" y="2812169"/>
            <a:ext cx="16698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421.2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5" name="Google Shape;2065;p157"/>
          <p:cNvSpPr txBox="1"/>
          <p:nvPr/>
        </p:nvSpPr>
        <p:spPr>
          <a:xfrm>
            <a:off x="1413887" y="4105350"/>
            <a:ext cx="197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……. ✕ ……. 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6" name="Google Shape;2066;p157"/>
          <p:cNvSpPr txBox="1"/>
          <p:nvPr/>
        </p:nvSpPr>
        <p:spPr>
          <a:xfrm>
            <a:off x="5963475" y="4105350"/>
            <a:ext cx="19788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Lexend"/>
                <a:ea typeface="Lexend"/>
                <a:cs typeface="Lexend"/>
                <a:sym typeface="Lexend"/>
              </a:rPr>
              <a:t>……. ✕ ……. </a:t>
            </a:r>
            <a:endParaRPr sz="2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0" name="Shape 2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1" name="Google Shape;2071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id="2072" name="Google Shape;2072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327" y="1106685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2073" name="Google Shape;2073;p158"/>
          <p:cNvSpPr txBox="1"/>
          <p:nvPr>
            <p:ph idx="1" type="body"/>
          </p:nvPr>
        </p:nvSpPr>
        <p:spPr>
          <a:xfrm>
            <a:off x="324000" y="2097282"/>
            <a:ext cx="9024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Laura</a:t>
            </a:r>
            <a:endParaRPr/>
          </a:p>
        </p:txBody>
      </p:sp>
      <p:pic>
        <p:nvPicPr>
          <p:cNvPr id="2074" name="Google Shape;2074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400" y="660300"/>
            <a:ext cx="1498576" cy="1202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75" name="Google Shape;2075;p158"/>
          <p:cNvSpPr txBox="1"/>
          <p:nvPr/>
        </p:nvSpPr>
        <p:spPr>
          <a:xfrm>
            <a:off x="1315275" y="687525"/>
            <a:ext cx="14097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42.12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76" name="Google Shape;2076;p158"/>
          <p:cNvGrpSpPr/>
          <p:nvPr/>
        </p:nvGrpSpPr>
        <p:grpSpPr>
          <a:xfrm>
            <a:off x="2845480" y="828812"/>
            <a:ext cx="3409279" cy="613526"/>
            <a:chOff x="2545600" y="1579525"/>
            <a:chExt cx="4529400" cy="815100"/>
          </a:xfrm>
        </p:grpSpPr>
        <p:sp>
          <p:nvSpPr>
            <p:cNvPr id="2077" name="Google Shape;2077;p158"/>
            <p:cNvSpPr/>
            <p:nvPr/>
          </p:nvSpPr>
          <p:spPr>
            <a:xfrm>
              <a:off x="2545600" y="1579525"/>
              <a:ext cx="4529400" cy="8151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3.24\ \times1.3\ =\ 4.212&quot;&gt;&lt;mn&gt;3.24&lt;/mn&gt;&lt;mtext&gt;&lt;/mtext&gt;&lt;mo&gt;×&lt;/mo&gt;&lt;mn&gt;1.3&lt;/mn&gt;&lt;mtext&gt;&lt;/mtext&gt;&lt;mo&gt;=&lt;/mo&gt;&lt;mtext&gt;&lt;/mtext&gt;&lt;mn&gt;4.212&lt;/mn&gt;&lt;/math&gt;" id="2078" name="Google Shape;2078;p158" title="3.24 times 1.3 equals 4.2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775929" y="1772398"/>
              <a:ext cx="4096156" cy="35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79" name="Google Shape;2079;p1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2074" y="1114300"/>
            <a:ext cx="572948" cy="82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1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2350" y="675250"/>
            <a:ext cx="1545623" cy="1202049"/>
          </a:xfrm>
          <a:prstGeom prst="rect">
            <a:avLst/>
          </a:prstGeom>
          <a:noFill/>
          <a:ln>
            <a:noFill/>
          </a:ln>
        </p:spPr>
      </p:pic>
      <p:sp>
        <p:nvSpPr>
          <p:cNvPr id="2081" name="Google Shape;2081;p158"/>
          <p:cNvSpPr txBox="1"/>
          <p:nvPr/>
        </p:nvSpPr>
        <p:spPr>
          <a:xfrm>
            <a:off x="7170203" y="711225"/>
            <a:ext cx="13449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worked it out to be 421.2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82" name="Google Shape;2082;p158"/>
          <p:cNvCxnSpPr/>
          <p:nvPr/>
        </p:nvCxnSpPr>
        <p:spPr>
          <a:xfrm>
            <a:off x="4546975" y="1577275"/>
            <a:ext cx="22500" cy="34401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83" name="Google Shape;2083;p158"/>
          <p:cNvGrpSpPr/>
          <p:nvPr/>
        </p:nvGrpSpPr>
        <p:grpSpPr>
          <a:xfrm>
            <a:off x="1624476" y="1991739"/>
            <a:ext cx="2105449" cy="781849"/>
            <a:chOff x="1648138" y="1990476"/>
            <a:chExt cx="2105449" cy="781849"/>
          </a:xfrm>
        </p:grpSpPr>
        <p:sp>
          <p:nvSpPr>
            <p:cNvPr id="2084" name="Google Shape;2084;p158"/>
            <p:cNvSpPr/>
            <p:nvPr/>
          </p:nvSpPr>
          <p:spPr>
            <a:xfrm>
              <a:off x="1696275" y="206637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5" name="Google Shape;2085;p158"/>
            <p:cNvSpPr txBox="1"/>
            <p:nvPr/>
          </p:nvSpPr>
          <p:spPr>
            <a:xfrm>
              <a:off x="1774787" y="210002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× 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6" name="Google Shape;2086;p158"/>
            <p:cNvSpPr txBox="1"/>
            <p:nvPr/>
          </p:nvSpPr>
          <p:spPr>
            <a:xfrm>
              <a:off x="1648138" y="1990476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32.4</a:t>
              </a: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  </a:t>
              </a: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 1.3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87" name="Google Shape;2087;p158"/>
          <p:cNvGrpSpPr/>
          <p:nvPr/>
        </p:nvGrpSpPr>
        <p:grpSpPr>
          <a:xfrm>
            <a:off x="1653738" y="2659989"/>
            <a:ext cx="2105481" cy="780586"/>
            <a:chOff x="1653738" y="2659989"/>
            <a:chExt cx="2105481" cy="780586"/>
          </a:xfrm>
        </p:grpSpPr>
        <p:sp>
          <p:nvSpPr>
            <p:cNvPr id="2088" name="Google Shape;2088;p158"/>
            <p:cNvSpPr/>
            <p:nvPr/>
          </p:nvSpPr>
          <p:spPr>
            <a:xfrm>
              <a:off x="1701907" y="273462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89" name="Google Shape;2089;p158"/>
            <p:cNvSpPr txBox="1"/>
            <p:nvPr/>
          </p:nvSpPr>
          <p:spPr>
            <a:xfrm>
              <a:off x="1780419" y="276827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</a:t>
              </a:r>
              <a:r>
                <a:rPr lang="en-GB" sz="2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0" name="Google Shape;2090;p158"/>
            <p:cNvSpPr txBox="1"/>
            <p:nvPr/>
          </p:nvSpPr>
          <p:spPr>
            <a:xfrm>
              <a:off x="1653738" y="2659989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3.24   13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091" name="Google Shape;2091;p158"/>
          <p:cNvGrpSpPr/>
          <p:nvPr/>
        </p:nvGrpSpPr>
        <p:grpSpPr>
          <a:xfrm>
            <a:off x="1653744" y="3322994"/>
            <a:ext cx="2105475" cy="785831"/>
            <a:chOff x="1653744" y="3322994"/>
            <a:chExt cx="2105475" cy="785831"/>
          </a:xfrm>
        </p:grpSpPr>
        <p:sp>
          <p:nvSpPr>
            <p:cNvPr id="2092" name="Google Shape;2092;p158"/>
            <p:cNvSpPr/>
            <p:nvPr/>
          </p:nvSpPr>
          <p:spPr>
            <a:xfrm>
              <a:off x="1701907" y="340287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3" name="Google Shape;2093;p158"/>
            <p:cNvSpPr txBox="1"/>
            <p:nvPr/>
          </p:nvSpPr>
          <p:spPr>
            <a:xfrm>
              <a:off x="1780419" y="343652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</a:t>
              </a:r>
              <a:r>
                <a:rPr lang="en-GB" sz="2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4" name="Google Shape;2094;p158"/>
            <p:cNvSpPr txBox="1"/>
            <p:nvPr/>
          </p:nvSpPr>
          <p:spPr>
            <a:xfrm>
              <a:off x="1653744" y="3322994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324   0.13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095" name="Google Shape;2095;p158"/>
          <p:cNvSpPr txBox="1"/>
          <p:nvPr/>
        </p:nvSpPr>
        <p:spPr>
          <a:xfrm>
            <a:off x="324000" y="4071125"/>
            <a:ext cx="43284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There’s an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infinite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number of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calculations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to make a product of 42.12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96" name="Google Shape;2096;p158"/>
          <p:cNvGrpSpPr/>
          <p:nvPr/>
        </p:nvGrpSpPr>
        <p:grpSpPr>
          <a:xfrm>
            <a:off x="5734875" y="1999201"/>
            <a:ext cx="2057312" cy="773124"/>
            <a:chOff x="5734875" y="1999201"/>
            <a:chExt cx="2057312" cy="773124"/>
          </a:xfrm>
        </p:grpSpPr>
        <p:sp>
          <p:nvSpPr>
            <p:cNvPr id="2097" name="Google Shape;2097;p158"/>
            <p:cNvSpPr/>
            <p:nvPr/>
          </p:nvSpPr>
          <p:spPr>
            <a:xfrm>
              <a:off x="5734875" y="206637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8" name="Google Shape;2098;p158"/>
            <p:cNvSpPr txBox="1"/>
            <p:nvPr/>
          </p:nvSpPr>
          <p:spPr>
            <a:xfrm>
              <a:off x="5813387" y="210002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</a:t>
              </a:r>
              <a:r>
                <a:rPr lang="en-GB" sz="2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099" name="Google Shape;2099;p158"/>
            <p:cNvSpPr txBox="1"/>
            <p:nvPr/>
          </p:nvSpPr>
          <p:spPr>
            <a:xfrm>
              <a:off x="5751613" y="1999201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324   1.3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00" name="Google Shape;2100;p158"/>
          <p:cNvGrpSpPr/>
          <p:nvPr/>
        </p:nvGrpSpPr>
        <p:grpSpPr>
          <a:xfrm>
            <a:off x="5678297" y="2667464"/>
            <a:ext cx="2119522" cy="773111"/>
            <a:chOff x="5678297" y="2667464"/>
            <a:chExt cx="2119522" cy="773111"/>
          </a:xfrm>
        </p:grpSpPr>
        <p:sp>
          <p:nvSpPr>
            <p:cNvPr id="2101" name="Google Shape;2101;p158"/>
            <p:cNvSpPr/>
            <p:nvPr/>
          </p:nvSpPr>
          <p:spPr>
            <a:xfrm>
              <a:off x="5740507" y="273462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158"/>
            <p:cNvSpPr txBox="1"/>
            <p:nvPr/>
          </p:nvSpPr>
          <p:spPr>
            <a:xfrm>
              <a:off x="5819019" y="276827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</a:t>
              </a:r>
              <a:r>
                <a:rPr lang="en-GB" sz="2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3" name="Google Shape;2103;p158"/>
            <p:cNvSpPr txBox="1"/>
            <p:nvPr/>
          </p:nvSpPr>
          <p:spPr>
            <a:xfrm>
              <a:off x="5678297" y="2667464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32.4   13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2104" name="Google Shape;2104;p158"/>
          <p:cNvGrpSpPr/>
          <p:nvPr/>
        </p:nvGrpSpPr>
        <p:grpSpPr>
          <a:xfrm>
            <a:off x="5692344" y="3329169"/>
            <a:ext cx="2105475" cy="779656"/>
            <a:chOff x="5692344" y="3329169"/>
            <a:chExt cx="2105475" cy="779656"/>
          </a:xfrm>
        </p:grpSpPr>
        <p:sp>
          <p:nvSpPr>
            <p:cNvPr id="2105" name="Google Shape;2105;p158"/>
            <p:cNvSpPr/>
            <p:nvPr/>
          </p:nvSpPr>
          <p:spPr>
            <a:xfrm>
              <a:off x="5740507" y="3402875"/>
              <a:ext cx="1882500" cy="59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6" name="Google Shape;2106;p158"/>
            <p:cNvSpPr txBox="1"/>
            <p:nvPr/>
          </p:nvSpPr>
          <p:spPr>
            <a:xfrm>
              <a:off x="5819019" y="3436525"/>
              <a:ext cx="1978800" cy="67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……. </a:t>
              </a:r>
              <a:r>
                <a:rPr lang="en-GB" sz="2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r>
                <a:rPr lang="en-GB" sz="2800">
                  <a:latin typeface="Lexend"/>
                  <a:ea typeface="Lexend"/>
                  <a:cs typeface="Lexend"/>
                  <a:sym typeface="Lexend"/>
                </a:rPr>
                <a:t> ……. </a:t>
              </a:r>
              <a:endParaRPr sz="2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7" name="Google Shape;2107;p158"/>
            <p:cNvSpPr txBox="1"/>
            <p:nvPr/>
          </p:nvSpPr>
          <p:spPr>
            <a:xfrm>
              <a:off x="5692344" y="3329169"/>
              <a:ext cx="1978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latin typeface="Kalam"/>
                  <a:ea typeface="Kalam"/>
                  <a:cs typeface="Kalam"/>
                  <a:sym typeface="Kalam"/>
                </a:rPr>
                <a:t>3.24   130</a:t>
              </a:r>
              <a:endParaRPr sz="2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2108" name="Google Shape;2108;p158"/>
          <p:cNvSpPr txBox="1"/>
          <p:nvPr/>
        </p:nvSpPr>
        <p:spPr>
          <a:xfrm>
            <a:off x="4623175" y="4071125"/>
            <a:ext cx="4235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There’s an infinite number of calculations to make a product of 421.2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2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3" name="Google Shape;2113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2114" name="Google Shape;2114;p159"/>
          <p:cNvSpPr txBox="1"/>
          <p:nvPr/>
        </p:nvSpPr>
        <p:spPr>
          <a:xfrm>
            <a:off x="343558" y="8023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When place value is considered, it can still remain difficult to identify the correct magnitude of an answer.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5" name="Google Shape;2115;p159"/>
          <p:cNvSpPr txBox="1"/>
          <p:nvPr/>
        </p:nvSpPr>
        <p:spPr>
          <a:xfrm>
            <a:off x="343579" y="1635675"/>
            <a:ext cx="4248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trick is to look at the last digits.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6" name="Google Shape;2116;p159"/>
          <p:cNvSpPr txBox="1"/>
          <p:nvPr/>
        </p:nvSpPr>
        <p:spPr>
          <a:xfrm>
            <a:off x="351330" y="2209214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7" name="Google Shape;2117;p159"/>
          <p:cNvSpPr txBox="1"/>
          <p:nvPr/>
        </p:nvSpPr>
        <p:spPr>
          <a:xfrm>
            <a:off x="287550" y="2485771"/>
            <a:ext cx="206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× 1.3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118" name="Google Shape;2118;p159"/>
          <p:cNvGrpSpPr/>
          <p:nvPr/>
        </p:nvGrpSpPr>
        <p:grpSpPr>
          <a:xfrm>
            <a:off x="2001441" y="3966375"/>
            <a:ext cx="457200" cy="457200"/>
            <a:chOff x="1020916" y="1442088"/>
            <a:chExt cx="457200" cy="457200"/>
          </a:xfrm>
        </p:grpSpPr>
        <p:pic>
          <p:nvPicPr>
            <p:cNvPr id="2119" name="Google Shape;2119;p1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0" name="Google Shape;2120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1" name="Google Shape;2121;p159"/>
          <p:cNvGrpSpPr/>
          <p:nvPr/>
        </p:nvGrpSpPr>
        <p:grpSpPr>
          <a:xfrm>
            <a:off x="4525866" y="3966375"/>
            <a:ext cx="457200" cy="457200"/>
            <a:chOff x="1020916" y="1442088"/>
            <a:chExt cx="457200" cy="457200"/>
          </a:xfrm>
        </p:grpSpPr>
        <p:pic>
          <p:nvPicPr>
            <p:cNvPr id="2122" name="Google Shape;2122;p1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3" name="Google Shape;2123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4" name="Google Shape;2124;p159"/>
          <p:cNvGrpSpPr/>
          <p:nvPr/>
        </p:nvGrpSpPr>
        <p:grpSpPr>
          <a:xfrm>
            <a:off x="6714116" y="3921550"/>
            <a:ext cx="457200" cy="457200"/>
            <a:chOff x="1020916" y="1442088"/>
            <a:chExt cx="457200" cy="457200"/>
          </a:xfrm>
        </p:grpSpPr>
        <p:pic>
          <p:nvPicPr>
            <p:cNvPr id="2125" name="Google Shape;2125;p15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6" name="Google Shape;2126;p15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27" name="Google Shape;2127;p159"/>
          <p:cNvSpPr txBox="1"/>
          <p:nvPr/>
        </p:nvSpPr>
        <p:spPr>
          <a:xfrm>
            <a:off x="17647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35.2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8" name="Google Shape;2128;p159"/>
          <p:cNvSpPr txBox="1"/>
          <p:nvPr/>
        </p:nvSpPr>
        <p:spPr>
          <a:xfrm>
            <a:off x="43618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35.1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9" name="Google Shape;2129;p159"/>
          <p:cNvSpPr txBox="1"/>
          <p:nvPr/>
        </p:nvSpPr>
        <p:spPr>
          <a:xfrm>
            <a:off x="66478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0" name="Google Shape;2130;p159"/>
          <p:cNvSpPr txBox="1"/>
          <p:nvPr/>
        </p:nvSpPr>
        <p:spPr>
          <a:xfrm>
            <a:off x="2126175" y="2195775"/>
            <a:ext cx="682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Multiply the last digits together. </a:t>
            </a:r>
            <a:endParaRPr/>
          </a:p>
        </p:txBody>
      </p:sp>
      <p:sp>
        <p:nvSpPr>
          <p:cNvPr id="2131" name="Google Shape;2131;p159"/>
          <p:cNvSpPr txBox="1"/>
          <p:nvPr/>
        </p:nvSpPr>
        <p:spPr>
          <a:xfrm>
            <a:off x="291975" y="2498096"/>
            <a:ext cx="20628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-GB" sz="3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× 1.</a:t>
            </a:r>
            <a:r>
              <a:rPr b="1" lang="en-GB" sz="3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1" sz="32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sp>
        <p:nvSpPr>
          <p:cNvPr id="2132" name="Google Shape;2132;p159"/>
          <p:cNvSpPr txBox="1"/>
          <p:nvPr/>
        </p:nvSpPr>
        <p:spPr>
          <a:xfrm>
            <a:off x="2126175" y="2578025"/>
            <a:ext cx="6825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last digit of the product of 7 and 3? Using this, which do you think is the correct answer?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sp>
        <p:nvSpPr>
          <p:cNvPr id="2138" name="Google Shape;2138;p160"/>
          <p:cNvSpPr txBox="1"/>
          <p:nvPr/>
        </p:nvSpPr>
        <p:spPr>
          <a:xfrm>
            <a:off x="324001" y="802388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Whether the area method is used or column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multiplication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the final digit must end in a 1.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9" name="Google Shape;2139;p160"/>
          <p:cNvSpPr txBox="1"/>
          <p:nvPr/>
        </p:nvSpPr>
        <p:spPr>
          <a:xfrm>
            <a:off x="324020" y="2467150"/>
            <a:ext cx="8608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product of 7 and 3 is 21, which ends in a 1 or the product of 7 and 0.3 is 2.1, still ending in a 1.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0" name="Google Shape;2140;p160"/>
          <p:cNvSpPr txBox="1"/>
          <p:nvPr/>
        </p:nvSpPr>
        <p:spPr>
          <a:xfrm>
            <a:off x="3711750" y="1561450"/>
            <a:ext cx="2062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27 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1.3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41" name="Google Shape;2141;p160"/>
          <p:cNvSpPr txBox="1"/>
          <p:nvPr/>
        </p:nvSpPr>
        <p:spPr>
          <a:xfrm>
            <a:off x="3711750" y="1561450"/>
            <a:ext cx="2062800" cy="16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lang="en-GB" sz="3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</a:t>
            </a:r>
            <a:r>
              <a:rPr lang="en-GB" sz="3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r>
              <a:rPr b="1" lang="en-GB" sz="32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1" sz="3200">
              <a:solidFill>
                <a:schemeClr val="accent5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/>
          </a:p>
        </p:txBody>
      </p:sp>
      <p:grpSp>
        <p:nvGrpSpPr>
          <p:cNvPr id="2142" name="Google Shape;2142;p160"/>
          <p:cNvGrpSpPr/>
          <p:nvPr/>
        </p:nvGrpSpPr>
        <p:grpSpPr>
          <a:xfrm>
            <a:off x="2001441" y="3966375"/>
            <a:ext cx="457200" cy="457200"/>
            <a:chOff x="1020916" y="1442088"/>
            <a:chExt cx="457200" cy="457200"/>
          </a:xfrm>
        </p:grpSpPr>
        <p:pic>
          <p:nvPicPr>
            <p:cNvPr id="2143" name="Google Shape;2143;p1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4" name="Google Shape;2144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5" name="Google Shape;2145;p160"/>
          <p:cNvGrpSpPr/>
          <p:nvPr/>
        </p:nvGrpSpPr>
        <p:grpSpPr>
          <a:xfrm>
            <a:off x="4525866" y="3966375"/>
            <a:ext cx="457200" cy="457200"/>
            <a:chOff x="1020916" y="1442088"/>
            <a:chExt cx="457200" cy="457200"/>
          </a:xfrm>
        </p:grpSpPr>
        <p:pic>
          <p:nvPicPr>
            <p:cNvPr id="2146" name="Google Shape;2146;p1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7" name="Google Shape;2147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48" name="Google Shape;2148;p160"/>
          <p:cNvGrpSpPr/>
          <p:nvPr/>
        </p:nvGrpSpPr>
        <p:grpSpPr>
          <a:xfrm>
            <a:off x="6714116" y="3921550"/>
            <a:ext cx="457200" cy="457200"/>
            <a:chOff x="1020916" y="1442088"/>
            <a:chExt cx="457200" cy="457200"/>
          </a:xfrm>
        </p:grpSpPr>
        <p:pic>
          <p:nvPicPr>
            <p:cNvPr id="2149" name="Google Shape;2149;p16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0" name="Google Shape;2150;p16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1" name="Google Shape;2151;p160"/>
          <p:cNvSpPr txBox="1"/>
          <p:nvPr/>
        </p:nvSpPr>
        <p:spPr>
          <a:xfrm>
            <a:off x="17647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35.2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2" name="Google Shape;2152;p160"/>
          <p:cNvSpPr txBox="1"/>
          <p:nvPr/>
        </p:nvSpPr>
        <p:spPr>
          <a:xfrm>
            <a:off x="43618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35.1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3" name="Google Shape;2153;p160"/>
          <p:cNvSpPr txBox="1"/>
          <p:nvPr/>
        </p:nvSpPr>
        <p:spPr>
          <a:xfrm>
            <a:off x="6647848" y="3454425"/>
            <a:ext cx="12354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35.8</a:t>
            </a:r>
            <a:endParaRPr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54" name="Google Shape;2154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8158" y="3985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6.4\ \times2.3&quot;&gt;&lt;mn&gt;6.4&lt;/mn&gt;&lt;mtext&gt;&lt;/mtext&gt;&lt;mo&gt;×&lt;/mo&gt;&lt;mn&gt;2.3&lt;/mn&gt;&lt;/math&gt;" id="2159" name="Google Shape;2159;p161" title="6.4 times 2.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7426" y="1652288"/>
            <a:ext cx="19431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0" name="Google Shape;2160;p161"/>
          <p:cNvSpPr txBox="1"/>
          <p:nvPr/>
        </p:nvSpPr>
        <p:spPr>
          <a:xfrm>
            <a:off x="324000" y="712200"/>
            <a:ext cx="805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Without calculating, which of the following is the correct answer to the question below? Explain your reasoning.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61" name="Google Shape;2161;p161"/>
          <p:cNvGrpSpPr/>
          <p:nvPr/>
        </p:nvGrpSpPr>
        <p:grpSpPr>
          <a:xfrm>
            <a:off x="2219391" y="3053050"/>
            <a:ext cx="457200" cy="457200"/>
            <a:chOff x="1020916" y="1442088"/>
            <a:chExt cx="457200" cy="457200"/>
          </a:xfrm>
        </p:grpSpPr>
        <p:pic>
          <p:nvPicPr>
            <p:cNvPr id="2162" name="Google Shape;2162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3" name="Google Shape;2163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4" name="Google Shape;2164;p161"/>
          <p:cNvGrpSpPr/>
          <p:nvPr/>
        </p:nvGrpSpPr>
        <p:grpSpPr>
          <a:xfrm>
            <a:off x="4352991" y="3053050"/>
            <a:ext cx="457200" cy="457200"/>
            <a:chOff x="1020916" y="1442088"/>
            <a:chExt cx="457200" cy="457200"/>
          </a:xfrm>
        </p:grpSpPr>
        <p:pic>
          <p:nvPicPr>
            <p:cNvPr id="2165" name="Google Shape;2165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6" name="Google Shape;2166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7" name="Google Shape;2167;p161"/>
          <p:cNvGrpSpPr/>
          <p:nvPr/>
        </p:nvGrpSpPr>
        <p:grpSpPr>
          <a:xfrm>
            <a:off x="6703466" y="3074706"/>
            <a:ext cx="457200" cy="457200"/>
            <a:chOff x="1020916" y="1442088"/>
            <a:chExt cx="457200" cy="457200"/>
          </a:xfrm>
        </p:grpSpPr>
        <p:pic>
          <p:nvPicPr>
            <p:cNvPr id="2168" name="Google Shape;2168;p16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9" name="Google Shape;2169;p16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0" name="Google Shape;2170;p16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id="2171" name="Google Shape;2171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98058" y="30721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2" name="Google Shape;2172;p161"/>
          <p:cNvSpPr txBox="1"/>
          <p:nvPr/>
        </p:nvSpPr>
        <p:spPr>
          <a:xfrm>
            <a:off x="584575" y="3832800"/>
            <a:ext cx="7828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product of 4 and 3 is 12, thus ending in a 2 or the product of 0.4 and 0.3 is 0.12, thus ending in a 2. </a:t>
            </a:r>
            <a:endParaRPr sz="21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3" name="Google Shape;2173;p161"/>
          <p:cNvSpPr txBox="1"/>
          <p:nvPr/>
        </p:nvSpPr>
        <p:spPr>
          <a:xfrm>
            <a:off x="1914725" y="2569763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14.95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4" name="Google Shape;2174;p161"/>
          <p:cNvSpPr txBox="1"/>
          <p:nvPr/>
        </p:nvSpPr>
        <p:spPr>
          <a:xfrm>
            <a:off x="4108450" y="2572138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14.72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5" name="Google Shape;2175;p161"/>
          <p:cNvSpPr txBox="1"/>
          <p:nvPr/>
        </p:nvSpPr>
        <p:spPr>
          <a:xfrm>
            <a:off x="6410525" y="2569763"/>
            <a:ext cx="1234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14.58</a:t>
            </a:r>
            <a:endParaRPr sz="24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62"/>
          <p:cNvSpPr txBox="1"/>
          <p:nvPr>
            <p:ph idx="1" type="body"/>
          </p:nvPr>
        </p:nvSpPr>
        <p:spPr>
          <a:xfrm>
            <a:off x="4572000" y="871375"/>
            <a:ext cx="3767100" cy="9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sports field has a length of 105.3 m by 68.7 m.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81" name="Google Shape;2181;p16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id="2182" name="Google Shape;2182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364" y="1023775"/>
            <a:ext cx="2986511" cy="196597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3" name="Google Shape;2183;p162"/>
          <p:cNvCxnSpPr/>
          <p:nvPr/>
        </p:nvCxnSpPr>
        <p:spPr>
          <a:xfrm flipH="1" rot="10800000">
            <a:off x="1440221" y="947300"/>
            <a:ext cx="2724600" cy="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4" name="Google Shape;2184;p162"/>
          <p:cNvCxnSpPr/>
          <p:nvPr/>
        </p:nvCxnSpPr>
        <p:spPr>
          <a:xfrm flipH="1">
            <a:off x="1210718" y="1069151"/>
            <a:ext cx="3300" cy="19377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85" name="Google Shape;2185;p162"/>
          <p:cNvSpPr txBox="1"/>
          <p:nvPr/>
        </p:nvSpPr>
        <p:spPr>
          <a:xfrm>
            <a:off x="2225500" y="589350"/>
            <a:ext cx="153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105.3 m</a:t>
            </a:r>
            <a:endParaRPr sz="1800"/>
          </a:p>
        </p:txBody>
      </p:sp>
      <p:sp>
        <p:nvSpPr>
          <p:cNvPr id="2186" name="Google Shape;2186;p162"/>
          <p:cNvSpPr txBox="1"/>
          <p:nvPr/>
        </p:nvSpPr>
        <p:spPr>
          <a:xfrm>
            <a:off x="302175" y="1850700"/>
            <a:ext cx="97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68.7 m</a:t>
            </a:r>
            <a:endParaRPr sz="1800"/>
          </a:p>
        </p:txBody>
      </p:sp>
      <p:sp>
        <p:nvSpPr>
          <p:cNvPr id="2187" name="Google Shape;2187;p162"/>
          <p:cNvSpPr txBox="1"/>
          <p:nvPr>
            <p:ph idx="1" type="body"/>
          </p:nvPr>
        </p:nvSpPr>
        <p:spPr>
          <a:xfrm>
            <a:off x="4572000" y="1785775"/>
            <a:ext cx="3879000" cy="94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would you expect to be the correct area of the sports field? Justify your answer.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188" name="Google Shape;2188;p162"/>
          <p:cNvGrpSpPr/>
          <p:nvPr/>
        </p:nvGrpSpPr>
        <p:grpSpPr>
          <a:xfrm>
            <a:off x="7121816" y="3682825"/>
            <a:ext cx="457200" cy="457200"/>
            <a:chOff x="1020916" y="1442088"/>
            <a:chExt cx="457200" cy="457200"/>
          </a:xfrm>
        </p:grpSpPr>
        <p:pic>
          <p:nvPicPr>
            <p:cNvPr id="2189" name="Google Shape;2189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0" name="Google Shape;2190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1" name="Google Shape;2191;p162"/>
          <p:cNvGrpSpPr/>
          <p:nvPr/>
        </p:nvGrpSpPr>
        <p:grpSpPr>
          <a:xfrm>
            <a:off x="1221066" y="3682825"/>
            <a:ext cx="457200" cy="457200"/>
            <a:chOff x="1020916" y="1442088"/>
            <a:chExt cx="457200" cy="457200"/>
          </a:xfrm>
        </p:grpSpPr>
        <p:pic>
          <p:nvPicPr>
            <p:cNvPr id="2192" name="Google Shape;2192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3" name="Google Shape;2193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4" name="Google Shape;2194;p162"/>
          <p:cNvGrpSpPr/>
          <p:nvPr/>
        </p:nvGrpSpPr>
        <p:grpSpPr>
          <a:xfrm>
            <a:off x="3102266" y="3682825"/>
            <a:ext cx="457200" cy="457200"/>
            <a:chOff x="1020916" y="1442088"/>
            <a:chExt cx="457200" cy="457200"/>
          </a:xfrm>
        </p:grpSpPr>
        <p:pic>
          <p:nvPicPr>
            <p:cNvPr id="2195" name="Google Shape;2195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6" name="Google Shape;2196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97" name="Google Shape;2197;p162"/>
          <p:cNvGrpSpPr/>
          <p:nvPr/>
        </p:nvGrpSpPr>
        <p:grpSpPr>
          <a:xfrm>
            <a:off x="5059666" y="3682825"/>
            <a:ext cx="457200" cy="457200"/>
            <a:chOff x="1020916" y="1442088"/>
            <a:chExt cx="457200" cy="457200"/>
          </a:xfrm>
        </p:grpSpPr>
        <p:pic>
          <p:nvPicPr>
            <p:cNvPr id="2198" name="Google Shape;2198;p16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9" name="Google Shape;2199;p16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00" name="Google Shape;2200;p162"/>
          <p:cNvSpPr txBox="1"/>
          <p:nvPr>
            <p:ph idx="1" type="body"/>
          </p:nvPr>
        </p:nvSpPr>
        <p:spPr>
          <a:xfrm>
            <a:off x="764281" y="3317350"/>
            <a:ext cx="13932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7234.1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01" name="Google Shape;2201;p162"/>
          <p:cNvSpPr txBox="1"/>
          <p:nvPr>
            <p:ph idx="1" type="body"/>
          </p:nvPr>
        </p:nvSpPr>
        <p:spPr>
          <a:xfrm>
            <a:off x="2669281" y="3317350"/>
            <a:ext cx="13932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7234.92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02" name="Google Shape;2202;p162"/>
          <p:cNvSpPr txBox="1"/>
          <p:nvPr>
            <p:ph idx="1" type="body"/>
          </p:nvPr>
        </p:nvSpPr>
        <p:spPr>
          <a:xfrm>
            <a:off x="4726681" y="3317350"/>
            <a:ext cx="13932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723.11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03" name="Google Shape;2203;p162"/>
          <p:cNvSpPr txBox="1"/>
          <p:nvPr>
            <p:ph idx="1" type="body"/>
          </p:nvPr>
        </p:nvSpPr>
        <p:spPr>
          <a:xfrm>
            <a:off x="6784081" y="3317350"/>
            <a:ext cx="1393200" cy="35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7234.11 m</a:t>
            </a:r>
            <a:r>
              <a:rPr baseline="30000" lang="en-GB" sz="2000"/>
              <a:t>2</a:t>
            </a:r>
            <a:endParaRPr baseline="30000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204" name="Google Shape;2204;p1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0933" y="37018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5" name="Google Shape;2205;p162"/>
          <p:cNvSpPr txBox="1"/>
          <p:nvPr/>
        </p:nvSpPr>
        <p:spPr>
          <a:xfrm>
            <a:off x="2965925" y="4218275"/>
            <a:ext cx="11484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End digit must be 1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6" name="Google Shape;2206;p162"/>
          <p:cNvSpPr txBox="1"/>
          <p:nvPr/>
        </p:nvSpPr>
        <p:spPr>
          <a:xfrm>
            <a:off x="4833850" y="4218275"/>
            <a:ext cx="1237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Too small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7" name="Google Shape;2207;p162"/>
          <p:cNvSpPr txBox="1"/>
          <p:nvPr/>
        </p:nvSpPr>
        <p:spPr>
          <a:xfrm>
            <a:off x="6424675" y="4218275"/>
            <a:ext cx="25779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0.3 ✕ 0.7 gives a 2 decimal place answer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08" name="Google Shape;2208;p162"/>
          <p:cNvSpPr txBox="1"/>
          <p:nvPr/>
        </p:nvSpPr>
        <p:spPr>
          <a:xfrm>
            <a:off x="324000" y="4218275"/>
            <a:ext cx="21015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0.3 ✕ 0.7 gives a 2 decimal place answer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2" name="Shape 2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3" name="Google Shape;2213;p163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knowledge of identifying a reasonable answer and without working out, match the </a:t>
            </a:r>
            <a:r>
              <a:rPr lang="en-GB"/>
              <a:t>calculation to the correct answer.</a:t>
            </a:r>
            <a:endParaRPr/>
          </a:p>
        </p:txBody>
      </p:sp>
      <p:sp>
        <p:nvSpPr>
          <p:cNvPr id="2214" name="Google Shape;2214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Appropriate answers to calculations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215" name="Google Shape;2215;p163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0" r="42296" t="0"/>
          <a:stretch/>
        </p:blipFill>
        <p:spPr>
          <a:xfrm>
            <a:off x="1718850" y="2083750"/>
            <a:ext cx="26712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216" name="Google Shape;2216;p163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0" r="47315" t="0"/>
          <a:stretch/>
        </p:blipFill>
        <p:spPr>
          <a:xfrm>
            <a:off x="1694619" y="2806725"/>
            <a:ext cx="2589374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217" name="Google Shape;2217;p163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0" r="45755" t="0"/>
          <a:stretch/>
        </p:blipFill>
        <p:spPr>
          <a:xfrm>
            <a:off x="1689850" y="3529700"/>
            <a:ext cx="26712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218" name="Google Shape;2218;p163" title="3.5 times 2.8 equals 9.8"/>
          <p:cNvPicPr preferRelativeResize="0"/>
          <p:nvPr/>
        </p:nvPicPr>
        <p:blipFill rotWithShape="1">
          <a:blip r:embed="rId6">
            <a:alphaModFix/>
          </a:blip>
          <a:srcRect b="0" l="0" r="38011" t="0"/>
          <a:stretch/>
        </p:blipFill>
        <p:spPr>
          <a:xfrm>
            <a:off x="1689850" y="4250225"/>
            <a:ext cx="2296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219" name="Google Shape;2219;p163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70483" r="0" t="0"/>
          <a:stretch/>
        </p:blipFill>
        <p:spPr>
          <a:xfrm>
            <a:off x="5472575" y="3451050"/>
            <a:ext cx="1366374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220" name="Google Shape;2220;p163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64920" r="0" t="0"/>
          <a:stretch/>
        </p:blipFill>
        <p:spPr>
          <a:xfrm>
            <a:off x="5329150" y="2730525"/>
            <a:ext cx="17241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221" name="Google Shape;2221;p163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66257" r="0" t="0"/>
          <a:stretch/>
        </p:blipFill>
        <p:spPr>
          <a:xfrm>
            <a:off x="5427743" y="2010000"/>
            <a:ext cx="16616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222" name="Google Shape;2222;p163" title="3.5 times 2.8 equals 9.8"/>
          <p:cNvPicPr preferRelativeResize="0"/>
          <p:nvPr/>
        </p:nvPicPr>
        <p:blipFill rotWithShape="1">
          <a:blip r:embed="rId6">
            <a:alphaModFix/>
          </a:blip>
          <a:srcRect b="0" l="77117" r="-7676" t="0"/>
          <a:stretch/>
        </p:blipFill>
        <p:spPr>
          <a:xfrm>
            <a:off x="5470637" y="4238810"/>
            <a:ext cx="11322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3" name="Google Shape;2223;p163"/>
          <p:cNvSpPr/>
          <p:nvPr/>
        </p:nvSpPr>
        <p:spPr>
          <a:xfrm>
            <a:off x="1510175" y="1976075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4" name="Google Shape;2224;p163"/>
          <p:cNvSpPr/>
          <p:nvPr/>
        </p:nvSpPr>
        <p:spPr>
          <a:xfrm>
            <a:off x="1510175" y="270885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5" name="Google Shape;2225;p163"/>
          <p:cNvSpPr/>
          <p:nvPr/>
        </p:nvSpPr>
        <p:spPr>
          <a:xfrm>
            <a:off x="1510175" y="343060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6" name="Google Shape;2226;p163"/>
          <p:cNvSpPr/>
          <p:nvPr/>
        </p:nvSpPr>
        <p:spPr>
          <a:xfrm>
            <a:off x="1510175" y="415235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7" name="Google Shape;2227;p163"/>
          <p:cNvSpPr/>
          <p:nvPr/>
        </p:nvSpPr>
        <p:spPr>
          <a:xfrm>
            <a:off x="5431225" y="19071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8" name="Google Shape;2228;p163"/>
          <p:cNvSpPr/>
          <p:nvPr/>
        </p:nvSpPr>
        <p:spPr>
          <a:xfrm>
            <a:off x="5431225" y="26691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9" name="Google Shape;2229;p163"/>
          <p:cNvSpPr/>
          <p:nvPr/>
        </p:nvSpPr>
        <p:spPr>
          <a:xfrm>
            <a:off x="5431225" y="33549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0" name="Google Shape;2230;p163"/>
          <p:cNvSpPr/>
          <p:nvPr/>
        </p:nvSpPr>
        <p:spPr>
          <a:xfrm>
            <a:off x="5431225" y="41169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p164"/>
          <p:cNvSpPr txBox="1"/>
          <p:nvPr>
            <p:ph idx="1" type="body"/>
          </p:nvPr>
        </p:nvSpPr>
        <p:spPr>
          <a:xfrm>
            <a:off x="324000" y="683100"/>
            <a:ext cx="8237700" cy="6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Are the statements </a:t>
            </a:r>
            <a:r>
              <a:rPr lang="en-GB" sz="1800">
                <a:solidFill>
                  <a:schemeClr val="accent5"/>
                </a:solidFill>
              </a:rPr>
              <a:t>always true</a:t>
            </a:r>
            <a:r>
              <a:rPr lang="en-GB" sz="1800"/>
              <a:t>,</a:t>
            </a:r>
            <a:r>
              <a:rPr lang="en-GB" sz="1800">
                <a:solidFill>
                  <a:schemeClr val="accent4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sometimes true</a:t>
            </a:r>
            <a:r>
              <a:rPr lang="en-GB" sz="1800"/>
              <a:t> </a:t>
            </a:r>
            <a:r>
              <a:rPr lang="en-GB" sz="1800"/>
              <a:t>or </a:t>
            </a:r>
            <a:r>
              <a:rPr lang="en-GB" sz="1800">
                <a:solidFill>
                  <a:schemeClr val="accent5"/>
                </a:solidFill>
              </a:rPr>
              <a:t>never true</a:t>
            </a:r>
            <a:r>
              <a:rPr lang="en-GB" sz="1800"/>
              <a:t>?</a:t>
            </a:r>
            <a:r>
              <a:rPr b="1" lang="en-GB" sz="1800"/>
              <a:t> </a:t>
            </a:r>
            <a:r>
              <a:rPr lang="en-GB" sz="1800"/>
              <a:t>You can use a calculator to help justify your answers.</a:t>
            </a:r>
            <a:endParaRPr sz="1800"/>
          </a:p>
        </p:txBody>
      </p:sp>
      <p:sp>
        <p:nvSpPr>
          <p:cNvPr id="2236" name="Google Shape;2236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Appropriate answers to calculations</a:t>
            </a:r>
            <a:endParaRPr/>
          </a:p>
        </p:txBody>
      </p:sp>
      <p:graphicFrame>
        <p:nvGraphicFramePr>
          <p:cNvPr id="2237" name="Google Shape;2237;p164"/>
          <p:cNvGraphicFramePr/>
          <p:nvPr/>
        </p:nvGraphicFramePr>
        <p:xfrm>
          <a:off x="30335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3533950"/>
                <a:gridCol w="1037925"/>
                <a:gridCol w="1461775"/>
                <a:gridCol w="964975"/>
                <a:gridCol w="1193050"/>
              </a:tblGrid>
              <a:tr h="35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9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a decimal.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8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each with 2 decimal places has 4 decimal places.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6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smaller than the largest multiplier.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1" name="Shape 2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" name="Google Shape;2242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Appropriate answers to calculations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16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Using your knowledge of identifying a reasonable answer and without working out, match the calculation to the correct answer.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244" name="Google Shape;2244;p165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0" r="42296" t="0"/>
          <a:stretch/>
        </p:blipFill>
        <p:spPr>
          <a:xfrm>
            <a:off x="1718850" y="2083750"/>
            <a:ext cx="26712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245" name="Google Shape;2245;p165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0" r="47315" t="0"/>
          <a:stretch/>
        </p:blipFill>
        <p:spPr>
          <a:xfrm>
            <a:off x="1694619" y="2806725"/>
            <a:ext cx="2589374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246" name="Google Shape;2246;p165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0" r="45755" t="0"/>
          <a:stretch/>
        </p:blipFill>
        <p:spPr>
          <a:xfrm>
            <a:off x="1689850" y="3529700"/>
            <a:ext cx="26712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247" name="Google Shape;2247;p165" title="3.5 times 2.8 equals 9.8"/>
          <p:cNvPicPr preferRelativeResize="0"/>
          <p:nvPr/>
        </p:nvPicPr>
        <p:blipFill rotWithShape="1">
          <a:blip r:embed="rId6">
            <a:alphaModFix/>
          </a:blip>
          <a:srcRect b="0" l="0" r="38011" t="0"/>
          <a:stretch/>
        </p:blipFill>
        <p:spPr>
          <a:xfrm>
            <a:off x="1689850" y="4250225"/>
            <a:ext cx="229682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.34\ \times3.8\ =\ 8.892&quot;&gt;&lt;mn&gt;2.34&lt;/mn&gt;&lt;mtext&gt;&lt;/mtext&gt;&lt;mo&gt;×&lt;/mo&gt;&lt;mn&gt;3.8&lt;/mn&gt;&lt;mtext&gt;&lt;/mtext&gt;&lt;mo&gt;=&lt;/mo&gt;&lt;mtext&gt;&lt;/mtext&gt;&lt;mn&gt;8.892&lt;/mn&gt;&lt;/math&gt;" id="2248" name="Google Shape;2248;p165" title="2.34 times 3.8 equals 8.892"/>
          <p:cNvPicPr preferRelativeResize="0"/>
          <p:nvPr/>
        </p:nvPicPr>
        <p:blipFill rotWithShape="1">
          <a:blip r:embed="rId3">
            <a:alphaModFix/>
          </a:blip>
          <a:srcRect b="0" l="70483" r="0" t="0"/>
          <a:stretch/>
        </p:blipFill>
        <p:spPr>
          <a:xfrm>
            <a:off x="5472575" y="3451050"/>
            <a:ext cx="1366374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.34\ \times6.8\ =\ 36.312&quot;&gt;&lt;mn&gt;5.34&lt;/mn&gt;&lt;mtext&gt;&lt;/mtext&gt;&lt;mo&gt;×&lt;/mo&gt;&lt;mn&gt;6.8&lt;/mn&gt;&lt;mtext&gt;&lt;/mtext&gt;&lt;mo&gt;=&lt;/mo&gt;&lt;mtext&gt;&lt;/mtext&gt;&lt;mn&gt;36.312&lt;/mn&gt;&lt;/math&gt;" id="2249" name="Google Shape;2249;p165" title="5.34 times 6.8 equals 36.312"/>
          <p:cNvPicPr preferRelativeResize="0"/>
          <p:nvPr/>
        </p:nvPicPr>
        <p:blipFill rotWithShape="1">
          <a:blip r:embed="rId4">
            <a:alphaModFix/>
          </a:blip>
          <a:srcRect b="0" l="64920" r="0" t="0"/>
          <a:stretch/>
        </p:blipFill>
        <p:spPr>
          <a:xfrm>
            <a:off x="5329150" y="2730525"/>
            <a:ext cx="17241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.34\ \times9.8\ =\ 91.532&quot;&gt;&lt;mn&gt;9.34&lt;/mn&gt;&lt;mtext&gt;&lt;/mtext&gt;&lt;mo&gt;×&lt;/mo&gt;&lt;mn&gt;9.8&lt;/mn&gt;&lt;mtext&gt;&lt;/mtext&gt;&lt;mo&gt;=&lt;/mo&gt;&lt;mtext&gt;&lt;/mtext&gt;&lt;mn&gt;91.532&lt;/mn&gt;&lt;/math&gt;" id="2250" name="Google Shape;2250;p165" title="9.34 times 9.8 equals 91.532"/>
          <p:cNvPicPr preferRelativeResize="0"/>
          <p:nvPr/>
        </p:nvPicPr>
        <p:blipFill rotWithShape="1">
          <a:blip r:embed="rId5">
            <a:alphaModFix/>
          </a:blip>
          <a:srcRect b="0" l="66257" r="0" t="0"/>
          <a:stretch/>
        </p:blipFill>
        <p:spPr>
          <a:xfrm>
            <a:off x="5427743" y="2010000"/>
            <a:ext cx="16616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5\ \times2.8\ =\ 9.8&quot;&gt;&lt;mn&gt;3.5&lt;/mn&gt;&lt;mtext&gt;&lt;/mtext&gt;&lt;mo&gt;×&lt;/mo&gt;&lt;mn&gt;2.8&lt;/mn&gt;&lt;mtext&gt;&lt;/mtext&gt;&lt;mo&gt;=&lt;/mo&gt;&lt;mtext&gt;&lt;/mtext&gt;&lt;mn&gt;9.8&lt;/mn&gt;&lt;/math&gt;" id="2251" name="Google Shape;2251;p165" title="3.5 times 2.8 equals 9.8"/>
          <p:cNvPicPr preferRelativeResize="0"/>
          <p:nvPr/>
        </p:nvPicPr>
        <p:blipFill rotWithShape="1">
          <a:blip r:embed="rId6">
            <a:alphaModFix/>
          </a:blip>
          <a:srcRect b="0" l="77117" r="-7676" t="0"/>
          <a:stretch/>
        </p:blipFill>
        <p:spPr>
          <a:xfrm>
            <a:off x="5470637" y="4238810"/>
            <a:ext cx="1132275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2" name="Google Shape;2252;p165"/>
          <p:cNvSpPr/>
          <p:nvPr/>
        </p:nvSpPr>
        <p:spPr>
          <a:xfrm>
            <a:off x="1510175" y="1976075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3" name="Google Shape;2253;p165"/>
          <p:cNvSpPr/>
          <p:nvPr/>
        </p:nvSpPr>
        <p:spPr>
          <a:xfrm>
            <a:off x="1510175" y="270885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4" name="Google Shape;2254;p165"/>
          <p:cNvSpPr/>
          <p:nvPr/>
        </p:nvSpPr>
        <p:spPr>
          <a:xfrm>
            <a:off x="1510175" y="343060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5" name="Google Shape;2255;p165"/>
          <p:cNvSpPr/>
          <p:nvPr/>
        </p:nvSpPr>
        <p:spPr>
          <a:xfrm>
            <a:off x="1510175" y="4152350"/>
            <a:ext cx="28509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56" name="Google Shape;2256;p165"/>
          <p:cNvCxnSpPr>
            <a:stCxn id="2252" idx="3"/>
            <a:endCxn id="2257" idx="1"/>
          </p:cNvCxnSpPr>
          <p:nvPr/>
        </p:nvCxnSpPr>
        <p:spPr>
          <a:xfrm>
            <a:off x="4361075" y="2273975"/>
            <a:ext cx="1070100" cy="1378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8" name="Google Shape;2258;p165"/>
          <p:cNvCxnSpPr>
            <a:stCxn id="2253" idx="3"/>
            <a:endCxn id="2259" idx="1"/>
          </p:cNvCxnSpPr>
          <p:nvPr/>
        </p:nvCxnSpPr>
        <p:spPr>
          <a:xfrm flipH="1" rot="10800000">
            <a:off x="4361075" y="2967150"/>
            <a:ext cx="1070100" cy="39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0" name="Google Shape;2260;p165"/>
          <p:cNvCxnSpPr>
            <a:stCxn id="2254" idx="3"/>
            <a:endCxn id="2261" idx="1"/>
          </p:cNvCxnSpPr>
          <p:nvPr/>
        </p:nvCxnSpPr>
        <p:spPr>
          <a:xfrm flipH="1" rot="10800000">
            <a:off x="4361075" y="2205100"/>
            <a:ext cx="1070100" cy="1523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2" name="Google Shape;2262;p165"/>
          <p:cNvCxnSpPr>
            <a:stCxn id="2255" idx="3"/>
            <a:endCxn id="2263" idx="1"/>
          </p:cNvCxnSpPr>
          <p:nvPr/>
        </p:nvCxnSpPr>
        <p:spPr>
          <a:xfrm flipH="1" rot="10800000">
            <a:off x="4361075" y="4414850"/>
            <a:ext cx="1070100" cy="354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1" name="Google Shape;2261;p165"/>
          <p:cNvSpPr/>
          <p:nvPr/>
        </p:nvSpPr>
        <p:spPr>
          <a:xfrm>
            <a:off x="5431225" y="19071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9" name="Google Shape;2259;p165"/>
          <p:cNvSpPr/>
          <p:nvPr/>
        </p:nvSpPr>
        <p:spPr>
          <a:xfrm>
            <a:off x="5431225" y="26691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165"/>
          <p:cNvSpPr/>
          <p:nvPr/>
        </p:nvSpPr>
        <p:spPr>
          <a:xfrm>
            <a:off x="5431225" y="33549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3" name="Google Shape;2263;p165"/>
          <p:cNvSpPr/>
          <p:nvPr/>
        </p:nvSpPr>
        <p:spPr>
          <a:xfrm>
            <a:off x="5431225" y="4116925"/>
            <a:ext cx="1861200" cy="595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68" name="Google Shape;2268;p166"/>
          <p:cNvGraphicFramePr/>
          <p:nvPr/>
        </p:nvGraphicFramePr>
        <p:xfrm>
          <a:off x="303350" y="135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{DD6C2ED4-2F6D-4BE8-A608-6CA5187FBA3F}</a:tableStyleId>
              </a:tblPr>
              <a:tblGrid>
                <a:gridCol w="3533950"/>
                <a:gridCol w="1037925"/>
                <a:gridCol w="1461775"/>
                <a:gridCol w="964975"/>
                <a:gridCol w="1193050"/>
              </a:tblGrid>
              <a:tr h="67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Statement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Sometimes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Never true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Justify</a:t>
                      </a:r>
                      <a:endParaRPr sz="1800">
                        <a:solidFill>
                          <a:schemeClr val="lt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493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a decimal.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89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each with 2 decimal places has 4 decimal places.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762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product of two decimals is always smaller than the largest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multiplier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2269" name="Google Shape;2269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6508" y="2240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0" name="Google Shape;2270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758" y="31552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1" name="Google Shape;2271;p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76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2" name="Google Shape;2272;p166"/>
          <p:cNvSpPr txBox="1"/>
          <p:nvPr/>
        </p:nvSpPr>
        <p:spPr>
          <a:xfrm>
            <a:off x="5712425" y="2153025"/>
            <a:ext cx="2408100" cy="5934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1.5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✕ 2.3 = 3.45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E.g 2.5 ✕ 4.4 = 11</a:t>
            </a:r>
            <a:r>
              <a:rPr lang="en-GB" sz="2000">
                <a:solidFill>
                  <a:schemeClr val="dk1"/>
                </a:solidFill>
                <a:latin typeface="Kalam Light"/>
                <a:ea typeface="Kalam Light"/>
                <a:cs typeface="Kalam Light"/>
                <a:sym typeface="Kalam Light"/>
              </a:rPr>
              <a:t> </a:t>
            </a:r>
            <a:r>
              <a:rPr lang="en-GB" sz="2000">
                <a:latin typeface="Kalam Light"/>
                <a:ea typeface="Kalam Light"/>
                <a:cs typeface="Kalam Light"/>
                <a:sym typeface="Kalam Light"/>
              </a:rPr>
              <a:t> </a:t>
            </a:r>
            <a:endParaRPr sz="2000">
              <a:latin typeface="Kalam Light"/>
              <a:ea typeface="Kalam Light"/>
              <a:cs typeface="Kalam Light"/>
              <a:sym typeface="Kalam Light"/>
            </a:endParaRPr>
          </a:p>
        </p:txBody>
      </p:sp>
      <p:sp>
        <p:nvSpPr>
          <p:cNvPr id="2273" name="Google Shape;2273;p166"/>
          <p:cNvSpPr txBox="1"/>
          <p:nvPr/>
        </p:nvSpPr>
        <p:spPr>
          <a:xfrm>
            <a:off x="5576250" y="2981725"/>
            <a:ext cx="2904600" cy="6795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1.36 ✕ 1.25 = 1.7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0.45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✕ 0.89 = 0.4005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4" name="Google Shape;2274;p166"/>
          <p:cNvSpPr txBox="1"/>
          <p:nvPr/>
        </p:nvSpPr>
        <p:spPr>
          <a:xfrm>
            <a:off x="5728650" y="4003500"/>
            <a:ext cx="2648100" cy="6330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4.6 ✕ 1.3 = 5.98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 34.1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✕ 0.4 = 13.64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5" name="Google Shape;2275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Appropriate answers to calculations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166"/>
          <p:cNvSpPr txBox="1"/>
          <p:nvPr>
            <p:ph idx="1" type="body"/>
          </p:nvPr>
        </p:nvSpPr>
        <p:spPr>
          <a:xfrm>
            <a:off x="324000" y="683100"/>
            <a:ext cx="8237700" cy="59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r>
              <a:rPr lang="en-GB" sz="1800"/>
              <a:t>) Are the statements </a:t>
            </a:r>
            <a:r>
              <a:rPr lang="en-GB" sz="1800">
                <a:solidFill>
                  <a:schemeClr val="accent5"/>
                </a:solidFill>
              </a:rPr>
              <a:t>always true</a:t>
            </a:r>
            <a:r>
              <a:rPr lang="en-GB" sz="1800"/>
              <a:t>,</a:t>
            </a:r>
            <a:r>
              <a:rPr lang="en-GB" sz="1800">
                <a:solidFill>
                  <a:schemeClr val="accent4"/>
                </a:solidFill>
              </a:rPr>
              <a:t> </a:t>
            </a:r>
            <a:r>
              <a:rPr lang="en-GB" sz="1800">
                <a:solidFill>
                  <a:schemeClr val="accent5"/>
                </a:solidFill>
              </a:rPr>
              <a:t>sometimes true</a:t>
            </a:r>
            <a:r>
              <a:rPr lang="en-GB" sz="1800"/>
              <a:t> or </a:t>
            </a:r>
            <a:r>
              <a:rPr lang="en-GB" sz="1800">
                <a:solidFill>
                  <a:schemeClr val="accent5"/>
                </a:solidFill>
              </a:rPr>
              <a:t>never true</a:t>
            </a:r>
            <a:r>
              <a:rPr lang="en-GB" sz="1800"/>
              <a:t>?</a:t>
            </a:r>
            <a:r>
              <a:rPr b="1" lang="en-GB" sz="1800"/>
              <a:t> </a:t>
            </a:r>
            <a:r>
              <a:rPr lang="en-GB" sz="1800"/>
              <a:t>You can use a calculator to help justify your answers.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0" name="Shape 2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1" name="Google Shape;2281;p16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with decimals</a:t>
            </a:r>
            <a:endParaRPr/>
          </a:p>
        </p:txBody>
      </p:sp>
      <p:sp>
        <p:nvSpPr>
          <p:cNvPr id="2282" name="Google Shape;2282;p167"/>
          <p:cNvSpPr txBox="1"/>
          <p:nvPr/>
        </p:nvSpPr>
        <p:spPr>
          <a:xfrm>
            <a:off x="324000" y="890250"/>
            <a:ext cx="8205000" cy="1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 are lots of different ways to multiply integers. In this lesson we u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sed the integer multiplication strategy to find the answer to the decimal multiplication by using multiplication or division of powers of 10.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83" name="Google Shape;2283;p167"/>
          <p:cNvSpPr txBox="1"/>
          <p:nvPr/>
        </p:nvSpPr>
        <p:spPr>
          <a:xfrm>
            <a:off x="324001" y="2905550"/>
            <a:ext cx="8205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When an answer has been calculated, try to consider the magnitude of the answer given the context of a question.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7" name="Shape 2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8" name="Google Shape;2288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89" name="Google Shape;2289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