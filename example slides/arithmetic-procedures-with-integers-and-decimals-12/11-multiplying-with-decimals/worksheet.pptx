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4F08A6B-47FB-49AE-8F23-565189548470}">
  <a:tblStyle styleId="{14F08A6B-47FB-49AE-8F23-56518954847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2" name="Google Shape;14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3" name="Google Shape;143;p18"/>
          <p:cNvSpPr txBox="1"/>
          <p:nvPr>
            <p:ph idx="2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7" name="Google Shape;14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8" name="Google Shape;14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0" name="Google Shape;150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1" name="Google Shape;15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6" name="Google Shape;15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3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10.png"/><Relationship Id="rId6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1.png"/><Relationship Id="rId6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Multiplying with decimals</a:t>
            </a:r>
            <a:endParaRPr/>
          </a:p>
        </p:txBody>
      </p:sp>
      <p:sp>
        <p:nvSpPr>
          <p:cNvPr id="162" name="Google Shape;162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3" name="Google Shape;163;p20"/>
          <p:cNvSpPr txBox="1"/>
          <p:nvPr/>
        </p:nvSpPr>
        <p:spPr>
          <a:xfrm>
            <a:off x="468000" y="1526750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A: Multiplying with decimals  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468000" y="1882650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Work out the following: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468000" y="2176475"/>
            <a:ext cx="2363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20"/>
          <p:cNvSpPr txBox="1"/>
          <p:nvPr/>
        </p:nvSpPr>
        <p:spPr>
          <a:xfrm>
            <a:off x="2630569" y="2176475"/>
            <a:ext cx="501900" cy="6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7" name="Google Shape;167;p20"/>
          <p:cNvCxnSpPr/>
          <p:nvPr/>
        </p:nvCxnSpPr>
        <p:spPr>
          <a:xfrm>
            <a:off x="2408175" y="2176484"/>
            <a:ext cx="0" cy="27000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8" name="Google Shape;168;p20"/>
          <p:cNvSpPr txBox="1"/>
          <p:nvPr/>
        </p:nvSpPr>
        <p:spPr>
          <a:xfrm>
            <a:off x="4941813" y="2171944"/>
            <a:ext cx="501900" cy="6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3.7\ \times6.4\ =\ 23.68&quot;&gt;&lt;mn&gt;3.7&lt;/mn&gt;&lt;mtext&gt;&lt;/mtext&gt;&lt;mo&gt;×&lt;/mo&gt;&lt;mn&gt;6.4&lt;/mn&gt;&lt;mtext&gt;&lt;/mtext&gt;&lt;mo&gt;=&lt;/mo&gt;&lt;mtext&gt;&lt;/mtext&gt;&lt;mn&gt;23.68&lt;/mn&gt;&lt;/math&gt;" id="169" name="Google Shape;169;p20" title="3.7 times 6.4 equals 23.68"/>
          <p:cNvPicPr preferRelativeResize="0"/>
          <p:nvPr/>
        </p:nvPicPr>
        <p:blipFill rotWithShape="1">
          <a:blip r:embed="rId3">
            <a:alphaModFix/>
          </a:blip>
          <a:srcRect b="0" l="0" r="30905" t="0"/>
          <a:stretch/>
        </p:blipFill>
        <p:spPr>
          <a:xfrm>
            <a:off x="2906783" y="2164202"/>
            <a:ext cx="1553700" cy="2075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8.3\ \times11\ =\ 91.3&quot;&gt;&lt;mn&gt;8.3&lt;/mn&gt;&lt;mtext&gt;&lt;/mtext&gt;&lt;mo&gt;×&lt;/mo&gt;&lt;mn&gt;11&lt;/mn&gt;&lt;mtext&gt;&lt;/mtext&gt;&lt;mo&gt;=&lt;/mo&gt;&lt;mtext&gt;&lt;/mtext&gt;&lt;mn&gt;91.3&lt;/mn&gt;&lt;/math&gt;" id="170" name="Google Shape;170;p20" title="8.3 times 11 equals 91.3"/>
          <p:cNvPicPr preferRelativeResize="0"/>
          <p:nvPr/>
        </p:nvPicPr>
        <p:blipFill rotWithShape="1">
          <a:blip r:embed="rId4">
            <a:alphaModFix/>
          </a:blip>
          <a:srcRect b="0" l="0" r="26991" t="0"/>
          <a:stretch/>
        </p:blipFill>
        <p:spPr>
          <a:xfrm>
            <a:off x="750175" y="2172011"/>
            <a:ext cx="1447003" cy="2075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 2.1\times1.28\ =\ 2.688&quot;&gt;&lt;mtext&gt;&lt;/mtext&gt;&lt;mn&gt;2.1&lt;/mn&gt;&lt;mo&gt;×&lt;/mo&gt;&lt;mn&gt;1.28&lt;/mn&gt;&lt;mtext&gt;&lt;/mtext&gt;&lt;mo&gt;=&lt;/mo&gt;&lt;mtext&gt;&lt;/mtext&gt;&lt;mn&gt;2.688&lt;/mn&gt;&lt;/math&gt;" id="171" name="Google Shape;171;p20" title="2.1 times 1.28 equals 2.688"/>
          <p:cNvPicPr preferRelativeResize="0"/>
          <p:nvPr/>
        </p:nvPicPr>
        <p:blipFill rotWithShape="1">
          <a:blip r:embed="rId5">
            <a:alphaModFix/>
          </a:blip>
          <a:srcRect b="0" l="0" r="45133" t="0"/>
          <a:stretch/>
        </p:blipFill>
        <p:spPr>
          <a:xfrm>
            <a:off x="5194728" y="2165184"/>
            <a:ext cx="1252855" cy="20759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2" name="Google Shape;172;p20"/>
          <p:cNvCxnSpPr/>
          <p:nvPr/>
        </p:nvCxnSpPr>
        <p:spPr>
          <a:xfrm>
            <a:off x="4758563" y="2127709"/>
            <a:ext cx="0" cy="27000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3" name="Google Shape;173;p20"/>
          <p:cNvSpPr txBox="1"/>
          <p:nvPr/>
        </p:nvSpPr>
        <p:spPr>
          <a:xfrm>
            <a:off x="462800" y="4974900"/>
            <a:ext cx="2747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Tick the correct calculations.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68000" y="5346000"/>
            <a:ext cx="2952000" cy="18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A:    52.4 × 1.6 = 524 × 16 ÷ 100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B:    52.4 × 1.6 = 524 × 16 ÷ 10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C:    52.4 × 1.6 = 524 × 16 × 0.01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D:    5.24 × 1.6 = 524 × 16 ÷ 1000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E:    0.524 × 1.6 = 524 × 16 ÷ 1000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468000" y="7536301"/>
            <a:ext cx="66240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Given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Work out: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45.6 × 12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4.56 × 12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4.56 × 1.2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456\ \times12\ =\ 5\ 472&quot;&gt;&lt;mn&gt;456&lt;/mn&gt;&lt;mtext&gt;&lt;/mtext&gt;&lt;mo&gt;×&lt;/mo&gt;&lt;mn&gt;12&lt;/mn&gt;&lt;mtext&gt;&lt;/mtext&gt;&lt;mo&gt;=&lt;/mo&gt;&lt;mtext&gt;&lt;/mtext&gt;&lt;mn&gt;5&lt;/mn&gt;&lt;mtext&gt;&lt;/mtext&gt;&lt;mn&gt;472&lt;/mn&gt;&lt;/math&gt;" id="176" name="Google Shape;176;p20" title="456 times 12 equals 5 47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71425" y="7536300"/>
            <a:ext cx="1854000" cy="1696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82" name="Google Shape;182;p21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Multiplying with decimals</a:t>
            </a:r>
            <a:endParaRPr/>
          </a:p>
        </p:txBody>
      </p:sp>
      <p:sp>
        <p:nvSpPr>
          <p:cNvPr id="183" name="Google Shape;183;p21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84" name="Google Shape;184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v2.1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1"/>
          <p:cNvSpPr txBox="1"/>
          <p:nvPr/>
        </p:nvSpPr>
        <p:spPr>
          <a:xfrm>
            <a:off x="468000" y="653100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B: Appropriate answers to calculations  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6" name="Google Shape;186;p21"/>
          <p:cNvCxnSpPr/>
          <p:nvPr/>
        </p:nvCxnSpPr>
        <p:spPr>
          <a:xfrm>
            <a:off x="474757" y="619213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7" name="Google Shape;187;p21"/>
          <p:cNvSpPr txBox="1"/>
          <p:nvPr/>
        </p:nvSpPr>
        <p:spPr>
          <a:xfrm>
            <a:off x="468000" y="944700"/>
            <a:ext cx="6624000" cy="8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Using your knowledge o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identifying a reasonable answer and without working out, match the calculation to the correct answer.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2.34\ \times3.8\ =\ 8.892&quot;&gt;&lt;mn&gt;2.34&lt;/mn&gt;&lt;mtext&gt;&lt;/mtext&gt;&lt;mo&gt;×&lt;/mo&gt;&lt;mn&gt;3.8&lt;/mn&gt;&lt;mtext&gt;&lt;/mtext&gt;&lt;mo&gt;=&lt;/mo&gt;&lt;mtext&gt;&lt;/mtext&gt;&lt;mn&gt;8.892&lt;/mn&gt;&lt;/math&gt;" id="188" name="Google Shape;188;p21" title="2.34 times 3.8 equals 8.892"/>
          <p:cNvPicPr preferRelativeResize="0"/>
          <p:nvPr/>
        </p:nvPicPr>
        <p:blipFill rotWithShape="1">
          <a:blip r:embed="rId3">
            <a:alphaModFix/>
          </a:blip>
          <a:srcRect b="0" l="0" r="42296" t="0"/>
          <a:stretch/>
        </p:blipFill>
        <p:spPr>
          <a:xfrm>
            <a:off x="1534354" y="1595761"/>
            <a:ext cx="1877798" cy="2812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5.34\ \times6.8\ =\ 36.312&quot;&gt;&lt;mn&gt;5.34&lt;/mn&gt;&lt;mtext&gt;&lt;/mtext&gt;&lt;mo&gt;×&lt;/mo&gt;&lt;mn&gt;6.8&lt;/mn&gt;&lt;mtext&gt;&lt;/mtext&gt;&lt;mo&gt;=&lt;/mo&gt;&lt;mtext&gt;&lt;/mtext&gt;&lt;mn&gt;36.312&lt;/mn&gt;&lt;/math&gt;" id="189" name="Google Shape;189;p21" title="5.34 times 6.8 equals 36.312"/>
          <p:cNvPicPr preferRelativeResize="0"/>
          <p:nvPr/>
        </p:nvPicPr>
        <p:blipFill rotWithShape="1">
          <a:blip r:embed="rId4">
            <a:alphaModFix/>
          </a:blip>
          <a:srcRect b="0" l="0" r="47315" t="0"/>
          <a:stretch/>
        </p:blipFill>
        <p:spPr>
          <a:xfrm>
            <a:off x="1517320" y="2103988"/>
            <a:ext cx="1820242" cy="2812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9.34\ \times9.8\ =\ 91.532&quot;&gt;&lt;mn&gt;9.34&lt;/mn&gt;&lt;mtext&gt;&lt;/mtext&gt;&lt;mo&gt;×&lt;/mo&gt;&lt;mn&gt;9.8&lt;/mn&gt;&lt;mtext&gt;&lt;/mtext&gt;&lt;mo&gt;=&lt;/mo&gt;&lt;mtext&gt;&lt;/mtext&gt;&lt;mn&gt;91.532&lt;/mn&gt;&lt;/math&gt;" id="190" name="Google Shape;190;p21" title="9.34 times 9.8 equals 91.532"/>
          <p:cNvPicPr preferRelativeResize="0"/>
          <p:nvPr/>
        </p:nvPicPr>
        <p:blipFill rotWithShape="1">
          <a:blip r:embed="rId5">
            <a:alphaModFix/>
          </a:blip>
          <a:srcRect b="0" l="0" r="45755" t="0"/>
          <a:stretch/>
        </p:blipFill>
        <p:spPr>
          <a:xfrm>
            <a:off x="1513968" y="2612215"/>
            <a:ext cx="1877798" cy="2812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.5\ \times2.8\ =\ 9.8&quot;&gt;&lt;mn&gt;3.5&lt;/mn&gt;&lt;mtext&gt;&lt;/mtext&gt;&lt;mo&gt;×&lt;/mo&gt;&lt;mn&gt;2.8&lt;/mn&gt;&lt;mtext&gt;&lt;/mtext&gt;&lt;mo&gt;=&lt;/mo&gt;&lt;mtext&gt;&lt;/mtext&gt;&lt;mn&gt;9.8&lt;/mn&gt;&lt;/math&gt;" id="191" name="Google Shape;191;p21" title="3.5 times 2.8 equals 9.8"/>
          <p:cNvPicPr preferRelativeResize="0"/>
          <p:nvPr/>
        </p:nvPicPr>
        <p:blipFill rotWithShape="1">
          <a:blip r:embed="rId6">
            <a:alphaModFix/>
          </a:blip>
          <a:srcRect b="0" l="0" r="38011" t="0"/>
          <a:stretch/>
        </p:blipFill>
        <p:spPr>
          <a:xfrm>
            <a:off x="1513968" y="3118720"/>
            <a:ext cx="1614590" cy="2879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.34\ \times3.8\ =\ 8.892&quot;&gt;&lt;mn&gt;2.34&lt;/mn&gt;&lt;mtext&gt;&lt;/mtext&gt;&lt;mo&gt;×&lt;/mo&gt;&lt;mn&gt;3.8&lt;/mn&gt;&lt;mtext&gt;&lt;/mtext&gt;&lt;mo&gt;=&lt;/mo&gt;&lt;mtext&gt;&lt;/mtext&gt;&lt;mn&gt;8.892&lt;/mn&gt;&lt;/math&gt;" id="192" name="Google Shape;192;p21" title="2.34 times 3.8 equals 8.892"/>
          <p:cNvPicPr preferRelativeResize="0"/>
          <p:nvPr/>
        </p:nvPicPr>
        <p:blipFill rotWithShape="1">
          <a:blip r:embed="rId3">
            <a:alphaModFix/>
          </a:blip>
          <a:srcRect b="0" l="70483" r="0" t="0"/>
          <a:stretch/>
        </p:blipFill>
        <p:spPr>
          <a:xfrm>
            <a:off x="4173095" y="2556927"/>
            <a:ext cx="960515" cy="2812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5.34\ \times6.8\ =\ 36.312&quot;&gt;&lt;mn&gt;5.34&lt;/mn&gt;&lt;mtext&gt;&lt;/mtext&gt;&lt;mo&gt;×&lt;/mo&gt;&lt;mn&gt;6.8&lt;/mn&gt;&lt;mtext&gt;&lt;/mtext&gt;&lt;mo&gt;=&lt;/mo&gt;&lt;mtext&gt;&lt;/mtext&gt;&lt;mn&gt;36.312&lt;/mn&gt;&lt;/math&gt;" id="193" name="Google Shape;193;p21" title="5.34 times 6.8 equals 36.312"/>
          <p:cNvPicPr preferRelativeResize="0"/>
          <p:nvPr/>
        </p:nvPicPr>
        <p:blipFill rotWithShape="1">
          <a:blip r:embed="rId4">
            <a:alphaModFix/>
          </a:blip>
          <a:srcRect b="0" l="64920" r="0" t="0"/>
          <a:stretch/>
        </p:blipFill>
        <p:spPr>
          <a:xfrm>
            <a:off x="4072272" y="2050422"/>
            <a:ext cx="1211983" cy="2812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9.34\ \times9.8\ =\ 91.532&quot;&gt;&lt;mn&gt;9.34&lt;/mn&gt;&lt;mtext&gt;&lt;/mtext&gt;&lt;mo&gt;×&lt;/mo&gt;&lt;mn&gt;9.8&lt;/mn&gt;&lt;mtext&gt;&lt;/mtext&gt;&lt;mo&gt;=&lt;/mo&gt;&lt;mtext&gt;&lt;/mtext&gt;&lt;mn&gt;91.532&lt;/mn&gt;&lt;/math&gt;" id="194" name="Google Shape;194;p21" title="9.34 times 9.8 equals 91.532"/>
          <p:cNvPicPr preferRelativeResize="0"/>
          <p:nvPr/>
        </p:nvPicPr>
        <p:blipFill rotWithShape="1">
          <a:blip r:embed="rId5">
            <a:alphaModFix/>
          </a:blip>
          <a:srcRect b="0" l="66257" r="0" t="0"/>
          <a:stretch/>
        </p:blipFill>
        <p:spPr>
          <a:xfrm>
            <a:off x="4141580" y="1543918"/>
            <a:ext cx="1168083" cy="2812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.5\ \times2.8\ =\ 9.8&quot;&gt;&lt;mn&gt;3.5&lt;/mn&gt;&lt;mtext&gt;&lt;/mtext&gt;&lt;mo&gt;×&lt;/mo&gt;&lt;mn&gt;2.8&lt;/mn&gt;&lt;mtext&gt;&lt;/mtext&gt;&lt;mo&gt;=&lt;/mo&gt;&lt;mtext&gt;&lt;/mtext&gt;&lt;mn&gt;9.8&lt;/mn&gt;&lt;/math&gt;" id="195" name="Google Shape;195;p21" title="3.5 times 2.8 equals 9.8"/>
          <p:cNvPicPr preferRelativeResize="0"/>
          <p:nvPr/>
        </p:nvPicPr>
        <p:blipFill rotWithShape="1">
          <a:blip r:embed="rId6">
            <a:alphaModFix/>
          </a:blip>
          <a:srcRect b="0" l="77117" r="-7676" t="0"/>
          <a:stretch/>
        </p:blipFill>
        <p:spPr>
          <a:xfrm>
            <a:off x="4171732" y="3110695"/>
            <a:ext cx="795950" cy="287917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1"/>
          <p:cNvSpPr/>
          <p:nvPr/>
        </p:nvSpPr>
        <p:spPr>
          <a:xfrm>
            <a:off x="1387663" y="1520070"/>
            <a:ext cx="2004000" cy="418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1"/>
          <p:cNvSpPr/>
          <p:nvPr/>
        </p:nvSpPr>
        <p:spPr>
          <a:xfrm>
            <a:off x="1387663" y="2035185"/>
            <a:ext cx="2004000" cy="418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1"/>
          <p:cNvSpPr/>
          <p:nvPr/>
        </p:nvSpPr>
        <p:spPr>
          <a:xfrm>
            <a:off x="1387663" y="2542551"/>
            <a:ext cx="2004000" cy="418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1"/>
          <p:cNvSpPr/>
          <p:nvPr/>
        </p:nvSpPr>
        <p:spPr>
          <a:xfrm>
            <a:off x="1387663" y="3049917"/>
            <a:ext cx="2004000" cy="418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1"/>
          <p:cNvSpPr/>
          <p:nvPr/>
        </p:nvSpPr>
        <p:spPr>
          <a:xfrm>
            <a:off x="4144027" y="1471600"/>
            <a:ext cx="1308300" cy="418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1"/>
          <p:cNvSpPr/>
          <p:nvPr/>
        </p:nvSpPr>
        <p:spPr>
          <a:xfrm>
            <a:off x="4144027" y="2007260"/>
            <a:ext cx="1308300" cy="418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1"/>
          <p:cNvSpPr/>
          <p:nvPr/>
        </p:nvSpPr>
        <p:spPr>
          <a:xfrm>
            <a:off x="4144027" y="2489354"/>
            <a:ext cx="1308300" cy="418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1"/>
          <p:cNvSpPr/>
          <p:nvPr/>
        </p:nvSpPr>
        <p:spPr>
          <a:xfrm>
            <a:off x="4144027" y="3025014"/>
            <a:ext cx="1308300" cy="418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04" name="Google Shape;204;p21"/>
          <p:cNvGraphicFramePr/>
          <p:nvPr/>
        </p:nvGraphicFramePr>
        <p:xfrm>
          <a:off x="481425" y="49709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{14F08A6B-47FB-49AE-8F23-565189548470}</a:tableStyleId>
              </a:tblPr>
              <a:tblGrid>
                <a:gridCol w="2319375"/>
                <a:gridCol w="710075"/>
                <a:gridCol w="1048250"/>
                <a:gridCol w="750525"/>
                <a:gridCol w="1782275"/>
              </a:tblGrid>
              <a:tr h="456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Statement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Always true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Sometimes true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Never true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Justify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456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The product of two decimals is always a decimal.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608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The product of two decimals each with 2 decimal places has 4 decimal places.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608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The product of two decimals is always smaller than the largest multiplier.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05" name="Google Shape;205;p21"/>
          <p:cNvSpPr txBox="1"/>
          <p:nvPr/>
        </p:nvSpPr>
        <p:spPr>
          <a:xfrm>
            <a:off x="441850" y="4286275"/>
            <a:ext cx="6650100" cy="5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Are the statements always true, sometimes true or never true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?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You can use a calculator to help justify your answers.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LD THEM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