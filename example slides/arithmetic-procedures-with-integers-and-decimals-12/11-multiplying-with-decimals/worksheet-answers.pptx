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84DA52-111E-4E41-975D-F2EC9E67C154}">
  <a:tblStyle styleId="{C984DA52-111E-4E41-975D-F2EC9E67C1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5267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Multiplying with decimals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462800" y="25671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{C984DA52-111E-4E41-975D-F2EC9E67C154}</a:tableStyleId>
              </a:tblPr>
              <a:tblGrid>
                <a:gridCol w="416450"/>
                <a:gridCol w="475725"/>
                <a:gridCol w="554800"/>
              </a:tblGrid>
              <a:tr h="32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✕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2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800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2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/>
        </p:nvSpPr>
        <p:spPr>
          <a:xfrm>
            <a:off x="468000" y="18826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2176475"/>
            <a:ext cx="23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630569" y="2176475"/>
            <a:ext cx="5019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>
            <a:off x="2408175" y="2176484"/>
            <a:ext cx="0" cy="2700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0"/>
          <p:cNvSpPr txBox="1"/>
          <p:nvPr/>
        </p:nvSpPr>
        <p:spPr>
          <a:xfrm>
            <a:off x="4941813" y="2171944"/>
            <a:ext cx="5019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.7\ \times6.4\ =\ 23.68&quot;&gt;&lt;mn&gt;3.7&lt;/mn&gt;&lt;mtext&gt;&lt;/mtext&gt;&lt;mo&gt;×&lt;/mo&gt;&lt;mn&gt;6.4&lt;/mn&gt;&lt;mtext&gt;&lt;/mtext&gt;&lt;mo&gt;=&lt;/mo&gt;&lt;mtext&gt;&lt;/mtext&gt;&lt;mn&gt;23.68&lt;/mn&gt;&lt;/math&gt;" id="180" name="Google Shape;180;p20" title="3.7 times 6.4 equals 23.68"/>
          <p:cNvPicPr preferRelativeResize="0"/>
          <p:nvPr/>
        </p:nvPicPr>
        <p:blipFill rotWithShape="1">
          <a:blip r:embed="rId3">
            <a:alphaModFix/>
          </a:blip>
          <a:srcRect b="0" l="0" r="30905" t="0"/>
          <a:stretch/>
        </p:blipFill>
        <p:spPr>
          <a:xfrm>
            <a:off x="2906783" y="2164202"/>
            <a:ext cx="1553700" cy="207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.3\ \times11\ =\ 91.3&quot;&gt;&lt;mn&gt;8.3&lt;/mn&gt;&lt;mtext&gt;&lt;/mtext&gt;&lt;mo&gt;×&lt;/mo&gt;&lt;mn&gt;11&lt;/mn&gt;&lt;mtext&gt;&lt;/mtext&gt;&lt;mo&gt;=&lt;/mo&gt;&lt;mtext&gt;&lt;/mtext&gt;&lt;mn&gt;91.3&lt;/mn&gt;&lt;/math&gt;" id="181" name="Google Shape;181;p20" title="8.3 times 11 equals 91.3"/>
          <p:cNvPicPr preferRelativeResize="0"/>
          <p:nvPr/>
        </p:nvPicPr>
        <p:blipFill rotWithShape="1">
          <a:blip r:embed="rId4">
            <a:alphaModFix/>
          </a:blip>
          <a:srcRect b="0" l="0" r="26991" t="0"/>
          <a:stretch/>
        </p:blipFill>
        <p:spPr>
          <a:xfrm>
            <a:off x="750175" y="2172011"/>
            <a:ext cx="1447003" cy="207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2.1\times1.28\ =\ 2.688&quot;&gt;&lt;mtext&gt;&lt;/mtext&gt;&lt;mn&gt;2.1&lt;/mn&gt;&lt;mo&gt;×&lt;/mo&gt;&lt;mn&gt;1.28&lt;/mn&gt;&lt;mtext&gt;&lt;/mtext&gt;&lt;mo&gt;=&lt;/mo&gt;&lt;mtext&gt;&lt;/mtext&gt;&lt;mn&gt;2.688&lt;/mn&gt;&lt;/math&gt;" id="182" name="Google Shape;182;p20" title="2.1 times 1.28 equals 2.688"/>
          <p:cNvPicPr preferRelativeResize="0"/>
          <p:nvPr/>
        </p:nvPicPr>
        <p:blipFill rotWithShape="1">
          <a:blip r:embed="rId5">
            <a:alphaModFix/>
          </a:blip>
          <a:srcRect b="0" l="0" r="45133" t="0"/>
          <a:stretch/>
        </p:blipFill>
        <p:spPr>
          <a:xfrm>
            <a:off x="5194728" y="2165184"/>
            <a:ext cx="1252855" cy="20759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462800" y="3851925"/>
            <a:ext cx="16212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8.3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 11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83 × 0.1 ×  11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83 × 11 × 0.1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913 × 0.1 = 91.3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4" name="Google Shape;184;p20"/>
          <p:cNvGraphicFramePr/>
          <p:nvPr/>
        </p:nvGraphicFramePr>
        <p:xfrm>
          <a:off x="2621856" y="25671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{C984DA52-111E-4E41-975D-F2EC9E67C154}</a:tableStyleId>
              </a:tblPr>
              <a:tblGrid>
                <a:gridCol w="466575"/>
                <a:gridCol w="533025"/>
                <a:gridCol w="621600"/>
              </a:tblGrid>
              <a:tr h="35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✕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5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5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5" name="Google Shape;185;p20"/>
          <p:cNvSpPr txBox="1"/>
          <p:nvPr/>
        </p:nvSpPr>
        <p:spPr>
          <a:xfrm>
            <a:off x="2606400" y="3859725"/>
            <a:ext cx="18540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3.7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6.4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37 × 0.1 × 64 × 0.1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37 × 64 × 0.01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2368 × 0.01 = 23.68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6" name="Google Shape;186;p20"/>
          <p:cNvGraphicFramePr/>
          <p:nvPr/>
        </p:nvGraphicFramePr>
        <p:xfrm>
          <a:off x="4982788" y="25671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{C984DA52-111E-4E41-975D-F2EC9E67C154}</a:tableStyleId>
              </a:tblPr>
              <a:tblGrid>
                <a:gridCol w="579125"/>
                <a:gridCol w="539425"/>
                <a:gridCol w="435150"/>
              </a:tblGrid>
              <a:tr h="32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✕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2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2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2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7" name="Google Shape;187;p20"/>
          <p:cNvSpPr txBox="1"/>
          <p:nvPr/>
        </p:nvSpPr>
        <p:spPr>
          <a:xfrm>
            <a:off x="4982800" y="4101525"/>
            <a:ext cx="18540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 × 0.1 × 128 × 0.01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 × 128 × 0.001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2688 × 0.01 = 2.688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>
            <a:off x="4758563" y="2127709"/>
            <a:ext cx="0" cy="2700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0"/>
          <p:cNvSpPr txBox="1"/>
          <p:nvPr/>
        </p:nvSpPr>
        <p:spPr>
          <a:xfrm>
            <a:off x="462800" y="4974900"/>
            <a:ext cx="274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Tick the correct calculations.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68000" y="5346000"/>
            <a:ext cx="2952000" cy="18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A:    52.4 × 1.6 = 524 × 16 ÷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B:    52.4 × 1.6 = 524 × 16 ÷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C:    52.4 × 1.6 = 524 × 16 × 0.01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D:    5.24 × 1.6 = 524 × 16 ÷ 1000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E:    0.524 × 1.6 = 524 × 16 ÷ 1000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" name="Google Shape;191;p20"/>
          <p:cNvPicPr preferRelativeResize="0"/>
          <p:nvPr/>
        </p:nvPicPr>
        <p:blipFill rotWithShape="1">
          <a:blip r:embed="rId6">
            <a:alphaModFix/>
          </a:blip>
          <a:srcRect b="-12989" l="-10470" r="10469" t="12990"/>
          <a:stretch/>
        </p:blipFill>
        <p:spPr>
          <a:xfrm>
            <a:off x="2906775" y="6167999"/>
            <a:ext cx="266375" cy="28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 rotWithShape="1">
          <a:blip r:embed="rId6">
            <a:alphaModFix/>
          </a:blip>
          <a:srcRect b="-12989" l="-10470" r="10469" t="12990"/>
          <a:stretch/>
        </p:blipFill>
        <p:spPr>
          <a:xfrm>
            <a:off x="2891450" y="6527499"/>
            <a:ext cx="266375" cy="28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6">
            <a:alphaModFix/>
          </a:blip>
          <a:srcRect b="-12989" l="-10470" r="10469" t="12990"/>
          <a:stretch/>
        </p:blipFill>
        <p:spPr>
          <a:xfrm>
            <a:off x="2831400" y="5422200"/>
            <a:ext cx="266375" cy="28191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468000" y="7536301"/>
            <a:ext cx="6624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Given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45.6 × 12 =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547.2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4.56 × 12 =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54.72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4.56 × 1.2 =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5.472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456\ \times12\ =\ 5\ 472&quot;&gt;&lt;mn&gt;456&lt;/mn&gt;&lt;mtext&gt;&lt;/mtext&gt;&lt;mo&gt;×&lt;/mo&gt;&lt;mn&gt;12&lt;/mn&gt;&lt;mtext&gt;&lt;/mtext&gt;&lt;mo&gt;=&lt;/mo&gt;&lt;mtext&gt;&lt;/mtext&gt;&lt;mn&gt;5&lt;/mn&gt;&lt;mtext&gt;&lt;/mtext&gt;&lt;mn&gt;472&lt;/mn&gt;&lt;/math&gt;" id="195" name="Google Shape;195;p20" title="456 times 12 equals 5 4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71425" y="7536300"/>
            <a:ext cx="1854000" cy="16963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2084000" y="8120537"/>
            <a:ext cx="4680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We know 456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12 = 5472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 456 × 0.1 × 12 = 547.2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084000" y="8421225"/>
            <a:ext cx="51498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We know 456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12 = 5472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 456 × 0.01 × 12 = 54.72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2084000" y="8781000"/>
            <a:ext cx="4451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We know 456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12 = 5472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 456 × 0.01 × 12 × 0.1 = 5.472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8817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Appropriate answers to calculations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1"/>
          <p:cNvCxnSpPr/>
          <p:nvPr/>
        </p:nvCxnSpPr>
        <p:spPr>
          <a:xfrm>
            <a:off x="474757" y="7716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1"/>
          <p:cNvSpPr txBox="1"/>
          <p:nvPr/>
        </p:nvSpPr>
        <p:spPr>
          <a:xfrm>
            <a:off x="468000" y="1173300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your knowledge o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identifying a reasonable answer and without working out, match the calculation to the correct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.34\ \times3.8\ =\ 8.892&quot;&gt;&lt;mn&gt;2.34&lt;/mn&gt;&lt;mtext&gt;&lt;/mtext&gt;&lt;mo&gt;×&lt;/mo&gt;&lt;mn&gt;3.8&lt;/mn&gt;&lt;mtext&gt;&lt;/mtext&gt;&lt;mo&gt;=&lt;/mo&gt;&lt;mtext&gt;&lt;/mtext&gt;&lt;mn&gt;8.892&lt;/mn&gt;&lt;/math&gt;" id="210" name="Google Shape;210;p21" title="2.34 times 3.8 equals 8.892"/>
          <p:cNvPicPr preferRelativeResize="0"/>
          <p:nvPr/>
        </p:nvPicPr>
        <p:blipFill rotWithShape="1">
          <a:blip r:embed="rId3">
            <a:alphaModFix/>
          </a:blip>
          <a:srcRect b="0" l="0" r="42296" t="0"/>
          <a:stretch/>
        </p:blipFill>
        <p:spPr>
          <a:xfrm>
            <a:off x="1534354" y="1824361"/>
            <a:ext cx="1877798" cy="281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.34\ \times6.8\ =\ 36.312&quot;&gt;&lt;mn&gt;5.34&lt;/mn&gt;&lt;mtext&gt;&lt;/mtext&gt;&lt;mo&gt;×&lt;/mo&gt;&lt;mn&gt;6.8&lt;/mn&gt;&lt;mtext&gt;&lt;/mtext&gt;&lt;mo&gt;=&lt;/mo&gt;&lt;mtext&gt;&lt;/mtext&gt;&lt;mn&gt;36.312&lt;/mn&gt;&lt;/math&gt;" id="211" name="Google Shape;211;p21" title="5.34 times 6.8 equals 36.312"/>
          <p:cNvPicPr preferRelativeResize="0"/>
          <p:nvPr/>
        </p:nvPicPr>
        <p:blipFill rotWithShape="1">
          <a:blip r:embed="rId4">
            <a:alphaModFix/>
          </a:blip>
          <a:srcRect b="0" l="0" r="47315" t="0"/>
          <a:stretch/>
        </p:blipFill>
        <p:spPr>
          <a:xfrm>
            <a:off x="1517320" y="2332588"/>
            <a:ext cx="1820242" cy="281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.34\ \times9.8\ =\ 91.532&quot;&gt;&lt;mn&gt;9.34&lt;/mn&gt;&lt;mtext&gt;&lt;/mtext&gt;&lt;mo&gt;×&lt;/mo&gt;&lt;mn&gt;9.8&lt;/mn&gt;&lt;mtext&gt;&lt;/mtext&gt;&lt;mo&gt;=&lt;/mo&gt;&lt;mtext&gt;&lt;/mtext&gt;&lt;mn&gt;91.532&lt;/mn&gt;&lt;/math&gt;" id="212" name="Google Shape;212;p21" title="9.34 times 9.8 equals 91.532"/>
          <p:cNvPicPr preferRelativeResize="0"/>
          <p:nvPr/>
        </p:nvPicPr>
        <p:blipFill rotWithShape="1">
          <a:blip r:embed="rId5">
            <a:alphaModFix/>
          </a:blip>
          <a:srcRect b="0" l="0" r="45755" t="0"/>
          <a:stretch/>
        </p:blipFill>
        <p:spPr>
          <a:xfrm>
            <a:off x="1513968" y="2840815"/>
            <a:ext cx="1877798" cy="281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5\ \times2.8\ =\ 9.8&quot;&gt;&lt;mn&gt;3.5&lt;/mn&gt;&lt;mtext&gt;&lt;/mtext&gt;&lt;mo&gt;×&lt;/mo&gt;&lt;mn&gt;2.8&lt;/mn&gt;&lt;mtext&gt;&lt;/mtext&gt;&lt;mo&gt;=&lt;/mo&gt;&lt;mtext&gt;&lt;/mtext&gt;&lt;mn&gt;9.8&lt;/mn&gt;&lt;/math&gt;" id="213" name="Google Shape;213;p21" title="3.5 times 2.8 equals 9.8"/>
          <p:cNvPicPr preferRelativeResize="0"/>
          <p:nvPr/>
        </p:nvPicPr>
        <p:blipFill rotWithShape="1">
          <a:blip r:embed="rId6">
            <a:alphaModFix/>
          </a:blip>
          <a:srcRect b="0" l="0" r="38011" t="0"/>
          <a:stretch/>
        </p:blipFill>
        <p:spPr>
          <a:xfrm>
            <a:off x="1513968" y="3347320"/>
            <a:ext cx="1614590" cy="287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.34\ \times3.8\ =\ 8.892&quot;&gt;&lt;mn&gt;2.34&lt;/mn&gt;&lt;mtext&gt;&lt;/mtext&gt;&lt;mo&gt;×&lt;/mo&gt;&lt;mn&gt;3.8&lt;/mn&gt;&lt;mtext&gt;&lt;/mtext&gt;&lt;mo&gt;=&lt;/mo&gt;&lt;mtext&gt;&lt;/mtext&gt;&lt;mn&gt;8.892&lt;/mn&gt;&lt;/math&gt;" id="214" name="Google Shape;214;p21" title="2.34 times 3.8 equals 8.892"/>
          <p:cNvPicPr preferRelativeResize="0"/>
          <p:nvPr/>
        </p:nvPicPr>
        <p:blipFill rotWithShape="1">
          <a:blip r:embed="rId3">
            <a:alphaModFix/>
          </a:blip>
          <a:srcRect b="0" l="70483" r="0" t="0"/>
          <a:stretch/>
        </p:blipFill>
        <p:spPr>
          <a:xfrm>
            <a:off x="4173095" y="2785527"/>
            <a:ext cx="960515" cy="281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.34\ \times6.8\ =\ 36.312&quot;&gt;&lt;mn&gt;5.34&lt;/mn&gt;&lt;mtext&gt;&lt;/mtext&gt;&lt;mo&gt;×&lt;/mo&gt;&lt;mn&gt;6.8&lt;/mn&gt;&lt;mtext&gt;&lt;/mtext&gt;&lt;mo&gt;=&lt;/mo&gt;&lt;mtext&gt;&lt;/mtext&gt;&lt;mn&gt;36.312&lt;/mn&gt;&lt;/math&gt;" id="215" name="Google Shape;215;p21" title="5.34 times 6.8 equals 36.312"/>
          <p:cNvPicPr preferRelativeResize="0"/>
          <p:nvPr/>
        </p:nvPicPr>
        <p:blipFill rotWithShape="1">
          <a:blip r:embed="rId4">
            <a:alphaModFix/>
          </a:blip>
          <a:srcRect b="0" l="64920" r="0" t="0"/>
          <a:stretch/>
        </p:blipFill>
        <p:spPr>
          <a:xfrm>
            <a:off x="4072272" y="2279022"/>
            <a:ext cx="1211983" cy="281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.34\ \times9.8\ =\ 91.532&quot;&gt;&lt;mn&gt;9.34&lt;/mn&gt;&lt;mtext&gt;&lt;/mtext&gt;&lt;mo&gt;×&lt;/mo&gt;&lt;mn&gt;9.8&lt;/mn&gt;&lt;mtext&gt;&lt;/mtext&gt;&lt;mo&gt;=&lt;/mo&gt;&lt;mtext&gt;&lt;/mtext&gt;&lt;mn&gt;91.532&lt;/mn&gt;&lt;/math&gt;" id="216" name="Google Shape;216;p21" title="9.34 times 9.8 equals 91.532"/>
          <p:cNvPicPr preferRelativeResize="0"/>
          <p:nvPr/>
        </p:nvPicPr>
        <p:blipFill rotWithShape="1">
          <a:blip r:embed="rId5">
            <a:alphaModFix/>
          </a:blip>
          <a:srcRect b="0" l="66257" r="0" t="0"/>
          <a:stretch/>
        </p:blipFill>
        <p:spPr>
          <a:xfrm>
            <a:off x="4141580" y="1772518"/>
            <a:ext cx="1168083" cy="281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5\ \times2.8\ =\ 9.8&quot;&gt;&lt;mn&gt;3.5&lt;/mn&gt;&lt;mtext&gt;&lt;/mtext&gt;&lt;mo&gt;×&lt;/mo&gt;&lt;mn&gt;2.8&lt;/mn&gt;&lt;mtext&gt;&lt;/mtext&gt;&lt;mo&gt;=&lt;/mo&gt;&lt;mtext&gt;&lt;/mtext&gt;&lt;mn&gt;9.8&lt;/mn&gt;&lt;/math&gt;" id="217" name="Google Shape;217;p21" title="3.5 times 2.8 equals 9.8"/>
          <p:cNvPicPr preferRelativeResize="0"/>
          <p:nvPr/>
        </p:nvPicPr>
        <p:blipFill rotWithShape="1">
          <a:blip r:embed="rId6">
            <a:alphaModFix/>
          </a:blip>
          <a:srcRect b="0" l="77117" r="-7676" t="0"/>
          <a:stretch/>
        </p:blipFill>
        <p:spPr>
          <a:xfrm>
            <a:off x="4171732" y="3339295"/>
            <a:ext cx="795950" cy="28791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/>
          <p:nvPr/>
        </p:nvSpPr>
        <p:spPr>
          <a:xfrm>
            <a:off x="1387663" y="1748670"/>
            <a:ext cx="20040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1387663" y="2263785"/>
            <a:ext cx="20040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1387663" y="2771151"/>
            <a:ext cx="20040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1387663" y="3278517"/>
            <a:ext cx="20040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" name="Google Shape;222;p21"/>
          <p:cNvCxnSpPr>
            <a:stCxn id="218" idx="3"/>
            <a:endCxn id="223" idx="1"/>
          </p:cNvCxnSpPr>
          <p:nvPr/>
        </p:nvCxnSpPr>
        <p:spPr>
          <a:xfrm>
            <a:off x="3391663" y="1958070"/>
            <a:ext cx="752400" cy="969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1"/>
          <p:cNvCxnSpPr>
            <a:stCxn id="219" idx="3"/>
            <a:endCxn id="225" idx="1"/>
          </p:cNvCxnSpPr>
          <p:nvPr/>
        </p:nvCxnSpPr>
        <p:spPr>
          <a:xfrm flipH="1" rot="10800000">
            <a:off x="3391663" y="2445285"/>
            <a:ext cx="752400" cy="27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1"/>
          <p:cNvCxnSpPr>
            <a:stCxn id="220" idx="3"/>
            <a:endCxn id="227" idx="1"/>
          </p:cNvCxnSpPr>
          <p:nvPr/>
        </p:nvCxnSpPr>
        <p:spPr>
          <a:xfrm flipH="1" rot="10800000">
            <a:off x="3391663" y="1909551"/>
            <a:ext cx="752400" cy="107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21"/>
          <p:cNvCxnSpPr>
            <a:stCxn id="221" idx="3"/>
            <a:endCxn id="229" idx="1"/>
          </p:cNvCxnSpPr>
          <p:nvPr/>
        </p:nvCxnSpPr>
        <p:spPr>
          <a:xfrm flipH="1" rot="10800000">
            <a:off x="3391663" y="3463017"/>
            <a:ext cx="752400" cy="24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1"/>
          <p:cNvSpPr/>
          <p:nvPr/>
        </p:nvSpPr>
        <p:spPr>
          <a:xfrm>
            <a:off x="4144027" y="1700200"/>
            <a:ext cx="13083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4144027" y="2235860"/>
            <a:ext cx="13083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4144027" y="2717954"/>
            <a:ext cx="13083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144027" y="3253614"/>
            <a:ext cx="13083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0" name="Google Shape;230;p21"/>
          <p:cNvGraphicFramePr/>
          <p:nvPr/>
        </p:nvGraphicFramePr>
        <p:xfrm>
          <a:off x="481425" y="5199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{C984DA52-111E-4E41-975D-F2EC9E67C154}</a:tableStyleId>
              </a:tblPr>
              <a:tblGrid>
                <a:gridCol w="2319375"/>
                <a:gridCol w="710075"/>
                <a:gridCol w="1048250"/>
                <a:gridCol w="750525"/>
                <a:gridCol w="1782275"/>
              </a:tblGrid>
              <a:tr h="45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true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Sometimes true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Never true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Justify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5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product of two decimals is always a decimal.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60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product of two decimals each with 2 decimal places has 4 decimal places.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60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product of two decimals is always smaller than the largest multiplier.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31" name="Google Shape;231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67483" y="57693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67483" y="645328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67483" y="71848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5309525" y="5769475"/>
            <a:ext cx="1695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1.5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✕ 2.3 = 3.45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 2.5 ✕ 4.4 = 11</a:t>
            </a:r>
            <a:r>
              <a:rPr lang="en-GB" sz="1200">
                <a:solidFill>
                  <a:srgbClr val="000000"/>
                </a:solidFill>
                <a:latin typeface="Kalam Light"/>
                <a:ea typeface="Kalam Light"/>
                <a:cs typeface="Kalam Light"/>
                <a:sym typeface="Kalam Light"/>
              </a:rPr>
              <a:t> </a:t>
            </a:r>
            <a:r>
              <a:rPr lang="en-GB" sz="1200">
                <a:latin typeface="Kalam Light"/>
                <a:ea typeface="Kalam Light"/>
                <a:cs typeface="Kalam Light"/>
                <a:sym typeface="Kalam Light"/>
              </a:rPr>
              <a:t> </a:t>
            </a:r>
            <a:endParaRPr sz="1200">
              <a:latin typeface="Kalam Light"/>
              <a:ea typeface="Kalam Light"/>
              <a:cs typeface="Kalam Light"/>
              <a:sym typeface="Kalam Light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309650" y="6339350"/>
            <a:ext cx="16956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1.36 ✕ 1.25 = 1.7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0.45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✕ 089 = 0.4005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5309650" y="7077825"/>
            <a:ext cx="16956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4.6 ✕ 1.3 = 5.98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 34.1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✕ 0.4 = 13.64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41850" y="4514875"/>
            <a:ext cx="66501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Are the statements always true, sometimes true or never true? You can use a calculator to help justify your answers.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