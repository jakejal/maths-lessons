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positive integers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5130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Multiplication, division, addition and subtraction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92800" y="1804275"/>
            <a:ext cx="6624000" cy="12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answers to the following. Ensure to show all your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+ 6 × 2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100 − 20 ÷ 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3420000" y="19790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× 10 − 24 ÷ 8</a:t>
            </a:r>
            <a:endParaRPr sz="1200"/>
          </a:p>
        </p:txBody>
      </p:sp>
      <p:sp>
        <p:nvSpPr>
          <p:cNvPr id="166" name="Google Shape;166;p20"/>
          <p:cNvSpPr/>
          <p:nvPr/>
        </p:nvSpPr>
        <p:spPr>
          <a:xfrm>
            <a:off x="4465798" y="4287525"/>
            <a:ext cx="2217300" cy="1649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890150" y="4326050"/>
            <a:ext cx="1799700" cy="1560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45450" y="3737175"/>
            <a:ext cx="66714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Sam and Sofia do the same calculation differently. Whos is correct? Explain what they should have done differently.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10+15\div3\times4\\&amp;#13;&amp;#10;10\ +\frac{15}{3}\times4\\&amp;#13;&amp;#10;10+5\times4\\&amp;#13;&amp;#10;10+20\ =\ 30\end{array}&quot;&gt;&lt;mtable columnalign=&quot;left&quot; columnspacing=&quot;1em&quot; rowspacing=&quot;4pt&quot;&gt;&lt;mtr&gt;&lt;mtd&gt;&lt;mn&gt;10&lt;/mn&gt;&lt;mo&gt;+&lt;/mo&gt;&lt;mn&gt;15&lt;/mn&gt;&lt;mo&gt;÷&lt;/mo&gt;&lt;mn&gt;3&lt;/mn&gt;&lt;mo&gt;×&lt;/mo&gt;&lt;mn&gt;4&lt;/mn&gt;&lt;/mtd&gt;&lt;/mtr&gt;&lt;mtr&gt;&lt;mtd&gt;&lt;mn&gt;10&lt;/mn&gt;&lt;mtext&gt;&lt;/mtext&gt;&lt;mo&gt;+&lt;/mo&gt;&lt;mfrac&gt;&lt;mn&gt;15&lt;/mn&gt;&lt;mn&gt;3&lt;/mn&gt;&lt;/mfrac&gt;&lt;mo&gt;×&lt;/mo&gt;&lt;mn&gt;4&lt;/mn&gt;&lt;/mtd&gt;&lt;/mtr&gt;&lt;mtr&gt;&lt;mtd&gt;&lt;mn&gt;10&lt;/mn&gt;&lt;mo&gt;+&lt;/mo&gt;&lt;mn&gt;5&lt;/mn&gt;&lt;mo&gt;×&lt;/mo&gt;&lt;mn&gt;4&lt;/mn&gt;&lt;/mtd&gt;&lt;/mtr&gt;&lt;mtr&gt;&lt;mtd&gt;&lt;mn&gt;10&lt;/mn&gt;&lt;mo&gt;+&lt;/mo&gt;&lt;mn&gt;20&lt;/mn&gt;&lt;mtext&gt;&lt;/mtext&gt;&lt;mo&gt;=&lt;/mo&gt;&lt;mtext&gt;&lt;/mtext&gt;&lt;mn&gt;30&lt;/mn&gt;&lt;/mtd&gt;&lt;/mtr&gt;&lt;/mtable&gt;&lt;/math&gt;" id="169" name="Google Shape;169;p20" title="4 lines Line 1: 10 plus 15 divided by 3 times 4 Line 2: 10 positive fifteen thirds times 4 Line 3: 10 plus 5 times 4 Line 4: 10 plus 20 equals 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243" y="4462750"/>
            <a:ext cx="1415603" cy="123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+15\div3\times4\\&amp;#13;&amp;#10;10\ +15\ \div12\\&amp;#13;&amp;#10;10+\frac{15}{12}\\&amp;#13;&amp;#10;10+1.25\ =\ 11.25\end{array}&quot;&gt;&lt;mtable columnalign=&quot;left&quot; columnspacing=&quot;1em&quot; rowspacing=&quot;4pt&quot;&gt;&lt;mtr&gt;&lt;mtd&gt;&lt;mn&gt;10&lt;/mn&gt;&lt;mo&gt;+&lt;/mo&gt;&lt;mn&gt;15&lt;/mn&gt;&lt;mo&gt;÷&lt;/mo&gt;&lt;mn&gt;3&lt;/mn&gt;&lt;mo&gt;×&lt;/mo&gt;&lt;mn&gt;4&lt;/mn&gt;&lt;/mtd&gt;&lt;/mtr&gt;&lt;mtr&gt;&lt;mtd&gt;&lt;mn&gt;10&lt;/mn&gt;&lt;mtext&gt;&lt;/mtext&gt;&lt;mo&gt;+&lt;/mo&gt;&lt;mn&gt;15&lt;/mn&gt;&lt;mtext&gt;&lt;/mtext&gt;&lt;mo&gt;÷&lt;/mo&gt;&lt;mn&gt;12&lt;/mn&gt;&lt;/mtd&gt;&lt;/mtr&gt;&lt;mtr&gt;&lt;mtd&gt;&lt;mn&gt;10&lt;/mn&gt;&lt;mo&gt;+&lt;/mo&gt;&lt;mfrac&gt;&lt;mn&gt;15&lt;/mn&gt;&lt;mn&gt;12&lt;/mn&gt;&lt;/mfrac&gt;&lt;/mtd&gt;&lt;/mtr&gt;&lt;mtr&gt;&lt;mtd&gt;&lt;mn&gt;10&lt;/mn&gt;&lt;mo&gt;+&lt;/mo&gt;&lt;mn&gt;1.25&lt;/mn&gt;&lt;mtext&gt;&lt;/mtext&gt;&lt;mo&gt;=&lt;/mo&gt;&lt;mtext&gt;&lt;/mtext&gt;&lt;mn&gt;11.25&lt;/mn&gt;&lt;/mtd&gt;&lt;/mtr&gt;&lt;/mtable&gt;&lt;/math&gt;" id="170" name="Google Shape;170;p20" title="4 lines Line 1: 10 plus 15 divided by 3 times 4 Line 2: 10 positive 15 division sign 12 Line 3: 10 plus 15 over 12 Line 4: 10 plus 1.25 equals 11.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5675" y="4462379"/>
            <a:ext cx="1799821" cy="123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1494725" y="5828000"/>
            <a:ext cx="87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/>
          </a:p>
        </p:txBody>
      </p:sp>
      <p:sp>
        <p:nvSpPr>
          <p:cNvPr id="172" name="Google Shape;172;p20"/>
          <p:cNvSpPr txBox="1"/>
          <p:nvPr/>
        </p:nvSpPr>
        <p:spPr>
          <a:xfrm>
            <a:off x="5233218" y="5863459"/>
            <a:ext cx="87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20"/>
          <p:cNvSpPr txBox="1"/>
          <p:nvPr/>
        </p:nvSpPr>
        <p:spPr>
          <a:xfrm>
            <a:off x="468000" y="6646492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Fill in the gaps with +, −, ÷ and × so that the calculations are correct.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45450" y="6842600"/>
            <a:ext cx="46491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4 ⬚ 5 ⬚ 6 ⬚ 7 = 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4 ⬚ 5 ⬚ 6 ⬚ 7 =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4 ⬚ 5 ⬚ 6 ⬚ 7 = 62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4 ⬚ 5 ⬚ 6 ⬚ 7 =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4 ⬚ 5 ⬚ 6 ⬚ 7 = 21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45450" y="8118600"/>
            <a:ext cx="66714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Fill in the gaps with +, −, ÷ and × so that the calculations are correct.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8407300"/>
            <a:ext cx="64272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10 ⬚ 2 ⬚  2 ⬚  3 = 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10 ⬚ 2 ⬚ 15 ⬚ 3 =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10 ⬚ 2 ⬚  10 ⬚ 2 ⬚ 2  ⬚  3 = 21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/>
          <p:nvPr/>
        </p:nvSpPr>
        <p:spPr>
          <a:xfrm>
            <a:off x="2323200" y="5866174"/>
            <a:ext cx="1755900" cy="1515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468000" y="5866175"/>
            <a:ext cx="1755900" cy="1515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2304600" y="7618849"/>
            <a:ext cx="1854300" cy="1515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449400" y="7616000"/>
            <a:ext cx="1755900" cy="1515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7" name="Google Shape;187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Priority of operations with positive integers</a:t>
            </a:r>
            <a:endParaRPr/>
          </a:p>
        </p:txBody>
      </p:sp>
      <p:sp>
        <p:nvSpPr>
          <p:cNvPr id="188" name="Google Shape;188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571650" y="5967163"/>
            <a:ext cx="32319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=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=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=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468000" y="7200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Brackets, roots and exponents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468000" y="1031900"/>
            <a:ext cx="82377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answers to the following. Ensure to show your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3784997" y="1384950"/>
            <a:ext cx="5454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24\ +\ \left(6-2\right)\times3^2\\&amp;#13;&amp;#10;24\ \ +\ \ \ 4\ \ \ \ \times\ \ \ 9\\&amp;#13;&amp;#10;24\ \ +\ \ 36\ \ \ =\ 60\end{array}&quot;&gt;&lt;mtable columnalign=&quot;left&quot; columnspacing=&quot;1em&quot; rowspacing=&quot;4pt&quot;&gt;&lt;mtr&gt;&lt;mtd&gt;&lt;mn&gt;24&lt;/mn&gt;&lt;mtext&gt;&lt;/mtext&gt;&lt;mo&gt;+&lt;/mo&gt;&lt;mtext&gt;&lt;/mtext&gt;&lt;mrow data-mjx-texclass=&quot;INNER&quot;&gt;&lt;mo data-mjx-texclass=&quot;OPEN&quot;&gt;(&lt;/mo&gt;&lt;mn&gt;6&lt;/mn&gt;&lt;mo&gt;−&lt;/mo&gt;&lt;mn&gt;2&lt;/mn&gt;&lt;mo data-mjx-texclass=&quot;CLOSE&quot;&gt;)&lt;/mo&gt;&lt;/mrow&gt;&lt;mo&gt;×&lt;/mo&gt;&lt;msup&gt;&lt;mn&gt;3&lt;/mn&gt;&lt;mn&gt;2&lt;/mn&gt;&lt;/msup&gt;&lt;/mtd&gt;&lt;/mtr&gt;&lt;mtr&gt;&lt;mtd&gt;&lt;mn&gt;24&lt;/mn&gt;&lt;mtext&gt;&lt;/mtext&gt;&lt;mtext&gt;&lt;/mtext&gt;&lt;mo&gt;+&lt;/mo&gt;&lt;mtext&gt;&lt;/mtext&gt;&lt;mtext&gt;&lt;/mtext&gt;&lt;mtext&gt;&lt;/mtext&gt;&lt;mn&gt;4&lt;/mn&gt;&lt;mtext&gt;&lt;/mtext&gt;&lt;mtext&gt;&lt;/mtext&gt;&lt;mtext&gt;&lt;/mtext&gt;&lt;mtext&gt;&lt;/mtext&gt;&lt;mo&gt;×&lt;/mo&gt;&lt;mtext&gt;&lt;/mtext&gt;&lt;mtext&gt;&lt;/mtext&gt;&lt;mtext&gt;&lt;/mtext&gt;&lt;mn&gt;9&lt;/mn&gt;&lt;/mtd&gt;&lt;/mtr&gt;&lt;mtr&gt;&lt;mtd&gt;&lt;mn&gt;24&lt;/mn&gt;&lt;mtext&gt;&lt;/mtext&gt;&lt;mtext&gt;&lt;/mtext&gt;&lt;mo&gt;+&lt;/mo&gt;&lt;mtext&gt;&lt;/mtext&gt;&lt;mtext&gt;&lt;/mtext&gt;&lt;mn&gt;36&lt;/mn&gt;&lt;mtext&gt;&lt;/mtext&gt;&lt;mtext&gt;&lt;/mtext&gt;&lt;mtext&gt;&lt;/mtext&gt;&lt;mo&gt;=&lt;/mo&gt;&lt;mtext&gt;&lt;/mtext&gt;&lt;mn&gt;60&lt;/mn&gt;&lt;/mtd&gt;&lt;/mtr&gt;&lt;/mtable&gt;&lt;/math&gt;" id="194" name="Google Shape;194;p21" title="3 lines Line 1: 24 plus open paren 6 minus 2 close paren times 3 squared Line 2: 24 plus 4 times 9 Line 3: 24 plus 36 equals 60"/>
          <p:cNvPicPr preferRelativeResize="0"/>
          <p:nvPr/>
        </p:nvPicPr>
        <p:blipFill rotWithShape="1">
          <a:blip r:embed="rId3">
            <a:alphaModFix/>
          </a:blip>
          <a:srcRect b="67942" l="0" r="0" t="0"/>
          <a:stretch/>
        </p:blipFill>
        <p:spPr>
          <a:xfrm>
            <a:off x="795500" y="1397883"/>
            <a:ext cx="2078862" cy="3312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0\ -\ \sqrt{70-6}\div\ 2^2\\&amp;#13;&amp;#10;100\ -\ \sqrt{64}\ \div\ 2^2\\&amp;#13;&amp;#10;100\ -\ 8\ \div4\\&amp;#13;&amp;#10;100\ -\ 2\ =\ 98\end{array}&quot;&gt;&lt;mtable columnalign=&quot;left&quot; columnspacing=&quot;1em&quot; rowspacing=&quot;4pt&quot;&gt;&lt;mtr&gt;&lt;mtd&gt;&lt;mn&gt;100&lt;/mn&gt;&lt;mtext&gt;&lt;/mtext&gt;&lt;mo&gt;−&lt;/mo&gt;&lt;mtext&gt;&lt;/mtext&gt;&lt;msqrt&gt;&lt;mn&gt;70&lt;/mn&gt;&lt;mo&gt;−&lt;/mo&gt;&lt;mn&gt;6&lt;/mn&gt;&lt;/msqrt&gt;&lt;mo&gt;÷&lt;/mo&gt;&lt;mtext&gt;&lt;/mtext&gt;&lt;msup&gt;&lt;mn&gt;2&lt;/mn&gt;&lt;mn&gt;2&lt;/mn&gt;&lt;/msup&gt;&lt;/mtd&gt;&lt;/mtr&gt;&lt;mtr&gt;&lt;mtd&gt;&lt;mn&gt;100&lt;/mn&gt;&lt;mtext&gt;&lt;/mtext&gt;&lt;mo&gt;−&lt;/mo&gt;&lt;mtext&gt;&lt;/mtext&gt;&lt;msqrt&gt;&lt;mn&gt;64&lt;/mn&gt;&lt;/msqrt&gt;&lt;mtext&gt;&lt;/mtext&gt;&lt;mo&gt;÷&lt;/mo&gt;&lt;mtext&gt;&lt;/mtext&gt;&lt;msup&gt;&lt;mn&gt;2&lt;/mn&gt;&lt;mn&gt;2&lt;/mn&gt;&lt;/msup&gt;&lt;/mtd&gt;&lt;/mtr&gt;&lt;mtr&gt;&lt;mtd&gt;&lt;mn&gt;100&lt;/mn&gt;&lt;mtext&gt;&lt;/mtext&gt;&lt;mo&gt;−&lt;/mo&gt;&lt;mtext&gt;&lt;/mtext&gt;&lt;mn&gt;8&lt;/mn&gt;&lt;mtext&gt;&lt;/mtext&gt;&lt;mo&gt;÷&lt;/mo&gt;&lt;mn&gt;4&lt;/mn&gt;&lt;/mtd&gt;&lt;/mtr&gt;&lt;mtr&gt;&lt;mtd&gt;&lt;mn&gt;100&lt;/mn&gt;&lt;mtext&gt;&lt;/mtext&gt;&lt;mo&gt;−&lt;/mo&gt;&lt;mtext&gt;&lt;/mtext&gt;&lt;mn&gt;2&lt;/mn&gt;&lt;mtext&gt;&lt;/mtext&gt;&lt;mo&gt;=&lt;/mo&gt;&lt;mtext&gt;&lt;/mtext&gt;&lt;mn&gt;98&lt;/mn&gt;&lt;/mtd&gt;&lt;/mtr&gt;&lt;/mtable&gt;&lt;/math&gt;" id="195" name="Google Shape;195;p21" title="4 lines Line 1: 100 minus the square root of 70 minus 6 division sign 2 squared Line 2: 100 minus the square root of 64 division sign 2 squared Line 3: 100 minus 8 division sign 4 Line 4: 100 minus 2 equals 98"/>
          <p:cNvPicPr preferRelativeResize="0"/>
          <p:nvPr/>
        </p:nvPicPr>
        <p:blipFill rotWithShape="1">
          <a:blip r:embed="rId4">
            <a:alphaModFix/>
          </a:blip>
          <a:srcRect b="75349" l="0" r="0" t="0"/>
          <a:stretch/>
        </p:blipFill>
        <p:spPr>
          <a:xfrm>
            <a:off x="4235114" y="1384950"/>
            <a:ext cx="2181186" cy="34421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468000" y="3042000"/>
            <a:ext cx="6624000" cy="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gaps with +, −, ÷, × and brackets so that the calculations are correct. You can use more than one pair of brackets.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468000" y="3538500"/>
            <a:ext cx="45873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5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= 117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 4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5    6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 = 308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 </a:t>
            </a:r>
            <a:r>
              <a:rPr lang="en-GB" sz="1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5    6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69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 4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 = 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68000" y="4545000"/>
            <a:ext cx="662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Use exactly four 4s, together with any of the operations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×, ÷, +, √, −, exponents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(can be any value) and/or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brackets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to write calculations giving answers of:  1, then 2, then 3… up to 20. As an example, 8 has been done for you.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2402500" y="5967175"/>
            <a:ext cx="27723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 =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 =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=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 =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=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55250" y="7716988"/>
            <a:ext cx="28701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 =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=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=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2383900" y="7661588"/>
            <a:ext cx="28701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16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17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19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=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49397" y="1384950"/>
            <a:ext cx="545400" cy="9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