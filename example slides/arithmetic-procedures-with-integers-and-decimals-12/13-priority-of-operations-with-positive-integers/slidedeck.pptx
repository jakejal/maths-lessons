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0fe5befe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0fe5befe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092bf84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092bf84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90fe5befe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0fe5befe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90fe5befe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90fe5befe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90fe5befe2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90fe5befe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90fe5befe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90fe5befe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915cdd214f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915cdd214f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915cdd214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915cdd214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2915cdd214f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2915cdd214f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90fe5befe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90fe5befe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90fe5befe2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90fe5befe2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90fe5befe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90fe5befe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915cdd214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2915cdd214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290fe5befe2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290fe5befe2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915cdd214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915cdd214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90fe5befe2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90fe5befe2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90fe5befe2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90fe5befe2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a3d1e450b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a3d1e450b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915cdd214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2915cdd214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290fe5befe2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290fe5befe2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90fe5befe2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290fe5befe2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90fe5befe2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90fe5befe2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90fe5befe2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90fe5befe2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290fe5befe2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290fe5befe2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90fe5befe2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290fe5befe2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90fe5befe2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90fe5befe2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90fe5befe2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90fe5befe2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90fe5befe2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90fe5befe2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90fe5befe2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290fe5befe2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90fe5befe2_0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90fe5befe2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90fe5befe2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90fe5befe2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90fe5befe2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90fe5befe2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90fe5befe2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90fe5befe2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290fe5befe2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290fe5befe2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90fe5befe2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90fe5befe2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290fe5befe2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290fe5befe2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290fe5befe2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290fe5befe2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290fe5befe2_0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290fe5befe2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290fe5befe2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290fe5befe2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75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75.png"/><Relationship Id="rId4" Type="http://schemas.openxmlformats.org/officeDocument/2006/relationships/image" Target="../media/image24.png"/><Relationship Id="rId9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75.png"/><Relationship Id="rId4" Type="http://schemas.openxmlformats.org/officeDocument/2006/relationships/image" Target="../media/image31.png"/><Relationship Id="rId11" Type="http://schemas.openxmlformats.org/officeDocument/2006/relationships/image" Target="../media/image21.png"/><Relationship Id="rId10" Type="http://schemas.openxmlformats.org/officeDocument/2006/relationships/image" Target="../media/image39.png"/><Relationship Id="rId9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Relationship Id="rId4" Type="http://schemas.openxmlformats.org/officeDocument/2006/relationships/image" Target="../media/image50.png"/><Relationship Id="rId5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0.png"/><Relationship Id="rId4" Type="http://schemas.openxmlformats.org/officeDocument/2006/relationships/image" Target="../media/image56.png"/><Relationship Id="rId5" Type="http://schemas.openxmlformats.org/officeDocument/2006/relationships/image" Target="../media/image59.png"/><Relationship Id="rId6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9.png"/><Relationship Id="rId4" Type="http://schemas.openxmlformats.org/officeDocument/2006/relationships/image" Target="../media/image58.png"/><Relationship Id="rId5" Type="http://schemas.openxmlformats.org/officeDocument/2006/relationships/image" Target="../media/image60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9.png"/><Relationship Id="rId4" Type="http://schemas.openxmlformats.org/officeDocument/2006/relationships/image" Target="../media/image6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2.png"/><Relationship Id="rId4" Type="http://schemas.openxmlformats.org/officeDocument/2006/relationships/image" Target="../media/image71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5.png"/><Relationship Id="rId4" Type="http://schemas.openxmlformats.org/officeDocument/2006/relationships/image" Target="../media/image6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7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Relationship Id="rId6" Type="http://schemas.openxmlformats.org/officeDocument/2006/relationships/image" Target="../media/image70.png"/><Relationship Id="rId7" Type="http://schemas.openxmlformats.org/officeDocument/2006/relationships/image" Target="../media/image72.jpg"/><Relationship Id="rId8" Type="http://schemas.openxmlformats.org/officeDocument/2006/relationships/image" Target="../media/image7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5.png"/><Relationship Id="rId4" Type="http://schemas.openxmlformats.org/officeDocument/2006/relationships/image" Target="../media/image6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Relationship Id="rId4" Type="http://schemas.openxmlformats.org/officeDocument/2006/relationships/image" Target="../media/image7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8.png"/><Relationship Id="rId4" Type="http://schemas.openxmlformats.org/officeDocument/2006/relationships/image" Target="../media/image7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8.png"/><Relationship Id="rId4" Type="http://schemas.openxmlformats.org/officeDocument/2006/relationships/image" Target="../media/image7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8.png"/><Relationship Id="rId4" Type="http://schemas.openxmlformats.org/officeDocument/2006/relationships/image" Target="../media/image77.png"/><Relationship Id="rId5" Type="http://schemas.openxmlformats.org/officeDocument/2006/relationships/image" Target="../media/image8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7.png"/><Relationship Id="rId6" Type="http://schemas.openxmlformats.org/officeDocument/2006/relationships/image" Target="../media/image80.png"/><Relationship Id="rId7" Type="http://schemas.openxmlformats.org/officeDocument/2006/relationships/image" Target="../media/image8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8.png"/><Relationship Id="rId4" Type="http://schemas.openxmlformats.org/officeDocument/2006/relationships/image" Target="../media/image8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2.png"/><Relationship Id="rId4" Type="http://schemas.openxmlformats.org/officeDocument/2006/relationships/image" Target="../media/image86.png"/><Relationship Id="rId5" Type="http://schemas.openxmlformats.org/officeDocument/2006/relationships/image" Target="../media/image8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3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4.png"/><Relationship Id="rId4" Type="http://schemas.openxmlformats.org/officeDocument/2006/relationships/image" Target="../media/image8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positive integers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using priority of operations, including brackets, powers and exponents with positive integers.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60675" y="719405"/>
            <a:ext cx="8055000" cy="10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100"/>
              <a:t>In mathematics, an operation is a function which takes an input value to an output value. Addition, subtraction, multiplication, division, roots and powers and many more are examples of operations.</a:t>
            </a:r>
            <a:endParaRPr b="0"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100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sz="2100"/>
          </a:p>
        </p:txBody>
      </p:sp>
      <p:sp>
        <p:nvSpPr>
          <p:cNvPr id="767" name="Google Shape;767;p67"/>
          <p:cNvSpPr txBox="1"/>
          <p:nvPr/>
        </p:nvSpPr>
        <p:spPr>
          <a:xfrm>
            <a:off x="249915" y="2394351"/>
            <a:ext cx="8014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additive inverse of a number is a number that, when added to the original number, gives the sum of 0.</a:t>
            </a:r>
            <a:endParaRPr sz="2100"/>
          </a:p>
        </p:txBody>
      </p:sp>
      <p:sp>
        <p:nvSpPr>
          <p:cNvPr id="768" name="Google Shape;768;p67"/>
          <p:cNvSpPr txBox="1"/>
          <p:nvPr/>
        </p:nvSpPr>
        <p:spPr>
          <a:xfrm>
            <a:off x="274290" y="3367626"/>
            <a:ext cx="77841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operation is commutative if the values it is operating on can be written in 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either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order without changing the calculation. 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positive integers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31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1" name="Google Shape;781;p69"/>
          <p:cNvGrpSpPr/>
          <p:nvPr/>
        </p:nvGrpSpPr>
        <p:grpSpPr>
          <a:xfrm>
            <a:off x="2528947" y="1855128"/>
            <a:ext cx="3916346" cy="2889197"/>
            <a:chOff x="2529025" y="1931250"/>
            <a:chExt cx="3584100" cy="2617500"/>
          </a:xfrm>
        </p:grpSpPr>
        <p:sp>
          <p:nvSpPr>
            <p:cNvPr id="782" name="Google Shape;782;p69"/>
            <p:cNvSpPr/>
            <p:nvPr/>
          </p:nvSpPr>
          <p:spPr>
            <a:xfrm>
              <a:off x="2529025" y="1931250"/>
              <a:ext cx="3584100" cy="26175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83" name="Google Shape;783;p69"/>
            <p:cNvCxnSpPr/>
            <p:nvPr/>
          </p:nvCxnSpPr>
          <p:spPr>
            <a:xfrm>
              <a:off x="3766742" y="2706800"/>
              <a:ext cx="1095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69"/>
            <p:cNvCxnSpPr/>
            <p:nvPr/>
          </p:nvCxnSpPr>
          <p:spPr>
            <a:xfrm>
              <a:off x="3369600" y="3320300"/>
              <a:ext cx="189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69"/>
            <p:cNvCxnSpPr/>
            <p:nvPr/>
          </p:nvCxnSpPr>
          <p:spPr>
            <a:xfrm flipH="1" rot="10800000">
              <a:off x="2996850" y="3910986"/>
              <a:ext cx="2653800" cy="39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86" name="Google Shape;786;p69"/>
          <p:cNvSpPr txBox="1"/>
          <p:nvPr/>
        </p:nvSpPr>
        <p:spPr>
          <a:xfrm>
            <a:off x="4120302" y="2172250"/>
            <a:ext cx="12471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 …. 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7" name="Google Shape;787;p69"/>
          <p:cNvGrpSpPr/>
          <p:nvPr/>
        </p:nvGrpSpPr>
        <p:grpSpPr>
          <a:xfrm>
            <a:off x="4500978" y="2662725"/>
            <a:ext cx="817925" cy="656513"/>
            <a:chOff x="1546176" y="2521625"/>
            <a:chExt cx="817925" cy="656513"/>
          </a:xfrm>
        </p:grpSpPr>
        <p:sp>
          <p:nvSpPr>
            <p:cNvPr id="788" name="Google Shape;788;p69"/>
            <p:cNvSpPr txBox="1"/>
            <p:nvPr/>
          </p:nvSpPr>
          <p:spPr>
            <a:xfrm>
              <a:off x="1873601" y="252162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9" name="Google Shape;789;p69"/>
            <p:cNvSpPr txBox="1"/>
            <p:nvPr/>
          </p:nvSpPr>
          <p:spPr>
            <a:xfrm>
              <a:off x="1546176" y="2641138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1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3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0" name="Google Shape;790;p69"/>
          <p:cNvGrpSpPr/>
          <p:nvPr/>
        </p:nvGrpSpPr>
        <p:grpSpPr>
          <a:xfrm>
            <a:off x="3734648" y="2700785"/>
            <a:ext cx="627511" cy="537000"/>
            <a:chOff x="3734648" y="2776985"/>
            <a:chExt cx="627511" cy="537000"/>
          </a:xfrm>
        </p:grpSpPr>
        <p:pic>
          <p:nvPicPr>
            <p:cNvPr descr="&lt;math xmlns=&quot;http://www.w3.org/1998/Math/MathML&quot; display=&quot;block&quot; data-is-equatio=&quot;1&quot; data-latex=&quot;\begin{array}{l}\sqrt[\ \ ]{\ \ \ }\\&amp;#13;&amp;#10;\end{array}&quot;&gt;&lt;mtable columnalign=&quot;left&quot; columnspacing=&quot;1em&quot; rowspacing=&quot;4pt&quot;&gt;&lt;mtr&gt;&lt;mtd&gt;&lt;mroot&gt;&lt;mrow&gt;&lt;mtext&gt;&lt;/mtext&gt;&lt;mtext&gt;&lt;/mtext&gt;&lt;mtext&gt;&lt;/mtext&gt;&lt;/mrow&gt;&lt;mrow&gt;&lt;mtext&gt;&lt;/mtext&gt;&lt;mtext&gt;&lt;/mtext&gt;&lt;/mrow&gt;&lt;/mroot&gt;&lt;/mtd&gt;&lt;/mtr&gt;&lt;/mtable&gt;&lt;/math&gt;" id="791" name="Google Shape;791;p69" title="1 lines Line 1: the root o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1597" y="2929810"/>
              <a:ext cx="490562" cy="38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69"/>
            <p:cNvSpPr txBox="1"/>
            <p:nvPr/>
          </p:nvSpPr>
          <p:spPr>
            <a:xfrm>
              <a:off x="3734648" y="277698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3" name="Google Shape;793;p69"/>
          <p:cNvSpPr txBox="1"/>
          <p:nvPr/>
        </p:nvSpPr>
        <p:spPr>
          <a:xfrm>
            <a:off x="3691500" y="3237775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×    ÷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9"/>
          <p:cNvSpPr txBox="1"/>
          <p:nvPr/>
        </p:nvSpPr>
        <p:spPr>
          <a:xfrm>
            <a:off x="3637750" y="3894175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    −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/>
          <p:nvPr/>
        </p:nvSpPr>
        <p:spPr>
          <a:xfrm>
            <a:off x="6819350" y="1834368"/>
            <a:ext cx="432900" cy="656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9"/>
          <p:cNvSpPr/>
          <p:nvPr/>
        </p:nvSpPr>
        <p:spPr>
          <a:xfrm>
            <a:off x="6819350" y="2566968"/>
            <a:ext cx="432900" cy="656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/>
          <p:nvPr/>
        </p:nvSpPr>
        <p:spPr>
          <a:xfrm>
            <a:off x="6819350" y="3361343"/>
            <a:ext cx="432900" cy="656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9"/>
          <p:cNvSpPr/>
          <p:nvPr/>
        </p:nvSpPr>
        <p:spPr>
          <a:xfrm>
            <a:off x="6819350" y="4143293"/>
            <a:ext cx="432900" cy="656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</a:t>
            </a:r>
            <a:r>
              <a:rPr lang="en-GB"/>
              <a:t>, division, addition and subtraction</a:t>
            </a:r>
            <a:endParaRPr/>
          </a:p>
        </p:txBody>
      </p:sp>
      <p:sp>
        <p:nvSpPr>
          <p:cNvPr id="800" name="Google Shape;800;p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priority of operations is important as it ensures that everyone can understand and approach a mathematical problem the same way. 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4551" y="3793700"/>
            <a:ext cx="117407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0875" y="3821000"/>
            <a:ext cx="1116525" cy="36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769" y="2083625"/>
            <a:ext cx="3354675" cy="24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70"/>
          <p:cNvSpPr txBox="1"/>
          <p:nvPr/>
        </p:nvSpPr>
        <p:spPr>
          <a:xfrm>
            <a:off x="3488983" y="2255700"/>
            <a:ext cx="473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we have 4 + 3 × 5</a:t>
            </a:r>
            <a:endParaRPr/>
          </a:p>
        </p:txBody>
      </p:sp>
      <p:sp>
        <p:nvSpPr>
          <p:cNvPr id="809" name="Google Shape;809;p70"/>
          <p:cNvSpPr txBox="1"/>
          <p:nvPr/>
        </p:nvSpPr>
        <p:spPr>
          <a:xfrm>
            <a:off x="3488983" y="2682750"/>
            <a:ext cx="5772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priority of operations, which operation do we apply first?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0"/>
          <p:cNvSpPr txBox="1"/>
          <p:nvPr/>
        </p:nvSpPr>
        <p:spPr>
          <a:xfrm>
            <a:off x="5361600" y="4147600"/>
            <a:ext cx="148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4 + 15</a:t>
            </a:r>
            <a:endParaRPr/>
          </a:p>
        </p:txBody>
      </p:sp>
      <p:sp>
        <p:nvSpPr>
          <p:cNvPr id="811" name="Google Shape;811;p70"/>
          <p:cNvSpPr txBox="1"/>
          <p:nvPr/>
        </p:nvSpPr>
        <p:spPr>
          <a:xfrm>
            <a:off x="6276000" y="4147600"/>
            <a:ext cx="148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19</a:t>
            </a:r>
            <a:endParaRPr/>
          </a:p>
        </p:txBody>
      </p:sp>
      <p:sp>
        <p:nvSpPr>
          <p:cNvPr id="812" name="Google Shape;812;p70"/>
          <p:cNvSpPr/>
          <p:nvPr/>
        </p:nvSpPr>
        <p:spPr>
          <a:xfrm>
            <a:off x="1411735" y="3379594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body"/>
          </p:nvPr>
        </p:nvSpPr>
        <p:spPr>
          <a:xfrm>
            <a:off x="324000" y="759300"/>
            <a:ext cx="7077900" cy="118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priority of operations is important as it ensures that everyone can understand and approach a mathematical problem the same way. </a:t>
            </a:r>
            <a:endParaRPr sz="2100"/>
          </a:p>
        </p:txBody>
      </p:sp>
      <p:sp>
        <p:nvSpPr>
          <p:cNvPr id="814" name="Google Shape;81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</a:t>
            </a:r>
            <a:r>
              <a:rPr lang="en-GB"/>
              <a:t>, division, addition and subtraction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69" y="2083625"/>
            <a:ext cx="3354675" cy="24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1"/>
          <p:cNvSpPr txBox="1"/>
          <p:nvPr/>
        </p:nvSpPr>
        <p:spPr>
          <a:xfrm>
            <a:off x="3488983" y="2331900"/>
            <a:ext cx="473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we have 20 − 50 ÷ 10</a:t>
            </a:r>
            <a:endParaRPr/>
          </a:p>
        </p:txBody>
      </p:sp>
      <p:sp>
        <p:nvSpPr>
          <p:cNvPr id="821" name="Google Shape;821;p71"/>
          <p:cNvSpPr txBox="1"/>
          <p:nvPr/>
        </p:nvSpPr>
        <p:spPr>
          <a:xfrm>
            <a:off x="3488983" y="2758950"/>
            <a:ext cx="5772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priority of operations, which operation do we apply first?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1"/>
          <p:cNvSpPr txBox="1"/>
          <p:nvPr/>
        </p:nvSpPr>
        <p:spPr>
          <a:xfrm>
            <a:off x="5187150" y="4223800"/>
            <a:ext cx="165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20 − 5</a:t>
            </a:r>
            <a:endParaRPr/>
          </a:p>
        </p:txBody>
      </p:sp>
      <p:sp>
        <p:nvSpPr>
          <p:cNvPr id="823" name="Google Shape;823;p71"/>
          <p:cNvSpPr txBox="1"/>
          <p:nvPr/>
        </p:nvSpPr>
        <p:spPr>
          <a:xfrm>
            <a:off x="6276000" y="4223800"/>
            <a:ext cx="148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15</a:t>
            </a:r>
            <a:endParaRPr/>
          </a:p>
        </p:txBody>
      </p:sp>
      <p:sp>
        <p:nvSpPr>
          <p:cNvPr id="824" name="Google Shape;824;p71"/>
          <p:cNvSpPr/>
          <p:nvPr/>
        </p:nvSpPr>
        <p:spPr>
          <a:xfrm>
            <a:off x="2211936" y="3399587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body"/>
          </p:nvPr>
        </p:nvSpPr>
        <p:spPr>
          <a:xfrm>
            <a:off x="324000" y="759300"/>
            <a:ext cx="7135200" cy="118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priority of operations is important as it ensures that everyone can understand and approach a mathematical problem the same way. </a:t>
            </a:r>
            <a:endParaRPr sz="2100"/>
          </a:p>
        </p:txBody>
      </p:sp>
      <p:sp>
        <p:nvSpPr>
          <p:cNvPr id="826" name="Google Shape;82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</a:t>
            </a:r>
            <a:r>
              <a:rPr lang="en-GB"/>
              <a:t>, division, addition and subtraction</a:t>
            </a:r>
            <a:endParaRPr/>
          </a:p>
        </p:txBody>
      </p:sp>
      <p:pic>
        <p:nvPicPr>
          <p:cNvPr id="827" name="Google Shape;827;p71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5268300" y="3794850"/>
            <a:ext cx="1557324" cy="25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2650" y="3794850"/>
            <a:ext cx="1587251" cy="3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3" name="Google Shape;83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69" y="2083625"/>
            <a:ext cx="3354675" cy="24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2"/>
          <p:cNvSpPr txBox="1"/>
          <p:nvPr/>
        </p:nvSpPr>
        <p:spPr>
          <a:xfrm>
            <a:off x="5011204" y="3279082"/>
            <a:ext cx="218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÷ 2 + 20 ÷ 4 </a:t>
            </a:r>
            <a:endParaRPr/>
          </a:p>
        </p:txBody>
      </p:sp>
      <p:sp>
        <p:nvSpPr>
          <p:cNvPr id="835" name="Google Shape;835;p72"/>
          <p:cNvSpPr txBox="1"/>
          <p:nvPr/>
        </p:nvSpPr>
        <p:spPr>
          <a:xfrm>
            <a:off x="5279563" y="3857600"/>
            <a:ext cx="407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6</a:t>
            </a:r>
            <a:endParaRPr/>
          </a:p>
        </p:txBody>
      </p:sp>
      <p:sp>
        <p:nvSpPr>
          <p:cNvPr id="836" name="Google Shape;836;p72"/>
          <p:cNvSpPr txBox="1"/>
          <p:nvPr>
            <p:ph idx="1" type="body"/>
          </p:nvPr>
        </p:nvSpPr>
        <p:spPr>
          <a:xfrm>
            <a:off x="324000" y="759300"/>
            <a:ext cx="8237700" cy="26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do you think happens when we have two of the same operation?</a:t>
            </a:r>
            <a:endParaRPr sz="2000"/>
          </a:p>
        </p:txBody>
      </p:sp>
      <p:grpSp>
        <p:nvGrpSpPr>
          <p:cNvPr id="837" name="Google Shape;837;p72"/>
          <p:cNvGrpSpPr/>
          <p:nvPr/>
        </p:nvGrpSpPr>
        <p:grpSpPr>
          <a:xfrm>
            <a:off x="6118245" y="3694023"/>
            <a:ext cx="821825" cy="75900"/>
            <a:chOff x="5809225" y="2952500"/>
            <a:chExt cx="641900" cy="75900"/>
          </a:xfrm>
        </p:grpSpPr>
        <p:cxnSp>
          <p:nvCxnSpPr>
            <p:cNvPr id="838" name="Google Shape;838;p72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72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0" name="Google Shape;840;p72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1" name="Google Shape;841;p72"/>
          <p:cNvSpPr txBox="1"/>
          <p:nvPr/>
        </p:nvSpPr>
        <p:spPr>
          <a:xfrm>
            <a:off x="3488983" y="1798500"/>
            <a:ext cx="473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we have 12 ÷ 2 + 20 ÷ 4 </a:t>
            </a:r>
            <a:endParaRPr/>
          </a:p>
        </p:txBody>
      </p:sp>
      <p:sp>
        <p:nvSpPr>
          <p:cNvPr id="842" name="Google Shape;842;p72"/>
          <p:cNvSpPr txBox="1"/>
          <p:nvPr/>
        </p:nvSpPr>
        <p:spPr>
          <a:xfrm>
            <a:off x="3488983" y="2301750"/>
            <a:ext cx="5772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do both of the same operation at the same time.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2"/>
          <p:cNvSpPr txBox="1"/>
          <p:nvPr/>
        </p:nvSpPr>
        <p:spPr>
          <a:xfrm>
            <a:off x="6719100" y="3857600"/>
            <a:ext cx="148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11</a:t>
            </a:r>
            <a:endParaRPr/>
          </a:p>
        </p:txBody>
      </p:sp>
      <p:sp>
        <p:nvSpPr>
          <p:cNvPr id="844" name="Google Shape;844;p72"/>
          <p:cNvSpPr/>
          <p:nvPr/>
        </p:nvSpPr>
        <p:spPr>
          <a:xfrm>
            <a:off x="2211936" y="3399587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5" name="Google Shape;845;p72"/>
          <p:cNvGrpSpPr/>
          <p:nvPr/>
        </p:nvGrpSpPr>
        <p:grpSpPr>
          <a:xfrm>
            <a:off x="5080336" y="3702164"/>
            <a:ext cx="821825" cy="75900"/>
            <a:chOff x="5809225" y="2952500"/>
            <a:chExt cx="641900" cy="75900"/>
          </a:xfrm>
        </p:grpSpPr>
        <p:cxnSp>
          <p:nvCxnSpPr>
            <p:cNvPr id="846" name="Google Shape;846;p72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7" name="Google Shape;847;p72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8" name="Google Shape;848;p72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9" name="Google Shape;849;p72"/>
          <p:cNvSpPr txBox="1"/>
          <p:nvPr/>
        </p:nvSpPr>
        <p:spPr>
          <a:xfrm>
            <a:off x="6325600" y="3857600"/>
            <a:ext cx="407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850" name="Google Shape;850;p72"/>
          <p:cNvSpPr txBox="1"/>
          <p:nvPr/>
        </p:nvSpPr>
        <p:spPr>
          <a:xfrm>
            <a:off x="5802575" y="3857600"/>
            <a:ext cx="407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/>
          </a:p>
        </p:txBody>
      </p:sp>
      <p:sp>
        <p:nvSpPr>
          <p:cNvPr id="851" name="Google Shape;851;p72"/>
          <p:cNvSpPr txBox="1"/>
          <p:nvPr>
            <p:ph idx="1" type="body"/>
          </p:nvPr>
        </p:nvSpPr>
        <p:spPr>
          <a:xfrm>
            <a:off x="3596400" y="1486375"/>
            <a:ext cx="5010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Example</a:t>
            </a:r>
            <a:endParaRPr sz="2100"/>
          </a:p>
        </p:txBody>
      </p:sp>
      <p:sp>
        <p:nvSpPr>
          <p:cNvPr id="852" name="Google Shape;85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</a:t>
            </a:r>
            <a:r>
              <a:rPr lang="en-GB"/>
              <a:t>, division, addition and subtraction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oogle Shape;85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69" y="2083625"/>
            <a:ext cx="3354675" cy="24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</a:t>
            </a:r>
            <a:r>
              <a:rPr lang="en-GB"/>
              <a:t>, division, addition and subtraction</a:t>
            </a:r>
            <a:endParaRPr/>
          </a:p>
        </p:txBody>
      </p:sp>
      <p:sp>
        <p:nvSpPr>
          <p:cNvPr id="859" name="Google Shape;859;p73"/>
          <p:cNvSpPr/>
          <p:nvPr/>
        </p:nvSpPr>
        <p:spPr>
          <a:xfrm>
            <a:off x="1384926" y="3933033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3"/>
          <p:cNvSpPr txBox="1"/>
          <p:nvPr/>
        </p:nvSpPr>
        <p:spPr>
          <a:xfrm>
            <a:off x="3507408" y="2659350"/>
            <a:ext cx="473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we have 20 + 16 − 4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3"/>
          <p:cNvSpPr/>
          <p:nvPr/>
        </p:nvSpPr>
        <p:spPr>
          <a:xfrm>
            <a:off x="2218700" y="3933033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3"/>
          <p:cNvSpPr txBox="1"/>
          <p:nvPr/>
        </p:nvSpPr>
        <p:spPr>
          <a:xfrm>
            <a:off x="324000" y="1438788"/>
            <a:ext cx="8267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addition and subtraction, using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subtraction as the addition of the 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additive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inverse allows every operation to be addition.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3"/>
          <p:cNvSpPr txBox="1"/>
          <p:nvPr/>
        </p:nvSpPr>
        <p:spPr>
          <a:xfrm>
            <a:off x="5317200" y="3105150"/>
            <a:ext cx="210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+ 16 + (-4)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3"/>
          <p:cNvSpPr txBox="1"/>
          <p:nvPr/>
        </p:nvSpPr>
        <p:spPr>
          <a:xfrm>
            <a:off x="7189025" y="3105150"/>
            <a:ext cx="105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3"/>
          <p:cNvSpPr txBox="1"/>
          <p:nvPr>
            <p:ph idx="1" type="body"/>
          </p:nvPr>
        </p:nvSpPr>
        <p:spPr>
          <a:xfrm>
            <a:off x="324000" y="773250"/>
            <a:ext cx="8496000" cy="4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What do you think we do when we have </a:t>
            </a:r>
            <a:r>
              <a:rPr lang="en-GB" sz="1900"/>
              <a:t>two operations on the same row</a:t>
            </a:r>
            <a:r>
              <a:rPr lang="en-GB" sz="1900"/>
              <a:t>?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4"/>
          <p:cNvSpPr txBox="1"/>
          <p:nvPr/>
        </p:nvSpPr>
        <p:spPr>
          <a:xfrm>
            <a:off x="3957551" y="2863930"/>
            <a:ext cx="173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× 20 ÷ 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4"/>
          <p:cNvSpPr txBox="1"/>
          <p:nvPr/>
        </p:nvSpPr>
        <p:spPr>
          <a:xfrm>
            <a:off x="6255051" y="2863930"/>
            <a:ext cx="173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× 20 ÷ 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2" name="Google Shape;87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69" y="2083625"/>
            <a:ext cx="3354675" cy="24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4"/>
          <p:cNvSpPr txBox="1"/>
          <p:nvPr/>
        </p:nvSpPr>
        <p:spPr>
          <a:xfrm>
            <a:off x="3412783" y="2225550"/>
            <a:ext cx="577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both have the same priority.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4" name="Google Shape;874;p74"/>
          <p:cNvGrpSpPr/>
          <p:nvPr/>
        </p:nvGrpSpPr>
        <p:grpSpPr>
          <a:xfrm>
            <a:off x="4063838" y="3190862"/>
            <a:ext cx="821825" cy="75900"/>
            <a:chOff x="5809225" y="2952500"/>
            <a:chExt cx="641900" cy="75900"/>
          </a:xfrm>
        </p:grpSpPr>
        <p:cxnSp>
          <p:nvCxnSpPr>
            <p:cNvPr id="875" name="Google Shape;875;p74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6" name="Google Shape;876;p74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7" name="Google Shape;877;p74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78" name="Google Shape;87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</a:t>
            </a:r>
            <a:r>
              <a:rPr lang="en-GB"/>
              <a:t>, division, addition and subtraction</a:t>
            </a:r>
            <a:endParaRPr/>
          </a:p>
        </p:txBody>
      </p:sp>
      <p:sp>
        <p:nvSpPr>
          <p:cNvPr id="879" name="Google Shape;879;p74"/>
          <p:cNvSpPr/>
          <p:nvPr/>
        </p:nvSpPr>
        <p:spPr>
          <a:xfrm>
            <a:off x="1425892" y="3382791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4"/>
          <p:cNvSpPr txBox="1"/>
          <p:nvPr/>
        </p:nvSpPr>
        <p:spPr>
          <a:xfrm>
            <a:off x="3412783" y="1798500"/>
            <a:ext cx="473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we have 12 ×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÷ 4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4"/>
          <p:cNvSpPr/>
          <p:nvPr/>
        </p:nvSpPr>
        <p:spPr>
          <a:xfrm>
            <a:off x="2198217" y="3382791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2" name="Google Shape;882;p74"/>
          <p:cNvCxnSpPr/>
          <p:nvPr/>
        </p:nvCxnSpPr>
        <p:spPr>
          <a:xfrm>
            <a:off x="6134950" y="2757091"/>
            <a:ext cx="0" cy="1181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74"/>
          <p:cNvGrpSpPr/>
          <p:nvPr/>
        </p:nvGrpSpPr>
        <p:grpSpPr>
          <a:xfrm>
            <a:off x="6868113" y="3171206"/>
            <a:ext cx="821825" cy="75900"/>
            <a:chOff x="5809225" y="2952500"/>
            <a:chExt cx="641900" cy="75900"/>
          </a:xfrm>
        </p:grpSpPr>
        <p:cxnSp>
          <p:nvCxnSpPr>
            <p:cNvPr id="884" name="Google Shape;884;p74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74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74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87" name="Google Shape;887;p74"/>
          <p:cNvSpPr txBox="1"/>
          <p:nvPr/>
        </p:nvSpPr>
        <p:spPr>
          <a:xfrm>
            <a:off x="6262101" y="3346755"/>
            <a:ext cx="13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4"/>
          <p:cNvSpPr txBox="1"/>
          <p:nvPr/>
        </p:nvSpPr>
        <p:spPr>
          <a:xfrm>
            <a:off x="7073701" y="3346755"/>
            <a:ext cx="13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60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4"/>
          <p:cNvSpPr txBox="1"/>
          <p:nvPr/>
        </p:nvSpPr>
        <p:spPr>
          <a:xfrm>
            <a:off x="3964601" y="3346755"/>
            <a:ext cx="13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240 ÷ 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4"/>
          <p:cNvSpPr txBox="1"/>
          <p:nvPr/>
        </p:nvSpPr>
        <p:spPr>
          <a:xfrm>
            <a:off x="5003101" y="3346755"/>
            <a:ext cx="13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60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4"/>
          <p:cNvSpPr txBox="1"/>
          <p:nvPr/>
        </p:nvSpPr>
        <p:spPr>
          <a:xfrm>
            <a:off x="3964601" y="3908975"/>
            <a:ext cx="5010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 they have the same priority, we do either operation first.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4"/>
          <p:cNvSpPr txBox="1"/>
          <p:nvPr>
            <p:ph idx="1" type="body"/>
          </p:nvPr>
        </p:nvSpPr>
        <p:spPr>
          <a:xfrm>
            <a:off x="324000" y="757800"/>
            <a:ext cx="84960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do you think we do when we have </a:t>
            </a:r>
            <a:r>
              <a:rPr lang="en-GB" sz="2000"/>
              <a:t>two operations on the same row</a:t>
            </a:r>
            <a:r>
              <a:rPr lang="en-GB" sz="2000"/>
              <a:t>?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" name="Google Shape;89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69" y="2083625"/>
            <a:ext cx="3354675" cy="24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</a:t>
            </a:r>
            <a:r>
              <a:rPr lang="en-GB"/>
              <a:t>, division, addition and subtraction</a:t>
            </a:r>
            <a:endParaRPr/>
          </a:p>
        </p:txBody>
      </p:sp>
      <p:sp>
        <p:nvSpPr>
          <p:cNvPr id="899" name="Google Shape;899;p75"/>
          <p:cNvSpPr/>
          <p:nvPr/>
        </p:nvSpPr>
        <p:spPr>
          <a:xfrm>
            <a:off x="1425892" y="3382791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5"/>
          <p:cNvSpPr txBox="1"/>
          <p:nvPr/>
        </p:nvSpPr>
        <p:spPr>
          <a:xfrm>
            <a:off x="3369608" y="2178213"/>
            <a:ext cx="473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we have </a:t>
            </a:r>
            <a:endParaRPr/>
          </a:p>
        </p:txBody>
      </p:sp>
      <p:sp>
        <p:nvSpPr>
          <p:cNvPr id="901" name="Google Shape;901;p75"/>
          <p:cNvSpPr/>
          <p:nvPr/>
        </p:nvSpPr>
        <p:spPr>
          <a:xfrm>
            <a:off x="2198217" y="3382791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2\ \times20\ \div4&quot;&gt;&lt;mn&gt;12&lt;/mn&gt;&lt;mtext&gt;&lt;/mtext&gt;&lt;mo&gt;×&lt;/mo&gt;&lt;mn&gt;20&lt;/mn&gt;&lt;mtext&gt;&lt;/mtext&gt;&lt;mo&gt;÷&lt;/mo&gt;&lt;mn&gt;4&lt;/mn&gt;&lt;/math&gt;" id="902" name="Google Shape;902;p75" title="12 times 20 division sign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2650" y="2312417"/>
            <a:ext cx="1464211" cy="212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2\ \times\frac{20}{4}\\&amp;#13;&amp;#10;12\ \times5\ \end{array}&quot;&gt;&lt;mtable columnalign=&quot;left&quot; columnspacing=&quot;1em&quot; rowspacing=&quot;4pt&quot;&gt;&lt;mtr&gt;&lt;mtd&gt;&lt;mn&gt;12&lt;/mn&gt;&lt;mtext&gt;&lt;/mtext&gt;&lt;mo&gt;×&lt;/mo&gt;&lt;mfrac&gt;&lt;mn&gt;20&lt;/mn&gt;&lt;mn&gt;4&lt;/mn&gt;&lt;/mfrac&gt;&lt;/mtd&gt;&lt;/mtr&gt;&lt;mtr&gt;&lt;mtd&gt;&lt;mn&gt;12&lt;/mn&gt;&lt;mtext&gt;&lt;/mtext&gt;&lt;mo&gt;×&lt;/mo&gt;&lt;mn&gt;5&lt;/mn&gt;&lt;mtext&gt;&lt;/mtext&gt;&lt;/mtd&gt;&lt;/mtr&gt;&lt;/mtable&gt;&lt;/math&gt;" id="903" name="Google Shape;903;p75" title="2 lines Line 1: 12 times 20 over 4 Line 2: 12 times 5"/>
          <p:cNvPicPr preferRelativeResize="0"/>
          <p:nvPr/>
        </p:nvPicPr>
        <p:blipFill rotWithShape="1">
          <a:blip r:embed="rId5">
            <a:alphaModFix/>
          </a:blip>
          <a:srcRect b="42269" l="0" r="0" t="0"/>
          <a:stretch/>
        </p:blipFill>
        <p:spPr>
          <a:xfrm>
            <a:off x="5432650" y="2737222"/>
            <a:ext cx="1008245" cy="474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60&quot;&gt;&lt;mo&gt;=&lt;/mo&gt;&lt;mn&gt;60&lt;/mn&gt;&lt;/math&gt;" id="904" name="Google Shape;904;p75" title="equals 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7524" y="3435293"/>
            <a:ext cx="571442" cy="212992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75"/>
          <p:cNvSpPr txBox="1"/>
          <p:nvPr>
            <p:ph idx="1" type="body"/>
          </p:nvPr>
        </p:nvSpPr>
        <p:spPr>
          <a:xfrm>
            <a:off x="4005800" y="3961100"/>
            <a:ext cx="46908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as it makes the divisor clear and reduces errors.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begin{array}{l}12\ \times\frac{20}{4}\\&amp;#13;&amp;#10;12\ \times5\ \end{array}&quot;&gt;&lt;mtable columnalign=&quot;left&quot; columnspacing=&quot;1em&quot; rowspacing=&quot;4pt&quot;&gt;&lt;mtr&gt;&lt;mtd&gt;&lt;mn&gt;12&lt;/mn&gt;&lt;mtext&gt;&lt;/mtext&gt;&lt;mo&gt;×&lt;/mo&gt;&lt;mfrac&gt;&lt;mn&gt;20&lt;/mn&gt;&lt;mn&gt;4&lt;/mn&gt;&lt;/mfrac&gt;&lt;/mtd&gt;&lt;/mtr&gt;&lt;mtr&gt;&lt;mtd&gt;&lt;mn&gt;12&lt;/mn&gt;&lt;mtext&gt;&lt;/mtext&gt;&lt;mo&gt;×&lt;/mo&gt;&lt;mn&gt;5&lt;/mn&gt;&lt;mtext&gt;&lt;/mtext&gt;&lt;/mtd&gt;&lt;/mtr&gt;&lt;/mtable&gt;&lt;/math&gt;" id="906" name="Google Shape;906;p75" title="2 lines Line 1: 12 times 20 over 4 Line 2: 12 times 5"/>
          <p:cNvPicPr preferRelativeResize="0"/>
          <p:nvPr/>
        </p:nvPicPr>
        <p:blipFill rotWithShape="1">
          <a:blip r:embed="rId5">
            <a:alphaModFix/>
          </a:blip>
          <a:srcRect b="-13202" l="0" r="0" t="55472"/>
          <a:stretch/>
        </p:blipFill>
        <p:spPr>
          <a:xfrm>
            <a:off x="5432650" y="3269364"/>
            <a:ext cx="1008245" cy="474174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5"/>
          <p:cNvSpPr txBox="1"/>
          <p:nvPr>
            <p:ph idx="1" type="body"/>
          </p:nvPr>
        </p:nvSpPr>
        <p:spPr>
          <a:xfrm>
            <a:off x="324000" y="777650"/>
            <a:ext cx="78408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do you think we do when we have </a:t>
            </a:r>
            <a:r>
              <a:rPr lang="en-GB" sz="2000"/>
              <a:t>two operations on the same row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908" name="Google Shape;908;p75"/>
          <p:cNvSpPr txBox="1"/>
          <p:nvPr>
            <p:ph idx="1" type="body"/>
          </p:nvPr>
        </p:nvSpPr>
        <p:spPr>
          <a:xfrm>
            <a:off x="324000" y="1520200"/>
            <a:ext cx="84960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A better </a:t>
            </a:r>
            <a:r>
              <a:rPr lang="en-GB" sz="2100"/>
              <a:t>approach</a:t>
            </a:r>
            <a:r>
              <a:rPr lang="en-GB" sz="2100"/>
              <a:t> is to write the </a:t>
            </a:r>
            <a:r>
              <a:rPr lang="en-GB" sz="2100">
                <a:solidFill>
                  <a:schemeClr val="accent4"/>
                </a:solidFill>
              </a:rPr>
              <a:t>division as a fraction </a:t>
            </a:r>
            <a:r>
              <a:rPr lang="en-GB" sz="2100"/>
              <a:t>…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288" y="2834357"/>
            <a:ext cx="670250" cy="1265574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76"/>
          <p:cNvSpPr txBox="1"/>
          <p:nvPr/>
        </p:nvSpPr>
        <p:spPr>
          <a:xfrm>
            <a:off x="645303" y="4183231"/>
            <a:ext cx="919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6"/>
          <p:cNvSpPr txBox="1"/>
          <p:nvPr/>
        </p:nvSpPr>
        <p:spPr>
          <a:xfrm>
            <a:off x="1837200" y="747225"/>
            <a:ext cx="597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 and Jacob are given this calculation</a:t>
            </a:r>
            <a:endParaRPr sz="1800"/>
          </a:p>
        </p:txBody>
      </p:sp>
      <p:sp>
        <p:nvSpPr>
          <p:cNvPr id="916" name="Google Shape;916;p76"/>
          <p:cNvSpPr txBox="1"/>
          <p:nvPr/>
        </p:nvSpPr>
        <p:spPr>
          <a:xfrm>
            <a:off x="3358800" y="1266463"/>
            <a:ext cx="18156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10 − 6 + 4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6"/>
          <p:cNvSpPr txBox="1"/>
          <p:nvPr/>
        </p:nvSpPr>
        <p:spPr>
          <a:xfrm>
            <a:off x="3229713" y="1810900"/>
            <a:ext cx="210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is correct?</a:t>
            </a:r>
            <a:endParaRPr sz="1800"/>
          </a:p>
        </p:txBody>
      </p:sp>
      <p:pic>
        <p:nvPicPr>
          <p:cNvPr id="918" name="Google Shape;918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1190" y="2456831"/>
            <a:ext cx="2379451" cy="1575802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76"/>
          <p:cNvSpPr txBox="1"/>
          <p:nvPr/>
        </p:nvSpPr>
        <p:spPr>
          <a:xfrm>
            <a:off x="1411125" y="2735281"/>
            <a:ext cx="2379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subtract 6 is 4, then 4 add 4 is 8</a:t>
            </a:r>
            <a:endParaRPr/>
          </a:p>
        </p:txBody>
      </p:sp>
      <p:pic>
        <p:nvPicPr>
          <p:cNvPr id="920" name="Google Shape;92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900024" y="2348800"/>
            <a:ext cx="3890426" cy="2497451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76"/>
          <p:cNvSpPr txBox="1"/>
          <p:nvPr/>
        </p:nvSpPr>
        <p:spPr>
          <a:xfrm>
            <a:off x="3835250" y="2330156"/>
            <a:ext cx="3955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Knowing subtraction is adding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additive inverse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+ (-6) + 4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I can do this in any order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+ 4 + (-6)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+ (-6) = 8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</p:txBody>
      </p:sp>
      <p:pic>
        <p:nvPicPr>
          <p:cNvPr id="923" name="Google Shape;923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0462" y="3385056"/>
            <a:ext cx="739899" cy="91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6"/>
          <p:cNvSpPr txBox="1"/>
          <p:nvPr/>
        </p:nvSpPr>
        <p:spPr>
          <a:xfrm>
            <a:off x="7657188" y="4317281"/>
            <a:ext cx="919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074726" y="2402525"/>
            <a:ext cx="3582474" cy="244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0462" y="3385056"/>
            <a:ext cx="739899" cy="91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77"/>
          <p:cNvSpPr txBox="1"/>
          <p:nvPr/>
        </p:nvSpPr>
        <p:spPr>
          <a:xfrm>
            <a:off x="7657188" y="4317281"/>
            <a:ext cx="919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7"/>
          <p:cNvSpPr txBox="1"/>
          <p:nvPr/>
        </p:nvSpPr>
        <p:spPr>
          <a:xfrm>
            <a:off x="565775" y="1649572"/>
            <a:ext cx="8033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are correct! Either can be applied to work out the correct answer. Using additive inverses means we can use the commutative property of addition.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33" name="Google Shape;933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288" y="2834357"/>
            <a:ext cx="670250" cy="1265574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77"/>
          <p:cNvSpPr txBox="1"/>
          <p:nvPr/>
        </p:nvSpPr>
        <p:spPr>
          <a:xfrm>
            <a:off x="645303" y="4183231"/>
            <a:ext cx="919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5" name="Google Shape;935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9790" y="2456831"/>
            <a:ext cx="2379451" cy="1575802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7"/>
          <p:cNvSpPr txBox="1"/>
          <p:nvPr/>
        </p:nvSpPr>
        <p:spPr>
          <a:xfrm>
            <a:off x="1639725" y="2735281"/>
            <a:ext cx="2379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subtract 6 is 4, then 4 add 4 is 8</a:t>
            </a:r>
            <a:endParaRPr/>
          </a:p>
        </p:txBody>
      </p:sp>
      <p:pic>
        <p:nvPicPr>
          <p:cNvPr id="937" name="Google Shape;937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45483" y="325759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04008" y="3898182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</p:txBody>
      </p:sp>
      <p:sp>
        <p:nvSpPr>
          <p:cNvPr id="940" name="Google Shape;940;p77"/>
          <p:cNvSpPr txBox="1"/>
          <p:nvPr/>
        </p:nvSpPr>
        <p:spPr>
          <a:xfrm>
            <a:off x="4161125" y="2358375"/>
            <a:ext cx="3487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Knowing subtraction is adding the additive inverse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+ (-6) + 4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I can do this in any order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+ 4 + (-6)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+ (-6) = 8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7"/>
          <p:cNvSpPr txBox="1"/>
          <p:nvPr/>
        </p:nvSpPr>
        <p:spPr>
          <a:xfrm>
            <a:off x="1837200" y="747225"/>
            <a:ext cx="597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 and Jacob are given this calculation</a:t>
            </a:r>
            <a:endParaRPr sz="1800"/>
          </a:p>
        </p:txBody>
      </p:sp>
      <p:sp>
        <p:nvSpPr>
          <p:cNvPr id="942" name="Google Shape;942;p77"/>
          <p:cNvSpPr txBox="1"/>
          <p:nvPr/>
        </p:nvSpPr>
        <p:spPr>
          <a:xfrm>
            <a:off x="3358800" y="1190263"/>
            <a:ext cx="18156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10 − 6 + 4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202" y="2493019"/>
            <a:ext cx="2726649" cy="17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78"/>
          <p:cNvSpPr txBox="1"/>
          <p:nvPr/>
        </p:nvSpPr>
        <p:spPr>
          <a:xfrm>
            <a:off x="569103" y="4206750"/>
            <a:ext cx="919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8"/>
          <p:cNvSpPr txBox="1"/>
          <p:nvPr/>
        </p:nvSpPr>
        <p:spPr>
          <a:xfrm>
            <a:off x="930300" y="634325"/>
            <a:ext cx="702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 looks at the calculation and says the answer is 0</a:t>
            </a:r>
            <a:endParaRPr sz="1800"/>
          </a:p>
        </p:txBody>
      </p:sp>
      <p:sp>
        <p:nvSpPr>
          <p:cNvPr id="950" name="Google Shape;950;p78"/>
          <p:cNvSpPr txBox="1"/>
          <p:nvPr/>
        </p:nvSpPr>
        <p:spPr>
          <a:xfrm>
            <a:off x="3358800" y="1145638"/>
            <a:ext cx="18156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10 − 6 + 4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8"/>
          <p:cNvSpPr txBox="1"/>
          <p:nvPr/>
        </p:nvSpPr>
        <p:spPr>
          <a:xfrm>
            <a:off x="1415261" y="2543125"/>
            <a:ext cx="28050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Addition comes before subtraction. You do            6 + 4 = 10, so you can think of this as 10 − 10.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8"/>
          <p:cNvSpPr txBox="1"/>
          <p:nvPr/>
        </p:nvSpPr>
        <p:spPr>
          <a:xfrm>
            <a:off x="2470750" y="1835300"/>
            <a:ext cx="428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explain why she is wrong?</a:t>
            </a:r>
            <a:endParaRPr sz="1800"/>
          </a:p>
        </p:txBody>
      </p:sp>
      <p:pic>
        <p:nvPicPr>
          <p:cNvPr id="953" name="Google Shape;953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752" y="3196990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78"/>
          <p:cNvSpPr txBox="1"/>
          <p:nvPr/>
        </p:nvSpPr>
        <p:spPr>
          <a:xfrm>
            <a:off x="4422800" y="2423550"/>
            <a:ext cx="3906900" cy="16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She has interpreted the 6 to be a positive 6, when the calculation is the addition of -6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10 − 6 + 4 = 10 + (-6)+ 4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5" name="Google Shape;95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79"/>
          <p:cNvSpPr/>
          <p:nvPr/>
        </p:nvSpPr>
        <p:spPr>
          <a:xfrm>
            <a:off x="4773225" y="1788900"/>
            <a:ext cx="3126900" cy="214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9"/>
          <p:cNvSpPr/>
          <p:nvPr/>
        </p:nvSpPr>
        <p:spPr>
          <a:xfrm>
            <a:off x="913425" y="1788900"/>
            <a:ext cx="3126900" cy="214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9"/>
          <p:cNvSpPr txBox="1"/>
          <p:nvPr>
            <p:ph idx="1" type="body"/>
          </p:nvPr>
        </p:nvSpPr>
        <p:spPr>
          <a:xfrm>
            <a:off x="324000" y="759300"/>
            <a:ext cx="8237700" cy="96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Izzy and Alex do the same calculation, but in different ways.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Who is correct? What should they have done differently?</a:t>
            </a:r>
            <a:endParaRPr/>
          </a:p>
        </p:txBody>
      </p:sp>
      <p:sp>
        <p:nvSpPr>
          <p:cNvPr id="963" name="Google Shape;96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24\div8\times3\\&amp;#13;&amp;#10;\frac{24}{8}\times3\\&amp;#13;&amp;#10;3\times3\ =\ 9\end{array}&quot;&gt;&lt;mtable columnalign=&quot;left&quot; columnspacing=&quot;1em&quot; rowspacing=&quot;4pt&quot;&gt;&lt;mtr&gt;&lt;mtd&gt;&lt;mn&gt;24&lt;/mn&gt;&lt;mo&gt;÷&lt;/mo&gt;&lt;mn&gt;8&lt;/mn&gt;&lt;mo&gt;×&lt;/mo&gt;&lt;mn&gt;3&lt;/mn&gt;&lt;/mtd&gt;&lt;/mtr&gt;&lt;mtr&gt;&lt;mtd&gt;&lt;mfrac&gt;&lt;mn&gt;24&lt;/mn&gt;&lt;mn&gt;8&lt;/mn&gt;&lt;/mfrac&gt;&lt;mo&gt;×&lt;/mo&gt;&lt;mn&gt;3&lt;/mn&gt;&lt;/mtd&gt;&lt;/mtr&gt;&lt;mtr&gt;&lt;mtd&gt;&lt;mn&gt;3&lt;/mn&gt;&lt;mo&gt;×&lt;/mo&gt;&lt;mn&gt;3&lt;/mn&gt;&lt;mtext&gt;&lt;/mtext&gt;&lt;mo&gt;=&lt;/mo&gt;&lt;mtext&gt;&lt;/mtext&gt;&lt;mn&gt;9&lt;/mn&gt;&lt;/mtd&gt;&lt;/mtr&gt;&lt;/mtable&gt;&lt;/math&gt;" id="964" name="Google Shape;964;p79" title="3 lines Line 1: 24 divided by 8 times 3 Line 2: 24 over 8 times 3 Line 3: 3 times 3 equals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3750" y="2042725"/>
            <a:ext cx="1486100" cy="134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4\div8\times3\\&amp;#13;&amp;#10;24\div24\ =\ 1\end{array}&quot;&gt;&lt;mtable columnalign=&quot;left&quot; columnspacing=&quot;1em&quot; rowspacing=&quot;4pt&quot;&gt;&lt;mtr&gt;&lt;mtd&gt;&lt;mn&gt;24&lt;/mn&gt;&lt;mo&gt;÷&lt;/mo&gt;&lt;mn&gt;8&lt;/mn&gt;&lt;mo&gt;×&lt;/mo&gt;&lt;mn&gt;3&lt;/mn&gt;&lt;/mtd&gt;&lt;/mtr&gt;&lt;mtr&gt;&lt;mtd&gt;&lt;mn&gt;24&lt;/mn&gt;&lt;mo&gt;÷&lt;/mo&gt;&lt;mn&gt;24&lt;/mn&gt;&lt;mtext&gt;&lt;/mtext&gt;&lt;mo&gt;=&lt;/mo&gt;&lt;mtext&gt;&lt;/mtext&gt;&lt;mn&gt;1&lt;/mn&gt;&lt;/mtd&gt;&lt;/mtr&gt;&lt;/mtable&gt;&lt;/math&gt;" id="965" name="Google Shape;965;p79" title="2 lines Line 1: 24 divided by 8 times 3 Line 2: 24 divided by 24 equals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4325" y="2160000"/>
            <a:ext cx="1892534" cy="774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79"/>
          <p:cNvSpPr txBox="1"/>
          <p:nvPr/>
        </p:nvSpPr>
        <p:spPr>
          <a:xfrm>
            <a:off x="2048850" y="3465225"/>
            <a:ext cx="82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/>
          </a:p>
        </p:txBody>
      </p:sp>
      <p:sp>
        <p:nvSpPr>
          <p:cNvPr id="967" name="Google Shape;967;p79"/>
          <p:cNvSpPr txBox="1"/>
          <p:nvPr/>
        </p:nvSpPr>
        <p:spPr>
          <a:xfrm>
            <a:off x="5925375" y="3518400"/>
            <a:ext cx="82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/>
          </a:p>
        </p:txBody>
      </p:sp>
      <p:sp>
        <p:nvSpPr>
          <p:cNvPr id="968" name="Google Shape;968;p79"/>
          <p:cNvSpPr txBox="1"/>
          <p:nvPr>
            <p:ph idx="1" type="body"/>
          </p:nvPr>
        </p:nvSpPr>
        <p:spPr>
          <a:xfrm>
            <a:off x="673350" y="4089475"/>
            <a:ext cx="7765500" cy="96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Alex is correct. Izzy should have written 24 ÷ 8 as a fraction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calculated this to then multiply by it 3.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69" name="Google Shape;969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8650" y="3152780"/>
            <a:ext cx="742850" cy="71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7502" y="3152772"/>
            <a:ext cx="623389" cy="71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0"/>
          <p:cNvSpPr txBox="1"/>
          <p:nvPr>
            <p:ph idx="4294967295" type="body"/>
          </p:nvPr>
        </p:nvSpPr>
        <p:spPr>
          <a:xfrm>
            <a:off x="4002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Work out the answers to the following. Ensure to show all your working out.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12</a:t>
            </a:r>
            <a:r>
              <a:rPr lang="en-GB"/>
              <a:t> + 6 × 2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 startAt="2"/>
            </a:pPr>
            <a:r>
              <a:rPr lang="en-GB"/>
              <a:t>100 − 20 ÷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 startAt="3"/>
            </a:pPr>
            <a:r>
              <a:rPr lang="en-GB"/>
              <a:t>3</a:t>
            </a:r>
            <a:r>
              <a:rPr lang="en-GB"/>
              <a:t> × 10 − 24 ÷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81"/>
          <p:cNvSpPr/>
          <p:nvPr/>
        </p:nvSpPr>
        <p:spPr>
          <a:xfrm>
            <a:off x="4774850" y="1589450"/>
            <a:ext cx="3384600" cy="259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1"/>
          <p:cNvSpPr/>
          <p:nvPr/>
        </p:nvSpPr>
        <p:spPr>
          <a:xfrm>
            <a:off x="775175" y="1589450"/>
            <a:ext cx="2902800" cy="259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81"/>
          <p:cNvSpPr txBox="1"/>
          <p:nvPr>
            <p:ph idx="4294967295" type="body"/>
          </p:nvPr>
        </p:nvSpPr>
        <p:spPr>
          <a:xfrm>
            <a:off x="324000" y="772300"/>
            <a:ext cx="8496000" cy="10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Sam and Sofia do the same calculation differently. Who is correct? Explain what the incorrect person should have done differently.</a:t>
            </a:r>
            <a:endParaRPr sz="2000"/>
          </a:p>
        </p:txBody>
      </p:sp>
      <p:sp>
        <p:nvSpPr>
          <p:cNvPr id="984" name="Google Shape;984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10+15\div3\times4\\&amp;#13;&amp;#10;10\ +\frac{15}{3}\times4\\&amp;#13;&amp;#10;10+5\times4\\&amp;#13;&amp;#10;10+20\ =\ 30\end{array}&quot;&gt;&lt;mtable columnalign=&quot;left&quot; columnspacing=&quot;1em&quot; rowspacing=&quot;4pt&quot;&gt;&lt;mtr&gt;&lt;mtd&gt;&lt;mn&gt;10&lt;/mn&gt;&lt;mo&gt;+&lt;/mo&gt;&lt;mn&gt;15&lt;/mn&gt;&lt;mo&gt;÷&lt;/mo&gt;&lt;mn&gt;3&lt;/mn&gt;&lt;mo&gt;×&lt;/mo&gt;&lt;mn&gt;4&lt;/mn&gt;&lt;/mtd&gt;&lt;/mtr&gt;&lt;mtr&gt;&lt;mtd&gt;&lt;mn&gt;10&lt;/mn&gt;&lt;mtext&gt;&lt;/mtext&gt;&lt;mo&gt;+&lt;/mo&gt;&lt;mfrac&gt;&lt;mn&gt;15&lt;/mn&gt;&lt;mn&gt;3&lt;/mn&gt;&lt;/mfrac&gt;&lt;mo&gt;×&lt;/mo&gt;&lt;mn&gt;4&lt;/mn&gt;&lt;/mtd&gt;&lt;/mtr&gt;&lt;mtr&gt;&lt;mtd&gt;&lt;mn&gt;10&lt;/mn&gt;&lt;mo&gt;+&lt;/mo&gt;&lt;mn&gt;5&lt;/mn&gt;&lt;mo&gt;×&lt;/mo&gt;&lt;mn&gt;4&lt;/mn&gt;&lt;/mtd&gt;&lt;/mtr&gt;&lt;mtr&gt;&lt;mtd&gt;&lt;mn&gt;10&lt;/mn&gt;&lt;mo&gt;+&lt;/mo&gt;&lt;mn&gt;20&lt;/mn&gt;&lt;mtext&gt;&lt;/mtext&gt;&lt;mo&gt;=&lt;/mo&gt;&lt;mtext&gt;&lt;/mtext&gt;&lt;mn&gt;30&lt;/mn&gt;&lt;/mtd&gt;&lt;/mtr&gt;&lt;/mtable&gt;&lt;/math&gt;" id="985" name="Google Shape;985;p81" title="4 lines Line 1: 10 plus 15 divided by 3 times 4 Line 2: 10 positive fifteen thirds times 4 Line 3: 10 plus 5 times 4 Line 4: 10 plus 20 equals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838" y="1726149"/>
            <a:ext cx="2227488" cy="19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+15\div3\times4\\&amp;#13;&amp;#10;10\ +15\ \div12\\&amp;#13;&amp;#10;10+\frac{15}{12}\\&amp;#13;&amp;#10;10+1.25\ =\ 11.25\end{array}&quot;&gt;&lt;mtable columnalign=&quot;left&quot; columnspacing=&quot;1em&quot; rowspacing=&quot;4pt&quot;&gt;&lt;mtr&gt;&lt;mtd&gt;&lt;mn&gt;10&lt;/mn&gt;&lt;mo&gt;+&lt;/mo&gt;&lt;mn&gt;15&lt;/mn&gt;&lt;mo&gt;÷&lt;/mo&gt;&lt;mn&gt;3&lt;/mn&gt;&lt;mo&gt;×&lt;/mo&gt;&lt;mn&gt;4&lt;/mn&gt;&lt;/mtd&gt;&lt;/mtr&gt;&lt;mtr&gt;&lt;mtd&gt;&lt;mn&gt;10&lt;/mn&gt;&lt;mtext&gt;&lt;/mtext&gt;&lt;mo&gt;+&lt;/mo&gt;&lt;mn&gt;15&lt;/mn&gt;&lt;mtext&gt;&lt;/mtext&gt;&lt;mo&gt;÷&lt;/mo&gt;&lt;mn&gt;12&lt;/mn&gt;&lt;/mtd&gt;&lt;/mtr&gt;&lt;mtr&gt;&lt;mtd&gt;&lt;mn&gt;10&lt;/mn&gt;&lt;mo&gt;+&lt;/mo&gt;&lt;mfrac&gt;&lt;mn&gt;15&lt;/mn&gt;&lt;mn&gt;12&lt;/mn&gt;&lt;/mfrac&gt;&lt;/mtd&gt;&lt;/mtr&gt;&lt;mtr&gt;&lt;mtd&gt;&lt;mn&gt;10&lt;/mn&gt;&lt;mo&gt;+&lt;/mo&gt;&lt;mn&gt;1.25&lt;/mn&gt;&lt;mtext&gt;&lt;/mtext&gt;&lt;mo&gt;=&lt;/mo&gt;&lt;mtext&gt;&lt;/mtext&gt;&lt;mn&gt;11.25&lt;/mn&gt;&lt;/mtd&gt;&lt;/mtr&gt;&lt;/mtable&gt;&lt;/math&gt;" id="986" name="Google Shape;986;p81" title="4 lines Line 1: 10 plus 15 divided by 3 times 4 Line 2: 10 positive 15 division sign 12 Line 3: 10 plus 15 over 12 Line 4: 10 plus 1.25 equals 11.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725" y="1764312"/>
            <a:ext cx="2832050" cy="19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81"/>
          <p:cNvSpPr txBox="1"/>
          <p:nvPr/>
        </p:nvSpPr>
        <p:spPr>
          <a:xfrm>
            <a:off x="1791450" y="3673850"/>
            <a:ext cx="8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/>
          </a:p>
        </p:txBody>
      </p:sp>
      <p:sp>
        <p:nvSpPr>
          <p:cNvPr id="988" name="Google Shape;988;p81"/>
          <p:cNvSpPr txBox="1"/>
          <p:nvPr/>
        </p:nvSpPr>
        <p:spPr>
          <a:xfrm>
            <a:off x="6094096" y="3709300"/>
            <a:ext cx="1204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82"/>
          <p:cNvSpPr txBox="1"/>
          <p:nvPr>
            <p:ph idx="4294967295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Fill in the gaps with +, −, ÷ and × so that the calculations are correct.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82"/>
          <p:cNvSpPr txBox="1"/>
          <p:nvPr/>
        </p:nvSpPr>
        <p:spPr>
          <a:xfrm>
            <a:off x="371050" y="1620000"/>
            <a:ext cx="45873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4 ⬚ 5 ⬚ 6 ⬚ 7 = 12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4 ⬚ 5 ⬚ 6 ⬚ 7 = 8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4 ⬚ 5 ⬚ 6 ⬚ 7 = 62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4 ⬚ 5 ⬚ 6 ⬚ 7 = 7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4 ⬚ 5 ⬚ 6 ⬚ 7 = 21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83"/>
          <p:cNvSpPr txBox="1"/>
          <p:nvPr>
            <p:ph idx="4294967295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</a:t>
            </a:r>
            <a:r>
              <a:rPr lang="en-GB"/>
              <a:t>Fill in the gaps with +, −, ÷ and × so that the calculations are correct.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83"/>
          <p:cNvSpPr txBox="1"/>
          <p:nvPr/>
        </p:nvSpPr>
        <p:spPr>
          <a:xfrm>
            <a:off x="371050" y="1620000"/>
            <a:ext cx="64272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10 ⬚ 2 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⬚ 3 = 8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10 ⬚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 ⬚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⬚ 3 = 10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10 ⬚ 2 ⬚ 10 ⬚ 2 ⬚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 ⬚  3 = 21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84"/>
          <p:cNvSpPr txBox="1"/>
          <p:nvPr>
            <p:ph idx="4294967295" type="body"/>
          </p:nvPr>
        </p:nvSpPr>
        <p:spPr>
          <a:xfrm>
            <a:off x="324000" y="759300"/>
            <a:ext cx="8237700" cy="10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Work out the answers to the following. Ensure to show all your working out.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3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08" name="Google Shape;1008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09" name="Google Shape;100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200" y="1862950"/>
            <a:ext cx="2197835" cy="86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203" y="3038799"/>
            <a:ext cx="2218421" cy="84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200" y="1878325"/>
            <a:ext cx="2208124" cy="87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7200" y="3005875"/>
            <a:ext cx="2302675" cy="87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0500" y="1792800"/>
            <a:ext cx="2991601" cy="17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30000" y="1774800"/>
            <a:ext cx="2972752" cy="178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85"/>
          <p:cNvSpPr/>
          <p:nvPr/>
        </p:nvSpPr>
        <p:spPr>
          <a:xfrm>
            <a:off x="4774845" y="1665650"/>
            <a:ext cx="3384600" cy="251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5"/>
          <p:cNvSpPr/>
          <p:nvPr/>
        </p:nvSpPr>
        <p:spPr>
          <a:xfrm>
            <a:off x="775175" y="1665650"/>
            <a:ext cx="2902800" cy="251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5"/>
          <p:cNvSpPr txBox="1"/>
          <p:nvPr>
            <p:ph idx="4294967295" type="body"/>
          </p:nvPr>
        </p:nvSpPr>
        <p:spPr>
          <a:xfrm>
            <a:off x="331950" y="772300"/>
            <a:ext cx="8711100" cy="10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Sam and Sofia do the same calculation differently. Who is correct? Explain what the incorrect person should have done differently.</a:t>
            </a:r>
            <a:endParaRPr sz="2000"/>
          </a:p>
        </p:txBody>
      </p:sp>
      <p:sp>
        <p:nvSpPr>
          <p:cNvPr id="1022" name="Google Shape;1022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10+15\div3\times4\\&amp;#13;&amp;#10;10\ +\frac{15}{3}\times4\\&amp;#13;&amp;#10;10+5\times4\\&amp;#13;&amp;#10;10+20\ =\ 30\end{array}&quot;&gt;&lt;mtable columnalign=&quot;left&quot; columnspacing=&quot;1em&quot; rowspacing=&quot;4pt&quot;&gt;&lt;mtr&gt;&lt;mtd&gt;&lt;mn&gt;10&lt;/mn&gt;&lt;mo&gt;+&lt;/mo&gt;&lt;mn&gt;15&lt;/mn&gt;&lt;mo&gt;÷&lt;/mo&gt;&lt;mn&gt;3&lt;/mn&gt;&lt;mo&gt;×&lt;/mo&gt;&lt;mn&gt;4&lt;/mn&gt;&lt;/mtd&gt;&lt;/mtr&gt;&lt;mtr&gt;&lt;mtd&gt;&lt;mn&gt;10&lt;/mn&gt;&lt;mtext&gt;&lt;/mtext&gt;&lt;mo&gt;+&lt;/mo&gt;&lt;mfrac&gt;&lt;mn&gt;15&lt;/mn&gt;&lt;mn&gt;3&lt;/mn&gt;&lt;/mfrac&gt;&lt;mo&gt;×&lt;/mo&gt;&lt;mn&gt;4&lt;/mn&gt;&lt;/mtd&gt;&lt;/mtr&gt;&lt;mtr&gt;&lt;mtd&gt;&lt;mn&gt;10&lt;/mn&gt;&lt;mo&gt;+&lt;/mo&gt;&lt;mn&gt;5&lt;/mn&gt;&lt;mo&gt;×&lt;/mo&gt;&lt;mn&gt;4&lt;/mn&gt;&lt;/mtd&gt;&lt;/mtr&gt;&lt;mtr&gt;&lt;mtd&gt;&lt;mn&gt;10&lt;/mn&gt;&lt;mo&gt;+&lt;/mo&gt;&lt;mn&gt;20&lt;/mn&gt;&lt;mtext&gt;&lt;/mtext&gt;&lt;mo&gt;=&lt;/mo&gt;&lt;mtext&gt;&lt;/mtext&gt;&lt;mn&gt;30&lt;/mn&gt;&lt;/mtd&gt;&lt;/mtr&gt;&lt;/mtable&gt;&lt;/math&gt;" id="1023" name="Google Shape;1023;p85" title="4 lines Line 1: 10 plus 15 divided by 3 times 4 Line 2: 10 positive fifteen thirds times 4 Line 3: 10 plus 5 times 4 Line 4: 10 plus 20 equals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838" y="1802349"/>
            <a:ext cx="2227488" cy="19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+15\div3\times4\\&amp;#13;&amp;#10;10\ +15\ \div12\\&amp;#13;&amp;#10;10+\frac{15}{12}\\&amp;#13;&amp;#10;10+1.25\ =\ 11.25\end{array}&quot;&gt;&lt;mtable columnalign=&quot;left&quot; columnspacing=&quot;1em&quot; rowspacing=&quot;4pt&quot;&gt;&lt;mtr&gt;&lt;mtd&gt;&lt;mn&gt;10&lt;/mn&gt;&lt;mo&gt;+&lt;/mo&gt;&lt;mn&gt;15&lt;/mn&gt;&lt;mo&gt;÷&lt;/mo&gt;&lt;mn&gt;3&lt;/mn&gt;&lt;mo&gt;×&lt;/mo&gt;&lt;mn&gt;4&lt;/mn&gt;&lt;/mtd&gt;&lt;/mtr&gt;&lt;mtr&gt;&lt;mtd&gt;&lt;mn&gt;10&lt;/mn&gt;&lt;mtext&gt;&lt;/mtext&gt;&lt;mo&gt;+&lt;/mo&gt;&lt;mn&gt;15&lt;/mn&gt;&lt;mtext&gt;&lt;/mtext&gt;&lt;mo&gt;÷&lt;/mo&gt;&lt;mn&gt;12&lt;/mn&gt;&lt;/mtd&gt;&lt;/mtr&gt;&lt;mtr&gt;&lt;mtd&gt;&lt;mn&gt;10&lt;/mn&gt;&lt;mo&gt;+&lt;/mo&gt;&lt;mfrac&gt;&lt;mn&gt;15&lt;/mn&gt;&lt;mn&gt;12&lt;/mn&gt;&lt;/mfrac&gt;&lt;/mtd&gt;&lt;/mtr&gt;&lt;mtr&gt;&lt;mtd&gt;&lt;mn&gt;10&lt;/mn&gt;&lt;mo&gt;+&lt;/mo&gt;&lt;mn&gt;1.25&lt;/mn&gt;&lt;mtext&gt;&lt;/mtext&gt;&lt;mo&gt;=&lt;/mo&gt;&lt;mtext&gt;&lt;/mtext&gt;&lt;mn&gt;11.25&lt;/mn&gt;&lt;/mtd&gt;&lt;/mtr&gt;&lt;/mtable&gt;&lt;/math&gt;" id="1024" name="Google Shape;1024;p85" title="4 lines Line 1: 10 plus 15 divided by 3 times 4 Line 2: 10 positive 15 division sign 12 Line 3: 10 plus 15 over 12 Line 4: 10 plus 1.25 equals 11.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725" y="1840512"/>
            <a:ext cx="2832050" cy="19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5"/>
          <p:cNvSpPr txBox="1"/>
          <p:nvPr/>
        </p:nvSpPr>
        <p:spPr>
          <a:xfrm>
            <a:off x="1791450" y="3750050"/>
            <a:ext cx="8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/>
          </a:p>
        </p:txBody>
      </p:sp>
      <p:sp>
        <p:nvSpPr>
          <p:cNvPr id="1026" name="Google Shape;1026;p85"/>
          <p:cNvSpPr txBox="1"/>
          <p:nvPr/>
        </p:nvSpPr>
        <p:spPr>
          <a:xfrm>
            <a:off x="6094109" y="3785509"/>
            <a:ext cx="8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/>
          </a:p>
        </p:txBody>
      </p:sp>
      <p:sp>
        <p:nvSpPr>
          <p:cNvPr id="1027" name="Google Shape;1027;p85"/>
          <p:cNvSpPr txBox="1"/>
          <p:nvPr/>
        </p:nvSpPr>
        <p:spPr>
          <a:xfrm>
            <a:off x="345600" y="4141000"/>
            <a:ext cx="8332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Sofia should have written 15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3 as a fraction, then multiplied by 4.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86"/>
          <p:cNvSpPr txBox="1"/>
          <p:nvPr>
            <p:ph idx="4294967295" type="body"/>
          </p:nvPr>
        </p:nvSpPr>
        <p:spPr>
          <a:xfrm>
            <a:off x="324000" y="759300"/>
            <a:ext cx="83541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</a:t>
            </a:r>
            <a:r>
              <a:rPr lang="en-GB"/>
              <a:t>Fill in the gaps with +, −, ÷ and × so that the calculations are correct.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86"/>
          <p:cNvSpPr txBox="1"/>
          <p:nvPr/>
        </p:nvSpPr>
        <p:spPr>
          <a:xfrm>
            <a:off x="371050" y="1620000"/>
            <a:ext cx="45873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4 – 5 + 6 + 7 = 12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4 + 5 + 6 – 7 = 8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4 × 5 + 6 ×  7 = 62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4 × 5 – 6 – 7 = 7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4 × 5 – 6 + 7 = 21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035" name="Google Shape;1035;p86"/>
          <p:cNvGrpSpPr/>
          <p:nvPr/>
        </p:nvGrpSpPr>
        <p:grpSpPr>
          <a:xfrm>
            <a:off x="1169750" y="1777525"/>
            <a:ext cx="1505475" cy="280650"/>
            <a:chOff x="1169750" y="1777525"/>
            <a:chExt cx="1505475" cy="280650"/>
          </a:xfrm>
        </p:grpSpPr>
        <p:pic>
          <p:nvPicPr>
            <p:cNvPr id="1036" name="Google Shape;1036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69750" y="1777525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7" name="Google Shape;1037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55100" y="1777525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8" name="Google Shape;1038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94575" y="1777525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9" name="Google Shape;1039;p86"/>
          <p:cNvGrpSpPr/>
          <p:nvPr/>
        </p:nvGrpSpPr>
        <p:grpSpPr>
          <a:xfrm>
            <a:off x="1169750" y="2280276"/>
            <a:ext cx="1521738" cy="291474"/>
            <a:chOff x="1169750" y="2280276"/>
            <a:chExt cx="1521738" cy="291474"/>
          </a:xfrm>
        </p:grpSpPr>
        <p:pic>
          <p:nvPicPr>
            <p:cNvPr id="1040" name="Google Shape;1040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69750" y="2291100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1" name="Google Shape;1041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93000" y="2291100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2" name="Google Shape;1042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10838" y="2280276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3" name="Google Shape;1043;p86"/>
          <p:cNvGrpSpPr/>
          <p:nvPr/>
        </p:nvGrpSpPr>
        <p:grpSpPr>
          <a:xfrm>
            <a:off x="1161610" y="2772205"/>
            <a:ext cx="1521738" cy="291474"/>
            <a:chOff x="1161610" y="2772205"/>
            <a:chExt cx="1521738" cy="291474"/>
          </a:xfrm>
        </p:grpSpPr>
        <p:pic>
          <p:nvPicPr>
            <p:cNvPr id="1044" name="Google Shape;1044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61610" y="2783028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5" name="Google Shape;1045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84860" y="2783028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6" name="Google Shape;1046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02698" y="2772205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7" name="Google Shape;1047;p86"/>
          <p:cNvGrpSpPr/>
          <p:nvPr/>
        </p:nvGrpSpPr>
        <p:grpSpPr>
          <a:xfrm>
            <a:off x="1134550" y="3258715"/>
            <a:ext cx="1521738" cy="291474"/>
            <a:chOff x="1134550" y="3258715"/>
            <a:chExt cx="1521738" cy="291474"/>
          </a:xfrm>
        </p:grpSpPr>
        <p:pic>
          <p:nvPicPr>
            <p:cNvPr id="1048" name="Google Shape;1048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34550" y="3269539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9" name="Google Shape;1049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57800" y="3269539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0" name="Google Shape;1050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75638" y="3258715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1" name="Google Shape;1051;p86"/>
          <p:cNvGrpSpPr/>
          <p:nvPr/>
        </p:nvGrpSpPr>
        <p:grpSpPr>
          <a:xfrm>
            <a:off x="1139978" y="3756065"/>
            <a:ext cx="1521738" cy="291474"/>
            <a:chOff x="1139978" y="3756065"/>
            <a:chExt cx="1521738" cy="291474"/>
          </a:xfrm>
        </p:grpSpPr>
        <p:pic>
          <p:nvPicPr>
            <p:cNvPr id="1052" name="Google Shape;1052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39978" y="3766889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3" name="Google Shape;1053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63228" y="3766889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4" name="Google Shape;1054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81066" y="3756065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87"/>
          <p:cNvSpPr txBox="1"/>
          <p:nvPr>
            <p:ph idx="4294967295" type="body"/>
          </p:nvPr>
        </p:nvSpPr>
        <p:spPr>
          <a:xfrm>
            <a:off x="324000" y="759300"/>
            <a:ext cx="8257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</a:t>
            </a:r>
            <a:r>
              <a:rPr lang="en-GB"/>
              <a:t>Fill in the gaps with +, −, ÷ and × so that the calculations are correct.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87"/>
          <p:cNvSpPr txBox="1"/>
          <p:nvPr/>
        </p:nvSpPr>
        <p:spPr>
          <a:xfrm>
            <a:off x="371050" y="1620000"/>
            <a:ext cx="64272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10 + 2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 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2 -  3 = 8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10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 = 10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10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2 -  10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3 = 21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062" name="Google Shape;1062;p87"/>
          <p:cNvGrpSpPr/>
          <p:nvPr/>
        </p:nvGrpSpPr>
        <p:grpSpPr>
          <a:xfrm>
            <a:off x="1330739" y="1779807"/>
            <a:ext cx="1521738" cy="291474"/>
            <a:chOff x="1330739" y="1779807"/>
            <a:chExt cx="1521738" cy="291474"/>
          </a:xfrm>
        </p:grpSpPr>
        <p:pic>
          <p:nvPicPr>
            <p:cNvPr id="1063" name="Google Shape;1063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30739" y="1790631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4" name="Google Shape;1064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53989" y="1790631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5" name="Google Shape;1065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71827" y="1779807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6" name="Google Shape;1066;p87"/>
          <p:cNvGrpSpPr/>
          <p:nvPr/>
        </p:nvGrpSpPr>
        <p:grpSpPr>
          <a:xfrm>
            <a:off x="1365450" y="2783339"/>
            <a:ext cx="1601138" cy="280651"/>
            <a:chOff x="1365450" y="2783339"/>
            <a:chExt cx="1601138" cy="280651"/>
          </a:xfrm>
        </p:grpSpPr>
        <p:pic>
          <p:nvPicPr>
            <p:cNvPr id="1067" name="Google Shape;1067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65450" y="2783339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8" name="Google Shape;1068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88700" y="2783339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9" name="Google Shape;1069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85938" y="2783340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0" name="Google Shape;1070;p87"/>
          <p:cNvGrpSpPr/>
          <p:nvPr/>
        </p:nvGrpSpPr>
        <p:grpSpPr>
          <a:xfrm>
            <a:off x="1295575" y="3748989"/>
            <a:ext cx="2832176" cy="291475"/>
            <a:chOff x="1295575" y="3748989"/>
            <a:chExt cx="2832176" cy="291475"/>
          </a:xfrm>
        </p:grpSpPr>
        <p:pic>
          <p:nvPicPr>
            <p:cNvPr id="1071" name="Google Shape;1071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95575" y="3759814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2" name="Google Shape;1072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80950" y="3748989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3" name="Google Shape;1073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61138" y="3748990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4" name="Google Shape;1074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29263" y="3748990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5" name="Google Shape;1075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47101" y="3748991"/>
              <a:ext cx="280650" cy="280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Multiplication, division, addition and subtraction</a:t>
            </a:r>
            <a:endParaRPr/>
          </a:p>
        </p:txBody>
      </p:sp>
      <p:sp>
        <p:nvSpPr>
          <p:cNvPr id="1081" name="Google Shape;1081;p8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</p:txBody>
      </p:sp>
      <p:sp>
        <p:nvSpPr>
          <p:cNvPr id="1082" name="Google Shape;1082;p88"/>
          <p:cNvSpPr txBox="1"/>
          <p:nvPr>
            <p:ph idx="3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positive integers</a:t>
            </a:r>
            <a:endParaRPr/>
          </a:p>
        </p:txBody>
      </p:sp>
      <p:pic>
        <p:nvPicPr>
          <p:cNvPr id="1083" name="Google Shape;108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331" y="299220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89"/>
          <p:cNvSpPr txBox="1"/>
          <p:nvPr/>
        </p:nvSpPr>
        <p:spPr>
          <a:xfrm>
            <a:off x="3965233" y="2495850"/>
            <a:ext cx="473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we have 100 ÷ (4+6)</a:t>
            </a:r>
            <a:endParaRPr/>
          </a:p>
        </p:txBody>
      </p:sp>
      <p:sp>
        <p:nvSpPr>
          <p:cNvPr id="1089" name="Google Shape;108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</p:txBody>
      </p:sp>
      <p:grpSp>
        <p:nvGrpSpPr>
          <p:cNvPr id="1090" name="Google Shape;1090;p89"/>
          <p:cNvGrpSpPr/>
          <p:nvPr/>
        </p:nvGrpSpPr>
        <p:grpSpPr>
          <a:xfrm>
            <a:off x="486922" y="1815053"/>
            <a:ext cx="3916346" cy="2889197"/>
            <a:chOff x="2529025" y="1931250"/>
            <a:chExt cx="3584100" cy="2617500"/>
          </a:xfrm>
        </p:grpSpPr>
        <p:sp>
          <p:nvSpPr>
            <p:cNvPr id="1091" name="Google Shape;1091;p89"/>
            <p:cNvSpPr/>
            <p:nvPr/>
          </p:nvSpPr>
          <p:spPr>
            <a:xfrm>
              <a:off x="2529025" y="1931250"/>
              <a:ext cx="3584100" cy="26175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92" name="Google Shape;1092;p89"/>
            <p:cNvCxnSpPr/>
            <p:nvPr/>
          </p:nvCxnSpPr>
          <p:spPr>
            <a:xfrm>
              <a:off x="3766742" y="2706800"/>
              <a:ext cx="1095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3" name="Google Shape;1093;p89"/>
            <p:cNvCxnSpPr/>
            <p:nvPr/>
          </p:nvCxnSpPr>
          <p:spPr>
            <a:xfrm>
              <a:off x="3369600" y="3320300"/>
              <a:ext cx="189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4" name="Google Shape;1094;p89"/>
            <p:cNvCxnSpPr/>
            <p:nvPr/>
          </p:nvCxnSpPr>
          <p:spPr>
            <a:xfrm flipH="1" rot="10800000">
              <a:off x="2996850" y="3910986"/>
              <a:ext cx="2653800" cy="39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95" name="Google Shape;1095;p89"/>
          <p:cNvSpPr txBox="1"/>
          <p:nvPr/>
        </p:nvSpPr>
        <p:spPr>
          <a:xfrm>
            <a:off x="2078277" y="2132175"/>
            <a:ext cx="12471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 …. 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6" name="Google Shape;1096;p89"/>
          <p:cNvGrpSpPr/>
          <p:nvPr/>
        </p:nvGrpSpPr>
        <p:grpSpPr>
          <a:xfrm>
            <a:off x="2458953" y="2622650"/>
            <a:ext cx="817925" cy="656513"/>
            <a:chOff x="1546176" y="2521625"/>
            <a:chExt cx="817925" cy="656513"/>
          </a:xfrm>
        </p:grpSpPr>
        <p:sp>
          <p:nvSpPr>
            <p:cNvPr id="1097" name="Google Shape;1097;p89"/>
            <p:cNvSpPr txBox="1"/>
            <p:nvPr/>
          </p:nvSpPr>
          <p:spPr>
            <a:xfrm>
              <a:off x="1873601" y="252162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8" name="Google Shape;1098;p89"/>
            <p:cNvSpPr txBox="1"/>
            <p:nvPr/>
          </p:nvSpPr>
          <p:spPr>
            <a:xfrm>
              <a:off x="1546176" y="2641138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1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3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9" name="Google Shape;1099;p89"/>
          <p:cNvGrpSpPr/>
          <p:nvPr/>
        </p:nvGrpSpPr>
        <p:grpSpPr>
          <a:xfrm>
            <a:off x="1692623" y="2660710"/>
            <a:ext cx="627511" cy="537000"/>
            <a:chOff x="3734648" y="2776985"/>
            <a:chExt cx="627511" cy="537000"/>
          </a:xfrm>
        </p:grpSpPr>
        <p:pic>
          <p:nvPicPr>
            <p:cNvPr descr="&lt;math xmlns=&quot;http://www.w3.org/1998/Math/MathML&quot; display=&quot;block&quot; data-is-equatio=&quot;1&quot; data-latex=&quot;\begin{array}{l}\sqrt[\ \ ]{\ \ \ }\\&amp;#13;&amp;#10;\end{array}&quot;&gt;&lt;mtable columnalign=&quot;left&quot; columnspacing=&quot;1em&quot; rowspacing=&quot;4pt&quot;&gt;&lt;mtr&gt;&lt;mtd&gt;&lt;mroot&gt;&lt;mrow&gt;&lt;mtext&gt;&lt;/mtext&gt;&lt;mtext&gt;&lt;/mtext&gt;&lt;mtext&gt;&lt;/mtext&gt;&lt;/mrow&gt;&lt;mrow&gt;&lt;mtext&gt;&lt;/mtext&gt;&lt;mtext&gt;&lt;/mtext&gt;&lt;/mrow&gt;&lt;/mroot&gt;&lt;/mtd&gt;&lt;/mtr&gt;&lt;/mtable&gt;&lt;/math&gt;" id="1100" name="Google Shape;1100;p89" title="1 lines Line 1: the root o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1597" y="2929810"/>
              <a:ext cx="490562" cy="38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1" name="Google Shape;1101;p89"/>
            <p:cNvSpPr txBox="1"/>
            <p:nvPr/>
          </p:nvSpPr>
          <p:spPr>
            <a:xfrm>
              <a:off x="3734648" y="277698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2" name="Google Shape;1102;p89"/>
          <p:cNvSpPr txBox="1"/>
          <p:nvPr/>
        </p:nvSpPr>
        <p:spPr>
          <a:xfrm>
            <a:off x="1649475" y="3197700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×    ÷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9"/>
          <p:cNvSpPr txBox="1"/>
          <p:nvPr/>
        </p:nvSpPr>
        <p:spPr>
          <a:xfrm>
            <a:off x="1595725" y="3854100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+    −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9"/>
          <p:cNvSpPr txBox="1"/>
          <p:nvPr/>
        </p:nvSpPr>
        <p:spPr>
          <a:xfrm>
            <a:off x="5849326" y="3079950"/>
            <a:ext cx="91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 ÷</a:t>
            </a:r>
            <a:endParaRPr/>
          </a:p>
        </p:txBody>
      </p:sp>
      <p:sp>
        <p:nvSpPr>
          <p:cNvPr id="1105" name="Google Shape;1105;p89"/>
          <p:cNvSpPr txBox="1"/>
          <p:nvPr>
            <p:ph idx="1" type="body"/>
          </p:nvPr>
        </p:nvSpPr>
        <p:spPr>
          <a:xfrm>
            <a:off x="4062925" y="2116950"/>
            <a:ext cx="25782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Example</a:t>
            </a:r>
            <a:endParaRPr sz="2100"/>
          </a:p>
        </p:txBody>
      </p:sp>
      <p:sp>
        <p:nvSpPr>
          <p:cNvPr id="1106" name="Google Shape;1106;p89"/>
          <p:cNvSpPr txBox="1"/>
          <p:nvPr/>
        </p:nvSpPr>
        <p:spPr>
          <a:xfrm>
            <a:off x="7142950" y="3079950"/>
            <a:ext cx="1081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10</a:t>
            </a:r>
            <a:endParaRPr/>
          </a:p>
        </p:txBody>
      </p:sp>
      <p:sp>
        <p:nvSpPr>
          <p:cNvPr id="1107" name="Google Shape;1107;p89"/>
          <p:cNvSpPr txBox="1"/>
          <p:nvPr/>
        </p:nvSpPr>
        <p:spPr>
          <a:xfrm>
            <a:off x="6641176" y="3079950"/>
            <a:ext cx="68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/>
          </a:p>
        </p:txBody>
      </p:sp>
      <p:sp>
        <p:nvSpPr>
          <p:cNvPr id="1108" name="Google Shape;1108;p89"/>
          <p:cNvSpPr txBox="1"/>
          <p:nvPr>
            <p:ph idx="1" type="body"/>
          </p:nvPr>
        </p:nvSpPr>
        <p:spPr>
          <a:xfrm>
            <a:off x="324000" y="759300"/>
            <a:ext cx="82377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82828"/>
                </a:solidFill>
              </a:rPr>
              <a:t>The use of brackets groups numbers together and affects the priority of operations. We do the brackets first.</a:t>
            </a:r>
            <a:endParaRPr/>
          </a:p>
        </p:txBody>
      </p:sp>
      <p:pic>
        <p:nvPicPr>
          <p:cNvPr id="1109" name="Google Shape;1109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1400" y="2622650"/>
            <a:ext cx="3309526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</p:txBody>
      </p:sp>
      <p:grpSp>
        <p:nvGrpSpPr>
          <p:cNvPr id="1115" name="Google Shape;1115;p90"/>
          <p:cNvGrpSpPr/>
          <p:nvPr/>
        </p:nvGrpSpPr>
        <p:grpSpPr>
          <a:xfrm>
            <a:off x="486922" y="1815053"/>
            <a:ext cx="3916346" cy="2889197"/>
            <a:chOff x="2529025" y="1931250"/>
            <a:chExt cx="3584100" cy="2617500"/>
          </a:xfrm>
        </p:grpSpPr>
        <p:sp>
          <p:nvSpPr>
            <p:cNvPr id="1116" name="Google Shape;1116;p90"/>
            <p:cNvSpPr/>
            <p:nvPr/>
          </p:nvSpPr>
          <p:spPr>
            <a:xfrm>
              <a:off x="2529025" y="1931250"/>
              <a:ext cx="3584100" cy="26175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17" name="Google Shape;1117;p90"/>
            <p:cNvCxnSpPr/>
            <p:nvPr/>
          </p:nvCxnSpPr>
          <p:spPr>
            <a:xfrm>
              <a:off x="3766742" y="2706800"/>
              <a:ext cx="1095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8" name="Google Shape;1118;p90"/>
            <p:cNvCxnSpPr/>
            <p:nvPr/>
          </p:nvCxnSpPr>
          <p:spPr>
            <a:xfrm>
              <a:off x="3369600" y="3320300"/>
              <a:ext cx="189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9" name="Google Shape;1119;p90"/>
            <p:cNvCxnSpPr/>
            <p:nvPr/>
          </p:nvCxnSpPr>
          <p:spPr>
            <a:xfrm flipH="1" rot="10800000">
              <a:off x="2996850" y="3910986"/>
              <a:ext cx="2653800" cy="39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20" name="Google Shape;1120;p90"/>
          <p:cNvSpPr txBox="1"/>
          <p:nvPr/>
        </p:nvSpPr>
        <p:spPr>
          <a:xfrm>
            <a:off x="2078277" y="2132175"/>
            <a:ext cx="12471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 …. 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1" name="Google Shape;1121;p90"/>
          <p:cNvGrpSpPr/>
          <p:nvPr/>
        </p:nvGrpSpPr>
        <p:grpSpPr>
          <a:xfrm>
            <a:off x="2458953" y="2622650"/>
            <a:ext cx="817925" cy="656513"/>
            <a:chOff x="1546176" y="2521625"/>
            <a:chExt cx="817925" cy="656513"/>
          </a:xfrm>
        </p:grpSpPr>
        <p:sp>
          <p:nvSpPr>
            <p:cNvPr id="1122" name="Google Shape;1122;p90"/>
            <p:cNvSpPr txBox="1"/>
            <p:nvPr/>
          </p:nvSpPr>
          <p:spPr>
            <a:xfrm>
              <a:off x="1873601" y="252162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3" name="Google Shape;1123;p90"/>
            <p:cNvSpPr txBox="1"/>
            <p:nvPr/>
          </p:nvSpPr>
          <p:spPr>
            <a:xfrm>
              <a:off x="1546176" y="2641138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1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3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4" name="Google Shape;1124;p90"/>
          <p:cNvGrpSpPr/>
          <p:nvPr/>
        </p:nvGrpSpPr>
        <p:grpSpPr>
          <a:xfrm>
            <a:off x="1692623" y="2660710"/>
            <a:ext cx="627511" cy="537000"/>
            <a:chOff x="3734648" y="2776985"/>
            <a:chExt cx="627511" cy="537000"/>
          </a:xfrm>
        </p:grpSpPr>
        <p:pic>
          <p:nvPicPr>
            <p:cNvPr descr="&lt;math xmlns=&quot;http://www.w3.org/1998/Math/MathML&quot; display=&quot;block&quot; data-is-equatio=&quot;1&quot; data-latex=&quot;\begin{array}{l}\sqrt[\ \ ]{\ \ \ }\\&amp;#13;&amp;#10;\end{array}&quot;&gt;&lt;mtable columnalign=&quot;left&quot; columnspacing=&quot;1em&quot; rowspacing=&quot;4pt&quot;&gt;&lt;mtr&gt;&lt;mtd&gt;&lt;mroot&gt;&lt;mrow&gt;&lt;mtext&gt;&lt;/mtext&gt;&lt;mtext&gt;&lt;/mtext&gt;&lt;mtext&gt;&lt;/mtext&gt;&lt;/mrow&gt;&lt;mrow&gt;&lt;mtext&gt;&lt;/mtext&gt;&lt;mtext&gt;&lt;/mtext&gt;&lt;/mrow&gt;&lt;/mroot&gt;&lt;/mtd&gt;&lt;/mtr&gt;&lt;/mtable&gt;&lt;/math&gt;" id="1125" name="Google Shape;1125;p90" title="1 lines Line 1: the root o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1597" y="2929810"/>
              <a:ext cx="490562" cy="38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90"/>
            <p:cNvSpPr txBox="1"/>
            <p:nvPr/>
          </p:nvSpPr>
          <p:spPr>
            <a:xfrm>
              <a:off x="3734648" y="277698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7" name="Google Shape;1127;p90"/>
          <p:cNvSpPr txBox="1"/>
          <p:nvPr/>
        </p:nvSpPr>
        <p:spPr>
          <a:xfrm>
            <a:off x="1649475" y="3197700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×    ÷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90"/>
          <p:cNvSpPr txBox="1"/>
          <p:nvPr/>
        </p:nvSpPr>
        <p:spPr>
          <a:xfrm>
            <a:off x="1595725" y="3854100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+    −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90"/>
          <p:cNvSpPr txBox="1"/>
          <p:nvPr>
            <p:ph idx="1" type="body"/>
          </p:nvPr>
        </p:nvSpPr>
        <p:spPr>
          <a:xfrm>
            <a:off x="4062925" y="2116950"/>
            <a:ext cx="25782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Example</a:t>
            </a:r>
            <a:endParaRPr sz="2100"/>
          </a:p>
        </p:txBody>
      </p:sp>
      <p:sp>
        <p:nvSpPr>
          <p:cNvPr id="1130" name="Google Shape;1130;p90"/>
          <p:cNvSpPr txBox="1"/>
          <p:nvPr/>
        </p:nvSpPr>
        <p:spPr>
          <a:xfrm>
            <a:off x="3965233" y="2495850"/>
            <a:ext cx="473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we have 12 + (4+6) × 5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/>
          </a:p>
        </p:txBody>
      </p:sp>
      <p:sp>
        <p:nvSpPr>
          <p:cNvPr id="1131" name="Google Shape;1131;p90"/>
          <p:cNvSpPr txBox="1"/>
          <p:nvPr>
            <p:ph idx="1" type="body"/>
          </p:nvPr>
        </p:nvSpPr>
        <p:spPr>
          <a:xfrm>
            <a:off x="4062925" y="2964300"/>
            <a:ext cx="44988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is the first step?</a:t>
            </a:r>
            <a:endParaRPr sz="2100"/>
          </a:p>
        </p:txBody>
      </p:sp>
      <p:sp>
        <p:nvSpPr>
          <p:cNvPr id="1132" name="Google Shape;1132;p90"/>
          <p:cNvSpPr txBox="1"/>
          <p:nvPr>
            <p:ph idx="1" type="body"/>
          </p:nvPr>
        </p:nvSpPr>
        <p:spPr>
          <a:xfrm>
            <a:off x="324000" y="683100"/>
            <a:ext cx="82377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After brackets, the next operations are roots and powers. This will require previous knowledge of square and cube roots and evaluating using exponents.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</p:txBody>
      </p:sp>
      <p:grpSp>
        <p:nvGrpSpPr>
          <p:cNvPr id="1138" name="Google Shape;1138;p91"/>
          <p:cNvGrpSpPr/>
          <p:nvPr/>
        </p:nvGrpSpPr>
        <p:grpSpPr>
          <a:xfrm>
            <a:off x="486922" y="1815053"/>
            <a:ext cx="3916346" cy="2889197"/>
            <a:chOff x="2529025" y="1931250"/>
            <a:chExt cx="3584100" cy="2617500"/>
          </a:xfrm>
        </p:grpSpPr>
        <p:sp>
          <p:nvSpPr>
            <p:cNvPr id="1139" name="Google Shape;1139;p91"/>
            <p:cNvSpPr/>
            <p:nvPr/>
          </p:nvSpPr>
          <p:spPr>
            <a:xfrm>
              <a:off x="2529025" y="1931250"/>
              <a:ext cx="3584100" cy="26175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40" name="Google Shape;1140;p91"/>
            <p:cNvCxnSpPr/>
            <p:nvPr/>
          </p:nvCxnSpPr>
          <p:spPr>
            <a:xfrm>
              <a:off x="3766742" y="2706800"/>
              <a:ext cx="1095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1" name="Google Shape;1141;p91"/>
            <p:cNvCxnSpPr/>
            <p:nvPr/>
          </p:nvCxnSpPr>
          <p:spPr>
            <a:xfrm>
              <a:off x="3369600" y="3320300"/>
              <a:ext cx="189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2" name="Google Shape;1142;p91"/>
            <p:cNvCxnSpPr/>
            <p:nvPr/>
          </p:nvCxnSpPr>
          <p:spPr>
            <a:xfrm flipH="1" rot="10800000">
              <a:off x="2996850" y="3910986"/>
              <a:ext cx="2653800" cy="39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43" name="Google Shape;1143;p91"/>
          <p:cNvSpPr txBox="1"/>
          <p:nvPr/>
        </p:nvSpPr>
        <p:spPr>
          <a:xfrm>
            <a:off x="2078277" y="2132175"/>
            <a:ext cx="12471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 …. 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4" name="Google Shape;1144;p91"/>
          <p:cNvGrpSpPr/>
          <p:nvPr/>
        </p:nvGrpSpPr>
        <p:grpSpPr>
          <a:xfrm>
            <a:off x="2458953" y="2622650"/>
            <a:ext cx="817925" cy="656513"/>
            <a:chOff x="1546176" y="2521625"/>
            <a:chExt cx="817925" cy="656513"/>
          </a:xfrm>
        </p:grpSpPr>
        <p:sp>
          <p:nvSpPr>
            <p:cNvPr id="1145" name="Google Shape;1145;p91"/>
            <p:cNvSpPr txBox="1"/>
            <p:nvPr/>
          </p:nvSpPr>
          <p:spPr>
            <a:xfrm>
              <a:off x="1873601" y="252162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6" name="Google Shape;1146;p91"/>
            <p:cNvSpPr txBox="1"/>
            <p:nvPr/>
          </p:nvSpPr>
          <p:spPr>
            <a:xfrm>
              <a:off x="1546176" y="2641138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1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3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7" name="Google Shape;1147;p91"/>
          <p:cNvGrpSpPr/>
          <p:nvPr/>
        </p:nvGrpSpPr>
        <p:grpSpPr>
          <a:xfrm>
            <a:off x="1692623" y="2660710"/>
            <a:ext cx="627511" cy="537000"/>
            <a:chOff x="3734648" y="2776985"/>
            <a:chExt cx="627511" cy="537000"/>
          </a:xfrm>
        </p:grpSpPr>
        <p:pic>
          <p:nvPicPr>
            <p:cNvPr descr="&lt;math xmlns=&quot;http://www.w3.org/1998/Math/MathML&quot; display=&quot;block&quot; data-is-equatio=&quot;1&quot; data-latex=&quot;\begin{array}{l}\sqrt[\ \ ]{\ \ \ }\\&amp;#13;&amp;#10;\end{array}&quot;&gt;&lt;mtable columnalign=&quot;left&quot; columnspacing=&quot;1em&quot; rowspacing=&quot;4pt&quot;&gt;&lt;mtr&gt;&lt;mtd&gt;&lt;mroot&gt;&lt;mrow&gt;&lt;mtext&gt;&lt;/mtext&gt;&lt;mtext&gt;&lt;/mtext&gt;&lt;mtext&gt;&lt;/mtext&gt;&lt;/mrow&gt;&lt;mrow&gt;&lt;mtext&gt;&lt;/mtext&gt;&lt;mtext&gt;&lt;/mtext&gt;&lt;/mrow&gt;&lt;/mroot&gt;&lt;/mtd&gt;&lt;/mtr&gt;&lt;/mtable&gt;&lt;/math&gt;" id="1148" name="Google Shape;1148;p91" title="1 lines Line 1: the root o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1597" y="2929810"/>
              <a:ext cx="490562" cy="38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1"/>
            <p:cNvSpPr txBox="1"/>
            <p:nvPr/>
          </p:nvSpPr>
          <p:spPr>
            <a:xfrm>
              <a:off x="3734648" y="277698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0" name="Google Shape;1150;p91"/>
          <p:cNvSpPr txBox="1"/>
          <p:nvPr/>
        </p:nvSpPr>
        <p:spPr>
          <a:xfrm>
            <a:off x="1649475" y="3197700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×    ÷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91"/>
          <p:cNvSpPr txBox="1"/>
          <p:nvPr/>
        </p:nvSpPr>
        <p:spPr>
          <a:xfrm>
            <a:off x="1595725" y="3854100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+    −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91"/>
          <p:cNvSpPr txBox="1"/>
          <p:nvPr/>
        </p:nvSpPr>
        <p:spPr>
          <a:xfrm>
            <a:off x="5742904" y="2956136"/>
            <a:ext cx="91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 +</a:t>
            </a:r>
            <a:endParaRPr/>
          </a:p>
        </p:txBody>
      </p:sp>
      <p:sp>
        <p:nvSpPr>
          <p:cNvPr id="1153" name="Google Shape;1153;p91"/>
          <p:cNvSpPr txBox="1"/>
          <p:nvPr>
            <p:ph idx="1" type="body"/>
          </p:nvPr>
        </p:nvSpPr>
        <p:spPr>
          <a:xfrm>
            <a:off x="4062925" y="2116950"/>
            <a:ext cx="25782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Example</a:t>
            </a:r>
            <a:endParaRPr sz="2100"/>
          </a:p>
        </p:txBody>
      </p:sp>
      <p:sp>
        <p:nvSpPr>
          <p:cNvPr id="1154" name="Google Shape;1154;p91"/>
          <p:cNvSpPr txBox="1"/>
          <p:nvPr/>
        </p:nvSpPr>
        <p:spPr>
          <a:xfrm>
            <a:off x="6583261" y="2960343"/>
            <a:ext cx="68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/>
          </a:p>
        </p:txBody>
      </p:sp>
      <p:sp>
        <p:nvSpPr>
          <p:cNvPr id="1155" name="Google Shape;1155;p91"/>
          <p:cNvSpPr txBox="1"/>
          <p:nvPr/>
        </p:nvSpPr>
        <p:spPr>
          <a:xfrm>
            <a:off x="7142950" y="2956125"/>
            <a:ext cx="81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5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1156" name="Google Shape;1156;p91"/>
          <p:cNvSpPr txBox="1"/>
          <p:nvPr>
            <p:ph idx="1" type="body"/>
          </p:nvPr>
        </p:nvSpPr>
        <p:spPr>
          <a:xfrm>
            <a:off x="4948550" y="3779988"/>
            <a:ext cx="44988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are the next steps?</a:t>
            </a:r>
            <a:endParaRPr sz="2100"/>
          </a:p>
        </p:txBody>
      </p:sp>
      <p:sp>
        <p:nvSpPr>
          <p:cNvPr id="1157" name="Google Shape;1157;p91"/>
          <p:cNvSpPr/>
          <p:nvPr/>
        </p:nvSpPr>
        <p:spPr>
          <a:xfrm>
            <a:off x="2124100" y="2116950"/>
            <a:ext cx="642000" cy="528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1"/>
          <p:cNvSpPr txBox="1"/>
          <p:nvPr>
            <p:ph idx="1" type="body"/>
          </p:nvPr>
        </p:nvSpPr>
        <p:spPr>
          <a:xfrm>
            <a:off x="324000" y="683100"/>
            <a:ext cx="82377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After brackets, the next operations are roots and powers. This will require previous knowledge of square and cube roots and evaluating using exponents. </a:t>
            </a:r>
            <a:endParaRPr/>
          </a:p>
        </p:txBody>
      </p:sp>
      <p:pic>
        <p:nvPicPr>
          <p:cNvPr id="1159" name="Google Shape;1159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0900" y="2571750"/>
            <a:ext cx="3679636" cy="3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</p:txBody>
      </p:sp>
      <p:grpSp>
        <p:nvGrpSpPr>
          <p:cNvPr id="1165" name="Google Shape;1165;p92"/>
          <p:cNvGrpSpPr/>
          <p:nvPr/>
        </p:nvGrpSpPr>
        <p:grpSpPr>
          <a:xfrm>
            <a:off x="486922" y="1815053"/>
            <a:ext cx="3916346" cy="2889197"/>
            <a:chOff x="2529025" y="1931250"/>
            <a:chExt cx="3584100" cy="2617500"/>
          </a:xfrm>
        </p:grpSpPr>
        <p:sp>
          <p:nvSpPr>
            <p:cNvPr id="1166" name="Google Shape;1166;p92"/>
            <p:cNvSpPr/>
            <p:nvPr/>
          </p:nvSpPr>
          <p:spPr>
            <a:xfrm>
              <a:off x="2529025" y="1931250"/>
              <a:ext cx="3584100" cy="26175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67" name="Google Shape;1167;p92"/>
            <p:cNvCxnSpPr/>
            <p:nvPr/>
          </p:nvCxnSpPr>
          <p:spPr>
            <a:xfrm>
              <a:off x="3766742" y="2706800"/>
              <a:ext cx="1095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8" name="Google Shape;1168;p92"/>
            <p:cNvCxnSpPr/>
            <p:nvPr/>
          </p:nvCxnSpPr>
          <p:spPr>
            <a:xfrm>
              <a:off x="3369600" y="3320300"/>
              <a:ext cx="189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9" name="Google Shape;1169;p92"/>
            <p:cNvCxnSpPr/>
            <p:nvPr/>
          </p:nvCxnSpPr>
          <p:spPr>
            <a:xfrm flipH="1" rot="10800000">
              <a:off x="2996850" y="3910986"/>
              <a:ext cx="2653800" cy="39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70" name="Google Shape;1170;p92"/>
          <p:cNvSpPr txBox="1"/>
          <p:nvPr/>
        </p:nvSpPr>
        <p:spPr>
          <a:xfrm>
            <a:off x="2078277" y="2132175"/>
            <a:ext cx="12471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 …. 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1" name="Google Shape;1171;p92"/>
          <p:cNvGrpSpPr/>
          <p:nvPr/>
        </p:nvGrpSpPr>
        <p:grpSpPr>
          <a:xfrm>
            <a:off x="2458953" y="2622650"/>
            <a:ext cx="817925" cy="656513"/>
            <a:chOff x="1546176" y="2521625"/>
            <a:chExt cx="817925" cy="656513"/>
          </a:xfrm>
        </p:grpSpPr>
        <p:sp>
          <p:nvSpPr>
            <p:cNvPr id="1172" name="Google Shape;1172;p92"/>
            <p:cNvSpPr txBox="1"/>
            <p:nvPr/>
          </p:nvSpPr>
          <p:spPr>
            <a:xfrm>
              <a:off x="1873601" y="252162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3" name="Google Shape;1173;p92"/>
            <p:cNvSpPr txBox="1"/>
            <p:nvPr/>
          </p:nvSpPr>
          <p:spPr>
            <a:xfrm>
              <a:off x="1546176" y="2641138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1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3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4" name="Google Shape;1174;p92"/>
          <p:cNvGrpSpPr/>
          <p:nvPr/>
        </p:nvGrpSpPr>
        <p:grpSpPr>
          <a:xfrm>
            <a:off x="1692623" y="2660710"/>
            <a:ext cx="627511" cy="537000"/>
            <a:chOff x="3734648" y="2776985"/>
            <a:chExt cx="627511" cy="537000"/>
          </a:xfrm>
        </p:grpSpPr>
        <p:pic>
          <p:nvPicPr>
            <p:cNvPr descr="&lt;math xmlns=&quot;http://www.w3.org/1998/Math/MathML&quot; display=&quot;block&quot; data-is-equatio=&quot;1&quot; data-latex=&quot;\begin{array}{l}\sqrt[\ \ ]{\ \ \ }\\&amp;#13;&amp;#10;\end{array}&quot;&gt;&lt;mtable columnalign=&quot;left&quot; columnspacing=&quot;1em&quot; rowspacing=&quot;4pt&quot;&gt;&lt;mtr&gt;&lt;mtd&gt;&lt;mroot&gt;&lt;mrow&gt;&lt;mtext&gt;&lt;/mtext&gt;&lt;mtext&gt;&lt;/mtext&gt;&lt;mtext&gt;&lt;/mtext&gt;&lt;/mrow&gt;&lt;mrow&gt;&lt;mtext&gt;&lt;/mtext&gt;&lt;mtext&gt;&lt;/mtext&gt;&lt;/mrow&gt;&lt;/mroot&gt;&lt;/mtd&gt;&lt;/mtr&gt;&lt;/mtable&gt;&lt;/math&gt;" id="1175" name="Google Shape;1175;p92" title="1 lines Line 1: the root o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1597" y="2929810"/>
              <a:ext cx="490562" cy="38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6" name="Google Shape;1176;p92"/>
            <p:cNvSpPr txBox="1"/>
            <p:nvPr/>
          </p:nvSpPr>
          <p:spPr>
            <a:xfrm>
              <a:off x="3734648" y="277698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7" name="Google Shape;1177;p92"/>
          <p:cNvSpPr txBox="1"/>
          <p:nvPr/>
        </p:nvSpPr>
        <p:spPr>
          <a:xfrm>
            <a:off x="1649475" y="3197700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×    ÷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92"/>
          <p:cNvSpPr txBox="1"/>
          <p:nvPr/>
        </p:nvSpPr>
        <p:spPr>
          <a:xfrm>
            <a:off x="1595725" y="3854100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+    −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92"/>
          <p:cNvSpPr txBox="1"/>
          <p:nvPr/>
        </p:nvSpPr>
        <p:spPr>
          <a:xfrm>
            <a:off x="5742904" y="2956136"/>
            <a:ext cx="91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 +</a:t>
            </a:r>
            <a:endParaRPr/>
          </a:p>
        </p:txBody>
      </p:sp>
      <p:sp>
        <p:nvSpPr>
          <p:cNvPr id="1180" name="Google Shape;1180;p92"/>
          <p:cNvSpPr txBox="1"/>
          <p:nvPr>
            <p:ph idx="1" type="body"/>
          </p:nvPr>
        </p:nvSpPr>
        <p:spPr>
          <a:xfrm>
            <a:off x="4062925" y="2116950"/>
            <a:ext cx="25782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Example</a:t>
            </a:r>
            <a:endParaRPr sz="2100"/>
          </a:p>
        </p:txBody>
      </p:sp>
      <p:sp>
        <p:nvSpPr>
          <p:cNvPr id="1181" name="Google Shape;1181;p92"/>
          <p:cNvSpPr txBox="1"/>
          <p:nvPr/>
        </p:nvSpPr>
        <p:spPr>
          <a:xfrm>
            <a:off x="7195550" y="3935425"/>
            <a:ext cx="1081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262</a:t>
            </a:r>
            <a:endParaRPr/>
          </a:p>
        </p:txBody>
      </p:sp>
      <p:sp>
        <p:nvSpPr>
          <p:cNvPr id="1182" name="Google Shape;1182;p92"/>
          <p:cNvSpPr txBox="1"/>
          <p:nvPr/>
        </p:nvSpPr>
        <p:spPr>
          <a:xfrm>
            <a:off x="6583261" y="2960343"/>
            <a:ext cx="68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/>
          </a:p>
        </p:txBody>
      </p:sp>
      <p:sp>
        <p:nvSpPr>
          <p:cNvPr id="1183" name="Google Shape;1183;p92"/>
          <p:cNvSpPr txBox="1"/>
          <p:nvPr/>
        </p:nvSpPr>
        <p:spPr>
          <a:xfrm>
            <a:off x="7142950" y="2956125"/>
            <a:ext cx="81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 5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1184" name="Google Shape;1184;p92"/>
          <p:cNvSpPr txBox="1"/>
          <p:nvPr/>
        </p:nvSpPr>
        <p:spPr>
          <a:xfrm>
            <a:off x="5751726" y="3421554"/>
            <a:ext cx="91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 +</a:t>
            </a:r>
            <a:endParaRPr/>
          </a:p>
        </p:txBody>
      </p:sp>
      <p:sp>
        <p:nvSpPr>
          <p:cNvPr id="1185" name="Google Shape;1185;p92"/>
          <p:cNvSpPr txBox="1"/>
          <p:nvPr/>
        </p:nvSpPr>
        <p:spPr>
          <a:xfrm>
            <a:off x="6592082" y="3425761"/>
            <a:ext cx="68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/>
          </a:p>
        </p:txBody>
      </p:sp>
      <p:sp>
        <p:nvSpPr>
          <p:cNvPr id="1186" name="Google Shape;1186;p92"/>
          <p:cNvSpPr txBox="1"/>
          <p:nvPr/>
        </p:nvSpPr>
        <p:spPr>
          <a:xfrm>
            <a:off x="7151771" y="3421543"/>
            <a:ext cx="81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 25</a:t>
            </a:r>
            <a:endParaRPr/>
          </a:p>
        </p:txBody>
      </p:sp>
      <p:grpSp>
        <p:nvGrpSpPr>
          <p:cNvPr id="1187" name="Google Shape;1187;p92"/>
          <p:cNvGrpSpPr/>
          <p:nvPr/>
        </p:nvGrpSpPr>
        <p:grpSpPr>
          <a:xfrm>
            <a:off x="7418848" y="3279175"/>
            <a:ext cx="464800" cy="75900"/>
            <a:chOff x="5809225" y="2952500"/>
            <a:chExt cx="641900" cy="75900"/>
          </a:xfrm>
        </p:grpSpPr>
        <p:cxnSp>
          <p:nvCxnSpPr>
            <p:cNvPr id="1188" name="Google Shape;1188;p92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9" name="Google Shape;1189;p92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0" name="Google Shape;1190;p92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91" name="Google Shape;1191;p92"/>
          <p:cNvGrpSpPr/>
          <p:nvPr/>
        </p:nvGrpSpPr>
        <p:grpSpPr>
          <a:xfrm>
            <a:off x="6589452" y="3772288"/>
            <a:ext cx="1247083" cy="75900"/>
            <a:chOff x="5809225" y="2952500"/>
            <a:chExt cx="641900" cy="75900"/>
          </a:xfrm>
        </p:grpSpPr>
        <p:cxnSp>
          <p:nvCxnSpPr>
            <p:cNvPr id="1192" name="Google Shape;1192;p92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3" name="Google Shape;1193;p92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4" name="Google Shape;1194;p92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95" name="Google Shape;1195;p92"/>
          <p:cNvSpPr txBox="1"/>
          <p:nvPr/>
        </p:nvSpPr>
        <p:spPr>
          <a:xfrm>
            <a:off x="5757104" y="3932741"/>
            <a:ext cx="91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 +</a:t>
            </a:r>
            <a:endParaRPr/>
          </a:p>
        </p:txBody>
      </p:sp>
      <p:sp>
        <p:nvSpPr>
          <p:cNvPr id="1196" name="Google Shape;1196;p92"/>
          <p:cNvSpPr txBox="1"/>
          <p:nvPr/>
        </p:nvSpPr>
        <p:spPr>
          <a:xfrm>
            <a:off x="6597461" y="3936948"/>
            <a:ext cx="68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250</a:t>
            </a:r>
            <a:endParaRPr/>
          </a:p>
        </p:txBody>
      </p:sp>
      <p:sp>
        <p:nvSpPr>
          <p:cNvPr id="1197" name="Google Shape;1197;p92"/>
          <p:cNvSpPr/>
          <p:nvPr/>
        </p:nvSpPr>
        <p:spPr>
          <a:xfrm>
            <a:off x="2380825" y="2665200"/>
            <a:ext cx="817800" cy="656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92"/>
          <p:cNvSpPr/>
          <p:nvPr/>
        </p:nvSpPr>
        <p:spPr>
          <a:xfrm>
            <a:off x="1474907" y="3351513"/>
            <a:ext cx="817800" cy="656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2"/>
          <p:cNvSpPr/>
          <p:nvPr/>
        </p:nvSpPr>
        <p:spPr>
          <a:xfrm>
            <a:off x="1459788" y="4022026"/>
            <a:ext cx="817800" cy="656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2"/>
          <p:cNvSpPr txBox="1"/>
          <p:nvPr>
            <p:ph idx="1" type="body"/>
          </p:nvPr>
        </p:nvSpPr>
        <p:spPr>
          <a:xfrm>
            <a:off x="324000" y="683100"/>
            <a:ext cx="82377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After brackets, the next operations are roots and powers. This will require previous knowledge of square and cube roots and evaluating using exponents. </a:t>
            </a:r>
            <a:endParaRPr/>
          </a:p>
        </p:txBody>
      </p:sp>
      <p:pic>
        <p:nvPicPr>
          <p:cNvPr id="1201" name="Google Shape;120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0900" y="2571750"/>
            <a:ext cx="3679636" cy="3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93"/>
          <p:cNvSpPr txBox="1"/>
          <p:nvPr>
            <p:ph idx="1" type="body"/>
          </p:nvPr>
        </p:nvSpPr>
        <p:spPr>
          <a:xfrm>
            <a:off x="564450" y="759300"/>
            <a:ext cx="7997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out the answers, showing all your working out.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                        </a:t>
            </a:r>
            <a:endParaRPr/>
          </a:p>
        </p:txBody>
      </p:sp>
      <p:sp>
        <p:nvSpPr>
          <p:cNvPr id="1207" name="Google Shape;120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8\ +\ 6\times4\ -\ \left(10\times2\right)\\&amp;#13;&amp;#10;8\ \ +\ 6\ \times4\ -\ 20\\&amp;#13;&amp;#10;8\ +\ 24\ -\ 20\\&amp;#13;&amp;#10;8\ +\ 24\ +\ \left(-20\right)\ \\&amp;#13;&amp;#10;32\ +\ \left(-20\right)\ =\ 12\end{array}&quot;&gt;&lt;mtable columnalign=&quot;left&quot; columnspacing=&quot;1em&quot; rowspacing=&quot;4pt&quot;&gt;&lt;mtr&gt;&lt;mtd&gt;&lt;mn&gt;8&lt;/mn&gt;&lt;mtext&gt;&lt;/mtext&gt;&lt;mo&gt;+&lt;/mo&gt;&lt;mtext&gt;&lt;/mtext&gt;&lt;mn&gt;6&lt;/mn&gt;&lt;mo&gt;×&lt;/mo&gt;&lt;mn&gt;4&lt;/mn&gt;&lt;mtext&gt;&lt;/mtext&gt;&lt;mo&gt;−&lt;/mo&gt;&lt;mtext&gt;&lt;/mtext&gt;&lt;mrow data-mjx-texclass=&quot;INNER&quot;&gt;&lt;mo data-mjx-texclass=&quot;OPEN&quot;&gt;(&lt;/mo&gt;&lt;mn&gt;10&lt;/mn&gt;&lt;mo&gt;×&lt;/mo&gt;&lt;mn&gt;2&lt;/mn&gt;&lt;mo data-mjx-texclass=&quot;CLOSE&quot;&gt;)&lt;/mo&gt;&lt;/mrow&gt;&lt;/mtd&gt;&lt;/mtr&gt;&lt;mtr&gt;&lt;mtd&gt;&lt;mn&gt;8&lt;/mn&gt;&lt;mtext&gt;&lt;/mtext&gt;&lt;mtext&gt;&lt;/mtext&gt;&lt;mo&gt;+&lt;/mo&gt;&lt;mtext&gt;&lt;/mtext&gt;&lt;mn&gt;6&lt;/mn&gt;&lt;mtext&gt;&lt;/mtext&gt;&lt;mo&gt;×&lt;/mo&gt;&lt;mn&gt;4&lt;/mn&gt;&lt;mtext&gt;&lt;/mtext&gt;&lt;mo&gt;−&lt;/mo&gt;&lt;mtext&gt;&lt;/mtext&gt;&lt;mn&gt;20&lt;/mn&gt;&lt;/mtd&gt;&lt;/mtr&gt;&lt;mtr&gt;&lt;mtd&gt;&lt;mn&gt;8&lt;/mn&gt;&lt;mtext&gt;&lt;/mtext&gt;&lt;mo&gt;+&lt;/mo&gt;&lt;mtext&gt;&lt;/mtext&gt;&lt;mn&gt;24&lt;/mn&gt;&lt;mtext&gt;&lt;/mtext&gt;&lt;mo&gt;−&lt;/mo&gt;&lt;mtext&gt;&lt;/mtext&gt;&lt;mn&gt;20&lt;/mn&gt;&lt;/mtd&gt;&lt;/mtr&gt;&lt;mtr&gt;&lt;mtd&gt;&lt;mn&gt;8&lt;/mn&gt;&lt;mtext&gt;&lt;/mtext&gt;&lt;mo&gt;+&lt;/mo&gt;&lt;mtext&gt;&lt;/mtext&gt;&lt;mn&gt;24&lt;/mn&gt;&lt;mtext&gt;&lt;/mtext&gt;&lt;mo&gt;+&lt;/mo&gt;&lt;mtext&gt;&lt;/mtext&gt;&lt;mrow data-mjx-texclass=&quot;INNER&quot;&gt;&lt;mo data-mjx-texclass=&quot;OPEN&quot;&gt;(&lt;/mo&gt;&lt;mo&gt;−&lt;/mo&gt;&lt;mn&gt;20&lt;/mn&gt;&lt;mo data-mjx-texclass=&quot;CLOSE&quot;&gt;)&lt;/mo&gt;&lt;/mrow&gt;&lt;mtext&gt;&lt;/mtext&gt;&lt;/mtd&gt;&lt;/mtr&gt;&lt;mtr&gt;&lt;mtd&gt;&lt;mn&gt;32&lt;/mn&gt;&lt;mtext&gt;&lt;/mtext&gt;&lt;mo&gt;+&lt;/mo&gt;&lt;mtext&gt;&lt;/mtext&gt;&lt;mrow data-mjx-texclass=&quot;INNER&quot;&gt;&lt;mo data-mjx-texclass=&quot;OPEN&quot;&gt;(&lt;/mo&gt;&lt;mo&gt;−&lt;/mo&gt;&lt;mn&gt;20&lt;/mn&gt;&lt;mo data-mjx-texclass=&quot;CLOSE&quot;&gt;)&lt;/mo&gt;&lt;/mrow&gt;&lt;mtext&gt;&lt;/mtext&gt;&lt;mo&gt;=&lt;/mo&gt;&lt;mtext&gt;&lt;/mtext&gt;&lt;mn&gt;12&lt;/mn&gt;&lt;/mtd&gt;&lt;/mtr&gt;&lt;/mtable&gt;&lt;/math&gt;" id="1208" name="Google Shape;1208;p93" title="5 lines Line 1: 8 plus 6 times 4 minus open paren 10 times 2 close paren Line 2: 8 plus 6 times 4 minus 20 Line 3: 8 plus 24 minus 20 Line 4: 8 plus 24 plus negative 20 Line 5: 32 plus negative 20 equals 12"/>
          <p:cNvPicPr preferRelativeResize="0"/>
          <p:nvPr/>
        </p:nvPicPr>
        <p:blipFill rotWithShape="1">
          <a:blip r:embed="rId3">
            <a:alphaModFix/>
          </a:blip>
          <a:srcRect b="80888" l="0" r="0" t="0"/>
          <a:stretch/>
        </p:blipFill>
        <p:spPr>
          <a:xfrm>
            <a:off x="5160025" y="1529875"/>
            <a:ext cx="3426375" cy="460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 +\ \frac{24}{8}+\left(15-9\right)\\&amp;#13;&amp;#10;10\ +\ \frac{24}{8}\ +6\\&amp;#13;&amp;#10;10\ +\ 3\ +\ 6\ =\ 19\\&amp;#13;&amp;#10;\end{array}&quot;&gt;&lt;mtable columnalign=&quot;left&quot; columnspacing=&quot;1em&quot; rowspacing=&quot;4pt&quot;&gt;&lt;mtr&gt;&lt;mtd&gt;&lt;mn&gt;10&lt;/mn&gt;&lt;mtext&gt;&lt;/mtext&gt;&lt;mo&gt;+&lt;/mo&gt;&lt;mtext&gt;&lt;/mtext&gt;&lt;mfrac&gt;&lt;mn&gt;24&lt;/mn&gt;&lt;mn&gt;8&lt;/mn&gt;&lt;/mfrac&gt;&lt;mo&gt;+&lt;/mo&gt;&lt;mrow data-mjx-texclass=&quot;INNER&quot;&gt;&lt;mo data-mjx-texclass=&quot;OPEN&quot;&gt;(&lt;/mo&gt;&lt;mn&gt;15&lt;/mn&gt;&lt;mo&gt;−&lt;/mo&gt;&lt;mn&gt;9&lt;/mn&gt;&lt;mo data-mjx-texclass=&quot;CLOSE&quot;&gt;)&lt;/mo&gt;&lt;/mrow&gt;&lt;/mtd&gt;&lt;/mtr&gt;&lt;mtr&gt;&lt;mtd&gt;&lt;mn&gt;10&lt;/mn&gt;&lt;mtext&gt;&lt;/mtext&gt;&lt;mo&gt;+&lt;/mo&gt;&lt;mtext&gt;&lt;/mtext&gt;&lt;mfrac&gt;&lt;mn&gt;24&lt;/mn&gt;&lt;mn&gt;8&lt;/mn&gt;&lt;/mfrac&gt;&lt;mtext&gt;&lt;/mtext&gt;&lt;mo&gt;+&lt;/mo&gt;&lt;mn&gt;6&lt;/mn&gt;&lt;/mtd&gt;&lt;/mtr&gt;&lt;mtr&gt;&lt;mtd&gt;&lt;mn&gt;10&lt;/mn&gt;&lt;mtext&gt;&lt;/mtext&gt;&lt;mo&gt;+&lt;/mo&gt;&lt;mtext&gt;&lt;/mtext&gt;&lt;mn&gt;3&lt;/mn&gt;&lt;mtext&gt;&lt;/mtext&gt;&lt;mo&gt;+&lt;/mo&gt;&lt;mtext&gt;&lt;/mtext&gt;&lt;mn&gt;6&lt;/mn&gt;&lt;mtext&gt;&lt;/mtext&gt;&lt;mo&gt;=&lt;/mo&gt;&lt;mtext&gt;&lt;/mtext&gt;&lt;mn&gt;19&lt;/mn&gt;&lt;/mtd&gt;&lt;/mtr&gt;&lt;/mtable&gt;&lt;/math&gt;" id="1209" name="Google Shape;1209;p93" title="3 lines Line 1: 10 plus 24 over 8 plus open paren 15 minus 9 close paren Line 2: 10 plus 24 over 8 positive 6 Line 3: 10 plus 3 plus 6 equals 19"/>
          <p:cNvPicPr preferRelativeResize="0"/>
          <p:nvPr/>
        </p:nvPicPr>
        <p:blipFill rotWithShape="1">
          <a:blip r:embed="rId4">
            <a:alphaModFix/>
          </a:blip>
          <a:srcRect b="63368" l="0" r="0" t="0"/>
          <a:stretch/>
        </p:blipFill>
        <p:spPr>
          <a:xfrm>
            <a:off x="816075" y="1477605"/>
            <a:ext cx="30618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 +\ \frac{24}{8}+\left(15-9\right)\\&amp;#13;&amp;#10;10\ +\ \frac{24}{8}\ +6\\&amp;#13;&amp;#10;10\ +\ 3\ +\ 6\ =\ 19\\&amp;#13;&amp;#10;\end{array}&quot;&gt;&lt;mtable columnalign=&quot;left&quot; columnspacing=&quot;1em&quot; rowspacing=&quot;4pt&quot;&gt;&lt;mtr&gt;&lt;mtd&gt;&lt;mn&gt;10&lt;/mn&gt;&lt;mtext&gt;&lt;/mtext&gt;&lt;mo&gt;+&lt;/mo&gt;&lt;mtext&gt;&lt;/mtext&gt;&lt;mfrac&gt;&lt;mn&gt;24&lt;/mn&gt;&lt;mn&gt;8&lt;/mn&gt;&lt;/mfrac&gt;&lt;mo&gt;+&lt;/mo&gt;&lt;mrow data-mjx-texclass=&quot;INNER&quot;&gt;&lt;mo data-mjx-texclass=&quot;OPEN&quot;&gt;(&lt;/mo&gt;&lt;mn&gt;15&lt;/mn&gt;&lt;mo&gt;−&lt;/mo&gt;&lt;mn&gt;9&lt;/mn&gt;&lt;mo data-mjx-texclass=&quot;CLOSE&quot;&gt;)&lt;/mo&gt;&lt;/mrow&gt;&lt;/mtd&gt;&lt;/mtr&gt;&lt;mtr&gt;&lt;mtd&gt;&lt;mn&gt;10&lt;/mn&gt;&lt;mtext&gt;&lt;/mtext&gt;&lt;mo&gt;+&lt;/mo&gt;&lt;mtext&gt;&lt;/mtext&gt;&lt;mfrac&gt;&lt;mn&gt;24&lt;/mn&gt;&lt;mn&gt;8&lt;/mn&gt;&lt;/mfrac&gt;&lt;mtext&gt;&lt;/mtext&gt;&lt;mo&gt;+&lt;/mo&gt;&lt;mn&gt;6&lt;/mn&gt;&lt;/mtd&gt;&lt;/mtr&gt;&lt;mtr&gt;&lt;mtd&gt;&lt;mn&gt;10&lt;/mn&gt;&lt;mtext&gt;&lt;/mtext&gt;&lt;mo&gt;+&lt;/mo&gt;&lt;mtext&gt;&lt;/mtext&gt;&lt;mn&gt;3&lt;/mn&gt;&lt;mtext&gt;&lt;/mtext&gt;&lt;mo&gt;+&lt;/mo&gt;&lt;mtext&gt;&lt;/mtext&gt;&lt;mn&gt;6&lt;/mn&gt;&lt;mtext&gt;&lt;/mtext&gt;&lt;mo&gt;=&lt;/mo&gt;&lt;mtext&gt;&lt;/mtext&gt;&lt;mn&gt;19&lt;/mn&gt;&lt;/mtd&gt;&lt;/mtr&gt;&lt;/mtable&gt;&lt;/math&gt;" id="1210" name="Google Shape;1210;p93" title="3 lines Line 1: 10 plus 24 over 8 plus open paren 15 minus 9 close paren Line 2: 10 plus 24 over 8 positive 6 Line 3: 10 plus 3 plus 6 equals 19"/>
          <p:cNvPicPr preferRelativeResize="0"/>
          <p:nvPr/>
        </p:nvPicPr>
        <p:blipFill rotWithShape="1">
          <a:blip r:embed="rId4">
            <a:alphaModFix/>
          </a:blip>
          <a:srcRect b="22885" l="0" r="0" t="35511"/>
          <a:stretch/>
        </p:blipFill>
        <p:spPr>
          <a:xfrm>
            <a:off x="816075" y="2106220"/>
            <a:ext cx="3061875" cy="69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 +\ \frac{24}{8}+\left(15-9\right)\\&amp;#13;&amp;#10;10\ +\ \frac{24}{8}\ +6\\&amp;#13;&amp;#10;10\ +\ 3\ +\ 6\ =\ 19\\&amp;#13;&amp;#10;\end{array}&quot;&gt;&lt;mtable columnalign=&quot;left&quot; columnspacing=&quot;1em&quot; rowspacing=&quot;4pt&quot;&gt;&lt;mtr&gt;&lt;mtd&gt;&lt;mn&gt;10&lt;/mn&gt;&lt;mtext&gt;&lt;/mtext&gt;&lt;mo&gt;+&lt;/mo&gt;&lt;mtext&gt;&lt;/mtext&gt;&lt;mfrac&gt;&lt;mn&gt;24&lt;/mn&gt;&lt;mn&gt;8&lt;/mn&gt;&lt;/mfrac&gt;&lt;mo&gt;+&lt;/mo&gt;&lt;mrow data-mjx-texclass=&quot;INNER&quot;&gt;&lt;mo data-mjx-texclass=&quot;OPEN&quot;&gt;(&lt;/mo&gt;&lt;mn&gt;15&lt;/mn&gt;&lt;mo&gt;−&lt;/mo&gt;&lt;mn&gt;9&lt;/mn&gt;&lt;mo data-mjx-texclass=&quot;CLOSE&quot;&gt;)&lt;/mo&gt;&lt;/mrow&gt;&lt;/mtd&gt;&lt;/mtr&gt;&lt;mtr&gt;&lt;mtd&gt;&lt;mn&gt;10&lt;/mn&gt;&lt;mtext&gt;&lt;/mtext&gt;&lt;mo&gt;+&lt;/mo&gt;&lt;mtext&gt;&lt;/mtext&gt;&lt;mfrac&gt;&lt;mn&gt;24&lt;/mn&gt;&lt;mn&gt;8&lt;/mn&gt;&lt;/mfrac&gt;&lt;mtext&gt;&lt;/mtext&gt;&lt;mo&gt;+&lt;/mo&gt;&lt;mn&gt;6&lt;/mn&gt;&lt;/mtd&gt;&lt;/mtr&gt;&lt;mtr&gt;&lt;mtd&gt;&lt;mn&gt;10&lt;/mn&gt;&lt;mtext&gt;&lt;/mtext&gt;&lt;mo&gt;+&lt;/mo&gt;&lt;mtext&gt;&lt;/mtext&gt;&lt;mn&gt;3&lt;/mn&gt;&lt;mtext&gt;&lt;/mtext&gt;&lt;mo&gt;+&lt;/mo&gt;&lt;mtext&gt;&lt;/mtext&gt;&lt;mn&gt;6&lt;/mn&gt;&lt;mtext&gt;&lt;/mtext&gt;&lt;mo&gt;=&lt;/mo&gt;&lt;mtext&gt;&lt;/mtext&gt;&lt;mn&gt;19&lt;/mn&gt;&lt;/mtd&gt;&lt;/mtr&gt;&lt;/mtable&gt;&lt;/math&gt;" id="1211" name="Google Shape;1211;p93" title="3 lines Line 1: 10 plus 24 over 8 plus open paren 15 minus 9 close paren Line 2: 10 plus 24 over 8 positive 6 Line 3: 10 plus 3 plus 6 equals 19"/>
          <p:cNvPicPr preferRelativeResize="0"/>
          <p:nvPr/>
        </p:nvPicPr>
        <p:blipFill rotWithShape="1">
          <a:blip r:embed="rId4">
            <a:alphaModFix/>
          </a:blip>
          <a:srcRect b="0" l="0" r="0" t="80206"/>
          <a:stretch/>
        </p:blipFill>
        <p:spPr>
          <a:xfrm>
            <a:off x="816075" y="2955202"/>
            <a:ext cx="3061875" cy="33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8\ +\ 6\times4\ -\ \left(10\times2\right)\\&amp;#13;&amp;#10;8\ \ +\ 6\ \times4\ -\ 20\\&amp;#13;&amp;#10;8\ +\ 24\ -\ 20\\&amp;#13;&amp;#10;8\ +\ 24\ +\ \left(-20\right)\ \\&amp;#13;&amp;#10;32\ +\ \left(-20\right)\ =\ 12\end{array}&quot;&gt;&lt;mtable columnalign=&quot;left&quot; columnspacing=&quot;1em&quot; rowspacing=&quot;4pt&quot;&gt;&lt;mtr&gt;&lt;mtd&gt;&lt;mn&gt;8&lt;/mn&gt;&lt;mtext&gt;&lt;/mtext&gt;&lt;mo&gt;+&lt;/mo&gt;&lt;mtext&gt;&lt;/mtext&gt;&lt;mn&gt;6&lt;/mn&gt;&lt;mo&gt;×&lt;/mo&gt;&lt;mn&gt;4&lt;/mn&gt;&lt;mtext&gt;&lt;/mtext&gt;&lt;mo&gt;−&lt;/mo&gt;&lt;mtext&gt;&lt;/mtext&gt;&lt;mrow data-mjx-texclass=&quot;INNER&quot;&gt;&lt;mo data-mjx-texclass=&quot;OPEN&quot;&gt;(&lt;/mo&gt;&lt;mn&gt;10&lt;/mn&gt;&lt;mo&gt;×&lt;/mo&gt;&lt;mn&gt;2&lt;/mn&gt;&lt;mo data-mjx-texclass=&quot;CLOSE&quot;&gt;)&lt;/mo&gt;&lt;/mrow&gt;&lt;/mtd&gt;&lt;/mtr&gt;&lt;mtr&gt;&lt;mtd&gt;&lt;mn&gt;8&lt;/mn&gt;&lt;mtext&gt;&lt;/mtext&gt;&lt;mtext&gt;&lt;/mtext&gt;&lt;mo&gt;+&lt;/mo&gt;&lt;mtext&gt;&lt;/mtext&gt;&lt;mn&gt;6&lt;/mn&gt;&lt;mtext&gt;&lt;/mtext&gt;&lt;mo&gt;×&lt;/mo&gt;&lt;mn&gt;4&lt;/mn&gt;&lt;mtext&gt;&lt;/mtext&gt;&lt;mo&gt;−&lt;/mo&gt;&lt;mtext&gt;&lt;/mtext&gt;&lt;mn&gt;20&lt;/mn&gt;&lt;/mtd&gt;&lt;/mtr&gt;&lt;mtr&gt;&lt;mtd&gt;&lt;mn&gt;8&lt;/mn&gt;&lt;mtext&gt;&lt;/mtext&gt;&lt;mo&gt;+&lt;/mo&gt;&lt;mtext&gt;&lt;/mtext&gt;&lt;mn&gt;24&lt;/mn&gt;&lt;mtext&gt;&lt;/mtext&gt;&lt;mo&gt;−&lt;/mo&gt;&lt;mtext&gt;&lt;/mtext&gt;&lt;mn&gt;20&lt;/mn&gt;&lt;/mtd&gt;&lt;/mtr&gt;&lt;mtr&gt;&lt;mtd&gt;&lt;mn&gt;8&lt;/mn&gt;&lt;mtext&gt;&lt;/mtext&gt;&lt;mo&gt;+&lt;/mo&gt;&lt;mtext&gt;&lt;/mtext&gt;&lt;mn&gt;24&lt;/mn&gt;&lt;mtext&gt;&lt;/mtext&gt;&lt;mo&gt;+&lt;/mo&gt;&lt;mtext&gt;&lt;/mtext&gt;&lt;mrow data-mjx-texclass=&quot;INNER&quot;&gt;&lt;mo data-mjx-texclass=&quot;OPEN&quot;&gt;(&lt;/mo&gt;&lt;mo&gt;−&lt;/mo&gt;&lt;mn&gt;20&lt;/mn&gt;&lt;mo data-mjx-texclass=&quot;CLOSE&quot;&gt;)&lt;/mo&gt;&lt;/mrow&gt;&lt;mtext&gt;&lt;/mtext&gt;&lt;/mtd&gt;&lt;/mtr&gt;&lt;mtr&gt;&lt;mtd&gt;&lt;mn&gt;32&lt;/mn&gt;&lt;mtext&gt;&lt;/mtext&gt;&lt;mo&gt;+&lt;/mo&gt;&lt;mtext&gt;&lt;/mtext&gt;&lt;mrow data-mjx-texclass=&quot;INNER&quot;&gt;&lt;mo data-mjx-texclass=&quot;OPEN&quot;&gt;(&lt;/mo&gt;&lt;mo&gt;−&lt;/mo&gt;&lt;mn&gt;20&lt;/mn&gt;&lt;mo data-mjx-texclass=&quot;CLOSE&quot;&gt;)&lt;/mo&gt;&lt;/mrow&gt;&lt;mtext&gt;&lt;/mtext&gt;&lt;mo&gt;=&lt;/mo&gt;&lt;mtext&gt;&lt;/mtext&gt;&lt;mn&gt;12&lt;/mn&gt;&lt;/mtd&gt;&lt;/mtr&gt;&lt;/mtable&gt;&lt;/math&gt;" id="1212" name="Google Shape;1212;p93" title="5 lines Line 1: 8 plus 6 times 4 minus open paren 10 times 2 close paren Line 2: 8 plus 6 times 4 minus 20 Line 3: 8 plus 24 minus 20 Line 4: 8 plus 24 plus negative 20 Line 5: 32 plus negative 20 equals 12"/>
          <p:cNvPicPr preferRelativeResize="0"/>
          <p:nvPr/>
        </p:nvPicPr>
        <p:blipFill rotWithShape="1">
          <a:blip r:embed="rId3">
            <a:alphaModFix/>
          </a:blip>
          <a:srcRect b="63889" l="0" r="0" t="16999"/>
          <a:stretch/>
        </p:blipFill>
        <p:spPr>
          <a:xfrm>
            <a:off x="5115273" y="1944719"/>
            <a:ext cx="3426375" cy="460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8\ +\ 6\times4\ -\ \left(10\times2\right)\\&amp;#13;&amp;#10;8\ \ +\ 6\ \times4\ -\ 20\\&amp;#13;&amp;#10;8\ +\ 24\ -\ 20\\&amp;#13;&amp;#10;8\ +\ 24\ +\ \left(-20\right)\ \\&amp;#13;&amp;#10;32\ +\ \left(-20\right)\ =\ 12\end{array}&quot;&gt;&lt;mtable columnalign=&quot;left&quot; columnspacing=&quot;1em&quot; rowspacing=&quot;4pt&quot;&gt;&lt;mtr&gt;&lt;mtd&gt;&lt;mn&gt;8&lt;/mn&gt;&lt;mtext&gt;&lt;/mtext&gt;&lt;mo&gt;+&lt;/mo&gt;&lt;mtext&gt;&lt;/mtext&gt;&lt;mn&gt;6&lt;/mn&gt;&lt;mo&gt;×&lt;/mo&gt;&lt;mn&gt;4&lt;/mn&gt;&lt;mtext&gt;&lt;/mtext&gt;&lt;mo&gt;−&lt;/mo&gt;&lt;mtext&gt;&lt;/mtext&gt;&lt;mrow data-mjx-texclass=&quot;INNER&quot;&gt;&lt;mo data-mjx-texclass=&quot;OPEN&quot;&gt;(&lt;/mo&gt;&lt;mn&gt;10&lt;/mn&gt;&lt;mo&gt;×&lt;/mo&gt;&lt;mn&gt;2&lt;/mn&gt;&lt;mo data-mjx-texclass=&quot;CLOSE&quot;&gt;)&lt;/mo&gt;&lt;/mrow&gt;&lt;/mtd&gt;&lt;/mtr&gt;&lt;mtr&gt;&lt;mtd&gt;&lt;mn&gt;8&lt;/mn&gt;&lt;mtext&gt;&lt;/mtext&gt;&lt;mtext&gt;&lt;/mtext&gt;&lt;mo&gt;+&lt;/mo&gt;&lt;mtext&gt;&lt;/mtext&gt;&lt;mn&gt;6&lt;/mn&gt;&lt;mtext&gt;&lt;/mtext&gt;&lt;mo&gt;×&lt;/mo&gt;&lt;mn&gt;4&lt;/mn&gt;&lt;mtext&gt;&lt;/mtext&gt;&lt;mo&gt;−&lt;/mo&gt;&lt;mtext&gt;&lt;/mtext&gt;&lt;mn&gt;20&lt;/mn&gt;&lt;/mtd&gt;&lt;/mtr&gt;&lt;mtr&gt;&lt;mtd&gt;&lt;mn&gt;8&lt;/mn&gt;&lt;mtext&gt;&lt;/mtext&gt;&lt;mo&gt;+&lt;/mo&gt;&lt;mtext&gt;&lt;/mtext&gt;&lt;mn&gt;24&lt;/mn&gt;&lt;mtext&gt;&lt;/mtext&gt;&lt;mo&gt;−&lt;/mo&gt;&lt;mtext&gt;&lt;/mtext&gt;&lt;mn&gt;20&lt;/mn&gt;&lt;/mtd&gt;&lt;/mtr&gt;&lt;mtr&gt;&lt;mtd&gt;&lt;mn&gt;8&lt;/mn&gt;&lt;mtext&gt;&lt;/mtext&gt;&lt;mo&gt;+&lt;/mo&gt;&lt;mtext&gt;&lt;/mtext&gt;&lt;mn&gt;24&lt;/mn&gt;&lt;mtext&gt;&lt;/mtext&gt;&lt;mo&gt;+&lt;/mo&gt;&lt;mtext&gt;&lt;/mtext&gt;&lt;mrow data-mjx-texclass=&quot;INNER&quot;&gt;&lt;mo data-mjx-texclass=&quot;OPEN&quot;&gt;(&lt;/mo&gt;&lt;mo&gt;−&lt;/mo&gt;&lt;mn&gt;20&lt;/mn&gt;&lt;mo data-mjx-texclass=&quot;CLOSE&quot;&gt;)&lt;/mo&gt;&lt;/mrow&gt;&lt;mtext&gt;&lt;/mtext&gt;&lt;/mtd&gt;&lt;/mtr&gt;&lt;mtr&gt;&lt;mtd&gt;&lt;mn&gt;32&lt;/mn&gt;&lt;mtext&gt;&lt;/mtext&gt;&lt;mo&gt;+&lt;/mo&gt;&lt;mtext&gt;&lt;/mtext&gt;&lt;mrow data-mjx-texclass=&quot;INNER&quot;&gt;&lt;mo data-mjx-texclass=&quot;OPEN&quot;&gt;(&lt;/mo&gt;&lt;mo&gt;−&lt;/mo&gt;&lt;mn&gt;20&lt;/mn&gt;&lt;mo data-mjx-texclass=&quot;CLOSE&quot;&gt;)&lt;/mo&gt;&lt;/mrow&gt;&lt;mtext&gt;&lt;/mtext&gt;&lt;mo&gt;=&lt;/mo&gt;&lt;mtext&gt;&lt;/mtext&gt;&lt;mn&gt;12&lt;/mn&gt;&lt;/mtd&gt;&lt;/mtr&gt;&lt;/mtable&gt;&lt;/math&gt;" id="1213" name="Google Shape;1213;p93" title="5 lines Line 1: 8 plus 6 times 4 minus open paren 10 times 2 close paren Line 2: 8 plus 6 times 4 minus 20 Line 3: 8 plus 24 minus 20 Line 4: 8 plus 24 plus negative 20 Line 5: 32 plus negative 20 equals 12"/>
          <p:cNvPicPr preferRelativeResize="0"/>
          <p:nvPr/>
        </p:nvPicPr>
        <p:blipFill rotWithShape="1">
          <a:blip r:embed="rId3">
            <a:alphaModFix/>
          </a:blip>
          <a:srcRect b="40444" l="0" r="0" t="40444"/>
          <a:stretch/>
        </p:blipFill>
        <p:spPr>
          <a:xfrm>
            <a:off x="5160630" y="2553714"/>
            <a:ext cx="3426375" cy="460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8\ +\ 6\times4\ -\ \left(10\times2\right)\\&amp;#13;&amp;#10;8\ \ +\ 6\ \times4\ -\ 20\\&amp;#13;&amp;#10;8\ +\ 24\ -\ 20\\&amp;#13;&amp;#10;8\ +\ 24\ +\ \left(-20\right)\ \\&amp;#13;&amp;#10;32\ +\ \left(-20\right)\ =\ 12\end{array}&quot;&gt;&lt;mtable columnalign=&quot;left&quot; columnspacing=&quot;1em&quot; rowspacing=&quot;4pt&quot;&gt;&lt;mtr&gt;&lt;mtd&gt;&lt;mn&gt;8&lt;/mn&gt;&lt;mtext&gt;&lt;/mtext&gt;&lt;mo&gt;+&lt;/mo&gt;&lt;mtext&gt;&lt;/mtext&gt;&lt;mn&gt;6&lt;/mn&gt;&lt;mo&gt;×&lt;/mo&gt;&lt;mn&gt;4&lt;/mn&gt;&lt;mtext&gt;&lt;/mtext&gt;&lt;mo&gt;−&lt;/mo&gt;&lt;mtext&gt;&lt;/mtext&gt;&lt;mrow data-mjx-texclass=&quot;INNER&quot;&gt;&lt;mo data-mjx-texclass=&quot;OPEN&quot;&gt;(&lt;/mo&gt;&lt;mn&gt;10&lt;/mn&gt;&lt;mo&gt;×&lt;/mo&gt;&lt;mn&gt;2&lt;/mn&gt;&lt;mo data-mjx-texclass=&quot;CLOSE&quot;&gt;)&lt;/mo&gt;&lt;/mrow&gt;&lt;/mtd&gt;&lt;/mtr&gt;&lt;mtr&gt;&lt;mtd&gt;&lt;mn&gt;8&lt;/mn&gt;&lt;mtext&gt;&lt;/mtext&gt;&lt;mtext&gt;&lt;/mtext&gt;&lt;mo&gt;+&lt;/mo&gt;&lt;mtext&gt;&lt;/mtext&gt;&lt;mn&gt;6&lt;/mn&gt;&lt;mtext&gt;&lt;/mtext&gt;&lt;mo&gt;×&lt;/mo&gt;&lt;mn&gt;4&lt;/mn&gt;&lt;mtext&gt;&lt;/mtext&gt;&lt;mo&gt;−&lt;/mo&gt;&lt;mtext&gt;&lt;/mtext&gt;&lt;mn&gt;20&lt;/mn&gt;&lt;/mtd&gt;&lt;/mtr&gt;&lt;mtr&gt;&lt;mtd&gt;&lt;mn&gt;8&lt;/mn&gt;&lt;mtext&gt;&lt;/mtext&gt;&lt;mo&gt;+&lt;/mo&gt;&lt;mtext&gt;&lt;/mtext&gt;&lt;mn&gt;24&lt;/mn&gt;&lt;mtext&gt;&lt;/mtext&gt;&lt;mo&gt;−&lt;/mo&gt;&lt;mtext&gt;&lt;/mtext&gt;&lt;mn&gt;20&lt;/mn&gt;&lt;/mtd&gt;&lt;/mtr&gt;&lt;mtr&gt;&lt;mtd&gt;&lt;mn&gt;8&lt;/mn&gt;&lt;mtext&gt;&lt;/mtext&gt;&lt;mo&gt;+&lt;/mo&gt;&lt;mtext&gt;&lt;/mtext&gt;&lt;mn&gt;24&lt;/mn&gt;&lt;mtext&gt;&lt;/mtext&gt;&lt;mo&gt;+&lt;/mo&gt;&lt;mtext&gt;&lt;/mtext&gt;&lt;mrow data-mjx-texclass=&quot;INNER&quot;&gt;&lt;mo data-mjx-texclass=&quot;OPEN&quot;&gt;(&lt;/mo&gt;&lt;mo&gt;−&lt;/mo&gt;&lt;mn&gt;20&lt;/mn&gt;&lt;mo data-mjx-texclass=&quot;CLOSE&quot;&gt;)&lt;/mo&gt;&lt;/mrow&gt;&lt;mtext&gt;&lt;/mtext&gt;&lt;/mtd&gt;&lt;/mtr&gt;&lt;mtr&gt;&lt;mtd&gt;&lt;mn&gt;32&lt;/mn&gt;&lt;mtext&gt;&lt;/mtext&gt;&lt;mo&gt;+&lt;/mo&gt;&lt;mtext&gt;&lt;/mtext&gt;&lt;mrow data-mjx-texclass=&quot;INNER&quot;&gt;&lt;mo data-mjx-texclass=&quot;OPEN&quot;&gt;(&lt;/mo&gt;&lt;mo&gt;−&lt;/mo&gt;&lt;mn&gt;20&lt;/mn&gt;&lt;mo data-mjx-texclass=&quot;CLOSE&quot;&gt;)&lt;/mo&gt;&lt;/mrow&gt;&lt;mtext&gt;&lt;/mtext&gt;&lt;mo&gt;=&lt;/mo&gt;&lt;mtext&gt;&lt;/mtext&gt;&lt;mn&gt;12&lt;/mn&gt;&lt;/mtd&gt;&lt;/mtr&gt;&lt;/mtable&gt;&lt;/math&gt;" id="1214" name="Google Shape;1214;p93" title="5 lines Line 1: 8 plus 6 times 4 minus open paren 10 times 2 close paren Line 2: 8 plus 6 times 4 minus 20 Line 3: 8 plus 24 minus 20 Line 4: 8 plus 24 plus negative 20 Line 5: 32 plus negative 20 equals 12"/>
          <p:cNvPicPr preferRelativeResize="0"/>
          <p:nvPr/>
        </p:nvPicPr>
        <p:blipFill rotWithShape="1">
          <a:blip r:embed="rId3">
            <a:alphaModFix/>
          </a:blip>
          <a:srcRect b="20670" l="-1770" r="1769" t="60218"/>
          <a:stretch/>
        </p:blipFill>
        <p:spPr>
          <a:xfrm>
            <a:off x="5112668" y="3102232"/>
            <a:ext cx="3426375" cy="460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12&quot;&gt;&lt;mo&gt;=&lt;/mo&gt;&lt;mn&gt;12&lt;/mn&gt;&lt;/math&gt;" id="1215" name="Google Shape;1215;p93" title="equals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53450" y="3188925"/>
            <a:ext cx="790350" cy="2873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6" name="Google Shape;1216;p93"/>
          <p:cNvGrpSpPr/>
          <p:nvPr/>
        </p:nvGrpSpPr>
        <p:grpSpPr>
          <a:xfrm>
            <a:off x="2658696" y="1878101"/>
            <a:ext cx="1269486" cy="66625"/>
            <a:chOff x="5809225" y="2952500"/>
            <a:chExt cx="641900" cy="75900"/>
          </a:xfrm>
        </p:grpSpPr>
        <p:cxnSp>
          <p:nvCxnSpPr>
            <p:cNvPr id="1217" name="Google Shape;1217;p93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8" name="Google Shape;1218;p93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9" name="Google Shape;1219;p93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20" name="Google Shape;1220;p93"/>
          <p:cNvGrpSpPr/>
          <p:nvPr/>
        </p:nvGrpSpPr>
        <p:grpSpPr>
          <a:xfrm>
            <a:off x="1670495" y="2750826"/>
            <a:ext cx="587339" cy="66625"/>
            <a:chOff x="5809225" y="2952500"/>
            <a:chExt cx="641900" cy="75900"/>
          </a:xfrm>
        </p:grpSpPr>
        <p:cxnSp>
          <p:nvCxnSpPr>
            <p:cNvPr id="1221" name="Google Shape;1221;p93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2" name="Google Shape;1222;p93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3" name="Google Shape;1223;p93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24" name="Google Shape;1224;p93"/>
          <p:cNvGrpSpPr/>
          <p:nvPr/>
        </p:nvGrpSpPr>
        <p:grpSpPr>
          <a:xfrm>
            <a:off x="7382996" y="1824551"/>
            <a:ext cx="1269486" cy="66625"/>
            <a:chOff x="5809225" y="2952500"/>
            <a:chExt cx="641900" cy="75900"/>
          </a:xfrm>
        </p:grpSpPr>
        <p:cxnSp>
          <p:nvCxnSpPr>
            <p:cNvPr id="1225" name="Google Shape;1225;p93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6" name="Google Shape;1226;p93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7" name="Google Shape;1227;p93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28" name="Google Shape;1228;p93"/>
          <p:cNvGrpSpPr/>
          <p:nvPr/>
        </p:nvGrpSpPr>
        <p:grpSpPr>
          <a:xfrm>
            <a:off x="5865199" y="2338901"/>
            <a:ext cx="1097842" cy="66625"/>
            <a:chOff x="5809225" y="2952500"/>
            <a:chExt cx="641900" cy="75900"/>
          </a:xfrm>
        </p:grpSpPr>
        <p:cxnSp>
          <p:nvCxnSpPr>
            <p:cNvPr id="1229" name="Google Shape;1229;p93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0" name="Google Shape;1230;p93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1" name="Google Shape;1231;p93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32" name="Google Shape;1232;p93"/>
          <p:cNvSpPr txBox="1"/>
          <p:nvPr>
            <p:ph idx="1" type="body"/>
          </p:nvPr>
        </p:nvSpPr>
        <p:spPr>
          <a:xfrm>
            <a:off x="388525" y="1529863"/>
            <a:ext cx="504900" cy="3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233" name="Google Shape;1233;p93"/>
          <p:cNvSpPr txBox="1"/>
          <p:nvPr>
            <p:ph idx="1" type="body"/>
          </p:nvPr>
        </p:nvSpPr>
        <p:spPr>
          <a:xfrm>
            <a:off x="4655725" y="1529863"/>
            <a:ext cx="504900" cy="3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94"/>
          <p:cNvSpPr txBox="1"/>
          <p:nvPr>
            <p:ph idx="1" type="body"/>
          </p:nvPr>
        </p:nvSpPr>
        <p:spPr>
          <a:xfrm>
            <a:off x="324000" y="759300"/>
            <a:ext cx="82377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The use of brackets groups numbers together and affects the priority of operations.</a:t>
            </a:r>
            <a:endParaRPr/>
          </a:p>
        </p:txBody>
      </p:sp>
      <p:sp>
        <p:nvSpPr>
          <p:cNvPr id="1239" name="Google Shape;123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</p:txBody>
      </p:sp>
      <p:sp>
        <p:nvSpPr>
          <p:cNvPr id="1240" name="Google Shape;1240;p94"/>
          <p:cNvSpPr txBox="1"/>
          <p:nvPr>
            <p:ph idx="1" type="body"/>
          </p:nvPr>
        </p:nvSpPr>
        <p:spPr>
          <a:xfrm>
            <a:off x="324000" y="1658400"/>
            <a:ext cx="8237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Sometimes the brackets can be invisible or implicit.</a:t>
            </a:r>
            <a:endParaRPr/>
          </a:p>
        </p:txBody>
      </p:sp>
      <p:sp>
        <p:nvSpPr>
          <p:cNvPr id="1241" name="Google Shape;1241;p94"/>
          <p:cNvSpPr txBox="1"/>
          <p:nvPr>
            <p:ph idx="1" type="body"/>
          </p:nvPr>
        </p:nvSpPr>
        <p:spPr>
          <a:xfrm>
            <a:off x="1065400" y="2215200"/>
            <a:ext cx="1473000" cy="5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25}{\left(4+1\right)}\\&amp;#13;&amp;#10;\end{array}&quot;&gt;&lt;mtable columnalign=&quot;left&quot; columnspacing=&quot;1em&quot; rowspacing=&quot;4pt&quot;&gt;&lt;mtr&gt;&lt;mtd&gt;&lt;mfrac&gt;&lt;mn&gt;25&lt;/mn&gt;&lt;mrow data-mjx-texclass=&quot;INNER&quot;&gt;&lt;mo data-mjx-texclass=&quot;OPEN&quot;&gt;(&lt;/mo&gt;&lt;mn&gt;4&lt;/mn&gt;&lt;mo&gt;+&lt;/mo&gt;&lt;mn&gt;1&lt;/mn&gt;&lt;mo data-mjx-texclass=&quot;CLOSE&quot;&gt;)&lt;/mo&gt;&lt;/mrow&gt;&lt;/mfrac&gt;&lt;/mtd&gt;&lt;/mtr&gt;&lt;/mtable&gt;&lt;/math&gt;" id="1242" name="Google Shape;1242;p94" title="1 lines Line 1: the fraction with numerator 25 and denominator open paren 4 plus 1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050" y="2727600"/>
            <a:ext cx="10668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=\frac{25}{4+1}\\&amp;#13;&amp;#10;\end{array}&quot;&gt;&lt;mtable columnalign=&quot;left&quot; columnspacing=&quot;1em&quot; rowspacing=&quot;4pt&quot;&gt;&lt;mtr&gt;&lt;mtd&gt;&lt;mo&gt;=&lt;/mo&gt;&lt;mfrac&gt;&lt;mn&gt;25&lt;/mn&gt;&lt;mrow&gt;&lt;mn&gt;4&lt;/mn&gt;&lt;mo&gt;+&lt;/mo&gt;&lt;mn&gt;1&lt;/mn&gt;&lt;/mrow&gt;&lt;/mfrac&gt;&lt;/mtd&gt;&lt;/mtr&gt;&lt;/mtable&gt;&lt;/math&gt;" id="1243" name="Google Shape;1243;p94" title="1 lines Line 1: equals the fraction with numerator 25 and denominator 4 plus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9355" y="2701083"/>
            <a:ext cx="1473000" cy="8770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94"/>
          <p:cNvSpPr txBox="1"/>
          <p:nvPr>
            <p:ph idx="1" type="body"/>
          </p:nvPr>
        </p:nvSpPr>
        <p:spPr>
          <a:xfrm>
            <a:off x="2538400" y="4063800"/>
            <a:ext cx="3705600" cy="5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The continuation of the line indicates the implicit brackets.</a:t>
            </a:r>
            <a:endParaRPr sz="1800"/>
          </a:p>
        </p:txBody>
      </p:sp>
      <p:sp>
        <p:nvSpPr>
          <p:cNvPr id="1245" name="Google Shape;1245;p94"/>
          <p:cNvSpPr txBox="1"/>
          <p:nvPr>
            <p:ph idx="1" type="body"/>
          </p:nvPr>
        </p:nvSpPr>
        <p:spPr>
          <a:xfrm>
            <a:off x="5789800" y="2215200"/>
            <a:ext cx="1473000" cy="5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sqrt{\left(12+4\right)}&quot;&gt;&lt;msqrt&gt;&lt;mrow data-mjx-texclass=&quot;INNER&quot;&gt;&lt;mo data-mjx-texclass=&quot;OPEN&quot;&gt;(&lt;/mo&gt;&lt;mn&gt;12&lt;/mn&gt;&lt;mo&gt;+&lt;/mo&gt;&lt;mn&gt;4&lt;/mn&gt;&lt;mo data-mjx-texclass=&quot;CLOSE&quot;&gt;)&lt;/mo&gt;&lt;/mrow&gt;&lt;/msqrt&gt;&lt;/math&gt;" id="1246" name="Google Shape;1246;p94" title="the square root of open paren 12 plus 4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8238" y="2959670"/>
            <a:ext cx="1703380" cy="51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sqrt{12+4}&quot;&gt;&lt;mo&gt;=&lt;/mo&gt;&lt;msqrt&gt;&lt;mn&gt;12&lt;/mn&gt;&lt;mo&gt;+&lt;/mo&gt;&lt;mn&gt;4&lt;/mn&gt;&lt;/msqrt&gt;&lt;/math&gt;" id="1247" name="Google Shape;1247;p94" title="equals the square root of 12 plus 4"/>
          <p:cNvPicPr preferRelativeResize="0"/>
          <p:nvPr/>
        </p:nvPicPr>
        <p:blipFill rotWithShape="1">
          <a:blip r:embed="rId6">
            <a:alphaModFix/>
          </a:blip>
          <a:srcRect b="0" l="15768" r="0" t="0"/>
          <a:stretch/>
        </p:blipFill>
        <p:spPr>
          <a:xfrm>
            <a:off x="4550044" y="2973300"/>
            <a:ext cx="16076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89249" y="3008350"/>
            <a:ext cx="413636" cy="262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9" name="Google Shape;1249;p94"/>
          <p:cNvCxnSpPr/>
          <p:nvPr/>
        </p:nvCxnSpPr>
        <p:spPr>
          <a:xfrm flipH="1" rot="10800000">
            <a:off x="4790525" y="3044225"/>
            <a:ext cx="289500" cy="943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0" name="Google Shape;1250;p94"/>
          <p:cNvCxnSpPr>
            <a:endCxn id="1243" idx="3"/>
          </p:cNvCxnSpPr>
          <p:nvPr/>
        </p:nvCxnSpPr>
        <p:spPr>
          <a:xfrm rot="10800000">
            <a:off x="3142355" y="3139610"/>
            <a:ext cx="353100" cy="904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95"/>
          <p:cNvSpPr/>
          <p:nvPr/>
        </p:nvSpPr>
        <p:spPr>
          <a:xfrm>
            <a:off x="1450425" y="1264950"/>
            <a:ext cx="4097400" cy="259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Jun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3 lines Line 1: 12 negative the fraction with numerator 1 plus 15 and denominator 2 equals Line 2: 12 minus one half plus fifteen halves Line 3: 12 minus 0.5 plus 7.5 equals 19&#10;&#10;&lt;math xmlns=&quot;http://www.w3.org/1998/Math/MathML&quot; display=&quot;block&quot; data-is-equatio=&quot;1&quot; data-latex=&quot;\begin{array}{l}12\ -\frac{1+15}{2}\ =\\&amp;#13;&amp;#10;12\ -\ \frac{1}{2}+\frac{15}{2}\\&amp;#13;&amp;#10;12\ -\ 0.5\ +\ 7.5\ =\ 19\end{array}&quot;&gt;&lt;mtable columnalign=&quot;left&quot; columnspacing=&quot;1em&quot; rowspacing=&quot;4pt&quot;&gt;&lt;mtr&gt;&lt;mtd&gt;&lt;mn&gt;12&lt;/mn&gt;&lt;mtext&gt;&lt;/mtext&gt;&lt;mo&gt;−&lt;/mo&gt;&lt;mfrac&gt;&lt;mrow&gt;&lt;mn&gt;1&lt;/mn&gt;&lt;mo&gt;+&lt;/mo&gt;&lt;mn&gt;15&lt;/mn&gt;&lt;/mrow&gt;&lt;mn&gt;2&lt;/mn&gt;&lt;/mfrac&gt;&lt;mtext&gt;&lt;/mtext&gt;&lt;mo&gt;=&lt;/mo&gt;&lt;/mtd&gt;&lt;/mtr&gt;&lt;mtr&gt;&lt;mtd&gt;&lt;mn&gt;12&lt;/mn&gt;&lt;mtext&gt;&lt;/mtext&gt;&lt;mo&gt;−&lt;/mo&gt;&lt;mtext&gt;&lt;/mtext&gt;&lt;mfrac&gt;&lt;mn&gt;1&lt;/mn&gt;&lt;mn&gt;2&lt;/mn&gt;&lt;/mfrac&gt;&lt;mo&gt;+&lt;/mo&gt;&lt;mfrac&gt;&lt;mn&gt;15&lt;/mn&gt;&lt;mn&gt;2&lt;/mn&gt;&lt;/mfrac&gt;&lt;/mtd&gt;&lt;/mtr&gt;&lt;mtr&gt;&lt;mtd&gt;&lt;mn&gt;12&lt;/mn&gt;&lt;mtext&gt;&lt;/mtext&gt;&lt;mo&gt;−&lt;/mo&gt;&lt;mtext&gt;&lt;/mtext&gt;&lt;mn&gt;0.5&lt;/mn&gt;&lt;mtext&gt;&lt;/mtext&gt;&lt;mo&gt;+&lt;/mo&gt;&lt;mtext&gt;&lt;/mtext&gt;&lt;mn&gt;7.5&lt;/mn&gt;&lt;mtext&gt;&lt;/mtext&gt;&lt;mo&gt;=&lt;/mo&gt;&lt;mtext&gt;&lt;/mtext&gt;&lt;mn&gt;19&lt;/mn&gt;&lt;/mtd&gt;&lt;/mtr&gt;&lt;/mtable&gt;&lt;/math&gt;" id="1256" name="Google Shape;125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200" y="1479938"/>
            <a:ext cx="3735450" cy="17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</p:txBody>
      </p:sp>
      <p:sp>
        <p:nvSpPr>
          <p:cNvPr id="1258" name="Google Shape;1258;p95"/>
          <p:cNvSpPr txBox="1"/>
          <p:nvPr>
            <p:ph idx="1" type="body"/>
          </p:nvPr>
        </p:nvSpPr>
        <p:spPr>
          <a:xfrm>
            <a:off x="324000" y="829800"/>
            <a:ext cx="8113800" cy="4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Jun did some working out.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95"/>
          <p:cNvSpPr txBox="1"/>
          <p:nvPr/>
        </p:nvSpPr>
        <p:spPr>
          <a:xfrm>
            <a:off x="324000" y="3863700"/>
            <a:ext cx="47610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did he make the mistake?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should he have done?</a:t>
            </a:r>
            <a:endParaRPr/>
          </a:p>
        </p:txBody>
      </p:sp>
      <p:pic>
        <p:nvPicPr>
          <p:cNvPr id="1260" name="Google Shape;126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037" y="19588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95"/>
          <p:cNvSpPr txBox="1"/>
          <p:nvPr/>
        </p:nvSpPr>
        <p:spPr>
          <a:xfrm>
            <a:off x="5858775" y="1265100"/>
            <a:ext cx="28698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Here we have implicit brackets.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2" name="Google Shape;1262;p95"/>
          <p:cNvSpPr txBox="1"/>
          <p:nvPr/>
        </p:nvSpPr>
        <p:spPr>
          <a:xfrm>
            <a:off x="5858775" y="2044050"/>
            <a:ext cx="2869800" cy="22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 should have grouped the 1 and 15 first and subtracted the result from 12.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96"/>
          <p:cNvSpPr/>
          <p:nvPr/>
        </p:nvSpPr>
        <p:spPr>
          <a:xfrm>
            <a:off x="914700" y="1291650"/>
            <a:ext cx="3995400" cy="342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2\ -\frac{1+15}{2}\ =\\&amp;#13;&amp;#10;12\ -\ \frac{16}{2}\\&amp;#13;&amp;#10;12\ -\ 8\ =\ 4\end{array}&quot;&gt;&lt;mtable columnalign=&quot;left&quot; columnspacing=&quot;1em&quot; rowspacing=&quot;4pt&quot;&gt;&lt;mtr&gt;&lt;mtd&gt;&lt;mn&gt;12&lt;/mn&gt;&lt;mtext&gt;&lt;/mtext&gt;&lt;mo&gt;−&lt;/mo&gt;&lt;mfrac&gt;&lt;mrow&gt;&lt;mn&gt;1&lt;/mn&gt;&lt;mo&gt;+&lt;/mo&gt;&lt;mn&gt;15&lt;/mn&gt;&lt;/mrow&gt;&lt;mn&gt;2&lt;/mn&gt;&lt;/mfrac&gt;&lt;mtext&gt;&lt;/mtext&gt;&lt;mo&gt;=&lt;/mo&gt;&lt;/mtd&gt;&lt;/mtr&gt;&lt;mtr&gt;&lt;mtd&gt;&lt;mn&gt;12&lt;/mn&gt;&lt;mtext&gt;&lt;/mtext&gt;&lt;mo&gt;−&lt;/mo&gt;&lt;mtext&gt;&lt;/mtext&gt;&lt;mfrac&gt;&lt;mn&gt;16&lt;/mn&gt;&lt;mn&gt;2&lt;/mn&gt;&lt;/mfrac&gt;&lt;/mtd&gt;&lt;/mtr&gt;&lt;mtr&gt;&lt;mtd&gt;&lt;mn&gt;12&lt;/mn&gt;&lt;mtext&gt;&lt;/mtext&gt;&lt;mo&gt;−&lt;/mo&gt;&lt;mtext&gt;&lt;/mtext&gt;&lt;mn&gt;8&lt;/mn&gt;&lt;mtext&gt;&lt;/mtext&gt;&lt;mo&gt;=&lt;/mo&gt;&lt;mtext&gt;&lt;/mtext&gt;&lt;mn&gt;4&lt;/mn&gt;&lt;/mtd&gt;&lt;/mtr&gt;&lt;/mtable&gt;&lt;/math&gt;" id="1268" name="Google Shape;1268;p96" title="3 lines Line 1: 12 negative the fraction with numerator 1 plus 15 and denominator 2 equals Line 2: 12 minus sixteen halves Line 3: 12 minus 8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008" y="1555848"/>
            <a:ext cx="3201250" cy="262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</p:txBody>
      </p:sp>
      <p:sp>
        <p:nvSpPr>
          <p:cNvPr id="1270" name="Google Shape;1270;p96"/>
          <p:cNvSpPr txBox="1"/>
          <p:nvPr/>
        </p:nvSpPr>
        <p:spPr>
          <a:xfrm>
            <a:off x="1247600" y="540000"/>
            <a:ext cx="3152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correct working out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71" name="Google Shape;1271;p96"/>
          <p:cNvGrpSpPr/>
          <p:nvPr/>
        </p:nvGrpSpPr>
        <p:grpSpPr>
          <a:xfrm>
            <a:off x="2673971" y="1869885"/>
            <a:ext cx="1220316" cy="42876"/>
            <a:chOff x="5809225" y="2952500"/>
            <a:chExt cx="641900" cy="75900"/>
          </a:xfrm>
        </p:grpSpPr>
        <p:cxnSp>
          <p:nvCxnSpPr>
            <p:cNvPr id="1272" name="Google Shape;1272;p96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3" name="Google Shape;1273;p96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4" name="Google Shape;1274;p96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275" name="Google Shape;1275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2250" y="1632137"/>
            <a:ext cx="3045050" cy="24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96"/>
          <p:cNvSpPr txBox="1"/>
          <p:nvPr/>
        </p:nvSpPr>
        <p:spPr>
          <a:xfrm rot="479044">
            <a:off x="5184795" y="1522348"/>
            <a:ext cx="1814286" cy="5292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Implicit brackets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7" name="Google Shape;1277;p96"/>
          <p:cNvCxnSpPr/>
          <p:nvPr/>
        </p:nvCxnSpPr>
        <p:spPr>
          <a:xfrm>
            <a:off x="3623675" y="3049675"/>
            <a:ext cx="2232300" cy="235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78" name="Google Shape;1278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0100" y="1746363"/>
            <a:ext cx="466725" cy="428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9" name="Google Shape;1279;p96"/>
          <p:cNvCxnSpPr/>
          <p:nvPr/>
        </p:nvCxnSpPr>
        <p:spPr>
          <a:xfrm>
            <a:off x="4011325" y="1953200"/>
            <a:ext cx="2624700" cy="297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</p:txBody>
      </p:sp>
      <p:sp>
        <p:nvSpPr>
          <p:cNvPr id="1285" name="Google Shape;1285;p97"/>
          <p:cNvSpPr txBox="1"/>
          <p:nvPr>
            <p:ph idx="1" type="body"/>
          </p:nvPr>
        </p:nvSpPr>
        <p:spPr>
          <a:xfrm>
            <a:off x="324000" y="772300"/>
            <a:ext cx="8345400" cy="4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</a:t>
            </a:r>
            <a:r>
              <a:rPr lang="en-GB"/>
              <a:t> was given a different question and did some working out.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97"/>
          <p:cNvSpPr/>
          <p:nvPr/>
        </p:nvSpPr>
        <p:spPr>
          <a:xfrm>
            <a:off x="1616725" y="1620000"/>
            <a:ext cx="3401700" cy="224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5\ +\ 100\ \div\sqrt{16\ +9}\\&amp;#13;&amp;#10;15\ +\ 100\ \div\sqrt{16}+9\\&amp;#13;&amp;#10;15\ +\ 100\ \div\ 4\ +\ 9\\&amp;#13;&amp;#10;15\ +\ 25\ +\ 9=\ 49\end{array}&quot;&gt;&lt;mtable columnalign=&quot;left&quot; columnspacing=&quot;1em&quot; rowspacing=&quot;4pt&quot;&gt;&lt;mtr&gt;&lt;mtd&gt;&lt;mn&gt;15&lt;/mn&gt;&lt;mtext&gt;&lt;/mtext&gt;&lt;mo&gt;+&lt;/mo&gt;&lt;mtext&gt;&lt;/mtext&gt;&lt;mn&gt;100&lt;/mn&gt;&lt;mtext&gt;&lt;/mtext&gt;&lt;mo&gt;÷&lt;/mo&gt;&lt;msqrt&gt;&lt;mn&gt;16&lt;/mn&gt;&lt;mtext&gt;&lt;/mtext&gt;&lt;mo&gt;+&lt;/mo&gt;&lt;mn&gt;9&lt;/mn&gt;&lt;/msqrt&gt;&lt;/mtd&gt;&lt;/mtr&gt;&lt;mtr&gt;&lt;mtd&gt;&lt;mn&gt;15&lt;/mn&gt;&lt;mtext&gt;&lt;/mtext&gt;&lt;mo&gt;+&lt;/mo&gt;&lt;mtext&gt;&lt;/mtext&gt;&lt;mn&gt;100&lt;/mn&gt;&lt;mtext&gt;&lt;/mtext&gt;&lt;mo&gt;÷&lt;/mo&gt;&lt;msqrt&gt;&lt;mn&gt;16&lt;/mn&gt;&lt;/msqrt&gt;&lt;mo&gt;+&lt;/mo&gt;&lt;mn&gt;9&lt;/mn&gt;&lt;/mtd&gt;&lt;/mtr&gt;&lt;mtr&gt;&lt;mtd&gt;&lt;mn&gt;15&lt;/mn&gt;&lt;mtext&gt;&lt;/mtext&gt;&lt;mo&gt;+&lt;/mo&gt;&lt;mtext&gt;&lt;/mtext&gt;&lt;mn&gt;100&lt;/mn&gt;&lt;mtext&gt;&lt;/mtext&gt;&lt;mo&gt;÷&lt;/mo&gt;&lt;mtext&gt;&lt;/mtext&gt;&lt;mn&gt;4&lt;/mn&gt;&lt;mtext&gt;&lt;/mtext&gt;&lt;mo&gt;+&lt;/mo&gt;&lt;mtext&gt;&lt;/mtext&gt;&lt;mn&gt;9&lt;/mn&gt;&lt;/mtd&gt;&lt;/mtr&gt;&lt;mtr&gt;&lt;mtd&gt;&lt;mn&gt;15&lt;/mn&gt;&lt;mtext&gt;&lt;/mtext&gt;&lt;mo&gt;+&lt;/mo&gt;&lt;mtext&gt;&lt;/mtext&gt;&lt;mn&gt;25&lt;/mn&gt;&lt;mtext&gt;&lt;/mtext&gt;&lt;mo&gt;+&lt;/mo&gt;&lt;mtext&gt;&lt;/mtext&gt;&lt;mn&gt;9&lt;/mn&gt;&lt;mo&gt;=&lt;/mo&gt;&lt;mtext&gt;&lt;/mtext&gt;&lt;mn&gt;49&lt;/mn&gt;&lt;/mtd&gt;&lt;/mtr&gt;&lt;/mtable&gt;&lt;/math&gt;" id="1287" name="Google Shape;1287;p97" title="4 lines Line 1: 15 plus 100 division sign the square root of 16 positive 9 Line 2: 15 plus 100 division sign the square root of 16 plus 9 Line 3: 15 plus 100 division sign 4 plus 9 Line 4: 15 plus 25 plus 9 equals 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051" y="1815027"/>
            <a:ext cx="2453416" cy="1506113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97"/>
          <p:cNvSpPr txBox="1"/>
          <p:nvPr/>
        </p:nvSpPr>
        <p:spPr>
          <a:xfrm>
            <a:off x="283075" y="3911700"/>
            <a:ext cx="83454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did he make the mistake?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should he have done? Can you work out the correct answer?</a:t>
            </a:r>
            <a:endParaRPr sz="1800"/>
          </a:p>
        </p:txBody>
      </p:sp>
      <p:pic>
        <p:nvPicPr>
          <p:cNvPr id="1289" name="Google Shape;1289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3726" y="2063463"/>
            <a:ext cx="889851" cy="1016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97"/>
          <p:cNvSpPr txBox="1"/>
          <p:nvPr/>
        </p:nvSpPr>
        <p:spPr>
          <a:xfrm>
            <a:off x="5409950" y="1557600"/>
            <a:ext cx="28698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Here we have implicit brackets.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1" name="Google Shape;1291;p97"/>
          <p:cNvSpPr txBox="1"/>
          <p:nvPr/>
        </p:nvSpPr>
        <p:spPr>
          <a:xfrm>
            <a:off x="5409950" y="2398950"/>
            <a:ext cx="28698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should have grouped the 16 and 9 first because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sqrt{16\ +9}=\sqrt{25}\\&amp;#13;&amp;#10;15\ +\ 100\ \div\sqrt{16}+9\\&amp;#13;&amp;#10;15\ +\ 100\ \div\ 4\ +\ 9\\&amp;#13;&amp;#10;15\ +\ 25\ +\ 9=\ 49\end{array}&quot;&gt;&lt;mtable columnalign=&quot;left&quot; columnspacing=&quot;1em&quot; rowspacing=&quot;4pt&quot;&gt;&lt;mtr&gt;&lt;mtd&gt;&lt;msqrt&gt;&lt;mn&gt;16&lt;/mn&gt;&lt;mtext&gt;&lt;/mtext&gt;&lt;mo&gt;+&lt;/mo&gt;&lt;mn&gt;9&lt;/mn&gt;&lt;/msqrt&gt;&lt;mo&gt;=&lt;/mo&gt;&lt;msqrt&gt;&lt;mn&gt;25&lt;/mn&gt;&lt;/msqrt&gt;&lt;/mtd&gt;&lt;/mtr&gt;&lt;mtr&gt;&lt;mtd&gt;&lt;mn&gt;15&lt;/mn&gt;&lt;mtext&gt;&lt;/mtext&gt;&lt;mo&gt;+&lt;/mo&gt;&lt;mtext&gt;&lt;/mtext&gt;&lt;mn&gt;100&lt;/mn&gt;&lt;mtext&gt;&lt;/mtext&gt;&lt;mo&gt;÷&lt;/mo&gt;&lt;msqrt&gt;&lt;mn&gt;16&lt;/mn&gt;&lt;/msqrt&gt;&lt;mo&gt;+&lt;/mo&gt;&lt;mn&gt;9&lt;/mn&gt;&lt;/mtd&gt;&lt;/mtr&gt;&lt;mtr&gt;&lt;mtd&gt;&lt;mn&gt;15&lt;/mn&gt;&lt;mtext&gt;&lt;/mtext&gt;&lt;mo&gt;+&lt;/mo&gt;&lt;mtext&gt;&lt;/mtext&gt;&lt;mn&gt;100&lt;/mn&gt;&lt;mtext&gt;&lt;/mtext&gt;&lt;mo&gt;÷&lt;/mo&gt;&lt;mtext&gt;&lt;/mtext&gt;&lt;mn&gt;4&lt;/mn&gt;&lt;mtext&gt;&lt;/mtext&gt;&lt;mo&gt;+&lt;/mo&gt;&lt;mtext&gt;&lt;/mtext&gt;&lt;mn&gt;9&lt;/mn&gt;&lt;/mtd&gt;&lt;/mtr&gt;&lt;mtr&gt;&lt;mtd&gt;&lt;mn&gt;15&lt;/mn&gt;&lt;mtext&gt;&lt;/mtext&gt;&lt;mo&gt;+&lt;/mo&gt;&lt;mtext&gt;&lt;/mtext&gt;&lt;mn&gt;25&lt;/mn&gt;&lt;mtext&gt;&lt;/mtext&gt;&lt;mo&gt;+&lt;/mo&gt;&lt;mtext&gt;&lt;/mtext&gt;&lt;mn&gt;9&lt;/mn&gt;&lt;mo&gt;=&lt;/mo&gt;&lt;mtext&gt;&lt;/mtext&gt;&lt;mn&gt;49&lt;/mn&gt;&lt;/mtd&gt;&lt;/mtr&gt;&lt;/mtable&gt;&lt;/math&gt;" id="1292" name="Google Shape;1292;p97" title="4 lines Line 1: the square root of 16 positive 9 equals the square root of 25 Line 2: 15 plus 100 division sign the square root of 16 plus 9 Line 3: 15 plus 100 division sign 4 plus 9 Line 4: 15 plus 25 plus 9 equals 49"/>
          <p:cNvPicPr preferRelativeResize="0"/>
          <p:nvPr/>
        </p:nvPicPr>
        <p:blipFill rotWithShape="1">
          <a:blip r:embed="rId5">
            <a:alphaModFix/>
          </a:blip>
          <a:srcRect b="74984" l="0" r="17505" t="0"/>
          <a:stretch/>
        </p:blipFill>
        <p:spPr>
          <a:xfrm>
            <a:off x="5861172" y="3711488"/>
            <a:ext cx="1967372" cy="37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</p:txBody>
      </p:sp>
      <p:sp>
        <p:nvSpPr>
          <p:cNvPr id="1298" name="Google Shape;1298;p98"/>
          <p:cNvSpPr/>
          <p:nvPr/>
        </p:nvSpPr>
        <p:spPr>
          <a:xfrm>
            <a:off x="914700" y="1291650"/>
            <a:ext cx="3995400" cy="342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98"/>
          <p:cNvSpPr txBox="1"/>
          <p:nvPr/>
        </p:nvSpPr>
        <p:spPr>
          <a:xfrm>
            <a:off x="1336200" y="623700"/>
            <a:ext cx="3152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correct working out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5\ +100\ \div\sqrt{16\ +9}&amp;amp;\\&amp;#13;&amp;#10;15\ +\ 100\ \div\sqrt{25}&amp;amp;\\&amp;#13;&amp;#10;15\ +\ 100\ \div\ 5\ &amp;amp;\\&amp;#13;&amp;#10;15\ +\ 20=\ 35&amp;amp;\end{array}&quot;&gt;&lt;mtable columnalign=&quot;left&quot; columnspacing=&quot;1em&quot; rowspacing=&quot;4pt&quot;&gt;&lt;mtr&gt;&lt;mtd&gt;&lt;mn&gt;15&lt;/mn&gt;&lt;mtext&gt;&lt;/mtext&gt;&lt;mo&gt;+&lt;/mo&gt;&lt;mn&gt;100&lt;/mn&gt;&lt;mtext&gt;&lt;/mtext&gt;&lt;mo&gt;÷&lt;/mo&gt;&lt;msqrt&gt;&lt;mn&gt;16&lt;/mn&gt;&lt;mtext&gt;&lt;/mtext&gt;&lt;mo&gt;+&lt;/mo&gt;&lt;mn&gt;9&lt;/mn&gt;&lt;/msqrt&gt;&lt;/mtd&gt;&lt;mtd/&gt;&lt;/mtr&gt;&lt;mtr&gt;&lt;mtd&gt;&lt;mn&gt;15&lt;/mn&gt;&lt;mtext&gt;&lt;/mtext&gt;&lt;mo&gt;+&lt;/mo&gt;&lt;mtext&gt;&lt;/mtext&gt;&lt;mn&gt;100&lt;/mn&gt;&lt;mtext&gt;&lt;/mtext&gt;&lt;mo&gt;÷&lt;/mo&gt;&lt;msqrt&gt;&lt;mn&gt;25&lt;/mn&gt;&lt;/msqrt&gt;&lt;/mtd&gt;&lt;mtd/&gt;&lt;/mtr&gt;&lt;mtr&gt;&lt;mtd&gt;&lt;mn&gt;15&lt;/mn&gt;&lt;mtext&gt;&lt;/mtext&gt;&lt;mo&gt;+&lt;/mo&gt;&lt;mtext&gt;&lt;/mtext&gt;&lt;mn&gt;100&lt;/mn&gt;&lt;mtext&gt;&lt;/mtext&gt;&lt;mo&gt;÷&lt;/mo&gt;&lt;mtext&gt;&lt;/mtext&gt;&lt;mn&gt;5&lt;/mn&gt;&lt;mtext&gt;&lt;/mtext&gt;&lt;/mtd&gt;&lt;mtd/&gt;&lt;/mtr&gt;&lt;mtr&gt;&lt;mtd&gt;&lt;mn&gt;15&lt;/mn&gt;&lt;mtext&gt;&lt;/mtext&gt;&lt;mo&gt;+&lt;/mo&gt;&lt;mtext&gt;&lt;/mtext&gt;&lt;mn&gt;20&lt;/mn&gt;&lt;mo&gt;=&lt;/mo&gt;&lt;mtext&gt;&lt;/mtext&gt;&lt;mn&gt;35&lt;/mn&gt;&lt;/mtd&gt;&lt;mtd/&gt;&lt;/mtr&gt;&lt;/mtable&gt;&lt;/math&gt;" id="1300" name="Google Shape;1300;p98" title="4 lines Line 1: 15 positive 100 division sign the square root of 16 positive 9 blank Line 2: 15 plus 100 division sign the square root of 25 blank Line 3: 15 plus 100 division sign 5 blank Line 4: 15 plus 20 equals 35 blank"/>
          <p:cNvPicPr preferRelativeResize="0"/>
          <p:nvPr/>
        </p:nvPicPr>
        <p:blipFill rotWithShape="1">
          <a:blip r:embed="rId3">
            <a:alphaModFix/>
          </a:blip>
          <a:srcRect b="72947" l="0" r="0" t="0"/>
          <a:stretch/>
        </p:blipFill>
        <p:spPr>
          <a:xfrm>
            <a:off x="1116050" y="1561500"/>
            <a:ext cx="35927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5\ +100\ \div\sqrt{16\ +9}&amp;amp;\\&amp;#13;&amp;#10;15\ +\ 100\ \div\sqrt{25}&amp;amp;\\&amp;#13;&amp;#10;15\ +\ 100\ \div\ 5\ &amp;amp;\\&amp;#13;&amp;#10;15\ +\ 20=\ 35&amp;amp;\end{array}&quot;&gt;&lt;mtable columnalign=&quot;left&quot; columnspacing=&quot;1em&quot; rowspacing=&quot;4pt&quot;&gt;&lt;mtr&gt;&lt;mtd&gt;&lt;mn&gt;15&lt;/mn&gt;&lt;mtext&gt;&lt;/mtext&gt;&lt;mo&gt;+&lt;/mo&gt;&lt;mn&gt;100&lt;/mn&gt;&lt;mtext&gt;&lt;/mtext&gt;&lt;mo&gt;÷&lt;/mo&gt;&lt;msqrt&gt;&lt;mn&gt;16&lt;/mn&gt;&lt;mtext&gt;&lt;/mtext&gt;&lt;mo&gt;+&lt;/mo&gt;&lt;mn&gt;9&lt;/mn&gt;&lt;/msqrt&gt;&lt;/mtd&gt;&lt;mtd/&gt;&lt;/mtr&gt;&lt;mtr&gt;&lt;mtd&gt;&lt;mn&gt;15&lt;/mn&gt;&lt;mtext&gt;&lt;/mtext&gt;&lt;mo&gt;+&lt;/mo&gt;&lt;mtext&gt;&lt;/mtext&gt;&lt;mn&gt;100&lt;/mn&gt;&lt;mtext&gt;&lt;/mtext&gt;&lt;mo&gt;÷&lt;/mo&gt;&lt;msqrt&gt;&lt;mn&gt;25&lt;/mn&gt;&lt;/msqrt&gt;&lt;/mtd&gt;&lt;mtd/&gt;&lt;/mtr&gt;&lt;mtr&gt;&lt;mtd&gt;&lt;mn&gt;15&lt;/mn&gt;&lt;mtext&gt;&lt;/mtext&gt;&lt;mo&gt;+&lt;/mo&gt;&lt;mtext&gt;&lt;/mtext&gt;&lt;mn&gt;100&lt;/mn&gt;&lt;mtext&gt;&lt;/mtext&gt;&lt;mo&gt;÷&lt;/mo&gt;&lt;mtext&gt;&lt;/mtext&gt;&lt;mn&gt;5&lt;/mn&gt;&lt;mtext&gt;&lt;/mtext&gt;&lt;/mtd&gt;&lt;mtd/&gt;&lt;/mtr&gt;&lt;mtr&gt;&lt;mtd&gt;&lt;mn&gt;15&lt;/mn&gt;&lt;mtext&gt;&lt;/mtext&gt;&lt;mo&gt;+&lt;/mo&gt;&lt;mtext&gt;&lt;/mtext&gt;&lt;mn&gt;20&lt;/mn&gt;&lt;mo&gt;=&lt;/mo&gt;&lt;mtext&gt;&lt;/mtext&gt;&lt;mn&gt;35&lt;/mn&gt;&lt;/mtd&gt;&lt;mtd/&gt;&lt;/mtr&gt;&lt;/mtable&gt;&lt;/math&gt;" id="1301" name="Google Shape;1301;p98" title="4 lines Line 1: 15 positive 100 division sign the square root of 16 positive 9 blank Line 2: 15 plus 100 division sign the square root of 25 blank Line 3: 15 plus 100 division sign 5 blank Line 4: 15 plus 20 equals 35 blank"/>
          <p:cNvPicPr preferRelativeResize="0"/>
          <p:nvPr/>
        </p:nvPicPr>
        <p:blipFill rotWithShape="1">
          <a:blip r:embed="rId3">
            <a:alphaModFix/>
          </a:blip>
          <a:srcRect b="42129" l="0" r="0" t="30818"/>
          <a:stretch/>
        </p:blipFill>
        <p:spPr>
          <a:xfrm>
            <a:off x="1116050" y="2341200"/>
            <a:ext cx="35927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5\ +100\ \div\sqrt{16\ +9}&amp;amp;\\&amp;#13;&amp;#10;15\ +\ 100\ \div\sqrt{25}&amp;amp;\\&amp;#13;&amp;#10;15\ +\ 100\ \div\ 5\ &amp;amp;\\&amp;#13;&amp;#10;15\ +\ 20=\ 35&amp;amp;\end{array}&quot;&gt;&lt;mtable columnalign=&quot;left&quot; columnspacing=&quot;1em&quot; rowspacing=&quot;4pt&quot;&gt;&lt;mtr&gt;&lt;mtd&gt;&lt;mn&gt;15&lt;/mn&gt;&lt;mtext&gt;&lt;/mtext&gt;&lt;mo&gt;+&lt;/mo&gt;&lt;mn&gt;100&lt;/mn&gt;&lt;mtext&gt;&lt;/mtext&gt;&lt;mo&gt;÷&lt;/mo&gt;&lt;msqrt&gt;&lt;mn&gt;16&lt;/mn&gt;&lt;mtext&gt;&lt;/mtext&gt;&lt;mo&gt;+&lt;/mo&gt;&lt;mn&gt;9&lt;/mn&gt;&lt;/msqrt&gt;&lt;/mtd&gt;&lt;mtd/&gt;&lt;/mtr&gt;&lt;mtr&gt;&lt;mtd&gt;&lt;mn&gt;15&lt;/mn&gt;&lt;mtext&gt;&lt;/mtext&gt;&lt;mo&gt;+&lt;/mo&gt;&lt;mtext&gt;&lt;/mtext&gt;&lt;mn&gt;100&lt;/mn&gt;&lt;mtext&gt;&lt;/mtext&gt;&lt;mo&gt;÷&lt;/mo&gt;&lt;msqrt&gt;&lt;mn&gt;25&lt;/mn&gt;&lt;/msqrt&gt;&lt;/mtd&gt;&lt;mtd/&gt;&lt;/mtr&gt;&lt;mtr&gt;&lt;mtd&gt;&lt;mn&gt;15&lt;/mn&gt;&lt;mtext&gt;&lt;/mtext&gt;&lt;mo&gt;+&lt;/mo&gt;&lt;mtext&gt;&lt;/mtext&gt;&lt;mn&gt;100&lt;/mn&gt;&lt;mtext&gt;&lt;/mtext&gt;&lt;mo&gt;÷&lt;/mo&gt;&lt;mtext&gt;&lt;/mtext&gt;&lt;mn&gt;5&lt;/mn&gt;&lt;mtext&gt;&lt;/mtext&gt;&lt;/mtd&gt;&lt;mtd/&gt;&lt;/mtr&gt;&lt;mtr&gt;&lt;mtd&gt;&lt;mn&gt;15&lt;/mn&gt;&lt;mtext&gt;&lt;/mtext&gt;&lt;mo&gt;+&lt;/mo&gt;&lt;mtext&gt;&lt;/mtext&gt;&lt;mn&gt;20&lt;/mn&gt;&lt;mo&gt;=&lt;/mo&gt;&lt;mtext&gt;&lt;/mtext&gt;&lt;mn&gt;35&lt;/mn&gt;&lt;/mtd&gt;&lt;mtd/&gt;&lt;/mtr&gt;&lt;/mtable&gt;&lt;/math&gt;" id="1302" name="Google Shape;1302;p98" title="4 lines Line 1: 15 positive 100 division sign the square root of 16 positive 9 blank Line 2: 15 plus 100 division sign the square root of 25 blank Line 3: 15 plus 100 division sign 5 blank Line 4: 15 plus 20 equals 35 blank"/>
          <p:cNvPicPr preferRelativeResize="0"/>
          <p:nvPr/>
        </p:nvPicPr>
        <p:blipFill rotWithShape="1">
          <a:blip r:embed="rId3">
            <a:alphaModFix/>
          </a:blip>
          <a:srcRect b="15076" l="0" r="0" t="57870"/>
          <a:stretch/>
        </p:blipFill>
        <p:spPr>
          <a:xfrm>
            <a:off x="1116050" y="3107100"/>
            <a:ext cx="35927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5\ +100\ \div\sqrt{16\ +9}&amp;amp;\\&amp;#13;&amp;#10;15\ +\ 100\ \div\sqrt{25}&amp;amp;\\&amp;#13;&amp;#10;15\ +\ 100\ \div\ 5\ &amp;amp;\\&amp;#13;&amp;#10;15\ +\ 20=\ 35&amp;amp;\end{array}&quot;&gt;&lt;mtable columnalign=&quot;left&quot; columnspacing=&quot;1em&quot; rowspacing=&quot;4pt&quot;&gt;&lt;mtr&gt;&lt;mtd&gt;&lt;mn&gt;15&lt;/mn&gt;&lt;mtext&gt;&lt;/mtext&gt;&lt;mo&gt;+&lt;/mo&gt;&lt;mn&gt;100&lt;/mn&gt;&lt;mtext&gt;&lt;/mtext&gt;&lt;mo&gt;÷&lt;/mo&gt;&lt;msqrt&gt;&lt;mn&gt;16&lt;/mn&gt;&lt;mtext&gt;&lt;/mtext&gt;&lt;mo&gt;+&lt;/mo&gt;&lt;mn&gt;9&lt;/mn&gt;&lt;/msqrt&gt;&lt;/mtd&gt;&lt;mtd/&gt;&lt;/mtr&gt;&lt;mtr&gt;&lt;mtd&gt;&lt;mn&gt;15&lt;/mn&gt;&lt;mtext&gt;&lt;/mtext&gt;&lt;mo&gt;+&lt;/mo&gt;&lt;mtext&gt;&lt;/mtext&gt;&lt;mn&gt;100&lt;/mn&gt;&lt;mtext&gt;&lt;/mtext&gt;&lt;mo&gt;÷&lt;/mo&gt;&lt;msqrt&gt;&lt;mn&gt;25&lt;/mn&gt;&lt;/msqrt&gt;&lt;/mtd&gt;&lt;mtd/&gt;&lt;/mtr&gt;&lt;mtr&gt;&lt;mtd&gt;&lt;mn&gt;15&lt;/mn&gt;&lt;mtext&gt;&lt;/mtext&gt;&lt;mo&gt;+&lt;/mo&gt;&lt;mtext&gt;&lt;/mtext&gt;&lt;mn&gt;100&lt;/mn&gt;&lt;mtext&gt;&lt;/mtext&gt;&lt;mo&gt;÷&lt;/mo&gt;&lt;mtext&gt;&lt;/mtext&gt;&lt;mn&gt;5&lt;/mn&gt;&lt;mtext&gt;&lt;/mtext&gt;&lt;/mtd&gt;&lt;mtd/&gt;&lt;/mtr&gt;&lt;mtr&gt;&lt;mtd&gt;&lt;mn&gt;15&lt;/mn&gt;&lt;mtext&gt;&lt;/mtext&gt;&lt;mo&gt;+&lt;/mo&gt;&lt;mtext&gt;&lt;/mtext&gt;&lt;mn&gt;20&lt;/mn&gt;&lt;mo&gt;=&lt;/mo&gt;&lt;mtext&gt;&lt;/mtext&gt;&lt;mn&gt;35&lt;/mn&gt;&lt;/mtd&gt;&lt;mtd/&gt;&lt;/mtr&gt;&lt;/mtable&gt;&lt;/math&gt;" id="1303" name="Google Shape;1303;p98" title="4 lines Line 1: 15 positive 100 division sign the square root of 16 positive 9 blank Line 2: 15 plus 100 division sign the square root of 25 blank Line 3: 15 plus 100 division sign 5 blank Line 4: 15 plus 20 equals 35 blank"/>
          <p:cNvPicPr preferRelativeResize="0"/>
          <p:nvPr/>
        </p:nvPicPr>
        <p:blipFill rotWithShape="1">
          <a:blip r:embed="rId3">
            <a:alphaModFix/>
          </a:blip>
          <a:srcRect b="-9146" l="0" r="0" t="82093"/>
          <a:stretch/>
        </p:blipFill>
        <p:spPr>
          <a:xfrm>
            <a:off x="1116050" y="3732600"/>
            <a:ext cx="3592700" cy="61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4" name="Google Shape;1304;p98"/>
          <p:cNvGrpSpPr/>
          <p:nvPr/>
        </p:nvGrpSpPr>
        <p:grpSpPr>
          <a:xfrm>
            <a:off x="3504646" y="2036010"/>
            <a:ext cx="1220316" cy="42876"/>
            <a:chOff x="5809225" y="2952500"/>
            <a:chExt cx="641900" cy="75900"/>
          </a:xfrm>
        </p:grpSpPr>
        <p:cxnSp>
          <p:nvCxnSpPr>
            <p:cNvPr id="1305" name="Google Shape;1305;p98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6" name="Google Shape;1306;p98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7" name="Google Shape;1307;p98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08" name="Google Shape;1308;p98"/>
          <p:cNvGrpSpPr/>
          <p:nvPr/>
        </p:nvGrpSpPr>
        <p:grpSpPr>
          <a:xfrm>
            <a:off x="3252521" y="2823431"/>
            <a:ext cx="862136" cy="42876"/>
            <a:chOff x="5809225" y="2952500"/>
            <a:chExt cx="641900" cy="75900"/>
          </a:xfrm>
        </p:grpSpPr>
        <p:cxnSp>
          <p:nvCxnSpPr>
            <p:cNvPr id="1309" name="Google Shape;1309;p98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0" name="Google Shape;1310;p98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1" name="Google Shape;1311;p98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12" name="Google Shape;1312;p98"/>
          <p:cNvGrpSpPr/>
          <p:nvPr/>
        </p:nvGrpSpPr>
        <p:grpSpPr>
          <a:xfrm>
            <a:off x="2135157" y="3565483"/>
            <a:ext cx="1369750" cy="42876"/>
            <a:chOff x="5809225" y="2952500"/>
            <a:chExt cx="641900" cy="75900"/>
          </a:xfrm>
        </p:grpSpPr>
        <p:cxnSp>
          <p:nvCxnSpPr>
            <p:cNvPr id="1313" name="Google Shape;1313;p98"/>
            <p:cNvCxnSpPr/>
            <p:nvPr/>
          </p:nvCxnSpPr>
          <p:spPr>
            <a:xfrm>
              <a:off x="5809400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4" name="Google Shape;1314;p98"/>
            <p:cNvCxnSpPr/>
            <p:nvPr/>
          </p:nvCxnSpPr>
          <p:spPr>
            <a:xfrm rot="10800000">
              <a:off x="5809225" y="3028275"/>
              <a:ext cx="641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5" name="Google Shape;1315;p98"/>
            <p:cNvCxnSpPr/>
            <p:nvPr/>
          </p:nvCxnSpPr>
          <p:spPr>
            <a:xfrm>
              <a:off x="6448425" y="2952500"/>
              <a:ext cx="2700" cy="75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316" name="Google Shape;1316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2250" y="1632137"/>
            <a:ext cx="3045050" cy="2425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7" name="Google Shape;1317;p98"/>
          <p:cNvCxnSpPr/>
          <p:nvPr/>
        </p:nvCxnSpPr>
        <p:spPr>
          <a:xfrm>
            <a:off x="4912650" y="2069400"/>
            <a:ext cx="1723500" cy="181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8" name="Google Shape;1318;p98"/>
          <p:cNvSpPr txBox="1"/>
          <p:nvPr/>
        </p:nvSpPr>
        <p:spPr>
          <a:xfrm rot="479044">
            <a:off x="5184795" y="1522348"/>
            <a:ext cx="1814286" cy="5292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Implicit brackets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9" name="Google Shape;1319;p98"/>
          <p:cNvCxnSpPr/>
          <p:nvPr/>
        </p:nvCxnSpPr>
        <p:spPr>
          <a:xfrm>
            <a:off x="4188150" y="2700000"/>
            <a:ext cx="2061000" cy="66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0" name="Google Shape;1320;p98"/>
          <p:cNvCxnSpPr/>
          <p:nvPr/>
        </p:nvCxnSpPr>
        <p:spPr>
          <a:xfrm flipH="1" rot="10800000">
            <a:off x="3793500" y="3285725"/>
            <a:ext cx="2062500" cy="102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99"/>
          <p:cNvSpPr txBox="1"/>
          <p:nvPr>
            <p:ph idx="4294967295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Work out the answers to the following. Ensure you show your working out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99"/>
          <p:cNvSpPr txBox="1"/>
          <p:nvPr/>
        </p:nvSpPr>
        <p:spPr>
          <a:xfrm>
            <a:off x="367375" y="1798150"/>
            <a:ext cx="4209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exend"/>
              <a:buAutoNum type="alphaLcParenR"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99"/>
          <p:cNvSpPr txBox="1"/>
          <p:nvPr/>
        </p:nvSpPr>
        <p:spPr>
          <a:xfrm>
            <a:off x="4539775" y="1798150"/>
            <a:ext cx="5454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b) 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4\ +\ \left(6-2\right)\times3^2\\&amp;#13;&amp;#10;24\ \ +\ \ \ 4\ \ \ \ \times\ \ \ 9\\&amp;#13;&amp;#10;24\ \ +\ \ 36\ \ \ =\ 60\end{array}&quot;&gt;&lt;mtable columnalign=&quot;left&quot; columnspacing=&quot;1em&quot; rowspacing=&quot;4pt&quot;&gt;&lt;mtr&gt;&lt;mtd&gt;&lt;mn&gt;24&lt;/mn&gt;&lt;mtext&gt;&lt;/mtext&gt;&lt;mo&gt;+&lt;/mo&gt;&lt;mtext&gt;&lt;/mtext&gt;&lt;mrow data-mjx-texclass=&quot;INNER&quot;&gt;&lt;mo data-mjx-texclass=&quot;OPEN&quot;&gt;(&lt;/mo&gt;&lt;mn&gt;6&lt;/mn&gt;&lt;mo&gt;−&lt;/mo&gt;&lt;mn&gt;2&lt;/mn&gt;&lt;mo data-mjx-texclass=&quot;CLOSE&quot;&gt;)&lt;/mo&gt;&lt;/mrow&gt;&lt;mo&gt;×&lt;/mo&gt;&lt;msup&gt;&lt;mn&gt;3&lt;/mn&gt;&lt;mn&gt;2&lt;/mn&gt;&lt;/msup&gt;&lt;/mtd&gt;&lt;/mtr&gt;&lt;mtr&gt;&lt;mtd&gt;&lt;mn&gt;24&lt;/mn&gt;&lt;mtext&gt;&lt;/mtext&gt;&lt;mtext&gt;&lt;/mtext&gt;&lt;mo&gt;+&lt;/mo&gt;&lt;mtext&gt;&lt;/mtext&gt;&lt;mtext&gt;&lt;/mtext&gt;&lt;mtext&gt;&lt;/mtext&gt;&lt;mn&gt;4&lt;/mn&gt;&lt;mtext&gt;&lt;/mtext&gt;&lt;mtext&gt;&lt;/mtext&gt;&lt;mtext&gt;&lt;/mtext&gt;&lt;mtext&gt;&lt;/mtext&gt;&lt;mo&gt;×&lt;/mo&gt;&lt;mtext&gt;&lt;/mtext&gt;&lt;mtext&gt;&lt;/mtext&gt;&lt;mtext&gt;&lt;/mtext&gt;&lt;mn&gt;9&lt;/mn&gt;&lt;/mtd&gt;&lt;/mtr&gt;&lt;mtr&gt;&lt;mtd&gt;&lt;mn&gt;24&lt;/mn&gt;&lt;mtext&gt;&lt;/mtext&gt;&lt;mtext&gt;&lt;/mtext&gt;&lt;mo&gt;+&lt;/mo&gt;&lt;mtext&gt;&lt;/mtext&gt;&lt;mtext&gt;&lt;/mtext&gt;&lt;mn&gt;36&lt;/mn&gt;&lt;mtext&gt;&lt;/mtext&gt;&lt;mtext&gt;&lt;/mtext&gt;&lt;mtext&gt;&lt;/mtext&gt;&lt;mo&gt;=&lt;/mo&gt;&lt;mtext&gt;&lt;/mtext&gt;&lt;mn&gt;60&lt;/mn&gt;&lt;/mtd&gt;&lt;/mtr&gt;&lt;/mtable&gt;&lt;/math&gt;" id="1329" name="Google Shape;1329;p99" title="3 lines Line 1: 24 plus open paren 6 minus 2 close paren times 3 squared Line 2: 24 plus 4 times 9 Line 3: 24 plus 36 equals 60"/>
          <p:cNvPicPr preferRelativeResize="0"/>
          <p:nvPr/>
        </p:nvPicPr>
        <p:blipFill rotWithShape="1">
          <a:blip r:embed="rId3">
            <a:alphaModFix/>
          </a:blip>
          <a:srcRect b="63283" l="0" r="0" t="0"/>
          <a:stretch/>
        </p:blipFill>
        <p:spPr>
          <a:xfrm>
            <a:off x="896700" y="1851748"/>
            <a:ext cx="3347124" cy="61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-\ \sqrt{70-6}\div\ 2^2\\&amp;#13;&amp;#10;100\ -\ \sqrt{64}\ \div\ 2^2\\&amp;#13;&amp;#10;100\ -\ 8\ \div4\\&amp;#13;&amp;#10;100\ -\ 2\ =\ 98\end{array}&quot;&gt;&lt;mtable columnalign=&quot;left&quot; columnspacing=&quot;1em&quot; rowspacing=&quot;4pt&quot;&gt;&lt;mtr&gt;&lt;mtd&gt;&lt;mn&gt;100&lt;/mn&gt;&lt;mtext&gt;&lt;/mtext&gt;&lt;mo&gt;−&lt;/mo&gt;&lt;mtext&gt;&lt;/mtext&gt;&lt;msqrt&gt;&lt;mn&gt;70&lt;/mn&gt;&lt;mo&gt;−&lt;/mo&gt;&lt;mn&gt;6&lt;/mn&gt;&lt;/msqrt&gt;&lt;mo&gt;÷&lt;/mo&gt;&lt;mtext&gt;&lt;/mtext&gt;&lt;msup&gt;&lt;mn&gt;2&lt;/mn&gt;&lt;mn&gt;2&lt;/mn&gt;&lt;/msup&gt;&lt;/mtd&gt;&lt;/mtr&gt;&lt;mtr&gt;&lt;mtd&gt;&lt;mn&gt;100&lt;/mn&gt;&lt;mtext&gt;&lt;/mtext&gt;&lt;mo&gt;−&lt;/mo&gt;&lt;mtext&gt;&lt;/mtext&gt;&lt;msqrt&gt;&lt;mn&gt;64&lt;/mn&gt;&lt;/msqrt&gt;&lt;mtext&gt;&lt;/mtext&gt;&lt;mo&gt;÷&lt;/mo&gt;&lt;mtext&gt;&lt;/mtext&gt;&lt;msup&gt;&lt;mn&gt;2&lt;/mn&gt;&lt;mn&gt;2&lt;/mn&gt;&lt;/msup&gt;&lt;/mtd&gt;&lt;/mtr&gt;&lt;mtr&gt;&lt;mtd&gt;&lt;mn&gt;100&lt;/mn&gt;&lt;mtext&gt;&lt;/mtext&gt;&lt;mo&gt;−&lt;/mo&gt;&lt;mtext&gt;&lt;/mtext&gt;&lt;mn&gt;8&lt;/mn&gt;&lt;mtext&gt;&lt;/mtext&gt;&lt;mo&gt;÷&lt;/mo&gt;&lt;mn&gt;4&lt;/mn&gt;&lt;/mtd&gt;&lt;/mtr&gt;&lt;mtr&gt;&lt;mtd&gt;&lt;mn&gt;100&lt;/mn&gt;&lt;mtext&gt;&lt;/mtext&gt;&lt;mo&gt;−&lt;/mo&gt;&lt;mtext&gt;&lt;/mtext&gt;&lt;mn&gt;2&lt;/mn&gt;&lt;mtext&gt;&lt;/mtext&gt;&lt;mo&gt;=&lt;/mo&gt;&lt;mtext&gt;&lt;/mtext&gt;&lt;mn&gt;98&lt;/mn&gt;&lt;/mtd&gt;&lt;/mtr&gt;&lt;/mtable&gt;&lt;/math&gt;" id="1330" name="Google Shape;1330;p99" title="4 lines Line 1: 100 minus the square root of 70 minus 6 division sign 2 squared Line 2: 100 minus the square root of 64 division sign 2 squared Line 3: 100 minus 8 division sign 4 Line 4: 100 minus 2 equals 98"/>
          <p:cNvPicPr preferRelativeResize="0"/>
          <p:nvPr/>
        </p:nvPicPr>
        <p:blipFill rotWithShape="1">
          <a:blip r:embed="rId4">
            <a:alphaModFix/>
          </a:blip>
          <a:srcRect b="72827" l="0" r="0" t="0"/>
          <a:stretch/>
        </p:blipFill>
        <p:spPr>
          <a:xfrm>
            <a:off x="5085175" y="1830925"/>
            <a:ext cx="3511876" cy="61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100"/>
          <p:cNvSpPr txBox="1"/>
          <p:nvPr/>
        </p:nvSpPr>
        <p:spPr>
          <a:xfrm>
            <a:off x="324000" y="2042600"/>
            <a:ext cx="50898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 4      5      6     7  = 117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 4      5      6     7  = 308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 4      5      6     7  = 69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  4      5      6     7  = 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100"/>
          <p:cNvSpPr txBox="1"/>
          <p:nvPr>
            <p:ph idx="4294967295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Fill in the gaps with +, −, ÷, × and brackets so that the calculations are correct. You can use more than one pair of brackets.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101"/>
          <p:cNvSpPr txBox="1"/>
          <p:nvPr/>
        </p:nvSpPr>
        <p:spPr>
          <a:xfrm>
            <a:off x="324000" y="732475"/>
            <a:ext cx="8696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Use exactly four 4s, together with any of the operations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×, ÷, +,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√,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−, exponents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(can be any value)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and/or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brackets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write calculations giving answers of:  1, then 2, then 3… up to 20. As an example, 8 has been done for you.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101"/>
          <p:cNvSpPr txBox="1"/>
          <p:nvPr/>
        </p:nvSpPr>
        <p:spPr>
          <a:xfrm>
            <a:off x="533050" y="2212725"/>
            <a:ext cx="1891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=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01"/>
          <p:cNvSpPr txBox="1"/>
          <p:nvPr/>
        </p:nvSpPr>
        <p:spPr>
          <a:xfrm>
            <a:off x="2615634" y="2160975"/>
            <a:ext cx="2553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 =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= 4 ÷ 4 × 4 + 4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101"/>
          <p:cNvSpPr txBox="1"/>
          <p:nvPr/>
        </p:nvSpPr>
        <p:spPr>
          <a:xfrm>
            <a:off x="4915347" y="2160975"/>
            <a:ext cx="18918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 =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101"/>
          <p:cNvSpPr txBox="1"/>
          <p:nvPr/>
        </p:nvSpPr>
        <p:spPr>
          <a:xfrm>
            <a:off x="6911175" y="2184900"/>
            <a:ext cx="18918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  =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 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101"/>
          <p:cNvSpPr/>
          <p:nvPr/>
        </p:nvSpPr>
        <p:spPr>
          <a:xfrm>
            <a:off x="2611859" y="2164725"/>
            <a:ext cx="2170800" cy="200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01"/>
          <p:cNvSpPr/>
          <p:nvPr/>
        </p:nvSpPr>
        <p:spPr>
          <a:xfrm>
            <a:off x="4839150" y="2116725"/>
            <a:ext cx="1988100" cy="200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101"/>
          <p:cNvSpPr/>
          <p:nvPr/>
        </p:nvSpPr>
        <p:spPr>
          <a:xfrm>
            <a:off x="6902975" y="2112750"/>
            <a:ext cx="1891800" cy="200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101"/>
          <p:cNvSpPr/>
          <p:nvPr/>
        </p:nvSpPr>
        <p:spPr>
          <a:xfrm>
            <a:off x="414550" y="2172050"/>
            <a:ext cx="2121300" cy="200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02"/>
          <p:cNvSpPr txBox="1"/>
          <p:nvPr>
            <p:ph idx="4294967295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Work out the answers to the following. Ensure you show your working out.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02"/>
          <p:cNvSpPr txBox="1"/>
          <p:nvPr/>
        </p:nvSpPr>
        <p:spPr>
          <a:xfrm>
            <a:off x="367375" y="1798150"/>
            <a:ext cx="4209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exend"/>
              <a:buAutoNum type="alphaLcParenR"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102"/>
          <p:cNvSpPr txBox="1"/>
          <p:nvPr/>
        </p:nvSpPr>
        <p:spPr>
          <a:xfrm>
            <a:off x="4539775" y="1798150"/>
            <a:ext cx="5454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b) 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4\ +\ \left(6-2\right)\times3^2\\&amp;#13;&amp;#10;24\ \ +\ \ \ 4\ \ \ \ \times\ \ \ 9\\&amp;#13;&amp;#10;24\ \ +\ \ 36\ \ \ =\ 60\end{array}&quot;&gt;&lt;mtable columnalign=&quot;left&quot; columnspacing=&quot;1em&quot; rowspacing=&quot;4pt&quot;&gt;&lt;mtr&gt;&lt;mtd&gt;&lt;mn&gt;24&lt;/mn&gt;&lt;mtext&gt;&lt;/mtext&gt;&lt;mo&gt;+&lt;/mo&gt;&lt;mtext&gt;&lt;/mtext&gt;&lt;mrow data-mjx-texclass=&quot;INNER&quot;&gt;&lt;mo data-mjx-texclass=&quot;OPEN&quot;&gt;(&lt;/mo&gt;&lt;mn&gt;6&lt;/mn&gt;&lt;mo&gt;−&lt;/mo&gt;&lt;mn&gt;2&lt;/mn&gt;&lt;mo data-mjx-texclass=&quot;CLOSE&quot;&gt;)&lt;/mo&gt;&lt;/mrow&gt;&lt;mo&gt;×&lt;/mo&gt;&lt;msup&gt;&lt;mn&gt;3&lt;/mn&gt;&lt;mn&gt;2&lt;/mn&gt;&lt;/msup&gt;&lt;/mtd&gt;&lt;/mtr&gt;&lt;mtr&gt;&lt;mtd&gt;&lt;mn&gt;24&lt;/mn&gt;&lt;mtext&gt;&lt;/mtext&gt;&lt;mtext&gt;&lt;/mtext&gt;&lt;mo&gt;+&lt;/mo&gt;&lt;mtext&gt;&lt;/mtext&gt;&lt;mtext&gt;&lt;/mtext&gt;&lt;mtext&gt;&lt;/mtext&gt;&lt;mn&gt;4&lt;/mn&gt;&lt;mtext&gt;&lt;/mtext&gt;&lt;mtext&gt;&lt;/mtext&gt;&lt;mtext&gt;&lt;/mtext&gt;&lt;mtext&gt;&lt;/mtext&gt;&lt;mo&gt;×&lt;/mo&gt;&lt;mtext&gt;&lt;/mtext&gt;&lt;mtext&gt;&lt;/mtext&gt;&lt;mtext&gt;&lt;/mtext&gt;&lt;mn&gt;9&lt;/mn&gt;&lt;/mtd&gt;&lt;/mtr&gt;&lt;mtr&gt;&lt;mtd&gt;&lt;mn&gt;24&lt;/mn&gt;&lt;mtext&gt;&lt;/mtext&gt;&lt;mtext&gt;&lt;/mtext&gt;&lt;mo&gt;+&lt;/mo&gt;&lt;mtext&gt;&lt;/mtext&gt;&lt;mtext&gt;&lt;/mtext&gt;&lt;mn&gt;36&lt;/mn&gt;&lt;mtext&gt;&lt;/mtext&gt;&lt;mtext&gt;&lt;/mtext&gt;&lt;mtext&gt;&lt;/mtext&gt;&lt;mo&gt;=&lt;/mo&gt;&lt;mtext&gt;&lt;/mtext&gt;&lt;mn&gt;60&lt;/mn&gt;&lt;/mtd&gt;&lt;/mtr&gt;&lt;/mtable&gt;&lt;/math&gt;" id="1360" name="Google Shape;1360;p102" title="3 lines Line 1: 24 plus open paren 6 minus 2 close paren times 3 squared Line 2: 24 plus 4 times 9 Line 3: 24 plus 36 equals 60"/>
          <p:cNvPicPr preferRelativeResize="0"/>
          <p:nvPr/>
        </p:nvPicPr>
        <p:blipFill rotWithShape="1">
          <a:blip r:embed="rId3">
            <a:alphaModFix/>
          </a:blip>
          <a:srcRect b="67942" l="0" r="0" t="0"/>
          <a:stretch/>
        </p:blipFill>
        <p:spPr>
          <a:xfrm>
            <a:off x="896700" y="1851748"/>
            <a:ext cx="3347124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-\ \sqrt{70-6}\div\ 2^2\\&amp;#13;&amp;#10;100\ -\ \sqrt{64}\ \div\ 2^2\\&amp;#13;&amp;#10;100\ -\ 8\ \div4\\&amp;#13;&amp;#10;100\ -\ 2\ =\ 98\end{array}&quot;&gt;&lt;mtable columnalign=&quot;left&quot; columnspacing=&quot;1em&quot; rowspacing=&quot;4pt&quot;&gt;&lt;mtr&gt;&lt;mtd&gt;&lt;mn&gt;100&lt;/mn&gt;&lt;mtext&gt;&lt;/mtext&gt;&lt;mo&gt;−&lt;/mo&gt;&lt;mtext&gt;&lt;/mtext&gt;&lt;msqrt&gt;&lt;mn&gt;70&lt;/mn&gt;&lt;mo&gt;−&lt;/mo&gt;&lt;mn&gt;6&lt;/mn&gt;&lt;/msqrt&gt;&lt;mo&gt;÷&lt;/mo&gt;&lt;mtext&gt;&lt;/mtext&gt;&lt;msup&gt;&lt;mn&gt;2&lt;/mn&gt;&lt;mn&gt;2&lt;/mn&gt;&lt;/msup&gt;&lt;/mtd&gt;&lt;/mtr&gt;&lt;mtr&gt;&lt;mtd&gt;&lt;mn&gt;100&lt;/mn&gt;&lt;mtext&gt;&lt;/mtext&gt;&lt;mo&gt;−&lt;/mo&gt;&lt;mtext&gt;&lt;/mtext&gt;&lt;msqrt&gt;&lt;mn&gt;64&lt;/mn&gt;&lt;/msqrt&gt;&lt;mtext&gt;&lt;/mtext&gt;&lt;mo&gt;÷&lt;/mo&gt;&lt;mtext&gt;&lt;/mtext&gt;&lt;msup&gt;&lt;mn&gt;2&lt;/mn&gt;&lt;mn&gt;2&lt;/mn&gt;&lt;/msup&gt;&lt;/mtd&gt;&lt;/mtr&gt;&lt;mtr&gt;&lt;mtd&gt;&lt;mn&gt;100&lt;/mn&gt;&lt;mtext&gt;&lt;/mtext&gt;&lt;mo&gt;−&lt;/mo&gt;&lt;mtext&gt;&lt;/mtext&gt;&lt;mn&gt;8&lt;/mn&gt;&lt;mtext&gt;&lt;/mtext&gt;&lt;mo&gt;÷&lt;/mo&gt;&lt;mn&gt;4&lt;/mn&gt;&lt;/mtd&gt;&lt;/mtr&gt;&lt;mtr&gt;&lt;mtd&gt;&lt;mn&gt;100&lt;/mn&gt;&lt;mtext&gt;&lt;/mtext&gt;&lt;mo&gt;−&lt;/mo&gt;&lt;mtext&gt;&lt;/mtext&gt;&lt;mn&gt;2&lt;/mn&gt;&lt;mtext&gt;&lt;/mtext&gt;&lt;mo&gt;=&lt;/mo&gt;&lt;mtext&gt;&lt;/mtext&gt;&lt;mn&gt;98&lt;/mn&gt;&lt;/mtd&gt;&lt;/mtr&gt;&lt;/mtable&gt;&lt;/math&gt;" id="1361" name="Google Shape;1361;p102" title="4 lines Line 1: 100 minus the square root of 70 minus 6 division sign 2 squared Line 2: 100 minus the square root of 64 division sign 2 squared Line 3: 100 minus 8 division sign 4 Line 4: 100 minus 2 equals 98"/>
          <p:cNvPicPr preferRelativeResize="0"/>
          <p:nvPr/>
        </p:nvPicPr>
        <p:blipFill rotWithShape="1">
          <a:blip r:embed="rId4">
            <a:alphaModFix/>
          </a:blip>
          <a:srcRect b="75349" l="0" r="0" t="0"/>
          <a:stretch/>
        </p:blipFill>
        <p:spPr>
          <a:xfrm>
            <a:off x="5085175" y="1830925"/>
            <a:ext cx="3511876" cy="55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4\ +\ \left(6-2\right)\times3^2\\&amp;#13;&amp;#10;24\ \ +\ \ \ 4\ \ \ \ \times\ \ \ 9\\&amp;#13;&amp;#10;24\ \ +\ \ 36\ \ \ =\ 60\end{array}&quot;&gt;&lt;mtable columnalign=&quot;left&quot; columnspacing=&quot;1em&quot; rowspacing=&quot;4pt&quot;&gt;&lt;mtr&gt;&lt;mtd&gt;&lt;mn&gt;24&lt;/mn&gt;&lt;mtext&gt;&lt;/mtext&gt;&lt;mo&gt;+&lt;/mo&gt;&lt;mtext&gt;&lt;/mtext&gt;&lt;mrow data-mjx-texclass=&quot;INNER&quot;&gt;&lt;mo data-mjx-texclass=&quot;OPEN&quot;&gt;(&lt;/mo&gt;&lt;mn&gt;6&lt;/mn&gt;&lt;mo&gt;−&lt;/mo&gt;&lt;mn&gt;2&lt;/mn&gt;&lt;mo data-mjx-texclass=&quot;CLOSE&quot;&gt;)&lt;/mo&gt;&lt;/mrow&gt;&lt;mo&gt;×&lt;/mo&gt;&lt;msup&gt;&lt;mn&gt;3&lt;/mn&gt;&lt;mn&gt;2&lt;/mn&gt;&lt;/msup&gt;&lt;/mtd&gt;&lt;/mtr&gt;&lt;mtr&gt;&lt;mtd&gt;&lt;mn&gt;24&lt;/mn&gt;&lt;mtext&gt;&lt;/mtext&gt;&lt;mtext&gt;&lt;/mtext&gt;&lt;mo&gt;+&lt;/mo&gt;&lt;mtext&gt;&lt;/mtext&gt;&lt;mtext&gt;&lt;/mtext&gt;&lt;mtext&gt;&lt;/mtext&gt;&lt;mn&gt;4&lt;/mn&gt;&lt;mtext&gt;&lt;/mtext&gt;&lt;mtext&gt;&lt;/mtext&gt;&lt;mtext&gt;&lt;/mtext&gt;&lt;mtext&gt;&lt;/mtext&gt;&lt;mo&gt;×&lt;/mo&gt;&lt;mtext&gt;&lt;/mtext&gt;&lt;mtext&gt;&lt;/mtext&gt;&lt;mtext&gt;&lt;/mtext&gt;&lt;mn&gt;9&lt;/mn&gt;&lt;/mtd&gt;&lt;/mtr&gt;&lt;mtr&gt;&lt;mtd&gt;&lt;mn&gt;24&lt;/mn&gt;&lt;mtext&gt;&lt;/mtext&gt;&lt;mtext&gt;&lt;/mtext&gt;&lt;mo&gt;+&lt;/mo&gt;&lt;mtext&gt;&lt;/mtext&gt;&lt;mtext&gt;&lt;/mtext&gt;&lt;mn&gt;36&lt;/mn&gt;&lt;mtext&gt;&lt;/mtext&gt;&lt;mtext&gt;&lt;/mtext&gt;&lt;mtext&gt;&lt;/mtext&gt;&lt;mo&gt;=&lt;/mo&gt;&lt;mtext&gt;&lt;/mtext&gt;&lt;mn&gt;60&lt;/mn&gt;&lt;/mtd&gt;&lt;/mtr&gt;&lt;/mtable&gt;&lt;/math&gt;" id="1362" name="Google Shape;1362;p102" title="3 lines Line 1: 24 plus open paren 6 minus 2 close paren times 3 squared Line 2: 24 plus 4 times 9 Line 3: 24 plus 36 equals 60"/>
          <p:cNvPicPr preferRelativeResize="0"/>
          <p:nvPr/>
        </p:nvPicPr>
        <p:blipFill rotWithShape="1">
          <a:blip r:embed="rId3">
            <a:alphaModFix/>
          </a:blip>
          <a:srcRect b="29810" l="0" r="0" t="38132"/>
          <a:stretch/>
        </p:blipFill>
        <p:spPr>
          <a:xfrm>
            <a:off x="896700" y="2502548"/>
            <a:ext cx="3347124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4\ +\ \left(6-2\right)\times3^2\\&amp;#13;&amp;#10;24\ \ +\ \ \ 4\ \ \ \ \times\ \ \ 9\\&amp;#13;&amp;#10;24\ \ +\ \ 36\ \ \ =\ 60\end{array}&quot;&gt;&lt;mtable columnalign=&quot;left&quot; columnspacing=&quot;1em&quot; rowspacing=&quot;4pt&quot;&gt;&lt;mtr&gt;&lt;mtd&gt;&lt;mn&gt;24&lt;/mn&gt;&lt;mtext&gt;&lt;/mtext&gt;&lt;mo&gt;+&lt;/mo&gt;&lt;mtext&gt;&lt;/mtext&gt;&lt;mrow data-mjx-texclass=&quot;INNER&quot;&gt;&lt;mo data-mjx-texclass=&quot;OPEN&quot;&gt;(&lt;/mo&gt;&lt;mn&gt;6&lt;/mn&gt;&lt;mo&gt;−&lt;/mo&gt;&lt;mn&gt;2&lt;/mn&gt;&lt;mo data-mjx-texclass=&quot;CLOSE&quot;&gt;)&lt;/mo&gt;&lt;/mrow&gt;&lt;mo&gt;×&lt;/mo&gt;&lt;msup&gt;&lt;mn&gt;3&lt;/mn&gt;&lt;mn&gt;2&lt;/mn&gt;&lt;/msup&gt;&lt;/mtd&gt;&lt;/mtr&gt;&lt;mtr&gt;&lt;mtd&gt;&lt;mn&gt;24&lt;/mn&gt;&lt;mtext&gt;&lt;/mtext&gt;&lt;mtext&gt;&lt;/mtext&gt;&lt;mo&gt;+&lt;/mo&gt;&lt;mtext&gt;&lt;/mtext&gt;&lt;mtext&gt;&lt;/mtext&gt;&lt;mtext&gt;&lt;/mtext&gt;&lt;mn&gt;4&lt;/mn&gt;&lt;mtext&gt;&lt;/mtext&gt;&lt;mtext&gt;&lt;/mtext&gt;&lt;mtext&gt;&lt;/mtext&gt;&lt;mtext&gt;&lt;/mtext&gt;&lt;mo&gt;×&lt;/mo&gt;&lt;mtext&gt;&lt;/mtext&gt;&lt;mtext&gt;&lt;/mtext&gt;&lt;mtext&gt;&lt;/mtext&gt;&lt;mn&gt;9&lt;/mn&gt;&lt;/mtd&gt;&lt;/mtr&gt;&lt;mtr&gt;&lt;mtd&gt;&lt;mn&gt;24&lt;/mn&gt;&lt;mtext&gt;&lt;/mtext&gt;&lt;mtext&gt;&lt;/mtext&gt;&lt;mo&gt;+&lt;/mo&gt;&lt;mtext&gt;&lt;/mtext&gt;&lt;mtext&gt;&lt;/mtext&gt;&lt;mn&gt;36&lt;/mn&gt;&lt;mtext&gt;&lt;/mtext&gt;&lt;mtext&gt;&lt;/mtext&gt;&lt;mtext&gt;&lt;/mtext&gt;&lt;mo&gt;=&lt;/mo&gt;&lt;mtext&gt;&lt;/mtext&gt;&lt;mn&gt;60&lt;/mn&gt;&lt;/mtd&gt;&lt;/mtr&gt;&lt;/mtable&gt;&lt;/math&gt;" id="1363" name="Google Shape;1363;p102" title="3 lines Line 1: 24 plus open paren 6 minus 2 close paren times 3 squared Line 2: 24 plus 4 times 9 Line 3: 24 plus 36 equals 60"/>
          <p:cNvPicPr preferRelativeResize="0"/>
          <p:nvPr/>
        </p:nvPicPr>
        <p:blipFill rotWithShape="1">
          <a:blip r:embed="rId3">
            <a:alphaModFix/>
          </a:blip>
          <a:srcRect b="-5991" l="0" r="0" t="73934"/>
          <a:stretch/>
        </p:blipFill>
        <p:spPr>
          <a:xfrm>
            <a:off x="896700" y="3153348"/>
            <a:ext cx="3347124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-\ \sqrt{70-6}\div\ 2^2\\&amp;#13;&amp;#10;100\ -\ \sqrt{64}\ \div\ 2^2\\&amp;#13;&amp;#10;100\ -\ 8\ \div4\\&amp;#13;&amp;#10;100\ -\ 2\ =\ 98\end{array}&quot;&gt;&lt;mtable columnalign=&quot;left&quot; columnspacing=&quot;1em&quot; rowspacing=&quot;4pt&quot;&gt;&lt;mtr&gt;&lt;mtd&gt;&lt;mn&gt;100&lt;/mn&gt;&lt;mtext&gt;&lt;/mtext&gt;&lt;mo&gt;−&lt;/mo&gt;&lt;mtext&gt;&lt;/mtext&gt;&lt;msqrt&gt;&lt;mn&gt;70&lt;/mn&gt;&lt;mo&gt;−&lt;/mo&gt;&lt;mn&gt;6&lt;/mn&gt;&lt;/msqrt&gt;&lt;mo&gt;÷&lt;/mo&gt;&lt;mtext&gt;&lt;/mtext&gt;&lt;msup&gt;&lt;mn&gt;2&lt;/mn&gt;&lt;mn&gt;2&lt;/mn&gt;&lt;/msup&gt;&lt;/mtd&gt;&lt;/mtr&gt;&lt;mtr&gt;&lt;mtd&gt;&lt;mn&gt;100&lt;/mn&gt;&lt;mtext&gt;&lt;/mtext&gt;&lt;mo&gt;−&lt;/mo&gt;&lt;mtext&gt;&lt;/mtext&gt;&lt;msqrt&gt;&lt;mn&gt;64&lt;/mn&gt;&lt;/msqrt&gt;&lt;mtext&gt;&lt;/mtext&gt;&lt;mo&gt;÷&lt;/mo&gt;&lt;mtext&gt;&lt;/mtext&gt;&lt;msup&gt;&lt;mn&gt;2&lt;/mn&gt;&lt;mn&gt;2&lt;/mn&gt;&lt;/msup&gt;&lt;/mtd&gt;&lt;/mtr&gt;&lt;mtr&gt;&lt;mtd&gt;&lt;mn&gt;100&lt;/mn&gt;&lt;mtext&gt;&lt;/mtext&gt;&lt;mo&gt;−&lt;/mo&gt;&lt;mtext&gt;&lt;/mtext&gt;&lt;mn&gt;8&lt;/mn&gt;&lt;mtext&gt;&lt;/mtext&gt;&lt;mo&gt;÷&lt;/mo&gt;&lt;mn&gt;4&lt;/mn&gt;&lt;/mtd&gt;&lt;/mtr&gt;&lt;mtr&gt;&lt;mtd&gt;&lt;mn&gt;100&lt;/mn&gt;&lt;mtext&gt;&lt;/mtext&gt;&lt;mo&gt;−&lt;/mo&gt;&lt;mtext&gt;&lt;/mtext&gt;&lt;mn&gt;2&lt;/mn&gt;&lt;mtext&gt;&lt;/mtext&gt;&lt;mo&gt;=&lt;/mo&gt;&lt;mtext&gt;&lt;/mtext&gt;&lt;mn&gt;98&lt;/mn&gt;&lt;/mtd&gt;&lt;/mtr&gt;&lt;/mtable&gt;&lt;/math&gt;" id="1364" name="Google Shape;1364;p102" title="4 lines Line 1: 100 minus the square root of 70 minus 6 division sign 2 squared Line 2: 100 minus the square root of 64 division sign 2 squared Line 3: 100 minus 8 division sign 4 Line 4: 100 minus 2 equals 98"/>
          <p:cNvPicPr preferRelativeResize="0"/>
          <p:nvPr/>
        </p:nvPicPr>
        <p:blipFill rotWithShape="1">
          <a:blip r:embed="rId4">
            <a:alphaModFix/>
          </a:blip>
          <a:srcRect b="46286" l="0" r="0" t="29063"/>
          <a:stretch/>
        </p:blipFill>
        <p:spPr>
          <a:xfrm>
            <a:off x="5085175" y="2422887"/>
            <a:ext cx="3511876" cy="55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-\ \sqrt{70-6}\div\ 2^2\\&amp;#13;&amp;#10;100\ -\ \sqrt{64}\ \div\ 2^2\\&amp;#13;&amp;#10;100\ -\ 8\ \div4\\&amp;#13;&amp;#10;100\ -\ 2\ =\ 98\end{array}&quot;&gt;&lt;mtable columnalign=&quot;left&quot; columnspacing=&quot;1em&quot; rowspacing=&quot;4pt&quot;&gt;&lt;mtr&gt;&lt;mtd&gt;&lt;mn&gt;100&lt;/mn&gt;&lt;mtext&gt;&lt;/mtext&gt;&lt;mo&gt;−&lt;/mo&gt;&lt;mtext&gt;&lt;/mtext&gt;&lt;msqrt&gt;&lt;mn&gt;70&lt;/mn&gt;&lt;mo&gt;−&lt;/mo&gt;&lt;mn&gt;6&lt;/mn&gt;&lt;/msqrt&gt;&lt;mo&gt;÷&lt;/mo&gt;&lt;mtext&gt;&lt;/mtext&gt;&lt;msup&gt;&lt;mn&gt;2&lt;/mn&gt;&lt;mn&gt;2&lt;/mn&gt;&lt;/msup&gt;&lt;/mtd&gt;&lt;/mtr&gt;&lt;mtr&gt;&lt;mtd&gt;&lt;mn&gt;100&lt;/mn&gt;&lt;mtext&gt;&lt;/mtext&gt;&lt;mo&gt;−&lt;/mo&gt;&lt;mtext&gt;&lt;/mtext&gt;&lt;msqrt&gt;&lt;mn&gt;64&lt;/mn&gt;&lt;/msqrt&gt;&lt;mtext&gt;&lt;/mtext&gt;&lt;mo&gt;÷&lt;/mo&gt;&lt;mtext&gt;&lt;/mtext&gt;&lt;msup&gt;&lt;mn&gt;2&lt;/mn&gt;&lt;mn&gt;2&lt;/mn&gt;&lt;/msup&gt;&lt;/mtd&gt;&lt;/mtr&gt;&lt;mtr&gt;&lt;mtd&gt;&lt;mn&gt;100&lt;/mn&gt;&lt;mtext&gt;&lt;/mtext&gt;&lt;mo&gt;−&lt;/mo&gt;&lt;mtext&gt;&lt;/mtext&gt;&lt;mn&gt;8&lt;/mn&gt;&lt;mtext&gt;&lt;/mtext&gt;&lt;mo&gt;÷&lt;/mo&gt;&lt;mn&gt;4&lt;/mn&gt;&lt;/mtd&gt;&lt;/mtr&gt;&lt;mtr&gt;&lt;mtd&gt;&lt;mn&gt;100&lt;/mn&gt;&lt;mtext&gt;&lt;/mtext&gt;&lt;mo&gt;−&lt;/mo&gt;&lt;mtext&gt;&lt;/mtext&gt;&lt;mn&gt;2&lt;/mn&gt;&lt;mtext&gt;&lt;/mtext&gt;&lt;mo&gt;=&lt;/mo&gt;&lt;mtext&gt;&lt;/mtext&gt;&lt;mn&gt;98&lt;/mn&gt;&lt;/mtd&gt;&lt;/mtr&gt;&lt;/mtable&gt;&lt;/math&gt;" id="1365" name="Google Shape;1365;p102" title="4 lines Line 1: 100 minus the square root of 70 minus 6 division sign 2 squared Line 2: 100 minus the square root of 64 division sign 2 squared Line 3: 100 minus 8 division sign 4 Line 4: 100 minus 2 equals 98"/>
          <p:cNvPicPr preferRelativeResize="0"/>
          <p:nvPr/>
        </p:nvPicPr>
        <p:blipFill rotWithShape="1">
          <a:blip r:embed="rId4">
            <a:alphaModFix/>
          </a:blip>
          <a:srcRect b="21162" l="0" r="0" t="54186"/>
          <a:stretch/>
        </p:blipFill>
        <p:spPr>
          <a:xfrm>
            <a:off x="5085175" y="3035962"/>
            <a:ext cx="3511876" cy="55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-\ \sqrt{70-6}\div\ 2^2\\&amp;#13;&amp;#10;100\ -\ \sqrt{64}\ \div\ 2^2\\&amp;#13;&amp;#10;100\ -\ 8\ \div4\\&amp;#13;&amp;#10;100\ -\ 2\ =\ 98\end{array}&quot;&gt;&lt;mtable columnalign=&quot;left&quot; columnspacing=&quot;1em&quot; rowspacing=&quot;4pt&quot;&gt;&lt;mtr&gt;&lt;mtd&gt;&lt;mn&gt;100&lt;/mn&gt;&lt;mtext&gt;&lt;/mtext&gt;&lt;mo&gt;−&lt;/mo&gt;&lt;mtext&gt;&lt;/mtext&gt;&lt;msqrt&gt;&lt;mn&gt;70&lt;/mn&gt;&lt;mo&gt;−&lt;/mo&gt;&lt;mn&gt;6&lt;/mn&gt;&lt;/msqrt&gt;&lt;mo&gt;÷&lt;/mo&gt;&lt;mtext&gt;&lt;/mtext&gt;&lt;msup&gt;&lt;mn&gt;2&lt;/mn&gt;&lt;mn&gt;2&lt;/mn&gt;&lt;/msup&gt;&lt;/mtd&gt;&lt;/mtr&gt;&lt;mtr&gt;&lt;mtd&gt;&lt;mn&gt;100&lt;/mn&gt;&lt;mtext&gt;&lt;/mtext&gt;&lt;mo&gt;−&lt;/mo&gt;&lt;mtext&gt;&lt;/mtext&gt;&lt;msqrt&gt;&lt;mn&gt;64&lt;/mn&gt;&lt;/msqrt&gt;&lt;mtext&gt;&lt;/mtext&gt;&lt;mo&gt;÷&lt;/mo&gt;&lt;mtext&gt;&lt;/mtext&gt;&lt;msup&gt;&lt;mn&gt;2&lt;/mn&gt;&lt;mn&gt;2&lt;/mn&gt;&lt;/msup&gt;&lt;/mtd&gt;&lt;/mtr&gt;&lt;mtr&gt;&lt;mtd&gt;&lt;mn&gt;100&lt;/mn&gt;&lt;mtext&gt;&lt;/mtext&gt;&lt;mo&gt;−&lt;/mo&gt;&lt;mtext&gt;&lt;/mtext&gt;&lt;mn&gt;8&lt;/mn&gt;&lt;mtext&gt;&lt;/mtext&gt;&lt;mo&gt;÷&lt;/mo&gt;&lt;mn&gt;4&lt;/mn&gt;&lt;/mtd&gt;&lt;/mtr&gt;&lt;mtr&gt;&lt;mtd&gt;&lt;mn&gt;100&lt;/mn&gt;&lt;mtext&gt;&lt;/mtext&gt;&lt;mo&gt;−&lt;/mo&gt;&lt;mtext&gt;&lt;/mtext&gt;&lt;mn&gt;2&lt;/mn&gt;&lt;mtext&gt;&lt;/mtext&gt;&lt;mo&gt;=&lt;/mo&gt;&lt;mtext&gt;&lt;/mtext&gt;&lt;mn&gt;98&lt;/mn&gt;&lt;/mtd&gt;&lt;/mtr&gt;&lt;/mtable&gt;&lt;/math&gt;" id="1366" name="Google Shape;1366;p102" title="4 lines Line 1: 100 minus the square root of 70 minus 6 division sign 2 squared Line 2: 100 minus the square root of 64 division sign 2 squared Line 3: 100 minus 8 division sign 4 Line 4: 100 minus 2 equals 98"/>
          <p:cNvPicPr preferRelativeResize="0"/>
          <p:nvPr/>
        </p:nvPicPr>
        <p:blipFill rotWithShape="1">
          <a:blip r:embed="rId4">
            <a:alphaModFix/>
          </a:blip>
          <a:srcRect b="-6423" l="-3660" r="3659" t="81773"/>
          <a:stretch/>
        </p:blipFill>
        <p:spPr>
          <a:xfrm>
            <a:off x="4972275" y="3649037"/>
            <a:ext cx="3511876" cy="5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03"/>
          <p:cNvSpPr txBox="1"/>
          <p:nvPr>
            <p:ph idx="4294967295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lang="en-GB"/>
              <a:t>Fill in the gaps with +, −, ÷, × and brackets so that the calculations are correct. You can use more than one pair of brackets.</a:t>
            </a:r>
            <a:endParaRPr/>
          </a:p>
        </p:txBody>
      </p:sp>
      <p:sp>
        <p:nvSpPr>
          <p:cNvPr id="1372" name="Google Shape;1372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103"/>
          <p:cNvSpPr txBox="1"/>
          <p:nvPr/>
        </p:nvSpPr>
        <p:spPr>
          <a:xfrm>
            <a:off x="324000" y="2031300"/>
            <a:ext cx="68553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 4      5      6     7  = 117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 4      5      6     7  = 308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 4      5      6     7  = 69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  4      5      6     7  = 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74" name="Google Shape;1374;p103"/>
          <p:cNvPicPr preferRelativeResize="0"/>
          <p:nvPr/>
        </p:nvPicPr>
        <p:blipFill rotWithShape="1">
          <a:blip r:embed="rId3">
            <a:alphaModFix/>
          </a:blip>
          <a:srcRect b="77187" l="0" r="0" t="0"/>
          <a:stretch/>
        </p:blipFill>
        <p:spPr>
          <a:xfrm>
            <a:off x="368850" y="2126625"/>
            <a:ext cx="4398775" cy="44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103"/>
          <p:cNvPicPr preferRelativeResize="0"/>
          <p:nvPr/>
        </p:nvPicPr>
        <p:blipFill rotWithShape="1">
          <a:blip r:embed="rId3">
            <a:alphaModFix/>
          </a:blip>
          <a:srcRect b="51163" l="0" r="0" t="22814"/>
          <a:stretch/>
        </p:blipFill>
        <p:spPr>
          <a:xfrm>
            <a:off x="368850" y="2571750"/>
            <a:ext cx="4398775" cy="50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6" name="Google Shape;1376;p103"/>
          <p:cNvPicPr preferRelativeResize="0"/>
          <p:nvPr/>
        </p:nvPicPr>
        <p:blipFill rotWithShape="1">
          <a:blip r:embed="rId3">
            <a:alphaModFix/>
          </a:blip>
          <a:srcRect b="26554" l="0" r="0" t="47422"/>
          <a:stretch/>
        </p:blipFill>
        <p:spPr>
          <a:xfrm>
            <a:off x="368850" y="3051875"/>
            <a:ext cx="4398775" cy="50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7" name="Google Shape;1377;p103"/>
          <p:cNvPicPr preferRelativeResize="0"/>
          <p:nvPr/>
        </p:nvPicPr>
        <p:blipFill rotWithShape="1">
          <a:blip r:embed="rId3">
            <a:alphaModFix/>
          </a:blip>
          <a:srcRect b="0" l="0" r="16770" t="73977"/>
          <a:stretch/>
        </p:blipFill>
        <p:spPr>
          <a:xfrm>
            <a:off x="368850" y="3569975"/>
            <a:ext cx="3661175" cy="50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04"/>
          <p:cNvSpPr/>
          <p:nvPr/>
        </p:nvSpPr>
        <p:spPr>
          <a:xfrm>
            <a:off x="5774400" y="1896450"/>
            <a:ext cx="2722500" cy="2687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04"/>
          <p:cNvSpPr/>
          <p:nvPr/>
        </p:nvSpPr>
        <p:spPr>
          <a:xfrm>
            <a:off x="2852400" y="1902000"/>
            <a:ext cx="2870100" cy="2687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104"/>
          <p:cNvSpPr txBox="1"/>
          <p:nvPr/>
        </p:nvSpPr>
        <p:spPr>
          <a:xfrm>
            <a:off x="2956050" y="2215400"/>
            <a:ext cx="3231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÷ 4 + 4 − 4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– ( 4 + 4) ÷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(4 + 4 + 4)÷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(4 − 4) × 4 + 4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(4 × 4 + 4) ÷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6" name="Google Shape;1386;p104"/>
          <p:cNvSpPr txBox="1"/>
          <p:nvPr/>
        </p:nvSpPr>
        <p:spPr>
          <a:xfrm>
            <a:off x="5853700" y="2160000"/>
            <a:ext cx="27723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(4 + 4) ÷ 4 + 4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+ 4 − 4 ÷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÷ 4 × 4 + 4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÷ 4 + 4 + 4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(44 − 4) ÷ 4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(4 + 4 + 4)−√4.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104"/>
          <p:cNvSpPr txBox="1"/>
          <p:nvPr>
            <p:ph idx="1" type="body"/>
          </p:nvPr>
        </p:nvSpPr>
        <p:spPr>
          <a:xfrm>
            <a:off x="456400" y="2215400"/>
            <a:ext cx="2281200" cy="22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These are some examples of how to get each number. There are many more out there!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8" name="Google Shape;1388;p104"/>
          <p:cNvSpPr txBox="1"/>
          <p:nvPr/>
        </p:nvSpPr>
        <p:spPr>
          <a:xfrm>
            <a:off x="2951550" y="2219700"/>
            <a:ext cx="678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=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=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=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=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9" name="Google Shape;1389;p104"/>
          <p:cNvSpPr txBox="1"/>
          <p:nvPr/>
        </p:nvSpPr>
        <p:spPr>
          <a:xfrm>
            <a:off x="5861145" y="2153750"/>
            <a:ext cx="11196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 =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 =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=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 =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=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104"/>
          <p:cNvSpPr txBox="1"/>
          <p:nvPr/>
        </p:nvSpPr>
        <p:spPr>
          <a:xfrm>
            <a:off x="324000" y="732475"/>
            <a:ext cx="8696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exactly four 4s, together with any of the operations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×, ÷, +,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√,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−, exponents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(can be any value) and/or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brackets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write calculations giving answers of:  1, then 2, then 3… up to 20. As an example, 8 has been done for you.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105"/>
          <p:cNvSpPr/>
          <p:nvPr/>
        </p:nvSpPr>
        <p:spPr>
          <a:xfrm>
            <a:off x="5622000" y="1896450"/>
            <a:ext cx="2870100" cy="2687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105"/>
          <p:cNvSpPr/>
          <p:nvPr/>
        </p:nvSpPr>
        <p:spPr>
          <a:xfrm>
            <a:off x="2700000" y="1902000"/>
            <a:ext cx="2870100" cy="2687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Brackets, roots and exponents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105"/>
          <p:cNvSpPr txBox="1"/>
          <p:nvPr/>
        </p:nvSpPr>
        <p:spPr>
          <a:xfrm>
            <a:off x="324000" y="732475"/>
            <a:ext cx="8696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exactly four 4s, together with any of the operations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×, ÷, +,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√,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−, exponents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(can be any value) and/or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brackets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write calculations giving answers of:  1, then 2, then 3… up to 20. As an example, 8 has been done for you.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05"/>
          <p:cNvSpPr txBox="1"/>
          <p:nvPr/>
        </p:nvSpPr>
        <p:spPr>
          <a:xfrm>
            <a:off x="3391650" y="2215400"/>
            <a:ext cx="28701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÷ .4)+(4÷4)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×(4 − 4 ÷ 4)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(44 ÷ 4) +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√4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4 − 4 ÷ √4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4 − 4 ÷ 4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0" name="Google Shape;1400;p105"/>
          <p:cNvSpPr txBox="1"/>
          <p:nvPr/>
        </p:nvSpPr>
        <p:spPr>
          <a:xfrm>
            <a:off x="6273900" y="2174425"/>
            <a:ext cx="2870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4 + 4 −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4 + 4 ÷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4 + 4 − √4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+ 4 − 4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×(4 ÷ 4 + 4)</a:t>
            </a:r>
            <a:endParaRPr sz="2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1" name="Google Shape;1401;p105"/>
          <p:cNvSpPr txBox="1"/>
          <p:nvPr>
            <p:ph idx="1" type="body"/>
          </p:nvPr>
        </p:nvSpPr>
        <p:spPr>
          <a:xfrm>
            <a:off x="456400" y="2215400"/>
            <a:ext cx="2281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These are some examples of how to get each number. There are many more out there!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2" name="Google Shape;1402;p105"/>
          <p:cNvSpPr txBox="1"/>
          <p:nvPr/>
        </p:nvSpPr>
        <p:spPr>
          <a:xfrm>
            <a:off x="2806058" y="2215400"/>
            <a:ext cx="11271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 =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=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 =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=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=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3" name="Google Shape;1403;p105"/>
          <p:cNvSpPr txBox="1"/>
          <p:nvPr/>
        </p:nvSpPr>
        <p:spPr>
          <a:xfrm>
            <a:off x="5691067" y="2174432"/>
            <a:ext cx="1127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=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 =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 =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 =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=</a:t>
            </a:r>
            <a:endParaRPr sz="2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06"/>
          <p:cNvSpPr txBox="1"/>
          <p:nvPr>
            <p:ph idx="1" type="body"/>
          </p:nvPr>
        </p:nvSpPr>
        <p:spPr>
          <a:xfrm>
            <a:off x="324000" y="1125950"/>
            <a:ext cx="5680800" cy="11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The priority of operations is important as it ensures that everyone can understand and approach a mathematical problem the same way. </a:t>
            </a:r>
            <a:endParaRPr/>
          </a:p>
        </p:txBody>
      </p:sp>
      <p:sp>
        <p:nvSpPr>
          <p:cNvPr id="1409" name="Google Shape;1409;p10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positive integers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0" name="Google Shape;1410;p106"/>
          <p:cNvGrpSpPr/>
          <p:nvPr/>
        </p:nvGrpSpPr>
        <p:grpSpPr>
          <a:xfrm>
            <a:off x="4679622" y="1202203"/>
            <a:ext cx="3916346" cy="2889196"/>
            <a:chOff x="2529025" y="1931250"/>
            <a:chExt cx="3584100" cy="2617500"/>
          </a:xfrm>
        </p:grpSpPr>
        <p:sp>
          <p:nvSpPr>
            <p:cNvPr id="1411" name="Google Shape;1411;p106"/>
            <p:cNvSpPr/>
            <p:nvPr/>
          </p:nvSpPr>
          <p:spPr>
            <a:xfrm>
              <a:off x="2529025" y="1931250"/>
              <a:ext cx="3584100" cy="26175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12" name="Google Shape;1412;p106"/>
            <p:cNvCxnSpPr/>
            <p:nvPr/>
          </p:nvCxnSpPr>
          <p:spPr>
            <a:xfrm>
              <a:off x="3766742" y="2706800"/>
              <a:ext cx="1095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3" name="Google Shape;1413;p106"/>
            <p:cNvCxnSpPr/>
            <p:nvPr/>
          </p:nvCxnSpPr>
          <p:spPr>
            <a:xfrm>
              <a:off x="3369600" y="3320300"/>
              <a:ext cx="189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4" name="Google Shape;1414;p106"/>
            <p:cNvCxnSpPr/>
            <p:nvPr/>
          </p:nvCxnSpPr>
          <p:spPr>
            <a:xfrm flipH="1" rot="10800000">
              <a:off x="2996850" y="3910986"/>
              <a:ext cx="2653800" cy="39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15" name="Google Shape;1415;p106"/>
          <p:cNvSpPr txBox="1"/>
          <p:nvPr/>
        </p:nvSpPr>
        <p:spPr>
          <a:xfrm>
            <a:off x="6306002" y="1507988"/>
            <a:ext cx="12471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 …. 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6" name="Google Shape;1416;p106"/>
          <p:cNvGrpSpPr/>
          <p:nvPr/>
        </p:nvGrpSpPr>
        <p:grpSpPr>
          <a:xfrm>
            <a:off x="6651653" y="2009800"/>
            <a:ext cx="817925" cy="656513"/>
            <a:chOff x="1546176" y="2521625"/>
            <a:chExt cx="817925" cy="656513"/>
          </a:xfrm>
        </p:grpSpPr>
        <p:sp>
          <p:nvSpPr>
            <p:cNvPr id="1417" name="Google Shape;1417;p106"/>
            <p:cNvSpPr txBox="1"/>
            <p:nvPr/>
          </p:nvSpPr>
          <p:spPr>
            <a:xfrm>
              <a:off x="1873601" y="252162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8" name="Google Shape;1418;p106"/>
            <p:cNvSpPr txBox="1"/>
            <p:nvPr/>
          </p:nvSpPr>
          <p:spPr>
            <a:xfrm>
              <a:off x="1546176" y="2641138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1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3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9" name="Google Shape;1419;p106"/>
          <p:cNvGrpSpPr/>
          <p:nvPr/>
        </p:nvGrpSpPr>
        <p:grpSpPr>
          <a:xfrm>
            <a:off x="5885323" y="2047860"/>
            <a:ext cx="627511" cy="537000"/>
            <a:chOff x="3734648" y="2776985"/>
            <a:chExt cx="627511" cy="537000"/>
          </a:xfrm>
        </p:grpSpPr>
        <p:pic>
          <p:nvPicPr>
            <p:cNvPr descr="&lt;math xmlns=&quot;http://www.w3.org/1998/Math/MathML&quot; display=&quot;block&quot; data-is-equatio=&quot;1&quot; data-latex=&quot;\begin{array}{l}\sqrt[\ \ ]{\ \ \ }\\&amp;#13;&amp;#10;\end{array}&quot;&gt;&lt;mtable columnalign=&quot;left&quot; columnspacing=&quot;1em&quot; rowspacing=&quot;4pt&quot;&gt;&lt;mtr&gt;&lt;mtd&gt;&lt;mroot&gt;&lt;mrow&gt;&lt;mtext&gt;&lt;/mtext&gt;&lt;mtext&gt;&lt;/mtext&gt;&lt;mtext&gt;&lt;/mtext&gt;&lt;/mrow&gt;&lt;mrow&gt;&lt;mtext&gt;&lt;/mtext&gt;&lt;mtext&gt;&lt;/mtext&gt;&lt;/mrow&gt;&lt;/mroot&gt;&lt;/mtd&gt;&lt;/mtr&gt;&lt;/mtable&gt;&lt;/math&gt;" id="1420" name="Google Shape;1420;p106" title="1 lines Line 1: the root o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1597" y="2929810"/>
              <a:ext cx="490562" cy="38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1" name="Google Shape;1421;p106"/>
            <p:cNvSpPr txBox="1"/>
            <p:nvPr/>
          </p:nvSpPr>
          <p:spPr>
            <a:xfrm>
              <a:off x="3734648" y="277698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2" name="Google Shape;1422;p106"/>
          <p:cNvSpPr txBox="1"/>
          <p:nvPr/>
        </p:nvSpPr>
        <p:spPr>
          <a:xfrm>
            <a:off x="5842175" y="2584850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×    ÷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06"/>
          <p:cNvSpPr txBox="1"/>
          <p:nvPr/>
        </p:nvSpPr>
        <p:spPr>
          <a:xfrm>
            <a:off x="5788425" y="3241250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+    −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06"/>
          <p:cNvSpPr txBox="1"/>
          <p:nvPr>
            <p:ph idx="1" type="body"/>
          </p:nvPr>
        </p:nvSpPr>
        <p:spPr>
          <a:xfrm>
            <a:off x="346050" y="2952901"/>
            <a:ext cx="4650900" cy="11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This diagram illustrates the first priority, the top, to the least priority, the bottom.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30" name="Google Shape;1430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