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40C5B7C-EA29-45C5-B0C4-A7E7A15A4D24}">
  <a:tblStyle styleId="{E40C5B7C-EA29-45C5-B0C4-A7E7A15A4D2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7" Type="http://schemas.openxmlformats.org/officeDocument/2006/relationships/slide" Target="slides/slide4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92a482452f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92a482452f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292a482452f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292a482452f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292a482452f_1_8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3" name="Google Shape;783;g292a482452f_1_8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292a482452f_1_8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292a482452f_1_8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292a482452f_1_9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8" name="Google Shape;808;g292a482452f_1_9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292a482452f_1_8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" name="Google Shape;822;g292a482452f_1_8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292a482452f_1_8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292a482452f_1_8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292a482452f_1_9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0" name="Google Shape;840;g292a482452f_1_9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292a482452f_1_8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0" name="Google Shape;860;g292a482452f_1_8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292a482452f_1_9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3" name="Google Shape;873;g292a482452f_1_9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g292a482452f_1_1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1" name="Google Shape;891;g292a482452f_1_1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292a482452f_1_14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8" name="Google Shape;898;g292a482452f_1_1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292a482452f_1_1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292a482452f_1_1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292a482452f_1_8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0" name="Google Shape;930;g292a482452f_1_8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292a482452f_1_10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292a482452f_1_10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292a482452f_1_10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7" name="Google Shape;947;g292a482452f_1_10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g292a482452f_1_10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0" name="Google Shape;980;g292a482452f_1_10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292a482452f_1_1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4" name="Google Shape;994;g292a482452f_1_1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g292a482452f_1_1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4" name="Google Shape;1004;g292a482452f_1_1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g292a482452f_1_1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2" name="Google Shape;1012;g292a482452f_1_1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g292a482452f_1_1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0" name="Google Shape;1020;g292a482452f_1_1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g292a482452f_1_1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2" name="Google Shape;1042;g292a482452f_1_1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292a482452f_1_1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4" name="Google Shape;1064;g292a482452f_1_1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g292a482452f_1_1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8" name="Google Shape;1078;g292a482452f_1_1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g292a482452f_1_1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0" name="Google Shape;1090;g292a482452f_1_1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292a482452f_1_1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1" name="Google Shape;1101;g292a482452f_1_1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g292a482452f_1_1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9" name="Google Shape;1109;g292a482452f_1_1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g292a482452f_1_1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5" name="Google Shape;1115;g292a482452f_1_1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g292a482452f_1_1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6" name="Google Shape;1126;g292a482452f_1_1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g292a482452f_1_1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3" name="Google Shape;1143;g292a482452f_1_1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g292a482452f_1_1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4" name="Google Shape;1164;g292a482452f_1_1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g292a482452f_1_1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2" name="Google Shape;1192;g292a482452f_1_1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g292a482452f_1_1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1" name="Google Shape;1211;g292a482452f_1_1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g292a482452f_1_1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4" name="Google Shape;1224;g292a482452f_1_1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g292a482452f_1_15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6" name="Google Shape;1236;g292a482452f_1_15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g292a482452f_1_1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2" name="Google Shape;1262;g292a482452f_1_1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g292a482452f_1_15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4" name="Google Shape;1274;g292a482452f_1_15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9" name="Google Shape;1289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8" name="Google Shape;1298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16.png"/><Relationship Id="rId5" Type="http://schemas.openxmlformats.org/officeDocument/2006/relationships/image" Target="../media/image2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3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14.png"/><Relationship Id="rId7" Type="http://schemas.openxmlformats.org/officeDocument/2006/relationships/image" Target="../media/image17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64.png"/><Relationship Id="rId5" Type="http://schemas.openxmlformats.org/officeDocument/2006/relationships/image" Target="../media/image29.png"/><Relationship Id="rId6" Type="http://schemas.openxmlformats.org/officeDocument/2006/relationships/image" Target="../media/image27.png"/><Relationship Id="rId7" Type="http://schemas.openxmlformats.org/officeDocument/2006/relationships/image" Target="../media/image2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64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Relationship Id="rId5" Type="http://schemas.openxmlformats.org/officeDocument/2006/relationships/image" Target="../media/image22.png"/><Relationship Id="rId6" Type="http://schemas.openxmlformats.org/officeDocument/2006/relationships/image" Target="../media/image33.png"/><Relationship Id="rId7" Type="http://schemas.openxmlformats.org/officeDocument/2006/relationships/image" Target="../media/image29.png"/><Relationship Id="rId8" Type="http://schemas.openxmlformats.org/officeDocument/2006/relationships/image" Target="../media/image2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64.png"/><Relationship Id="rId4" Type="http://schemas.openxmlformats.org/officeDocument/2006/relationships/image" Target="../media/image32.png"/><Relationship Id="rId11" Type="http://schemas.openxmlformats.org/officeDocument/2006/relationships/image" Target="../media/image25.png"/><Relationship Id="rId10" Type="http://schemas.openxmlformats.org/officeDocument/2006/relationships/image" Target="../media/image39.png"/><Relationship Id="rId9" Type="http://schemas.openxmlformats.org/officeDocument/2006/relationships/image" Target="../media/image27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33.png"/><Relationship Id="rId8" Type="http://schemas.openxmlformats.org/officeDocument/2006/relationships/image" Target="../media/image29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7.png"/><Relationship Id="rId4" Type="http://schemas.openxmlformats.org/officeDocument/2006/relationships/image" Target="../media/image40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Relationship Id="rId4" Type="http://schemas.openxmlformats.org/officeDocument/2006/relationships/image" Target="../media/image40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Relationship Id="rId4" Type="http://schemas.openxmlformats.org/officeDocument/2006/relationships/image" Target="../media/image40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40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4.png"/><Relationship Id="rId4" Type="http://schemas.openxmlformats.org/officeDocument/2006/relationships/image" Target="../media/image40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0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0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0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0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4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4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4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7.png"/><Relationship Id="rId4" Type="http://schemas.openxmlformats.org/officeDocument/2006/relationships/image" Target="../media/image4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8.jpg"/><Relationship Id="rId4" Type="http://schemas.openxmlformats.org/officeDocument/2006/relationships/image" Target="../media/image56.jpg"/><Relationship Id="rId5" Type="http://schemas.openxmlformats.org/officeDocument/2006/relationships/image" Target="../media/image5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1.jpg"/><Relationship Id="rId4" Type="http://schemas.openxmlformats.org/officeDocument/2006/relationships/image" Target="../media/image5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2.png"/><Relationship Id="rId4" Type="http://schemas.openxmlformats.org/officeDocument/2006/relationships/image" Target="../media/image55.png"/><Relationship Id="rId5" Type="http://schemas.openxmlformats.org/officeDocument/2006/relationships/image" Target="../media/image5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4.png"/><Relationship Id="rId4" Type="http://schemas.openxmlformats.org/officeDocument/2006/relationships/image" Target="../media/image5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9.png"/><Relationship Id="rId4" Type="http://schemas.openxmlformats.org/officeDocument/2006/relationships/image" Target="../media/image58.png"/><Relationship Id="rId5" Type="http://schemas.openxmlformats.org/officeDocument/2006/relationships/image" Target="../media/image6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2.png"/><Relationship Id="rId4" Type="http://schemas.openxmlformats.org/officeDocument/2006/relationships/image" Target="../media/image6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3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2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3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7.png"/><Relationship Id="rId4" Type="http://schemas.openxmlformats.org/officeDocument/2006/relationships/image" Target="../media/image4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9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9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9.jpg"/><Relationship Id="rId4" Type="http://schemas.openxmlformats.org/officeDocument/2006/relationships/image" Target="../media/image6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9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0.png"/><Relationship Id="rId4" Type="http://schemas.openxmlformats.org/officeDocument/2006/relationships/image" Target="../media/image72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70.png"/><Relationship Id="rId4" Type="http://schemas.openxmlformats.org/officeDocument/2006/relationships/image" Target="../media/image72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7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7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integers and decimals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Arithmetic procedures with integers and decimals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use my knowledge of calculating with integers and decimals to solve problems.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2" type="subTitle"/>
          </p:nvPr>
        </p:nvSpPr>
        <p:spPr>
          <a:xfrm>
            <a:off x="324000" y="2579175"/>
            <a:ext cx="51165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Centi placed before a unit means         .   </a:t>
            </a:r>
            <a:endParaRPr sz="1800"/>
          </a:p>
        </p:txBody>
      </p:sp>
      <p:sp>
        <p:nvSpPr>
          <p:cNvPr id="767" name="Google Shape;767;p67"/>
          <p:cNvSpPr txBox="1"/>
          <p:nvPr>
            <p:ph idx="3" type="subTitle"/>
          </p:nvPr>
        </p:nvSpPr>
        <p:spPr>
          <a:xfrm>
            <a:off x="358325" y="3432750"/>
            <a:ext cx="49791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Milli placed before a unit means            . </a:t>
            </a:r>
            <a:endParaRPr sz="1800"/>
          </a:p>
        </p:txBody>
      </p:sp>
      <p:sp>
        <p:nvSpPr>
          <p:cNvPr id="768" name="Google Shape;768;p67"/>
          <p:cNvSpPr txBox="1"/>
          <p:nvPr>
            <p:ph idx="4" type="subTitle"/>
          </p:nvPr>
        </p:nvSpPr>
        <p:spPr>
          <a:xfrm>
            <a:off x="324000" y="4282800"/>
            <a:ext cx="5331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Kilo placed before a unit means 1000 times.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1}{100}&quot;&gt;&lt;mfrac&gt;&lt;mn&gt;1&lt;/mn&gt;&lt;mn&gt;100&lt;/mn&gt;&lt;/mfrac&gt;&lt;/math&gt;" id="769" name="Google Shape;769;p67" title="1 over 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4100" y="2418500"/>
            <a:ext cx="382215" cy="48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00}&quot;&gt;&lt;mfrac&gt;&lt;mn&gt;1&lt;/mn&gt;&lt;mn&gt;1000&lt;/mn&gt;&lt;/mfrac&gt;&lt;/math&gt;" id="770" name="Google Shape;770;p67" title="1 over 1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4900" y="3347027"/>
            <a:ext cx="499806" cy="48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p67"/>
          <p:cNvSpPr txBox="1"/>
          <p:nvPr/>
        </p:nvSpPr>
        <p:spPr>
          <a:xfrm>
            <a:off x="323994" y="841240"/>
            <a:ext cx="7215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An integer is any positive or negative whole number or zero. 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2" name="Google Shape;772;p67"/>
          <p:cNvSpPr txBox="1"/>
          <p:nvPr/>
        </p:nvSpPr>
        <p:spPr>
          <a:xfrm>
            <a:off x="324000" y="1557813"/>
            <a:ext cx="75771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The</a:t>
            </a:r>
            <a:r>
              <a:rPr b="1"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additive inverse</a:t>
            </a:r>
            <a:r>
              <a:rPr b="1"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of a number is a number that, when added to the original number, gives the sum of 0.</a:t>
            </a:r>
            <a:endParaRPr b="1"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Integers, negatives and decimals in the real world</a:t>
            </a:r>
            <a:endParaRPr/>
          </a:p>
        </p:txBody>
      </p:sp>
      <p:sp>
        <p:nvSpPr>
          <p:cNvPr id="778" name="Google Shape;778;p6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Measurements and accuracy</a:t>
            </a:r>
            <a:endParaRPr/>
          </a:p>
        </p:txBody>
      </p:sp>
      <p:sp>
        <p:nvSpPr>
          <p:cNvPr id="779" name="Google Shape;779;p6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integers and decimals</a:t>
            </a:r>
            <a:endParaRPr/>
          </a:p>
        </p:txBody>
      </p:sp>
      <p:pic>
        <p:nvPicPr>
          <p:cNvPr id="780" name="Google Shape;780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245" y="2060672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69"/>
          <p:cNvSpPr txBox="1"/>
          <p:nvPr>
            <p:ph idx="1" type="body"/>
          </p:nvPr>
        </p:nvSpPr>
        <p:spPr>
          <a:xfrm>
            <a:off x="324000" y="621400"/>
            <a:ext cx="8237700" cy="4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Decimals and integers are used so much in the real world.</a:t>
            </a:r>
            <a:endParaRPr sz="2000"/>
          </a:p>
        </p:txBody>
      </p:sp>
      <p:sp>
        <p:nvSpPr>
          <p:cNvPr id="786" name="Google Shape;786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Integers, negatives and decimals in the real world</a:t>
            </a:r>
            <a:endParaRPr/>
          </a:p>
        </p:txBody>
      </p:sp>
      <p:sp>
        <p:nvSpPr>
          <p:cNvPr id="787" name="Google Shape;787;p69"/>
          <p:cNvSpPr txBox="1"/>
          <p:nvPr>
            <p:ph idx="1" type="body"/>
          </p:nvPr>
        </p:nvSpPr>
        <p:spPr>
          <a:xfrm>
            <a:off x="324000" y="1028800"/>
            <a:ext cx="8237700" cy="4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Can you think of some examples of some real life decimal numbers you have possibly seen today?</a:t>
            </a:r>
            <a:endParaRPr sz="2000"/>
          </a:p>
        </p:txBody>
      </p:sp>
      <p:sp>
        <p:nvSpPr>
          <p:cNvPr id="788" name="Google Shape;788;p69"/>
          <p:cNvSpPr txBox="1"/>
          <p:nvPr>
            <p:ph idx="1" type="body"/>
          </p:nvPr>
        </p:nvSpPr>
        <p:spPr>
          <a:xfrm>
            <a:off x="324000" y="1762892"/>
            <a:ext cx="8428500" cy="3063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There are so many real life examples! Here are just a few.</a:t>
            </a:r>
            <a:endParaRPr sz="2000"/>
          </a:p>
        </p:txBody>
      </p:sp>
      <p:grpSp>
        <p:nvGrpSpPr>
          <p:cNvPr id="789" name="Google Shape;789;p69"/>
          <p:cNvGrpSpPr/>
          <p:nvPr/>
        </p:nvGrpSpPr>
        <p:grpSpPr>
          <a:xfrm>
            <a:off x="1144318" y="2778133"/>
            <a:ext cx="2675050" cy="1630050"/>
            <a:chOff x="2384450" y="2595163"/>
            <a:chExt cx="2675050" cy="1630050"/>
          </a:xfrm>
        </p:grpSpPr>
        <p:pic>
          <p:nvPicPr>
            <p:cNvPr id="790" name="Google Shape;790;p6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384450" y="2595163"/>
              <a:ext cx="1829950" cy="12209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1" name="Google Shape;791;p69"/>
            <p:cNvSpPr txBox="1"/>
            <p:nvPr/>
          </p:nvSpPr>
          <p:spPr>
            <a:xfrm>
              <a:off x="2430000" y="3869713"/>
              <a:ext cx="2629500" cy="35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Price of petrol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92" name="Google Shape;792;p69"/>
          <p:cNvGrpSpPr/>
          <p:nvPr/>
        </p:nvGrpSpPr>
        <p:grpSpPr>
          <a:xfrm>
            <a:off x="3133568" y="2738020"/>
            <a:ext cx="2629500" cy="1713025"/>
            <a:chOff x="4373700" y="2555050"/>
            <a:chExt cx="2629500" cy="1713025"/>
          </a:xfrm>
        </p:grpSpPr>
        <p:pic>
          <p:nvPicPr>
            <p:cNvPr id="793" name="Google Shape;793;p6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665175" y="2555050"/>
              <a:ext cx="1734867" cy="13011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4" name="Google Shape;794;p69"/>
            <p:cNvSpPr txBox="1"/>
            <p:nvPr/>
          </p:nvSpPr>
          <p:spPr>
            <a:xfrm>
              <a:off x="4373700" y="3912575"/>
              <a:ext cx="2629500" cy="35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Weighing ingredients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95" name="Google Shape;795;p69"/>
          <p:cNvGrpSpPr/>
          <p:nvPr/>
        </p:nvGrpSpPr>
        <p:grpSpPr>
          <a:xfrm>
            <a:off x="5839318" y="2197868"/>
            <a:ext cx="2629500" cy="2228902"/>
            <a:chOff x="7079450" y="2014898"/>
            <a:chExt cx="2629500" cy="2228902"/>
          </a:xfrm>
        </p:grpSpPr>
        <p:pic>
          <p:nvPicPr>
            <p:cNvPr id="796" name="Google Shape;796;p69"/>
            <p:cNvPicPr preferRelativeResize="0"/>
            <p:nvPr/>
          </p:nvPicPr>
          <p:blipFill rotWithShape="1">
            <a:blip r:embed="rId5">
              <a:alphaModFix/>
            </a:blip>
            <a:srcRect b="0" l="41091" r="24880" t="0"/>
            <a:stretch/>
          </p:blipFill>
          <p:spPr>
            <a:xfrm>
              <a:off x="7241350" y="2014898"/>
              <a:ext cx="967850" cy="18976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7" name="Google Shape;797;p69"/>
            <p:cNvSpPr txBox="1"/>
            <p:nvPr/>
          </p:nvSpPr>
          <p:spPr>
            <a:xfrm>
              <a:off x="7079450" y="3888300"/>
              <a:ext cx="2629500" cy="35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Temperature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Integers, negatives and decimals in the real world</a:t>
            </a:r>
            <a:endParaRPr/>
          </a:p>
        </p:txBody>
      </p:sp>
      <p:sp>
        <p:nvSpPr>
          <p:cNvPr id="803" name="Google Shape;803;p70"/>
          <p:cNvSpPr txBox="1"/>
          <p:nvPr>
            <p:ph idx="1" type="body"/>
          </p:nvPr>
        </p:nvSpPr>
        <p:spPr>
          <a:xfrm>
            <a:off x="324000" y="838200"/>
            <a:ext cx="7691400" cy="4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Without calculating or working out the answer, which operation (+, -, × or ÷) are we applying to this question?</a:t>
            </a:r>
            <a:endParaRPr/>
          </a:p>
        </p:txBody>
      </p:sp>
      <p:sp>
        <p:nvSpPr>
          <p:cNvPr id="804" name="Google Shape;804;p70"/>
          <p:cNvSpPr txBox="1"/>
          <p:nvPr/>
        </p:nvSpPr>
        <p:spPr>
          <a:xfrm>
            <a:off x="2812625" y="1891200"/>
            <a:ext cx="51177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Lucas goes camping with his family. On Saturday morning the temperature was -4.7℃. On Sunday morning the temperature was 8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.9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℃.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He wants to find out the difference in </a:t>
            </a: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temperature</a:t>
            </a: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 from the Saturday morning to the Sunday morning. 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05" name="Google Shape;805;p70"/>
          <p:cNvPicPr preferRelativeResize="0"/>
          <p:nvPr/>
        </p:nvPicPr>
        <p:blipFill rotWithShape="1">
          <a:blip r:embed="rId3">
            <a:alphaModFix/>
          </a:blip>
          <a:srcRect b="0" l="41091" r="24880" t="0"/>
          <a:stretch/>
        </p:blipFill>
        <p:spPr>
          <a:xfrm>
            <a:off x="914825" y="1861276"/>
            <a:ext cx="1254000" cy="245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Integers, negatives and decimals in the real world</a:t>
            </a:r>
            <a:endParaRPr/>
          </a:p>
        </p:txBody>
      </p:sp>
      <p:sp>
        <p:nvSpPr>
          <p:cNvPr id="811" name="Google Shape;811;p71"/>
          <p:cNvSpPr txBox="1"/>
          <p:nvPr>
            <p:ph idx="1" type="body"/>
          </p:nvPr>
        </p:nvSpPr>
        <p:spPr>
          <a:xfrm>
            <a:off x="324000" y="810000"/>
            <a:ext cx="7691400" cy="4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It is subtraction.</a:t>
            </a:r>
            <a:endParaRPr/>
          </a:p>
        </p:txBody>
      </p:sp>
      <p:pic>
        <p:nvPicPr>
          <p:cNvPr id="812" name="Google Shape;812;p71"/>
          <p:cNvPicPr preferRelativeResize="0"/>
          <p:nvPr/>
        </p:nvPicPr>
        <p:blipFill rotWithShape="1">
          <a:blip r:embed="rId3">
            <a:alphaModFix/>
          </a:blip>
          <a:srcRect b="0" l="41091" r="24880" t="0"/>
          <a:stretch/>
        </p:blipFill>
        <p:spPr>
          <a:xfrm>
            <a:off x="280675" y="1898051"/>
            <a:ext cx="1254000" cy="2458725"/>
          </a:xfrm>
          <a:prstGeom prst="rect">
            <a:avLst/>
          </a:prstGeom>
          <a:noFill/>
          <a:ln>
            <a:noFill/>
          </a:ln>
        </p:spPr>
      </p:pic>
      <p:sp>
        <p:nvSpPr>
          <p:cNvPr id="813" name="Google Shape;813;p71"/>
          <p:cNvSpPr txBox="1"/>
          <p:nvPr>
            <p:ph idx="1" type="body"/>
          </p:nvPr>
        </p:nvSpPr>
        <p:spPr>
          <a:xfrm>
            <a:off x="324000" y="1305350"/>
            <a:ext cx="5577600" cy="4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This means our calculation is 8.9 − (-4.7)</a:t>
            </a:r>
            <a:endParaRPr/>
          </a:p>
        </p:txBody>
      </p:sp>
      <p:sp>
        <p:nvSpPr>
          <p:cNvPr id="814" name="Google Shape;814;p71"/>
          <p:cNvSpPr txBox="1"/>
          <p:nvPr/>
        </p:nvSpPr>
        <p:spPr>
          <a:xfrm>
            <a:off x="1914175" y="2302300"/>
            <a:ext cx="71379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Show your working out to work out the difference in temperature between Saturday and Sunday morning. 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5" name="Google Shape;815;p71"/>
          <p:cNvSpPr txBox="1"/>
          <p:nvPr/>
        </p:nvSpPr>
        <p:spPr>
          <a:xfrm>
            <a:off x="1862275" y="1712763"/>
            <a:ext cx="6934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Using additive inverses we have 8.9 + (+4.7)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 \ \ \ \ \ 8.9\\&amp;#13;&amp;#10;\ +\ 4.7\\&amp;#13;&amp;#10;\ \ \ \ 13.6\end{array}&quot;&gt;&lt;mtable columnalign=&quot;left&quot; columnspacing=&quot;1em&quot; rowspacing=&quot;4pt&quot;&gt;&lt;mtr&gt;&lt;mtd&gt;&lt;mtext&gt;&lt;/mtext&gt;&lt;mtext&gt;&lt;/mtext&gt;&lt;mtext&gt;&lt;/mtext&gt;&lt;mtext&gt;&lt;/mtext&gt;&lt;mtext&gt;&lt;/mtext&gt;&lt;mtext&gt;&lt;/mtext&gt;&lt;mn&gt;8.9&lt;/mn&gt;&lt;/mtd&gt;&lt;/mtr&gt;&lt;mtr&gt;&lt;mtd&gt;&lt;mtext&gt;&lt;/mtext&gt;&lt;mo&gt;+&lt;/mo&gt;&lt;mtext&gt;&lt;/mtext&gt;&lt;mn&gt;4.7&lt;/mn&gt;&lt;/mtd&gt;&lt;/mtr&gt;&lt;mtr&gt;&lt;mtd&gt;&lt;mtext&gt;&lt;/mtext&gt;&lt;mtext&gt;&lt;/mtext&gt;&lt;mtext&gt;&lt;/mtext&gt;&lt;mtext&gt;&lt;/mtext&gt;&lt;mn&gt;13.6&lt;/mn&gt;&lt;/mtd&gt;&lt;/mtr&gt;&lt;/mtable&gt;&lt;/math&gt;" id="816" name="Google Shape;816;p71" title="3 lines Line 1: 8.9 Line 2: plus 4.7 Line 3: 13.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48825" y="3335225"/>
            <a:ext cx="801575" cy="12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817" name="Google Shape;817;p71"/>
          <p:cNvSpPr txBox="1"/>
          <p:nvPr/>
        </p:nvSpPr>
        <p:spPr>
          <a:xfrm>
            <a:off x="1711500" y="4374600"/>
            <a:ext cx="33162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The difference is 13.6℃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818" name="Google Shape;818;p71"/>
          <p:cNvCxnSpPr/>
          <p:nvPr/>
        </p:nvCxnSpPr>
        <p:spPr>
          <a:xfrm>
            <a:off x="5791788" y="4202600"/>
            <a:ext cx="930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9" name="Google Shape;819;p71"/>
          <p:cNvCxnSpPr/>
          <p:nvPr/>
        </p:nvCxnSpPr>
        <p:spPr>
          <a:xfrm>
            <a:off x="5791788" y="4633725"/>
            <a:ext cx="930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Integers, negatives and decimals in the real world</a:t>
            </a:r>
            <a:endParaRPr/>
          </a:p>
        </p:txBody>
      </p:sp>
      <p:sp>
        <p:nvSpPr>
          <p:cNvPr id="825" name="Google Shape;825;p72"/>
          <p:cNvSpPr txBox="1"/>
          <p:nvPr>
            <p:ph idx="1" type="body"/>
          </p:nvPr>
        </p:nvSpPr>
        <p:spPr>
          <a:xfrm>
            <a:off x="324000" y="838200"/>
            <a:ext cx="7691400" cy="4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Without calculating or working out the answer, which operation (+, -, × or ÷) are we applying to this question?</a:t>
            </a:r>
            <a:endParaRPr/>
          </a:p>
        </p:txBody>
      </p:sp>
      <p:pic>
        <p:nvPicPr>
          <p:cNvPr id="826" name="Google Shape;826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175" y="2036875"/>
            <a:ext cx="2659225" cy="2141050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72"/>
          <p:cNvSpPr txBox="1"/>
          <p:nvPr/>
        </p:nvSpPr>
        <p:spPr>
          <a:xfrm>
            <a:off x="3258400" y="1897350"/>
            <a:ext cx="51177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A school uses a cashless thumb print machine for students to buy food and drink in school.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Laura has £3.76 credit in her account. She spends £2.34 and then spends another £1.27.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Integers, negatives and decimals in the real world</a:t>
            </a:r>
            <a:endParaRPr/>
          </a:p>
        </p:txBody>
      </p:sp>
      <p:sp>
        <p:nvSpPr>
          <p:cNvPr id="833" name="Google Shape;833;p73"/>
          <p:cNvSpPr txBox="1"/>
          <p:nvPr>
            <p:ph idx="1" type="body"/>
          </p:nvPr>
        </p:nvSpPr>
        <p:spPr>
          <a:xfrm>
            <a:off x="324000" y="838200"/>
            <a:ext cx="7691400" cy="4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It is subtraction because she “spends”.</a:t>
            </a:r>
            <a:endParaRPr/>
          </a:p>
        </p:txBody>
      </p:sp>
      <p:pic>
        <p:nvPicPr>
          <p:cNvPr id="834" name="Google Shape;834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175" y="2036875"/>
            <a:ext cx="2659225" cy="2141050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73"/>
          <p:cNvSpPr txBox="1"/>
          <p:nvPr/>
        </p:nvSpPr>
        <p:spPr>
          <a:xfrm>
            <a:off x="3258400" y="1920600"/>
            <a:ext cx="5348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6" name="Google Shape;836;p73"/>
          <p:cNvSpPr txBox="1"/>
          <p:nvPr>
            <p:ph idx="1" type="body"/>
          </p:nvPr>
        </p:nvSpPr>
        <p:spPr>
          <a:xfrm>
            <a:off x="324000" y="1295400"/>
            <a:ext cx="7691400" cy="4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This means our calculation is 3.76 − 2.34 − 1.27  </a:t>
            </a:r>
            <a:endParaRPr/>
          </a:p>
        </p:txBody>
      </p:sp>
      <p:sp>
        <p:nvSpPr>
          <p:cNvPr id="837" name="Google Shape;837;p73"/>
          <p:cNvSpPr txBox="1"/>
          <p:nvPr/>
        </p:nvSpPr>
        <p:spPr>
          <a:xfrm>
            <a:off x="3258400" y="1897350"/>
            <a:ext cx="51177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A school uses a cashless thumb print machine for students to buy food and drink in school.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Laura has £3.76 credit in her account. She spends £2.34 and then spends another £1.27.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Integers, negatives and decimals in the real world</a:t>
            </a:r>
            <a:endParaRPr/>
          </a:p>
        </p:txBody>
      </p:sp>
      <p:sp>
        <p:nvSpPr>
          <p:cNvPr id="843" name="Google Shape;843;p7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It is subtraction because she “spends”.</a:t>
            </a:r>
            <a:endParaRPr/>
          </a:p>
        </p:txBody>
      </p:sp>
      <p:pic>
        <p:nvPicPr>
          <p:cNvPr id="844" name="Google Shape;844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175" y="2036875"/>
            <a:ext cx="2659225" cy="2141050"/>
          </a:xfrm>
          <a:prstGeom prst="rect">
            <a:avLst/>
          </a:prstGeom>
          <a:noFill/>
          <a:ln>
            <a:noFill/>
          </a:ln>
        </p:spPr>
      </p:pic>
      <p:sp>
        <p:nvSpPr>
          <p:cNvPr id="845" name="Google Shape;845;p74"/>
          <p:cNvSpPr txBox="1"/>
          <p:nvPr/>
        </p:nvSpPr>
        <p:spPr>
          <a:xfrm>
            <a:off x="3258400" y="3179875"/>
            <a:ext cx="51177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6" name="Google Shape;846;p74"/>
          <p:cNvSpPr txBox="1"/>
          <p:nvPr/>
        </p:nvSpPr>
        <p:spPr>
          <a:xfrm>
            <a:off x="3258400" y="1920600"/>
            <a:ext cx="5348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7" name="Google Shape;847;p74"/>
          <p:cNvSpPr txBox="1"/>
          <p:nvPr/>
        </p:nvSpPr>
        <p:spPr>
          <a:xfrm>
            <a:off x="217075" y="1206000"/>
            <a:ext cx="8783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Using additive inverses we have 3.76 + (-2.34) + (-1.27)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8" name="Google Shape;848;p74"/>
          <p:cNvSpPr txBox="1"/>
          <p:nvPr/>
        </p:nvSpPr>
        <p:spPr>
          <a:xfrm>
            <a:off x="3379100" y="1920600"/>
            <a:ext cx="300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Summing the negatives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49" name="Google Shape;849;p74"/>
          <p:cNvCxnSpPr/>
          <p:nvPr/>
        </p:nvCxnSpPr>
        <p:spPr>
          <a:xfrm>
            <a:off x="4235188" y="3388850"/>
            <a:ext cx="930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0" name="Google Shape;850;p74"/>
          <p:cNvCxnSpPr/>
          <p:nvPr/>
        </p:nvCxnSpPr>
        <p:spPr>
          <a:xfrm>
            <a:off x="4235188" y="3922250"/>
            <a:ext cx="930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1" name="Google Shape;851;p74"/>
          <p:cNvCxnSpPr/>
          <p:nvPr/>
        </p:nvCxnSpPr>
        <p:spPr>
          <a:xfrm>
            <a:off x="6733438" y="3388850"/>
            <a:ext cx="930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2" name="Google Shape;852;p74"/>
          <p:cNvCxnSpPr/>
          <p:nvPr/>
        </p:nvCxnSpPr>
        <p:spPr>
          <a:xfrm>
            <a:off x="6733438" y="3922250"/>
            <a:ext cx="930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isplay=&quot;block&quot; data-is-equatio=&quot;1&quot; data-latex=&quot;\begin{array}{l}\ \ \ \ 3.76\\&amp;#13;&amp;#10;-\ 3.61\\&amp;#13;&amp;#10;\ \ \ \ 0.15\end{array}&quot;&gt;&lt;mtable columnalign=&quot;left&quot; columnspacing=&quot;1em&quot; rowspacing=&quot;4pt&quot;&gt;&lt;mtr&gt;&lt;mtd&gt;&lt;mtext&gt;&lt;/mtext&gt;&lt;mtext&gt;&lt;/mtext&gt;&lt;mtext&gt;&lt;/mtext&gt;&lt;mtext&gt;&lt;/mtext&gt;&lt;mn&gt;3.76&lt;/mn&gt;&lt;/mtd&gt;&lt;/mtr&gt;&lt;mtr&gt;&lt;mtd&gt;&lt;mo&gt;−&lt;/mo&gt;&lt;mtext&gt;&lt;/mtext&gt;&lt;mn&gt;3.61&lt;/mn&gt;&lt;/mtd&gt;&lt;/mtr&gt;&lt;mtr&gt;&lt;mtd&gt;&lt;mtext&gt;&lt;/mtext&gt;&lt;mtext&gt;&lt;/mtext&gt;&lt;mtext&gt;&lt;/mtext&gt;&lt;mtext&gt;&lt;/mtext&gt;&lt;mn&gt;0.15&lt;/mn&gt;&lt;/mtd&gt;&lt;/mtr&gt;&lt;/mtable&gt;&lt;/math&gt;" id="853" name="Google Shape;853;p74" title="3 lines Line 1: 3.76 Line 2: minus 3.61 Line 3: 0.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40525" y="2486100"/>
            <a:ext cx="1022925" cy="1345650"/>
          </a:xfrm>
          <a:prstGeom prst="rect">
            <a:avLst/>
          </a:prstGeom>
          <a:noFill/>
          <a:ln>
            <a:noFill/>
          </a:ln>
        </p:spPr>
      </p:pic>
      <p:sp>
        <p:nvSpPr>
          <p:cNvPr id="854" name="Google Shape;854;p74"/>
          <p:cNvSpPr txBox="1"/>
          <p:nvPr>
            <p:ph idx="1" type="body"/>
          </p:nvPr>
        </p:nvSpPr>
        <p:spPr>
          <a:xfrm>
            <a:off x="324000" y="4413775"/>
            <a:ext cx="7691400" cy="4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Laura only has £0.15 left in her account.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55" name="Google Shape;855;p74"/>
          <p:cNvSpPr txBox="1"/>
          <p:nvPr/>
        </p:nvSpPr>
        <p:spPr>
          <a:xfrm>
            <a:off x="4814625" y="3833888"/>
            <a:ext cx="222300" cy="1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 \ \ \ \left(-2.34\right)\\&amp;#13;&amp;#10;+\ \ \left(-1.27\right)_{ }\\&amp;#13;&amp;#10;\ \ \ \ \left(-3.61\right)\end{array}&quot;&gt;&lt;mtable columnalign=&quot;left&quot; columnspacing=&quot;1em&quot; rowspacing=&quot;4pt&quot;&gt;&lt;mtr&gt;&lt;mtd&gt;&lt;mtext&gt;&lt;/mtext&gt;&lt;mtext&gt;&lt;/mtext&gt;&lt;mtext&gt;&lt;/mtext&gt;&lt;mtext&gt;&lt;/mtext&gt;&lt;mrow data-mjx-texclass=&quot;INNER&quot;&gt;&lt;mo data-mjx-texclass=&quot;OPEN&quot;&gt;(&lt;/mo&gt;&lt;mo&gt;−&lt;/mo&gt;&lt;mn&gt;2.34&lt;/mn&gt;&lt;mo data-mjx-texclass=&quot;CLOSE&quot;&gt;)&lt;/mo&gt;&lt;/mrow&gt;&lt;/mtd&gt;&lt;/mtr&gt;&lt;mtr&gt;&lt;mtd&gt;&lt;mo&gt;+&lt;/mo&gt;&lt;mtext&gt;&lt;/mtext&gt;&lt;mtext&gt;&lt;/mtext&gt;&lt;msub&gt;&lt;mrow data-mjx-texclass=&quot;INNER&quot;&gt;&lt;mo data-mjx-texclass=&quot;OPEN&quot;&gt;(&lt;/mo&gt;&lt;mo&gt;−&lt;/mo&gt;&lt;mn&gt;1.27&lt;/mn&gt;&lt;mo data-mjx-texclass=&quot;CLOSE&quot;&gt;)&lt;/mo&gt;&lt;/mrow&gt;&lt;mrow data-mjx-texclass=&quot;ORD&quot;/&gt;&lt;/msub&gt;&lt;/mtd&gt;&lt;/mtr&gt;&lt;mtr&gt;&lt;mtd&gt;&lt;mtext&gt;&lt;/mtext&gt;&lt;mtext&gt;&lt;/mtext&gt;&lt;mtext&gt;&lt;/mtext&gt;&lt;mtext&gt;&lt;/mtext&gt;&lt;mrow data-mjx-texclass=&quot;INNER&quot;&gt;&lt;mo data-mjx-texclass=&quot;OPEN&quot;&gt;(&lt;/mo&gt;&lt;mo&gt;−&lt;/mo&gt;&lt;mn&gt;3.61&lt;/mn&gt;&lt;mo data-mjx-texclass=&quot;CLOSE&quot;&gt;)&lt;/mo&gt;&lt;/mrow&gt;&lt;/mtd&gt;&lt;/mtr&gt;&lt;/mtable&gt;&lt;/math&gt;" id="856" name="Google Shape;856;p74" title="3 lines Line 1: negative 2.34 Line 2: plus open paren negative 1.27 close paren sub Line 3: negative 3.61"/>
          <p:cNvPicPr preferRelativeResize="0"/>
          <p:nvPr/>
        </p:nvPicPr>
        <p:blipFill rotWithShape="1">
          <a:blip r:embed="rId5">
            <a:alphaModFix/>
          </a:blip>
          <a:srcRect b="28248" l="0" r="0" t="0"/>
          <a:stretch/>
        </p:blipFill>
        <p:spPr>
          <a:xfrm>
            <a:off x="3777350" y="2534175"/>
            <a:ext cx="1432800" cy="896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 \ \ \ \left(-2.34\right)\\&amp;#13;&amp;#10;+\ \ \left(-1.27\right)_{ }\\&amp;#13;&amp;#10;\ \ \ \ \left(-3.61\right)\end{array}&quot;&gt;&lt;mtable columnalign=&quot;left&quot; columnspacing=&quot;1em&quot; rowspacing=&quot;4pt&quot;&gt;&lt;mtr&gt;&lt;mtd&gt;&lt;mtext&gt;&lt;/mtext&gt;&lt;mtext&gt;&lt;/mtext&gt;&lt;mtext&gt;&lt;/mtext&gt;&lt;mtext&gt;&lt;/mtext&gt;&lt;mrow data-mjx-texclass=&quot;INNER&quot;&gt;&lt;mo data-mjx-texclass=&quot;OPEN&quot;&gt;(&lt;/mo&gt;&lt;mo&gt;−&lt;/mo&gt;&lt;mn&gt;2.34&lt;/mn&gt;&lt;mo data-mjx-texclass=&quot;CLOSE&quot;&gt;)&lt;/mo&gt;&lt;/mrow&gt;&lt;/mtd&gt;&lt;/mtr&gt;&lt;mtr&gt;&lt;mtd&gt;&lt;mo&gt;+&lt;/mo&gt;&lt;mtext&gt;&lt;/mtext&gt;&lt;mtext&gt;&lt;/mtext&gt;&lt;msub&gt;&lt;mrow data-mjx-texclass=&quot;INNER&quot;&gt;&lt;mo data-mjx-texclass=&quot;OPEN&quot;&gt;(&lt;/mo&gt;&lt;mo&gt;−&lt;/mo&gt;&lt;mn&gt;1.27&lt;/mn&gt;&lt;mo data-mjx-texclass=&quot;CLOSE&quot;&gt;)&lt;/mo&gt;&lt;/mrow&gt;&lt;mrow data-mjx-texclass=&quot;ORD&quot;/&gt;&lt;/msub&gt;&lt;/mtd&gt;&lt;/mtr&gt;&lt;mtr&gt;&lt;mtd&gt;&lt;mtext&gt;&lt;/mtext&gt;&lt;mtext&gt;&lt;/mtext&gt;&lt;mtext&gt;&lt;/mtext&gt;&lt;mtext&gt;&lt;/mtext&gt;&lt;mrow data-mjx-texclass=&quot;INNER&quot;&gt;&lt;mo data-mjx-texclass=&quot;OPEN&quot;&gt;(&lt;/mo&gt;&lt;mo&gt;−&lt;/mo&gt;&lt;mn&gt;3.61&lt;/mn&gt;&lt;mo data-mjx-texclass=&quot;CLOSE&quot;&gt;)&lt;/mo&gt;&lt;/mrow&gt;&lt;/mtd&gt;&lt;/mtr&gt;&lt;/mtable&gt;&lt;/math&gt;" id="857" name="Google Shape;857;p74" title="3 lines Line 1: negative 2.34 Line 2: plus open paren negative 1.27 close paren sub Line 3: negative 3.61"/>
          <p:cNvPicPr preferRelativeResize="0"/>
          <p:nvPr/>
        </p:nvPicPr>
        <p:blipFill rotWithShape="1">
          <a:blip r:embed="rId5">
            <a:alphaModFix/>
          </a:blip>
          <a:srcRect b="-2354" l="0" r="0" t="70703"/>
          <a:stretch/>
        </p:blipFill>
        <p:spPr>
          <a:xfrm>
            <a:off x="3798950" y="3457799"/>
            <a:ext cx="1432800" cy="39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2" name="Google Shape;862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200" y="1962850"/>
            <a:ext cx="2543175" cy="2238375"/>
          </a:xfrm>
          <a:prstGeom prst="rect">
            <a:avLst/>
          </a:prstGeom>
          <a:noFill/>
          <a:ln>
            <a:noFill/>
          </a:ln>
        </p:spPr>
      </p:pic>
      <p:sp>
        <p:nvSpPr>
          <p:cNvPr id="863" name="Google Shape;863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Integers, negatives and decimals in the real world</a:t>
            </a:r>
            <a:endParaRPr/>
          </a:p>
        </p:txBody>
      </p:sp>
      <p:sp>
        <p:nvSpPr>
          <p:cNvPr id="864" name="Google Shape;864;p75"/>
          <p:cNvSpPr txBox="1"/>
          <p:nvPr>
            <p:ph idx="1" type="body"/>
          </p:nvPr>
        </p:nvSpPr>
        <p:spPr>
          <a:xfrm>
            <a:off x="324000" y="838200"/>
            <a:ext cx="7691400" cy="4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Without calculating or working out the answer, which operation (+, -, × or ÷) are we applying to this question?</a:t>
            </a:r>
            <a:endParaRPr/>
          </a:p>
        </p:txBody>
      </p:sp>
      <p:sp>
        <p:nvSpPr>
          <p:cNvPr id="865" name="Google Shape;865;p75"/>
          <p:cNvSpPr txBox="1"/>
          <p:nvPr/>
        </p:nvSpPr>
        <p:spPr>
          <a:xfrm>
            <a:off x="798100" y="2640300"/>
            <a:ext cx="1061700" cy="4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£1.56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6" name="Google Shape;866;p75"/>
          <p:cNvSpPr txBox="1"/>
          <p:nvPr/>
        </p:nvSpPr>
        <p:spPr>
          <a:xfrm>
            <a:off x="753350" y="3341350"/>
            <a:ext cx="1061700" cy="4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£1.86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7" name="Google Shape;867;p75"/>
          <p:cNvSpPr txBox="1"/>
          <p:nvPr/>
        </p:nvSpPr>
        <p:spPr>
          <a:xfrm>
            <a:off x="3167575" y="1679038"/>
            <a:ext cx="51177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An Oak Academy teacher fills up their car with 23 litres of unleaded petrol. How much does it cost?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8" name="Google Shape;868;p75"/>
          <p:cNvSpPr txBox="1"/>
          <p:nvPr>
            <p:ph idx="1" type="body"/>
          </p:nvPr>
        </p:nvSpPr>
        <p:spPr>
          <a:xfrm>
            <a:off x="3251200" y="3341350"/>
            <a:ext cx="7691400" cy="4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The calculation is 1.56 × 23 </a:t>
            </a:r>
            <a:endParaRPr sz="2100"/>
          </a:p>
        </p:txBody>
      </p:sp>
      <p:sp>
        <p:nvSpPr>
          <p:cNvPr id="869" name="Google Shape;869;p75"/>
          <p:cNvSpPr txBox="1"/>
          <p:nvPr>
            <p:ph idx="1" type="body"/>
          </p:nvPr>
        </p:nvSpPr>
        <p:spPr>
          <a:xfrm>
            <a:off x="3251200" y="3838600"/>
            <a:ext cx="5463300" cy="4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Using the multiples of 10 strategy,  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/>
              <a:t>we can calculate 156 × 23 × 0.01 </a:t>
            </a:r>
            <a:endParaRPr sz="2100"/>
          </a:p>
        </p:txBody>
      </p:sp>
      <p:sp>
        <p:nvSpPr>
          <p:cNvPr id="870" name="Google Shape;870;p75"/>
          <p:cNvSpPr txBox="1"/>
          <p:nvPr>
            <p:ph idx="1" type="body"/>
          </p:nvPr>
        </p:nvSpPr>
        <p:spPr>
          <a:xfrm>
            <a:off x="3251200" y="2903188"/>
            <a:ext cx="82377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It is multiplication.</a:t>
            </a:r>
            <a:endParaRPr sz="2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5" name="Google Shape;875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200" y="1962850"/>
            <a:ext cx="2543175" cy="2238375"/>
          </a:xfrm>
          <a:prstGeom prst="rect">
            <a:avLst/>
          </a:prstGeom>
          <a:noFill/>
          <a:ln>
            <a:noFill/>
          </a:ln>
        </p:spPr>
      </p:pic>
      <p:sp>
        <p:nvSpPr>
          <p:cNvPr id="876" name="Google Shape;876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Integers, negatives and decimals in the real world</a:t>
            </a:r>
            <a:endParaRPr/>
          </a:p>
        </p:txBody>
      </p:sp>
      <p:sp>
        <p:nvSpPr>
          <p:cNvPr id="877" name="Google Shape;877;p76"/>
          <p:cNvSpPr txBox="1"/>
          <p:nvPr/>
        </p:nvSpPr>
        <p:spPr>
          <a:xfrm>
            <a:off x="798100" y="2640300"/>
            <a:ext cx="1061700" cy="4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£1.56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8" name="Google Shape;878;p76"/>
          <p:cNvSpPr txBox="1"/>
          <p:nvPr/>
        </p:nvSpPr>
        <p:spPr>
          <a:xfrm>
            <a:off x="753350" y="3341350"/>
            <a:ext cx="1061700" cy="4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£1.86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9" name="Google Shape;879;p76"/>
          <p:cNvSpPr txBox="1"/>
          <p:nvPr>
            <p:ph idx="1" type="body"/>
          </p:nvPr>
        </p:nvSpPr>
        <p:spPr>
          <a:xfrm>
            <a:off x="324000" y="1329375"/>
            <a:ext cx="8583300" cy="4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Using the multiples of 10 strategy,  we can calculate 156 × 23 × 0.01 </a:t>
            </a:r>
            <a:endParaRPr sz="2000"/>
          </a:p>
        </p:txBody>
      </p:sp>
      <p:sp>
        <p:nvSpPr>
          <p:cNvPr id="880" name="Google Shape;880;p76"/>
          <p:cNvSpPr txBox="1"/>
          <p:nvPr>
            <p:ph idx="1" type="body"/>
          </p:nvPr>
        </p:nvSpPr>
        <p:spPr>
          <a:xfrm>
            <a:off x="324000" y="759188"/>
            <a:ext cx="82377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It is multiplication.</a:t>
            </a:r>
            <a:endParaRPr sz="2000"/>
          </a:p>
        </p:txBody>
      </p:sp>
      <p:graphicFrame>
        <p:nvGraphicFramePr>
          <p:cNvPr id="881" name="Google Shape;881;p76"/>
          <p:cNvGraphicFramePr/>
          <p:nvPr/>
        </p:nvGraphicFramePr>
        <p:xfrm>
          <a:off x="3179600" y="1958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{E40C5B7C-EA29-45C5-B0C4-A7E7A15A4D24}</a:tableStyleId>
              </a:tblPr>
              <a:tblGrid>
                <a:gridCol w="769300"/>
                <a:gridCol w="769300"/>
                <a:gridCol w="769300"/>
                <a:gridCol w="769300"/>
              </a:tblGrid>
              <a:tr h="503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×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50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3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0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begin{array}{l}\ \ \ 2000\\&amp;#13;&amp;#10;\ \ \ 1000\\&amp;#13;&amp;#10;\ \ \ \ \ 120\\&amp;#13;&amp;#10;\ \ \ \ \ 300\\&amp;#13;&amp;#10;\ \ \ \ \ 150\\&amp;#13;&amp;#10;\ \ \ +18\\&amp;#13;&amp;#10;\ \ \ 3588\end{array}&quot;&gt;&lt;mtable columnalign=&quot;left&quot; columnspacing=&quot;1em&quot; rowspacing=&quot;4pt&quot;&gt;&lt;mtr&gt;&lt;mtd&gt;&lt;mtext&gt;&lt;/mtext&gt;&lt;mtext&gt;&lt;/mtext&gt;&lt;mtext&gt;&lt;/mtext&gt;&lt;mn&gt;2000&lt;/mn&gt;&lt;/mtd&gt;&lt;/mtr&gt;&lt;mtr&gt;&lt;mtd&gt;&lt;mtext&gt;&lt;/mtext&gt;&lt;mtext&gt;&lt;/mtext&gt;&lt;mtext&gt;&lt;/mtext&gt;&lt;mn&gt;1000&lt;/mn&gt;&lt;/mtd&gt;&lt;/mtr&gt;&lt;mtr&gt;&lt;mtd&gt;&lt;mtext&gt;&lt;/mtext&gt;&lt;mtext&gt;&lt;/mtext&gt;&lt;mtext&gt;&lt;/mtext&gt;&lt;mtext&gt;&lt;/mtext&gt;&lt;mtext&gt;&lt;/mtext&gt;&lt;mn&gt;120&lt;/mn&gt;&lt;/mtd&gt;&lt;/mtr&gt;&lt;mtr&gt;&lt;mtd&gt;&lt;mtext&gt;&lt;/mtext&gt;&lt;mtext&gt;&lt;/mtext&gt;&lt;mtext&gt;&lt;/mtext&gt;&lt;mtext&gt;&lt;/mtext&gt;&lt;mtext&gt;&lt;/mtext&gt;&lt;mn&gt;300&lt;/mn&gt;&lt;/mtd&gt;&lt;/mtr&gt;&lt;mtr&gt;&lt;mtd&gt;&lt;mtext&gt;&lt;/mtext&gt;&lt;mtext&gt;&lt;/mtext&gt;&lt;mtext&gt;&lt;/mtext&gt;&lt;mtext&gt;&lt;/mtext&gt;&lt;mtext&gt;&lt;/mtext&gt;&lt;mn&gt;150&lt;/mn&gt;&lt;/mtd&gt;&lt;/mtr&gt;&lt;mtr&gt;&lt;mtd&gt;&lt;mtext&gt;&lt;/mtext&gt;&lt;mtext&gt;&lt;/mtext&gt;&lt;mtext&gt;&lt;/mtext&gt;&lt;mo&gt;+&lt;/mo&gt;&lt;mn&gt;18&lt;/mn&gt;&lt;/mtd&gt;&lt;/mtr&gt;&lt;mtr&gt;&lt;mtd&gt;&lt;mtext&gt;&lt;/mtext&gt;&lt;mtext&gt;&lt;/mtext&gt;&lt;mtext&gt;&lt;/mtext&gt;&lt;mn&gt;3588&lt;/mn&gt;&lt;/mtd&gt;&lt;/mtr&gt;&lt;/mtable&gt;&lt;/math&gt;" id="882" name="Google Shape;882;p76" title="7 lines Line 1: 2000 Line 2: 1000 Line 3: 120 Line 4: 300 Line 5: 150 Line 6: positive 18 Line 7: 3588"/>
          <p:cNvPicPr preferRelativeResize="0"/>
          <p:nvPr/>
        </p:nvPicPr>
        <p:blipFill rotWithShape="1">
          <a:blip r:embed="rId4">
            <a:alphaModFix/>
          </a:blip>
          <a:srcRect b="-4126" l="-2100" r="2100" t="89120"/>
          <a:stretch/>
        </p:blipFill>
        <p:spPr>
          <a:xfrm>
            <a:off x="7004400" y="4149475"/>
            <a:ext cx="603525" cy="399225"/>
          </a:xfrm>
          <a:prstGeom prst="rect">
            <a:avLst/>
          </a:prstGeom>
          <a:noFill/>
          <a:ln>
            <a:noFill/>
          </a:ln>
        </p:spPr>
      </p:pic>
      <p:sp>
        <p:nvSpPr>
          <p:cNvPr id="883" name="Google Shape;883;p76"/>
          <p:cNvSpPr txBox="1"/>
          <p:nvPr/>
        </p:nvSpPr>
        <p:spPr>
          <a:xfrm>
            <a:off x="3142000" y="350447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156 × 23  = 3588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84" name="Google Shape;884;p76"/>
          <p:cNvSpPr txBox="1"/>
          <p:nvPr/>
        </p:nvSpPr>
        <p:spPr>
          <a:xfrm>
            <a:off x="3142000" y="388547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156 × 23 × 0.01 = 35.88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85" name="Google Shape;885;p76"/>
          <p:cNvSpPr txBox="1"/>
          <p:nvPr>
            <p:ph idx="1" type="body"/>
          </p:nvPr>
        </p:nvSpPr>
        <p:spPr>
          <a:xfrm>
            <a:off x="476400" y="4493100"/>
            <a:ext cx="46809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means the teacher will pay £35.88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 \ \ 2000\\&amp;#13;&amp;#10;\ \ \ 1000\\&amp;#13;&amp;#10;\ \ \ \ \ 120\\&amp;#13;&amp;#10;\ \ \ \ \ 300\\&amp;#13;&amp;#10;\ \ \ \ \ 150\\&amp;#13;&amp;#10;\ \ \ +18\\&amp;#13;&amp;#10;\ \ \ 3588\end{array}&quot;&gt;&lt;mtable columnalign=&quot;left&quot; columnspacing=&quot;1em&quot; rowspacing=&quot;4pt&quot;&gt;&lt;mtr&gt;&lt;mtd&gt;&lt;mtext&gt;&lt;/mtext&gt;&lt;mtext&gt;&lt;/mtext&gt;&lt;mtext&gt;&lt;/mtext&gt;&lt;mn&gt;2000&lt;/mn&gt;&lt;/mtd&gt;&lt;/mtr&gt;&lt;mtr&gt;&lt;mtd&gt;&lt;mtext&gt;&lt;/mtext&gt;&lt;mtext&gt;&lt;/mtext&gt;&lt;mtext&gt;&lt;/mtext&gt;&lt;mn&gt;1000&lt;/mn&gt;&lt;/mtd&gt;&lt;/mtr&gt;&lt;mtr&gt;&lt;mtd&gt;&lt;mtext&gt;&lt;/mtext&gt;&lt;mtext&gt;&lt;/mtext&gt;&lt;mtext&gt;&lt;/mtext&gt;&lt;mtext&gt;&lt;/mtext&gt;&lt;mtext&gt;&lt;/mtext&gt;&lt;mn&gt;120&lt;/mn&gt;&lt;/mtd&gt;&lt;/mtr&gt;&lt;mtr&gt;&lt;mtd&gt;&lt;mtext&gt;&lt;/mtext&gt;&lt;mtext&gt;&lt;/mtext&gt;&lt;mtext&gt;&lt;/mtext&gt;&lt;mtext&gt;&lt;/mtext&gt;&lt;mtext&gt;&lt;/mtext&gt;&lt;mn&gt;300&lt;/mn&gt;&lt;/mtd&gt;&lt;/mtr&gt;&lt;mtr&gt;&lt;mtd&gt;&lt;mtext&gt;&lt;/mtext&gt;&lt;mtext&gt;&lt;/mtext&gt;&lt;mtext&gt;&lt;/mtext&gt;&lt;mtext&gt;&lt;/mtext&gt;&lt;mtext&gt;&lt;/mtext&gt;&lt;mn&gt;150&lt;/mn&gt;&lt;/mtd&gt;&lt;/mtr&gt;&lt;mtr&gt;&lt;mtd&gt;&lt;mtext&gt;&lt;/mtext&gt;&lt;mtext&gt;&lt;/mtext&gt;&lt;mtext&gt;&lt;/mtext&gt;&lt;mo&gt;+&lt;/mo&gt;&lt;mn&gt;18&lt;/mn&gt;&lt;/mtd&gt;&lt;/mtr&gt;&lt;mtr&gt;&lt;mtd&gt;&lt;mtext&gt;&lt;/mtext&gt;&lt;mtext&gt;&lt;/mtext&gt;&lt;mtext&gt;&lt;/mtext&gt;&lt;mn&gt;3588&lt;/mn&gt;&lt;/mtd&gt;&lt;/mtr&gt;&lt;/mtable&gt;&lt;/math&gt;" id="886" name="Google Shape;886;p76" title="7 lines Line 1: 2000 Line 2: 1000 Line 3: 120 Line 4: 300 Line 5: 150 Line 6: positive 18 Line 7: 3588"/>
          <p:cNvPicPr preferRelativeResize="0"/>
          <p:nvPr/>
        </p:nvPicPr>
        <p:blipFill rotWithShape="1">
          <a:blip r:embed="rId4">
            <a:alphaModFix/>
          </a:blip>
          <a:srcRect b="10233" l="0" r="0" t="0"/>
          <a:stretch/>
        </p:blipFill>
        <p:spPr>
          <a:xfrm>
            <a:off x="6973600" y="1812975"/>
            <a:ext cx="603525" cy="23882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87" name="Google Shape;887;p76"/>
          <p:cNvCxnSpPr/>
          <p:nvPr/>
        </p:nvCxnSpPr>
        <p:spPr>
          <a:xfrm>
            <a:off x="6882313" y="4135375"/>
            <a:ext cx="930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8" name="Google Shape;888;p76"/>
          <p:cNvCxnSpPr/>
          <p:nvPr/>
        </p:nvCxnSpPr>
        <p:spPr>
          <a:xfrm>
            <a:off x="6882313" y="4592575"/>
            <a:ext cx="930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77"/>
          <p:cNvSpPr txBox="1"/>
          <p:nvPr>
            <p:ph idx="1" type="body"/>
          </p:nvPr>
        </p:nvSpPr>
        <p:spPr>
          <a:xfrm>
            <a:off x="324000" y="831600"/>
            <a:ext cx="8237700" cy="4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Sometimes we are required to use a combination of operations to solve problem solving questions.</a:t>
            </a:r>
            <a:endParaRPr sz="2000"/>
          </a:p>
        </p:txBody>
      </p:sp>
      <p:sp>
        <p:nvSpPr>
          <p:cNvPr id="894" name="Google Shape;894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Integers, negatives and decimals in the real world</a:t>
            </a:r>
            <a:endParaRPr/>
          </a:p>
        </p:txBody>
      </p:sp>
      <p:sp>
        <p:nvSpPr>
          <p:cNvPr id="895" name="Google Shape;895;p77"/>
          <p:cNvSpPr txBox="1"/>
          <p:nvPr>
            <p:ph idx="1" type="body"/>
          </p:nvPr>
        </p:nvSpPr>
        <p:spPr>
          <a:xfrm>
            <a:off x="300900" y="2092603"/>
            <a:ext cx="8038200" cy="11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There are lots of different ways to calculate an answer. Do not worry if your method is slightly different as long as the right answer is obtained.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A structured approach to problem solving questions is essential.</a:t>
            </a:r>
            <a:endParaRPr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78"/>
          <p:cNvSpPr txBox="1"/>
          <p:nvPr>
            <p:ph idx="1" type="body"/>
          </p:nvPr>
        </p:nvSpPr>
        <p:spPr>
          <a:xfrm>
            <a:off x="324000" y="830897"/>
            <a:ext cx="8237700" cy="4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Sometimes we are required to use a combination of operations to solve real world problems.</a:t>
            </a:r>
            <a:endParaRPr sz="2000"/>
          </a:p>
        </p:txBody>
      </p:sp>
      <p:sp>
        <p:nvSpPr>
          <p:cNvPr id="901" name="Google Shape;901;p78"/>
          <p:cNvSpPr txBox="1"/>
          <p:nvPr>
            <p:ph idx="1" type="body"/>
          </p:nvPr>
        </p:nvSpPr>
        <p:spPr>
          <a:xfrm>
            <a:off x="324000" y="1833172"/>
            <a:ext cx="6987000" cy="4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Example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A shop sells pens and pencils. Izzy buys 3 pencils and 4 pens with a £10 note.  What operations are we using to calculate how much change she receives?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902" name="Google Shape;902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Integers, negatives and decimals in the real world</a:t>
            </a:r>
            <a:endParaRPr/>
          </a:p>
        </p:txBody>
      </p:sp>
      <p:pic>
        <p:nvPicPr>
          <p:cNvPr id="903" name="Google Shape;903;p78"/>
          <p:cNvPicPr preferRelativeResize="0"/>
          <p:nvPr/>
        </p:nvPicPr>
        <p:blipFill rotWithShape="1">
          <a:blip r:embed="rId3">
            <a:alphaModFix/>
          </a:blip>
          <a:srcRect b="49193" l="45472" r="45722" t="7218"/>
          <a:stretch/>
        </p:blipFill>
        <p:spPr>
          <a:xfrm>
            <a:off x="7518959" y="2084084"/>
            <a:ext cx="479811" cy="1310730"/>
          </a:xfrm>
          <a:prstGeom prst="rect">
            <a:avLst/>
          </a:prstGeom>
          <a:noFill/>
          <a:ln>
            <a:noFill/>
          </a:ln>
        </p:spPr>
      </p:pic>
      <p:sp>
        <p:nvSpPr>
          <p:cNvPr id="904" name="Google Shape;904;p78"/>
          <p:cNvSpPr txBox="1"/>
          <p:nvPr/>
        </p:nvSpPr>
        <p:spPr>
          <a:xfrm>
            <a:off x="7454195" y="3273201"/>
            <a:ext cx="56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76p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05" name="Google Shape;905;p78"/>
          <p:cNvPicPr preferRelativeResize="0"/>
          <p:nvPr/>
        </p:nvPicPr>
        <p:blipFill rotWithShape="1">
          <a:blip r:embed="rId3">
            <a:alphaModFix/>
          </a:blip>
          <a:srcRect b="49193" l="27397" r="63797" t="7218"/>
          <a:stretch/>
        </p:blipFill>
        <p:spPr>
          <a:xfrm>
            <a:off x="8279667" y="2112695"/>
            <a:ext cx="479811" cy="1310730"/>
          </a:xfrm>
          <a:prstGeom prst="rect">
            <a:avLst/>
          </a:prstGeom>
          <a:noFill/>
          <a:ln>
            <a:noFill/>
          </a:ln>
        </p:spPr>
      </p:pic>
      <p:sp>
        <p:nvSpPr>
          <p:cNvPr id="906" name="Google Shape;906;p78"/>
          <p:cNvSpPr txBox="1"/>
          <p:nvPr/>
        </p:nvSpPr>
        <p:spPr>
          <a:xfrm>
            <a:off x="8169195" y="3282813"/>
            <a:ext cx="71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£1.56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7" name="Google Shape;907;p78"/>
          <p:cNvSpPr txBox="1"/>
          <p:nvPr/>
        </p:nvSpPr>
        <p:spPr>
          <a:xfrm>
            <a:off x="324000" y="3760572"/>
            <a:ext cx="665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are using multiplication and then subtraction.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7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Show all your working out and </a:t>
            </a:r>
            <a:r>
              <a:rPr lang="en-GB" sz="2000"/>
              <a:t>calculate</a:t>
            </a:r>
            <a:r>
              <a:rPr lang="en-GB" sz="2000"/>
              <a:t> how much change Izzy </a:t>
            </a:r>
            <a:r>
              <a:rPr lang="en-GB" sz="2000"/>
              <a:t>receives</a:t>
            </a:r>
            <a:r>
              <a:rPr lang="en-GB" sz="2000"/>
              <a:t> from her £10 note.</a:t>
            </a:r>
            <a:endParaRPr sz="2000"/>
          </a:p>
        </p:txBody>
      </p:sp>
      <p:sp>
        <p:nvSpPr>
          <p:cNvPr id="913" name="Google Shape;913;p79"/>
          <p:cNvSpPr txBox="1"/>
          <p:nvPr>
            <p:ph idx="1" type="body"/>
          </p:nvPr>
        </p:nvSpPr>
        <p:spPr>
          <a:xfrm>
            <a:off x="324000" y="1761575"/>
            <a:ext cx="6987000" cy="4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Example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A shop sells pens and pencils. Izzy buys 3 pencils and 4 pens with a £10 note. 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914" name="Google Shape;914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Integers, negatives and decimals in the real world</a:t>
            </a:r>
            <a:endParaRPr/>
          </a:p>
        </p:txBody>
      </p:sp>
      <p:pic>
        <p:nvPicPr>
          <p:cNvPr id="915" name="Google Shape;915;p79"/>
          <p:cNvPicPr preferRelativeResize="0"/>
          <p:nvPr/>
        </p:nvPicPr>
        <p:blipFill rotWithShape="1">
          <a:blip r:embed="rId3">
            <a:alphaModFix/>
          </a:blip>
          <a:srcRect b="49193" l="45472" r="45722" t="7218"/>
          <a:stretch/>
        </p:blipFill>
        <p:spPr>
          <a:xfrm>
            <a:off x="7375764" y="2002259"/>
            <a:ext cx="479811" cy="1310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6" name="Google Shape;916;p79"/>
          <p:cNvPicPr preferRelativeResize="0"/>
          <p:nvPr/>
        </p:nvPicPr>
        <p:blipFill rotWithShape="1">
          <a:blip r:embed="rId3">
            <a:alphaModFix/>
          </a:blip>
          <a:srcRect b="49193" l="27397" r="63797" t="7218"/>
          <a:stretch/>
        </p:blipFill>
        <p:spPr>
          <a:xfrm>
            <a:off x="8136472" y="2030870"/>
            <a:ext cx="479811" cy="1310730"/>
          </a:xfrm>
          <a:prstGeom prst="rect">
            <a:avLst/>
          </a:prstGeom>
          <a:noFill/>
          <a:ln>
            <a:noFill/>
          </a:ln>
        </p:spPr>
      </p:pic>
      <p:sp>
        <p:nvSpPr>
          <p:cNvPr id="917" name="Google Shape;917;p79"/>
          <p:cNvSpPr txBox="1"/>
          <p:nvPr/>
        </p:nvSpPr>
        <p:spPr>
          <a:xfrm>
            <a:off x="8026000" y="3200988"/>
            <a:ext cx="71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£1.56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8" name="Google Shape;918;p79"/>
          <p:cNvSpPr txBox="1"/>
          <p:nvPr>
            <p:ph idx="1" type="body"/>
          </p:nvPr>
        </p:nvSpPr>
        <p:spPr>
          <a:xfrm>
            <a:off x="324000" y="3029375"/>
            <a:ext cx="13065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 × 0.76 =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19" name="Google Shape;919;p79"/>
          <p:cNvSpPr txBox="1"/>
          <p:nvPr>
            <p:ph idx="1" type="body"/>
          </p:nvPr>
        </p:nvSpPr>
        <p:spPr>
          <a:xfrm>
            <a:off x="324000" y="3543025"/>
            <a:ext cx="13608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× 1.56 =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20" name="Google Shape;920;p79"/>
          <p:cNvSpPr txBox="1"/>
          <p:nvPr>
            <p:ph idx="1" type="body"/>
          </p:nvPr>
        </p:nvSpPr>
        <p:spPr>
          <a:xfrm>
            <a:off x="1630500" y="3029375"/>
            <a:ext cx="28833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0.70 × 3 + 0.06 × 3 =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21" name="Google Shape;921;p79"/>
          <p:cNvSpPr txBox="1"/>
          <p:nvPr>
            <p:ph idx="1" type="body"/>
          </p:nvPr>
        </p:nvSpPr>
        <p:spPr>
          <a:xfrm>
            <a:off x="4145100" y="3029375"/>
            <a:ext cx="28833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2.10 + 0.18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= 2.28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22" name="Google Shape;922;p79"/>
          <p:cNvSpPr txBox="1"/>
          <p:nvPr>
            <p:ph idx="1" type="body"/>
          </p:nvPr>
        </p:nvSpPr>
        <p:spPr>
          <a:xfrm>
            <a:off x="1630500" y="3543025"/>
            <a:ext cx="33723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× 2 × 1.56 = 2 × 3.12 =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23" name="Google Shape;923;p79"/>
          <p:cNvSpPr txBox="1"/>
          <p:nvPr>
            <p:ph idx="1" type="body"/>
          </p:nvPr>
        </p:nvSpPr>
        <p:spPr>
          <a:xfrm>
            <a:off x="4650950" y="3543025"/>
            <a:ext cx="9612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6.24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24" name="Google Shape;924;p79"/>
          <p:cNvSpPr txBox="1"/>
          <p:nvPr>
            <p:ph idx="1" type="body"/>
          </p:nvPr>
        </p:nvSpPr>
        <p:spPr>
          <a:xfrm>
            <a:off x="324000" y="4056675"/>
            <a:ext cx="38211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10 - (6.24 + 2.28) = 10 - 8.52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25" name="Google Shape;925;p79"/>
          <p:cNvSpPr txBox="1"/>
          <p:nvPr>
            <p:ph idx="1" type="body"/>
          </p:nvPr>
        </p:nvSpPr>
        <p:spPr>
          <a:xfrm>
            <a:off x="4052500" y="4043725"/>
            <a:ext cx="10791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1.48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26" name="Google Shape;926;p79"/>
          <p:cNvSpPr txBox="1"/>
          <p:nvPr>
            <p:ph idx="1" type="body"/>
          </p:nvPr>
        </p:nvSpPr>
        <p:spPr>
          <a:xfrm>
            <a:off x="324000" y="4468225"/>
            <a:ext cx="71931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Izzy receives £1.48 change.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27" name="Google Shape;927;p79"/>
          <p:cNvSpPr txBox="1"/>
          <p:nvPr/>
        </p:nvSpPr>
        <p:spPr>
          <a:xfrm>
            <a:off x="7311001" y="3191375"/>
            <a:ext cx="56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76p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Integers, negatives and decimals in the real world</a:t>
            </a:r>
            <a:endParaRPr/>
          </a:p>
        </p:txBody>
      </p:sp>
      <p:sp>
        <p:nvSpPr>
          <p:cNvPr id="933" name="Google Shape;933;p80"/>
          <p:cNvSpPr txBox="1"/>
          <p:nvPr>
            <p:ph idx="1" type="body"/>
          </p:nvPr>
        </p:nvSpPr>
        <p:spPr>
          <a:xfrm>
            <a:off x="324000" y="838200"/>
            <a:ext cx="7691400" cy="4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Without calculating or working out the answer, which operations (+, -, × or ÷) are we applying to this question?</a:t>
            </a:r>
            <a:endParaRPr/>
          </a:p>
        </p:txBody>
      </p:sp>
      <p:sp>
        <p:nvSpPr>
          <p:cNvPr id="934" name="Google Shape;934;p80"/>
          <p:cNvSpPr txBox="1"/>
          <p:nvPr/>
        </p:nvSpPr>
        <p:spPr>
          <a:xfrm>
            <a:off x="324000" y="1802800"/>
            <a:ext cx="78114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Sam wants to work out the mean average time spent on Maths homework. Sam asks her 8 friends across the world how many hours they spend on their homework each week.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35" name="Google Shape;935;p80"/>
          <p:cNvGraphicFramePr/>
          <p:nvPr/>
        </p:nvGraphicFramePr>
        <p:xfrm>
          <a:off x="1950288" y="3959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{E40C5B7C-EA29-45C5-B0C4-A7E7A15A4D24}</a:tableStyleId>
              </a:tblPr>
              <a:tblGrid>
                <a:gridCol w="655425"/>
                <a:gridCol w="655425"/>
                <a:gridCol w="655425"/>
                <a:gridCol w="655425"/>
                <a:gridCol w="655425"/>
                <a:gridCol w="655425"/>
                <a:gridCol w="655425"/>
                <a:gridCol w="655425"/>
              </a:tblGrid>
              <a:tr h="333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3.22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3.75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Integers, negatives and decimals in the real world</a:t>
            </a:r>
            <a:endParaRPr/>
          </a:p>
        </p:txBody>
      </p:sp>
      <p:sp>
        <p:nvSpPr>
          <p:cNvPr id="941" name="Google Shape;941;p8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are using both addition and division.</a:t>
            </a:r>
            <a:endParaRPr/>
          </a:p>
        </p:txBody>
      </p:sp>
      <p:sp>
        <p:nvSpPr>
          <p:cNvPr id="942" name="Google Shape;942;p81"/>
          <p:cNvSpPr txBox="1"/>
          <p:nvPr/>
        </p:nvSpPr>
        <p:spPr>
          <a:xfrm>
            <a:off x="324000" y="2026430"/>
            <a:ext cx="78114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Work out the mean number of hours Sam’s 8 friends spend on their homework. Ensure to show all your working out.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43" name="Google Shape;943;p81"/>
          <p:cNvGraphicFramePr/>
          <p:nvPr/>
        </p:nvGraphicFramePr>
        <p:xfrm>
          <a:off x="3091638" y="3959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{E40C5B7C-EA29-45C5-B0C4-A7E7A15A4D24}</a:tableStyleId>
              </a:tblPr>
              <a:tblGrid>
                <a:gridCol w="655425"/>
                <a:gridCol w="655425"/>
                <a:gridCol w="655425"/>
                <a:gridCol w="655425"/>
                <a:gridCol w="655425"/>
                <a:gridCol w="655425"/>
                <a:gridCol w="655425"/>
                <a:gridCol w="655425"/>
              </a:tblGrid>
              <a:tr h="333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3.22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3.75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44" name="Google Shape;944;p81"/>
          <p:cNvSpPr txBox="1"/>
          <p:nvPr>
            <p:ph idx="1" type="body"/>
          </p:nvPr>
        </p:nvSpPr>
        <p:spPr>
          <a:xfrm>
            <a:off x="324000" y="1093200"/>
            <a:ext cx="6868500" cy="4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To calculate the mean we sum the values and divide by the number of values.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Integers, negatives and decimals in the real world</a:t>
            </a:r>
            <a:endParaRPr/>
          </a:p>
        </p:txBody>
      </p:sp>
      <p:sp>
        <p:nvSpPr>
          <p:cNvPr id="950" name="Google Shape;950;p82"/>
          <p:cNvSpPr txBox="1"/>
          <p:nvPr>
            <p:ph idx="1" type="body"/>
          </p:nvPr>
        </p:nvSpPr>
        <p:spPr>
          <a:xfrm>
            <a:off x="324000" y="759300"/>
            <a:ext cx="7356000" cy="122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are using both addition and division.</a:t>
            </a:r>
            <a:endParaRPr/>
          </a:p>
        </p:txBody>
      </p:sp>
      <p:sp>
        <p:nvSpPr>
          <p:cNvPr id="951" name="Google Shape;951;p82"/>
          <p:cNvSpPr txBox="1"/>
          <p:nvPr>
            <p:ph idx="1" type="body"/>
          </p:nvPr>
        </p:nvSpPr>
        <p:spPr>
          <a:xfrm>
            <a:off x="324000" y="1093200"/>
            <a:ext cx="6283500" cy="4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To calculate the mean we sum the values and divide by the number of values.</a:t>
            </a:r>
            <a:endParaRPr/>
          </a:p>
        </p:txBody>
      </p:sp>
      <p:sp>
        <p:nvSpPr>
          <p:cNvPr id="952" name="Google Shape;952;p82"/>
          <p:cNvSpPr txBox="1"/>
          <p:nvPr/>
        </p:nvSpPr>
        <p:spPr>
          <a:xfrm>
            <a:off x="4008075" y="2494050"/>
            <a:ext cx="930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latin typeface="Lexend"/>
                <a:ea typeface="Lexend"/>
                <a:cs typeface="Lexend"/>
                <a:sym typeface="Lexend"/>
              </a:rPr>
              <a:t>⟌  </a:t>
            </a:r>
            <a:r>
              <a:rPr lang="en-GB">
                <a:latin typeface="Lexend"/>
                <a:ea typeface="Lexend"/>
                <a:cs typeface="Lexend"/>
                <a:sym typeface="Lexend"/>
              </a:rPr>
              <a:t> 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53" name="Google Shape;953;p82"/>
          <p:cNvCxnSpPr/>
          <p:nvPr/>
        </p:nvCxnSpPr>
        <p:spPr>
          <a:xfrm>
            <a:off x="4175025" y="2629334"/>
            <a:ext cx="1627200" cy="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4" name="Google Shape;954;p82"/>
          <p:cNvSpPr txBox="1"/>
          <p:nvPr/>
        </p:nvSpPr>
        <p:spPr>
          <a:xfrm>
            <a:off x="4266225" y="2629325"/>
            <a:ext cx="1536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Lexend"/>
                <a:ea typeface="Lexend"/>
                <a:cs typeface="Lexend"/>
                <a:sym typeface="Lexend"/>
              </a:rPr>
              <a:t>36.72</a:t>
            </a:r>
            <a:endParaRPr sz="30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55" name="Google Shape;955;p82"/>
          <p:cNvGrpSpPr/>
          <p:nvPr/>
        </p:nvGrpSpPr>
        <p:grpSpPr>
          <a:xfrm>
            <a:off x="7218273" y="809994"/>
            <a:ext cx="1127439" cy="3972262"/>
            <a:chOff x="6684873" y="809994"/>
            <a:chExt cx="1127439" cy="3972262"/>
          </a:xfrm>
        </p:grpSpPr>
        <p:cxnSp>
          <p:nvCxnSpPr>
            <p:cNvPr id="956" name="Google Shape;956;p82"/>
            <p:cNvCxnSpPr/>
            <p:nvPr/>
          </p:nvCxnSpPr>
          <p:spPr>
            <a:xfrm>
              <a:off x="6882313" y="4264075"/>
              <a:ext cx="930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957" name="Google Shape;957;p82"/>
            <p:cNvGrpSpPr/>
            <p:nvPr/>
          </p:nvGrpSpPr>
          <p:grpSpPr>
            <a:xfrm>
              <a:off x="6684873" y="809994"/>
              <a:ext cx="1089807" cy="3972262"/>
              <a:chOff x="6684873" y="809994"/>
              <a:chExt cx="1089807" cy="3972262"/>
            </a:xfrm>
          </p:grpSpPr>
          <p:grpSp>
            <p:nvGrpSpPr>
              <p:cNvPr id="958" name="Google Shape;958;p82"/>
              <p:cNvGrpSpPr/>
              <p:nvPr/>
            </p:nvGrpSpPr>
            <p:grpSpPr>
              <a:xfrm>
                <a:off x="6684873" y="809994"/>
                <a:ext cx="1089807" cy="3972262"/>
                <a:chOff x="8820000" y="-196125"/>
                <a:chExt cx="1418650" cy="5335476"/>
              </a:xfrm>
            </p:grpSpPr>
            <p:pic>
              <p:nvPicPr>
                <p:cNvPr descr="&lt;math xmlns=&quot;http://www.w3.org/1998/Math/MathML&quot; display=&quot;block&quot; data-is-equatio=&quot;1&quot; data-latex=&quot;\begin{array}{l}\ \ \ \ \ 4.3\\&amp;#13;&amp;#10;\ \ \ \ \ 3.5\\&amp;#13;&amp;#10;\ \ \ \ \ 1.2\\&amp;#13;&amp;#10;\ \ \ \ \ 3.25\\&amp;#13;&amp;#10;\ \ \ \ \ 8\\&amp;#13;&amp;#10;\ \ \ \ \ 4.5\\&amp;#13;&amp;#10;\ \ \ \ \ 4.25\\&amp;#13;&amp;#10;+\ \ \ 3.75\\&amp;#13;&amp;#10;\ \ \ 36.75\end{array}&quot;&gt;&lt;mtable columnalign=&quot;left&quot; columnspacing=&quot;1em&quot; rowspacing=&quot;4pt&quot;&gt;&lt;mtr&gt;&lt;mtd&gt;&lt;mtext&gt;&lt;/mtext&gt;&lt;mtext&gt;&lt;/mtext&gt;&lt;mtext&gt;&lt;/mtext&gt;&lt;mtext&gt;&lt;/mtext&gt;&lt;mtext&gt;&lt;/mtext&gt;&lt;mn&gt;4.3&lt;/mn&gt;&lt;/mtd&gt;&lt;/mtr&gt;&lt;mtr&gt;&lt;mtd&gt;&lt;mtext&gt;&lt;/mtext&gt;&lt;mtext&gt;&lt;/mtext&gt;&lt;mtext&gt;&lt;/mtext&gt;&lt;mtext&gt;&lt;/mtext&gt;&lt;mtext&gt;&lt;/mtext&gt;&lt;mn&gt;3.5&lt;/mn&gt;&lt;/mtd&gt;&lt;/mtr&gt;&lt;mtr&gt;&lt;mtd&gt;&lt;mtext&gt;&lt;/mtext&gt;&lt;mtext&gt;&lt;/mtext&gt;&lt;mtext&gt;&lt;/mtext&gt;&lt;mtext&gt;&lt;/mtext&gt;&lt;mtext&gt;&lt;/mtext&gt;&lt;mn&gt;1.2&lt;/mn&gt;&lt;/mtd&gt;&lt;/mtr&gt;&lt;mtr&gt;&lt;mtd&gt;&lt;mtext&gt;&lt;/mtext&gt;&lt;mtext&gt;&lt;/mtext&gt;&lt;mtext&gt;&lt;/mtext&gt;&lt;mtext&gt;&lt;/mtext&gt;&lt;mtext&gt;&lt;/mtext&gt;&lt;mn&gt;3.25&lt;/mn&gt;&lt;/mtd&gt;&lt;/mtr&gt;&lt;mtr&gt;&lt;mtd&gt;&lt;mtext&gt;&lt;/mtext&gt;&lt;mtext&gt;&lt;/mtext&gt;&lt;mtext&gt;&lt;/mtext&gt;&lt;mtext&gt;&lt;/mtext&gt;&lt;mtext&gt;&lt;/mtext&gt;&lt;mn&gt;8&lt;/mn&gt;&lt;/mtd&gt;&lt;/mtr&gt;&lt;mtr&gt;&lt;mtd&gt;&lt;mtext&gt;&lt;/mtext&gt;&lt;mtext&gt;&lt;/mtext&gt;&lt;mtext&gt;&lt;/mtext&gt;&lt;mtext&gt;&lt;/mtext&gt;&lt;mtext&gt;&lt;/mtext&gt;&lt;mn&gt;4.5&lt;/mn&gt;&lt;/mtd&gt;&lt;/mtr&gt;&lt;mtr&gt;&lt;mtd&gt;&lt;mtext&gt;&lt;/mtext&gt;&lt;mtext&gt;&lt;/mtext&gt;&lt;mtext&gt;&lt;/mtext&gt;&lt;mtext&gt;&lt;/mtext&gt;&lt;mtext&gt;&lt;/mtext&gt;&lt;mn&gt;4.25&lt;/mn&gt;&lt;/mtd&gt;&lt;/mtr&gt;&lt;mtr&gt;&lt;mtd&gt;&lt;mo&gt;+&lt;/mo&gt;&lt;mtext&gt;&lt;/mtext&gt;&lt;mtext&gt;&lt;/mtext&gt;&lt;mtext&gt;&lt;/mtext&gt;&lt;mn&gt;3.75&lt;/mn&gt;&lt;/mtd&gt;&lt;/mtr&gt;&lt;mtr&gt;&lt;mtd&gt;&lt;mtext&gt;&lt;/mtext&gt;&lt;mtext&gt;&lt;/mtext&gt;&lt;mtext&gt;&lt;/mtext&gt;&lt;mn&gt;36.75&lt;/mn&gt;&lt;/mtd&gt;&lt;/mtr&gt;&lt;/mtable&gt;&lt;/math&gt;" id="959" name="Google Shape;959;p82" title="9 lines Line 1: 4.3 Line 2: 3.5 Line 3: 1.2 Line 4: 3.25 Line 5: 8 Line 6: 4.5 Line 7: 4.25 Line 8: plus 3.75 Line 9: 36.75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20089" l="0" r="0" t="0"/>
                <a:stretch/>
              </p:blipFill>
              <p:spPr>
                <a:xfrm>
                  <a:off x="8902900" y="-196125"/>
                  <a:ext cx="1335750" cy="411034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&lt;math xmlns=&quot;http://www.w3.org/1998/Math/MathML&quot; display=&quot;block&quot; data-is-equatio=&quot;1&quot; data-latex=&quot;\begin{array}{l}\ \ \ \ \ 4.3\\&amp;#13;&amp;#10;\ \ \ \ \ 3.5\\&amp;#13;&amp;#10;\ \ \ \ \ 1.2\\&amp;#13;&amp;#10;\ \ \ \ \ 3.25\\&amp;#13;&amp;#10;\ \ \ \ \ 8\\&amp;#13;&amp;#10;\ \ \ \ \ 4.5\\&amp;#13;&amp;#10;\ \ \ \ \ 4.25\\&amp;#13;&amp;#10;+\ \ \ 3.75\\&amp;#13;&amp;#10;\ \ \ 36.75\end{array}&quot;&gt;&lt;mtable columnalign=&quot;left&quot; columnspacing=&quot;1em&quot; rowspacing=&quot;4pt&quot;&gt;&lt;mtr&gt;&lt;mtd&gt;&lt;mtext&gt;&lt;/mtext&gt;&lt;mtext&gt;&lt;/mtext&gt;&lt;mtext&gt;&lt;/mtext&gt;&lt;mtext&gt;&lt;/mtext&gt;&lt;mtext&gt;&lt;/mtext&gt;&lt;mn&gt;4.3&lt;/mn&gt;&lt;/mtd&gt;&lt;/mtr&gt;&lt;mtr&gt;&lt;mtd&gt;&lt;mtext&gt;&lt;/mtext&gt;&lt;mtext&gt;&lt;/mtext&gt;&lt;mtext&gt;&lt;/mtext&gt;&lt;mtext&gt;&lt;/mtext&gt;&lt;mtext&gt;&lt;/mtext&gt;&lt;mn&gt;3.5&lt;/mn&gt;&lt;/mtd&gt;&lt;/mtr&gt;&lt;mtr&gt;&lt;mtd&gt;&lt;mtext&gt;&lt;/mtext&gt;&lt;mtext&gt;&lt;/mtext&gt;&lt;mtext&gt;&lt;/mtext&gt;&lt;mtext&gt;&lt;/mtext&gt;&lt;mtext&gt;&lt;/mtext&gt;&lt;mn&gt;1.2&lt;/mn&gt;&lt;/mtd&gt;&lt;/mtr&gt;&lt;mtr&gt;&lt;mtd&gt;&lt;mtext&gt;&lt;/mtext&gt;&lt;mtext&gt;&lt;/mtext&gt;&lt;mtext&gt;&lt;/mtext&gt;&lt;mtext&gt;&lt;/mtext&gt;&lt;mtext&gt;&lt;/mtext&gt;&lt;mn&gt;3.25&lt;/mn&gt;&lt;/mtd&gt;&lt;/mtr&gt;&lt;mtr&gt;&lt;mtd&gt;&lt;mtext&gt;&lt;/mtext&gt;&lt;mtext&gt;&lt;/mtext&gt;&lt;mtext&gt;&lt;/mtext&gt;&lt;mtext&gt;&lt;/mtext&gt;&lt;mtext&gt;&lt;/mtext&gt;&lt;mn&gt;8&lt;/mn&gt;&lt;/mtd&gt;&lt;/mtr&gt;&lt;mtr&gt;&lt;mtd&gt;&lt;mtext&gt;&lt;/mtext&gt;&lt;mtext&gt;&lt;/mtext&gt;&lt;mtext&gt;&lt;/mtext&gt;&lt;mtext&gt;&lt;/mtext&gt;&lt;mtext&gt;&lt;/mtext&gt;&lt;mn&gt;4.5&lt;/mn&gt;&lt;/mtd&gt;&lt;/mtr&gt;&lt;mtr&gt;&lt;mtd&gt;&lt;mtext&gt;&lt;/mtext&gt;&lt;mtext&gt;&lt;/mtext&gt;&lt;mtext&gt;&lt;/mtext&gt;&lt;mtext&gt;&lt;/mtext&gt;&lt;mtext&gt;&lt;/mtext&gt;&lt;mn&gt;4.25&lt;/mn&gt;&lt;/mtd&gt;&lt;/mtr&gt;&lt;mtr&gt;&lt;mtd&gt;&lt;mo&gt;+&lt;/mo&gt;&lt;mtext&gt;&lt;/mtext&gt;&lt;mtext&gt;&lt;/mtext&gt;&lt;mtext&gt;&lt;/mtext&gt;&lt;mn&gt;3.75&lt;/mn&gt;&lt;/mtd&gt;&lt;/mtr&gt;&lt;mtr&gt;&lt;mtd&gt;&lt;mtext&gt;&lt;/mtext&gt;&lt;mtext&gt;&lt;/mtext&gt;&lt;mtext&gt;&lt;/mtext&gt;&lt;mn&gt;36.75&lt;/mn&gt;&lt;/mtd&gt;&lt;/mtr&gt;&lt;/mtable&gt;&lt;/math&gt;" id="960" name="Google Shape;960;p82" title="9 lines Line 1: 4.3 Line 2: 3.5 Line 3: 1.2 Line 4: 3.25 Line 5: 8 Line 6: 4.5 Line 7: 4.25 Line 8: plus 3.75 Line 9: 36.75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9184" l="0" r="0" t="79246"/>
                <a:stretch/>
              </p:blipFill>
              <p:spPr>
                <a:xfrm>
                  <a:off x="8820000" y="3846902"/>
                  <a:ext cx="1335750" cy="59504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descr="&lt;math xmlns=&quot;http://www.w3.org/1998/Math/MathML&quot; display=&quot;block&quot; data-is-equatio=&quot;1&quot; data-latex=&quot;\begin{array}{l}\ \ \ \ \ 4.3\\&amp;#13;&amp;#10;\ \ \ \ \ 3.5\\&amp;#13;&amp;#10;\ \ \ \ \ 1.2\\&amp;#13;&amp;#10;\ \ \ \ \ 3.25\\&amp;#13;&amp;#10;\ \ \ \ \ 8\\&amp;#13;&amp;#10;\ \ \ \ \ 4.5\\&amp;#13;&amp;#10;\ \ \ \ \ 4.25\\&amp;#13;&amp;#10;+\ \ \ 3.75\\&amp;#13;&amp;#10;\ \ \ 36.75\end{array}&quot;&gt;&lt;mtable columnalign=&quot;left&quot; columnspacing=&quot;1em&quot; rowspacing=&quot;4pt&quot;&gt;&lt;mtr&gt;&lt;mtd&gt;&lt;mtext&gt;&lt;/mtext&gt;&lt;mtext&gt;&lt;/mtext&gt;&lt;mtext&gt;&lt;/mtext&gt;&lt;mtext&gt;&lt;/mtext&gt;&lt;mtext&gt;&lt;/mtext&gt;&lt;mn&gt;4.3&lt;/mn&gt;&lt;/mtd&gt;&lt;/mtr&gt;&lt;mtr&gt;&lt;mtd&gt;&lt;mtext&gt;&lt;/mtext&gt;&lt;mtext&gt;&lt;/mtext&gt;&lt;mtext&gt;&lt;/mtext&gt;&lt;mtext&gt;&lt;/mtext&gt;&lt;mtext&gt;&lt;/mtext&gt;&lt;mn&gt;3.5&lt;/mn&gt;&lt;/mtd&gt;&lt;/mtr&gt;&lt;mtr&gt;&lt;mtd&gt;&lt;mtext&gt;&lt;/mtext&gt;&lt;mtext&gt;&lt;/mtext&gt;&lt;mtext&gt;&lt;/mtext&gt;&lt;mtext&gt;&lt;/mtext&gt;&lt;mtext&gt;&lt;/mtext&gt;&lt;mn&gt;1.2&lt;/mn&gt;&lt;/mtd&gt;&lt;/mtr&gt;&lt;mtr&gt;&lt;mtd&gt;&lt;mtext&gt;&lt;/mtext&gt;&lt;mtext&gt;&lt;/mtext&gt;&lt;mtext&gt;&lt;/mtext&gt;&lt;mtext&gt;&lt;/mtext&gt;&lt;mtext&gt;&lt;/mtext&gt;&lt;mn&gt;3.25&lt;/mn&gt;&lt;/mtd&gt;&lt;/mtr&gt;&lt;mtr&gt;&lt;mtd&gt;&lt;mtext&gt;&lt;/mtext&gt;&lt;mtext&gt;&lt;/mtext&gt;&lt;mtext&gt;&lt;/mtext&gt;&lt;mtext&gt;&lt;/mtext&gt;&lt;mtext&gt;&lt;/mtext&gt;&lt;mn&gt;8&lt;/mn&gt;&lt;/mtd&gt;&lt;/mtr&gt;&lt;mtr&gt;&lt;mtd&gt;&lt;mtext&gt;&lt;/mtext&gt;&lt;mtext&gt;&lt;/mtext&gt;&lt;mtext&gt;&lt;/mtext&gt;&lt;mtext&gt;&lt;/mtext&gt;&lt;mtext&gt;&lt;/mtext&gt;&lt;mn&gt;4.5&lt;/mn&gt;&lt;/mtd&gt;&lt;/mtr&gt;&lt;mtr&gt;&lt;mtd&gt;&lt;mtext&gt;&lt;/mtext&gt;&lt;mtext&gt;&lt;/mtext&gt;&lt;mtext&gt;&lt;/mtext&gt;&lt;mtext&gt;&lt;/mtext&gt;&lt;mtext&gt;&lt;/mtext&gt;&lt;mn&gt;4.25&lt;/mn&gt;&lt;/mtd&gt;&lt;/mtr&gt;&lt;mtr&gt;&lt;mtd&gt;&lt;mo&gt;+&lt;/mo&gt;&lt;mtext&gt;&lt;/mtext&gt;&lt;mtext&gt;&lt;/mtext&gt;&lt;mtext&gt;&lt;/mtext&gt;&lt;mn&gt;3.75&lt;/mn&gt;&lt;/mtd&gt;&lt;/mtr&gt;&lt;mtr&gt;&lt;mtd&gt;&lt;mtext&gt;&lt;/mtext&gt;&lt;mtext&gt;&lt;/mtext&gt;&lt;mtext&gt;&lt;/mtext&gt;&lt;mn&gt;36.75&lt;/mn&gt;&lt;/mtd&gt;&lt;/mtr&gt;&lt;/mtable&gt;&lt;/math&gt;" id="961" name="Google Shape;961;p82" title="9 lines Line 1: 4.3 Line 2: 3.5 Line 3: 1.2 Line 4: 3.25 Line 5: 8 Line 6: 4.5 Line 7: 4.25 Line 8: plus 3.75 Line 9: 36.75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-4264" l="0" r="0" t="92695"/>
                <a:stretch/>
              </p:blipFill>
              <p:spPr>
                <a:xfrm>
                  <a:off x="8886593" y="4544302"/>
                  <a:ext cx="1335750" cy="595049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pic>
            <p:nvPicPr>
              <p:cNvPr id="962" name="Google Shape;962;p8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7568616" y="2092875"/>
                <a:ext cx="168093" cy="4011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963" name="Google Shape;963;p8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561766" y="4322439"/>
              <a:ext cx="168093" cy="4011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64" name="Google Shape;964;p82"/>
            <p:cNvCxnSpPr/>
            <p:nvPr/>
          </p:nvCxnSpPr>
          <p:spPr>
            <a:xfrm>
              <a:off x="6882313" y="4721275"/>
              <a:ext cx="930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65" name="Google Shape;965;p82"/>
          <p:cNvSpPr txBox="1"/>
          <p:nvPr/>
        </p:nvSpPr>
        <p:spPr>
          <a:xfrm>
            <a:off x="3682600" y="2629325"/>
            <a:ext cx="5439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Lexend"/>
                <a:ea typeface="Lexend"/>
                <a:cs typeface="Lexend"/>
                <a:sym typeface="Lexend"/>
              </a:rPr>
              <a:t>8</a:t>
            </a:r>
            <a:endParaRPr sz="3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6" name="Google Shape;966;p82"/>
          <p:cNvSpPr txBox="1"/>
          <p:nvPr/>
        </p:nvSpPr>
        <p:spPr>
          <a:xfrm>
            <a:off x="4151800" y="2083800"/>
            <a:ext cx="5439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Lexend"/>
                <a:ea typeface="Lexend"/>
                <a:cs typeface="Lexend"/>
                <a:sym typeface="Lexend"/>
              </a:rPr>
              <a:t>0</a:t>
            </a:r>
            <a:endParaRPr sz="3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7" name="Google Shape;967;p82"/>
          <p:cNvSpPr txBox="1"/>
          <p:nvPr/>
        </p:nvSpPr>
        <p:spPr>
          <a:xfrm>
            <a:off x="4440800" y="2540850"/>
            <a:ext cx="5439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8" name="Google Shape;968;p82"/>
          <p:cNvSpPr txBox="1"/>
          <p:nvPr/>
        </p:nvSpPr>
        <p:spPr>
          <a:xfrm>
            <a:off x="4394175" y="2083800"/>
            <a:ext cx="5439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Lexend"/>
                <a:ea typeface="Lexend"/>
                <a:cs typeface="Lexend"/>
                <a:sym typeface="Lexend"/>
              </a:rPr>
              <a:t>4</a:t>
            </a:r>
            <a:endParaRPr sz="3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9" name="Google Shape;969;p82"/>
          <p:cNvSpPr txBox="1"/>
          <p:nvPr/>
        </p:nvSpPr>
        <p:spPr>
          <a:xfrm>
            <a:off x="4649888" y="2106181"/>
            <a:ext cx="5439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Lexend"/>
                <a:ea typeface="Lexend"/>
                <a:cs typeface="Lexend"/>
                <a:sym typeface="Lexend"/>
              </a:rPr>
              <a:t>.</a:t>
            </a:r>
            <a:endParaRPr sz="3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0" name="Google Shape;970;p82"/>
          <p:cNvSpPr txBox="1"/>
          <p:nvPr/>
        </p:nvSpPr>
        <p:spPr>
          <a:xfrm>
            <a:off x="4669150" y="2540850"/>
            <a:ext cx="288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1" name="Google Shape;971;p82"/>
          <p:cNvSpPr txBox="1"/>
          <p:nvPr/>
        </p:nvSpPr>
        <p:spPr>
          <a:xfrm>
            <a:off x="4762275" y="2098585"/>
            <a:ext cx="5439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Lexend"/>
                <a:ea typeface="Lexend"/>
                <a:cs typeface="Lexend"/>
                <a:sym typeface="Lexend"/>
              </a:rPr>
              <a:t>5</a:t>
            </a:r>
            <a:endParaRPr sz="3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2" name="Google Shape;972;p82"/>
          <p:cNvSpPr txBox="1"/>
          <p:nvPr/>
        </p:nvSpPr>
        <p:spPr>
          <a:xfrm>
            <a:off x="4980905" y="2099283"/>
            <a:ext cx="5439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latin typeface="Lexend"/>
                <a:ea typeface="Lexend"/>
                <a:cs typeface="Lexend"/>
                <a:sym typeface="Lexend"/>
              </a:rPr>
              <a:t>9</a:t>
            </a:r>
            <a:endParaRPr sz="3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3" name="Google Shape;973;p82"/>
          <p:cNvSpPr txBox="1"/>
          <p:nvPr/>
        </p:nvSpPr>
        <p:spPr>
          <a:xfrm>
            <a:off x="4936159" y="2529459"/>
            <a:ext cx="288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4" name="Google Shape;974;p82"/>
          <p:cNvSpPr txBox="1"/>
          <p:nvPr>
            <p:ph idx="1" type="body"/>
          </p:nvPr>
        </p:nvSpPr>
        <p:spPr>
          <a:xfrm>
            <a:off x="2883675" y="3916800"/>
            <a:ext cx="4174500" cy="4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 mean hours spent on homework is 4.59 hours.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5" name="Google Shape;975;p82"/>
          <p:cNvSpPr txBox="1"/>
          <p:nvPr/>
        </p:nvSpPr>
        <p:spPr>
          <a:xfrm>
            <a:off x="7869734" y="4614459"/>
            <a:ext cx="288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6" name="Google Shape;976;p82"/>
          <p:cNvSpPr txBox="1"/>
          <p:nvPr/>
        </p:nvSpPr>
        <p:spPr>
          <a:xfrm>
            <a:off x="7629427" y="4614459"/>
            <a:ext cx="288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77" name="Google Shape;977;p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29424" y="759300"/>
            <a:ext cx="229088" cy="32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83"/>
          <p:cNvSpPr txBox="1"/>
          <p:nvPr>
            <p:ph idx="1" type="body"/>
          </p:nvPr>
        </p:nvSpPr>
        <p:spPr>
          <a:xfrm>
            <a:off x="1965075" y="759300"/>
            <a:ext cx="6596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Aisha has £13.45 credit on her school account. She spends £2.67 then spends £7.89. Aisha then puts £4.21 back into her account.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How much does Aisha have in her school account now?</a:t>
            </a:r>
            <a:endParaRPr/>
          </a:p>
        </p:txBody>
      </p:sp>
      <p:sp>
        <p:nvSpPr>
          <p:cNvPr id="983" name="Google Shape;983;p8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Integers, negatives and decimals in the real world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984" name="Google Shape;984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294025"/>
            <a:ext cx="1746266" cy="1405975"/>
          </a:xfrm>
          <a:prstGeom prst="rect">
            <a:avLst/>
          </a:prstGeom>
          <a:noFill/>
          <a:ln>
            <a:noFill/>
          </a:ln>
        </p:spPr>
      </p:pic>
      <p:sp>
        <p:nvSpPr>
          <p:cNvPr id="985" name="Google Shape;985;p83"/>
          <p:cNvSpPr txBox="1"/>
          <p:nvPr>
            <p:ph idx="1" type="body"/>
          </p:nvPr>
        </p:nvSpPr>
        <p:spPr>
          <a:xfrm>
            <a:off x="324000" y="2917500"/>
            <a:ext cx="6596700" cy="190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Jun has a £20 note. He buys 4 green pens, 6 pencils and 2 orange highlighters.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shopkeeper gave Jun £6.16 in change.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Is this correct? Show your working out.</a:t>
            </a:r>
            <a:endParaRPr/>
          </a:p>
        </p:txBody>
      </p:sp>
      <p:pic>
        <p:nvPicPr>
          <p:cNvPr id="986" name="Google Shape;986;p83"/>
          <p:cNvPicPr preferRelativeResize="0"/>
          <p:nvPr/>
        </p:nvPicPr>
        <p:blipFill rotWithShape="1">
          <a:blip r:embed="rId4">
            <a:alphaModFix/>
          </a:blip>
          <a:srcRect b="49193" l="27397" r="63797" t="7218"/>
          <a:stretch/>
        </p:blipFill>
        <p:spPr>
          <a:xfrm>
            <a:off x="6214872" y="3259007"/>
            <a:ext cx="479811" cy="1310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7" name="Google Shape;987;p83"/>
          <p:cNvPicPr preferRelativeResize="0"/>
          <p:nvPr/>
        </p:nvPicPr>
        <p:blipFill rotWithShape="1">
          <a:blip r:embed="rId4">
            <a:alphaModFix/>
          </a:blip>
          <a:srcRect b="49193" l="45472" r="45722" t="7218"/>
          <a:stretch/>
        </p:blipFill>
        <p:spPr>
          <a:xfrm>
            <a:off x="7018614" y="3240009"/>
            <a:ext cx="479811" cy="1310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8" name="Google Shape;988;p83"/>
          <p:cNvPicPr preferRelativeResize="0"/>
          <p:nvPr/>
        </p:nvPicPr>
        <p:blipFill rotWithShape="1">
          <a:blip r:embed="rId4">
            <a:alphaModFix/>
          </a:blip>
          <a:srcRect b="49193" l="63295" r="27899" t="7218"/>
          <a:stretch/>
        </p:blipFill>
        <p:spPr>
          <a:xfrm>
            <a:off x="7832624" y="3265425"/>
            <a:ext cx="479811" cy="1310730"/>
          </a:xfrm>
          <a:prstGeom prst="rect">
            <a:avLst/>
          </a:prstGeom>
          <a:noFill/>
          <a:ln>
            <a:noFill/>
          </a:ln>
        </p:spPr>
      </p:pic>
      <p:sp>
        <p:nvSpPr>
          <p:cNvPr id="989" name="Google Shape;989;p83"/>
          <p:cNvSpPr txBox="1"/>
          <p:nvPr/>
        </p:nvSpPr>
        <p:spPr>
          <a:xfrm>
            <a:off x="7734794" y="4429125"/>
            <a:ext cx="71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£1.27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0" name="Google Shape;990;p83"/>
          <p:cNvSpPr txBox="1"/>
          <p:nvPr/>
        </p:nvSpPr>
        <p:spPr>
          <a:xfrm>
            <a:off x="7036747" y="4429125"/>
            <a:ext cx="479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76p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1" name="Google Shape;991;p83"/>
          <p:cNvSpPr txBox="1"/>
          <p:nvPr/>
        </p:nvSpPr>
        <p:spPr>
          <a:xfrm>
            <a:off x="6104400" y="4429125"/>
            <a:ext cx="71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£1.56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84"/>
          <p:cNvSpPr txBox="1"/>
          <p:nvPr>
            <p:ph idx="1" type="body"/>
          </p:nvPr>
        </p:nvSpPr>
        <p:spPr>
          <a:xfrm>
            <a:off x="3114950" y="845100"/>
            <a:ext cx="5438400" cy="167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3) There are two places in </a:t>
            </a:r>
            <a:r>
              <a:rPr lang="en-GB"/>
              <a:t>Antarctica</a:t>
            </a:r>
            <a:r>
              <a:rPr lang="en-GB"/>
              <a:t> </a:t>
            </a:r>
            <a:r>
              <a:rPr lang="en-GB"/>
              <a:t>scientists want to investigate. They look at the temperature in the morning over 5 days.</a:t>
            </a:r>
            <a:endParaRPr/>
          </a:p>
        </p:txBody>
      </p:sp>
      <p:sp>
        <p:nvSpPr>
          <p:cNvPr id="997" name="Google Shape;997;p8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Integers, negatives and decimals in the real world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998" name="Google Shape;998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897824"/>
            <a:ext cx="2511875" cy="16739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99" name="Google Shape;999;p84"/>
          <p:cNvGraphicFramePr/>
          <p:nvPr/>
        </p:nvGraphicFramePr>
        <p:xfrm>
          <a:off x="556975" y="270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{E40C5B7C-EA29-45C5-B0C4-A7E7A15A4D24}</a:tableStyleId>
              </a:tblPr>
              <a:tblGrid>
                <a:gridCol w="1620325"/>
                <a:gridCol w="1098975"/>
                <a:gridCol w="1359650"/>
                <a:gridCol w="1359650"/>
                <a:gridCol w="1359650"/>
                <a:gridCol w="1359650"/>
              </a:tblGrid>
              <a:tr h="487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Location 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24.3℃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21.6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20.9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24.15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24.8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00" name="Google Shape;1000;p84"/>
          <p:cNvSpPr txBox="1"/>
          <p:nvPr/>
        </p:nvSpPr>
        <p:spPr>
          <a:xfrm>
            <a:off x="463325" y="3950875"/>
            <a:ext cx="7962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Using the mean average, which is the coldest location?</a:t>
            </a:r>
            <a:endParaRPr/>
          </a:p>
        </p:txBody>
      </p:sp>
      <p:graphicFrame>
        <p:nvGraphicFramePr>
          <p:cNvPr id="1001" name="Google Shape;1001;p84"/>
          <p:cNvGraphicFramePr/>
          <p:nvPr/>
        </p:nvGraphicFramePr>
        <p:xfrm>
          <a:off x="596800" y="3340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{E40C5B7C-EA29-45C5-B0C4-A7E7A15A4D24}</a:tableStyleId>
              </a:tblPr>
              <a:tblGrid>
                <a:gridCol w="1604500"/>
                <a:gridCol w="1088250"/>
                <a:gridCol w="1346375"/>
                <a:gridCol w="1346375"/>
                <a:gridCol w="1346375"/>
                <a:gridCol w="1346375"/>
              </a:tblGrid>
              <a:tr h="439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Location 2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26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24.8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85"/>
          <p:cNvSpPr txBox="1"/>
          <p:nvPr>
            <p:ph idx="1" type="body"/>
          </p:nvPr>
        </p:nvSpPr>
        <p:spPr>
          <a:xfrm>
            <a:off x="324000" y="845100"/>
            <a:ext cx="8229300" cy="23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4) Andeep is taking part in a local Maths competition.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There are 10 questions.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Each correct answer gets 8 points.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Each incorrect answer gets (-6) points.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Each question not answered gets </a:t>
            </a:r>
            <a:r>
              <a:rPr lang="en-GB"/>
              <a:t>(-</a:t>
            </a:r>
            <a:r>
              <a:rPr lang="en-GB"/>
              <a:t>2) points.</a:t>
            </a:r>
            <a:endParaRPr/>
          </a:p>
        </p:txBody>
      </p:sp>
      <p:sp>
        <p:nvSpPr>
          <p:cNvPr id="1007" name="Google Shape;1007;p8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Integers, negatives and decimals in the real world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85"/>
          <p:cNvSpPr txBox="1"/>
          <p:nvPr/>
        </p:nvSpPr>
        <p:spPr>
          <a:xfrm>
            <a:off x="257894" y="3443275"/>
            <a:ext cx="82293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AutoNum type="alphaLcParenR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Andeep answers 4 correct, 3 incorrect and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does not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answer 2 questions. How many points does he have? </a:t>
            </a:r>
            <a:endParaRPr/>
          </a:p>
        </p:txBody>
      </p:sp>
      <p:pic>
        <p:nvPicPr>
          <p:cNvPr id="1009" name="Google Shape;1009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64774" y="1400050"/>
            <a:ext cx="2157175" cy="19664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86"/>
          <p:cNvSpPr txBox="1"/>
          <p:nvPr>
            <p:ph idx="1" type="body"/>
          </p:nvPr>
        </p:nvSpPr>
        <p:spPr>
          <a:xfrm>
            <a:off x="324000" y="845100"/>
            <a:ext cx="8229300" cy="23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4) b) In a </a:t>
            </a:r>
            <a:r>
              <a:rPr lang="en-GB">
                <a:solidFill>
                  <a:schemeClr val="accent4"/>
                </a:solidFill>
              </a:rPr>
              <a:t>different</a:t>
            </a:r>
            <a:r>
              <a:rPr lang="en-GB"/>
              <a:t> competition, Lucas gets 36 points.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There are 8 questions.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Each correct answer gets 12 points.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Each incorrect answer gets (-4) points.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Each question not answered gets (-2) points.</a:t>
            </a:r>
            <a:endParaRPr/>
          </a:p>
        </p:txBody>
      </p:sp>
      <p:sp>
        <p:nvSpPr>
          <p:cNvPr id="1015" name="Google Shape;1015;p8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Integers, negatives and decimals in the real world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86"/>
          <p:cNvSpPr txBox="1"/>
          <p:nvPr/>
        </p:nvSpPr>
        <p:spPr>
          <a:xfrm>
            <a:off x="234725" y="3367075"/>
            <a:ext cx="79620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Give some examples of how Lucas performed in the competition.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/>
          </a:p>
        </p:txBody>
      </p:sp>
      <p:pic>
        <p:nvPicPr>
          <p:cNvPr id="1017" name="Google Shape;1017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64774" y="1400050"/>
            <a:ext cx="2157175" cy="19664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87"/>
          <p:cNvSpPr txBox="1"/>
          <p:nvPr>
            <p:ph idx="1" type="body"/>
          </p:nvPr>
        </p:nvSpPr>
        <p:spPr>
          <a:xfrm>
            <a:off x="2213925" y="759300"/>
            <a:ext cx="634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Aisha has £13.45 credit on her school account. She spends £2.67 then spends £7.89. Aisha then puts £4.21 back into her account.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How much does Aisha have in her school account now?</a:t>
            </a:r>
            <a:endParaRPr sz="1800"/>
          </a:p>
        </p:txBody>
      </p:sp>
      <p:sp>
        <p:nvSpPr>
          <p:cNvPr id="1023" name="Google Shape;1023;p8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Integers, negatives and decimals in the real world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1024" name="Google Shape;1024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294025"/>
            <a:ext cx="1746266" cy="1405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5" name="Google Shape;1025;p87"/>
          <p:cNvSpPr txBox="1"/>
          <p:nvPr/>
        </p:nvSpPr>
        <p:spPr>
          <a:xfrm>
            <a:off x="-59050" y="3291475"/>
            <a:ext cx="4692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13.45 − 2.67 − 7.89 + 4.21 =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6" name="Google Shape;1026;p87"/>
          <p:cNvSpPr txBox="1"/>
          <p:nvPr/>
        </p:nvSpPr>
        <p:spPr>
          <a:xfrm>
            <a:off x="-59050" y="3780000"/>
            <a:ext cx="5224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13.45 + (-2.67) + (-7.89) + 4.21 =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7" name="Google Shape;1027;p87"/>
          <p:cNvSpPr txBox="1"/>
          <p:nvPr/>
        </p:nvSpPr>
        <p:spPr>
          <a:xfrm>
            <a:off x="4937825" y="2253675"/>
            <a:ext cx="188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Negatives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begin{array}{l}\ \ \left(-2.67\right)\\&amp;#13;&amp;#10;+\left(-7.89\right)\\&amp;#13;&amp;#10;\ \left(-10.56\right)\end{array}\begin{array}{l}\\&amp;#13;&amp;#10;\\&amp;#13;&amp;#10;\end{array}&quot;&gt;&lt;mtable columnalign=&quot;left&quot; columnspacing=&quot;1em&quot; rowspacing=&quot;4pt&quot;&gt;&lt;mtr&gt;&lt;mtd&gt;&lt;mtext&gt;&lt;/mtext&gt;&lt;mtext&gt;&lt;/mtext&gt;&lt;mrow data-mjx-texclass=&quot;INNER&quot;&gt;&lt;mo data-mjx-texclass=&quot;OPEN&quot;&gt;(&lt;/mo&gt;&lt;mo&gt;−&lt;/mo&gt;&lt;mn&gt;2.67&lt;/mn&gt;&lt;mo data-mjx-texclass=&quot;CLOSE&quot;&gt;)&lt;/mo&gt;&lt;/mrow&gt;&lt;/mtd&gt;&lt;/mtr&gt;&lt;mtr&gt;&lt;mtd&gt;&lt;mo&gt;+&lt;/mo&gt;&lt;mrow data-mjx-texclass=&quot;INNER&quot;&gt;&lt;mo data-mjx-texclass=&quot;OPEN&quot;&gt;(&lt;/mo&gt;&lt;mo&gt;−&lt;/mo&gt;&lt;mn&gt;7.89&lt;/mn&gt;&lt;mo data-mjx-texclass=&quot;CLOSE&quot;&gt;)&lt;/mo&gt;&lt;/mrow&gt;&lt;/mtd&gt;&lt;/mtr&gt;&lt;mtr&gt;&lt;mtd&gt;&lt;mtext&gt;&lt;/mtext&gt;&lt;mrow data-mjx-texclass=&quot;INNER&quot;&gt;&lt;mo data-mjx-texclass=&quot;OPEN&quot;&gt;(&lt;/mo&gt;&lt;mo&gt;−&lt;/mo&gt;&lt;mn&gt;10.56&lt;/mn&gt;&lt;mo data-mjx-texclass=&quot;CLOSE&quot;&gt;)&lt;/mo&gt;&lt;/mrow&gt;&lt;/mtd&gt;&lt;/mtr&gt;&lt;/mtable&gt;&lt;mtable columnalign=&quot;left&quot; columnspacing=&quot;1em&quot; rowspacing=&quot;4pt&quot;&gt;&lt;mtr&gt;&lt;mtd/&gt;&lt;/mtr&gt;&lt;mtr&gt;&lt;mtd/&gt;&lt;/mtr&gt;&lt;/mtable&gt;&lt;/math&gt;" id="1028" name="Google Shape;1028;p87" title="3 lines Line 1: negative 2.67 Line 2: positive negative 7.89 Line 3: negative 10.56 2 lines Line 1: blank Line 2: blank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0475" y="2715375"/>
            <a:ext cx="1262425" cy="1180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29" name="Google Shape;1029;p87"/>
          <p:cNvCxnSpPr/>
          <p:nvPr/>
        </p:nvCxnSpPr>
        <p:spPr>
          <a:xfrm flipH="1" rot="10800000">
            <a:off x="5636675" y="3545025"/>
            <a:ext cx="1063200" cy="2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0" name="Google Shape;1030;p87"/>
          <p:cNvCxnSpPr/>
          <p:nvPr/>
        </p:nvCxnSpPr>
        <p:spPr>
          <a:xfrm flipH="1" rot="10800000">
            <a:off x="5669700" y="3959800"/>
            <a:ext cx="1063200" cy="2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1" name="Google Shape;1031;p87"/>
          <p:cNvSpPr txBox="1"/>
          <p:nvPr/>
        </p:nvSpPr>
        <p:spPr>
          <a:xfrm>
            <a:off x="6232125" y="3834075"/>
            <a:ext cx="38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000"/>
          </a:p>
        </p:txBody>
      </p:sp>
      <p:sp>
        <p:nvSpPr>
          <p:cNvPr id="1032" name="Google Shape;1032;p87"/>
          <p:cNvSpPr txBox="1"/>
          <p:nvPr/>
        </p:nvSpPr>
        <p:spPr>
          <a:xfrm>
            <a:off x="6007350" y="3834075"/>
            <a:ext cx="38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000"/>
          </a:p>
        </p:txBody>
      </p:sp>
      <p:sp>
        <p:nvSpPr>
          <p:cNvPr id="1033" name="Google Shape;1033;p87"/>
          <p:cNvSpPr txBox="1"/>
          <p:nvPr/>
        </p:nvSpPr>
        <p:spPr>
          <a:xfrm>
            <a:off x="5815700" y="3834075"/>
            <a:ext cx="387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000"/>
          </a:p>
        </p:txBody>
      </p:sp>
      <p:sp>
        <p:nvSpPr>
          <p:cNvPr id="1034" name="Google Shape;1034;p87"/>
          <p:cNvSpPr txBox="1"/>
          <p:nvPr/>
        </p:nvSpPr>
        <p:spPr>
          <a:xfrm>
            <a:off x="-59050" y="4303200"/>
            <a:ext cx="5224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17.66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+ (-10.56) = 7.1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5" name="Google Shape;1035;p87"/>
          <p:cNvSpPr txBox="1"/>
          <p:nvPr/>
        </p:nvSpPr>
        <p:spPr>
          <a:xfrm>
            <a:off x="6936300" y="2253675"/>
            <a:ext cx="188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Positive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begin{array}{l}\ \ \ \ 13.45\\&amp;#13;&amp;#10;\ \ +4.21\\&amp;#13;&amp;#10;\ \ \ \ 17.66\end{array}&quot;&gt;&lt;mtable columnalign=&quot;left&quot; columnspacing=&quot;1em&quot; rowspacing=&quot;4pt&quot;&gt;&lt;mtr&gt;&lt;mtd&gt;&lt;mtext&gt;&lt;/mtext&gt;&lt;mtext&gt;&lt;/mtext&gt;&lt;mtext&gt;&lt;/mtext&gt;&lt;mtext&gt;&lt;/mtext&gt;&lt;mn&gt;13.45&lt;/mn&gt;&lt;/mtd&gt;&lt;/mtr&gt;&lt;mtr&gt;&lt;mtd&gt;&lt;mtext&gt;&lt;/mtext&gt;&lt;mtext&gt;&lt;/mtext&gt;&lt;mo&gt;+&lt;/mo&gt;&lt;mn&gt;4.21&lt;/mn&gt;&lt;/mtd&gt;&lt;/mtr&gt;&lt;mtr&gt;&lt;mtd&gt;&lt;mtext&gt;&lt;/mtext&gt;&lt;mtext&gt;&lt;/mtext&gt;&lt;mtext&gt;&lt;/mtext&gt;&lt;mtext&gt;&lt;/mtext&gt;&lt;mn&gt;17.66&lt;/mn&gt;&lt;/mtd&gt;&lt;/mtr&gt;&lt;/mtable&gt;&lt;/math&gt;" id="1036" name="Google Shape;1036;p87" title="3 lines Line 1: 13.45 Line 2: positive 4.21 Line 3: 17.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69524" y="2672963"/>
            <a:ext cx="815977" cy="1134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37" name="Google Shape;1037;p87"/>
          <p:cNvCxnSpPr/>
          <p:nvPr/>
        </p:nvCxnSpPr>
        <p:spPr>
          <a:xfrm flipH="1" rot="10800000">
            <a:off x="7429400" y="3503500"/>
            <a:ext cx="1063200" cy="2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8" name="Google Shape;1038;p87"/>
          <p:cNvCxnSpPr/>
          <p:nvPr/>
        </p:nvCxnSpPr>
        <p:spPr>
          <a:xfrm flipH="1" rot="10800000">
            <a:off x="7462425" y="3918275"/>
            <a:ext cx="1063200" cy="2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9" name="Google Shape;1039;p87"/>
          <p:cNvSpPr txBox="1"/>
          <p:nvPr/>
        </p:nvSpPr>
        <p:spPr>
          <a:xfrm>
            <a:off x="5165750" y="4496875"/>
            <a:ext cx="3489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Aisha has £7.10 left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8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Integers, negatives and decimals in the real world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88"/>
          <p:cNvSpPr txBox="1"/>
          <p:nvPr>
            <p:ph idx="1" type="body"/>
          </p:nvPr>
        </p:nvSpPr>
        <p:spPr>
          <a:xfrm>
            <a:off x="324000" y="729325"/>
            <a:ext cx="6596700" cy="190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Jun has a £20 note. He buys 4 green pens, 6 pencils and 2 orange highlighters.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shopkeeper gave Jun £6.16 in change.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Is this correct? Show your working out.</a:t>
            </a:r>
            <a:endParaRPr/>
          </a:p>
        </p:txBody>
      </p:sp>
      <p:pic>
        <p:nvPicPr>
          <p:cNvPr id="1046" name="Google Shape;1046;p88"/>
          <p:cNvPicPr preferRelativeResize="0"/>
          <p:nvPr/>
        </p:nvPicPr>
        <p:blipFill rotWithShape="1">
          <a:blip r:embed="rId3">
            <a:alphaModFix/>
          </a:blip>
          <a:srcRect b="49193" l="27397" r="63797" t="7218"/>
          <a:stretch/>
        </p:blipFill>
        <p:spPr>
          <a:xfrm>
            <a:off x="6214872" y="1070832"/>
            <a:ext cx="479811" cy="1310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7" name="Google Shape;1047;p88"/>
          <p:cNvPicPr preferRelativeResize="0"/>
          <p:nvPr/>
        </p:nvPicPr>
        <p:blipFill rotWithShape="1">
          <a:blip r:embed="rId3">
            <a:alphaModFix/>
          </a:blip>
          <a:srcRect b="49193" l="45472" r="45722" t="7218"/>
          <a:stretch/>
        </p:blipFill>
        <p:spPr>
          <a:xfrm>
            <a:off x="7018614" y="1051834"/>
            <a:ext cx="479811" cy="1310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8" name="Google Shape;1048;p88"/>
          <p:cNvPicPr preferRelativeResize="0"/>
          <p:nvPr/>
        </p:nvPicPr>
        <p:blipFill rotWithShape="1">
          <a:blip r:embed="rId3">
            <a:alphaModFix/>
          </a:blip>
          <a:srcRect b="49193" l="63295" r="27899" t="7218"/>
          <a:stretch/>
        </p:blipFill>
        <p:spPr>
          <a:xfrm>
            <a:off x="7832624" y="1077250"/>
            <a:ext cx="479811" cy="1310730"/>
          </a:xfrm>
          <a:prstGeom prst="rect">
            <a:avLst/>
          </a:prstGeom>
          <a:noFill/>
          <a:ln>
            <a:noFill/>
          </a:ln>
        </p:spPr>
      </p:pic>
      <p:sp>
        <p:nvSpPr>
          <p:cNvPr id="1049" name="Google Shape;1049;p88"/>
          <p:cNvSpPr txBox="1"/>
          <p:nvPr/>
        </p:nvSpPr>
        <p:spPr>
          <a:xfrm>
            <a:off x="7734794" y="2240950"/>
            <a:ext cx="71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£1.27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0" name="Google Shape;1050;p88"/>
          <p:cNvSpPr txBox="1"/>
          <p:nvPr/>
        </p:nvSpPr>
        <p:spPr>
          <a:xfrm>
            <a:off x="7036747" y="2240950"/>
            <a:ext cx="479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76p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1" name="Google Shape;1051;p88"/>
          <p:cNvSpPr txBox="1"/>
          <p:nvPr/>
        </p:nvSpPr>
        <p:spPr>
          <a:xfrm>
            <a:off x="6104400" y="2240950"/>
            <a:ext cx="714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£1.56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2" name="Google Shape;1052;p88"/>
          <p:cNvSpPr txBox="1"/>
          <p:nvPr/>
        </p:nvSpPr>
        <p:spPr>
          <a:xfrm>
            <a:off x="249875" y="2488200"/>
            <a:ext cx="1560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 × 1.56 =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53" name="Google Shape;1053;p88"/>
          <p:cNvSpPr txBox="1"/>
          <p:nvPr/>
        </p:nvSpPr>
        <p:spPr>
          <a:xfrm>
            <a:off x="285250" y="2952000"/>
            <a:ext cx="1560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0.76 =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54" name="Google Shape;1054;p88"/>
          <p:cNvSpPr txBox="1"/>
          <p:nvPr/>
        </p:nvSpPr>
        <p:spPr>
          <a:xfrm>
            <a:off x="249875" y="3349650"/>
            <a:ext cx="4692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1.27 = 2.54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55" name="Google Shape;1055;p88"/>
          <p:cNvSpPr txBox="1"/>
          <p:nvPr>
            <p:ph idx="4294967295" type="body"/>
          </p:nvPr>
        </p:nvSpPr>
        <p:spPr>
          <a:xfrm>
            <a:off x="1741150" y="3001350"/>
            <a:ext cx="32370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 × 0.76 × 2 =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56" name="Google Shape;1056;p88"/>
          <p:cNvSpPr txBox="1"/>
          <p:nvPr>
            <p:ph idx="4294967295" type="body"/>
          </p:nvPr>
        </p:nvSpPr>
        <p:spPr>
          <a:xfrm>
            <a:off x="3333250" y="4404575"/>
            <a:ext cx="52857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change is incorrect. Jun should get £6.66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57" name="Google Shape;1057;p88"/>
          <p:cNvSpPr txBox="1"/>
          <p:nvPr>
            <p:ph idx="4294967295" type="body"/>
          </p:nvPr>
        </p:nvSpPr>
        <p:spPr>
          <a:xfrm>
            <a:off x="1751069" y="2588007"/>
            <a:ext cx="33723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 × 2 × 1.56 = 2 × 3.12 =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58" name="Google Shape;1058;p88"/>
          <p:cNvSpPr txBox="1"/>
          <p:nvPr>
            <p:ph idx="4294967295" type="body"/>
          </p:nvPr>
        </p:nvSpPr>
        <p:spPr>
          <a:xfrm>
            <a:off x="4788900" y="2570838"/>
            <a:ext cx="9612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6.24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59" name="Google Shape;1059;p88"/>
          <p:cNvSpPr txBox="1"/>
          <p:nvPr>
            <p:ph idx="4294967295" type="body"/>
          </p:nvPr>
        </p:nvSpPr>
        <p:spPr>
          <a:xfrm>
            <a:off x="3463875" y="3001350"/>
            <a:ext cx="32370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2.28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× 2 = 4.56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60" name="Google Shape;1060;p88"/>
          <p:cNvSpPr txBox="1"/>
          <p:nvPr/>
        </p:nvSpPr>
        <p:spPr>
          <a:xfrm>
            <a:off x="285250" y="3794975"/>
            <a:ext cx="4692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6.24 + 4.56 + 2.54 = 13.34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61" name="Google Shape;1061;p88"/>
          <p:cNvSpPr txBox="1"/>
          <p:nvPr/>
        </p:nvSpPr>
        <p:spPr>
          <a:xfrm>
            <a:off x="285250" y="4227150"/>
            <a:ext cx="4692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20 - 13.34 = 6.66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8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Integers, negatives and decimals in the real world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89"/>
          <p:cNvSpPr txBox="1"/>
          <p:nvPr>
            <p:ph idx="4294967295" type="body"/>
          </p:nvPr>
        </p:nvSpPr>
        <p:spPr>
          <a:xfrm>
            <a:off x="573398" y="2477450"/>
            <a:ext cx="80784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</a:t>
            </a:r>
            <a:r>
              <a:rPr lang="en-GB" sz="1800"/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24.3) + (</a:t>
            </a:r>
            <a:r>
              <a:rPr lang="en-GB" sz="1800"/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21.6) + (</a:t>
            </a:r>
            <a:r>
              <a:rPr lang="en-GB" sz="1800"/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20.9) + (</a:t>
            </a:r>
            <a:r>
              <a:rPr lang="en-GB" sz="1800"/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24.15) + (</a:t>
            </a:r>
            <a:r>
              <a:rPr lang="en-GB" sz="1800"/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24.8) = (</a:t>
            </a:r>
            <a:r>
              <a:rPr lang="en-GB" sz="1800"/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115.75)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68" name="Google Shape;1068;p89"/>
          <p:cNvSpPr txBox="1"/>
          <p:nvPr>
            <p:ph idx="4294967295" type="body"/>
          </p:nvPr>
        </p:nvSpPr>
        <p:spPr>
          <a:xfrm>
            <a:off x="573400" y="2815500"/>
            <a:ext cx="79620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</a:t>
            </a:r>
            <a:r>
              <a:rPr lang="en-GB" sz="1800"/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115.75)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÷ 5 = (</a:t>
            </a:r>
            <a:r>
              <a:rPr lang="en-GB" sz="1800"/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115.75) ÷ 10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× 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 = (</a:t>
            </a:r>
            <a:r>
              <a:rPr lang="en-GB" sz="1800"/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11.575)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× 2 = (</a:t>
            </a:r>
            <a:r>
              <a:rPr lang="en-GB" sz="1800"/>
              <a:t>−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23.15)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69" name="Google Shape;1069;p89"/>
          <p:cNvSpPr txBox="1"/>
          <p:nvPr>
            <p:ph idx="1" type="body"/>
          </p:nvPr>
        </p:nvSpPr>
        <p:spPr>
          <a:xfrm>
            <a:off x="3114950" y="845100"/>
            <a:ext cx="5438400" cy="167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3) There are two places in Antarctica scientists want to investigate. They look at the temperature in the morning over 5 days.</a:t>
            </a:r>
            <a:endParaRPr sz="1800"/>
          </a:p>
        </p:txBody>
      </p:sp>
      <p:pic>
        <p:nvPicPr>
          <p:cNvPr id="1070" name="Google Shape;1070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7350" y="845100"/>
            <a:ext cx="1409850" cy="93952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71" name="Google Shape;1071;p89"/>
          <p:cNvGraphicFramePr/>
          <p:nvPr/>
        </p:nvGraphicFramePr>
        <p:xfrm>
          <a:off x="493050" y="1887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{E40C5B7C-EA29-45C5-B0C4-A7E7A15A4D24}</a:tableStyleId>
              </a:tblPr>
              <a:tblGrid>
                <a:gridCol w="1620325"/>
                <a:gridCol w="1098975"/>
                <a:gridCol w="1359650"/>
                <a:gridCol w="1359650"/>
                <a:gridCol w="1359650"/>
                <a:gridCol w="1359650"/>
              </a:tblGrid>
              <a:tr h="272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Location 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−24.3℃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21.6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20.9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24.15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24.8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72" name="Google Shape;1072;p89"/>
          <p:cNvSpPr txBox="1"/>
          <p:nvPr/>
        </p:nvSpPr>
        <p:spPr>
          <a:xfrm>
            <a:off x="463325" y="4418050"/>
            <a:ext cx="796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Location 2 is slightly colder on average than location 1.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073" name="Google Shape;1073;p89"/>
          <p:cNvGraphicFramePr/>
          <p:nvPr/>
        </p:nvGraphicFramePr>
        <p:xfrm>
          <a:off x="493050" y="3239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{E40C5B7C-EA29-45C5-B0C4-A7E7A15A4D24}</a:tableStyleId>
              </a:tblPr>
              <a:tblGrid>
                <a:gridCol w="1604500"/>
                <a:gridCol w="1088250"/>
                <a:gridCol w="1346375"/>
                <a:gridCol w="1346375"/>
                <a:gridCol w="1346375"/>
                <a:gridCol w="1346375"/>
              </a:tblGrid>
              <a:tr h="439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Location 2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26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24.8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℃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74" name="Google Shape;1074;p89"/>
          <p:cNvSpPr txBox="1"/>
          <p:nvPr>
            <p:ph idx="4294967295" type="body"/>
          </p:nvPr>
        </p:nvSpPr>
        <p:spPr>
          <a:xfrm>
            <a:off x="492973" y="3759425"/>
            <a:ext cx="80784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</a:t>
            </a:r>
            <a:r>
              <a:rPr lang="en-GB" sz="1800"/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22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) + (</a:t>
            </a:r>
            <a:r>
              <a:rPr lang="en-GB" sz="1800"/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21) + (</a:t>
            </a:r>
            <a:r>
              <a:rPr lang="en-GB" sz="1800"/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26) + (</a:t>
            </a:r>
            <a:r>
              <a:rPr lang="en-GB" sz="1800"/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24) + (</a:t>
            </a:r>
            <a:r>
              <a:rPr lang="en-GB" sz="1800"/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24.8) = (</a:t>
            </a:r>
            <a:r>
              <a:rPr lang="en-GB" sz="1800"/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117.8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)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5" name="Google Shape;1075;p89"/>
          <p:cNvSpPr txBox="1"/>
          <p:nvPr>
            <p:ph idx="4294967295" type="body"/>
          </p:nvPr>
        </p:nvSpPr>
        <p:spPr>
          <a:xfrm>
            <a:off x="492975" y="4097475"/>
            <a:ext cx="7962000" cy="42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</a:t>
            </a:r>
            <a:r>
              <a:rPr lang="en-GB" sz="1800"/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117.8) ÷ 5 = (</a:t>
            </a:r>
            <a:r>
              <a:rPr lang="en-GB" sz="1800"/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117.8) ÷ 10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× 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 = (</a:t>
            </a:r>
            <a:r>
              <a:rPr lang="en-GB" sz="1800"/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11.78)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× 2 = (</a:t>
            </a:r>
            <a:r>
              <a:rPr lang="en-GB" sz="1800"/>
              <a:t>−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23.56)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9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4) Andeep is taking part in a local Maths competition.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There are 10 questions.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Each correct answer gets 8 points.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Each incorrect answer gets (-6) points.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Each question not answered gets (-2) points.</a:t>
            </a:r>
            <a:endParaRPr sz="1800"/>
          </a:p>
        </p:txBody>
      </p:sp>
      <p:sp>
        <p:nvSpPr>
          <p:cNvPr id="1081" name="Google Shape;1081;p9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Integers, negatives and decimals in the real world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90"/>
          <p:cNvSpPr txBox="1"/>
          <p:nvPr/>
        </p:nvSpPr>
        <p:spPr>
          <a:xfrm>
            <a:off x="253650" y="2808275"/>
            <a:ext cx="86367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AutoNum type="alphaLcParenR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Andeep answers 4 correct, 3 incorrect and misses 2 questions. How many points does he have?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3" name="Google Shape;1083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2824" y="944775"/>
            <a:ext cx="2157175" cy="1966473"/>
          </a:xfrm>
          <a:prstGeom prst="rect">
            <a:avLst/>
          </a:prstGeom>
          <a:noFill/>
          <a:ln>
            <a:noFill/>
          </a:ln>
        </p:spPr>
      </p:pic>
      <p:sp>
        <p:nvSpPr>
          <p:cNvPr id="1084" name="Google Shape;1084;p90"/>
          <p:cNvSpPr txBox="1"/>
          <p:nvPr/>
        </p:nvSpPr>
        <p:spPr>
          <a:xfrm>
            <a:off x="247800" y="3396950"/>
            <a:ext cx="428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8 + 3 × (-6) + 2 × (-2) =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/>
          </a:p>
        </p:txBody>
      </p:sp>
      <p:sp>
        <p:nvSpPr>
          <p:cNvPr id="1085" name="Google Shape;1085;p90"/>
          <p:cNvSpPr txBox="1"/>
          <p:nvPr/>
        </p:nvSpPr>
        <p:spPr>
          <a:xfrm>
            <a:off x="247800" y="3829800"/>
            <a:ext cx="428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32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+ (-18) + (-4) =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/>
          </a:p>
        </p:txBody>
      </p:sp>
      <p:sp>
        <p:nvSpPr>
          <p:cNvPr id="1086" name="Google Shape;1086;p90"/>
          <p:cNvSpPr txBox="1"/>
          <p:nvPr/>
        </p:nvSpPr>
        <p:spPr>
          <a:xfrm>
            <a:off x="247800" y="4248200"/>
            <a:ext cx="428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32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+ (-22) =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10</a:t>
            </a:r>
            <a:endParaRPr/>
          </a:p>
        </p:txBody>
      </p:sp>
      <p:sp>
        <p:nvSpPr>
          <p:cNvPr id="1087" name="Google Shape;1087;p90"/>
          <p:cNvSpPr txBox="1"/>
          <p:nvPr/>
        </p:nvSpPr>
        <p:spPr>
          <a:xfrm>
            <a:off x="2965925" y="4320000"/>
            <a:ext cx="545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Andeep has 10 points.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9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4b) In a </a:t>
            </a:r>
            <a:r>
              <a:rPr lang="en-GB" sz="1800">
                <a:solidFill>
                  <a:schemeClr val="accent4"/>
                </a:solidFill>
              </a:rPr>
              <a:t>different</a:t>
            </a:r>
            <a:r>
              <a:rPr lang="en-GB" sz="1800"/>
              <a:t> competition, Lucas gets 36 points.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There are 8 questions.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Each correct answer gets 12 points.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Each incorrect answer gets (</a:t>
            </a:r>
            <a:r>
              <a:rPr lang="en-GB" sz="1800"/>
              <a:t>-</a:t>
            </a:r>
            <a:r>
              <a:rPr lang="en-GB" sz="1800"/>
              <a:t>4) points.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Each question not answered gets (-2) points.</a:t>
            </a:r>
            <a:endParaRPr sz="1800"/>
          </a:p>
        </p:txBody>
      </p:sp>
      <p:sp>
        <p:nvSpPr>
          <p:cNvPr id="1093" name="Google Shape;1093;p9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Integers, negatives and decimals in the real world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91"/>
          <p:cNvSpPr txBox="1"/>
          <p:nvPr/>
        </p:nvSpPr>
        <p:spPr>
          <a:xfrm>
            <a:off x="218850" y="2904825"/>
            <a:ext cx="796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Give some examples of how Lucas performed in the competition. </a:t>
            </a:r>
            <a:endParaRPr sz="1800"/>
          </a:p>
        </p:txBody>
      </p:sp>
      <p:pic>
        <p:nvPicPr>
          <p:cNvPr id="1095" name="Google Shape;1095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7674" y="853700"/>
            <a:ext cx="2157175" cy="1966473"/>
          </a:xfrm>
          <a:prstGeom prst="rect">
            <a:avLst/>
          </a:prstGeom>
          <a:noFill/>
          <a:ln>
            <a:noFill/>
          </a:ln>
        </p:spPr>
      </p:pic>
      <p:sp>
        <p:nvSpPr>
          <p:cNvPr id="1096" name="Google Shape;1096;p91"/>
          <p:cNvSpPr txBox="1"/>
          <p:nvPr/>
        </p:nvSpPr>
        <p:spPr>
          <a:xfrm>
            <a:off x="284150" y="3780000"/>
            <a:ext cx="553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12 + 2 × (-4) + 2 × (-2) = 36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/>
          </a:p>
        </p:txBody>
      </p:sp>
      <p:sp>
        <p:nvSpPr>
          <p:cNvPr id="1097" name="Google Shape;1097;p91"/>
          <p:cNvSpPr txBox="1"/>
          <p:nvPr/>
        </p:nvSpPr>
        <p:spPr>
          <a:xfrm>
            <a:off x="232650" y="3366525"/>
            <a:ext cx="4284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Example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/>
          </a:p>
        </p:txBody>
      </p:sp>
      <p:sp>
        <p:nvSpPr>
          <p:cNvPr id="1098" name="Google Shape;1098;p91"/>
          <p:cNvSpPr txBox="1"/>
          <p:nvPr/>
        </p:nvSpPr>
        <p:spPr>
          <a:xfrm>
            <a:off x="265950" y="4205400"/>
            <a:ext cx="783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 correct, 2 incorrect and 2 missed.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92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Integers, negatives and decimals in the real world</a:t>
            </a:r>
            <a:endParaRPr/>
          </a:p>
        </p:txBody>
      </p:sp>
      <p:sp>
        <p:nvSpPr>
          <p:cNvPr id="1104" name="Google Shape;1104;p92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Measurements and accuracy</a:t>
            </a:r>
            <a:endParaRPr/>
          </a:p>
        </p:txBody>
      </p:sp>
      <p:sp>
        <p:nvSpPr>
          <p:cNvPr id="1105" name="Google Shape;1105;p92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integers and decimals</a:t>
            </a:r>
            <a:endParaRPr/>
          </a:p>
        </p:txBody>
      </p:sp>
      <p:pic>
        <p:nvPicPr>
          <p:cNvPr id="1106" name="Google Shape;1106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645" y="2988372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93"/>
          <p:cNvSpPr txBox="1"/>
          <p:nvPr>
            <p:ph idx="1" type="body"/>
          </p:nvPr>
        </p:nvSpPr>
        <p:spPr>
          <a:xfrm>
            <a:off x="324000" y="759300"/>
            <a:ext cx="8237700" cy="149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/>
              <a:t>We use decimals with measurements to increase the accuracy. </a:t>
            </a:r>
            <a:endParaRPr sz="2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300"/>
              <a:t>This level of accuracy is important in so many different fields of expertise: medicine, engineering, biochemistry, </a:t>
            </a:r>
            <a:r>
              <a:rPr lang="en-GB" sz="2300"/>
              <a:t>construction,</a:t>
            </a:r>
            <a:r>
              <a:rPr lang="en-GB" sz="2300"/>
              <a:t> etc.</a:t>
            </a:r>
            <a:endParaRPr sz="2300"/>
          </a:p>
        </p:txBody>
      </p:sp>
      <p:sp>
        <p:nvSpPr>
          <p:cNvPr id="1112" name="Google Shape;1112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Measurements and accuracy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94"/>
          <p:cNvSpPr txBox="1"/>
          <p:nvPr>
            <p:ph idx="1" type="body"/>
          </p:nvPr>
        </p:nvSpPr>
        <p:spPr>
          <a:xfrm>
            <a:off x="324000" y="759300"/>
            <a:ext cx="8237700" cy="149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/>
              <a:t>When applying operations to measurements, it is sometimes necessary to have all the units the same.</a:t>
            </a:r>
            <a:endParaRPr sz="23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300"/>
              <a:t>Knowing the prefixes can help convert to the same unit.</a:t>
            </a:r>
            <a:endParaRPr sz="2300"/>
          </a:p>
        </p:txBody>
      </p:sp>
      <p:sp>
        <p:nvSpPr>
          <p:cNvPr id="1118" name="Google Shape;1118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Measurements and accuracy</a:t>
            </a:r>
            <a:endParaRPr/>
          </a:p>
        </p:txBody>
      </p:sp>
      <p:sp>
        <p:nvSpPr>
          <p:cNvPr id="1119" name="Google Shape;1119;p94"/>
          <p:cNvSpPr txBox="1"/>
          <p:nvPr>
            <p:ph idx="4294967295" type="subTitle"/>
          </p:nvPr>
        </p:nvSpPr>
        <p:spPr>
          <a:xfrm>
            <a:off x="324000" y="2426775"/>
            <a:ext cx="51165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Centi placed before a unit means           </a:t>
            </a:r>
            <a:endParaRPr/>
          </a:p>
        </p:txBody>
      </p:sp>
      <p:sp>
        <p:nvSpPr>
          <p:cNvPr id="1120" name="Google Shape;1120;p94"/>
          <p:cNvSpPr txBox="1"/>
          <p:nvPr>
            <p:ph idx="4294967295" type="subTitle"/>
          </p:nvPr>
        </p:nvSpPr>
        <p:spPr>
          <a:xfrm>
            <a:off x="358325" y="3280350"/>
            <a:ext cx="49791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Milli placed before a unit means            </a:t>
            </a:r>
            <a:endParaRPr/>
          </a:p>
        </p:txBody>
      </p:sp>
      <p:sp>
        <p:nvSpPr>
          <p:cNvPr id="1121" name="Google Shape;1121;p94"/>
          <p:cNvSpPr txBox="1"/>
          <p:nvPr>
            <p:ph idx="4294967295" type="subTitle"/>
          </p:nvPr>
        </p:nvSpPr>
        <p:spPr>
          <a:xfrm>
            <a:off x="400200" y="4130400"/>
            <a:ext cx="69957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Kilo placed before a unit means 1000 times.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}{100}&quot;&gt;&lt;mfrac&gt;&lt;mn&gt;1&lt;/mn&gt;&lt;mn&gt;100&lt;/mn&gt;&lt;/mfrac&gt;&lt;/math&gt;" id="1122" name="Google Shape;1122;p94" title="1 over 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5200" y="2332800"/>
            <a:ext cx="382215" cy="48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00}&quot;&gt;&lt;mfrac&gt;&lt;mn&gt;1&lt;/mn&gt;&lt;mn&gt;1000&lt;/mn&gt;&lt;/mfrac&gt;&lt;/math&gt;" id="1123" name="Google Shape;1123;p94" title="1 over 1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4000" y="3231602"/>
            <a:ext cx="499806" cy="48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95"/>
          <p:cNvSpPr txBox="1"/>
          <p:nvPr>
            <p:ph idx="1" type="body"/>
          </p:nvPr>
        </p:nvSpPr>
        <p:spPr>
          <a:xfrm>
            <a:off x="324000" y="759300"/>
            <a:ext cx="82377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Three builders measured different parts of a house.</a:t>
            </a:r>
            <a:endParaRPr/>
          </a:p>
        </p:txBody>
      </p:sp>
      <p:sp>
        <p:nvSpPr>
          <p:cNvPr id="1129" name="Google Shape;1129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Measurements and accuracy</a:t>
            </a:r>
            <a:endParaRPr/>
          </a:p>
        </p:txBody>
      </p:sp>
      <p:pic>
        <p:nvPicPr>
          <p:cNvPr id="1130" name="Google Shape;1130;p95"/>
          <p:cNvPicPr preferRelativeResize="0"/>
          <p:nvPr/>
        </p:nvPicPr>
        <p:blipFill rotWithShape="1">
          <a:blip r:embed="rId3">
            <a:alphaModFix/>
          </a:blip>
          <a:srcRect b="5007" l="29134" r="34107" t="25735"/>
          <a:stretch/>
        </p:blipFill>
        <p:spPr>
          <a:xfrm>
            <a:off x="384500" y="1207025"/>
            <a:ext cx="2439975" cy="3061894"/>
          </a:xfrm>
          <a:prstGeom prst="rect">
            <a:avLst/>
          </a:prstGeom>
          <a:noFill/>
          <a:ln>
            <a:noFill/>
          </a:ln>
        </p:spPr>
      </p:pic>
      <p:sp>
        <p:nvSpPr>
          <p:cNvPr id="1131" name="Google Shape;1131;p95"/>
          <p:cNvSpPr txBox="1"/>
          <p:nvPr>
            <p:ph idx="1" type="body"/>
          </p:nvPr>
        </p:nvSpPr>
        <p:spPr>
          <a:xfrm>
            <a:off x="3008275" y="1263300"/>
            <a:ext cx="57681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Builder A measured the first section to be 2.56 m</a:t>
            </a:r>
            <a:endParaRPr sz="1900"/>
          </a:p>
        </p:txBody>
      </p:sp>
      <p:sp>
        <p:nvSpPr>
          <p:cNvPr id="1132" name="Google Shape;1132;p95"/>
          <p:cNvSpPr txBox="1"/>
          <p:nvPr>
            <p:ph idx="1" type="body"/>
          </p:nvPr>
        </p:nvSpPr>
        <p:spPr>
          <a:xfrm>
            <a:off x="3008275" y="1732200"/>
            <a:ext cx="55965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Builder B measured the second section to be 245 cm</a:t>
            </a:r>
            <a:endParaRPr sz="1900"/>
          </a:p>
        </p:txBody>
      </p:sp>
      <p:sp>
        <p:nvSpPr>
          <p:cNvPr id="1133" name="Google Shape;1133;p95"/>
          <p:cNvSpPr txBox="1"/>
          <p:nvPr>
            <p:ph idx="1" type="body"/>
          </p:nvPr>
        </p:nvSpPr>
        <p:spPr>
          <a:xfrm>
            <a:off x="2976875" y="2552250"/>
            <a:ext cx="54228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Builder C measured the third section to be 3890 mm</a:t>
            </a:r>
            <a:endParaRPr sz="1900"/>
          </a:p>
        </p:txBody>
      </p:sp>
      <p:sp>
        <p:nvSpPr>
          <p:cNvPr id="1134" name="Google Shape;1134;p95"/>
          <p:cNvSpPr txBox="1"/>
          <p:nvPr>
            <p:ph idx="1" type="body"/>
          </p:nvPr>
        </p:nvSpPr>
        <p:spPr>
          <a:xfrm>
            <a:off x="2957400" y="3361500"/>
            <a:ext cx="54228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The owner wants the length of the house in metres.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/>
              <a:t>What do you think the builders need to do?</a:t>
            </a:r>
            <a:endParaRPr sz="1900"/>
          </a:p>
        </p:txBody>
      </p:sp>
      <p:cxnSp>
        <p:nvCxnSpPr>
          <p:cNvPr id="1135" name="Google Shape;1135;p95"/>
          <p:cNvCxnSpPr/>
          <p:nvPr/>
        </p:nvCxnSpPr>
        <p:spPr>
          <a:xfrm>
            <a:off x="324000" y="4394200"/>
            <a:ext cx="833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36" name="Google Shape;1136;p95"/>
          <p:cNvCxnSpPr/>
          <p:nvPr/>
        </p:nvCxnSpPr>
        <p:spPr>
          <a:xfrm>
            <a:off x="1183650" y="4394200"/>
            <a:ext cx="833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37" name="Google Shape;1137;p95"/>
          <p:cNvCxnSpPr/>
          <p:nvPr/>
        </p:nvCxnSpPr>
        <p:spPr>
          <a:xfrm>
            <a:off x="1990775" y="4394200"/>
            <a:ext cx="833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38" name="Google Shape;1138;p95"/>
          <p:cNvSpPr txBox="1"/>
          <p:nvPr/>
        </p:nvSpPr>
        <p:spPr>
          <a:xfrm>
            <a:off x="324000" y="4320000"/>
            <a:ext cx="88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2.56m</a:t>
            </a:r>
            <a:endParaRPr sz="1800"/>
          </a:p>
        </p:txBody>
      </p:sp>
      <p:sp>
        <p:nvSpPr>
          <p:cNvPr id="1139" name="Google Shape;1139;p95"/>
          <p:cNvSpPr txBox="1"/>
          <p:nvPr/>
        </p:nvSpPr>
        <p:spPr>
          <a:xfrm>
            <a:off x="1175876" y="4328581"/>
            <a:ext cx="99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245cm</a:t>
            </a:r>
            <a:endParaRPr sz="1800"/>
          </a:p>
        </p:txBody>
      </p:sp>
      <p:sp>
        <p:nvSpPr>
          <p:cNvPr id="1140" name="Google Shape;1140;p95"/>
          <p:cNvSpPr txBox="1"/>
          <p:nvPr/>
        </p:nvSpPr>
        <p:spPr>
          <a:xfrm>
            <a:off x="2090275" y="4328575"/>
            <a:ext cx="138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3890mm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96"/>
          <p:cNvSpPr txBox="1"/>
          <p:nvPr>
            <p:ph idx="1" type="body"/>
          </p:nvPr>
        </p:nvSpPr>
        <p:spPr>
          <a:xfrm>
            <a:off x="324000" y="759300"/>
            <a:ext cx="82377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Convert all lengths to metres.</a:t>
            </a:r>
            <a:endParaRPr/>
          </a:p>
        </p:txBody>
      </p:sp>
      <p:sp>
        <p:nvSpPr>
          <p:cNvPr id="1146" name="Google Shape;1146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Measurements and accuracy</a:t>
            </a:r>
            <a:endParaRPr/>
          </a:p>
        </p:txBody>
      </p:sp>
      <p:pic>
        <p:nvPicPr>
          <p:cNvPr id="1147" name="Google Shape;1147;p96"/>
          <p:cNvPicPr preferRelativeResize="0"/>
          <p:nvPr/>
        </p:nvPicPr>
        <p:blipFill rotWithShape="1">
          <a:blip r:embed="rId3">
            <a:alphaModFix/>
          </a:blip>
          <a:srcRect b="5007" l="29134" r="34107" t="25735"/>
          <a:stretch/>
        </p:blipFill>
        <p:spPr>
          <a:xfrm>
            <a:off x="384500" y="1207025"/>
            <a:ext cx="2439975" cy="3061894"/>
          </a:xfrm>
          <a:prstGeom prst="rect">
            <a:avLst/>
          </a:prstGeom>
          <a:noFill/>
          <a:ln>
            <a:noFill/>
          </a:ln>
        </p:spPr>
      </p:pic>
      <p:sp>
        <p:nvSpPr>
          <p:cNvPr id="1148" name="Google Shape;1148;p96"/>
          <p:cNvSpPr txBox="1"/>
          <p:nvPr>
            <p:ph idx="1" type="body"/>
          </p:nvPr>
        </p:nvSpPr>
        <p:spPr>
          <a:xfrm>
            <a:off x="3008275" y="1263300"/>
            <a:ext cx="24399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2.56 m </a:t>
            </a:r>
            <a:endParaRPr sz="2100"/>
          </a:p>
        </p:txBody>
      </p:sp>
      <p:grpSp>
        <p:nvGrpSpPr>
          <p:cNvPr id="1149" name="Google Shape;1149;p96"/>
          <p:cNvGrpSpPr/>
          <p:nvPr/>
        </p:nvGrpSpPr>
        <p:grpSpPr>
          <a:xfrm>
            <a:off x="324000" y="4394200"/>
            <a:ext cx="2500475" cy="0"/>
            <a:chOff x="272675" y="4572475"/>
            <a:chExt cx="2500475" cy="0"/>
          </a:xfrm>
        </p:grpSpPr>
        <p:cxnSp>
          <p:nvCxnSpPr>
            <p:cNvPr id="1150" name="Google Shape;1150;p96"/>
            <p:cNvCxnSpPr/>
            <p:nvPr/>
          </p:nvCxnSpPr>
          <p:spPr>
            <a:xfrm>
              <a:off x="272675" y="4572475"/>
              <a:ext cx="833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151" name="Google Shape;1151;p96"/>
            <p:cNvCxnSpPr/>
            <p:nvPr/>
          </p:nvCxnSpPr>
          <p:spPr>
            <a:xfrm>
              <a:off x="1132325" y="4572475"/>
              <a:ext cx="833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152" name="Google Shape;1152;p96"/>
            <p:cNvCxnSpPr/>
            <p:nvPr/>
          </p:nvCxnSpPr>
          <p:spPr>
            <a:xfrm>
              <a:off x="1939450" y="4572475"/>
              <a:ext cx="833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153" name="Google Shape;1153;p96"/>
          <p:cNvSpPr txBox="1"/>
          <p:nvPr/>
        </p:nvSpPr>
        <p:spPr>
          <a:xfrm>
            <a:off x="324000" y="4320000"/>
            <a:ext cx="88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2.56m</a:t>
            </a:r>
            <a:endParaRPr sz="1800"/>
          </a:p>
        </p:txBody>
      </p:sp>
      <p:sp>
        <p:nvSpPr>
          <p:cNvPr id="1154" name="Google Shape;1154;p96"/>
          <p:cNvSpPr txBox="1"/>
          <p:nvPr/>
        </p:nvSpPr>
        <p:spPr>
          <a:xfrm>
            <a:off x="1175876" y="4328581"/>
            <a:ext cx="99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245cm</a:t>
            </a:r>
            <a:endParaRPr sz="1800"/>
          </a:p>
        </p:txBody>
      </p:sp>
      <p:sp>
        <p:nvSpPr>
          <p:cNvPr id="1155" name="Google Shape;1155;p96"/>
          <p:cNvSpPr txBox="1"/>
          <p:nvPr/>
        </p:nvSpPr>
        <p:spPr>
          <a:xfrm>
            <a:off x="2090275" y="4328575"/>
            <a:ext cx="138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3890mm</a:t>
            </a:r>
            <a:endParaRPr sz="1800"/>
          </a:p>
        </p:txBody>
      </p:sp>
      <p:sp>
        <p:nvSpPr>
          <p:cNvPr id="1156" name="Google Shape;1156;p96"/>
          <p:cNvSpPr txBox="1"/>
          <p:nvPr>
            <p:ph idx="1" type="body"/>
          </p:nvPr>
        </p:nvSpPr>
        <p:spPr>
          <a:xfrm>
            <a:off x="3915931" y="1258511"/>
            <a:ext cx="13293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= 2.56 m</a:t>
            </a:r>
            <a:endParaRPr sz="2100"/>
          </a:p>
        </p:txBody>
      </p:sp>
      <p:sp>
        <p:nvSpPr>
          <p:cNvPr id="1157" name="Google Shape;1157;p96"/>
          <p:cNvSpPr txBox="1"/>
          <p:nvPr>
            <p:ph idx="1" type="body"/>
          </p:nvPr>
        </p:nvSpPr>
        <p:spPr>
          <a:xfrm>
            <a:off x="3008275" y="1907100"/>
            <a:ext cx="10506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245</a:t>
            </a:r>
            <a:r>
              <a:rPr lang="en-GB" sz="2100"/>
              <a:t> cm </a:t>
            </a:r>
            <a:endParaRPr sz="2100"/>
          </a:p>
        </p:txBody>
      </p:sp>
      <p:sp>
        <p:nvSpPr>
          <p:cNvPr id="1158" name="Google Shape;1158;p96"/>
          <p:cNvSpPr txBox="1"/>
          <p:nvPr>
            <p:ph idx="1" type="body"/>
          </p:nvPr>
        </p:nvSpPr>
        <p:spPr>
          <a:xfrm>
            <a:off x="3008275" y="2543925"/>
            <a:ext cx="14796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3890 mm </a:t>
            </a:r>
            <a:r>
              <a:rPr lang="en-GB" sz="2100"/>
              <a:t> </a:t>
            </a:r>
            <a:endParaRPr sz="2100"/>
          </a:p>
        </p:txBody>
      </p:sp>
      <p:sp>
        <p:nvSpPr>
          <p:cNvPr id="1159" name="Google Shape;1159;p96"/>
          <p:cNvSpPr txBox="1"/>
          <p:nvPr>
            <p:ph idx="1" type="body"/>
          </p:nvPr>
        </p:nvSpPr>
        <p:spPr>
          <a:xfrm>
            <a:off x="4278131" y="2550911"/>
            <a:ext cx="13293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= 3.89 m</a:t>
            </a:r>
            <a:endParaRPr sz="2100"/>
          </a:p>
        </p:txBody>
      </p:sp>
      <p:sp>
        <p:nvSpPr>
          <p:cNvPr id="1160" name="Google Shape;1160;p96"/>
          <p:cNvSpPr txBox="1"/>
          <p:nvPr>
            <p:ph idx="1" type="body"/>
          </p:nvPr>
        </p:nvSpPr>
        <p:spPr>
          <a:xfrm>
            <a:off x="4058881" y="1901224"/>
            <a:ext cx="13293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= 2.45m</a:t>
            </a:r>
            <a:endParaRPr sz="2100"/>
          </a:p>
        </p:txBody>
      </p:sp>
      <p:sp>
        <p:nvSpPr>
          <p:cNvPr id="1161" name="Google Shape;1161;p96"/>
          <p:cNvSpPr txBox="1"/>
          <p:nvPr>
            <p:ph idx="1" type="body"/>
          </p:nvPr>
        </p:nvSpPr>
        <p:spPr>
          <a:xfrm>
            <a:off x="2957400" y="3361500"/>
            <a:ext cx="54228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The owner wants the length of the house in metres.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/>
              <a:t>What do you think the builders need to do?</a:t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p97"/>
          <p:cNvSpPr txBox="1"/>
          <p:nvPr>
            <p:ph idx="1" type="body"/>
          </p:nvPr>
        </p:nvSpPr>
        <p:spPr>
          <a:xfrm>
            <a:off x="324000" y="759300"/>
            <a:ext cx="82377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Add all the numbers as they are now in the same units</a:t>
            </a:r>
            <a:endParaRPr/>
          </a:p>
        </p:txBody>
      </p:sp>
      <p:sp>
        <p:nvSpPr>
          <p:cNvPr id="1167" name="Google Shape;1167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Measurements and accuracy</a:t>
            </a:r>
            <a:endParaRPr/>
          </a:p>
        </p:txBody>
      </p:sp>
      <p:pic>
        <p:nvPicPr>
          <p:cNvPr id="1168" name="Google Shape;1168;p97"/>
          <p:cNvPicPr preferRelativeResize="0"/>
          <p:nvPr/>
        </p:nvPicPr>
        <p:blipFill rotWithShape="1">
          <a:blip r:embed="rId3">
            <a:alphaModFix/>
          </a:blip>
          <a:srcRect b="5007" l="29134" r="34107" t="25735"/>
          <a:stretch/>
        </p:blipFill>
        <p:spPr>
          <a:xfrm>
            <a:off x="384500" y="1207025"/>
            <a:ext cx="2439975" cy="30618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69" name="Google Shape;1169;p97"/>
          <p:cNvGrpSpPr/>
          <p:nvPr/>
        </p:nvGrpSpPr>
        <p:grpSpPr>
          <a:xfrm>
            <a:off x="324000" y="4394200"/>
            <a:ext cx="2500475" cy="0"/>
            <a:chOff x="272675" y="4572475"/>
            <a:chExt cx="2500475" cy="0"/>
          </a:xfrm>
        </p:grpSpPr>
        <p:cxnSp>
          <p:nvCxnSpPr>
            <p:cNvPr id="1170" name="Google Shape;1170;p97"/>
            <p:cNvCxnSpPr/>
            <p:nvPr/>
          </p:nvCxnSpPr>
          <p:spPr>
            <a:xfrm>
              <a:off x="272675" y="4572475"/>
              <a:ext cx="833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171" name="Google Shape;1171;p97"/>
            <p:cNvCxnSpPr/>
            <p:nvPr/>
          </p:nvCxnSpPr>
          <p:spPr>
            <a:xfrm>
              <a:off x="1132325" y="4572475"/>
              <a:ext cx="833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1172" name="Google Shape;1172;p97"/>
            <p:cNvCxnSpPr/>
            <p:nvPr/>
          </p:nvCxnSpPr>
          <p:spPr>
            <a:xfrm>
              <a:off x="1939450" y="4572475"/>
              <a:ext cx="833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173" name="Google Shape;1173;p97"/>
          <p:cNvSpPr txBox="1"/>
          <p:nvPr/>
        </p:nvSpPr>
        <p:spPr>
          <a:xfrm>
            <a:off x="324000" y="4320000"/>
            <a:ext cx="88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2.56m</a:t>
            </a:r>
            <a:endParaRPr sz="1800"/>
          </a:p>
        </p:txBody>
      </p:sp>
      <p:sp>
        <p:nvSpPr>
          <p:cNvPr id="1174" name="Google Shape;1174;p97"/>
          <p:cNvSpPr txBox="1"/>
          <p:nvPr/>
        </p:nvSpPr>
        <p:spPr>
          <a:xfrm>
            <a:off x="1175876" y="4328581"/>
            <a:ext cx="99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245cm</a:t>
            </a:r>
            <a:endParaRPr sz="1800"/>
          </a:p>
        </p:txBody>
      </p:sp>
      <p:sp>
        <p:nvSpPr>
          <p:cNvPr id="1175" name="Google Shape;1175;p97"/>
          <p:cNvSpPr txBox="1"/>
          <p:nvPr/>
        </p:nvSpPr>
        <p:spPr>
          <a:xfrm>
            <a:off x="2090275" y="4328575"/>
            <a:ext cx="138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3890mm</a:t>
            </a:r>
            <a:endParaRPr sz="1800"/>
          </a:p>
        </p:txBody>
      </p:sp>
      <p:sp>
        <p:nvSpPr>
          <p:cNvPr id="1176" name="Google Shape;1176;p97"/>
          <p:cNvSpPr txBox="1"/>
          <p:nvPr>
            <p:ph idx="1" type="body"/>
          </p:nvPr>
        </p:nvSpPr>
        <p:spPr>
          <a:xfrm>
            <a:off x="3008275" y="1907100"/>
            <a:ext cx="10506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245 cm </a:t>
            </a:r>
            <a:endParaRPr sz="2100"/>
          </a:p>
        </p:txBody>
      </p:sp>
      <p:cxnSp>
        <p:nvCxnSpPr>
          <p:cNvPr id="1177" name="Google Shape;1177;p97"/>
          <p:cNvCxnSpPr/>
          <p:nvPr/>
        </p:nvCxnSpPr>
        <p:spPr>
          <a:xfrm>
            <a:off x="6909413" y="3061500"/>
            <a:ext cx="930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8" name="Google Shape;1178;p97"/>
          <p:cNvCxnSpPr/>
          <p:nvPr/>
        </p:nvCxnSpPr>
        <p:spPr>
          <a:xfrm>
            <a:off x="6909413" y="3522825"/>
            <a:ext cx="930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9" name="Google Shape;1179;p97"/>
          <p:cNvSpPr txBox="1"/>
          <p:nvPr>
            <p:ph idx="1" type="body"/>
          </p:nvPr>
        </p:nvSpPr>
        <p:spPr>
          <a:xfrm>
            <a:off x="2990250" y="3824550"/>
            <a:ext cx="55683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length of the house is 8.9 m</a:t>
            </a:r>
            <a:endParaRPr/>
          </a:p>
        </p:txBody>
      </p:sp>
      <p:sp>
        <p:nvSpPr>
          <p:cNvPr id="1180" name="Google Shape;1180;p97"/>
          <p:cNvSpPr txBox="1"/>
          <p:nvPr>
            <p:ph idx="1" type="body"/>
          </p:nvPr>
        </p:nvSpPr>
        <p:spPr>
          <a:xfrm>
            <a:off x="3008275" y="1263300"/>
            <a:ext cx="24399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2.56 m </a:t>
            </a:r>
            <a:endParaRPr sz="2100"/>
          </a:p>
        </p:txBody>
      </p:sp>
      <p:sp>
        <p:nvSpPr>
          <p:cNvPr id="1181" name="Google Shape;1181;p97"/>
          <p:cNvSpPr txBox="1"/>
          <p:nvPr>
            <p:ph idx="1" type="body"/>
          </p:nvPr>
        </p:nvSpPr>
        <p:spPr>
          <a:xfrm>
            <a:off x="3915931" y="1258511"/>
            <a:ext cx="13293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= 2.56 m</a:t>
            </a:r>
            <a:endParaRPr sz="2100"/>
          </a:p>
        </p:txBody>
      </p:sp>
      <p:sp>
        <p:nvSpPr>
          <p:cNvPr id="1182" name="Google Shape;1182;p97"/>
          <p:cNvSpPr txBox="1"/>
          <p:nvPr>
            <p:ph idx="1" type="body"/>
          </p:nvPr>
        </p:nvSpPr>
        <p:spPr>
          <a:xfrm>
            <a:off x="3008275" y="1907100"/>
            <a:ext cx="10506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245 cm </a:t>
            </a:r>
            <a:endParaRPr sz="2100"/>
          </a:p>
        </p:txBody>
      </p:sp>
      <p:sp>
        <p:nvSpPr>
          <p:cNvPr id="1183" name="Google Shape;1183;p97"/>
          <p:cNvSpPr txBox="1"/>
          <p:nvPr>
            <p:ph idx="1" type="body"/>
          </p:nvPr>
        </p:nvSpPr>
        <p:spPr>
          <a:xfrm>
            <a:off x="3008275" y="2543925"/>
            <a:ext cx="14796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3890 mm  </a:t>
            </a:r>
            <a:endParaRPr sz="2100"/>
          </a:p>
        </p:txBody>
      </p:sp>
      <p:sp>
        <p:nvSpPr>
          <p:cNvPr id="1184" name="Google Shape;1184;p97"/>
          <p:cNvSpPr txBox="1"/>
          <p:nvPr>
            <p:ph idx="1" type="body"/>
          </p:nvPr>
        </p:nvSpPr>
        <p:spPr>
          <a:xfrm>
            <a:off x="4276800" y="2550911"/>
            <a:ext cx="13293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= 3.89 m</a:t>
            </a:r>
            <a:endParaRPr sz="2100"/>
          </a:p>
        </p:txBody>
      </p:sp>
      <p:sp>
        <p:nvSpPr>
          <p:cNvPr id="1185" name="Google Shape;1185;p97"/>
          <p:cNvSpPr txBox="1"/>
          <p:nvPr>
            <p:ph idx="1" type="body"/>
          </p:nvPr>
        </p:nvSpPr>
        <p:spPr>
          <a:xfrm>
            <a:off x="4058881" y="1901224"/>
            <a:ext cx="13293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= 2.45m</a:t>
            </a:r>
            <a:endParaRPr sz="2100"/>
          </a:p>
        </p:txBody>
      </p:sp>
      <p:pic>
        <p:nvPicPr>
          <p:cNvPr descr="&lt;math xmlns=&quot;http://www.w3.org/1998/Math/MathML&quot; display=&quot;block&quot; data-is-equatio=&quot;1&quot; data-latex=&quot;\begin{array}{l}\ \ \ \ \ 2.56\\&amp;#13;&amp;#10;\ \ \ \ \ 2.45\\&amp;#13;&amp;#10;+\ \ \ 3.89\\&amp;#13;&amp;#10;\ \ \ \ \ 8.90\end{array}&quot;&gt;&lt;mtable columnalign=&quot;left&quot; columnspacing=&quot;1em&quot; rowspacing=&quot;4pt&quot;&gt;&lt;mtr&gt;&lt;mtd&gt;&lt;mtext&gt;&lt;/mtext&gt;&lt;mtext&gt;&lt;/mtext&gt;&lt;mtext&gt;&lt;/mtext&gt;&lt;mtext&gt;&lt;/mtext&gt;&lt;mtext&gt;&lt;/mtext&gt;&lt;mn&gt;2.56&lt;/mn&gt;&lt;/mtd&gt;&lt;/mtr&gt;&lt;mtr&gt;&lt;mtd&gt;&lt;mtext&gt;&lt;/mtext&gt;&lt;mtext&gt;&lt;/mtext&gt;&lt;mtext&gt;&lt;/mtext&gt;&lt;mtext&gt;&lt;/mtext&gt;&lt;mtext&gt;&lt;/mtext&gt;&lt;mn&gt;2.45&lt;/mn&gt;&lt;/mtd&gt;&lt;/mtr&gt;&lt;mtr&gt;&lt;mtd&gt;&lt;mo&gt;+&lt;/mo&gt;&lt;mtext&gt;&lt;/mtext&gt;&lt;mtext&gt;&lt;/mtext&gt;&lt;mtext&gt;&lt;/mtext&gt;&lt;mn&gt;3.89&lt;/mn&gt;&lt;/mtd&gt;&lt;/mtr&gt;&lt;mtr&gt;&lt;mtd&gt;&lt;mtext&gt;&lt;/mtext&gt;&lt;mtext&gt;&lt;/mtext&gt;&lt;mtext&gt;&lt;/mtext&gt;&lt;mtext&gt;&lt;/mtext&gt;&lt;mtext&gt;&lt;/mtext&gt;&lt;mn&gt;8.90&lt;/mn&gt;&lt;/mtd&gt;&lt;/mtr&gt;&lt;/mtable&gt;&lt;/math&gt;" id="1186" name="Google Shape;1186;p97" title="4 lines Line 1: 2.56 Line 2: 2.45 Line 3: plus 3.89 Line 4: 8.90"/>
          <p:cNvPicPr preferRelativeResize="0"/>
          <p:nvPr/>
        </p:nvPicPr>
        <p:blipFill rotWithShape="1">
          <a:blip r:embed="rId4">
            <a:alphaModFix/>
          </a:blip>
          <a:srcRect b="21568" l="0" r="0" t="0"/>
          <a:stretch/>
        </p:blipFill>
        <p:spPr>
          <a:xfrm>
            <a:off x="6489475" y="1415700"/>
            <a:ext cx="1385100" cy="1716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 \ \ \ \ 2.56\\&amp;#13;&amp;#10;\ \ \ \ \ 2.45\\&amp;#13;&amp;#10;+\ \ \ 3.89\\&amp;#13;&amp;#10;\ \ \ \ \ 8.90\end{array}&quot;&gt;&lt;mtable columnalign=&quot;left&quot; columnspacing=&quot;1em&quot; rowspacing=&quot;4pt&quot;&gt;&lt;mtr&gt;&lt;mtd&gt;&lt;mtext&gt;&lt;/mtext&gt;&lt;mtext&gt;&lt;/mtext&gt;&lt;mtext&gt;&lt;/mtext&gt;&lt;mtext&gt;&lt;/mtext&gt;&lt;mtext&gt;&lt;/mtext&gt;&lt;mn&gt;2.56&lt;/mn&gt;&lt;/mtd&gt;&lt;/mtr&gt;&lt;mtr&gt;&lt;mtd&gt;&lt;mtext&gt;&lt;/mtext&gt;&lt;mtext&gt;&lt;/mtext&gt;&lt;mtext&gt;&lt;/mtext&gt;&lt;mtext&gt;&lt;/mtext&gt;&lt;mtext&gt;&lt;/mtext&gt;&lt;mn&gt;2.45&lt;/mn&gt;&lt;/mtd&gt;&lt;/mtr&gt;&lt;mtr&gt;&lt;mtd&gt;&lt;mo&gt;+&lt;/mo&gt;&lt;mtext&gt;&lt;/mtext&gt;&lt;mtext&gt;&lt;/mtext&gt;&lt;mtext&gt;&lt;/mtext&gt;&lt;mn&gt;3.89&lt;/mn&gt;&lt;/mtd&gt;&lt;/mtr&gt;&lt;mtr&gt;&lt;mtd&gt;&lt;mtext&gt;&lt;/mtext&gt;&lt;mtext&gt;&lt;/mtext&gt;&lt;mtext&gt;&lt;/mtext&gt;&lt;mtext&gt;&lt;/mtext&gt;&lt;mtext&gt;&lt;/mtext&gt;&lt;mn&gt;8.90&lt;/mn&gt;&lt;/mtd&gt;&lt;/mtr&gt;&lt;/mtable&gt;&lt;/math&gt;" id="1187" name="Google Shape;1187;p97" title="4 lines Line 1: 2.56 Line 2: 2.45 Line 3: plus 3.89 Line 4: 8.90"/>
          <p:cNvPicPr preferRelativeResize="0"/>
          <p:nvPr/>
        </p:nvPicPr>
        <p:blipFill rotWithShape="1">
          <a:blip r:embed="rId4">
            <a:alphaModFix/>
          </a:blip>
          <a:srcRect b="0" l="0" r="0" t="81657"/>
          <a:stretch/>
        </p:blipFill>
        <p:spPr>
          <a:xfrm>
            <a:off x="6523799" y="3065728"/>
            <a:ext cx="1385100" cy="40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8" name="Google Shape;1188;p97"/>
          <p:cNvSpPr txBox="1"/>
          <p:nvPr/>
        </p:nvSpPr>
        <p:spPr>
          <a:xfrm>
            <a:off x="7315209" y="3412659"/>
            <a:ext cx="288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9" name="Google Shape;1189;p97"/>
          <p:cNvSpPr txBox="1"/>
          <p:nvPr/>
        </p:nvSpPr>
        <p:spPr>
          <a:xfrm>
            <a:off x="7038034" y="3412659"/>
            <a:ext cx="288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p98"/>
          <p:cNvSpPr txBox="1"/>
          <p:nvPr>
            <p:ph idx="1" type="body"/>
          </p:nvPr>
        </p:nvSpPr>
        <p:spPr>
          <a:xfrm>
            <a:off x="384500" y="654975"/>
            <a:ext cx="80010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The house needs new guttering along the roof.</a:t>
            </a:r>
            <a:endParaRPr sz="2100"/>
          </a:p>
        </p:txBody>
      </p:sp>
      <p:sp>
        <p:nvSpPr>
          <p:cNvPr id="1195" name="Google Shape;1195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Measurements and accuracy</a:t>
            </a:r>
            <a:endParaRPr/>
          </a:p>
        </p:txBody>
      </p:sp>
      <p:pic>
        <p:nvPicPr>
          <p:cNvPr id="1196" name="Google Shape;1196;p98"/>
          <p:cNvPicPr preferRelativeResize="0"/>
          <p:nvPr/>
        </p:nvPicPr>
        <p:blipFill rotWithShape="1">
          <a:blip r:embed="rId3">
            <a:alphaModFix/>
          </a:blip>
          <a:srcRect b="5007" l="29134" r="34107" t="25735"/>
          <a:stretch/>
        </p:blipFill>
        <p:spPr>
          <a:xfrm>
            <a:off x="384500" y="1207025"/>
            <a:ext cx="2439975" cy="3061894"/>
          </a:xfrm>
          <a:prstGeom prst="rect">
            <a:avLst/>
          </a:prstGeom>
          <a:noFill/>
          <a:ln>
            <a:noFill/>
          </a:ln>
        </p:spPr>
      </p:pic>
      <p:sp>
        <p:nvSpPr>
          <p:cNvPr id="1197" name="Google Shape;1197;p98"/>
          <p:cNvSpPr txBox="1"/>
          <p:nvPr>
            <p:ph idx="1" type="body"/>
          </p:nvPr>
        </p:nvSpPr>
        <p:spPr>
          <a:xfrm>
            <a:off x="1126581" y="4391786"/>
            <a:ext cx="13293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8.9 m</a:t>
            </a:r>
            <a:endParaRPr sz="2100"/>
          </a:p>
        </p:txBody>
      </p:sp>
      <p:sp>
        <p:nvSpPr>
          <p:cNvPr id="1198" name="Google Shape;1198;p98"/>
          <p:cNvSpPr txBox="1"/>
          <p:nvPr>
            <p:ph idx="1" type="body"/>
          </p:nvPr>
        </p:nvSpPr>
        <p:spPr>
          <a:xfrm>
            <a:off x="3025200" y="1117975"/>
            <a:ext cx="6026700" cy="100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The guttering will be the same length as the length of the house. The guttering costs £32 per metre.</a:t>
            </a:r>
            <a:endParaRPr sz="2100"/>
          </a:p>
        </p:txBody>
      </p:sp>
      <p:cxnSp>
        <p:nvCxnSpPr>
          <p:cNvPr id="1199" name="Google Shape;1199;p98"/>
          <p:cNvCxnSpPr/>
          <p:nvPr/>
        </p:nvCxnSpPr>
        <p:spPr>
          <a:xfrm flipH="1" rot="10800000">
            <a:off x="393550" y="4391775"/>
            <a:ext cx="2418300" cy="11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00" name="Google Shape;1200;p98"/>
          <p:cNvCxnSpPr/>
          <p:nvPr/>
        </p:nvCxnSpPr>
        <p:spPr>
          <a:xfrm flipH="1">
            <a:off x="1596150" y="1106950"/>
            <a:ext cx="1424400" cy="140730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1" name="Google Shape;1201;p98"/>
          <p:cNvCxnSpPr/>
          <p:nvPr/>
        </p:nvCxnSpPr>
        <p:spPr>
          <a:xfrm flipH="1" rot="10800000">
            <a:off x="395338" y="2566050"/>
            <a:ext cx="2418300" cy="1140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02" name="Google Shape;1202;p98"/>
          <p:cNvSpPr txBox="1"/>
          <p:nvPr>
            <p:ph idx="1" type="body"/>
          </p:nvPr>
        </p:nvSpPr>
        <p:spPr>
          <a:xfrm>
            <a:off x="2991600" y="3143725"/>
            <a:ext cx="56418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 </a:t>
            </a:r>
            <a:endParaRPr/>
          </a:p>
        </p:txBody>
      </p:sp>
      <p:sp>
        <p:nvSpPr>
          <p:cNvPr id="1203" name="Google Shape;1203;p98"/>
          <p:cNvSpPr txBox="1"/>
          <p:nvPr>
            <p:ph idx="1" type="body"/>
          </p:nvPr>
        </p:nvSpPr>
        <p:spPr>
          <a:xfrm>
            <a:off x="3025200" y="2291500"/>
            <a:ext cx="6026700" cy="100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Work out the cost of the guttering, ensuring to show all your working out.</a:t>
            </a:r>
            <a:endParaRPr sz="2100"/>
          </a:p>
        </p:txBody>
      </p:sp>
      <p:sp>
        <p:nvSpPr>
          <p:cNvPr id="1204" name="Google Shape;1204;p98"/>
          <p:cNvSpPr txBox="1"/>
          <p:nvPr/>
        </p:nvSpPr>
        <p:spPr>
          <a:xfrm>
            <a:off x="2986950" y="3096000"/>
            <a:ext cx="505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calculation is 32 × 9 =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5" name="Google Shape;1205;p98"/>
          <p:cNvSpPr txBox="1"/>
          <p:nvPr/>
        </p:nvSpPr>
        <p:spPr>
          <a:xfrm>
            <a:off x="5817307" y="3455824"/>
            <a:ext cx="1987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320 - 32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6" name="Google Shape;1206;p98"/>
          <p:cNvSpPr txBox="1"/>
          <p:nvPr/>
        </p:nvSpPr>
        <p:spPr>
          <a:xfrm>
            <a:off x="5832000" y="3872224"/>
            <a:ext cx="1987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288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7" name="Google Shape;1207;p98"/>
          <p:cNvSpPr txBox="1"/>
          <p:nvPr/>
        </p:nvSpPr>
        <p:spPr>
          <a:xfrm>
            <a:off x="2915390" y="4364875"/>
            <a:ext cx="505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cost for the guttering is £288.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8" name="Google Shape;1208;p98"/>
          <p:cNvSpPr/>
          <p:nvPr/>
        </p:nvSpPr>
        <p:spPr>
          <a:xfrm rot="-1008494">
            <a:off x="6578876" y="-5557"/>
            <a:ext cx="1480448" cy="1147612"/>
          </a:xfrm>
          <a:prstGeom prst="star6">
            <a:avLst>
              <a:gd fmla="val 28868" name="adj"/>
              <a:gd fmla="val 115470" name="hf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Lexend"/>
                <a:ea typeface="Lexend"/>
                <a:cs typeface="Lexend"/>
                <a:sym typeface="Lexend"/>
              </a:rPr>
              <a:t>ONLY SELL 1 m lengths</a:t>
            </a:r>
            <a:endParaRPr sz="13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p99"/>
          <p:cNvSpPr/>
          <p:nvPr/>
        </p:nvSpPr>
        <p:spPr>
          <a:xfrm>
            <a:off x="4940975" y="1098375"/>
            <a:ext cx="2411400" cy="2540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4" name="Google Shape;1214;p99"/>
          <p:cNvSpPr txBox="1"/>
          <p:nvPr>
            <p:ph idx="4294967295" type="body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Here is an example of two car rental companies.</a:t>
            </a:r>
            <a:endParaRPr sz="1800"/>
          </a:p>
        </p:txBody>
      </p:sp>
      <p:sp>
        <p:nvSpPr>
          <p:cNvPr id="1215" name="Google Shape;1215;p99"/>
          <p:cNvSpPr/>
          <p:nvPr/>
        </p:nvSpPr>
        <p:spPr>
          <a:xfrm>
            <a:off x="1124125" y="1098375"/>
            <a:ext cx="2411400" cy="2540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6" name="Google Shape;1216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6400" y="1132525"/>
            <a:ext cx="2360550" cy="118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7" name="Google Shape;1217;p99"/>
          <p:cNvSpPr txBox="1"/>
          <p:nvPr/>
        </p:nvSpPr>
        <p:spPr>
          <a:xfrm>
            <a:off x="1207850" y="2571750"/>
            <a:ext cx="21618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Rent-a-Red-Car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 km = £0.46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8" name="Google Shape;1218;p99"/>
          <p:cNvSpPr txBox="1"/>
          <p:nvPr/>
        </p:nvSpPr>
        <p:spPr>
          <a:xfrm>
            <a:off x="5024700" y="2612600"/>
            <a:ext cx="21618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Rent-a-Blue-Car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2500 m = £1.10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9" name="Google Shape;1219;p99"/>
          <p:cNvSpPr txBox="1"/>
          <p:nvPr>
            <p:ph idx="2" type="subTitle"/>
          </p:nvPr>
        </p:nvSpPr>
        <p:spPr>
          <a:xfrm>
            <a:off x="387875" y="3727269"/>
            <a:ext cx="81954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An Oak teacher knows he will need to rent a car for a 70 km journey. Work out the difference in prices between the two companies for a 70 km car hire.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220" name="Google Shape;1220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5400" y="1284925"/>
            <a:ext cx="2068859" cy="1134424"/>
          </a:xfrm>
          <a:prstGeom prst="rect">
            <a:avLst/>
          </a:prstGeom>
          <a:noFill/>
          <a:ln>
            <a:noFill/>
          </a:ln>
        </p:spPr>
      </p:pic>
      <p:sp>
        <p:nvSpPr>
          <p:cNvPr id="1221" name="Google Shape;1221;p9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Measurements and accuracy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100"/>
          <p:cNvSpPr/>
          <p:nvPr/>
        </p:nvSpPr>
        <p:spPr>
          <a:xfrm>
            <a:off x="6435800" y="1227100"/>
            <a:ext cx="2341200" cy="2720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7" name="Google Shape;1227;p100"/>
          <p:cNvSpPr txBox="1"/>
          <p:nvPr>
            <p:ph idx="1" type="body"/>
          </p:nvPr>
        </p:nvSpPr>
        <p:spPr>
          <a:xfrm>
            <a:off x="466800" y="750725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</a:t>
            </a:r>
            <a:r>
              <a:rPr lang="en-GB" sz="1800"/>
              <a:t>Sofia helps her neighbour feed her cats using a feeding chart.</a:t>
            </a:r>
            <a:endParaRPr sz="1800"/>
          </a:p>
        </p:txBody>
      </p:sp>
      <p:sp>
        <p:nvSpPr>
          <p:cNvPr id="1228" name="Google Shape;1228;p10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Measurements and accuracy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</a:t>
            </a:r>
            <a:endParaRPr/>
          </a:p>
        </p:txBody>
      </p:sp>
      <p:graphicFrame>
        <p:nvGraphicFramePr>
          <p:cNvPr id="1229" name="Google Shape;1229;p100"/>
          <p:cNvGraphicFramePr/>
          <p:nvPr/>
        </p:nvGraphicFramePr>
        <p:xfrm>
          <a:off x="480800" y="1224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{E40C5B7C-EA29-45C5-B0C4-A7E7A15A4D24}</a:tableStyleId>
              </a:tblPr>
              <a:tblGrid>
                <a:gridCol w="3212700"/>
                <a:gridCol w="2563300"/>
              </a:tblGrid>
              <a:tr h="361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Mass to the 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nearest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10 g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Quantity of dry food per day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</a:tr>
              <a:tr h="36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🐱 1 - 2.99 kg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 g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6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🐱 3 - 4.99 kg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 g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6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🐱 5 - 5.99 kg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 g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6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🐱 more than 6 kg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115 g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230" name="Google Shape;1230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2650" y="1296675"/>
            <a:ext cx="2059026" cy="1943313"/>
          </a:xfrm>
          <a:prstGeom prst="rect">
            <a:avLst/>
          </a:prstGeom>
          <a:noFill/>
          <a:ln>
            <a:noFill/>
          </a:ln>
        </p:spPr>
      </p:pic>
      <p:sp>
        <p:nvSpPr>
          <p:cNvPr id="1231" name="Google Shape;1231;p100"/>
          <p:cNvSpPr txBox="1"/>
          <p:nvPr/>
        </p:nvSpPr>
        <p:spPr>
          <a:xfrm>
            <a:off x="6547375" y="3186675"/>
            <a:ext cx="2229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1.5 kg of dry food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£9.82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2" name="Google Shape;1232;p100"/>
          <p:cNvSpPr txBox="1"/>
          <p:nvPr>
            <p:ph idx="1" type="body"/>
          </p:nvPr>
        </p:nvSpPr>
        <p:spPr>
          <a:xfrm>
            <a:off x="480800" y="39828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Her neighbour has three cats weighing 4.5 kg, 5.1 kg and 6.2 kg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1233" name="Google Shape;1233;p100"/>
          <p:cNvSpPr txBox="1"/>
          <p:nvPr>
            <p:ph idx="1" type="body"/>
          </p:nvPr>
        </p:nvSpPr>
        <p:spPr>
          <a:xfrm>
            <a:off x="480800" y="43638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How much will it cost to feed all three cats for 2 weeks?</a:t>
            </a:r>
            <a:endParaRPr sz="18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p101"/>
          <p:cNvSpPr/>
          <p:nvPr/>
        </p:nvSpPr>
        <p:spPr>
          <a:xfrm>
            <a:off x="6083975" y="1098375"/>
            <a:ext cx="2411400" cy="2540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9" name="Google Shape;1239;p101"/>
          <p:cNvSpPr/>
          <p:nvPr/>
        </p:nvSpPr>
        <p:spPr>
          <a:xfrm>
            <a:off x="514525" y="1098375"/>
            <a:ext cx="2411400" cy="2540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40" name="Google Shape;1240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9400" y="1132525"/>
            <a:ext cx="2360550" cy="118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1" name="Google Shape;1241;p101"/>
          <p:cNvSpPr txBox="1"/>
          <p:nvPr/>
        </p:nvSpPr>
        <p:spPr>
          <a:xfrm>
            <a:off x="598250" y="2571750"/>
            <a:ext cx="21618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Rent-a-Red-Car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 km = £0.46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2" name="Google Shape;1242;p101"/>
          <p:cNvSpPr txBox="1"/>
          <p:nvPr/>
        </p:nvSpPr>
        <p:spPr>
          <a:xfrm>
            <a:off x="6167700" y="2612600"/>
            <a:ext cx="21618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Rent-a-Blue-Car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2500 m = £1.10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3" name="Google Shape;1243;p101"/>
          <p:cNvSpPr txBox="1"/>
          <p:nvPr>
            <p:ph idx="2" type="subTitle"/>
          </p:nvPr>
        </p:nvSpPr>
        <p:spPr>
          <a:xfrm>
            <a:off x="514525" y="3902800"/>
            <a:ext cx="82641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An Oak teacher knows he will need to rent a car for a 70 km journey. Work out the difference in prices between the two companies for a 70 km car hire.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244" name="Google Shape;1244;p1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5800" y="1284925"/>
            <a:ext cx="2068859" cy="1134424"/>
          </a:xfrm>
          <a:prstGeom prst="rect">
            <a:avLst/>
          </a:prstGeom>
          <a:noFill/>
          <a:ln>
            <a:noFill/>
          </a:ln>
        </p:spPr>
      </p:pic>
      <p:sp>
        <p:nvSpPr>
          <p:cNvPr id="1245" name="Google Shape;1245;p101"/>
          <p:cNvSpPr txBox="1"/>
          <p:nvPr>
            <p:ph idx="2" type="subTitle"/>
          </p:nvPr>
        </p:nvSpPr>
        <p:spPr>
          <a:xfrm>
            <a:off x="3430000" y="1343288"/>
            <a:ext cx="187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0.46 × 70 =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246" name="Google Shape;1246;p101"/>
          <p:cNvSpPr txBox="1"/>
          <p:nvPr>
            <p:ph idx="2" type="subTitle"/>
          </p:nvPr>
        </p:nvSpPr>
        <p:spPr>
          <a:xfrm>
            <a:off x="3429988" y="1612425"/>
            <a:ext cx="1870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4.6  × 7 =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247" name="Google Shape;1247;p101"/>
          <p:cNvSpPr txBox="1"/>
          <p:nvPr>
            <p:ph idx="2" type="subTitle"/>
          </p:nvPr>
        </p:nvSpPr>
        <p:spPr>
          <a:xfrm>
            <a:off x="4577817" y="1612438"/>
            <a:ext cx="722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32.20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248" name="Google Shape;1248;p101"/>
          <p:cNvSpPr txBox="1"/>
          <p:nvPr>
            <p:ph idx="2" type="subTitle"/>
          </p:nvPr>
        </p:nvSpPr>
        <p:spPr>
          <a:xfrm>
            <a:off x="3213750" y="947725"/>
            <a:ext cx="2212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Rent-a-Red-car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249" name="Google Shape;1249;p101"/>
          <p:cNvSpPr txBox="1"/>
          <p:nvPr>
            <p:ph idx="2" type="subTitle"/>
          </p:nvPr>
        </p:nvSpPr>
        <p:spPr>
          <a:xfrm>
            <a:off x="3474900" y="2034000"/>
            <a:ext cx="2212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Rent-a-Blue-car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250" name="Google Shape;1250;p101"/>
          <p:cNvSpPr txBox="1"/>
          <p:nvPr>
            <p:ph idx="2" type="subTitle"/>
          </p:nvPr>
        </p:nvSpPr>
        <p:spPr>
          <a:xfrm>
            <a:off x="3364363" y="2409250"/>
            <a:ext cx="2212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2500 m = 2.5 km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251" name="Google Shape;1251;p101"/>
          <p:cNvSpPr txBox="1"/>
          <p:nvPr>
            <p:ph idx="2" type="subTitle"/>
          </p:nvPr>
        </p:nvSpPr>
        <p:spPr>
          <a:xfrm>
            <a:off x="3239550" y="2709838"/>
            <a:ext cx="1171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70 ÷ 2.5 = 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252" name="Google Shape;1252;p101"/>
          <p:cNvSpPr txBox="1"/>
          <p:nvPr>
            <p:ph idx="2" type="subTitle"/>
          </p:nvPr>
        </p:nvSpPr>
        <p:spPr>
          <a:xfrm>
            <a:off x="4362156" y="2716881"/>
            <a:ext cx="1171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700 ÷ 25 =  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253" name="Google Shape;1253;p101"/>
          <p:cNvSpPr txBox="1"/>
          <p:nvPr>
            <p:ph idx="2" type="subTitle"/>
          </p:nvPr>
        </p:nvSpPr>
        <p:spPr>
          <a:xfrm>
            <a:off x="5550510" y="2712774"/>
            <a:ext cx="4119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28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254" name="Google Shape;1254;p101"/>
          <p:cNvSpPr txBox="1"/>
          <p:nvPr>
            <p:ph idx="2" type="subTitle"/>
          </p:nvPr>
        </p:nvSpPr>
        <p:spPr>
          <a:xfrm>
            <a:off x="3011196" y="2995050"/>
            <a:ext cx="1171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28 × 1.1 =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255" name="Google Shape;1255;p101"/>
          <p:cNvSpPr txBox="1"/>
          <p:nvPr>
            <p:ph idx="2" type="subTitle"/>
          </p:nvPr>
        </p:nvSpPr>
        <p:spPr>
          <a:xfrm>
            <a:off x="4056038" y="3003631"/>
            <a:ext cx="14961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28 × 11 × 0.1 =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256" name="Google Shape;1256;p101"/>
          <p:cNvSpPr txBox="1"/>
          <p:nvPr>
            <p:ph idx="2" type="subTitle"/>
          </p:nvPr>
        </p:nvSpPr>
        <p:spPr>
          <a:xfrm>
            <a:off x="5592376" y="3006500"/>
            <a:ext cx="516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30.8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257" name="Google Shape;1257;p101"/>
          <p:cNvSpPr txBox="1"/>
          <p:nvPr>
            <p:ph idx="2" type="subTitle"/>
          </p:nvPr>
        </p:nvSpPr>
        <p:spPr>
          <a:xfrm>
            <a:off x="3176678" y="3425600"/>
            <a:ext cx="33726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>
                <a:solidFill>
                  <a:schemeClr val="dk1"/>
                </a:solidFill>
              </a:rPr>
              <a:t>£</a:t>
            </a:r>
            <a:r>
              <a:rPr b="1" lang="en-GB" sz="1800">
                <a:solidFill>
                  <a:schemeClr val="dk1"/>
                </a:solidFill>
              </a:rPr>
              <a:t>32.20 - £30.80 = £1.40 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1258" name="Google Shape;1258;p10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Measurements and accuracy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</a:t>
            </a:r>
            <a:endParaRPr/>
          </a:p>
        </p:txBody>
      </p:sp>
      <p:sp>
        <p:nvSpPr>
          <p:cNvPr id="1259" name="Google Shape;1259;p101"/>
          <p:cNvSpPr txBox="1"/>
          <p:nvPr>
            <p:ph idx="4294967295" type="body"/>
          </p:nvPr>
        </p:nvSpPr>
        <p:spPr>
          <a:xfrm>
            <a:off x="324000" y="672713"/>
            <a:ext cx="8237700" cy="42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p102"/>
          <p:cNvSpPr/>
          <p:nvPr/>
        </p:nvSpPr>
        <p:spPr>
          <a:xfrm>
            <a:off x="6435800" y="1227100"/>
            <a:ext cx="2341200" cy="2720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5" name="Google Shape;1265;p102"/>
          <p:cNvSpPr txBox="1"/>
          <p:nvPr>
            <p:ph idx="1" type="body"/>
          </p:nvPr>
        </p:nvSpPr>
        <p:spPr>
          <a:xfrm>
            <a:off x="4002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Sofia helps her neighbour feed her cats using a feeding chart.</a:t>
            </a:r>
            <a:endParaRPr sz="1800"/>
          </a:p>
        </p:txBody>
      </p:sp>
      <p:sp>
        <p:nvSpPr>
          <p:cNvPr id="1266" name="Google Shape;1266;p10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Measurements and accuracy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</a:t>
            </a:r>
            <a:endParaRPr/>
          </a:p>
        </p:txBody>
      </p:sp>
      <p:graphicFrame>
        <p:nvGraphicFramePr>
          <p:cNvPr id="1267" name="Google Shape;1267;p102"/>
          <p:cNvGraphicFramePr/>
          <p:nvPr/>
        </p:nvGraphicFramePr>
        <p:xfrm>
          <a:off x="480800" y="1224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{E40C5B7C-EA29-45C5-B0C4-A7E7A15A4D24}</a:tableStyleId>
              </a:tblPr>
              <a:tblGrid>
                <a:gridCol w="3212700"/>
                <a:gridCol w="2563300"/>
              </a:tblGrid>
              <a:tr h="361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Mass to the nearest 10 g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Quantity of dry food per day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</a:tr>
              <a:tr h="36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🐱 1 - 2.99 kg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 g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6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🐱 3 - 4.99 kg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 g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6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🐱 5 - 5.99 kg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 g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36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🐱 more than 6 kg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115 g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268" name="Google Shape;1268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2650" y="1296675"/>
            <a:ext cx="2059026" cy="1943313"/>
          </a:xfrm>
          <a:prstGeom prst="rect">
            <a:avLst/>
          </a:prstGeom>
          <a:noFill/>
          <a:ln>
            <a:noFill/>
          </a:ln>
        </p:spPr>
      </p:pic>
      <p:sp>
        <p:nvSpPr>
          <p:cNvPr id="1269" name="Google Shape;1269;p102"/>
          <p:cNvSpPr txBox="1"/>
          <p:nvPr/>
        </p:nvSpPr>
        <p:spPr>
          <a:xfrm>
            <a:off x="6547375" y="3186675"/>
            <a:ext cx="2229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1.5 kg of dry food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£9.82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0" name="Google Shape;1270;p102"/>
          <p:cNvSpPr txBox="1"/>
          <p:nvPr>
            <p:ph idx="1" type="body"/>
          </p:nvPr>
        </p:nvSpPr>
        <p:spPr>
          <a:xfrm>
            <a:off x="480800" y="39828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Her neighbour has three cats weighing 4.5 kg, 5.1 kg and 6.2 kg.</a:t>
            </a:r>
            <a:endParaRPr sz="1800"/>
          </a:p>
        </p:txBody>
      </p:sp>
      <p:sp>
        <p:nvSpPr>
          <p:cNvPr id="1271" name="Google Shape;1271;p102"/>
          <p:cNvSpPr txBox="1"/>
          <p:nvPr>
            <p:ph idx="1" type="body"/>
          </p:nvPr>
        </p:nvSpPr>
        <p:spPr>
          <a:xfrm>
            <a:off x="480800" y="43638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How much will it cost to feed all three cats for 2 weeks?</a:t>
            </a:r>
            <a:endParaRPr sz="18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p103"/>
          <p:cNvSpPr txBox="1"/>
          <p:nvPr>
            <p:ph idx="1" type="body"/>
          </p:nvPr>
        </p:nvSpPr>
        <p:spPr>
          <a:xfrm>
            <a:off x="4002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Sofia helps her neighbour feed her cats using a feeding chart.</a:t>
            </a:r>
            <a:endParaRPr sz="1800"/>
          </a:p>
        </p:txBody>
      </p:sp>
      <p:sp>
        <p:nvSpPr>
          <p:cNvPr id="1277" name="Google Shape;1277;p10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Measurements and accuracy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</a:t>
            </a:r>
            <a:endParaRPr/>
          </a:p>
        </p:txBody>
      </p:sp>
      <p:sp>
        <p:nvSpPr>
          <p:cNvPr id="1278" name="Google Shape;1278;p103"/>
          <p:cNvSpPr txBox="1"/>
          <p:nvPr>
            <p:ph idx="1" type="body"/>
          </p:nvPr>
        </p:nvSpPr>
        <p:spPr>
          <a:xfrm>
            <a:off x="395000" y="1282800"/>
            <a:ext cx="4015800" cy="117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4.5 kg cat requires 90 g per day  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5.1 kg cat requires 100 g per day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6.2 kg cat requires 115 g per day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79" name="Google Shape;1279;p103"/>
          <p:cNvSpPr txBox="1"/>
          <p:nvPr>
            <p:ph idx="1" type="body"/>
          </p:nvPr>
        </p:nvSpPr>
        <p:spPr>
          <a:xfrm>
            <a:off x="395000" y="42240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9.82  × 3 = £29.46 needs to be spent on cat food.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0" name="Google Shape;1280;p103"/>
          <p:cNvSpPr txBox="1"/>
          <p:nvPr>
            <p:ph idx="1" type="body"/>
          </p:nvPr>
        </p:nvSpPr>
        <p:spPr>
          <a:xfrm>
            <a:off x="400200" y="25476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Total food per day is 90 + 100 + 115 = 305 g per day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1" name="Google Shape;1281;p103"/>
          <p:cNvSpPr txBox="1"/>
          <p:nvPr>
            <p:ph idx="1" type="body"/>
          </p:nvPr>
        </p:nvSpPr>
        <p:spPr>
          <a:xfrm>
            <a:off x="400200" y="30048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For 2 weeks it is 305 × 14 = 4270 g 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2" name="Google Shape;1282;p103"/>
          <p:cNvSpPr txBox="1"/>
          <p:nvPr>
            <p:ph idx="1" type="body"/>
          </p:nvPr>
        </p:nvSpPr>
        <p:spPr>
          <a:xfrm>
            <a:off x="400200" y="33858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1.5 kg = 1500 g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3" name="Google Shape;1283;p103"/>
          <p:cNvSpPr/>
          <p:nvPr/>
        </p:nvSpPr>
        <p:spPr>
          <a:xfrm>
            <a:off x="6435800" y="1227100"/>
            <a:ext cx="2341200" cy="2720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84" name="Google Shape;1284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2650" y="1296675"/>
            <a:ext cx="2059026" cy="1943313"/>
          </a:xfrm>
          <a:prstGeom prst="rect">
            <a:avLst/>
          </a:prstGeom>
          <a:noFill/>
          <a:ln>
            <a:noFill/>
          </a:ln>
        </p:spPr>
      </p:pic>
      <p:sp>
        <p:nvSpPr>
          <p:cNvPr id="1285" name="Google Shape;1285;p103"/>
          <p:cNvSpPr txBox="1"/>
          <p:nvPr/>
        </p:nvSpPr>
        <p:spPr>
          <a:xfrm>
            <a:off x="6547375" y="3186675"/>
            <a:ext cx="2229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1.5 kg of dry food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£9.82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6" name="Google Shape;1286;p103"/>
          <p:cNvSpPr txBox="1"/>
          <p:nvPr>
            <p:ph idx="1" type="body"/>
          </p:nvPr>
        </p:nvSpPr>
        <p:spPr>
          <a:xfrm>
            <a:off x="395000" y="3775238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She will need 3 bags.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104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integers and decimals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2" name="Google Shape;1292;p104"/>
          <p:cNvSpPr txBox="1"/>
          <p:nvPr>
            <p:ph idx="1" type="body"/>
          </p:nvPr>
        </p:nvSpPr>
        <p:spPr>
          <a:xfrm>
            <a:off x="324000" y="2928600"/>
            <a:ext cx="82377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use decimals with measurements to increase the accuracy. </a:t>
            </a:r>
            <a:endParaRPr sz="2000"/>
          </a:p>
        </p:txBody>
      </p:sp>
      <p:sp>
        <p:nvSpPr>
          <p:cNvPr id="1293" name="Google Shape;1293;p104"/>
          <p:cNvSpPr txBox="1"/>
          <p:nvPr>
            <p:ph idx="1" type="body"/>
          </p:nvPr>
        </p:nvSpPr>
        <p:spPr>
          <a:xfrm>
            <a:off x="324000" y="987900"/>
            <a:ext cx="8237700" cy="4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It is important we can use our skills on addition, subtraction, multiplication and division in the real world. </a:t>
            </a:r>
            <a:endParaRPr sz="2000"/>
          </a:p>
        </p:txBody>
      </p:sp>
      <p:sp>
        <p:nvSpPr>
          <p:cNvPr id="1294" name="Google Shape;1294;p104"/>
          <p:cNvSpPr txBox="1"/>
          <p:nvPr>
            <p:ph idx="1" type="body"/>
          </p:nvPr>
        </p:nvSpPr>
        <p:spPr>
          <a:xfrm>
            <a:off x="287800" y="1905000"/>
            <a:ext cx="8237700" cy="48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It is equally important when we know which operation to apply given the context of the question.</a:t>
            </a:r>
            <a:endParaRPr sz="2000"/>
          </a:p>
        </p:txBody>
      </p:sp>
      <p:sp>
        <p:nvSpPr>
          <p:cNvPr id="1295" name="Google Shape;1295;p104"/>
          <p:cNvSpPr txBox="1"/>
          <p:nvPr/>
        </p:nvSpPr>
        <p:spPr>
          <a:xfrm>
            <a:off x="211600" y="3524675"/>
            <a:ext cx="8138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level of accuracy is important in so many different fields of expertise: medicine, engineering, biochemistry, construction, etc.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p105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301" name="Google Shape;1301;p10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