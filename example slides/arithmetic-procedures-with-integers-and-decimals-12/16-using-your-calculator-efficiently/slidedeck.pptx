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2dd776891b_0_1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2dd776891b_0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2dd776891b_0_1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2dd776891b_0_1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2dd776891b_0_1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2dd776891b_0_1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2dd776891b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2dd776891b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2dd776891b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2dd776891b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2dd776891b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2dd776891b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2dd776891b_0_1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2dd776891b_0_1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2dd776891b_0_1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2dd776891b_0_1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2dd776891b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2dd776891b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2dd776891b_0_1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2dd776891b_0_1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2dd776891b_0_1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2dd776891b_0_1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2dd776891b_0_1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2dd776891b_0_1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2dd776891b_0_1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2dd776891b_0_1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2dd776891b_0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2dd776891b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2dd776891b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2dd776891b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2dd776891b_0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2dd776891b_0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2dd776891b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2dd776891b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2dd776891b_0_1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2dd776891b_0_1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2dd776891b_0_1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2dd776891b_0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2dd776891b_0_1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2dd776891b_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2dd776891b_0_1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2dd776891b_0_1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2dd776891b_0_1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2dd776891b_0_1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2dd776891b_0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2dd776891b_0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2dd776891b_0_1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2dd776891b_0_1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2dd776891b_0_1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2dd776891b_0_1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2dd776891b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2dd776891b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2dd776891b_0_1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2dd776891b_0_1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2dd776891b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2dd776891b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2dd776891b_0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2dd776891b_0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2dd776891b_0_1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32dd776891b_0_1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2dd776891b_0_1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2dd776891b_0_1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2dd776891b_0_1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2dd776891b_0_1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2dd776891b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2dd776891b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2dd776891b_0_1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32dd776891b_0_1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2dd776891b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2dd776891b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2dd776891b_0_1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2dd776891b_0_1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2dd776891b_0_1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2dd776891b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2dd776891b_0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32dd776891b_0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2dd776891b_0_2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2dd776891b_0_2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2dd776891b_0_2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32dd776891b_0_2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2dd776891b_0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2dd776891b_0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2dd776891b_0_2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2dd776891b_0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9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9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9.png"/><Relationship Id="rId4" Type="http://schemas.openxmlformats.org/officeDocument/2006/relationships/image" Target="../media/image30.png"/><Relationship Id="rId11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Relationship Id="rId4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Relationship Id="rId4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9" Type="http://schemas.openxmlformats.org/officeDocument/2006/relationships/image" Target="../media/image52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11" Type="http://schemas.openxmlformats.org/officeDocument/2006/relationships/image" Target="../media/image65.png"/><Relationship Id="rId10" Type="http://schemas.openxmlformats.org/officeDocument/2006/relationships/image" Target="../media/image56.png"/><Relationship Id="rId13" Type="http://schemas.openxmlformats.org/officeDocument/2006/relationships/image" Target="../media/image53.png"/><Relationship Id="rId12" Type="http://schemas.openxmlformats.org/officeDocument/2006/relationships/image" Target="../media/image62.png"/><Relationship Id="rId14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Relationship Id="rId5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Relationship Id="rId7" Type="http://schemas.openxmlformats.org/officeDocument/2006/relationships/image" Target="../media/image71.png"/><Relationship Id="rId8" Type="http://schemas.openxmlformats.org/officeDocument/2006/relationships/image" Target="../media/image7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Relationship Id="rId7" Type="http://schemas.openxmlformats.org/officeDocument/2006/relationships/image" Target="../media/image71.png"/><Relationship Id="rId8" Type="http://schemas.openxmlformats.org/officeDocument/2006/relationships/image" Target="../media/image74.png"/><Relationship Id="rId10" Type="http://schemas.openxmlformats.org/officeDocument/2006/relationships/image" Target="../media/image7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Relationship Id="rId7" Type="http://schemas.openxmlformats.org/officeDocument/2006/relationships/image" Target="../media/image71.png"/><Relationship Id="rId8" Type="http://schemas.openxmlformats.org/officeDocument/2006/relationships/image" Target="../media/image75.png"/><Relationship Id="rId11" Type="http://schemas.openxmlformats.org/officeDocument/2006/relationships/image" Target="../media/image79.png"/><Relationship Id="rId10" Type="http://schemas.openxmlformats.org/officeDocument/2006/relationships/image" Target="../media/image80.png"/><Relationship Id="rId12" Type="http://schemas.openxmlformats.org/officeDocument/2006/relationships/image" Target="../media/image7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83.png"/><Relationship Id="rId7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83.png"/><Relationship Id="rId7" Type="http://schemas.openxmlformats.org/officeDocument/2006/relationships/image" Target="../media/image57.png"/><Relationship Id="rId8" Type="http://schemas.openxmlformats.org/officeDocument/2006/relationships/image" Target="../media/image8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Relationship Id="rId4" Type="http://schemas.openxmlformats.org/officeDocument/2006/relationships/image" Target="../media/image81.png"/><Relationship Id="rId5" Type="http://schemas.openxmlformats.org/officeDocument/2006/relationships/image" Target="../media/image83.png"/><Relationship Id="rId6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4.png"/><Relationship Id="rId4" Type="http://schemas.openxmlformats.org/officeDocument/2006/relationships/image" Target="../media/image90.png"/><Relationship Id="rId5" Type="http://schemas.openxmlformats.org/officeDocument/2006/relationships/image" Target="../media/image8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8.png"/><Relationship Id="rId4" Type="http://schemas.openxmlformats.org/officeDocument/2006/relationships/image" Target="../media/image86.png"/><Relationship Id="rId5" Type="http://schemas.openxmlformats.org/officeDocument/2006/relationships/image" Target="../media/image8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4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85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8.png"/><Relationship Id="rId4" Type="http://schemas.openxmlformats.org/officeDocument/2006/relationships/image" Target="../media/image86.png"/><Relationship Id="rId5" Type="http://schemas.openxmlformats.org/officeDocument/2006/relationships/image" Target="../media/image89.png"/><Relationship Id="rId6" Type="http://schemas.openxmlformats.org/officeDocument/2006/relationships/image" Target="../media/image96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100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0.png"/><Relationship Id="rId4" Type="http://schemas.openxmlformats.org/officeDocument/2006/relationships/image" Target="../media/image97.png"/><Relationship Id="rId5" Type="http://schemas.openxmlformats.org/officeDocument/2006/relationships/image" Target="../media/image54.png"/><Relationship Id="rId6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Relationship Id="rId5" Type="http://schemas.openxmlformats.org/officeDocument/2006/relationships/image" Target="../media/image102.png"/><Relationship Id="rId6" Type="http://schemas.openxmlformats.org/officeDocument/2006/relationships/image" Target="../media/image107.png"/><Relationship Id="rId7" Type="http://schemas.openxmlformats.org/officeDocument/2006/relationships/image" Target="../media/image10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0.png"/><Relationship Id="rId4" Type="http://schemas.openxmlformats.org/officeDocument/2006/relationships/image" Target="../media/image114.png"/><Relationship Id="rId5" Type="http://schemas.openxmlformats.org/officeDocument/2006/relationships/image" Target="../media/image1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0.png"/><Relationship Id="rId4" Type="http://schemas.openxmlformats.org/officeDocument/2006/relationships/image" Target="../media/image114.png"/><Relationship Id="rId5" Type="http://schemas.openxmlformats.org/officeDocument/2006/relationships/image" Target="../media/image108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fluently use certain calculator functions and use a calculator appropriately.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91745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Evaluate means to find the value of a numerical or an algebraic expression.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312920" y="2065238"/>
            <a:ext cx="136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330775" y="2605238"/>
            <a:ext cx="268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7"/>
          <p:cNvSpPr txBox="1"/>
          <p:nvPr/>
        </p:nvSpPr>
        <p:spPr>
          <a:xfrm>
            <a:off x="330775" y="2992838"/>
            <a:ext cx="1673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 ÷ 2 + 5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7"/>
          <p:cNvSpPr txBox="1"/>
          <p:nvPr/>
        </p:nvSpPr>
        <p:spPr>
          <a:xfrm>
            <a:off x="1963513" y="2999961"/>
            <a:ext cx="1673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= 55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5142695" y="2065238"/>
            <a:ext cx="136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5160550" y="2605238"/>
            <a:ext cx="268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/>
        </p:nvSpPr>
        <p:spPr>
          <a:xfrm>
            <a:off x="6229963" y="3526261"/>
            <a:ext cx="1673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= 16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64}+2^{3}&quot;&gt;&lt;msqrt&gt;&lt;mn&gt;64&lt;/mn&gt;&lt;/msqrt&gt;&lt;mo&gt;+&lt;/mo&gt;&lt;msup&gt;&lt;mn&gt;2&lt;/mn&gt;&lt;mrow data-mjx-texclass=&quot;ORD&quot;&gt;&lt;mn&gt;3&lt;/mn&gt;&lt;/mrow&gt;&lt;/msup&gt;&lt;/math&gt;" id="774" name="Google Shape;774;p67" title="the square root of 64 plus 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550" y="3076150"/>
            <a:ext cx="1145625" cy="3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67"/>
          <p:cNvSpPr txBox="1"/>
          <p:nvPr/>
        </p:nvSpPr>
        <p:spPr>
          <a:xfrm>
            <a:off x="5466050" y="3526250"/>
            <a:ext cx="96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+ 8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  <p:sp>
        <p:nvSpPr>
          <p:cNvPr id="781" name="Google Shape;781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64" y="20539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 txBox="1"/>
          <p:nvPr/>
        </p:nvSpPr>
        <p:spPr>
          <a:xfrm>
            <a:off x="4320000" y="1868400"/>
            <a:ext cx="3663000" cy="1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lots of different scientific calculators, but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have very similar functionality and notation.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9" name="Google Shape;78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0"/>
          <p:cNvSpPr txBox="1"/>
          <p:nvPr/>
        </p:nvSpPr>
        <p:spPr>
          <a:xfrm>
            <a:off x="3942900" y="947400"/>
            <a:ext cx="46515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When turning on your calculator, there will be different applications available.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475" y="1242950"/>
            <a:ext cx="1826375" cy="8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942900" y="2311650"/>
            <a:ext cx="46515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Ensure the “Calculate” is selected and press “OK” or “EXE”.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3942900" y="3401150"/>
            <a:ext cx="46515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 return back to all the applications press the “HOME” key.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0"/>
          <p:cNvSpPr/>
          <p:nvPr/>
        </p:nvSpPr>
        <p:spPr>
          <a:xfrm>
            <a:off x="2223905" y="2398568"/>
            <a:ext cx="280800" cy="24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/>
          <p:nvPr/>
        </p:nvSpPr>
        <p:spPr>
          <a:xfrm>
            <a:off x="2821055" y="4456468"/>
            <a:ext cx="280800" cy="24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/>
          <p:nvPr/>
        </p:nvSpPr>
        <p:spPr>
          <a:xfrm>
            <a:off x="1606200" y="2039252"/>
            <a:ext cx="280800" cy="3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1"/>
          <p:cNvSpPr txBox="1"/>
          <p:nvPr/>
        </p:nvSpPr>
        <p:spPr>
          <a:xfrm>
            <a:off x="3650375" y="981900"/>
            <a:ext cx="52650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are going to go through the main operations with the fx-570/991CW.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/>
        </p:nvSpPr>
        <p:spPr>
          <a:xfrm>
            <a:off x="4445550" y="2436000"/>
            <a:ext cx="32358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find the four main operations: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+, −, × and ÷ 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0" name="Google Shape;81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1" name="Google Shape;811;p71"/>
          <p:cNvGrpSpPr/>
          <p:nvPr/>
        </p:nvGrpSpPr>
        <p:grpSpPr>
          <a:xfrm>
            <a:off x="2378583" y="3683289"/>
            <a:ext cx="2600100" cy="758550"/>
            <a:chOff x="2378583" y="3683289"/>
            <a:chExt cx="2600100" cy="758550"/>
          </a:xfrm>
        </p:grpSpPr>
        <p:cxnSp>
          <p:nvCxnSpPr>
            <p:cNvPr id="812" name="Google Shape;812;p71"/>
            <p:cNvCxnSpPr>
              <a:stCxn id="813" idx="3"/>
            </p:cNvCxnSpPr>
            <p:nvPr/>
          </p:nvCxnSpPr>
          <p:spPr>
            <a:xfrm flipH="1" rot="10800000">
              <a:off x="3169983" y="3683289"/>
              <a:ext cx="1808700" cy="4182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3" name="Google Shape;813;p71"/>
            <p:cNvSpPr/>
            <p:nvPr/>
          </p:nvSpPr>
          <p:spPr>
            <a:xfrm>
              <a:off x="2378583" y="3761139"/>
              <a:ext cx="791400" cy="680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2"/>
          <p:cNvSpPr txBox="1"/>
          <p:nvPr/>
        </p:nvSpPr>
        <p:spPr>
          <a:xfrm>
            <a:off x="3650375" y="981900"/>
            <a:ext cx="52650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2"/>
          <p:cNvSpPr txBox="1"/>
          <p:nvPr/>
        </p:nvSpPr>
        <p:spPr>
          <a:xfrm>
            <a:off x="4495700" y="2700000"/>
            <a:ext cx="32358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find the “negative” button?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1" name="Google Shape;82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2" name="Google Shape;822;p72"/>
          <p:cNvGrpSpPr/>
          <p:nvPr/>
        </p:nvGrpSpPr>
        <p:grpSpPr>
          <a:xfrm>
            <a:off x="2764400" y="3610234"/>
            <a:ext cx="2271707" cy="796132"/>
            <a:chOff x="2378574" y="3101428"/>
            <a:chExt cx="2284500" cy="1262700"/>
          </a:xfrm>
        </p:grpSpPr>
        <p:cxnSp>
          <p:nvCxnSpPr>
            <p:cNvPr id="823" name="Google Shape;823;p72"/>
            <p:cNvCxnSpPr>
              <a:stCxn id="824" idx="3"/>
            </p:cNvCxnSpPr>
            <p:nvPr/>
          </p:nvCxnSpPr>
          <p:spPr>
            <a:xfrm flipH="1" rot="10800000">
              <a:off x="2783274" y="3101428"/>
              <a:ext cx="1879800" cy="9612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4" name="Google Shape;824;p72"/>
            <p:cNvSpPr/>
            <p:nvPr/>
          </p:nvSpPr>
          <p:spPr>
            <a:xfrm>
              <a:off x="2378574" y="3761128"/>
              <a:ext cx="404700" cy="603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5" name="Google Shape;82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1" name="Google Shape;831;p73"/>
          <p:cNvGrpSpPr/>
          <p:nvPr/>
        </p:nvGrpSpPr>
        <p:grpSpPr>
          <a:xfrm>
            <a:off x="2764400" y="2160021"/>
            <a:ext cx="1219532" cy="2246345"/>
            <a:chOff x="2378574" y="801328"/>
            <a:chExt cx="1226400" cy="3562800"/>
          </a:xfrm>
        </p:grpSpPr>
        <p:cxnSp>
          <p:nvCxnSpPr>
            <p:cNvPr id="832" name="Google Shape;832;p73"/>
            <p:cNvCxnSpPr>
              <a:stCxn id="833" idx="3"/>
            </p:cNvCxnSpPr>
            <p:nvPr/>
          </p:nvCxnSpPr>
          <p:spPr>
            <a:xfrm flipH="1" rot="10800000">
              <a:off x="2783274" y="801328"/>
              <a:ext cx="821700" cy="32613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3" name="Google Shape;833;p73"/>
            <p:cNvSpPr/>
            <p:nvPr/>
          </p:nvSpPr>
          <p:spPr>
            <a:xfrm>
              <a:off x="2378574" y="3761128"/>
              <a:ext cx="404700" cy="603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4" name="Google Shape;834;p73"/>
          <p:cNvSpPr txBox="1"/>
          <p:nvPr/>
        </p:nvSpPr>
        <p:spPr>
          <a:xfrm>
            <a:off x="3647975" y="810000"/>
            <a:ext cx="50532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two ways to access the “negative”.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5" name="Google Shape;83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096" y="1282275"/>
            <a:ext cx="16192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3"/>
          <p:cNvSpPr txBox="1"/>
          <p:nvPr/>
        </p:nvSpPr>
        <p:spPr>
          <a:xfrm>
            <a:off x="5664750" y="1424175"/>
            <a:ext cx="28107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Press SHIFT and then the “minus”.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3809550" y="2220375"/>
            <a:ext cx="4894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will show the proper negative sign.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/>
        </p:nvSpPr>
        <p:spPr>
          <a:xfrm>
            <a:off x="3962250" y="2825625"/>
            <a:ext cx="1219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6977" y="2813575"/>
            <a:ext cx="2476400" cy="11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6" name="Google Shape;846;p74"/>
          <p:cNvGrpSpPr/>
          <p:nvPr/>
        </p:nvGrpSpPr>
        <p:grpSpPr>
          <a:xfrm>
            <a:off x="2764400" y="2160021"/>
            <a:ext cx="1219532" cy="2246345"/>
            <a:chOff x="2378574" y="801328"/>
            <a:chExt cx="1226400" cy="3562800"/>
          </a:xfrm>
        </p:grpSpPr>
        <p:cxnSp>
          <p:nvCxnSpPr>
            <p:cNvPr id="847" name="Google Shape;847;p74"/>
            <p:cNvCxnSpPr>
              <a:stCxn id="848" idx="3"/>
            </p:cNvCxnSpPr>
            <p:nvPr/>
          </p:nvCxnSpPr>
          <p:spPr>
            <a:xfrm flipH="1" rot="10800000">
              <a:off x="2783274" y="801328"/>
              <a:ext cx="821700" cy="32613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8" name="Google Shape;848;p74"/>
            <p:cNvSpPr/>
            <p:nvPr/>
          </p:nvSpPr>
          <p:spPr>
            <a:xfrm>
              <a:off x="2378574" y="3761128"/>
              <a:ext cx="404700" cy="603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9" name="Google Shape;849;p74"/>
          <p:cNvSpPr txBox="1"/>
          <p:nvPr/>
        </p:nvSpPr>
        <p:spPr>
          <a:xfrm>
            <a:off x="3647975" y="810000"/>
            <a:ext cx="50532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two ways to access the “negative”.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0" name="Google Shape;850;p74"/>
          <p:cNvPicPr preferRelativeResize="0"/>
          <p:nvPr/>
        </p:nvPicPr>
        <p:blipFill rotWithShape="1">
          <a:blip r:embed="rId4">
            <a:alphaModFix/>
          </a:blip>
          <a:srcRect b="0" l="56767" r="0" t="0"/>
          <a:stretch/>
        </p:blipFill>
        <p:spPr>
          <a:xfrm>
            <a:off x="3966523" y="1282275"/>
            <a:ext cx="700025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4"/>
          <p:cNvSpPr txBox="1"/>
          <p:nvPr/>
        </p:nvSpPr>
        <p:spPr>
          <a:xfrm>
            <a:off x="4772625" y="1424175"/>
            <a:ext cx="370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Or use the “minus” key.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4"/>
          <p:cNvSpPr txBox="1"/>
          <p:nvPr/>
        </p:nvSpPr>
        <p:spPr>
          <a:xfrm>
            <a:off x="3809550" y="2220375"/>
            <a:ext cx="4894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calculator will know and adjust the number to a negative.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4"/>
          <p:cNvSpPr txBox="1"/>
          <p:nvPr/>
        </p:nvSpPr>
        <p:spPr>
          <a:xfrm>
            <a:off x="3922125" y="2959975"/>
            <a:ext cx="1219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4" name="Google Shape;85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1752" y="3016575"/>
            <a:ext cx="2663936" cy="12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5"/>
          <p:cNvSpPr txBox="1"/>
          <p:nvPr/>
        </p:nvSpPr>
        <p:spPr>
          <a:xfrm>
            <a:off x="3650375" y="981900"/>
            <a:ext cx="52650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5"/>
          <p:cNvSpPr txBox="1"/>
          <p:nvPr/>
        </p:nvSpPr>
        <p:spPr>
          <a:xfrm>
            <a:off x="4445550" y="2207400"/>
            <a:ext cx="32358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find the button that will execute the calculation?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3" name="Google Shape;863;p75"/>
          <p:cNvGrpSpPr/>
          <p:nvPr/>
        </p:nvGrpSpPr>
        <p:grpSpPr>
          <a:xfrm>
            <a:off x="2808475" y="4140235"/>
            <a:ext cx="1002900" cy="573300"/>
            <a:chOff x="2370150" y="3438585"/>
            <a:chExt cx="1002900" cy="573300"/>
          </a:xfrm>
        </p:grpSpPr>
        <p:cxnSp>
          <p:nvCxnSpPr>
            <p:cNvPr id="864" name="Google Shape;864;p75"/>
            <p:cNvCxnSpPr>
              <a:stCxn id="865" idx="3"/>
            </p:cNvCxnSpPr>
            <p:nvPr/>
          </p:nvCxnSpPr>
          <p:spPr>
            <a:xfrm flipH="1" rot="10800000">
              <a:off x="2707350" y="3438585"/>
              <a:ext cx="665700" cy="4395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5" name="Google Shape;865;p75"/>
            <p:cNvSpPr/>
            <p:nvPr/>
          </p:nvSpPr>
          <p:spPr>
            <a:xfrm>
              <a:off x="2370150" y="3744285"/>
              <a:ext cx="337200" cy="267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6" name="Google Shape;866;p75"/>
          <p:cNvGrpSpPr/>
          <p:nvPr/>
        </p:nvGrpSpPr>
        <p:grpSpPr>
          <a:xfrm>
            <a:off x="2223905" y="2354118"/>
            <a:ext cx="1629600" cy="1229850"/>
            <a:chOff x="2378580" y="3761143"/>
            <a:chExt cx="1629600" cy="1229850"/>
          </a:xfrm>
        </p:grpSpPr>
        <p:cxnSp>
          <p:nvCxnSpPr>
            <p:cNvPr id="867" name="Google Shape;867;p75"/>
            <p:cNvCxnSpPr>
              <a:stCxn id="868" idx="3"/>
            </p:cNvCxnSpPr>
            <p:nvPr/>
          </p:nvCxnSpPr>
          <p:spPr>
            <a:xfrm>
              <a:off x="2668080" y="3904093"/>
              <a:ext cx="1340100" cy="10869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8" name="Google Shape;868;p75"/>
            <p:cNvSpPr/>
            <p:nvPr/>
          </p:nvSpPr>
          <p:spPr>
            <a:xfrm>
              <a:off x="2378580" y="3761143"/>
              <a:ext cx="289500" cy="285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9" name="Google Shape;869;p75"/>
          <p:cNvSpPr txBox="1"/>
          <p:nvPr/>
        </p:nvSpPr>
        <p:spPr>
          <a:xfrm>
            <a:off x="3267900" y="3683300"/>
            <a:ext cx="56730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are two buttons that will do this.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0" name="Google Shape;87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680" y="4046725"/>
            <a:ext cx="1409336" cy="7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6"/>
          <p:cNvSpPr txBox="1"/>
          <p:nvPr/>
        </p:nvSpPr>
        <p:spPr>
          <a:xfrm>
            <a:off x="3650375" y="981900"/>
            <a:ext cx="52650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6"/>
          <p:cNvSpPr txBox="1"/>
          <p:nvPr/>
        </p:nvSpPr>
        <p:spPr>
          <a:xfrm>
            <a:off x="4445550" y="1787550"/>
            <a:ext cx="32358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find the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“square” button?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8" name="Google Shape;87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9" name="Google Shape;879;p76"/>
          <p:cNvCxnSpPr>
            <a:stCxn id="880" idx="3"/>
          </p:cNvCxnSpPr>
          <p:nvPr/>
        </p:nvCxnSpPr>
        <p:spPr>
          <a:xfrm flipH="1" rot="10800000">
            <a:off x="2839086" y="2587051"/>
            <a:ext cx="1967700" cy="4641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76"/>
          <p:cNvSpPr/>
          <p:nvPr/>
        </p:nvSpPr>
        <p:spPr>
          <a:xfrm>
            <a:off x="2489286" y="2916001"/>
            <a:ext cx="349800" cy="270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9125" y="2746350"/>
            <a:ext cx="6286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7"/>
          <p:cNvSpPr txBox="1"/>
          <p:nvPr/>
        </p:nvSpPr>
        <p:spPr>
          <a:xfrm>
            <a:off x="4445550" y="2664600"/>
            <a:ext cx="32358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find the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cursor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” buttons?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8" name="Google Shape;88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9" name="Google Shape;889;p77"/>
          <p:cNvGrpSpPr/>
          <p:nvPr/>
        </p:nvGrpSpPr>
        <p:grpSpPr>
          <a:xfrm>
            <a:off x="1905925" y="2121325"/>
            <a:ext cx="2908405" cy="1189125"/>
            <a:chOff x="1775280" y="3761143"/>
            <a:chExt cx="2600971" cy="1189125"/>
          </a:xfrm>
        </p:grpSpPr>
        <p:cxnSp>
          <p:nvCxnSpPr>
            <p:cNvPr id="890" name="Google Shape;890;p77"/>
            <p:cNvCxnSpPr/>
            <p:nvPr/>
          </p:nvCxnSpPr>
          <p:spPr>
            <a:xfrm>
              <a:off x="2667451" y="4493668"/>
              <a:ext cx="1708800" cy="4566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1" name="Google Shape;891;p77"/>
            <p:cNvSpPr/>
            <p:nvPr/>
          </p:nvSpPr>
          <p:spPr>
            <a:xfrm>
              <a:off x="1775280" y="3761143"/>
              <a:ext cx="877500" cy="811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92" name="Google Shape;89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847" y="3544925"/>
            <a:ext cx="1285191" cy="11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7"/>
          <p:cNvSpPr txBox="1"/>
          <p:nvPr/>
        </p:nvSpPr>
        <p:spPr>
          <a:xfrm>
            <a:off x="3624300" y="1182600"/>
            <a:ext cx="52650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These are very important keys and allow you to move around the calculator screen and your calculation.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8"/>
          <p:cNvSpPr txBox="1"/>
          <p:nvPr/>
        </p:nvSpPr>
        <p:spPr>
          <a:xfrm>
            <a:off x="3624300" y="1299400"/>
            <a:ext cx="52650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is a powerful key as it allows you to change the format of your answer.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8"/>
          <p:cNvSpPr txBox="1"/>
          <p:nvPr/>
        </p:nvSpPr>
        <p:spPr>
          <a:xfrm>
            <a:off x="4566413" y="2528400"/>
            <a:ext cx="32358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find the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FORMAT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” button?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1" name="Google Shape;90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78"/>
          <p:cNvGrpSpPr/>
          <p:nvPr/>
        </p:nvGrpSpPr>
        <p:grpSpPr>
          <a:xfrm>
            <a:off x="2396275" y="3394625"/>
            <a:ext cx="2506557" cy="1341600"/>
            <a:chOff x="2491007" y="4239743"/>
            <a:chExt cx="2241600" cy="1341600"/>
          </a:xfrm>
        </p:grpSpPr>
        <p:cxnSp>
          <p:nvCxnSpPr>
            <p:cNvPr id="903" name="Google Shape;903;p78"/>
            <p:cNvCxnSpPr>
              <a:stCxn id="904" idx="3"/>
            </p:cNvCxnSpPr>
            <p:nvPr/>
          </p:nvCxnSpPr>
          <p:spPr>
            <a:xfrm flipH="1" rot="10800000">
              <a:off x="2823707" y="4239743"/>
              <a:ext cx="1908900" cy="11670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4" name="Google Shape;904;p78"/>
            <p:cNvSpPr/>
            <p:nvPr/>
          </p:nvSpPr>
          <p:spPr>
            <a:xfrm>
              <a:off x="2491007" y="5232143"/>
              <a:ext cx="332700" cy="349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5" name="Google Shape;90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8" y="3437100"/>
            <a:ext cx="7048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9"/>
          <p:cNvSpPr txBox="1"/>
          <p:nvPr/>
        </p:nvSpPr>
        <p:spPr>
          <a:xfrm>
            <a:off x="1743150" y="1773625"/>
            <a:ext cx="2467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Execute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2" name="Google Shape;91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6201" y="2776177"/>
            <a:ext cx="509125" cy="531413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9"/>
          <p:cNvSpPr txBox="1"/>
          <p:nvPr/>
        </p:nvSpPr>
        <p:spPr>
          <a:xfrm>
            <a:off x="573650" y="738600"/>
            <a:ext cx="812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are many more, but these are the main buttons we will use in this lesson.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4" name="Google Shape;91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51" y="1621219"/>
            <a:ext cx="1174368" cy="628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650" y="2291167"/>
            <a:ext cx="496922" cy="45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130" y="2781318"/>
            <a:ext cx="509126" cy="45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5290" y="3271492"/>
            <a:ext cx="496914" cy="505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450" y="3797242"/>
            <a:ext cx="440712" cy="437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24285" y="1570950"/>
            <a:ext cx="1327161" cy="1207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63283" y="2810461"/>
            <a:ext cx="552165" cy="53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7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3283" y="3373975"/>
            <a:ext cx="552161" cy="53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7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66200" y="3411599"/>
            <a:ext cx="509126" cy="53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10928" y="2073805"/>
            <a:ext cx="619672" cy="598368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9"/>
          <p:cNvSpPr txBox="1"/>
          <p:nvPr/>
        </p:nvSpPr>
        <p:spPr>
          <a:xfrm>
            <a:off x="1133550" y="2373199"/>
            <a:ext cx="983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9"/>
          <p:cNvSpPr txBox="1"/>
          <p:nvPr/>
        </p:nvSpPr>
        <p:spPr>
          <a:xfrm>
            <a:off x="1133550" y="2840425"/>
            <a:ext cx="983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Divide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9"/>
          <p:cNvSpPr txBox="1"/>
          <p:nvPr/>
        </p:nvSpPr>
        <p:spPr>
          <a:xfrm>
            <a:off x="1133550" y="3343746"/>
            <a:ext cx="983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Addition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9"/>
          <p:cNvSpPr txBox="1"/>
          <p:nvPr/>
        </p:nvSpPr>
        <p:spPr>
          <a:xfrm>
            <a:off x="1133550" y="3800950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Subtraction or negative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9"/>
          <p:cNvSpPr txBox="1"/>
          <p:nvPr/>
        </p:nvSpPr>
        <p:spPr>
          <a:xfrm>
            <a:off x="5021850" y="2002225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Cursor keys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 txBox="1"/>
          <p:nvPr/>
        </p:nvSpPr>
        <p:spPr>
          <a:xfrm>
            <a:off x="7279775" y="2074938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Change format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9"/>
          <p:cNvSpPr txBox="1"/>
          <p:nvPr/>
        </p:nvSpPr>
        <p:spPr>
          <a:xfrm>
            <a:off x="4640850" y="3450025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root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9"/>
          <p:cNvSpPr txBox="1"/>
          <p:nvPr/>
        </p:nvSpPr>
        <p:spPr>
          <a:xfrm>
            <a:off x="4651437" y="2910609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9"/>
          <p:cNvSpPr txBox="1"/>
          <p:nvPr/>
        </p:nvSpPr>
        <p:spPr>
          <a:xfrm>
            <a:off x="7242237" y="2890557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9"/>
          <p:cNvSpPr txBox="1"/>
          <p:nvPr/>
        </p:nvSpPr>
        <p:spPr>
          <a:xfrm>
            <a:off x="7242237" y="3516199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Power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4" name="Google Shape;934;p7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05299" y="3938200"/>
            <a:ext cx="1112619" cy="53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9"/>
          <p:cNvSpPr txBox="1"/>
          <p:nvPr/>
        </p:nvSpPr>
        <p:spPr>
          <a:xfrm>
            <a:off x="4651425" y="4035571"/>
            <a:ext cx="150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Brackets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0"/>
          <p:cNvSpPr txBox="1"/>
          <p:nvPr/>
        </p:nvSpPr>
        <p:spPr>
          <a:xfrm>
            <a:off x="1986925" y="891000"/>
            <a:ext cx="6714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cursor keys will allow you to move around the functions, applications and calculations on your calculator screen.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an important key to leave or enter an operation.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2" name="Google Shape;94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10" y="891000"/>
            <a:ext cx="1327161" cy="120738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0"/>
          <p:cNvSpPr txBox="1"/>
          <p:nvPr/>
        </p:nvSpPr>
        <p:spPr>
          <a:xfrm>
            <a:off x="448950" y="2415000"/>
            <a:ext cx="7469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0"/>
          <p:cNvSpPr txBox="1"/>
          <p:nvPr/>
        </p:nvSpPr>
        <p:spPr>
          <a:xfrm>
            <a:off x="336775" y="2603050"/>
            <a:ext cx="3663600" cy="18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buttons need to be pressed to get this calculation on the screen?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5" name="Google Shape;94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2618950"/>
            <a:ext cx="39243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 b="0" sz="1800"/>
          </a:p>
        </p:txBody>
      </p:sp>
      <p:pic>
        <p:nvPicPr>
          <p:cNvPr id="947" name="Google Shape;947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600" y="4077575"/>
            <a:ext cx="3887950" cy="48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1"/>
          <p:cNvSpPr txBox="1"/>
          <p:nvPr>
            <p:ph idx="1" type="body"/>
          </p:nvPr>
        </p:nvSpPr>
        <p:spPr>
          <a:xfrm>
            <a:off x="324000" y="7593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Alex is asked by the teacher to square negative 8.</a:t>
            </a:r>
            <a:endParaRPr sz="1900"/>
          </a:p>
        </p:txBody>
      </p:sp>
      <p:sp>
        <p:nvSpPr>
          <p:cNvPr id="953" name="Google Shape;95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  <p:pic>
        <p:nvPicPr>
          <p:cNvPr id="954" name="Google Shape;95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00" y="1080000"/>
            <a:ext cx="3416078" cy="1565363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1"/>
          <p:cNvSpPr txBox="1"/>
          <p:nvPr>
            <p:ph idx="1" type="body"/>
          </p:nvPr>
        </p:nvSpPr>
        <p:spPr>
          <a:xfrm>
            <a:off x="324013" y="27465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 thinks he inputs it in correctly to give an answer of -64.</a:t>
            </a:r>
            <a:endParaRPr sz="1900"/>
          </a:p>
        </p:txBody>
      </p:sp>
      <p:sp>
        <p:nvSpPr>
          <p:cNvPr id="956" name="Google Shape;956;p81"/>
          <p:cNvSpPr txBox="1"/>
          <p:nvPr>
            <p:ph idx="1" type="body"/>
          </p:nvPr>
        </p:nvSpPr>
        <p:spPr>
          <a:xfrm>
            <a:off x="324013" y="31275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What should have Alex inputted into the calculator?</a:t>
            </a:r>
            <a:endParaRPr sz="1900"/>
          </a:p>
        </p:txBody>
      </p:sp>
      <p:sp>
        <p:nvSpPr>
          <p:cNvPr id="957" name="Google Shape;957;p81"/>
          <p:cNvSpPr txBox="1"/>
          <p:nvPr>
            <p:ph idx="1" type="body"/>
          </p:nvPr>
        </p:nvSpPr>
        <p:spPr>
          <a:xfrm>
            <a:off x="324013" y="41181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  How did the calculator get an answer of -64?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2"/>
          <p:cNvSpPr txBox="1"/>
          <p:nvPr>
            <p:ph idx="1" type="body"/>
          </p:nvPr>
        </p:nvSpPr>
        <p:spPr>
          <a:xfrm>
            <a:off x="324000" y="7593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Alex is asked by the teacher to square negative 8.</a:t>
            </a:r>
            <a:endParaRPr sz="1900"/>
          </a:p>
        </p:txBody>
      </p:sp>
      <p:pic>
        <p:nvPicPr>
          <p:cNvPr id="963" name="Google Shape;96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00" y="1080000"/>
            <a:ext cx="3416078" cy="1565363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2"/>
          <p:cNvSpPr txBox="1"/>
          <p:nvPr>
            <p:ph idx="1" type="body"/>
          </p:nvPr>
        </p:nvSpPr>
        <p:spPr>
          <a:xfrm>
            <a:off x="324013" y="27465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 thinks he inputs it in correctly to give an answer of -64.</a:t>
            </a:r>
            <a:endParaRPr sz="1900"/>
          </a:p>
        </p:txBody>
      </p:sp>
      <p:sp>
        <p:nvSpPr>
          <p:cNvPr id="965" name="Google Shape;965;p82"/>
          <p:cNvSpPr txBox="1"/>
          <p:nvPr>
            <p:ph idx="1" type="body"/>
          </p:nvPr>
        </p:nvSpPr>
        <p:spPr>
          <a:xfrm>
            <a:off x="324013" y="31275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What should have Alex inputted into the calculator?</a:t>
            </a:r>
            <a:endParaRPr sz="1900"/>
          </a:p>
        </p:txBody>
      </p:sp>
      <p:pic>
        <p:nvPicPr>
          <p:cNvPr id="966" name="Google Shape;96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8550" y="3503300"/>
            <a:ext cx="2534625" cy="116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7" name="Google Shape;967;p82"/>
          <p:cNvCxnSpPr/>
          <p:nvPr/>
        </p:nvCxnSpPr>
        <p:spPr>
          <a:xfrm flipH="1">
            <a:off x="3991700" y="3653550"/>
            <a:ext cx="2647800" cy="252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82"/>
          <p:cNvSpPr txBox="1"/>
          <p:nvPr>
            <p:ph idx="1" type="body"/>
          </p:nvPr>
        </p:nvSpPr>
        <p:spPr>
          <a:xfrm>
            <a:off x="6799050" y="3503300"/>
            <a:ext cx="2066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latin typeface="Kalam"/>
                <a:ea typeface="Kalam"/>
                <a:cs typeface="Kalam"/>
                <a:sym typeface="Kalam"/>
              </a:rPr>
              <a:t>Negatives should be inputted within brackets.</a:t>
            </a:r>
            <a:endParaRPr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3"/>
          <p:cNvSpPr txBox="1"/>
          <p:nvPr>
            <p:ph idx="1" type="body"/>
          </p:nvPr>
        </p:nvSpPr>
        <p:spPr>
          <a:xfrm>
            <a:off x="324000" y="7593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Alex is asked by the teacher to square negative 8.</a:t>
            </a:r>
            <a:endParaRPr sz="1900"/>
          </a:p>
        </p:txBody>
      </p:sp>
      <p:pic>
        <p:nvPicPr>
          <p:cNvPr id="975" name="Google Shape;97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00" y="1080000"/>
            <a:ext cx="3416078" cy="1565363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3"/>
          <p:cNvSpPr txBox="1"/>
          <p:nvPr>
            <p:ph idx="1" type="body"/>
          </p:nvPr>
        </p:nvSpPr>
        <p:spPr>
          <a:xfrm>
            <a:off x="324013" y="27465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 thinks he inputs it in correctly to give an answer of -64.</a:t>
            </a:r>
            <a:endParaRPr sz="1900"/>
          </a:p>
        </p:txBody>
      </p:sp>
      <p:sp>
        <p:nvSpPr>
          <p:cNvPr id="977" name="Google Shape;977;p83"/>
          <p:cNvSpPr txBox="1"/>
          <p:nvPr>
            <p:ph idx="1" type="body"/>
          </p:nvPr>
        </p:nvSpPr>
        <p:spPr>
          <a:xfrm>
            <a:off x="323988" y="3188075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  How did the calculator get an answer of -64?</a:t>
            </a:r>
            <a:endParaRPr sz="1900"/>
          </a:p>
        </p:txBody>
      </p:sp>
      <p:sp>
        <p:nvSpPr>
          <p:cNvPr id="978" name="Google Shape;978;p83"/>
          <p:cNvSpPr txBox="1"/>
          <p:nvPr>
            <p:ph idx="1" type="body"/>
          </p:nvPr>
        </p:nvSpPr>
        <p:spPr>
          <a:xfrm>
            <a:off x="324026" y="3564475"/>
            <a:ext cx="83892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Scientific calculators have the priority of operations installed into their programming. The calculator is performing the exponent first then multiplication. 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baseline="30000"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and then multiplying it by negative 1. Thus giving -64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9" name="Google Shape;97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4"/>
          <p:cNvSpPr/>
          <p:nvPr/>
        </p:nvSpPr>
        <p:spPr>
          <a:xfrm>
            <a:off x="2400300" y="1104900"/>
            <a:ext cx="4166100" cy="70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5" name="Google Shape;98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525" y="206001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787" y="210467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500" y="22432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84"/>
          <p:cNvSpPr txBox="1"/>
          <p:nvPr/>
        </p:nvSpPr>
        <p:spPr>
          <a:xfrm>
            <a:off x="7236669" y="3172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4"/>
          <p:cNvSpPr txBox="1"/>
          <p:nvPr/>
        </p:nvSpPr>
        <p:spPr>
          <a:xfrm>
            <a:off x="483425" y="334312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4"/>
          <p:cNvSpPr txBox="1"/>
          <p:nvPr/>
        </p:nvSpPr>
        <p:spPr>
          <a:xfrm>
            <a:off x="4772084" y="3185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4"/>
          <p:cNvSpPr txBox="1"/>
          <p:nvPr>
            <p:ph idx="1" type="body"/>
          </p:nvPr>
        </p:nvSpPr>
        <p:spPr>
          <a:xfrm>
            <a:off x="323988" y="6489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Three students were given the same question.</a:t>
            </a:r>
            <a:endParaRPr sz="1900"/>
          </a:p>
        </p:txBody>
      </p:sp>
      <p:pic>
        <p:nvPicPr>
          <p:cNvPr id="992" name="Google Shape;99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877" y="2104663"/>
            <a:ext cx="1658096" cy="109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89002" y="2104675"/>
            <a:ext cx="1844548" cy="121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036121" y="2152347"/>
            <a:ext cx="1535022" cy="1016576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84"/>
          <p:cNvSpPr txBox="1"/>
          <p:nvPr/>
        </p:nvSpPr>
        <p:spPr>
          <a:xfrm>
            <a:off x="1611625" y="2177575"/>
            <a:ext cx="14742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answer is 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4"/>
          <p:cNvSpPr txBox="1"/>
          <p:nvPr/>
        </p:nvSpPr>
        <p:spPr>
          <a:xfrm>
            <a:off x="3369600" y="2221600"/>
            <a:ext cx="1657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answer is 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^3+\sqrt[]{9+16}-200&quot;&gt;&lt;msup&gt;&lt;mn&gt;6&lt;/mn&gt;&lt;mn&gt;3&lt;/mn&gt;&lt;/msup&gt;&lt;mo&gt;+&lt;/mo&gt;&lt;msqrt&gt;&lt;mn&gt;9&lt;/mn&gt;&lt;mo&gt;+&lt;/mo&gt;&lt;mn&gt;16&lt;/mn&gt;&lt;/msqrt&gt;&lt;mo&gt;−&lt;/mo&gt;&lt;mn&gt;200&lt;/mn&gt;&lt;/math&gt;" id="997" name="Google Shape;997;p84" title="6 cubed plus the square root of 9 plus 16 minus 2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76890" y="1160120"/>
            <a:ext cx="40005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84"/>
          <p:cNvSpPr txBox="1"/>
          <p:nvPr/>
        </p:nvSpPr>
        <p:spPr>
          <a:xfrm>
            <a:off x="6066350" y="2210700"/>
            <a:ext cx="1657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got Math ERROR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4"/>
          <p:cNvSpPr txBox="1"/>
          <p:nvPr>
            <p:ph idx="1" type="body"/>
          </p:nvPr>
        </p:nvSpPr>
        <p:spPr>
          <a:xfrm>
            <a:off x="793525" y="3929025"/>
            <a:ext cx="772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Who is correct?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What buttons need to be pressed to work out the correct answer?</a:t>
            </a:r>
            <a:endParaRPr sz="1900"/>
          </a:p>
        </p:txBody>
      </p:sp>
      <p:sp>
        <p:nvSpPr>
          <p:cNvPr id="1000" name="Google Shape;100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5"/>
          <p:cNvSpPr/>
          <p:nvPr/>
        </p:nvSpPr>
        <p:spPr>
          <a:xfrm>
            <a:off x="2400300" y="1104900"/>
            <a:ext cx="4166100" cy="70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6" name="Google Shape;100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525" y="206001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787" y="210467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500" y="22432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85"/>
          <p:cNvSpPr txBox="1"/>
          <p:nvPr/>
        </p:nvSpPr>
        <p:spPr>
          <a:xfrm>
            <a:off x="7236669" y="3172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5"/>
          <p:cNvSpPr txBox="1"/>
          <p:nvPr/>
        </p:nvSpPr>
        <p:spPr>
          <a:xfrm>
            <a:off x="483425" y="334312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5"/>
          <p:cNvSpPr txBox="1"/>
          <p:nvPr/>
        </p:nvSpPr>
        <p:spPr>
          <a:xfrm>
            <a:off x="4772084" y="3185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5"/>
          <p:cNvSpPr txBox="1"/>
          <p:nvPr>
            <p:ph idx="1" type="body"/>
          </p:nvPr>
        </p:nvSpPr>
        <p:spPr>
          <a:xfrm>
            <a:off x="323988" y="6489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Three students were given the same question.</a:t>
            </a:r>
            <a:endParaRPr sz="1900"/>
          </a:p>
        </p:txBody>
      </p:sp>
      <p:pic>
        <p:nvPicPr>
          <p:cNvPr id="1013" name="Google Shape;1013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877" y="2104663"/>
            <a:ext cx="1658096" cy="109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89002" y="2104675"/>
            <a:ext cx="1844548" cy="121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036121" y="2152347"/>
            <a:ext cx="1535022" cy="101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85"/>
          <p:cNvSpPr txBox="1"/>
          <p:nvPr/>
        </p:nvSpPr>
        <p:spPr>
          <a:xfrm>
            <a:off x="1611625" y="2177575"/>
            <a:ext cx="14742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answer is 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5"/>
          <p:cNvSpPr txBox="1"/>
          <p:nvPr/>
        </p:nvSpPr>
        <p:spPr>
          <a:xfrm>
            <a:off x="3369600" y="2221600"/>
            <a:ext cx="1657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answer is 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^3+\sqrt[]{9+16}-200&quot;&gt;&lt;msup&gt;&lt;mn&gt;6&lt;/mn&gt;&lt;mn&gt;3&lt;/mn&gt;&lt;/msup&gt;&lt;mo&gt;+&lt;/mo&gt;&lt;msqrt&gt;&lt;mn&gt;9&lt;/mn&gt;&lt;mo&gt;+&lt;/mo&gt;&lt;mn&gt;16&lt;/mn&gt;&lt;/msqrt&gt;&lt;mo&gt;−&lt;/mo&gt;&lt;mn&gt;200&lt;/mn&gt;&lt;/math&gt;" id="1018" name="Google Shape;1018;p85" title="6 cubed plus the square root of 9 plus 16 minus 2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76890" y="1160120"/>
            <a:ext cx="40005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5"/>
          <p:cNvSpPr txBox="1"/>
          <p:nvPr/>
        </p:nvSpPr>
        <p:spPr>
          <a:xfrm>
            <a:off x="6066350" y="2210700"/>
            <a:ext cx="1657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got Math ERROR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5"/>
          <p:cNvSpPr txBox="1"/>
          <p:nvPr>
            <p:ph idx="1" type="body"/>
          </p:nvPr>
        </p:nvSpPr>
        <p:spPr>
          <a:xfrm>
            <a:off x="793525" y="3929025"/>
            <a:ext cx="772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Who is correct?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What buttons need to be pressed to work out the correct answer?</a:t>
            </a:r>
            <a:endParaRPr sz="1900"/>
          </a:p>
        </p:txBody>
      </p:sp>
      <p:sp>
        <p:nvSpPr>
          <p:cNvPr id="1021" name="Google Shape;1021;p85"/>
          <p:cNvSpPr txBox="1"/>
          <p:nvPr>
            <p:ph idx="1" type="body"/>
          </p:nvPr>
        </p:nvSpPr>
        <p:spPr>
          <a:xfrm>
            <a:off x="2507800" y="3882600"/>
            <a:ext cx="9822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Aisha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2" name="Google Shape;1022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38800" y="4337063"/>
            <a:ext cx="16287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3500" y="4320000"/>
            <a:ext cx="6504139" cy="4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225" y="133040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300" y="1326902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425" y="13947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6"/>
          <p:cNvSpPr txBox="1"/>
          <p:nvPr/>
        </p:nvSpPr>
        <p:spPr>
          <a:xfrm>
            <a:off x="7231369" y="244248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6"/>
          <p:cNvSpPr txBox="1"/>
          <p:nvPr/>
        </p:nvSpPr>
        <p:spPr>
          <a:xfrm>
            <a:off x="4702884" y="22787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6"/>
          <p:cNvSpPr txBox="1"/>
          <p:nvPr>
            <p:ph idx="1" type="body"/>
          </p:nvPr>
        </p:nvSpPr>
        <p:spPr>
          <a:xfrm>
            <a:off x="323988" y="648900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Match the correct calculation on the calculator with the correct answer.</a:t>
            </a:r>
            <a:endParaRPr sz="1900"/>
          </a:p>
        </p:txBody>
      </p:sp>
      <p:pic>
        <p:nvPicPr>
          <p:cNvPr id="1035" name="Google Shape;1035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8127" y="1341713"/>
            <a:ext cx="1658096" cy="109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187577" y="1314190"/>
            <a:ext cx="1844548" cy="121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030821" y="1422737"/>
            <a:ext cx="1535022" cy="101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6"/>
          <p:cNvSpPr txBox="1"/>
          <p:nvPr/>
        </p:nvSpPr>
        <p:spPr>
          <a:xfrm>
            <a:off x="1460788" y="1449450"/>
            <a:ext cx="14742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answer is -5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6"/>
          <p:cNvSpPr txBox="1"/>
          <p:nvPr/>
        </p:nvSpPr>
        <p:spPr>
          <a:xfrm>
            <a:off x="3289025" y="1376015"/>
            <a:ext cx="1657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answer is  -3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6"/>
          <p:cNvSpPr txBox="1"/>
          <p:nvPr/>
        </p:nvSpPr>
        <p:spPr>
          <a:xfrm>
            <a:off x="6061050" y="1481090"/>
            <a:ext cx="16572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got Math ERROR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6"/>
          <p:cNvSpPr txBox="1"/>
          <p:nvPr/>
        </p:nvSpPr>
        <p:spPr>
          <a:xfrm>
            <a:off x="324002" y="2442500"/>
            <a:ext cx="1333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2" name="Google Shape;1042;p86"/>
          <p:cNvCxnSpPr>
            <a:endCxn id="1043" idx="0"/>
          </p:cNvCxnSpPr>
          <p:nvPr/>
        </p:nvCxnSpPr>
        <p:spPr>
          <a:xfrm flipH="1">
            <a:off x="1736225" y="2383138"/>
            <a:ext cx="2172900" cy="93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86"/>
          <p:cNvCxnSpPr/>
          <p:nvPr/>
        </p:nvCxnSpPr>
        <p:spPr>
          <a:xfrm flipH="1" rot="10800000">
            <a:off x="4162801" y="2297550"/>
            <a:ext cx="2481000" cy="995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86"/>
          <p:cNvCxnSpPr/>
          <p:nvPr/>
        </p:nvCxnSpPr>
        <p:spPr>
          <a:xfrm rot="10800000">
            <a:off x="2212550" y="2259125"/>
            <a:ext cx="5065500" cy="104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6" name="Google Shape;1046;p86"/>
          <p:cNvGrpSpPr/>
          <p:nvPr/>
        </p:nvGrpSpPr>
        <p:grpSpPr>
          <a:xfrm>
            <a:off x="431300" y="3318538"/>
            <a:ext cx="8036275" cy="1456675"/>
            <a:chOff x="431300" y="3318538"/>
            <a:chExt cx="8036275" cy="1456675"/>
          </a:xfrm>
        </p:grpSpPr>
        <p:pic>
          <p:nvPicPr>
            <p:cNvPr id="1047" name="Google Shape;1047;p8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838800" y="4337063"/>
              <a:ext cx="1628775" cy="438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p8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813338" y="3324738"/>
              <a:ext cx="2581275" cy="118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p8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31300" y="3318538"/>
              <a:ext cx="2609850" cy="12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86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136613" y="3346850"/>
              <a:ext cx="2581275" cy="1136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86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2539750" y="3959563"/>
              <a:ext cx="347442" cy="320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86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7886250" y="3999988"/>
              <a:ext cx="347442" cy="3200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2" name="Google Shape;105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7"/>
          <p:cNvSpPr txBox="1"/>
          <p:nvPr/>
        </p:nvSpPr>
        <p:spPr>
          <a:xfrm>
            <a:off x="3624300" y="810000"/>
            <a:ext cx="52650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Your calculator may give you an answer in a different format you want.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7"/>
          <p:cNvSpPr txBox="1"/>
          <p:nvPr/>
        </p:nvSpPr>
        <p:spPr>
          <a:xfrm>
            <a:off x="3624300" y="1782575"/>
            <a:ext cx="4828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Work out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Give your answer as a decimal.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9" name="Google Shape;105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0\ -\ \sqrt[]{2.25}+\left(-4\right)^2\\&amp;#13;&amp;#10;\end{array}&quot;&gt;&lt;mtable columnalign=&quot;left&quot; columnspacing=&quot;1em&quot; rowspacing=&quot;4pt&quot;&gt;&lt;mtr&gt;&lt;mtd&gt;&lt;mn&gt;80&lt;/mn&gt;&lt;mtext&gt;&lt;/mtext&gt;&lt;mo&gt;−&lt;/mo&gt;&lt;mtext&gt;&lt;/mtext&gt;&lt;msqrt&gt;&lt;mn&gt;2.25&lt;/mn&gt;&lt;/msqrt&gt;&lt;mo&gt;+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td&gt;&lt;/mtr&gt;&lt;/mtable&gt;&lt;/math&gt;" id="1061" name="Google Shape;1061;p87" title="1 lines Line 1: 80 minus the square root of 2.25 plus open paren negative 4 close paren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347" y="2252925"/>
            <a:ext cx="2522696" cy="366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3298" y="3335179"/>
            <a:ext cx="2765900" cy="129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2808" y="3595213"/>
            <a:ext cx="70485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4" name="Google Shape;1064;p87"/>
          <p:cNvGrpSpPr/>
          <p:nvPr/>
        </p:nvGrpSpPr>
        <p:grpSpPr>
          <a:xfrm>
            <a:off x="2396275" y="3938225"/>
            <a:ext cx="1766532" cy="798000"/>
            <a:chOff x="2491007" y="4783343"/>
            <a:chExt cx="1579800" cy="798000"/>
          </a:xfrm>
        </p:grpSpPr>
        <p:cxnSp>
          <p:nvCxnSpPr>
            <p:cNvPr id="1065" name="Google Shape;1065;p87"/>
            <p:cNvCxnSpPr>
              <a:stCxn id="1066" idx="3"/>
              <a:endCxn id="1063" idx="1"/>
            </p:cNvCxnSpPr>
            <p:nvPr/>
          </p:nvCxnSpPr>
          <p:spPr>
            <a:xfrm flipH="1" rot="10800000">
              <a:off x="2823707" y="4783343"/>
              <a:ext cx="1247100" cy="6234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6" name="Google Shape;1066;p87"/>
            <p:cNvSpPr/>
            <p:nvPr/>
          </p:nvSpPr>
          <p:spPr>
            <a:xfrm>
              <a:off x="2491007" y="5232143"/>
              <a:ext cx="332700" cy="349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8"/>
          <p:cNvSpPr txBox="1"/>
          <p:nvPr/>
        </p:nvSpPr>
        <p:spPr>
          <a:xfrm>
            <a:off x="3624300" y="810000"/>
            <a:ext cx="52650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Your calculator may give you an answer in a different format you want.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8"/>
          <p:cNvSpPr txBox="1"/>
          <p:nvPr/>
        </p:nvSpPr>
        <p:spPr>
          <a:xfrm>
            <a:off x="3624300" y="1782575"/>
            <a:ext cx="4828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Work out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Give your answer as a decimal.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3" name="Google Shape;107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0\ -\ \sqrt[]{2.25}+\left(-4\right)^2\\&amp;#13;&amp;#10;\end{array}&quot;&gt;&lt;mtable columnalign=&quot;left&quot; columnspacing=&quot;1em&quot; rowspacing=&quot;4pt&quot;&gt;&lt;mtr&gt;&lt;mtd&gt;&lt;mn&gt;80&lt;/mn&gt;&lt;mtext&gt;&lt;/mtext&gt;&lt;mo&gt;−&lt;/mo&gt;&lt;mtext&gt;&lt;/mtext&gt;&lt;msqrt&gt;&lt;mn&gt;2.25&lt;/mn&gt;&lt;/msqrt&gt;&lt;mo&gt;+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td&gt;&lt;/mtr&gt;&lt;/mtable&gt;&lt;/math&gt;" id="1074" name="Google Shape;1074;p88" title="1 lines Line 1: 80 minus the square root of 2.25 plus open paren negative 4 close paren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347" y="2252925"/>
            <a:ext cx="2522696" cy="366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3298" y="3335179"/>
            <a:ext cx="2765900" cy="129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3304" y="3342204"/>
            <a:ext cx="2765900" cy="1277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7" name="Google Shape;1077;p88"/>
          <p:cNvGrpSpPr/>
          <p:nvPr/>
        </p:nvGrpSpPr>
        <p:grpSpPr>
          <a:xfrm>
            <a:off x="2777675" y="3379150"/>
            <a:ext cx="1999624" cy="1381525"/>
            <a:chOff x="2777675" y="3379150"/>
            <a:chExt cx="1999624" cy="1381525"/>
          </a:xfrm>
        </p:grpSpPr>
        <p:grpSp>
          <p:nvGrpSpPr>
            <p:cNvPr id="1078" name="Google Shape;1078;p88"/>
            <p:cNvGrpSpPr/>
            <p:nvPr/>
          </p:nvGrpSpPr>
          <p:grpSpPr>
            <a:xfrm>
              <a:off x="2777675" y="3938075"/>
              <a:ext cx="1385114" cy="822600"/>
              <a:chOff x="2491007" y="4758743"/>
              <a:chExt cx="1238700" cy="822600"/>
            </a:xfrm>
          </p:grpSpPr>
          <p:cxnSp>
            <p:nvCxnSpPr>
              <p:cNvPr id="1079" name="Google Shape;1079;p88"/>
              <p:cNvCxnSpPr>
                <a:stCxn id="1080" idx="3"/>
                <a:endCxn id="1081" idx="1"/>
              </p:cNvCxnSpPr>
              <p:nvPr/>
            </p:nvCxnSpPr>
            <p:spPr>
              <a:xfrm flipH="1" rot="10800000">
                <a:off x="2823707" y="4758743"/>
                <a:ext cx="906000" cy="648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0" name="Google Shape;1080;p88"/>
              <p:cNvSpPr/>
              <p:nvPr/>
            </p:nvSpPr>
            <p:spPr>
              <a:xfrm>
                <a:off x="2491007" y="5232143"/>
                <a:ext cx="332700" cy="349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082" name="Google Shape;1082;p88"/>
            <p:cNvPicPr preferRelativeResize="0"/>
            <p:nvPr/>
          </p:nvPicPr>
          <p:blipFill rotWithShape="1">
            <a:blip r:embed="rId7">
              <a:alphaModFix/>
            </a:blip>
            <a:srcRect b="0" l="50000" r="0" t="0"/>
            <a:stretch/>
          </p:blipFill>
          <p:spPr>
            <a:xfrm>
              <a:off x="4119325" y="3379150"/>
              <a:ext cx="657975" cy="709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3" name="Google Shape;108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9"/>
          <p:cNvSpPr txBox="1"/>
          <p:nvPr/>
        </p:nvSpPr>
        <p:spPr>
          <a:xfrm>
            <a:off x="3624300" y="810000"/>
            <a:ext cx="52650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Your calculator may give you an answer in a different format you want.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9"/>
          <p:cNvSpPr txBox="1"/>
          <p:nvPr/>
        </p:nvSpPr>
        <p:spPr>
          <a:xfrm>
            <a:off x="3624300" y="1782575"/>
            <a:ext cx="4828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Work out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Give your answer as a decimal.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0" name="Google Shape;109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0\ -\ \sqrt[]{2.25}+\left(-4\right)^2\\&amp;#13;&amp;#10;\end{array}&quot;&gt;&lt;mtable columnalign=&quot;left&quot; columnspacing=&quot;1em&quot; rowspacing=&quot;4pt&quot;&gt;&lt;mtr&gt;&lt;mtd&gt;&lt;mn&gt;80&lt;/mn&gt;&lt;mtext&gt;&lt;/mtext&gt;&lt;mo&gt;−&lt;/mo&gt;&lt;mtext&gt;&lt;/mtext&gt;&lt;msqrt&gt;&lt;mn&gt;2.25&lt;/mn&gt;&lt;/msqrt&gt;&lt;mo&gt;+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td&gt;&lt;/mtr&gt;&lt;/mtable&gt;&lt;/math&gt;" id="1091" name="Google Shape;1091;p89" title="1 lines Line 1: 80 minus the square root of 2.25 plus open paren negative 4 close paren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347" y="2252925"/>
            <a:ext cx="2522696" cy="366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3298" y="3335179"/>
            <a:ext cx="2765900" cy="129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3304" y="3342204"/>
            <a:ext cx="2765900" cy="1277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89"/>
          <p:cNvGrpSpPr/>
          <p:nvPr/>
        </p:nvGrpSpPr>
        <p:grpSpPr>
          <a:xfrm>
            <a:off x="2777675" y="3379150"/>
            <a:ext cx="1999624" cy="1381525"/>
            <a:chOff x="2777675" y="3379150"/>
            <a:chExt cx="1999624" cy="1381525"/>
          </a:xfrm>
        </p:grpSpPr>
        <p:grpSp>
          <p:nvGrpSpPr>
            <p:cNvPr id="1095" name="Google Shape;1095;p89"/>
            <p:cNvGrpSpPr/>
            <p:nvPr/>
          </p:nvGrpSpPr>
          <p:grpSpPr>
            <a:xfrm>
              <a:off x="2777675" y="3938075"/>
              <a:ext cx="1385114" cy="822600"/>
              <a:chOff x="2491007" y="4758743"/>
              <a:chExt cx="1238700" cy="822600"/>
            </a:xfrm>
          </p:grpSpPr>
          <p:cxnSp>
            <p:nvCxnSpPr>
              <p:cNvPr id="1096" name="Google Shape;1096;p89"/>
              <p:cNvCxnSpPr>
                <a:stCxn id="1097" idx="3"/>
                <a:endCxn id="1098" idx="1"/>
              </p:cNvCxnSpPr>
              <p:nvPr/>
            </p:nvCxnSpPr>
            <p:spPr>
              <a:xfrm flipH="1" rot="10800000">
                <a:off x="2823707" y="4758743"/>
                <a:ext cx="906000" cy="648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7" name="Google Shape;1097;p89"/>
              <p:cNvSpPr/>
              <p:nvPr/>
            </p:nvSpPr>
            <p:spPr>
              <a:xfrm>
                <a:off x="2491007" y="5232143"/>
                <a:ext cx="332700" cy="349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099" name="Google Shape;1099;p89"/>
            <p:cNvPicPr preferRelativeResize="0"/>
            <p:nvPr/>
          </p:nvPicPr>
          <p:blipFill rotWithShape="1">
            <a:blip r:embed="rId7">
              <a:alphaModFix/>
            </a:blip>
            <a:srcRect b="0" l="50000" r="0" t="0"/>
            <a:stretch/>
          </p:blipFill>
          <p:spPr>
            <a:xfrm>
              <a:off x="4119325" y="3379150"/>
              <a:ext cx="657975" cy="7099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0" name="Google Shape;1100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95750" y="3294225"/>
            <a:ext cx="2912044" cy="13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0"/>
          <p:cNvSpPr txBox="1"/>
          <p:nvPr/>
        </p:nvSpPr>
        <p:spPr>
          <a:xfrm>
            <a:off x="3624300" y="1665000"/>
            <a:ext cx="52650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Once an answer is obtained from a calculation, you can select it in any format available.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7" name="Google Shape;110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474" y="8100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3298" y="3335179"/>
            <a:ext cx="2765900" cy="129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3304" y="3342204"/>
            <a:ext cx="2765900" cy="127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2808" y="3595213"/>
            <a:ext cx="70485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90"/>
          <p:cNvGrpSpPr/>
          <p:nvPr/>
        </p:nvGrpSpPr>
        <p:grpSpPr>
          <a:xfrm>
            <a:off x="2396275" y="3938225"/>
            <a:ext cx="1766532" cy="798000"/>
            <a:chOff x="2491007" y="4783343"/>
            <a:chExt cx="1579800" cy="798000"/>
          </a:xfrm>
        </p:grpSpPr>
        <p:cxnSp>
          <p:nvCxnSpPr>
            <p:cNvPr id="1112" name="Google Shape;1112;p90"/>
            <p:cNvCxnSpPr>
              <a:stCxn id="1113" idx="3"/>
              <a:endCxn id="1110" idx="1"/>
            </p:cNvCxnSpPr>
            <p:nvPr/>
          </p:nvCxnSpPr>
          <p:spPr>
            <a:xfrm flipH="1" rot="10800000">
              <a:off x="2823707" y="4783343"/>
              <a:ext cx="1247100" cy="6234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3" name="Google Shape;1113;p90"/>
            <p:cNvSpPr/>
            <p:nvPr/>
          </p:nvSpPr>
          <p:spPr>
            <a:xfrm>
              <a:off x="2491007" y="5232143"/>
              <a:ext cx="332700" cy="349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4" name="Google Shape;111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Negatives and operations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9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Work out the following with your scientific calculator. Give your answer in </a:t>
            </a:r>
            <a:r>
              <a:rPr lang="en-GB">
                <a:solidFill>
                  <a:schemeClr val="accent4"/>
                </a:solidFill>
              </a:rPr>
              <a:t>decimal form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20" name="Google Shape;112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700\ -\ \sqrt[]{31.36}+\left(-5\right)^2\\&amp;#13;&amp;#10;\end{array}&quot;&gt;&lt;mtable columnalign=&quot;left&quot; columnspacing=&quot;1em&quot; rowspacing=&quot;4pt&quot;&gt;&lt;mtr&gt;&lt;mtd&gt;&lt;mn&gt;700&lt;/mn&gt;&lt;mtext&gt;&lt;/mtext&gt;&lt;mo&gt;−&lt;/mo&gt;&lt;mtext&gt;&lt;/mtext&gt;&lt;msqrt&gt;&lt;mn&gt;31.36&lt;/mn&gt;&lt;/msqrt&gt;&lt;mo&gt;+&lt;/mo&gt;&lt;msup&gt;&lt;mrow data-mjx-texclass=&quot;INNER&quot;&gt;&lt;mo data-mjx-texclass=&quot;OPEN&quot;&gt;(&lt;/mo&gt;&lt;mo&gt;−&lt;/mo&gt;&lt;mn&gt;5&lt;/mn&gt;&lt;mo data-mjx-texclass=&quot;CLOSE&quot;&gt;)&lt;/mo&gt;&lt;/mrow&gt;&lt;mn&gt;2&lt;/mn&gt;&lt;/msup&gt;&lt;/mtd&gt;&lt;/mtr&gt;&lt;/mtable&gt;&lt;/math&gt;" id="1121" name="Google Shape;1121;p91" title="1 lines Line 1: 700 minus the square root of 31.36 plus open paren negative 5 close paren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975" y="1806700"/>
            <a:ext cx="3444034" cy="44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+\ \frac{7}{8}-\sqrt[]{1-0.75}&quot;&gt;&lt;mfrac&gt;&lt;mn&gt;4&lt;/mn&gt;&lt;mn&gt;5&lt;/mn&gt;&lt;/mfrac&gt;&lt;mo&gt;+&lt;/mo&gt;&lt;mtext&gt;&lt;/mtext&gt;&lt;mfrac&gt;&lt;mn&gt;7&lt;/mn&gt;&lt;mn&gt;8&lt;/mn&gt;&lt;/mfrac&gt;&lt;mo&gt;−&lt;/mo&gt;&lt;msqrt&gt;&lt;mn&gt;1&lt;/mn&gt;&lt;mo&gt;−&lt;/mo&gt;&lt;mn&gt;0.75&lt;/mn&gt;&lt;/msqrt&gt;&lt;/math&gt;" id="1122" name="Google Shape;1122;p91" title="four fifths plus seven eighths minus the square root of 1 minus 0.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975" y="3737150"/>
            <a:ext cx="2810625" cy="69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^3-\sqrt[]{1000+722.25}-\left(-4\right)^2&quot;&gt;&lt;msup&gt;&lt;mn&gt;8&lt;/mn&gt;&lt;mn&gt;3&lt;/mn&gt;&lt;/msup&gt;&lt;mo&gt;−&lt;/mo&gt;&lt;msqrt&gt;&lt;mn&gt;1000&lt;/mn&gt;&lt;mo&gt;+&lt;/mo&gt;&lt;mn&gt;722.25&lt;/mn&gt;&lt;/msqrt&gt;&lt;mo&gt;−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ath&gt;" id="1123" name="Google Shape;1123;p91" title="8 cubed minus the square root of 1000 plus 722.25 minus open paren negative 4 close paren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175" y="2885500"/>
            <a:ext cx="3939139" cy="4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Work out the following with your scientific calculator. Give your answer in </a:t>
            </a:r>
            <a:r>
              <a:rPr lang="en-GB">
                <a:solidFill>
                  <a:schemeClr val="accent4"/>
                </a:solidFill>
              </a:rPr>
              <a:t>fractional form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29" name="Google Shape;1129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9\ -\ 5^2\ +\ \left(-2\right)^3\ \times\frac{17}{50}&quot;&gt;&lt;mn&gt;89&lt;/mn&gt;&lt;mtext&gt;&lt;/mtext&gt;&lt;mo&gt;−&lt;/mo&gt;&lt;mtext&gt;&lt;/mtext&gt;&lt;msup&gt;&lt;mn&gt;5&lt;/mn&gt;&lt;mn&gt;2&lt;/mn&gt;&lt;/msup&gt;&lt;mtext&gt;&lt;/mtext&gt;&lt;mo&gt;+&lt;/mo&gt;&lt;mtext&gt;&lt;/mtext&gt;&lt;msup&gt;&lt;mrow data-mjx-texclass=&quot;INNER&quot;&gt;&lt;mo data-mjx-texclass=&quot;OPEN&quot;&gt;(&lt;/mo&gt;&lt;mo&gt;−&lt;/mo&gt;&lt;mn&gt;2&lt;/mn&gt;&lt;mo data-mjx-texclass=&quot;CLOSE&quot;&gt;)&lt;/mo&gt;&lt;/mrow&gt;&lt;mn&gt;3&lt;/mn&gt;&lt;/msup&gt;&lt;mtext&gt;&lt;/mtext&gt;&lt;mo&gt;×&lt;/mo&gt;&lt;mfrac&gt;&lt;mn&gt;17&lt;/mn&gt;&lt;mn&gt;50&lt;/mn&gt;&lt;/mfrac&gt;&lt;/math&gt;" id="1130" name="Google Shape;1130;p92" title="89 minus 5 squared plus open paren negative 2 close paren cubed times 17 over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75" y="1479350"/>
            <a:ext cx="3643875" cy="75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-\left(-\frac{3}{4}\right)^3\end{array}&quot;&gt;&lt;mtable columnalign=&quot;left&quot; columnspacing=&quot;1em&quot; rowspacing=&quot;4pt&quot;&gt;&lt;mtr&gt;&lt;mtd&gt;&lt;mn&gt;100&lt;/mn&gt;&lt;mo&gt;−&lt;/mo&gt;&lt;msup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n&gt;3&lt;/mn&gt;&lt;/msup&gt;&lt;/mtd&gt;&lt;/mtr&gt;&lt;/mtable&gt;&lt;/math&gt;" id="1131" name="Google Shape;1131;p92" title="1 lines Line 1: 100 minus open paren negative three fourths close paren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75" y="2571750"/>
            <a:ext cx="1884750" cy="57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0\ +\left(-3.5\right)^3-\sqrt[]{0.018225}-\left(-1.2\right)^2&quot;&gt;&lt;mn&gt;70&lt;/mn&gt;&lt;mtext&gt;&lt;/mtext&gt;&lt;mo&gt;+&lt;/mo&gt;&lt;msup&gt;&lt;mrow data-mjx-texclass=&quot;INNER&quot;&gt;&lt;mo data-mjx-texclass=&quot;OPEN&quot;&gt;(&lt;/mo&gt;&lt;mo&gt;−&lt;/mo&gt;&lt;mn&gt;3.5&lt;/mn&gt;&lt;mo data-mjx-texclass=&quot;CLOSE&quot;&gt;)&lt;/mo&gt;&lt;/mrow&gt;&lt;mn&gt;3&lt;/mn&gt;&lt;/msup&gt;&lt;mo&gt;−&lt;/mo&gt;&lt;msqrt&gt;&lt;mn&gt;0.018225&lt;/mn&gt;&lt;/msqrt&gt;&lt;mo&gt;−&lt;/mo&gt;&lt;msup&gt;&lt;mrow data-mjx-texclass=&quot;INNER&quot;&gt;&lt;mo data-mjx-texclass=&quot;OPEN&quot;&gt;(&lt;/mo&gt;&lt;mo&gt;−&lt;/mo&gt;&lt;mn&gt;1.2&lt;/mn&gt;&lt;mo data-mjx-texclass=&quot;CLOSE&quot;&gt;)&lt;/mo&gt;&lt;/mrow&gt;&lt;mn&gt;2&lt;/mn&gt;&lt;/msup&gt;&lt;/math&gt;" id="1132" name="Google Shape;1132;p92" title="70 positive open paren negative 3.5 close paren cubed minus the square root of 0.018225 minus open paren negative 1.2 close paren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450" y="3674275"/>
            <a:ext cx="5529476" cy="450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Work out the following with your scientific calculator. Give your answer in </a:t>
            </a:r>
            <a:r>
              <a:rPr lang="en-GB">
                <a:solidFill>
                  <a:schemeClr val="accent4"/>
                </a:solidFill>
              </a:rPr>
              <a:t>decimal form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38" name="Google Shape;1138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700\ -\ \sqrt[]{31.36}+\left(-5\right)^2\\&amp;#13;&amp;#10;\end{array}&quot;&gt;&lt;mtable columnalign=&quot;left&quot; columnspacing=&quot;1em&quot; rowspacing=&quot;4pt&quot;&gt;&lt;mtr&gt;&lt;mtd&gt;&lt;mn&gt;700&lt;/mn&gt;&lt;mtext&gt;&lt;/mtext&gt;&lt;mo&gt;−&lt;/mo&gt;&lt;mtext&gt;&lt;/mtext&gt;&lt;msqrt&gt;&lt;mn&gt;31.36&lt;/mn&gt;&lt;/msqrt&gt;&lt;mo&gt;+&lt;/mo&gt;&lt;msup&gt;&lt;mrow data-mjx-texclass=&quot;INNER&quot;&gt;&lt;mo data-mjx-texclass=&quot;OPEN&quot;&gt;(&lt;/mo&gt;&lt;mo&gt;−&lt;/mo&gt;&lt;mn&gt;5&lt;/mn&gt;&lt;mo data-mjx-texclass=&quot;CLOSE&quot;&gt;)&lt;/mo&gt;&lt;/mrow&gt;&lt;mn&gt;2&lt;/mn&gt;&lt;/msup&gt;&lt;/mtd&gt;&lt;/mtr&gt;&lt;/mtable&gt;&lt;/math&gt;" id="1139" name="Google Shape;1139;p93" title="1 lines Line 1: 700 minus the square root of 31.36 plus open paren negative 5 close paren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975" y="1806700"/>
            <a:ext cx="3444034" cy="44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+\ \frac{7}{8}-\sqrt[]{1-0.75}&quot;&gt;&lt;mfrac&gt;&lt;mn&gt;4&lt;/mn&gt;&lt;mn&gt;5&lt;/mn&gt;&lt;/mfrac&gt;&lt;mo&gt;+&lt;/mo&gt;&lt;mtext&gt;&lt;/mtext&gt;&lt;mfrac&gt;&lt;mn&gt;7&lt;/mn&gt;&lt;mn&gt;8&lt;/mn&gt;&lt;/mfrac&gt;&lt;mo&gt;−&lt;/mo&gt;&lt;msqrt&gt;&lt;mn&gt;1&lt;/mn&gt;&lt;mo&gt;−&lt;/mo&gt;&lt;mn&gt;0.75&lt;/mn&gt;&lt;/msqrt&gt;&lt;/math&gt;" id="1140" name="Google Shape;1140;p93" title="four fifths plus seven eighths minus the square root of 1 minus 0.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975" y="3737150"/>
            <a:ext cx="2810625" cy="69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8725" y="1280850"/>
            <a:ext cx="2709829" cy="12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^3-\sqrt[]{1000+722.25}-\left(-4\right)^2&quot;&gt;&lt;msup&gt;&lt;mn&gt;8&lt;/mn&gt;&lt;mn&gt;3&lt;/mn&gt;&lt;/msup&gt;&lt;mo&gt;−&lt;/mo&gt;&lt;msqrt&gt;&lt;mn&gt;1000&lt;/mn&gt;&lt;mo&gt;+&lt;/mo&gt;&lt;mn&gt;722.25&lt;/mn&gt;&lt;/msqrt&gt;&lt;mo&gt;−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ath&gt;" id="1142" name="Google Shape;1142;p93" title="8 cubed minus the square root of 1000 plus 722.25 minus open paren negative 4 close paren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0175" y="2885500"/>
            <a:ext cx="3939139" cy="4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3825" y="2678450"/>
            <a:ext cx="3087875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7575" y="3790650"/>
            <a:ext cx="2343618" cy="1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Work out the following with your scientific calculator. Give your answer in </a:t>
            </a:r>
            <a:r>
              <a:rPr lang="en-GB">
                <a:solidFill>
                  <a:schemeClr val="accent4"/>
                </a:solidFill>
              </a:rPr>
              <a:t>fractional form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50" name="Google Shape;1150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9\ -\ 5^2\ +\ \left(-2\right)^3\ \times\frac{17}{50}&quot;&gt;&lt;mn&gt;89&lt;/mn&gt;&lt;mtext&gt;&lt;/mtext&gt;&lt;mo&gt;−&lt;/mo&gt;&lt;mtext&gt;&lt;/mtext&gt;&lt;msup&gt;&lt;mn&gt;5&lt;/mn&gt;&lt;mn&gt;2&lt;/mn&gt;&lt;/msup&gt;&lt;mtext&gt;&lt;/mtext&gt;&lt;mo&gt;+&lt;/mo&gt;&lt;mtext&gt;&lt;/mtext&gt;&lt;msup&gt;&lt;mrow data-mjx-texclass=&quot;INNER&quot;&gt;&lt;mo data-mjx-texclass=&quot;OPEN&quot;&gt;(&lt;/mo&gt;&lt;mo&gt;−&lt;/mo&gt;&lt;mn&gt;2&lt;/mn&gt;&lt;mo data-mjx-texclass=&quot;CLOSE&quot;&gt;)&lt;/mo&gt;&lt;/mrow&gt;&lt;mn&gt;3&lt;/mn&gt;&lt;/msup&gt;&lt;mtext&gt;&lt;/mtext&gt;&lt;mo&gt;×&lt;/mo&gt;&lt;mfrac&gt;&lt;mn&gt;17&lt;/mn&gt;&lt;mn&gt;50&lt;/mn&gt;&lt;/mfrac&gt;&lt;/math&gt;" id="1151" name="Google Shape;1151;p94" title="89 minus 5 squared plus open paren negative 2 close paren cubed times 17 over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75" y="1479350"/>
            <a:ext cx="3643875" cy="75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-\left(-\frac{3}{4}\right)^3\end{array}&quot;&gt;&lt;mtable columnalign=&quot;left&quot; columnspacing=&quot;1em&quot; rowspacing=&quot;4pt&quot;&gt;&lt;mtr&gt;&lt;mtd&gt;&lt;mn&gt;100&lt;/mn&gt;&lt;mo&gt;−&lt;/mo&gt;&lt;msup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n&gt;3&lt;/mn&gt;&lt;/msup&gt;&lt;/mtd&gt;&lt;/mtr&gt;&lt;/mtable&gt;&lt;/math&gt;" id="1152" name="Google Shape;1152;p94" title="1 lines Line 1: 100 minus open paren negative three fourths close paren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75" y="2571750"/>
            <a:ext cx="1884750" cy="57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0\ +\left(-3.5\right)^3-\sqrt[]{0.018225}-\left(-1.2\right)^2&quot;&gt;&lt;mn&gt;70&lt;/mn&gt;&lt;mtext&gt;&lt;/mtext&gt;&lt;mo&gt;+&lt;/mo&gt;&lt;msup&gt;&lt;mrow data-mjx-texclass=&quot;INNER&quot;&gt;&lt;mo data-mjx-texclass=&quot;OPEN&quot;&gt;(&lt;/mo&gt;&lt;mo&gt;−&lt;/mo&gt;&lt;mn&gt;3.5&lt;/mn&gt;&lt;mo data-mjx-texclass=&quot;CLOSE&quot;&gt;)&lt;/mo&gt;&lt;/mrow&gt;&lt;mn&gt;3&lt;/mn&gt;&lt;/msup&gt;&lt;mo&gt;−&lt;/mo&gt;&lt;msqrt&gt;&lt;mn&gt;0.018225&lt;/mn&gt;&lt;/msqrt&gt;&lt;mo&gt;−&lt;/mo&gt;&lt;msup&gt;&lt;mrow data-mjx-texclass=&quot;INNER&quot;&gt;&lt;mo data-mjx-texclass=&quot;OPEN&quot;&gt;(&lt;/mo&gt;&lt;mo&gt;−&lt;/mo&gt;&lt;mn&gt;1.2&lt;/mn&gt;&lt;mo data-mjx-texclass=&quot;CLOSE&quot;&gt;)&lt;/mo&gt;&lt;/mrow&gt;&lt;mn&gt;2&lt;/mn&gt;&lt;/msup&gt;&lt;/math&gt;" id="1153" name="Google Shape;1153;p94" title="70 positive open paren negative 3.5 close paren cubed minus the square root of 0.018225 minus open paren negative 1.2 close paren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900" y="3672500"/>
            <a:ext cx="4136357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400" y="1233099"/>
            <a:ext cx="2575200" cy="117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4400" y="2447875"/>
            <a:ext cx="2575200" cy="11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5200" y="3780000"/>
            <a:ext cx="3364400" cy="9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Negatives and operations</a:t>
            </a:r>
            <a:endParaRPr/>
          </a:p>
        </p:txBody>
      </p:sp>
      <p:sp>
        <p:nvSpPr>
          <p:cNvPr id="1162" name="Google Shape;1162;p9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sp>
        <p:nvSpPr>
          <p:cNvPr id="1163" name="Google Shape;1163;p9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pic>
        <p:nvPicPr>
          <p:cNvPr id="1164" name="Google Shape;116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64" y="29823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6"/>
          <p:cNvSpPr txBox="1"/>
          <p:nvPr>
            <p:ph idx="1" type="body"/>
          </p:nvPr>
        </p:nvSpPr>
        <p:spPr>
          <a:xfrm>
            <a:off x="324000" y="1773725"/>
            <a:ext cx="8496000" cy="5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can be used with the fraction button       to show a division.</a:t>
            </a:r>
            <a:endParaRPr sz="2100"/>
          </a:p>
        </p:txBody>
      </p:sp>
      <p:sp>
        <p:nvSpPr>
          <p:cNvPr id="1170" name="Google Shape;11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sp>
        <p:nvSpPr>
          <p:cNvPr id="1171" name="Google Shape;1171;p9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we use brackets to see the grouping of the numbers together. </a:t>
            </a:r>
            <a:endParaRPr/>
          </a:p>
        </p:txBody>
      </p:sp>
      <p:sp>
        <p:nvSpPr>
          <p:cNvPr id="1172" name="Google Shape;1172;p96"/>
          <p:cNvSpPr txBox="1"/>
          <p:nvPr>
            <p:ph idx="1" type="body"/>
          </p:nvPr>
        </p:nvSpPr>
        <p:spPr>
          <a:xfrm>
            <a:off x="364950" y="2464275"/>
            <a:ext cx="1529700" cy="4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173" name="Google Shape;1173;p96"/>
          <p:cNvSpPr txBox="1"/>
          <p:nvPr>
            <p:ph idx="1" type="body"/>
          </p:nvPr>
        </p:nvSpPr>
        <p:spPr>
          <a:xfrm>
            <a:off x="324000" y="3037200"/>
            <a:ext cx="3387900" cy="4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 answer to this calculation with your calculator.</a:t>
            </a:r>
            <a:endParaRPr/>
          </a:p>
        </p:txBody>
      </p:sp>
      <p:pic>
        <p:nvPicPr>
          <p:cNvPr id="1174" name="Google Shape;117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126" y="1704627"/>
            <a:ext cx="509125" cy="53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1475" y="2505375"/>
            <a:ext cx="4056975" cy="19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0450" y="3661900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sp>
        <p:nvSpPr>
          <p:cNvPr id="1182" name="Google Shape;1182;p9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 the fraction button          and insert the calculation for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top of the fraction. Scroll             to input the bottom of the calculation.</a:t>
            </a:r>
            <a:endParaRPr/>
          </a:p>
        </p:txBody>
      </p:sp>
      <p:pic>
        <p:nvPicPr>
          <p:cNvPr id="1183" name="Google Shape;118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876" y="684502"/>
            <a:ext cx="509125" cy="53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3803" y="1153563"/>
            <a:ext cx="893532" cy="81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3" y="2393400"/>
            <a:ext cx="4096399" cy="19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025" y="2393400"/>
            <a:ext cx="4056975" cy="19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2075" y="3625175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pic>
        <p:nvPicPr>
          <p:cNvPr id="1193" name="Google Shape;119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3" y="2393400"/>
            <a:ext cx="4096399" cy="19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025" y="2393400"/>
            <a:ext cx="4056975" cy="19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8"/>
          <p:cNvSpPr txBox="1"/>
          <p:nvPr>
            <p:ph idx="1" type="body"/>
          </p:nvPr>
        </p:nvSpPr>
        <p:spPr>
          <a:xfrm>
            <a:off x="339150" y="886200"/>
            <a:ext cx="8160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Division can be inputted using         or        </a:t>
            </a:r>
            <a:endParaRPr/>
          </a:p>
        </p:txBody>
      </p:sp>
      <p:pic>
        <p:nvPicPr>
          <p:cNvPr id="1196" name="Google Shape;119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801" y="796052"/>
            <a:ext cx="509125" cy="53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530" y="834393"/>
            <a:ext cx="509126" cy="454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pic>
        <p:nvPicPr>
          <p:cNvPr id="1203" name="Google Shape;120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866" y="2893800"/>
            <a:ext cx="4096399" cy="19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99"/>
          <p:cNvSpPr txBox="1"/>
          <p:nvPr>
            <p:ph idx="1" type="body"/>
          </p:nvPr>
        </p:nvSpPr>
        <p:spPr>
          <a:xfrm>
            <a:off x="491550" y="733800"/>
            <a:ext cx="8160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think the answers would be different if we use brackets?   </a:t>
            </a:r>
            <a:endParaRPr/>
          </a:p>
        </p:txBody>
      </p:sp>
      <p:pic>
        <p:nvPicPr>
          <p:cNvPr id="1205" name="Google Shape;120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88" y="2925325"/>
            <a:ext cx="3982879" cy="18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99"/>
          <p:cNvSpPr txBox="1"/>
          <p:nvPr>
            <p:ph idx="1" type="body"/>
          </p:nvPr>
        </p:nvSpPr>
        <p:spPr>
          <a:xfrm>
            <a:off x="491550" y="1626700"/>
            <a:ext cx="8160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expressions on the numerator and denominator do not need to be expressed with the brackets because of the extended division line.</a:t>
            </a:r>
            <a:endParaRPr/>
          </a:p>
        </p:txBody>
      </p:sp>
      <p:cxnSp>
        <p:nvCxnSpPr>
          <p:cNvPr id="1207" name="Google Shape;1207;p99"/>
          <p:cNvCxnSpPr/>
          <p:nvPr/>
        </p:nvCxnSpPr>
        <p:spPr>
          <a:xfrm>
            <a:off x="3738275" y="2519600"/>
            <a:ext cx="1212900" cy="837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grpSp>
        <p:nvGrpSpPr>
          <p:cNvPr id="1213" name="Google Shape;1213;p100"/>
          <p:cNvGrpSpPr/>
          <p:nvPr/>
        </p:nvGrpSpPr>
        <p:grpSpPr>
          <a:xfrm>
            <a:off x="1789700" y="3326675"/>
            <a:ext cx="1928700" cy="1260300"/>
            <a:chOff x="3986225" y="2948950"/>
            <a:chExt cx="1928700" cy="1260300"/>
          </a:xfrm>
        </p:grpSpPr>
        <p:pic>
          <p:nvPicPr>
            <p:cNvPr descr="&lt;math xmlns=&quot;http://www.w3.org/1998/Math/MathML&quot; display=&quot;block&quot; data-is-equatio=&quot;1&quot; data-latex=&quot;\begin{array}{l}10^{2\times3+4}\end{array}&quot;&gt;&lt;mtable columnalign=&quot;left&quot; columnspacing=&quot;1em&quot; rowspacing=&quot;4pt&quot;&gt;&lt;mtr&gt;&lt;mtd&gt;&lt;msup&gt;&lt;mn&gt;10&lt;/mn&gt;&lt;mrow data-mjx-texclass=&quot;ORD&quot;&gt;&lt;mn&gt;2&lt;/mn&gt;&lt;mo&gt;×&lt;/mo&gt;&lt;mn&gt;3&lt;/mn&gt;&lt;mo&gt;+&lt;/mo&gt;&lt;mn&gt;4&lt;/mn&gt;&lt;/mrow&gt;&lt;/msup&gt;&lt;/mtd&gt;&lt;/mtr&gt;&lt;/mtable&gt;&lt;/math&gt;" id="1214" name="Google Shape;1214;p100" title="1 lines Line 1: 10 raised to the 2 times 3 plus 4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26563" y="3299063"/>
              <a:ext cx="1647825" cy="523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100"/>
            <p:cNvSpPr/>
            <p:nvPr/>
          </p:nvSpPr>
          <p:spPr>
            <a:xfrm>
              <a:off x="3986225" y="2948950"/>
              <a:ext cx="1928700" cy="1260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100"/>
          <p:cNvGrpSpPr/>
          <p:nvPr/>
        </p:nvGrpSpPr>
        <p:grpSpPr>
          <a:xfrm>
            <a:off x="4572000" y="3290550"/>
            <a:ext cx="2211300" cy="1260300"/>
            <a:chOff x="6350325" y="2948950"/>
            <a:chExt cx="2211300" cy="1260300"/>
          </a:xfrm>
        </p:grpSpPr>
        <p:pic>
          <p:nvPicPr>
            <p:cNvPr descr="&lt;math xmlns=&quot;http://www.w3.org/1998/Math/MathML&quot; display=&quot;block&quot; data-is-equatio=&quot;1&quot; data-latex=&quot;\begin{array}{l}10^{\left(2\times3+4\right)}\end{array}&quot;&gt;&lt;mtable columnalign=&quot;left&quot; columnspacing=&quot;1em&quot; rowspacing=&quot;4pt&quot;&gt;&lt;mtr&gt;&lt;mtd&gt;&lt;msup&gt;&lt;mn&gt;10&lt;/mn&gt;&lt;mrow data-mjx-texclass=&quot;ORD&quot;&gt;&lt;mrow data-mjx-texclass=&quot;INNER&quot;&gt;&lt;mo data-mjx-texclass=&quot;OPEN&quot;&gt;(&lt;/mo&gt;&lt;mn&gt;2&lt;/mn&gt;&lt;mo&gt;×&lt;/mo&gt;&lt;mn&gt;3&lt;/mn&gt;&lt;mo&gt;+&lt;/mo&gt;&lt;mn&gt;4&lt;/mn&gt;&lt;mo data-mjx-texclass=&quot;CLOSE&quot;&gt;)&lt;/mo&gt;&lt;/mrow&gt;&lt;/mrow&gt;&lt;/msup&gt;&lt;/mtd&gt;&lt;/mtr&gt;&lt;/mtable&gt;&lt;/math&gt;" id="1217" name="Google Shape;1217;p100" title="1 lines Line 1: 10 raised to the open paren 2 times 3 plus 4 close paren power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68600" y="3294288"/>
              <a:ext cx="19812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0"/>
            <p:cNvSpPr/>
            <p:nvPr/>
          </p:nvSpPr>
          <p:spPr>
            <a:xfrm>
              <a:off x="6350325" y="2948950"/>
              <a:ext cx="2211300" cy="1260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9" name="Google Shape;1219;p100"/>
          <p:cNvSpPr txBox="1"/>
          <p:nvPr>
            <p:ph idx="1" type="body"/>
          </p:nvPr>
        </p:nvSpPr>
        <p:spPr>
          <a:xfrm>
            <a:off x="414575" y="858125"/>
            <a:ext cx="8160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about these calculations?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220" name="Google Shape;1220;p100"/>
          <p:cNvCxnSpPr/>
          <p:nvPr/>
        </p:nvCxnSpPr>
        <p:spPr>
          <a:xfrm flipH="1">
            <a:off x="3088450" y="2652200"/>
            <a:ext cx="360600" cy="720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1" name="Google Shape;1221;p100"/>
          <p:cNvCxnSpPr/>
          <p:nvPr/>
        </p:nvCxnSpPr>
        <p:spPr>
          <a:xfrm>
            <a:off x="3449050" y="2652200"/>
            <a:ext cx="2272200" cy="858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2" name="Google Shape;1222;p100"/>
          <p:cNvSpPr txBox="1"/>
          <p:nvPr/>
        </p:nvSpPr>
        <p:spPr>
          <a:xfrm>
            <a:off x="309450" y="1506875"/>
            <a:ext cx="85251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grouping does not need to be expressed with the brackets because they are all grouped by the exponent function.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01"/>
          <p:cNvSpPr txBox="1"/>
          <p:nvPr>
            <p:ph idx="1" type="body"/>
          </p:nvPr>
        </p:nvSpPr>
        <p:spPr>
          <a:xfrm>
            <a:off x="324000" y="7593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Identify if these calculations are equal without using a calculator.</a:t>
            </a:r>
            <a:endParaRPr sz="1900"/>
          </a:p>
        </p:txBody>
      </p:sp>
      <p:sp>
        <p:nvSpPr>
          <p:cNvPr id="1228" name="Google Shape;122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0\ -\ \sqrt[]{13\ +\ 14}\ =\ 20\ -\ \sqrt[]{\left(13\ +\ 14\right)}&quot;&gt;&lt;mn&gt;20&lt;/mn&gt;&lt;mtext&gt;&lt;/mtext&gt;&lt;mo&gt;−&lt;/mo&gt;&lt;mtext&gt;&lt;/mtext&gt;&lt;msqrt&gt;&lt;mn&gt;13&lt;/mn&gt;&lt;mtext&gt;&lt;/mtext&gt;&lt;mo&gt;+&lt;/mo&gt;&lt;mtext&gt;&lt;/mtext&gt;&lt;mn&gt;14&lt;/mn&gt;&lt;/msqrt&gt;&lt;mtext&gt;&lt;/mtext&gt;&lt;mo&gt;=&lt;/mo&gt;&lt;mtext&gt;&lt;/mtext&gt;&lt;mn&gt;20&lt;/mn&gt;&lt;mtext&gt;&lt;/mtext&gt;&lt;mo&gt;−&lt;/mo&gt;&lt;mtext&gt;&lt;/mtext&gt;&lt;msqrt&gt;&lt;mrow data-mjx-texclass=&quot;INNER&quot;&gt;&lt;mo data-mjx-texclass=&quot;OPEN&quot;&gt;(&lt;/mo&gt;&lt;mn&gt;13&lt;/mn&gt;&lt;mtext&gt;&lt;/mtext&gt;&lt;mo&gt;+&lt;/mo&gt;&lt;mtext&gt;&lt;/mtext&gt;&lt;mn&gt;14&lt;/mn&gt;&lt;mo data-mjx-texclass=&quot;CLOSE&quot;&gt;)&lt;/mo&gt;&lt;/mrow&gt;&lt;/msqrt&gt;&lt;/math&gt;" id="1229" name="Google Shape;1229;p101" title="20 minus the square root of 13 plus 14 equals 20 minus the square root of open paren 13 plus 14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150" y="1360950"/>
            <a:ext cx="6619702" cy="51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93\ -\ 282\right)\div\left(39\times4\ -\ 1\right)=\frac{293-282}{39\times4-1}&quot;&gt;&lt;mrow data-mjx-texclass=&quot;INNER&quot;&gt;&lt;mo data-mjx-texclass=&quot;OPEN&quot;&gt;(&lt;/mo&gt;&lt;mn&gt;293&lt;/mn&gt;&lt;mtext&gt;&lt;/mtext&gt;&lt;mo&gt;−&lt;/mo&gt;&lt;mtext&gt;&lt;/mtext&gt;&lt;mn&gt;282&lt;/mn&gt;&lt;mo data-mjx-texclass=&quot;CLOSE&quot;&gt;)&lt;/mo&gt;&lt;/mrow&gt;&lt;mo&gt;÷&lt;/mo&gt;&lt;mrow data-mjx-texclass=&quot;INNER&quot;&gt;&lt;mo data-mjx-texclass=&quot;OPEN&quot;&gt;(&lt;/mo&gt;&lt;mn&gt;39&lt;/mn&gt;&lt;mo&gt;×&lt;/mo&gt;&lt;mn&gt;4&lt;/mn&gt;&lt;mtext&gt;&lt;/mtext&gt;&lt;mo&gt;−&lt;/mo&gt;&lt;mtext&gt;&lt;/mtext&gt;&lt;mn&gt;1&lt;/mn&gt;&lt;mo data-mjx-texclass=&quot;CLOSE&quot;&gt;)&lt;/mo&gt;&lt;/mrow&gt;&lt;mo&gt;=&lt;/mo&gt;&lt;mfrac&gt;&lt;mrow&gt;&lt;mn&gt;293&lt;/mn&gt;&lt;mo&gt;−&lt;/mo&gt;&lt;mn&gt;282&lt;/mn&gt;&lt;/mrow&gt;&lt;mrow&gt;&lt;mn&gt;39&lt;/mn&gt;&lt;mo&gt;×&lt;/mo&gt;&lt;mn&gt;4&lt;/mn&gt;&lt;mo&gt;−&lt;/mo&gt;&lt;mn&gt;1&lt;/mn&gt;&lt;/mrow&gt;&lt;/mfrac&gt;&lt;/math&gt;" id="1230" name="Google Shape;1230;p101" title="open paren 293 minus 282 close paren divided by open paren 39 times 4 minus 1 close paren equals the fraction with numerator 293 minus 282 and denominator 39 times 4 min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550" y="2086218"/>
            <a:ext cx="6585647" cy="7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^{4+9\times4}\ =\ \left(-3\right)^{4+9\times4}&quot;&gt;&lt;mo&gt;−&lt;/mo&gt;&lt;msup&gt;&lt;mn&gt;3&lt;/mn&gt;&lt;mrow data-mjx-texclass=&quot;ORD&quot;&gt;&lt;mn&gt;4&lt;/mn&gt;&lt;mo&gt;+&lt;/mo&gt;&lt;mn&gt;9&lt;/mn&gt;&lt;mo&gt;×&lt;/mo&gt;&lt;mn&gt;4&lt;/mn&gt;&lt;/mrow&gt;&lt;/msup&gt;&lt;mtext&gt;&lt;/mtext&gt;&lt;mo&gt;=&lt;/mo&gt;&lt;mtext&gt;&lt;/mtext&gt;&lt;msup&gt;&lt;mrow data-mjx-texclass=&quot;INNER&quot;&gt;&lt;mo data-mjx-texclass=&quot;OPEN&quot;&gt;(&lt;/mo&gt;&lt;mo&gt;−&lt;/mo&gt;&lt;mn&gt;3&lt;/mn&gt;&lt;mo data-mjx-texclass=&quot;CLOSE&quot;&gt;)&lt;/mo&gt;&lt;/mrow&gt;&lt;mrow data-mjx-texclass=&quot;ORD&quot;&gt;&lt;mn&gt;4&lt;/mn&gt;&lt;mo&gt;+&lt;/mo&gt;&lt;mn&gt;9&lt;/mn&gt;&lt;mo&gt;×&lt;/mo&gt;&lt;mn&gt;4&lt;/mn&gt;&lt;/mrow&gt;&lt;/msup&gt;&lt;/math&gt;" id="1231" name="Google Shape;1231;p101" title="negative 3 raised to the 4 plus 9 times 4 power equals open paren negative 3 close paren raised to the 4 plus 9 times 4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8375" y="3137112"/>
            <a:ext cx="34964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0\ +\ \frac{4\ \times10\ -\sqrt{30}}{90\ -\ 8^2}=\ \ \frac{80\ +\ 4\ \times10\ -\sqrt{30}}{90\ -\ 8^2}&quot;&gt;&lt;mn&gt;80&lt;/mn&gt;&lt;mtext&gt;&lt;/mtext&gt;&lt;mo&gt;+&lt;/mo&gt;&lt;mtext&gt;&lt;/mtext&gt;&lt;mfrac&gt;&lt;mrow&gt;&lt;mn&gt;4&lt;/mn&gt;&lt;mtext&gt;&lt;/mtext&gt;&lt;mo&gt;×&lt;/mo&gt;&lt;mn&gt;10&lt;/mn&gt;&lt;mtext&gt;&lt;/mtext&gt;&lt;mo&gt;−&lt;/mo&gt;&lt;msqrt&gt;&lt;mn&gt;30&lt;/mn&gt;&lt;/msqrt&gt;&lt;/mrow&gt;&lt;mrow&gt;&lt;mn&gt;90&lt;/mn&gt;&lt;mtext&gt;&lt;/mtext&gt;&lt;mo&gt;−&lt;/mo&gt;&lt;mtext&gt;&lt;/mtext&gt;&lt;msup&gt;&lt;mn&gt;8&lt;/mn&gt;&lt;mn&gt;2&lt;/mn&gt;&lt;/msup&gt;&lt;/mrow&gt;&lt;/mfrac&gt;&lt;mo&gt;=&lt;/mo&gt;&lt;mtext&gt;&lt;/mtext&gt;&lt;mtext&gt;&lt;/mtext&gt;&lt;mfrac&gt;&lt;mrow&gt;&lt;mn&gt;80&lt;/mn&gt;&lt;mtext&gt;&lt;/mtext&gt;&lt;mo&gt;+&lt;/mo&gt;&lt;mtext&gt;&lt;/mtext&gt;&lt;mn&gt;4&lt;/mn&gt;&lt;mtext&gt;&lt;/mtext&gt;&lt;mo&gt;×&lt;/mo&gt;&lt;mn&gt;10&lt;/mn&gt;&lt;mtext&gt;&lt;/mtext&gt;&lt;mo&gt;−&lt;/mo&gt;&lt;msqrt&gt;&lt;mn&gt;30&lt;/mn&gt;&lt;/msqrt&gt;&lt;/mrow&gt;&lt;mrow&gt;&lt;mn&gt;90&lt;/mn&gt;&lt;mtext&gt;&lt;/mtext&gt;&lt;mo&gt;−&lt;/mo&gt;&lt;mtext&gt;&lt;/mtext&gt;&lt;msup&gt;&lt;mn&gt;8&lt;/mn&gt;&lt;mn&gt;2&lt;/mn&gt;&lt;/msup&gt;&lt;/mrow&gt;&lt;/mfrac&gt;&lt;/math&gt;" id="1232" name="Google Shape;1232;p101" title="80 plus the fraction with numerator 4 times 10 the negative square root of 30 and denominator 90 minus 8 squared equals the fraction with numerator 80 plus 4 times 10 the negative square root of 30 and denominator 90 minus 8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8850" y="3845775"/>
            <a:ext cx="5855499" cy="7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1"/>
          <p:cNvSpPr/>
          <p:nvPr/>
        </p:nvSpPr>
        <p:spPr>
          <a:xfrm>
            <a:off x="1054425" y="1200150"/>
            <a:ext cx="3206100" cy="72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1"/>
          <p:cNvSpPr/>
          <p:nvPr/>
        </p:nvSpPr>
        <p:spPr>
          <a:xfrm>
            <a:off x="4730125" y="1200150"/>
            <a:ext cx="3319500" cy="72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101"/>
          <p:cNvSpPr/>
          <p:nvPr/>
        </p:nvSpPr>
        <p:spPr>
          <a:xfrm>
            <a:off x="742025" y="2169443"/>
            <a:ext cx="4564500" cy="72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101"/>
          <p:cNvSpPr/>
          <p:nvPr/>
        </p:nvSpPr>
        <p:spPr>
          <a:xfrm>
            <a:off x="5720750" y="1988318"/>
            <a:ext cx="1814400" cy="96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101"/>
          <p:cNvSpPr/>
          <p:nvPr/>
        </p:nvSpPr>
        <p:spPr>
          <a:xfrm>
            <a:off x="2340300" y="3039100"/>
            <a:ext cx="1626900" cy="6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101"/>
          <p:cNvSpPr/>
          <p:nvPr/>
        </p:nvSpPr>
        <p:spPr>
          <a:xfrm>
            <a:off x="4481528" y="3077805"/>
            <a:ext cx="1626900" cy="6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101"/>
          <p:cNvSpPr/>
          <p:nvPr/>
        </p:nvSpPr>
        <p:spPr>
          <a:xfrm>
            <a:off x="1054425" y="3793550"/>
            <a:ext cx="2974800" cy="93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101"/>
          <p:cNvSpPr/>
          <p:nvPr/>
        </p:nvSpPr>
        <p:spPr>
          <a:xfrm>
            <a:off x="4430075" y="3811475"/>
            <a:ext cx="2974800" cy="93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1" name="Google Shape;1241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6730" y="1423200"/>
            <a:ext cx="3429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2188" y="2356763"/>
            <a:ext cx="3429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4925" y="3291975"/>
            <a:ext cx="3429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8200" y="4143788"/>
            <a:ext cx="3429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4009350" y="3870950"/>
            <a:ext cx="514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≠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/>
        </p:nvSpPr>
        <p:spPr>
          <a:xfrm>
            <a:off x="4009350" y="3055975"/>
            <a:ext cx="514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≠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101"/>
          <p:cNvSpPr txBox="1"/>
          <p:nvPr/>
        </p:nvSpPr>
        <p:spPr>
          <a:xfrm>
            <a:off x="5306525" y="2160000"/>
            <a:ext cx="514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=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101"/>
          <p:cNvSpPr txBox="1"/>
          <p:nvPr/>
        </p:nvSpPr>
        <p:spPr>
          <a:xfrm>
            <a:off x="4260525" y="1200150"/>
            <a:ext cx="514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=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9" name="Google Shape;1249;p101"/>
          <p:cNvGrpSpPr/>
          <p:nvPr/>
        </p:nvGrpSpPr>
        <p:grpSpPr>
          <a:xfrm>
            <a:off x="5272125" y="2515500"/>
            <a:ext cx="3651725" cy="1470600"/>
            <a:chOff x="5272125" y="2515500"/>
            <a:chExt cx="3651725" cy="1470600"/>
          </a:xfrm>
        </p:grpSpPr>
        <p:cxnSp>
          <p:nvCxnSpPr>
            <p:cNvPr id="1250" name="Google Shape;1250;p101"/>
            <p:cNvCxnSpPr/>
            <p:nvPr/>
          </p:nvCxnSpPr>
          <p:spPr>
            <a:xfrm rot="10800000">
              <a:off x="5272125" y="3480350"/>
              <a:ext cx="2417400" cy="85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1" name="Google Shape;1251;p101"/>
            <p:cNvSpPr txBox="1"/>
            <p:nvPr/>
          </p:nvSpPr>
          <p:spPr>
            <a:xfrm>
              <a:off x="7620950" y="2515500"/>
              <a:ext cx="1302900" cy="14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We need brackets here as we have a negative number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Work out the following with your scientific calculator. Give your answer in </a:t>
            </a:r>
            <a:r>
              <a:rPr lang="en-GB">
                <a:solidFill>
                  <a:schemeClr val="accent5"/>
                </a:solidFill>
              </a:rPr>
              <a:t>decimal form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257" name="Google Shape;1257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^2+5}{\sqrt[]{41+59}}-1&quot;&gt;&lt;mfrac&gt;&lt;mrow&gt;&lt;msup&gt;&lt;mn&gt;3&lt;/mn&gt;&lt;mn&gt;2&lt;/mn&gt;&lt;/msup&gt;&lt;mo&gt;+&lt;/mo&gt;&lt;mn&gt;5&lt;/mn&gt;&lt;/mrow&gt;&lt;msqrt&gt;&lt;mn&gt;41&lt;/mn&gt;&lt;mo&gt;+&lt;/mo&gt;&lt;mn&gt;59&lt;/mn&gt;&lt;/msqrt&gt;&lt;/mfrac&gt;&lt;mo&gt;−&lt;/mo&gt;&lt;mn&gt;1&lt;/mn&gt;&lt;/math&gt;" id="1258" name="Google Shape;1258;p102" title="the fraction with numerator 3 squared plus 5 and denominator the square root of 41 plus 59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00" y="2657575"/>
            <a:ext cx="1741451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^5-5^5}{10^2}&quot;&gt;&lt;mfrac&gt;&lt;mrow&gt;&lt;msup&gt;&lt;mn&gt;6&lt;/mn&gt;&lt;mn&gt;5&lt;/mn&gt;&lt;/msup&gt;&lt;mo&gt;−&lt;/mo&gt;&lt;msup&gt;&lt;mn&gt;5&lt;/mn&gt;&lt;mn&gt;5&lt;/mn&gt;&lt;/msup&gt;&lt;/mrow&gt;&lt;msup&gt;&lt;mn&gt;10&lt;/mn&gt;&lt;mn&gt;2&lt;/mn&gt;&lt;/msup&gt;&lt;/mfrac&gt;&lt;/math&gt;" id="1259" name="Google Shape;1259;p102" title="the fraction with numerator 6 to the fifth power minus 5 to the fifth power and denominator 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200" y="1642038"/>
            <a:ext cx="986050" cy="77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67^2-\sqrt[]{50+31}-50\right)\div\left(78+22+10^2\right)&quot;&gt;&lt;mrow data-mjx-texclass=&quot;INNER&quot;&gt;&lt;mo data-mjx-texclass=&quot;OPEN&quot;&gt;(&lt;/mo&gt;&lt;msup&gt;&lt;mn&gt;67&lt;/mn&gt;&lt;mn&gt;2&lt;/mn&gt;&lt;/msup&gt;&lt;mo&gt;−&lt;/mo&gt;&lt;msqrt&gt;&lt;mn&gt;50&lt;/mn&gt;&lt;mo&gt;+&lt;/mo&gt;&lt;mn&gt;31&lt;/mn&gt;&lt;/msqrt&gt;&lt;mo&gt;−&lt;/mo&gt;&lt;mn&gt;50&lt;/mn&gt;&lt;mo data-mjx-texclass=&quot;CLOSE&quot;&gt;)&lt;/mo&gt;&lt;/mrow&gt;&lt;mo&gt;÷&lt;/mo&gt;&lt;mrow data-mjx-texclass=&quot;INNER&quot;&gt;&lt;mo data-mjx-texclass=&quot;OPEN&quot;&gt;(&lt;/mo&gt;&lt;mn&gt;78&lt;/mn&gt;&lt;mo&gt;+&lt;/mo&gt;&lt;mn&gt;22&lt;/mn&gt;&lt;mo&gt;+&lt;/mo&gt;&lt;msup&gt;&lt;mn&gt;10&lt;/mn&gt;&lt;mn&gt;2&lt;/mn&gt;&lt;/msup&gt;&lt;mo data-mjx-texclass=&quot;CLOSE&quot;&gt;)&lt;/mo&gt;&lt;/mrow&gt;&lt;/math&gt;" id="1260" name="Google Shape;1260;p102" title="open paren 67 squared minus the square root of 50 plus 31 minus 50 close paren divided by open paren 78 plus 22 plus 10 squared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925" y="3950350"/>
            <a:ext cx="4654975" cy="3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Work out the following with your scientific calculator. Give your answer in </a:t>
            </a:r>
            <a:r>
              <a:rPr lang="en-GB">
                <a:solidFill>
                  <a:schemeClr val="accent5"/>
                </a:solidFill>
              </a:rPr>
              <a:t>decimal form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266" name="Google Shape;126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Brackets and operations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^2+5}{\sqrt[]{41+59}}-1&quot;&gt;&lt;mfrac&gt;&lt;mrow&gt;&lt;msup&gt;&lt;mn&gt;3&lt;/mn&gt;&lt;mn&gt;2&lt;/mn&gt;&lt;/msup&gt;&lt;mo&gt;+&lt;/mo&gt;&lt;mn&gt;5&lt;/mn&gt;&lt;/mrow&gt;&lt;msqrt&gt;&lt;mn&gt;41&lt;/mn&gt;&lt;mo&gt;+&lt;/mo&gt;&lt;mn&gt;59&lt;/mn&gt;&lt;/msqrt&gt;&lt;/mfrac&gt;&lt;mo&gt;−&lt;/mo&gt;&lt;mn&gt;1&lt;/mn&gt;&lt;/math&gt;" id="1267" name="Google Shape;1267;p103" title="the fraction with numerator 3 squared plus 5 and denominator the square root of 41 plus 59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00" y="2657575"/>
            <a:ext cx="1741451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^5-5^5}{10^2}&quot;&gt;&lt;mfrac&gt;&lt;mrow&gt;&lt;msup&gt;&lt;mn&gt;6&lt;/mn&gt;&lt;mn&gt;5&lt;/mn&gt;&lt;/msup&gt;&lt;mo&gt;−&lt;/mo&gt;&lt;msup&gt;&lt;mn&gt;5&lt;/mn&gt;&lt;mn&gt;5&lt;/mn&gt;&lt;/msup&gt;&lt;/mrow&gt;&lt;msup&gt;&lt;mn&gt;10&lt;/mn&gt;&lt;mn&gt;2&lt;/mn&gt;&lt;/msup&gt;&lt;/mfrac&gt;&lt;/math&gt;" id="1268" name="Google Shape;1268;p103" title="the fraction with numerator 6 to the fifth power minus 5 to the fifth power and denominator 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200" y="1642038"/>
            <a:ext cx="986050" cy="77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0975" y="1237925"/>
            <a:ext cx="2516829" cy="114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2500" y="2421025"/>
            <a:ext cx="2473425" cy="1146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67^2-\sqrt[]{50+31}-50\right)\div\left(78+22+10^2\right)&quot;&gt;&lt;mrow data-mjx-texclass=&quot;INNER&quot;&gt;&lt;mo data-mjx-texclass=&quot;OPEN&quot;&gt;(&lt;/mo&gt;&lt;msup&gt;&lt;mn&gt;67&lt;/mn&gt;&lt;mn&gt;2&lt;/mn&gt;&lt;/msup&gt;&lt;mo&gt;−&lt;/mo&gt;&lt;msqrt&gt;&lt;mn&gt;50&lt;/mn&gt;&lt;mo&gt;+&lt;/mo&gt;&lt;mn&gt;31&lt;/mn&gt;&lt;/msqrt&gt;&lt;mo&gt;−&lt;/mo&gt;&lt;mn&gt;50&lt;/mn&gt;&lt;mo data-mjx-texclass=&quot;CLOSE&quot;&gt;)&lt;/mo&gt;&lt;/mrow&gt;&lt;mo&gt;÷&lt;/mo&gt;&lt;mrow data-mjx-texclass=&quot;INNER&quot;&gt;&lt;mo data-mjx-texclass=&quot;OPEN&quot;&gt;(&lt;/mo&gt;&lt;mn&gt;78&lt;/mn&gt;&lt;mo&gt;+&lt;/mo&gt;&lt;mn&gt;22&lt;/mn&gt;&lt;mo&gt;+&lt;/mo&gt;&lt;msup&gt;&lt;mn&gt;10&lt;/mn&gt;&lt;mn&gt;2&lt;/mn&gt;&lt;/msup&gt;&lt;mo data-mjx-texclass=&quot;CLOSE&quot;&gt;)&lt;/mo&gt;&lt;/mrow&gt;&lt;/math&gt;" id="1271" name="Google Shape;1271;p103" title="open paren 67 squared minus the square root of 50 plus 31 minus 50 close paren divided by open paren 78 plus 22 plus 10 squared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925" y="3950350"/>
            <a:ext cx="4654975" cy="3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10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12500" y="3623900"/>
            <a:ext cx="2481321" cy="11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sp>
        <p:nvSpPr>
          <p:cNvPr id="1278" name="Google Shape;1278;p104"/>
          <p:cNvSpPr txBox="1"/>
          <p:nvPr>
            <p:ph idx="1" type="body"/>
          </p:nvPr>
        </p:nvSpPr>
        <p:spPr>
          <a:xfrm>
            <a:off x="479043" y="2181050"/>
            <a:ext cx="8113800" cy="5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Division can be inputted via the fraction button.</a:t>
            </a:r>
            <a:endParaRPr/>
          </a:p>
        </p:txBody>
      </p:sp>
      <p:sp>
        <p:nvSpPr>
          <p:cNvPr id="1279" name="Google Shape;1279;p104"/>
          <p:cNvSpPr txBox="1"/>
          <p:nvPr>
            <p:ph idx="1" type="body"/>
          </p:nvPr>
        </p:nvSpPr>
        <p:spPr>
          <a:xfrm>
            <a:off x="478014" y="886188"/>
            <a:ext cx="8113800" cy="8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cursor keys will navigate you around the different functions, applications and calculations on the calculator screen. </a:t>
            </a:r>
            <a:endParaRPr/>
          </a:p>
        </p:txBody>
      </p:sp>
      <p:sp>
        <p:nvSpPr>
          <p:cNvPr id="1280" name="Google Shape;1280;p104"/>
          <p:cNvSpPr txBox="1"/>
          <p:nvPr>
            <p:ph idx="1" type="body"/>
          </p:nvPr>
        </p:nvSpPr>
        <p:spPr>
          <a:xfrm>
            <a:off x="476400" y="2800350"/>
            <a:ext cx="8113800" cy="8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Brackets help isolate negative numbers and improve accuracy.</a:t>
            </a:r>
            <a:endParaRPr/>
          </a:p>
        </p:txBody>
      </p:sp>
      <p:sp>
        <p:nvSpPr>
          <p:cNvPr id="1281" name="Google Shape;1281;p104"/>
          <p:cNvSpPr txBox="1"/>
          <p:nvPr>
            <p:ph idx="1" type="body"/>
          </p:nvPr>
        </p:nvSpPr>
        <p:spPr>
          <a:xfrm>
            <a:off x="476400" y="3768575"/>
            <a:ext cx="8113800" cy="8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brackets are optional if an operation groups the calculation.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87" name="Google Shape;1287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