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92AE8B3-6E88-442B-A380-59FEA207A7E0}">
  <a:tblStyle styleId="{E92AE8B3-6E88-442B-A380-59FEA207A7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/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0" cy="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7" name="Shape 207"/>
        <p:cNvGrpSpPr/>
        <p:nvPr/>
      </p:nvGrpSpPr>
      <p:grpSpPr>
        <a:xfrm>
          <a:off x="0" y="0"/>
          <a:ext cx="0" cy="0"/>
        </a:xfrm>
      </p:grpSpPr>
      <p:sp>
        <p:nvSpPr>
          <p:cNvPr id="208" name="Google Shape;208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 userDrawn="1">
          <p15:clr>
            <a:srgbClr val="D9D9D9"/>
          </p15:clr>
        </p15:guide>
        <p15:guide id="2" orient="horz" pos="1916" userDrawn="1">
          <p15:clr>
            <a:srgbClr val="D9D9D9"/>
          </p15:clr>
        </p15:guide>
        <p15:guide id="3" orient="horz" pos="3368" userDrawn="1">
          <p15:clr>
            <a:srgbClr val="D9D9D9"/>
          </p15:clr>
        </p15:guide>
        <p15:guide id="4" orient="horz" pos="4762" userDrawn="1">
          <p15:clr>
            <a:srgbClr val="D9D9D9"/>
          </p15:clr>
        </p15:guide>
        <p15:guide id="5" pos="295" userDrawn="1">
          <p15:clr>
            <a:srgbClr val="FF0000"/>
          </p15:clr>
        </p15:guide>
        <p15:guide id="6" pos="4467" userDrawn="1">
          <p15:clr>
            <a:srgbClr val="FF0000"/>
          </p15:clr>
        </p15:guide>
        <p15:guide id="7" pos="1519" userDrawn="1">
          <p15:clr>
            <a:srgbClr val="D9D9D9"/>
          </p15:clr>
        </p15:guide>
        <p15:guide id="8" pos="1764" userDrawn="1">
          <p15:clr>
            <a:srgbClr val="D9D9D9"/>
          </p15:clr>
        </p15:guide>
        <p15:guide id="9" pos="3243" userDrawn="1">
          <p15:clr>
            <a:srgbClr val="D9D9D9"/>
          </p15:clr>
        </p15:guide>
        <p15:guide id="10" pos="2998" userDrawn="1">
          <p15:clr>
            <a:srgbClr val="D9D9D9"/>
          </p15:clr>
        </p15:guide>
        <p15:guide id="11" pos="3120" userDrawn="1">
          <p15:clr>
            <a:srgbClr val="D9D9D9"/>
          </p15:clr>
        </p15:guide>
        <p15:guide id="12" pos="1642" userDrawn="1">
          <p15:clr>
            <a:srgbClr val="D9D9D9"/>
          </p15:clr>
        </p15:guide>
        <p15:guide id="13" pos="2381" userDrawn="1">
          <p15:clr>
            <a:srgbClr val="D9D9D9"/>
          </p15:clr>
        </p15:guide>
        <p15:guide id="14" pos="2154" userDrawn="1">
          <p15:clr>
            <a:srgbClr val="FF0000"/>
          </p15:clr>
        </p15:guide>
        <p15:guide id="15" pos="2608" userDrawn="1">
          <p15:clr>
            <a:srgbClr val="FF0000"/>
          </p15:clr>
        </p15:guide>
        <p15:guide id="16" orient="horz" pos="227" userDrawn="1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 userDrawn="1">
          <p15:clr>
            <a:srgbClr val="D9D9D9"/>
          </p15:clr>
        </p15:guide>
        <p15:guide id="2" orient="horz" pos="1916" userDrawn="1">
          <p15:clr>
            <a:srgbClr val="D9D9D9"/>
          </p15:clr>
        </p15:guide>
        <p15:guide id="3" orient="horz" pos="3368" userDrawn="1">
          <p15:clr>
            <a:srgbClr val="D9D9D9"/>
          </p15:clr>
        </p15:guide>
        <p15:guide id="4" orient="horz" pos="4762" userDrawn="1">
          <p15:clr>
            <a:srgbClr val="D9D9D9"/>
          </p15:clr>
        </p15:guide>
        <p15:guide id="5" pos="295" userDrawn="1">
          <p15:clr>
            <a:srgbClr val="FF0000"/>
          </p15:clr>
        </p15:guide>
        <p15:guide id="6" pos="4467" userDrawn="1">
          <p15:clr>
            <a:srgbClr val="FF0000"/>
          </p15:clr>
        </p15:guide>
        <p15:guide id="7" pos="1519" userDrawn="1">
          <p15:clr>
            <a:srgbClr val="D9D9D9"/>
          </p15:clr>
        </p15:guide>
        <p15:guide id="8" pos="1764" userDrawn="1">
          <p15:clr>
            <a:srgbClr val="D9D9D9"/>
          </p15:clr>
        </p15:guide>
        <p15:guide id="9" pos="3243" userDrawn="1">
          <p15:clr>
            <a:srgbClr val="D9D9D9"/>
          </p15:clr>
        </p15:guide>
        <p15:guide id="10" pos="2998" userDrawn="1">
          <p15:clr>
            <a:srgbClr val="D9D9D9"/>
          </p15:clr>
        </p15:guide>
        <p15:guide id="11" pos="3120" userDrawn="1">
          <p15:clr>
            <a:srgbClr val="D9D9D9"/>
          </p15:clr>
        </p15:guide>
        <p15:guide id="12" pos="1642" userDrawn="1">
          <p15:clr>
            <a:srgbClr val="D9D9D9"/>
          </p15:clr>
        </p15:guide>
        <p15:guide id="13" pos="2381" userDrawn="1">
          <p15:clr>
            <a:srgbClr val="D9D9D9"/>
          </p15:clr>
        </p15:guide>
        <p15:guide id="14" pos="2154" userDrawn="1">
          <p15:clr>
            <a:srgbClr val="FF0000"/>
          </p15:clr>
        </p15:guide>
        <p15:guide id="15" pos="2608" userDrawn="1">
          <p15:clr>
            <a:srgbClr val="FF0000"/>
          </p15:clr>
        </p15:guide>
        <p15:guide id="16" orient="horz" pos="227" userDrawn="1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  <p15:guide id="19" orient="horz" pos="6508" userDrawn="1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  <p15:guide id="19" orient="horz" pos="6508" userDrawn="1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  <p15:guide id="19" orient="horz" pos="6508" userDrawn="1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  <p15:guide id="19" orient="horz" pos="6508" userDrawn="1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642797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arithmetic procedures with integers and decimals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05500" y="1402900"/>
            <a:ext cx="6575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Using a calculator for integer calculations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" name="Google Shape;174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20"/>
          <p:cNvSpPr txBox="1"/>
          <p:nvPr/>
        </p:nvSpPr>
        <p:spPr>
          <a:xfrm>
            <a:off x="476400" y="1826100"/>
            <a:ext cx="6359100" cy="6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one answer in each row which is the only possible correct answer to the question. Each square covers a single digit.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483685" y="2457450"/>
          <a:ext cx="6545650" cy="3019300"/>
        </p:xfrm>
        <a:graphic>
          <a:graphicData uri="http://schemas.openxmlformats.org/drawingml/2006/table">
            <a:tbl>
              <a:tblPr>
                <a:noFill/>
                <a:tableStyleId>{E92AE8B3-6E88-442B-A380-59FEA207A7E0}</a:tableStyleId>
              </a:tblPr>
              <a:tblGrid>
                <a:gridCol w="2221625"/>
                <a:gridCol w="1240700"/>
                <a:gridCol w="1548700"/>
                <a:gridCol w="15346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Question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 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 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 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 8 + 4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7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3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7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5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8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+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8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8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5  4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9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8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53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+ 1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5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3 9 9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2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0 9 9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3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9 9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52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4 3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2 +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8 6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8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4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2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7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6 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3 3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6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4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9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0 9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0 0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9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6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4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9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3 3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6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 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77" name="Google Shape;177;p20"/>
          <p:cNvSpPr txBox="1"/>
          <p:nvPr/>
        </p:nvSpPr>
        <p:spPr>
          <a:xfrm>
            <a:off x="5267604" y="28392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691977" y="51368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718899" y="4392225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714671" y="3611888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221181" y="47502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6735996" y="3992313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675187" y="3233275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3686774" y="286925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675195" y="36196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3681370" y="400195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3686757" y="47825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3686820" y="51331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163406" y="4360925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243546" y="3201975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228983" y="35883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198731" y="397065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240608" y="51018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6714667" y="283845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6736011" y="474945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705938" y="4370888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6714679" y="323145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76222" y="5700900"/>
            <a:ext cx="784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Rearrange the letters of the correct answers to make a word.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946000" y="2852275"/>
            <a:ext cx="1548600" cy="36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2691574" y="3223033"/>
            <a:ext cx="1254300" cy="36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2686453" y="4330801"/>
            <a:ext cx="1254300" cy="36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3946000" y="4716922"/>
            <a:ext cx="1548600" cy="36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5495600" y="3598900"/>
            <a:ext cx="1533600" cy="36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495600" y="3965152"/>
            <a:ext cx="1533600" cy="36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5495600" y="5097910"/>
            <a:ext cx="1533600" cy="36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5830663" y="5620850"/>
            <a:ext cx="131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INTEGER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0" name="Shape 210"/>
        <p:cNvGrpSpPr/>
        <p:nvPr/>
      </p:nvGrpSpPr>
      <p:grpSpPr>
        <a:xfrm>
          <a:off x="0" y="0"/>
          <a:ext cx="0" cy="0"/>
        </a:xfrm>
      </p:grpSpPr>
      <p:sp>
        <p:nvSpPr>
          <p:cNvPr id="211" name="Google Shape;21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2" name="Google Shape;21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arithmetic procedures with integers and decimals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ts val="440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464850" y="1088400"/>
            <a:ext cx="6112800" cy="71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cost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pens and 2 pencils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£9.32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pens, 6 pencils and 1 highlighter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£12.07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pen, 4 pencils and 5 highlighters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£10.95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pencils and 6 highlighters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£16.74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pens, 5 pencils and 3 highlighters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£20.09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175 of each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£628.25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64850" y="719988"/>
            <a:ext cx="6575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Using a calculator for decimal calculations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" name="Google Shape;217;p21"/>
          <p:cNvPicPr preferRelativeResize="0"/>
          <p:nvPr/>
        </p:nvPicPr>
        <p:blipFill>
          <a:blip r:embed="rId3">
            <a:alphaModFix/>
          </a:blip>
          <a:srcRect l="27398" t="7218" r="63798" b="49194"/>
          <a:stretch>
            <a:fillRect/>
          </a:stretch>
        </p:blipFill>
        <p:spPr>
          <a:xfrm>
            <a:off x="2984437" y="1496742"/>
            <a:ext cx="349855" cy="955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/>
          <p:cNvPicPr preferRelativeResize="0"/>
          <p:nvPr/>
        </p:nvPicPr>
        <p:blipFill>
          <a:blip r:embed="rId3">
            <a:alphaModFix/>
          </a:blip>
          <a:srcRect l="45473" t="7218" r="45723" b="49194"/>
          <a:stretch>
            <a:fillRect/>
          </a:stretch>
        </p:blipFill>
        <p:spPr>
          <a:xfrm>
            <a:off x="3570487" y="1482890"/>
            <a:ext cx="349855" cy="955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3">
            <a:alphaModFix/>
          </a:blip>
          <a:srcRect l="63296" t="7218" r="27900" b="49194"/>
          <a:stretch>
            <a:fillRect/>
          </a:stretch>
        </p:blipFill>
        <p:spPr>
          <a:xfrm>
            <a:off x="4164024" y="1501422"/>
            <a:ext cx="349855" cy="95573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4138735" y="2410800"/>
            <a:ext cx="413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£1.27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3631463" y="2410800"/>
            <a:ext cx="34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76p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2952663" y="2410800"/>
            <a:ext cx="413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£1.56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1"/>
  <p:tag name="AS_OS" val="Microsoft Windows NT 10.0.17763.0"/>
  <p:tag name="AS_RELEASE_DATE" val="2026.01.14"/>
  <p:tag name="AS_TITLE" val="Aspose.Slides for .NET6"/>
  <p:tag name="AS_VERSION" val="26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Securing understanding of arithmetic procedures with integers and decimals</vt:lpstr>
      <vt:lpstr>PowerPoint Presentation</vt:lpstr>
    </vt:vector>
  </TitlesOfParts>
  <LinksUpToDate>0</LinksUpToDate>
  <SharedDoc>0</SharedDoc>
  <HyperlinksChanged>0</HyperlinksChanged>
  <Application>Aspose.Slides for .NET</Application>
  <AppVersion>26.0100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2026-03-12T16:15:18.649</cp:lastPrinted>
  <dcterms:created xsi:type="dcterms:W3CDTF">2026-03-12T16:15:18Z</dcterms:created>
  <dcterms:modified xsi:type="dcterms:W3CDTF">2026-03-12T16:15:32Z</dcterms:modified>
</cp:coreProperties>
</file>