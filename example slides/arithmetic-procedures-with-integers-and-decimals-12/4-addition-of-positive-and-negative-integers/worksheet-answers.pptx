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DD6624D7-77F5-4DD9-8D19-9B77942E870C}">
  <a:tblStyle styleId="{DD6624D7-77F5-4DD9-8D19-9B77942E870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26" name="Shape 226"/>
        <p:cNvGrpSpPr/>
        <p:nvPr/>
      </p:nvGrpSpPr>
      <p:grpSpPr>
        <a:xfrm>
          <a:off x="0" y="0"/>
          <a:ext cx="0" cy="0"/>
        </a:xfrm>
      </p:grpSpPr>
      <p:sp>
        <p:nvSpPr>
          <p:cNvPr id="227" name="Google Shape;227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7116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Addition of positive and negative integers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100" y="1408075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A: Representing integers using counters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714850"/>
            <a:ext cx="6624000" cy="2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Add counters to make each of the representations correct: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5" name="Google Shape;175;p20"/>
          <p:cNvGraphicFramePr>
            <a:graphicFrameLocks noGrp="1"/>
          </p:cNvGraphicFramePr>
          <p:nvPr/>
        </p:nvGraphicFramePr>
        <p:xfrm>
          <a:off x="1227600" y="2208838"/>
          <a:ext cx="5104800" cy="2200750"/>
        </p:xfrm>
        <a:graphic>
          <a:graphicData uri="http://schemas.openxmlformats.org/drawingml/2006/table">
            <a:tbl>
              <a:tblPr>
                <a:noFill/>
                <a:tableStyleId>{DD6624D7-77F5-4DD9-8D19-9B77942E870C}</a:tableStyleId>
              </a:tblPr>
              <a:tblGrid>
                <a:gridCol w="777925"/>
                <a:gridCol w="4326875"/>
              </a:tblGrid>
              <a:tr h="440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Integer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Representation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</a:tr>
              <a:tr h="440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/>
                    </a:p>
                  </a:txBody>
                  <a:tcPr marL="0" marR="0" marT="0" marB="0"/>
                </a:tc>
              </a:tr>
              <a:tr h="440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/>
                    </a:p>
                  </a:txBody>
                  <a:tcPr marL="0" marR="0" marT="0" marB="0"/>
                </a:tc>
              </a:tr>
              <a:tr h="440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/>
                    </a:p>
                  </a:txBody>
                  <a:tcPr marL="0" marR="0" marT="0" marB="0"/>
                </a:tc>
              </a:tr>
              <a:tr h="440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176" name="Google Shape;176;p20"/>
          <p:cNvSpPr/>
          <p:nvPr/>
        </p:nvSpPr>
        <p:spPr>
          <a:xfrm>
            <a:off x="2285611" y="2693742"/>
            <a:ext cx="215700" cy="1806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2034878" y="2829669"/>
            <a:ext cx="215700" cy="1806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2482415" y="2829669"/>
            <a:ext cx="215700" cy="1806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2719197" y="2649000"/>
            <a:ext cx="215700" cy="1806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2929953" y="2874405"/>
            <a:ext cx="215700" cy="1806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2313973" y="3155264"/>
            <a:ext cx="215700" cy="1806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2063240" y="3291190"/>
            <a:ext cx="215700" cy="1806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2669153" y="3254344"/>
            <a:ext cx="215700" cy="1806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3024335" y="3155264"/>
            <a:ext cx="215700" cy="1806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3322036" y="3291184"/>
            <a:ext cx="215700" cy="1806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2063240" y="3752712"/>
            <a:ext cx="215700" cy="1806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2313972" y="3579172"/>
            <a:ext cx="215700" cy="1806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2482415" y="3752712"/>
            <a:ext cx="215700" cy="1806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3322035" y="3752712"/>
            <a:ext cx="215700" cy="1806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2929952" y="3752712"/>
            <a:ext cx="215700" cy="1806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3106254" y="3601074"/>
            <a:ext cx="215700" cy="1806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2710114" y="3579166"/>
            <a:ext cx="215700" cy="1806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3441770" y="3551632"/>
            <a:ext cx="215700" cy="1806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2063240" y="4214233"/>
            <a:ext cx="215700" cy="1806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4611309" y="4214233"/>
            <a:ext cx="215700" cy="1806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2710122" y="4193601"/>
            <a:ext cx="215700" cy="1806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3589516" y="4167687"/>
            <a:ext cx="215700" cy="1806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3040227" y="4026644"/>
            <a:ext cx="215700" cy="1806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3293554" y="4214227"/>
            <a:ext cx="215700" cy="1806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3918093" y="4026644"/>
            <a:ext cx="215700" cy="1806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2710114" y="3987019"/>
            <a:ext cx="215700" cy="1806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4179739" y="4214227"/>
            <a:ext cx="215700" cy="1806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4395520" y="3987019"/>
            <a:ext cx="215700" cy="1806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2351234" y="4033565"/>
            <a:ext cx="215700" cy="1806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/>
          <p:nvPr/>
        </p:nvSpPr>
        <p:spPr>
          <a:xfrm>
            <a:off x="5771121" y="2649006"/>
            <a:ext cx="215700" cy="1806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0"/>
          <p:cNvSpPr/>
          <p:nvPr/>
        </p:nvSpPr>
        <p:spPr>
          <a:xfrm>
            <a:off x="6078946" y="2829669"/>
            <a:ext cx="215700" cy="1806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5771123" y="3091288"/>
            <a:ext cx="215700" cy="1806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6078947" y="3291184"/>
            <a:ext cx="215700" cy="1806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5590311" y="3315681"/>
            <a:ext cx="215700" cy="1806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5808798" y="3540074"/>
            <a:ext cx="215700" cy="1806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6116622" y="3739969"/>
            <a:ext cx="215700" cy="1806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5627986" y="3764466"/>
            <a:ext cx="215700" cy="180600"/>
          </a:xfrm>
          <a:prstGeom prst="ellipse">
            <a:avLst/>
          </a:prstGeom>
          <a:solidFill>
            <a:srgbClr val="FFE599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+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5691013" y="4207111"/>
            <a:ext cx="215700" cy="1806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5941745" y="4033571"/>
            <a:ext cx="215700" cy="1806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6110188" y="4207111"/>
            <a:ext cx="215700" cy="1806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5302225" y="2253639"/>
            <a:ext cx="99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Answers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e.g.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5282486" y="2686460"/>
            <a:ext cx="215700" cy="1806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5590310" y="2867123"/>
            <a:ext cx="215700" cy="180600"/>
          </a:xfrm>
          <a:prstGeom prst="ellipse">
            <a:avLst/>
          </a:prstGeom>
          <a:solidFill>
            <a:srgbClr val="E0666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−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9" name="Google Shape;219;p20"/>
          <p:cNvCxnSpPr/>
          <p:nvPr/>
        </p:nvCxnSpPr>
        <p:spPr>
          <a:xfrm>
            <a:off x="474757" y="4827124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0" name="Google Shape;220;p20"/>
          <p:cNvSpPr txBox="1"/>
          <p:nvPr/>
        </p:nvSpPr>
        <p:spPr>
          <a:xfrm>
            <a:off x="468100" y="4978640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B: Addition of positive and negative integers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0"/>
          <p:cNvSpPr txBox="1"/>
          <p:nvPr/>
        </p:nvSpPr>
        <p:spPr>
          <a:xfrm>
            <a:off x="471150" y="5299390"/>
            <a:ext cx="6624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Answer the following questions. 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Find the answers in the grid and shade them in to reveal a word.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Zero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222" name="Google Shape;222;p20"/>
          <p:cNvGraphicFramePr>
            <a:graphicFrameLocks noGrp="1"/>
          </p:cNvGraphicFramePr>
          <p:nvPr/>
        </p:nvGraphicFramePr>
        <p:xfrm>
          <a:off x="474900" y="7193377"/>
          <a:ext cx="6624000" cy="986220"/>
        </p:xfrm>
        <a:graphic>
          <a:graphicData uri="http://schemas.openxmlformats.org/drawingml/2006/table">
            <a:tbl>
              <a:tblPr>
                <a:noFill/>
                <a:tableStyleId>{DD6624D7-77F5-4DD9-8D19-9B77942E870C}</a:tableStyleId>
              </a:tblPr>
              <a:tblGrid>
                <a:gridCol w="441600"/>
                <a:gridCol w="441600"/>
                <a:gridCol w="441600"/>
                <a:gridCol w="441600"/>
                <a:gridCol w="441600"/>
                <a:gridCol w="441600"/>
                <a:gridCol w="441600"/>
                <a:gridCol w="441600"/>
                <a:gridCol w="441600"/>
                <a:gridCol w="441600"/>
                <a:gridCol w="441600"/>
                <a:gridCol w="441600"/>
                <a:gridCol w="441600"/>
                <a:gridCol w="441600"/>
                <a:gridCol w="441600"/>
              </a:tblGrid>
              <a:tr h="2547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1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18000" marT="0" marB="0" anchor="ctr">
                    <a:lnL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1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1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1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1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1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1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1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1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00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1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T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R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1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1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1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T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R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1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1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1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1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1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71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R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1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R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1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1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R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1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1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1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523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1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B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R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B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R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1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R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1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1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207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1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1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1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1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1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1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1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1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1200">
                          <a:solidFill>
                            <a:srgbClr val="282828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0" marB="0" anchor="ctr">
                    <a:lnL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23" name="Google Shape;223;p20"/>
          <p:cNvSpPr txBox="1"/>
          <p:nvPr/>
        </p:nvSpPr>
        <p:spPr>
          <a:xfrm>
            <a:off x="4014820" y="5897427"/>
            <a:ext cx="27081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6)   (</a:t>
            </a: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4) + 2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7)   (</a:t>
            </a: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6) + (</a:t>
            </a: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8)   7 + (</a:t>
            </a: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9)   1 + (</a:t>
            </a: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10) 4 + (</a:t>
            </a: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11)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474750" y="5930540"/>
            <a:ext cx="24567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+ (</a:t>
            </a: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+ (</a:t>
            </a: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5) + 4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+ (</a:t>
            </a: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 + (</a:t>
            </a: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5" name="Google Shape;225;p20"/>
          <p:cNvCxnSpPr/>
          <p:nvPr/>
        </p:nvCxnSpPr>
        <p:spPr>
          <a:xfrm>
            <a:off x="4816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29" name="Shape 229"/>
        <p:cNvGrpSpPr/>
        <p:nvPr/>
      </p:nvGrpSpPr>
      <p:grpSpPr>
        <a:xfrm>
          <a:off x="0" y="0"/>
          <a:ext cx="0" cy="0"/>
        </a:xfrm>
      </p:grpSpPr>
      <p:sp>
        <p:nvSpPr>
          <p:cNvPr id="230" name="Google Shape;230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31" name="Google Shape;231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Addition of positive and negative integers</a:t>
            </a:r>
            <a:endParaRPr/>
          </a:p>
        </p:txBody>
      </p:sp>
      <p:sp>
        <p:nvSpPr>
          <p:cNvPr id="232" name="Google Shape;232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34" name="Google Shape;234;p21"/>
          <p:cNvSpPr txBox="1"/>
          <p:nvPr/>
        </p:nvSpPr>
        <p:spPr>
          <a:xfrm>
            <a:off x="468000" y="719990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C: Deepening understanding of addition of integers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468000" y="1060125"/>
            <a:ext cx="6624000" cy="60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72 + (</a:t>
            </a: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18)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54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7) + 3 + (</a:t>
            </a: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9) + 4 + (</a:t>
            </a: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11)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(</a:t>
            </a:r>
            <a:r>
              <a:rPr lang="en-GB" sz="1200">
                <a:solidFill>
                  <a:srgbClr val="282828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20)</a:t>
            </a: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110) + (</a:t>
            </a: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18)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(</a:t>
            </a:r>
            <a:r>
              <a:rPr lang="en-GB" sz="1200">
                <a:solidFill>
                  <a:srgbClr val="282828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128)</a:t>
            </a: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14) + 29 + (</a:t>
            </a: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+ 11 + (</a:t>
            </a: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13)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10</a:t>
            </a: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125 + (</a:t>
            </a: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45)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80</a:t>
            </a: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7) + (</a:t>
            </a: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12) + (</a:t>
            </a: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24)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(</a:t>
            </a:r>
            <a:r>
              <a:rPr lang="en-GB" sz="1200">
                <a:solidFill>
                  <a:srgbClr val="282828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43)</a:t>
            </a: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135) + 82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(</a:t>
            </a:r>
            <a:r>
              <a:rPr lang="en-GB" sz="1200">
                <a:solidFill>
                  <a:srgbClr val="282828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53)</a:t>
            </a: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Make up your own addition question using positive and negative integers so that the sum of all of the answers in this task is 0.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 (</a:t>
            </a:r>
            <a:r>
              <a:rPr lang="en-GB" sz="1200">
                <a:solidFill>
                  <a:srgbClr val="282828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80) + 180 or any sum equal to 100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74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Addition of positive and negative integers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2023-12-08T08:56:26.492</cp:lastPrinted>
  <dcterms:created xsi:type="dcterms:W3CDTF">2023-12-08T08:56:26Z</dcterms:created>
  <dcterms:modified xsi:type="dcterms:W3CDTF">2023-12-08T08:59:25Z</dcterms:modified>
</cp:coreProperties>
</file>