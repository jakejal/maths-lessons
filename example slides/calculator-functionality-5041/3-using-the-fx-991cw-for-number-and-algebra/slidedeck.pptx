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2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2fcdcf486b6_0_2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2fcdcf486b6_0_2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2fcdcf486b6_0_2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2fcdcf486b6_0_2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2fcdcf486b6_0_2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2fcdcf486b6_0_2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3275b3c24c2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3275b3c24c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275b3c24c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3275b3c24c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32900873b7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32900873b7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2900873b7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2900873b7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2900873b7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32900873b7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2900873b7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32900873b7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g32900873b7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7" name="Google Shape;1017;g32900873b7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2900873b7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32900873b7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2900873b7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32900873b7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2900873b7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32900873b7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2900873b7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32900873b7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2900873b7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32900873b7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2900873b7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32900873b7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2900873b73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32900873b73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32900873b7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32900873b7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2900873b73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32900873b73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2900873b73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32900873b7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2900873b7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32900873b7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2900873b73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32900873b73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2900873b73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32900873b73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32900873b73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32900873b73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g32900873b73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4" name="Google Shape;1174;g32900873b73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32900873b73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32900873b73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2900873b73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32900873b73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32900873b73_4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32900873b73_4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2900873b73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32900873b73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32900873b73_4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32900873b73_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2900873b73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32900873b73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32900873b73_4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32900873b73_4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32900873b73_4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32900873b73_4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32900873b73_4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32900873b73_4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2900873b73_4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g32900873b73_4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g32900873b73_4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1" name="Google Shape;1281;g32900873b73_4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32900873b73_4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32900873b73_4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32900873b73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32900873b73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32900873b73_4_10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32900873b73_4_1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32900873b73_4_1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32900873b73_4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32900873b73_4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32900873b73_4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32900873b73_4_10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32900873b73_4_1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32900873b73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32900873b73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32900873b73_4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32900873b73_4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g32900873b73_4_1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" name="Google Shape;1378;g32900873b73_4_1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32900873b73_4_1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Google Shape;1391;g32900873b73_4_1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32900873b73_4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32900873b73_4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32900873b73_4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32900873b73_4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32900873b73_4_1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5" name="Google Shape;1425;g32900873b73_4_1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32900873b73_4_1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32900873b73_4_1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3291361b3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3291361b3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3291361b33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1" name="Google Shape;1451;g3291361b33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3291361b33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3291361b33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g3291361b33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3" name="Google Shape;1473;g3291361b33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3291361b33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3291361b33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2900873b73_4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32900873b73_4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3291361b33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3291361b33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2fcdcf486b6_0_2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2fcdcf486b6_0_2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2fcdcf486b6_0_2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2fcdcf486b6_0_2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2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20.png"/><Relationship Id="rId5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62.png"/><Relationship Id="rId5" Type="http://schemas.openxmlformats.org/officeDocument/2006/relationships/image" Target="../media/image38.png"/><Relationship Id="rId6" Type="http://schemas.openxmlformats.org/officeDocument/2006/relationships/image" Target="../media/image41.png"/><Relationship Id="rId7" Type="http://schemas.openxmlformats.org/officeDocument/2006/relationships/image" Target="../media/image3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62.png"/><Relationship Id="rId4" Type="http://schemas.openxmlformats.org/officeDocument/2006/relationships/image" Target="../media/image35.png"/><Relationship Id="rId9" Type="http://schemas.openxmlformats.org/officeDocument/2006/relationships/image" Target="../media/image34.png"/><Relationship Id="rId5" Type="http://schemas.openxmlformats.org/officeDocument/2006/relationships/image" Target="../media/image37.png"/><Relationship Id="rId6" Type="http://schemas.openxmlformats.org/officeDocument/2006/relationships/image" Target="../media/image42.png"/><Relationship Id="rId7" Type="http://schemas.openxmlformats.org/officeDocument/2006/relationships/image" Target="../media/image38.png"/><Relationship Id="rId8" Type="http://schemas.openxmlformats.org/officeDocument/2006/relationships/image" Target="../media/image4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62.png"/><Relationship Id="rId4" Type="http://schemas.openxmlformats.org/officeDocument/2006/relationships/image" Target="../media/image44.png"/><Relationship Id="rId11" Type="http://schemas.openxmlformats.org/officeDocument/2006/relationships/image" Target="../media/image34.png"/><Relationship Id="rId10" Type="http://schemas.openxmlformats.org/officeDocument/2006/relationships/image" Target="../media/image48.png"/><Relationship Id="rId9" Type="http://schemas.openxmlformats.org/officeDocument/2006/relationships/image" Target="../media/image41.png"/><Relationship Id="rId5" Type="http://schemas.openxmlformats.org/officeDocument/2006/relationships/image" Target="../media/image35.png"/><Relationship Id="rId6" Type="http://schemas.openxmlformats.org/officeDocument/2006/relationships/image" Target="../media/image37.png"/><Relationship Id="rId7" Type="http://schemas.openxmlformats.org/officeDocument/2006/relationships/image" Target="../media/image42.png"/><Relationship Id="rId8" Type="http://schemas.openxmlformats.org/officeDocument/2006/relationships/image" Target="../media/image38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49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4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49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49.png"/><Relationship Id="rId4" Type="http://schemas.openxmlformats.org/officeDocument/2006/relationships/image" Target="../media/image5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9.png"/><Relationship Id="rId4" Type="http://schemas.openxmlformats.org/officeDocument/2006/relationships/image" Target="../media/image5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49.png"/><Relationship Id="rId4" Type="http://schemas.openxmlformats.org/officeDocument/2006/relationships/image" Target="../media/image5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49.png"/><Relationship Id="rId4" Type="http://schemas.openxmlformats.org/officeDocument/2006/relationships/image" Target="../media/image5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47.png"/><Relationship Id="rId4" Type="http://schemas.openxmlformats.org/officeDocument/2006/relationships/image" Target="../media/image5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5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6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3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3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64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4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64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4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9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4.png"/><Relationship Id="rId4" Type="http://schemas.openxmlformats.org/officeDocument/2006/relationships/image" Target="../media/image61.png"/><Relationship Id="rId5" Type="http://schemas.openxmlformats.org/officeDocument/2006/relationships/image" Target="../media/image55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Font typeface="Lexend"/>
              <a:buNone/>
              <a:defRPr sz="3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" name="Google Shape;1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" name="Google Shape;1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5" name="Google Shape;55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567499" y="723791"/>
            <a:ext cx="2520000" cy="2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oking and nutrition" showMasterSp="0">
  <p:cSld name="Title Slide 2_1_1_1_1_1_1_1_1_1_1_3_1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563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350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Cooking and nutrition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6" name="Google Shape;66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" name="Google Shape;67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8" name="Google Shape;68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95">
            <a:off x="6646318" y="1007366"/>
            <a:ext cx="2202009" cy="179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8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" name="Google Shape;74;p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5" name="Google Shape;75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77" name="Google Shape;77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" name="Google Shape;79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" name="Google Shape;83;p9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4" name="Google Shape;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94" name="Google Shape;94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" name="Google Shape;96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8" name="Google Shape;98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0">
            <a:off x="6657352" y="759276"/>
            <a:ext cx="2315647" cy="2315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" name="Google Shape;115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17" name="Google Shape;117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9998">
            <a:off x="6679063" y="775065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13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24" name="Google Shape;124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" name="Google Shape;125;p13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6" name="Google Shape;126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" name="Google Shape;128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" name="Google Shape;1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3" name="Google Shape;153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55" name="Google Shape;15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9" name="Google Shape;159;p1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" name="Google Shape;161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2" name="Google Shape;162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17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4" name="Google Shape;164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5" name="Google Shape;165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18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2" name="Google Shape;172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3" name="Google Shape;173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5" name="Google Shape;17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sz="1800"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" name="Google Shape;192;p20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97" name="Google Shape;19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" name="Google Shape;202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08" name="Google Shape;208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6" name="Google Shape;216;p2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17" name="Google Shape;217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8" name="Google Shape;218;p2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9" name="Google Shape;219;p2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1" name="Google Shape;22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90001">
            <a:off x="6638540" y="856133"/>
            <a:ext cx="2340000" cy="2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3"/>
          <p:cNvSpPr txBox="1"/>
          <p:nvPr>
            <p:ph idx="1" type="subTitle"/>
          </p:nvPr>
        </p:nvSpPr>
        <p:spPr>
          <a:xfrm>
            <a:off x="666000" y="1620000"/>
            <a:ext cx="72708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bg>
      <p:bgPr>
        <a:solidFill>
          <a:srgbClr val="FFF7CC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/>
          <p:nvPr/>
        </p:nvSpPr>
        <p:spPr>
          <a:xfrm>
            <a:off x="4683800" y="810000"/>
            <a:ext cx="4134600" cy="1163400"/>
          </a:xfrm>
          <a:prstGeom prst="roundRect">
            <a:avLst>
              <a:gd fmla="val 10151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4"/>
          <p:cNvSpPr/>
          <p:nvPr/>
        </p:nvSpPr>
        <p:spPr>
          <a:xfrm>
            <a:off x="185250" y="810000"/>
            <a:ext cx="4134600" cy="3850200"/>
          </a:xfrm>
          <a:prstGeom prst="roundRect">
            <a:avLst>
              <a:gd fmla="val 2796" name="adj"/>
            </a:avLst>
          </a:prstGeom>
          <a:solidFill>
            <a:srgbClr val="FFFFFF"/>
          </a:solidFill>
          <a:ln cap="flat" cmpd="sng" w="19050">
            <a:solidFill>
              <a:srgbClr val="2828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4"/>
          <p:cNvSpPr txBox="1"/>
          <p:nvPr/>
        </p:nvSpPr>
        <p:spPr>
          <a:xfrm>
            <a:off x="325475" y="1245050"/>
            <a:ext cx="39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32547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4824125" y="921050"/>
            <a:ext cx="3998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325475" y="3407125"/>
            <a:ext cx="399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3" name="Google Shape;233;p24"/>
          <p:cNvPicPr preferRelativeResize="0"/>
          <p:nvPr/>
        </p:nvPicPr>
        <p:blipFill rotWithShape="1">
          <a:blip r:embed="rId2">
            <a:alphaModFix/>
          </a:blip>
          <a:srcRect b="71084" l="3912" r="56768" t="0"/>
          <a:stretch/>
        </p:blipFill>
        <p:spPr>
          <a:xfrm>
            <a:off x="382600" y="3725750"/>
            <a:ext cx="841850" cy="36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4"/>
          <p:cNvPicPr preferRelativeResize="0"/>
          <p:nvPr/>
        </p:nvPicPr>
        <p:blipFill rotWithShape="1">
          <a:blip r:embed="rId2">
            <a:alphaModFix/>
          </a:blip>
          <a:srcRect b="71902" l="62493" r="7303" t="2791"/>
          <a:stretch/>
        </p:blipFill>
        <p:spPr>
          <a:xfrm>
            <a:off x="1322300" y="3754900"/>
            <a:ext cx="688050" cy="33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4"/>
          <p:cNvPicPr preferRelativeResize="0"/>
          <p:nvPr/>
        </p:nvPicPr>
        <p:blipFill rotWithShape="1">
          <a:blip r:embed="rId2">
            <a:alphaModFix/>
          </a:blip>
          <a:srcRect b="19543" l="6196" r="59088" t="51182"/>
          <a:stretch/>
        </p:blipFill>
        <p:spPr>
          <a:xfrm>
            <a:off x="2108188" y="3710946"/>
            <a:ext cx="7432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/>
          <p:cNvPicPr preferRelativeResize="0"/>
          <p:nvPr/>
        </p:nvPicPr>
        <p:blipFill rotWithShape="1">
          <a:blip r:embed="rId2">
            <a:alphaModFix/>
          </a:blip>
          <a:srcRect b="19543" l="58433" r="3864" t="51182"/>
          <a:stretch/>
        </p:blipFill>
        <p:spPr>
          <a:xfrm>
            <a:off x="2989750" y="3725750"/>
            <a:ext cx="807200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/>
          <p:nvPr/>
        </p:nvSpPr>
        <p:spPr>
          <a:xfrm>
            <a:off x="324000" y="264675"/>
            <a:ext cx="6746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325475" y="4122125"/>
            <a:ext cx="3939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Explanation      Check      Practice      Feedback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" name="Google Shape;2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13" y="1948533"/>
            <a:ext cx="2067960" cy="121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125" y="1828475"/>
            <a:ext cx="1738025" cy="143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25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43" name="Google Shape;243;p25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4" name="Google Shape;244;p25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" name="Google Shape;245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0" name="Google Shape;250;p25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2" name="Google Shape;252;p25"/>
          <p:cNvSpPr txBox="1"/>
          <p:nvPr>
            <p:ph idx="7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2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55" name="Google Shape;255;p2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6" name="Google Shape;256;p26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7" name="Google Shape;257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5" name="Google Shape;265;p26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6" name="Google Shape;266;p26"/>
          <p:cNvSpPr txBox="1"/>
          <p:nvPr>
            <p:ph idx="9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27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69" name="Google Shape;269;p27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70" name="Google Shape;270;p27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1" name="Google Shape;271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4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oogle Shape;284;p28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sp>
          <p:nvSpPr>
            <p:cNvPr id="285" name="Google Shape;285;p28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7" name="Google Shape;287;p2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8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1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2000"/>
              <a:buFont typeface="Lexend"/>
              <a:buNone/>
              <a:defRPr sz="2000"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_2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" name="Google Shape;297;p29"/>
          <p:cNvCxnSpPr>
            <a:endCxn id="29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9" name="Google Shape;29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9"/>
          <p:cNvSpPr txBox="1"/>
          <p:nvPr>
            <p:ph type="title"/>
          </p:nvPr>
        </p:nvSpPr>
        <p:spPr>
          <a:xfrm>
            <a:off x="1225225" y="21335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29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302" name="Google Shape;302;p29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3" name="Google Shape;303;p29"/>
            <p:cNvPicPr preferRelativeResize="0"/>
            <p:nvPr/>
          </p:nvPicPr>
          <p:blipFill rotWithShape="1">
            <a:blip r:embed="rId7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4" name="Google Shape;304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9"/>
          <p:cNvSpPr txBox="1"/>
          <p:nvPr>
            <p:ph idx="2"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06" name="Google Shape;306;p29"/>
          <p:cNvSpPr txBox="1"/>
          <p:nvPr>
            <p:ph idx="3" type="title"/>
          </p:nvPr>
        </p:nvSpPr>
        <p:spPr>
          <a:xfrm>
            <a:off x="1225225" y="30698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_1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p30"/>
          <p:cNvCxnSpPr>
            <a:endCxn id="315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5" name="Google Shape;315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8" name="Google Shape;318;p30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319" name="Google Shape;319;p30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0" name="Google Shape;320;p30"/>
            <p:cNvPicPr preferRelativeResize="0"/>
            <p:nvPr/>
          </p:nvPicPr>
          <p:blipFill rotWithShape="1">
            <a:blip r:embed="rId9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30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23" name="Google Shape;323;p30"/>
          <p:cNvSpPr txBox="1"/>
          <p:nvPr>
            <p:ph idx="2" type="title"/>
          </p:nvPr>
        </p:nvSpPr>
        <p:spPr>
          <a:xfrm>
            <a:off x="1225225" y="28412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4" name="Google Shape;324;p30"/>
          <p:cNvSpPr txBox="1"/>
          <p:nvPr>
            <p:ph idx="3" type="title"/>
          </p:nvPr>
        </p:nvSpPr>
        <p:spPr>
          <a:xfrm>
            <a:off x="1225200" y="37819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5" name="Google Shape;325;p30"/>
          <p:cNvSpPr txBox="1"/>
          <p:nvPr>
            <p:ph idx="4" type="title"/>
          </p:nvPr>
        </p:nvSpPr>
        <p:spPr>
          <a:xfrm>
            <a:off x="1225200" y="1822462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" name="Google Shape;335;p3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36" name="Google Shape;336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0" name="Google Shape;340;p31"/>
          <p:cNvGrpSpPr/>
          <p:nvPr/>
        </p:nvGrpSpPr>
        <p:grpSpPr>
          <a:xfrm>
            <a:off x="-12" y="0"/>
            <a:ext cx="9151202" cy="598359"/>
            <a:chOff x="-12" y="0"/>
            <a:chExt cx="9151202" cy="598359"/>
          </a:xfrm>
        </p:grpSpPr>
        <p:sp>
          <p:nvSpPr>
            <p:cNvPr id="341" name="Google Shape;341;p31"/>
            <p:cNvSpPr/>
            <p:nvPr/>
          </p:nvSpPr>
          <p:spPr>
            <a:xfrm>
              <a:off x="0" y="0"/>
              <a:ext cx="9144300" cy="48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42" name="Google Shape;342;p31"/>
            <p:cNvPicPr preferRelativeResize="0"/>
            <p:nvPr/>
          </p:nvPicPr>
          <p:blipFill rotWithShape="1">
            <a:blip r:embed="rId11">
              <a:alphaModFix/>
            </a:blip>
            <a:srcRect b="1709" l="0" r="0" t="1699"/>
            <a:stretch/>
          </p:blipFill>
          <p:spPr>
            <a:xfrm>
              <a:off x="-12" y="4816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3" name="Google Shape;343;p3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1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345" name="Google Shape;345;p31"/>
          <p:cNvSpPr txBox="1"/>
          <p:nvPr>
            <p:ph idx="2" type="title"/>
          </p:nvPr>
        </p:nvSpPr>
        <p:spPr>
          <a:xfrm>
            <a:off x="1224600" y="160210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6" name="Google Shape;346;p31"/>
          <p:cNvSpPr txBox="1"/>
          <p:nvPr>
            <p:ph idx="3" type="title"/>
          </p:nvPr>
        </p:nvSpPr>
        <p:spPr>
          <a:xfrm>
            <a:off x="1224600" y="24317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7" name="Google Shape;347;p31"/>
          <p:cNvSpPr txBox="1"/>
          <p:nvPr>
            <p:ph idx="4" type="title"/>
          </p:nvPr>
        </p:nvSpPr>
        <p:spPr>
          <a:xfrm>
            <a:off x="1224600" y="3286637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8" name="Google Shape;348;p31"/>
          <p:cNvSpPr txBox="1"/>
          <p:nvPr>
            <p:ph idx="5" type="title"/>
          </p:nvPr>
        </p:nvSpPr>
        <p:spPr>
          <a:xfrm>
            <a:off x="1224600" y="4108150"/>
            <a:ext cx="6852300" cy="28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32"/>
          <p:cNvGrpSpPr/>
          <p:nvPr/>
        </p:nvGrpSpPr>
        <p:grpSpPr>
          <a:xfrm>
            <a:off x="-1" y="-2"/>
            <a:ext cx="9151203" cy="649227"/>
            <a:chOff x="-1" y="-2"/>
            <a:chExt cx="9151203" cy="649227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3" name="Google Shape;353;p3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354" name="Google Shape;35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7" name="Google Shape;357;p3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p33"/>
          <p:cNvGrpSpPr/>
          <p:nvPr/>
        </p:nvGrpSpPr>
        <p:grpSpPr>
          <a:xfrm>
            <a:off x="-1" y="-2"/>
            <a:ext cx="9151203" cy="649236"/>
            <a:chOff x="-1" y="-2"/>
            <a:chExt cx="9151203" cy="649236"/>
          </a:xfrm>
        </p:grpSpPr>
        <p:pic>
          <p:nvPicPr>
            <p:cNvPr id="360" name="Google Shape;360;p33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" name="Google Shape;361;p33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2" name="Google Shape;362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3" name="Google Shape;3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3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66" name="Google Shape;366;p3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1" name="Google Shape;37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4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3" name="Google Shape;373;p3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74" name="Google Shape;374;p3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9" name="Google Shape;37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5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1" name="Google Shape;381;p3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82" name="Google Shape;382;p3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6"/>
          <p:cNvSpPr txBox="1"/>
          <p:nvPr>
            <p:ph idx="1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9" name="Google Shape;389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90" name="Google Shape;390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3" name="Google Shape;39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95" name="Google Shape;395;p36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6" name="Google Shape;396;p36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7" name="Google Shape;397;p36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0" name="Google Shape;400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7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3" name="Google Shape;403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4" name="Google Shape;404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5" name="Google Shape;405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6" name="Google Shape;406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7" name="Google Shape;407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09" name="Google Shape;409;p37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0" name="Google Shape;410;p37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1" name="Google Shape;411;p37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12" name="Google Shape;412;p37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5" name="Google Shape;415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8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18" name="Google Shape;418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19" name="Google Shape;419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0" name="Google Shape;420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1" name="Google Shape;421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22" name="Google Shape;422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" name="Google Shape;423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24" name="Google Shape;424;p38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8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8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7" name="Google Shape;427;p38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0" name="Google Shape;43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9"/>
          <p:cNvSpPr txBox="1"/>
          <p:nvPr>
            <p:ph idx="1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33" name="Google Shape;433;p3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34" name="Google Shape;434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5" name="Google Shape;435;p3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6" name="Google Shape;436;p3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37" name="Google Shape;437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8" name="Google Shape;438;p3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439" name="Google Shape;439;p39"/>
          <p:cNvSpPr txBox="1"/>
          <p:nvPr>
            <p:ph type="title"/>
          </p:nvPr>
        </p:nvSpPr>
        <p:spPr>
          <a:xfrm>
            <a:off x="324000" y="152400"/>
            <a:ext cx="713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9"/>
          <p:cNvSpPr txBox="1"/>
          <p:nvPr>
            <p:ph idx="2" type="subTitle"/>
          </p:nvPr>
        </p:nvSpPr>
        <p:spPr>
          <a:xfrm>
            <a:off x="3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9"/>
          <p:cNvSpPr txBox="1"/>
          <p:nvPr>
            <p:ph idx="3" type="body"/>
          </p:nvPr>
        </p:nvSpPr>
        <p:spPr>
          <a:xfrm>
            <a:off x="324000" y="4748400"/>
            <a:ext cx="4187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2" name="Google Shape;442;p39"/>
          <p:cNvSpPr txBox="1"/>
          <p:nvPr>
            <p:ph idx="4" type="body"/>
          </p:nvPr>
        </p:nvSpPr>
        <p:spPr>
          <a:xfrm>
            <a:off x="4591200" y="4748400"/>
            <a:ext cx="39267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0" name="Google Shape;45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51" name="Google Shape;451;p40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52" name="Google Shape;45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53" name="Google Shape;45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4" name="Google Shape;45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55" name="Google Shape;45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7" name="Google Shape;457;p40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8" name="Google Shape;458;p40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2" name="Google Shape;462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64" name="Google Shape;46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8" name="Google Shape;468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9" name="Google Shape;469;p41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0" name="Google Shape;470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71" name="Google Shape;471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2" name="Google Shape;472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3" name="Google Shape;473;p41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4" name="Google Shape;474;p41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8" name="Google Shape;47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80" name="Google Shape;48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4" name="Google Shape;484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42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87" name="Google Shape;487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8" name="Google Shape;488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9" name="Google Shape;489;p4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0" name="Google Shape;490;p42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4" name="Google Shape;49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96" name="Google Shape;49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43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9" name="Google Shape;499;p43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0" name="Google Shape;500;p43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1" name="Google Shape;501;p43"/>
          <p:cNvSpPr txBox="1"/>
          <p:nvPr>
            <p:ph idx="2" type="subTitle"/>
          </p:nvPr>
        </p:nvSpPr>
        <p:spPr>
          <a:xfrm>
            <a:off x="324000" y="1080000"/>
            <a:ext cx="71352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2" name="Google Shape;502;p4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503" name="Google Shape;503;p43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43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4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43"/>
          <p:cNvSpPr txBox="1"/>
          <p:nvPr>
            <p:ph idx="3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8" name="Google Shape;508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4"/>
          <p:cNvSpPr txBox="1"/>
          <p:nvPr>
            <p:ph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11" name="Google Shape;51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3" name="Google Shape;513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4" name="Google Shape;514;p44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5" name="Google Shape;515;p44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6" name="Google Shape;516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7" name="Google Shape;51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20" name="Google Shape;52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3" name="Google Shape;52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25" name="Google Shape;525;p44"/>
          <p:cNvSpPr txBox="1"/>
          <p:nvPr>
            <p:ph idx="4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6" name="Google Shape;526;p44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0" name="Google Shape;53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2" name="Google Shape;532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5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5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5" name="Google Shape;535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6" name="Google Shape;53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9" name="Google Shape;53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42" name="Google Shape;54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44" name="Google Shape;544;p4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5" name="Google Shape;545;p45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6" name="Google Shape;546;p45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8" name="Google Shape;548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0" name="Google Shape;55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2" name="Google Shape;552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3" name="Google Shape;553;p46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4" name="Google Shape;554;p46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5" name="Google Shape;555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56" name="Google Shape;55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59" name="Google Shape;55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62" name="Google Shape;562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64" name="Google Shape;564;p4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5" name="Google Shape;565;p46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6" name="Google Shape;566;p46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0" name="Google Shape;57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4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7"/>
          <p:cNvSpPr txBox="1"/>
          <p:nvPr>
            <p:ph idx="2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7"/>
          <p:cNvSpPr txBox="1"/>
          <p:nvPr>
            <p:ph idx="3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76" name="Google Shape;57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79" name="Google Shape;57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82" name="Google Shape;58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84" name="Google Shape;584;p4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5" name="Google Shape;585;p47"/>
          <p:cNvSpPr txBox="1"/>
          <p:nvPr>
            <p:ph idx="4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6" name="Google Shape;586;p47"/>
          <p:cNvSpPr txBox="1"/>
          <p:nvPr>
            <p:ph idx="5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0" name="Google Shape;59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3" name="Google Shape;593;p48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4" name="Google Shape;594;p48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8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6" name="Google Shape;596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7" name="Google Shape;597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0" name="Google Shape;600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3" name="Google Shape;603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5" name="Google Shape;605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6" name="Google Shape;60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08" name="Google Shape;608;p4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8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0" name="Google Shape;610;p48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4" name="Google Shape;61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7" name="Google Shape;617;p49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49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49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0" name="Google Shape;620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1" name="Google Shape;621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2" name="Google Shape;622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3" name="Google Shape;623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4" name="Google Shape;624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5" name="Google Shape;625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6" name="Google Shape;626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7" name="Google Shape;627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8" name="Google Shape;628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9" name="Google Shape;629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0" name="Google Shape;630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1" name="Google Shape;631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32" name="Google Shape;632;p4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3" name="Google Shape;633;p49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4" name="Google Shape;634;p49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9" name="Google Shape;63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42" name="Google Shape;642;p50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43" name="Google Shape;643;p50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44" name="Google Shape;644;p50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45" name="Google Shape;645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46" name="Google Shape;646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7" name="Google Shape;647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8" name="Google Shape;648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49" name="Google Shape;649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0" name="Google Shape;650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1" name="Google Shape;651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52" name="Google Shape;65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3" name="Google Shape;65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54" name="Google Shape;654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55" name="Google Shape;65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6" name="Google Shape;65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57" name="Google Shape;657;p50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8" name="Google Shape;658;p50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5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63" name="Google Shape;66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67" name="Google Shape;667;p51"/>
          <p:cNvSpPr txBox="1"/>
          <p:nvPr>
            <p:ph idx="3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68" name="Google Shape;668;p51"/>
          <p:cNvSpPr txBox="1"/>
          <p:nvPr>
            <p:ph idx="4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69" name="Google Shape;669;p5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70" name="Google Shape;67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1" name="Google Shape;67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2" name="Google Shape;672;p5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73" name="Google Shape;673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4" name="Google Shape;674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5" name="Google Shape;675;p5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76" name="Google Shape;676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7" name="Google Shape;677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78" name="Google Shape;678;p5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79" name="Google Shape;679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0" name="Google Shape;680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81" name="Google Shape;681;p51"/>
          <p:cNvSpPr txBox="1"/>
          <p:nvPr>
            <p:ph idx="5"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2" name="Google Shape;682;p51"/>
          <p:cNvSpPr txBox="1"/>
          <p:nvPr>
            <p:ph idx="6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6" name="Google Shape;68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8" name="Google Shape;688;p52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9" name="Google Shape;689;p52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0" name="Google Shape;690;p52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91" name="Google Shape;691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92" name="Google Shape;692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3" name="Google Shape;693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94" name="Google Shape;694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95" name="Google Shape;695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6" name="Google Shape;696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97" name="Google Shape;697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98" name="Google Shape;698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00" name="Google Shape;700;p52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1" name="Google Shape;701;p52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2" name="Google Shape;702;p52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Google Shape;704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6" name="Google Shape;70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8" name="Google Shape;708;p53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09" name="Google Shape;709;p53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10" name="Google Shape;710;p53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11" name="Google Shape;71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12" name="Google Shape;71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3" name="Google Shape;71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14" name="Google Shape;71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15" name="Google Shape;71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6" name="Google Shape;71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17" name="Google Shape;71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18" name="Google Shape;71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9" name="Google Shape;71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20" name="Google Shape;720;p53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1" name="Google Shape;721;p53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2" name="Google Shape;722;p53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6" name="Google Shape;72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8" name="Google Shape;728;p54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29" name="Google Shape;729;p54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30" name="Google Shape;730;p54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31" name="Google Shape;731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32" name="Google Shape;732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3" name="Google Shape;733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34" name="Google Shape;734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35" name="Google Shape;735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6" name="Google Shape;736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37" name="Google Shape;737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38" name="Google Shape;738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9" name="Google Shape;739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40" name="Google Shape;740;p54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1" name="Google Shape;741;p54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2" name="Google Shape;742;p54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4" name="Google Shape;744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6" name="Google Shape;74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8" name="Google Shape;748;p55"/>
          <p:cNvSpPr/>
          <p:nvPr>
            <p:ph idx="2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49" name="Google Shape;749;p55"/>
          <p:cNvSpPr/>
          <p:nvPr>
            <p:ph idx="3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750" name="Google Shape;750;p55"/>
          <p:cNvSpPr/>
          <p:nvPr>
            <p:ph idx="4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51" name="Google Shape;751;p5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52" name="Google Shape;752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3" name="Google Shape;753;p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54" name="Google Shape;754;p5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55" name="Google Shape;755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6" name="Google Shape;756;p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57" name="Google Shape;757;p5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58" name="Google Shape;758;p5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9" name="Google Shape;759;p5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60" name="Google Shape;760;p55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1" name="Google Shape;761;p55"/>
          <p:cNvSpPr txBox="1"/>
          <p:nvPr>
            <p:ph idx="5" type="title"/>
          </p:nvPr>
        </p:nvSpPr>
        <p:spPr>
          <a:xfrm>
            <a:off x="324000" y="80991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2" name="Google Shape;762;p55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_3">
    <p:bg>
      <p:bgPr>
        <a:solidFill>
          <a:srgbClr val="F3EEFB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6" name="Google Shape;76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56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9" name="Google Shape;769;p5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0" name="Google Shape;770;p5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4" name="Google Shape;774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6" name="Google Shape;776;p57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7" name="Google Shape;777;p5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78" name="Google Shape;778;p5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0" name="Google Shape;780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5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2" name="Google Shape;78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58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5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6" name="Google Shape;786;p5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" name="Google Shape;788;p5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5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9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91" name="Google Shape;79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59"/>
          <p:cNvSpPr txBox="1"/>
          <p:nvPr>
            <p:ph type="title"/>
          </p:nvPr>
        </p:nvSpPr>
        <p:spPr>
          <a:xfrm>
            <a:off x="324000" y="152400"/>
            <a:ext cx="7885200" cy="28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4" name="Google Shape;794;p5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6" name="Google Shape;796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97" name="Google Shape;79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8" name="Google Shape;79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0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2" name="Google Shape;802;p60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3" name="Google Shape;803;p60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8" name="Google Shape;80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1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1" name="Google Shape;811;p61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1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4" name="Google Shape;814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6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7" name="Google Shape;81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62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0" name="Google Shape;820;p62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21" name="Google Shape;821;p62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Google Shape;823;p6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6" name="Google Shape;82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63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9" name="Google Shape;829;p63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0" name="Google Shape;830;p63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_2">
    <p:bg>
      <p:bgPr>
        <a:solidFill>
          <a:srgbClr val="F3EEFB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64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8" name="Google Shape;838;p64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9" name="Google Shape;839;p64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4" name="Google Shape;84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65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7" name="Google Shape;847;p65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8" name="Google Shape;848;p65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Google Shape;850;p6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6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3" name="Google Shape;85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66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6" name="Google Shape;856;p66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66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6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6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6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2" name="Google Shape;862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67"/>
          <p:cNvSpPr txBox="1"/>
          <p:nvPr>
            <p:ph type="title"/>
          </p:nvPr>
        </p:nvSpPr>
        <p:spPr>
          <a:xfrm>
            <a:off x="1449300" y="14667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5" name="Google Shape;865;p67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67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8" name="Google Shape;868;p68"/>
          <p:cNvGrpSpPr/>
          <p:nvPr/>
        </p:nvGrpSpPr>
        <p:grpSpPr>
          <a:xfrm>
            <a:off x="0" y="0"/>
            <a:ext cx="9151202" cy="652534"/>
            <a:chOff x="0" y="0"/>
            <a:chExt cx="9151202" cy="652534"/>
          </a:xfrm>
        </p:grpSpPr>
        <p:sp>
          <p:nvSpPr>
            <p:cNvPr id="869" name="Google Shape;869;p68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70" name="Google Shape;870;p68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1" name="Google Shape;871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68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0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3" name="Google Shape;873;p68"/>
          <p:cNvSpPr txBox="1"/>
          <p:nvPr>
            <p:ph idx="1" type="body"/>
          </p:nvPr>
        </p:nvSpPr>
        <p:spPr>
          <a:xfrm>
            <a:off x="324000" y="8100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68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6" name="Google Shape;876;p69"/>
          <p:cNvGrpSpPr/>
          <p:nvPr/>
        </p:nvGrpSpPr>
        <p:grpSpPr>
          <a:xfrm>
            <a:off x="0" y="0"/>
            <a:ext cx="9151202" cy="886259"/>
            <a:chOff x="0" y="0"/>
            <a:chExt cx="9151202" cy="886259"/>
          </a:xfrm>
        </p:grpSpPr>
        <p:sp>
          <p:nvSpPr>
            <p:cNvPr id="877" name="Google Shape;877;p69"/>
            <p:cNvSpPr/>
            <p:nvPr/>
          </p:nvSpPr>
          <p:spPr>
            <a:xfrm>
              <a:off x="0" y="0"/>
              <a:ext cx="9144300" cy="7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78" name="Google Shape;878;p69"/>
            <p:cNvPicPr preferRelativeResize="0"/>
            <p:nvPr/>
          </p:nvPicPr>
          <p:blipFill rotWithShape="1">
            <a:blip r:embed="rId2">
              <a:alphaModFix/>
            </a:blip>
            <a:srcRect b="1709" l="0" r="0" t="1699"/>
            <a:stretch/>
          </p:blipFill>
          <p:spPr>
            <a:xfrm>
              <a:off x="0" y="769550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79" name="Google Shape;879;p6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6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69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69"/>
          <p:cNvSpPr txBox="1"/>
          <p:nvPr>
            <p:ph idx="2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5" name="Google Shape;885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8" name="Google Shape;888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9" name="Google Shape;889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Audio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clip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4" name="Google Shape;894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71"/>
          <p:cNvSpPr txBox="1"/>
          <p:nvPr>
            <p:ph idx="1" type="subTitle"/>
          </p:nvPr>
        </p:nvSpPr>
        <p:spPr>
          <a:xfrm>
            <a:off x="661775" y="1266500"/>
            <a:ext cx="7351200" cy="262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72"/>
          <p:cNvSpPr txBox="1"/>
          <p:nvPr>
            <p:ph type="title"/>
          </p:nvPr>
        </p:nvSpPr>
        <p:spPr>
          <a:xfrm>
            <a:off x="459000" y="2262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8" name="Google Shape;898;p72"/>
          <p:cNvSpPr txBox="1"/>
          <p:nvPr>
            <p:ph idx="1" type="body"/>
          </p:nvPr>
        </p:nvSpPr>
        <p:spPr>
          <a:xfrm>
            <a:off x="324000" y="4748400"/>
            <a:ext cx="8216400" cy="23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600">
                <a:solidFill>
                  <a:schemeClr val="dk2"/>
                </a:solidFill>
              </a:defRPr>
            </a:lvl1pPr>
            <a:lvl2pPr indent="-266700" lvl="1" marL="9144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2pPr>
            <a:lvl3pPr indent="-266700" lvl="2" marL="1371600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5pPr>
            <a:lvl6pPr indent="-266700" lvl="5" marL="2743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6pPr>
            <a:lvl7pPr indent="-266700" lvl="6" marL="32004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7pPr>
            <a:lvl8pPr indent="-266700" lvl="7" marL="365760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8pPr>
            <a:lvl9pPr indent="-266700" lvl="8" marL="4114800">
              <a:spcBef>
                <a:spcPts val="400"/>
              </a:spcBef>
              <a:spcAft>
                <a:spcPts val="200"/>
              </a:spcAft>
              <a:buClr>
                <a:schemeClr val="dk2"/>
              </a:buClr>
              <a:buSzPts val="600"/>
              <a:buChar char="–"/>
              <a:defRPr sz="6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7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01" name="Google Shape;901;p7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7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7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4" name="Google Shape;904;p7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05" name="Google Shape;905;p7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 1">
  <p:cSld name="TITLE_AND_TWO_COLUMNS_1_1_6_2_1_2_1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Google Shape;907;p7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7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7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10" name="Google Shape;910;p7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12" name="Google Shape;91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_2">
    <p:bg>
      <p:bgPr>
        <a:solidFill>
          <a:srgbClr val="E6F2F2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7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7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7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20" name="Google Shape;920;p7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921" name="Google Shape;921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7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4" name="Google Shape;924;p7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25" name="Google Shape;925;p7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926" name="Google Shape;926;p7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927" name="Google Shape;927;p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8" name="Google Shape;928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9" name="Google Shape;929;p7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930" name="Google Shape;930;p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1" name="Google Shape;931;p7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32" name="Google Shape;932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934" name="Google Shape;934;p7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 1">
  <p:cSld name="TITLE_AND_TWO_COLUMNS_1_1_5_1_3_1_1_1_1_3"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7" name="Google Shape;937;p7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7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7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40" name="Google Shape;940;p7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1" name="Google Shape;941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3" name="Google Shape;943;p7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75" Type="http://schemas.openxmlformats.org/officeDocument/2006/relationships/slideLayout" Target="../slideLayouts/slideLayout74.xml"/><Relationship Id="rId30" Type="http://schemas.openxmlformats.org/officeDocument/2006/relationships/slideLayout" Target="../slideLayouts/slideLayout29.xml"/><Relationship Id="rId74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32.xml"/><Relationship Id="rId77" Type="http://schemas.openxmlformats.org/officeDocument/2006/relationships/theme" Target="../theme/theme2.xml"/><Relationship Id="rId32" Type="http://schemas.openxmlformats.org/officeDocument/2006/relationships/slideLayout" Target="../slideLayouts/slideLayout31.xml"/><Relationship Id="rId76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24000" y="167475"/>
            <a:ext cx="6981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24000" y="8100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  <p:sldLayoutId id="2147483720" r:id="rId74"/>
    <p:sldLayoutId id="2147483721" r:id="rId75"/>
    <p:sldLayoutId id="2147483722" r:id="rId7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2991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  <p15:guide id="23" pos="420">
          <p15:clr>
            <a:srgbClr val="6D9EEB"/>
          </p15:clr>
        </p15:guide>
        <p15:guide id="24" pos="363">
          <p15:clr>
            <a:srgbClr val="FF9900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9.png"/><Relationship Id="rId4" Type="http://schemas.openxmlformats.org/officeDocument/2006/relationships/image" Target="../media/image8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8.png"/><Relationship Id="rId4" Type="http://schemas.openxmlformats.org/officeDocument/2006/relationships/image" Target="../media/image81.png"/><Relationship Id="rId5" Type="http://schemas.openxmlformats.org/officeDocument/2006/relationships/image" Target="../media/image80.png"/><Relationship Id="rId6" Type="http://schemas.openxmlformats.org/officeDocument/2006/relationships/image" Target="../media/image8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6.png"/><Relationship Id="rId4" Type="http://schemas.openxmlformats.org/officeDocument/2006/relationships/image" Target="../media/image8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7.png"/><Relationship Id="rId4" Type="http://schemas.openxmlformats.org/officeDocument/2006/relationships/image" Target="../media/image8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8.png"/><Relationship Id="rId4" Type="http://schemas.openxmlformats.org/officeDocument/2006/relationships/image" Target="../media/image81.png"/><Relationship Id="rId5" Type="http://schemas.openxmlformats.org/officeDocument/2006/relationships/image" Target="../media/image8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0.png"/><Relationship Id="rId4" Type="http://schemas.openxmlformats.org/officeDocument/2006/relationships/image" Target="../media/image87.png"/><Relationship Id="rId5" Type="http://schemas.openxmlformats.org/officeDocument/2006/relationships/image" Target="../media/image9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7.png"/><Relationship Id="rId4" Type="http://schemas.openxmlformats.org/officeDocument/2006/relationships/image" Target="../media/image87.png"/><Relationship Id="rId5" Type="http://schemas.openxmlformats.org/officeDocument/2006/relationships/image" Target="../media/image96.png"/><Relationship Id="rId6" Type="http://schemas.openxmlformats.org/officeDocument/2006/relationships/image" Target="../media/image8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1.png"/><Relationship Id="rId4" Type="http://schemas.openxmlformats.org/officeDocument/2006/relationships/image" Target="../media/image89.png"/><Relationship Id="rId5" Type="http://schemas.openxmlformats.org/officeDocument/2006/relationships/image" Target="../media/image9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3.png"/><Relationship Id="rId4" Type="http://schemas.openxmlformats.org/officeDocument/2006/relationships/image" Target="../media/image9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4.png"/><Relationship Id="rId4" Type="http://schemas.openxmlformats.org/officeDocument/2006/relationships/image" Target="../media/image93.png"/><Relationship Id="rId5" Type="http://schemas.openxmlformats.org/officeDocument/2006/relationships/image" Target="../media/image9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4.png"/><Relationship Id="rId4" Type="http://schemas.openxmlformats.org/officeDocument/2006/relationships/image" Target="../media/image93.png"/><Relationship Id="rId5" Type="http://schemas.openxmlformats.org/officeDocument/2006/relationships/image" Target="../media/image95.png"/><Relationship Id="rId6" Type="http://schemas.openxmlformats.org/officeDocument/2006/relationships/image" Target="../media/image9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8.png"/><Relationship Id="rId4" Type="http://schemas.openxmlformats.org/officeDocument/2006/relationships/image" Target="../media/image81.png"/><Relationship Id="rId5" Type="http://schemas.openxmlformats.org/officeDocument/2006/relationships/image" Target="../media/image8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1.png"/><Relationship Id="rId4" Type="http://schemas.openxmlformats.org/officeDocument/2006/relationships/image" Target="../media/image78.png"/><Relationship Id="rId5" Type="http://schemas.openxmlformats.org/officeDocument/2006/relationships/image" Target="../media/image9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2.png"/><Relationship Id="rId4" Type="http://schemas.openxmlformats.org/officeDocument/2006/relationships/image" Target="../media/image10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8.png"/><Relationship Id="rId4" Type="http://schemas.openxmlformats.org/officeDocument/2006/relationships/image" Target="../media/image110.png"/><Relationship Id="rId5" Type="http://schemas.openxmlformats.org/officeDocument/2006/relationships/image" Target="../media/image10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8.png"/><Relationship Id="rId4" Type="http://schemas.openxmlformats.org/officeDocument/2006/relationships/image" Target="../media/image10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3.png"/><Relationship Id="rId4" Type="http://schemas.openxmlformats.org/officeDocument/2006/relationships/image" Target="../media/image7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7.png"/><Relationship Id="rId4" Type="http://schemas.openxmlformats.org/officeDocument/2006/relationships/image" Target="../media/image10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1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2.png"/><Relationship Id="rId4" Type="http://schemas.openxmlformats.org/officeDocument/2006/relationships/image" Target="../media/image11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1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13.png"/><Relationship Id="rId4" Type="http://schemas.openxmlformats.org/officeDocument/2006/relationships/image" Target="../media/image11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8.png"/><Relationship Id="rId4" Type="http://schemas.openxmlformats.org/officeDocument/2006/relationships/image" Target="../media/image81.png"/><Relationship Id="rId5" Type="http://schemas.openxmlformats.org/officeDocument/2006/relationships/image" Target="../media/image8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21.png"/><Relationship Id="rId4" Type="http://schemas.openxmlformats.org/officeDocument/2006/relationships/image" Target="../media/image119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8.png"/><Relationship Id="rId4" Type="http://schemas.openxmlformats.org/officeDocument/2006/relationships/image" Target="../media/image81.png"/><Relationship Id="rId5" Type="http://schemas.openxmlformats.org/officeDocument/2006/relationships/image" Target="../media/image8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2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2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2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5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7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fx-991CW for number and algebra</a:t>
            </a:r>
            <a:endParaRPr/>
          </a:p>
        </p:txBody>
      </p:sp>
      <p:sp>
        <p:nvSpPr>
          <p:cNvPr id="949" name="Google Shape;949;p7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Calculator functionality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78"/>
          <p:cNvSpPr txBox="1"/>
          <p:nvPr/>
        </p:nvSpPr>
        <p:spPr>
          <a:xfrm>
            <a:off x="4824000" y="1184625"/>
            <a:ext cx="39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9"/>
          <p:cNvSpPr txBox="1"/>
          <p:nvPr>
            <p:ph idx="1" type="subTitle"/>
          </p:nvPr>
        </p:nvSpPr>
        <p:spPr>
          <a:xfrm>
            <a:off x="666000" y="1620000"/>
            <a:ext cx="7351200" cy="25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fx-991CW to perform calculations with numbers and solve equations numerically.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80"/>
          <p:cNvSpPr txBox="1"/>
          <p:nvPr>
            <p:ph idx="1" type="subTitle"/>
          </p:nvPr>
        </p:nvSpPr>
        <p:spPr>
          <a:xfrm>
            <a:off x="324000" y="3934200"/>
            <a:ext cx="84960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An inequality is used to show that one expression may not be equal to another. </a:t>
            </a:r>
            <a:endParaRPr b="0" sz="2000">
              <a:solidFill>
                <a:schemeClr val="dk1"/>
              </a:solidFill>
            </a:endParaRPr>
          </a:p>
        </p:txBody>
      </p:sp>
      <p:sp>
        <p:nvSpPr>
          <p:cNvPr id="965" name="Google Shape;965;p80"/>
          <p:cNvSpPr txBox="1"/>
          <p:nvPr>
            <p:ph idx="1" type="subTitle"/>
          </p:nvPr>
        </p:nvSpPr>
        <p:spPr>
          <a:xfrm>
            <a:off x="324000" y="810000"/>
            <a:ext cx="84960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Prime factors are the factors of a number that are, themselves, prime.</a:t>
            </a:r>
            <a:endParaRPr b="0" sz="2000">
              <a:solidFill>
                <a:schemeClr val="dk1"/>
              </a:solidFill>
            </a:endParaRPr>
          </a:p>
        </p:txBody>
      </p:sp>
      <p:sp>
        <p:nvSpPr>
          <p:cNvPr id="966" name="Google Shape;966;p80"/>
          <p:cNvSpPr txBox="1"/>
          <p:nvPr>
            <p:ph idx="1" type="subTitle"/>
          </p:nvPr>
        </p:nvSpPr>
        <p:spPr>
          <a:xfrm>
            <a:off x="324000" y="1851400"/>
            <a:ext cx="84960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An equation is used to show 2 expressions that are equal to each other. </a:t>
            </a:r>
            <a:endParaRPr b="0" sz="2000">
              <a:solidFill>
                <a:schemeClr val="dk1"/>
              </a:solidFill>
            </a:endParaRPr>
          </a:p>
        </p:txBody>
      </p:sp>
      <p:sp>
        <p:nvSpPr>
          <p:cNvPr id="967" name="Google Shape;967;p80"/>
          <p:cNvSpPr txBox="1"/>
          <p:nvPr>
            <p:ph idx="1" type="subTitle"/>
          </p:nvPr>
        </p:nvSpPr>
        <p:spPr>
          <a:xfrm>
            <a:off x="324000" y="2892800"/>
            <a:ext cx="8496000" cy="661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>
                <a:solidFill>
                  <a:schemeClr val="dk1"/>
                </a:solidFill>
              </a:rPr>
              <a:t>Equations which represent different relationships between the same variables are called simultaneous equations. </a:t>
            </a:r>
            <a:endParaRPr b="0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81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fx-991CW for number and algebra</a:t>
            </a:r>
            <a:endParaRPr/>
          </a:p>
        </p:txBody>
      </p:sp>
      <p:sp>
        <p:nvSpPr>
          <p:cNvPr id="973" name="Google Shape;973;p81"/>
          <p:cNvSpPr txBox="1"/>
          <p:nvPr>
            <p:ph idx="3" type="title"/>
          </p:nvPr>
        </p:nvSpPr>
        <p:spPr>
          <a:xfrm>
            <a:off x="1225200" y="37819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polynomials</a:t>
            </a:r>
            <a:endParaRPr/>
          </a:p>
        </p:txBody>
      </p:sp>
      <p:pic>
        <p:nvPicPr>
          <p:cNvPr id="974" name="Google Shape;97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42" y="1751517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81"/>
          <p:cNvSpPr txBox="1"/>
          <p:nvPr>
            <p:ph idx="2" type="title"/>
          </p:nvPr>
        </p:nvSpPr>
        <p:spPr>
          <a:xfrm>
            <a:off x="1225225" y="28412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  <p:sp>
        <p:nvSpPr>
          <p:cNvPr id="976" name="Google Shape;976;p81"/>
          <p:cNvSpPr txBox="1"/>
          <p:nvPr>
            <p:ph idx="4" type="title"/>
          </p:nvPr>
        </p:nvSpPr>
        <p:spPr>
          <a:xfrm>
            <a:off x="1225200" y="18224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1" name="Google Shape;98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8299" y="810000"/>
            <a:ext cx="2310800" cy="3926593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82"/>
          <p:cNvSpPr txBox="1"/>
          <p:nvPr>
            <p:ph idx="1" type="body"/>
          </p:nvPr>
        </p:nvSpPr>
        <p:spPr>
          <a:xfrm>
            <a:off x="324000" y="810000"/>
            <a:ext cx="5649000" cy="35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this lesson, we will be using the Casio fx-991CW model.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We will cover how to use this calculator to carry out different calculations.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After switching the calculator on, you will see this screen.</a:t>
            </a:r>
            <a:endParaRPr/>
          </a:p>
        </p:txBody>
      </p:sp>
      <p:sp>
        <p:nvSpPr>
          <p:cNvPr id="983" name="Google Shape;983;p82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cxnSp>
        <p:nvCxnSpPr>
          <p:cNvPr id="984" name="Google Shape;984;p82"/>
          <p:cNvCxnSpPr/>
          <p:nvPr/>
        </p:nvCxnSpPr>
        <p:spPr>
          <a:xfrm flipH="1" rot="10800000">
            <a:off x="4645750" y="2043900"/>
            <a:ext cx="1576200" cy="1636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5" name="Google Shape;985;p82"/>
          <p:cNvSpPr/>
          <p:nvPr/>
        </p:nvSpPr>
        <p:spPr>
          <a:xfrm>
            <a:off x="6271875" y="1003050"/>
            <a:ext cx="1880700" cy="7995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0" name="Google Shape;99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8299" y="810000"/>
            <a:ext cx="2310800" cy="3926593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83"/>
          <p:cNvSpPr txBox="1"/>
          <p:nvPr>
            <p:ph idx="1" type="body"/>
          </p:nvPr>
        </p:nvSpPr>
        <p:spPr>
          <a:xfrm>
            <a:off x="324000" y="810000"/>
            <a:ext cx="5649000" cy="111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use the arrow keys to navigate between the options. For now, we are going to focus on ‘Calculate’.</a:t>
            </a:r>
            <a:endParaRPr/>
          </a:p>
        </p:txBody>
      </p:sp>
      <p:sp>
        <p:nvSpPr>
          <p:cNvPr id="992" name="Google Shape;992;p83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cxnSp>
        <p:nvCxnSpPr>
          <p:cNvPr id="993" name="Google Shape;993;p83"/>
          <p:cNvCxnSpPr/>
          <p:nvPr/>
        </p:nvCxnSpPr>
        <p:spPr>
          <a:xfrm>
            <a:off x="5482875" y="1191600"/>
            <a:ext cx="1659300" cy="968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4" name="Google Shape;994;p83"/>
          <p:cNvSpPr txBox="1"/>
          <p:nvPr>
            <p:ph idx="1" type="body"/>
          </p:nvPr>
        </p:nvSpPr>
        <p:spPr>
          <a:xfrm>
            <a:off x="324000" y="2681250"/>
            <a:ext cx="56490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Press the ‘EXE’ button.</a:t>
            </a:r>
            <a:endParaRPr/>
          </a:p>
        </p:txBody>
      </p:sp>
      <p:cxnSp>
        <p:nvCxnSpPr>
          <p:cNvPr id="995" name="Google Shape;995;p83"/>
          <p:cNvCxnSpPr/>
          <p:nvPr/>
        </p:nvCxnSpPr>
        <p:spPr>
          <a:xfrm>
            <a:off x="3369600" y="2811600"/>
            <a:ext cx="4519200" cy="1668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6" name="Google Shape;996;p83"/>
          <p:cNvSpPr/>
          <p:nvPr/>
        </p:nvSpPr>
        <p:spPr>
          <a:xfrm>
            <a:off x="7888800" y="4383200"/>
            <a:ext cx="294000" cy="307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4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Inputting a mixed number into the calculator and pressing ‘EXE’ returns the same value but as an improper fraction.</a:t>
            </a:r>
            <a:endParaRPr/>
          </a:p>
        </p:txBody>
      </p:sp>
      <p:sp>
        <p:nvSpPr>
          <p:cNvPr id="1002" name="Google Shape;1002;p8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003" name="Google Shape;1003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350" y="1861800"/>
            <a:ext cx="36766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2800" y="2380913"/>
            <a:ext cx="3048000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85"/>
          <p:cNvSpPr txBox="1"/>
          <p:nvPr>
            <p:ph type="title"/>
          </p:nvPr>
        </p:nvSpPr>
        <p:spPr>
          <a:xfrm>
            <a:off x="324000" y="809913"/>
            <a:ext cx="81792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does inputting an improper fraction into the calculator and pressing ‘EXE’ return?</a:t>
            </a:r>
            <a:endParaRPr/>
          </a:p>
        </p:txBody>
      </p:sp>
      <p:sp>
        <p:nvSpPr>
          <p:cNvPr id="1010" name="Google Shape;1010;p85"/>
          <p:cNvSpPr txBox="1"/>
          <p:nvPr>
            <p:ph idx="1" type="subTitle"/>
          </p:nvPr>
        </p:nvSpPr>
        <p:spPr>
          <a:xfrm>
            <a:off x="1034425" y="1837775"/>
            <a:ext cx="7506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same improper fraction</a:t>
            </a:r>
            <a:endParaRPr/>
          </a:p>
        </p:txBody>
      </p:sp>
      <p:sp>
        <p:nvSpPr>
          <p:cNvPr id="1011" name="Google Shape;1011;p85"/>
          <p:cNvSpPr txBox="1"/>
          <p:nvPr>
            <p:ph idx="2" type="subTitle"/>
          </p:nvPr>
        </p:nvSpPr>
        <p:spPr>
          <a:xfrm>
            <a:off x="1034425" y="2794247"/>
            <a:ext cx="7506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same value but as a mixed number</a:t>
            </a:r>
            <a:endParaRPr/>
          </a:p>
        </p:txBody>
      </p:sp>
      <p:sp>
        <p:nvSpPr>
          <p:cNvPr id="1012" name="Google Shape;1012;p85"/>
          <p:cNvSpPr txBox="1"/>
          <p:nvPr>
            <p:ph idx="3" type="subTitle"/>
          </p:nvPr>
        </p:nvSpPr>
        <p:spPr>
          <a:xfrm>
            <a:off x="1034425" y="3766965"/>
            <a:ext cx="7464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same value but as a decimal</a:t>
            </a:r>
            <a:endParaRPr/>
          </a:p>
        </p:txBody>
      </p:sp>
      <p:sp>
        <p:nvSpPr>
          <p:cNvPr id="1013" name="Google Shape;1013;p85"/>
          <p:cNvSpPr txBox="1"/>
          <p:nvPr>
            <p:ph idx="4"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014" name="Google Shape;101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4233" y="17975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9" name="Google Shape;1019;p8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685400" y="2359225"/>
            <a:ext cx="2044923" cy="93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020" name="Google Shape;1020;p8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021" name="Google Shape;1021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000" y="26514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22" name="Google Shape;1022;p86"/>
          <p:cNvSpPr txBox="1"/>
          <p:nvPr/>
        </p:nvSpPr>
        <p:spPr>
          <a:xfrm>
            <a:off x="6660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3" name="Google Shape;1023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72057" y="28119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p86"/>
          <p:cNvSpPr txBox="1"/>
          <p:nvPr/>
        </p:nvSpPr>
        <p:spPr>
          <a:xfrm>
            <a:off x="75928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5" name="Google Shape;1025;p86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115450" y="1499450"/>
            <a:ext cx="2722749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6" name="Google Shape;1026;p86"/>
          <p:cNvSpPr txBox="1"/>
          <p:nvPr/>
        </p:nvSpPr>
        <p:spPr>
          <a:xfrm>
            <a:off x="1398000" y="1337925"/>
            <a:ext cx="2440200" cy="16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how can I change between improper fractions and mixed numbers?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6"/>
          <p:cNvSpPr txBox="1"/>
          <p:nvPr/>
        </p:nvSpPr>
        <p:spPr>
          <a:xfrm>
            <a:off x="5792075" y="2434525"/>
            <a:ext cx="18024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need to use the       button.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8" name="Google Shape;1028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83550" y="2731675"/>
            <a:ext cx="391440" cy="37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Google Shape;103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787375"/>
            <a:ext cx="2310800" cy="39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87"/>
          <p:cNvSpPr txBox="1"/>
          <p:nvPr>
            <p:ph idx="1" type="body"/>
          </p:nvPr>
        </p:nvSpPr>
        <p:spPr>
          <a:xfrm>
            <a:off x="2887200" y="810000"/>
            <a:ext cx="5674500" cy="111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When an improper fraction is displayed, you can change the format of the value by pressing the ‘FORMAT’ button.</a:t>
            </a:r>
            <a:endParaRPr/>
          </a:p>
        </p:txBody>
      </p:sp>
      <p:sp>
        <p:nvSpPr>
          <p:cNvPr id="1035" name="Google Shape;1035;p8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cxnSp>
        <p:nvCxnSpPr>
          <p:cNvPr id="1036" name="Google Shape;1036;p87"/>
          <p:cNvCxnSpPr>
            <a:stCxn id="1034" idx="2"/>
            <a:endCxn id="1037" idx="6"/>
          </p:cNvCxnSpPr>
          <p:nvPr/>
        </p:nvCxnSpPr>
        <p:spPr>
          <a:xfrm flipH="1">
            <a:off x="2005950" y="1927500"/>
            <a:ext cx="3718500" cy="2617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7" name="Google Shape;1037;p87"/>
          <p:cNvSpPr/>
          <p:nvPr/>
        </p:nvSpPr>
        <p:spPr>
          <a:xfrm>
            <a:off x="1712058" y="4390742"/>
            <a:ext cx="294000" cy="3078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87"/>
          <p:cNvSpPr txBox="1"/>
          <p:nvPr>
            <p:ph idx="1" type="body"/>
          </p:nvPr>
        </p:nvSpPr>
        <p:spPr>
          <a:xfrm>
            <a:off x="2887200" y="2577684"/>
            <a:ext cx="56745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value can be displayed as a decimal, improper fraction or mixed fraction.</a:t>
            </a:r>
            <a:endParaRPr/>
          </a:p>
        </p:txBody>
      </p:sp>
      <p:pic>
        <p:nvPicPr>
          <p:cNvPr id="1039" name="Google Shape;1039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2622" y="3412247"/>
            <a:ext cx="2903650" cy="133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88"/>
          <p:cNvSpPr txBox="1"/>
          <p:nvPr>
            <p:ph type="title"/>
          </p:nvPr>
        </p:nvSpPr>
        <p:spPr>
          <a:xfrm>
            <a:off x="324000" y="809913"/>
            <a:ext cx="81792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your calculator, select the correct equivalent decimal form for </a:t>
            </a:r>
            <a:endParaRPr/>
          </a:p>
        </p:txBody>
      </p:sp>
      <p:sp>
        <p:nvSpPr>
          <p:cNvPr id="1045" name="Google Shape;1045;p88"/>
          <p:cNvSpPr txBox="1"/>
          <p:nvPr>
            <p:ph idx="1" type="subTitle"/>
          </p:nvPr>
        </p:nvSpPr>
        <p:spPr>
          <a:xfrm>
            <a:off x="1034425" y="1837775"/>
            <a:ext cx="3537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25.94237096</a:t>
            </a:r>
            <a:endParaRPr/>
          </a:p>
        </p:txBody>
      </p:sp>
      <p:sp>
        <p:nvSpPr>
          <p:cNvPr id="1046" name="Google Shape;1046;p88"/>
          <p:cNvSpPr txBox="1"/>
          <p:nvPr>
            <p:ph idx="2" type="subTitle"/>
          </p:nvPr>
        </p:nvSpPr>
        <p:spPr>
          <a:xfrm>
            <a:off x="1034425" y="2794251"/>
            <a:ext cx="35376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25.94236269</a:t>
            </a:r>
            <a:endParaRPr/>
          </a:p>
        </p:txBody>
      </p:sp>
      <p:sp>
        <p:nvSpPr>
          <p:cNvPr id="1047" name="Google Shape;1047;p88"/>
          <p:cNvSpPr txBox="1"/>
          <p:nvPr>
            <p:ph idx="3" type="subTitle"/>
          </p:nvPr>
        </p:nvSpPr>
        <p:spPr>
          <a:xfrm>
            <a:off x="1034425" y="3766974"/>
            <a:ext cx="35178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25.94230769</a:t>
            </a:r>
            <a:endParaRPr/>
          </a:p>
        </p:txBody>
      </p:sp>
      <p:sp>
        <p:nvSpPr>
          <p:cNvPr id="1048" name="Google Shape;1048;p88"/>
          <p:cNvSpPr txBox="1"/>
          <p:nvPr>
            <p:ph idx="4"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049" name="Google Shape;1049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9508" y="37267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349 over 52&#10;&#10;&lt;math xmlns=&quot;http://www.w3.org/1998/Math/MathML&quot; display=&quot;block&quot; data-is-equatio=&quot;1&quot; data-latex=&quot;\frac{1349}{52}&quot;&gt;&lt;mfrac&gt;&lt;mn&gt;1349&lt;/mn&gt;&lt;mn&gt;52&lt;/mn&gt;&lt;/mfrac&gt;&lt;/math&gt;" id="1050" name="Google Shape;1050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3012" y="1132337"/>
            <a:ext cx="537816" cy="5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8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056" name="Google Shape;1056;p89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596000" y="2359225"/>
            <a:ext cx="2304901" cy="93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000" y="26514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89"/>
          <p:cNvSpPr txBox="1"/>
          <p:nvPr/>
        </p:nvSpPr>
        <p:spPr>
          <a:xfrm>
            <a:off x="6660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9" name="Google Shape;1059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72057" y="28119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89"/>
          <p:cNvSpPr txBox="1"/>
          <p:nvPr/>
        </p:nvSpPr>
        <p:spPr>
          <a:xfrm>
            <a:off x="75928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1" name="Google Shape;1061;p89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115450" y="1499450"/>
            <a:ext cx="2722749" cy="1695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2" name="Google Shape;1062;p89"/>
          <p:cNvSpPr txBox="1"/>
          <p:nvPr/>
        </p:nvSpPr>
        <p:spPr>
          <a:xfrm>
            <a:off x="1398000" y="1620000"/>
            <a:ext cx="2304900" cy="12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there more that my calculator can convert?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89"/>
          <p:cNvSpPr txBox="1"/>
          <p:nvPr/>
        </p:nvSpPr>
        <p:spPr>
          <a:xfrm>
            <a:off x="5685400" y="2434525"/>
            <a:ext cx="19998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Yes! You can also convert with time.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8" name="Google Shape;1068;p90"/>
          <p:cNvPicPr preferRelativeResize="0"/>
          <p:nvPr/>
        </p:nvPicPr>
        <p:blipFill rotWithShape="1">
          <a:blip r:embed="rId3">
            <a:alphaModFix/>
          </a:blip>
          <a:srcRect b="0" l="0" r="0" t="6454"/>
          <a:stretch/>
        </p:blipFill>
        <p:spPr>
          <a:xfrm>
            <a:off x="7459200" y="3415950"/>
            <a:ext cx="1022175" cy="839931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90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Change 2 hours and 20 mins into hours.</a:t>
            </a:r>
            <a:endParaRPr/>
          </a:p>
        </p:txBody>
      </p:sp>
      <p:sp>
        <p:nvSpPr>
          <p:cNvPr id="1070" name="Google Shape;1070;p9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071" name="Google Shape;1071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368975"/>
            <a:ext cx="36766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90"/>
          <p:cNvSpPr txBox="1"/>
          <p:nvPr>
            <p:ph idx="1" type="body"/>
          </p:nvPr>
        </p:nvSpPr>
        <p:spPr>
          <a:xfrm>
            <a:off x="324000" y="3415950"/>
            <a:ext cx="7135200" cy="69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Pressing the ‘SHIFT’ button, followed by the ‘+’ allows us to write in the form ‘hour, minute, second’.</a:t>
            </a:r>
            <a:endParaRPr sz="2100"/>
          </a:p>
        </p:txBody>
      </p:sp>
      <p:pic>
        <p:nvPicPr>
          <p:cNvPr id="1073" name="Google Shape;1073;p90"/>
          <p:cNvPicPr preferRelativeResize="0"/>
          <p:nvPr/>
        </p:nvPicPr>
        <p:blipFill rotWithShape="1">
          <a:blip r:embed="rId5">
            <a:alphaModFix/>
          </a:blip>
          <a:srcRect b="49591" l="0" r="20261" t="0"/>
          <a:stretch/>
        </p:blipFill>
        <p:spPr>
          <a:xfrm>
            <a:off x="4320000" y="1926650"/>
            <a:ext cx="2867325" cy="4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" name="Google Shape;1078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1926650"/>
            <a:ext cx="3595850" cy="815940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91"/>
          <p:cNvSpPr txBox="1"/>
          <p:nvPr>
            <p:ph idx="1" type="body"/>
          </p:nvPr>
        </p:nvSpPr>
        <p:spPr>
          <a:xfrm>
            <a:off x="324000" y="8100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Change 2 hours and 20 mins into hours.</a:t>
            </a:r>
            <a:endParaRPr/>
          </a:p>
        </p:txBody>
      </p:sp>
      <p:sp>
        <p:nvSpPr>
          <p:cNvPr id="1080" name="Google Shape;1080;p91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081" name="Google Shape;1081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368975"/>
            <a:ext cx="36766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91"/>
          <p:cNvSpPr txBox="1"/>
          <p:nvPr>
            <p:ph idx="1" type="body"/>
          </p:nvPr>
        </p:nvSpPr>
        <p:spPr>
          <a:xfrm>
            <a:off x="324000" y="3415950"/>
            <a:ext cx="8154000" cy="69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Pressing the ‘FORMAT’ key allows you to display the time in different ways.  </a:t>
            </a:r>
            <a:endParaRPr sz="2100"/>
          </a:p>
        </p:txBody>
      </p:sp>
      <p:pic>
        <p:nvPicPr>
          <p:cNvPr id="1083" name="Google Shape;1083;p91"/>
          <p:cNvPicPr preferRelativeResize="0"/>
          <p:nvPr/>
        </p:nvPicPr>
        <p:blipFill rotWithShape="1">
          <a:blip r:embed="rId5">
            <a:alphaModFix/>
          </a:blip>
          <a:srcRect b="1690" l="0" r="0" t="0"/>
          <a:stretch/>
        </p:blipFill>
        <p:spPr>
          <a:xfrm>
            <a:off x="324000" y="1368975"/>
            <a:ext cx="367665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2 hr and 20 min equals the repeating decimal 2 point followed by repeating digit 3 hr equals seven thirds hr equals 2 and one third hr&#10;&#10;&lt;math xmlns=&quot;http://www.w3.org/1998/Math/MathML&quot; display=&quot;block&quot; data-is-equatio=&quot;1&quot; data-latex=&quot;2\ \text{hr and}\ 20\min=2.\dot{3}\ \text{hr}=\frac{7}{3}\ \text{hr}=2\frac{1}{3}\ \text{hr}&quot;&gt;&lt;mn&gt;2&lt;/mn&gt;&lt;mtext&gt;&lt;/mtext&gt;&lt;mtext&gt;hr and&lt;/mtext&gt;&lt;mtext&gt;&lt;/mtext&gt;&lt;mn&gt;20&lt;/mn&gt;&lt;mo data-mjx-texclass=&quot;OP&quot; movablelimits=&quot;true&quot;&gt;min&lt;/mo&gt;&lt;mo&gt;=&lt;/mo&gt;&lt;mn&gt;2.&lt;/mn&gt;&lt;mrow data-mjx-texclass=&quot;ORD&quot;&gt;&lt;mover&gt;&lt;mn&gt;3&lt;/mn&gt;&lt;mo&gt;˙&lt;/mo&gt;&lt;/mover&gt;&lt;/mrow&gt;&lt;mtext&gt;&lt;/mtext&gt;&lt;mtext&gt;hr&lt;/mtext&gt;&lt;mo&gt;=&lt;/mo&gt;&lt;mfrac&gt;&lt;mn&gt;7&lt;/mn&gt;&lt;mn&gt;3&lt;/mn&gt;&lt;/mfrac&gt;&lt;mtext&gt;&lt;/mtext&gt;&lt;mtext&gt;hr&lt;/mtext&gt;&lt;mo&gt;=&lt;/mo&gt;&lt;mn&gt;2&lt;/mn&gt;&lt;mfrac&gt;&lt;mn&gt;1&lt;/mn&gt;&lt;mn&gt;3&lt;/mn&gt;&lt;/mfrac&gt;&lt;mtext&gt;&lt;/mtext&gt;&lt;mtext&gt;hr&lt;/mtext&gt;&lt;/math&gt;" id="1084" name="Google Shape;1084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4111050"/>
            <a:ext cx="5078458" cy="63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92"/>
          <p:cNvSpPr txBox="1"/>
          <p:nvPr>
            <p:ph idx="1" type="body"/>
          </p:nvPr>
        </p:nvSpPr>
        <p:spPr>
          <a:xfrm>
            <a:off x="324000" y="810000"/>
            <a:ext cx="84960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value in hours can be converted into hours, minutes and seconds.</a:t>
            </a:r>
            <a:endParaRPr/>
          </a:p>
        </p:txBody>
      </p:sp>
      <p:sp>
        <p:nvSpPr>
          <p:cNvPr id="1090" name="Google Shape;1090;p92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091" name="Google Shape;1091;p92"/>
          <p:cNvSpPr txBox="1"/>
          <p:nvPr>
            <p:ph idx="1" type="body"/>
          </p:nvPr>
        </p:nvSpPr>
        <p:spPr>
          <a:xfrm>
            <a:off x="324000" y="3415950"/>
            <a:ext cx="8496000" cy="11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Pressing the ‘SHIFT’ button, followed by the ‘+’ converts to the form ‘hour, minute, second’.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7.6 hours = 7 hours and 36 minutes (0 seconds)</a:t>
            </a:r>
            <a:endParaRPr sz="2100"/>
          </a:p>
        </p:txBody>
      </p:sp>
      <p:pic>
        <p:nvPicPr>
          <p:cNvPr id="1092" name="Google Shape;109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620000"/>
            <a:ext cx="3603331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3" name="Google Shape;1093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006" y="2205788"/>
            <a:ext cx="2657475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4" name="Google Shape;1094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1626500"/>
            <a:ext cx="3603325" cy="1648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92"/>
          <p:cNvPicPr preferRelativeResize="0"/>
          <p:nvPr/>
        </p:nvPicPr>
        <p:blipFill rotWithShape="1">
          <a:blip r:embed="rId4">
            <a:alphaModFix/>
          </a:blip>
          <a:srcRect b="0" l="0" r="42617" t="0"/>
          <a:stretch/>
        </p:blipFill>
        <p:spPr>
          <a:xfrm>
            <a:off x="4320003" y="2205800"/>
            <a:ext cx="152487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93"/>
          <p:cNvSpPr txBox="1"/>
          <p:nvPr>
            <p:ph type="title"/>
          </p:nvPr>
        </p:nvSpPr>
        <p:spPr>
          <a:xfrm>
            <a:off x="324000" y="809913"/>
            <a:ext cx="8179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3.875 hours is equivalent to what time? </a:t>
            </a:r>
            <a:endParaRPr/>
          </a:p>
        </p:txBody>
      </p:sp>
      <p:sp>
        <p:nvSpPr>
          <p:cNvPr id="1101" name="Google Shape;1101;p93"/>
          <p:cNvSpPr txBox="1"/>
          <p:nvPr>
            <p:ph idx="1" type="subTitle"/>
          </p:nvPr>
        </p:nvSpPr>
        <p:spPr>
          <a:xfrm>
            <a:off x="1034425" y="1837775"/>
            <a:ext cx="4863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 hours, 8 minutes and 8 seconds </a:t>
            </a:r>
            <a:endParaRPr/>
          </a:p>
        </p:txBody>
      </p:sp>
      <p:sp>
        <p:nvSpPr>
          <p:cNvPr id="1102" name="Google Shape;1102;p93"/>
          <p:cNvSpPr txBox="1"/>
          <p:nvPr>
            <p:ph idx="2" type="subTitle"/>
          </p:nvPr>
        </p:nvSpPr>
        <p:spPr>
          <a:xfrm>
            <a:off x="1034425" y="2794250"/>
            <a:ext cx="4863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 hours, 45 minutes and 8 seconds</a:t>
            </a:r>
            <a:endParaRPr/>
          </a:p>
        </p:txBody>
      </p:sp>
      <p:sp>
        <p:nvSpPr>
          <p:cNvPr id="1103" name="Google Shape;1103;p93"/>
          <p:cNvSpPr txBox="1"/>
          <p:nvPr>
            <p:ph idx="3" type="subTitle"/>
          </p:nvPr>
        </p:nvSpPr>
        <p:spPr>
          <a:xfrm>
            <a:off x="1034425" y="3766975"/>
            <a:ext cx="48633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 hours, 52 minutes and 30 seconds</a:t>
            </a:r>
            <a:endParaRPr/>
          </a:p>
        </p:txBody>
      </p:sp>
      <p:sp>
        <p:nvSpPr>
          <p:cNvPr id="1104" name="Google Shape;1104;p93"/>
          <p:cNvSpPr txBox="1"/>
          <p:nvPr>
            <p:ph idx="4"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105" name="Google Shape;1105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8808" y="37267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94"/>
          <p:cNvSpPr txBox="1"/>
          <p:nvPr>
            <p:ph idx="1" type="body"/>
          </p:nvPr>
        </p:nvSpPr>
        <p:spPr>
          <a:xfrm>
            <a:off x="324000" y="810000"/>
            <a:ext cx="8496000" cy="17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Numbers can be written in prime factor form </a:t>
            </a:r>
            <a:br>
              <a:rPr lang="en-GB"/>
            </a:br>
            <a:r>
              <a:rPr lang="en-GB"/>
              <a:t>e.g. 49 = 7</a:t>
            </a:r>
            <a:r>
              <a:rPr baseline="30000" lang="en-GB"/>
              <a:t>2</a:t>
            </a:r>
            <a:r>
              <a:rPr lang="en-GB"/>
              <a:t> and 124 = 2</a:t>
            </a:r>
            <a:r>
              <a:rPr baseline="30000" lang="en-GB"/>
              <a:t>2</a:t>
            </a:r>
            <a:r>
              <a:rPr lang="en-GB"/>
              <a:t> × 31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Express 360 in prime factor form.</a:t>
            </a:r>
            <a:endParaRPr/>
          </a:p>
        </p:txBody>
      </p:sp>
      <p:sp>
        <p:nvSpPr>
          <p:cNvPr id="1111" name="Google Shape;1111;p9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112" name="Google Shape;111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573400"/>
            <a:ext cx="365760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94"/>
          <p:cNvPicPr preferRelativeResize="0"/>
          <p:nvPr/>
        </p:nvPicPr>
        <p:blipFill rotWithShape="1">
          <a:blip r:embed="rId4">
            <a:alphaModFix/>
          </a:blip>
          <a:srcRect b="0" l="0" r="49929" t="0"/>
          <a:stretch/>
        </p:blipFill>
        <p:spPr>
          <a:xfrm>
            <a:off x="4320000" y="3173475"/>
            <a:ext cx="1502250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8" name="Google Shape;1118;p95"/>
          <p:cNvPicPr preferRelativeResize="0"/>
          <p:nvPr/>
        </p:nvPicPr>
        <p:blipFill rotWithShape="1">
          <a:blip r:embed="rId3">
            <a:alphaModFix/>
          </a:blip>
          <a:srcRect b="0" l="0" r="13985" t="0"/>
          <a:stretch/>
        </p:blipFill>
        <p:spPr>
          <a:xfrm>
            <a:off x="4320000" y="3173475"/>
            <a:ext cx="258072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5"/>
          <p:cNvSpPr txBox="1"/>
          <p:nvPr>
            <p:ph idx="1" type="body"/>
          </p:nvPr>
        </p:nvSpPr>
        <p:spPr>
          <a:xfrm>
            <a:off x="324000" y="810000"/>
            <a:ext cx="8496000" cy="17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Press ‘FORMAT’ and select ‘Prime Factor’.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Express 360 in prime factor form.</a:t>
            </a:r>
            <a:endParaRPr/>
          </a:p>
        </p:txBody>
      </p:sp>
      <p:sp>
        <p:nvSpPr>
          <p:cNvPr id="1120" name="Google Shape;1120;p9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121" name="Google Shape;1121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573400"/>
            <a:ext cx="365760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2" name="Google Shape;1122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2582925"/>
            <a:ext cx="3657600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Google Shape;112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3173475"/>
            <a:ext cx="300037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96"/>
          <p:cNvSpPr txBox="1"/>
          <p:nvPr>
            <p:ph idx="1" type="body"/>
          </p:nvPr>
        </p:nvSpPr>
        <p:spPr>
          <a:xfrm>
            <a:off x="324000" y="810000"/>
            <a:ext cx="8496000" cy="17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Pressing ‘EXE’ gives the number in prime factor form.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br>
              <a:rPr lang="en-GB"/>
            </a:b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Express 360 in prime factor form.</a:t>
            </a:r>
            <a:endParaRPr/>
          </a:p>
        </p:txBody>
      </p:sp>
      <p:sp>
        <p:nvSpPr>
          <p:cNvPr id="1129" name="Google Shape;1129;p9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130" name="Google Shape;1130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2573400"/>
            <a:ext cx="365760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1" name="Google Shape;1131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2582925"/>
            <a:ext cx="3657600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2" name="Google Shape;1132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0" y="2592438"/>
            <a:ext cx="365760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97"/>
          <p:cNvSpPr txBox="1"/>
          <p:nvPr>
            <p:ph type="title"/>
          </p:nvPr>
        </p:nvSpPr>
        <p:spPr>
          <a:xfrm>
            <a:off x="324000" y="809913"/>
            <a:ext cx="81792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Select the missing number: 10 375 750 = 2 × 5</a:t>
            </a:r>
            <a:r>
              <a:rPr baseline="30000" lang="en-GB"/>
              <a:t>3</a:t>
            </a:r>
            <a:r>
              <a:rPr lang="en-GB"/>
              <a:t> × 7   × 11</a:t>
            </a:r>
            <a:r>
              <a:rPr baseline="30000" lang="en-GB"/>
              <a:t>2</a:t>
            </a:r>
            <a:r>
              <a:rPr lang="en-GB"/>
              <a:t> </a:t>
            </a:r>
            <a:endParaRPr/>
          </a:p>
        </p:txBody>
      </p:sp>
      <p:sp>
        <p:nvSpPr>
          <p:cNvPr id="1138" name="Google Shape;1138;p97"/>
          <p:cNvSpPr txBox="1"/>
          <p:nvPr>
            <p:ph idx="1" type="subTitle"/>
          </p:nvPr>
        </p:nvSpPr>
        <p:spPr>
          <a:xfrm>
            <a:off x="1034425" y="1837775"/>
            <a:ext cx="3960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</a:t>
            </a:r>
            <a:endParaRPr/>
          </a:p>
        </p:txBody>
      </p:sp>
      <p:sp>
        <p:nvSpPr>
          <p:cNvPr id="1139" name="Google Shape;1139;p97"/>
          <p:cNvSpPr txBox="1"/>
          <p:nvPr>
            <p:ph idx="2" type="subTitle"/>
          </p:nvPr>
        </p:nvSpPr>
        <p:spPr>
          <a:xfrm>
            <a:off x="1034425" y="2794250"/>
            <a:ext cx="3960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1140" name="Google Shape;1140;p97"/>
          <p:cNvSpPr txBox="1"/>
          <p:nvPr>
            <p:ph idx="3" type="subTitle"/>
          </p:nvPr>
        </p:nvSpPr>
        <p:spPr>
          <a:xfrm>
            <a:off x="1034425" y="3766975"/>
            <a:ext cx="3960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sp>
        <p:nvSpPr>
          <p:cNvPr id="1141" name="Google Shape;1141;p97"/>
          <p:cNvSpPr txBox="1"/>
          <p:nvPr>
            <p:ph idx="4"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pic>
        <p:nvPicPr>
          <p:cNvPr id="1142" name="Google Shape;114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808" y="27621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97"/>
          <p:cNvSpPr/>
          <p:nvPr/>
        </p:nvSpPr>
        <p:spPr>
          <a:xfrm>
            <a:off x="6896543" y="818275"/>
            <a:ext cx="191400" cy="179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98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149" name="Google Shape;1149;p98"/>
          <p:cNvSpPr txBox="1"/>
          <p:nvPr>
            <p:ph idx="1" type="body"/>
          </p:nvPr>
        </p:nvSpPr>
        <p:spPr>
          <a:xfrm>
            <a:off x="324000" y="810000"/>
            <a:ext cx="8237700" cy="24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Convert the following times to hours.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1 hour and 15 mins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2 hours, 20 mins and 20 secs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4 hours, 15 mins and 16 secs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9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155" name="Google Shape;1155;p99"/>
          <p:cNvSpPr txBox="1"/>
          <p:nvPr>
            <p:ph idx="1" type="body"/>
          </p:nvPr>
        </p:nvSpPr>
        <p:spPr>
          <a:xfrm>
            <a:off x="324000" y="810000"/>
            <a:ext cx="8237700" cy="279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Convert the following number of hours to hours, minutes and seconds.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7.25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3.7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7.42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d) 3.63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0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161" name="Google Shape;1161;p100"/>
          <p:cNvSpPr txBox="1"/>
          <p:nvPr>
            <p:ph idx="1" type="body"/>
          </p:nvPr>
        </p:nvSpPr>
        <p:spPr>
          <a:xfrm>
            <a:off x="324000" y="810000"/>
            <a:ext cx="8237700" cy="24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Fill in the gaps.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121 = 11</a:t>
            </a:r>
            <a:r>
              <a:rPr baseline="30000" lang="en-GB"/>
              <a:t>2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5500 = 2   ×     </a:t>
            </a:r>
            <a:r>
              <a:rPr baseline="30000" lang="en-GB"/>
              <a:t>3</a:t>
            </a:r>
            <a:r>
              <a:rPr lang="en-GB"/>
              <a:t> × 11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384 = 2</a:t>
            </a:r>
            <a:r>
              <a:rPr baseline="30000" lang="en-GB"/>
              <a:t>7</a:t>
            </a:r>
            <a:r>
              <a:rPr lang="en-GB"/>
              <a:t>    × 3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d) 351 = 3   </a:t>
            </a:r>
            <a:r>
              <a:rPr lang="en-GB"/>
              <a:t>×     </a:t>
            </a:r>
            <a:r>
              <a:rPr lang="en-GB"/>
              <a:t>   × 13</a:t>
            </a:r>
            <a:endParaRPr/>
          </a:p>
        </p:txBody>
      </p:sp>
      <p:sp>
        <p:nvSpPr>
          <p:cNvPr id="1162" name="Google Shape;1162;p100"/>
          <p:cNvSpPr/>
          <p:nvPr/>
        </p:nvSpPr>
        <p:spPr>
          <a:xfrm>
            <a:off x="1411678" y="1364477"/>
            <a:ext cx="295200" cy="27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3" name="Google Shape;1163;p100"/>
          <p:cNvSpPr/>
          <p:nvPr/>
        </p:nvSpPr>
        <p:spPr>
          <a:xfrm>
            <a:off x="2244301" y="1876061"/>
            <a:ext cx="295200" cy="27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4" name="Google Shape;1164;p100"/>
          <p:cNvSpPr/>
          <p:nvPr/>
        </p:nvSpPr>
        <p:spPr>
          <a:xfrm>
            <a:off x="1800261" y="1821675"/>
            <a:ext cx="186600" cy="17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5" name="Google Shape;1165;p100"/>
          <p:cNvSpPr/>
          <p:nvPr/>
        </p:nvSpPr>
        <p:spPr>
          <a:xfrm>
            <a:off x="1777503" y="2301971"/>
            <a:ext cx="186600" cy="17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6" name="Google Shape;1166;p100"/>
          <p:cNvSpPr/>
          <p:nvPr/>
        </p:nvSpPr>
        <p:spPr>
          <a:xfrm>
            <a:off x="1449301" y="2370259"/>
            <a:ext cx="295200" cy="27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7" name="Google Shape;1167;p100"/>
          <p:cNvSpPr/>
          <p:nvPr/>
        </p:nvSpPr>
        <p:spPr>
          <a:xfrm>
            <a:off x="2539503" y="2301971"/>
            <a:ext cx="186600" cy="17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8" name="Google Shape;1168;p100"/>
          <p:cNvSpPr/>
          <p:nvPr/>
        </p:nvSpPr>
        <p:spPr>
          <a:xfrm>
            <a:off x="2211301" y="2370259"/>
            <a:ext cx="295200" cy="27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9" name="Google Shape;1169;p100"/>
          <p:cNvSpPr/>
          <p:nvPr/>
        </p:nvSpPr>
        <p:spPr>
          <a:xfrm>
            <a:off x="1594420" y="2858467"/>
            <a:ext cx="186600" cy="17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0" name="Google Shape;1170;p100"/>
          <p:cNvSpPr/>
          <p:nvPr/>
        </p:nvSpPr>
        <p:spPr>
          <a:xfrm>
            <a:off x="2387103" y="2789853"/>
            <a:ext cx="186600" cy="175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1" name="Google Shape;1171;p100"/>
          <p:cNvSpPr/>
          <p:nvPr/>
        </p:nvSpPr>
        <p:spPr>
          <a:xfrm>
            <a:off x="2058901" y="2858141"/>
            <a:ext cx="295200" cy="27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10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177" name="Google Shape;1177;p101"/>
          <p:cNvSpPr txBox="1"/>
          <p:nvPr>
            <p:ph idx="1" type="body"/>
          </p:nvPr>
        </p:nvSpPr>
        <p:spPr>
          <a:xfrm>
            <a:off x="324000" y="810000"/>
            <a:ext cx="8237700" cy="24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Convert the following times to hours.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1 hour and 15 mins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1.25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2 hours, 20 mins and 20 secs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2.338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4 hours, 15 mins and 16 secs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4.254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101"/>
          <p:cNvSpPr txBox="1"/>
          <p:nvPr/>
        </p:nvSpPr>
        <p:spPr>
          <a:xfrm>
            <a:off x="5477295" y="1585548"/>
            <a:ext cx="1518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9" name="Google Shape;1179;p101"/>
          <p:cNvSpPr txBox="1"/>
          <p:nvPr/>
        </p:nvSpPr>
        <p:spPr>
          <a:xfrm>
            <a:off x="5423854" y="2103775"/>
            <a:ext cx="1518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10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185" name="Google Shape;1185;p102"/>
          <p:cNvSpPr txBox="1"/>
          <p:nvPr>
            <p:ph idx="1" type="body"/>
          </p:nvPr>
        </p:nvSpPr>
        <p:spPr>
          <a:xfrm>
            <a:off x="324000" y="810000"/>
            <a:ext cx="8237700" cy="2799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Convert the following number of hours to hours, minutes and seconds.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7.25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7 hours and 15 minutes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3.7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3 hours and 42 minutes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7.42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7 hours, 25 minutes and 12 seconds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d) 3.63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3 hours, 37 minutes and 48 seconds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10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  <p:sp>
        <p:nvSpPr>
          <p:cNvPr id="1191" name="Google Shape;1191;p103"/>
          <p:cNvSpPr txBox="1"/>
          <p:nvPr>
            <p:ph idx="1" type="body"/>
          </p:nvPr>
        </p:nvSpPr>
        <p:spPr>
          <a:xfrm>
            <a:off x="324000" y="810000"/>
            <a:ext cx="8237700" cy="383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Fill in the gaps.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121 = 11</a:t>
            </a:r>
            <a:r>
              <a:rPr baseline="30000" lang="en-GB"/>
              <a:t>2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5500 = 2    ×     </a:t>
            </a:r>
            <a:r>
              <a:rPr baseline="30000" lang="en-GB"/>
              <a:t>3</a:t>
            </a:r>
            <a:r>
              <a:rPr lang="en-GB"/>
              <a:t> × 11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384 =  2  </a:t>
            </a:r>
            <a:r>
              <a:rPr baseline="30000" lang="en-GB"/>
              <a:t>    </a:t>
            </a:r>
            <a:r>
              <a:rPr lang="en-GB"/>
              <a:t>×  3 </a:t>
            </a:r>
            <a:endParaRPr baseline="30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 351 = 3    ×  ?     × 13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 value represented by the question marks should equal 1.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This can be done by having a base of 1 and any exponent or by having any base and an exponent of 0.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2" name="Google Shape;1192;p103"/>
          <p:cNvSpPr/>
          <p:nvPr/>
        </p:nvSpPr>
        <p:spPr>
          <a:xfrm>
            <a:off x="1411678" y="1364477"/>
            <a:ext cx="295200" cy="27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3" name="Google Shape;1193;p103"/>
          <p:cNvSpPr/>
          <p:nvPr/>
        </p:nvSpPr>
        <p:spPr>
          <a:xfrm>
            <a:off x="2341251" y="1844436"/>
            <a:ext cx="295200" cy="27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103"/>
          <p:cNvSpPr/>
          <p:nvPr/>
        </p:nvSpPr>
        <p:spPr>
          <a:xfrm>
            <a:off x="1815434" y="1836848"/>
            <a:ext cx="186600" cy="1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Lexend"/>
                <a:ea typeface="Lexend"/>
                <a:cs typeface="Lexend"/>
                <a:sym typeface="Lexend"/>
              </a:rPr>
              <a:t>2</a:t>
            </a:r>
            <a:endParaRPr sz="1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103"/>
          <p:cNvSpPr/>
          <p:nvPr/>
        </p:nvSpPr>
        <p:spPr>
          <a:xfrm>
            <a:off x="1792675" y="2339903"/>
            <a:ext cx="186600" cy="1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103"/>
          <p:cNvSpPr/>
          <p:nvPr/>
        </p:nvSpPr>
        <p:spPr>
          <a:xfrm>
            <a:off x="1449301" y="2370259"/>
            <a:ext cx="295200" cy="27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7" name="Google Shape;1197;p103"/>
          <p:cNvSpPr/>
          <p:nvPr/>
        </p:nvSpPr>
        <p:spPr>
          <a:xfrm>
            <a:off x="2547089" y="2339903"/>
            <a:ext cx="186600" cy="1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103"/>
          <p:cNvSpPr/>
          <p:nvPr/>
        </p:nvSpPr>
        <p:spPr>
          <a:xfrm>
            <a:off x="2226473" y="2370259"/>
            <a:ext cx="295200" cy="27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9" name="Google Shape;1199;p103"/>
          <p:cNvSpPr/>
          <p:nvPr/>
        </p:nvSpPr>
        <p:spPr>
          <a:xfrm>
            <a:off x="1617179" y="2858467"/>
            <a:ext cx="186600" cy="1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103"/>
          <p:cNvSpPr/>
          <p:nvPr/>
        </p:nvSpPr>
        <p:spPr>
          <a:xfrm>
            <a:off x="2463303" y="2858130"/>
            <a:ext cx="186600" cy="175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103"/>
          <p:cNvSpPr/>
          <p:nvPr/>
        </p:nvSpPr>
        <p:spPr>
          <a:xfrm>
            <a:off x="2135101" y="2880900"/>
            <a:ext cx="295200" cy="277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104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fx-991CW for number and algebra</a:t>
            </a:r>
            <a:endParaRPr/>
          </a:p>
        </p:txBody>
      </p:sp>
      <p:sp>
        <p:nvSpPr>
          <p:cNvPr id="1207" name="Google Shape;1207;p104"/>
          <p:cNvSpPr txBox="1"/>
          <p:nvPr>
            <p:ph idx="3" type="title"/>
          </p:nvPr>
        </p:nvSpPr>
        <p:spPr>
          <a:xfrm>
            <a:off x="1225200" y="37819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polynomials</a:t>
            </a:r>
            <a:endParaRPr/>
          </a:p>
        </p:txBody>
      </p:sp>
      <p:pic>
        <p:nvPicPr>
          <p:cNvPr id="1208" name="Google Shape;1208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42" y="2764742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104"/>
          <p:cNvSpPr txBox="1"/>
          <p:nvPr>
            <p:ph idx="2" type="title"/>
          </p:nvPr>
        </p:nvSpPr>
        <p:spPr>
          <a:xfrm>
            <a:off x="1225225" y="28412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  <p:sp>
        <p:nvSpPr>
          <p:cNvPr id="1210" name="Google Shape;1210;p104"/>
          <p:cNvSpPr txBox="1"/>
          <p:nvPr>
            <p:ph idx="4" type="title"/>
          </p:nvPr>
        </p:nvSpPr>
        <p:spPr>
          <a:xfrm>
            <a:off x="1225200" y="18224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10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  <p:pic>
        <p:nvPicPr>
          <p:cNvPr id="1216" name="Google Shape;1216;p10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354675" y="2359225"/>
            <a:ext cx="2546227" cy="93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000" y="26514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105"/>
          <p:cNvSpPr txBox="1"/>
          <p:nvPr/>
        </p:nvSpPr>
        <p:spPr>
          <a:xfrm>
            <a:off x="6660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9" name="Google Shape;1219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72057" y="28119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0" name="Google Shape;1220;p105"/>
          <p:cNvSpPr txBox="1"/>
          <p:nvPr/>
        </p:nvSpPr>
        <p:spPr>
          <a:xfrm>
            <a:off x="75928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1" name="Google Shape;1221;p105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115450" y="2058900"/>
            <a:ext cx="2722749" cy="1016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5"/>
          <p:cNvSpPr txBox="1"/>
          <p:nvPr/>
        </p:nvSpPr>
        <p:spPr>
          <a:xfrm>
            <a:off x="1398000" y="2058900"/>
            <a:ext cx="2304900" cy="8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what else can my calculator do?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105"/>
          <p:cNvSpPr txBox="1"/>
          <p:nvPr/>
        </p:nvSpPr>
        <p:spPr>
          <a:xfrm>
            <a:off x="5535675" y="2434525"/>
            <a:ext cx="21495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can solve some types of equations.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" name="Google Shape;1228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8300" y="810000"/>
            <a:ext cx="2310800" cy="3920626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106"/>
          <p:cNvSpPr txBox="1"/>
          <p:nvPr>
            <p:ph idx="1" type="body"/>
          </p:nvPr>
        </p:nvSpPr>
        <p:spPr>
          <a:xfrm>
            <a:off x="324000" y="810000"/>
            <a:ext cx="5385000" cy="3188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the ‘HOME’ screen, you can navigate down to see more options.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We are going to look at both ‘Equation’ and ‘Inequality’.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We will start with ‘Equation’.</a:t>
            </a:r>
            <a:endParaRPr/>
          </a:p>
        </p:txBody>
      </p:sp>
      <p:sp>
        <p:nvSpPr>
          <p:cNvPr id="1230" name="Google Shape;1230;p10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10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</a:t>
            </a:r>
            <a:r>
              <a:rPr lang="en-GB"/>
              <a:t>linear </a:t>
            </a:r>
            <a:r>
              <a:rPr lang="en-GB"/>
              <a:t>equations</a:t>
            </a:r>
            <a:endParaRPr/>
          </a:p>
        </p:txBody>
      </p:sp>
      <p:sp>
        <p:nvSpPr>
          <p:cNvPr id="1236" name="Google Shape;1236;p107"/>
          <p:cNvSpPr txBox="1"/>
          <p:nvPr>
            <p:ph idx="1" type="body"/>
          </p:nvPr>
        </p:nvSpPr>
        <p:spPr>
          <a:xfrm>
            <a:off x="324000" y="810000"/>
            <a:ext cx="82377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− 7 = 25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7" name="Google Shape;1237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000" y="26514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38" name="Google Shape;1238;p107"/>
          <p:cNvSpPr txBox="1"/>
          <p:nvPr/>
        </p:nvSpPr>
        <p:spPr>
          <a:xfrm>
            <a:off x="6660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9" name="Google Shape;1239;p107"/>
          <p:cNvPicPr preferRelativeResize="0"/>
          <p:nvPr/>
        </p:nvPicPr>
        <p:blipFill rotWithShape="1">
          <a:blip r:embed="rId4">
            <a:alphaModFix/>
          </a:blip>
          <a:srcRect b="6172" l="40550" r="0" t="13240"/>
          <a:stretch/>
        </p:blipFill>
        <p:spPr>
          <a:xfrm>
            <a:off x="1115450" y="1757225"/>
            <a:ext cx="2722749" cy="148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107"/>
          <p:cNvSpPr txBox="1"/>
          <p:nvPr/>
        </p:nvSpPr>
        <p:spPr>
          <a:xfrm>
            <a:off x="1398000" y="1849225"/>
            <a:ext cx="23049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already know how to do this! 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answer is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x equals 3 and five ninths&#10;&#10;&lt;math xmlns=&quot;http://www.w3.org/1998/Math/MathML&quot; display=&quot;block&quot; data-is-equatio=&quot;1&quot; data-latex=&quot;x=3\frac{5}{9}&quot;&gt;&lt;mi&gt;x&lt;/mi&gt;&lt;mo&gt;=&lt;/mo&gt;&lt;mn&gt;3&lt;/mn&gt;&lt;mfrac&gt;&lt;mn&gt;5&lt;/mn&gt;&lt;mn&gt;9&lt;/mn&gt;&lt;/mfrac&gt;&lt;/math&gt;" id="1241" name="Google Shape;1241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6425" y="2421125"/>
            <a:ext cx="741002" cy="51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107"/>
          <p:cNvSpPr txBox="1"/>
          <p:nvPr/>
        </p:nvSpPr>
        <p:spPr>
          <a:xfrm>
            <a:off x="4320000" y="1849225"/>
            <a:ext cx="4287000" cy="16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Aisha correct?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check by: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rearranging and solving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the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calculator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10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</a:t>
            </a:r>
            <a:r>
              <a:rPr lang="en-GB"/>
              <a:t>linear </a:t>
            </a:r>
            <a:r>
              <a:rPr lang="en-GB"/>
              <a:t>equations</a:t>
            </a:r>
            <a:endParaRPr/>
          </a:p>
        </p:txBody>
      </p:sp>
      <p:sp>
        <p:nvSpPr>
          <p:cNvPr id="1248" name="Google Shape;1248;p108"/>
          <p:cNvSpPr txBox="1"/>
          <p:nvPr>
            <p:ph idx="1" type="body"/>
          </p:nvPr>
        </p:nvSpPr>
        <p:spPr>
          <a:xfrm>
            <a:off x="324000" y="810000"/>
            <a:ext cx="82377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− 7 = 25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9" name="Google Shape;1249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331325"/>
            <a:ext cx="3686175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2875" y="1331325"/>
            <a:ext cx="3667125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1" name="Google Shape;1251;p108"/>
          <p:cNvSpPr txBox="1"/>
          <p:nvPr/>
        </p:nvSpPr>
        <p:spPr>
          <a:xfrm>
            <a:off x="324000" y="3240000"/>
            <a:ext cx="84960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From the home menu, select ‘Equation’ and then navigate to ‘Solver’.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6" name="Google Shape;1256;p109"/>
          <p:cNvPicPr preferRelativeResize="0"/>
          <p:nvPr/>
        </p:nvPicPr>
        <p:blipFill rotWithShape="1">
          <a:blip r:embed="rId3">
            <a:alphaModFix/>
          </a:blip>
          <a:srcRect b="0" l="0" r="20779" t="0"/>
          <a:stretch/>
        </p:blipFill>
        <p:spPr>
          <a:xfrm>
            <a:off x="4320000" y="1913250"/>
            <a:ext cx="28522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7" name="Google Shape;1257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750" y="1373725"/>
            <a:ext cx="3667125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p10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</a:t>
            </a:r>
            <a:r>
              <a:rPr lang="en-GB"/>
              <a:t>linear </a:t>
            </a:r>
            <a:r>
              <a:rPr lang="en-GB"/>
              <a:t>equations</a:t>
            </a:r>
            <a:endParaRPr/>
          </a:p>
        </p:txBody>
      </p:sp>
      <p:sp>
        <p:nvSpPr>
          <p:cNvPr id="1259" name="Google Shape;1259;p109"/>
          <p:cNvSpPr txBox="1"/>
          <p:nvPr>
            <p:ph idx="1" type="body"/>
          </p:nvPr>
        </p:nvSpPr>
        <p:spPr>
          <a:xfrm>
            <a:off x="324000" y="810000"/>
            <a:ext cx="82377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− 7 = 25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0" name="Google Shape;1260;p109"/>
          <p:cNvSpPr txBox="1"/>
          <p:nvPr>
            <p:ph idx="1" type="body"/>
          </p:nvPr>
        </p:nvSpPr>
        <p:spPr>
          <a:xfrm>
            <a:off x="324000" y="3415950"/>
            <a:ext cx="8496000" cy="695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To input the equation, we use the      button to represent the variable and the ‘=’ sign that is above the left parenthesis.</a:t>
            </a:r>
            <a:endParaRPr sz="2100"/>
          </a:p>
        </p:txBody>
      </p:sp>
      <p:pic>
        <p:nvPicPr>
          <p:cNvPr id="1261" name="Google Shape;1261;p109"/>
          <p:cNvPicPr preferRelativeResize="0"/>
          <p:nvPr/>
        </p:nvPicPr>
        <p:blipFill rotWithShape="1">
          <a:blip r:embed="rId5">
            <a:alphaModFix/>
          </a:blip>
          <a:srcRect b="0" l="0" r="0" t="12165"/>
          <a:stretch/>
        </p:blipFill>
        <p:spPr>
          <a:xfrm>
            <a:off x="4642525" y="3415950"/>
            <a:ext cx="362954" cy="30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6" name="Google Shape;1266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0" y="1913238"/>
            <a:ext cx="3600450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7" name="Google Shape;1267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263" y="1373713"/>
            <a:ext cx="3648075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1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</a:t>
            </a:r>
            <a:r>
              <a:rPr lang="en-GB"/>
              <a:t>linear </a:t>
            </a:r>
            <a:r>
              <a:rPr lang="en-GB"/>
              <a:t>equations</a:t>
            </a:r>
            <a:endParaRPr/>
          </a:p>
        </p:txBody>
      </p:sp>
      <p:sp>
        <p:nvSpPr>
          <p:cNvPr id="1269" name="Google Shape;1269;p110"/>
          <p:cNvSpPr txBox="1"/>
          <p:nvPr>
            <p:ph idx="1" type="body"/>
          </p:nvPr>
        </p:nvSpPr>
        <p:spPr>
          <a:xfrm>
            <a:off x="324000" y="810000"/>
            <a:ext cx="82377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− 7 = 25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0" name="Google Shape;1270;p110"/>
          <p:cNvSpPr txBox="1"/>
          <p:nvPr>
            <p:ph idx="1" type="body"/>
          </p:nvPr>
        </p:nvSpPr>
        <p:spPr>
          <a:xfrm>
            <a:off x="324000" y="3415950"/>
            <a:ext cx="84960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Press ‘EXE’. Navigate to the ‘Execute’ option and press ‘EXE’.</a:t>
            </a:r>
            <a:endParaRPr sz="2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5" name="Google Shape;1275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275" y="1373713"/>
            <a:ext cx="3676650" cy="1647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6" name="Google Shape;1276;p111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</a:t>
            </a:r>
            <a:r>
              <a:rPr lang="en-GB"/>
              <a:t>linear </a:t>
            </a:r>
            <a:r>
              <a:rPr lang="en-GB"/>
              <a:t>equations</a:t>
            </a:r>
            <a:endParaRPr/>
          </a:p>
        </p:txBody>
      </p:sp>
      <p:sp>
        <p:nvSpPr>
          <p:cNvPr id="1277" name="Google Shape;1277;p111"/>
          <p:cNvSpPr txBox="1"/>
          <p:nvPr>
            <p:ph idx="1" type="body"/>
          </p:nvPr>
        </p:nvSpPr>
        <p:spPr>
          <a:xfrm>
            <a:off x="324000" y="810000"/>
            <a:ext cx="82377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the equation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− 7 = 25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8" name="Google Shape;1278;p111"/>
          <p:cNvSpPr txBox="1"/>
          <p:nvPr>
            <p:ph idx="1" type="body"/>
          </p:nvPr>
        </p:nvSpPr>
        <p:spPr>
          <a:xfrm>
            <a:off x="324000" y="3415950"/>
            <a:ext cx="8496000" cy="119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The value for the variable is now displayed.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This mode can be used to solve linear equations with one variable.</a:t>
            </a:r>
            <a:endParaRPr sz="2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112"/>
          <p:cNvSpPr txBox="1"/>
          <p:nvPr>
            <p:ph idx="1" type="subTitle"/>
          </p:nvPr>
        </p:nvSpPr>
        <p:spPr>
          <a:xfrm>
            <a:off x="324000" y="3577125"/>
            <a:ext cx="810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Try it out for yourself. You should find that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4" name="Google Shape;1284;p112"/>
          <p:cNvSpPr txBox="1"/>
          <p:nvPr>
            <p:ph idx="2" type="subTitle"/>
          </p:nvPr>
        </p:nvSpPr>
        <p:spPr>
          <a:xfrm>
            <a:off x="324000" y="1080000"/>
            <a:ext cx="64335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‘Solver’ mode can solve this equation, without the need for rearrangement. </a:t>
            </a:r>
            <a:endParaRPr/>
          </a:p>
        </p:txBody>
      </p:sp>
      <p:sp>
        <p:nvSpPr>
          <p:cNvPr id="1285" name="Google Shape;1285;p112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</a:t>
            </a:r>
            <a:r>
              <a:rPr lang="en-GB"/>
              <a:t>linear </a:t>
            </a:r>
            <a:r>
              <a:rPr lang="en-GB"/>
              <a:t>equations</a:t>
            </a:r>
            <a:endParaRPr/>
          </a:p>
        </p:txBody>
      </p:sp>
      <p:pic>
        <p:nvPicPr>
          <p:cNvPr descr="the fraction with numerator 5 minus x and denominator 3 equals the fraction with numerator 3 minus x and denominator 5&#10;&#10;&lt;math xmlns=&quot;http://www.w3.org/1998/Math/MathML&quot; display=&quot;block&quot; data-is-equatio=&quot;1&quot; data-latex=&quot;\frac{5-x}{3}=\frac{3-x}{5}&quot;&gt;&lt;mfrac&gt;&lt;mrow&gt;&lt;mn&gt;5&lt;/mn&gt;&lt;mo&gt;−&lt;/mo&gt;&lt;mi&gt;x&lt;/mi&gt;&lt;/mrow&gt;&lt;mn&gt;3&lt;/mn&gt;&lt;/mfrac&gt;&lt;mo&gt;=&lt;/mo&gt;&lt;mfrac&gt;&lt;mrow&gt;&lt;mn&gt;3&lt;/mn&gt;&lt;mo&gt;−&lt;/mo&gt;&lt;mi&gt;x&lt;/mi&gt;&lt;/mrow&gt;&lt;mn&gt;5&lt;/mn&gt;&lt;/mfrac&gt;&lt;/math&gt;" id="1286" name="Google Shape;1286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1975" y="1108741"/>
            <a:ext cx="2095425" cy="723127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87" name="Google Shape;1287;p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9808" y="21132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113"/>
          <p:cNvSpPr txBox="1"/>
          <p:nvPr>
            <p:ph idx="1" type="subTitle"/>
          </p:nvPr>
        </p:nvSpPr>
        <p:spPr>
          <a:xfrm>
            <a:off x="324000" y="3577125"/>
            <a:ext cx="8109300" cy="84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Try it out for yourself. You will need to type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instead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into your calculator. You should find that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−3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3" name="Google Shape;1293;p113"/>
          <p:cNvSpPr txBox="1"/>
          <p:nvPr>
            <p:ph idx="2" type="subTitle"/>
          </p:nvPr>
        </p:nvSpPr>
        <p:spPr>
          <a:xfrm>
            <a:off x="324000" y="1080000"/>
            <a:ext cx="8496000" cy="8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‘Solver’ mode can solve this equation, without the need for rearrangement:</a:t>
            </a:r>
            <a:r>
              <a:rPr lang="en-GB"/>
              <a:t> 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4 = 5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+ 19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4" name="Google Shape;1294;p113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</a:t>
            </a:r>
            <a:r>
              <a:rPr lang="en-GB"/>
              <a:t>linear </a:t>
            </a:r>
            <a:r>
              <a:rPr lang="en-GB"/>
              <a:t>equations</a:t>
            </a:r>
            <a:endParaRPr/>
          </a:p>
        </p:txBody>
      </p:sp>
      <p:pic>
        <p:nvPicPr>
          <p:cNvPr id="1295" name="Google Shape;1295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9808" y="21132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" name="Google Shape;1300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7638" y="1702800"/>
            <a:ext cx="365760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11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</a:t>
            </a:r>
            <a:r>
              <a:rPr lang="en-GB"/>
              <a:t>linear </a:t>
            </a:r>
            <a:r>
              <a:rPr lang="en-GB"/>
              <a:t>equations</a:t>
            </a:r>
            <a:endParaRPr/>
          </a:p>
        </p:txBody>
      </p:sp>
      <p:sp>
        <p:nvSpPr>
          <p:cNvPr id="1302" name="Google Shape;1302;p114"/>
          <p:cNvSpPr txBox="1"/>
          <p:nvPr>
            <p:ph idx="1" type="body"/>
          </p:nvPr>
        </p:nvSpPr>
        <p:spPr>
          <a:xfrm>
            <a:off x="324000" y="810000"/>
            <a:ext cx="82377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Our </a:t>
            </a:r>
            <a:r>
              <a:rPr lang="en-GB"/>
              <a:t>calculator</a:t>
            </a:r>
            <a:r>
              <a:rPr lang="en-GB"/>
              <a:t> can also solve pairs of linear simultaneous equations.</a:t>
            </a:r>
            <a:endParaRPr/>
          </a:p>
        </p:txBody>
      </p:sp>
      <p:pic>
        <p:nvPicPr>
          <p:cNvPr id="1303" name="Google Shape;1303;p1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712325"/>
            <a:ext cx="3686175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4" name="Google Shape;1304;p114"/>
          <p:cNvSpPr txBox="1"/>
          <p:nvPr/>
        </p:nvSpPr>
        <p:spPr>
          <a:xfrm>
            <a:off x="324000" y="3621000"/>
            <a:ext cx="84960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From the home menu, select ‘Equation’ and then navigate to ‘Simul Equation’. Then select ‘2 Unknowns’.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1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  <p:sp>
        <p:nvSpPr>
          <p:cNvPr id="1310" name="Google Shape;1310;p115"/>
          <p:cNvSpPr txBox="1"/>
          <p:nvPr>
            <p:ph idx="1" type="body"/>
          </p:nvPr>
        </p:nvSpPr>
        <p:spPr>
          <a:xfrm>
            <a:off x="324000" y="810000"/>
            <a:ext cx="8496000" cy="7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Your calculator will only accept equations in the form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100"/>
              <a:t> so it may be necessary to rearrange before inputting.</a:t>
            </a:r>
            <a:endParaRPr sz="2100"/>
          </a:p>
        </p:txBody>
      </p:sp>
      <p:sp>
        <p:nvSpPr>
          <p:cNvPr id="1311" name="Google Shape;1311;p115"/>
          <p:cNvSpPr txBox="1"/>
          <p:nvPr/>
        </p:nvSpPr>
        <p:spPr>
          <a:xfrm>
            <a:off x="324000" y="3621000"/>
            <a:ext cx="84960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calculator uses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so it is important that you know which variable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representing and which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variable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representing.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115"/>
          <p:cNvSpPr txBox="1"/>
          <p:nvPr/>
        </p:nvSpPr>
        <p:spPr>
          <a:xfrm>
            <a:off x="324010" y="1757262"/>
            <a:ext cx="158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+ 8 = 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115"/>
          <p:cNvSpPr txBox="1"/>
          <p:nvPr/>
        </p:nvSpPr>
        <p:spPr>
          <a:xfrm>
            <a:off x="324010" y="2484753"/>
            <a:ext cx="138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115"/>
          <p:cNvSpPr txBox="1"/>
          <p:nvPr/>
        </p:nvSpPr>
        <p:spPr>
          <a:xfrm>
            <a:off x="2914810" y="1757262"/>
            <a:ext cx="158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−8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115"/>
          <p:cNvSpPr txBox="1"/>
          <p:nvPr/>
        </p:nvSpPr>
        <p:spPr>
          <a:xfrm>
            <a:off x="2914810" y="2484753"/>
            <a:ext cx="138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6" name="Google Shape;1316;p115"/>
          <p:cNvCxnSpPr>
            <a:stCxn id="1312" idx="3"/>
          </p:cNvCxnSpPr>
          <p:nvPr/>
        </p:nvCxnSpPr>
        <p:spPr>
          <a:xfrm>
            <a:off x="1913110" y="1948662"/>
            <a:ext cx="869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7" name="Google Shape;1317;p115"/>
          <p:cNvCxnSpPr/>
          <p:nvPr/>
        </p:nvCxnSpPr>
        <p:spPr>
          <a:xfrm>
            <a:off x="1913110" y="2710662"/>
            <a:ext cx="869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11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  <p:sp>
        <p:nvSpPr>
          <p:cNvPr id="1323" name="Google Shape;1323;p116"/>
          <p:cNvSpPr txBox="1"/>
          <p:nvPr>
            <p:ph idx="1" type="body"/>
          </p:nvPr>
        </p:nvSpPr>
        <p:spPr>
          <a:xfrm>
            <a:off x="324000" y="810000"/>
            <a:ext cx="8496000" cy="7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Your calculator will only accept equations in the form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100"/>
              <a:t> so it may be necessary to rearrange before inputting.</a:t>
            </a:r>
            <a:endParaRPr sz="2100"/>
          </a:p>
        </p:txBody>
      </p:sp>
      <p:sp>
        <p:nvSpPr>
          <p:cNvPr id="1324" name="Google Shape;1324;p116"/>
          <p:cNvSpPr txBox="1"/>
          <p:nvPr/>
        </p:nvSpPr>
        <p:spPr>
          <a:xfrm>
            <a:off x="324000" y="3621000"/>
            <a:ext cx="84960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 careful with any negative values.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116"/>
          <p:cNvSpPr txBox="1"/>
          <p:nvPr/>
        </p:nvSpPr>
        <p:spPr>
          <a:xfrm>
            <a:off x="324010" y="1757262"/>
            <a:ext cx="158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+ 8 = 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116"/>
          <p:cNvSpPr txBox="1"/>
          <p:nvPr/>
        </p:nvSpPr>
        <p:spPr>
          <a:xfrm>
            <a:off x="324010" y="2484753"/>
            <a:ext cx="138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116"/>
          <p:cNvSpPr txBox="1"/>
          <p:nvPr/>
        </p:nvSpPr>
        <p:spPr>
          <a:xfrm>
            <a:off x="2914810" y="1757262"/>
            <a:ext cx="158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−8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116"/>
          <p:cNvSpPr txBox="1"/>
          <p:nvPr/>
        </p:nvSpPr>
        <p:spPr>
          <a:xfrm>
            <a:off x="2914810" y="2484753"/>
            <a:ext cx="138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9" name="Google Shape;1329;p116"/>
          <p:cNvCxnSpPr>
            <a:stCxn id="1325" idx="3"/>
          </p:cNvCxnSpPr>
          <p:nvPr/>
        </p:nvCxnSpPr>
        <p:spPr>
          <a:xfrm>
            <a:off x="1913110" y="1948662"/>
            <a:ext cx="869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0" name="Google Shape;1330;p116"/>
          <p:cNvCxnSpPr/>
          <p:nvPr/>
        </p:nvCxnSpPr>
        <p:spPr>
          <a:xfrm>
            <a:off x="1913110" y="2710662"/>
            <a:ext cx="869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31" name="Google Shape;1331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360" y="1700425"/>
            <a:ext cx="3676650" cy="1647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2" name="Google Shape;1332;p116"/>
          <p:cNvCxnSpPr/>
          <p:nvPr/>
        </p:nvCxnSpPr>
        <p:spPr>
          <a:xfrm flipH="1" rot="10800000">
            <a:off x="5067135" y="2571612"/>
            <a:ext cx="1509300" cy="12084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3" name="Google Shape;1333;p116"/>
          <p:cNvCxnSpPr/>
          <p:nvPr/>
        </p:nvCxnSpPr>
        <p:spPr>
          <a:xfrm flipH="1" rot="10800000">
            <a:off x="5060550" y="2405975"/>
            <a:ext cx="2330400" cy="1380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117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  <p:sp>
        <p:nvSpPr>
          <p:cNvPr id="1339" name="Google Shape;1339;p117"/>
          <p:cNvSpPr txBox="1"/>
          <p:nvPr>
            <p:ph idx="1" type="body"/>
          </p:nvPr>
        </p:nvSpPr>
        <p:spPr>
          <a:xfrm>
            <a:off x="324000" y="810000"/>
            <a:ext cx="8496000" cy="730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Your calculator will only accept equations in the form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3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100"/>
              <a:t> so it may be necessary to rearrange before inputting.</a:t>
            </a:r>
            <a:endParaRPr sz="2100"/>
          </a:p>
        </p:txBody>
      </p:sp>
      <p:sp>
        <p:nvSpPr>
          <p:cNvPr id="1340" name="Google Shape;1340;p117"/>
          <p:cNvSpPr txBox="1"/>
          <p:nvPr/>
        </p:nvSpPr>
        <p:spPr>
          <a:xfrm>
            <a:off x="324000" y="3212250"/>
            <a:ext cx="8496000" cy="11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Pressing ‘EXE’ gives one value and pressing ‘EXE’ again shows the second value.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can interpret this as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1.8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−9.8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117"/>
          <p:cNvSpPr txBox="1"/>
          <p:nvPr/>
        </p:nvSpPr>
        <p:spPr>
          <a:xfrm>
            <a:off x="324010" y="1757262"/>
            <a:ext cx="158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+ 8 = 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2" name="Google Shape;1342;p117"/>
          <p:cNvSpPr txBox="1"/>
          <p:nvPr/>
        </p:nvSpPr>
        <p:spPr>
          <a:xfrm>
            <a:off x="324010" y="2484753"/>
            <a:ext cx="138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117"/>
          <p:cNvSpPr txBox="1"/>
          <p:nvPr/>
        </p:nvSpPr>
        <p:spPr>
          <a:xfrm>
            <a:off x="2914810" y="1757262"/>
            <a:ext cx="158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−8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117"/>
          <p:cNvSpPr txBox="1"/>
          <p:nvPr/>
        </p:nvSpPr>
        <p:spPr>
          <a:xfrm>
            <a:off x="2914810" y="2484753"/>
            <a:ext cx="138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45" name="Google Shape;1345;p117"/>
          <p:cNvCxnSpPr>
            <a:stCxn id="1341" idx="3"/>
          </p:cNvCxnSpPr>
          <p:nvPr/>
        </p:nvCxnSpPr>
        <p:spPr>
          <a:xfrm>
            <a:off x="1913110" y="1948662"/>
            <a:ext cx="869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6" name="Google Shape;1346;p117"/>
          <p:cNvCxnSpPr/>
          <p:nvPr/>
        </p:nvCxnSpPr>
        <p:spPr>
          <a:xfrm>
            <a:off x="1913110" y="2710662"/>
            <a:ext cx="8697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47" name="Google Shape;1347;p117"/>
          <p:cNvPicPr preferRelativeResize="0"/>
          <p:nvPr/>
        </p:nvPicPr>
        <p:blipFill rotWithShape="1">
          <a:blip r:embed="rId3">
            <a:alphaModFix/>
          </a:blip>
          <a:srcRect b="0" l="6557" r="8725" t="12617"/>
          <a:stretch/>
        </p:blipFill>
        <p:spPr>
          <a:xfrm>
            <a:off x="4434575" y="1757250"/>
            <a:ext cx="2169825" cy="997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117"/>
          <p:cNvPicPr preferRelativeResize="0"/>
          <p:nvPr/>
        </p:nvPicPr>
        <p:blipFill rotWithShape="1">
          <a:blip r:embed="rId4">
            <a:alphaModFix/>
          </a:blip>
          <a:srcRect b="0" l="6087" r="8529" t="12617"/>
          <a:stretch/>
        </p:blipFill>
        <p:spPr>
          <a:xfrm>
            <a:off x="6650175" y="1757250"/>
            <a:ext cx="2169825" cy="997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118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  <p:sp>
        <p:nvSpPr>
          <p:cNvPr id="1354" name="Google Shape;1354;p118"/>
          <p:cNvSpPr txBox="1"/>
          <p:nvPr>
            <p:ph idx="1" type="subTitle"/>
          </p:nvPr>
        </p:nvSpPr>
        <p:spPr>
          <a:xfrm>
            <a:off x="324000" y="3577125"/>
            <a:ext cx="8109300" cy="947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</a:t>
            </a:r>
            <a:r>
              <a:rPr lang="en-GB"/>
              <a:t>quations must be in the form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Sometimes it is necessary to rearrange first.</a:t>
            </a:r>
            <a:endParaRPr/>
          </a:p>
        </p:txBody>
      </p:sp>
      <p:sp>
        <p:nvSpPr>
          <p:cNvPr id="1355" name="Google Shape;1355;p118"/>
          <p:cNvSpPr txBox="1"/>
          <p:nvPr>
            <p:ph idx="2" type="subTitle"/>
          </p:nvPr>
        </p:nvSpPr>
        <p:spPr>
          <a:xfrm>
            <a:off x="324000" y="1080000"/>
            <a:ext cx="84960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enter any pair of simultaneous equations into your calculator without needing to rearrange.</a:t>
            </a:r>
            <a:endParaRPr/>
          </a:p>
        </p:txBody>
      </p:sp>
      <p:pic>
        <p:nvPicPr>
          <p:cNvPr id="1356" name="Google Shape;1356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1583" y="2024217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119"/>
          <p:cNvSpPr txBox="1"/>
          <p:nvPr>
            <p:ph idx="1" type="body"/>
          </p:nvPr>
        </p:nvSpPr>
        <p:spPr>
          <a:xfrm>
            <a:off x="324000" y="810000"/>
            <a:ext cx="8237700" cy="17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Solve the following without using a calculator and then check your answers using the calculator.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Which way of solving is faster?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b)                                  c)  </a:t>
            </a:r>
            <a:endParaRPr/>
          </a:p>
        </p:txBody>
      </p:sp>
      <p:sp>
        <p:nvSpPr>
          <p:cNvPr id="1362" name="Google Shape;1362;p119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  <p:pic>
        <p:nvPicPr>
          <p:cNvPr descr="one half x plus 7 equals 25 the fraction with numerator 3 x minus 5 and denominator 2 equals the fraction with numerator 2 x plus 1 and denominator 10 8 times open paren y plus 5 close paren equals 13 minus the fraction with numerator y plus 5 and denominator 2&#10;&#10;&lt;math xmlns=&quot;http://www.w3.org/1998/Math/MathML&quot; display=&quot;block&quot; data-is-equatio=&quot;1&quot; data-latex=&quot;\frac{1}{2}x+7=25\ \ \ \ \ \frac{3x-5}{2}=\frac{2x+1}{10}\ \ \ \ \ 8\left(y+5\right)=13-\frac{y+5}{2}&quot;&gt;&lt;mfrac&gt;&lt;mn&gt;1&lt;/mn&gt;&lt;mn&gt;2&lt;/mn&gt;&lt;/mfrac&gt;&lt;mi&gt;x&lt;/mi&gt;&lt;mo&gt;+&lt;/mo&gt;&lt;mn&gt;7&lt;/mn&gt;&lt;mo&gt;=&lt;/mo&gt;&lt;mn&gt;25&lt;/mn&gt;&lt;mtext&gt;&lt;/mtext&gt;&lt;mtext&gt;&lt;/mtext&gt;&lt;mtext&gt;&lt;/mtext&gt;&lt;mtext&gt;&lt;/mtext&gt;&lt;mtext&gt;&lt;/mtext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mtext&gt;&lt;/mtext&gt;&lt;mtext&gt;&lt;/mtext&gt;&lt;mtext&gt;&lt;/mtext&gt;&lt;mtext&gt;&lt;/mtext&gt;&lt;mtext&gt;&lt;/mtext&gt;&lt;mn&gt;8&lt;/mn&gt;&lt;mrow data-mjx-texclass=&quot;INNER&quot;&gt;&lt;mo data-mjx-texclass=&quot;OPEN&quot;&gt;(&lt;/mo&gt;&lt;mi&gt;y&lt;/mi&gt;&lt;mo&gt;+&lt;/mo&gt;&lt;mn&gt;5&lt;/mn&gt;&lt;mo data-mjx-texclass=&quot;CLOSE&quot;&gt;)&lt;/mo&gt;&lt;/mrow&gt;&lt;mo&gt;=&lt;/mo&gt;&lt;mn&gt;13&lt;/mn&gt;&lt;mo&gt;−&lt;/mo&gt;&lt;mfrac&gt;&lt;mrow&gt;&lt;mi&gt;y&lt;/mi&gt;&lt;mo&gt;+&lt;/mo&gt;&lt;mn&gt;5&lt;/mn&gt;&lt;/mrow&gt;&lt;mn&gt;2&lt;/mn&gt;&lt;/mfrac&gt;&lt;/math&gt;" id="1363" name="Google Shape;1363;p119"/>
          <p:cNvPicPr preferRelativeResize="0"/>
          <p:nvPr/>
        </p:nvPicPr>
        <p:blipFill rotWithShape="1">
          <a:blip r:embed="rId3">
            <a:alphaModFix/>
          </a:blip>
          <a:srcRect b="0" l="61700" r="0" t="0"/>
          <a:stretch/>
        </p:blipFill>
        <p:spPr>
          <a:xfrm>
            <a:off x="5930575" y="2074066"/>
            <a:ext cx="2798024" cy="64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ne half x plus 7 equals 25 the fraction with numerator 3 x minus 5 and denominator 2 equals the fraction with numerator 2 x plus 1 and denominator 10 8 times open paren y plus 5 close paren equals 13 minus the fraction with numerator y plus 5 and denominator 2&#10;&#10;&lt;math xmlns=&quot;http://www.w3.org/1998/Math/MathML&quot; display=&quot;block&quot; data-is-equatio=&quot;1&quot; data-latex=&quot;\frac{1}{2}x+7=25\ \ \ \ \ \frac{3x-5}{2}=\frac{2x+1}{10}\ \ \ \ \ 8\left(y+5\right)=13-\frac{y+5}{2}&quot;&gt;&lt;mfrac&gt;&lt;mn&gt;1&lt;/mn&gt;&lt;mn&gt;2&lt;/mn&gt;&lt;/mfrac&gt;&lt;mi&gt;x&lt;/mi&gt;&lt;mo&gt;+&lt;/mo&gt;&lt;mn&gt;7&lt;/mn&gt;&lt;mo&gt;=&lt;/mo&gt;&lt;mn&gt;25&lt;/mn&gt;&lt;mtext&gt;&lt;/mtext&gt;&lt;mtext&gt;&lt;/mtext&gt;&lt;mtext&gt;&lt;/mtext&gt;&lt;mtext&gt;&lt;/mtext&gt;&lt;mtext&gt;&lt;/mtext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mtext&gt;&lt;/mtext&gt;&lt;mtext&gt;&lt;/mtext&gt;&lt;mtext&gt;&lt;/mtext&gt;&lt;mtext&gt;&lt;/mtext&gt;&lt;mtext&gt;&lt;/mtext&gt;&lt;mn&gt;8&lt;/mn&gt;&lt;mrow data-mjx-texclass=&quot;INNER&quot;&gt;&lt;mo data-mjx-texclass=&quot;OPEN&quot;&gt;(&lt;/mo&gt;&lt;mi&gt;y&lt;/mi&gt;&lt;mo&gt;+&lt;/mo&gt;&lt;mn&gt;5&lt;/mn&gt;&lt;mo data-mjx-texclass=&quot;CLOSE&quot;&gt;)&lt;/mo&gt;&lt;/mrow&gt;&lt;mo&gt;=&lt;/mo&gt;&lt;mn&gt;13&lt;/mn&gt;&lt;mo&gt;−&lt;/mo&gt;&lt;mfrac&gt;&lt;mrow&gt;&lt;mi&gt;y&lt;/mi&gt;&lt;mo&gt;+&lt;/mo&gt;&lt;mn&gt;5&lt;/mn&gt;&lt;/mrow&gt;&lt;mn&gt;2&lt;/mn&gt;&lt;/mfrac&gt;&lt;/math&gt;" id="1364" name="Google Shape;1364;p119"/>
          <p:cNvPicPr preferRelativeResize="0"/>
          <p:nvPr/>
        </p:nvPicPr>
        <p:blipFill rotWithShape="1">
          <a:blip r:embed="rId3">
            <a:alphaModFix/>
          </a:blip>
          <a:srcRect b="0" l="26475" r="43380" t="0"/>
          <a:stretch/>
        </p:blipFill>
        <p:spPr>
          <a:xfrm>
            <a:off x="2945888" y="2074075"/>
            <a:ext cx="2202200" cy="64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ne half x plus 7 equals 25 the fraction with numerator 3 x minus 5 and denominator 2 equals the fraction with numerator 2 x plus 1 and denominator 10 8 times open paren y plus 5 close paren equals 13 minus the fraction with numerator y plus 5 and denominator 2&#10;&#10;&lt;math xmlns=&quot;http://www.w3.org/1998/Math/MathML&quot; display=&quot;block&quot; data-is-equatio=&quot;1&quot; data-latex=&quot;\frac{1}{2}x+7=25\ \ \ \ \ \frac{3x-5}{2}=\frac{2x+1}{10}\ \ \ \ \ 8\left(y+5\right)=13-\frac{y+5}{2}&quot;&gt;&lt;mfrac&gt;&lt;mn&gt;1&lt;/mn&gt;&lt;mn&gt;2&lt;/mn&gt;&lt;/mfrac&gt;&lt;mi&gt;x&lt;/mi&gt;&lt;mo&gt;+&lt;/mo&gt;&lt;mn&gt;7&lt;/mn&gt;&lt;mo&gt;=&lt;/mo&gt;&lt;mn&gt;25&lt;/mn&gt;&lt;mtext&gt;&lt;/mtext&gt;&lt;mtext&gt;&lt;/mtext&gt;&lt;mtext&gt;&lt;/mtext&gt;&lt;mtext&gt;&lt;/mtext&gt;&lt;mtext&gt;&lt;/mtext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mtext&gt;&lt;/mtext&gt;&lt;mtext&gt;&lt;/mtext&gt;&lt;mtext&gt;&lt;/mtext&gt;&lt;mtext&gt;&lt;/mtext&gt;&lt;mtext&gt;&lt;/mtext&gt;&lt;mn&gt;8&lt;/mn&gt;&lt;mrow data-mjx-texclass=&quot;INNER&quot;&gt;&lt;mo data-mjx-texclass=&quot;OPEN&quot;&gt;(&lt;/mo&gt;&lt;mi&gt;y&lt;/mi&gt;&lt;mo&gt;+&lt;/mo&gt;&lt;mn&gt;5&lt;/mn&gt;&lt;mo data-mjx-texclass=&quot;CLOSE&quot;&gt;)&lt;/mo&gt;&lt;/mrow&gt;&lt;mo&gt;=&lt;/mo&gt;&lt;mn&gt;13&lt;/mn&gt;&lt;mo&gt;−&lt;/mo&gt;&lt;mfrac&gt;&lt;mrow&gt;&lt;mi&gt;y&lt;/mi&gt;&lt;mo&gt;+&lt;/mo&gt;&lt;mn&gt;5&lt;/mn&gt;&lt;/mrow&gt;&lt;mn&gt;2&lt;/mn&gt;&lt;/mfrac&gt;&lt;/math&gt;" id="1365" name="Google Shape;1365;p119"/>
          <p:cNvPicPr preferRelativeResize="0"/>
          <p:nvPr/>
        </p:nvPicPr>
        <p:blipFill rotWithShape="1">
          <a:blip r:embed="rId3">
            <a:alphaModFix/>
          </a:blip>
          <a:srcRect b="0" l="0" r="78271" t="0"/>
          <a:stretch/>
        </p:blipFill>
        <p:spPr>
          <a:xfrm>
            <a:off x="667284" y="2074075"/>
            <a:ext cx="1587425" cy="64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120"/>
          <p:cNvSpPr txBox="1"/>
          <p:nvPr>
            <p:ph idx="1" type="body"/>
          </p:nvPr>
        </p:nvSpPr>
        <p:spPr>
          <a:xfrm>
            <a:off x="324000" y="810000"/>
            <a:ext cx="8237700" cy="12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Solve the following pairs of simultaneous equations using your calculator.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                       b)                                 </a:t>
            </a:r>
            <a:endParaRPr/>
          </a:p>
        </p:txBody>
      </p:sp>
      <p:sp>
        <p:nvSpPr>
          <p:cNvPr id="1371" name="Google Shape;1371;p120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  <p:sp>
        <p:nvSpPr>
          <p:cNvPr id="1372" name="Google Shape;1372;p120"/>
          <p:cNvSpPr txBox="1"/>
          <p:nvPr/>
        </p:nvSpPr>
        <p:spPr>
          <a:xfrm>
            <a:off x="873751" y="2054316"/>
            <a:ext cx="1560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120"/>
          <p:cNvSpPr txBox="1"/>
          <p:nvPr/>
        </p:nvSpPr>
        <p:spPr>
          <a:xfrm>
            <a:off x="888834" y="1707836"/>
            <a:ext cx="1560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120"/>
          <p:cNvSpPr txBox="1"/>
          <p:nvPr/>
        </p:nvSpPr>
        <p:spPr>
          <a:xfrm>
            <a:off x="5066308" y="1714984"/>
            <a:ext cx="158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20"/>
          <p:cNvSpPr txBox="1"/>
          <p:nvPr/>
        </p:nvSpPr>
        <p:spPr>
          <a:xfrm>
            <a:off x="5052368" y="2057128"/>
            <a:ext cx="138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+ 3 = 7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121"/>
          <p:cNvSpPr txBox="1"/>
          <p:nvPr>
            <p:ph idx="1" type="body"/>
          </p:nvPr>
        </p:nvSpPr>
        <p:spPr>
          <a:xfrm>
            <a:off x="324000" y="810000"/>
            <a:ext cx="8237700" cy="1763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Solve the following without using a calculator and then check your answers using the calculator.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Which way of solving is faster?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b)                                  c)  </a:t>
            </a:r>
            <a:endParaRPr/>
          </a:p>
        </p:txBody>
      </p:sp>
      <p:sp>
        <p:nvSpPr>
          <p:cNvPr id="1381" name="Google Shape;1381;p121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  <p:pic>
        <p:nvPicPr>
          <p:cNvPr descr="one half x plus 7 equals 25 the fraction with numerator 3 x minus 5 and denominator 2 equals the fraction with numerator 2 x plus 1 and denominator 10 8 times open paren y plus 5 close paren equals 13 minus the fraction with numerator y plus 5 and denominator 2&#10;&#10;&lt;math xmlns=&quot;http://www.w3.org/1998/Math/MathML&quot; display=&quot;block&quot; data-is-equatio=&quot;1&quot; data-latex=&quot;\frac{1}{2}x+7=25\ \ \ \ \ \frac{3x-5}{2}=\frac{2x+1}{10}\ \ \ \ \ 8\left(y+5\right)=13-\frac{y+5}{2}&quot;&gt;&lt;mfrac&gt;&lt;mn&gt;1&lt;/mn&gt;&lt;mn&gt;2&lt;/mn&gt;&lt;/mfrac&gt;&lt;mi&gt;x&lt;/mi&gt;&lt;mo&gt;+&lt;/mo&gt;&lt;mn&gt;7&lt;/mn&gt;&lt;mo&gt;=&lt;/mo&gt;&lt;mn&gt;25&lt;/mn&gt;&lt;mtext&gt;&lt;/mtext&gt;&lt;mtext&gt;&lt;/mtext&gt;&lt;mtext&gt;&lt;/mtext&gt;&lt;mtext&gt;&lt;/mtext&gt;&lt;mtext&gt;&lt;/mtext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mtext&gt;&lt;/mtext&gt;&lt;mtext&gt;&lt;/mtext&gt;&lt;mtext&gt;&lt;/mtext&gt;&lt;mtext&gt;&lt;/mtext&gt;&lt;mtext&gt;&lt;/mtext&gt;&lt;mn&gt;8&lt;/mn&gt;&lt;mrow data-mjx-texclass=&quot;INNER&quot;&gt;&lt;mo data-mjx-texclass=&quot;OPEN&quot;&gt;(&lt;/mo&gt;&lt;mi&gt;y&lt;/mi&gt;&lt;mo&gt;+&lt;/mo&gt;&lt;mn&gt;5&lt;/mn&gt;&lt;mo data-mjx-texclass=&quot;CLOSE&quot;&gt;)&lt;/mo&gt;&lt;/mrow&gt;&lt;mo&gt;=&lt;/mo&gt;&lt;mn&gt;13&lt;/mn&gt;&lt;mo&gt;−&lt;/mo&gt;&lt;mfrac&gt;&lt;mrow&gt;&lt;mi&gt;y&lt;/mi&gt;&lt;mo&gt;+&lt;/mo&gt;&lt;mn&gt;5&lt;/mn&gt;&lt;/mrow&gt;&lt;mn&gt;2&lt;/mn&gt;&lt;/mfrac&gt;&lt;/math&gt;" id="1382" name="Google Shape;1382;p121"/>
          <p:cNvPicPr preferRelativeResize="0"/>
          <p:nvPr/>
        </p:nvPicPr>
        <p:blipFill rotWithShape="1">
          <a:blip r:embed="rId3">
            <a:alphaModFix/>
          </a:blip>
          <a:srcRect b="0" l="61700" r="0" t="0"/>
          <a:stretch/>
        </p:blipFill>
        <p:spPr>
          <a:xfrm>
            <a:off x="5930575" y="2150266"/>
            <a:ext cx="2798024" cy="64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ne half x plus 7 equals 25 the fraction with numerator 3 x minus 5 and denominator 2 equals the fraction with numerator 2 x plus 1 and denominator 10 8 times open paren y plus 5 close paren equals 13 minus the fraction with numerator y plus 5 and denominator 2&#10;&#10;&lt;math xmlns=&quot;http://www.w3.org/1998/Math/MathML&quot; display=&quot;block&quot; data-is-equatio=&quot;1&quot; data-latex=&quot;\frac{1}{2}x+7=25\ \ \ \ \ \frac{3x-5}{2}=\frac{2x+1}{10}\ \ \ \ \ 8\left(y+5\right)=13-\frac{y+5}{2}&quot;&gt;&lt;mfrac&gt;&lt;mn&gt;1&lt;/mn&gt;&lt;mn&gt;2&lt;/mn&gt;&lt;/mfrac&gt;&lt;mi&gt;x&lt;/mi&gt;&lt;mo&gt;+&lt;/mo&gt;&lt;mn&gt;7&lt;/mn&gt;&lt;mo&gt;=&lt;/mo&gt;&lt;mn&gt;25&lt;/mn&gt;&lt;mtext&gt;&lt;/mtext&gt;&lt;mtext&gt;&lt;/mtext&gt;&lt;mtext&gt;&lt;/mtext&gt;&lt;mtext&gt;&lt;/mtext&gt;&lt;mtext&gt;&lt;/mtext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mtext&gt;&lt;/mtext&gt;&lt;mtext&gt;&lt;/mtext&gt;&lt;mtext&gt;&lt;/mtext&gt;&lt;mtext&gt;&lt;/mtext&gt;&lt;mtext&gt;&lt;/mtext&gt;&lt;mn&gt;8&lt;/mn&gt;&lt;mrow data-mjx-texclass=&quot;INNER&quot;&gt;&lt;mo data-mjx-texclass=&quot;OPEN&quot;&gt;(&lt;/mo&gt;&lt;mi&gt;y&lt;/mi&gt;&lt;mo&gt;+&lt;/mo&gt;&lt;mn&gt;5&lt;/mn&gt;&lt;mo data-mjx-texclass=&quot;CLOSE&quot;&gt;)&lt;/mo&gt;&lt;/mrow&gt;&lt;mo&gt;=&lt;/mo&gt;&lt;mn&gt;13&lt;/mn&gt;&lt;mo&gt;−&lt;/mo&gt;&lt;mfrac&gt;&lt;mrow&gt;&lt;mi&gt;y&lt;/mi&gt;&lt;mo&gt;+&lt;/mo&gt;&lt;mn&gt;5&lt;/mn&gt;&lt;/mrow&gt;&lt;mn&gt;2&lt;/mn&gt;&lt;/mfrac&gt;&lt;/math&gt;" id="1383" name="Google Shape;1383;p121"/>
          <p:cNvPicPr preferRelativeResize="0"/>
          <p:nvPr/>
        </p:nvPicPr>
        <p:blipFill rotWithShape="1">
          <a:blip r:embed="rId3">
            <a:alphaModFix/>
          </a:blip>
          <a:srcRect b="0" l="26475" r="43380" t="0"/>
          <a:stretch/>
        </p:blipFill>
        <p:spPr>
          <a:xfrm>
            <a:off x="2945888" y="2150275"/>
            <a:ext cx="2202200" cy="64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ne half x plus 7 equals 25 the fraction with numerator 3 x minus 5 and denominator 2 equals the fraction with numerator 2 x plus 1 and denominator 10 8 times open paren y plus 5 close paren equals 13 minus the fraction with numerator y plus 5 and denominator 2&#10;&#10;&lt;math xmlns=&quot;http://www.w3.org/1998/Math/MathML&quot; display=&quot;block&quot; data-is-equatio=&quot;1&quot; data-latex=&quot;\frac{1}{2}x+7=25\ \ \ \ \ \frac{3x-5}{2}=\frac{2x+1}{10}\ \ \ \ \ 8\left(y+5\right)=13-\frac{y+5}{2}&quot;&gt;&lt;mfrac&gt;&lt;mn&gt;1&lt;/mn&gt;&lt;mn&gt;2&lt;/mn&gt;&lt;/mfrac&gt;&lt;mi&gt;x&lt;/mi&gt;&lt;mo&gt;+&lt;/mo&gt;&lt;mn&gt;7&lt;/mn&gt;&lt;mo&gt;=&lt;/mo&gt;&lt;mn&gt;25&lt;/mn&gt;&lt;mtext&gt;&lt;/mtext&gt;&lt;mtext&gt;&lt;/mtext&gt;&lt;mtext&gt;&lt;/mtext&gt;&lt;mtext&gt;&lt;/mtext&gt;&lt;mtext&gt;&lt;/mtext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mtext&gt;&lt;/mtext&gt;&lt;mtext&gt;&lt;/mtext&gt;&lt;mtext&gt;&lt;/mtext&gt;&lt;mtext&gt;&lt;/mtext&gt;&lt;mtext&gt;&lt;/mtext&gt;&lt;mn&gt;8&lt;/mn&gt;&lt;mrow data-mjx-texclass=&quot;INNER&quot;&gt;&lt;mo data-mjx-texclass=&quot;OPEN&quot;&gt;(&lt;/mo&gt;&lt;mi&gt;y&lt;/mi&gt;&lt;mo&gt;+&lt;/mo&gt;&lt;mn&gt;5&lt;/mn&gt;&lt;mo data-mjx-texclass=&quot;CLOSE&quot;&gt;)&lt;/mo&gt;&lt;/mrow&gt;&lt;mo&gt;=&lt;/mo&gt;&lt;mn&gt;13&lt;/mn&gt;&lt;mo&gt;−&lt;/mo&gt;&lt;mfrac&gt;&lt;mrow&gt;&lt;mi&gt;y&lt;/mi&gt;&lt;mo&gt;+&lt;/mo&gt;&lt;mn&gt;5&lt;/mn&gt;&lt;/mrow&gt;&lt;mn&gt;2&lt;/mn&gt;&lt;/mfrac&gt;&lt;/math&gt;" id="1384" name="Google Shape;1384;p121"/>
          <p:cNvPicPr preferRelativeResize="0"/>
          <p:nvPr/>
        </p:nvPicPr>
        <p:blipFill rotWithShape="1">
          <a:blip r:embed="rId3">
            <a:alphaModFix/>
          </a:blip>
          <a:srcRect b="0" l="0" r="78271" t="0"/>
          <a:stretch/>
        </p:blipFill>
        <p:spPr>
          <a:xfrm>
            <a:off x="667284" y="2150275"/>
            <a:ext cx="1587425" cy="64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21"/>
          <p:cNvSpPr txBox="1"/>
          <p:nvPr>
            <p:ph idx="4294967295" type="subTitle"/>
          </p:nvPr>
        </p:nvSpPr>
        <p:spPr>
          <a:xfrm>
            <a:off x="1429275" y="3131550"/>
            <a:ext cx="845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36</a:t>
            </a:r>
            <a:endParaRPr/>
          </a:p>
        </p:txBody>
      </p:sp>
      <p:sp>
        <p:nvSpPr>
          <p:cNvPr id="1386" name="Google Shape;1386;p121"/>
          <p:cNvSpPr txBox="1"/>
          <p:nvPr>
            <p:ph idx="4294967295" type="subTitle"/>
          </p:nvPr>
        </p:nvSpPr>
        <p:spPr>
          <a:xfrm>
            <a:off x="3753766" y="3131550"/>
            <a:ext cx="8451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/>
          </a:p>
        </p:txBody>
      </p:sp>
      <p:sp>
        <p:nvSpPr>
          <p:cNvPr id="1387" name="Google Shape;1387;p121"/>
          <p:cNvSpPr txBox="1"/>
          <p:nvPr>
            <p:ph idx="4294967295" type="subTitle"/>
          </p:nvPr>
        </p:nvSpPr>
        <p:spPr>
          <a:xfrm>
            <a:off x="6870426" y="3131550"/>
            <a:ext cx="19497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= −3.47058…</a:t>
            </a:r>
            <a:endParaRPr/>
          </a:p>
        </p:txBody>
      </p:sp>
      <p:pic>
        <p:nvPicPr>
          <p:cNvPr descr="y equals negative 59 over 17&#10;&#10;&lt;math xmlns=&quot;http://www.w3.org/1998/Math/MathML&quot; display=&quot;block&quot; data-is-equatio=&quot;1&quot; data-latex=&quot;y=-\frac{59}{17}&quot;&gt;&lt;mi&gt;y&lt;/mi&gt;&lt;mo&gt;=&lt;/mo&gt;&lt;mo&gt;−&lt;/mo&gt;&lt;mfrac&gt;&lt;mn&gt;59&lt;/mn&gt;&lt;mn&gt;17&lt;/mn&gt;&lt;/mfrac&gt;&lt;/math&gt;" id="1388" name="Google Shape;1388;p1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0317" y="3609409"/>
            <a:ext cx="1114575" cy="64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 lines Line 1: a equals negative 20 over 11 or negative 1 and 9 over 11 Line 2: b equals 17 over 11 or 1 and 6 over 11&#10;&#10;&lt;math xmlns=&quot;http://www.w3.org/1998/Math/MathML&quot; display=&quot;block&quot; data-is-equatio=&quot;1&quot; data-latex=&quot;\begin{array}{l}a=-\frac{20}{11}\ \ \text{or}\ \ -1\frac{9}{11}\\&amp;#13;&amp;#10;b=\frac{17}{11}\ \ \text{or}\ \ 1\frac{6}{11}\end{array}&quot;&gt;&lt;mtable columnalign=&quot;left&quot; columnspacing=&quot;1em&quot; rowspacing=&quot;4pt&quot;&gt;&lt;mtr&gt;&lt;mtd&gt;&lt;mi&gt;a&lt;/mi&gt;&lt;mo&gt;=&lt;/mo&gt;&lt;mo&gt;−&lt;/mo&gt;&lt;mfrac&gt;&lt;mn&gt;20&lt;/mn&gt;&lt;mn&gt;11&lt;/mn&gt;&lt;/mfrac&gt;&lt;mtext&gt;&lt;/mtext&gt;&lt;mtext&gt;&lt;/mtext&gt;&lt;mtext&gt;or&lt;/mtext&gt;&lt;mtext&gt;&lt;/mtext&gt;&lt;mtext&gt;&lt;/mtext&gt;&lt;mo&gt;−&lt;/mo&gt;&lt;mn&gt;1&lt;/mn&gt;&lt;mfrac&gt;&lt;mn&gt;9&lt;/mn&gt;&lt;mn&gt;11&lt;/mn&gt;&lt;/mfrac&gt;&lt;/mtd&gt;&lt;/mtr&gt;&lt;mtr&gt;&lt;mtd&gt;&lt;mi&gt;b&lt;/mi&gt;&lt;mo&gt;=&lt;/mo&gt;&lt;mfrac&gt;&lt;mn&gt;17&lt;/mn&gt;&lt;mn&gt;11&lt;/mn&gt;&lt;/mfrac&gt;&lt;mtext&gt;&lt;/mtext&gt;&lt;mtext&gt;&lt;/mtext&gt;&lt;mtext&gt;or&lt;/mtext&gt;&lt;mtext&gt;&lt;/mtext&gt;&lt;mtext&gt;&lt;/mtext&gt;&lt;mn&gt;1&lt;/mn&gt;&lt;mfrac&gt;&lt;mn&gt;6&lt;/mn&gt;&lt;mn&gt;11&lt;/mn&gt;&lt;/mfrac&gt;&lt;/mtd&gt;&lt;/mtr&gt;&lt;/mtable&gt;&lt;/math&gt;" id="1393" name="Google Shape;1393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85" y="2946900"/>
            <a:ext cx="2403527" cy="95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122"/>
          <p:cNvSpPr txBox="1"/>
          <p:nvPr>
            <p:ph idx="1" type="body"/>
          </p:nvPr>
        </p:nvSpPr>
        <p:spPr>
          <a:xfrm>
            <a:off x="324000" y="810000"/>
            <a:ext cx="8237700" cy="12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Solve the following pairs of simultaneous equations using your calculator.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a)                                                 b)                                 </a:t>
            </a:r>
            <a:endParaRPr/>
          </a:p>
        </p:txBody>
      </p:sp>
      <p:sp>
        <p:nvSpPr>
          <p:cNvPr id="1395" name="Google Shape;1395;p12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  <p:sp>
        <p:nvSpPr>
          <p:cNvPr id="1396" name="Google Shape;1396;p122"/>
          <p:cNvSpPr txBox="1"/>
          <p:nvPr/>
        </p:nvSpPr>
        <p:spPr>
          <a:xfrm>
            <a:off x="873751" y="2054316"/>
            <a:ext cx="1560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7" name="Google Shape;1397;p122"/>
          <p:cNvSpPr txBox="1"/>
          <p:nvPr/>
        </p:nvSpPr>
        <p:spPr>
          <a:xfrm>
            <a:off x="888834" y="1707836"/>
            <a:ext cx="15603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122"/>
          <p:cNvSpPr txBox="1"/>
          <p:nvPr/>
        </p:nvSpPr>
        <p:spPr>
          <a:xfrm>
            <a:off x="5066308" y="1714984"/>
            <a:ext cx="1589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9" name="Google Shape;1399;p122"/>
          <p:cNvSpPr txBox="1"/>
          <p:nvPr/>
        </p:nvSpPr>
        <p:spPr>
          <a:xfrm>
            <a:off x="5052368" y="2057128"/>
            <a:ext cx="1382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+ 3 = 7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2 lines Line 1: a equals eleven eighths or 1 and three eighths Line 2: b equals 53 over 16 or 3 and 5 over 16&#10;&#10;&lt;math xmlns=&quot;http://www.w3.org/1998/Math/MathML&quot; display=&quot;block&quot; data-is-equatio=&quot;1&quot; data-latex=&quot;\begin{array}{l}a=\frac{11}{8}\ \ \text{or}\ \ 1\frac{3}{8}\\&amp;#13;&amp;#10;b=\frac{53}{16}\ \ \text{or}\ \ 3\frac{5}{16}\end{array}&quot;&gt;&lt;mtable columnalign=&quot;left&quot; columnspacing=&quot;1em&quot; rowspacing=&quot;4pt&quot;&gt;&lt;mtr&gt;&lt;mtd&gt;&lt;mi&gt;a&lt;/mi&gt;&lt;mo&gt;=&lt;/mo&gt;&lt;mfrac&gt;&lt;mn&gt;11&lt;/mn&gt;&lt;mn&gt;8&lt;/mn&gt;&lt;/mfrac&gt;&lt;mtext&gt;&lt;/mtext&gt;&lt;mtext&gt;&lt;/mtext&gt;&lt;mtext&gt;or&lt;/mtext&gt;&lt;mtext&gt;&lt;/mtext&gt;&lt;mtext&gt;&lt;/mtext&gt;&lt;mn&gt;1&lt;/mn&gt;&lt;mfrac&gt;&lt;mn&gt;3&lt;/mn&gt;&lt;mn&gt;8&lt;/mn&gt;&lt;/mfrac&gt;&lt;/mtd&gt;&lt;/mtr&gt;&lt;mtr&gt;&lt;mtd&gt;&lt;mi&gt;b&lt;/mi&gt;&lt;mo&gt;=&lt;/mo&gt;&lt;mfrac&gt;&lt;mn&gt;53&lt;/mn&gt;&lt;mn&gt;16&lt;/mn&gt;&lt;/mfrac&gt;&lt;mtext&gt;&lt;/mtext&gt;&lt;mtext&gt;&lt;/mtext&gt;&lt;mtext&gt;or&lt;/mtext&gt;&lt;mtext&gt;&lt;/mtext&gt;&lt;mtext&gt;&lt;/mtext&gt;&lt;mn&gt;3&lt;/mn&gt;&lt;mfrac&gt;&lt;mn&gt;5&lt;/mn&gt;&lt;mn&gt;16&lt;/mn&gt;&lt;/mfrac&gt;&lt;/mtd&gt;&lt;/mtr&gt;&lt;/mtable&gt;&lt;/math&gt;" id="1400" name="Google Shape;1400;p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3426" y="2869417"/>
            <a:ext cx="1812410" cy="9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123"/>
          <p:cNvSpPr txBox="1"/>
          <p:nvPr>
            <p:ph type="title"/>
          </p:nvPr>
        </p:nvSpPr>
        <p:spPr>
          <a:xfrm>
            <a:off x="324000" y="8100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fx-991CW for number and algebra</a:t>
            </a:r>
            <a:endParaRPr/>
          </a:p>
        </p:txBody>
      </p:sp>
      <p:sp>
        <p:nvSpPr>
          <p:cNvPr id="1406" name="Google Shape;1406;p123"/>
          <p:cNvSpPr txBox="1"/>
          <p:nvPr>
            <p:ph idx="3" type="title"/>
          </p:nvPr>
        </p:nvSpPr>
        <p:spPr>
          <a:xfrm>
            <a:off x="1225200" y="37819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polynomials</a:t>
            </a:r>
            <a:endParaRPr/>
          </a:p>
        </p:txBody>
      </p:sp>
      <p:pic>
        <p:nvPicPr>
          <p:cNvPr id="1407" name="Google Shape;1407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42" y="3701767"/>
            <a:ext cx="450575" cy="4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23"/>
          <p:cNvSpPr txBox="1"/>
          <p:nvPr>
            <p:ph idx="2" type="title"/>
          </p:nvPr>
        </p:nvSpPr>
        <p:spPr>
          <a:xfrm>
            <a:off x="1225225" y="2841250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  <p:sp>
        <p:nvSpPr>
          <p:cNvPr id="1409" name="Google Shape;1409;p123"/>
          <p:cNvSpPr txBox="1"/>
          <p:nvPr>
            <p:ph idx="4" type="title"/>
          </p:nvPr>
        </p:nvSpPr>
        <p:spPr>
          <a:xfrm>
            <a:off x="1225200" y="1822462"/>
            <a:ext cx="68523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Conversions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124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polynomials</a:t>
            </a:r>
            <a:endParaRPr/>
          </a:p>
        </p:txBody>
      </p:sp>
      <p:pic>
        <p:nvPicPr>
          <p:cNvPr id="1415" name="Google Shape;1415;p124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397075" y="2049875"/>
            <a:ext cx="3601475" cy="124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6" name="Google Shape;1416;p1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000" y="26514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17" name="Google Shape;1417;p124"/>
          <p:cNvSpPr txBox="1"/>
          <p:nvPr/>
        </p:nvSpPr>
        <p:spPr>
          <a:xfrm>
            <a:off x="6660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18" name="Google Shape;1418;p1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72057" y="28119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124"/>
          <p:cNvSpPr txBox="1"/>
          <p:nvPr/>
        </p:nvSpPr>
        <p:spPr>
          <a:xfrm>
            <a:off x="75928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20" name="Google Shape;1420;p124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115450" y="1523450"/>
            <a:ext cx="2972201" cy="165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1" name="Google Shape;1421;p124"/>
          <p:cNvSpPr txBox="1"/>
          <p:nvPr/>
        </p:nvSpPr>
        <p:spPr>
          <a:xfrm>
            <a:off x="1398000" y="1620000"/>
            <a:ext cx="2722800" cy="12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my calculator can solve linear equations, including simultaneous ones. Anything else?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124"/>
          <p:cNvSpPr txBox="1"/>
          <p:nvPr/>
        </p:nvSpPr>
        <p:spPr>
          <a:xfrm>
            <a:off x="4505725" y="2047350"/>
            <a:ext cx="32457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It can solve polynomial equations. It can also solve quadratic inequalities.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125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polynomials</a:t>
            </a:r>
            <a:endParaRPr/>
          </a:p>
        </p:txBody>
      </p:sp>
      <p:sp>
        <p:nvSpPr>
          <p:cNvPr id="1428" name="Google Shape;1428;p125"/>
          <p:cNvSpPr txBox="1"/>
          <p:nvPr>
            <p:ph idx="1" type="body"/>
          </p:nvPr>
        </p:nvSpPr>
        <p:spPr>
          <a:xfrm>
            <a:off x="324000" y="810000"/>
            <a:ext cx="8237700" cy="187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the home menu, select ‘Equation’ and then navigate and select ‘Polynomial’. Choose the general form for the polynomial you want to solve.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429" name="Google Shape;1429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007588"/>
            <a:ext cx="358140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0" name="Google Shape;1430;p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0955" y="2002838"/>
            <a:ext cx="359092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26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polynomials</a:t>
            </a:r>
            <a:endParaRPr/>
          </a:p>
        </p:txBody>
      </p:sp>
      <p:sp>
        <p:nvSpPr>
          <p:cNvPr id="1436" name="Google Shape;1436;p126"/>
          <p:cNvSpPr txBox="1"/>
          <p:nvPr>
            <p:ph idx="1" type="body"/>
          </p:nvPr>
        </p:nvSpPr>
        <p:spPr>
          <a:xfrm>
            <a:off x="324000" y="810000"/>
            <a:ext cx="82377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Solve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+ 9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 + 4 = 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7" name="Google Shape;1437;p126"/>
          <p:cNvSpPr txBox="1"/>
          <p:nvPr/>
        </p:nvSpPr>
        <p:spPr>
          <a:xfrm>
            <a:off x="323100" y="3096150"/>
            <a:ext cx="8497800" cy="14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Your calculator will only accept equations in the form </a:t>
            </a:r>
            <a:b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baseline="30000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bx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so it may be necessary to rearrange first.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 ‘EXE’ to solve. Press ‘EXE’ again to see the second solution.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8" name="Google Shape;1438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345613"/>
            <a:ext cx="357187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9" name="Google Shape;1439;p1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8275" y="1329078"/>
            <a:ext cx="2435036" cy="11074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0" name="Google Shape;1440;p1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0600" y="1329095"/>
            <a:ext cx="2435025" cy="1107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127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polynomials</a:t>
            </a:r>
            <a:endParaRPr/>
          </a:p>
        </p:txBody>
      </p:sp>
      <p:sp>
        <p:nvSpPr>
          <p:cNvPr id="1446" name="Google Shape;1446;p127"/>
          <p:cNvSpPr txBox="1"/>
          <p:nvPr>
            <p:ph idx="1" type="body"/>
          </p:nvPr>
        </p:nvSpPr>
        <p:spPr>
          <a:xfrm>
            <a:off x="324000" y="810000"/>
            <a:ext cx="82377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Use your calculator to find the solution(s) to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− 20</a:t>
            </a:r>
            <a:r>
              <a:rPr lang="en-GB" sz="2400">
                <a:solidFill>
                  <a:srgbClr val="000000"/>
                </a:solidFill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/>
          </a:p>
        </p:txBody>
      </p:sp>
      <p:sp>
        <p:nvSpPr>
          <p:cNvPr id="1447" name="Google Shape;1447;p127"/>
          <p:cNvSpPr txBox="1"/>
          <p:nvPr/>
        </p:nvSpPr>
        <p:spPr>
          <a:xfrm>
            <a:off x="323100" y="1620000"/>
            <a:ext cx="84978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8" name="Google Shape;1448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0" y="1620000"/>
            <a:ext cx="3676650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28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polynomials</a:t>
            </a:r>
            <a:endParaRPr/>
          </a:p>
        </p:txBody>
      </p:sp>
      <p:pic>
        <p:nvPicPr>
          <p:cNvPr id="1454" name="Google Shape;1454;p12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561225" y="2049875"/>
            <a:ext cx="3378724" cy="124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5" name="Google Shape;1455;p1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000" y="2651481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28"/>
          <p:cNvSpPr txBox="1"/>
          <p:nvPr/>
        </p:nvSpPr>
        <p:spPr>
          <a:xfrm>
            <a:off x="6660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7" name="Google Shape;1457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72057" y="2811925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8" name="Google Shape;1458;p128"/>
          <p:cNvSpPr txBox="1"/>
          <p:nvPr/>
        </p:nvSpPr>
        <p:spPr>
          <a:xfrm>
            <a:off x="7592800" y="39307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9" name="Google Shape;1459;p128"/>
          <p:cNvPicPr preferRelativeResize="0"/>
          <p:nvPr/>
        </p:nvPicPr>
        <p:blipFill rotWithShape="1">
          <a:blip r:embed="rId3">
            <a:alphaModFix/>
          </a:blip>
          <a:srcRect b="6172" l="40550" r="0" t="13240"/>
          <a:stretch/>
        </p:blipFill>
        <p:spPr>
          <a:xfrm>
            <a:off x="1115450" y="1380150"/>
            <a:ext cx="2972201" cy="1991026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128"/>
          <p:cNvSpPr txBox="1"/>
          <p:nvPr/>
        </p:nvSpPr>
        <p:spPr>
          <a:xfrm>
            <a:off x="1398000" y="1620000"/>
            <a:ext cx="2722800" cy="12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I’ll use my calculator to find the roots and then work out which way round the inequality signs should be.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128"/>
          <p:cNvSpPr txBox="1"/>
          <p:nvPr/>
        </p:nvSpPr>
        <p:spPr>
          <a:xfrm>
            <a:off x="4647500" y="2043825"/>
            <a:ext cx="30285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You could do that or…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28"/>
          <p:cNvSpPr txBox="1"/>
          <p:nvPr>
            <p:ph idx="1" type="body"/>
          </p:nvPr>
        </p:nvSpPr>
        <p:spPr>
          <a:xfrm>
            <a:off x="324000" y="810000"/>
            <a:ext cx="82377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− 20</a:t>
            </a:r>
            <a:r>
              <a:rPr lang="en-GB" sz="2400">
                <a:solidFill>
                  <a:srgbClr val="000000"/>
                </a:solidFill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007600"/>
            <a:ext cx="3602398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29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polynomials</a:t>
            </a:r>
            <a:endParaRPr/>
          </a:p>
        </p:txBody>
      </p:sp>
      <p:sp>
        <p:nvSpPr>
          <p:cNvPr id="1469" name="Google Shape;1469;p129"/>
          <p:cNvSpPr txBox="1"/>
          <p:nvPr>
            <p:ph idx="1" type="body"/>
          </p:nvPr>
        </p:nvSpPr>
        <p:spPr>
          <a:xfrm>
            <a:off x="324000" y="810000"/>
            <a:ext cx="8237700" cy="153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the home menu, select ‘Inequality’. Choose the general form for the polynomial you want to solve.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470" name="Google Shape;1470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0955" y="2002838"/>
            <a:ext cx="359092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p130"/>
          <p:cNvSpPr txBox="1"/>
          <p:nvPr>
            <p:ph type="title"/>
          </p:nvPr>
        </p:nvSpPr>
        <p:spPr>
          <a:xfrm>
            <a:off x="324000" y="152400"/>
            <a:ext cx="713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polynomials</a:t>
            </a:r>
            <a:endParaRPr/>
          </a:p>
        </p:txBody>
      </p:sp>
      <p:sp>
        <p:nvSpPr>
          <p:cNvPr id="1476" name="Google Shape;1476;p130"/>
          <p:cNvSpPr txBox="1"/>
          <p:nvPr>
            <p:ph idx="1" type="body"/>
          </p:nvPr>
        </p:nvSpPr>
        <p:spPr>
          <a:xfrm>
            <a:off x="324000" y="810000"/>
            <a:ext cx="8237700" cy="19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Solve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− 20</a:t>
            </a:r>
            <a:r>
              <a:rPr lang="en-GB" sz="2400">
                <a:solidFill>
                  <a:srgbClr val="000000"/>
                </a:solidFill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0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Make sure you choose the correct inequality.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477" name="Google Shape;1477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833750"/>
            <a:ext cx="3667125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31"/>
          <p:cNvSpPr txBox="1"/>
          <p:nvPr>
            <p:ph type="title"/>
          </p:nvPr>
        </p:nvSpPr>
        <p:spPr>
          <a:xfrm>
            <a:off x="324000" y="152400"/>
            <a:ext cx="7885200" cy="30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polynomials</a:t>
            </a:r>
            <a:endParaRPr/>
          </a:p>
        </p:txBody>
      </p:sp>
      <p:sp>
        <p:nvSpPr>
          <p:cNvPr id="1483" name="Google Shape;1483;p131"/>
          <p:cNvSpPr txBox="1"/>
          <p:nvPr>
            <p:ph idx="1" type="body"/>
          </p:nvPr>
        </p:nvSpPr>
        <p:spPr>
          <a:xfrm>
            <a:off x="324000" y="810000"/>
            <a:ext cx="82377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Use your calculator to find the solution(s) to 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− 20</a:t>
            </a:r>
            <a:r>
              <a:rPr lang="en-GB" sz="2400">
                <a:solidFill>
                  <a:srgbClr val="000000"/>
                </a:solidFill>
              </a:rPr>
              <a:t> 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</a:t>
            </a:r>
            <a:r>
              <a:rPr lang="en-GB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0</a:t>
            </a:r>
            <a:endParaRPr/>
          </a:p>
        </p:txBody>
      </p:sp>
      <p:sp>
        <p:nvSpPr>
          <p:cNvPr id="1484" name="Google Shape;1484;p131"/>
          <p:cNvSpPr txBox="1"/>
          <p:nvPr/>
        </p:nvSpPr>
        <p:spPr>
          <a:xfrm>
            <a:off x="323100" y="1620000"/>
            <a:ext cx="849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&lt; </a:t>
            </a: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2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85" name="Google Shape;1485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0" y="1620000"/>
            <a:ext cx="3657600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132"/>
          <p:cNvSpPr txBox="1"/>
          <p:nvPr>
            <p:ph idx="1" type="body"/>
          </p:nvPr>
        </p:nvSpPr>
        <p:spPr>
          <a:xfrm>
            <a:off x="324000" y="810000"/>
            <a:ext cx="8237700" cy="3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1) </a:t>
            </a:r>
            <a:r>
              <a:rPr lang="en-GB" sz="2100"/>
              <a:t>Solve these quadratic inequalities </a:t>
            </a:r>
            <a:r>
              <a:rPr lang="en-GB" sz="2100"/>
              <a:t>(to 2 d.p. if appropriate)</a:t>
            </a:r>
            <a:r>
              <a:rPr lang="en-GB" sz="2100"/>
              <a:t>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a)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− 8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+ 20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 0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00000"/>
                </a:solidFill>
              </a:rPr>
              <a:t>b) 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− 19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0</a:t>
            </a:r>
            <a:endParaRPr sz="2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00000"/>
                </a:solidFill>
              </a:rPr>
              <a:t>c) 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3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d)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3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− 10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 sz="2100"/>
          </a:p>
        </p:txBody>
      </p:sp>
      <p:sp>
        <p:nvSpPr>
          <p:cNvPr id="1491" name="Google Shape;1491;p132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polynomials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133"/>
          <p:cNvSpPr txBox="1"/>
          <p:nvPr>
            <p:ph idx="1" type="body"/>
          </p:nvPr>
        </p:nvSpPr>
        <p:spPr>
          <a:xfrm>
            <a:off x="324000" y="810000"/>
            <a:ext cx="8237700" cy="3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1) Solve these quadratic inequalities (to 2 d.p. </a:t>
            </a:r>
            <a:r>
              <a:rPr lang="en-GB" sz="2100"/>
              <a:t>if appropriate).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/>
              <a:t>a)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− 8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+ 20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 0                             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 ≤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≤ 2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00000"/>
                </a:solidFill>
              </a:rPr>
              <a:t>b) 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− 19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0                                −9.92 &lt;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1.92</a:t>
            </a:r>
            <a:endParaRPr sz="2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000000"/>
                </a:solidFill>
              </a:rPr>
              <a:t>c) 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+ 6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3                                  −5 &lt;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−1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100"/>
              <a:t>d)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</a:t>
            </a:r>
            <a:r>
              <a:rPr lang="en-GB" sz="2300">
                <a:solidFill>
                  <a:srgbClr val="000000"/>
                </a:solidFill>
              </a:rPr>
              <a:t>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3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− 10</a:t>
            </a:r>
            <a:r>
              <a:rPr i="1"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− 2</a:t>
            </a:r>
            <a:endParaRPr sz="2100"/>
          </a:p>
        </p:txBody>
      </p:sp>
      <p:sp>
        <p:nvSpPr>
          <p:cNvPr id="1497" name="Google Shape;1497;p133"/>
          <p:cNvSpPr txBox="1"/>
          <p:nvPr>
            <p:ph type="title"/>
          </p:nvPr>
        </p:nvSpPr>
        <p:spPr>
          <a:xfrm>
            <a:off x="1449300" y="146675"/>
            <a:ext cx="57414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polynomials</a:t>
            </a:r>
            <a:endParaRPr/>
          </a:p>
        </p:txBody>
      </p:sp>
      <p:pic>
        <p:nvPicPr>
          <p:cNvPr descr="x is less than negative seven halves comma negative 1 is less than x&#10;&#10;&lt;math xmlns=&quot;http://www.w3.org/1998/Math/MathML&quot; display=&quot;block&quot; data-is-equatio=&quot;1&quot; data-latex=&quot;x&amp;lt;-\frac{7}{2}\ ,\ -1&amp;lt;x&quot;&gt;&lt;mi&gt;x&lt;/mi&gt;&lt;mo&gt;&amp;lt;&lt;/mo&gt;&lt;mo&gt;−&lt;/mo&gt;&lt;mfrac&gt;&lt;mn&gt;7&lt;/mn&gt;&lt;mn&gt;2&lt;/mn&gt;&lt;/mfrac&gt;&lt;mtext&gt;&lt;/mtext&gt;&lt;mo&gt;,&lt;/mo&gt;&lt;mtext&gt;&lt;/mtext&gt;&lt;mo&gt;−&lt;/mo&gt;&lt;mn&gt;1&lt;/mn&gt;&lt;mo&gt;&amp;lt;&lt;/mo&gt;&lt;mi&gt;x&lt;/mi&gt;&lt;/math&gt;" id="1498" name="Google Shape;1498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3717" y="3629484"/>
            <a:ext cx="1932297" cy="51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34"/>
          <p:cNvSpPr txBox="1"/>
          <p:nvPr>
            <p:ph type="title"/>
          </p:nvPr>
        </p:nvSpPr>
        <p:spPr>
          <a:xfrm>
            <a:off x="1684800" y="119125"/>
            <a:ext cx="5741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fx-991CW for number and algebra</a:t>
            </a:r>
            <a:endParaRPr/>
          </a:p>
        </p:txBody>
      </p:sp>
      <p:sp>
        <p:nvSpPr>
          <p:cNvPr id="1504" name="Google Shape;1504;p134"/>
          <p:cNvSpPr txBox="1"/>
          <p:nvPr>
            <p:ph idx="1" type="body"/>
          </p:nvPr>
        </p:nvSpPr>
        <p:spPr>
          <a:xfrm>
            <a:off x="324000" y="810000"/>
            <a:ext cx="8496000" cy="37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calculators can perform more than just basic calculations.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fx-991CW can convert between different formats for values.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fx-991CW can solve equations numerically.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135"/>
          <p:cNvSpPr txBox="1"/>
          <p:nvPr>
            <p:ph idx="1" type="subTitle"/>
          </p:nvPr>
        </p:nvSpPr>
        <p:spPr>
          <a:xfrm>
            <a:off x="666000" y="1636650"/>
            <a:ext cx="7351200" cy="18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2025.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Casio and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10" name="Google Shape;1510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