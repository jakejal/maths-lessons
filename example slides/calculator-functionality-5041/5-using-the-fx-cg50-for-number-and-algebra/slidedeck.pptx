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2fcdcf486b6_0_2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fcdcf486b6_0_2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2fcdcf486b6_0_2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fcdcf486b6_0_2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fcdcf486b6_0_2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fcdcf486b6_0_2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af3f52628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af3f52628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af3f52628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af3f52628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29f261a352_0_2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29f261a352_0_2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29f261a352_0_2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29f261a352_0_2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29f261a352_0_2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329f261a352_0_2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29f261a352_0_2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29f261a352_0_2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29f261a352_0_2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29f261a352_0_2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29f261a352_0_2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29f261a352_0_2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29f261a352_0_2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29f261a352_0_2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29f261a352_0_2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29f261a352_0_2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29f261a352_0_2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29f261a352_0_2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29f261a352_0_2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29f261a352_0_2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29f261a352_0_5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29f261a352_0_5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29f261a352_0_5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29f261a352_0_5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29f261a352_0_3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329f261a352_0_3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29f261a352_0_5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29f261a352_0_5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29f261a352_0_5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329f261a352_0_5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29f261a352_0_5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29f261a352_0_5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29f261a352_0_5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329f261a352_0_5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29f261a35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329f261a3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29f261a35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29f261a35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29f261a35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29f261a35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29f261a35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329f261a35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29f261a35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29f261a35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29f261a352_0_5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29f261a352_0_5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29f261a352_0_5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29f261a352_0_5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29f261a352_0_5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329f261a352_0_5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29f261a35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329f261a35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29f261a35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329f261a35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29f261a35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29f261a35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29f261a35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329f261a35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329f261a35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329f261a35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329f261a35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329f261a35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329f261a352_0_5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329f261a352_0_5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29f261a352_0_5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329f261a352_0_5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29f261a352_0_5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329f261a352_0_5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329f261a35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329f261a35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29f261a352_0_5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329f261a352_0_5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29f261a35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329f261a35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29f261a352_0_5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329f261a352_0_5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fcdcf486b6_0_2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fcdcf486b6_0_2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2fcdcf486b6_0_2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fcdcf486b6_0_2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110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Relationship Id="rId7" Type="http://schemas.openxmlformats.org/officeDocument/2006/relationships/image" Target="../media/image3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110.png"/><Relationship Id="rId4" Type="http://schemas.openxmlformats.org/officeDocument/2006/relationships/image" Target="../media/image36.png"/><Relationship Id="rId9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46.png"/><Relationship Id="rId7" Type="http://schemas.openxmlformats.org/officeDocument/2006/relationships/image" Target="../media/image39.png"/><Relationship Id="rId8" Type="http://schemas.openxmlformats.org/officeDocument/2006/relationships/image" Target="../media/image4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110.png"/><Relationship Id="rId4" Type="http://schemas.openxmlformats.org/officeDocument/2006/relationships/image" Target="../media/image42.png"/><Relationship Id="rId11" Type="http://schemas.openxmlformats.org/officeDocument/2006/relationships/image" Target="../media/image34.png"/><Relationship Id="rId10" Type="http://schemas.openxmlformats.org/officeDocument/2006/relationships/image" Target="../media/image49.png"/><Relationship Id="rId9" Type="http://schemas.openxmlformats.org/officeDocument/2006/relationships/image" Target="../media/image41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7" Type="http://schemas.openxmlformats.org/officeDocument/2006/relationships/image" Target="../media/image46.png"/><Relationship Id="rId8" Type="http://schemas.openxmlformats.org/officeDocument/2006/relationships/image" Target="../media/image3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8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5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8.png"/><Relationship Id="rId4" Type="http://schemas.openxmlformats.org/officeDocument/2006/relationships/image" Target="../media/image5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8.png"/><Relationship Id="rId4" Type="http://schemas.openxmlformats.org/officeDocument/2006/relationships/image" Target="../media/image5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8.png"/><Relationship Id="rId4" Type="http://schemas.openxmlformats.org/officeDocument/2006/relationships/image" Target="../media/image5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47.png"/><Relationship Id="rId4" Type="http://schemas.openxmlformats.org/officeDocument/2006/relationships/image" Target="../media/image5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4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5" name="Google Shape;55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6" name="Google Shape;66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8" name="Google Shape;6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5" name="Google Shape;7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7" name="Google Shape;7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4" name="Google Shape;9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" name="Google Shape;96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8" name="Google Shape;9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" name="Google Shape;115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17" name="Google Shape;11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1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24" name="Google Shape;12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3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" name="Google Shape;126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" name="Google Shape;153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5" name="Google Shape;15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" name="Google Shape;16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4" name="Google Shape;164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3" name="Google Shape;17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" name="Google Shape;192;p20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7" name="Google Shape;19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8" name="Google Shape;208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2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7" name="Google Shape;21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9" name="Google Shape;219;p2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1" name="Google Shape;22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3" name="Google Shape;243;p2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" name="Google Shape;244;p2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" name="Google Shape;250;p25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2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5" name="Google Shape;255;p2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6" name="Google Shape;256;p2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6" name="Google Shape;266;p26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7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69" name="Google Shape;269;p27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0" name="Google Shape;270;p2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85" name="Google Shape;285;p28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2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29"/>
          <p:cNvCxnSpPr>
            <a:endCxn id="2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9" name="Google Shape;29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9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02" name="Google Shape;302;p29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3" name="Google Shape;303;p29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" name="Google Shape;304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9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06" name="Google Shape;306;p29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30"/>
          <p:cNvCxnSpPr>
            <a:endCxn id="315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5" name="Google Shape;31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30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19" name="Google Shape;319;p30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0" name="Google Shape;320;p30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30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23" name="Google Shape;323;p30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4" name="Google Shape;324;p30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5" name="Google Shape;325;p30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3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6" name="Google Shape;33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31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41" name="Google Shape;341;p31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2" name="Google Shape;342;p31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3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1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45" name="Google Shape;345;p31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6" name="Google Shape;346;p31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31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8" name="Google Shape;348;p31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2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" name="Google Shape;353;p3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54" name="Google Shape;3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7" name="Google Shape;357;p3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33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360" name="Google Shape;360;p33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33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3" name="Google Shape;3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66" name="Google Shape;366;p3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1" name="Google Shape;3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6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9" name="Google Shape;389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90" name="Google Shape;39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3" name="Google Shape;39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5" name="Google Shape;395;p3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6" name="Google Shape;396;p3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7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3" name="Google Shape;403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4" name="Google Shape;40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6" name="Google Shape;406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7" name="Google Shape;407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09" name="Google Shape;409;p3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0" name="Google Shape;410;p37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1" name="Google Shape;411;p37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2" name="Google Shape;412;p37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8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18" name="Google Shape;418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19" name="Google Shape;419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1" name="Google Shape;421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22" name="Google Shape;422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4" name="Google Shape;424;p3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8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8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38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9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33" name="Google Shape;433;p3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34" name="Google Shape;434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3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6" name="Google Shape;436;p3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37" name="Google Shape;437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3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39" name="Google Shape;439;p3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9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9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1" name="Google Shape;451;p4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2" name="Google Shape;45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53" name="Google Shape;45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8" name="Google Shape;458;p4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4" name="Google Shape;46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9" name="Google Shape;469;p41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0" name="Google Shape;470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71" name="Google Shape;471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4" name="Google Shape;474;p41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0" name="Google Shape;48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42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87" name="Google Shape;487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0" name="Google Shape;490;p42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6" name="Google Shape;49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3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43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43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1" name="Google Shape;501;p43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2" name="Google Shape;502;p4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503" name="Google Shape;503;p43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43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4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43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4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11" name="Google Shape;5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4" name="Google Shape;514;p4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5" name="Google Shape;515;p4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6" name="Google Shape;516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7" name="Google Shape;51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20" name="Google Shape;52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3" name="Google Shape;52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25" name="Google Shape;525;p44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p4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0" name="Google Shape;53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5" name="Google Shape;535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6" name="Google Shape;53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9" name="Google Shape;53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42" name="Google Shape;54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44" name="Google Shape;544;p4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5" name="Google Shape;545;p45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6" name="Google Shape;546;p4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3" name="Google Shape;553;p46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4" name="Google Shape;554;p46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5" name="Google Shape;555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56" name="Google Shape;55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59" name="Google Shape;55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62" name="Google Shape;562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64" name="Google Shape;564;p4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46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6" name="Google Shape;566;p46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4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7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7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76" name="Google Shape;57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79" name="Google Shape;57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82" name="Google Shape;58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84" name="Google Shape;584;p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5" name="Google Shape;585;p47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6" name="Google Shape;586;p47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3" name="Google Shape;593;p4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4" name="Google Shape;594;p4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6" name="Google Shape;596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7" name="Google Shape;597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0" name="Google Shape;600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3" name="Google Shape;603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5" name="Google Shape;605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6" name="Google Shape;60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08" name="Google Shape;608;p4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0" name="Google Shape;610;p4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4" name="Google Shape;61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7" name="Google Shape;617;p4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4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4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0" name="Google Shape;620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1" name="Google Shape;621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2" name="Google Shape;622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3" name="Google Shape;623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4" name="Google Shape;624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6" name="Google Shape;626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7" name="Google Shape;627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9" name="Google Shape;629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0" name="Google Shape;630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1" name="Google Shape;631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32" name="Google Shape;632;p4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3" name="Google Shape;633;p4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4" name="Google Shape;634;p49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9" name="Google Shape;63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2" name="Google Shape;642;p50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3" name="Google Shape;643;p50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4" name="Google Shape;644;p50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45" name="Google Shape;645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46" name="Google Shape;646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8" name="Google Shape;648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49" name="Google Shape;649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0" name="Google Shape;650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1" name="Google Shape;651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52" name="Google Shape;65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3" name="Google Shape;65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4" name="Google Shape;654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55" name="Google Shape;65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6" name="Google Shape;65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57" name="Google Shape;657;p50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50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63" name="Google Shape;6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7" name="Google Shape;667;p51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8" name="Google Shape;668;p51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69" name="Google Shape;669;p5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70" name="Google Shape;67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2" name="Google Shape;672;p5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73" name="Google Shape;673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5" name="Google Shape;675;p5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76" name="Google Shape;676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7" name="Google Shape;677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8" name="Google Shape;678;p5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79" name="Google Shape;679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81" name="Google Shape;681;p51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51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6" name="Google Shape;6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8" name="Google Shape;688;p5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9" name="Google Shape;689;p5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5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91" name="Google Shape;691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92" name="Google Shape;692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3" name="Google Shape;693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4" name="Google Shape;694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95" name="Google Shape;695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7" name="Google Shape;697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98" name="Google Shape;698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00" name="Google Shape;700;p5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1" name="Google Shape;701;p5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2" name="Google Shape;702;p5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6" name="Google Shape;70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8" name="Google Shape;708;p5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09" name="Google Shape;709;p5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0" name="Google Shape;710;p5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11" name="Google Shape;71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12" name="Google Shape;71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3" name="Google Shape;71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4" name="Google Shape;71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15" name="Google Shape;71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6" name="Google Shape;71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7" name="Google Shape;71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18" name="Google Shape;71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20" name="Google Shape;720;p5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1" name="Google Shape;721;p5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2" name="Google Shape;722;p53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6" name="Google Shape;72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54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29" name="Google Shape;729;p54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30" name="Google Shape;730;p54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31" name="Google Shape;731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32" name="Google Shape;732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3" name="Google Shape;733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4" name="Google Shape;734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35" name="Google Shape;735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7" name="Google Shape;737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38" name="Google Shape;738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" name="Google Shape;739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40" name="Google Shape;740;p5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1" name="Google Shape;741;p54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54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6" name="Google Shape;74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55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49" name="Google Shape;749;p55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50" name="Google Shape;750;p55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51" name="Google Shape;751;p5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52" name="Google Shape;752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3" name="Google Shape;753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54" name="Google Shape;754;p5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55" name="Google Shape;755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57" name="Google Shape;757;p5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58" name="Google Shape;758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9" name="Google Shape;759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60" name="Google Shape;760;p5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55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55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6" name="Google Shape;76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5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9" name="Google Shape;769;p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0" name="Google Shape;770;p5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5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5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8" name="Google Shape;778;p5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2" name="Google Shape;78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5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5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6" name="Google Shape;786;p5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91" name="Google Shape;79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5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4" name="Google Shape;794;p5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8" name="Google Shape;79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2" name="Google Shape;802;p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3" name="Google Shape;803;p6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8" name="Google Shape;80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1" name="Google Shape;811;p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7" name="Google Shape;81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0" name="Google Shape;820;p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1" name="Google Shape;821;p6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6" name="Google Shape;82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9" name="Google Shape;829;p6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0" name="Google Shape;830;p6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6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8" name="Google Shape;838;p6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6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4" name="Google Shape;8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6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7" name="Google Shape;847;p6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8" name="Google Shape;848;p6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3" name="Google Shape;85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6" name="Google Shape;856;p6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6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6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2" name="Google Shape;86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6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5" name="Google Shape;865;p6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6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8" name="Google Shape;868;p68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869" name="Google Shape;869;p68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0" name="Google Shape;870;p68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1" name="Google Shape;871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68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3" name="Google Shape;873;p6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6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6" name="Google Shape;876;p69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877" name="Google Shape;877;p69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8" name="Google Shape;878;p69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9" name="Google Shape;879;p6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6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6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6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Google Shape;894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1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2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8" name="Google Shape;898;p7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4" name="Google Shape;904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5" name="Google Shape;905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9.png"/><Relationship Id="rId4" Type="http://schemas.openxmlformats.org/officeDocument/2006/relationships/image" Target="../media/image74.png"/><Relationship Id="rId5" Type="http://schemas.openxmlformats.org/officeDocument/2006/relationships/image" Target="../media/image7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6.png"/><Relationship Id="rId4" Type="http://schemas.openxmlformats.org/officeDocument/2006/relationships/image" Target="../media/image7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5.png"/><Relationship Id="rId4" Type="http://schemas.openxmlformats.org/officeDocument/2006/relationships/image" Target="../media/image7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4.png"/><Relationship Id="rId4" Type="http://schemas.openxmlformats.org/officeDocument/2006/relationships/image" Target="../media/image8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0.png"/><Relationship Id="rId4" Type="http://schemas.openxmlformats.org/officeDocument/2006/relationships/image" Target="../media/image8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1.png"/><Relationship Id="rId4" Type="http://schemas.openxmlformats.org/officeDocument/2006/relationships/image" Target="../media/image8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8.png"/><Relationship Id="rId4" Type="http://schemas.openxmlformats.org/officeDocument/2006/relationships/image" Target="../media/image9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9.png"/><Relationship Id="rId4" Type="http://schemas.openxmlformats.org/officeDocument/2006/relationships/image" Target="../media/image74.png"/><Relationship Id="rId5" Type="http://schemas.openxmlformats.org/officeDocument/2006/relationships/image" Target="../media/image7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7.png"/><Relationship Id="rId4" Type="http://schemas.openxmlformats.org/officeDocument/2006/relationships/image" Target="../media/image9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7.png"/><Relationship Id="rId4" Type="http://schemas.openxmlformats.org/officeDocument/2006/relationships/image" Target="../media/image92.png"/><Relationship Id="rId5" Type="http://schemas.openxmlformats.org/officeDocument/2006/relationships/image" Target="../media/image9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4.png"/><Relationship Id="rId4" Type="http://schemas.openxmlformats.org/officeDocument/2006/relationships/image" Target="../media/image9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9.png"/><Relationship Id="rId4" Type="http://schemas.openxmlformats.org/officeDocument/2006/relationships/image" Target="../media/image10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4.png"/><Relationship Id="rId4" Type="http://schemas.openxmlformats.org/officeDocument/2006/relationships/image" Target="../media/image96.png"/><Relationship Id="rId5" Type="http://schemas.openxmlformats.org/officeDocument/2006/relationships/image" Target="../media/image10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number and algebra</a:t>
            </a:r>
            <a:endParaRPr/>
          </a:p>
        </p:txBody>
      </p:sp>
      <p:sp>
        <p:nvSpPr>
          <p:cNvPr id="911" name="Google Shape;911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functionality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5"/>
          <p:cNvSpPr txBox="1"/>
          <p:nvPr/>
        </p:nvSpPr>
        <p:spPr>
          <a:xfrm>
            <a:off x="4824000" y="1184625"/>
            <a:ext cx="39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6"/>
          <p:cNvSpPr txBox="1"/>
          <p:nvPr>
            <p:ph idx="1" type="subTitle"/>
          </p:nvPr>
        </p:nvSpPr>
        <p:spPr>
          <a:xfrm>
            <a:off x="666000" y="1620000"/>
            <a:ext cx="73512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fx-CG50 to perform calculations with numbers and solve equations numerically.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7"/>
          <p:cNvSpPr txBox="1"/>
          <p:nvPr>
            <p:ph idx="1" type="subTitle"/>
          </p:nvPr>
        </p:nvSpPr>
        <p:spPr>
          <a:xfrm>
            <a:off x="324000" y="8100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An equation is used to show 2 expressions that are equal to each other. 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927" name="Google Shape;927;p77"/>
          <p:cNvSpPr txBox="1"/>
          <p:nvPr>
            <p:ph idx="1" type="subTitle"/>
          </p:nvPr>
        </p:nvSpPr>
        <p:spPr>
          <a:xfrm>
            <a:off x="324000" y="1884342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Equations which represent different relationships between the same variables are called simultaneous equations. </a:t>
            </a:r>
            <a:endParaRPr b="0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8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933" name="Google Shape;933;p78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number and algebra</a:t>
            </a:r>
            <a:endParaRPr/>
          </a:p>
        </p:txBody>
      </p:sp>
      <p:sp>
        <p:nvSpPr>
          <p:cNvPr id="934" name="Google Shape;934;p78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pic>
        <p:nvPicPr>
          <p:cNvPr id="935" name="Google Shape;93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42" y="205631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pic>
        <p:nvPicPr>
          <p:cNvPr id="941" name="Google Shape;941;p7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178150" y="2359225"/>
            <a:ext cx="2722749" cy="93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79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4" name="Google Shape;944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9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6" name="Google Shape;946;p79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2058900"/>
            <a:ext cx="2722749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9"/>
          <p:cNvSpPr txBox="1"/>
          <p:nvPr/>
        </p:nvSpPr>
        <p:spPr>
          <a:xfrm>
            <a:off x="1398000" y="2058900"/>
            <a:ext cx="23049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Calculators can do a lot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numerically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9"/>
          <p:cNvSpPr txBox="1"/>
          <p:nvPr/>
        </p:nvSpPr>
        <p:spPr>
          <a:xfrm>
            <a:off x="5279250" y="2434525"/>
            <a:ext cx="2406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fx-CG50 can also solve graphically.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5534" y="543172"/>
            <a:ext cx="2734800" cy="4399338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955" name="Google Shape;955;p80"/>
          <p:cNvSpPr txBox="1"/>
          <p:nvPr>
            <p:ph idx="1" type="body"/>
          </p:nvPr>
        </p:nvSpPr>
        <p:spPr>
          <a:xfrm>
            <a:off x="324000" y="810000"/>
            <a:ext cx="6154500" cy="21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fx-CG50 allows you to draw graphs and then analyse them.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From the main menu, navigate to the ‘Graph’ option and press ‘EXE’.</a:t>
            </a:r>
            <a:endParaRPr/>
          </a:p>
        </p:txBody>
      </p:sp>
      <p:cxnSp>
        <p:nvCxnSpPr>
          <p:cNvPr id="956" name="Google Shape;956;p80"/>
          <p:cNvCxnSpPr/>
          <p:nvPr/>
        </p:nvCxnSpPr>
        <p:spPr>
          <a:xfrm flipH="1" rot="10800000">
            <a:off x="5942925" y="1817475"/>
            <a:ext cx="754200" cy="41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962" name="Google Shape;962;p81"/>
          <p:cNvSpPr txBox="1"/>
          <p:nvPr>
            <p:ph idx="1" type="body"/>
          </p:nvPr>
        </p:nvSpPr>
        <p:spPr>
          <a:xfrm>
            <a:off x="324000" y="810000"/>
            <a:ext cx="8496000" cy="75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enter the equation of the graph on this screen, using the         button to input the variable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/>
              <a:t>.</a:t>
            </a:r>
            <a:endParaRPr sz="2400"/>
          </a:p>
        </p:txBody>
      </p:sp>
      <p:pic>
        <p:nvPicPr>
          <p:cNvPr id="963" name="Google Shape;96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238" y="1918500"/>
            <a:ext cx="3217525" cy="18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391" y="1209134"/>
            <a:ext cx="56197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8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970" name="Google Shape;970;p82"/>
          <p:cNvSpPr txBox="1"/>
          <p:nvPr>
            <p:ph idx="1" type="body"/>
          </p:nvPr>
        </p:nvSpPr>
        <p:spPr>
          <a:xfrm>
            <a:off x="324000" y="810000"/>
            <a:ext cx="84960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ready, press F6 to draw the graph. If you have entered the equations for multiple graphs, then the calculator will draw them all.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1" name="Google Shape;97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959225"/>
            <a:ext cx="3642975" cy="21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025" y="1961163"/>
            <a:ext cx="3642974" cy="20970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82"/>
          <p:cNvCxnSpPr>
            <a:stCxn id="971" idx="3"/>
            <a:endCxn id="972" idx="1"/>
          </p:cNvCxnSpPr>
          <p:nvPr/>
        </p:nvCxnSpPr>
        <p:spPr>
          <a:xfrm>
            <a:off x="3966975" y="3009700"/>
            <a:ext cx="121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3"/>
          <p:cNvSpPr txBox="1"/>
          <p:nvPr>
            <p:ph idx="1" type="subTitle"/>
          </p:nvPr>
        </p:nvSpPr>
        <p:spPr>
          <a:xfrm>
            <a:off x="324000" y="3577125"/>
            <a:ext cx="810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are spaces for up to 20 equations of graphs to be entered.</a:t>
            </a:r>
            <a:endParaRPr/>
          </a:p>
        </p:txBody>
      </p:sp>
      <p:sp>
        <p:nvSpPr>
          <p:cNvPr id="979" name="Google Shape;979;p83"/>
          <p:cNvSpPr txBox="1"/>
          <p:nvPr>
            <p:ph idx="2" type="subTitle"/>
          </p:nvPr>
        </p:nvSpPr>
        <p:spPr>
          <a:xfrm>
            <a:off x="324000" y="1080000"/>
            <a:ext cx="713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calculator can only plot one graph at a time.</a:t>
            </a:r>
            <a:endParaRPr/>
          </a:p>
        </p:txBody>
      </p:sp>
      <p:sp>
        <p:nvSpPr>
          <p:cNvPr id="980" name="Google Shape;980;p83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pic>
        <p:nvPicPr>
          <p:cNvPr id="981" name="Google Shape;98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0755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8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987" name="Google Shape;987;p84"/>
          <p:cNvSpPr txBox="1"/>
          <p:nvPr>
            <p:ph idx="1" type="body"/>
          </p:nvPr>
        </p:nvSpPr>
        <p:spPr>
          <a:xfrm>
            <a:off x="324000" y="81000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Once you have drawn your graph(s), you can use the ‘G-Solve’ menu to analyse the graph(s).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8" name="Google Shape;98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20000"/>
            <a:ext cx="3854150" cy="222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4"/>
          <p:cNvSpPr txBox="1"/>
          <p:nvPr/>
        </p:nvSpPr>
        <p:spPr>
          <a:xfrm>
            <a:off x="4381775" y="1620000"/>
            <a:ext cx="44382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Pressing ‘SHIFT’ followed by F5 lets you access ‘G-Solve’.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4" name="Google Shape;99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53400"/>
            <a:ext cx="3854150" cy="2223816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8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996" name="Google Shape;996;p85"/>
          <p:cNvSpPr txBox="1"/>
          <p:nvPr>
            <p:ph idx="1" type="body"/>
          </p:nvPr>
        </p:nvSpPr>
        <p:spPr>
          <a:xfrm>
            <a:off x="324000" y="810000"/>
            <a:ext cx="8496000" cy="115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find the root(s), the maximum/minimum point(s),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 and the points of intersection if you have multiple graphs.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60000"/>
            <a:ext cx="3854150" cy="2217746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003" name="Google Shape;1003;p86"/>
          <p:cNvSpPr txBox="1"/>
          <p:nvPr>
            <p:ph idx="1" type="body"/>
          </p:nvPr>
        </p:nvSpPr>
        <p:spPr>
          <a:xfrm>
            <a:off x="324000" y="810000"/>
            <a:ext cx="8496000" cy="8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first point of intersection is 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= −2,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=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arrows can be used to select the next point.</a:t>
            </a:r>
            <a:endParaRPr/>
          </a:p>
        </p:txBody>
      </p:sp>
      <p:pic>
        <p:nvPicPr>
          <p:cNvPr id="1004" name="Google Shape;1004;p86"/>
          <p:cNvPicPr preferRelativeResize="0"/>
          <p:nvPr/>
        </p:nvPicPr>
        <p:blipFill rotWithShape="1">
          <a:blip r:embed="rId4">
            <a:alphaModFix/>
          </a:blip>
          <a:srcRect b="0" l="4378" r="10268" t="0"/>
          <a:stretch/>
        </p:blipFill>
        <p:spPr>
          <a:xfrm>
            <a:off x="7172250" y="1371325"/>
            <a:ext cx="114635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7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010" name="Google Shape;1010;p87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are the coordinates of the second point of intersection?</a:t>
            </a:r>
            <a:endParaRPr/>
          </a:p>
        </p:txBody>
      </p:sp>
      <p:pic>
        <p:nvPicPr>
          <p:cNvPr id="1011" name="Google Shape;101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20000"/>
            <a:ext cx="51244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7"/>
          <p:cNvSpPr txBox="1"/>
          <p:nvPr/>
        </p:nvSpPr>
        <p:spPr>
          <a:xfrm>
            <a:off x="5641250" y="1620000"/>
            <a:ext cx="31788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(0, 2)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8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018" name="Google Shape;1018;p88"/>
          <p:cNvSpPr txBox="1"/>
          <p:nvPr>
            <p:ph idx="1" type="body"/>
          </p:nvPr>
        </p:nvSpPr>
        <p:spPr>
          <a:xfrm>
            <a:off x="324000" y="8100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1) Use your calculator to solve these pairs of simultaneous equations.</a:t>
            </a:r>
            <a:endParaRPr/>
          </a:p>
        </p:txBody>
      </p:sp>
      <p:sp>
        <p:nvSpPr>
          <p:cNvPr id="1019" name="Google Shape;1019;p88"/>
          <p:cNvSpPr txBox="1"/>
          <p:nvPr>
            <p:ph idx="2" type="body"/>
          </p:nvPr>
        </p:nvSpPr>
        <p:spPr>
          <a:xfrm>
            <a:off x="324000" y="1544325"/>
            <a:ext cx="38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0" name="Google Shape;1020;p88"/>
          <p:cNvSpPr txBox="1"/>
          <p:nvPr>
            <p:ph idx="2" type="body"/>
          </p:nvPr>
        </p:nvSpPr>
        <p:spPr>
          <a:xfrm>
            <a:off x="4655900" y="1544325"/>
            <a:ext cx="38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b)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88"/>
          <p:cNvSpPr txBox="1"/>
          <p:nvPr/>
        </p:nvSpPr>
        <p:spPr>
          <a:xfrm>
            <a:off x="5022684" y="1521175"/>
            <a:ext cx="18552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13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8"/>
          <p:cNvSpPr txBox="1"/>
          <p:nvPr/>
        </p:nvSpPr>
        <p:spPr>
          <a:xfrm>
            <a:off x="666009" y="1544325"/>
            <a:ext cx="18552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028" name="Google Shape;1028;p89"/>
          <p:cNvSpPr txBox="1"/>
          <p:nvPr>
            <p:ph idx="1" type="body"/>
          </p:nvPr>
        </p:nvSpPr>
        <p:spPr>
          <a:xfrm>
            <a:off x="324000" y="810000"/>
            <a:ext cx="82377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) For each pair of simultaneous equations, write down what your </a:t>
            </a:r>
            <a:r>
              <a:rPr lang="en-GB" sz="2000">
                <a:solidFill>
                  <a:srgbClr val="000000"/>
                </a:solidFill>
              </a:rPr>
              <a:t>calculator</a:t>
            </a:r>
            <a:r>
              <a:rPr lang="en-GB" sz="2000">
                <a:solidFill>
                  <a:srgbClr val="000000"/>
                </a:solidFill>
              </a:rPr>
              <a:t> says when you try to solve them graphically. Why do you think the calculator gives this output?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666518" y="2050566"/>
            <a:ext cx="18552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63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0" name="Google Shape;1030;p89"/>
          <p:cNvSpPr txBox="1"/>
          <p:nvPr>
            <p:ph idx="2" type="body"/>
          </p:nvPr>
        </p:nvSpPr>
        <p:spPr>
          <a:xfrm>
            <a:off x="324000" y="2077725"/>
            <a:ext cx="38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89"/>
          <p:cNvSpPr txBox="1"/>
          <p:nvPr>
            <p:ph idx="2" type="body"/>
          </p:nvPr>
        </p:nvSpPr>
        <p:spPr>
          <a:xfrm>
            <a:off x="3360500" y="2077725"/>
            <a:ext cx="38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b)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89"/>
          <p:cNvSpPr txBox="1"/>
          <p:nvPr>
            <p:ph idx="2" type="body"/>
          </p:nvPr>
        </p:nvSpPr>
        <p:spPr>
          <a:xfrm>
            <a:off x="6248938" y="2077725"/>
            <a:ext cx="38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c)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3" name="Google Shape;1033;p89"/>
          <p:cNvSpPr txBox="1"/>
          <p:nvPr/>
        </p:nvSpPr>
        <p:spPr>
          <a:xfrm>
            <a:off x="6561760" y="2050566"/>
            <a:ext cx="18552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4" name="Google Shape;1034;p89"/>
          <p:cNvSpPr txBox="1"/>
          <p:nvPr/>
        </p:nvSpPr>
        <p:spPr>
          <a:xfrm>
            <a:off x="3678843" y="2050566"/>
            <a:ext cx="18552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4}{3}x-7&quot;&gt;&lt;mi&gt;y&lt;/mi&gt;&lt;mo&gt;=&lt;/mo&gt;&lt;mfrac&gt;&lt;mn&gt;4&lt;/mn&gt;&lt;mn&gt;3&lt;/mn&gt;&lt;/mfrac&gt;&lt;mi&gt;x&lt;/mi&gt;&lt;mo&gt;−&lt;/mo&gt;&lt;mn&gt;7&lt;/mn&gt;&lt;/math&gt;" id="1035" name="Google Shape;1035;p89" title="y equals four thirds x minus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365" y="2446995"/>
            <a:ext cx="1258000" cy="555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9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041" name="Google Shape;1041;p90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3) Use your calculator to estimate the solutions to this pair of simultaneous equations to 3 d.p.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42" name="Google Shape;1042;p90"/>
          <p:cNvSpPr txBox="1"/>
          <p:nvPr/>
        </p:nvSpPr>
        <p:spPr>
          <a:xfrm>
            <a:off x="345456" y="2045597"/>
            <a:ext cx="171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1.7 − 0.8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0"/>
          <p:cNvSpPr txBox="1"/>
          <p:nvPr/>
        </p:nvSpPr>
        <p:spPr>
          <a:xfrm>
            <a:off x="324000" y="1620000"/>
            <a:ext cx="229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9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049" name="Google Shape;1049;p91"/>
          <p:cNvSpPr txBox="1"/>
          <p:nvPr>
            <p:ph idx="1" type="body"/>
          </p:nvPr>
        </p:nvSpPr>
        <p:spPr>
          <a:xfrm>
            <a:off x="324000" y="8100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1) Use your calculator to solve these pairs of simultaneous equations.</a:t>
            </a:r>
            <a:endParaRPr/>
          </a:p>
        </p:txBody>
      </p:sp>
      <p:sp>
        <p:nvSpPr>
          <p:cNvPr id="1050" name="Google Shape;1050;p91"/>
          <p:cNvSpPr txBox="1"/>
          <p:nvPr>
            <p:ph idx="2" type="body"/>
          </p:nvPr>
        </p:nvSpPr>
        <p:spPr>
          <a:xfrm>
            <a:off x="4655900" y="1544325"/>
            <a:ext cx="38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b)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1" name="Google Shape;1051;p91"/>
          <p:cNvSpPr txBox="1"/>
          <p:nvPr/>
        </p:nvSpPr>
        <p:spPr>
          <a:xfrm>
            <a:off x="5022684" y="1521175"/>
            <a:ext cx="18552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13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1"/>
          <p:cNvSpPr txBox="1"/>
          <p:nvPr/>
        </p:nvSpPr>
        <p:spPr>
          <a:xfrm>
            <a:off x="666009" y="1544325"/>
            <a:ext cx="18552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3" name="Google Shape;1053;p91"/>
          <p:cNvSpPr txBox="1"/>
          <p:nvPr>
            <p:ph idx="2" type="body"/>
          </p:nvPr>
        </p:nvSpPr>
        <p:spPr>
          <a:xfrm>
            <a:off x="324000" y="1544325"/>
            <a:ext cx="38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4" name="Google Shape;105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524725"/>
            <a:ext cx="2760600" cy="159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91"/>
          <p:cNvSpPr txBox="1"/>
          <p:nvPr/>
        </p:nvSpPr>
        <p:spPr>
          <a:xfrm>
            <a:off x="324000" y="4215700"/>
            <a:ext cx="27606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− 4.5,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− 7.5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6" name="Google Shape;1056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5900" y="2528375"/>
            <a:ext cx="2760600" cy="1587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1"/>
          <p:cNvSpPr txBox="1"/>
          <p:nvPr/>
        </p:nvSpPr>
        <p:spPr>
          <a:xfrm>
            <a:off x="4667400" y="4215700"/>
            <a:ext cx="27606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4,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9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063" name="Google Shape;1063;p92"/>
          <p:cNvSpPr txBox="1"/>
          <p:nvPr>
            <p:ph idx="1" type="body"/>
          </p:nvPr>
        </p:nvSpPr>
        <p:spPr>
          <a:xfrm>
            <a:off x="324000" y="810000"/>
            <a:ext cx="82377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2) For each pair of simultaneous equations, write down what your calculator says when you try to solve them graphically. Why do you think the calculator gives this output?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064" name="Google Shape;1064;p92"/>
          <p:cNvSpPr txBox="1"/>
          <p:nvPr/>
        </p:nvSpPr>
        <p:spPr>
          <a:xfrm>
            <a:off x="666518" y="2050566"/>
            <a:ext cx="18552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63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5" name="Google Shape;1065;p92"/>
          <p:cNvSpPr txBox="1"/>
          <p:nvPr>
            <p:ph idx="2" type="body"/>
          </p:nvPr>
        </p:nvSpPr>
        <p:spPr>
          <a:xfrm>
            <a:off x="324000" y="2077725"/>
            <a:ext cx="38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6" name="Google Shape;106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7" y="2946600"/>
            <a:ext cx="3128528" cy="18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92"/>
          <p:cNvSpPr txBox="1"/>
          <p:nvPr>
            <p:ph idx="4294967295" type="title"/>
          </p:nvPr>
        </p:nvSpPr>
        <p:spPr>
          <a:xfrm>
            <a:off x="3676500" y="2160000"/>
            <a:ext cx="5143500" cy="1539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calculator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 could not find a solution as there is no point of intersection. 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The lines are parallel as 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they have the same gradient.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9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073" name="Google Shape;1073;p93"/>
          <p:cNvSpPr txBox="1"/>
          <p:nvPr>
            <p:ph idx="1" type="body"/>
          </p:nvPr>
        </p:nvSpPr>
        <p:spPr>
          <a:xfrm>
            <a:off x="324000" y="810000"/>
            <a:ext cx="82377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2) For each pair of simultaneous equations, write down what your calculator says when you try to solve them graphically. Why do you think the calculator gives this output?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074" name="Google Shape;1074;p93"/>
          <p:cNvSpPr txBox="1"/>
          <p:nvPr>
            <p:ph idx="2" type="body"/>
          </p:nvPr>
        </p:nvSpPr>
        <p:spPr>
          <a:xfrm>
            <a:off x="3360500" y="2077725"/>
            <a:ext cx="38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b)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93"/>
          <p:cNvSpPr txBox="1"/>
          <p:nvPr/>
        </p:nvSpPr>
        <p:spPr>
          <a:xfrm>
            <a:off x="3678843" y="2050566"/>
            <a:ext cx="18552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4}{3}x-7&quot;&gt;&lt;mi&gt;y&lt;/mi&gt;&lt;mo&gt;=&lt;/mo&gt;&lt;mfrac&gt;&lt;mn&gt;4&lt;/mn&gt;&lt;mn&gt;3&lt;/mn&gt;&lt;/mfrac&gt;&lt;mi&gt;x&lt;/mi&gt;&lt;mo&gt;−&lt;/mo&gt;&lt;mn&gt;7&lt;/mn&gt;&lt;/math&gt;" id="1076" name="Google Shape;1076;p93" title="y equals four thirds x minus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365" y="2446995"/>
            <a:ext cx="1258000" cy="555583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3"/>
          <p:cNvSpPr txBox="1"/>
          <p:nvPr>
            <p:ph idx="4294967295" type="title"/>
          </p:nvPr>
        </p:nvSpPr>
        <p:spPr>
          <a:xfrm>
            <a:off x="3603423" y="3294425"/>
            <a:ext cx="4767900" cy="123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The lines have one intersection which the 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calculator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 was able to find. It displays the coordinates of the point of intersection.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78" name="Google Shape;107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00" y="2946600"/>
            <a:ext cx="3128524" cy="1805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9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084" name="Google Shape;1084;p94"/>
          <p:cNvSpPr txBox="1"/>
          <p:nvPr>
            <p:ph idx="1" type="body"/>
          </p:nvPr>
        </p:nvSpPr>
        <p:spPr>
          <a:xfrm>
            <a:off x="324000" y="810000"/>
            <a:ext cx="82377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2) For each pair of simultaneous equations, write down what your calculator says when you try to solve them graphically. Why do you think the calculator gives this output?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085" name="Google Shape;1085;p94"/>
          <p:cNvSpPr txBox="1"/>
          <p:nvPr>
            <p:ph idx="2" type="body"/>
          </p:nvPr>
        </p:nvSpPr>
        <p:spPr>
          <a:xfrm>
            <a:off x="6248938" y="2077725"/>
            <a:ext cx="38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c)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6" name="Google Shape;1086;p94"/>
          <p:cNvSpPr txBox="1"/>
          <p:nvPr/>
        </p:nvSpPr>
        <p:spPr>
          <a:xfrm>
            <a:off x="6561760" y="2050566"/>
            <a:ext cx="18552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7" name="Google Shape;108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975" y="2946600"/>
            <a:ext cx="3128525" cy="1802682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94"/>
          <p:cNvSpPr txBox="1"/>
          <p:nvPr>
            <p:ph idx="4294967295" type="title"/>
          </p:nvPr>
        </p:nvSpPr>
        <p:spPr>
          <a:xfrm>
            <a:off x="3537100" y="3030975"/>
            <a:ext cx="5283000" cy="1462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900">
                <a:latin typeface="Kalam"/>
                <a:ea typeface="Kalam"/>
                <a:cs typeface="Kalam"/>
                <a:sym typeface="Kalam"/>
              </a:rPr>
              <a:t>E.g.</a:t>
            </a:r>
            <a:endParaRPr b="0"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9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0" lang="en-GB" sz="1900">
                <a:latin typeface="Kalam"/>
                <a:ea typeface="Kalam"/>
                <a:cs typeface="Kalam"/>
                <a:sym typeface="Kalam"/>
              </a:rPr>
              <a:t>calculator</a:t>
            </a:r>
            <a:r>
              <a:rPr b="0" lang="en-GB" sz="1900">
                <a:latin typeface="Kalam"/>
                <a:ea typeface="Kalam"/>
                <a:cs typeface="Kalam"/>
                <a:sym typeface="Kalam"/>
              </a:rPr>
              <a:t> gives a point of intersection. Scrolling reveals that </a:t>
            </a:r>
            <a:r>
              <a:rPr b="0" lang="en-GB" sz="1900">
                <a:latin typeface="Kalam"/>
                <a:ea typeface="Kalam"/>
                <a:cs typeface="Kalam"/>
                <a:sym typeface="Kalam"/>
              </a:rPr>
              <a:t>there</a:t>
            </a:r>
            <a:r>
              <a:rPr b="0" lang="en-GB" sz="1900">
                <a:latin typeface="Kalam"/>
                <a:ea typeface="Kalam"/>
                <a:cs typeface="Kalam"/>
                <a:sym typeface="Kalam"/>
              </a:rPr>
              <a:t> are many points of intersection. This is because the two lines are the same so they  have infinitely many solutions.</a:t>
            </a:r>
            <a:endParaRPr b="0"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9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094" name="Google Shape;1094;p95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3) Use your calculator to estimate the solutions to this pair of simultaneous equations to 3 d.p.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95" name="Google Shape;1095;p95"/>
          <p:cNvSpPr txBox="1"/>
          <p:nvPr/>
        </p:nvSpPr>
        <p:spPr>
          <a:xfrm>
            <a:off x="345456" y="2045597"/>
            <a:ext cx="171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1.7 − 0.8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5"/>
          <p:cNvSpPr txBox="1"/>
          <p:nvPr/>
        </p:nvSpPr>
        <p:spPr>
          <a:xfrm>
            <a:off x="324000" y="1620000"/>
            <a:ext cx="229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00"/>
          </a:p>
        </p:txBody>
      </p:sp>
      <p:pic>
        <p:nvPicPr>
          <p:cNvPr id="1097" name="Google Shape;109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750" y="1620000"/>
            <a:ext cx="3078400" cy="17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625" y="1620000"/>
            <a:ext cx="3088369" cy="17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95"/>
          <p:cNvSpPr txBox="1"/>
          <p:nvPr/>
        </p:nvSpPr>
        <p:spPr>
          <a:xfrm>
            <a:off x="2224750" y="3475700"/>
            <a:ext cx="27606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0.518,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1.286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0" name="Google Shape;1100;p95"/>
          <p:cNvSpPr txBox="1"/>
          <p:nvPr/>
        </p:nvSpPr>
        <p:spPr>
          <a:xfrm>
            <a:off x="5731625" y="3475700"/>
            <a:ext cx="3088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3.282,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− 0.926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96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graphically</a:t>
            </a:r>
            <a:endParaRPr/>
          </a:p>
        </p:txBody>
      </p:sp>
      <p:sp>
        <p:nvSpPr>
          <p:cNvPr id="1106" name="Google Shape;1106;p96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number and algebra</a:t>
            </a:r>
            <a:endParaRPr/>
          </a:p>
        </p:txBody>
      </p:sp>
      <p:sp>
        <p:nvSpPr>
          <p:cNvPr id="1107" name="Google Shape;1107;p96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pic>
        <p:nvPicPr>
          <p:cNvPr id="1108" name="Google Shape;110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42" y="299334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9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pic>
        <p:nvPicPr>
          <p:cNvPr id="1114" name="Google Shape;1114;p9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354675" y="2359225"/>
            <a:ext cx="2546227" cy="93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7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7" name="Google Shape;1117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97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9" name="Google Shape;1119;p97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1898450"/>
            <a:ext cx="2904325" cy="134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7"/>
          <p:cNvSpPr txBox="1"/>
          <p:nvPr/>
        </p:nvSpPr>
        <p:spPr>
          <a:xfrm>
            <a:off x="1398000" y="2058900"/>
            <a:ext cx="25461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does this calculator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only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solve equations graphically?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7"/>
          <p:cNvSpPr txBox="1"/>
          <p:nvPr/>
        </p:nvSpPr>
        <p:spPr>
          <a:xfrm>
            <a:off x="5535675" y="2434525"/>
            <a:ext cx="2149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Nope! It can even deal with formulas.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5534" y="543172"/>
            <a:ext cx="2734800" cy="4399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8"/>
          <p:cNvSpPr txBox="1"/>
          <p:nvPr>
            <p:ph idx="1" type="body"/>
          </p:nvPr>
        </p:nvSpPr>
        <p:spPr>
          <a:xfrm>
            <a:off x="324000" y="810000"/>
            <a:ext cx="5385000" cy="25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fx-CG50 allows you to solve equations numerically and evaluate formulas.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From the main menu, navigate to the ‘Equation’ option and press ‘EXE’.</a:t>
            </a:r>
            <a:endParaRPr/>
          </a:p>
        </p:txBody>
      </p:sp>
      <p:sp>
        <p:nvSpPr>
          <p:cNvPr id="1128" name="Google Shape;1128;p9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cxnSp>
        <p:nvCxnSpPr>
          <p:cNvPr id="1129" name="Google Shape;1129;p98"/>
          <p:cNvCxnSpPr/>
          <p:nvPr/>
        </p:nvCxnSpPr>
        <p:spPr>
          <a:xfrm flipH="1" rot="10800000">
            <a:off x="5090700" y="2044075"/>
            <a:ext cx="2021400" cy="588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9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135" name="Google Shape;1135;p99"/>
          <p:cNvSpPr txBox="1"/>
          <p:nvPr/>
        </p:nvSpPr>
        <p:spPr>
          <a:xfrm>
            <a:off x="324000" y="3240000"/>
            <a:ext cx="8496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Once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‘Equation’ has been chosen, select ‘Solver’ by pressing F3.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6" name="Google Shape;113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088" y="1331700"/>
            <a:ext cx="3045833" cy="17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0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142" name="Google Shape;1142;p100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Enter the equation or formula, using the ‘ALPHA’ button to select different variables as required.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100"/>
          <p:cNvSpPr txBox="1"/>
          <p:nvPr>
            <p:ph idx="1" type="body"/>
          </p:nvPr>
        </p:nvSpPr>
        <p:spPr>
          <a:xfrm>
            <a:off x="324000" y="1625641"/>
            <a:ext cx="84960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is the value of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/>
              <a:t> when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210</a:t>
            </a:r>
            <a:r>
              <a:rPr lang="en-GB" sz="2100"/>
              <a:t>,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100"/>
              <a:t> and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 sz="2100"/>
              <a:t>?</a:t>
            </a:r>
            <a:endParaRPr sz="2100"/>
          </a:p>
        </p:txBody>
      </p:sp>
      <p:pic>
        <p:nvPicPr>
          <p:cNvPr descr="s equals u t plus one half a t squared&#10;&#10;&lt;math xmlns=&quot;http://www.w3.org/1998/Math/MathML&quot; display=&quot;block&quot; data-is-equatio=&quot;1&quot; data-latex=&quot;s=ut+\frac{1}{2}at^2&quot;&gt;&lt;mi&gt;s&lt;/mi&gt;&lt;mo&gt;=&lt;/mo&gt;&lt;mi&gt;u&lt;/mi&gt;&lt;mi&gt;t&lt;/mi&gt;&lt;mo&gt;+&lt;/mo&gt;&lt;mfrac&gt;&lt;mn&gt;1&lt;/mn&gt;&lt;mn&gt;2&lt;/mn&gt;&lt;/mfrac&gt;&lt;mi&gt;a&lt;/mi&gt;&lt;msup&gt;&lt;mi&gt;t&lt;/mi&gt;&lt;mn&gt;2&lt;/mn&gt;&lt;/msup&gt;&lt;/math&gt;" id="1144" name="Google Shape;114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9" y="2074854"/>
            <a:ext cx="1532400" cy="566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0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150" name="Google Shape;1150;p101"/>
          <p:cNvSpPr txBox="1"/>
          <p:nvPr>
            <p:ph idx="1" type="body"/>
          </p:nvPr>
        </p:nvSpPr>
        <p:spPr>
          <a:xfrm>
            <a:off x="324000" y="809991"/>
            <a:ext cx="84960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is the value of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/>
              <a:t> when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210</a:t>
            </a:r>
            <a:r>
              <a:rPr lang="en-GB" sz="2100"/>
              <a:t>,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100"/>
              <a:t> and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 sz="2100"/>
              <a:t>?</a:t>
            </a:r>
            <a:endParaRPr sz="2100"/>
          </a:p>
        </p:txBody>
      </p:sp>
      <p:pic>
        <p:nvPicPr>
          <p:cNvPr descr="s equals u t plus one half a t squared&#10;&#10;&lt;math xmlns=&quot;http://www.w3.org/1998/Math/MathML&quot; display=&quot;block&quot; data-is-equatio=&quot;1&quot; data-latex=&quot;s=ut+\frac{1}{2}at^2&quot;&gt;&lt;mi&gt;s&lt;/mi&gt;&lt;mo&gt;=&lt;/mo&gt;&lt;mi&gt;u&lt;/mi&gt;&lt;mi&gt;t&lt;/mi&gt;&lt;mo&gt;+&lt;/mo&gt;&lt;mfrac&gt;&lt;mn&gt;1&lt;/mn&gt;&lt;mn&gt;2&lt;/mn&gt;&lt;/mfrac&gt;&lt;mi&gt;a&lt;/mi&gt;&lt;msup&gt;&lt;mi&gt;t&lt;/mi&gt;&lt;mn&gt;2&lt;/mn&gt;&lt;/msup&gt;&lt;/math&gt;" id="1151" name="Google Shape;115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9" y="1259204"/>
            <a:ext cx="1532400" cy="56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921273"/>
            <a:ext cx="3995025" cy="2294541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101"/>
          <p:cNvSpPr txBox="1"/>
          <p:nvPr/>
        </p:nvSpPr>
        <p:spPr>
          <a:xfrm>
            <a:off x="4572000" y="1921275"/>
            <a:ext cx="42480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Remember to use the ‘ALPHA’ button to enter the variables.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does not matter that they appear as capital letters.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8" name="Google Shape;115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921275"/>
            <a:ext cx="3989569" cy="22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10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160" name="Google Shape;1160;p102"/>
          <p:cNvSpPr txBox="1"/>
          <p:nvPr>
            <p:ph idx="1" type="body"/>
          </p:nvPr>
        </p:nvSpPr>
        <p:spPr>
          <a:xfrm>
            <a:off x="324000" y="809991"/>
            <a:ext cx="84960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is the value of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/>
              <a:t> when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210</a:t>
            </a:r>
            <a:r>
              <a:rPr lang="en-GB" sz="2100"/>
              <a:t>,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100"/>
              <a:t> and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 sz="2100"/>
              <a:t>?</a:t>
            </a:r>
            <a:endParaRPr sz="2100"/>
          </a:p>
        </p:txBody>
      </p:sp>
      <p:pic>
        <p:nvPicPr>
          <p:cNvPr descr="s equals u t plus one half a t squared&#10;&#10;&lt;math xmlns=&quot;http://www.w3.org/1998/Math/MathML&quot; display=&quot;block&quot; data-is-equatio=&quot;1&quot; data-latex=&quot;s=ut+\frac{1}{2}at^2&quot;&gt;&lt;mi&gt;s&lt;/mi&gt;&lt;mo&gt;=&lt;/mo&gt;&lt;mi&gt;u&lt;/mi&gt;&lt;mi&gt;t&lt;/mi&gt;&lt;mo&gt;+&lt;/mo&gt;&lt;mfrac&gt;&lt;mn&gt;1&lt;/mn&gt;&lt;mn&gt;2&lt;/mn&gt;&lt;/mfrac&gt;&lt;mi&gt;a&lt;/mi&gt;&lt;msup&gt;&lt;mi&gt;t&lt;/mi&gt;&lt;mn&gt;2&lt;/mn&gt;&lt;/msup&gt;&lt;/math&gt;" id="1161" name="Google Shape;1161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9" y="1259204"/>
            <a:ext cx="1532400" cy="56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102"/>
          <p:cNvSpPr txBox="1"/>
          <p:nvPr/>
        </p:nvSpPr>
        <p:spPr>
          <a:xfrm>
            <a:off x="4572000" y="1921275"/>
            <a:ext cx="42480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Pressing ‘EXE’ then allows you to set the values for the variables.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Enter the known values and leave the one you want to find as 0.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Google Shape;116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921275"/>
            <a:ext cx="3989569" cy="22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10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169" name="Google Shape;1169;p103"/>
          <p:cNvSpPr txBox="1"/>
          <p:nvPr>
            <p:ph idx="1" type="body"/>
          </p:nvPr>
        </p:nvSpPr>
        <p:spPr>
          <a:xfrm>
            <a:off x="324000" y="809991"/>
            <a:ext cx="84960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is the value of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/>
              <a:t> when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210</a:t>
            </a:r>
            <a:r>
              <a:rPr lang="en-GB" sz="2100"/>
              <a:t>,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100"/>
              <a:t> and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 sz="2100"/>
              <a:t>?</a:t>
            </a:r>
            <a:endParaRPr sz="2100"/>
          </a:p>
        </p:txBody>
      </p:sp>
      <p:pic>
        <p:nvPicPr>
          <p:cNvPr descr="s equals u t plus one half a t squared&#10;&#10;&lt;math xmlns=&quot;http://www.w3.org/1998/Math/MathML&quot; display=&quot;block&quot; data-is-equatio=&quot;1&quot; data-latex=&quot;s=ut+\frac{1}{2}at^2&quot;&gt;&lt;mi&gt;s&lt;/mi&gt;&lt;mo&gt;=&lt;/mo&gt;&lt;mi&gt;u&lt;/mi&gt;&lt;mi&gt;t&lt;/mi&gt;&lt;mo&gt;+&lt;/mo&gt;&lt;mfrac&gt;&lt;mn&gt;1&lt;/mn&gt;&lt;mn&gt;2&lt;/mn&gt;&lt;/mfrac&gt;&lt;mi&gt;a&lt;/mi&gt;&lt;msup&gt;&lt;mi&gt;t&lt;/mi&gt;&lt;mn&gt;2&lt;/mn&gt;&lt;/msup&gt;&lt;/math&gt;" id="1170" name="Google Shape;1170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9" y="1259204"/>
            <a:ext cx="1532400" cy="56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03"/>
          <p:cNvSpPr txBox="1"/>
          <p:nvPr/>
        </p:nvSpPr>
        <p:spPr>
          <a:xfrm>
            <a:off x="4572000" y="1921275"/>
            <a:ext cx="42480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Pressing ‘SOLVE’ (F6) then produces the value of the remaining variable.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2" name="Google Shape;1172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921275"/>
            <a:ext cx="4008015" cy="22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04"/>
          <p:cNvSpPr txBox="1"/>
          <p:nvPr>
            <p:ph idx="1" type="subTitle"/>
          </p:nvPr>
        </p:nvSpPr>
        <p:spPr>
          <a:xfrm>
            <a:off x="324000" y="3577125"/>
            <a:ext cx="81093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‘Solver’ mode lets you determine the value of any variable in a formula.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8" name="Google Shape;1178;p104"/>
          <p:cNvSpPr txBox="1"/>
          <p:nvPr>
            <p:ph idx="2" type="subTitle"/>
          </p:nvPr>
        </p:nvSpPr>
        <p:spPr>
          <a:xfrm>
            <a:off x="324000" y="1080000"/>
            <a:ext cx="713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‘Solver’ mode can only </a:t>
            </a:r>
            <a:r>
              <a:rPr lang="en-GB"/>
              <a:t>handle</a:t>
            </a:r>
            <a:r>
              <a:rPr lang="en-GB"/>
              <a:t> linear equations </a:t>
            </a:r>
            <a:endParaRPr/>
          </a:p>
        </p:txBody>
      </p:sp>
      <p:sp>
        <p:nvSpPr>
          <p:cNvPr id="1179" name="Google Shape;1179;p104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pic>
        <p:nvPicPr>
          <p:cNvPr id="1180" name="Google Shape;1180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4408" y="21132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0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186" name="Google Shape;1186;p105"/>
          <p:cNvSpPr txBox="1"/>
          <p:nvPr>
            <p:ph idx="1" type="body"/>
          </p:nvPr>
        </p:nvSpPr>
        <p:spPr>
          <a:xfrm>
            <a:off x="324000" y="810000"/>
            <a:ext cx="8237700" cy="6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Our calculator can also solve pairs of linear simultaneous equations.</a:t>
            </a:r>
            <a:endParaRPr sz="2100"/>
          </a:p>
        </p:txBody>
      </p:sp>
      <p:sp>
        <p:nvSpPr>
          <p:cNvPr id="1187" name="Google Shape;1187;p105"/>
          <p:cNvSpPr txBox="1"/>
          <p:nvPr/>
        </p:nvSpPr>
        <p:spPr>
          <a:xfrm>
            <a:off x="324000" y="3468600"/>
            <a:ext cx="8496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Once ‘Equation’ has been chosen, select ‘Simultaneous’ by pressing F1.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are dealing with simultaneous equations with two unknowns so we select 2.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8" name="Google Shape;118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1543800"/>
            <a:ext cx="3045833" cy="17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0" y="1505100"/>
            <a:ext cx="3045825" cy="174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0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195" name="Google Shape;1195;p106"/>
          <p:cNvSpPr txBox="1"/>
          <p:nvPr>
            <p:ph idx="1" type="body"/>
          </p:nvPr>
        </p:nvSpPr>
        <p:spPr>
          <a:xfrm>
            <a:off x="324000" y="810000"/>
            <a:ext cx="8496000" cy="7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Your calculator will only accept equations in the form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100"/>
              <a:t> so it may be necessary to rearrange before inputting.</a:t>
            </a:r>
            <a:endParaRPr sz="2100"/>
          </a:p>
        </p:txBody>
      </p:sp>
      <p:sp>
        <p:nvSpPr>
          <p:cNvPr id="1196" name="Google Shape;1196;p106"/>
          <p:cNvSpPr txBox="1"/>
          <p:nvPr/>
        </p:nvSpPr>
        <p:spPr>
          <a:xfrm>
            <a:off x="324000" y="3621000"/>
            <a:ext cx="8496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calculator uses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so it is important that you know which variable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representing and which variable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representing.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106"/>
          <p:cNvSpPr txBox="1"/>
          <p:nvPr/>
        </p:nvSpPr>
        <p:spPr>
          <a:xfrm>
            <a:off x="3240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+ 8 = 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106"/>
          <p:cNvSpPr txBox="1"/>
          <p:nvPr/>
        </p:nvSpPr>
        <p:spPr>
          <a:xfrm>
            <a:off x="3240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106"/>
          <p:cNvSpPr txBox="1"/>
          <p:nvPr/>
        </p:nvSpPr>
        <p:spPr>
          <a:xfrm>
            <a:off x="29148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−8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106"/>
          <p:cNvSpPr txBox="1"/>
          <p:nvPr/>
        </p:nvSpPr>
        <p:spPr>
          <a:xfrm>
            <a:off x="29148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1" name="Google Shape;1201;p106"/>
          <p:cNvCxnSpPr>
            <a:stCxn id="1197" idx="3"/>
          </p:cNvCxnSpPr>
          <p:nvPr/>
        </p:nvCxnSpPr>
        <p:spPr>
          <a:xfrm>
            <a:off x="1913110" y="1948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2" name="Google Shape;1202;p106"/>
          <p:cNvCxnSpPr/>
          <p:nvPr/>
        </p:nvCxnSpPr>
        <p:spPr>
          <a:xfrm>
            <a:off x="1913110" y="2710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0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208" name="Google Shape;1208;p107"/>
          <p:cNvSpPr txBox="1"/>
          <p:nvPr>
            <p:ph idx="1" type="body"/>
          </p:nvPr>
        </p:nvSpPr>
        <p:spPr>
          <a:xfrm>
            <a:off x="324000" y="810000"/>
            <a:ext cx="8496000" cy="7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Your calculator will only accept equations in the form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100"/>
              <a:t> so it may be necessary to rearrange before inputting.</a:t>
            </a:r>
            <a:endParaRPr sz="2100"/>
          </a:p>
        </p:txBody>
      </p:sp>
      <p:sp>
        <p:nvSpPr>
          <p:cNvPr id="1209" name="Google Shape;1209;p107"/>
          <p:cNvSpPr txBox="1"/>
          <p:nvPr/>
        </p:nvSpPr>
        <p:spPr>
          <a:xfrm>
            <a:off x="324000" y="4031385"/>
            <a:ext cx="8496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 careful with any negative values.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107"/>
          <p:cNvSpPr txBox="1"/>
          <p:nvPr/>
        </p:nvSpPr>
        <p:spPr>
          <a:xfrm>
            <a:off x="3240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+ 8 = 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7"/>
          <p:cNvSpPr txBox="1"/>
          <p:nvPr/>
        </p:nvSpPr>
        <p:spPr>
          <a:xfrm>
            <a:off x="3240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107"/>
          <p:cNvSpPr txBox="1"/>
          <p:nvPr/>
        </p:nvSpPr>
        <p:spPr>
          <a:xfrm>
            <a:off x="29148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−8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107"/>
          <p:cNvSpPr txBox="1"/>
          <p:nvPr/>
        </p:nvSpPr>
        <p:spPr>
          <a:xfrm>
            <a:off x="29148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4" name="Google Shape;1214;p107"/>
          <p:cNvCxnSpPr>
            <a:stCxn id="1210" idx="3"/>
          </p:cNvCxnSpPr>
          <p:nvPr/>
        </p:nvCxnSpPr>
        <p:spPr>
          <a:xfrm>
            <a:off x="1913110" y="1948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5" name="Google Shape;1215;p107"/>
          <p:cNvCxnSpPr/>
          <p:nvPr/>
        </p:nvCxnSpPr>
        <p:spPr>
          <a:xfrm>
            <a:off x="1913110" y="2710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16" name="Google Shape;121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360" y="1700425"/>
            <a:ext cx="36766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7600" y="1620001"/>
            <a:ext cx="3676650" cy="2101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8" name="Google Shape;1218;p107"/>
          <p:cNvCxnSpPr/>
          <p:nvPr/>
        </p:nvCxnSpPr>
        <p:spPr>
          <a:xfrm flipH="1" rot="10800000">
            <a:off x="5067135" y="2722497"/>
            <a:ext cx="1833600" cy="1467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9" name="Google Shape;1219;p107"/>
          <p:cNvCxnSpPr/>
          <p:nvPr/>
        </p:nvCxnSpPr>
        <p:spPr>
          <a:xfrm flipH="1" rot="10800000">
            <a:off x="5060550" y="2466260"/>
            <a:ext cx="2534100" cy="1730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0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225" name="Google Shape;1225;p108"/>
          <p:cNvSpPr txBox="1"/>
          <p:nvPr>
            <p:ph idx="1" type="body"/>
          </p:nvPr>
        </p:nvSpPr>
        <p:spPr>
          <a:xfrm>
            <a:off x="324000" y="810000"/>
            <a:ext cx="8496000" cy="7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Your calculator will only accept equations in the form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100"/>
              <a:t> so it may be necessary to rearrange before inputting.</a:t>
            </a:r>
            <a:endParaRPr sz="2100"/>
          </a:p>
        </p:txBody>
      </p:sp>
      <p:sp>
        <p:nvSpPr>
          <p:cNvPr id="1226" name="Google Shape;1226;p108"/>
          <p:cNvSpPr txBox="1"/>
          <p:nvPr/>
        </p:nvSpPr>
        <p:spPr>
          <a:xfrm>
            <a:off x="324000" y="3212250"/>
            <a:ext cx="84960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Pressing ‘SOLVE’ (F1) displays both values.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interpret this as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1.8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−9.8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108"/>
          <p:cNvSpPr txBox="1"/>
          <p:nvPr/>
        </p:nvSpPr>
        <p:spPr>
          <a:xfrm>
            <a:off x="3240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+ 8 = 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108"/>
          <p:cNvSpPr txBox="1"/>
          <p:nvPr/>
        </p:nvSpPr>
        <p:spPr>
          <a:xfrm>
            <a:off x="3240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108"/>
          <p:cNvSpPr txBox="1"/>
          <p:nvPr/>
        </p:nvSpPr>
        <p:spPr>
          <a:xfrm>
            <a:off x="29148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−8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08"/>
          <p:cNvSpPr txBox="1"/>
          <p:nvPr/>
        </p:nvSpPr>
        <p:spPr>
          <a:xfrm>
            <a:off x="29148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1" name="Google Shape;1231;p108"/>
          <p:cNvCxnSpPr>
            <a:stCxn id="1227" idx="3"/>
          </p:cNvCxnSpPr>
          <p:nvPr/>
        </p:nvCxnSpPr>
        <p:spPr>
          <a:xfrm>
            <a:off x="1913110" y="1948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2" name="Google Shape;1232;p108"/>
          <p:cNvCxnSpPr/>
          <p:nvPr/>
        </p:nvCxnSpPr>
        <p:spPr>
          <a:xfrm>
            <a:off x="1913110" y="2710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33" name="Google Shape;123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1619994"/>
            <a:ext cx="2814226" cy="1626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109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239" name="Google Shape;1239;p109"/>
          <p:cNvSpPr txBox="1"/>
          <p:nvPr>
            <p:ph idx="1" type="subTitle"/>
          </p:nvPr>
        </p:nvSpPr>
        <p:spPr>
          <a:xfrm>
            <a:off x="324000" y="3577125"/>
            <a:ext cx="8109300" cy="94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 must be in the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Sometimes it is necessary to rearrange first.</a:t>
            </a:r>
            <a:endParaRPr/>
          </a:p>
        </p:txBody>
      </p:sp>
      <p:sp>
        <p:nvSpPr>
          <p:cNvPr id="1240" name="Google Shape;1240;p109"/>
          <p:cNvSpPr txBox="1"/>
          <p:nvPr>
            <p:ph idx="2" type="subTitle"/>
          </p:nvPr>
        </p:nvSpPr>
        <p:spPr>
          <a:xfrm>
            <a:off x="324000" y="10800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enter any pair of simultaneous equations into your calculator without needing to rearrange.</a:t>
            </a:r>
            <a:endParaRPr/>
          </a:p>
        </p:txBody>
      </p:sp>
      <p:pic>
        <p:nvPicPr>
          <p:cNvPr id="1241" name="Google Shape;1241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83" y="202421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1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247" name="Google Shape;1247;p110"/>
          <p:cNvSpPr txBox="1"/>
          <p:nvPr>
            <p:ph idx="1" type="body"/>
          </p:nvPr>
        </p:nvSpPr>
        <p:spPr>
          <a:xfrm>
            <a:off x="324000" y="810000"/>
            <a:ext cx="82377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solve quadratic equations by selecting ‘Equation’ and then ‘Polynomial’. Choose the general form for the polynomial you want to solve.</a:t>
            </a:r>
            <a:endParaRPr/>
          </a:p>
        </p:txBody>
      </p:sp>
      <p:pic>
        <p:nvPicPr>
          <p:cNvPr id="1248" name="Google Shape;1248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2041550"/>
            <a:ext cx="3045833" cy="175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9" name="Google Shape;1249;p110"/>
          <p:cNvGrpSpPr/>
          <p:nvPr/>
        </p:nvGrpSpPr>
        <p:grpSpPr>
          <a:xfrm>
            <a:off x="4320000" y="2002850"/>
            <a:ext cx="3045826" cy="1749376"/>
            <a:chOff x="4320000" y="2002850"/>
            <a:chExt cx="3045826" cy="1749376"/>
          </a:xfrm>
        </p:grpSpPr>
        <p:pic>
          <p:nvPicPr>
            <p:cNvPr id="1250" name="Google Shape;1250;p1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20000" y="2002850"/>
              <a:ext cx="3045825" cy="1749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1" name="Google Shape;1251;p110"/>
            <p:cNvPicPr preferRelativeResize="0"/>
            <p:nvPr/>
          </p:nvPicPr>
          <p:blipFill rotWithShape="1">
            <a:blip r:embed="rId5">
              <a:alphaModFix/>
            </a:blip>
            <a:srcRect b="77959" l="0" r="0" t="11583"/>
            <a:stretch/>
          </p:blipFill>
          <p:spPr>
            <a:xfrm>
              <a:off x="4320000" y="2209750"/>
              <a:ext cx="3045826" cy="182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1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257" name="Google Shape;1257;p111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 = 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8" name="Google Shape;1258;p111"/>
          <p:cNvSpPr txBox="1"/>
          <p:nvPr/>
        </p:nvSpPr>
        <p:spPr>
          <a:xfrm>
            <a:off x="323100" y="3096150"/>
            <a:ext cx="84978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Your calculator will only accept equations in the form </a:t>
            </a:r>
            <a:b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so it may be necessary to rearrange first.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‘SOLVE’ (F1) to solve.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9" name="Google Shape;1259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099" y="1345624"/>
            <a:ext cx="3033890" cy="17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0595" y="1348007"/>
            <a:ext cx="3033900" cy="174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12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266" name="Google Shape;1266;p112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your calculator to find the solution(s) to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− 20</a:t>
            </a:r>
            <a:r>
              <a:rPr lang="en-GB" sz="2400">
                <a:solidFill>
                  <a:srgbClr val="000000"/>
                </a:solidFill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/>
          </a:p>
        </p:txBody>
      </p:sp>
      <p:sp>
        <p:nvSpPr>
          <p:cNvPr id="1267" name="Google Shape;1267;p112"/>
          <p:cNvSpPr txBox="1"/>
          <p:nvPr/>
        </p:nvSpPr>
        <p:spPr>
          <a:xfrm>
            <a:off x="323100" y="1620000"/>
            <a:ext cx="84978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8" name="Google Shape;1268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1620000"/>
            <a:ext cx="3064800" cy="1761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13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Solve the following pairs of simultaneous equations using your calculator.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b)                                 </a:t>
            </a:r>
            <a:endParaRPr/>
          </a:p>
        </p:txBody>
      </p:sp>
      <p:sp>
        <p:nvSpPr>
          <p:cNvPr id="1274" name="Google Shape;1274;p11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275" name="Google Shape;1275;p113"/>
          <p:cNvSpPr txBox="1"/>
          <p:nvPr/>
        </p:nvSpPr>
        <p:spPr>
          <a:xfrm>
            <a:off x="873751" y="2054316"/>
            <a:ext cx="1560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113"/>
          <p:cNvSpPr txBox="1"/>
          <p:nvPr/>
        </p:nvSpPr>
        <p:spPr>
          <a:xfrm>
            <a:off x="888834" y="1707836"/>
            <a:ext cx="1560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113"/>
          <p:cNvSpPr txBox="1"/>
          <p:nvPr/>
        </p:nvSpPr>
        <p:spPr>
          <a:xfrm>
            <a:off x="5066308" y="1714984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113"/>
          <p:cNvSpPr txBox="1"/>
          <p:nvPr/>
        </p:nvSpPr>
        <p:spPr>
          <a:xfrm>
            <a:off x="5052368" y="2057128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14"/>
          <p:cNvSpPr txBox="1"/>
          <p:nvPr>
            <p:ph idx="1" type="body"/>
          </p:nvPr>
        </p:nvSpPr>
        <p:spPr>
          <a:xfrm>
            <a:off x="324000" y="810000"/>
            <a:ext cx="8237700" cy="33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Calculate the solutions to these quadratic equations.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b)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− 19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c)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d)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2100"/>
          </a:p>
        </p:txBody>
      </p:sp>
      <p:sp>
        <p:nvSpPr>
          <p:cNvPr id="1284" name="Google Shape;1284;p11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 lines Line 1: a equals negative 20 over 11 or negative 1 and 9 over 11 Line 2: b equals 17 over 11 or 1 and 6 over 11&#10;&#10;&lt;math xmlns=&quot;http://www.w3.org/1998/Math/MathML&quot; display=&quot;block&quot; data-is-equatio=&quot;1&quot; data-latex=&quot;\begin{array}{l}a=-\frac{20}{11}\ \ \text{or}\ \ -1\frac{9}{11}\\&amp;#13;&amp;#10;b=\frac{17}{11}\ \ \text{or}\ \ 1\frac{6}{11}\end{array}&quot;&gt;&lt;mtable columnalign=&quot;left&quot; columnspacing=&quot;1em&quot; rowspacing=&quot;4pt&quot;&gt;&lt;mtr&gt;&lt;mtd&gt;&lt;mi&gt;a&lt;/mi&gt;&lt;mo&gt;=&lt;/mo&gt;&lt;mo&gt;−&lt;/mo&gt;&lt;mfrac&gt;&lt;mn&gt;20&lt;/mn&gt;&lt;mn&gt;11&lt;/mn&gt;&lt;/mfrac&gt;&lt;mtext&gt;&lt;/mtext&gt;&lt;mtext&gt;&lt;/mtext&gt;&lt;mtext&gt;or&lt;/mtext&gt;&lt;mtext&gt;&lt;/mtext&gt;&lt;mtext&gt;&lt;/mtext&gt;&lt;mo&gt;−&lt;/mo&gt;&lt;mn&gt;1&lt;/mn&gt;&lt;mfrac&gt;&lt;mn&gt;9&lt;/mn&gt;&lt;mn&gt;11&lt;/mn&gt;&lt;/mfrac&gt;&lt;/mtd&gt;&lt;/mtr&gt;&lt;mtr&gt;&lt;mtd&gt;&lt;mi&gt;b&lt;/mi&gt;&lt;mo&gt;=&lt;/mo&gt;&lt;mfrac&gt;&lt;mn&gt;17&lt;/mn&gt;&lt;mn&gt;11&lt;/mn&gt;&lt;/mfrac&gt;&lt;mtext&gt;&lt;/mtext&gt;&lt;mtext&gt;&lt;/mtext&gt;&lt;mtext&gt;or&lt;/mtext&gt;&lt;mtext&gt;&lt;/mtext&gt;&lt;mtext&gt;&lt;/mtext&gt;&lt;mn&gt;1&lt;/mn&gt;&lt;mfrac&gt;&lt;mn&gt;6&lt;/mn&gt;&lt;mn&gt;11&lt;/mn&gt;&lt;/mfrac&gt;&lt;/mtd&gt;&lt;/mtr&gt;&lt;/mtable&gt;&lt;/math&gt;" id="1289" name="Google Shape;1289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85" y="2946900"/>
            <a:ext cx="2403527" cy="9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15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Solve the following pairs of simultaneous equations using your calculator.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b)                                 </a:t>
            </a:r>
            <a:endParaRPr/>
          </a:p>
        </p:txBody>
      </p:sp>
      <p:sp>
        <p:nvSpPr>
          <p:cNvPr id="1291" name="Google Shape;1291;p11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sp>
        <p:nvSpPr>
          <p:cNvPr id="1292" name="Google Shape;1292;p115"/>
          <p:cNvSpPr txBox="1"/>
          <p:nvPr/>
        </p:nvSpPr>
        <p:spPr>
          <a:xfrm>
            <a:off x="873751" y="2054316"/>
            <a:ext cx="1560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115"/>
          <p:cNvSpPr txBox="1"/>
          <p:nvPr/>
        </p:nvSpPr>
        <p:spPr>
          <a:xfrm>
            <a:off x="888834" y="1707836"/>
            <a:ext cx="1560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115"/>
          <p:cNvSpPr txBox="1"/>
          <p:nvPr/>
        </p:nvSpPr>
        <p:spPr>
          <a:xfrm>
            <a:off x="5066308" y="1714984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15"/>
          <p:cNvSpPr txBox="1"/>
          <p:nvPr/>
        </p:nvSpPr>
        <p:spPr>
          <a:xfrm>
            <a:off x="5052368" y="2057128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2 lines Line 1: a equals eleven eighths or 1 and three eighths Line 2: b equals 53 over 16 or 3 and 5 over 16&#10;&#10;&lt;math xmlns=&quot;http://www.w3.org/1998/Math/MathML&quot; display=&quot;block&quot; data-is-equatio=&quot;1&quot; data-latex=&quot;\begin{array}{l}a=\frac{11}{8}\ \ \text{or}\ \ 1\frac{3}{8}\\&amp;#13;&amp;#10;b=\frac{53}{16}\ \ \text{or}\ \ 3\frac{5}{16}\end{array}&quot;&gt;&lt;mtable columnalign=&quot;left&quot; columnspacing=&quot;1em&quot; rowspacing=&quot;4pt&quot;&gt;&lt;mtr&gt;&lt;mtd&gt;&lt;mi&gt;a&lt;/mi&gt;&lt;mo&gt;=&lt;/mo&gt;&lt;mfrac&gt;&lt;mn&gt;11&lt;/mn&gt;&lt;mn&gt;8&lt;/mn&gt;&lt;/mfrac&gt;&lt;mtext&gt;&lt;/mtext&gt;&lt;mtext&gt;&lt;/mtext&gt;&lt;mtext&gt;or&lt;/mtext&gt;&lt;mtext&gt;&lt;/mtext&gt;&lt;mtext&gt;&lt;/mtext&gt;&lt;mn&gt;1&lt;/mn&gt;&lt;mfrac&gt;&lt;mn&gt;3&lt;/mn&gt;&lt;mn&gt;8&lt;/mn&gt;&lt;/mfrac&gt;&lt;/mtd&gt;&lt;/mtr&gt;&lt;mtr&gt;&lt;mtd&gt;&lt;mi&gt;b&lt;/mi&gt;&lt;mo&gt;=&lt;/mo&gt;&lt;mfrac&gt;&lt;mn&gt;53&lt;/mn&gt;&lt;mn&gt;16&lt;/mn&gt;&lt;/mfrac&gt;&lt;mtext&gt;&lt;/mtext&gt;&lt;mtext&gt;&lt;/mtext&gt;&lt;mtext&gt;or&lt;/mtext&gt;&lt;mtext&gt;&lt;/mtext&gt;&lt;mtext&gt;&lt;/mtext&gt;&lt;mn&gt;3&lt;/mn&gt;&lt;mfrac&gt;&lt;mn&gt;5&lt;/mn&gt;&lt;mn&gt;16&lt;/mn&gt;&lt;/mfrac&gt;&lt;/mtd&gt;&lt;/mtr&gt;&lt;/mtable&gt;&lt;/math&gt;" id="1296" name="Google Shape;1296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3426" y="2869417"/>
            <a:ext cx="1812410" cy="9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16"/>
          <p:cNvSpPr txBox="1"/>
          <p:nvPr>
            <p:ph idx="1" type="body"/>
          </p:nvPr>
        </p:nvSpPr>
        <p:spPr>
          <a:xfrm>
            <a:off x="324000" y="810000"/>
            <a:ext cx="8237700" cy="33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Calculate the solutions to these quadratic equations.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					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b)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− 19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						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c)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						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or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d)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			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 or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endParaRPr sz="2100"/>
          </a:p>
        </p:txBody>
      </p:sp>
      <p:sp>
        <p:nvSpPr>
          <p:cNvPr id="1302" name="Google Shape;1302;p11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numerically</a:t>
            </a:r>
            <a:endParaRPr/>
          </a:p>
        </p:txBody>
      </p:sp>
      <p:pic>
        <p:nvPicPr>
          <p:cNvPr descr="x equals negative 4 plus the square root of 35 or x equals negative 4 minus the square root of 35&#10;&#10;&lt;math xmlns=&quot;http://www.w3.org/1998/Math/MathML&quot; display=&quot;block&quot; data-is-equatio=&quot;1&quot; data-latex=&quot;x=-4+\sqrt{35}\ \text{or}\ x\ =-4-\sqrt{35}&quot;&gt;&lt;mi&gt;x&lt;/mi&gt;&lt;mo&gt;=&lt;/mo&gt;&lt;mo&gt;−&lt;/mo&gt;&lt;mn&gt;4&lt;/mn&gt;&lt;mo&gt;+&lt;/mo&gt;&lt;msqrt&gt;&lt;mn&gt;35&lt;/mn&gt;&lt;/msqrt&gt;&lt;mtext&gt;&lt;/mtext&gt;&lt;mtext&gt;or&lt;/mtext&gt;&lt;mtext&gt;&lt;/mtext&gt;&lt;mi&gt;x&lt;/mi&gt;&lt;mtext&gt;&lt;/mtext&gt;&lt;mo&gt;=&lt;/mo&gt;&lt;mo&gt;−&lt;/mo&gt;&lt;mn&gt;4&lt;/mn&gt;&lt;mo&gt;−&lt;/mo&gt;&lt;msqrt&gt;&lt;mn&gt;35&lt;/mn&gt;&lt;/msqrt&gt;&lt;/math&gt;" id="1303" name="Google Shape;1303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8199" y="2159999"/>
            <a:ext cx="3765361" cy="3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17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number and algebra</a:t>
            </a:r>
            <a:endParaRPr/>
          </a:p>
        </p:txBody>
      </p:sp>
      <p:sp>
        <p:nvSpPr>
          <p:cNvPr id="1309" name="Google Shape;1309;p117"/>
          <p:cNvSpPr txBox="1"/>
          <p:nvPr>
            <p:ph idx="1" type="body"/>
          </p:nvPr>
        </p:nvSpPr>
        <p:spPr>
          <a:xfrm>
            <a:off x="324000" y="810000"/>
            <a:ext cx="8237700" cy="31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calculators can perform more than just basic calculations.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fx-CG50 can solve equations graphically and numerically.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118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2025.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Casio and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15" name="Google Shape;1315;p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