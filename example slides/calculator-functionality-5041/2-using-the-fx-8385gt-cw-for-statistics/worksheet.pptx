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E99A0E-3D29-4BF8-991F-AA8112C7F277}">
  <a:tblStyle styleId="{5AE99A0E-3D29-4BF8-991F-AA8112C7F2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75a58f2a4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75a58f2a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statistics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398675"/>
            <a:ext cx="686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Finding the mean from a frequency table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7572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This frequency table shows the number of goals scored in each match by all the teams in a club over one football season.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2"/>
          <p:cNvGraphicFramePr/>
          <p:nvPr/>
        </p:nvGraphicFramePr>
        <p:xfrm>
          <a:off x="468008" y="23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{5AE99A0E-3D29-4BF8-991F-AA8112C7F277}</a:tableStyleId>
              </a:tblPr>
              <a:tblGrid>
                <a:gridCol w="1261700"/>
                <a:gridCol w="1071100"/>
              </a:tblGrid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" name="Google Shape;107;p12"/>
          <p:cNvSpPr txBox="1"/>
          <p:nvPr/>
        </p:nvSpPr>
        <p:spPr>
          <a:xfrm>
            <a:off x="2947200" y="2341300"/>
            <a:ext cx="414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was the mean number of goals scored?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" name="Google Shape;108;p12"/>
          <p:cNvGraphicFramePr/>
          <p:nvPr/>
        </p:nvGraphicFramePr>
        <p:xfrm>
          <a:off x="468000" y="529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{5AE99A0E-3D29-4BF8-991F-AA8112C7F277}</a:tableStyleId>
              </a:tblPr>
              <a:tblGrid>
                <a:gridCol w="1261700"/>
                <a:gridCol w="1071100"/>
              </a:tblGrid>
              <a:tr h="2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" name="Google Shape;109;p12"/>
          <p:cNvSpPr txBox="1"/>
          <p:nvPr/>
        </p:nvSpPr>
        <p:spPr>
          <a:xfrm>
            <a:off x="468000" y="47925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This frequency table shows the star rating received by a restaurant over its opening weekend.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2947350" y="5300400"/>
            <a:ext cx="414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was the mean star rating?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468000" y="76589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A class take a quiz, marked out of 6. The frequency table shows the results for the class.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468000" y="8960000"/>
            <a:ext cx="66240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is the mean number of marks per pupil?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3" name="Google Shape;113;p12"/>
          <p:cNvGraphicFramePr/>
          <p:nvPr/>
        </p:nvGraphicFramePr>
        <p:xfrm>
          <a:off x="984263" y="8142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{5AE99A0E-3D29-4BF8-991F-AA8112C7F277}</a:tableStyleId>
              </a:tblPr>
              <a:tblGrid>
                <a:gridCol w="1190225"/>
                <a:gridCol w="628750"/>
                <a:gridCol w="628750"/>
                <a:gridCol w="628750"/>
                <a:gridCol w="628750"/>
                <a:gridCol w="628750"/>
                <a:gridCol w="628750"/>
                <a:gridCol w="628750"/>
              </a:tblGrid>
              <a:tr h="3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Quiz score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statistics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468000" y="7200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4) The frequency table shows the number of bedrooms in different houses within an area of a town.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2947200" y="1227900"/>
            <a:ext cx="4144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is the mean number of bedrooms?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2" name="Google Shape;122;p13"/>
          <p:cNvGraphicFramePr/>
          <p:nvPr/>
        </p:nvGraphicFramePr>
        <p:xfrm>
          <a:off x="468000" y="122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{5AE99A0E-3D29-4BF8-991F-AA8112C7F277}</a:tableStyleId>
              </a:tblPr>
              <a:tblGrid>
                <a:gridCol w="1150050"/>
                <a:gridCol w="1182750"/>
              </a:tblGrid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3" name="Google Shape;123;p13"/>
          <p:cNvSpPr txBox="1"/>
          <p:nvPr/>
        </p:nvSpPr>
        <p:spPr>
          <a:xfrm>
            <a:off x="468007" y="3278250"/>
            <a:ext cx="6422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5) The bar chart shows the length of time customers spent waiting at a self-service till (to the nearest minute).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066788" y="4149514"/>
            <a:ext cx="3025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is the mean wait time?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" name="Google Shape;125;p13"/>
          <p:cNvGrpSpPr/>
          <p:nvPr/>
        </p:nvGrpSpPr>
        <p:grpSpPr>
          <a:xfrm>
            <a:off x="468013" y="3909844"/>
            <a:ext cx="3460951" cy="2355239"/>
            <a:chOff x="323988" y="1620000"/>
            <a:chExt cx="4438823" cy="3020699"/>
          </a:xfrm>
        </p:grpSpPr>
        <p:pic>
          <p:nvPicPr>
            <p:cNvPr id="126" name="Google Shape;12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88" y="1620000"/>
              <a:ext cx="4438823" cy="3020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3"/>
            <p:cNvSpPr/>
            <p:nvPr/>
          </p:nvSpPr>
          <p:spPr>
            <a:xfrm>
              <a:off x="940383" y="2911125"/>
              <a:ext cx="160800" cy="12669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1500050" y="3876475"/>
              <a:ext cx="160800" cy="3018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068300" y="2586825"/>
              <a:ext cx="160800" cy="15915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2639400" y="2270075"/>
              <a:ext cx="160800" cy="19083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3211300" y="3240000"/>
              <a:ext cx="160800" cy="9381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3767325" y="3552175"/>
              <a:ext cx="160800" cy="6261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4338434" y="2911125"/>
              <a:ext cx="160800" cy="12669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4" name="Google Shape;134;p13"/>
          <p:cNvCxnSpPr/>
          <p:nvPr/>
        </p:nvCxnSpPr>
        <p:spPr>
          <a:xfrm>
            <a:off x="474751" y="6413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468000" y="6499475"/>
            <a:ext cx="686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Analysis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468000" y="6791075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This frequency table shows the number of goals scored in each match by all the teams in a club over one football season.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" name="Google Shape;137;p13"/>
          <p:cNvGraphicFramePr/>
          <p:nvPr/>
        </p:nvGraphicFramePr>
        <p:xfrm>
          <a:off x="468008" y="728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{5AE99A0E-3D29-4BF8-991F-AA8112C7F277}</a:tableStyleId>
              </a:tblPr>
              <a:tblGrid>
                <a:gridCol w="1261675"/>
                <a:gridCol w="1071125"/>
              </a:tblGrid>
              <a:tr h="32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13"/>
          <p:cNvSpPr txBox="1"/>
          <p:nvPr/>
        </p:nvSpPr>
        <p:spPr>
          <a:xfrm>
            <a:off x="2947200" y="7289700"/>
            <a:ext cx="41448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Calculate the median.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Calculate the interquartile range.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2947200" y="8611325"/>
            <a:ext cx="41448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Would the club prefer to report the mean or median as the average number of goals scored? Why?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statistics</a:t>
            </a:r>
            <a:endParaRPr/>
          </a:p>
        </p:txBody>
      </p:sp>
      <p:sp>
        <p:nvSpPr>
          <p:cNvPr id="145" name="Google Shape;145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68000" y="7200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This frequency table shows the star rating received by a restaurant over its opening weekend.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2947500" y="1182325"/>
            <a:ext cx="41448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Calculate the median.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Calculate the interquartile range.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0" name="Google Shape;150;p14"/>
          <p:cNvGraphicFramePr/>
          <p:nvPr/>
        </p:nvGraphicFramePr>
        <p:xfrm>
          <a:off x="468000" y="118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{5AE99A0E-3D29-4BF8-991F-AA8112C7F277}</a:tableStyleId>
              </a:tblPr>
              <a:tblGrid>
                <a:gridCol w="1261700"/>
                <a:gridCol w="1071100"/>
              </a:tblGrid>
              <a:tr h="2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14"/>
          <p:cNvSpPr txBox="1"/>
          <p:nvPr/>
        </p:nvSpPr>
        <p:spPr>
          <a:xfrm>
            <a:off x="2947500" y="2279500"/>
            <a:ext cx="41448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Would the restaurant prefer to report the mean or median as the average rating? Why?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68000" y="3663425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The frequency table shows the number of bedrooms in different houses within an area of a town.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2947500" y="4168050"/>
            <a:ext cx="41448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 developer wishes to build more expensive houses (3+ bedrooms) but the local council want cheaper housing. The council argue that there are already enough houses with 3 or more bedrooms.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Are the council correct? Use the data to support your decision.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" name="Google Shape;154;p14"/>
          <p:cNvGraphicFramePr/>
          <p:nvPr/>
        </p:nvGraphicFramePr>
        <p:xfrm>
          <a:off x="468000" y="416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{5AE99A0E-3D29-4BF8-991F-AA8112C7F277}</a:tableStyleId>
              </a:tblPr>
              <a:tblGrid>
                <a:gridCol w="1150050"/>
                <a:gridCol w="1182750"/>
              </a:tblGrid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55" name="Google Shape;155;p14"/>
          <p:cNvSpPr txBox="1"/>
          <p:nvPr/>
        </p:nvSpPr>
        <p:spPr>
          <a:xfrm>
            <a:off x="468000" y="67218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4) The bar chart shows the length of time customers spent waiting at a self-service till (to the nearest minute).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3928975" y="7141575"/>
            <a:ext cx="3163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Management want every customer to be queuing for less than the average queue time.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Calculate the average queue time.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" name="Google Shape;157;p14"/>
          <p:cNvGrpSpPr/>
          <p:nvPr/>
        </p:nvGrpSpPr>
        <p:grpSpPr>
          <a:xfrm>
            <a:off x="468013" y="7141585"/>
            <a:ext cx="3460951" cy="2355239"/>
            <a:chOff x="323988" y="1620000"/>
            <a:chExt cx="4438823" cy="3020699"/>
          </a:xfrm>
        </p:grpSpPr>
        <p:pic>
          <p:nvPicPr>
            <p:cNvPr id="158" name="Google Shape;158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88" y="1620000"/>
              <a:ext cx="4438823" cy="3020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4"/>
            <p:cNvSpPr/>
            <p:nvPr/>
          </p:nvSpPr>
          <p:spPr>
            <a:xfrm>
              <a:off x="940383" y="2911125"/>
              <a:ext cx="160800" cy="1266900"/>
            </a:xfrm>
            <a:prstGeom prst="rect">
              <a:avLst/>
            </a:prstGeom>
            <a:solidFill>
              <a:srgbClr val="037B7D"/>
            </a:solidFill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1500050" y="3876475"/>
              <a:ext cx="160800" cy="301800"/>
            </a:xfrm>
            <a:prstGeom prst="rect">
              <a:avLst/>
            </a:prstGeom>
            <a:solidFill>
              <a:srgbClr val="037B7D"/>
            </a:solidFill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068300" y="2586825"/>
              <a:ext cx="160800" cy="1591500"/>
            </a:xfrm>
            <a:prstGeom prst="rect">
              <a:avLst/>
            </a:prstGeom>
            <a:solidFill>
              <a:srgbClr val="037B7D"/>
            </a:solidFill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639400" y="2270075"/>
              <a:ext cx="160800" cy="1908300"/>
            </a:xfrm>
            <a:prstGeom prst="rect">
              <a:avLst/>
            </a:prstGeom>
            <a:solidFill>
              <a:srgbClr val="037B7D"/>
            </a:solidFill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3211300" y="3240000"/>
              <a:ext cx="160800" cy="938100"/>
            </a:xfrm>
            <a:prstGeom prst="rect">
              <a:avLst/>
            </a:prstGeom>
            <a:solidFill>
              <a:srgbClr val="037B7D"/>
            </a:solidFill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3767325" y="3552175"/>
              <a:ext cx="160800" cy="626100"/>
            </a:xfrm>
            <a:prstGeom prst="rect">
              <a:avLst/>
            </a:prstGeom>
            <a:solidFill>
              <a:srgbClr val="037B7D"/>
            </a:solidFill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4338434" y="2911125"/>
              <a:ext cx="160800" cy="1266900"/>
            </a:xfrm>
            <a:prstGeom prst="rect">
              <a:avLst/>
            </a:prstGeom>
            <a:solidFill>
              <a:srgbClr val="037B7D"/>
            </a:solidFill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" name="Google Shape;166;p14"/>
          <p:cNvSpPr txBox="1"/>
          <p:nvPr/>
        </p:nvSpPr>
        <p:spPr>
          <a:xfrm>
            <a:off x="3928975" y="8349825"/>
            <a:ext cx="31632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Explain why it is not possible for everyone to queue for less time than the average queue time.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