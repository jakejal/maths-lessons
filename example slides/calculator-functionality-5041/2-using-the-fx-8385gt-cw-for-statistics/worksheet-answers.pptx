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8" r:id="rId4"/>
  </p:sldMasterIdLst>
  <p:notesMasterIdLst>
    <p:notesMasterId r:id="rId5"/>
  </p:notesMasterIdLst>
  <p:sldIdLst>
    <p:sldId id="256" r:id="rId6"/>
    <p:sldId id="257" r:id="rId7"/>
    <p:sldId id="258" r:id="rId8"/>
  </p:sldIdLst>
  <p:sldSz cy="10692000" cx="7560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99540E4-1DC0-4A54-835C-BD1D945AD856}">
  <a:tblStyle styleId="{799540E4-1DC0-4A54-835C-BD1D945AD85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79934fec8d_0_131: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279934fec8d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af3dfd8112_0_2: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af3dfd8112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79934fec8d_0_136: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279934fec8d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hyperlink" Target="https://www.nationalarchives.gov.uk/doc/open-government-licence/version/3/" TargetMode="External"/><Relationship Id="rId5" Type="http://schemas.openxmlformats.org/officeDocument/2006/relationships/hyperlink" Target="https://www.thenational.academy/legal/terms-and-conditions" TargetMode="Externa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hyperlink" Target="https://www.nationalarchives.gov.uk/doc/open-government-licence/version/3/" TargetMode="External"/><Relationship Id="rId6" Type="http://schemas.openxmlformats.org/officeDocument/2006/relationships/hyperlink" Target="https://www.thenational.academy/legal/terms-and-conditions" TargetMode="External"/><Relationship Id="rId7"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hyperlink" Target="https://www.nationalarchives.gov.uk/doc/open-government-licence/version/3/" TargetMode="External"/><Relationship Id="rId6" Type="http://schemas.openxmlformats.org/officeDocument/2006/relationships/hyperlink" Target="https://www.thenational.academy/legal/terms-and-conditions" TargetMode="External"/><Relationship Id="rId7"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hyperlink" Target="https://www.nationalarchives.gov.uk/doc/open-government-licence/version/3/" TargetMode="External"/><Relationship Id="rId5" Type="http://schemas.openxmlformats.org/officeDocument/2006/relationships/hyperlink" Target="https://www.thenational.academy/legal/terms-and-conditions" TargetMode="Externa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hyperlink" Target="https://www.nationalarchives.gov.uk/doc/open-government-licence/version/3/" TargetMode="External"/><Relationship Id="rId6" Type="http://schemas.openxmlformats.org/officeDocument/2006/relationships/hyperlink" Target="https://www.thenational.academy/legal/terms-and-conditions" TargetMode="External"/><Relationship Id="rId7"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itle page">
  <p:cSld name="SECTION_HEADER_1_1_1_1_1_1_1_1_1_1_1_2_1_1_1_1_1_2">
    <p:bg>
      <p:bgPr>
        <a:solidFill>
          <a:schemeClr val="lt1"/>
        </a:solidFill>
      </p:bgPr>
    </p:bg>
    <p:spTree>
      <p:nvGrpSpPr>
        <p:cNvPr id="9" name="Shape 9"/>
        <p:cNvGrpSpPr/>
        <p:nvPr/>
      </p:nvGrpSpPr>
      <p:grpSpPr>
        <a:xfrm>
          <a:off x="0" y="0"/>
          <a:ext cx="0" cy="0"/>
          <a:chOff x="0" y="0"/>
          <a:chExt cx="0" cy="0"/>
        </a:xfrm>
      </p:grpSpPr>
      <p:pic>
        <p:nvPicPr>
          <p:cNvPr id="10" name="Google Shape;10;p2"/>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11" name="Google Shape;11;p2"/>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2" name="Google Shape;12;p2"/>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3" name="Google Shape;13;p2"/>
          <p:cNvPicPr preferRelativeResize="0"/>
          <p:nvPr/>
        </p:nvPicPr>
        <p:blipFill>
          <a:blip r:embed="rId3">
            <a:alphaModFix/>
          </a:blip>
          <a:stretch>
            <a:fillRect/>
          </a:stretch>
        </p:blipFill>
        <p:spPr>
          <a:xfrm>
            <a:off x="468000" y="1242003"/>
            <a:ext cx="6624000" cy="66240"/>
          </a:xfrm>
          <a:prstGeom prst="rect">
            <a:avLst/>
          </a:prstGeom>
          <a:noFill/>
          <a:ln>
            <a:noFill/>
          </a:ln>
        </p:spPr>
      </p:pic>
      <p:sp>
        <p:nvSpPr>
          <p:cNvPr id="14" name="Google Shape;14;p2"/>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15" name="Google Shape;15;p2"/>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16" name="Google Shape;16;p2"/>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pic>
        <p:nvPicPr>
          <p:cNvPr id="17" name="Google Shape;17;p2"/>
          <p:cNvPicPr preferRelativeResize="0"/>
          <p:nvPr/>
        </p:nvPicPr>
        <p:blipFill>
          <a:blip r:embed="rId5">
            <a:alphaModFix/>
          </a:blip>
          <a:stretch>
            <a:fillRect/>
          </a:stretch>
        </p:blipFill>
        <p:spPr>
          <a:xfrm>
            <a:off x="5722275" y="215694"/>
            <a:ext cx="504000" cy="504000"/>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Title page with long title">
  <p:cSld name="SECTION_HEADER_1_1_1_1_1_1_1_1_1_1_1_2_1_1_1_1_1_1_2">
    <p:bg>
      <p:bgPr>
        <a:solidFill>
          <a:schemeClr val="lt1"/>
        </a:solidFill>
      </p:bgPr>
    </p:bg>
    <p:spTree>
      <p:nvGrpSpPr>
        <p:cNvPr id="18" name="Shape 18"/>
        <p:cNvGrpSpPr/>
        <p:nvPr/>
      </p:nvGrpSpPr>
      <p:grpSpPr>
        <a:xfrm>
          <a:off x="0" y="0"/>
          <a:ext cx="0" cy="0"/>
          <a:chOff x="0" y="0"/>
          <a:chExt cx="0" cy="0"/>
        </a:xfrm>
      </p:grpSpPr>
      <p:pic>
        <p:nvPicPr>
          <p:cNvPr id="19" name="Google Shape;19;p3"/>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20" name="Google Shape;20;p3"/>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21" name="Google Shape;21;p3"/>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2" name="Google Shape;22;p3"/>
          <p:cNvPicPr preferRelativeResize="0"/>
          <p:nvPr/>
        </p:nvPicPr>
        <p:blipFill>
          <a:blip r:embed="rId3">
            <a:alphaModFix/>
          </a:blip>
          <a:stretch>
            <a:fillRect/>
          </a:stretch>
        </p:blipFill>
        <p:spPr>
          <a:xfrm>
            <a:off x="468000" y="1543153"/>
            <a:ext cx="6624000" cy="66240"/>
          </a:xfrm>
          <a:prstGeom prst="rect">
            <a:avLst/>
          </a:prstGeom>
          <a:noFill/>
          <a:ln>
            <a:noFill/>
          </a:ln>
        </p:spPr>
      </p:pic>
      <p:sp>
        <p:nvSpPr>
          <p:cNvPr id="23" name="Google Shape;23;p3"/>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24" name="Google Shape;24;p3"/>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25" name="Google Shape;25;p3"/>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pic>
        <p:nvPicPr>
          <p:cNvPr id="26" name="Google Shape;26;p3"/>
          <p:cNvPicPr preferRelativeResize="0"/>
          <p:nvPr/>
        </p:nvPicPr>
        <p:blipFill>
          <a:blip r:embed="rId5">
            <a:alphaModFix/>
          </a:blip>
          <a:stretch>
            <a:fillRect/>
          </a:stretch>
        </p:blipFill>
        <p:spPr>
          <a:xfrm>
            <a:off x="5722275" y="215694"/>
            <a:ext cx="504000" cy="504000"/>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Middle page">
  <p:cSld name="SECTION_HEADER_1_1_1_1_1_1_1_1_1_1_1_2_1_1_1_1_1_1_1_1_2">
    <p:bg>
      <p:bgPr>
        <a:solidFill>
          <a:schemeClr val="lt1"/>
        </a:solidFill>
      </p:bgPr>
    </p:bg>
    <p:spTree>
      <p:nvGrpSpPr>
        <p:cNvPr id="27" name="Shape 27"/>
        <p:cNvGrpSpPr/>
        <p:nvPr/>
      </p:nvGrpSpPr>
      <p:grpSpPr>
        <a:xfrm>
          <a:off x="0" y="0"/>
          <a:ext cx="0" cy="0"/>
          <a:chOff x="0" y="0"/>
          <a:chExt cx="0" cy="0"/>
        </a:xfrm>
      </p:grpSpPr>
      <p:pic>
        <p:nvPicPr>
          <p:cNvPr id="28" name="Google Shape;28;p4"/>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29" name="Google Shape;29;p4"/>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30" name="Google Shape;30;p4"/>
          <p:cNvSpPr txBox="1"/>
          <p:nvPr/>
        </p:nvSpPr>
        <p:spPr>
          <a:xfrm>
            <a:off x="6366900" y="360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solidFill>
                  <a:schemeClr val="dk1"/>
                </a:solidFill>
                <a:latin typeface="Lexend"/>
                <a:ea typeface="Lexend"/>
                <a:cs typeface="Lexend"/>
                <a:sym typeface="Lexend"/>
              </a:rPr>
              <a:t>Worksheet</a:t>
            </a:r>
            <a:endParaRPr b="1" sz="900">
              <a:solidFill>
                <a:schemeClr val="dk1"/>
              </a:solidFill>
              <a:latin typeface="Lexend"/>
              <a:ea typeface="Lexend"/>
              <a:cs typeface="Lexend"/>
              <a:sym typeface="Lexend"/>
            </a:endParaRPr>
          </a:p>
        </p:txBody>
      </p:sp>
      <p:sp>
        <p:nvSpPr>
          <p:cNvPr id="31" name="Google Shape;31;p4"/>
          <p:cNvSpPr txBox="1"/>
          <p:nvPr>
            <p:ph idx="1" type="subTitle"/>
          </p:nvPr>
        </p:nvSpPr>
        <p:spPr>
          <a:xfrm>
            <a:off x="1463400" y="360000"/>
            <a:ext cx="4782600" cy="246300"/>
          </a:xfrm>
          <a:prstGeom prst="rect">
            <a:avLst/>
          </a:prstGeom>
          <a:ln>
            <a:noFill/>
          </a:ln>
        </p:spPr>
        <p:txBody>
          <a:bodyPr anchorCtr="0" anchor="t" bIns="0" lIns="0" spcFirstLastPara="1" rIns="0" wrap="square" tIns="0">
            <a:sp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pic>
        <p:nvPicPr>
          <p:cNvPr id="32" name="Google Shape;32;p4"/>
          <p:cNvPicPr preferRelativeResize="0"/>
          <p:nvPr/>
        </p:nvPicPr>
        <p:blipFill>
          <a:blip r:embed="rId3">
            <a:alphaModFix/>
          </a:blip>
          <a:stretch>
            <a:fillRect/>
          </a:stretch>
        </p:blipFill>
        <p:spPr>
          <a:xfrm>
            <a:off x="428300" y="324000"/>
            <a:ext cx="936000" cy="270612"/>
          </a:xfrm>
          <a:prstGeom prst="rect">
            <a:avLst/>
          </a:prstGeom>
          <a:noFill/>
          <a:ln>
            <a:noFill/>
          </a:ln>
        </p:spPr>
      </p:pic>
      <p:sp>
        <p:nvSpPr>
          <p:cNvPr id="33" name="Google Shape;33;p4"/>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Last page">
  <p:cSld name="SECTION_HEADER_1_1_1_1_1_1_1_1_1_1_1_2_1_1_1_1_1_1_1_1_1_3">
    <p:bg>
      <p:bgPr>
        <a:solidFill>
          <a:schemeClr val="lt1"/>
        </a:solidFill>
      </p:bgPr>
    </p:bg>
    <p:spTree>
      <p:nvGrpSpPr>
        <p:cNvPr id="34" name="Shape 34"/>
        <p:cNvGrpSpPr/>
        <p:nvPr/>
      </p:nvGrpSpPr>
      <p:grpSpPr>
        <a:xfrm>
          <a:off x="0" y="0"/>
          <a:ext cx="0" cy="0"/>
          <a:chOff x="0" y="0"/>
          <a:chExt cx="0" cy="0"/>
        </a:xfrm>
      </p:grpSpPr>
      <p:pic>
        <p:nvPicPr>
          <p:cNvPr id="35" name="Google Shape;35;p5"/>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36" name="Google Shape;36;p5"/>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37" name="Google Shape;37;p5"/>
          <p:cNvSpPr txBox="1"/>
          <p:nvPr/>
        </p:nvSpPr>
        <p:spPr>
          <a:xfrm>
            <a:off x="6366900" y="360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solidFill>
                  <a:schemeClr val="dk1"/>
                </a:solidFill>
                <a:latin typeface="Lexend"/>
                <a:ea typeface="Lexend"/>
                <a:cs typeface="Lexend"/>
                <a:sym typeface="Lexend"/>
              </a:rPr>
              <a:t>Worksheet</a:t>
            </a:r>
            <a:endParaRPr b="1" sz="900">
              <a:solidFill>
                <a:schemeClr val="dk1"/>
              </a:solidFill>
              <a:latin typeface="Lexend"/>
              <a:ea typeface="Lexend"/>
              <a:cs typeface="Lexend"/>
              <a:sym typeface="Lexend"/>
            </a:endParaRPr>
          </a:p>
        </p:txBody>
      </p:sp>
      <p:sp>
        <p:nvSpPr>
          <p:cNvPr id="38" name="Google Shape;38;p5"/>
          <p:cNvSpPr txBox="1"/>
          <p:nvPr>
            <p:ph idx="1" type="subTitle"/>
          </p:nvPr>
        </p:nvSpPr>
        <p:spPr>
          <a:xfrm>
            <a:off x="1463400" y="360000"/>
            <a:ext cx="4782600" cy="246300"/>
          </a:xfrm>
          <a:prstGeom prst="rect">
            <a:avLst/>
          </a:prstGeom>
          <a:ln>
            <a:noFill/>
          </a:ln>
        </p:spPr>
        <p:txBody>
          <a:bodyPr anchorCtr="0" anchor="t" bIns="0" lIns="0" spcFirstLastPara="1" rIns="0" wrap="square" tIns="0">
            <a:sp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pic>
        <p:nvPicPr>
          <p:cNvPr id="39" name="Google Shape;39;p5"/>
          <p:cNvPicPr preferRelativeResize="0"/>
          <p:nvPr/>
        </p:nvPicPr>
        <p:blipFill>
          <a:blip r:embed="rId3">
            <a:alphaModFix/>
          </a:blip>
          <a:stretch>
            <a:fillRect/>
          </a:stretch>
        </p:blipFill>
        <p:spPr>
          <a:xfrm>
            <a:off x="428300" y="324000"/>
            <a:ext cx="936000" cy="270612"/>
          </a:xfrm>
          <a:prstGeom prst="rect">
            <a:avLst/>
          </a:prstGeom>
          <a:noFill/>
          <a:ln>
            <a:noFill/>
          </a:ln>
        </p:spPr>
      </p:pic>
      <p:sp>
        <p:nvSpPr>
          <p:cNvPr id="40" name="Google Shape;40;p5"/>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41" name="Google Shape;41;p5"/>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chemeClr val="dk1"/>
                </a:solidFill>
                <a:latin typeface="Lexend Light"/>
                <a:ea typeface="Lexend Light"/>
                <a:cs typeface="Lexend Light"/>
                <a:sym typeface="Lexend Light"/>
              </a:rPr>
              <a:t>Licensed on the </a:t>
            </a:r>
            <a:r>
              <a:rPr lang="en-GB" sz="900" u="sng">
                <a:solidFill>
                  <a:schemeClr val="dk1"/>
                </a:solidFill>
                <a:latin typeface="Lexend Light"/>
                <a:ea typeface="Lexend Light"/>
                <a:cs typeface="Lexend Light"/>
                <a:sym typeface="Lexend Light"/>
                <a:hlinkClick r:id="rId4">
                  <a:extLst>
                    <a:ext uri="{A12FA001-AC4F-418D-AE19-62706E023703}">
                      <ahyp:hlinkClr val="tx"/>
                    </a:ext>
                  </a:extLst>
                </a:hlinkClick>
              </a:rPr>
              <a:t>Open Government Licence v3.0</a:t>
            </a:r>
            <a:r>
              <a:rPr lang="en-GB" sz="900">
                <a:solidFill>
                  <a:schemeClr val="dk1"/>
                </a:solidFill>
                <a:latin typeface="Lexend Light"/>
                <a:ea typeface="Lexend Light"/>
                <a:cs typeface="Lexend Light"/>
                <a:sym typeface="Lexend Light"/>
              </a:rPr>
              <a:t>, except where otherwise stated. See </a:t>
            </a:r>
            <a:r>
              <a:rPr lang="en-GB" sz="900" u="sng">
                <a:solidFill>
                  <a:schemeClr val="dk1"/>
                </a:solidFill>
                <a:latin typeface="Lexend Light"/>
                <a:ea typeface="Lexend Light"/>
                <a:cs typeface="Lexend Light"/>
                <a:sym typeface="Lexend Light"/>
                <a:hlinkClick r:id="rId5">
                  <a:extLst>
                    <a:ext uri="{A12FA001-AC4F-418D-AE19-62706E023703}">
                      <ahyp:hlinkClr val="tx"/>
                    </a:ext>
                  </a:extLst>
                </a:hlinkClick>
              </a:rPr>
              <a:t>Oak terms &amp; conditions</a:t>
            </a:r>
            <a:r>
              <a:rPr lang="en-GB" sz="900">
                <a:solidFill>
                  <a:schemeClr val="dk1"/>
                </a:solidFill>
                <a:latin typeface="Lexend Light"/>
                <a:ea typeface="Lexend Light"/>
                <a:cs typeface="Lexend Light"/>
                <a:sym typeface="Lexend Light"/>
              </a:rPr>
              <a:t>.</a:t>
            </a:r>
            <a:endParaRPr sz="900">
              <a:solidFill>
                <a:schemeClr val="dk1"/>
              </a:solidFill>
              <a:latin typeface="Lexend Light"/>
              <a:ea typeface="Lexend Light"/>
              <a:cs typeface="Lexend Light"/>
              <a:sym typeface="Lexend Light"/>
            </a:endParaRPr>
          </a:p>
        </p:txBody>
      </p:sp>
      <p:sp>
        <p:nvSpPr>
          <p:cNvPr id="42" name="Google Shape;42;p5"/>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chemeClr val="dk1"/>
                </a:solidFill>
                <a:latin typeface="Lexend"/>
                <a:ea typeface="Lexend"/>
                <a:cs typeface="Lexend"/>
                <a:sym typeface="Lexend"/>
              </a:rPr>
              <a:t>© Oak National Academy 2025</a:t>
            </a:r>
            <a:r>
              <a:rPr lang="en-GB" sz="900">
                <a:solidFill>
                  <a:schemeClr val="dk1"/>
                </a:solidFill>
                <a:latin typeface="Lexend Light"/>
                <a:ea typeface="Lexend Light"/>
                <a:cs typeface="Lexend Light"/>
                <a:sym typeface="Lexend Light"/>
              </a:rPr>
              <a:t>. Produced in partnership with</a:t>
            </a:r>
            <a:endParaRPr sz="900">
              <a:solidFill>
                <a:schemeClr val="dk1"/>
              </a:solidFill>
              <a:latin typeface="Lexend Light"/>
              <a:ea typeface="Lexend Light"/>
              <a:cs typeface="Lexend Light"/>
              <a:sym typeface="Lexend Light"/>
            </a:endParaRPr>
          </a:p>
        </p:txBody>
      </p:sp>
      <p:sp>
        <p:nvSpPr>
          <p:cNvPr id="43" name="Google Shape;43;p5"/>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chemeClr val="dk1"/>
              </a:solidFill>
              <a:latin typeface="Lexend Light"/>
              <a:ea typeface="Lexend Light"/>
              <a:cs typeface="Lexend Light"/>
              <a:sym typeface="Lexend Light"/>
            </a:endParaRPr>
          </a:p>
        </p:txBody>
      </p:sp>
      <p:sp>
        <p:nvSpPr>
          <p:cNvPr id="44" name="Google Shape;44;p5"/>
          <p:cNvSpPr txBox="1"/>
          <p:nvPr>
            <p:ph idx="2" type="subTitle"/>
          </p:nvPr>
        </p:nvSpPr>
        <p:spPr>
          <a:xfrm>
            <a:off x="3903375" y="9972000"/>
            <a:ext cx="2722800" cy="161100"/>
          </a:xfrm>
          <a:prstGeom prst="rect">
            <a:avLst/>
          </a:prstGeom>
        </p:spPr>
        <p:txBody>
          <a:bodyPr anchorCtr="0" anchor="b" bIns="0" lIns="0" spcFirstLastPara="1" rIns="0" wrap="square" tIns="0">
            <a:normAutofit/>
          </a:bodyPr>
          <a:lstStyle>
            <a:lvl1pPr lvl="0" rtl="0">
              <a:spcBef>
                <a:spcPts val="0"/>
              </a:spcBef>
              <a:spcAft>
                <a:spcPts val="0"/>
              </a:spcAft>
              <a:buSzPts val="900"/>
              <a:buFont typeface="Lexend Light"/>
              <a:buNone/>
              <a:defRPr sz="900">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 Single page worksheet">
  <p:cSld name="SECTION_HEADER_1_1_1_1_1_1_1_1_1_1_1_2_1_1_1_1_1_2_1">
    <p:bg>
      <p:bgPr>
        <a:solidFill>
          <a:schemeClr val="lt1"/>
        </a:solidFill>
      </p:bgPr>
    </p:bg>
    <p:spTree>
      <p:nvGrpSpPr>
        <p:cNvPr id="45" name="Shape 45"/>
        <p:cNvGrpSpPr/>
        <p:nvPr/>
      </p:nvGrpSpPr>
      <p:grpSpPr>
        <a:xfrm>
          <a:off x="0" y="0"/>
          <a:ext cx="0" cy="0"/>
          <a:chOff x="0" y="0"/>
          <a:chExt cx="0" cy="0"/>
        </a:xfrm>
      </p:grpSpPr>
      <p:pic>
        <p:nvPicPr>
          <p:cNvPr id="46" name="Google Shape;46;p6"/>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47" name="Google Shape;47;p6"/>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48" name="Google Shape;48;p6"/>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49" name="Google Shape;49;p6"/>
          <p:cNvPicPr preferRelativeResize="0"/>
          <p:nvPr/>
        </p:nvPicPr>
        <p:blipFill>
          <a:blip r:embed="rId3">
            <a:alphaModFix/>
          </a:blip>
          <a:stretch>
            <a:fillRect/>
          </a:stretch>
        </p:blipFill>
        <p:spPr>
          <a:xfrm>
            <a:off x="468000" y="1242003"/>
            <a:ext cx="6624000" cy="66240"/>
          </a:xfrm>
          <a:prstGeom prst="rect">
            <a:avLst/>
          </a:prstGeom>
          <a:noFill/>
          <a:ln>
            <a:noFill/>
          </a:ln>
        </p:spPr>
      </p:pic>
      <p:sp>
        <p:nvSpPr>
          <p:cNvPr id="50" name="Google Shape;50;p6"/>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51" name="Google Shape;51;p6"/>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52" name="Google Shape;52;p6"/>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53" name="Google Shape;53;p6"/>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chemeClr val="dk1"/>
                </a:solidFill>
                <a:latin typeface="Lexend Light"/>
                <a:ea typeface="Lexend Light"/>
                <a:cs typeface="Lexend Light"/>
                <a:sym typeface="Lexend Light"/>
              </a:rPr>
              <a:t>Licensed on the </a:t>
            </a:r>
            <a:r>
              <a:rPr lang="en-GB" sz="900" u="sng">
                <a:solidFill>
                  <a:schemeClr val="dk1"/>
                </a:solidFill>
                <a:latin typeface="Lexend Light"/>
                <a:ea typeface="Lexend Light"/>
                <a:cs typeface="Lexend Light"/>
                <a:sym typeface="Lexend Light"/>
                <a:hlinkClick r:id="rId5">
                  <a:extLst>
                    <a:ext uri="{A12FA001-AC4F-418D-AE19-62706E023703}">
                      <ahyp:hlinkClr val="tx"/>
                    </a:ext>
                  </a:extLst>
                </a:hlinkClick>
              </a:rPr>
              <a:t>Open Government Licence v3.0</a:t>
            </a:r>
            <a:r>
              <a:rPr lang="en-GB" sz="900">
                <a:solidFill>
                  <a:schemeClr val="dk1"/>
                </a:solidFill>
                <a:latin typeface="Lexend Light"/>
                <a:ea typeface="Lexend Light"/>
                <a:cs typeface="Lexend Light"/>
                <a:sym typeface="Lexend Light"/>
              </a:rPr>
              <a:t>, except where otherwise stated. See </a:t>
            </a:r>
            <a:r>
              <a:rPr lang="en-GB" sz="900" u="sng">
                <a:solidFill>
                  <a:schemeClr val="dk1"/>
                </a:solidFill>
                <a:latin typeface="Lexend Light"/>
                <a:ea typeface="Lexend Light"/>
                <a:cs typeface="Lexend Light"/>
                <a:sym typeface="Lexend Light"/>
                <a:hlinkClick r:id="rId6">
                  <a:extLst>
                    <a:ext uri="{A12FA001-AC4F-418D-AE19-62706E023703}">
                      <ahyp:hlinkClr val="tx"/>
                    </a:ext>
                  </a:extLst>
                </a:hlinkClick>
              </a:rPr>
              <a:t>Oak terms &amp; conditions</a:t>
            </a:r>
            <a:r>
              <a:rPr lang="en-GB" sz="900">
                <a:solidFill>
                  <a:schemeClr val="dk1"/>
                </a:solidFill>
                <a:latin typeface="Lexend Light"/>
                <a:ea typeface="Lexend Light"/>
                <a:cs typeface="Lexend Light"/>
                <a:sym typeface="Lexend Light"/>
              </a:rPr>
              <a:t>.</a:t>
            </a:r>
            <a:endParaRPr sz="900">
              <a:solidFill>
                <a:schemeClr val="dk1"/>
              </a:solidFill>
              <a:latin typeface="Lexend Light"/>
              <a:ea typeface="Lexend Light"/>
              <a:cs typeface="Lexend Light"/>
              <a:sym typeface="Lexend Light"/>
            </a:endParaRPr>
          </a:p>
        </p:txBody>
      </p:sp>
      <p:sp>
        <p:nvSpPr>
          <p:cNvPr id="54" name="Google Shape;54;p6"/>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chemeClr val="dk1"/>
                </a:solidFill>
                <a:latin typeface="Lexend"/>
                <a:ea typeface="Lexend"/>
                <a:cs typeface="Lexend"/>
                <a:sym typeface="Lexend"/>
              </a:rPr>
              <a:t>© Oak National Academy 2025</a:t>
            </a:r>
            <a:r>
              <a:rPr lang="en-GB" sz="900">
                <a:solidFill>
                  <a:schemeClr val="dk1"/>
                </a:solidFill>
                <a:latin typeface="Lexend Light"/>
                <a:ea typeface="Lexend Light"/>
                <a:cs typeface="Lexend Light"/>
                <a:sym typeface="Lexend Light"/>
              </a:rPr>
              <a:t>. Produced in partnership with</a:t>
            </a:r>
            <a:endParaRPr sz="900">
              <a:solidFill>
                <a:schemeClr val="dk1"/>
              </a:solidFill>
              <a:latin typeface="Lexend Light"/>
              <a:ea typeface="Lexend Light"/>
              <a:cs typeface="Lexend Light"/>
              <a:sym typeface="Lexend Light"/>
            </a:endParaRPr>
          </a:p>
        </p:txBody>
      </p:sp>
      <p:sp>
        <p:nvSpPr>
          <p:cNvPr id="55" name="Google Shape;55;p6"/>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chemeClr val="dk1"/>
              </a:solidFill>
              <a:latin typeface="Lexend Light"/>
              <a:ea typeface="Lexend Light"/>
              <a:cs typeface="Lexend Light"/>
              <a:sym typeface="Lexend Light"/>
            </a:endParaRPr>
          </a:p>
        </p:txBody>
      </p:sp>
      <p:sp>
        <p:nvSpPr>
          <p:cNvPr id="56" name="Google Shape;56;p6"/>
          <p:cNvSpPr txBox="1"/>
          <p:nvPr>
            <p:ph idx="1" type="subTitle"/>
          </p:nvPr>
        </p:nvSpPr>
        <p:spPr>
          <a:xfrm>
            <a:off x="3903375" y="9972000"/>
            <a:ext cx="2722800" cy="161100"/>
          </a:xfrm>
          <a:prstGeom prst="rect">
            <a:avLst/>
          </a:prstGeom>
        </p:spPr>
        <p:txBody>
          <a:bodyPr anchorCtr="0" anchor="b" bIns="0" lIns="0" spcFirstLastPara="1" rIns="0" wrap="square" tIns="0">
            <a:normAutofit/>
          </a:bodyPr>
          <a:lstStyle>
            <a:lvl1pPr lvl="0" rtl="0">
              <a:spcBef>
                <a:spcPts val="0"/>
              </a:spcBef>
              <a:spcAft>
                <a:spcPts val="0"/>
              </a:spcAft>
              <a:buSzPts val="900"/>
              <a:buFont typeface="Lexend Light"/>
              <a:buNone/>
              <a:defRPr sz="900">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57" name="Google Shape;57;p6"/>
          <p:cNvPicPr preferRelativeResize="0"/>
          <p:nvPr/>
        </p:nvPicPr>
        <p:blipFill>
          <a:blip r:embed="rId7">
            <a:alphaModFix/>
          </a:blip>
          <a:stretch>
            <a:fillRect/>
          </a:stretch>
        </p:blipFill>
        <p:spPr>
          <a:xfrm>
            <a:off x="5722275" y="215694"/>
            <a:ext cx="504000" cy="504000"/>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 Single page worksheet with long title">
  <p:cSld name="SECTION_HEADER_1_1_1_1_1_1_1_1_1_1_1_2_1_1_1_1_1_1_1">
    <p:bg>
      <p:bgPr>
        <a:solidFill>
          <a:schemeClr val="lt1"/>
        </a:solidFill>
      </p:bgPr>
    </p:bg>
    <p:spTree>
      <p:nvGrpSpPr>
        <p:cNvPr id="58" name="Shape 58"/>
        <p:cNvGrpSpPr/>
        <p:nvPr/>
      </p:nvGrpSpPr>
      <p:grpSpPr>
        <a:xfrm>
          <a:off x="0" y="0"/>
          <a:ext cx="0" cy="0"/>
          <a:chOff x="0" y="0"/>
          <a:chExt cx="0" cy="0"/>
        </a:xfrm>
      </p:grpSpPr>
      <p:pic>
        <p:nvPicPr>
          <p:cNvPr id="59" name="Google Shape;59;p7"/>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60" name="Google Shape;60;p7"/>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61" name="Google Shape;61;p7"/>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62" name="Google Shape;62;p7"/>
          <p:cNvPicPr preferRelativeResize="0"/>
          <p:nvPr/>
        </p:nvPicPr>
        <p:blipFill>
          <a:blip r:embed="rId3">
            <a:alphaModFix/>
          </a:blip>
          <a:stretch>
            <a:fillRect/>
          </a:stretch>
        </p:blipFill>
        <p:spPr>
          <a:xfrm>
            <a:off x="468000" y="1543153"/>
            <a:ext cx="6624000" cy="66240"/>
          </a:xfrm>
          <a:prstGeom prst="rect">
            <a:avLst/>
          </a:prstGeom>
          <a:noFill/>
          <a:ln>
            <a:noFill/>
          </a:ln>
        </p:spPr>
      </p:pic>
      <p:sp>
        <p:nvSpPr>
          <p:cNvPr id="63" name="Google Shape;63;p7"/>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64" name="Google Shape;64;p7"/>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65" name="Google Shape;65;p7"/>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66" name="Google Shape;66;p7"/>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chemeClr val="dk1"/>
                </a:solidFill>
                <a:latin typeface="Lexend Light"/>
                <a:ea typeface="Lexend Light"/>
                <a:cs typeface="Lexend Light"/>
                <a:sym typeface="Lexend Light"/>
              </a:rPr>
              <a:t>Licensed on the </a:t>
            </a:r>
            <a:r>
              <a:rPr lang="en-GB" sz="900" u="sng">
                <a:solidFill>
                  <a:schemeClr val="dk1"/>
                </a:solidFill>
                <a:latin typeface="Lexend Light"/>
                <a:ea typeface="Lexend Light"/>
                <a:cs typeface="Lexend Light"/>
                <a:sym typeface="Lexend Light"/>
                <a:hlinkClick r:id="rId5">
                  <a:extLst>
                    <a:ext uri="{A12FA001-AC4F-418D-AE19-62706E023703}">
                      <ahyp:hlinkClr val="tx"/>
                    </a:ext>
                  </a:extLst>
                </a:hlinkClick>
              </a:rPr>
              <a:t>Open Government Licence v3.0</a:t>
            </a:r>
            <a:r>
              <a:rPr lang="en-GB" sz="900">
                <a:solidFill>
                  <a:schemeClr val="dk1"/>
                </a:solidFill>
                <a:latin typeface="Lexend Light"/>
                <a:ea typeface="Lexend Light"/>
                <a:cs typeface="Lexend Light"/>
                <a:sym typeface="Lexend Light"/>
              </a:rPr>
              <a:t>, except where otherwise stated. See </a:t>
            </a:r>
            <a:r>
              <a:rPr lang="en-GB" sz="900" u="sng">
                <a:solidFill>
                  <a:schemeClr val="dk1"/>
                </a:solidFill>
                <a:latin typeface="Lexend Light"/>
                <a:ea typeface="Lexend Light"/>
                <a:cs typeface="Lexend Light"/>
                <a:sym typeface="Lexend Light"/>
                <a:hlinkClick r:id="rId6">
                  <a:extLst>
                    <a:ext uri="{A12FA001-AC4F-418D-AE19-62706E023703}">
                      <ahyp:hlinkClr val="tx"/>
                    </a:ext>
                  </a:extLst>
                </a:hlinkClick>
              </a:rPr>
              <a:t>Oak terms &amp; conditions</a:t>
            </a:r>
            <a:r>
              <a:rPr lang="en-GB" sz="900">
                <a:solidFill>
                  <a:schemeClr val="dk1"/>
                </a:solidFill>
                <a:latin typeface="Lexend Light"/>
                <a:ea typeface="Lexend Light"/>
                <a:cs typeface="Lexend Light"/>
                <a:sym typeface="Lexend Light"/>
              </a:rPr>
              <a:t>.</a:t>
            </a:r>
            <a:endParaRPr sz="900">
              <a:solidFill>
                <a:schemeClr val="dk1"/>
              </a:solidFill>
              <a:latin typeface="Lexend Light"/>
              <a:ea typeface="Lexend Light"/>
              <a:cs typeface="Lexend Light"/>
              <a:sym typeface="Lexend Light"/>
            </a:endParaRPr>
          </a:p>
        </p:txBody>
      </p:sp>
      <p:sp>
        <p:nvSpPr>
          <p:cNvPr id="67" name="Google Shape;67;p7"/>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chemeClr val="dk1"/>
                </a:solidFill>
                <a:latin typeface="Lexend"/>
                <a:ea typeface="Lexend"/>
                <a:cs typeface="Lexend"/>
                <a:sym typeface="Lexend"/>
              </a:rPr>
              <a:t>© Oak National Academy 2025</a:t>
            </a:r>
            <a:r>
              <a:rPr lang="en-GB" sz="900">
                <a:solidFill>
                  <a:schemeClr val="dk1"/>
                </a:solidFill>
                <a:latin typeface="Lexend Light"/>
                <a:ea typeface="Lexend Light"/>
                <a:cs typeface="Lexend Light"/>
                <a:sym typeface="Lexend Light"/>
              </a:rPr>
              <a:t>. Produced in partnership with</a:t>
            </a:r>
            <a:endParaRPr sz="900">
              <a:solidFill>
                <a:schemeClr val="dk1"/>
              </a:solidFill>
              <a:latin typeface="Lexend Light"/>
              <a:ea typeface="Lexend Light"/>
              <a:cs typeface="Lexend Light"/>
              <a:sym typeface="Lexend Light"/>
            </a:endParaRPr>
          </a:p>
        </p:txBody>
      </p:sp>
      <p:sp>
        <p:nvSpPr>
          <p:cNvPr id="68" name="Google Shape;68;p7"/>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chemeClr val="dk1"/>
              </a:solidFill>
              <a:latin typeface="Lexend Light"/>
              <a:ea typeface="Lexend Light"/>
              <a:cs typeface="Lexend Light"/>
              <a:sym typeface="Lexend Light"/>
            </a:endParaRPr>
          </a:p>
        </p:txBody>
      </p:sp>
      <p:sp>
        <p:nvSpPr>
          <p:cNvPr id="69" name="Google Shape;69;p7"/>
          <p:cNvSpPr txBox="1"/>
          <p:nvPr>
            <p:ph idx="1" type="subTitle"/>
          </p:nvPr>
        </p:nvSpPr>
        <p:spPr>
          <a:xfrm>
            <a:off x="3903375" y="9972000"/>
            <a:ext cx="2722800" cy="161100"/>
          </a:xfrm>
          <a:prstGeom prst="rect">
            <a:avLst/>
          </a:prstGeom>
        </p:spPr>
        <p:txBody>
          <a:bodyPr anchorCtr="0" anchor="b" bIns="0" lIns="0" spcFirstLastPara="1" rIns="0" wrap="square" tIns="0">
            <a:normAutofit/>
          </a:bodyPr>
          <a:lstStyle>
            <a:lvl1pPr lvl="0" rtl="0">
              <a:spcBef>
                <a:spcPts val="0"/>
              </a:spcBef>
              <a:spcAft>
                <a:spcPts val="0"/>
              </a:spcAft>
              <a:buSzPts val="900"/>
              <a:buFont typeface="Lexend Light"/>
              <a:buNone/>
              <a:defRPr sz="900">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70" name="Google Shape;70;p7"/>
          <p:cNvPicPr preferRelativeResize="0"/>
          <p:nvPr/>
        </p:nvPicPr>
        <p:blipFill>
          <a:blip r:embed="rId7">
            <a:alphaModFix/>
          </a:blip>
          <a:stretch>
            <a:fillRect/>
          </a:stretch>
        </p:blipFill>
        <p:spPr>
          <a:xfrm>
            <a:off x="5722275" y="215694"/>
            <a:ext cx="504000" cy="504000"/>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 Landscape title page">
  <p:cSld name="SECTION_HEADER_1_1_1_1_1_1_1_1_1_1_1_2_1_1_1_1_1_1_1_1_1_1">
    <p:bg>
      <p:bgPr>
        <a:solidFill>
          <a:schemeClr val="lt1"/>
        </a:solidFill>
      </p:bgPr>
    </p:bg>
    <p:spTree>
      <p:nvGrpSpPr>
        <p:cNvPr id="71" name="Shape 71"/>
        <p:cNvGrpSpPr/>
        <p:nvPr/>
      </p:nvGrpSpPr>
      <p:grpSpPr>
        <a:xfrm>
          <a:off x="0" y="0"/>
          <a:ext cx="0" cy="0"/>
          <a:chOff x="0" y="0"/>
          <a:chExt cx="0" cy="0"/>
        </a:xfrm>
      </p:grpSpPr>
      <p:pic>
        <p:nvPicPr>
          <p:cNvPr id="72" name="Google Shape;72;p8"/>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73" name="Google Shape;73;p8"/>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74" name="Google Shape;74;p8"/>
          <p:cNvSpPr txBox="1"/>
          <p:nvPr>
            <p:ph type="title"/>
          </p:nvPr>
        </p:nvSpPr>
        <p:spPr>
          <a:xfrm rot="-5400000">
            <a:off x="-3842125" y="5162095"/>
            <a:ext cx="99837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75" name="Google Shape;75;p8"/>
          <p:cNvPicPr preferRelativeResize="0"/>
          <p:nvPr/>
        </p:nvPicPr>
        <p:blipFill>
          <a:blip r:embed="rId3">
            <a:alphaModFix/>
          </a:blip>
          <a:stretch>
            <a:fillRect/>
          </a:stretch>
        </p:blipFill>
        <p:spPr>
          <a:xfrm rot="-5400000">
            <a:off x="-3612750" y="5310727"/>
            <a:ext cx="9987174" cy="66225"/>
          </a:xfrm>
          <a:prstGeom prst="rect">
            <a:avLst/>
          </a:prstGeom>
          <a:noFill/>
          <a:ln>
            <a:noFill/>
          </a:ln>
        </p:spPr>
      </p:pic>
      <p:sp>
        <p:nvSpPr>
          <p:cNvPr id="76" name="Google Shape;76;p8"/>
          <p:cNvSpPr txBox="1"/>
          <p:nvPr/>
        </p:nvSpPr>
        <p:spPr>
          <a:xfrm rot="-5400000">
            <a:off x="104964" y="719111"/>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77" name="Google Shape;77;p8"/>
          <p:cNvPicPr preferRelativeResize="0"/>
          <p:nvPr/>
        </p:nvPicPr>
        <p:blipFill>
          <a:blip r:embed="rId4">
            <a:alphaModFix/>
          </a:blip>
          <a:stretch>
            <a:fillRect/>
          </a:stretch>
        </p:blipFill>
        <p:spPr>
          <a:xfrm rot="-5400000">
            <a:off x="103775" y="9769600"/>
            <a:ext cx="936000" cy="270612"/>
          </a:xfrm>
          <a:prstGeom prst="rect">
            <a:avLst/>
          </a:prstGeom>
          <a:noFill/>
          <a:ln>
            <a:noFill/>
          </a:ln>
        </p:spPr>
      </p:pic>
      <p:sp>
        <p:nvSpPr>
          <p:cNvPr id="78" name="Google Shape;78;p8"/>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pic>
        <p:nvPicPr>
          <p:cNvPr id="79" name="Google Shape;79;p8"/>
          <p:cNvPicPr preferRelativeResize="0"/>
          <p:nvPr/>
        </p:nvPicPr>
        <p:blipFill>
          <a:blip r:embed="rId5">
            <a:alphaModFix/>
          </a:blip>
          <a:stretch>
            <a:fillRect/>
          </a:stretch>
        </p:blipFill>
        <p:spPr>
          <a:xfrm rot="-5400000">
            <a:off x="319775" y="1225719"/>
            <a:ext cx="504000" cy="504000"/>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1 Landscape middle page">
  <p:cSld name="SECTION_HEADER_1_1_1_1_1_1_1_1_1_1_1_2_1_1_1_1_1_1_1_1_1_1_1_2">
    <p:bg>
      <p:bgPr>
        <a:solidFill>
          <a:schemeClr val="lt1"/>
        </a:solidFill>
      </p:bgPr>
    </p:bg>
    <p:spTree>
      <p:nvGrpSpPr>
        <p:cNvPr id="80" name="Shape 80"/>
        <p:cNvGrpSpPr/>
        <p:nvPr/>
      </p:nvGrpSpPr>
      <p:grpSpPr>
        <a:xfrm>
          <a:off x="0" y="0"/>
          <a:ext cx="0" cy="0"/>
          <a:chOff x="0" y="0"/>
          <a:chExt cx="0" cy="0"/>
        </a:xfrm>
      </p:grpSpPr>
      <p:pic>
        <p:nvPicPr>
          <p:cNvPr id="81" name="Google Shape;81;p9"/>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82" name="Google Shape;82;p9"/>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83" name="Google Shape;83;p9"/>
          <p:cNvSpPr txBox="1"/>
          <p:nvPr/>
        </p:nvSpPr>
        <p:spPr>
          <a:xfrm rot="-5400000">
            <a:off x="174000" y="654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solidFill>
                  <a:schemeClr val="dk1"/>
                </a:solidFill>
                <a:latin typeface="Lexend"/>
                <a:ea typeface="Lexend"/>
                <a:cs typeface="Lexend"/>
                <a:sym typeface="Lexend"/>
              </a:rPr>
              <a:t>Worksheet</a:t>
            </a:r>
            <a:endParaRPr b="1" sz="900">
              <a:solidFill>
                <a:schemeClr val="dk1"/>
              </a:solidFill>
              <a:latin typeface="Lexend"/>
              <a:ea typeface="Lexend"/>
              <a:cs typeface="Lexend"/>
              <a:sym typeface="Lexend"/>
            </a:endParaRPr>
          </a:p>
        </p:txBody>
      </p:sp>
      <p:pic>
        <p:nvPicPr>
          <p:cNvPr id="84" name="Google Shape;84;p9"/>
          <p:cNvPicPr preferRelativeResize="0"/>
          <p:nvPr/>
        </p:nvPicPr>
        <p:blipFill>
          <a:blip r:embed="rId3">
            <a:alphaModFix/>
          </a:blip>
          <a:stretch>
            <a:fillRect/>
          </a:stretch>
        </p:blipFill>
        <p:spPr>
          <a:xfrm rot="-5400000">
            <a:off x="103775" y="9769600"/>
            <a:ext cx="936000" cy="270612"/>
          </a:xfrm>
          <a:prstGeom prst="rect">
            <a:avLst/>
          </a:prstGeom>
          <a:noFill/>
          <a:ln>
            <a:noFill/>
          </a:ln>
        </p:spPr>
      </p:pic>
      <p:sp>
        <p:nvSpPr>
          <p:cNvPr id="85" name="Google Shape;85;p9"/>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86" name="Google Shape;86;p9"/>
          <p:cNvSpPr txBox="1"/>
          <p:nvPr>
            <p:ph idx="1" type="subTitle"/>
          </p:nvPr>
        </p:nvSpPr>
        <p:spPr>
          <a:xfrm rot="-5400000">
            <a:off x="-3498000" y="5128425"/>
            <a:ext cx="8070600" cy="246300"/>
          </a:xfrm>
          <a:prstGeom prst="rect">
            <a:avLst/>
          </a:prstGeom>
          <a:ln>
            <a:noFill/>
          </a:ln>
        </p:spPr>
        <p:txBody>
          <a:bodyPr anchorCtr="0" anchor="ctr" bIns="0" lIns="0" spcFirstLastPara="1" rIns="0" wrap="square" tIns="0">
            <a:no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2 Landscape last page">
  <p:cSld name="SECTION_HEADER_1_1_1_1_1_1_1_1_1_1_1_2_1_1_1_1_1_1_1_1_1_1_1_1_1">
    <p:bg>
      <p:bgPr>
        <a:solidFill>
          <a:schemeClr val="lt1"/>
        </a:solidFill>
      </p:bgPr>
    </p:bg>
    <p:spTree>
      <p:nvGrpSpPr>
        <p:cNvPr id="87" name="Shape 87"/>
        <p:cNvGrpSpPr/>
        <p:nvPr/>
      </p:nvGrpSpPr>
      <p:grpSpPr>
        <a:xfrm>
          <a:off x="0" y="0"/>
          <a:ext cx="0" cy="0"/>
          <a:chOff x="0" y="0"/>
          <a:chExt cx="0" cy="0"/>
        </a:xfrm>
      </p:grpSpPr>
      <p:pic>
        <p:nvPicPr>
          <p:cNvPr id="88" name="Google Shape;88;p10"/>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89" name="Google Shape;89;p10"/>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90" name="Google Shape;90;p10"/>
          <p:cNvSpPr txBox="1"/>
          <p:nvPr/>
        </p:nvSpPr>
        <p:spPr>
          <a:xfrm rot="-5400000">
            <a:off x="174000" y="654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solidFill>
                  <a:schemeClr val="dk1"/>
                </a:solidFill>
                <a:latin typeface="Lexend"/>
                <a:ea typeface="Lexend"/>
                <a:cs typeface="Lexend"/>
                <a:sym typeface="Lexend"/>
              </a:rPr>
              <a:t>Worksheet</a:t>
            </a:r>
            <a:endParaRPr b="1" sz="900">
              <a:solidFill>
                <a:schemeClr val="dk1"/>
              </a:solidFill>
              <a:latin typeface="Lexend"/>
              <a:ea typeface="Lexend"/>
              <a:cs typeface="Lexend"/>
              <a:sym typeface="Lexend"/>
            </a:endParaRPr>
          </a:p>
        </p:txBody>
      </p:sp>
      <p:pic>
        <p:nvPicPr>
          <p:cNvPr id="91" name="Google Shape;91;p10"/>
          <p:cNvPicPr preferRelativeResize="0"/>
          <p:nvPr/>
        </p:nvPicPr>
        <p:blipFill>
          <a:blip r:embed="rId3">
            <a:alphaModFix/>
          </a:blip>
          <a:stretch>
            <a:fillRect/>
          </a:stretch>
        </p:blipFill>
        <p:spPr>
          <a:xfrm rot="-5400000">
            <a:off x="103775" y="9769600"/>
            <a:ext cx="936000" cy="270612"/>
          </a:xfrm>
          <a:prstGeom prst="rect">
            <a:avLst/>
          </a:prstGeom>
          <a:noFill/>
          <a:ln>
            <a:noFill/>
          </a:ln>
        </p:spPr>
      </p:pic>
      <p:sp>
        <p:nvSpPr>
          <p:cNvPr id="92" name="Google Shape;92;p10"/>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93" name="Google Shape;93;p10"/>
          <p:cNvSpPr txBox="1"/>
          <p:nvPr/>
        </p:nvSpPr>
        <p:spPr>
          <a:xfrm rot="-5400000">
            <a:off x="3997613" y="7219188"/>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chemeClr val="dk1"/>
                </a:solidFill>
                <a:latin typeface="Lexend Light"/>
                <a:ea typeface="Lexend Light"/>
                <a:cs typeface="Lexend Light"/>
                <a:sym typeface="Lexend Light"/>
              </a:rPr>
              <a:t>Licensed on the </a:t>
            </a:r>
            <a:r>
              <a:rPr lang="en-GB" sz="900" u="sng">
                <a:solidFill>
                  <a:schemeClr val="dk1"/>
                </a:solidFill>
                <a:latin typeface="Lexend Light"/>
                <a:ea typeface="Lexend Light"/>
                <a:cs typeface="Lexend Light"/>
                <a:sym typeface="Lexend Light"/>
                <a:hlinkClick r:id="rId4">
                  <a:extLst>
                    <a:ext uri="{A12FA001-AC4F-418D-AE19-62706E023703}">
                      <ahyp:hlinkClr val="tx"/>
                    </a:ext>
                  </a:extLst>
                </a:hlinkClick>
              </a:rPr>
              <a:t>Open Government Licence v3.0</a:t>
            </a:r>
            <a:r>
              <a:rPr lang="en-GB" sz="900">
                <a:solidFill>
                  <a:schemeClr val="dk1"/>
                </a:solidFill>
                <a:latin typeface="Lexend Light"/>
                <a:ea typeface="Lexend Light"/>
                <a:cs typeface="Lexend Light"/>
                <a:sym typeface="Lexend Light"/>
              </a:rPr>
              <a:t>, except where otherwise stated. See </a:t>
            </a:r>
            <a:r>
              <a:rPr lang="en-GB" sz="900" u="sng">
                <a:solidFill>
                  <a:schemeClr val="dk1"/>
                </a:solidFill>
                <a:latin typeface="Lexend Light"/>
                <a:ea typeface="Lexend Light"/>
                <a:cs typeface="Lexend Light"/>
                <a:sym typeface="Lexend Light"/>
                <a:hlinkClick r:id="rId5">
                  <a:extLst>
                    <a:ext uri="{A12FA001-AC4F-418D-AE19-62706E023703}">
                      <ahyp:hlinkClr val="tx"/>
                    </a:ext>
                  </a:extLst>
                </a:hlinkClick>
              </a:rPr>
              <a:t>Oak terms &amp; conditions</a:t>
            </a:r>
            <a:r>
              <a:rPr lang="en-GB" sz="900">
                <a:solidFill>
                  <a:schemeClr val="dk1"/>
                </a:solidFill>
                <a:latin typeface="Lexend Light"/>
                <a:ea typeface="Lexend Light"/>
                <a:cs typeface="Lexend Light"/>
                <a:sym typeface="Lexend Light"/>
              </a:rPr>
              <a:t>.</a:t>
            </a:r>
            <a:endParaRPr sz="900">
              <a:solidFill>
                <a:schemeClr val="dk1"/>
              </a:solidFill>
              <a:latin typeface="Lexend Light"/>
              <a:ea typeface="Lexend Light"/>
              <a:cs typeface="Lexend Light"/>
              <a:sym typeface="Lexend Light"/>
            </a:endParaRPr>
          </a:p>
        </p:txBody>
      </p:sp>
      <p:sp>
        <p:nvSpPr>
          <p:cNvPr id="94" name="Google Shape;94;p10"/>
          <p:cNvSpPr txBox="1"/>
          <p:nvPr/>
        </p:nvSpPr>
        <p:spPr>
          <a:xfrm rot="-5400000">
            <a:off x="5092013" y="8491038"/>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chemeClr val="dk1"/>
                </a:solidFill>
                <a:latin typeface="Lexend"/>
                <a:ea typeface="Lexend"/>
                <a:cs typeface="Lexend"/>
                <a:sym typeface="Lexend"/>
              </a:rPr>
              <a:t>© Oak National Academy 2025</a:t>
            </a:r>
            <a:r>
              <a:rPr lang="en-GB" sz="900">
                <a:solidFill>
                  <a:schemeClr val="dk1"/>
                </a:solidFill>
                <a:latin typeface="Lexend Light"/>
                <a:ea typeface="Lexend Light"/>
                <a:cs typeface="Lexend Light"/>
                <a:sym typeface="Lexend Light"/>
              </a:rPr>
              <a:t>. Produced in partnership with</a:t>
            </a:r>
            <a:endParaRPr sz="900">
              <a:solidFill>
                <a:schemeClr val="dk1"/>
              </a:solidFill>
              <a:latin typeface="Lexend Light"/>
              <a:ea typeface="Lexend Light"/>
              <a:cs typeface="Lexend Light"/>
              <a:sym typeface="Lexend Light"/>
            </a:endParaRPr>
          </a:p>
        </p:txBody>
      </p:sp>
      <p:sp>
        <p:nvSpPr>
          <p:cNvPr id="95" name="Google Shape;95;p10"/>
          <p:cNvSpPr txBox="1"/>
          <p:nvPr/>
        </p:nvSpPr>
        <p:spPr>
          <a:xfrm rot="-5400000">
            <a:off x="5488463" y="5454663"/>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chemeClr val="dk1"/>
              </a:solidFill>
              <a:latin typeface="Lexend Light"/>
              <a:ea typeface="Lexend Light"/>
              <a:cs typeface="Lexend Light"/>
              <a:sym typeface="Lexend Light"/>
            </a:endParaRPr>
          </a:p>
        </p:txBody>
      </p:sp>
      <p:sp>
        <p:nvSpPr>
          <p:cNvPr id="96" name="Google Shape;96;p10"/>
          <p:cNvSpPr txBox="1"/>
          <p:nvPr>
            <p:ph idx="1" type="subTitle"/>
          </p:nvPr>
        </p:nvSpPr>
        <p:spPr>
          <a:xfrm rot="-5400000">
            <a:off x="5488463" y="5454663"/>
            <a:ext cx="2722800" cy="161100"/>
          </a:xfrm>
          <a:prstGeom prst="rect">
            <a:avLst/>
          </a:prstGeom>
        </p:spPr>
        <p:txBody>
          <a:bodyPr anchorCtr="0" anchor="b" bIns="0" lIns="0" spcFirstLastPara="1" rIns="0" wrap="square" tIns="0">
            <a:normAutofit/>
          </a:bodyPr>
          <a:lstStyle>
            <a:lvl1pPr lvl="0" rtl="0">
              <a:spcBef>
                <a:spcPts val="0"/>
              </a:spcBef>
              <a:spcAft>
                <a:spcPts val="0"/>
              </a:spcAft>
              <a:buSzPts val="900"/>
              <a:buFont typeface="Lexend Light"/>
              <a:buNone/>
              <a:defRPr sz="900">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97" name="Google Shape;97;p10"/>
          <p:cNvSpPr txBox="1"/>
          <p:nvPr>
            <p:ph idx="2" type="subTitle"/>
          </p:nvPr>
        </p:nvSpPr>
        <p:spPr>
          <a:xfrm rot="-5400000">
            <a:off x="-3498000" y="5128425"/>
            <a:ext cx="8070600" cy="246300"/>
          </a:xfrm>
          <a:prstGeom prst="rect">
            <a:avLst/>
          </a:prstGeom>
          <a:ln>
            <a:noFill/>
          </a:ln>
        </p:spPr>
        <p:txBody>
          <a:bodyPr anchorCtr="0" anchor="ctr" bIns="0" lIns="0" spcFirstLastPara="1" rIns="0" wrap="square" tIns="0">
            <a:no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0 Landscape single page worksheet">
  <p:cSld name="SECTION_HEADER_1_1_1_1_1_1_1_1_1_1_1_2_1_1_1_1_1_1_1_1_1_1_2">
    <p:bg>
      <p:bgPr>
        <a:solidFill>
          <a:schemeClr val="lt1"/>
        </a:solidFill>
      </p:bgPr>
    </p:bg>
    <p:spTree>
      <p:nvGrpSpPr>
        <p:cNvPr id="98" name="Shape 98"/>
        <p:cNvGrpSpPr/>
        <p:nvPr/>
      </p:nvGrpSpPr>
      <p:grpSpPr>
        <a:xfrm>
          <a:off x="0" y="0"/>
          <a:ext cx="0" cy="0"/>
          <a:chOff x="0" y="0"/>
          <a:chExt cx="0" cy="0"/>
        </a:xfrm>
      </p:grpSpPr>
      <p:pic>
        <p:nvPicPr>
          <p:cNvPr id="99" name="Google Shape;99;p11"/>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00" name="Google Shape;100;p11"/>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01" name="Google Shape;101;p11"/>
          <p:cNvSpPr txBox="1"/>
          <p:nvPr>
            <p:ph type="title"/>
          </p:nvPr>
        </p:nvSpPr>
        <p:spPr>
          <a:xfrm rot="-5400000">
            <a:off x="-3842125" y="5162095"/>
            <a:ext cx="99837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02" name="Google Shape;102;p11"/>
          <p:cNvPicPr preferRelativeResize="0"/>
          <p:nvPr/>
        </p:nvPicPr>
        <p:blipFill>
          <a:blip r:embed="rId3">
            <a:alphaModFix/>
          </a:blip>
          <a:stretch>
            <a:fillRect/>
          </a:stretch>
        </p:blipFill>
        <p:spPr>
          <a:xfrm rot="-5400000">
            <a:off x="-3612750" y="5310727"/>
            <a:ext cx="9987174" cy="66225"/>
          </a:xfrm>
          <a:prstGeom prst="rect">
            <a:avLst/>
          </a:prstGeom>
          <a:noFill/>
          <a:ln>
            <a:noFill/>
          </a:ln>
        </p:spPr>
      </p:pic>
      <p:sp>
        <p:nvSpPr>
          <p:cNvPr id="103" name="Google Shape;103;p11"/>
          <p:cNvSpPr txBox="1"/>
          <p:nvPr/>
        </p:nvSpPr>
        <p:spPr>
          <a:xfrm rot="-5400000">
            <a:off x="104964" y="719111"/>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104" name="Google Shape;104;p11"/>
          <p:cNvPicPr preferRelativeResize="0"/>
          <p:nvPr/>
        </p:nvPicPr>
        <p:blipFill>
          <a:blip r:embed="rId4">
            <a:alphaModFix/>
          </a:blip>
          <a:stretch>
            <a:fillRect/>
          </a:stretch>
        </p:blipFill>
        <p:spPr>
          <a:xfrm rot="-5400000">
            <a:off x="103775" y="9769600"/>
            <a:ext cx="936000" cy="270612"/>
          </a:xfrm>
          <a:prstGeom prst="rect">
            <a:avLst/>
          </a:prstGeom>
          <a:noFill/>
          <a:ln>
            <a:noFill/>
          </a:ln>
        </p:spPr>
      </p:pic>
      <p:sp>
        <p:nvSpPr>
          <p:cNvPr id="105" name="Google Shape;105;p11"/>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06" name="Google Shape;106;p11"/>
          <p:cNvSpPr txBox="1"/>
          <p:nvPr/>
        </p:nvSpPr>
        <p:spPr>
          <a:xfrm rot="-5400000">
            <a:off x="3997613" y="7219188"/>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chemeClr val="dk1"/>
                </a:solidFill>
                <a:latin typeface="Lexend Light"/>
                <a:ea typeface="Lexend Light"/>
                <a:cs typeface="Lexend Light"/>
                <a:sym typeface="Lexend Light"/>
              </a:rPr>
              <a:t>Licensed on the </a:t>
            </a:r>
            <a:r>
              <a:rPr lang="en-GB" sz="900" u="sng">
                <a:solidFill>
                  <a:schemeClr val="dk1"/>
                </a:solidFill>
                <a:latin typeface="Lexend Light"/>
                <a:ea typeface="Lexend Light"/>
                <a:cs typeface="Lexend Light"/>
                <a:sym typeface="Lexend Light"/>
                <a:hlinkClick r:id="rId5">
                  <a:extLst>
                    <a:ext uri="{A12FA001-AC4F-418D-AE19-62706E023703}">
                      <ahyp:hlinkClr val="tx"/>
                    </a:ext>
                  </a:extLst>
                </a:hlinkClick>
              </a:rPr>
              <a:t>Open Government Licence v3.0</a:t>
            </a:r>
            <a:r>
              <a:rPr lang="en-GB" sz="900">
                <a:solidFill>
                  <a:schemeClr val="dk1"/>
                </a:solidFill>
                <a:latin typeface="Lexend Light"/>
                <a:ea typeface="Lexend Light"/>
                <a:cs typeface="Lexend Light"/>
                <a:sym typeface="Lexend Light"/>
              </a:rPr>
              <a:t>, except where otherwise stated. See </a:t>
            </a:r>
            <a:r>
              <a:rPr lang="en-GB" sz="900" u="sng">
                <a:solidFill>
                  <a:schemeClr val="dk1"/>
                </a:solidFill>
                <a:latin typeface="Lexend Light"/>
                <a:ea typeface="Lexend Light"/>
                <a:cs typeface="Lexend Light"/>
                <a:sym typeface="Lexend Light"/>
                <a:hlinkClick r:id="rId6">
                  <a:extLst>
                    <a:ext uri="{A12FA001-AC4F-418D-AE19-62706E023703}">
                      <ahyp:hlinkClr val="tx"/>
                    </a:ext>
                  </a:extLst>
                </a:hlinkClick>
              </a:rPr>
              <a:t>Oak terms &amp; conditions</a:t>
            </a:r>
            <a:r>
              <a:rPr lang="en-GB" sz="900">
                <a:solidFill>
                  <a:schemeClr val="dk1"/>
                </a:solidFill>
                <a:latin typeface="Lexend Light"/>
                <a:ea typeface="Lexend Light"/>
                <a:cs typeface="Lexend Light"/>
                <a:sym typeface="Lexend Light"/>
              </a:rPr>
              <a:t>.</a:t>
            </a:r>
            <a:endParaRPr sz="900">
              <a:solidFill>
                <a:schemeClr val="dk1"/>
              </a:solidFill>
              <a:latin typeface="Lexend Light"/>
              <a:ea typeface="Lexend Light"/>
              <a:cs typeface="Lexend Light"/>
              <a:sym typeface="Lexend Light"/>
            </a:endParaRPr>
          </a:p>
        </p:txBody>
      </p:sp>
      <p:sp>
        <p:nvSpPr>
          <p:cNvPr id="107" name="Google Shape;107;p11"/>
          <p:cNvSpPr txBox="1"/>
          <p:nvPr/>
        </p:nvSpPr>
        <p:spPr>
          <a:xfrm rot="-5400000">
            <a:off x="5092013" y="8491038"/>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chemeClr val="dk1"/>
                </a:solidFill>
                <a:latin typeface="Lexend"/>
                <a:ea typeface="Lexend"/>
                <a:cs typeface="Lexend"/>
                <a:sym typeface="Lexend"/>
              </a:rPr>
              <a:t>© Oak National Academy 2025</a:t>
            </a:r>
            <a:r>
              <a:rPr lang="en-GB" sz="900">
                <a:solidFill>
                  <a:schemeClr val="dk1"/>
                </a:solidFill>
                <a:latin typeface="Lexend Light"/>
                <a:ea typeface="Lexend Light"/>
                <a:cs typeface="Lexend Light"/>
                <a:sym typeface="Lexend Light"/>
              </a:rPr>
              <a:t>. Produced in partnership with</a:t>
            </a:r>
            <a:endParaRPr sz="900">
              <a:solidFill>
                <a:schemeClr val="dk1"/>
              </a:solidFill>
              <a:latin typeface="Lexend Light"/>
              <a:ea typeface="Lexend Light"/>
              <a:cs typeface="Lexend Light"/>
              <a:sym typeface="Lexend Light"/>
            </a:endParaRPr>
          </a:p>
        </p:txBody>
      </p:sp>
      <p:sp>
        <p:nvSpPr>
          <p:cNvPr id="108" name="Google Shape;108;p11"/>
          <p:cNvSpPr txBox="1"/>
          <p:nvPr/>
        </p:nvSpPr>
        <p:spPr>
          <a:xfrm rot="-5400000">
            <a:off x="5488463" y="5454663"/>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chemeClr val="dk1"/>
              </a:solidFill>
              <a:latin typeface="Lexend Light"/>
              <a:ea typeface="Lexend Light"/>
              <a:cs typeface="Lexend Light"/>
              <a:sym typeface="Lexend Light"/>
            </a:endParaRPr>
          </a:p>
        </p:txBody>
      </p:sp>
      <p:sp>
        <p:nvSpPr>
          <p:cNvPr id="109" name="Google Shape;109;p11"/>
          <p:cNvSpPr txBox="1"/>
          <p:nvPr>
            <p:ph idx="1" type="subTitle"/>
          </p:nvPr>
        </p:nvSpPr>
        <p:spPr>
          <a:xfrm rot="-5400000">
            <a:off x="5488463" y="5454663"/>
            <a:ext cx="2722800" cy="161100"/>
          </a:xfrm>
          <a:prstGeom prst="rect">
            <a:avLst/>
          </a:prstGeom>
        </p:spPr>
        <p:txBody>
          <a:bodyPr anchorCtr="0" anchor="b" bIns="0" lIns="0" spcFirstLastPara="1" rIns="0" wrap="square" tIns="0">
            <a:normAutofit/>
          </a:bodyPr>
          <a:lstStyle>
            <a:lvl1pPr lvl="0" rtl="0">
              <a:spcBef>
                <a:spcPts val="0"/>
              </a:spcBef>
              <a:spcAft>
                <a:spcPts val="0"/>
              </a:spcAft>
              <a:buSzPts val="900"/>
              <a:buFont typeface="Lexend Light"/>
              <a:buNone/>
              <a:defRPr sz="900">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10" name="Google Shape;110;p11"/>
          <p:cNvPicPr preferRelativeResize="0"/>
          <p:nvPr/>
        </p:nvPicPr>
        <p:blipFill>
          <a:blip r:embed="rId7">
            <a:alphaModFix/>
          </a:blip>
          <a:stretch>
            <a:fillRect/>
          </a:stretch>
        </p:blipFill>
        <p:spPr>
          <a:xfrm rot="-5400000">
            <a:off x="319775" y="1225719"/>
            <a:ext cx="504000" cy="504000"/>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57705" y="925091"/>
            <a:ext cx="7044600" cy="1190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200"/>
              <a:buFont typeface="Lexend"/>
              <a:buNone/>
              <a:defRPr b="1" i="0" sz="2200" u="none" cap="none" strike="noStrike">
                <a:solidFill>
                  <a:schemeClr val="dk1"/>
                </a:solidFill>
                <a:latin typeface="Lexend"/>
                <a:ea typeface="Lexend"/>
                <a:cs typeface="Lexend"/>
                <a:sym typeface="Lexend"/>
              </a:defRPr>
            </a:lvl1pPr>
            <a:lvl2pPr lvl="1"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2pPr>
            <a:lvl3pPr lvl="2"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3pPr>
            <a:lvl4pPr lvl="3"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4pPr>
            <a:lvl5pPr lvl="4"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5pPr>
            <a:lvl6pPr lvl="5"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6pPr>
            <a:lvl7pPr lvl="6"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7pPr>
            <a:lvl8pPr lvl="7"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8pPr>
            <a:lvl9pPr lvl="8"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9pPr>
          </a:lstStyle>
          <a:p/>
        </p:txBody>
      </p:sp>
      <p:sp>
        <p:nvSpPr>
          <p:cNvPr id="7" name="Google Shape;7;p1"/>
          <p:cNvSpPr txBox="1"/>
          <p:nvPr>
            <p:ph idx="1" type="body"/>
          </p:nvPr>
        </p:nvSpPr>
        <p:spPr>
          <a:xfrm>
            <a:off x="257705" y="2395696"/>
            <a:ext cx="7044600" cy="7101900"/>
          </a:xfrm>
          <a:prstGeom prst="rect">
            <a:avLst/>
          </a:prstGeom>
          <a:noFill/>
          <a:ln>
            <a:noFill/>
          </a:ln>
        </p:spPr>
        <p:txBody>
          <a:bodyPr anchorCtr="0" anchor="t" bIns="0" lIns="0" spcFirstLastPara="1" rIns="0" wrap="square" tIns="0">
            <a:normAutofit/>
          </a:bodyPr>
          <a:lstStyle>
            <a:lvl1pPr indent="-342900" lvl="0" marL="457200" marR="0" rtl="0" algn="l">
              <a:lnSpc>
                <a:spcPct val="115000"/>
              </a:lnSpc>
              <a:spcBef>
                <a:spcPts val="0"/>
              </a:spcBef>
              <a:spcAft>
                <a:spcPts val="0"/>
              </a:spcAft>
              <a:buClr>
                <a:schemeClr val="dk1"/>
              </a:buClr>
              <a:buSzPts val="1800"/>
              <a:buFont typeface="Lexend"/>
              <a:buChar char="●"/>
              <a:defRPr i="0" sz="1800" u="none" cap="none" strike="noStrike">
                <a:solidFill>
                  <a:schemeClr val="dk1"/>
                </a:solidFill>
                <a:latin typeface="Lexend"/>
                <a:ea typeface="Lexend"/>
                <a:cs typeface="Lexend"/>
                <a:sym typeface="Lexend"/>
              </a:defRPr>
            </a:lvl1pPr>
            <a:lvl2pPr indent="-317500" lvl="1" marL="9144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2pPr>
            <a:lvl3pPr indent="-317500" lvl="2" marL="13716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3pPr>
            <a:lvl4pPr indent="-317500" lvl="3" marL="18288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4pPr>
            <a:lvl5pPr indent="-317500" lvl="4" marL="22860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5pPr>
            <a:lvl6pPr indent="-317500" lvl="5" marL="27432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6pPr>
            <a:lvl7pPr indent="-317500" lvl="6" marL="32004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7pPr>
            <a:lvl8pPr indent="-317500" lvl="7" marL="36576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8pPr>
            <a:lvl9pPr indent="-317500" lvl="8" marL="4114800" marR="0" rtl="0" algn="l">
              <a:lnSpc>
                <a:spcPct val="115000"/>
              </a:lnSpc>
              <a:spcBef>
                <a:spcPts val="0"/>
              </a:spcBef>
              <a:spcAft>
                <a:spcPts val="0"/>
              </a:spcAft>
              <a:buClr>
                <a:schemeClr val="dk1"/>
              </a:buClr>
              <a:buSzPts val="1400"/>
              <a:buFont typeface="Kalam"/>
              <a:buChar char="■"/>
              <a:defRPr i="0" sz="1400" u="none" cap="none" strike="noStrike">
                <a:solidFill>
                  <a:schemeClr val="dk1"/>
                </a:solidFill>
                <a:latin typeface="Kalam"/>
                <a:ea typeface="Kalam"/>
                <a:cs typeface="Kalam"/>
                <a:sym typeface="Kalam"/>
              </a:defRPr>
            </a:lvl9pPr>
          </a:lstStyle>
          <a:p/>
        </p:txBody>
      </p:sp>
      <p:sp>
        <p:nvSpPr>
          <p:cNvPr id="8" name="Google Shape;8;p1"/>
          <p:cNvSpPr txBox="1"/>
          <p:nvPr>
            <p:ph idx="12" type="sldNum"/>
          </p:nvPr>
        </p:nvSpPr>
        <p:spPr>
          <a:xfrm>
            <a:off x="7004788" y="9693616"/>
            <a:ext cx="453600" cy="8181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1pPr>
            <a:lvl2pPr indent="0" lvl="1"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2pPr>
            <a:lvl3pPr indent="0" lvl="2"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3pPr>
            <a:lvl4pPr indent="0" lvl="3"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4pPr>
            <a:lvl5pPr indent="0" lvl="4"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5pPr>
            <a:lvl6pPr indent="0" lvl="5"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6pPr>
            <a:lvl7pPr indent="0" lvl="6"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7pPr>
            <a:lvl8pPr indent="0" lvl="7"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8pPr>
            <a:lvl9pPr indent="0" lvl="8"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2"/>
          <p:cNvSpPr txBox="1"/>
          <p:nvPr>
            <p:ph type="title"/>
          </p:nvPr>
        </p:nvSpPr>
        <p:spPr>
          <a:xfrm>
            <a:off x="468000" y="864000"/>
            <a:ext cx="6624000" cy="2772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Using the fx-83/85GT CW for statistics</a:t>
            </a:r>
            <a:endParaRPr/>
          </a:p>
        </p:txBody>
      </p:sp>
      <p:sp>
        <p:nvSpPr>
          <p:cNvPr id="116" name="Google Shape;116;p12"/>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17" name="Google Shape;117;p12"/>
          <p:cNvSpPr txBox="1"/>
          <p:nvPr/>
        </p:nvSpPr>
        <p:spPr>
          <a:xfrm>
            <a:off x="468000" y="1398675"/>
            <a:ext cx="6866700" cy="215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a:solidFill>
                  <a:schemeClr val="dk1"/>
                </a:solidFill>
                <a:latin typeface="Lexend"/>
                <a:ea typeface="Lexend"/>
                <a:cs typeface="Lexend"/>
                <a:sym typeface="Lexend"/>
              </a:rPr>
              <a:t>Task A: Finding the mean from a frequency table</a:t>
            </a:r>
            <a:endParaRPr b="1">
              <a:solidFill>
                <a:schemeClr val="dk1"/>
              </a:solidFill>
              <a:latin typeface="Lexend"/>
              <a:ea typeface="Lexend"/>
              <a:cs typeface="Lexend"/>
              <a:sym typeface="Lexend"/>
            </a:endParaRPr>
          </a:p>
        </p:txBody>
      </p:sp>
      <p:sp>
        <p:nvSpPr>
          <p:cNvPr id="118" name="Google Shape;118;p12"/>
          <p:cNvSpPr txBox="1"/>
          <p:nvPr/>
        </p:nvSpPr>
        <p:spPr>
          <a:xfrm>
            <a:off x="468000" y="1757200"/>
            <a:ext cx="6624000" cy="39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200">
                <a:solidFill>
                  <a:srgbClr val="222222"/>
                </a:solidFill>
                <a:latin typeface="Lexend"/>
                <a:ea typeface="Lexend"/>
                <a:cs typeface="Lexend"/>
                <a:sym typeface="Lexend"/>
              </a:rPr>
              <a:t>1) This frequency table shows the number of goals scored in each match by all the teams in a club over one football season.</a:t>
            </a:r>
            <a:endParaRPr sz="1200">
              <a:solidFill>
                <a:srgbClr val="222222"/>
              </a:solidFill>
              <a:latin typeface="Lexend"/>
              <a:ea typeface="Lexend"/>
              <a:cs typeface="Lexend"/>
              <a:sym typeface="Lexend"/>
            </a:endParaRPr>
          </a:p>
        </p:txBody>
      </p:sp>
      <p:graphicFrame>
        <p:nvGraphicFramePr>
          <p:cNvPr id="119" name="Google Shape;119;p12"/>
          <p:cNvGraphicFramePr/>
          <p:nvPr/>
        </p:nvGraphicFramePr>
        <p:xfrm>
          <a:off x="468008" y="2341300"/>
          <a:ext cx="3000000" cy="3000000"/>
        </p:xfrm>
        <a:graphic>
          <a:graphicData uri="http://schemas.openxmlformats.org/drawingml/2006/table">
            <a:tbl>
              <a:tblPr>
                <a:noFill/>
                <a:tableStyleId>{799540E4-1DC0-4A54-835C-BD1D945AD856}</a:tableStyleId>
              </a:tblPr>
              <a:tblGrid>
                <a:gridCol w="1261700"/>
                <a:gridCol w="1071100"/>
              </a:tblGrid>
              <a:tr h="319625">
                <a:tc>
                  <a:txBody>
                    <a:bodyPr/>
                    <a:lstStyle/>
                    <a:p>
                      <a:pPr indent="0" lvl="0" marL="0" rtl="0" algn="ctr">
                        <a:spcBef>
                          <a:spcPts val="0"/>
                        </a:spcBef>
                        <a:spcAft>
                          <a:spcPts val="0"/>
                        </a:spcAft>
                        <a:buNone/>
                      </a:pPr>
                      <a:r>
                        <a:rPr b="1" lang="en-GB" sz="1200">
                          <a:solidFill>
                            <a:schemeClr val="dk1"/>
                          </a:solidFill>
                          <a:latin typeface="Lexend"/>
                          <a:ea typeface="Lexend"/>
                          <a:cs typeface="Lexend"/>
                          <a:sym typeface="Lexend"/>
                        </a:rPr>
                        <a:t>Goals scored</a:t>
                      </a:r>
                      <a:endParaRPr b="1" sz="1200">
                        <a:solidFill>
                          <a:schemeClr val="dk1"/>
                        </a:solidFill>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b="1" lang="en-GB" sz="1200">
                          <a:solidFill>
                            <a:schemeClr val="dk1"/>
                          </a:solidFill>
                          <a:latin typeface="Lexend"/>
                          <a:ea typeface="Lexend"/>
                          <a:cs typeface="Lexend"/>
                          <a:sym typeface="Lexend"/>
                        </a:rPr>
                        <a:t>Frequency</a:t>
                      </a:r>
                      <a:endParaRPr b="1" sz="1200">
                        <a:solidFill>
                          <a:schemeClr val="dk1"/>
                        </a:solidFill>
                        <a:latin typeface="Lexend"/>
                        <a:ea typeface="Lexend"/>
                        <a:cs typeface="Lexend"/>
                        <a:sym typeface="Lexend"/>
                      </a:endParaRPr>
                    </a:p>
                  </a:txBody>
                  <a:tcPr marT="91425" marB="91425" marR="91425" marL="91425"/>
                </a:tc>
              </a:tr>
              <a:tr h="319625">
                <a:tc>
                  <a:txBody>
                    <a:bodyPr/>
                    <a:lstStyle/>
                    <a:p>
                      <a:pPr indent="0" lvl="0" marL="0" rtl="0" algn="ctr">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19</a:t>
                      </a:r>
                      <a:endParaRPr sz="1200">
                        <a:latin typeface="Lexend"/>
                        <a:ea typeface="Lexend"/>
                        <a:cs typeface="Lexend"/>
                        <a:sym typeface="Lexend"/>
                      </a:endParaRPr>
                    </a:p>
                  </a:txBody>
                  <a:tcPr marT="91425" marB="91425" marR="91425" marL="91425"/>
                </a:tc>
              </a:tr>
              <a:tr h="319625">
                <a:tc>
                  <a:txBody>
                    <a:bodyPr/>
                    <a:lstStyle/>
                    <a:p>
                      <a:pPr indent="0" lvl="0" marL="0" rtl="0" algn="ctr">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34</a:t>
                      </a:r>
                      <a:endParaRPr sz="1200">
                        <a:latin typeface="Lexend"/>
                        <a:ea typeface="Lexend"/>
                        <a:cs typeface="Lexend"/>
                        <a:sym typeface="Lexend"/>
                      </a:endParaRPr>
                    </a:p>
                  </a:txBody>
                  <a:tcPr marT="91425" marB="91425" marR="91425" marL="91425"/>
                </a:tc>
              </a:tr>
              <a:tr h="319625">
                <a:tc>
                  <a:txBody>
                    <a:bodyPr/>
                    <a:lstStyle/>
                    <a:p>
                      <a:pPr indent="0" lvl="0" marL="0" rtl="0" algn="ctr">
                        <a:spcBef>
                          <a:spcPts val="0"/>
                        </a:spcBef>
                        <a:spcAft>
                          <a:spcPts val="0"/>
                        </a:spcAft>
                        <a:buNone/>
                      </a:pPr>
                      <a:r>
                        <a:rPr lang="en-GB" sz="1200">
                          <a:latin typeface="Lexend"/>
                          <a:ea typeface="Lexend"/>
                          <a:cs typeface="Lexend"/>
                          <a:sym typeface="Lexend"/>
                        </a:rPr>
                        <a:t>2</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21</a:t>
                      </a:r>
                      <a:endParaRPr sz="1200">
                        <a:latin typeface="Lexend"/>
                        <a:ea typeface="Lexend"/>
                        <a:cs typeface="Lexend"/>
                        <a:sym typeface="Lexend"/>
                      </a:endParaRPr>
                    </a:p>
                  </a:txBody>
                  <a:tcPr marT="91425" marB="91425" marR="91425" marL="91425"/>
                </a:tc>
              </a:tr>
              <a:tr h="319625">
                <a:tc>
                  <a:txBody>
                    <a:bodyPr/>
                    <a:lstStyle/>
                    <a:p>
                      <a:pPr indent="0" lvl="0" marL="0" rtl="0" algn="ctr">
                        <a:spcBef>
                          <a:spcPts val="0"/>
                        </a:spcBef>
                        <a:spcAft>
                          <a:spcPts val="0"/>
                        </a:spcAft>
                        <a:buNone/>
                      </a:pPr>
                      <a:r>
                        <a:rPr lang="en-GB" sz="1200">
                          <a:latin typeface="Lexend"/>
                          <a:ea typeface="Lexend"/>
                          <a:cs typeface="Lexend"/>
                          <a:sym typeface="Lexend"/>
                        </a:rPr>
                        <a:t>3</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15</a:t>
                      </a:r>
                      <a:endParaRPr sz="1200">
                        <a:latin typeface="Lexend"/>
                        <a:ea typeface="Lexend"/>
                        <a:cs typeface="Lexend"/>
                        <a:sym typeface="Lexend"/>
                      </a:endParaRPr>
                    </a:p>
                  </a:txBody>
                  <a:tcPr marT="91425" marB="91425" marR="91425" marL="91425"/>
                </a:tc>
              </a:tr>
              <a:tr h="319625">
                <a:tc>
                  <a:txBody>
                    <a:bodyPr/>
                    <a:lstStyle/>
                    <a:p>
                      <a:pPr indent="0" lvl="0" marL="0" rtl="0" algn="ctr">
                        <a:spcBef>
                          <a:spcPts val="0"/>
                        </a:spcBef>
                        <a:spcAft>
                          <a:spcPts val="0"/>
                        </a:spcAft>
                        <a:buNone/>
                      </a:pPr>
                      <a:r>
                        <a:rPr lang="en-GB" sz="1200">
                          <a:latin typeface="Lexend"/>
                          <a:ea typeface="Lexend"/>
                          <a:cs typeface="Lexend"/>
                          <a:sym typeface="Lexend"/>
                        </a:rPr>
                        <a:t>4</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11</a:t>
                      </a:r>
                      <a:endParaRPr sz="1200">
                        <a:latin typeface="Lexend"/>
                        <a:ea typeface="Lexend"/>
                        <a:cs typeface="Lexend"/>
                        <a:sym typeface="Lexend"/>
                      </a:endParaRPr>
                    </a:p>
                  </a:txBody>
                  <a:tcPr marT="91425" marB="91425" marR="91425" marL="91425"/>
                </a:tc>
              </a:tr>
            </a:tbl>
          </a:graphicData>
        </a:graphic>
      </p:graphicFrame>
      <p:sp>
        <p:nvSpPr>
          <p:cNvPr id="120" name="Google Shape;120;p12"/>
          <p:cNvSpPr txBox="1"/>
          <p:nvPr/>
        </p:nvSpPr>
        <p:spPr>
          <a:xfrm>
            <a:off x="2947200" y="2341300"/>
            <a:ext cx="4144800" cy="700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222222"/>
                </a:solidFill>
                <a:latin typeface="Lexend"/>
                <a:ea typeface="Lexend"/>
                <a:cs typeface="Lexend"/>
                <a:sym typeface="Lexend"/>
              </a:rPr>
              <a:t>What was the mean number of goals scored?</a:t>
            </a:r>
            <a:endParaRPr sz="1200">
              <a:solidFill>
                <a:srgbClr val="222222"/>
              </a:solidFill>
              <a:latin typeface="Lexend"/>
              <a:ea typeface="Lexend"/>
              <a:cs typeface="Lexend"/>
              <a:sym typeface="Lexend"/>
            </a:endParaRPr>
          </a:p>
          <a:p>
            <a:pPr indent="0" lvl="0" marL="0" rtl="0" algn="l">
              <a:spcBef>
                <a:spcPts val="0"/>
              </a:spcBef>
              <a:spcAft>
                <a:spcPts val="0"/>
              </a:spcAft>
              <a:buNone/>
            </a:pPr>
            <a:r>
              <a:t/>
            </a:r>
            <a:endParaRPr sz="1200">
              <a:solidFill>
                <a:srgbClr val="222222"/>
              </a:solidFill>
              <a:latin typeface="Lexend"/>
              <a:ea typeface="Lexend"/>
              <a:cs typeface="Lexend"/>
              <a:sym typeface="Lexend"/>
            </a:endParaRPr>
          </a:p>
          <a:p>
            <a:pPr indent="0" lvl="0" marL="0" rtl="0" algn="l">
              <a:spcBef>
                <a:spcPts val="0"/>
              </a:spcBef>
              <a:spcAft>
                <a:spcPts val="0"/>
              </a:spcAft>
              <a:buNone/>
            </a:pPr>
            <a:r>
              <a:rPr lang="en-GB" sz="1200">
                <a:solidFill>
                  <a:srgbClr val="222222"/>
                </a:solidFill>
                <a:latin typeface="Kalam"/>
                <a:ea typeface="Kalam"/>
                <a:cs typeface="Kalam"/>
                <a:sym typeface="Kalam"/>
              </a:rPr>
              <a:t>1.65 goals (which rounds to 2)</a:t>
            </a:r>
            <a:r>
              <a:rPr lang="en-GB" sz="1200">
                <a:solidFill>
                  <a:srgbClr val="222222"/>
                </a:solidFill>
                <a:latin typeface="Lexend"/>
                <a:ea typeface="Lexend"/>
                <a:cs typeface="Lexend"/>
                <a:sym typeface="Lexend"/>
              </a:rPr>
              <a:t>  </a:t>
            </a:r>
            <a:endParaRPr sz="1200">
              <a:solidFill>
                <a:srgbClr val="222222"/>
              </a:solidFill>
              <a:latin typeface="Lexend"/>
              <a:ea typeface="Lexend"/>
              <a:cs typeface="Lexend"/>
              <a:sym typeface="Lexend"/>
            </a:endParaRPr>
          </a:p>
        </p:txBody>
      </p:sp>
      <p:graphicFrame>
        <p:nvGraphicFramePr>
          <p:cNvPr id="121" name="Google Shape;121;p12"/>
          <p:cNvGraphicFramePr/>
          <p:nvPr/>
        </p:nvGraphicFramePr>
        <p:xfrm>
          <a:off x="468000" y="5297125"/>
          <a:ext cx="3000000" cy="3000000"/>
        </p:xfrm>
        <a:graphic>
          <a:graphicData uri="http://schemas.openxmlformats.org/drawingml/2006/table">
            <a:tbl>
              <a:tblPr>
                <a:noFill/>
                <a:tableStyleId>{799540E4-1DC0-4A54-835C-BD1D945AD856}</a:tableStyleId>
              </a:tblPr>
              <a:tblGrid>
                <a:gridCol w="1261700"/>
                <a:gridCol w="1071100"/>
              </a:tblGrid>
              <a:tr h="293600">
                <a:tc>
                  <a:txBody>
                    <a:bodyPr/>
                    <a:lstStyle/>
                    <a:p>
                      <a:pPr indent="0" lvl="0" marL="0" rtl="0" algn="ctr">
                        <a:spcBef>
                          <a:spcPts val="0"/>
                        </a:spcBef>
                        <a:spcAft>
                          <a:spcPts val="0"/>
                        </a:spcAft>
                        <a:buNone/>
                      </a:pPr>
                      <a:r>
                        <a:rPr b="1" lang="en-GB" sz="1200">
                          <a:solidFill>
                            <a:schemeClr val="dk1"/>
                          </a:solidFill>
                          <a:latin typeface="Lexend"/>
                          <a:ea typeface="Lexend"/>
                          <a:cs typeface="Lexend"/>
                          <a:sym typeface="Lexend"/>
                        </a:rPr>
                        <a:t>Star rating</a:t>
                      </a:r>
                      <a:endParaRPr b="1" sz="1200">
                        <a:solidFill>
                          <a:schemeClr val="dk1"/>
                        </a:solidFill>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b="1" lang="en-GB" sz="1200">
                          <a:solidFill>
                            <a:schemeClr val="dk1"/>
                          </a:solidFill>
                          <a:latin typeface="Lexend"/>
                          <a:ea typeface="Lexend"/>
                          <a:cs typeface="Lexend"/>
                          <a:sym typeface="Lexend"/>
                        </a:rPr>
                        <a:t>Frequency</a:t>
                      </a:r>
                      <a:endParaRPr b="1" sz="1200">
                        <a:solidFill>
                          <a:schemeClr val="dk1"/>
                        </a:solidFill>
                        <a:latin typeface="Lexend"/>
                        <a:ea typeface="Lexend"/>
                        <a:cs typeface="Lexend"/>
                        <a:sym typeface="Lexend"/>
                      </a:endParaRPr>
                    </a:p>
                  </a:txBody>
                  <a:tcPr marT="91425" marB="91425" marR="91425" marL="91425"/>
                </a:tc>
              </a:tr>
              <a:tr h="291400">
                <a:tc>
                  <a:txBody>
                    <a:bodyPr/>
                    <a:lstStyle/>
                    <a:p>
                      <a:pPr indent="0" lvl="0" marL="0" rtl="0" algn="ctr">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12</a:t>
                      </a:r>
                      <a:endParaRPr sz="1200">
                        <a:latin typeface="Lexend"/>
                        <a:ea typeface="Lexend"/>
                        <a:cs typeface="Lexend"/>
                        <a:sym typeface="Lexend"/>
                      </a:endParaRPr>
                    </a:p>
                  </a:txBody>
                  <a:tcPr marT="91425" marB="91425" marR="91425" marL="91425"/>
                </a:tc>
              </a:tr>
              <a:tr h="291400">
                <a:tc>
                  <a:txBody>
                    <a:bodyPr/>
                    <a:lstStyle/>
                    <a:p>
                      <a:pPr indent="0" lvl="0" marL="0" rtl="0" algn="ctr">
                        <a:spcBef>
                          <a:spcPts val="0"/>
                        </a:spcBef>
                        <a:spcAft>
                          <a:spcPts val="0"/>
                        </a:spcAft>
                        <a:buNone/>
                      </a:pPr>
                      <a:r>
                        <a:rPr lang="en-GB" sz="1200">
                          <a:latin typeface="Lexend"/>
                          <a:ea typeface="Lexend"/>
                          <a:cs typeface="Lexend"/>
                          <a:sym typeface="Lexend"/>
                        </a:rPr>
                        <a:t>2</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18</a:t>
                      </a:r>
                      <a:endParaRPr sz="1200">
                        <a:latin typeface="Lexend"/>
                        <a:ea typeface="Lexend"/>
                        <a:cs typeface="Lexend"/>
                        <a:sym typeface="Lexend"/>
                      </a:endParaRPr>
                    </a:p>
                  </a:txBody>
                  <a:tcPr marT="91425" marB="91425" marR="91425" marL="91425"/>
                </a:tc>
              </a:tr>
              <a:tr h="291400">
                <a:tc>
                  <a:txBody>
                    <a:bodyPr/>
                    <a:lstStyle/>
                    <a:p>
                      <a:pPr indent="0" lvl="0" marL="0" rtl="0" algn="ctr">
                        <a:spcBef>
                          <a:spcPts val="0"/>
                        </a:spcBef>
                        <a:spcAft>
                          <a:spcPts val="0"/>
                        </a:spcAft>
                        <a:buNone/>
                      </a:pPr>
                      <a:r>
                        <a:rPr lang="en-GB" sz="1200">
                          <a:latin typeface="Lexend"/>
                          <a:ea typeface="Lexend"/>
                          <a:cs typeface="Lexend"/>
                          <a:sym typeface="Lexend"/>
                        </a:rPr>
                        <a:t>3</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21</a:t>
                      </a:r>
                      <a:endParaRPr sz="1200">
                        <a:latin typeface="Lexend"/>
                        <a:ea typeface="Lexend"/>
                        <a:cs typeface="Lexend"/>
                        <a:sym typeface="Lexend"/>
                      </a:endParaRPr>
                    </a:p>
                  </a:txBody>
                  <a:tcPr marT="91425" marB="91425" marR="91425" marL="91425"/>
                </a:tc>
              </a:tr>
              <a:tr h="291400">
                <a:tc>
                  <a:txBody>
                    <a:bodyPr/>
                    <a:lstStyle/>
                    <a:p>
                      <a:pPr indent="0" lvl="0" marL="0" rtl="0" algn="ctr">
                        <a:spcBef>
                          <a:spcPts val="0"/>
                        </a:spcBef>
                        <a:spcAft>
                          <a:spcPts val="0"/>
                        </a:spcAft>
                        <a:buNone/>
                      </a:pPr>
                      <a:r>
                        <a:rPr lang="en-GB" sz="1200">
                          <a:latin typeface="Lexend"/>
                          <a:ea typeface="Lexend"/>
                          <a:cs typeface="Lexend"/>
                          <a:sym typeface="Lexend"/>
                        </a:rPr>
                        <a:t>4</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38</a:t>
                      </a:r>
                      <a:endParaRPr sz="1200">
                        <a:latin typeface="Lexend"/>
                        <a:ea typeface="Lexend"/>
                        <a:cs typeface="Lexend"/>
                        <a:sym typeface="Lexend"/>
                      </a:endParaRPr>
                    </a:p>
                  </a:txBody>
                  <a:tcPr marT="91425" marB="91425" marR="91425" marL="91425"/>
                </a:tc>
              </a:tr>
              <a:tr h="291400">
                <a:tc>
                  <a:txBody>
                    <a:bodyPr/>
                    <a:lstStyle/>
                    <a:p>
                      <a:pPr indent="0" lvl="0" marL="0" rtl="0" algn="ctr">
                        <a:spcBef>
                          <a:spcPts val="0"/>
                        </a:spcBef>
                        <a:spcAft>
                          <a:spcPts val="0"/>
                        </a:spcAft>
                        <a:buNone/>
                      </a:pPr>
                      <a:r>
                        <a:rPr lang="en-GB" sz="1200">
                          <a:latin typeface="Lexend"/>
                          <a:ea typeface="Lexend"/>
                          <a:cs typeface="Lexend"/>
                          <a:sym typeface="Lexend"/>
                        </a:rPr>
                        <a:t>5</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45</a:t>
                      </a:r>
                      <a:endParaRPr sz="1200">
                        <a:latin typeface="Lexend"/>
                        <a:ea typeface="Lexend"/>
                        <a:cs typeface="Lexend"/>
                        <a:sym typeface="Lexend"/>
                      </a:endParaRPr>
                    </a:p>
                  </a:txBody>
                  <a:tcPr marT="91425" marB="91425" marR="91425" marL="91425"/>
                </a:tc>
              </a:tr>
            </a:tbl>
          </a:graphicData>
        </a:graphic>
      </p:graphicFrame>
      <p:sp>
        <p:nvSpPr>
          <p:cNvPr id="122" name="Google Shape;122;p12"/>
          <p:cNvSpPr txBox="1"/>
          <p:nvPr/>
        </p:nvSpPr>
        <p:spPr>
          <a:xfrm>
            <a:off x="468000" y="4792500"/>
            <a:ext cx="6624000" cy="39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200">
                <a:solidFill>
                  <a:srgbClr val="222222"/>
                </a:solidFill>
                <a:latin typeface="Lexend"/>
                <a:ea typeface="Lexend"/>
                <a:cs typeface="Lexend"/>
                <a:sym typeface="Lexend"/>
              </a:rPr>
              <a:t>2) This frequency table shows the star rating received by a restaurant over its opening weekend.</a:t>
            </a:r>
            <a:endParaRPr sz="1200">
              <a:solidFill>
                <a:srgbClr val="222222"/>
              </a:solidFill>
              <a:latin typeface="Lexend"/>
              <a:ea typeface="Lexend"/>
              <a:cs typeface="Lexend"/>
              <a:sym typeface="Lexend"/>
            </a:endParaRPr>
          </a:p>
        </p:txBody>
      </p:sp>
      <p:sp>
        <p:nvSpPr>
          <p:cNvPr id="123" name="Google Shape;123;p12"/>
          <p:cNvSpPr txBox="1"/>
          <p:nvPr/>
        </p:nvSpPr>
        <p:spPr>
          <a:xfrm>
            <a:off x="2947350" y="5300400"/>
            <a:ext cx="4144800" cy="700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222222"/>
                </a:solidFill>
                <a:latin typeface="Lexend"/>
                <a:ea typeface="Lexend"/>
                <a:cs typeface="Lexend"/>
                <a:sym typeface="Lexend"/>
              </a:rPr>
              <a:t>What was the mean star rating?</a:t>
            </a:r>
            <a:endParaRPr sz="1200">
              <a:solidFill>
                <a:srgbClr val="222222"/>
              </a:solidFill>
              <a:latin typeface="Lexend"/>
              <a:ea typeface="Lexend"/>
              <a:cs typeface="Lexend"/>
              <a:sym typeface="Lexend"/>
            </a:endParaRPr>
          </a:p>
          <a:p>
            <a:pPr indent="0" lvl="0" marL="0" rtl="0" algn="l">
              <a:spcBef>
                <a:spcPts val="0"/>
              </a:spcBef>
              <a:spcAft>
                <a:spcPts val="0"/>
              </a:spcAft>
              <a:buNone/>
            </a:pPr>
            <a:r>
              <a:t/>
            </a:r>
            <a:endParaRPr sz="1200">
              <a:solidFill>
                <a:srgbClr val="222222"/>
              </a:solidFill>
              <a:latin typeface="Lexend"/>
              <a:ea typeface="Lexend"/>
              <a:cs typeface="Lexend"/>
              <a:sym typeface="Lexend"/>
            </a:endParaRPr>
          </a:p>
          <a:p>
            <a:pPr indent="0" lvl="0" marL="0" rtl="0" algn="l">
              <a:spcBef>
                <a:spcPts val="0"/>
              </a:spcBef>
              <a:spcAft>
                <a:spcPts val="0"/>
              </a:spcAft>
              <a:buNone/>
            </a:pPr>
            <a:r>
              <a:rPr lang="en-GB" sz="1200">
                <a:solidFill>
                  <a:srgbClr val="222222"/>
                </a:solidFill>
                <a:latin typeface="Kalam"/>
                <a:ea typeface="Kalam"/>
                <a:cs typeface="Kalam"/>
                <a:sym typeface="Kalam"/>
              </a:rPr>
              <a:t>3.64… stars (which rounds to 4)</a:t>
            </a:r>
            <a:r>
              <a:rPr lang="en-GB" sz="1200">
                <a:solidFill>
                  <a:srgbClr val="222222"/>
                </a:solidFill>
                <a:latin typeface="Lexend"/>
                <a:ea typeface="Lexend"/>
                <a:cs typeface="Lexend"/>
                <a:sym typeface="Lexend"/>
              </a:rPr>
              <a:t> </a:t>
            </a:r>
            <a:endParaRPr sz="1200">
              <a:solidFill>
                <a:srgbClr val="222222"/>
              </a:solidFill>
              <a:latin typeface="Lexend"/>
              <a:ea typeface="Lexend"/>
              <a:cs typeface="Lexend"/>
              <a:sym typeface="Lexend"/>
            </a:endParaRPr>
          </a:p>
        </p:txBody>
      </p:sp>
      <p:sp>
        <p:nvSpPr>
          <p:cNvPr id="124" name="Google Shape;124;p12"/>
          <p:cNvSpPr txBox="1"/>
          <p:nvPr/>
        </p:nvSpPr>
        <p:spPr>
          <a:xfrm>
            <a:off x="468000" y="7658900"/>
            <a:ext cx="6624000" cy="39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200">
                <a:solidFill>
                  <a:srgbClr val="222222"/>
                </a:solidFill>
                <a:latin typeface="Lexend"/>
                <a:ea typeface="Lexend"/>
                <a:cs typeface="Lexend"/>
                <a:sym typeface="Lexend"/>
              </a:rPr>
              <a:t>3) A class take a quiz, marked out of 6. The frequency table shows the results for the class.</a:t>
            </a:r>
            <a:endParaRPr sz="1200">
              <a:solidFill>
                <a:srgbClr val="222222"/>
              </a:solidFill>
              <a:latin typeface="Lexend"/>
              <a:ea typeface="Lexend"/>
              <a:cs typeface="Lexend"/>
              <a:sym typeface="Lexend"/>
            </a:endParaRPr>
          </a:p>
        </p:txBody>
      </p:sp>
      <p:sp>
        <p:nvSpPr>
          <p:cNvPr id="125" name="Google Shape;125;p12"/>
          <p:cNvSpPr txBox="1"/>
          <p:nvPr/>
        </p:nvSpPr>
        <p:spPr>
          <a:xfrm>
            <a:off x="468000" y="8960000"/>
            <a:ext cx="6624000" cy="61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222222"/>
                </a:solidFill>
                <a:latin typeface="Lexend"/>
                <a:ea typeface="Lexend"/>
                <a:cs typeface="Lexend"/>
                <a:sym typeface="Lexend"/>
              </a:rPr>
              <a:t>What is the mean number of marks per pupil?</a:t>
            </a:r>
            <a:endParaRPr sz="1200">
              <a:solidFill>
                <a:srgbClr val="222222"/>
              </a:solidFill>
              <a:latin typeface="Lexend"/>
              <a:ea typeface="Lexend"/>
              <a:cs typeface="Lexend"/>
              <a:sym typeface="Lexend"/>
            </a:endParaRPr>
          </a:p>
          <a:p>
            <a:pPr indent="0" lvl="0" marL="0" rtl="0" algn="l">
              <a:spcBef>
                <a:spcPts val="0"/>
              </a:spcBef>
              <a:spcAft>
                <a:spcPts val="0"/>
              </a:spcAft>
              <a:buNone/>
            </a:pPr>
            <a:r>
              <a:t/>
            </a:r>
            <a:endParaRPr sz="1200">
              <a:solidFill>
                <a:srgbClr val="222222"/>
              </a:solidFill>
              <a:latin typeface="Lexend"/>
              <a:ea typeface="Lexend"/>
              <a:cs typeface="Lexend"/>
              <a:sym typeface="Lexend"/>
            </a:endParaRPr>
          </a:p>
          <a:p>
            <a:pPr indent="0" lvl="0" marL="0" rtl="0" algn="l">
              <a:spcBef>
                <a:spcPts val="0"/>
              </a:spcBef>
              <a:spcAft>
                <a:spcPts val="0"/>
              </a:spcAft>
              <a:buNone/>
            </a:pPr>
            <a:r>
              <a:rPr lang="en-GB" sz="1200">
                <a:solidFill>
                  <a:srgbClr val="222222"/>
                </a:solidFill>
                <a:latin typeface="Kalam"/>
                <a:ea typeface="Kalam"/>
                <a:cs typeface="Kalam"/>
                <a:sym typeface="Kalam"/>
              </a:rPr>
              <a:t>3 marks</a:t>
            </a:r>
            <a:endParaRPr sz="1200">
              <a:solidFill>
                <a:srgbClr val="222222"/>
              </a:solidFill>
              <a:latin typeface="Lexend"/>
              <a:ea typeface="Lexend"/>
              <a:cs typeface="Lexend"/>
              <a:sym typeface="Lexend"/>
            </a:endParaRPr>
          </a:p>
        </p:txBody>
      </p:sp>
      <p:graphicFrame>
        <p:nvGraphicFramePr>
          <p:cNvPr id="126" name="Google Shape;126;p12"/>
          <p:cNvGraphicFramePr/>
          <p:nvPr/>
        </p:nvGraphicFramePr>
        <p:xfrm>
          <a:off x="984263" y="8142313"/>
          <a:ext cx="3000000" cy="3000000"/>
        </p:xfrm>
        <a:graphic>
          <a:graphicData uri="http://schemas.openxmlformats.org/drawingml/2006/table">
            <a:tbl>
              <a:tblPr>
                <a:noFill/>
                <a:tableStyleId>{799540E4-1DC0-4A54-835C-BD1D945AD856}</a:tableStyleId>
              </a:tblPr>
              <a:tblGrid>
                <a:gridCol w="1190225"/>
                <a:gridCol w="628750"/>
                <a:gridCol w="628750"/>
                <a:gridCol w="628750"/>
                <a:gridCol w="628750"/>
                <a:gridCol w="628750"/>
                <a:gridCol w="628750"/>
                <a:gridCol w="628750"/>
              </a:tblGrid>
              <a:tr h="303200">
                <a:tc>
                  <a:txBody>
                    <a:bodyPr/>
                    <a:lstStyle/>
                    <a:p>
                      <a:pPr indent="0" lvl="0" marL="0" rtl="0" algn="ctr">
                        <a:spcBef>
                          <a:spcPts val="0"/>
                        </a:spcBef>
                        <a:spcAft>
                          <a:spcPts val="0"/>
                        </a:spcAft>
                        <a:buNone/>
                      </a:pPr>
                      <a:r>
                        <a:rPr b="1" lang="en-GB" sz="1200">
                          <a:solidFill>
                            <a:schemeClr val="dk1"/>
                          </a:solidFill>
                          <a:latin typeface="Lexend"/>
                          <a:ea typeface="Lexend"/>
                          <a:cs typeface="Lexend"/>
                          <a:sym typeface="Lexend"/>
                        </a:rPr>
                        <a:t>Quiz score</a:t>
                      </a:r>
                      <a:endParaRPr b="1" sz="1200">
                        <a:solidFill>
                          <a:schemeClr val="dk1"/>
                        </a:solidFill>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200">
                          <a:latin typeface="Lexend"/>
                          <a:ea typeface="Lexend"/>
                          <a:cs typeface="Lexend"/>
                          <a:sym typeface="Lexend"/>
                        </a:rPr>
                        <a:t>2</a:t>
                      </a:r>
                      <a:endParaRPr sz="12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200">
                          <a:latin typeface="Lexend"/>
                          <a:ea typeface="Lexend"/>
                          <a:cs typeface="Lexend"/>
                          <a:sym typeface="Lexend"/>
                        </a:rPr>
                        <a:t>3</a:t>
                      </a:r>
                      <a:endParaRPr sz="12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200">
                          <a:latin typeface="Lexend"/>
                          <a:ea typeface="Lexend"/>
                          <a:cs typeface="Lexend"/>
                          <a:sym typeface="Lexend"/>
                        </a:rPr>
                        <a:t>4</a:t>
                      </a:r>
                      <a:endParaRPr sz="12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200">
                          <a:latin typeface="Lexend"/>
                          <a:ea typeface="Lexend"/>
                          <a:cs typeface="Lexend"/>
                          <a:sym typeface="Lexend"/>
                        </a:rPr>
                        <a:t>5</a:t>
                      </a:r>
                      <a:endParaRPr sz="12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200">
                          <a:latin typeface="Lexend"/>
                          <a:ea typeface="Lexend"/>
                          <a:cs typeface="Lexend"/>
                          <a:sym typeface="Lexend"/>
                        </a:rPr>
                        <a:t>6</a:t>
                      </a:r>
                      <a:endParaRPr sz="1200">
                        <a:latin typeface="Lexend"/>
                        <a:ea typeface="Lexend"/>
                        <a:cs typeface="Lexend"/>
                        <a:sym typeface="Lexend"/>
                      </a:endParaRPr>
                    </a:p>
                  </a:txBody>
                  <a:tcPr marT="91425" marB="91425" marR="91425" marL="91425" anchor="ctr"/>
                </a:tc>
              </a:tr>
              <a:tr h="303200">
                <a:tc>
                  <a:txBody>
                    <a:bodyPr/>
                    <a:lstStyle/>
                    <a:p>
                      <a:pPr indent="0" lvl="0" marL="0" rtl="0" algn="ctr">
                        <a:spcBef>
                          <a:spcPts val="0"/>
                        </a:spcBef>
                        <a:spcAft>
                          <a:spcPts val="0"/>
                        </a:spcAft>
                        <a:buNone/>
                      </a:pPr>
                      <a:r>
                        <a:rPr b="1" lang="en-GB" sz="1200">
                          <a:solidFill>
                            <a:schemeClr val="dk1"/>
                          </a:solidFill>
                          <a:latin typeface="Lexend"/>
                          <a:ea typeface="Lexend"/>
                          <a:cs typeface="Lexend"/>
                          <a:sym typeface="Lexend"/>
                        </a:rPr>
                        <a:t>Frequency</a:t>
                      </a:r>
                      <a:endParaRPr b="1" sz="1200">
                        <a:solidFill>
                          <a:schemeClr val="dk1"/>
                        </a:solidFill>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3</a:t>
                      </a:r>
                      <a:endParaRPr sz="12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200">
                          <a:latin typeface="Lexend"/>
                          <a:ea typeface="Lexend"/>
                          <a:cs typeface="Lexend"/>
                          <a:sym typeface="Lexend"/>
                        </a:rPr>
                        <a:t>4</a:t>
                      </a:r>
                      <a:endParaRPr sz="12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200">
                          <a:latin typeface="Lexend"/>
                          <a:ea typeface="Lexend"/>
                          <a:cs typeface="Lexend"/>
                          <a:sym typeface="Lexend"/>
                        </a:rPr>
                        <a:t>4</a:t>
                      </a:r>
                      <a:endParaRPr sz="12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200">
                          <a:latin typeface="Lexend"/>
                          <a:ea typeface="Lexend"/>
                          <a:cs typeface="Lexend"/>
                          <a:sym typeface="Lexend"/>
                        </a:rPr>
                        <a:t>7</a:t>
                      </a:r>
                      <a:endParaRPr sz="12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200">
                          <a:latin typeface="Lexend"/>
                          <a:ea typeface="Lexend"/>
                          <a:cs typeface="Lexend"/>
                          <a:sym typeface="Lexend"/>
                        </a:rPr>
                        <a:t>10</a:t>
                      </a:r>
                      <a:endParaRPr sz="12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200">
                          <a:latin typeface="Lexend"/>
                          <a:ea typeface="Lexend"/>
                          <a:cs typeface="Lexend"/>
                          <a:sym typeface="Lexend"/>
                        </a:rPr>
                        <a:t>4</a:t>
                      </a:r>
                      <a:endParaRPr sz="12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91425" marB="91425" marR="91425" marL="91425" anchor="ct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3"/>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32" name="Google Shape;132;p13"/>
          <p:cNvSpPr txBox="1"/>
          <p:nvPr>
            <p:ph idx="1" type="subTitle"/>
          </p:nvPr>
        </p:nvSpPr>
        <p:spPr>
          <a:xfrm>
            <a:off x="1463400" y="360000"/>
            <a:ext cx="478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Using the fx-83/85GT CW for statistics</a:t>
            </a:r>
            <a:endParaRPr/>
          </a:p>
        </p:txBody>
      </p:sp>
      <p:sp>
        <p:nvSpPr>
          <p:cNvPr id="133" name="Google Shape;133;p13"/>
          <p:cNvSpPr txBox="1"/>
          <p:nvPr/>
        </p:nvSpPr>
        <p:spPr>
          <a:xfrm>
            <a:off x="468000" y="720000"/>
            <a:ext cx="6624000" cy="39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200">
                <a:solidFill>
                  <a:srgbClr val="222222"/>
                </a:solidFill>
                <a:latin typeface="Lexend"/>
                <a:ea typeface="Lexend"/>
                <a:cs typeface="Lexend"/>
                <a:sym typeface="Lexend"/>
              </a:rPr>
              <a:t>4) The frequency table shows the number of bedrooms in different houses within an area of a town.</a:t>
            </a:r>
            <a:endParaRPr sz="1200">
              <a:solidFill>
                <a:srgbClr val="222222"/>
              </a:solidFill>
              <a:latin typeface="Lexend"/>
              <a:ea typeface="Lexend"/>
              <a:cs typeface="Lexend"/>
              <a:sym typeface="Lexend"/>
            </a:endParaRPr>
          </a:p>
        </p:txBody>
      </p:sp>
      <p:sp>
        <p:nvSpPr>
          <p:cNvPr id="134" name="Google Shape;134;p13"/>
          <p:cNvSpPr txBox="1"/>
          <p:nvPr/>
        </p:nvSpPr>
        <p:spPr>
          <a:xfrm>
            <a:off x="2947200" y="1227900"/>
            <a:ext cx="4144800" cy="41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222222"/>
                </a:solidFill>
                <a:latin typeface="Lexend"/>
                <a:ea typeface="Lexend"/>
                <a:cs typeface="Lexend"/>
                <a:sym typeface="Lexend"/>
              </a:rPr>
              <a:t>What is the mean number of bedrooms?</a:t>
            </a:r>
            <a:endParaRPr sz="1200">
              <a:solidFill>
                <a:srgbClr val="222222"/>
              </a:solidFill>
              <a:latin typeface="Lexend"/>
              <a:ea typeface="Lexend"/>
              <a:cs typeface="Lexend"/>
              <a:sym typeface="Lexend"/>
            </a:endParaRPr>
          </a:p>
          <a:p>
            <a:pPr indent="0" lvl="0" marL="0" rtl="0" algn="l">
              <a:spcBef>
                <a:spcPts val="0"/>
              </a:spcBef>
              <a:spcAft>
                <a:spcPts val="0"/>
              </a:spcAft>
              <a:buNone/>
            </a:pPr>
            <a:r>
              <a:t/>
            </a:r>
            <a:endParaRPr sz="1200">
              <a:solidFill>
                <a:srgbClr val="222222"/>
              </a:solidFill>
              <a:latin typeface="Lexend"/>
              <a:ea typeface="Lexend"/>
              <a:cs typeface="Lexend"/>
              <a:sym typeface="Lexend"/>
            </a:endParaRPr>
          </a:p>
          <a:p>
            <a:pPr indent="0" lvl="0" marL="0" rtl="0" algn="l">
              <a:spcBef>
                <a:spcPts val="0"/>
              </a:spcBef>
              <a:spcAft>
                <a:spcPts val="0"/>
              </a:spcAft>
              <a:buNone/>
            </a:pPr>
            <a:r>
              <a:rPr lang="en-GB" sz="1200">
                <a:solidFill>
                  <a:srgbClr val="222222"/>
                </a:solidFill>
                <a:latin typeface="Kalam"/>
                <a:ea typeface="Kalam"/>
                <a:cs typeface="Kalam"/>
                <a:sym typeface="Kalam"/>
              </a:rPr>
              <a:t>2.5 bedrooms (which rounds to 3)</a:t>
            </a:r>
            <a:r>
              <a:rPr lang="en-GB" sz="1200">
                <a:solidFill>
                  <a:srgbClr val="222222"/>
                </a:solidFill>
                <a:latin typeface="Lexend"/>
                <a:ea typeface="Lexend"/>
                <a:cs typeface="Lexend"/>
                <a:sym typeface="Lexend"/>
              </a:rPr>
              <a:t> </a:t>
            </a:r>
            <a:endParaRPr sz="1200">
              <a:solidFill>
                <a:srgbClr val="222222"/>
              </a:solidFill>
              <a:latin typeface="Lexend"/>
              <a:ea typeface="Lexend"/>
              <a:cs typeface="Lexend"/>
              <a:sym typeface="Lexend"/>
            </a:endParaRPr>
          </a:p>
        </p:txBody>
      </p:sp>
      <p:graphicFrame>
        <p:nvGraphicFramePr>
          <p:cNvPr id="135" name="Google Shape;135;p13"/>
          <p:cNvGraphicFramePr/>
          <p:nvPr/>
        </p:nvGraphicFramePr>
        <p:xfrm>
          <a:off x="468000" y="1224625"/>
          <a:ext cx="3000000" cy="3000000"/>
        </p:xfrm>
        <a:graphic>
          <a:graphicData uri="http://schemas.openxmlformats.org/drawingml/2006/table">
            <a:tbl>
              <a:tblPr>
                <a:noFill/>
                <a:tableStyleId>{799540E4-1DC0-4A54-835C-BD1D945AD856}</a:tableStyleId>
              </a:tblPr>
              <a:tblGrid>
                <a:gridCol w="1150050"/>
                <a:gridCol w="1182750"/>
              </a:tblGrid>
              <a:tr h="314050">
                <a:tc>
                  <a:txBody>
                    <a:bodyPr/>
                    <a:lstStyle/>
                    <a:p>
                      <a:pPr indent="0" lvl="0" marL="0" rtl="0" algn="ctr">
                        <a:spcBef>
                          <a:spcPts val="0"/>
                        </a:spcBef>
                        <a:spcAft>
                          <a:spcPts val="0"/>
                        </a:spcAft>
                        <a:buNone/>
                      </a:pPr>
                      <a:r>
                        <a:rPr b="1" lang="en-GB" sz="1200">
                          <a:solidFill>
                            <a:schemeClr val="dk1"/>
                          </a:solidFill>
                          <a:latin typeface="Lexend"/>
                          <a:ea typeface="Lexend"/>
                          <a:cs typeface="Lexend"/>
                          <a:sym typeface="Lexend"/>
                        </a:rPr>
                        <a:t>Bedrooms</a:t>
                      </a:r>
                      <a:endParaRPr b="1" sz="1200">
                        <a:solidFill>
                          <a:schemeClr val="dk1"/>
                        </a:solidFill>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b="1" lang="en-GB" sz="1200">
                          <a:solidFill>
                            <a:schemeClr val="dk1"/>
                          </a:solidFill>
                          <a:latin typeface="Lexend"/>
                          <a:ea typeface="Lexend"/>
                          <a:cs typeface="Lexend"/>
                          <a:sym typeface="Lexend"/>
                        </a:rPr>
                        <a:t>Frequency</a:t>
                      </a:r>
                      <a:endParaRPr b="1" sz="1200">
                        <a:solidFill>
                          <a:schemeClr val="dk1"/>
                        </a:solidFill>
                        <a:latin typeface="Lexend"/>
                        <a:ea typeface="Lexend"/>
                        <a:cs typeface="Lexend"/>
                        <a:sym typeface="Lexend"/>
                      </a:endParaRPr>
                    </a:p>
                  </a:txBody>
                  <a:tcPr marT="91425" marB="91425" marR="91425" marL="91425" anchor="ctr"/>
                </a:tc>
              </a:tr>
              <a:tr h="314050">
                <a:tc>
                  <a:txBody>
                    <a:bodyPr/>
                    <a:lstStyle/>
                    <a:p>
                      <a:pPr indent="0" lvl="0" marL="0" rtl="0" algn="ctr">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200">
                          <a:latin typeface="Lexend"/>
                          <a:ea typeface="Lexend"/>
                          <a:cs typeface="Lexend"/>
                          <a:sym typeface="Lexend"/>
                        </a:rPr>
                        <a:t>20</a:t>
                      </a:r>
                      <a:endParaRPr sz="1200">
                        <a:latin typeface="Lexend"/>
                        <a:ea typeface="Lexend"/>
                        <a:cs typeface="Lexend"/>
                        <a:sym typeface="Lexend"/>
                      </a:endParaRPr>
                    </a:p>
                  </a:txBody>
                  <a:tcPr marT="91425" marB="91425" marR="91425" marL="91425" anchor="ctr"/>
                </a:tc>
              </a:tr>
              <a:tr h="314050">
                <a:tc>
                  <a:txBody>
                    <a:bodyPr/>
                    <a:lstStyle/>
                    <a:p>
                      <a:pPr indent="0" lvl="0" marL="0" rtl="0" algn="ctr">
                        <a:spcBef>
                          <a:spcPts val="0"/>
                        </a:spcBef>
                        <a:spcAft>
                          <a:spcPts val="0"/>
                        </a:spcAft>
                        <a:buNone/>
                      </a:pPr>
                      <a:r>
                        <a:rPr lang="en-GB" sz="1200">
                          <a:latin typeface="Lexend"/>
                          <a:ea typeface="Lexend"/>
                          <a:cs typeface="Lexend"/>
                          <a:sym typeface="Lexend"/>
                        </a:rPr>
                        <a:t>2</a:t>
                      </a:r>
                      <a:endParaRPr sz="12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200">
                          <a:latin typeface="Lexend"/>
                          <a:ea typeface="Lexend"/>
                          <a:cs typeface="Lexend"/>
                          <a:sym typeface="Lexend"/>
                        </a:rPr>
                        <a:t>93</a:t>
                      </a:r>
                      <a:endParaRPr sz="1200">
                        <a:latin typeface="Lexend"/>
                        <a:ea typeface="Lexend"/>
                        <a:cs typeface="Lexend"/>
                        <a:sym typeface="Lexend"/>
                      </a:endParaRPr>
                    </a:p>
                  </a:txBody>
                  <a:tcPr marT="91425" marB="91425" marR="91425" marL="91425" anchor="ctr"/>
                </a:tc>
              </a:tr>
              <a:tr h="314050">
                <a:tc>
                  <a:txBody>
                    <a:bodyPr/>
                    <a:lstStyle/>
                    <a:p>
                      <a:pPr indent="0" lvl="0" marL="0" rtl="0" algn="ctr">
                        <a:spcBef>
                          <a:spcPts val="0"/>
                        </a:spcBef>
                        <a:spcAft>
                          <a:spcPts val="0"/>
                        </a:spcAft>
                        <a:buNone/>
                      </a:pPr>
                      <a:r>
                        <a:rPr lang="en-GB" sz="1200">
                          <a:latin typeface="Lexend"/>
                          <a:ea typeface="Lexend"/>
                          <a:cs typeface="Lexend"/>
                          <a:sym typeface="Lexend"/>
                        </a:rPr>
                        <a:t>3</a:t>
                      </a:r>
                      <a:endParaRPr sz="12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200">
                          <a:latin typeface="Lexend"/>
                          <a:ea typeface="Lexend"/>
                          <a:cs typeface="Lexend"/>
                          <a:sym typeface="Lexend"/>
                        </a:rPr>
                        <a:t>54</a:t>
                      </a:r>
                      <a:endParaRPr sz="1200">
                        <a:latin typeface="Lexend"/>
                        <a:ea typeface="Lexend"/>
                        <a:cs typeface="Lexend"/>
                        <a:sym typeface="Lexend"/>
                      </a:endParaRPr>
                    </a:p>
                  </a:txBody>
                  <a:tcPr marT="91425" marB="91425" marR="91425" marL="91425" anchor="ctr"/>
                </a:tc>
              </a:tr>
              <a:tr h="314050">
                <a:tc>
                  <a:txBody>
                    <a:bodyPr/>
                    <a:lstStyle/>
                    <a:p>
                      <a:pPr indent="0" lvl="0" marL="0" rtl="0" algn="ctr">
                        <a:spcBef>
                          <a:spcPts val="0"/>
                        </a:spcBef>
                        <a:spcAft>
                          <a:spcPts val="0"/>
                        </a:spcAft>
                        <a:buNone/>
                      </a:pPr>
                      <a:r>
                        <a:rPr lang="en-GB" sz="1200">
                          <a:latin typeface="Lexend"/>
                          <a:ea typeface="Lexend"/>
                          <a:cs typeface="Lexend"/>
                          <a:sym typeface="Lexend"/>
                        </a:rPr>
                        <a:t>4</a:t>
                      </a:r>
                      <a:endParaRPr sz="12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200">
                          <a:latin typeface="Lexend"/>
                          <a:ea typeface="Lexend"/>
                          <a:cs typeface="Lexend"/>
                          <a:sym typeface="Lexend"/>
                        </a:rPr>
                        <a:t>33</a:t>
                      </a:r>
                      <a:endParaRPr sz="1200">
                        <a:latin typeface="Lexend"/>
                        <a:ea typeface="Lexend"/>
                        <a:cs typeface="Lexend"/>
                        <a:sym typeface="Lexend"/>
                      </a:endParaRPr>
                    </a:p>
                  </a:txBody>
                  <a:tcPr marT="91425" marB="91425" marR="91425" marL="91425" anchor="ctr"/>
                </a:tc>
              </a:tr>
            </a:tbl>
          </a:graphicData>
        </a:graphic>
      </p:graphicFrame>
      <p:sp>
        <p:nvSpPr>
          <p:cNvPr id="136" name="Google Shape;136;p13"/>
          <p:cNvSpPr txBox="1"/>
          <p:nvPr/>
        </p:nvSpPr>
        <p:spPr>
          <a:xfrm>
            <a:off x="468007" y="3278250"/>
            <a:ext cx="6422400" cy="39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200">
                <a:solidFill>
                  <a:srgbClr val="222222"/>
                </a:solidFill>
                <a:latin typeface="Lexend"/>
                <a:ea typeface="Lexend"/>
                <a:cs typeface="Lexend"/>
                <a:sym typeface="Lexend"/>
              </a:rPr>
              <a:t>5) The bar chart shows the length of time customers spent waiting at a self-service till (to the nearest minute).</a:t>
            </a:r>
            <a:endParaRPr sz="1200">
              <a:solidFill>
                <a:srgbClr val="222222"/>
              </a:solidFill>
              <a:latin typeface="Lexend"/>
              <a:ea typeface="Lexend"/>
              <a:cs typeface="Lexend"/>
              <a:sym typeface="Lexend"/>
            </a:endParaRPr>
          </a:p>
        </p:txBody>
      </p:sp>
      <p:sp>
        <p:nvSpPr>
          <p:cNvPr id="137" name="Google Shape;137;p13"/>
          <p:cNvSpPr txBox="1"/>
          <p:nvPr/>
        </p:nvSpPr>
        <p:spPr>
          <a:xfrm>
            <a:off x="4066788" y="4149514"/>
            <a:ext cx="3025200" cy="32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222222"/>
                </a:solidFill>
                <a:latin typeface="Lexend"/>
                <a:ea typeface="Lexend"/>
                <a:cs typeface="Lexend"/>
                <a:sym typeface="Lexend"/>
              </a:rPr>
              <a:t>What is the mean wait time?</a:t>
            </a:r>
            <a:endParaRPr sz="1200">
              <a:solidFill>
                <a:srgbClr val="222222"/>
              </a:solidFill>
              <a:latin typeface="Lexend"/>
              <a:ea typeface="Lexend"/>
              <a:cs typeface="Lexend"/>
              <a:sym typeface="Lexend"/>
            </a:endParaRPr>
          </a:p>
          <a:p>
            <a:pPr indent="0" lvl="0" marL="0" rtl="0" algn="l">
              <a:spcBef>
                <a:spcPts val="0"/>
              </a:spcBef>
              <a:spcAft>
                <a:spcPts val="0"/>
              </a:spcAft>
              <a:buNone/>
            </a:pPr>
            <a:r>
              <a:t/>
            </a:r>
            <a:endParaRPr sz="1200">
              <a:solidFill>
                <a:srgbClr val="222222"/>
              </a:solidFill>
              <a:latin typeface="Lexend"/>
              <a:ea typeface="Lexend"/>
              <a:cs typeface="Lexend"/>
              <a:sym typeface="Lexend"/>
            </a:endParaRPr>
          </a:p>
          <a:p>
            <a:pPr indent="0" lvl="0" marL="0" rtl="0" algn="l">
              <a:spcBef>
                <a:spcPts val="0"/>
              </a:spcBef>
              <a:spcAft>
                <a:spcPts val="0"/>
              </a:spcAft>
              <a:buNone/>
            </a:pPr>
            <a:r>
              <a:rPr lang="en-GB" sz="1200">
                <a:solidFill>
                  <a:srgbClr val="222222"/>
                </a:solidFill>
                <a:latin typeface="Kalam"/>
                <a:ea typeface="Kalam"/>
                <a:cs typeface="Kalam"/>
                <a:sym typeface="Kalam"/>
              </a:rPr>
              <a:t>3 minutes</a:t>
            </a:r>
            <a:endParaRPr sz="1200">
              <a:solidFill>
                <a:srgbClr val="222222"/>
              </a:solidFill>
              <a:latin typeface="Lexend"/>
              <a:ea typeface="Lexend"/>
              <a:cs typeface="Lexend"/>
              <a:sym typeface="Lexend"/>
            </a:endParaRPr>
          </a:p>
        </p:txBody>
      </p:sp>
      <p:grpSp>
        <p:nvGrpSpPr>
          <p:cNvPr id="138" name="Google Shape;138;p13"/>
          <p:cNvGrpSpPr/>
          <p:nvPr/>
        </p:nvGrpSpPr>
        <p:grpSpPr>
          <a:xfrm>
            <a:off x="468013" y="3909844"/>
            <a:ext cx="3460951" cy="2355239"/>
            <a:chOff x="323988" y="1620000"/>
            <a:chExt cx="4438823" cy="3020699"/>
          </a:xfrm>
        </p:grpSpPr>
        <p:pic>
          <p:nvPicPr>
            <p:cNvPr id="139" name="Google Shape;139;p13"/>
            <p:cNvPicPr preferRelativeResize="0"/>
            <p:nvPr/>
          </p:nvPicPr>
          <p:blipFill>
            <a:blip r:embed="rId3">
              <a:alphaModFix/>
            </a:blip>
            <a:stretch>
              <a:fillRect/>
            </a:stretch>
          </p:blipFill>
          <p:spPr>
            <a:xfrm>
              <a:off x="323988" y="1620000"/>
              <a:ext cx="4438823" cy="3020699"/>
            </a:xfrm>
            <a:prstGeom prst="rect">
              <a:avLst/>
            </a:prstGeom>
            <a:noFill/>
            <a:ln>
              <a:noFill/>
            </a:ln>
          </p:spPr>
        </p:pic>
        <p:sp>
          <p:nvSpPr>
            <p:cNvPr id="140" name="Google Shape;140;p13"/>
            <p:cNvSpPr/>
            <p:nvPr/>
          </p:nvSpPr>
          <p:spPr>
            <a:xfrm>
              <a:off x="940383" y="2911125"/>
              <a:ext cx="160800" cy="1266900"/>
            </a:xfrm>
            <a:prstGeom prst="rect">
              <a:avLst/>
            </a:prstGeom>
            <a:solidFill>
              <a:srgbClr val="845AD9"/>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1" name="Google Shape;141;p13"/>
            <p:cNvSpPr/>
            <p:nvPr/>
          </p:nvSpPr>
          <p:spPr>
            <a:xfrm>
              <a:off x="1500050" y="3876475"/>
              <a:ext cx="160800" cy="301800"/>
            </a:xfrm>
            <a:prstGeom prst="rect">
              <a:avLst/>
            </a:prstGeom>
            <a:solidFill>
              <a:srgbClr val="845AD9"/>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2" name="Google Shape;142;p13"/>
            <p:cNvSpPr/>
            <p:nvPr/>
          </p:nvSpPr>
          <p:spPr>
            <a:xfrm>
              <a:off x="2068300" y="2586825"/>
              <a:ext cx="160800" cy="1591500"/>
            </a:xfrm>
            <a:prstGeom prst="rect">
              <a:avLst/>
            </a:prstGeom>
            <a:solidFill>
              <a:srgbClr val="845AD9"/>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3" name="Google Shape;143;p13"/>
            <p:cNvSpPr/>
            <p:nvPr/>
          </p:nvSpPr>
          <p:spPr>
            <a:xfrm>
              <a:off x="2639400" y="2270075"/>
              <a:ext cx="160800" cy="1908300"/>
            </a:xfrm>
            <a:prstGeom prst="rect">
              <a:avLst/>
            </a:prstGeom>
            <a:solidFill>
              <a:srgbClr val="845AD9"/>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4" name="Google Shape;144;p13"/>
            <p:cNvSpPr/>
            <p:nvPr/>
          </p:nvSpPr>
          <p:spPr>
            <a:xfrm>
              <a:off x="3211300" y="3240000"/>
              <a:ext cx="160800" cy="938100"/>
            </a:xfrm>
            <a:prstGeom prst="rect">
              <a:avLst/>
            </a:prstGeom>
            <a:solidFill>
              <a:srgbClr val="845AD9"/>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5" name="Google Shape;145;p13"/>
            <p:cNvSpPr/>
            <p:nvPr/>
          </p:nvSpPr>
          <p:spPr>
            <a:xfrm>
              <a:off x="3767325" y="3552175"/>
              <a:ext cx="160800" cy="626100"/>
            </a:xfrm>
            <a:prstGeom prst="rect">
              <a:avLst/>
            </a:prstGeom>
            <a:solidFill>
              <a:srgbClr val="845AD9"/>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6" name="Google Shape;146;p13"/>
            <p:cNvSpPr/>
            <p:nvPr/>
          </p:nvSpPr>
          <p:spPr>
            <a:xfrm>
              <a:off x="4338434" y="2911125"/>
              <a:ext cx="160800" cy="1266900"/>
            </a:xfrm>
            <a:prstGeom prst="rect">
              <a:avLst/>
            </a:prstGeom>
            <a:solidFill>
              <a:srgbClr val="845AD9"/>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cxnSp>
        <p:nvCxnSpPr>
          <p:cNvPr id="147" name="Google Shape;147;p13"/>
          <p:cNvCxnSpPr/>
          <p:nvPr/>
        </p:nvCxnSpPr>
        <p:spPr>
          <a:xfrm>
            <a:off x="474751" y="6413213"/>
            <a:ext cx="6610500" cy="0"/>
          </a:xfrm>
          <a:prstGeom prst="straightConnector1">
            <a:avLst/>
          </a:prstGeom>
          <a:noFill/>
          <a:ln cap="flat" cmpd="sng" w="38100">
            <a:solidFill>
              <a:srgbClr val="000000"/>
            </a:solidFill>
            <a:prstDash val="solid"/>
            <a:round/>
            <a:headEnd len="med" w="med" type="none"/>
            <a:tailEnd len="med" w="med" type="none"/>
          </a:ln>
        </p:spPr>
      </p:cxnSp>
      <p:sp>
        <p:nvSpPr>
          <p:cNvPr id="148" name="Google Shape;148;p13"/>
          <p:cNvSpPr txBox="1"/>
          <p:nvPr/>
        </p:nvSpPr>
        <p:spPr>
          <a:xfrm>
            <a:off x="468000" y="6499475"/>
            <a:ext cx="6866700" cy="215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a:solidFill>
                  <a:schemeClr val="dk1"/>
                </a:solidFill>
                <a:latin typeface="Lexend"/>
                <a:ea typeface="Lexend"/>
                <a:cs typeface="Lexend"/>
                <a:sym typeface="Lexend"/>
              </a:rPr>
              <a:t>Task B: </a:t>
            </a:r>
            <a:r>
              <a:rPr b="1" lang="en-GB">
                <a:solidFill>
                  <a:schemeClr val="dk1"/>
                </a:solidFill>
                <a:latin typeface="Lexend"/>
                <a:ea typeface="Lexend"/>
                <a:cs typeface="Lexend"/>
                <a:sym typeface="Lexend"/>
              </a:rPr>
              <a:t>Analysis</a:t>
            </a:r>
            <a:endParaRPr b="1">
              <a:solidFill>
                <a:schemeClr val="dk1"/>
              </a:solidFill>
              <a:latin typeface="Lexend"/>
              <a:ea typeface="Lexend"/>
              <a:cs typeface="Lexend"/>
              <a:sym typeface="Lexend"/>
            </a:endParaRPr>
          </a:p>
        </p:txBody>
      </p:sp>
      <p:sp>
        <p:nvSpPr>
          <p:cNvPr id="149" name="Google Shape;149;p13"/>
          <p:cNvSpPr txBox="1"/>
          <p:nvPr/>
        </p:nvSpPr>
        <p:spPr>
          <a:xfrm>
            <a:off x="468000" y="6791075"/>
            <a:ext cx="6624000" cy="39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200">
                <a:solidFill>
                  <a:srgbClr val="222222"/>
                </a:solidFill>
                <a:latin typeface="Lexend"/>
                <a:ea typeface="Lexend"/>
                <a:cs typeface="Lexend"/>
                <a:sym typeface="Lexend"/>
              </a:rPr>
              <a:t>1) This frequency table shows the number of goals scored in each match by all the teams in a club over one football season.</a:t>
            </a:r>
            <a:endParaRPr sz="1200">
              <a:solidFill>
                <a:srgbClr val="222222"/>
              </a:solidFill>
              <a:latin typeface="Lexend"/>
              <a:ea typeface="Lexend"/>
              <a:cs typeface="Lexend"/>
              <a:sym typeface="Lexend"/>
            </a:endParaRPr>
          </a:p>
        </p:txBody>
      </p:sp>
      <p:graphicFrame>
        <p:nvGraphicFramePr>
          <p:cNvPr id="150" name="Google Shape;150;p13"/>
          <p:cNvGraphicFramePr/>
          <p:nvPr/>
        </p:nvGraphicFramePr>
        <p:xfrm>
          <a:off x="468008" y="7289700"/>
          <a:ext cx="3000000" cy="3000000"/>
        </p:xfrm>
        <a:graphic>
          <a:graphicData uri="http://schemas.openxmlformats.org/drawingml/2006/table">
            <a:tbl>
              <a:tblPr>
                <a:noFill/>
                <a:tableStyleId>{799540E4-1DC0-4A54-835C-BD1D945AD856}</a:tableStyleId>
              </a:tblPr>
              <a:tblGrid>
                <a:gridCol w="1261675"/>
                <a:gridCol w="1071125"/>
              </a:tblGrid>
              <a:tr h="320300">
                <a:tc>
                  <a:txBody>
                    <a:bodyPr/>
                    <a:lstStyle/>
                    <a:p>
                      <a:pPr indent="0" lvl="0" marL="0" rtl="0" algn="ctr">
                        <a:spcBef>
                          <a:spcPts val="0"/>
                        </a:spcBef>
                        <a:spcAft>
                          <a:spcPts val="0"/>
                        </a:spcAft>
                        <a:buNone/>
                      </a:pPr>
                      <a:r>
                        <a:rPr b="1" lang="en-GB" sz="1200">
                          <a:solidFill>
                            <a:schemeClr val="dk1"/>
                          </a:solidFill>
                          <a:latin typeface="Lexend"/>
                          <a:ea typeface="Lexend"/>
                          <a:cs typeface="Lexend"/>
                          <a:sym typeface="Lexend"/>
                        </a:rPr>
                        <a:t>Goals scored</a:t>
                      </a:r>
                      <a:endParaRPr b="1" sz="1200">
                        <a:solidFill>
                          <a:schemeClr val="dk1"/>
                        </a:solidFill>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b="1" lang="en-GB" sz="1200">
                          <a:solidFill>
                            <a:schemeClr val="dk1"/>
                          </a:solidFill>
                          <a:latin typeface="Lexend"/>
                          <a:ea typeface="Lexend"/>
                          <a:cs typeface="Lexend"/>
                          <a:sym typeface="Lexend"/>
                        </a:rPr>
                        <a:t>Frequency</a:t>
                      </a:r>
                      <a:endParaRPr b="1" sz="1200">
                        <a:solidFill>
                          <a:schemeClr val="dk1"/>
                        </a:solidFill>
                        <a:latin typeface="Lexend"/>
                        <a:ea typeface="Lexend"/>
                        <a:cs typeface="Lexend"/>
                        <a:sym typeface="Lexend"/>
                      </a:endParaRPr>
                    </a:p>
                  </a:txBody>
                  <a:tcPr marT="91425" marB="91425" marR="91425" marL="91425"/>
                </a:tc>
              </a:tr>
              <a:tr h="317900">
                <a:tc>
                  <a:txBody>
                    <a:bodyPr/>
                    <a:lstStyle/>
                    <a:p>
                      <a:pPr indent="0" lvl="0" marL="0" rtl="0" algn="ctr">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19</a:t>
                      </a:r>
                      <a:endParaRPr sz="1200">
                        <a:latin typeface="Lexend"/>
                        <a:ea typeface="Lexend"/>
                        <a:cs typeface="Lexend"/>
                        <a:sym typeface="Lexend"/>
                      </a:endParaRPr>
                    </a:p>
                  </a:txBody>
                  <a:tcPr marT="91425" marB="91425" marR="91425" marL="91425"/>
                </a:tc>
              </a:tr>
              <a:tr h="317900">
                <a:tc>
                  <a:txBody>
                    <a:bodyPr/>
                    <a:lstStyle/>
                    <a:p>
                      <a:pPr indent="0" lvl="0" marL="0" rtl="0" algn="ctr">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34</a:t>
                      </a:r>
                      <a:endParaRPr sz="1200">
                        <a:latin typeface="Lexend"/>
                        <a:ea typeface="Lexend"/>
                        <a:cs typeface="Lexend"/>
                        <a:sym typeface="Lexend"/>
                      </a:endParaRPr>
                    </a:p>
                  </a:txBody>
                  <a:tcPr marT="91425" marB="91425" marR="91425" marL="91425"/>
                </a:tc>
              </a:tr>
              <a:tr h="317900">
                <a:tc>
                  <a:txBody>
                    <a:bodyPr/>
                    <a:lstStyle/>
                    <a:p>
                      <a:pPr indent="0" lvl="0" marL="0" rtl="0" algn="ctr">
                        <a:spcBef>
                          <a:spcPts val="0"/>
                        </a:spcBef>
                        <a:spcAft>
                          <a:spcPts val="0"/>
                        </a:spcAft>
                        <a:buNone/>
                      </a:pPr>
                      <a:r>
                        <a:rPr lang="en-GB" sz="1200">
                          <a:latin typeface="Lexend"/>
                          <a:ea typeface="Lexend"/>
                          <a:cs typeface="Lexend"/>
                          <a:sym typeface="Lexend"/>
                        </a:rPr>
                        <a:t>2</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21</a:t>
                      </a:r>
                      <a:endParaRPr sz="1200">
                        <a:latin typeface="Lexend"/>
                        <a:ea typeface="Lexend"/>
                        <a:cs typeface="Lexend"/>
                        <a:sym typeface="Lexend"/>
                      </a:endParaRPr>
                    </a:p>
                  </a:txBody>
                  <a:tcPr marT="91425" marB="91425" marR="91425" marL="91425"/>
                </a:tc>
              </a:tr>
              <a:tr h="317900">
                <a:tc>
                  <a:txBody>
                    <a:bodyPr/>
                    <a:lstStyle/>
                    <a:p>
                      <a:pPr indent="0" lvl="0" marL="0" rtl="0" algn="ctr">
                        <a:spcBef>
                          <a:spcPts val="0"/>
                        </a:spcBef>
                        <a:spcAft>
                          <a:spcPts val="0"/>
                        </a:spcAft>
                        <a:buNone/>
                      </a:pPr>
                      <a:r>
                        <a:rPr lang="en-GB" sz="1200">
                          <a:latin typeface="Lexend"/>
                          <a:ea typeface="Lexend"/>
                          <a:cs typeface="Lexend"/>
                          <a:sym typeface="Lexend"/>
                        </a:rPr>
                        <a:t>3</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15</a:t>
                      </a:r>
                      <a:endParaRPr sz="1200">
                        <a:latin typeface="Lexend"/>
                        <a:ea typeface="Lexend"/>
                        <a:cs typeface="Lexend"/>
                        <a:sym typeface="Lexend"/>
                      </a:endParaRPr>
                    </a:p>
                  </a:txBody>
                  <a:tcPr marT="91425" marB="91425" marR="91425" marL="91425"/>
                </a:tc>
              </a:tr>
              <a:tr h="317900">
                <a:tc>
                  <a:txBody>
                    <a:bodyPr/>
                    <a:lstStyle/>
                    <a:p>
                      <a:pPr indent="0" lvl="0" marL="0" rtl="0" algn="ctr">
                        <a:spcBef>
                          <a:spcPts val="0"/>
                        </a:spcBef>
                        <a:spcAft>
                          <a:spcPts val="0"/>
                        </a:spcAft>
                        <a:buNone/>
                      </a:pPr>
                      <a:r>
                        <a:rPr lang="en-GB" sz="1200">
                          <a:latin typeface="Lexend"/>
                          <a:ea typeface="Lexend"/>
                          <a:cs typeface="Lexend"/>
                          <a:sym typeface="Lexend"/>
                        </a:rPr>
                        <a:t>4</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11</a:t>
                      </a:r>
                      <a:endParaRPr sz="1200">
                        <a:latin typeface="Lexend"/>
                        <a:ea typeface="Lexend"/>
                        <a:cs typeface="Lexend"/>
                        <a:sym typeface="Lexend"/>
                      </a:endParaRPr>
                    </a:p>
                  </a:txBody>
                  <a:tcPr marT="91425" marB="91425" marR="91425" marL="91425"/>
                </a:tc>
              </a:tr>
            </a:tbl>
          </a:graphicData>
        </a:graphic>
      </p:graphicFrame>
      <p:sp>
        <p:nvSpPr>
          <p:cNvPr id="151" name="Google Shape;151;p13"/>
          <p:cNvSpPr txBox="1"/>
          <p:nvPr/>
        </p:nvSpPr>
        <p:spPr>
          <a:xfrm>
            <a:off x="2947200" y="7289700"/>
            <a:ext cx="4144800" cy="146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222222"/>
                </a:solidFill>
                <a:latin typeface="Lexend"/>
                <a:ea typeface="Lexend"/>
                <a:cs typeface="Lexend"/>
                <a:sym typeface="Lexend"/>
              </a:rPr>
              <a:t>a) Calculate the median.</a:t>
            </a:r>
            <a:endParaRPr sz="1200">
              <a:solidFill>
                <a:srgbClr val="222222"/>
              </a:solidFill>
              <a:latin typeface="Lexend"/>
              <a:ea typeface="Lexend"/>
              <a:cs typeface="Lexend"/>
              <a:sym typeface="Lexend"/>
            </a:endParaRPr>
          </a:p>
          <a:p>
            <a:pPr indent="0" lvl="0" marL="0" rtl="0" algn="l">
              <a:spcBef>
                <a:spcPts val="0"/>
              </a:spcBef>
              <a:spcAft>
                <a:spcPts val="0"/>
              </a:spcAft>
              <a:buNone/>
            </a:pPr>
            <a:r>
              <a:rPr lang="en-GB" sz="1200">
                <a:solidFill>
                  <a:srgbClr val="222222"/>
                </a:solidFill>
                <a:latin typeface="Lexend"/>
                <a:ea typeface="Lexend"/>
                <a:cs typeface="Lexend"/>
                <a:sym typeface="Lexend"/>
              </a:rPr>
              <a:t>     </a:t>
            </a:r>
            <a:r>
              <a:rPr lang="en-GB" sz="1200">
                <a:solidFill>
                  <a:srgbClr val="222222"/>
                </a:solidFill>
                <a:latin typeface="Kalam"/>
                <a:ea typeface="Kalam"/>
                <a:cs typeface="Kalam"/>
                <a:sym typeface="Kalam"/>
              </a:rPr>
              <a:t>1 goal</a:t>
            </a:r>
            <a:endParaRPr sz="1200">
              <a:solidFill>
                <a:srgbClr val="222222"/>
              </a:solidFill>
              <a:latin typeface="Kalam"/>
              <a:ea typeface="Kalam"/>
              <a:cs typeface="Kalam"/>
              <a:sym typeface="Kalam"/>
            </a:endParaRPr>
          </a:p>
          <a:p>
            <a:pPr indent="0" lvl="0" marL="0" rtl="0" algn="l">
              <a:spcBef>
                <a:spcPts val="0"/>
              </a:spcBef>
              <a:spcAft>
                <a:spcPts val="0"/>
              </a:spcAft>
              <a:buNone/>
            </a:pPr>
            <a:r>
              <a:t/>
            </a:r>
            <a:endParaRPr sz="1200">
              <a:solidFill>
                <a:srgbClr val="222222"/>
              </a:solidFill>
              <a:latin typeface="Lexend"/>
              <a:ea typeface="Lexend"/>
              <a:cs typeface="Lexend"/>
              <a:sym typeface="Lexend"/>
            </a:endParaRPr>
          </a:p>
          <a:p>
            <a:pPr indent="0" lvl="0" marL="0" rtl="0" algn="l">
              <a:spcBef>
                <a:spcPts val="0"/>
              </a:spcBef>
              <a:spcAft>
                <a:spcPts val="0"/>
              </a:spcAft>
              <a:buNone/>
            </a:pPr>
            <a:r>
              <a:t/>
            </a:r>
            <a:endParaRPr sz="1200">
              <a:solidFill>
                <a:srgbClr val="222222"/>
              </a:solidFill>
              <a:latin typeface="Lexend"/>
              <a:ea typeface="Lexend"/>
              <a:cs typeface="Lexend"/>
              <a:sym typeface="Lexend"/>
            </a:endParaRPr>
          </a:p>
          <a:p>
            <a:pPr indent="0" lvl="0" marL="0" rtl="0" algn="l">
              <a:spcBef>
                <a:spcPts val="0"/>
              </a:spcBef>
              <a:spcAft>
                <a:spcPts val="0"/>
              </a:spcAft>
              <a:buNone/>
            </a:pPr>
            <a:r>
              <a:rPr lang="en-GB" sz="1200">
                <a:solidFill>
                  <a:srgbClr val="222222"/>
                </a:solidFill>
                <a:latin typeface="Lexend"/>
                <a:ea typeface="Lexend"/>
                <a:cs typeface="Lexend"/>
                <a:sym typeface="Lexend"/>
              </a:rPr>
              <a:t>b) Calculate the interquartile range.</a:t>
            </a:r>
            <a:endParaRPr sz="1200">
              <a:solidFill>
                <a:srgbClr val="222222"/>
              </a:solidFill>
              <a:latin typeface="Lexend"/>
              <a:ea typeface="Lexend"/>
              <a:cs typeface="Lexend"/>
              <a:sym typeface="Lexend"/>
            </a:endParaRPr>
          </a:p>
          <a:p>
            <a:pPr indent="0" lvl="0" marL="0" rtl="0" algn="l">
              <a:spcBef>
                <a:spcPts val="0"/>
              </a:spcBef>
              <a:spcAft>
                <a:spcPts val="0"/>
              </a:spcAft>
              <a:buNone/>
            </a:pPr>
            <a:r>
              <a:rPr lang="en-GB" sz="1200">
                <a:solidFill>
                  <a:srgbClr val="222222"/>
                </a:solidFill>
                <a:latin typeface="Lexend"/>
                <a:ea typeface="Lexend"/>
                <a:cs typeface="Lexend"/>
                <a:sym typeface="Lexend"/>
              </a:rPr>
              <a:t>     </a:t>
            </a:r>
            <a:r>
              <a:rPr lang="en-GB" sz="1200">
                <a:solidFill>
                  <a:srgbClr val="222222"/>
                </a:solidFill>
                <a:latin typeface="Kalam"/>
                <a:ea typeface="Kalam"/>
                <a:cs typeface="Kalam"/>
                <a:sym typeface="Kalam"/>
              </a:rPr>
              <a:t>3 − 1 = 2 goals</a:t>
            </a:r>
            <a:endParaRPr sz="1200">
              <a:solidFill>
                <a:srgbClr val="222222"/>
              </a:solidFill>
              <a:latin typeface="Kalam"/>
              <a:ea typeface="Kalam"/>
              <a:cs typeface="Kalam"/>
              <a:sym typeface="Kalam"/>
            </a:endParaRPr>
          </a:p>
          <a:p>
            <a:pPr indent="0" lvl="0" marL="0" rtl="0" algn="l">
              <a:spcBef>
                <a:spcPts val="0"/>
              </a:spcBef>
              <a:spcAft>
                <a:spcPts val="0"/>
              </a:spcAft>
              <a:buNone/>
            </a:pPr>
            <a:r>
              <a:t/>
            </a:r>
            <a:endParaRPr sz="1200">
              <a:solidFill>
                <a:srgbClr val="222222"/>
              </a:solidFill>
              <a:latin typeface="Lexend"/>
              <a:ea typeface="Lexend"/>
              <a:cs typeface="Lexend"/>
              <a:sym typeface="Lexend"/>
            </a:endParaRPr>
          </a:p>
        </p:txBody>
      </p:sp>
      <p:sp>
        <p:nvSpPr>
          <p:cNvPr id="152" name="Google Shape;152;p13"/>
          <p:cNvSpPr txBox="1"/>
          <p:nvPr/>
        </p:nvSpPr>
        <p:spPr>
          <a:xfrm>
            <a:off x="2947200" y="8611325"/>
            <a:ext cx="4144800" cy="146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222222"/>
                </a:solidFill>
                <a:latin typeface="Lexend"/>
                <a:ea typeface="Lexend"/>
                <a:cs typeface="Lexend"/>
                <a:sym typeface="Lexend"/>
              </a:rPr>
              <a:t>c) Would the club prefer to report the mean or median as the average number of goals scored? Why?</a:t>
            </a:r>
            <a:endParaRPr sz="1200">
              <a:solidFill>
                <a:srgbClr val="222222"/>
              </a:solidFill>
              <a:latin typeface="Lexend"/>
              <a:ea typeface="Lexend"/>
              <a:cs typeface="Lexend"/>
              <a:sym typeface="Lexend"/>
            </a:endParaRPr>
          </a:p>
          <a:p>
            <a:pPr indent="0" lvl="0" marL="0" rtl="0" algn="l">
              <a:spcBef>
                <a:spcPts val="0"/>
              </a:spcBef>
              <a:spcAft>
                <a:spcPts val="0"/>
              </a:spcAft>
              <a:buNone/>
            </a:pPr>
            <a:r>
              <a:t/>
            </a:r>
            <a:endParaRPr sz="1200">
              <a:solidFill>
                <a:srgbClr val="222222"/>
              </a:solidFill>
              <a:latin typeface="Kalam"/>
              <a:ea typeface="Kalam"/>
              <a:cs typeface="Kalam"/>
              <a:sym typeface="Kalam"/>
            </a:endParaRPr>
          </a:p>
          <a:p>
            <a:pPr indent="0" lvl="0" marL="0" rtl="0" algn="l">
              <a:spcBef>
                <a:spcPts val="0"/>
              </a:spcBef>
              <a:spcAft>
                <a:spcPts val="0"/>
              </a:spcAft>
              <a:buNone/>
            </a:pPr>
            <a:r>
              <a:rPr lang="en-GB" sz="1200">
                <a:solidFill>
                  <a:srgbClr val="222222"/>
                </a:solidFill>
                <a:latin typeface="Kalam"/>
                <a:ea typeface="Kalam"/>
                <a:cs typeface="Kalam"/>
                <a:sym typeface="Kalam"/>
              </a:rPr>
              <a:t>Mean = 1.65 goals. Median = 1 goal.</a:t>
            </a:r>
            <a:endParaRPr sz="1200">
              <a:solidFill>
                <a:srgbClr val="222222"/>
              </a:solidFill>
              <a:latin typeface="Kalam"/>
              <a:ea typeface="Kalam"/>
              <a:cs typeface="Kalam"/>
              <a:sym typeface="Kalam"/>
            </a:endParaRPr>
          </a:p>
          <a:p>
            <a:pPr indent="0" lvl="0" marL="0" rtl="0" algn="l">
              <a:spcBef>
                <a:spcPts val="0"/>
              </a:spcBef>
              <a:spcAft>
                <a:spcPts val="0"/>
              </a:spcAft>
              <a:buNone/>
            </a:pPr>
            <a:r>
              <a:t/>
            </a:r>
            <a:endParaRPr sz="1200">
              <a:solidFill>
                <a:srgbClr val="222222"/>
              </a:solidFill>
              <a:latin typeface="Kalam"/>
              <a:ea typeface="Kalam"/>
              <a:cs typeface="Kalam"/>
              <a:sym typeface="Kalam"/>
            </a:endParaRPr>
          </a:p>
          <a:p>
            <a:pPr indent="0" lvl="0" marL="0" rtl="0" algn="l">
              <a:spcBef>
                <a:spcPts val="0"/>
              </a:spcBef>
              <a:spcAft>
                <a:spcPts val="0"/>
              </a:spcAft>
              <a:buNone/>
            </a:pPr>
            <a:r>
              <a:rPr lang="en-GB" sz="1200">
                <a:solidFill>
                  <a:srgbClr val="222222"/>
                </a:solidFill>
                <a:latin typeface="Kalam"/>
                <a:ea typeface="Kalam"/>
                <a:cs typeface="Kalam"/>
                <a:sym typeface="Kalam"/>
              </a:rPr>
              <a:t>The club would prefer to report the mean as it rounds to 2 goals making the club’s performance look better.</a:t>
            </a:r>
            <a:endParaRPr sz="1200">
              <a:solidFill>
                <a:srgbClr val="222222"/>
              </a:solidFill>
              <a:latin typeface="Kalam"/>
              <a:ea typeface="Kalam"/>
              <a:cs typeface="Kalam"/>
              <a:sym typeface="Kala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4"/>
          <p:cNvSpPr txBox="1"/>
          <p:nvPr>
            <p:ph idx="1" type="subTitle"/>
          </p:nvPr>
        </p:nvSpPr>
        <p:spPr>
          <a:xfrm>
            <a:off x="1463400" y="360000"/>
            <a:ext cx="478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Using the fx-83/85GT CW for statistics</a:t>
            </a:r>
            <a:endParaRPr/>
          </a:p>
        </p:txBody>
      </p:sp>
      <p:sp>
        <p:nvSpPr>
          <p:cNvPr id="158" name="Google Shape;158;p14"/>
          <p:cNvSpPr txBox="1"/>
          <p:nvPr>
            <p:ph idx="2" type="subTitle"/>
          </p:nvPr>
        </p:nvSpPr>
        <p:spPr>
          <a:xfrm>
            <a:off x="3903375" y="9972000"/>
            <a:ext cx="2722800" cy="161100"/>
          </a:xfrm>
          <a:prstGeom prst="rect">
            <a:avLst/>
          </a:prstGeom>
        </p:spPr>
        <p:txBody>
          <a:bodyPr anchorCtr="0" anchor="b" bIns="0" lIns="0" spcFirstLastPara="1" rIns="0" wrap="square" tIns="0">
            <a:normAutofit/>
          </a:bodyPr>
          <a:lstStyle/>
          <a:p>
            <a:pPr indent="0" lvl="0" marL="0" rtl="0" algn="l">
              <a:spcBef>
                <a:spcPts val="0"/>
              </a:spcBef>
              <a:spcAft>
                <a:spcPts val="0"/>
              </a:spcAft>
              <a:buNone/>
            </a:pPr>
            <a:r>
              <a:rPr lang="en-GB"/>
              <a:t>Mathematics in Education and Industry</a:t>
            </a:r>
            <a:endParaRPr/>
          </a:p>
        </p:txBody>
      </p:sp>
      <p:sp>
        <p:nvSpPr>
          <p:cNvPr id="159" name="Google Shape;159;p14"/>
          <p:cNvSpPr txBox="1"/>
          <p:nvPr/>
        </p:nvSpPr>
        <p:spPr>
          <a:xfrm>
            <a:off x="6744600" y="10447800"/>
            <a:ext cx="815400" cy="244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GB" sz="1000">
                <a:solidFill>
                  <a:srgbClr val="FFFFFF"/>
                </a:solidFill>
                <a:latin typeface="Lexend"/>
                <a:ea typeface="Lexend"/>
                <a:cs typeface="Lexend"/>
                <a:sym typeface="Lexend"/>
              </a:rPr>
              <a:t>v2.5</a:t>
            </a:r>
            <a:endParaRPr sz="1000">
              <a:solidFill>
                <a:srgbClr val="FFFFFF"/>
              </a:solidFill>
              <a:latin typeface="Lexend"/>
              <a:ea typeface="Lexend"/>
              <a:cs typeface="Lexend"/>
              <a:sym typeface="Lexend"/>
            </a:endParaRPr>
          </a:p>
        </p:txBody>
      </p:sp>
      <p:sp>
        <p:nvSpPr>
          <p:cNvPr id="160" name="Google Shape;160;p14"/>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61" name="Google Shape;161;p14"/>
          <p:cNvSpPr txBox="1"/>
          <p:nvPr/>
        </p:nvSpPr>
        <p:spPr>
          <a:xfrm>
            <a:off x="468000" y="720000"/>
            <a:ext cx="6624000" cy="39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200">
                <a:solidFill>
                  <a:srgbClr val="222222"/>
                </a:solidFill>
                <a:latin typeface="Lexend"/>
                <a:ea typeface="Lexend"/>
                <a:cs typeface="Lexend"/>
                <a:sym typeface="Lexend"/>
              </a:rPr>
              <a:t>2) This frequency table shows the star rating received by a restaurant over its opening weekend.</a:t>
            </a:r>
            <a:endParaRPr sz="1200">
              <a:solidFill>
                <a:srgbClr val="222222"/>
              </a:solidFill>
              <a:latin typeface="Lexend"/>
              <a:ea typeface="Lexend"/>
              <a:cs typeface="Lexend"/>
              <a:sym typeface="Lexend"/>
            </a:endParaRPr>
          </a:p>
        </p:txBody>
      </p:sp>
      <p:sp>
        <p:nvSpPr>
          <p:cNvPr id="162" name="Google Shape;162;p14"/>
          <p:cNvSpPr txBox="1"/>
          <p:nvPr/>
        </p:nvSpPr>
        <p:spPr>
          <a:xfrm>
            <a:off x="2947500" y="1182325"/>
            <a:ext cx="4144800" cy="965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222222"/>
                </a:solidFill>
                <a:latin typeface="Lexend"/>
                <a:ea typeface="Lexend"/>
                <a:cs typeface="Lexend"/>
                <a:sym typeface="Lexend"/>
              </a:rPr>
              <a:t>a) Calculate the median.</a:t>
            </a:r>
            <a:endParaRPr sz="1200">
              <a:solidFill>
                <a:srgbClr val="222222"/>
              </a:solidFill>
              <a:latin typeface="Lexend"/>
              <a:ea typeface="Lexend"/>
              <a:cs typeface="Lexend"/>
              <a:sym typeface="Lexend"/>
            </a:endParaRPr>
          </a:p>
          <a:p>
            <a:pPr indent="0" lvl="0" marL="0" rtl="0" algn="l">
              <a:spcBef>
                <a:spcPts val="0"/>
              </a:spcBef>
              <a:spcAft>
                <a:spcPts val="0"/>
              </a:spcAft>
              <a:buNone/>
            </a:pPr>
            <a:r>
              <a:rPr lang="en-GB" sz="1200">
                <a:solidFill>
                  <a:srgbClr val="222222"/>
                </a:solidFill>
                <a:latin typeface="Lexend"/>
                <a:ea typeface="Lexend"/>
                <a:cs typeface="Lexend"/>
                <a:sym typeface="Lexend"/>
              </a:rPr>
              <a:t>     </a:t>
            </a:r>
            <a:r>
              <a:rPr lang="en-GB" sz="1200">
                <a:solidFill>
                  <a:srgbClr val="222222"/>
                </a:solidFill>
                <a:latin typeface="Kalam"/>
                <a:ea typeface="Kalam"/>
                <a:cs typeface="Kalam"/>
                <a:sym typeface="Kalam"/>
              </a:rPr>
              <a:t>4 stars</a:t>
            </a:r>
            <a:endParaRPr sz="1200">
              <a:solidFill>
                <a:srgbClr val="222222"/>
              </a:solidFill>
              <a:latin typeface="Lexend"/>
              <a:ea typeface="Lexend"/>
              <a:cs typeface="Lexend"/>
              <a:sym typeface="Lexend"/>
            </a:endParaRPr>
          </a:p>
          <a:p>
            <a:pPr indent="0" lvl="0" marL="0" rtl="0" algn="l">
              <a:spcBef>
                <a:spcPts val="0"/>
              </a:spcBef>
              <a:spcAft>
                <a:spcPts val="0"/>
              </a:spcAft>
              <a:buNone/>
            </a:pPr>
            <a:r>
              <a:t/>
            </a:r>
            <a:endParaRPr sz="1200">
              <a:solidFill>
                <a:srgbClr val="222222"/>
              </a:solidFill>
              <a:latin typeface="Lexend"/>
              <a:ea typeface="Lexend"/>
              <a:cs typeface="Lexend"/>
              <a:sym typeface="Lexend"/>
            </a:endParaRPr>
          </a:p>
          <a:p>
            <a:pPr indent="0" lvl="0" marL="0" rtl="0" algn="l">
              <a:spcBef>
                <a:spcPts val="0"/>
              </a:spcBef>
              <a:spcAft>
                <a:spcPts val="0"/>
              </a:spcAft>
              <a:buNone/>
            </a:pPr>
            <a:r>
              <a:rPr lang="en-GB" sz="1200">
                <a:solidFill>
                  <a:srgbClr val="222222"/>
                </a:solidFill>
                <a:latin typeface="Lexend"/>
                <a:ea typeface="Lexend"/>
                <a:cs typeface="Lexend"/>
                <a:sym typeface="Lexend"/>
              </a:rPr>
              <a:t>b) Calculate the interquartile range.</a:t>
            </a:r>
            <a:endParaRPr sz="1200">
              <a:solidFill>
                <a:srgbClr val="222222"/>
              </a:solidFill>
              <a:latin typeface="Lexend"/>
              <a:ea typeface="Lexend"/>
              <a:cs typeface="Lexend"/>
              <a:sym typeface="Lexend"/>
            </a:endParaRPr>
          </a:p>
          <a:p>
            <a:pPr indent="0" lvl="0" marL="0" rtl="0" algn="l">
              <a:spcBef>
                <a:spcPts val="0"/>
              </a:spcBef>
              <a:spcAft>
                <a:spcPts val="0"/>
              </a:spcAft>
              <a:buNone/>
            </a:pPr>
            <a:r>
              <a:rPr lang="en-GB" sz="1200">
                <a:solidFill>
                  <a:srgbClr val="222222"/>
                </a:solidFill>
                <a:latin typeface="Lexend"/>
                <a:ea typeface="Lexend"/>
                <a:cs typeface="Lexend"/>
                <a:sym typeface="Lexend"/>
              </a:rPr>
              <a:t>     </a:t>
            </a:r>
            <a:r>
              <a:rPr lang="en-GB" sz="1200">
                <a:solidFill>
                  <a:srgbClr val="222222"/>
                </a:solidFill>
                <a:latin typeface="Kalam"/>
                <a:ea typeface="Kalam"/>
                <a:cs typeface="Kalam"/>
                <a:sym typeface="Kalam"/>
              </a:rPr>
              <a:t>5 − 3 = 2 stars</a:t>
            </a:r>
            <a:endParaRPr sz="1200">
              <a:solidFill>
                <a:srgbClr val="222222"/>
              </a:solidFill>
              <a:latin typeface="Lexend"/>
              <a:ea typeface="Lexend"/>
              <a:cs typeface="Lexend"/>
              <a:sym typeface="Lexend"/>
            </a:endParaRPr>
          </a:p>
        </p:txBody>
      </p:sp>
      <p:graphicFrame>
        <p:nvGraphicFramePr>
          <p:cNvPr id="163" name="Google Shape;163;p14"/>
          <p:cNvGraphicFramePr/>
          <p:nvPr/>
        </p:nvGraphicFramePr>
        <p:xfrm>
          <a:off x="468000" y="1182325"/>
          <a:ext cx="3000000" cy="3000000"/>
        </p:xfrm>
        <a:graphic>
          <a:graphicData uri="http://schemas.openxmlformats.org/drawingml/2006/table">
            <a:tbl>
              <a:tblPr>
                <a:noFill/>
                <a:tableStyleId>{799540E4-1DC0-4A54-835C-BD1D945AD856}</a:tableStyleId>
              </a:tblPr>
              <a:tblGrid>
                <a:gridCol w="1261700"/>
                <a:gridCol w="1071100"/>
              </a:tblGrid>
              <a:tr h="293600">
                <a:tc>
                  <a:txBody>
                    <a:bodyPr/>
                    <a:lstStyle/>
                    <a:p>
                      <a:pPr indent="0" lvl="0" marL="0" rtl="0" algn="ctr">
                        <a:spcBef>
                          <a:spcPts val="0"/>
                        </a:spcBef>
                        <a:spcAft>
                          <a:spcPts val="0"/>
                        </a:spcAft>
                        <a:buNone/>
                      </a:pPr>
                      <a:r>
                        <a:rPr b="1" lang="en-GB" sz="1200">
                          <a:solidFill>
                            <a:schemeClr val="dk1"/>
                          </a:solidFill>
                          <a:latin typeface="Lexend"/>
                          <a:ea typeface="Lexend"/>
                          <a:cs typeface="Lexend"/>
                          <a:sym typeface="Lexend"/>
                        </a:rPr>
                        <a:t>Star rating</a:t>
                      </a:r>
                      <a:endParaRPr b="1" sz="1200">
                        <a:solidFill>
                          <a:schemeClr val="dk1"/>
                        </a:solidFill>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b="1" lang="en-GB" sz="1200">
                          <a:solidFill>
                            <a:schemeClr val="dk1"/>
                          </a:solidFill>
                          <a:latin typeface="Lexend"/>
                          <a:ea typeface="Lexend"/>
                          <a:cs typeface="Lexend"/>
                          <a:sym typeface="Lexend"/>
                        </a:rPr>
                        <a:t>Frequency</a:t>
                      </a:r>
                      <a:endParaRPr b="1" sz="1200">
                        <a:solidFill>
                          <a:schemeClr val="dk1"/>
                        </a:solidFill>
                        <a:latin typeface="Lexend"/>
                        <a:ea typeface="Lexend"/>
                        <a:cs typeface="Lexend"/>
                        <a:sym typeface="Lexend"/>
                      </a:endParaRPr>
                    </a:p>
                  </a:txBody>
                  <a:tcPr marT="91425" marB="91425" marR="91425" marL="91425"/>
                </a:tc>
              </a:tr>
              <a:tr h="291400">
                <a:tc>
                  <a:txBody>
                    <a:bodyPr/>
                    <a:lstStyle/>
                    <a:p>
                      <a:pPr indent="0" lvl="0" marL="0" rtl="0" algn="ctr">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12</a:t>
                      </a:r>
                      <a:endParaRPr sz="1200">
                        <a:latin typeface="Lexend"/>
                        <a:ea typeface="Lexend"/>
                        <a:cs typeface="Lexend"/>
                        <a:sym typeface="Lexend"/>
                      </a:endParaRPr>
                    </a:p>
                  </a:txBody>
                  <a:tcPr marT="91425" marB="91425" marR="91425" marL="91425"/>
                </a:tc>
              </a:tr>
              <a:tr h="291400">
                <a:tc>
                  <a:txBody>
                    <a:bodyPr/>
                    <a:lstStyle/>
                    <a:p>
                      <a:pPr indent="0" lvl="0" marL="0" rtl="0" algn="ctr">
                        <a:spcBef>
                          <a:spcPts val="0"/>
                        </a:spcBef>
                        <a:spcAft>
                          <a:spcPts val="0"/>
                        </a:spcAft>
                        <a:buNone/>
                      </a:pPr>
                      <a:r>
                        <a:rPr lang="en-GB" sz="1200">
                          <a:latin typeface="Lexend"/>
                          <a:ea typeface="Lexend"/>
                          <a:cs typeface="Lexend"/>
                          <a:sym typeface="Lexend"/>
                        </a:rPr>
                        <a:t>2</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18</a:t>
                      </a:r>
                      <a:endParaRPr sz="1200">
                        <a:latin typeface="Lexend"/>
                        <a:ea typeface="Lexend"/>
                        <a:cs typeface="Lexend"/>
                        <a:sym typeface="Lexend"/>
                      </a:endParaRPr>
                    </a:p>
                  </a:txBody>
                  <a:tcPr marT="91425" marB="91425" marR="91425" marL="91425"/>
                </a:tc>
              </a:tr>
              <a:tr h="291400">
                <a:tc>
                  <a:txBody>
                    <a:bodyPr/>
                    <a:lstStyle/>
                    <a:p>
                      <a:pPr indent="0" lvl="0" marL="0" rtl="0" algn="ctr">
                        <a:spcBef>
                          <a:spcPts val="0"/>
                        </a:spcBef>
                        <a:spcAft>
                          <a:spcPts val="0"/>
                        </a:spcAft>
                        <a:buNone/>
                      </a:pPr>
                      <a:r>
                        <a:rPr lang="en-GB" sz="1200">
                          <a:latin typeface="Lexend"/>
                          <a:ea typeface="Lexend"/>
                          <a:cs typeface="Lexend"/>
                          <a:sym typeface="Lexend"/>
                        </a:rPr>
                        <a:t>3</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21</a:t>
                      </a:r>
                      <a:endParaRPr sz="1200">
                        <a:latin typeface="Lexend"/>
                        <a:ea typeface="Lexend"/>
                        <a:cs typeface="Lexend"/>
                        <a:sym typeface="Lexend"/>
                      </a:endParaRPr>
                    </a:p>
                  </a:txBody>
                  <a:tcPr marT="91425" marB="91425" marR="91425" marL="91425"/>
                </a:tc>
              </a:tr>
              <a:tr h="291400">
                <a:tc>
                  <a:txBody>
                    <a:bodyPr/>
                    <a:lstStyle/>
                    <a:p>
                      <a:pPr indent="0" lvl="0" marL="0" rtl="0" algn="ctr">
                        <a:spcBef>
                          <a:spcPts val="0"/>
                        </a:spcBef>
                        <a:spcAft>
                          <a:spcPts val="0"/>
                        </a:spcAft>
                        <a:buNone/>
                      </a:pPr>
                      <a:r>
                        <a:rPr lang="en-GB" sz="1200">
                          <a:latin typeface="Lexend"/>
                          <a:ea typeface="Lexend"/>
                          <a:cs typeface="Lexend"/>
                          <a:sym typeface="Lexend"/>
                        </a:rPr>
                        <a:t>4</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38</a:t>
                      </a:r>
                      <a:endParaRPr sz="1200">
                        <a:latin typeface="Lexend"/>
                        <a:ea typeface="Lexend"/>
                        <a:cs typeface="Lexend"/>
                        <a:sym typeface="Lexend"/>
                      </a:endParaRPr>
                    </a:p>
                  </a:txBody>
                  <a:tcPr marT="91425" marB="91425" marR="91425" marL="91425"/>
                </a:tc>
              </a:tr>
              <a:tr h="291400">
                <a:tc>
                  <a:txBody>
                    <a:bodyPr/>
                    <a:lstStyle/>
                    <a:p>
                      <a:pPr indent="0" lvl="0" marL="0" rtl="0" algn="ctr">
                        <a:spcBef>
                          <a:spcPts val="0"/>
                        </a:spcBef>
                        <a:spcAft>
                          <a:spcPts val="0"/>
                        </a:spcAft>
                        <a:buNone/>
                      </a:pPr>
                      <a:r>
                        <a:rPr lang="en-GB" sz="1200">
                          <a:latin typeface="Lexend"/>
                          <a:ea typeface="Lexend"/>
                          <a:cs typeface="Lexend"/>
                          <a:sym typeface="Lexend"/>
                        </a:rPr>
                        <a:t>5</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45</a:t>
                      </a:r>
                      <a:endParaRPr sz="1200">
                        <a:latin typeface="Lexend"/>
                        <a:ea typeface="Lexend"/>
                        <a:cs typeface="Lexend"/>
                        <a:sym typeface="Lexend"/>
                      </a:endParaRPr>
                    </a:p>
                  </a:txBody>
                  <a:tcPr marT="91425" marB="91425" marR="91425" marL="91425"/>
                </a:tc>
              </a:tr>
            </a:tbl>
          </a:graphicData>
        </a:graphic>
      </p:graphicFrame>
      <p:sp>
        <p:nvSpPr>
          <p:cNvPr id="164" name="Google Shape;164;p14"/>
          <p:cNvSpPr txBox="1"/>
          <p:nvPr/>
        </p:nvSpPr>
        <p:spPr>
          <a:xfrm>
            <a:off x="2947500" y="2279500"/>
            <a:ext cx="4144800" cy="1310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222222"/>
                </a:solidFill>
                <a:latin typeface="Lexend"/>
                <a:ea typeface="Lexend"/>
                <a:cs typeface="Lexend"/>
                <a:sym typeface="Lexend"/>
              </a:rPr>
              <a:t>c) Would the restaurant prefer to report the mean or median as the average rating? Why?</a:t>
            </a:r>
            <a:endParaRPr sz="1200">
              <a:solidFill>
                <a:srgbClr val="222222"/>
              </a:solidFill>
              <a:latin typeface="Lexend"/>
              <a:ea typeface="Lexend"/>
              <a:cs typeface="Lexend"/>
              <a:sym typeface="Lexend"/>
            </a:endParaRPr>
          </a:p>
          <a:p>
            <a:pPr indent="0" lvl="0" marL="0" rtl="0" algn="l">
              <a:spcBef>
                <a:spcPts val="0"/>
              </a:spcBef>
              <a:spcAft>
                <a:spcPts val="0"/>
              </a:spcAft>
              <a:buNone/>
            </a:pPr>
            <a:r>
              <a:t/>
            </a:r>
            <a:endParaRPr sz="1200">
              <a:solidFill>
                <a:srgbClr val="222222"/>
              </a:solidFill>
              <a:latin typeface="Kalam"/>
              <a:ea typeface="Kalam"/>
              <a:cs typeface="Kalam"/>
              <a:sym typeface="Kalam"/>
            </a:endParaRPr>
          </a:p>
          <a:p>
            <a:pPr indent="0" lvl="0" marL="0" rtl="0" algn="l">
              <a:spcBef>
                <a:spcPts val="0"/>
              </a:spcBef>
              <a:spcAft>
                <a:spcPts val="0"/>
              </a:spcAft>
              <a:buNone/>
            </a:pPr>
            <a:r>
              <a:rPr lang="en-GB" sz="1200">
                <a:solidFill>
                  <a:srgbClr val="222222"/>
                </a:solidFill>
                <a:latin typeface="Kalam"/>
                <a:ea typeface="Kalam"/>
                <a:cs typeface="Kalam"/>
                <a:sym typeface="Kalam"/>
              </a:rPr>
              <a:t>Mean = 3.64… stars. Median = 4 stars.</a:t>
            </a:r>
            <a:endParaRPr sz="1200">
              <a:solidFill>
                <a:srgbClr val="222222"/>
              </a:solidFill>
              <a:latin typeface="Kalam"/>
              <a:ea typeface="Kalam"/>
              <a:cs typeface="Kalam"/>
              <a:sym typeface="Kalam"/>
            </a:endParaRPr>
          </a:p>
          <a:p>
            <a:pPr indent="0" lvl="0" marL="0" rtl="0" algn="l">
              <a:spcBef>
                <a:spcPts val="0"/>
              </a:spcBef>
              <a:spcAft>
                <a:spcPts val="0"/>
              </a:spcAft>
              <a:buNone/>
            </a:pPr>
            <a:r>
              <a:t/>
            </a:r>
            <a:endParaRPr sz="1200">
              <a:solidFill>
                <a:srgbClr val="222222"/>
              </a:solidFill>
              <a:latin typeface="Kalam"/>
              <a:ea typeface="Kalam"/>
              <a:cs typeface="Kalam"/>
              <a:sym typeface="Kalam"/>
            </a:endParaRPr>
          </a:p>
          <a:p>
            <a:pPr indent="0" lvl="0" marL="0" rtl="0" algn="l">
              <a:spcBef>
                <a:spcPts val="0"/>
              </a:spcBef>
              <a:spcAft>
                <a:spcPts val="0"/>
              </a:spcAft>
              <a:buNone/>
            </a:pPr>
            <a:r>
              <a:rPr lang="en-GB" sz="1200">
                <a:solidFill>
                  <a:srgbClr val="222222"/>
                </a:solidFill>
                <a:latin typeface="Kalam"/>
                <a:ea typeface="Kalam"/>
                <a:cs typeface="Kalam"/>
                <a:sym typeface="Kalam"/>
              </a:rPr>
              <a:t>The restaurant could report either but the median does not need to be rounded.</a:t>
            </a:r>
            <a:endParaRPr sz="1200">
              <a:solidFill>
                <a:srgbClr val="222222"/>
              </a:solidFill>
              <a:latin typeface="Lexend"/>
              <a:ea typeface="Lexend"/>
              <a:cs typeface="Lexend"/>
              <a:sym typeface="Lexend"/>
            </a:endParaRPr>
          </a:p>
        </p:txBody>
      </p:sp>
      <p:sp>
        <p:nvSpPr>
          <p:cNvPr id="165" name="Google Shape;165;p14"/>
          <p:cNvSpPr txBox="1"/>
          <p:nvPr/>
        </p:nvSpPr>
        <p:spPr>
          <a:xfrm>
            <a:off x="468000" y="3663425"/>
            <a:ext cx="6624000" cy="39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200">
                <a:solidFill>
                  <a:srgbClr val="222222"/>
                </a:solidFill>
                <a:latin typeface="Lexend"/>
                <a:ea typeface="Lexend"/>
                <a:cs typeface="Lexend"/>
                <a:sym typeface="Lexend"/>
              </a:rPr>
              <a:t>3) The frequency table shows the number of bedrooms in different houses within an area of a town.</a:t>
            </a:r>
            <a:endParaRPr sz="1200">
              <a:solidFill>
                <a:srgbClr val="222222"/>
              </a:solidFill>
              <a:latin typeface="Lexend"/>
              <a:ea typeface="Lexend"/>
              <a:cs typeface="Lexend"/>
              <a:sym typeface="Lexend"/>
            </a:endParaRPr>
          </a:p>
        </p:txBody>
      </p:sp>
      <p:sp>
        <p:nvSpPr>
          <p:cNvPr id="166" name="Google Shape;166;p14"/>
          <p:cNvSpPr txBox="1"/>
          <p:nvPr/>
        </p:nvSpPr>
        <p:spPr>
          <a:xfrm>
            <a:off x="2947500" y="4168050"/>
            <a:ext cx="4144800" cy="141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222222"/>
                </a:solidFill>
                <a:latin typeface="Lexend"/>
                <a:ea typeface="Lexend"/>
                <a:cs typeface="Lexend"/>
                <a:sym typeface="Lexend"/>
              </a:rPr>
              <a:t>A developer wishes to build more expensive houses (3+ bedrooms) but the local council want cheaper housing. The council argue that there are already enough houses with 3 or more bedrooms.</a:t>
            </a:r>
            <a:endParaRPr sz="1200">
              <a:solidFill>
                <a:srgbClr val="222222"/>
              </a:solidFill>
              <a:latin typeface="Lexend"/>
              <a:ea typeface="Lexend"/>
              <a:cs typeface="Lexend"/>
              <a:sym typeface="Lexend"/>
            </a:endParaRPr>
          </a:p>
          <a:p>
            <a:pPr indent="0" lvl="0" marL="0" rtl="0" algn="l">
              <a:spcBef>
                <a:spcPts val="0"/>
              </a:spcBef>
              <a:spcAft>
                <a:spcPts val="0"/>
              </a:spcAft>
              <a:buNone/>
            </a:pPr>
            <a:r>
              <a:rPr lang="en-GB" sz="1200">
                <a:solidFill>
                  <a:srgbClr val="222222"/>
                </a:solidFill>
                <a:latin typeface="Lexend"/>
                <a:ea typeface="Lexend"/>
                <a:cs typeface="Lexend"/>
                <a:sym typeface="Lexend"/>
              </a:rPr>
              <a:t>Are the council correct? Use the data to support your decision.</a:t>
            </a:r>
            <a:endParaRPr sz="1200">
              <a:solidFill>
                <a:srgbClr val="222222"/>
              </a:solidFill>
              <a:latin typeface="Lexend"/>
              <a:ea typeface="Lexend"/>
              <a:cs typeface="Lexend"/>
              <a:sym typeface="Lexend"/>
            </a:endParaRPr>
          </a:p>
        </p:txBody>
      </p:sp>
      <p:graphicFrame>
        <p:nvGraphicFramePr>
          <p:cNvPr id="167" name="Google Shape;167;p14"/>
          <p:cNvGraphicFramePr/>
          <p:nvPr/>
        </p:nvGraphicFramePr>
        <p:xfrm>
          <a:off x="468000" y="4168038"/>
          <a:ext cx="3000000" cy="3000000"/>
        </p:xfrm>
        <a:graphic>
          <a:graphicData uri="http://schemas.openxmlformats.org/drawingml/2006/table">
            <a:tbl>
              <a:tblPr>
                <a:noFill/>
                <a:tableStyleId>{799540E4-1DC0-4A54-835C-BD1D945AD856}</a:tableStyleId>
              </a:tblPr>
              <a:tblGrid>
                <a:gridCol w="1150050"/>
                <a:gridCol w="1182750"/>
              </a:tblGrid>
              <a:tr h="314050">
                <a:tc>
                  <a:txBody>
                    <a:bodyPr/>
                    <a:lstStyle/>
                    <a:p>
                      <a:pPr indent="0" lvl="0" marL="0" rtl="0" algn="ctr">
                        <a:spcBef>
                          <a:spcPts val="0"/>
                        </a:spcBef>
                        <a:spcAft>
                          <a:spcPts val="0"/>
                        </a:spcAft>
                        <a:buNone/>
                      </a:pPr>
                      <a:r>
                        <a:rPr b="1" lang="en-GB" sz="1200">
                          <a:solidFill>
                            <a:schemeClr val="dk1"/>
                          </a:solidFill>
                          <a:latin typeface="Lexend"/>
                          <a:ea typeface="Lexend"/>
                          <a:cs typeface="Lexend"/>
                          <a:sym typeface="Lexend"/>
                        </a:rPr>
                        <a:t>Bedrooms</a:t>
                      </a:r>
                      <a:endParaRPr b="1" sz="1200">
                        <a:solidFill>
                          <a:schemeClr val="dk1"/>
                        </a:solidFill>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b="1" lang="en-GB" sz="1200">
                          <a:solidFill>
                            <a:schemeClr val="dk1"/>
                          </a:solidFill>
                          <a:latin typeface="Lexend"/>
                          <a:ea typeface="Lexend"/>
                          <a:cs typeface="Lexend"/>
                          <a:sym typeface="Lexend"/>
                        </a:rPr>
                        <a:t>Frequency</a:t>
                      </a:r>
                      <a:endParaRPr b="1" sz="1200">
                        <a:solidFill>
                          <a:schemeClr val="dk1"/>
                        </a:solidFill>
                        <a:latin typeface="Lexend"/>
                        <a:ea typeface="Lexend"/>
                        <a:cs typeface="Lexend"/>
                        <a:sym typeface="Lexend"/>
                      </a:endParaRPr>
                    </a:p>
                  </a:txBody>
                  <a:tcPr marT="91425" marB="91425" marR="91425" marL="91425" anchor="ctr"/>
                </a:tc>
              </a:tr>
              <a:tr h="314050">
                <a:tc>
                  <a:txBody>
                    <a:bodyPr/>
                    <a:lstStyle/>
                    <a:p>
                      <a:pPr indent="0" lvl="0" marL="0" rtl="0" algn="ctr">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200">
                          <a:latin typeface="Lexend"/>
                          <a:ea typeface="Lexend"/>
                          <a:cs typeface="Lexend"/>
                          <a:sym typeface="Lexend"/>
                        </a:rPr>
                        <a:t>20</a:t>
                      </a:r>
                      <a:endParaRPr sz="1200">
                        <a:latin typeface="Lexend"/>
                        <a:ea typeface="Lexend"/>
                        <a:cs typeface="Lexend"/>
                        <a:sym typeface="Lexend"/>
                      </a:endParaRPr>
                    </a:p>
                  </a:txBody>
                  <a:tcPr marT="91425" marB="91425" marR="91425" marL="91425" anchor="ctr"/>
                </a:tc>
              </a:tr>
              <a:tr h="314050">
                <a:tc>
                  <a:txBody>
                    <a:bodyPr/>
                    <a:lstStyle/>
                    <a:p>
                      <a:pPr indent="0" lvl="0" marL="0" rtl="0" algn="ctr">
                        <a:spcBef>
                          <a:spcPts val="0"/>
                        </a:spcBef>
                        <a:spcAft>
                          <a:spcPts val="0"/>
                        </a:spcAft>
                        <a:buNone/>
                      </a:pPr>
                      <a:r>
                        <a:rPr lang="en-GB" sz="1200">
                          <a:latin typeface="Lexend"/>
                          <a:ea typeface="Lexend"/>
                          <a:cs typeface="Lexend"/>
                          <a:sym typeface="Lexend"/>
                        </a:rPr>
                        <a:t>2</a:t>
                      </a:r>
                      <a:endParaRPr sz="12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200">
                          <a:latin typeface="Lexend"/>
                          <a:ea typeface="Lexend"/>
                          <a:cs typeface="Lexend"/>
                          <a:sym typeface="Lexend"/>
                        </a:rPr>
                        <a:t>93</a:t>
                      </a:r>
                      <a:endParaRPr sz="1200">
                        <a:latin typeface="Lexend"/>
                        <a:ea typeface="Lexend"/>
                        <a:cs typeface="Lexend"/>
                        <a:sym typeface="Lexend"/>
                      </a:endParaRPr>
                    </a:p>
                  </a:txBody>
                  <a:tcPr marT="91425" marB="91425" marR="91425" marL="91425" anchor="ctr"/>
                </a:tc>
              </a:tr>
              <a:tr h="314050">
                <a:tc>
                  <a:txBody>
                    <a:bodyPr/>
                    <a:lstStyle/>
                    <a:p>
                      <a:pPr indent="0" lvl="0" marL="0" rtl="0" algn="ctr">
                        <a:spcBef>
                          <a:spcPts val="0"/>
                        </a:spcBef>
                        <a:spcAft>
                          <a:spcPts val="0"/>
                        </a:spcAft>
                        <a:buNone/>
                      </a:pPr>
                      <a:r>
                        <a:rPr lang="en-GB" sz="1200">
                          <a:latin typeface="Lexend"/>
                          <a:ea typeface="Lexend"/>
                          <a:cs typeface="Lexend"/>
                          <a:sym typeface="Lexend"/>
                        </a:rPr>
                        <a:t>3</a:t>
                      </a:r>
                      <a:endParaRPr sz="12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200">
                          <a:latin typeface="Lexend"/>
                          <a:ea typeface="Lexend"/>
                          <a:cs typeface="Lexend"/>
                          <a:sym typeface="Lexend"/>
                        </a:rPr>
                        <a:t>54</a:t>
                      </a:r>
                      <a:endParaRPr sz="1200">
                        <a:latin typeface="Lexend"/>
                        <a:ea typeface="Lexend"/>
                        <a:cs typeface="Lexend"/>
                        <a:sym typeface="Lexend"/>
                      </a:endParaRPr>
                    </a:p>
                  </a:txBody>
                  <a:tcPr marT="91425" marB="91425" marR="91425" marL="91425" anchor="ctr"/>
                </a:tc>
              </a:tr>
              <a:tr h="314050">
                <a:tc>
                  <a:txBody>
                    <a:bodyPr/>
                    <a:lstStyle/>
                    <a:p>
                      <a:pPr indent="0" lvl="0" marL="0" rtl="0" algn="ctr">
                        <a:spcBef>
                          <a:spcPts val="0"/>
                        </a:spcBef>
                        <a:spcAft>
                          <a:spcPts val="0"/>
                        </a:spcAft>
                        <a:buNone/>
                      </a:pPr>
                      <a:r>
                        <a:rPr lang="en-GB" sz="1200">
                          <a:latin typeface="Lexend"/>
                          <a:ea typeface="Lexend"/>
                          <a:cs typeface="Lexend"/>
                          <a:sym typeface="Lexend"/>
                        </a:rPr>
                        <a:t>4</a:t>
                      </a:r>
                      <a:endParaRPr sz="12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200">
                          <a:latin typeface="Lexend"/>
                          <a:ea typeface="Lexend"/>
                          <a:cs typeface="Lexend"/>
                          <a:sym typeface="Lexend"/>
                        </a:rPr>
                        <a:t>33</a:t>
                      </a:r>
                      <a:endParaRPr sz="1200">
                        <a:latin typeface="Lexend"/>
                        <a:ea typeface="Lexend"/>
                        <a:cs typeface="Lexend"/>
                        <a:sym typeface="Lexend"/>
                      </a:endParaRPr>
                    </a:p>
                  </a:txBody>
                  <a:tcPr marT="91425" marB="91425" marR="91425" marL="91425" anchor="ctr"/>
                </a:tc>
              </a:tr>
            </a:tbl>
          </a:graphicData>
        </a:graphic>
      </p:graphicFrame>
      <p:sp>
        <p:nvSpPr>
          <p:cNvPr id="168" name="Google Shape;168;p14"/>
          <p:cNvSpPr txBox="1"/>
          <p:nvPr/>
        </p:nvSpPr>
        <p:spPr>
          <a:xfrm>
            <a:off x="2947500" y="5416825"/>
            <a:ext cx="4144800" cy="41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222222"/>
                </a:solidFill>
                <a:latin typeface="Kalam"/>
                <a:ea typeface="Kalam"/>
                <a:cs typeface="Kalam"/>
                <a:sym typeface="Kalam"/>
              </a:rPr>
              <a:t>Mean = 2.5 bedrooms. Median = 2 bedrooms. </a:t>
            </a:r>
            <a:endParaRPr sz="1200">
              <a:solidFill>
                <a:srgbClr val="222222"/>
              </a:solidFill>
              <a:latin typeface="Kalam"/>
              <a:ea typeface="Kalam"/>
              <a:cs typeface="Kalam"/>
              <a:sym typeface="Kalam"/>
            </a:endParaRPr>
          </a:p>
          <a:p>
            <a:pPr indent="0" lvl="0" marL="0" rtl="0" algn="l">
              <a:spcBef>
                <a:spcPts val="0"/>
              </a:spcBef>
              <a:spcAft>
                <a:spcPts val="0"/>
              </a:spcAft>
              <a:buNone/>
            </a:pPr>
            <a:r>
              <a:rPr lang="en-GB" sz="1200">
                <a:solidFill>
                  <a:srgbClr val="222222"/>
                </a:solidFill>
                <a:latin typeface="Kalam"/>
                <a:ea typeface="Kalam"/>
                <a:cs typeface="Kalam"/>
                <a:sym typeface="Kalam"/>
              </a:rPr>
              <a:t>Interquartile range = 3 − 2 = 1</a:t>
            </a:r>
            <a:endParaRPr sz="1200">
              <a:solidFill>
                <a:srgbClr val="222222"/>
              </a:solidFill>
              <a:latin typeface="Kalam"/>
              <a:ea typeface="Kalam"/>
              <a:cs typeface="Kalam"/>
              <a:sym typeface="Kalam"/>
            </a:endParaRPr>
          </a:p>
        </p:txBody>
      </p:sp>
      <p:sp>
        <p:nvSpPr>
          <p:cNvPr id="169" name="Google Shape;169;p14"/>
          <p:cNvSpPr txBox="1"/>
          <p:nvPr/>
        </p:nvSpPr>
        <p:spPr>
          <a:xfrm>
            <a:off x="468000" y="6721800"/>
            <a:ext cx="6624000" cy="39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200">
                <a:solidFill>
                  <a:srgbClr val="222222"/>
                </a:solidFill>
                <a:latin typeface="Lexend"/>
                <a:ea typeface="Lexend"/>
                <a:cs typeface="Lexend"/>
                <a:sym typeface="Lexend"/>
              </a:rPr>
              <a:t>4) The bar chart shows the length of time customers spent waiting at a self-service till (to the nearest minute).</a:t>
            </a:r>
            <a:endParaRPr sz="1200">
              <a:solidFill>
                <a:srgbClr val="222222"/>
              </a:solidFill>
              <a:latin typeface="Lexend"/>
              <a:ea typeface="Lexend"/>
              <a:cs typeface="Lexend"/>
              <a:sym typeface="Lexend"/>
            </a:endParaRPr>
          </a:p>
        </p:txBody>
      </p:sp>
      <p:sp>
        <p:nvSpPr>
          <p:cNvPr id="170" name="Google Shape;170;p14"/>
          <p:cNvSpPr txBox="1"/>
          <p:nvPr/>
        </p:nvSpPr>
        <p:spPr>
          <a:xfrm>
            <a:off x="3928975" y="7141575"/>
            <a:ext cx="3163200" cy="71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222222"/>
                </a:solidFill>
                <a:latin typeface="Lexend"/>
                <a:ea typeface="Lexend"/>
                <a:cs typeface="Lexend"/>
                <a:sym typeface="Lexend"/>
              </a:rPr>
              <a:t>Management want every customer to be queuing for less than the average queue time.</a:t>
            </a:r>
            <a:endParaRPr sz="1200">
              <a:solidFill>
                <a:srgbClr val="222222"/>
              </a:solidFill>
              <a:latin typeface="Lexend"/>
              <a:ea typeface="Lexend"/>
              <a:cs typeface="Lexend"/>
              <a:sym typeface="Lexend"/>
            </a:endParaRPr>
          </a:p>
          <a:p>
            <a:pPr indent="0" lvl="0" marL="0" rtl="0" algn="l">
              <a:spcBef>
                <a:spcPts val="0"/>
              </a:spcBef>
              <a:spcAft>
                <a:spcPts val="0"/>
              </a:spcAft>
              <a:buNone/>
            </a:pPr>
            <a:r>
              <a:rPr lang="en-GB" sz="1200">
                <a:solidFill>
                  <a:srgbClr val="222222"/>
                </a:solidFill>
                <a:latin typeface="Lexend"/>
                <a:ea typeface="Lexend"/>
                <a:cs typeface="Lexend"/>
                <a:sym typeface="Lexend"/>
              </a:rPr>
              <a:t>a) Calculate the average queue time.</a:t>
            </a:r>
            <a:endParaRPr sz="1200">
              <a:solidFill>
                <a:srgbClr val="222222"/>
              </a:solidFill>
              <a:latin typeface="Lexend"/>
              <a:ea typeface="Lexend"/>
              <a:cs typeface="Lexend"/>
              <a:sym typeface="Lexend"/>
            </a:endParaRPr>
          </a:p>
          <a:p>
            <a:pPr indent="0" lvl="0" marL="0" rtl="0" algn="l">
              <a:spcBef>
                <a:spcPts val="0"/>
              </a:spcBef>
              <a:spcAft>
                <a:spcPts val="0"/>
              </a:spcAft>
              <a:buNone/>
            </a:pPr>
            <a:r>
              <a:t/>
            </a:r>
            <a:endParaRPr sz="1200">
              <a:solidFill>
                <a:srgbClr val="222222"/>
              </a:solidFill>
              <a:latin typeface="Kalam"/>
              <a:ea typeface="Kalam"/>
              <a:cs typeface="Kalam"/>
              <a:sym typeface="Kalam"/>
            </a:endParaRPr>
          </a:p>
          <a:p>
            <a:pPr indent="0" lvl="0" marL="0" rtl="0" algn="l">
              <a:spcBef>
                <a:spcPts val="0"/>
              </a:spcBef>
              <a:spcAft>
                <a:spcPts val="0"/>
              </a:spcAft>
              <a:buNone/>
            </a:pPr>
            <a:r>
              <a:rPr lang="en-GB" sz="1200">
                <a:solidFill>
                  <a:srgbClr val="222222"/>
                </a:solidFill>
                <a:latin typeface="Kalam"/>
                <a:ea typeface="Kalam"/>
                <a:cs typeface="Kalam"/>
                <a:sym typeface="Kalam"/>
              </a:rPr>
              <a:t>Mean = Median = Mode = 3 minutes</a:t>
            </a:r>
            <a:endParaRPr sz="1200">
              <a:solidFill>
                <a:srgbClr val="222222"/>
              </a:solidFill>
              <a:latin typeface="Kalam"/>
              <a:ea typeface="Kalam"/>
              <a:cs typeface="Kalam"/>
              <a:sym typeface="Kalam"/>
            </a:endParaRPr>
          </a:p>
          <a:p>
            <a:pPr indent="0" lvl="0" marL="0" rtl="0" algn="l">
              <a:spcBef>
                <a:spcPts val="0"/>
              </a:spcBef>
              <a:spcAft>
                <a:spcPts val="0"/>
              </a:spcAft>
              <a:buNone/>
            </a:pPr>
            <a:r>
              <a:t/>
            </a:r>
            <a:endParaRPr sz="1200">
              <a:solidFill>
                <a:srgbClr val="222222"/>
              </a:solidFill>
              <a:latin typeface="Lexend"/>
              <a:ea typeface="Lexend"/>
              <a:cs typeface="Lexend"/>
              <a:sym typeface="Lexend"/>
            </a:endParaRPr>
          </a:p>
        </p:txBody>
      </p:sp>
      <p:grpSp>
        <p:nvGrpSpPr>
          <p:cNvPr id="171" name="Google Shape;171;p14"/>
          <p:cNvGrpSpPr/>
          <p:nvPr/>
        </p:nvGrpSpPr>
        <p:grpSpPr>
          <a:xfrm>
            <a:off x="468013" y="7141585"/>
            <a:ext cx="3460951" cy="2355239"/>
            <a:chOff x="323988" y="1620000"/>
            <a:chExt cx="4438823" cy="3020699"/>
          </a:xfrm>
        </p:grpSpPr>
        <p:pic>
          <p:nvPicPr>
            <p:cNvPr id="172" name="Google Shape;172;p14"/>
            <p:cNvPicPr preferRelativeResize="0"/>
            <p:nvPr/>
          </p:nvPicPr>
          <p:blipFill>
            <a:blip r:embed="rId3">
              <a:alphaModFix/>
            </a:blip>
            <a:stretch>
              <a:fillRect/>
            </a:stretch>
          </p:blipFill>
          <p:spPr>
            <a:xfrm>
              <a:off x="323988" y="1620000"/>
              <a:ext cx="4438823" cy="3020699"/>
            </a:xfrm>
            <a:prstGeom prst="rect">
              <a:avLst/>
            </a:prstGeom>
            <a:noFill/>
            <a:ln>
              <a:noFill/>
            </a:ln>
          </p:spPr>
        </p:pic>
        <p:sp>
          <p:nvSpPr>
            <p:cNvPr id="173" name="Google Shape;173;p14"/>
            <p:cNvSpPr/>
            <p:nvPr/>
          </p:nvSpPr>
          <p:spPr>
            <a:xfrm>
              <a:off x="940383" y="2911125"/>
              <a:ext cx="160800" cy="1266900"/>
            </a:xfrm>
            <a:prstGeom prst="rect">
              <a:avLst/>
            </a:prstGeom>
            <a:solidFill>
              <a:srgbClr val="037B7D"/>
            </a:solidFill>
            <a:ln cap="flat" cmpd="sng" w="28575">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4" name="Google Shape;174;p14"/>
            <p:cNvSpPr/>
            <p:nvPr/>
          </p:nvSpPr>
          <p:spPr>
            <a:xfrm>
              <a:off x="1500050" y="3876475"/>
              <a:ext cx="160800" cy="301800"/>
            </a:xfrm>
            <a:prstGeom prst="rect">
              <a:avLst/>
            </a:prstGeom>
            <a:solidFill>
              <a:srgbClr val="037B7D"/>
            </a:solidFill>
            <a:ln cap="flat" cmpd="sng" w="28575">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5" name="Google Shape;175;p14"/>
            <p:cNvSpPr/>
            <p:nvPr/>
          </p:nvSpPr>
          <p:spPr>
            <a:xfrm>
              <a:off x="2068300" y="2586825"/>
              <a:ext cx="160800" cy="1591500"/>
            </a:xfrm>
            <a:prstGeom prst="rect">
              <a:avLst/>
            </a:prstGeom>
            <a:solidFill>
              <a:srgbClr val="037B7D"/>
            </a:solidFill>
            <a:ln cap="flat" cmpd="sng" w="28575">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6" name="Google Shape;176;p14"/>
            <p:cNvSpPr/>
            <p:nvPr/>
          </p:nvSpPr>
          <p:spPr>
            <a:xfrm>
              <a:off x="2639400" y="2270075"/>
              <a:ext cx="160800" cy="1908300"/>
            </a:xfrm>
            <a:prstGeom prst="rect">
              <a:avLst/>
            </a:prstGeom>
            <a:solidFill>
              <a:srgbClr val="037B7D"/>
            </a:solidFill>
            <a:ln cap="flat" cmpd="sng" w="28575">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7" name="Google Shape;177;p14"/>
            <p:cNvSpPr/>
            <p:nvPr/>
          </p:nvSpPr>
          <p:spPr>
            <a:xfrm>
              <a:off x="3211300" y="3240000"/>
              <a:ext cx="160800" cy="938100"/>
            </a:xfrm>
            <a:prstGeom prst="rect">
              <a:avLst/>
            </a:prstGeom>
            <a:solidFill>
              <a:srgbClr val="037B7D"/>
            </a:solidFill>
            <a:ln cap="flat" cmpd="sng" w="28575">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8" name="Google Shape;178;p14"/>
            <p:cNvSpPr/>
            <p:nvPr/>
          </p:nvSpPr>
          <p:spPr>
            <a:xfrm>
              <a:off x="3767325" y="3552175"/>
              <a:ext cx="160800" cy="626100"/>
            </a:xfrm>
            <a:prstGeom prst="rect">
              <a:avLst/>
            </a:prstGeom>
            <a:solidFill>
              <a:srgbClr val="037B7D"/>
            </a:solidFill>
            <a:ln cap="flat" cmpd="sng" w="28575">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9" name="Google Shape;179;p14"/>
            <p:cNvSpPr/>
            <p:nvPr/>
          </p:nvSpPr>
          <p:spPr>
            <a:xfrm>
              <a:off x="4338434" y="2911125"/>
              <a:ext cx="160800" cy="1266900"/>
            </a:xfrm>
            <a:prstGeom prst="rect">
              <a:avLst/>
            </a:prstGeom>
            <a:solidFill>
              <a:srgbClr val="037B7D"/>
            </a:solidFill>
            <a:ln cap="flat" cmpd="sng" w="28575">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80" name="Google Shape;180;p14"/>
          <p:cNvSpPr txBox="1"/>
          <p:nvPr/>
        </p:nvSpPr>
        <p:spPr>
          <a:xfrm>
            <a:off x="3928975" y="8349825"/>
            <a:ext cx="3163200" cy="1086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222222"/>
                </a:solidFill>
                <a:latin typeface="Lexend"/>
                <a:ea typeface="Lexend"/>
                <a:cs typeface="Lexend"/>
                <a:sym typeface="Lexend"/>
              </a:rPr>
              <a:t>b) Explain why it is not possible for everyone to queue for less time than the average queue time.</a:t>
            </a:r>
            <a:endParaRPr sz="1200">
              <a:solidFill>
                <a:srgbClr val="222222"/>
              </a:solidFill>
              <a:latin typeface="Lexend"/>
              <a:ea typeface="Lexend"/>
              <a:cs typeface="Lexend"/>
              <a:sym typeface="Lexend"/>
            </a:endParaRPr>
          </a:p>
          <a:p>
            <a:pPr indent="0" lvl="0" marL="0" rtl="0" algn="l">
              <a:spcBef>
                <a:spcPts val="0"/>
              </a:spcBef>
              <a:spcAft>
                <a:spcPts val="0"/>
              </a:spcAft>
              <a:buNone/>
            </a:pPr>
            <a:r>
              <a:t/>
            </a:r>
            <a:endParaRPr sz="1200">
              <a:solidFill>
                <a:srgbClr val="222222"/>
              </a:solidFill>
              <a:latin typeface="Lexend"/>
              <a:ea typeface="Lexend"/>
              <a:cs typeface="Lexend"/>
              <a:sym typeface="Lexend"/>
            </a:endParaRPr>
          </a:p>
          <a:p>
            <a:pPr indent="0" lvl="0" marL="0" rtl="0" algn="l">
              <a:spcBef>
                <a:spcPts val="0"/>
              </a:spcBef>
              <a:spcAft>
                <a:spcPts val="0"/>
              </a:spcAft>
              <a:buNone/>
            </a:pPr>
            <a:r>
              <a:rPr lang="en-GB" sz="1200">
                <a:solidFill>
                  <a:srgbClr val="222222"/>
                </a:solidFill>
                <a:latin typeface="Kalam"/>
                <a:ea typeface="Kalam"/>
                <a:cs typeface="Kalam"/>
                <a:sym typeface="Kalam"/>
              </a:rPr>
              <a:t>Averages are a measure of central tendency. It is possible for everyone to queue for the average time but not for everyone to be below. If everyone’s time decreased, so would the average.</a:t>
            </a:r>
            <a:endParaRPr sz="1200">
              <a:solidFill>
                <a:srgbClr val="222222"/>
              </a:solidFill>
              <a:latin typeface="Kalam"/>
              <a:ea typeface="Kalam"/>
              <a:cs typeface="Kalam"/>
              <a:sym typeface="Kalam"/>
            </a:endParaRPr>
          </a:p>
        </p:txBody>
      </p:sp>
      <p:sp>
        <p:nvSpPr>
          <p:cNvPr id="181" name="Google Shape;181;p14"/>
          <p:cNvSpPr txBox="1"/>
          <p:nvPr/>
        </p:nvSpPr>
        <p:spPr>
          <a:xfrm>
            <a:off x="468025" y="6045350"/>
            <a:ext cx="66240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solidFill>
                  <a:schemeClr val="dk1"/>
                </a:solidFill>
                <a:latin typeface="Kalam"/>
                <a:ea typeface="Kalam"/>
                <a:cs typeface="Kalam"/>
                <a:sym typeface="Kalam"/>
              </a:rPr>
              <a:t>E.g.</a:t>
            </a:r>
            <a:endParaRPr sz="1200">
              <a:solidFill>
                <a:schemeClr val="dk1"/>
              </a:solidFill>
              <a:latin typeface="Kalam"/>
              <a:ea typeface="Kalam"/>
              <a:cs typeface="Kalam"/>
              <a:sym typeface="Kalam"/>
            </a:endParaRPr>
          </a:p>
          <a:p>
            <a:pPr indent="0" lvl="0" marL="0" rtl="0" algn="l">
              <a:spcBef>
                <a:spcPts val="0"/>
              </a:spcBef>
              <a:spcAft>
                <a:spcPts val="0"/>
              </a:spcAft>
              <a:buNone/>
            </a:pPr>
            <a:r>
              <a:rPr lang="en-GB" sz="1200">
                <a:solidFill>
                  <a:schemeClr val="dk1"/>
                </a:solidFill>
                <a:latin typeface="Kalam"/>
                <a:ea typeface="Kalam"/>
                <a:cs typeface="Kalam"/>
                <a:sym typeface="Kalam"/>
              </a:rPr>
              <a:t>If the council uses the mean, then they can round and state that the average number of bedrooms in houses in this area is 3. Therefore there are plenty of houses with 3 (or more) bedrooms in.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Worksheet Answers Sep 2024 v2">
  <a:themeElements>
    <a:clrScheme name="Simple Light">
      <a:dk1>
        <a:srgbClr val="222222"/>
      </a:dk1>
      <a:lt1>
        <a:srgbClr val="FFFFFF"/>
      </a:lt1>
      <a:dk2>
        <a:srgbClr val="808080"/>
      </a:dk2>
      <a:lt2>
        <a:srgbClr val="F2F2F2"/>
      </a:lt2>
      <a:accent1>
        <a:srgbClr val="BEF2BD"/>
      </a:accent1>
      <a:accent2>
        <a:srgbClr val="374CF1"/>
      </a:accent2>
      <a:accent3>
        <a:srgbClr val="D02AA7"/>
      </a:accent3>
      <a:accent4>
        <a:srgbClr val="845AD9"/>
      </a:accent4>
      <a:accent5>
        <a:srgbClr val="037B7D"/>
      </a:accent5>
      <a:accent6>
        <a:srgbClr val="287C34"/>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