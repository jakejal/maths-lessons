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8" r:id="rId4"/>
  </p:sldMasterIdLst>
  <p:notesMasterIdLst>
    <p:notesMasterId r:id="rId5"/>
  </p:notesMasterIdLst>
  <p:sldIdLst>
    <p:sldId id="256" r:id="rId6"/>
    <p:sldId id="257" r:id="rId7"/>
    <p:sldId id="258" r:id="rId8"/>
  </p:sldIdLst>
  <p:sldSz cy="10692000" cx="7560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6602FE5-DC19-452A-BE8D-617C6F2ACEAE}">
  <a:tblStyle styleId="{D6602FE5-DC19-452A-BE8D-617C6F2ACEA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74FD756B-2D49-4E1B-89BA-8A08007AE6B7}"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279934fec8d_0_13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279934fec8d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af3e9cf8ed_0_1: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af3e9cf8e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79934fec8d_0_136:notes"/>
          <p:cNvSpPr/>
          <p:nvPr>
            <p:ph idx="2" type="sldImg"/>
          </p:nvPr>
        </p:nvSpPr>
        <p:spPr>
          <a:xfrm>
            <a:off x="2217050" y="685800"/>
            <a:ext cx="24246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279934fec8d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hyperlink" Target="https://www.nationalarchives.gov.uk/doc/open-government-licence/version/3/" TargetMode="External"/><Relationship Id="rId5" Type="http://schemas.openxmlformats.org/officeDocument/2006/relationships/hyperlink" Target="https://www.thenational.academy/legal/terms-and-conditions"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hyperlink" Target="https://www.nationalarchives.gov.uk/doc/open-government-licence/version/3/" TargetMode="External"/><Relationship Id="rId6" Type="http://schemas.openxmlformats.org/officeDocument/2006/relationships/hyperlink" Target="https://www.thenational.academy/legal/terms-and-conditions" TargetMode="External"/><Relationship Id="rId7"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itle page">
  <p:cSld name="SECTION_HEADER_1_1_1_1_1_1_1_1_1_1_1_2_1_1_1_1_1_2">
    <p:bg>
      <p:bgPr>
        <a:solidFill>
          <a:schemeClr val="lt1"/>
        </a:solidFill>
      </p:bgPr>
    </p:bg>
    <p:spTree>
      <p:nvGrpSpPr>
        <p:cNvPr id="9" name="Shape 9"/>
        <p:cNvGrpSpPr/>
        <p:nvPr/>
      </p:nvGrpSpPr>
      <p:grpSpPr>
        <a:xfrm>
          <a:off x="0" y="0"/>
          <a:ext cx="0" cy="0"/>
          <a:chOff x="0" y="0"/>
          <a:chExt cx="0" cy="0"/>
        </a:xfrm>
      </p:grpSpPr>
      <p:pic>
        <p:nvPicPr>
          <p:cNvPr id="10" name="Google Shape;10;p2"/>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11" name="Google Shape;11;p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2" name="Google Shape;12;p2"/>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3" name="Google Shape;13;p2"/>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14" name="Google Shape;14;p2"/>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5" name="Google Shape;15;p2"/>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6" name="Google Shape;16;p2"/>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17" name="Google Shape;17;p2"/>
          <p:cNvPicPr preferRelativeResize="0"/>
          <p:nvPr/>
        </p:nvPicPr>
        <p:blipFill>
          <a:blip r:embed="rId5">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Title page with long title">
  <p:cSld name="SECTION_HEADER_1_1_1_1_1_1_1_1_1_1_1_2_1_1_1_1_1_1_2">
    <p:bg>
      <p:bgPr>
        <a:solidFill>
          <a:schemeClr val="lt1"/>
        </a:solidFill>
      </p:bgPr>
    </p:bg>
    <p:spTree>
      <p:nvGrpSpPr>
        <p:cNvPr id="18" name="Shape 18"/>
        <p:cNvGrpSpPr/>
        <p:nvPr/>
      </p:nvGrpSpPr>
      <p:grpSpPr>
        <a:xfrm>
          <a:off x="0" y="0"/>
          <a:ext cx="0" cy="0"/>
          <a:chOff x="0" y="0"/>
          <a:chExt cx="0" cy="0"/>
        </a:xfrm>
      </p:grpSpPr>
      <p:pic>
        <p:nvPicPr>
          <p:cNvPr id="19" name="Google Shape;19;p3"/>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0" name="Google Shape;20;p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21" name="Google Shape;21;p3"/>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2" name="Google Shape;22;p3"/>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23" name="Google Shape;23;p3"/>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24" name="Google Shape;24;p3"/>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25" name="Google Shape;25;p3"/>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26" name="Google Shape;26;p3"/>
          <p:cNvPicPr preferRelativeResize="0"/>
          <p:nvPr/>
        </p:nvPicPr>
        <p:blipFill>
          <a:blip r:embed="rId5">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Middle page">
  <p:cSld name="SECTION_HEADER_1_1_1_1_1_1_1_1_1_1_1_2_1_1_1_1_1_1_1_1_2">
    <p:bg>
      <p:bgPr>
        <a:solidFill>
          <a:schemeClr val="lt1"/>
        </a:solidFill>
      </p:bgPr>
    </p:bg>
    <p:spTree>
      <p:nvGrpSpPr>
        <p:cNvPr id="27" name="Shape 27"/>
        <p:cNvGrpSpPr/>
        <p:nvPr/>
      </p:nvGrpSpPr>
      <p:grpSpPr>
        <a:xfrm>
          <a:off x="0" y="0"/>
          <a:ext cx="0" cy="0"/>
          <a:chOff x="0" y="0"/>
          <a:chExt cx="0" cy="0"/>
        </a:xfrm>
      </p:grpSpPr>
      <p:pic>
        <p:nvPicPr>
          <p:cNvPr id="28" name="Google Shape;28;p4"/>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29" name="Google Shape;29;p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0" name="Google Shape;30;p4"/>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1" name="Google Shape;31;p4"/>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2" name="Google Shape;32;p4"/>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33" name="Google Shape;33;p4"/>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Last page">
  <p:cSld name="SECTION_HEADER_1_1_1_1_1_1_1_1_1_1_1_2_1_1_1_1_1_1_1_1_1_3">
    <p:bg>
      <p:bgPr>
        <a:solidFill>
          <a:schemeClr val="lt1"/>
        </a:solidFill>
      </p:bgPr>
    </p:bg>
    <p:spTree>
      <p:nvGrpSpPr>
        <p:cNvPr id="34" name="Shape 34"/>
        <p:cNvGrpSpPr/>
        <p:nvPr/>
      </p:nvGrpSpPr>
      <p:grpSpPr>
        <a:xfrm>
          <a:off x="0" y="0"/>
          <a:ext cx="0" cy="0"/>
          <a:chOff x="0" y="0"/>
          <a:chExt cx="0" cy="0"/>
        </a:xfrm>
      </p:grpSpPr>
      <p:pic>
        <p:nvPicPr>
          <p:cNvPr id="35" name="Google Shape;35;p5"/>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36" name="Google Shape;36;p5"/>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37" name="Google Shape;37;p5"/>
          <p:cNvSpPr txBox="1"/>
          <p:nvPr/>
        </p:nvSpPr>
        <p:spPr>
          <a:xfrm>
            <a:off x="6366900" y="360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sp>
        <p:nvSpPr>
          <p:cNvPr id="38" name="Google Shape;38;p5"/>
          <p:cNvSpPr txBox="1"/>
          <p:nvPr>
            <p:ph idx="1" type="subTitle"/>
          </p:nvPr>
        </p:nvSpPr>
        <p:spPr>
          <a:xfrm>
            <a:off x="1463400" y="360000"/>
            <a:ext cx="4782600" cy="246300"/>
          </a:xfrm>
          <a:prstGeom prst="rect">
            <a:avLst/>
          </a:prstGeom>
          <a:ln>
            <a:noFill/>
          </a:ln>
        </p:spPr>
        <p:txBody>
          <a:bodyPr anchorCtr="0" anchor="t" bIns="0" lIns="0" spcFirstLastPara="1" rIns="0" wrap="square" tIns="0">
            <a:sp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pic>
        <p:nvPicPr>
          <p:cNvPr id="39" name="Google Shape;39;p5"/>
          <p:cNvPicPr preferRelativeResize="0"/>
          <p:nvPr/>
        </p:nvPicPr>
        <p:blipFill>
          <a:blip r:embed="rId3">
            <a:alphaModFix/>
          </a:blip>
          <a:stretch>
            <a:fillRect/>
          </a:stretch>
        </p:blipFill>
        <p:spPr>
          <a:xfrm>
            <a:off x="428300" y="324000"/>
            <a:ext cx="936000" cy="270612"/>
          </a:xfrm>
          <a:prstGeom prst="rect">
            <a:avLst/>
          </a:prstGeom>
          <a:noFill/>
          <a:ln>
            <a:noFill/>
          </a:ln>
        </p:spPr>
      </p:pic>
      <p:sp>
        <p:nvSpPr>
          <p:cNvPr id="40" name="Google Shape;40;p5"/>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41" name="Google Shape;41;p5"/>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42" name="Google Shape;42;p5"/>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2025</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43" name="Google Shape;43;p5"/>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44" name="Google Shape;44;p5"/>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 Single page worksheet">
  <p:cSld name="SECTION_HEADER_1_1_1_1_1_1_1_1_1_1_1_2_1_1_1_1_1_2_1">
    <p:bg>
      <p:bgPr>
        <a:solidFill>
          <a:schemeClr val="lt1"/>
        </a:solidFill>
      </p:bgPr>
    </p:bg>
    <p:spTree>
      <p:nvGrpSpPr>
        <p:cNvPr id="45" name="Shape 45"/>
        <p:cNvGrpSpPr/>
        <p:nvPr/>
      </p:nvGrpSpPr>
      <p:grpSpPr>
        <a:xfrm>
          <a:off x="0" y="0"/>
          <a:ext cx="0" cy="0"/>
          <a:chOff x="0" y="0"/>
          <a:chExt cx="0" cy="0"/>
        </a:xfrm>
      </p:grpSpPr>
      <p:pic>
        <p:nvPicPr>
          <p:cNvPr id="46" name="Google Shape;46;p6"/>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47" name="Google Shape;47;p6"/>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48" name="Google Shape;48;p6"/>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49" name="Google Shape;49;p6"/>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50" name="Google Shape;50;p6"/>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51" name="Google Shape;51;p6"/>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52" name="Google Shape;52;p6"/>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53" name="Google Shape;53;p6"/>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54" name="Google Shape;54;p6"/>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2025</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55" name="Google Shape;55;p6"/>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56" name="Google Shape;56;p6"/>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57" name="Google Shape;57;p6"/>
          <p:cNvPicPr preferRelativeResize="0"/>
          <p:nvPr/>
        </p:nvPicPr>
        <p:blipFill>
          <a:blip r:embed="rId7">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1 Single page worksheet with long title">
  <p:cSld name="SECTION_HEADER_1_1_1_1_1_1_1_1_1_1_1_2_1_1_1_1_1_1_1">
    <p:bg>
      <p:bgPr>
        <a:solidFill>
          <a:schemeClr val="lt1"/>
        </a:solidFill>
      </p:bgPr>
    </p:bg>
    <p:spTree>
      <p:nvGrpSpPr>
        <p:cNvPr id="58" name="Shape 58"/>
        <p:cNvGrpSpPr/>
        <p:nvPr/>
      </p:nvGrpSpPr>
      <p:grpSpPr>
        <a:xfrm>
          <a:off x="0" y="0"/>
          <a:ext cx="0" cy="0"/>
          <a:chOff x="0" y="0"/>
          <a:chExt cx="0" cy="0"/>
        </a:xfrm>
      </p:grpSpPr>
      <p:pic>
        <p:nvPicPr>
          <p:cNvPr id="59" name="Google Shape;59;p7"/>
          <p:cNvPicPr preferRelativeResize="0"/>
          <p:nvPr/>
        </p:nvPicPr>
        <p:blipFill>
          <a:blip r:embed="rId2">
            <a:alphaModFix/>
          </a:blip>
          <a:stretch>
            <a:fillRect/>
          </a:stretch>
        </p:blipFill>
        <p:spPr>
          <a:xfrm>
            <a:off x="6910937" y="9972010"/>
            <a:ext cx="181075" cy="246288"/>
          </a:xfrm>
          <a:prstGeom prst="rect">
            <a:avLst/>
          </a:prstGeom>
          <a:noFill/>
          <a:ln>
            <a:noFill/>
          </a:ln>
        </p:spPr>
      </p:pic>
      <p:sp>
        <p:nvSpPr>
          <p:cNvPr id="60" name="Google Shape;60;p7"/>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61" name="Google Shape;61;p7"/>
          <p:cNvSpPr txBox="1"/>
          <p:nvPr>
            <p:ph type="title"/>
          </p:nvPr>
        </p:nvSpPr>
        <p:spPr>
          <a:xfrm>
            <a:off x="468000" y="864000"/>
            <a:ext cx="66240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62" name="Google Shape;62;p7"/>
          <p:cNvPicPr preferRelativeResize="0"/>
          <p:nvPr/>
        </p:nvPicPr>
        <p:blipFill>
          <a:blip r:embed="rId3">
            <a:alphaModFix/>
          </a:blip>
          <a:stretch>
            <a:fillRect/>
          </a:stretch>
        </p:blipFill>
        <p:spPr>
          <a:xfrm>
            <a:off x="468000" y="1543153"/>
            <a:ext cx="6624000" cy="66240"/>
          </a:xfrm>
          <a:prstGeom prst="rect">
            <a:avLst/>
          </a:prstGeom>
          <a:noFill/>
          <a:ln>
            <a:noFill/>
          </a:ln>
        </p:spPr>
      </p:pic>
      <p:sp>
        <p:nvSpPr>
          <p:cNvPr id="63" name="Google Shape;63;p7"/>
          <p:cNvSpPr txBox="1"/>
          <p:nvPr/>
        </p:nvSpPr>
        <p:spPr>
          <a:xfrm>
            <a:off x="6189000" y="360000"/>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64" name="Google Shape;64;p7"/>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65" name="Google Shape;65;p7"/>
          <p:cNvSpPr txBox="1"/>
          <p:nvPr/>
        </p:nvSpPr>
        <p:spPr>
          <a:xfrm>
            <a:off x="554300" y="360000"/>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66" name="Google Shape;66;p7"/>
          <p:cNvSpPr txBox="1"/>
          <p:nvPr/>
        </p:nvSpPr>
        <p:spPr>
          <a:xfrm>
            <a:off x="468000" y="10152000"/>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67" name="Google Shape;67;p7"/>
          <p:cNvSpPr txBox="1"/>
          <p:nvPr/>
        </p:nvSpPr>
        <p:spPr>
          <a:xfrm>
            <a:off x="470550" y="9972000"/>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2025</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68" name="Google Shape;68;p7"/>
          <p:cNvSpPr txBox="1"/>
          <p:nvPr/>
        </p:nvSpPr>
        <p:spPr>
          <a:xfrm>
            <a:off x="3903375" y="9972000"/>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69" name="Google Shape;69;p7"/>
          <p:cNvSpPr txBox="1"/>
          <p:nvPr>
            <p:ph idx="1" type="subTitle"/>
          </p:nvPr>
        </p:nvSpPr>
        <p:spPr>
          <a:xfrm>
            <a:off x="3903375" y="9972000"/>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70" name="Google Shape;70;p7"/>
          <p:cNvPicPr preferRelativeResize="0"/>
          <p:nvPr/>
        </p:nvPicPr>
        <p:blipFill>
          <a:blip r:embed="rId7">
            <a:alphaModFix/>
          </a:blip>
          <a:stretch>
            <a:fillRect/>
          </a:stretch>
        </p:blipFill>
        <p:spPr>
          <a:xfrm>
            <a:off x="5722275" y="215694"/>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 Landscape title page">
  <p:cSld name="SECTION_HEADER_1_1_1_1_1_1_1_1_1_1_1_2_1_1_1_1_1_1_1_1_1_1">
    <p:bg>
      <p:bgPr>
        <a:solidFill>
          <a:schemeClr val="lt1"/>
        </a:solidFill>
      </p:bgPr>
    </p:bg>
    <p:spTree>
      <p:nvGrpSpPr>
        <p:cNvPr id="71" name="Shape 71"/>
        <p:cNvGrpSpPr/>
        <p:nvPr/>
      </p:nvGrpSpPr>
      <p:grpSpPr>
        <a:xfrm>
          <a:off x="0" y="0"/>
          <a:ext cx="0" cy="0"/>
          <a:chOff x="0" y="0"/>
          <a:chExt cx="0" cy="0"/>
        </a:xfrm>
      </p:grpSpPr>
      <p:pic>
        <p:nvPicPr>
          <p:cNvPr id="72" name="Google Shape;72;p8"/>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73" name="Google Shape;73;p8"/>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74" name="Google Shape;74;p8"/>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75" name="Google Shape;75;p8"/>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76" name="Google Shape;76;p8"/>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77" name="Google Shape;77;p8"/>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78" name="Google Shape;78;p8"/>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pic>
        <p:nvPicPr>
          <p:cNvPr id="79" name="Google Shape;79;p8"/>
          <p:cNvPicPr preferRelativeResize="0"/>
          <p:nvPr/>
        </p:nvPicPr>
        <p:blipFill>
          <a:blip r:embed="rId5">
            <a:alphaModFix/>
          </a:blip>
          <a:stretch>
            <a:fillRect/>
          </a:stretch>
        </p:blipFill>
        <p:spPr>
          <a:xfrm rot="-5400000">
            <a:off x="319775" y="1225719"/>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1 Landscape middle page">
  <p:cSld name="SECTION_HEADER_1_1_1_1_1_1_1_1_1_1_1_2_1_1_1_1_1_1_1_1_1_1_1_2">
    <p:bg>
      <p:bgPr>
        <a:solidFill>
          <a:schemeClr val="lt1"/>
        </a:solidFill>
      </p:bgPr>
    </p:bg>
    <p:spTree>
      <p:nvGrpSpPr>
        <p:cNvPr id="80" name="Shape 80"/>
        <p:cNvGrpSpPr/>
        <p:nvPr/>
      </p:nvGrpSpPr>
      <p:grpSpPr>
        <a:xfrm>
          <a:off x="0" y="0"/>
          <a:ext cx="0" cy="0"/>
          <a:chOff x="0" y="0"/>
          <a:chExt cx="0" cy="0"/>
        </a:xfrm>
      </p:grpSpPr>
      <p:pic>
        <p:nvPicPr>
          <p:cNvPr id="81" name="Google Shape;81;p9"/>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2" name="Google Shape;82;p9"/>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83" name="Google Shape;83;p9"/>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84" name="Google Shape;84;p9"/>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85" name="Google Shape;85;p9"/>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86" name="Google Shape;86;p9"/>
          <p:cNvSpPr txBox="1"/>
          <p:nvPr>
            <p:ph idx="1"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2 Landscape last page">
  <p:cSld name="SECTION_HEADER_1_1_1_1_1_1_1_1_1_1_1_2_1_1_1_1_1_1_1_1_1_1_1_1_1">
    <p:bg>
      <p:bgPr>
        <a:solidFill>
          <a:schemeClr val="lt1"/>
        </a:solidFill>
      </p:bgPr>
    </p:bg>
    <p:spTree>
      <p:nvGrpSpPr>
        <p:cNvPr id="87" name="Shape 87"/>
        <p:cNvGrpSpPr/>
        <p:nvPr/>
      </p:nvGrpSpPr>
      <p:grpSpPr>
        <a:xfrm>
          <a:off x="0" y="0"/>
          <a:ext cx="0" cy="0"/>
          <a:chOff x="0" y="0"/>
          <a:chExt cx="0" cy="0"/>
        </a:xfrm>
      </p:grpSpPr>
      <p:pic>
        <p:nvPicPr>
          <p:cNvPr id="88" name="Google Shape;88;p10"/>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89" name="Google Shape;89;p10"/>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90" name="Google Shape;90;p10"/>
          <p:cNvSpPr txBox="1"/>
          <p:nvPr/>
        </p:nvSpPr>
        <p:spPr>
          <a:xfrm rot="-5400000">
            <a:off x="174000" y="654000"/>
            <a:ext cx="726600" cy="1386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900">
                <a:solidFill>
                  <a:schemeClr val="dk1"/>
                </a:solidFill>
                <a:latin typeface="Lexend"/>
                <a:ea typeface="Lexend"/>
                <a:cs typeface="Lexend"/>
                <a:sym typeface="Lexend"/>
              </a:rPr>
              <a:t>Worksheet</a:t>
            </a:r>
            <a:endParaRPr b="1" sz="900">
              <a:solidFill>
                <a:schemeClr val="dk1"/>
              </a:solidFill>
              <a:latin typeface="Lexend"/>
              <a:ea typeface="Lexend"/>
              <a:cs typeface="Lexend"/>
              <a:sym typeface="Lexend"/>
            </a:endParaRPr>
          </a:p>
        </p:txBody>
      </p:sp>
      <p:pic>
        <p:nvPicPr>
          <p:cNvPr id="91" name="Google Shape;91;p10"/>
          <p:cNvPicPr preferRelativeResize="0"/>
          <p:nvPr/>
        </p:nvPicPr>
        <p:blipFill>
          <a:blip r:embed="rId3">
            <a:alphaModFix/>
          </a:blip>
          <a:stretch>
            <a:fillRect/>
          </a:stretch>
        </p:blipFill>
        <p:spPr>
          <a:xfrm rot="-5400000">
            <a:off x="103775" y="9769600"/>
            <a:ext cx="936000" cy="270612"/>
          </a:xfrm>
          <a:prstGeom prst="rect">
            <a:avLst/>
          </a:prstGeom>
          <a:noFill/>
          <a:ln>
            <a:noFill/>
          </a:ln>
        </p:spPr>
      </p:pic>
      <p:sp>
        <p:nvSpPr>
          <p:cNvPr id="92" name="Google Shape;92;p10"/>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93" name="Google Shape;93;p10"/>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4">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94" name="Google Shape;94;p10"/>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2025</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95" name="Google Shape;95;p10"/>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96" name="Google Shape;96;p10"/>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97" name="Google Shape;97;p10"/>
          <p:cNvSpPr txBox="1"/>
          <p:nvPr>
            <p:ph idx="2" type="subTitle"/>
          </p:nvPr>
        </p:nvSpPr>
        <p:spPr>
          <a:xfrm rot="-5400000">
            <a:off x="-3498000" y="5128425"/>
            <a:ext cx="8070600" cy="246300"/>
          </a:xfrm>
          <a:prstGeom prst="rect">
            <a:avLst/>
          </a:prstGeom>
          <a:ln>
            <a:noFill/>
          </a:ln>
        </p:spPr>
        <p:txBody>
          <a:bodyPr anchorCtr="0" anchor="ctr" bIns="0" lIns="0" spcFirstLastPara="1" rIns="0" wrap="square" tIns="0">
            <a:noAutofit/>
          </a:bodyPr>
          <a:lstStyle>
            <a:lvl1pPr lvl="0" rtl="0">
              <a:spcBef>
                <a:spcPts val="0"/>
              </a:spcBef>
              <a:spcAft>
                <a:spcPts val="0"/>
              </a:spcAft>
              <a:buSzPts val="900"/>
              <a:buFont typeface="Lexend"/>
              <a:buNone/>
              <a:defRPr sz="900">
                <a:latin typeface="Lexend"/>
                <a:ea typeface="Lexend"/>
                <a:cs typeface="Lexend"/>
                <a:sym typeface="Lexend"/>
              </a:defRPr>
            </a:lvl1pPr>
            <a:lvl2pPr lvl="1" rtl="0">
              <a:spcBef>
                <a:spcPts val="0"/>
              </a:spcBef>
              <a:spcAft>
                <a:spcPts val="0"/>
              </a:spcAft>
              <a:buSzPts val="1200"/>
              <a:buNone/>
              <a:defRPr sz="1200"/>
            </a:lvl2pPr>
            <a:lvl3pPr lvl="2" rtl="0">
              <a:spcBef>
                <a:spcPts val="0"/>
              </a:spcBef>
              <a:spcAft>
                <a:spcPts val="0"/>
              </a:spcAft>
              <a:buSzPts val="1200"/>
              <a:buNone/>
              <a:defRPr sz="1200"/>
            </a:lvl3pPr>
            <a:lvl4pPr lvl="3" rtl="0">
              <a:spcBef>
                <a:spcPts val="0"/>
              </a:spcBef>
              <a:spcAft>
                <a:spcPts val="0"/>
              </a:spcAft>
              <a:buSzPts val="1200"/>
              <a:buNone/>
              <a:defRPr sz="1200"/>
            </a:lvl4pPr>
            <a:lvl5pPr lvl="4" rtl="0">
              <a:spcBef>
                <a:spcPts val="0"/>
              </a:spcBef>
              <a:spcAft>
                <a:spcPts val="0"/>
              </a:spcAft>
              <a:buSzPts val="1200"/>
              <a:buNone/>
              <a:defRPr sz="1200"/>
            </a:lvl5pPr>
            <a:lvl6pPr lvl="5" rtl="0">
              <a:spcBef>
                <a:spcPts val="0"/>
              </a:spcBef>
              <a:spcAft>
                <a:spcPts val="0"/>
              </a:spcAft>
              <a:buSzPts val="1200"/>
              <a:buNone/>
              <a:defRPr sz="1200"/>
            </a:lvl6pPr>
            <a:lvl7pPr lvl="6" rtl="0">
              <a:spcBef>
                <a:spcPts val="0"/>
              </a:spcBef>
              <a:spcAft>
                <a:spcPts val="0"/>
              </a:spcAft>
              <a:buSzPts val="1200"/>
              <a:buNone/>
              <a:defRPr sz="1200"/>
            </a:lvl7pPr>
            <a:lvl8pPr lvl="7" rtl="0">
              <a:spcBef>
                <a:spcPts val="0"/>
              </a:spcBef>
              <a:spcAft>
                <a:spcPts val="0"/>
              </a:spcAft>
              <a:buSzPts val="1200"/>
              <a:buNone/>
              <a:defRPr sz="1200"/>
            </a:lvl8pPr>
            <a:lvl9pPr lvl="8" rtl="0">
              <a:spcBef>
                <a:spcPts val="0"/>
              </a:spcBef>
              <a:spcAft>
                <a:spcPts val="0"/>
              </a:spcAft>
              <a:buSzPts val="1200"/>
              <a:buNone/>
              <a:defRPr sz="1200"/>
            </a:lvl9pPr>
          </a:lstStyle>
          <a:p/>
        </p:txBody>
      </p:sp>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0 Landscape single page worksheet">
  <p:cSld name="SECTION_HEADER_1_1_1_1_1_1_1_1_1_1_1_2_1_1_1_1_1_1_1_1_1_1_2">
    <p:bg>
      <p:bgPr>
        <a:solidFill>
          <a:schemeClr val="lt1"/>
        </a:solidFill>
      </p:bgPr>
    </p:bg>
    <p:spTree>
      <p:nvGrpSpPr>
        <p:cNvPr id="98" name="Shape 98"/>
        <p:cNvGrpSpPr/>
        <p:nvPr/>
      </p:nvGrpSpPr>
      <p:grpSpPr>
        <a:xfrm>
          <a:off x="0" y="0"/>
          <a:ext cx="0" cy="0"/>
          <a:chOff x="0" y="0"/>
          <a:chExt cx="0" cy="0"/>
        </a:xfrm>
      </p:grpSpPr>
      <p:pic>
        <p:nvPicPr>
          <p:cNvPr id="99" name="Google Shape;99;p11"/>
          <p:cNvPicPr preferRelativeResize="0"/>
          <p:nvPr/>
        </p:nvPicPr>
        <p:blipFill>
          <a:blip r:embed="rId2">
            <a:alphaModFix/>
          </a:blip>
          <a:stretch>
            <a:fillRect/>
          </a:stretch>
        </p:blipFill>
        <p:spPr>
          <a:xfrm rot="-5400000">
            <a:off x="6801934" y="327400"/>
            <a:ext cx="181075" cy="246288"/>
          </a:xfrm>
          <a:prstGeom prst="rect">
            <a:avLst/>
          </a:prstGeom>
          <a:noFill/>
          <a:ln>
            <a:noFill/>
          </a:ln>
        </p:spPr>
      </p:pic>
      <p:sp>
        <p:nvSpPr>
          <p:cNvPr id="100" name="Google Shape;100;p11"/>
          <p:cNvSpPr txBox="1"/>
          <p:nvPr>
            <p:ph idx="12" type="sldNum"/>
          </p:nvPr>
        </p:nvSpPr>
        <p:spPr>
          <a:xfrm rot="-5400000">
            <a:off x="6666268" y="719443"/>
            <a:ext cx="483300" cy="277200"/>
          </a:xfrm>
          <a:prstGeom prst="rect">
            <a:avLst/>
          </a:prstGeom>
        </p:spPr>
        <p:txBody>
          <a:bodyPr anchorCtr="0" anchor="ctr" bIns="91425" lIns="91425" spcFirstLastPara="1" rIns="91425" wrap="square" tIns="91425">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indent="0" lvl="0" marL="0" rtl="0" algn="r">
              <a:spcBef>
                <a:spcPts val="0"/>
              </a:spcBef>
              <a:spcAft>
                <a:spcPts val="0"/>
              </a:spcAft>
              <a:buNone/>
            </a:pPr>
            <a:fld id="{00000000-1234-1234-1234-123412341234}" type="slidenum">
              <a:rPr lang="en-GB"/>
              <a:t>‹#›</a:t>
            </a:fld>
            <a:endParaRPr/>
          </a:p>
        </p:txBody>
      </p:sp>
      <p:sp>
        <p:nvSpPr>
          <p:cNvPr id="101" name="Google Shape;101;p11"/>
          <p:cNvSpPr txBox="1"/>
          <p:nvPr>
            <p:ph type="title"/>
          </p:nvPr>
        </p:nvSpPr>
        <p:spPr>
          <a:xfrm rot="-5400000">
            <a:off x="-3842125" y="5162095"/>
            <a:ext cx="9983700" cy="360000"/>
          </a:xfrm>
          <a:prstGeom prst="rect">
            <a:avLst/>
          </a:prstGeom>
        </p:spPr>
        <p:txBody>
          <a:bodyPr anchorCtr="0" anchor="ctr" bIns="0" lIns="0" spcFirstLastPara="1" rIns="0" wrap="square" tIns="0">
            <a:spAutoFit/>
          </a:bodyPr>
          <a:lstStyle>
            <a:lvl1pPr lvl="0" rtl="0">
              <a:spcBef>
                <a:spcPts val="0"/>
              </a:spcBef>
              <a:spcAft>
                <a:spcPts val="0"/>
              </a:spcAft>
              <a:buSzPts val="1800"/>
              <a:buNone/>
              <a:defRPr sz="1800"/>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02" name="Google Shape;102;p11"/>
          <p:cNvPicPr preferRelativeResize="0"/>
          <p:nvPr/>
        </p:nvPicPr>
        <p:blipFill>
          <a:blip r:embed="rId3">
            <a:alphaModFix/>
          </a:blip>
          <a:stretch>
            <a:fillRect/>
          </a:stretch>
        </p:blipFill>
        <p:spPr>
          <a:xfrm rot="-5400000">
            <a:off x="-3612750" y="5310727"/>
            <a:ext cx="9987174" cy="66225"/>
          </a:xfrm>
          <a:prstGeom prst="rect">
            <a:avLst/>
          </a:prstGeom>
          <a:noFill/>
          <a:ln>
            <a:noFill/>
          </a:ln>
        </p:spPr>
      </p:pic>
      <p:sp>
        <p:nvSpPr>
          <p:cNvPr id="103" name="Google Shape;103;p11"/>
          <p:cNvSpPr txBox="1"/>
          <p:nvPr/>
        </p:nvSpPr>
        <p:spPr>
          <a:xfrm rot="-5400000">
            <a:off x="104964" y="719111"/>
            <a:ext cx="903000" cy="184800"/>
          </a:xfrm>
          <a:prstGeom prst="rect">
            <a:avLst/>
          </a:prstGeom>
          <a:noFill/>
          <a:ln>
            <a:noFill/>
          </a:ln>
        </p:spPr>
        <p:txBody>
          <a:bodyPr anchorCtr="0" anchor="ctr" bIns="0" lIns="0" spcFirstLastPara="1" rIns="0" wrap="square" tIns="0">
            <a:spAutoFit/>
          </a:bodyPr>
          <a:lstStyle/>
          <a:p>
            <a:pPr indent="0" lvl="0" marL="0" rtl="0" algn="r">
              <a:spcBef>
                <a:spcPts val="0"/>
              </a:spcBef>
              <a:spcAft>
                <a:spcPts val="0"/>
              </a:spcAft>
              <a:buNone/>
            </a:pPr>
            <a:r>
              <a:rPr b="1" lang="en-GB" sz="1200">
                <a:solidFill>
                  <a:schemeClr val="dk1"/>
                </a:solidFill>
                <a:latin typeface="Lexend"/>
                <a:ea typeface="Lexend"/>
                <a:cs typeface="Lexend"/>
                <a:sym typeface="Lexend"/>
              </a:rPr>
              <a:t>Worksheet</a:t>
            </a:r>
            <a:endParaRPr b="1">
              <a:solidFill>
                <a:schemeClr val="dk1"/>
              </a:solidFill>
              <a:latin typeface="Lexend"/>
              <a:ea typeface="Lexend"/>
              <a:cs typeface="Lexend"/>
              <a:sym typeface="Lexend"/>
            </a:endParaRPr>
          </a:p>
        </p:txBody>
      </p:sp>
      <p:pic>
        <p:nvPicPr>
          <p:cNvPr id="104" name="Google Shape;104;p11"/>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05" name="Google Shape;105;p11"/>
          <p:cNvSpPr txBox="1"/>
          <p:nvPr/>
        </p:nvSpPr>
        <p:spPr>
          <a:xfrm rot="-5400000">
            <a:off x="183269" y="9772906"/>
            <a:ext cx="763200" cy="18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sz="1200">
                <a:solidFill>
                  <a:srgbClr val="FFFFFF"/>
                </a:solidFill>
                <a:latin typeface="Lexend"/>
                <a:ea typeface="Lexend"/>
                <a:cs typeface="Lexend"/>
                <a:sym typeface="Lexend"/>
              </a:rPr>
              <a:t>Answers</a:t>
            </a:r>
            <a:endParaRPr b="1" sz="1200">
              <a:solidFill>
                <a:srgbClr val="FFFFFF"/>
              </a:solidFill>
              <a:latin typeface="Lexend"/>
              <a:ea typeface="Lexend"/>
              <a:cs typeface="Lexend"/>
              <a:sym typeface="Lexend"/>
            </a:endParaRPr>
          </a:p>
        </p:txBody>
      </p:sp>
      <p:sp>
        <p:nvSpPr>
          <p:cNvPr id="106" name="Google Shape;106;p11"/>
          <p:cNvSpPr txBox="1"/>
          <p:nvPr/>
        </p:nvSpPr>
        <p:spPr>
          <a:xfrm rot="-5400000">
            <a:off x="3997613" y="7219188"/>
            <a:ext cx="6064500" cy="161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lang="en-GB" sz="900">
                <a:solidFill>
                  <a:schemeClr val="dk1"/>
                </a:solidFill>
                <a:latin typeface="Lexend Light"/>
                <a:ea typeface="Lexend Light"/>
                <a:cs typeface="Lexend Light"/>
                <a:sym typeface="Lexend Light"/>
              </a:rPr>
              <a:t>Licensed on the </a:t>
            </a:r>
            <a:r>
              <a:rPr lang="en-GB" sz="900" u="sng">
                <a:solidFill>
                  <a:schemeClr val="dk1"/>
                </a:solidFill>
                <a:latin typeface="Lexend Light"/>
                <a:ea typeface="Lexend Light"/>
                <a:cs typeface="Lexend Light"/>
                <a:sym typeface="Lexend Light"/>
                <a:hlinkClick r:id="rId5">
                  <a:extLst>
                    <a:ext uri="{A12FA001-AC4F-418D-AE19-62706E023703}">
                      <ahyp:hlinkClr val="tx"/>
                    </a:ext>
                  </a:extLst>
                </a:hlinkClick>
              </a:rPr>
              <a:t>Open Government Licence v3.0</a:t>
            </a:r>
            <a:r>
              <a:rPr lang="en-GB" sz="900">
                <a:solidFill>
                  <a:schemeClr val="dk1"/>
                </a:solidFill>
                <a:latin typeface="Lexend Light"/>
                <a:ea typeface="Lexend Light"/>
                <a:cs typeface="Lexend Light"/>
                <a:sym typeface="Lexend Light"/>
              </a:rPr>
              <a:t>, except where otherwise stated. See </a:t>
            </a:r>
            <a:r>
              <a:rPr lang="en-GB" sz="900" u="sng">
                <a:solidFill>
                  <a:schemeClr val="dk1"/>
                </a:solidFill>
                <a:latin typeface="Lexend Light"/>
                <a:ea typeface="Lexend Light"/>
                <a:cs typeface="Lexend Light"/>
                <a:sym typeface="Lexend Light"/>
                <a:hlinkClick r:id="rId6">
                  <a:extLst>
                    <a:ext uri="{A12FA001-AC4F-418D-AE19-62706E023703}">
                      <ahyp:hlinkClr val="tx"/>
                    </a:ext>
                  </a:extLst>
                </a:hlinkClick>
              </a:rPr>
              <a:t>Oak terms &amp; conditions</a:t>
            </a:r>
            <a:r>
              <a:rPr lang="en-GB" sz="900">
                <a:solidFill>
                  <a:schemeClr val="dk1"/>
                </a:solidFill>
                <a:latin typeface="Lexend Light"/>
                <a:ea typeface="Lexend Light"/>
                <a:cs typeface="Lexend Light"/>
                <a:sym typeface="Lexend Light"/>
              </a:rPr>
              <a:t>.</a:t>
            </a:r>
            <a:endParaRPr sz="900">
              <a:solidFill>
                <a:schemeClr val="dk1"/>
              </a:solidFill>
              <a:latin typeface="Lexend Light"/>
              <a:ea typeface="Lexend Light"/>
              <a:cs typeface="Lexend Light"/>
              <a:sym typeface="Lexend Light"/>
            </a:endParaRPr>
          </a:p>
        </p:txBody>
      </p:sp>
      <p:sp>
        <p:nvSpPr>
          <p:cNvPr id="107" name="Google Shape;107;p11"/>
          <p:cNvSpPr txBox="1"/>
          <p:nvPr/>
        </p:nvSpPr>
        <p:spPr>
          <a:xfrm rot="-5400000">
            <a:off x="5092013" y="8491038"/>
            <a:ext cx="35157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Clr>
                <a:srgbClr val="000000"/>
              </a:buClr>
              <a:buSzPts val="1100"/>
              <a:buFont typeface="Arial"/>
              <a:buNone/>
            </a:pPr>
            <a:r>
              <a:rPr b="1" lang="en-GB" sz="900">
                <a:solidFill>
                  <a:schemeClr val="dk1"/>
                </a:solidFill>
                <a:latin typeface="Lexend"/>
                <a:ea typeface="Lexend"/>
                <a:cs typeface="Lexend"/>
                <a:sym typeface="Lexend"/>
              </a:rPr>
              <a:t>© Oak National Academy 2025</a:t>
            </a:r>
            <a:r>
              <a:rPr lang="en-GB" sz="900">
                <a:solidFill>
                  <a:schemeClr val="dk1"/>
                </a:solidFill>
                <a:latin typeface="Lexend Light"/>
                <a:ea typeface="Lexend Light"/>
                <a:cs typeface="Lexend Light"/>
                <a:sym typeface="Lexend Light"/>
              </a:rPr>
              <a:t>. Produced in partnership with</a:t>
            </a:r>
            <a:endParaRPr sz="900">
              <a:solidFill>
                <a:schemeClr val="dk1"/>
              </a:solidFill>
              <a:latin typeface="Lexend Light"/>
              <a:ea typeface="Lexend Light"/>
              <a:cs typeface="Lexend Light"/>
              <a:sym typeface="Lexend Light"/>
            </a:endParaRPr>
          </a:p>
        </p:txBody>
      </p:sp>
      <p:sp>
        <p:nvSpPr>
          <p:cNvPr id="108" name="Google Shape;108;p11"/>
          <p:cNvSpPr txBox="1"/>
          <p:nvPr/>
        </p:nvSpPr>
        <p:spPr>
          <a:xfrm rot="-5400000">
            <a:off x="5488463" y="5454663"/>
            <a:ext cx="2722800" cy="161100"/>
          </a:xfrm>
          <a:prstGeom prst="rect">
            <a:avLst/>
          </a:prstGeom>
          <a:noFill/>
          <a:ln>
            <a:noFill/>
          </a:ln>
        </p:spPr>
        <p:txBody>
          <a:bodyPr anchorCtr="0" anchor="b" bIns="0" lIns="0" spcFirstLastPara="1" rIns="0" wrap="square" tIns="0">
            <a:noAutofit/>
          </a:bodyPr>
          <a:lstStyle/>
          <a:p>
            <a:pPr indent="0" lvl="0" marL="0" rtl="0" algn="l">
              <a:lnSpc>
                <a:spcPct val="115000"/>
              </a:lnSpc>
              <a:spcBef>
                <a:spcPts val="0"/>
              </a:spcBef>
              <a:spcAft>
                <a:spcPts val="0"/>
              </a:spcAft>
              <a:buNone/>
            </a:pPr>
            <a:r>
              <a:t/>
            </a:r>
            <a:endParaRPr sz="900">
              <a:solidFill>
                <a:schemeClr val="dk1"/>
              </a:solidFill>
              <a:latin typeface="Lexend Light"/>
              <a:ea typeface="Lexend Light"/>
              <a:cs typeface="Lexend Light"/>
              <a:sym typeface="Lexend Light"/>
            </a:endParaRPr>
          </a:p>
        </p:txBody>
      </p:sp>
      <p:sp>
        <p:nvSpPr>
          <p:cNvPr id="109" name="Google Shape;109;p11"/>
          <p:cNvSpPr txBox="1"/>
          <p:nvPr>
            <p:ph idx="1" type="subTitle"/>
          </p:nvPr>
        </p:nvSpPr>
        <p:spPr>
          <a:xfrm rot="-5400000">
            <a:off x="5488463" y="5454663"/>
            <a:ext cx="2722800" cy="161100"/>
          </a:xfrm>
          <a:prstGeom prst="rect">
            <a:avLst/>
          </a:prstGeom>
        </p:spPr>
        <p:txBody>
          <a:bodyPr anchorCtr="0" anchor="b" bIns="0" lIns="0" spcFirstLastPara="1" rIns="0" wrap="square" tIns="0">
            <a:normAutofit/>
          </a:bodyPr>
          <a:lstStyle>
            <a:lvl1pPr lvl="0" rtl="0">
              <a:spcBef>
                <a:spcPts val="0"/>
              </a:spcBef>
              <a:spcAft>
                <a:spcPts val="0"/>
              </a:spcAft>
              <a:buSzPts val="900"/>
              <a:buFont typeface="Lexend Light"/>
              <a:buNone/>
              <a:defRPr sz="900">
                <a:latin typeface="Lexend Light"/>
                <a:ea typeface="Lexend Light"/>
                <a:cs typeface="Lexend Light"/>
                <a:sym typeface="Lexend Light"/>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10" name="Google Shape;110;p11"/>
          <p:cNvPicPr preferRelativeResize="0"/>
          <p:nvPr/>
        </p:nvPicPr>
        <p:blipFill>
          <a:blip r:embed="rId7">
            <a:alphaModFix/>
          </a:blip>
          <a:stretch>
            <a:fillRect/>
          </a:stretch>
        </p:blipFill>
        <p:spPr>
          <a:xfrm rot="-5400000">
            <a:off x="319775" y="1225719"/>
            <a:ext cx="504000" cy="504000"/>
          </a:xfrm>
          <a:prstGeom prst="rect">
            <a:avLst/>
          </a:prstGeom>
          <a:noFill/>
          <a:ln>
            <a:noFill/>
          </a:ln>
        </p:spPr>
      </p:pic>
    </p:spTree>
  </p:cSld>
  <p:clrMapOvr>
    <a:masterClrMapping/>
  </p:clrMapOvr>
  <p:extLst>
    <p:ext uri="{DCECCB84-F9BA-43D5-87BE-67443E8EF086}">
      <p15:sldGuideLst>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1.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7705" y="925091"/>
            <a:ext cx="70446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200"/>
              <a:buFont typeface="Lexend"/>
              <a:buNone/>
              <a:defRPr b="1" i="0" sz="2200" u="none" cap="none" strike="noStrike">
                <a:solidFill>
                  <a:schemeClr val="dk1"/>
                </a:solidFill>
                <a:latin typeface="Lexend"/>
                <a:ea typeface="Lexend"/>
                <a:cs typeface="Lexend"/>
                <a:sym typeface="Lexend"/>
              </a:defRPr>
            </a:lvl1pPr>
            <a:lvl2pPr lvl="1"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2pPr>
            <a:lvl3pPr lvl="2"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3pPr>
            <a:lvl4pPr lvl="3"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4pPr>
            <a:lvl5pPr lvl="4"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5pPr>
            <a:lvl6pPr lvl="5"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6pPr>
            <a:lvl7pPr lvl="6"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7pPr>
            <a:lvl8pPr lvl="7"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8pPr>
            <a:lvl9pPr lvl="8" marR="0" rtl="0" algn="l">
              <a:lnSpc>
                <a:spcPct val="100000"/>
              </a:lnSpc>
              <a:spcBef>
                <a:spcPts val="0"/>
              </a:spcBef>
              <a:spcAft>
                <a:spcPts val="0"/>
              </a:spcAft>
              <a:buClr>
                <a:schemeClr val="dk1"/>
              </a:buClr>
              <a:buSzPts val="2800"/>
              <a:buFont typeface="Lexend"/>
              <a:buNone/>
              <a:defRPr i="0" sz="2800" u="none" cap="none" strike="noStrike">
                <a:solidFill>
                  <a:schemeClr val="dk1"/>
                </a:solidFill>
                <a:latin typeface="Lexend"/>
                <a:ea typeface="Lexend"/>
                <a:cs typeface="Lexend"/>
                <a:sym typeface="Lexend"/>
              </a:defRPr>
            </a:lvl9pPr>
          </a:lstStyle>
          <a:p/>
        </p:txBody>
      </p:sp>
      <p:sp>
        <p:nvSpPr>
          <p:cNvPr id="7" name="Google Shape;7;p1"/>
          <p:cNvSpPr txBox="1"/>
          <p:nvPr>
            <p:ph idx="1" type="body"/>
          </p:nvPr>
        </p:nvSpPr>
        <p:spPr>
          <a:xfrm>
            <a:off x="257705" y="2395696"/>
            <a:ext cx="7044600" cy="7101900"/>
          </a:xfrm>
          <a:prstGeom prst="rect">
            <a:avLst/>
          </a:prstGeom>
          <a:noFill/>
          <a:ln>
            <a:noFill/>
          </a:ln>
        </p:spPr>
        <p:txBody>
          <a:bodyPr anchorCtr="0" anchor="t" bIns="0" lIns="0" spcFirstLastPara="1" rIns="0" wrap="square" tIns="0">
            <a:normAutofit/>
          </a:bodyPr>
          <a:lstStyle>
            <a:lvl1pPr indent="-342900" lvl="0" marL="457200" marR="0" rtl="0" algn="l">
              <a:lnSpc>
                <a:spcPct val="115000"/>
              </a:lnSpc>
              <a:spcBef>
                <a:spcPts val="0"/>
              </a:spcBef>
              <a:spcAft>
                <a:spcPts val="0"/>
              </a:spcAft>
              <a:buClr>
                <a:schemeClr val="dk1"/>
              </a:buClr>
              <a:buSzPts val="1800"/>
              <a:buFont typeface="Lexend"/>
              <a:buChar char="●"/>
              <a:defRPr i="0" sz="1800" u="none" cap="none" strike="noStrike">
                <a:solidFill>
                  <a:schemeClr val="dk1"/>
                </a:solidFill>
                <a:latin typeface="Lexend"/>
                <a:ea typeface="Lexend"/>
                <a:cs typeface="Lexend"/>
                <a:sym typeface="Lexend"/>
              </a:defRPr>
            </a:lvl1pPr>
            <a:lvl2pPr indent="-317500" lvl="1" marL="914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2pPr>
            <a:lvl3pPr indent="-317500" lvl="2" marL="1371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3pPr>
            <a:lvl4pPr indent="-317500" lvl="3" marL="18288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4pPr>
            <a:lvl5pPr indent="-317500" lvl="4" marL="22860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5pPr>
            <a:lvl6pPr indent="-317500" lvl="5" marL="27432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6pPr>
            <a:lvl7pPr indent="-317500" lvl="6" marL="32004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7pPr>
            <a:lvl8pPr indent="-317500" lvl="7" marL="3657600" marR="0" rtl="0" algn="l">
              <a:lnSpc>
                <a:spcPct val="115000"/>
              </a:lnSpc>
              <a:spcBef>
                <a:spcPts val="0"/>
              </a:spcBef>
              <a:spcAft>
                <a:spcPts val="0"/>
              </a:spcAft>
              <a:buClr>
                <a:schemeClr val="dk1"/>
              </a:buClr>
              <a:buSzPts val="1400"/>
              <a:buFont typeface="Lexend"/>
              <a:buChar char="○"/>
              <a:defRPr i="0" sz="1400" u="none" cap="none" strike="noStrike">
                <a:solidFill>
                  <a:schemeClr val="dk1"/>
                </a:solidFill>
                <a:latin typeface="Lexend"/>
                <a:ea typeface="Lexend"/>
                <a:cs typeface="Lexend"/>
                <a:sym typeface="Lexend"/>
              </a:defRPr>
            </a:lvl8pPr>
            <a:lvl9pPr indent="-317500" lvl="8" marL="4114800" marR="0" rtl="0" algn="l">
              <a:lnSpc>
                <a:spcPct val="115000"/>
              </a:lnSpc>
              <a:spcBef>
                <a:spcPts val="0"/>
              </a:spcBef>
              <a:spcAft>
                <a:spcPts val="0"/>
              </a:spcAft>
              <a:buClr>
                <a:schemeClr val="dk1"/>
              </a:buClr>
              <a:buSzPts val="1400"/>
              <a:buFont typeface="Kalam"/>
              <a:buChar char="■"/>
              <a:defRPr i="0" sz="1400" u="none" cap="none" strike="noStrike">
                <a:solidFill>
                  <a:schemeClr val="dk1"/>
                </a:solidFill>
                <a:latin typeface="Kalam"/>
                <a:ea typeface="Kalam"/>
                <a:cs typeface="Kalam"/>
                <a:sym typeface="Kalam"/>
              </a:defRPr>
            </a:lvl9pPr>
          </a:lstStyle>
          <a:p/>
        </p:txBody>
      </p:sp>
      <p:sp>
        <p:nvSpPr>
          <p:cNvPr id="8" name="Google Shape;8;p1"/>
          <p:cNvSpPr txBox="1"/>
          <p:nvPr>
            <p:ph idx="12" type="sldNum"/>
          </p:nvPr>
        </p:nvSpPr>
        <p:spPr>
          <a:xfrm>
            <a:off x="7004788" y="9693616"/>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dk1"/>
                </a:solidFill>
                <a:latin typeface="Lexend"/>
                <a:ea typeface="Lexend"/>
                <a:cs typeface="Lexend"/>
                <a:sym typeface="Lexend"/>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2"/>
          <p:cNvSpPr txBox="1"/>
          <p:nvPr>
            <p:ph type="title"/>
          </p:nvPr>
        </p:nvSpPr>
        <p:spPr>
          <a:xfrm>
            <a:off x="468000" y="864000"/>
            <a:ext cx="6624000" cy="2772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GB"/>
              <a:t>Using the fx-991CW for statistics</a:t>
            </a:r>
            <a:endParaRPr/>
          </a:p>
        </p:txBody>
      </p:sp>
      <p:sp>
        <p:nvSpPr>
          <p:cNvPr id="116" name="Google Shape;116;p12"/>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17" name="Google Shape;117;p12"/>
          <p:cNvSpPr txBox="1"/>
          <p:nvPr/>
        </p:nvSpPr>
        <p:spPr>
          <a:xfrm>
            <a:off x="468000" y="1398675"/>
            <a:ext cx="6866700" cy="215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a:solidFill>
                  <a:srgbClr val="222222"/>
                </a:solidFill>
                <a:latin typeface="Lexend"/>
                <a:ea typeface="Lexend"/>
                <a:cs typeface="Lexend"/>
                <a:sym typeface="Lexend"/>
              </a:rPr>
              <a:t>Task A: Finding the mean from a frequency table</a:t>
            </a:r>
            <a:endParaRPr b="1">
              <a:solidFill>
                <a:srgbClr val="222222"/>
              </a:solidFill>
              <a:latin typeface="Lexend"/>
              <a:ea typeface="Lexend"/>
              <a:cs typeface="Lexend"/>
              <a:sym typeface="Lexend"/>
            </a:endParaRPr>
          </a:p>
        </p:txBody>
      </p:sp>
      <p:sp>
        <p:nvSpPr>
          <p:cNvPr id="118" name="Google Shape;118;p12"/>
          <p:cNvSpPr txBox="1"/>
          <p:nvPr/>
        </p:nvSpPr>
        <p:spPr>
          <a:xfrm>
            <a:off x="468000" y="1757200"/>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1) This frequency table shows the number of goals scored in each match by all the teams in a club over one football season.</a:t>
            </a:r>
            <a:endParaRPr sz="1200">
              <a:solidFill>
                <a:srgbClr val="222222"/>
              </a:solidFill>
              <a:latin typeface="Lexend"/>
              <a:ea typeface="Lexend"/>
              <a:cs typeface="Lexend"/>
              <a:sym typeface="Lexend"/>
            </a:endParaRPr>
          </a:p>
        </p:txBody>
      </p:sp>
      <p:graphicFrame>
        <p:nvGraphicFramePr>
          <p:cNvPr id="119" name="Google Shape;119;p12"/>
          <p:cNvGraphicFramePr/>
          <p:nvPr/>
        </p:nvGraphicFramePr>
        <p:xfrm>
          <a:off x="468008" y="2341300"/>
          <a:ext cx="3000000" cy="3000000"/>
        </p:xfrm>
        <a:graphic>
          <a:graphicData uri="http://schemas.openxmlformats.org/drawingml/2006/table">
            <a:tbl>
              <a:tblPr>
                <a:noFill/>
                <a:tableStyleId>{D6602FE5-DC19-452A-BE8D-617C6F2ACEAE}</a:tableStyleId>
              </a:tblPr>
              <a:tblGrid>
                <a:gridCol w="1261700"/>
                <a:gridCol w="1071100"/>
              </a:tblGrid>
              <a:tr h="319625">
                <a:tc>
                  <a:txBody>
                    <a:bodyPr/>
                    <a:lstStyle/>
                    <a:p>
                      <a:pPr indent="0" lvl="0" marL="0" rtl="0" algn="ctr">
                        <a:spcBef>
                          <a:spcPts val="0"/>
                        </a:spcBef>
                        <a:spcAft>
                          <a:spcPts val="0"/>
                        </a:spcAft>
                        <a:buNone/>
                      </a:pPr>
                      <a:r>
                        <a:rPr b="1" lang="en-GB" sz="1200">
                          <a:solidFill>
                            <a:srgbClr val="222222"/>
                          </a:solidFill>
                          <a:latin typeface="Lexend"/>
                          <a:ea typeface="Lexend"/>
                          <a:cs typeface="Lexend"/>
                          <a:sym typeface="Lexend"/>
                        </a:rPr>
                        <a:t>Goals scored</a:t>
                      </a:r>
                      <a:endParaRPr b="1" sz="1200">
                        <a:solidFill>
                          <a:srgbClr val="222222"/>
                        </a:solidFill>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b="1" lang="en-GB" sz="1200">
                          <a:solidFill>
                            <a:srgbClr val="222222"/>
                          </a:solidFill>
                          <a:latin typeface="Lexend"/>
                          <a:ea typeface="Lexend"/>
                          <a:cs typeface="Lexend"/>
                          <a:sym typeface="Lexend"/>
                        </a:rPr>
                        <a:t>Frequency</a:t>
                      </a:r>
                      <a:endParaRPr b="1" sz="1200">
                        <a:solidFill>
                          <a:srgbClr val="222222"/>
                        </a:solidFill>
                        <a:latin typeface="Lexend"/>
                        <a:ea typeface="Lexend"/>
                        <a:cs typeface="Lexend"/>
                        <a:sym typeface="Lexend"/>
                      </a:endParaRPr>
                    </a:p>
                  </a:txBody>
                  <a:tcPr marT="91425" marB="91425" marR="91425" marL="91425"/>
                </a:tc>
              </a:tr>
              <a:tr h="319625">
                <a:tc>
                  <a:txBody>
                    <a:bodyPr/>
                    <a:lstStyle/>
                    <a:p>
                      <a:pPr indent="0" lvl="0" marL="0" rtl="0" algn="ctr">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19</a:t>
                      </a:r>
                      <a:endParaRPr sz="1200">
                        <a:latin typeface="Lexend"/>
                        <a:ea typeface="Lexend"/>
                        <a:cs typeface="Lexend"/>
                        <a:sym typeface="Lexend"/>
                      </a:endParaRPr>
                    </a:p>
                  </a:txBody>
                  <a:tcPr marT="91425" marB="91425" marR="91425" marL="91425"/>
                </a:tc>
              </a:tr>
              <a:tr h="319625">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34</a:t>
                      </a:r>
                      <a:endParaRPr sz="1200">
                        <a:latin typeface="Lexend"/>
                        <a:ea typeface="Lexend"/>
                        <a:cs typeface="Lexend"/>
                        <a:sym typeface="Lexend"/>
                      </a:endParaRPr>
                    </a:p>
                  </a:txBody>
                  <a:tcPr marT="91425" marB="91425" marR="91425" marL="91425"/>
                </a:tc>
              </a:tr>
              <a:tr h="319625">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21</a:t>
                      </a:r>
                      <a:endParaRPr sz="1200">
                        <a:latin typeface="Lexend"/>
                        <a:ea typeface="Lexend"/>
                        <a:cs typeface="Lexend"/>
                        <a:sym typeface="Lexend"/>
                      </a:endParaRPr>
                    </a:p>
                  </a:txBody>
                  <a:tcPr marT="91425" marB="91425" marR="91425" marL="91425"/>
                </a:tc>
              </a:tr>
              <a:tr h="319625">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91425" marB="91425" marR="91425" marL="91425"/>
                </a:tc>
              </a:tr>
              <a:tr h="319625">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11</a:t>
                      </a:r>
                      <a:endParaRPr sz="1200">
                        <a:latin typeface="Lexend"/>
                        <a:ea typeface="Lexend"/>
                        <a:cs typeface="Lexend"/>
                        <a:sym typeface="Lexend"/>
                      </a:endParaRPr>
                    </a:p>
                  </a:txBody>
                  <a:tcPr marT="91425" marB="91425" marR="91425" marL="91425"/>
                </a:tc>
              </a:tr>
            </a:tbl>
          </a:graphicData>
        </a:graphic>
      </p:graphicFrame>
      <p:sp>
        <p:nvSpPr>
          <p:cNvPr id="120" name="Google Shape;120;p12"/>
          <p:cNvSpPr txBox="1"/>
          <p:nvPr/>
        </p:nvSpPr>
        <p:spPr>
          <a:xfrm>
            <a:off x="2947200" y="2341300"/>
            <a:ext cx="4144800" cy="700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What was the mean number of goals scored?</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Kalam"/>
                <a:ea typeface="Kalam"/>
                <a:cs typeface="Kalam"/>
                <a:sym typeface="Kalam"/>
              </a:rPr>
              <a:t>1.65 goals (which rounds to 2)</a:t>
            </a:r>
            <a:r>
              <a:rPr lang="en-GB" sz="1200">
                <a:solidFill>
                  <a:srgbClr val="222222"/>
                </a:solidFill>
                <a:latin typeface="Lexend"/>
                <a:ea typeface="Lexend"/>
                <a:cs typeface="Lexend"/>
                <a:sym typeface="Lexend"/>
              </a:rPr>
              <a:t>  </a:t>
            </a:r>
            <a:endParaRPr sz="1200">
              <a:solidFill>
                <a:srgbClr val="222222"/>
              </a:solidFill>
              <a:latin typeface="Lexend"/>
              <a:ea typeface="Lexend"/>
              <a:cs typeface="Lexend"/>
              <a:sym typeface="Lexend"/>
            </a:endParaRPr>
          </a:p>
        </p:txBody>
      </p:sp>
      <p:graphicFrame>
        <p:nvGraphicFramePr>
          <p:cNvPr id="121" name="Google Shape;121;p12"/>
          <p:cNvGraphicFramePr/>
          <p:nvPr/>
        </p:nvGraphicFramePr>
        <p:xfrm>
          <a:off x="468000" y="5297125"/>
          <a:ext cx="3000000" cy="3000000"/>
        </p:xfrm>
        <a:graphic>
          <a:graphicData uri="http://schemas.openxmlformats.org/drawingml/2006/table">
            <a:tbl>
              <a:tblPr>
                <a:noFill/>
                <a:tableStyleId>{D6602FE5-DC19-452A-BE8D-617C6F2ACEAE}</a:tableStyleId>
              </a:tblPr>
              <a:tblGrid>
                <a:gridCol w="1261700"/>
                <a:gridCol w="1071100"/>
              </a:tblGrid>
              <a:tr h="293600">
                <a:tc>
                  <a:txBody>
                    <a:bodyPr/>
                    <a:lstStyle/>
                    <a:p>
                      <a:pPr indent="0" lvl="0" marL="0" rtl="0" algn="ctr">
                        <a:spcBef>
                          <a:spcPts val="0"/>
                        </a:spcBef>
                        <a:spcAft>
                          <a:spcPts val="0"/>
                        </a:spcAft>
                        <a:buNone/>
                      </a:pPr>
                      <a:r>
                        <a:rPr b="1" lang="en-GB" sz="1200">
                          <a:solidFill>
                            <a:srgbClr val="222222"/>
                          </a:solidFill>
                          <a:latin typeface="Lexend"/>
                          <a:ea typeface="Lexend"/>
                          <a:cs typeface="Lexend"/>
                          <a:sym typeface="Lexend"/>
                        </a:rPr>
                        <a:t>Star rating</a:t>
                      </a:r>
                      <a:endParaRPr b="1" sz="1200">
                        <a:solidFill>
                          <a:srgbClr val="222222"/>
                        </a:solidFill>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b="1" lang="en-GB" sz="1200">
                          <a:solidFill>
                            <a:srgbClr val="222222"/>
                          </a:solidFill>
                          <a:latin typeface="Lexend"/>
                          <a:ea typeface="Lexend"/>
                          <a:cs typeface="Lexend"/>
                          <a:sym typeface="Lexend"/>
                        </a:rPr>
                        <a:t>Frequency</a:t>
                      </a:r>
                      <a:endParaRPr b="1" sz="1200">
                        <a:solidFill>
                          <a:srgbClr val="222222"/>
                        </a:solidFill>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12</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18</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21</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38</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91425" marB="91425" marR="91425" marL="91425"/>
                </a:tc>
              </a:tr>
            </a:tbl>
          </a:graphicData>
        </a:graphic>
      </p:graphicFrame>
      <p:sp>
        <p:nvSpPr>
          <p:cNvPr id="122" name="Google Shape;122;p12"/>
          <p:cNvSpPr txBox="1"/>
          <p:nvPr/>
        </p:nvSpPr>
        <p:spPr>
          <a:xfrm>
            <a:off x="468000" y="4792500"/>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2) This frequency table shows the star rating received by a restaurant over its opening weekend.</a:t>
            </a:r>
            <a:endParaRPr sz="1200">
              <a:solidFill>
                <a:srgbClr val="222222"/>
              </a:solidFill>
              <a:latin typeface="Lexend"/>
              <a:ea typeface="Lexend"/>
              <a:cs typeface="Lexend"/>
              <a:sym typeface="Lexend"/>
            </a:endParaRPr>
          </a:p>
        </p:txBody>
      </p:sp>
      <p:sp>
        <p:nvSpPr>
          <p:cNvPr id="123" name="Google Shape;123;p12"/>
          <p:cNvSpPr txBox="1"/>
          <p:nvPr/>
        </p:nvSpPr>
        <p:spPr>
          <a:xfrm>
            <a:off x="2947350" y="5300400"/>
            <a:ext cx="4144800" cy="700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What was the mean star rating?</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Kalam"/>
                <a:ea typeface="Kalam"/>
                <a:cs typeface="Kalam"/>
                <a:sym typeface="Kalam"/>
              </a:rPr>
              <a:t>3.64… stars (which rounds to 4)</a:t>
            </a:r>
            <a:r>
              <a:rPr lang="en-GB" sz="1200">
                <a:solidFill>
                  <a:srgbClr val="222222"/>
                </a:solidFill>
                <a:latin typeface="Lexend"/>
                <a:ea typeface="Lexend"/>
                <a:cs typeface="Lexend"/>
                <a:sym typeface="Lexend"/>
              </a:rPr>
              <a:t> </a:t>
            </a:r>
            <a:endParaRPr sz="1200">
              <a:solidFill>
                <a:srgbClr val="222222"/>
              </a:solidFill>
              <a:latin typeface="Lexend"/>
              <a:ea typeface="Lexend"/>
              <a:cs typeface="Lexend"/>
              <a:sym typeface="Lexend"/>
            </a:endParaRPr>
          </a:p>
        </p:txBody>
      </p:sp>
      <p:sp>
        <p:nvSpPr>
          <p:cNvPr id="124" name="Google Shape;124;p12"/>
          <p:cNvSpPr txBox="1"/>
          <p:nvPr/>
        </p:nvSpPr>
        <p:spPr>
          <a:xfrm>
            <a:off x="468000" y="7598900"/>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3</a:t>
            </a:r>
            <a:r>
              <a:rPr lang="en-GB" sz="1200">
                <a:solidFill>
                  <a:srgbClr val="222222"/>
                </a:solidFill>
                <a:latin typeface="Lexend"/>
                <a:ea typeface="Lexend"/>
                <a:cs typeface="Lexend"/>
                <a:sym typeface="Lexend"/>
              </a:rPr>
              <a:t>) The frequency table shows the number of bedrooms in different houses within an area of a town.</a:t>
            </a:r>
            <a:endParaRPr sz="1200">
              <a:solidFill>
                <a:srgbClr val="222222"/>
              </a:solidFill>
              <a:latin typeface="Lexend"/>
              <a:ea typeface="Lexend"/>
              <a:cs typeface="Lexend"/>
              <a:sym typeface="Lexend"/>
            </a:endParaRPr>
          </a:p>
        </p:txBody>
      </p:sp>
      <p:sp>
        <p:nvSpPr>
          <p:cNvPr id="125" name="Google Shape;125;p12"/>
          <p:cNvSpPr txBox="1"/>
          <p:nvPr/>
        </p:nvSpPr>
        <p:spPr>
          <a:xfrm>
            <a:off x="2947200" y="8106800"/>
            <a:ext cx="41448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What is the mean number of bedrooms?</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Kalam"/>
                <a:ea typeface="Kalam"/>
                <a:cs typeface="Kalam"/>
                <a:sym typeface="Kalam"/>
              </a:rPr>
              <a:t>2.5 bedrooms (which rounds to 3)</a:t>
            </a:r>
            <a:r>
              <a:rPr lang="en-GB" sz="1200">
                <a:solidFill>
                  <a:srgbClr val="222222"/>
                </a:solidFill>
                <a:latin typeface="Lexend"/>
                <a:ea typeface="Lexend"/>
                <a:cs typeface="Lexend"/>
                <a:sym typeface="Lexend"/>
              </a:rPr>
              <a:t> </a:t>
            </a:r>
            <a:endParaRPr sz="1200">
              <a:solidFill>
                <a:srgbClr val="222222"/>
              </a:solidFill>
              <a:latin typeface="Lexend"/>
              <a:ea typeface="Lexend"/>
              <a:cs typeface="Lexend"/>
              <a:sym typeface="Lexend"/>
            </a:endParaRPr>
          </a:p>
        </p:txBody>
      </p:sp>
      <p:graphicFrame>
        <p:nvGraphicFramePr>
          <p:cNvPr id="126" name="Google Shape;126;p12"/>
          <p:cNvGraphicFramePr/>
          <p:nvPr/>
        </p:nvGraphicFramePr>
        <p:xfrm>
          <a:off x="468000" y="8103525"/>
          <a:ext cx="3000000" cy="3000000"/>
        </p:xfrm>
        <a:graphic>
          <a:graphicData uri="http://schemas.openxmlformats.org/drawingml/2006/table">
            <a:tbl>
              <a:tblPr>
                <a:noFill/>
                <a:tableStyleId>{D6602FE5-DC19-452A-BE8D-617C6F2ACEAE}</a:tableStyleId>
              </a:tblPr>
              <a:tblGrid>
                <a:gridCol w="1150050"/>
                <a:gridCol w="1182750"/>
              </a:tblGrid>
              <a:tr h="314050">
                <a:tc>
                  <a:txBody>
                    <a:bodyPr/>
                    <a:lstStyle/>
                    <a:p>
                      <a:pPr indent="0" lvl="0" marL="0" rtl="0" algn="ctr">
                        <a:spcBef>
                          <a:spcPts val="0"/>
                        </a:spcBef>
                        <a:spcAft>
                          <a:spcPts val="0"/>
                        </a:spcAft>
                        <a:buNone/>
                      </a:pPr>
                      <a:r>
                        <a:rPr b="1" lang="en-GB" sz="1200">
                          <a:solidFill>
                            <a:srgbClr val="222222"/>
                          </a:solidFill>
                          <a:latin typeface="Lexend"/>
                          <a:ea typeface="Lexend"/>
                          <a:cs typeface="Lexend"/>
                          <a:sym typeface="Lexend"/>
                        </a:rPr>
                        <a:t>Bedrooms</a:t>
                      </a:r>
                      <a:endParaRPr b="1" sz="1200">
                        <a:solidFill>
                          <a:srgbClr val="222222"/>
                        </a:solidFill>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b="1" lang="en-GB" sz="1200">
                          <a:solidFill>
                            <a:srgbClr val="222222"/>
                          </a:solidFill>
                          <a:latin typeface="Lexend"/>
                          <a:ea typeface="Lexend"/>
                          <a:cs typeface="Lexend"/>
                          <a:sym typeface="Lexend"/>
                        </a:rPr>
                        <a:t>Frequency</a:t>
                      </a:r>
                      <a:endParaRPr b="1" sz="1200">
                        <a:solidFill>
                          <a:srgbClr val="222222"/>
                        </a:solidFill>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93</a:t>
                      </a:r>
                      <a:endParaRPr sz="1200">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54</a:t>
                      </a:r>
                      <a:endParaRPr sz="1200">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33</a:t>
                      </a:r>
                      <a:endParaRPr sz="12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3"/>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32" name="Google Shape;132;p13"/>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the fx-991CW for statistics</a:t>
            </a:r>
            <a:endParaRPr/>
          </a:p>
        </p:txBody>
      </p:sp>
      <p:cxnSp>
        <p:nvCxnSpPr>
          <p:cNvPr id="133" name="Google Shape;133;p13"/>
          <p:cNvCxnSpPr/>
          <p:nvPr/>
        </p:nvCxnSpPr>
        <p:spPr>
          <a:xfrm>
            <a:off x="474751" y="3418813"/>
            <a:ext cx="6610500" cy="0"/>
          </a:xfrm>
          <a:prstGeom prst="straightConnector1">
            <a:avLst/>
          </a:prstGeom>
          <a:noFill/>
          <a:ln cap="flat" cmpd="sng" w="38100">
            <a:solidFill>
              <a:srgbClr val="000000"/>
            </a:solidFill>
            <a:prstDash val="solid"/>
            <a:round/>
            <a:headEnd len="med" w="med" type="none"/>
            <a:tailEnd len="med" w="med" type="none"/>
          </a:ln>
        </p:spPr>
      </p:cxnSp>
      <p:sp>
        <p:nvSpPr>
          <p:cNvPr id="134" name="Google Shape;134;p13"/>
          <p:cNvSpPr txBox="1"/>
          <p:nvPr/>
        </p:nvSpPr>
        <p:spPr>
          <a:xfrm>
            <a:off x="468000" y="720000"/>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4) The time it takes for a sample of pupils to travel to school is collected in this grouped frequency table.</a:t>
            </a:r>
            <a:endParaRPr sz="1200">
              <a:solidFill>
                <a:srgbClr val="222222"/>
              </a:solidFill>
              <a:latin typeface="Lexend"/>
              <a:ea typeface="Lexend"/>
              <a:cs typeface="Lexend"/>
              <a:sym typeface="Lexend"/>
            </a:endParaRPr>
          </a:p>
        </p:txBody>
      </p:sp>
      <p:sp>
        <p:nvSpPr>
          <p:cNvPr id="135" name="Google Shape;135;p13"/>
          <p:cNvSpPr txBox="1"/>
          <p:nvPr/>
        </p:nvSpPr>
        <p:spPr>
          <a:xfrm>
            <a:off x="3420000" y="1227900"/>
            <a:ext cx="3672000" cy="840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What is the estimated mean travel time (to the nearest minute)?</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Kalam"/>
                <a:ea typeface="Kalam"/>
                <a:cs typeface="Kalam"/>
                <a:sym typeface="Kalam"/>
              </a:rPr>
              <a:t>18 minutes</a:t>
            </a:r>
            <a:endParaRPr sz="1200">
              <a:solidFill>
                <a:srgbClr val="222222"/>
              </a:solidFill>
              <a:latin typeface="Kalam"/>
              <a:ea typeface="Kalam"/>
              <a:cs typeface="Kalam"/>
              <a:sym typeface="Kalam"/>
            </a:endParaRPr>
          </a:p>
        </p:txBody>
      </p:sp>
      <p:graphicFrame>
        <p:nvGraphicFramePr>
          <p:cNvPr id="136" name="Google Shape;136;p13"/>
          <p:cNvGraphicFramePr/>
          <p:nvPr/>
        </p:nvGraphicFramePr>
        <p:xfrm>
          <a:off x="467988" y="1224633"/>
          <a:ext cx="3000000" cy="3000000"/>
        </p:xfrm>
        <a:graphic>
          <a:graphicData uri="http://schemas.openxmlformats.org/drawingml/2006/table">
            <a:tbl>
              <a:tblPr>
                <a:noFill/>
                <a:tableStyleId>{74FD756B-2D49-4E1B-89BA-8A08007AE6B7}</a:tableStyleId>
              </a:tblPr>
              <a:tblGrid>
                <a:gridCol w="1737550"/>
                <a:gridCol w="920100"/>
              </a:tblGrid>
              <a:tr h="414575">
                <a:tc>
                  <a:txBody>
                    <a:bodyPr/>
                    <a:lstStyle/>
                    <a:p>
                      <a:pPr indent="0" lvl="0" marL="0" marR="0" rtl="0" algn="ctr">
                        <a:lnSpc>
                          <a:spcPct val="100000"/>
                        </a:lnSpc>
                        <a:spcBef>
                          <a:spcPts val="0"/>
                        </a:spcBef>
                        <a:spcAft>
                          <a:spcPts val="0"/>
                        </a:spcAft>
                        <a:buNone/>
                      </a:pPr>
                      <a:r>
                        <a:rPr b="1" lang="en-GB" sz="1200">
                          <a:solidFill>
                            <a:schemeClr val="dk1"/>
                          </a:solidFill>
                          <a:latin typeface="Lexend"/>
                          <a:ea typeface="Lexend"/>
                          <a:cs typeface="Lexend"/>
                          <a:sym typeface="Lexend"/>
                        </a:rPr>
                        <a:t>Time taken to travel to school (in minutes)</a:t>
                      </a:r>
                      <a:endParaRPr b="1" sz="1200">
                        <a:solidFill>
                          <a:schemeClr val="dk1"/>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GB" sz="1200">
                          <a:solidFill>
                            <a:schemeClr val="dk1"/>
                          </a:solidFill>
                          <a:latin typeface="Lexend"/>
                          <a:ea typeface="Lexend"/>
                          <a:cs typeface="Lexend"/>
                          <a:sym typeface="Lexend"/>
                        </a:rPr>
                        <a:t>Frequency</a:t>
                      </a:r>
                      <a:endParaRPr b="1" sz="1200">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rPr b="1" lang="en-GB" sz="1200">
                          <a:solidFill>
                            <a:schemeClr val="dk1"/>
                          </a:solidFill>
                          <a:latin typeface="Lexend"/>
                          <a:ea typeface="Lexend"/>
                          <a:cs typeface="Lexend"/>
                          <a:sym typeface="Lexend"/>
                        </a:rPr>
                        <a:t>(</a:t>
                      </a:r>
                      <a:r>
                        <a:rPr b="1" i="1" lang="en-GB" sz="1200">
                          <a:solidFill>
                            <a:schemeClr val="dk1"/>
                          </a:solidFill>
                          <a:latin typeface="Times New Roman"/>
                          <a:ea typeface="Times New Roman"/>
                          <a:cs typeface="Times New Roman"/>
                          <a:sym typeface="Times New Roman"/>
                        </a:rPr>
                        <a:t>f </a:t>
                      </a:r>
                      <a:r>
                        <a:rPr b="1" lang="en-GB" sz="1200">
                          <a:solidFill>
                            <a:schemeClr val="dk1"/>
                          </a:solidFill>
                          <a:latin typeface="Lexend"/>
                          <a:ea typeface="Lexend"/>
                          <a:cs typeface="Lexend"/>
                          <a:sym typeface="Lexend"/>
                        </a:rPr>
                        <a:t>)</a:t>
                      </a:r>
                      <a:endParaRPr b="1" sz="1200">
                        <a:solidFill>
                          <a:schemeClr val="dk1"/>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tcPr>
                </a:tc>
              </a:tr>
              <a:tr h="263825">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0 &lt; </a:t>
                      </a:r>
                      <a:r>
                        <a:rPr i="1" lang="en-GB" sz="1200">
                          <a:latin typeface="Times New Roman"/>
                          <a:ea typeface="Times New Roman"/>
                          <a:cs typeface="Times New Roman"/>
                          <a:sym typeface="Times New Roman"/>
                        </a:rPr>
                        <a:t>t</a:t>
                      </a:r>
                      <a:r>
                        <a:rPr lang="en-GB" sz="1200">
                          <a:latin typeface="Lexend"/>
                          <a:ea typeface="Lexend"/>
                          <a:cs typeface="Lexend"/>
                          <a:sym typeface="Lexend"/>
                        </a:rPr>
                        <a:t> ≤ 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28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63825">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4 &lt; </a:t>
                      </a:r>
                      <a:r>
                        <a:rPr i="1" lang="en-GB" sz="1200">
                          <a:solidFill>
                            <a:srgbClr val="000000"/>
                          </a:solidFill>
                          <a:latin typeface="Times New Roman"/>
                          <a:ea typeface="Times New Roman"/>
                          <a:cs typeface="Times New Roman"/>
                          <a:sym typeface="Times New Roman"/>
                        </a:rPr>
                        <a:t>t</a:t>
                      </a:r>
                      <a:r>
                        <a:rPr lang="en-GB" sz="1200">
                          <a:latin typeface="Lexend"/>
                          <a:ea typeface="Lexend"/>
                          <a:cs typeface="Lexend"/>
                          <a:sym typeface="Lexend"/>
                        </a:rPr>
                        <a:t> ≤ 10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63825">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10 &lt; </a:t>
                      </a:r>
                      <a:r>
                        <a:rPr i="1" lang="en-GB" sz="1200">
                          <a:solidFill>
                            <a:srgbClr val="000000"/>
                          </a:solidFill>
                          <a:latin typeface="Times New Roman"/>
                          <a:ea typeface="Times New Roman"/>
                          <a:cs typeface="Times New Roman"/>
                          <a:sym typeface="Times New Roman"/>
                        </a:rPr>
                        <a:t>t</a:t>
                      </a:r>
                      <a:r>
                        <a:rPr lang="en-GB" sz="1200">
                          <a:latin typeface="Lexend"/>
                          <a:ea typeface="Lexend"/>
                          <a:cs typeface="Lexend"/>
                          <a:sym typeface="Lexend"/>
                        </a:rPr>
                        <a:t> ≤ 16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63825">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16 &lt; </a:t>
                      </a:r>
                      <a:r>
                        <a:rPr i="1" lang="en-GB" sz="1200">
                          <a:solidFill>
                            <a:srgbClr val="000000"/>
                          </a:solidFill>
                          <a:latin typeface="Times New Roman"/>
                          <a:ea typeface="Times New Roman"/>
                          <a:cs typeface="Times New Roman"/>
                          <a:sym typeface="Times New Roman"/>
                        </a:rPr>
                        <a:t>t</a:t>
                      </a:r>
                      <a:r>
                        <a:rPr lang="en-GB" sz="1200">
                          <a:latin typeface="Lexend"/>
                          <a:ea typeface="Lexend"/>
                          <a:cs typeface="Lexend"/>
                          <a:sym typeface="Lexend"/>
                        </a:rPr>
                        <a:t> ≤ 26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52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63825">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26 &lt; </a:t>
                      </a:r>
                      <a:r>
                        <a:rPr i="1" lang="en-GB" sz="1200">
                          <a:solidFill>
                            <a:srgbClr val="000000"/>
                          </a:solidFill>
                          <a:latin typeface="Times New Roman"/>
                          <a:ea typeface="Times New Roman"/>
                          <a:cs typeface="Times New Roman"/>
                          <a:sym typeface="Times New Roman"/>
                        </a:rPr>
                        <a:t>t</a:t>
                      </a:r>
                      <a:r>
                        <a:rPr lang="en-GB" sz="1200">
                          <a:latin typeface="Lexend"/>
                          <a:ea typeface="Lexend"/>
                          <a:cs typeface="Lexend"/>
                          <a:sym typeface="Lexend"/>
                        </a:rPr>
                        <a:t> ≤ 40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63825">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40 &lt; </a:t>
                      </a:r>
                      <a:r>
                        <a:rPr i="1" lang="en-GB" sz="1200">
                          <a:solidFill>
                            <a:srgbClr val="000000"/>
                          </a:solidFill>
                          <a:latin typeface="Times New Roman"/>
                          <a:ea typeface="Times New Roman"/>
                          <a:cs typeface="Times New Roman"/>
                          <a:sym typeface="Times New Roman"/>
                        </a:rPr>
                        <a:t>t</a:t>
                      </a:r>
                      <a:r>
                        <a:rPr lang="en-GB" sz="1200">
                          <a:latin typeface="Lexend"/>
                          <a:ea typeface="Lexend"/>
                          <a:cs typeface="Lexend"/>
                          <a:sym typeface="Lexend"/>
                        </a:rPr>
                        <a:t> ≤ 60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13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37" name="Google Shape;137;p13"/>
          <p:cNvSpPr txBox="1"/>
          <p:nvPr/>
        </p:nvSpPr>
        <p:spPr>
          <a:xfrm>
            <a:off x="474750" y="3495965"/>
            <a:ext cx="6866700" cy="215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GB">
                <a:solidFill>
                  <a:srgbClr val="222222"/>
                </a:solidFill>
                <a:latin typeface="Lexend"/>
                <a:ea typeface="Lexend"/>
                <a:cs typeface="Lexend"/>
                <a:sym typeface="Lexend"/>
              </a:rPr>
              <a:t>Task B: Analysis</a:t>
            </a:r>
            <a:endParaRPr b="1">
              <a:solidFill>
                <a:srgbClr val="222222"/>
              </a:solidFill>
              <a:latin typeface="Lexend"/>
              <a:ea typeface="Lexend"/>
              <a:cs typeface="Lexend"/>
              <a:sym typeface="Lexend"/>
            </a:endParaRPr>
          </a:p>
        </p:txBody>
      </p:sp>
      <p:sp>
        <p:nvSpPr>
          <p:cNvPr id="138" name="Google Shape;138;p13"/>
          <p:cNvSpPr txBox="1"/>
          <p:nvPr/>
        </p:nvSpPr>
        <p:spPr>
          <a:xfrm>
            <a:off x="474750" y="3787565"/>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1) This frequency table shows the number of goals scored in each match by all the teams in a club over one football season.</a:t>
            </a:r>
            <a:endParaRPr sz="1200">
              <a:solidFill>
                <a:srgbClr val="222222"/>
              </a:solidFill>
              <a:latin typeface="Lexend"/>
              <a:ea typeface="Lexend"/>
              <a:cs typeface="Lexend"/>
              <a:sym typeface="Lexend"/>
            </a:endParaRPr>
          </a:p>
        </p:txBody>
      </p:sp>
      <p:graphicFrame>
        <p:nvGraphicFramePr>
          <p:cNvPr id="139" name="Google Shape;139;p13"/>
          <p:cNvGraphicFramePr/>
          <p:nvPr/>
        </p:nvGraphicFramePr>
        <p:xfrm>
          <a:off x="474758" y="4286190"/>
          <a:ext cx="3000000" cy="3000000"/>
        </p:xfrm>
        <a:graphic>
          <a:graphicData uri="http://schemas.openxmlformats.org/drawingml/2006/table">
            <a:tbl>
              <a:tblPr>
                <a:noFill/>
                <a:tableStyleId>{D6602FE5-DC19-452A-BE8D-617C6F2ACEAE}</a:tableStyleId>
              </a:tblPr>
              <a:tblGrid>
                <a:gridCol w="1261675"/>
                <a:gridCol w="1071125"/>
              </a:tblGrid>
              <a:tr h="320300">
                <a:tc>
                  <a:txBody>
                    <a:bodyPr/>
                    <a:lstStyle/>
                    <a:p>
                      <a:pPr indent="0" lvl="0" marL="0" rtl="0" algn="ctr">
                        <a:spcBef>
                          <a:spcPts val="0"/>
                        </a:spcBef>
                        <a:spcAft>
                          <a:spcPts val="0"/>
                        </a:spcAft>
                        <a:buNone/>
                      </a:pPr>
                      <a:r>
                        <a:rPr b="1" lang="en-GB" sz="1200">
                          <a:solidFill>
                            <a:srgbClr val="222222"/>
                          </a:solidFill>
                          <a:latin typeface="Lexend"/>
                          <a:ea typeface="Lexend"/>
                          <a:cs typeface="Lexend"/>
                          <a:sym typeface="Lexend"/>
                        </a:rPr>
                        <a:t>Goals scored</a:t>
                      </a:r>
                      <a:endParaRPr b="1" sz="1200">
                        <a:solidFill>
                          <a:srgbClr val="222222"/>
                        </a:solidFill>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b="1" lang="en-GB" sz="1200">
                          <a:solidFill>
                            <a:srgbClr val="222222"/>
                          </a:solidFill>
                          <a:latin typeface="Lexend"/>
                          <a:ea typeface="Lexend"/>
                          <a:cs typeface="Lexend"/>
                          <a:sym typeface="Lexend"/>
                        </a:rPr>
                        <a:t>Frequency</a:t>
                      </a:r>
                      <a:endParaRPr b="1" sz="1200">
                        <a:solidFill>
                          <a:srgbClr val="222222"/>
                        </a:solidFill>
                        <a:latin typeface="Lexend"/>
                        <a:ea typeface="Lexend"/>
                        <a:cs typeface="Lexend"/>
                        <a:sym typeface="Lexend"/>
                      </a:endParaRPr>
                    </a:p>
                  </a:txBody>
                  <a:tcPr marT="91425" marB="91425" marR="91425" marL="91425"/>
                </a:tc>
              </a:tr>
              <a:tr h="317900">
                <a:tc>
                  <a:txBody>
                    <a:bodyPr/>
                    <a:lstStyle/>
                    <a:p>
                      <a:pPr indent="0" lvl="0" marL="0" rtl="0" algn="ctr">
                        <a:spcBef>
                          <a:spcPts val="0"/>
                        </a:spcBef>
                        <a:spcAft>
                          <a:spcPts val="0"/>
                        </a:spcAft>
                        <a:buNone/>
                      </a:pPr>
                      <a:r>
                        <a:rPr lang="en-GB" sz="1200">
                          <a:latin typeface="Lexend"/>
                          <a:ea typeface="Lexend"/>
                          <a:cs typeface="Lexend"/>
                          <a:sym typeface="Lexend"/>
                        </a:rPr>
                        <a:t>0</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19</a:t>
                      </a:r>
                      <a:endParaRPr sz="1200">
                        <a:latin typeface="Lexend"/>
                        <a:ea typeface="Lexend"/>
                        <a:cs typeface="Lexend"/>
                        <a:sym typeface="Lexend"/>
                      </a:endParaRPr>
                    </a:p>
                  </a:txBody>
                  <a:tcPr marT="91425" marB="91425" marR="91425" marL="91425"/>
                </a:tc>
              </a:tr>
              <a:tr h="317900">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34</a:t>
                      </a:r>
                      <a:endParaRPr sz="1200">
                        <a:latin typeface="Lexend"/>
                        <a:ea typeface="Lexend"/>
                        <a:cs typeface="Lexend"/>
                        <a:sym typeface="Lexend"/>
                      </a:endParaRPr>
                    </a:p>
                  </a:txBody>
                  <a:tcPr marT="91425" marB="91425" marR="91425" marL="91425"/>
                </a:tc>
              </a:tr>
              <a:tr h="317900">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21</a:t>
                      </a:r>
                      <a:endParaRPr sz="1200">
                        <a:latin typeface="Lexend"/>
                        <a:ea typeface="Lexend"/>
                        <a:cs typeface="Lexend"/>
                        <a:sym typeface="Lexend"/>
                      </a:endParaRPr>
                    </a:p>
                  </a:txBody>
                  <a:tcPr marT="91425" marB="91425" marR="91425" marL="91425"/>
                </a:tc>
              </a:tr>
              <a:tr h="317900">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15</a:t>
                      </a:r>
                      <a:endParaRPr sz="1200">
                        <a:latin typeface="Lexend"/>
                        <a:ea typeface="Lexend"/>
                        <a:cs typeface="Lexend"/>
                        <a:sym typeface="Lexend"/>
                      </a:endParaRPr>
                    </a:p>
                  </a:txBody>
                  <a:tcPr marT="91425" marB="91425" marR="91425" marL="91425"/>
                </a:tc>
              </a:tr>
              <a:tr h="317900">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11</a:t>
                      </a:r>
                      <a:endParaRPr sz="1200">
                        <a:latin typeface="Lexend"/>
                        <a:ea typeface="Lexend"/>
                        <a:cs typeface="Lexend"/>
                        <a:sym typeface="Lexend"/>
                      </a:endParaRPr>
                    </a:p>
                  </a:txBody>
                  <a:tcPr marT="91425" marB="91425" marR="91425" marL="91425"/>
                </a:tc>
              </a:tr>
            </a:tbl>
          </a:graphicData>
        </a:graphic>
      </p:graphicFrame>
      <p:sp>
        <p:nvSpPr>
          <p:cNvPr id="140" name="Google Shape;140;p13"/>
          <p:cNvSpPr txBox="1"/>
          <p:nvPr/>
        </p:nvSpPr>
        <p:spPr>
          <a:xfrm>
            <a:off x="2953950" y="4286190"/>
            <a:ext cx="4144800" cy="146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a) Calculate the median.</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     </a:t>
            </a:r>
            <a:r>
              <a:rPr lang="en-GB" sz="1200">
                <a:solidFill>
                  <a:srgbClr val="222222"/>
                </a:solidFill>
                <a:latin typeface="Kalam"/>
                <a:ea typeface="Kalam"/>
                <a:cs typeface="Kalam"/>
                <a:sym typeface="Kalam"/>
              </a:rPr>
              <a:t>1 goal</a:t>
            </a:r>
            <a:endParaRPr sz="1200">
              <a:solidFill>
                <a:srgbClr val="222222"/>
              </a:solidFill>
              <a:latin typeface="Kalam"/>
              <a:ea typeface="Kalam"/>
              <a:cs typeface="Kalam"/>
              <a:sym typeface="Kalam"/>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b) Calculate the interquartile range.</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     </a:t>
            </a:r>
            <a:r>
              <a:rPr lang="en-GB" sz="1200">
                <a:solidFill>
                  <a:srgbClr val="222222"/>
                </a:solidFill>
                <a:latin typeface="Kalam"/>
                <a:ea typeface="Kalam"/>
                <a:cs typeface="Kalam"/>
                <a:sym typeface="Kalam"/>
              </a:rPr>
              <a:t>3 − 1 = 2 goals</a:t>
            </a:r>
            <a:endParaRPr sz="1200">
              <a:solidFill>
                <a:srgbClr val="222222"/>
              </a:solidFill>
              <a:latin typeface="Kalam"/>
              <a:ea typeface="Kalam"/>
              <a:cs typeface="Kalam"/>
              <a:sym typeface="Kalam"/>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p:txBody>
      </p:sp>
      <p:sp>
        <p:nvSpPr>
          <p:cNvPr id="141" name="Google Shape;141;p13"/>
          <p:cNvSpPr txBox="1"/>
          <p:nvPr/>
        </p:nvSpPr>
        <p:spPr>
          <a:xfrm>
            <a:off x="2953950" y="5607815"/>
            <a:ext cx="4144800" cy="1462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c) Would the club prefer to report the mean or median as the average number of goals scored? Why?</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Mean = 1.65 goals. Median = 1 goal.</a:t>
            </a:r>
            <a:endParaRPr sz="1200">
              <a:solidFill>
                <a:srgbClr val="222222"/>
              </a:solidFill>
              <a:latin typeface="Kalam"/>
              <a:ea typeface="Kalam"/>
              <a:cs typeface="Kalam"/>
              <a:sym typeface="Kalam"/>
            </a:endParaRPr>
          </a:p>
          <a:p>
            <a:pPr indent="0" lvl="0" marL="0" rtl="0" algn="l">
              <a:spcBef>
                <a:spcPts val="0"/>
              </a:spcBef>
              <a:spcAft>
                <a:spcPts val="0"/>
              </a:spcAft>
              <a:buNone/>
            </a:pPr>
            <a:r>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The club would prefer to report the mean as it rounds to 2 goals making the club’s performance look better.</a:t>
            </a:r>
            <a:endParaRPr sz="1200">
              <a:solidFill>
                <a:srgbClr val="222222"/>
              </a:solidFill>
              <a:latin typeface="Kalam"/>
              <a:ea typeface="Kalam"/>
              <a:cs typeface="Kalam"/>
              <a:sym typeface="Kalam"/>
            </a:endParaRPr>
          </a:p>
        </p:txBody>
      </p:sp>
      <p:sp>
        <p:nvSpPr>
          <p:cNvPr id="142" name="Google Shape;142;p13"/>
          <p:cNvSpPr txBox="1"/>
          <p:nvPr/>
        </p:nvSpPr>
        <p:spPr>
          <a:xfrm>
            <a:off x="467850" y="7086213"/>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2) This frequency table shows the star rating received by a restaurant over its opening weekend.</a:t>
            </a:r>
            <a:endParaRPr sz="1200">
              <a:solidFill>
                <a:srgbClr val="222222"/>
              </a:solidFill>
              <a:latin typeface="Lexend"/>
              <a:ea typeface="Lexend"/>
              <a:cs typeface="Lexend"/>
              <a:sym typeface="Lexend"/>
            </a:endParaRPr>
          </a:p>
        </p:txBody>
      </p:sp>
      <p:sp>
        <p:nvSpPr>
          <p:cNvPr id="143" name="Google Shape;143;p13"/>
          <p:cNvSpPr txBox="1"/>
          <p:nvPr/>
        </p:nvSpPr>
        <p:spPr>
          <a:xfrm>
            <a:off x="2947350" y="7548538"/>
            <a:ext cx="4144800" cy="965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a) Calculate the median.</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     </a:t>
            </a:r>
            <a:r>
              <a:rPr lang="en-GB" sz="1200">
                <a:solidFill>
                  <a:srgbClr val="222222"/>
                </a:solidFill>
                <a:latin typeface="Kalam"/>
                <a:ea typeface="Kalam"/>
                <a:cs typeface="Kalam"/>
                <a:sym typeface="Kalam"/>
              </a:rPr>
              <a:t>4 stars</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b) Calculate the interquartile range.</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     </a:t>
            </a:r>
            <a:r>
              <a:rPr lang="en-GB" sz="1200">
                <a:solidFill>
                  <a:srgbClr val="222222"/>
                </a:solidFill>
                <a:latin typeface="Kalam"/>
                <a:ea typeface="Kalam"/>
                <a:cs typeface="Kalam"/>
                <a:sym typeface="Kalam"/>
              </a:rPr>
              <a:t>5 − 3 = 2 stars</a:t>
            </a:r>
            <a:endParaRPr sz="1200">
              <a:solidFill>
                <a:srgbClr val="222222"/>
              </a:solidFill>
              <a:latin typeface="Lexend"/>
              <a:ea typeface="Lexend"/>
              <a:cs typeface="Lexend"/>
              <a:sym typeface="Lexend"/>
            </a:endParaRPr>
          </a:p>
        </p:txBody>
      </p:sp>
      <p:graphicFrame>
        <p:nvGraphicFramePr>
          <p:cNvPr id="144" name="Google Shape;144;p13"/>
          <p:cNvGraphicFramePr/>
          <p:nvPr/>
        </p:nvGraphicFramePr>
        <p:xfrm>
          <a:off x="467850" y="7548538"/>
          <a:ext cx="3000000" cy="3000000"/>
        </p:xfrm>
        <a:graphic>
          <a:graphicData uri="http://schemas.openxmlformats.org/drawingml/2006/table">
            <a:tbl>
              <a:tblPr>
                <a:noFill/>
                <a:tableStyleId>{D6602FE5-DC19-452A-BE8D-617C6F2ACEAE}</a:tableStyleId>
              </a:tblPr>
              <a:tblGrid>
                <a:gridCol w="1261700"/>
                <a:gridCol w="1071100"/>
              </a:tblGrid>
              <a:tr h="293600">
                <a:tc>
                  <a:txBody>
                    <a:bodyPr/>
                    <a:lstStyle/>
                    <a:p>
                      <a:pPr indent="0" lvl="0" marL="0" rtl="0" algn="ctr">
                        <a:spcBef>
                          <a:spcPts val="0"/>
                        </a:spcBef>
                        <a:spcAft>
                          <a:spcPts val="0"/>
                        </a:spcAft>
                        <a:buNone/>
                      </a:pPr>
                      <a:r>
                        <a:rPr b="1" lang="en-GB" sz="1200">
                          <a:solidFill>
                            <a:srgbClr val="222222"/>
                          </a:solidFill>
                          <a:latin typeface="Lexend"/>
                          <a:ea typeface="Lexend"/>
                          <a:cs typeface="Lexend"/>
                          <a:sym typeface="Lexend"/>
                        </a:rPr>
                        <a:t>Star rating</a:t>
                      </a:r>
                      <a:endParaRPr b="1" sz="1200">
                        <a:solidFill>
                          <a:srgbClr val="222222"/>
                        </a:solidFill>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b="1" lang="en-GB" sz="1200">
                          <a:solidFill>
                            <a:srgbClr val="222222"/>
                          </a:solidFill>
                          <a:latin typeface="Lexend"/>
                          <a:ea typeface="Lexend"/>
                          <a:cs typeface="Lexend"/>
                          <a:sym typeface="Lexend"/>
                        </a:rPr>
                        <a:t>Frequency</a:t>
                      </a:r>
                      <a:endParaRPr b="1" sz="1200">
                        <a:solidFill>
                          <a:srgbClr val="222222"/>
                        </a:solidFill>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12</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18</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21</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38</a:t>
                      </a:r>
                      <a:endParaRPr sz="1200">
                        <a:latin typeface="Lexend"/>
                        <a:ea typeface="Lexend"/>
                        <a:cs typeface="Lexend"/>
                        <a:sym typeface="Lexend"/>
                      </a:endParaRPr>
                    </a:p>
                  </a:txBody>
                  <a:tcPr marT="91425" marB="91425" marR="91425" marL="91425"/>
                </a:tc>
              </a:tr>
              <a:tr h="291400">
                <a:tc>
                  <a:txBody>
                    <a:bodyPr/>
                    <a:lstStyle/>
                    <a:p>
                      <a:pPr indent="0" lvl="0" marL="0" rtl="0" algn="ctr">
                        <a:spcBef>
                          <a:spcPts val="0"/>
                        </a:spcBef>
                        <a:spcAft>
                          <a:spcPts val="0"/>
                        </a:spcAft>
                        <a:buNone/>
                      </a:pPr>
                      <a:r>
                        <a:rPr lang="en-GB" sz="1200">
                          <a:latin typeface="Lexend"/>
                          <a:ea typeface="Lexend"/>
                          <a:cs typeface="Lexend"/>
                          <a:sym typeface="Lexend"/>
                        </a:rPr>
                        <a:t>5</a:t>
                      </a:r>
                      <a:endParaRPr sz="1200">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en-GB" sz="1200">
                          <a:latin typeface="Lexend"/>
                          <a:ea typeface="Lexend"/>
                          <a:cs typeface="Lexend"/>
                          <a:sym typeface="Lexend"/>
                        </a:rPr>
                        <a:t>45</a:t>
                      </a:r>
                      <a:endParaRPr sz="1200">
                        <a:latin typeface="Lexend"/>
                        <a:ea typeface="Lexend"/>
                        <a:cs typeface="Lexend"/>
                        <a:sym typeface="Lexend"/>
                      </a:endParaRPr>
                    </a:p>
                  </a:txBody>
                  <a:tcPr marT="91425" marB="91425" marR="91425" marL="91425"/>
                </a:tc>
              </a:tr>
            </a:tbl>
          </a:graphicData>
        </a:graphic>
      </p:graphicFrame>
      <p:sp>
        <p:nvSpPr>
          <p:cNvPr id="145" name="Google Shape;145;p13"/>
          <p:cNvSpPr txBox="1"/>
          <p:nvPr/>
        </p:nvSpPr>
        <p:spPr>
          <a:xfrm>
            <a:off x="2947350" y="8645713"/>
            <a:ext cx="4144800" cy="131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c) Would the restaurant prefer to report the mean or median as the average rating? Why?</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Mean = 3.64… stars. Median = 4 stars.</a:t>
            </a:r>
            <a:endParaRPr sz="1200">
              <a:solidFill>
                <a:srgbClr val="222222"/>
              </a:solidFill>
              <a:latin typeface="Kalam"/>
              <a:ea typeface="Kalam"/>
              <a:cs typeface="Kalam"/>
              <a:sym typeface="Kalam"/>
            </a:endParaRPr>
          </a:p>
          <a:p>
            <a:pPr indent="0" lvl="0" marL="0" rtl="0" algn="l">
              <a:spcBef>
                <a:spcPts val="0"/>
              </a:spcBef>
              <a:spcAft>
                <a:spcPts val="0"/>
              </a:spcAft>
              <a:buNone/>
            </a:pPr>
            <a:r>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The restaurant could report either but the median does not need to be rounded.</a:t>
            </a:r>
            <a:endParaRPr sz="1200">
              <a:solidFill>
                <a:srgbClr val="222222"/>
              </a:solidFill>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4"/>
          <p:cNvSpPr txBox="1"/>
          <p:nvPr>
            <p:ph idx="1" type="subTitle"/>
          </p:nvPr>
        </p:nvSpPr>
        <p:spPr>
          <a:xfrm>
            <a:off x="1463400" y="360000"/>
            <a:ext cx="4782600" cy="1386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GB"/>
              <a:t>Using the fx-991CW for statistics</a:t>
            </a:r>
            <a:endParaRPr/>
          </a:p>
        </p:txBody>
      </p:sp>
      <p:sp>
        <p:nvSpPr>
          <p:cNvPr id="151" name="Google Shape;151;p14"/>
          <p:cNvSpPr txBox="1"/>
          <p:nvPr>
            <p:ph idx="2" type="subTitle"/>
          </p:nvPr>
        </p:nvSpPr>
        <p:spPr>
          <a:xfrm>
            <a:off x="3903375" y="9972000"/>
            <a:ext cx="2722800" cy="161100"/>
          </a:xfrm>
          <a:prstGeom prst="rect">
            <a:avLst/>
          </a:prstGeom>
        </p:spPr>
        <p:txBody>
          <a:bodyPr anchorCtr="0" anchor="b" bIns="0" lIns="0" spcFirstLastPara="1" rIns="0" wrap="square" tIns="0">
            <a:normAutofit/>
          </a:bodyPr>
          <a:lstStyle/>
          <a:p>
            <a:pPr indent="0" lvl="0" marL="0" rtl="0" algn="l">
              <a:spcBef>
                <a:spcPts val="0"/>
              </a:spcBef>
              <a:spcAft>
                <a:spcPts val="0"/>
              </a:spcAft>
              <a:buNone/>
            </a:pPr>
            <a:r>
              <a:rPr lang="en-GB"/>
              <a:t>Mathematics in Education and Industry</a:t>
            </a:r>
            <a:endParaRPr/>
          </a:p>
        </p:txBody>
      </p:sp>
      <p:sp>
        <p:nvSpPr>
          <p:cNvPr id="152" name="Google Shape;152;p14"/>
          <p:cNvSpPr txBox="1"/>
          <p:nvPr/>
        </p:nvSpPr>
        <p:spPr>
          <a:xfrm>
            <a:off x="6744600" y="10447800"/>
            <a:ext cx="815400" cy="244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GB" sz="1000">
                <a:solidFill>
                  <a:srgbClr val="FFFFFF"/>
                </a:solidFill>
                <a:latin typeface="Lexend"/>
                <a:ea typeface="Lexend"/>
                <a:cs typeface="Lexend"/>
                <a:sym typeface="Lexend"/>
              </a:rPr>
              <a:t>v2.5</a:t>
            </a:r>
            <a:endParaRPr sz="1000">
              <a:solidFill>
                <a:srgbClr val="FFFFFF"/>
              </a:solidFill>
              <a:latin typeface="Lexend"/>
              <a:ea typeface="Lexend"/>
              <a:cs typeface="Lexend"/>
              <a:sym typeface="Lexend"/>
            </a:endParaRPr>
          </a:p>
        </p:txBody>
      </p:sp>
      <p:sp>
        <p:nvSpPr>
          <p:cNvPr id="153" name="Google Shape;153;p14"/>
          <p:cNvSpPr txBox="1"/>
          <p:nvPr>
            <p:ph idx="12" type="sldNum"/>
          </p:nvPr>
        </p:nvSpPr>
        <p:spPr>
          <a:xfrm>
            <a:off x="6352325" y="9972000"/>
            <a:ext cx="483300" cy="2772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GB"/>
              <a:t>‹#›</a:t>
            </a:fld>
            <a:endParaRPr/>
          </a:p>
        </p:txBody>
      </p:sp>
      <p:sp>
        <p:nvSpPr>
          <p:cNvPr id="154" name="Google Shape;154;p14"/>
          <p:cNvSpPr txBox="1"/>
          <p:nvPr/>
        </p:nvSpPr>
        <p:spPr>
          <a:xfrm>
            <a:off x="467850" y="720000"/>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3) The frequency table shows the number of bedrooms in different houses within an area of a town.</a:t>
            </a:r>
            <a:endParaRPr sz="1200">
              <a:solidFill>
                <a:srgbClr val="222222"/>
              </a:solidFill>
              <a:latin typeface="Lexend"/>
              <a:ea typeface="Lexend"/>
              <a:cs typeface="Lexend"/>
              <a:sym typeface="Lexend"/>
            </a:endParaRPr>
          </a:p>
        </p:txBody>
      </p:sp>
      <p:sp>
        <p:nvSpPr>
          <p:cNvPr id="155" name="Google Shape;155;p14"/>
          <p:cNvSpPr txBox="1"/>
          <p:nvPr/>
        </p:nvSpPr>
        <p:spPr>
          <a:xfrm>
            <a:off x="2947350" y="1224625"/>
            <a:ext cx="4144800" cy="141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A developer wishes to build more expensive houses (3+ bedrooms) but the local council want cheaper housing. The council argue that there are already enough houses with 3 or more bedrooms.</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Are the council correct? Use the data to support your decision.</a:t>
            </a:r>
            <a:endParaRPr sz="1200">
              <a:solidFill>
                <a:srgbClr val="222222"/>
              </a:solidFill>
              <a:latin typeface="Lexend"/>
              <a:ea typeface="Lexend"/>
              <a:cs typeface="Lexend"/>
              <a:sym typeface="Lexend"/>
            </a:endParaRPr>
          </a:p>
        </p:txBody>
      </p:sp>
      <p:graphicFrame>
        <p:nvGraphicFramePr>
          <p:cNvPr id="156" name="Google Shape;156;p14"/>
          <p:cNvGraphicFramePr/>
          <p:nvPr/>
        </p:nvGraphicFramePr>
        <p:xfrm>
          <a:off x="467850" y="1224613"/>
          <a:ext cx="3000000" cy="3000000"/>
        </p:xfrm>
        <a:graphic>
          <a:graphicData uri="http://schemas.openxmlformats.org/drawingml/2006/table">
            <a:tbl>
              <a:tblPr>
                <a:noFill/>
                <a:tableStyleId>{D6602FE5-DC19-452A-BE8D-617C6F2ACEAE}</a:tableStyleId>
              </a:tblPr>
              <a:tblGrid>
                <a:gridCol w="1150050"/>
                <a:gridCol w="1182750"/>
              </a:tblGrid>
              <a:tr h="314050">
                <a:tc>
                  <a:txBody>
                    <a:bodyPr/>
                    <a:lstStyle/>
                    <a:p>
                      <a:pPr indent="0" lvl="0" marL="0" rtl="0" algn="ctr">
                        <a:spcBef>
                          <a:spcPts val="0"/>
                        </a:spcBef>
                        <a:spcAft>
                          <a:spcPts val="0"/>
                        </a:spcAft>
                        <a:buNone/>
                      </a:pPr>
                      <a:r>
                        <a:rPr b="1" lang="en-GB" sz="1200">
                          <a:solidFill>
                            <a:srgbClr val="222222"/>
                          </a:solidFill>
                          <a:latin typeface="Lexend"/>
                          <a:ea typeface="Lexend"/>
                          <a:cs typeface="Lexend"/>
                          <a:sym typeface="Lexend"/>
                        </a:rPr>
                        <a:t>Bedrooms</a:t>
                      </a:r>
                      <a:endParaRPr b="1" sz="1200">
                        <a:solidFill>
                          <a:srgbClr val="222222"/>
                        </a:solidFill>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b="1" lang="en-GB" sz="1200">
                          <a:solidFill>
                            <a:srgbClr val="222222"/>
                          </a:solidFill>
                          <a:latin typeface="Lexend"/>
                          <a:ea typeface="Lexend"/>
                          <a:cs typeface="Lexend"/>
                          <a:sym typeface="Lexend"/>
                        </a:rPr>
                        <a:t>Frequency</a:t>
                      </a:r>
                      <a:endParaRPr b="1" sz="1200">
                        <a:solidFill>
                          <a:srgbClr val="222222"/>
                        </a:solidFill>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1</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20</a:t>
                      </a:r>
                      <a:endParaRPr sz="1200">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2</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93</a:t>
                      </a:r>
                      <a:endParaRPr sz="1200">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3</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54</a:t>
                      </a:r>
                      <a:endParaRPr sz="1200">
                        <a:latin typeface="Lexend"/>
                        <a:ea typeface="Lexend"/>
                        <a:cs typeface="Lexend"/>
                        <a:sym typeface="Lexend"/>
                      </a:endParaRPr>
                    </a:p>
                  </a:txBody>
                  <a:tcPr marT="91425" marB="91425" marR="91425" marL="91425" anchor="ctr"/>
                </a:tc>
              </a:tr>
              <a:tr h="314050">
                <a:tc>
                  <a:txBody>
                    <a:bodyPr/>
                    <a:lstStyle/>
                    <a:p>
                      <a:pPr indent="0" lvl="0" marL="0" rtl="0" algn="ctr">
                        <a:spcBef>
                          <a:spcPts val="0"/>
                        </a:spcBef>
                        <a:spcAft>
                          <a:spcPts val="0"/>
                        </a:spcAft>
                        <a:buNone/>
                      </a:pPr>
                      <a:r>
                        <a:rPr lang="en-GB" sz="1200">
                          <a:latin typeface="Lexend"/>
                          <a:ea typeface="Lexend"/>
                          <a:cs typeface="Lexend"/>
                          <a:sym typeface="Lexend"/>
                        </a:rPr>
                        <a:t>4</a:t>
                      </a:r>
                      <a:endParaRPr sz="12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en-GB" sz="1200">
                          <a:latin typeface="Lexend"/>
                          <a:ea typeface="Lexend"/>
                          <a:cs typeface="Lexend"/>
                          <a:sym typeface="Lexend"/>
                        </a:rPr>
                        <a:t>33</a:t>
                      </a:r>
                      <a:endParaRPr sz="1200">
                        <a:latin typeface="Lexend"/>
                        <a:ea typeface="Lexend"/>
                        <a:cs typeface="Lexend"/>
                        <a:sym typeface="Lexend"/>
                      </a:endParaRPr>
                    </a:p>
                  </a:txBody>
                  <a:tcPr marT="91425" marB="91425" marR="91425" marL="91425" anchor="ctr"/>
                </a:tc>
              </a:tr>
            </a:tbl>
          </a:graphicData>
        </a:graphic>
      </p:graphicFrame>
      <p:sp>
        <p:nvSpPr>
          <p:cNvPr id="157" name="Google Shape;157;p14"/>
          <p:cNvSpPr txBox="1"/>
          <p:nvPr/>
        </p:nvSpPr>
        <p:spPr>
          <a:xfrm>
            <a:off x="2947350" y="2473400"/>
            <a:ext cx="4144800" cy="411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Mean = 2.5 bedrooms. Median = 2 bedrooms.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Interquartile range = 3 − 2 = 1</a:t>
            </a:r>
            <a:endParaRPr sz="1200">
              <a:solidFill>
                <a:srgbClr val="222222"/>
              </a:solidFill>
              <a:latin typeface="Kalam"/>
              <a:ea typeface="Kalam"/>
              <a:cs typeface="Kalam"/>
              <a:sym typeface="Kalam"/>
            </a:endParaRPr>
          </a:p>
        </p:txBody>
      </p:sp>
      <p:sp>
        <p:nvSpPr>
          <p:cNvPr id="158" name="Google Shape;158;p14"/>
          <p:cNvSpPr txBox="1"/>
          <p:nvPr/>
        </p:nvSpPr>
        <p:spPr>
          <a:xfrm>
            <a:off x="467875" y="3101925"/>
            <a:ext cx="6624000" cy="554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E.g.</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If the council uses the mean, then they can round and state that the average number of bedrooms in houses in this area is 3. Therefore there are plenty of houses with 3 (or more) bedrooms in.</a:t>
            </a:r>
            <a:endParaRPr/>
          </a:p>
        </p:txBody>
      </p:sp>
      <p:sp>
        <p:nvSpPr>
          <p:cNvPr id="159" name="Google Shape;159;p14"/>
          <p:cNvSpPr txBox="1"/>
          <p:nvPr/>
        </p:nvSpPr>
        <p:spPr>
          <a:xfrm>
            <a:off x="467850" y="3860500"/>
            <a:ext cx="6624000" cy="397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1000"/>
              </a:spcAft>
              <a:buNone/>
            </a:pPr>
            <a:r>
              <a:rPr lang="en-GB" sz="1200">
                <a:solidFill>
                  <a:srgbClr val="222222"/>
                </a:solidFill>
                <a:latin typeface="Lexend"/>
                <a:ea typeface="Lexend"/>
                <a:cs typeface="Lexend"/>
                <a:sym typeface="Lexend"/>
              </a:rPr>
              <a:t>4) The time it takes for a sample of pupils to travel to school is collected in this grouped frequency table.</a:t>
            </a:r>
            <a:endParaRPr sz="1200">
              <a:solidFill>
                <a:srgbClr val="222222"/>
              </a:solidFill>
              <a:latin typeface="Lexend"/>
              <a:ea typeface="Lexend"/>
              <a:cs typeface="Lexend"/>
              <a:sym typeface="Lexend"/>
            </a:endParaRPr>
          </a:p>
        </p:txBody>
      </p:sp>
      <p:sp>
        <p:nvSpPr>
          <p:cNvPr id="160" name="Google Shape;160;p14"/>
          <p:cNvSpPr txBox="1"/>
          <p:nvPr/>
        </p:nvSpPr>
        <p:spPr>
          <a:xfrm>
            <a:off x="3420000" y="4462175"/>
            <a:ext cx="3672300" cy="1997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Lexend"/>
                <a:ea typeface="Lexend"/>
                <a:cs typeface="Lexend"/>
                <a:sym typeface="Lexend"/>
              </a:rPr>
              <a:t>It takes 17 mins for Jacob to travel to school by bus. </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Jacob claims this takes him longer than the average pupil so he should be taken to school by car every day instead.</a:t>
            </a:r>
            <a:endParaRPr sz="1200">
              <a:solidFill>
                <a:srgbClr val="222222"/>
              </a:solidFill>
              <a:latin typeface="Lexend"/>
              <a:ea typeface="Lexend"/>
              <a:cs typeface="Lexend"/>
              <a:sym typeface="Lexend"/>
            </a:endParaRPr>
          </a:p>
          <a:p>
            <a:pPr indent="0" lvl="0" marL="0" rtl="0" algn="l">
              <a:spcBef>
                <a:spcPts val="0"/>
              </a:spcBef>
              <a:spcAft>
                <a:spcPts val="0"/>
              </a:spcAft>
              <a:buNone/>
            </a:pPr>
            <a:r>
              <a:t/>
            </a:r>
            <a:endParaRPr sz="1200">
              <a:solidFill>
                <a:srgbClr val="222222"/>
              </a:solidFill>
              <a:latin typeface="Lexend"/>
              <a:ea typeface="Lexend"/>
              <a:cs typeface="Lexend"/>
              <a:sym typeface="Lexend"/>
            </a:endParaRPr>
          </a:p>
          <a:p>
            <a:pPr indent="0" lvl="0" marL="0" rtl="0" algn="l">
              <a:spcBef>
                <a:spcPts val="0"/>
              </a:spcBef>
              <a:spcAft>
                <a:spcPts val="0"/>
              </a:spcAft>
              <a:buNone/>
            </a:pPr>
            <a:r>
              <a:rPr lang="en-GB" sz="1200">
                <a:solidFill>
                  <a:srgbClr val="222222"/>
                </a:solidFill>
                <a:latin typeface="Lexend"/>
                <a:ea typeface="Lexend"/>
                <a:cs typeface="Lexend"/>
                <a:sym typeface="Lexend"/>
              </a:rPr>
              <a:t>Do you agree or disagree with Jacob? Use evidence to support your answer.</a:t>
            </a:r>
            <a:endParaRPr sz="1200">
              <a:solidFill>
                <a:srgbClr val="222222"/>
              </a:solidFill>
              <a:latin typeface="Lexend"/>
              <a:ea typeface="Lexend"/>
              <a:cs typeface="Lexend"/>
              <a:sym typeface="Lexend"/>
            </a:endParaRPr>
          </a:p>
        </p:txBody>
      </p:sp>
      <p:graphicFrame>
        <p:nvGraphicFramePr>
          <p:cNvPr id="161" name="Google Shape;161;p14"/>
          <p:cNvGraphicFramePr/>
          <p:nvPr/>
        </p:nvGraphicFramePr>
        <p:xfrm>
          <a:off x="467988" y="4425033"/>
          <a:ext cx="3000000" cy="3000000"/>
        </p:xfrm>
        <a:graphic>
          <a:graphicData uri="http://schemas.openxmlformats.org/drawingml/2006/table">
            <a:tbl>
              <a:tblPr>
                <a:noFill/>
                <a:tableStyleId>{74FD756B-2D49-4E1B-89BA-8A08007AE6B7}</a:tableStyleId>
              </a:tblPr>
              <a:tblGrid>
                <a:gridCol w="1737550"/>
                <a:gridCol w="920100"/>
              </a:tblGrid>
              <a:tr h="414575">
                <a:tc>
                  <a:txBody>
                    <a:bodyPr/>
                    <a:lstStyle/>
                    <a:p>
                      <a:pPr indent="0" lvl="0" marL="0" marR="0" rtl="0" algn="ctr">
                        <a:lnSpc>
                          <a:spcPct val="100000"/>
                        </a:lnSpc>
                        <a:spcBef>
                          <a:spcPts val="0"/>
                        </a:spcBef>
                        <a:spcAft>
                          <a:spcPts val="0"/>
                        </a:spcAft>
                        <a:buNone/>
                      </a:pPr>
                      <a:r>
                        <a:rPr b="1" lang="en-GB" sz="1200">
                          <a:solidFill>
                            <a:schemeClr val="dk1"/>
                          </a:solidFill>
                          <a:latin typeface="Lexend"/>
                          <a:ea typeface="Lexend"/>
                          <a:cs typeface="Lexend"/>
                          <a:sym typeface="Lexend"/>
                        </a:rPr>
                        <a:t>Time taken to travel to school (in minutes)</a:t>
                      </a:r>
                      <a:endParaRPr b="1" sz="1200">
                        <a:solidFill>
                          <a:schemeClr val="dk1"/>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lang="en-GB" sz="1200">
                          <a:solidFill>
                            <a:schemeClr val="dk1"/>
                          </a:solidFill>
                          <a:latin typeface="Lexend"/>
                          <a:ea typeface="Lexend"/>
                          <a:cs typeface="Lexend"/>
                          <a:sym typeface="Lexend"/>
                        </a:rPr>
                        <a:t>Frequency</a:t>
                      </a:r>
                      <a:endParaRPr b="1" sz="1200">
                        <a:solidFill>
                          <a:schemeClr val="dk1"/>
                        </a:solidFill>
                        <a:latin typeface="Lexend"/>
                        <a:ea typeface="Lexend"/>
                        <a:cs typeface="Lexend"/>
                        <a:sym typeface="Lexend"/>
                      </a:endParaRPr>
                    </a:p>
                    <a:p>
                      <a:pPr indent="0" lvl="0" marL="0" marR="0" rtl="0" algn="ctr">
                        <a:lnSpc>
                          <a:spcPct val="100000"/>
                        </a:lnSpc>
                        <a:spcBef>
                          <a:spcPts val="0"/>
                        </a:spcBef>
                        <a:spcAft>
                          <a:spcPts val="0"/>
                        </a:spcAft>
                        <a:buNone/>
                      </a:pPr>
                      <a:r>
                        <a:rPr b="1" lang="en-GB" sz="1200">
                          <a:solidFill>
                            <a:schemeClr val="dk1"/>
                          </a:solidFill>
                          <a:latin typeface="Lexend"/>
                          <a:ea typeface="Lexend"/>
                          <a:cs typeface="Lexend"/>
                          <a:sym typeface="Lexend"/>
                        </a:rPr>
                        <a:t>(</a:t>
                      </a:r>
                      <a:r>
                        <a:rPr b="1" i="1" lang="en-GB" sz="1200">
                          <a:solidFill>
                            <a:schemeClr val="dk1"/>
                          </a:solidFill>
                          <a:latin typeface="Times New Roman"/>
                          <a:ea typeface="Times New Roman"/>
                          <a:cs typeface="Times New Roman"/>
                          <a:sym typeface="Times New Roman"/>
                        </a:rPr>
                        <a:t>f </a:t>
                      </a:r>
                      <a:r>
                        <a:rPr b="1" lang="en-GB" sz="1200">
                          <a:solidFill>
                            <a:schemeClr val="dk1"/>
                          </a:solidFill>
                          <a:latin typeface="Lexend"/>
                          <a:ea typeface="Lexend"/>
                          <a:cs typeface="Lexend"/>
                          <a:sym typeface="Lexend"/>
                        </a:rPr>
                        <a:t>)</a:t>
                      </a:r>
                      <a:endParaRPr b="1" sz="1200">
                        <a:solidFill>
                          <a:schemeClr val="dk1"/>
                        </a:solidFill>
                        <a:latin typeface="Lexend"/>
                        <a:ea typeface="Lexend"/>
                        <a:cs typeface="Lexend"/>
                        <a:sym typeface="Lexend"/>
                      </a:endParaRPr>
                    </a:p>
                  </a:txBody>
                  <a:tcPr marT="0" marB="0" marR="0" marL="0" anchor="ctr">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CCCCCC"/>
                      </a:solidFill>
                      <a:prstDash val="solid"/>
                      <a:round/>
                      <a:headEnd len="sm" w="sm" type="none"/>
                      <a:tailEnd len="sm" w="sm" type="none"/>
                    </a:lnB>
                  </a:tcPr>
                </a:tc>
              </a:tr>
              <a:tr h="263825">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0 &lt; </a:t>
                      </a:r>
                      <a:r>
                        <a:rPr i="1" lang="en-GB" sz="1200">
                          <a:latin typeface="Times New Roman"/>
                          <a:ea typeface="Times New Roman"/>
                          <a:cs typeface="Times New Roman"/>
                          <a:sym typeface="Times New Roman"/>
                        </a:rPr>
                        <a:t>t</a:t>
                      </a:r>
                      <a:r>
                        <a:rPr lang="en-GB" sz="1200">
                          <a:latin typeface="Lexend"/>
                          <a:ea typeface="Lexend"/>
                          <a:cs typeface="Lexend"/>
                          <a:sym typeface="Lexend"/>
                        </a:rPr>
                        <a:t> ≤ 4</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28</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63825">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4 &lt; </a:t>
                      </a:r>
                      <a:r>
                        <a:rPr i="1" lang="en-GB" sz="1200">
                          <a:solidFill>
                            <a:srgbClr val="000000"/>
                          </a:solidFill>
                          <a:latin typeface="Times New Roman"/>
                          <a:ea typeface="Times New Roman"/>
                          <a:cs typeface="Times New Roman"/>
                          <a:sym typeface="Times New Roman"/>
                        </a:rPr>
                        <a:t>t</a:t>
                      </a:r>
                      <a:r>
                        <a:rPr lang="en-GB" sz="1200">
                          <a:latin typeface="Lexend"/>
                          <a:ea typeface="Lexend"/>
                          <a:cs typeface="Lexend"/>
                          <a:sym typeface="Lexend"/>
                        </a:rPr>
                        <a:t> ≤ 10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23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63825">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10 &lt; </a:t>
                      </a:r>
                      <a:r>
                        <a:rPr i="1" lang="en-GB" sz="1200">
                          <a:solidFill>
                            <a:srgbClr val="000000"/>
                          </a:solidFill>
                          <a:latin typeface="Times New Roman"/>
                          <a:ea typeface="Times New Roman"/>
                          <a:cs typeface="Times New Roman"/>
                          <a:sym typeface="Times New Roman"/>
                        </a:rPr>
                        <a:t>t</a:t>
                      </a:r>
                      <a:r>
                        <a:rPr lang="en-GB" sz="1200">
                          <a:latin typeface="Lexend"/>
                          <a:ea typeface="Lexend"/>
                          <a:cs typeface="Lexend"/>
                          <a:sym typeface="Lexend"/>
                        </a:rPr>
                        <a:t> ≤ 16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70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63825">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16 &lt; </a:t>
                      </a:r>
                      <a:r>
                        <a:rPr i="1" lang="en-GB" sz="1200">
                          <a:solidFill>
                            <a:srgbClr val="000000"/>
                          </a:solidFill>
                          <a:latin typeface="Times New Roman"/>
                          <a:ea typeface="Times New Roman"/>
                          <a:cs typeface="Times New Roman"/>
                          <a:sym typeface="Times New Roman"/>
                        </a:rPr>
                        <a:t>t</a:t>
                      </a:r>
                      <a:r>
                        <a:rPr lang="en-GB" sz="1200">
                          <a:latin typeface="Lexend"/>
                          <a:ea typeface="Lexend"/>
                          <a:cs typeface="Lexend"/>
                          <a:sym typeface="Lexend"/>
                        </a:rPr>
                        <a:t> ≤ 26</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52</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63825">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26 &lt; </a:t>
                      </a:r>
                      <a:r>
                        <a:rPr i="1" lang="en-GB" sz="1200">
                          <a:solidFill>
                            <a:srgbClr val="000000"/>
                          </a:solidFill>
                          <a:latin typeface="Times New Roman"/>
                          <a:ea typeface="Times New Roman"/>
                          <a:cs typeface="Times New Roman"/>
                          <a:sym typeface="Times New Roman"/>
                        </a:rPr>
                        <a:t>t</a:t>
                      </a:r>
                      <a:r>
                        <a:rPr lang="en-GB" sz="1200">
                          <a:latin typeface="Lexend"/>
                          <a:ea typeface="Lexend"/>
                          <a:cs typeface="Lexend"/>
                          <a:sym typeface="Lexend"/>
                        </a:rPr>
                        <a:t> ≤ 40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30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263825">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40 &lt; </a:t>
                      </a:r>
                      <a:r>
                        <a:rPr i="1" lang="en-GB" sz="1200">
                          <a:solidFill>
                            <a:srgbClr val="000000"/>
                          </a:solidFill>
                          <a:latin typeface="Times New Roman"/>
                          <a:ea typeface="Times New Roman"/>
                          <a:cs typeface="Times New Roman"/>
                          <a:sym typeface="Times New Roman"/>
                        </a:rPr>
                        <a:t>t</a:t>
                      </a:r>
                      <a:r>
                        <a:rPr lang="en-GB" sz="1200">
                          <a:latin typeface="Lexend"/>
                          <a:ea typeface="Lexend"/>
                          <a:cs typeface="Lexend"/>
                          <a:sym typeface="Lexend"/>
                        </a:rPr>
                        <a:t> ≤ 60</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lang="en-GB" sz="1200">
                          <a:latin typeface="Lexend"/>
                          <a:ea typeface="Lexend"/>
                          <a:cs typeface="Lexend"/>
                          <a:sym typeface="Lexend"/>
                        </a:rPr>
                        <a:t>13</a:t>
                      </a:r>
                      <a:endParaRPr sz="1200">
                        <a:latin typeface="Lexend"/>
                        <a:ea typeface="Lexend"/>
                        <a:cs typeface="Lexend"/>
                        <a:sym typeface="Lexend"/>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bl>
          </a:graphicData>
        </a:graphic>
      </p:graphicFrame>
      <p:sp>
        <p:nvSpPr>
          <p:cNvPr id="162" name="Google Shape;162;p14"/>
          <p:cNvSpPr txBox="1"/>
          <p:nvPr/>
        </p:nvSpPr>
        <p:spPr>
          <a:xfrm>
            <a:off x="468000" y="6589875"/>
            <a:ext cx="6624000" cy="1047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200">
                <a:solidFill>
                  <a:srgbClr val="222222"/>
                </a:solidFill>
                <a:latin typeface="Kalam"/>
                <a:ea typeface="Kalam"/>
                <a:cs typeface="Kalam"/>
                <a:sym typeface="Kalam"/>
              </a:rPr>
              <a:t>Mean ≈ 18 minutes. Median = 13 minutes.</a:t>
            </a:r>
            <a:endParaRPr sz="1200">
              <a:solidFill>
                <a:srgbClr val="222222"/>
              </a:solidFill>
              <a:latin typeface="Kalam"/>
              <a:ea typeface="Kalam"/>
              <a:cs typeface="Kalam"/>
              <a:sym typeface="Kalam"/>
            </a:endParaRPr>
          </a:p>
          <a:p>
            <a:pPr indent="0" lvl="0" marL="0" rtl="0" algn="l">
              <a:spcBef>
                <a:spcPts val="0"/>
              </a:spcBef>
              <a:spcAft>
                <a:spcPts val="0"/>
              </a:spcAft>
              <a:buNone/>
            </a:pPr>
            <a:r>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If Jacob uses the median time then he is correct.</a:t>
            </a:r>
            <a:endParaRPr sz="1200">
              <a:solidFill>
                <a:srgbClr val="222222"/>
              </a:solidFill>
              <a:latin typeface="Kalam"/>
              <a:ea typeface="Kalam"/>
              <a:cs typeface="Kalam"/>
              <a:sym typeface="Kalam"/>
            </a:endParaRPr>
          </a:p>
          <a:p>
            <a:pPr indent="0" lvl="0" marL="0" rtl="0" algn="l">
              <a:spcBef>
                <a:spcPts val="0"/>
              </a:spcBef>
              <a:spcAft>
                <a:spcPts val="0"/>
              </a:spcAft>
              <a:buNone/>
            </a:pPr>
            <a:r>
              <a:t/>
            </a:r>
            <a:endParaRPr sz="1200">
              <a:solidFill>
                <a:srgbClr val="222222"/>
              </a:solidFill>
              <a:latin typeface="Kalam"/>
              <a:ea typeface="Kalam"/>
              <a:cs typeface="Kalam"/>
              <a:sym typeface="Kalam"/>
            </a:endParaRPr>
          </a:p>
          <a:p>
            <a:pPr indent="0" lvl="0" marL="0" rtl="0" algn="l">
              <a:spcBef>
                <a:spcPts val="0"/>
              </a:spcBef>
              <a:spcAft>
                <a:spcPts val="0"/>
              </a:spcAft>
              <a:buNone/>
            </a:pPr>
            <a:r>
              <a:rPr lang="en-GB" sz="1200">
                <a:solidFill>
                  <a:srgbClr val="222222"/>
                </a:solidFill>
                <a:latin typeface="Kalam"/>
                <a:ea typeface="Kalam"/>
                <a:cs typeface="Kalam"/>
                <a:sym typeface="Kalam"/>
              </a:rPr>
              <a:t>However, Jacob’s family could argue he is wrong by using the mean time. </a:t>
            </a:r>
            <a:endParaRPr sz="1200">
              <a:solidFill>
                <a:srgbClr val="222222"/>
              </a:solidFill>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Worksheet Answers Sep 2024 v2">
  <a:themeElements>
    <a:clrScheme name="Simple Light">
      <a:dk1>
        <a:srgbClr val="222222"/>
      </a:dk1>
      <a:lt1>
        <a:srgbClr val="FFFFFF"/>
      </a:lt1>
      <a:dk2>
        <a:srgbClr val="808080"/>
      </a:dk2>
      <a:lt2>
        <a:srgbClr val="F2F2F2"/>
      </a:lt2>
      <a:accent1>
        <a:srgbClr val="BEF2BD"/>
      </a:accent1>
      <a:accent2>
        <a:srgbClr val="374CF1"/>
      </a:accent2>
      <a:accent3>
        <a:srgbClr val="D02AA7"/>
      </a:accent3>
      <a:accent4>
        <a:srgbClr val="845AD9"/>
      </a:accent4>
      <a:accent5>
        <a:srgbClr val="037B7D"/>
      </a:accent5>
      <a:accent6>
        <a:srgbClr val="287C34"/>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