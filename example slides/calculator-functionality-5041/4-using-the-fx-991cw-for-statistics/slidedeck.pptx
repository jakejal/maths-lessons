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9D6165-A02E-44EA-BB87-525E58A9FBD4}">
  <a:tblStyle styleId="{B29D6165-A02E-44EA-BB87-525E58A9FBD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17CC0A5-822D-4775-9ABD-B3D7EFE4B15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fcdcf486b6_0_2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2fcdcf486b6_0_2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fcdcf486b6_0_2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fcdcf486b6_0_2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fcdcf486b6_0_2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2fcdcf486b6_0_2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275f3cab8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275f3cab8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275f3cab83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275f3cab83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275f3cab8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275f3cab8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2c68947a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32c68947a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2c68947a45_0_2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2c68947a45_0_2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2c68947a4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2c68947a4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2c68947a4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32c68947a4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2c68947a4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2c68947a4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2c68947a4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2c68947a4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2c68947a4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2c68947a4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2c68947a4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2c68947a4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2c68947a4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2c68947a4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2c68947a4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2c68947a4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2c68947a4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32c68947a4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2c68947a4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32c68947a4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2c68947a4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2c68947a4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2c68947a4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2c68947a4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2c68947a45_0_4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2c68947a45_0_4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2c68947a45_0_4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32c68947a45_0_4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2c68947a45_0_4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32c68947a45_0_4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2c68947a45_0_4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32c68947a45_0_4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2c68947a4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32c68947a4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2c68947a4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2c68947a4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2c68947a45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2c68947a45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2c68947a45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32c68947a4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32c68947a4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32c68947a4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2c68947a45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2c68947a45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2c68947a45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32c68947a45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2c68947a45_0_5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32c68947a45_0_5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2a47b058e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32a47b058e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32c68947a45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0" name="Google Shape;1200;g32c68947a45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2c68947a45_0_1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2c68947a45_0_1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2c68947a45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2c68947a45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2c68947a45_0_1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32c68947a45_0_1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2c68947a45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2c68947a45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2c68947a45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2c68947a45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2c68947a45_0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2c68947a45_0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2c68947a45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32c68947a45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32c68947a45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32c68947a45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2c68947a45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32c68947a45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2c68947a45_0_1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32c68947a45_0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2c68947a45_0_5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32c68947a45_0_5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2c68947a45_0_1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32c68947a45_0_1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2c68947a45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2c68947a45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2c68947a45_0_1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32c68947a45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2c68947a45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9" name="Google Shape;1359;g32c68947a45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2c68947a45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2c68947a45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32c68947a45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32c68947a45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2c68947a45_0_5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32c68947a45_0_5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32c68947a45_0_5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1" name="Google Shape;1391;g32c68947a45_0_5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2fcdcf486b6_0_2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g2fcdcf486b6_0_2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2fcdcf486b6_0_2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2fcdcf486b6_0_2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3.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35.png"/><Relationship Id="rId4" Type="http://schemas.openxmlformats.org/officeDocument/2006/relationships/image" Target="../media/image3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90.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3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90.png"/><Relationship Id="rId4" Type="http://schemas.openxmlformats.org/officeDocument/2006/relationships/image" Target="../media/image37.png"/><Relationship Id="rId9"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45.png"/><Relationship Id="rId7" Type="http://schemas.openxmlformats.org/officeDocument/2006/relationships/image" Target="../media/image41.png"/><Relationship Id="rId8"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90.png"/><Relationship Id="rId4" Type="http://schemas.openxmlformats.org/officeDocument/2006/relationships/image" Target="../media/image43.png"/><Relationship Id="rId11" Type="http://schemas.openxmlformats.org/officeDocument/2006/relationships/image" Target="../media/image33.png"/><Relationship Id="rId10" Type="http://schemas.openxmlformats.org/officeDocument/2006/relationships/image" Target="../media/image51.png"/><Relationship Id="rId9"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45.png"/><Relationship Id="rId8" Type="http://schemas.openxmlformats.org/officeDocument/2006/relationships/image" Target="../media/image4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4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4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47.png"/><Relationship Id="rId4" Type="http://schemas.openxmlformats.org/officeDocument/2006/relationships/image" Target="../media/image5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47.png"/><Relationship Id="rId4" Type="http://schemas.openxmlformats.org/officeDocument/2006/relationships/image" Target="../media/image5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7.png"/><Relationship Id="rId4" Type="http://schemas.openxmlformats.org/officeDocument/2006/relationships/image" Target="../media/image5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7.png"/><Relationship Id="rId4" Type="http://schemas.openxmlformats.org/officeDocument/2006/relationships/image" Target="../media/image5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 Id="rId3" Type="http://schemas.openxmlformats.org/officeDocument/2006/relationships/image" Target="../media/image48.png"/><Relationship Id="rId4" Type="http://schemas.openxmlformats.org/officeDocument/2006/relationships/image" Target="../media/image5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4.png"/><Relationship Id="rId4" Type="http://schemas.openxmlformats.org/officeDocument/2006/relationships/image" Target="../media/image5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5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5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6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6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1705150" cy="128000"/>
          </a:xfrm>
          <a:prstGeom prst="rect">
            <a:avLst/>
          </a:prstGeom>
          <a:noFill/>
          <a:ln>
            <a:noFill/>
          </a:ln>
        </p:spPr>
      </p:pic>
      <p:sp>
        <p:nvSpPr>
          <p:cNvPr id="11" name="Google Shape;11;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3800"/>
              <a:buFont typeface="Lexend"/>
              <a:buNone/>
              <a:defRPr sz="3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 name="Google Shape;12;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Art and design</a:t>
            </a:r>
            <a:endParaRPr b="1" sz="1700">
              <a:solidFill>
                <a:schemeClr val="dk1"/>
              </a:solidFill>
              <a:latin typeface="Lexend"/>
              <a:ea typeface="Lexend"/>
              <a:cs typeface="Lexend"/>
              <a:sym typeface="Lexend"/>
            </a:endParaRPr>
          </a:p>
        </p:txBody>
      </p:sp>
      <p:sp>
        <p:nvSpPr>
          <p:cNvPr id="13" name="Google Shape;13;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 name="Google Shape;14;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grpSp>
        <p:nvGrpSpPr>
          <p:cNvPr id="15" name="Google Shape;15;p2"/>
          <p:cNvGrpSpPr/>
          <p:nvPr/>
        </p:nvGrpSpPr>
        <p:grpSpPr>
          <a:xfrm>
            <a:off x="6156975" y="0"/>
            <a:ext cx="2987025" cy="3854074"/>
            <a:chOff x="6156975" y="0"/>
            <a:chExt cx="2987025" cy="3854074"/>
          </a:xfrm>
        </p:grpSpPr>
        <p:pic>
          <p:nvPicPr>
            <p:cNvPr id="16" name="Google Shape;16;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 name="Google Shape;17;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 name="Google Shape;18;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9" name="Google Shape;19;p2"/>
          <p:cNvPicPr preferRelativeResize="0"/>
          <p:nvPr/>
        </p:nvPicPr>
        <p:blipFill rotWithShape="1">
          <a:blip r:embed="rId5">
            <a:alphaModFix/>
          </a:blip>
          <a:srcRect b="0" l="0" r="0" t="0"/>
          <a:stretch/>
        </p:blipFill>
        <p:spPr>
          <a:xfrm>
            <a:off x="7690424" y="4098434"/>
            <a:ext cx="1052750" cy="482825"/>
          </a:xfrm>
          <a:prstGeom prst="rect">
            <a:avLst/>
          </a:prstGeom>
          <a:noFill/>
          <a:ln>
            <a:noFill/>
          </a:ln>
        </p:spPr>
      </p:pic>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Biology</a:t>
            </a:r>
            <a:endParaRPr b="1" sz="1700">
              <a:solidFill>
                <a:schemeClr val="dk1"/>
              </a:solidFill>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Chemistry</a:t>
            </a:r>
            <a:endParaRPr b="1" sz="1700">
              <a:solidFill>
                <a:schemeClr val="dk1"/>
              </a:solidFill>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Citizenship</a:t>
            </a:r>
            <a:endParaRPr b="1" sz="1700">
              <a:solidFill>
                <a:schemeClr val="dk1"/>
              </a:solidFill>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Computing</a:t>
            </a:r>
            <a:endParaRPr b="1" sz="1700">
              <a:solidFill>
                <a:schemeClr val="dk1"/>
              </a:solidFill>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55" name="Google Shape;55;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56" name="Google Shape;56;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7" name="Google Shape;57;p6"/>
          <p:cNvPicPr preferRelativeResize="0"/>
          <p:nvPr/>
        </p:nvPicPr>
        <p:blipFill>
          <a:blip r:embed="rId5">
            <a:alphaModFix/>
          </a:blip>
          <a:stretch>
            <a:fillRect/>
          </a:stretch>
        </p:blipFill>
        <p:spPr>
          <a:xfrm rot="-390000">
            <a:off x="6567499" y="723791"/>
            <a:ext cx="2520000" cy="2520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oking and nutrition" showMasterSp="0">
  <p:cSld name="Title Slide 2_1_1_1_1_1_1_1_1_1_1_3_1">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56320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7"/>
          <p:cNvSpPr txBox="1"/>
          <p:nvPr/>
        </p:nvSpPr>
        <p:spPr>
          <a:xfrm>
            <a:off x="323850" y="3781525"/>
            <a:ext cx="3504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Cooking and nutrition</a:t>
            </a:r>
            <a:endParaRPr b="1" sz="1700">
              <a:solidFill>
                <a:schemeClr val="dk1"/>
              </a:solidFill>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66" name="Google Shape;66;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67" name="Google Shape;67;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68" name="Google Shape;68;p7"/>
          <p:cNvPicPr preferRelativeResize="0"/>
          <p:nvPr/>
        </p:nvPicPr>
        <p:blipFill>
          <a:blip r:embed="rId5">
            <a:alphaModFix/>
          </a:blip>
          <a:stretch>
            <a:fillRect/>
          </a:stretch>
        </p:blipFill>
        <p:spPr>
          <a:xfrm rot="-359995">
            <a:off x="6646318" y="1007366"/>
            <a:ext cx="2202009" cy="179664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71" name="Google Shape;71;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8"/>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Design and technology</a:t>
            </a:r>
            <a:endParaRPr b="1" sz="1700">
              <a:solidFill>
                <a:schemeClr val="dk1"/>
              </a:solidFill>
              <a:latin typeface="Lexend"/>
              <a:ea typeface="Lexend"/>
              <a:cs typeface="Lexend"/>
              <a:sym typeface="Lexend"/>
            </a:endParaRPr>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74" name="Google Shape;74;p8"/>
          <p:cNvGrpSpPr/>
          <p:nvPr/>
        </p:nvGrpSpPr>
        <p:grpSpPr>
          <a:xfrm>
            <a:off x="6156975" y="0"/>
            <a:ext cx="2987025" cy="3854074"/>
            <a:chOff x="6156975" y="0"/>
            <a:chExt cx="2987025" cy="3854074"/>
          </a:xfrm>
        </p:grpSpPr>
        <p:pic>
          <p:nvPicPr>
            <p:cNvPr id="75" name="Google Shape;75;p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6" name="Google Shape;76;p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77" name="Google Shape;77;p8"/>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78" name="Google Shape;78;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79" name="Google Shape;79;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82" name="Google Shape;82;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English</a:t>
            </a:r>
            <a:endParaRPr b="1" sz="1700">
              <a:solidFill>
                <a:schemeClr val="dk1"/>
              </a:solidFill>
              <a:latin typeface="Lexend"/>
              <a:ea typeface="Lexend"/>
              <a:cs typeface="Lexend"/>
              <a:sym typeface="Lexend"/>
            </a:endParaRPr>
          </a:p>
        </p:txBody>
      </p:sp>
      <p:sp>
        <p:nvSpPr>
          <p:cNvPr id="83" name="Google Shape;83;p9"/>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85" name="Google Shape;85;p9"/>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90" name="Google Shape;90;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1" name="Google Shape;91;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French</a:t>
            </a:r>
            <a:endParaRPr b="1" sz="1700">
              <a:solidFill>
                <a:schemeClr val="dk1"/>
              </a:solidFill>
              <a:latin typeface="Lexend"/>
              <a:ea typeface="Lexend"/>
              <a:cs typeface="Lexend"/>
              <a:sym typeface="Lexend"/>
            </a:endParaRPr>
          </a:p>
        </p:txBody>
      </p:sp>
      <p:pic>
        <p:nvPicPr>
          <p:cNvPr id="92" name="Google Shape;92;p1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93" name="Google Shape;93;p10"/>
          <p:cNvGrpSpPr/>
          <p:nvPr/>
        </p:nvGrpSpPr>
        <p:grpSpPr>
          <a:xfrm>
            <a:off x="6156975" y="0"/>
            <a:ext cx="2987025" cy="3854074"/>
            <a:chOff x="6156975" y="0"/>
            <a:chExt cx="2987025" cy="3854074"/>
          </a:xfrm>
        </p:grpSpPr>
        <p:pic>
          <p:nvPicPr>
            <p:cNvPr id="94" name="Google Shape;94;p1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5" name="Google Shape;95;p1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6" name="Google Shape;96;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97" name="Google Shape;97;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98" name="Google Shape;98;p10"/>
          <p:cNvPicPr preferRelativeResize="0"/>
          <p:nvPr/>
        </p:nvPicPr>
        <p:blipFill>
          <a:blip r:embed="rId5">
            <a:alphaModFix/>
          </a:blip>
          <a:stretch>
            <a:fillRect/>
          </a:stretch>
        </p:blipFill>
        <p:spPr>
          <a:xfrm rot="-390000">
            <a:off x="6657352" y="759276"/>
            <a:ext cx="2315647" cy="23156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99" name="Shape 99"/>
        <p:cNvGrpSpPr/>
        <p:nvPr/>
      </p:nvGrpSpPr>
      <p:grpSpPr>
        <a:xfrm>
          <a:off x="0" y="0"/>
          <a:ext cx="0" cy="0"/>
          <a:chOff x="0" y="0"/>
          <a:chExt cx="0" cy="0"/>
        </a:xfrm>
      </p:grpSpPr>
      <p:pic>
        <p:nvPicPr>
          <p:cNvPr id="100" name="Google Shape;100;p11"/>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101" name="Google Shape;101;p1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02" name="Google Shape;102;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Geography</a:t>
            </a:r>
            <a:endParaRPr b="1" sz="1700">
              <a:solidFill>
                <a:schemeClr val="dk1"/>
              </a:solidFill>
              <a:latin typeface="Lexend"/>
              <a:ea typeface="Lexend"/>
              <a:cs typeface="Lexend"/>
              <a:sym typeface="Lexend"/>
            </a:endParaRPr>
          </a:p>
        </p:txBody>
      </p:sp>
      <p:pic>
        <p:nvPicPr>
          <p:cNvPr id="104" name="Google Shape;104;p1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German</a:t>
            </a:r>
            <a:endParaRPr b="1" sz="1700">
              <a:solidFill>
                <a:schemeClr val="dk1"/>
              </a:solidFill>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5" name="Google Shape;115;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16" name="Google Shape;116;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17" name="Google Shape;117;p12"/>
          <p:cNvPicPr preferRelativeResize="0"/>
          <p:nvPr/>
        </p:nvPicPr>
        <p:blipFill>
          <a:blip r:embed="rId5">
            <a:alphaModFix/>
          </a:blip>
          <a:stretch>
            <a:fillRect/>
          </a:stretch>
        </p:blipFill>
        <p:spPr>
          <a:xfrm rot="-389998">
            <a:off x="6679063" y="775065"/>
            <a:ext cx="2340000" cy="23400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History</a:t>
            </a:r>
            <a:endParaRPr b="1" sz="1700">
              <a:solidFill>
                <a:schemeClr val="dk1"/>
              </a:solidFill>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23" name="Google Shape;123;p13"/>
          <p:cNvGrpSpPr/>
          <p:nvPr/>
        </p:nvGrpSpPr>
        <p:grpSpPr>
          <a:xfrm>
            <a:off x="6156975" y="0"/>
            <a:ext cx="2987025" cy="3854074"/>
            <a:chOff x="6156975" y="0"/>
            <a:chExt cx="2987025" cy="3854074"/>
          </a:xfrm>
        </p:grpSpPr>
        <p:pic>
          <p:nvPicPr>
            <p:cNvPr id="124" name="Google Shape;124;p1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5" name="Google Shape;125;p13"/>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13"/>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27" name="Google Shape;127;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28" name="Google Shape;128;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29" name="Shape 129"/>
        <p:cNvGrpSpPr/>
        <p:nvPr/>
      </p:nvGrpSpPr>
      <p:grpSpPr>
        <a:xfrm>
          <a:off x="0" y="0"/>
          <a:ext cx="0" cy="0"/>
          <a:chOff x="0" y="0"/>
          <a:chExt cx="0" cy="0"/>
        </a:xfrm>
      </p:grpSpPr>
      <p:pic>
        <p:nvPicPr>
          <p:cNvPr id="130" name="Google Shape;130;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1" name="Google Shape;131;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Maths</a:t>
            </a:r>
            <a:endParaRPr b="1" sz="1700">
              <a:solidFill>
                <a:schemeClr val="dk1"/>
              </a:solidFill>
              <a:latin typeface="Lexend"/>
              <a:ea typeface="Lexend"/>
              <a:cs typeface="Lexend"/>
              <a:sym typeface="Lexend"/>
            </a:endParaRPr>
          </a:p>
        </p:txBody>
      </p:sp>
      <p:pic>
        <p:nvPicPr>
          <p:cNvPr id="133" name="Google Shape;133;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4" name="Google Shape;134;p14"/>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35" name="Google Shape;135;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36" name="Google Shape;136;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37" name="Shape 137"/>
        <p:cNvGrpSpPr/>
        <p:nvPr/>
      </p:nvGrpSpPr>
      <p:grpSpPr>
        <a:xfrm>
          <a:off x="0" y="0"/>
          <a:ext cx="0" cy="0"/>
          <a:chOff x="0" y="0"/>
          <a:chExt cx="0" cy="0"/>
        </a:xfrm>
      </p:grpSpPr>
      <p:pic>
        <p:nvPicPr>
          <p:cNvPr id="138" name="Google Shape;138;p15"/>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9" name="Google Shape;139;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0" name="Google Shape;140;p1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Music</a:t>
            </a:r>
            <a:endParaRPr b="1" sz="1700">
              <a:solidFill>
                <a:schemeClr val="dk1"/>
              </a:solidFill>
              <a:latin typeface="Lexend"/>
              <a:ea typeface="Lexend"/>
              <a:cs typeface="Lexend"/>
              <a:sym typeface="Lexend"/>
            </a:endParaRPr>
          </a:p>
        </p:txBody>
      </p:sp>
      <p:pic>
        <p:nvPicPr>
          <p:cNvPr id="141" name="Google Shape;141;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42" name="Google Shape;142;p15"/>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43" name="Google Shape;143;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4" name="Google Shape;144;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Physical education</a:t>
            </a:r>
            <a:endParaRPr b="1" sz="1700">
              <a:solidFill>
                <a:schemeClr val="dk1"/>
              </a:solidFill>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3" name="Google Shape;153;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54" name="Google Shape;154;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55" name="Google Shape;155;p16"/>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56" name="Shape 156"/>
        <p:cNvGrpSpPr/>
        <p:nvPr/>
      </p:nvGrpSpPr>
      <p:grpSpPr>
        <a:xfrm>
          <a:off x="0" y="0"/>
          <a:ext cx="0" cy="0"/>
          <a:chOff x="0" y="0"/>
          <a:chExt cx="0" cy="0"/>
        </a:xfrm>
      </p:grpSpPr>
      <p:pic>
        <p:nvPicPr>
          <p:cNvPr id="157" name="Google Shape;157;p17"/>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58" name="Google Shape;158;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Physics</a:t>
            </a:r>
            <a:endParaRPr b="1" sz="1700">
              <a:solidFill>
                <a:schemeClr val="dk1"/>
              </a:solidFill>
              <a:latin typeface="Lexend"/>
              <a:ea typeface="Lexend"/>
              <a:cs typeface="Lexend"/>
              <a:sym typeface="Lexend"/>
            </a:endParaRPr>
          </a:p>
        </p:txBody>
      </p:sp>
      <p:pic>
        <p:nvPicPr>
          <p:cNvPr id="160" name="Google Shape;160;p1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61" name="Google Shape;161;p17"/>
          <p:cNvGrpSpPr/>
          <p:nvPr/>
        </p:nvGrpSpPr>
        <p:grpSpPr>
          <a:xfrm>
            <a:off x="6156975" y="0"/>
            <a:ext cx="2987025" cy="3854074"/>
            <a:chOff x="6156975" y="0"/>
            <a:chExt cx="2987025" cy="3854074"/>
          </a:xfrm>
        </p:grpSpPr>
        <p:pic>
          <p:nvPicPr>
            <p:cNvPr id="162" name="Google Shape;162;p1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63" name="Google Shape;163;p17"/>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17"/>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65" name="Google Shape;165;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66" name="Google Shape;166;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67" name="Shape 167"/>
        <p:cNvGrpSpPr/>
        <p:nvPr/>
      </p:nvGrpSpPr>
      <p:grpSpPr>
        <a:xfrm>
          <a:off x="0" y="0"/>
          <a:ext cx="0" cy="0"/>
          <a:chOff x="0" y="0"/>
          <a:chExt cx="0" cy="0"/>
        </a:xfrm>
      </p:grpSpPr>
      <p:pic>
        <p:nvPicPr>
          <p:cNvPr id="168" name="Google Shape;168;p18"/>
          <p:cNvPicPr preferRelativeResize="0"/>
          <p:nvPr/>
        </p:nvPicPr>
        <p:blipFill rotWithShape="1">
          <a:blip r:embed="rId2">
            <a:alphaModFix/>
          </a:blip>
          <a:srcRect b="0" l="6209" r="6209" t="0"/>
          <a:stretch/>
        </p:blipFill>
        <p:spPr>
          <a:xfrm>
            <a:off x="324000" y="4008600"/>
            <a:ext cx="1360800" cy="128000"/>
          </a:xfrm>
          <a:prstGeom prst="rect">
            <a:avLst/>
          </a:prstGeom>
          <a:noFill/>
          <a:ln>
            <a:noFill/>
          </a:ln>
        </p:spPr>
      </p:pic>
      <p:sp>
        <p:nvSpPr>
          <p:cNvPr id="169" name="Google Shape;169;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18"/>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RHE (PSHE)</a:t>
            </a:r>
            <a:endParaRPr b="1" sz="1700">
              <a:solidFill>
                <a:schemeClr val="dk1"/>
              </a:solidFill>
              <a:latin typeface="Lexend"/>
              <a:ea typeface="Lexend"/>
              <a:cs typeface="Lexend"/>
              <a:sym typeface="Lexend"/>
            </a:endParaRPr>
          </a:p>
        </p:txBody>
      </p:sp>
      <p:pic>
        <p:nvPicPr>
          <p:cNvPr id="171" name="Google Shape;171;p1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72" name="Google Shape;172;p18"/>
          <p:cNvGrpSpPr/>
          <p:nvPr/>
        </p:nvGrpSpPr>
        <p:grpSpPr>
          <a:xfrm>
            <a:off x="6156975" y="0"/>
            <a:ext cx="2987025" cy="3854074"/>
            <a:chOff x="6156975" y="0"/>
            <a:chExt cx="2987025" cy="3854074"/>
          </a:xfrm>
        </p:grpSpPr>
        <p:pic>
          <p:nvPicPr>
            <p:cNvPr id="173" name="Google Shape;173;p1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74" name="Google Shape;174;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5" name="Google Shape;175;p18"/>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76" name="Google Shape;176;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77" name="Google Shape;177;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1511900"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RSHE (PSHE)</a:t>
            </a:r>
            <a:endParaRPr b="1" sz="1700">
              <a:solidFill>
                <a:schemeClr val="dk1"/>
              </a:solidFill>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89" name="Shape 189"/>
        <p:cNvGrpSpPr/>
        <p:nvPr/>
      </p:nvGrpSpPr>
      <p:grpSpPr>
        <a:xfrm>
          <a:off x="0" y="0"/>
          <a:ext cx="0" cy="0"/>
          <a:chOff x="0" y="0"/>
          <a:chExt cx="0" cy="0"/>
        </a:xfrm>
      </p:grpSpPr>
      <p:pic>
        <p:nvPicPr>
          <p:cNvPr id="190" name="Google Shape;190;p20"/>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91" name="Google Shape;191;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2" name="Google Shape;192;p20"/>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Religious education</a:t>
            </a:r>
            <a:endParaRPr b="1" sz="1700">
              <a:solidFill>
                <a:schemeClr val="dk1"/>
              </a:solidFill>
              <a:latin typeface="Lexend"/>
              <a:ea typeface="Lexend"/>
              <a:cs typeface="Lexend"/>
              <a:sym typeface="Lexend"/>
            </a:endParaRPr>
          </a:p>
        </p:txBody>
      </p:sp>
      <p:pic>
        <p:nvPicPr>
          <p:cNvPr id="193" name="Google Shape;193;p2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97" name="Google Shape;197;p20"/>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200" name="Shape 200"/>
        <p:cNvGrpSpPr/>
        <p:nvPr/>
      </p:nvGrpSpPr>
      <p:grpSpPr>
        <a:xfrm>
          <a:off x="0" y="0"/>
          <a:ext cx="0" cy="0"/>
          <a:chOff x="0" y="0"/>
          <a:chExt cx="0" cy="0"/>
        </a:xfrm>
      </p:grpSpPr>
      <p:sp>
        <p:nvSpPr>
          <p:cNvPr id="201" name="Google Shape;201;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2" name="Google Shape;202;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Science</a:t>
            </a:r>
            <a:endParaRPr b="1" sz="1700">
              <a:solidFill>
                <a:schemeClr val="dk1"/>
              </a:solidFill>
              <a:latin typeface="Lexend"/>
              <a:ea typeface="Lexend"/>
              <a:cs typeface="Lexend"/>
              <a:sym typeface="Lexend"/>
            </a:endParaRPr>
          </a:p>
        </p:txBody>
      </p:sp>
      <p:pic>
        <p:nvPicPr>
          <p:cNvPr id="203" name="Google Shape;203;p21"/>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204" name="Google Shape;204;p21"/>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8" name="Google Shape;208;p21"/>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13" name="Google Shape;213;p2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2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Spanish</a:t>
            </a:r>
            <a:endParaRPr b="1" sz="1700">
              <a:solidFill>
                <a:schemeClr val="dk1"/>
              </a:solidFill>
              <a:latin typeface="Lexend"/>
              <a:ea typeface="Lexend"/>
              <a:cs typeface="Lexend"/>
              <a:sym typeface="Lexend"/>
            </a:endParaRPr>
          </a:p>
        </p:txBody>
      </p:sp>
      <p:pic>
        <p:nvPicPr>
          <p:cNvPr id="215" name="Google Shape;215;p2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16" name="Google Shape;216;p22"/>
          <p:cNvGrpSpPr/>
          <p:nvPr/>
        </p:nvGrpSpPr>
        <p:grpSpPr>
          <a:xfrm>
            <a:off x="6156975" y="0"/>
            <a:ext cx="2987025" cy="3854074"/>
            <a:chOff x="6156975" y="0"/>
            <a:chExt cx="2987025" cy="3854074"/>
          </a:xfrm>
        </p:grpSpPr>
        <p:pic>
          <p:nvPicPr>
            <p:cNvPr id="217" name="Google Shape;217;p2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18" name="Google Shape;218;p2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9" name="Google Shape;219;p2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20" name="Google Shape;220;p2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1" name="Google Shape;221;p22"/>
          <p:cNvPicPr preferRelativeResize="0"/>
          <p:nvPr/>
        </p:nvPicPr>
        <p:blipFill>
          <a:blip r:embed="rId5">
            <a:alphaModFix/>
          </a:blip>
          <a:stretch>
            <a:fillRect/>
          </a:stretch>
        </p:blipFill>
        <p:spPr>
          <a:xfrm rot="-390001">
            <a:off x="6638540" y="856133"/>
            <a:ext cx="2340000" cy="2340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22" name="Shape 222"/>
        <p:cNvGrpSpPr/>
        <p:nvPr/>
      </p:nvGrpSpPr>
      <p:grpSpPr>
        <a:xfrm>
          <a:off x="0" y="0"/>
          <a:ext cx="0" cy="0"/>
          <a:chOff x="0" y="0"/>
          <a:chExt cx="0" cy="0"/>
        </a:xfrm>
      </p:grpSpPr>
      <p:pic>
        <p:nvPicPr>
          <p:cNvPr id="223" name="Google Shape;223;p23"/>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24" name="Google Shape;224;p23"/>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solidFill>
                  <a:schemeClr val="dk1"/>
                </a:solidFill>
                <a:latin typeface="Lexend"/>
                <a:ea typeface="Lexend"/>
                <a:cs typeface="Lexend"/>
                <a:sym typeface="Lexend"/>
              </a:rPr>
              <a:t>Outcome</a:t>
            </a:r>
            <a:endParaRPr b="1" sz="2800">
              <a:solidFill>
                <a:schemeClr val="dk1"/>
              </a:solidFill>
              <a:latin typeface="Lexend"/>
              <a:ea typeface="Lexend"/>
              <a:cs typeface="Lexend"/>
              <a:sym typeface="Lexend"/>
            </a:endParaRPr>
          </a:p>
        </p:txBody>
      </p:sp>
      <p:sp>
        <p:nvSpPr>
          <p:cNvPr id="225" name="Google Shape;225;p23"/>
          <p:cNvSpPr txBox="1"/>
          <p:nvPr>
            <p:ph idx="1" type="subTitle"/>
          </p:nvPr>
        </p:nvSpPr>
        <p:spPr>
          <a:xfrm>
            <a:off x="666000" y="1620000"/>
            <a:ext cx="7270800" cy="2504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bg>
      <p:bgPr>
        <a:solidFill>
          <a:srgbClr val="FFF7CC"/>
        </a:solidFill>
      </p:bgPr>
    </p:bg>
    <p:spTree>
      <p:nvGrpSpPr>
        <p:cNvPr id="226" name="Shape 226"/>
        <p:cNvGrpSpPr/>
        <p:nvPr/>
      </p:nvGrpSpPr>
      <p:grpSpPr>
        <a:xfrm>
          <a:off x="0" y="0"/>
          <a:ext cx="0" cy="0"/>
          <a:chOff x="0" y="0"/>
          <a:chExt cx="0" cy="0"/>
        </a:xfrm>
      </p:grpSpPr>
      <p:sp>
        <p:nvSpPr>
          <p:cNvPr id="227" name="Google Shape;227;p24"/>
          <p:cNvSpPr/>
          <p:nvPr/>
        </p:nvSpPr>
        <p:spPr>
          <a:xfrm>
            <a:off x="4683800" y="810000"/>
            <a:ext cx="4134600" cy="1163400"/>
          </a:xfrm>
          <a:prstGeom prst="roundRect">
            <a:avLst>
              <a:gd fmla="val 10151"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p:nvPr/>
        </p:nvSpPr>
        <p:spPr>
          <a:xfrm>
            <a:off x="185250" y="810000"/>
            <a:ext cx="4134600" cy="3850200"/>
          </a:xfrm>
          <a:prstGeom prst="roundRect">
            <a:avLst>
              <a:gd fmla="val 2796"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
          <p:cNvSpPr txBox="1"/>
          <p:nvPr/>
        </p:nvSpPr>
        <p:spPr>
          <a:xfrm>
            <a:off x="325475" y="1245050"/>
            <a:ext cx="3998700" cy="461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Oak’s lessons are structured around </a:t>
            </a:r>
            <a:r>
              <a:rPr b="1" lang="en-GB" sz="1200">
                <a:solidFill>
                  <a:schemeClr val="dk1"/>
                </a:solidFill>
                <a:latin typeface="Lexend"/>
                <a:ea typeface="Lexend"/>
                <a:cs typeface="Lexend"/>
                <a:sym typeface="Lexend"/>
              </a:rPr>
              <a:t>learning cycles</a:t>
            </a:r>
            <a:r>
              <a:rPr i="1" lang="en-GB" sz="1200">
                <a:solidFill>
                  <a:schemeClr val="dk1"/>
                </a:solidFill>
                <a:latin typeface="Lexend"/>
                <a:ea typeface="Lexend"/>
                <a:cs typeface="Lexend"/>
                <a:sym typeface="Lexend"/>
              </a:rPr>
              <a:t>.</a:t>
            </a:r>
            <a:r>
              <a:rPr lang="en-GB" sz="1200">
                <a:solidFill>
                  <a:schemeClr val="dk1"/>
                </a:solidFill>
                <a:latin typeface="Lexend"/>
                <a:ea typeface="Lexend"/>
                <a:cs typeface="Lexend"/>
                <a:sym typeface="Lexend"/>
              </a:rPr>
              <a:t> These are indicated through colour in the slide deck:</a:t>
            </a:r>
            <a:endParaRPr sz="1200">
              <a:solidFill>
                <a:schemeClr val="dk1"/>
              </a:solidFill>
              <a:latin typeface="Lexend"/>
              <a:ea typeface="Lexend"/>
              <a:cs typeface="Lexend"/>
              <a:sym typeface="Lexend"/>
            </a:endParaRPr>
          </a:p>
        </p:txBody>
      </p:sp>
      <p:sp>
        <p:nvSpPr>
          <p:cNvPr id="230" name="Google Shape;230;p24"/>
          <p:cNvSpPr txBox="1"/>
          <p:nvPr/>
        </p:nvSpPr>
        <p:spPr>
          <a:xfrm>
            <a:off x="32547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Oak’s lesson structure</a:t>
            </a:r>
            <a:endParaRPr b="1" sz="1600">
              <a:solidFill>
                <a:schemeClr val="dk1"/>
              </a:solidFill>
              <a:latin typeface="Lexend"/>
              <a:ea typeface="Lexend"/>
              <a:cs typeface="Lexend"/>
              <a:sym typeface="Lexend"/>
            </a:endParaRPr>
          </a:p>
        </p:txBody>
      </p:sp>
      <p:sp>
        <p:nvSpPr>
          <p:cNvPr id="231" name="Google Shape;231;p24"/>
          <p:cNvSpPr txBox="1"/>
          <p:nvPr/>
        </p:nvSpPr>
        <p:spPr>
          <a:xfrm>
            <a:off x="482412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Useful links</a:t>
            </a:r>
            <a:endParaRPr b="1" sz="1600">
              <a:solidFill>
                <a:schemeClr val="dk1"/>
              </a:solidFill>
              <a:latin typeface="Lexend"/>
              <a:ea typeface="Lexend"/>
              <a:cs typeface="Lexend"/>
              <a:sym typeface="Lexend"/>
            </a:endParaRPr>
          </a:p>
        </p:txBody>
      </p:sp>
      <p:sp>
        <p:nvSpPr>
          <p:cNvPr id="232" name="Google Shape;232;p24"/>
          <p:cNvSpPr txBox="1"/>
          <p:nvPr/>
        </p:nvSpPr>
        <p:spPr>
          <a:xfrm>
            <a:off x="325475" y="3407125"/>
            <a:ext cx="39987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Each</a:t>
            </a:r>
            <a:r>
              <a:rPr b="1" lang="en-GB" sz="1200">
                <a:solidFill>
                  <a:schemeClr val="dk1"/>
                </a:solidFill>
                <a:latin typeface="Lexend"/>
                <a:ea typeface="Lexend"/>
                <a:cs typeface="Lexend"/>
                <a:sym typeface="Lexend"/>
              </a:rPr>
              <a:t> learning cycle</a:t>
            </a:r>
            <a:r>
              <a:rPr lang="en-GB" sz="1200">
                <a:solidFill>
                  <a:schemeClr val="dk1"/>
                </a:solidFill>
                <a:latin typeface="Lexend"/>
                <a:ea typeface="Lexend"/>
                <a:cs typeface="Lexend"/>
                <a:sym typeface="Lexend"/>
              </a:rPr>
              <a:t> covers several phases:</a:t>
            </a:r>
            <a:endParaRPr sz="1200">
              <a:solidFill>
                <a:schemeClr val="dk1"/>
              </a:solidFill>
              <a:latin typeface="Lexend"/>
              <a:ea typeface="Lexend"/>
              <a:cs typeface="Lexend"/>
              <a:sym typeface="Lexend"/>
            </a:endParaRPr>
          </a:p>
        </p:txBody>
      </p:sp>
      <p:pic>
        <p:nvPicPr>
          <p:cNvPr id="233" name="Google Shape;233;p24"/>
          <p:cNvPicPr preferRelativeResize="0"/>
          <p:nvPr/>
        </p:nvPicPr>
        <p:blipFill rotWithShape="1">
          <a:blip r:embed="rId2">
            <a:alphaModFix/>
          </a:blip>
          <a:srcRect b="71084" l="3912" r="56768" t="0"/>
          <a:stretch/>
        </p:blipFill>
        <p:spPr>
          <a:xfrm>
            <a:off x="382600" y="3725750"/>
            <a:ext cx="841850" cy="364800"/>
          </a:xfrm>
          <a:prstGeom prst="rect">
            <a:avLst/>
          </a:prstGeom>
          <a:noFill/>
          <a:ln>
            <a:noFill/>
          </a:ln>
        </p:spPr>
      </p:pic>
      <p:pic>
        <p:nvPicPr>
          <p:cNvPr id="234" name="Google Shape;234;p24"/>
          <p:cNvPicPr preferRelativeResize="0"/>
          <p:nvPr/>
        </p:nvPicPr>
        <p:blipFill rotWithShape="1">
          <a:blip r:embed="rId2">
            <a:alphaModFix/>
          </a:blip>
          <a:srcRect b="71902" l="62493" r="7303" t="2791"/>
          <a:stretch/>
        </p:blipFill>
        <p:spPr>
          <a:xfrm>
            <a:off x="1322300" y="3754900"/>
            <a:ext cx="688050" cy="339675"/>
          </a:xfrm>
          <a:prstGeom prst="rect">
            <a:avLst/>
          </a:prstGeom>
          <a:noFill/>
          <a:ln>
            <a:noFill/>
          </a:ln>
        </p:spPr>
      </p:pic>
      <p:pic>
        <p:nvPicPr>
          <p:cNvPr id="235" name="Google Shape;235;p24"/>
          <p:cNvPicPr preferRelativeResize="0"/>
          <p:nvPr/>
        </p:nvPicPr>
        <p:blipFill rotWithShape="1">
          <a:blip r:embed="rId2">
            <a:alphaModFix/>
          </a:blip>
          <a:srcRect b="19543" l="6196" r="59088" t="51182"/>
          <a:stretch/>
        </p:blipFill>
        <p:spPr>
          <a:xfrm>
            <a:off x="2108188" y="3710946"/>
            <a:ext cx="743275" cy="369300"/>
          </a:xfrm>
          <a:prstGeom prst="rect">
            <a:avLst/>
          </a:prstGeom>
          <a:noFill/>
          <a:ln>
            <a:noFill/>
          </a:ln>
        </p:spPr>
      </p:pic>
      <p:pic>
        <p:nvPicPr>
          <p:cNvPr id="236" name="Google Shape;236;p24"/>
          <p:cNvPicPr preferRelativeResize="0"/>
          <p:nvPr/>
        </p:nvPicPr>
        <p:blipFill rotWithShape="1">
          <a:blip r:embed="rId2">
            <a:alphaModFix/>
          </a:blip>
          <a:srcRect b="19543" l="58433" r="3864" t="51182"/>
          <a:stretch/>
        </p:blipFill>
        <p:spPr>
          <a:xfrm>
            <a:off x="2989750" y="3725750"/>
            <a:ext cx="807200" cy="369300"/>
          </a:xfrm>
          <a:prstGeom prst="rect">
            <a:avLst/>
          </a:prstGeom>
          <a:noFill/>
          <a:ln>
            <a:noFill/>
          </a:ln>
        </p:spPr>
      </p:pic>
      <p:sp>
        <p:nvSpPr>
          <p:cNvPr id="237" name="Google Shape;237;p24"/>
          <p:cNvSpPr/>
          <p:nvPr/>
        </p:nvSpPr>
        <p:spPr>
          <a:xfrm>
            <a:off x="324000" y="264675"/>
            <a:ext cx="67464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chemeClr val="dk1"/>
                </a:solidFill>
                <a:latin typeface="Lexend"/>
                <a:ea typeface="Lexend"/>
                <a:cs typeface="Lexend"/>
                <a:sym typeface="Lexend"/>
              </a:rPr>
              <a:t>Teacher guidance</a:t>
            </a:r>
            <a:endParaRPr b="0" i="0" sz="2000" u="none" cap="none" strike="noStrike">
              <a:solidFill>
                <a:schemeClr val="dk1"/>
              </a:solidFill>
              <a:latin typeface="Calibri"/>
              <a:ea typeface="Calibri"/>
              <a:cs typeface="Calibri"/>
              <a:sym typeface="Calibri"/>
            </a:endParaRPr>
          </a:p>
        </p:txBody>
      </p:sp>
      <p:sp>
        <p:nvSpPr>
          <p:cNvPr id="238" name="Google Shape;238;p24"/>
          <p:cNvSpPr txBox="1"/>
          <p:nvPr/>
        </p:nvSpPr>
        <p:spPr>
          <a:xfrm>
            <a:off x="325475" y="4122125"/>
            <a:ext cx="39396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Explanation      Check      Practice      Feedback</a:t>
            </a:r>
            <a:endParaRPr sz="1200">
              <a:solidFill>
                <a:schemeClr val="dk1"/>
              </a:solidFill>
              <a:latin typeface="Lexend"/>
              <a:ea typeface="Lexend"/>
              <a:cs typeface="Lexend"/>
              <a:sym typeface="Lexend"/>
            </a:endParaRPr>
          </a:p>
        </p:txBody>
      </p:sp>
      <p:pic>
        <p:nvPicPr>
          <p:cNvPr id="239" name="Google Shape;239;p24"/>
          <p:cNvPicPr preferRelativeResize="0"/>
          <p:nvPr/>
        </p:nvPicPr>
        <p:blipFill>
          <a:blip r:embed="rId3">
            <a:alphaModFix/>
          </a:blip>
          <a:stretch>
            <a:fillRect/>
          </a:stretch>
        </p:blipFill>
        <p:spPr>
          <a:xfrm>
            <a:off x="279913" y="1948533"/>
            <a:ext cx="2067960" cy="1216800"/>
          </a:xfrm>
          <a:prstGeom prst="rect">
            <a:avLst/>
          </a:prstGeom>
          <a:noFill/>
          <a:ln>
            <a:noFill/>
          </a:ln>
        </p:spPr>
      </p:pic>
      <p:pic>
        <p:nvPicPr>
          <p:cNvPr id="240" name="Google Shape;240;p24"/>
          <p:cNvPicPr preferRelativeResize="0"/>
          <p:nvPr/>
        </p:nvPicPr>
        <p:blipFill>
          <a:blip r:embed="rId4">
            <a:alphaModFix/>
          </a:blip>
          <a:stretch>
            <a:fillRect/>
          </a:stretch>
        </p:blipFill>
        <p:spPr>
          <a:xfrm>
            <a:off x="2425125" y="1828475"/>
            <a:ext cx="1738025" cy="143372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41" name="Shape 241"/>
        <p:cNvGrpSpPr/>
        <p:nvPr/>
      </p:nvGrpSpPr>
      <p:grpSpPr>
        <a:xfrm>
          <a:off x="0" y="0"/>
          <a:ext cx="0" cy="0"/>
          <a:chOff x="0" y="0"/>
          <a:chExt cx="0" cy="0"/>
        </a:xfrm>
      </p:grpSpPr>
      <p:grpSp>
        <p:nvGrpSpPr>
          <p:cNvPr id="242" name="Google Shape;242;p25"/>
          <p:cNvGrpSpPr/>
          <p:nvPr/>
        </p:nvGrpSpPr>
        <p:grpSpPr>
          <a:xfrm>
            <a:off x="0" y="1"/>
            <a:ext cx="9151202" cy="649234"/>
            <a:chOff x="0" y="1"/>
            <a:chExt cx="9151202" cy="649234"/>
          </a:xfrm>
        </p:grpSpPr>
        <p:sp>
          <p:nvSpPr>
            <p:cNvPr id="243" name="Google Shape;243;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45" name="Google Shape;245;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46" name="Google Shape;246;p25"/>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7" name="Google Shape;247;p25"/>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48" name="Google Shape;248;p25"/>
          <p:cNvSpPr txBox="1"/>
          <p:nvPr>
            <p:ph idx="3" type="subTitle"/>
          </p:nvPr>
        </p:nvSpPr>
        <p:spPr>
          <a:xfrm>
            <a:off x="324000" y="2105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9" name="Google Shape;249;p25"/>
          <p:cNvSpPr txBox="1"/>
          <p:nvPr>
            <p:ph idx="4" type="subTitle"/>
          </p:nvPr>
        </p:nvSpPr>
        <p:spPr>
          <a:xfrm>
            <a:off x="2699325" y="2105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0" name="Google Shape;250;p25"/>
          <p:cNvSpPr txBox="1"/>
          <p:nvPr>
            <p:ph idx="5" type="subTitle"/>
          </p:nvPr>
        </p:nvSpPr>
        <p:spPr>
          <a:xfrm>
            <a:off x="324000" y="3400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1" name="Google Shape;251;p25"/>
          <p:cNvSpPr txBox="1"/>
          <p:nvPr>
            <p:ph idx="6" type="subTitle"/>
          </p:nvPr>
        </p:nvSpPr>
        <p:spPr>
          <a:xfrm>
            <a:off x="2699325" y="3400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2" name="Google Shape;252;p25"/>
          <p:cNvSpPr txBox="1"/>
          <p:nvPr>
            <p:ph idx="7"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53" name="Shape 253"/>
        <p:cNvGrpSpPr/>
        <p:nvPr/>
      </p:nvGrpSpPr>
      <p:grpSpPr>
        <a:xfrm>
          <a:off x="0" y="0"/>
          <a:ext cx="0" cy="0"/>
          <a:chOff x="0" y="0"/>
          <a:chExt cx="0" cy="0"/>
        </a:xfrm>
      </p:grpSpPr>
      <p:grpSp>
        <p:nvGrpSpPr>
          <p:cNvPr id="254" name="Google Shape;254;p26"/>
          <p:cNvGrpSpPr/>
          <p:nvPr/>
        </p:nvGrpSpPr>
        <p:grpSpPr>
          <a:xfrm>
            <a:off x="0" y="1"/>
            <a:ext cx="9151202" cy="649234"/>
            <a:chOff x="0" y="1"/>
            <a:chExt cx="9151202" cy="649234"/>
          </a:xfrm>
        </p:grpSpPr>
        <p:sp>
          <p:nvSpPr>
            <p:cNvPr id="255" name="Google Shape;255;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6" name="Google Shape;256;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7" name="Google Shape;257;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8" name="Google Shape;258;p26"/>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9" name="Google Shape;259;p26"/>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0" name="Google Shape;260;p26"/>
          <p:cNvSpPr txBox="1"/>
          <p:nvPr>
            <p:ph idx="3" type="subTitle"/>
          </p:nvPr>
        </p:nvSpPr>
        <p:spPr>
          <a:xfrm>
            <a:off x="324000" y="1800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1" name="Google Shape;261;p26"/>
          <p:cNvSpPr txBox="1"/>
          <p:nvPr>
            <p:ph idx="4" type="subTitle"/>
          </p:nvPr>
        </p:nvSpPr>
        <p:spPr>
          <a:xfrm>
            <a:off x="2699325" y="1800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2" name="Google Shape;262;p26"/>
          <p:cNvSpPr txBox="1"/>
          <p:nvPr>
            <p:ph idx="5" type="subTitle"/>
          </p:nvPr>
        </p:nvSpPr>
        <p:spPr>
          <a:xfrm>
            <a:off x="324000" y="2791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3" name="Google Shape;263;p26"/>
          <p:cNvSpPr txBox="1"/>
          <p:nvPr>
            <p:ph idx="6" type="subTitle"/>
          </p:nvPr>
        </p:nvSpPr>
        <p:spPr>
          <a:xfrm>
            <a:off x="2699325" y="2791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4" name="Google Shape;264;p26"/>
          <p:cNvSpPr txBox="1"/>
          <p:nvPr>
            <p:ph idx="7" type="subTitle"/>
          </p:nvPr>
        </p:nvSpPr>
        <p:spPr>
          <a:xfrm>
            <a:off x="324000" y="3781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5" name="Google Shape;265;p26"/>
          <p:cNvSpPr txBox="1"/>
          <p:nvPr>
            <p:ph idx="8" type="subTitle"/>
          </p:nvPr>
        </p:nvSpPr>
        <p:spPr>
          <a:xfrm>
            <a:off x="2699325" y="3781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6" name="Google Shape;266;p26"/>
          <p:cNvSpPr txBox="1"/>
          <p:nvPr>
            <p:ph idx="9"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67" name="Shape 267"/>
        <p:cNvGrpSpPr/>
        <p:nvPr/>
      </p:nvGrpSpPr>
      <p:grpSpPr>
        <a:xfrm>
          <a:off x="0" y="0"/>
          <a:ext cx="0" cy="0"/>
          <a:chOff x="0" y="0"/>
          <a:chExt cx="0" cy="0"/>
        </a:xfrm>
      </p:grpSpPr>
      <p:grpSp>
        <p:nvGrpSpPr>
          <p:cNvPr id="268" name="Google Shape;268;p27"/>
          <p:cNvGrpSpPr/>
          <p:nvPr/>
        </p:nvGrpSpPr>
        <p:grpSpPr>
          <a:xfrm>
            <a:off x="0" y="1"/>
            <a:ext cx="9151202" cy="649234"/>
            <a:chOff x="0" y="1"/>
            <a:chExt cx="9151202" cy="649234"/>
          </a:xfrm>
        </p:grpSpPr>
        <p:sp>
          <p:nvSpPr>
            <p:cNvPr id="269" name="Google Shape;269;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0" name="Google Shape;270;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71" name="Google Shape;271;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72" name="Google Shape;272;p27"/>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3" name="Google Shape;273;p27"/>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4" name="Google Shape;274;p27"/>
          <p:cNvSpPr txBox="1"/>
          <p:nvPr>
            <p:ph idx="3" type="subTitle"/>
          </p:nvPr>
        </p:nvSpPr>
        <p:spPr>
          <a:xfrm>
            <a:off x="324000" y="2486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5" name="Google Shape;275;p27"/>
          <p:cNvSpPr txBox="1"/>
          <p:nvPr>
            <p:ph idx="4" type="subTitle"/>
          </p:nvPr>
        </p:nvSpPr>
        <p:spPr>
          <a:xfrm>
            <a:off x="2699325" y="2486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6" name="Google Shape;276;p27"/>
          <p:cNvSpPr txBox="1"/>
          <p:nvPr>
            <p:ph idx="5" type="subTitle"/>
          </p:nvPr>
        </p:nvSpPr>
        <p:spPr>
          <a:xfrm>
            <a:off x="324000" y="4162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7" name="Google Shape;277;p27"/>
          <p:cNvSpPr txBox="1"/>
          <p:nvPr>
            <p:ph idx="6" type="subTitle"/>
          </p:nvPr>
        </p:nvSpPr>
        <p:spPr>
          <a:xfrm>
            <a:off x="2699325" y="4162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8" name="Google Shape;278;p27"/>
          <p:cNvSpPr txBox="1"/>
          <p:nvPr>
            <p:ph idx="7" type="subTitle"/>
          </p:nvPr>
        </p:nvSpPr>
        <p:spPr>
          <a:xfrm>
            <a:off x="324000" y="1648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9" name="Google Shape;279;p27"/>
          <p:cNvSpPr txBox="1"/>
          <p:nvPr>
            <p:ph idx="8" type="subTitle"/>
          </p:nvPr>
        </p:nvSpPr>
        <p:spPr>
          <a:xfrm>
            <a:off x="2699325" y="1648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0" name="Google Shape;280;p27"/>
          <p:cNvSpPr txBox="1"/>
          <p:nvPr>
            <p:ph idx="9" type="subTitle"/>
          </p:nvPr>
        </p:nvSpPr>
        <p:spPr>
          <a:xfrm>
            <a:off x="324000" y="3324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1" name="Google Shape;281;p27"/>
          <p:cNvSpPr txBox="1"/>
          <p:nvPr>
            <p:ph idx="13" type="subTitle"/>
          </p:nvPr>
        </p:nvSpPr>
        <p:spPr>
          <a:xfrm>
            <a:off x="2699325" y="3324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2" name="Google Shape;282;p27"/>
          <p:cNvSpPr txBox="1"/>
          <p:nvPr>
            <p:ph idx="14"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83" name="Shape 283"/>
        <p:cNvGrpSpPr/>
        <p:nvPr/>
      </p:nvGrpSpPr>
      <p:grpSpPr>
        <a:xfrm>
          <a:off x="0" y="0"/>
          <a:ext cx="0" cy="0"/>
          <a:chOff x="0" y="0"/>
          <a:chExt cx="0" cy="0"/>
        </a:xfrm>
      </p:grpSpPr>
      <p:grpSp>
        <p:nvGrpSpPr>
          <p:cNvPr id="284" name="Google Shape;284;p28"/>
          <p:cNvGrpSpPr/>
          <p:nvPr/>
        </p:nvGrpSpPr>
        <p:grpSpPr>
          <a:xfrm>
            <a:off x="0" y="1"/>
            <a:ext cx="9151202" cy="649234"/>
            <a:chOff x="0" y="1"/>
            <a:chExt cx="9151202" cy="649234"/>
          </a:xfrm>
        </p:grpSpPr>
        <p:sp>
          <p:nvSpPr>
            <p:cNvPr id="285" name="Google Shape;285;p2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 name="Google Shape;286;p2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87" name="Google Shape;287;p2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88" name="Google Shape;288;p28"/>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9" name="Google Shape;289;p28"/>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90" name="Google Shape;290;p28"/>
          <p:cNvSpPr txBox="1"/>
          <p:nvPr>
            <p:ph idx="3" type="subTitle"/>
          </p:nvPr>
        </p:nvSpPr>
        <p:spPr>
          <a:xfrm>
            <a:off x="324000" y="2562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91" name="Google Shape;291;p28"/>
          <p:cNvSpPr txBox="1"/>
          <p:nvPr>
            <p:ph idx="4" type="subTitle"/>
          </p:nvPr>
        </p:nvSpPr>
        <p:spPr>
          <a:xfrm>
            <a:off x="2699325" y="2562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92" name="Google Shape;292;p28"/>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_2">
    <p:spTree>
      <p:nvGrpSpPr>
        <p:cNvPr id="293" name="Shape 293"/>
        <p:cNvGrpSpPr/>
        <p:nvPr/>
      </p:nvGrpSpPr>
      <p:grpSpPr>
        <a:xfrm>
          <a:off x="0" y="0"/>
          <a:ext cx="0" cy="0"/>
          <a:chOff x="0" y="0"/>
          <a:chExt cx="0" cy="0"/>
        </a:xfrm>
      </p:grpSpPr>
      <p:pic>
        <p:nvPicPr>
          <p:cNvPr id="294" name="Google Shape;294;p2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95" name="Google Shape;295;p2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96" name="Google Shape;296;p2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97" name="Google Shape;297;p29"/>
          <p:cNvCxnSpPr>
            <a:endCxn id="29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99" name="Google Shape;299;p2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300" name="Google Shape;300;p29"/>
          <p:cNvSpPr txBox="1"/>
          <p:nvPr>
            <p:ph type="title"/>
          </p:nvPr>
        </p:nvSpPr>
        <p:spPr>
          <a:xfrm>
            <a:off x="1225225" y="21335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6">
            <a:alphaModFix/>
          </a:blip>
          <a:stretch>
            <a:fillRect/>
          </a:stretch>
        </p:blipFill>
        <p:spPr>
          <a:xfrm>
            <a:off x="363340" y="2925705"/>
            <a:ext cx="563446" cy="572077"/>
          </a:xfrm>
          <a:prstGeom prst="rect">
            <a:avLst/>
          </a:prstGeom>
          <a:noFill/>
          <a:ln>
            <a:noFill/>
          </a:ln>
        </p:spPr>
      </p:pic>
      <p:grpSp>
        <p:nvGrpSpPr>
          <p:cNvPr id="301" name="Google Shape;301;p29"/>
          <p:cNvGrpSpPr/>
          <p:nvPr/>
        </p:nvGrpSpPr>
        <p:grpSpPr>
          <a:xfrm>
            <a:off x="-12" y="0"/>
            <a:ext cx="9151202" cy="598359"/>
            <a:chOff x="-12" y="0"/>
            <a:chExt cx="9151202" cy="598359"/>
          </a:xfrm>
        </p:grpSpPr>
        <p:sp>
          <p:nvSpPr>
            <p:cNvPr id="302" name="Google Shape;302;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grpSp>
      <p:sp>
        <p:nvSpPr>
          <p:cNvPr id="304" name="Google Shape;304;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5" name="Google Shape;305;p29"/>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06" name="Google Shape;306;p29"/>
          <p:cNvSpPr txBox="1"/>
          <p:nvPr>
            <p:ph idx="3" type="title"/>
          </p:nvPr>
        </p:nvSpPr>
        <p:spPr>
          <a:xfrm>
            <a:off x="1225225" y="30698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_1">
    <p:spTree>
      <p:nvGrpSpPr>
        <p:cNvPr id="307" name="Shape 307"/>
        <p:cNvGrpSpPr/>
        <p:nvPr/>
      </p:nvGrpSpPr>
      <p:grpSpPr>
        <a:xfrm>
          <a:off x="0" y="0"/>
          <a:ext cx="0" cy="0"/>
          <a:chOff x="0" y="0"/>
          <a:chExt cx="0" cy="0"/>
        </a:xfrm>
      </p:grpSpPr>
      <p:pic>
        <p:nvPicPr>
          <p:cNvPr id="308" name="Google Shape;308;p3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310" name="Google Shape;310;p3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312" name="Google Shape;312;p3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313" name="Google Shape;313;p3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314" name="Google Shape;314;p30"/>
          <p:cNvCxnSpPr>
            <a:endCxn id="315"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315" name="Google Shape;315;p3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316" name="Google Shape;316;p30"/>
          <p:cNvPicPr preferRelativeResize="0"/>
          <p:nvPr/>
        </p:nvPicPr>
        <p:blipFill>
          <a:blip r:embed="rId7">
            <a:alphaModFix/>
          </a:blip>
          <a:stretch>
            <a:fillRect/>
          </a:stretch>
        </p:blipFill>
        <p:spPr>
          <a:xfrm>
            <a:off x="363482" y="1682508"/>
            <a:ext cx="563185" cy="572092"/>
          </a:xfrm>
          <a:prstGeom prst="rect">
            <a:avLst/>
          </a:prstGeom>
          <a:noFill/>
          <a:ln>
            <a:noFill/>
          </a:ln>
        </p:spPr>
      </p:pic>
      <p:pic>
        <p:nvPicPr>
          <p:cNvPr id="317" name="Google Shape;317;p30"/>
          <p:cNvPicPr preferRelativeResize="0"/>
          <p:nvPr/>
        </p:nvPicPr>
        <p:blipFill>
          <a:blip r:embed="rId8">
            <a:alphaModFix/>
          </a:blip>
          <a:stretch>
            <a:fillRect/>
          </a:stretch>
        </p:blipFill>
        <p:spPr>
          <a:xfrm>
            <a:off x="363340" y="2703416"/>
            <a:ext cx="563446" cy="572077"/>
          </a:xfrm>
          <a:prstGeom prst="rect">
            <a:avLst/>
          </a:prstGeom>
          <a:noFill/>
          <a:ln>
            <a:noFill/>
          </a:ln>
        </p:spPr>
      </p:pic>
      <p:grpSp>
        <p:nvGrpSpPr>
          <p:cNvPr id="318" name="Google Shape;318;p30"/>
          <p:cNvGrpSpPr/>
          <p:nvPr/>
        </p:nvGrpSpPr>
        <p:grpSpPr>
          <a:xfrm>
            <a:off x="-12" y="0"/>
            <a:ext cx="9151202" cy="598359"/>
            <a:chOff x="-12" y="0"/>
            <a:chExt cx="9151202" cy="598359"/>
          </a:xfrm>
        </p:grpSpPr>
        <p:sp>
          <p:nvSpPr>
            <p:cNvPr id="319" name="Google Shape;319;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0" name="Google Shape;320;p3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grpSp>
      <p:sp>
        <p:nvSpPr>
          <p:cNvPr id="321" name="Google Shape;321;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2" name="Google Shape;322;p30"/>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23" name="Google Shape;323;p30"/>
          <p:cNvSpPr txBox="1"/>
          <p:nvPr>
            <p:ph idx="2" type="title"/>
          </p:nvPr>
        </p:nvSpPr>
        <p:spPr>
          <a:xfrm>
            <a:off x="1225225" y="28412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4" name="Google Shape;324;p30"/>
          <p:cNvSpPr txBox="1"/>
          <p:nvPr>
            <p:ph idx="3" type="title"/>
          </p:nvPr>
        </p:nvSpPr>
        <p:spPr>
          <a:xfrm>
            <a:off x="1225200" y="37819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5" name="Google Shape;325;p30"/>
          <p:cNvSpPr txBox="1"/>
          <p:nvPr>
            <p:ph idx="4" type="title"/>
          </p:nvPr>
        </p:nvSpPr>
        <p:spPr>
          <a:xfrm>
            <a:off x="1225200" y="18224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26" name="Shape 326"/>
        <p:cNvGrpSpPr/>
        <p:nvPr/>
      </p:nvGrpSpPr>
      <p:grpSpPr>
        <a:xfrm>
          <a:off x="0" y="0"/>
          <a:ext cx="0" cy="0"/>
          <a:chOff x="0" y="0"/>
          <a:chExt cx="0" cy="0"/>
        </a:xfrm>
      </p:grpSpPr>
      <p:pic>
        <p:nvPicPr>
          <p:cNvPr id="327" name="Google Shape;327;p3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28" name="Google Shape;328;p3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29" name="Google Shape;329;p3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30" name="Google Shape;330;p3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31" name="Google Shape;331;p3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32" name="Google Shape;332;p3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33" name="Google Shape;333;p3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34" name="Google Shape;334;p3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35" name="Google Shape;335;p3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36" name="Google Shape;336;p3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37" name="Google Shape;337;p3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38" name="Google Shape;338;p31"/>
          <p:cNvPicPr preferRelativeResize="0"/>
          <p:nvPr/>
        </p:nvPicPr>
        <p:blipFill>
          <a:blip r:embed="rId9">
            <a:alphaModFix/>
          </a:blip>
          <a:stretch>
            <a:fillRect/>
          </a:stretch>
        </p:blipFill>
        <p:spPr>
          <a:xfrm>
            <a:off x="363340" y="2287588"/>
            <a:ext cx="563446" cy="572077"/>
          </a:xfrm>
          <a:prstGeom prst="rect">
            <a:avLst/>
          </a:prstGeom>
          <a:noFill/>
          <a:ln>
            <a:noFill/>
          </a:ln>
        </p:spPr>
      </p:pic>
      <p:pic>
        <p:nvPicPr>
          <p:cNvPr id="339" name="Google Shape;339;p31"/>
          <p:cNvPicPr preferRelativeResize="0"/>
          <p:nvPr/>
        </p:nvPicPr>
        <p:blipFill>
          <a:blip r:embed="rId10">
            <a:alphaModFix/>
          </a:blip>
          <a:stretch>
            <a:fillRect/>
          </a:stretch>
        </p:blipFill>
        <p:spPr>
          <a:xfrm>
            <a:off x="363341" y="3969363"/>
            <a:ext cx="563446" cy="572077"/>
          </a:xfrm>
          <a:prstGeom prst="rect">
            <a:avLst/>
          </a:prstGeom>
          <a:noFill/>
          <a:ln>
            <a:noFill/>
          </a:ln>
        </p:spPr>
      </p:pic>
      <p:grpSp>
        <p:nvGrpSpPr>
          <p:cNvPr id="340" name="Google Shape;340;p31"/>
          <p:cNvGrpSpPr/>
          <p:nvPr/>
        </p:nvGrpSpPr>
        <p:grpSpPr>
          <a:xfrm>
            <a:off x="-12" y="0"/>
            <a:ext cx="9151202" cy="598359"/>
            <a:chOff x="-12" y="0"/>
            <a:chExt cx="9151202" cy="598359"/>
          </a:xfrm>
        </p:grpSpPr>
        <p:sp>
          <p:nvSpPr>
            <p:cNvPr id="341" name="Google Shape;341;p3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grpSp>
      <p:sp>
        <p:nvSpPr>
          <p:cNvPr id="343" name="Google Shape;343;p3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44" name="Google Shape;344;p31"/>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45" name="Google Shape;345;p31"/>
          <p:cNvSpPr txBox="1"/>
          <p:nvPr>
            <p:ph idx="2" type="title"/>
          </p:nvPr>
        </p:nvSpPr>
        <p:spPr>
          <a:xfrm>
            <a:off x="1224600" y="160210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6" name="Google Shape;346;p31"/>
          <p:cNvSpPr txBox="1"/>
          <p:nvPr>
            <p:ph idx="3" type="title"/>
          </p:nvPr>
        </p:nvSpPr>
        <p:spPr>
          <a:xfrm>
            <a:off x="1224600" y="24317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7" name="Google Shape;347;p31"/>
          <p:cNvSpPr txBox="1"/>
          <p:nvPr>
            <p:ph idx="4" type="title"/>
          </p:nvPr>
        </p:nvSpPr>
        <p:spPr>
          <a:xfrm>
            <a:off x="1224600" y="3286637"/>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8" name="Google Shape;348;p31"/>
          <p:cNvSpPr txBox="1"/>
          <p:nvPr>
            <p:ph idx="5" type="title"/>
          </p:nvPr>
        </p:nvSpPr>
        <p:spPr>
          <a:xfrm>
            <a:off x="1224600" y="41081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49" name="Shape 349"/>
        <p:cNvGrpSpPr/>
        <p:nvPr/>
      </p:nvGrpSpPr>
      <p:grpSpPr>
        <a:xfrm>
          <a:off x="0" y="0"/>
          <a:ext cx="0" cy="0"/>
          <a:chOff x="0" y="0"/>
          <a:chExt cx="0" cy="0"/>
        </a:xfrm>
      </p:grpSpPr>
      <p:grpSp>
        <p:nvGrpSpPr>
          <p:cNvPr id="350" name="Google Shape;350;p32"/>
          <p:cNvGrpSpPr/>
          <p:nvPr/>
        </p:nvGrpSpPr>
        <p:grpSpPr>
          <a:xfrm>
            <a:off x="-1" y="-2"/>
            <a:ext cx="9151203" cy="649227"/>
            <a:chOff x="-1" y="-2"/>
            <a:chExt cx="9151203" cy="649227"/>
          </a:xfrm>
        </p:grpSpPr>
        <p:pic>
          <p:nvPicPr>
            <p:cNvPr id="351" name="Google Shape;351;p3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2" name="Google Shape;352;p3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3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354" name="Google Shape;354;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55" name="Google Shape;355;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
        <p:nvSpPr>
          <p:cNvPr id="356" name="Google Shape;356;p32"/>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7" name="Google Shape;357;p32"/>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58" name="Shape 358"/>
        <p:cNvGrpSpPr/>
        <p:nvPr/>
      </p:nvGrpSpPr>
      <p:grpSpPr>
        <a:xfrm>
          <a:off x="0" y="0"/>
          <a:ext cx="0" cy="0"/>
          <a:chOff x="0" y="0"/>
          <a:chExt cx="0" cy="0"/>
        </a:xfrm>
      </p:grpSpPr>
      <p:grpSp>
        <p:nvGrpSpPr>
          <p:cNvPr id="359" name="Google Shape;359;p33"/>
          <p:cNvGrpSpPr/>
          <p:nvPr/>
        </p:nvGrpSpPr>
        <p:grpSpPr>
          <a:xfrm>
            <a:off x="-1" y="-2"/>
            <a:ext cx="9151203" cy="649236"/>
            <a:chOff x="-1" y="-2"/>
            <a:chExt cx="9151203" cy="649236"/>
          </a:xfrm>
        </p:grpSpPr>
        <p:pic>
          <p:nvPicPr>
            <p:cNvPr id="360" name="Google Shape;36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1" name="Google Shape;361;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pic>
        <p:nvPicPr>
          <p:cNvPr id="363" name="Google Shape;363;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64" name="Google Shape;364;p33"/>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66" name="Google Shape;366;p33"/>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67" name="Shape 367"/>
        <p:cNvGrpSpPr/>
        <p:nvPr/>
      </p:nvGrpSpPr>
      <p:grpSpPr>
        <a:xfrm>
          <a:off x="0" y="0"/>
          <a:ext cx="0" cy="0"/>
          <a:chOff x="0" y="0"/>
          <a:chExt cx="0" cy="0"/>
        </a:xfrm>
      </p:grpSpPr>
      <p:pic>
        <p:nvPicPr>
          <p:cNvPr id="368" name="Google Shape;368;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pic>
        <p:nvPicPr>
          <p:cNvPr id="371" name="Google Shape;371;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72" name="Google Shape;372;p34"/>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3" name="Google Shape;373;p3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74" name="Google Shape;374;p34"/>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75" name="Shape 375"/>
        <p:cNvGrpSpPr/>
        <p:nvPr/>
      </p:nvGrpSpPr>
      <p:grpSpPr>
        <a:xfrm>
          <a:off x="0" y="0"/>
          <a:ext cx="0" cy="0"/>
          <a:chOff x="0" y="0"/>
          <a:chExt cx="0" cy="0"/>
        </a:xfrm>
      </p:grpSpPr>
      <p:pic>
        <p:nvPicPr>
          <p:cNvPr id="376" name="Google Shape;376;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77" name="Google Shape;377;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pic>
        <p:nvPicPr>
          <p:cNvPr id="379" name="Google Shape;379;p3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80" name="Google Shape;380;p35"/>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1" name="Google Shape;381;p3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82" name="Google Shape;382;p35"/>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83" name="Shape 383"/>
        <p:cNvGrpSpPr/>
        <p:nvPr/>
      </p:nvGrpSpPr>
      <p:grpSpPr>
        <a:xfrm>
          <a:off x="0" y="0"/>
          <a:ext cx="0" cy="0"/>
          <a:chOff x="0" y="0"/>
          <a:chExt cx="0" cy="0"/>
        </a:xfrm>
      </p:grpSpPr>
      <p:sp>
        <p:nvSpPr>
          <p:cNvPr id="384" name="Google Shape;384;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5" name="Google Shape;385;p3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86" name="Google Shape;386;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txBox="1"/>
          <p:nvPr>
            <p:ph idx="1"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6"/>
          <p:cNvSpPr txBox="1"/>
          <p:nvPr>
            <p:ph idx="2"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9" name="Google Shape;389;p36"/>
          <p:cNvGrpSpPr/>
          <p:nvPr/>
        </p:nvGrpSpPr>
        <p:grpSpPr>
          <a:xfrm>
            <a:off x="7834231" y="1285"/>
            <a:ext cx="828900" cy="576065"/>
            <a:chOff x="7801496" y="1285"/>
            <a:chExt cx="828900" cy="576065"/>
          </a:xfrm>
        </p:grpSpPr>
        <p:pic>
          <p:nvPicPr>
            <p:cNvPr id="390" name="Google Shape;390;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91" name="Google Shape;391;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92" name="Google Shape;392;p36"/>
          <p:cNvGrpSpPr/>
          <p:nvPr/>
        </p:nvGrpSpPr>
        <p:grpSpPr>
          <a:xfrm>
            <a:off x="8635663" y="1285"/>
            <a:ext cx="499700" cy="576065"/>
            <a:chOff x="8635663" y="1285"/>
            <a:chExt cx="499700" cy="576065"/>
          </a:xfrm>
        </p:grpSpPr>
        <p:pic>
          <p:nvPicPr>
            <p:cNvPr id="393" name="Google Shape;393;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4" name="Google Shape;394;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
        <p:nvSpPr>
          <p:cNvPr id="395" name="Google Shape;395;p36"/>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6" name="Google Shape;396;p36"/>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397" name="Google Shape;397;p36"/>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98" name="Shape 398"/>
        <p:cNvGrpSpPr/>
        <p:nvPr/>
      </p:nvGrpSpPr>
      <p:grpSpPr>
        <a:xfrm>
          <a:off x="0" y="0"/>
          <a:ext cx="0" cy="0"/>
          <a:chOff x="0" y="0"/>
          <a:chExt cx="0" cy="0"/>
        </a:xfrm>
      </p:grpSpPr>
      <p:sp>
        <p:nvSpPr>
          <p:cNvPr id="399" name="Google Shape;399;p3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0" name="Google Shape;400;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7"/>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3" name="Google Shape;403;p37"/>
          <p:cNvGrpSpPr/>
          <p:nvPr/>
        </p:nvGrpSpPr>
        <p:grpSpPr>
          <a:xfrm>
            <a:off x="7834231" y="1285"/>
            <a:ext cx="828900" cy="576065"/>
            <a:chOff x="7801496" y="1285"/>
            <a:chExt cx="828900" cy="576065"/>
          </a:xfrm>
        </p:grpSpPr>
        <p:pic>
          <p:nvPicPr>
            <p:cNvPr id="404" name="Google Shape;404;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5" name="Google Shape;405;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06" name="Google Shape;406;p37"/>
          <p:cNvGrpSpPr/>
          <p:nvPr/>
        </p:nvGrpSpPr>
        <p:grpSpPr>
          <a:xfrm>
            <a:off x="8635663" y="1285"/>
            <a:ext cx="499700" cy="576065"/>
            <a:chOff x="8635663" y="1285"/>
            <a:chExt cx="499700" cy="576065"/>
          </a:xfrm>
        </p:grpSpPr>
        <p:pic>
          <p:nvPicPr>
            <p:cNvPr id="407" name="Google Shape;407;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8" name="Google Shape;408;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09" name="Google Shape;409;p37"/>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0" name="Google Shape;410;p37"/>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1" name="Google Shape;411;p37"/>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12" name="Google Shape;412;p37"/>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413" name="Shape 413"/>
        <p:cNvGrpSpPr/>
        <p:nvPr/>
      </p:nvGrpSpPr>
      <p:grpSpPr>
        <a:xfrm>
          <a:off x="0" y="0"/>
          <a:ext cx="0" cy="0"/>
          <a:chOff x="0" y="0"/>
          <a:chExt cx="0" cy="0"/>
        </a:xfrm>
      </p:grpSpPr>
      <p:sp>
        <p:nvSpPr>
          <p:cNvPr id="414" name="Google Shape;414;p3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5" name="Google Shape;415;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18" name="Google Shape;418;p38"/>
          <p:cNvGrpSpPr/>
          <p:nvPr/>
        </p:nvGrpSpPr>
        <p:grpSpPr>
          <a:xfrm>
            <a:off x="7834231" y="1285"/>
            <a:ext cx="828900" cy="576065"/>
            <a:chOff x="7801496" y="1285"/>
            <a:chExt cx="828900" cy="576065"/>
          </a:xfrm>
        </p:grpSpPr>
        <p:pic>
          <p:nvPicPr>
            <p:cNvPr id="419" name="Google Shape;419;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20" name="Google Shape;420;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21" name="Google Shape;421;p38"/>
          <p:cNvGrpSpPr/>
          <p:nvPr/>
        </p:nvGrpSpPr>
        <p:grpSpPr>
          <a:xfrm>
            <a:off x="8635663" y="1285"/>
            <a:ext cx="499700" cy="576065"/>
            <a:chOff x="8635663" y="1285"/>
            <a:chExt cx="499700" cy="576065"/>
          </a:xfrm>
        </p:grpSpPr>
        <p:pic>
          <p:nvPicPr>
            <p:cNvPr id="422" name="Google Shape;422;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23" name="Google Shape;423;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24" name="Google Shape;424;p38"/>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8"/>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8"/>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27" name="Google Shape;427;p38"/>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428" name="Shape 428"/>
        <p:cNvGrpSpPr/>
        <p:nvPr/>
      </p:nvGrpSpPr>
      <p:grpSpPr>
        <a:xfrm>
          <a:off x="0" y="0"/>
          <a:ext cx="0" cy="0"/>
          <a:chOff x="0" y="0"/>
          <a:chExt cx="0" cy="0"/>
        </a:xfrm>
      </p:grpSpPr>
      <p:sp>
        <p:nvSpPr>
          <p:cNvPr id="429" name="Google Shape;429;p3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 name="Google Shape;43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1" name="Google Shape;431;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9"/>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33" name="Google Shape;433;p39"/>
          <p:cNvGrpSpPr/>
          <p:nvPr/>
        </p:nvGrpSpPr>
        <p:grpSpPr>
          <a:xfrm>
            <a:off x="7834231" y="1285"/>
            <a:ext cx="828900" cy="576065"/>
            <a:chOff x="7801496" y="1285"/>
            <a:chExt cx="828900" cy="576065"/>
          </a:xfrm>
        </p:grpSpPr>
        <p:pic>
          <p:nvPicPr>
            <p:cNvPr id="434" name="Google Shape;434;p3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35" name="Google Shape;435;p3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36" name="Google Shape;436;p39"/>
          <p:cNvGrpSpPr/>
          <p:nvPr/>
        </p:nvGrpSpPr>
        <p:grpSpPr>
          <a:xfrm>
            <a:off x="8635663" y="1285"/>
            <a:ext cx="499700" cy="576065"/>
            <a:chOff x="8635663" y="1285"/>
            <a:chExt cx="499700" cy="576065"/>
          </a:xfrm>
        </p:grpSpPr>
        <p:pic>
          <p:nvPicPr>
            <p:cNvPr id="437" name="Google Shape;437;p3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38" name="Google Shape;438;p3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
        <p:nvSpPr>
          <p:cNvPr id="439" name="Google Shape;439;p39"/>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9"/>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9"/>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42" name="Google Shape;442;p39"/>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43" name="Shape 443"/>
        <p:cNvGrpSpPr/>
        <p:nvPr/>
      </p:nvGrpSpPr>
      <p:grpSpPr>
        <a:xfrm>
          <a:off x="0" y="0"/>
          <a:ext cx="0" cy="0"/>
          <a:chOff x="0" y="0"/>
          <a:chExt cx="0" cy="0"/>
        </a:xfrm>
      </p:grpSpPr>
      <p:pic>
        <p:nvPicPr>
          <p:cNvPr id="444" name="Google Shape;444;p40"/>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45" name="Google Shape;445;p40"/>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46" name="Google Shape;446;p4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47" name="Google Shape;4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9" name="Google Shape;44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50" name="Google Shape;450;p40"/>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51" name="Google Shape;451;p40"/>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52" name="Google Shape;45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53" name="Google Shape;45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54" name="Google Shape;45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55" name="Google Shape;455;p4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56" name="Google Shape;456;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57" name="Google Shape;457;p40"/>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0"/>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59" name="Shape 459"/>
        <p:cNvGrpSpPr/>
        <p:nvPr/>
      </p:nvGrpSpPr>
      <p:grpSpPr>
        <a:xfrm>
          <a:off x="0" y="0"/>
          <a:ext cx="0" cy="0"/>
          <a:chOff x="0" y="0"/>
          <a:chExt cx="0" cy="0"/>
        </a:xfrm>
      </p:grpSpPr>
      <p:pic>
        <p:nvPicPr>
          <p:cNvPr id="460" name="Google Shape;460;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61" name="Google Shape;461;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2" name="Google Shape;462;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3" name="Google Shape;463;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pic>
        <p:nvPicPr>
          <p:cNvPr id="464" name="Google Shape;464;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65" name="Google Shape;465;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66" name="Google Shape;466;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67" name="Google Shape;467;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8" name="Google Shape;468;p41"/>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9" name="Google Shape;469;p41"/>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0" name="Google Shape;470;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71" name="Google Shape;471;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72" name="Google Shape;472;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73" name="Google Shape;473;p4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4" name="Google Shape;474;p41"/>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75" name="Shape 475"/>
        <p:cNvGrpSpPr/>
        <p:nvPr/>
      </p:nvGrpSpPr>
      <p:grpSpPr>
        <a:xfrm>
          <a:off x="0" y="0"/>
          <a:ext cx="0" cy="0"/>
          <a:chOff x="0" y="0"/>
          <a:chExt cx="0" cy="0"/>
        </a:xfrm>
      </p:grpSpPr>
      <p:pic>
        <p:nvPicPr>
          <p:cNvPr id="476" name="Google Shape;476;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8" name="Google Shape;478;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9" name="Google Shape;479;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pic>
        <p:nvPicPr>
          <p:cNvPr id="480" name="Google Shape;480;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81" name="Google Shape;481;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82" name="Google Shape;482;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83" name="Google Shape;483;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84" name="Google Shape;484;p42"/>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85" name="Google Shape;485;p42"/>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87" name="Google Shape;487;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88" name="Google Shape;488;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89" name="Google Shape;489;p4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0" name="Google Shape;490;p42"/>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91" name="Shape 491"/>
        <p:cNvGrpSpPr/>
        <p:nvPr/>
      </p:nvGrpSpPr>
      <p:grpSpPr>
        <a:xfrm>
          <a:off x="0" y="0"/>
          <a:ext cx="0" cy="0"/>
          <a:chOff x="0" y="0"/>
          <a:chExt cx="0" cy="0"/>
        </a:xfrm>
      </p:grpSpPr>
      <p:pic>
        <p:nvPicPr>
          <p:cNvPr id="492" name="Google Shape;49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93" name="Google Shape;49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4" name="Google Shape;494;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95" name="Google Shape;495;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pic>
        <p:nvPicPr>
          <p:cNvPr id="496" name="Google Shape;496;p43"/>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97" name="Google Shape;497;p43"/>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98" name="Google Shape;498;p43"/>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99" name="Google Shape;499;p43"/>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500" name="Google Shape;500;p43"/>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501" name="Google Shape;501;p43"/>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2" name="Google Shape;502;p4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503" name="Google Shape;503;p43"/>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504" name="Google Shape;504;p43"/>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505" name="Google Shape;505;p4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43"/>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507" name="Shape 507"/>
        <p:cNvGrpSpPr/>
        <p:nvPr/>
      </p:nvGrpSpPr>
      <p:grpSpPr>
        <a:xfrm>
          <a:off x="0" y="0"/>
          <a:ext cx="0" cy="0"/>
          <a:chOff x="0" y="0"/>
          <a:chExt cx="0" cy="0"/>
        </a:xfrm>
      </p:grpSpPr>
      <p:pic>
        <p:nvPicPr>
          <p:cNvPr id="508" name="Google Shape;508;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09" name="Google Shape;509;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4"/>
          <p:cNvSpPr txBox="1"/>
          <p:nvPr>
            <p:ph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11" name="Google Shape;511;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12" name="Google Shape;512;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13" name="Google Shape;513;p44"/>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4" name="Google Shape;514;p44"/>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5" name="Google Shape;515;p44"/>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6" name="Google Shape;516;p44"/>
          <p:cNvGrpSpPr/>
          <p:nvPr/>
        </p:nvGrpSpPr>
        <p:grpSpPr>
          <a:xfrm>
            <a:off x="323653" y="1804438"/>
            <a:ext cx="457200" cy="457200"/>
            <a:chOff x="1020916" y="1442088"/>
            <a:chExt cx="457200" cy="457200"/>
          </a:xfrm>
        </p:grpSpPr>
        <p:pic>
          <p:nvPicPr>
            <p:cNvPr id="517" name="Google Shape;51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9" name="Google Shape;519;p44"/>
          <p:cNvGrpSpPr/>
          <p:nvPr/>
        </p:nvGrpSpPr>
        <p:grpSpPr>
          <a:xfrm>
            <a:off x="323653" y="2766575"/>
            <a:ext cx="457200" cy="457200"/>
            <a:chOff x="1020916" y="1442088"/>
            <a:chExt cx="457200" cy="457200"/>
          </a:xfrm>
        </p:grpSpPr>
        <p:pic>
          <p:nvPicPr>
            <p:cNvPr id="520" name="Google Shape;52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22" name="Google Shape;522;p44"/>
          <p:cNvGrpSpPr/>
          <p:nvPr/>
        </p:nvGrpSpPr>
        <p:grpSpPr>
          <a:xfrm>
            <a:off x="323641" y="3729038"/>
            <a:ext cx="457200" cy="457200"/>
            <a:chOff x="1020916" y="1442088"/>
            <a:chExt cx="457200" cy="457200"/>
          </a:xfrm>
        </p:grpSpPr>
        <p:pic>
          <p:nvPicPr>
            <p:cNvPr id="523" name="Google Shape;52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25" name="Google Shape;525;p44"/>
          <p:cNvSpPr txBox="1"/>
          <p:nvPr>
            <p:ph idx="4"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6" name="Google Shape;526;p44"/>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527" name="Shape 527"/>
        <p:cNvGrpSpPr/>
        <p:nvPr/>
      </p:nvGrpSpPr>
      <p:grpSpPr>
        <a:xfrm>
          <a:off x="0" y="0"/>
          <a:ext cx="0" cy="0"/>
          <a:chOff x="0" y="0"/>
          <a:chExt cx="0" cy="0"/>
        </a:xfrm>
      </p:grpSpPr>
      <p:pic>
        <p:nvPicPr>
          <p:cNvPr id="528" name="Google Shape;5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9" name="Google Shape;5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0" name="Google Shape;530;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1" name="Google Shape;531;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32" name="Google Shape;532;p45"/>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5"/>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5"/>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5" name="Google Shape;535;p45"/>
          <p:cNvGrpSpPr/>
          <p:nvPr/>
        </p:nvGrpSpPr>
        <p:grpSpPr>
          <a:xfrm>
            <a:off x="323653" y="1804438"/>
            <a:ext cx="457200" cy="457200"/>
            <a:chOff x="1020916" y="1442088"/>
            <a:chExt cx="457200" cy="457200"/>
          </a:xfrm>
        </p:grpSpPr>
        <p:pic>
          <p:nvPicPr>
            <p:cNvPr id="536" name="Google Shape;53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8" name="Google Shape;538;p45"/>
          <p:cNvGrpSpPr/>
          <p:nvPr/>
        </p:nvGrpSpPr>
        <p:grpSpPr>
          <a:xfrm>
            <a:off x="323653" y="2766575"/>
            <a:ext cx="457200" cy="457200"/>
            <a:chOff x="1020916" y="1442088"/>
            <a:chExt cx="457200" cy="457200"/>
          </a:xfrm>
        </p:grpSpPr>
        <p:pic>
          <p:nvPicPr>
            <p:cNvPr id="539" name="Google Shape;53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1" name="Google Shape;541;p45"/>
          <p:cNvGrpSpPr/>
          <p:nvPr/>
        </p:nvGrpSpPr>
        <p:grpSpPr>
          <a:xfrm>
            <a:off x="323641" y="3729038"/>
            <a:ext cx="457200" cy="457200"/>
            <a:chOff x="1020916" y="1442088"/>
            <a:chExt cx="457200" cy="457200"/>
          </a:xfrm>
        </p:grpSpPr>
        <p:pic>
          <p:nvPicPr>
            <p:cNvPr id="542" name="Google Shape;54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44" name="Google Shape;544;p4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5" name="Google Shape;545;p45"/>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6" name="Google Shape;546;p45"/>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47" name="Shape 547"/>
        <p:cNvGrpSpPr/>
        <p:nvPr/>
      </p:nvGrpSpPr>
      <p:grpSpPr>
        <a:xfrm>
          <a:off x="0" y="0"/>
          <a:ext cx="0" cy="0"/>
          <a:chOff x="0" y="0"/>
          <a:chExt cx="0" cy="0"/>
        </a:xfrm>
      </p:grpSpPr>
      <p:pic>
        <p:nvPicPr>
          <p:cNvPr id="548" name="Google Shape;548;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49" name="Google Shape;549;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0" name="Google Shape;550;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1" name="Google Shape;551;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2" name="Google Shape;552;p46"/>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3" name="Google Shape;553;p46"/>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4" name="Google Shape;554;p46"/>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5" name="Google Shape;555;p46"/>
          <p:cNvGrpSpPr/>
          <p:nvPr/>
        </p:nvGrpSpPr>
        <p:grpSpPr>
          <a:xfrm>
            <a:off x="323653" y="1804438"/>
            <a:ext cx="457200" cy="457200"/>
            <a:chOff x="1020916" y="1442088"/>
            <a:chExt cx="457200" cy="457200"/>
          </a:xfrm>
        </p:grpSpPr>
        <p:pic>
          <p:nvPicPr>
            <p:cNvPr id="556" name="Google Shape;55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6"/>
          <p:cNvGrpSpPr/>
          <p:nvPr/>
        </p:nvGrpSpPr>
        <p:grpSpPr>
          <a:xfrm>
            <a:off x="323653" y="2766575"/>
            <a:ext cx="457200" cy="457200"/>
            <a:chOff x="1020916" y="1442088"/>
            <a:chExt cx="457200" cy="457200"/>
          </a:xfrm>
        </p:grpSpPr>
        <p:pic>
          <p:nvPicPr>
            <p:cNvPr id="559" name="Google Shape;55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6"/>
          <p:cNvGrpSpPr/>
          <p:nvPr/>
        </p:nvGrpSpPr>
        <p:grpSpPr>
          <a:xfrm>
            <a:off x="323641" y="3729038"/>
            <a:ext cx="457200" cy="457200"/>
            <a:chOff x="1020916" y="1442088"/>
            <a:chExt cx="457200" cy="457200"/>
          </a:xfrm>
        </p:grpSpPr>
        <p:pic>
          <p:nvPicPr>
            <p:cNvPr id="562" name="Google Shape;562;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64" name="Google Shape;564;p4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5" name="Google Shape;565;p46"/>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6" name="Google Shape;566;p46"/>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67" name="Shape 567"/>
        <p:cNvGrpSpPr/>
        <p:nvPr/>
      </p:nvGrpSpPr>
      <p:grpSpPr>
        <a:xfrm>
          <a:off x="0" y="0"/>
          <a:ext cx="0" cy="0"/>
          <a:chOff x="0" y="0"/>
          <a:chExt cx="0" cy="0"/>
        </a:xfrm>
      </p:grpSpPr>
      <p:pic>
        <p:nvPicPr>
          <p:cNvPr id="568" name="Google Shape;568;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1" name="Google Shape;571;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72" name="Google Shape;572;p47"/>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7"/>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7"/>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7"/>
          <p:cNvGrpSpPr/>
          <p:nvPr/>
        </p:nvGrpSpPr>
        <p:grpSpPr>
          <a:xfrm>
            <a:off x="323653" y="1804438"/>
            <a:ext cx="457200" cy="457200"/>
            <a:chOff x="1020916" y="1442088"/>
            <a:chExt cx="457200" cy="457200"/>
          </a:xfrm>
        </p:grpSpPr>
        <p:pic>
          <p:nvPicPr>
            <p:cNvPr id="576" name="Google Shape;57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7"/>
          <p:cNvGrpSpPr/>
          <p:nvPr/>
        </p:nvGrpSpPr>
        <p:grpSpPr>
          <a:xfrm>
            <a:off x="323653" y="2766575"/>
            <a:ext cx="457200" cy="457200"/>
            <a:chOff x="1020916" y="1442088"/>
            <a:chExt cx="457200" cy="457200"/>
          </a:xfrm>
        </p:grpSpPr>
        <p:pic>
          <p:nvPicPr>
            <p:cNvPr id="579" name="Google Shape;57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7"/>
          <p:cNvGrpSpPr/>
          <p:nvPr/>
        </p:nvGrpSpPr>
        <p:grpSpPr>
          <a:xfrm>
            <a:off x="323641" y="3729038"/>
            <a:ext cx="457200" cy="457200"/>
            <a:chOff x="1020916" y="1442088"/>
            <a:chExt cx="457200" cy="457200"/>
          </a:xfrm>
        </p:grpSpPr>
        <p:pic>
          <p:nvPicPr>
            <p:cNvPr id="582" name="Google Shape;58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84" name="Google Shape;584;p4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5" name="Google Shape;585;p47"/>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6" name="Google Shape;586;p47"/>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87" name="Shape 587"/>
        <p:cNvGrpSpPr/>
        <p:nvPr/>
      </p:nvGrpSpPr>
      <p:grpSpPr>
        <a:xfrm>
          <a:off x="0" y="0"/>
          <a:ext cx="0" cy="0"/>
          <a:chOff x="0" y="0"/>
          <a:chExt cx="0" cy="0"/>
        </a:xfrm>
      </p:grpSpPr>
      <p:pic>
        <p:nvPicPr>
          <p:cNvPr id="588" name="Google Shape;588;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89" name="Google Shape;589;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0" name="Google Shape;590;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8"/>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3" name="Google Shape;593;p48"/>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4" name="Google Shape;594;p48"/>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8"/>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6" name="Google Shape;596;p48"/>
          <p:cNvGrpSpPr/>
          <p:nvPr/>
        </p:nvGrpSpPr>
        <p:grpSpPr>
          <a:xfrm>
            <a:off x="323653" y="1652038"/>
            <a:ext cx="457200" cy="457200"/>
            <a:chOff x="1020916" y="1442088"/>
            <a:chExt cx="457200" cy="457200"/>
          </a:xfrm>
        </p:grpSpPr>
        <p:pic>
          <p:nvPicPr>
            <p:cNvPr id="597" name="Google Shape;597;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8"/>
          <p:cNvGrpSpPr/>
          <p:nvPr/>
        </p:nvGrpSpPr>
        <p:grpSpPr>
          <a:xfrm>
            <a:off x="323653" y="2461775"/>
            <a:ext cx="457200" cy="457200"/>
            <a:chOff x="1020916" y="1442088"/>
            <a:chExt cx="457200" cy="457200"/>
          </a:xfrm>
        </p:grpSpPr>
        <p:pic>
          <p:nvPicPr>
            <p:cNvPr id="600" name="Google Shape;600;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8"/>
          <p:cNvGrpSpPr/>
          <p:nvPr/>
        </p:nvGrpSpPr>
        <p:grpSpPr>
          <a:xfrm>
            <a:off x="323641" y="3271838"/>
            <a:ext cx="457200" cy="457200"/>
            <a:chOff x="1020916" y="1442088"/>
            <a:chExt cx="457200" cy="457200"/>
          </a:xfrm>
        </p:grpSpPr>
        <p:pic>
          <p:nvPicPr>
            <p:cNvPr id="603" name="Google Shape;603;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5" name="Google Shape;605;p48"/>
          <p:cNvGrpSpPr/>
          <p:nvPr/>
        </p:nvGrpSpPr>
        <p:grpSpPr>
          <a:xfrm>
            <a:off x="323641" y="4081763"/>
            <a:ext cx="457200" cy="457200"/>
            <a:chOff x="1020916" y="1442088"/>
            <a:chExt cx="457200" cy="457200"/>
          </a:xfrm>
        </p:grpSpPr>
        <p:pic>
          <p:nvPicPr>
            <p:cNvPr id="606" name="Google Shape;60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7" name="Google Shape;60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08" name="Google Shape;608;p4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8"/>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0" name="Google Shape;610;p48"/>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611" name="Shape 611"/>
        <p:cNvGrpSpPr/>
        <p:nvPr/>
      </p:nvGrpSpPr>
      <p:grpSpPr>
        <a:xfrm>
          <a:off x="0" y="0"/>
          <a:ext cx="0" cy="0"/>
          <a:chOff x="0" y="0"/>
          <a:chExt cx="0" cy="0"/>
        </a:xfrm>
      </p:grpSpPr>
      <p:pic>
        <p:nvPicPr>
          <p:cNvPr id="612" name="Google Shape;612;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3" name="Google Shape;613;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4" name="Google Shape;614;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16" name="Google Shape;616;p49"/>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7" name="Google Shape;617;p49"/>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49"/>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49"/>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0" name="Google Shape;620;p49"/>
          <p:cNvGrpSpPr/>
          <p:nvPr/>
        </p:nvGrpSpPr>
        <p:grpSpPr>
          <a:xfrm>
            <a:off x="323653" y="1652038"/>
            <a:ext cx="457200" cy="457200"/>
            <a:chOff x="1020916" y="1442088"/>
            <a:chExt cx="457200" cy="457200"/>
          </a:xfrm>
        </p:grpSpPr>
        <p:pic>
          <p:nvPicPr>
            <p:cNvPr id="621" name="Google Shape;621;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2" name="Google Shape;622;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3" name="Google Shape;623;p49"/>
          <p:cNvGrpSpPr/>
          <p:nvPr/>
        </p:nvGrpSpPr>
        <p:grpSpPr>
          <a:xfrm>
            <a:off x="323653" y="2461775"/>
            <a:ext cx="457200" cy="457200"/>
            <a:chOff x="1020916" y="1442088"/>
            <a:chExt cx="457200" cy="457200"/>
          </a:xfrm>
        </p:grpSpPr>
        <p:pic>
          <p:nvPicPr>
            <p:cNvPr id="624" name="Google Shape;624;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5" name="Google Shape;625;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6" name="Google Shape;626;p49"/>
          <p:cNvGrpSpPr/>
          <p:nvPr/>
        </p:nvGrpSpPr>
        <p:grpSpPr>
          <a:xfrm>
            <a:off x="323641" y="3271838"/>
            <a:ext cx="457200" cy="457200"/>
            <a:chOff x="1020916" y="1442088"/>
            <a:chExt cx="457200" cy="457200"/>
          </a:xfrm>
        </p:grpSpPr>
        <p:pic>
          <p:nvPicPr>
            <p:cNvPr id="627" name="Google Shape;627;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8" name="Google Shape;628;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29" name="Google Shape;629;p49"/>
          <p:cNvGrpSpPr/>
          <p:nvPr/>
        </p:nvGrpSpPr>
        <p:grpSpPr>
          <a:xfrm>
            <a:off x="323641" y="4081763"/>
            <a:ext cx="457200" cy="457200"/>
            <a:chOff x="1020916" y="1442088"/>
            <a:chExt cx="457200" cy="457200"/>
          </a:xfrm>
        </p:grpSpPr>
        <p:pic>
          <p:nvPicPr>
            <p:cNvPr id="630" name="Google Shape;630;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1" name="Google Shape;631;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32" name="Google Shape;632;p4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3" name="Google Shape;633;p49"/>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4" name="Google Shape;634;p49"/>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635" name="Shape 635"/>
        <p:cNvGrpSpPr/>
        <p:nvPr/>
      </p:nvGrpSpPr>
      <p:grpSpPr>
        <a:xfrm>
          <a:off x="0" y="0"/>
          <a:ext cx="0" cy="0"/>
          <a:chOff x="0" y="0"/>
          <a:chExt cx="0" cy="0"/>
        </a:xfrm>
      </p:grpSpPr>
      <p:pic>
        <p:nvPicPr>
          <p:cNvPr id="636" name="Google Shape;63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0"/>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9" name="Google Shape;639;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41" name="Google Shape;641;p50"/>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2" name="Google Shape;642;p50"/>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3" name="Google Shape;643;p50"/>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4" name="Google Shape;644;p50"/>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45" name="Google Shape;645;p50"/>
          <p:cNvGrpSpPr/>
          <p:nvPr/>
        </p:nvGrpSpPr>
        <p:grpSpPr>
          <a:xfrm>
            <a:off x="323653" y="1652038"/>
            <a:ext cx="457200" cy="457200"/>
            <a:chOff x="1020916" y="1442088"/>
            <a:chExt cx="457200" cy="457200"/>
          </a:xfrm>
        </p:grpSpPr>
        <p:pic>
          <p:nvPicPr>
            <p:cNvPr id="646" name="Google Shape;646;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7" name="Google Shape;647;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8" name="Google Shape;648;p50"/>
          <p:cNvGrpSpPr/>
          <p:nvPr/>
        </p:nvGrpSpPr>
        <p:grpSpPr>
          <a:xfrm>
            <a:off x="323653" y="2461775"/>
            <a:ext cx="457200" cy="457200"/>
            <a:chOff x="1020916" y="1442088"/>
            <a:chExt cx="457200" cy="457200"/>
          </a:xfrm>
        </p:grpSpPr>
        <p:pic>
          <p:nvPicPr>
            <p:cNvPr id="649" name="Google Shape;649;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0" name="Google Shape;650;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51" name="Google Shape;651;p50"/>
          <p:cNvGrpSpPr/>
          <p:nvPr/>
        </p:nvGrpSpPr>
        <p:grpSpPr>
          <a:xfrm>
            <a:off x="323641" y="3271838"/>
            <a:ext cx="457200" cy="457200"/>
            <a:chOff x="1020916" y="1442088"/>
            <a:chExt cx="457200" cy="457200"/>
          </a:xfrm>
        </p:grpSpPr>
        <p:pic>
          <p:nvPicPr>
            <p:cNvPr id="652" name="Google Shape;65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3" name="Google Shape;65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54" name="Google Shape;654;p50"/>
          <p:cNvGrpSpPr/>
          <p:nvPr/>
        </p:nvGrpSpPr>
        <p:grpSpPr>
          <a:xfrm>
            <a:off x="323641" y="4081763"/>
            <a:ext cx="457200" cy="457200"/>
            <a:chOff x="1020916" y="1442088"/>
            <a:chExt cx="457200" cy="457200"/>
          </a:xfrm>
        </p:grpSpPr>
        <p:pic>
          <p:nvPicPr>
            <p:cNvPr id="655" name="Google Shape;65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6" name="Google Shape;65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57" name="Google Shape;657;p50"/>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8" name="Google Shape;658;p50"/>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59" name="Shape 659"/>
        <p:cNvGrpSpPr/>
        <p:nvPr/>
      </p:nvGrpSpPr>
      <p:grpSpPr>
        <a:xfrm>
          <a:off x="0" y="0"/>
          <a:ext cx="0" cy="0"/>
          <a:chOff x="0" y="0"/>
          <a:chExt cx="0" cy="0"/>
        </a:xfrm>
      </p:grpSpPr>
      <p:pic>
        <p:nvPicPr>
          <p:cNvPr id="660" name="Google Shape;660;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1" name="Google Shape;661;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1"/>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63" name="Google Shape;663;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65" name="Google Shape;665;p51"/>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6" name="Google Shape;666;p51"/>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7" name="Google Shape;667;p51"/>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8" name="Google Shape;668;p51"/>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69" name="Google Shape;669;p51"/>
          <p:cNvGrpSpPr/>
          <p:nvPr/>
        </p:nvGrpSpPr>
        <p:grpSpPr>
          <a:xfrm>
            <a:off x="323653" y="1652038"/>
            <a:ext cx="457200" cy="457200"/>
            <a:chOff x="1020916" y="1442088"/>
            <a:chExt cx="457200" cy="457200"/>
          </a:xfrm>
        </p:grpSpPr>
        <p:pic>
          <p:nvPicPr>
            <p:cNvPr id="670" name="Google Shape;67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1" name="Google Shape;67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72" name="Google Shape;672;p51"/>
          <p:cNvGrpSpPr/>
          <p:nvPr/>
        </p:nvGrpSpPr>
        <p:grpSpPr>
          <a:xfrm>
            <a:off x="323653" y="2461775"/>
            <a:ext cx="457200" cy="457200"/>
            <a:chOff x="1020916" y="1442088"/>
            <a:chExt cx="457200" cy="457200"/>
          </a:xfrm>
        </p:grpSpPr>
        <p:pic>
          <p:nvPicPr>
            <p:cNvPr id="673" name="Google Shape;673;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4" name="Google Shape;674;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75" name="Google Shape;675;p51"/>
          <p:cNvGrpSpPr/>
          <p:nvPr/>
        </p:nvGrpSpPr>
        <p:grpSpPr>
          <a:xfrm>
            <a:off x="323641" y="3271838"/>
            <a:ext cx="457200" cy="457200"/>
            <a:chOff x="1020916" y="1442088"/>
            <a:chExt cx="457200" cy="457200"/>
          </a:xfrm>
        </p:grpSpPr>
        <p:pic>
          <p:nvPicPr>
            <p:cNvPr id="676" name="Google Shape;676;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7" name="Google Shape;677;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78" name="Google Shape;678;p51"/>
          <p:cNvGrpSpPr/>
          <p:nvPr/>
        </p:nvGrpSpPr>
        <p:grpSpPr>
          <a:xfrm>
            <a:off x="323641" y="4081763"/>
            <a:ext cx="457200" cy="457200"/>
            <a:chOff x="1020916" y="1442088"/>
            <a:chExt cx="457200" cy="457200"/>
          </a:xfrm>
        </p:grpSpPr>
        <p:pic>
          <p:nvPicPr>
            <p:cNvPr id="679" name="Google Shape;679;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0" name="Google Shape;680;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81" name="Google Shape;681;p51"/>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2" name="Google Shape;682;p51"/>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83" name="Shape 683"/>
        <p:cNvGrpSpPr/>
        <p:nvPr/>
      </p:nvGrpSpPr>
      <p:grpSpPr>
        <a:xfrm>
          <a:off x="0" y="0"/>
          <a:ext cx="0" cy="0"/>
          <a:chOff x="0" y="0"/>
          <a:chExt cx="0" cy="0"/>
        </a:xfrm>
      </p:grpSpPr>
      <p:pic>
        <p:nvPicPr>
          <p:cNvPr id="684" name="Google Shape;684;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5" name="Google Shape;685;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6" name="Google Shape;68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7" name="Google Shape;68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88" name="Google Shape;688;p52"/>
          <p:cNvSpPr/>
          <p:nvPr>
            <p:ph idx="2" type="pic"/>
          </p:nvPr>
        </p:nvSpPr>
        <p:spPr>
          <a:xfrm>
            <a:off x="324000" y="1893950"/>
            <a:ext cx="2555400" cy="1939500"/>
          </a:xfrm>
          <a:prstGeom prst="rect">
            <a:avLst/>
          </a:prstGeom>
          <a:noFill/>
          <a:ln>
            <a:noFill/>
          </a:ln>
        </p:spPr>
      </p:sp>
      <p:sp>
        <p:nvSpPr>
          <p:cNvPr id="689" name="Google Shape;689;p52"/>
          <p:cNvSpPr/>
          <p:nvPr>
            <p:ph idx="3" type="pic"/>
          </p:nvPr>
        </p:nvSpPr>
        <p:spPr>
          <a:xfrm>
            <a:off x="6256800" y="1893950"/>
            <a:ext cx="2555400" cy="1939500"/>
          </a:xfrm>
          <a:prstGeom prst="rect">
            <a:avLst/>
          </a:prstGeom>
          <a:noFill/>
          <a:ln>
            <a:noFill/>
          </a:ln>
        </p:spPr>
      </p:sp>
      <p:sp>
        <p:nvSpPr>
          <p:cNvPr id="690" name="Google Shape;690;p52"/>
          <p:cNvSpPr/>
          <p:nvPr>
            <p:ph idx="4" type="pic"/>
          </p:nvPr>
        </p:nvSpPr>
        <p:spPr>
          <a:xfrm>
            <a:off x="3294300" y="1893950"/>
            <a:ext cx="2555400" cy="1939500"/>
          </a:xfrm>
          <a:prstGeom prst="rect">
            <a:avLst/>
          </a:prstGeom>
          <a:noFill/>
          <a:ln>
            <a:noFill/>
          </a:ln>
        </p:spPr>
      </p:sp>
      <p:grpSp>
        <p:nvGrpSpPr>
          <p:cNvPr id="691" name="Google Shape;691;p52"/>
          <p:cNvGrpSpPr/>
          <p:nvPr/>
        </p:nvGrpSpPr>
        <p:grpSpPr>
          <a:xfrm>
            <a:off x="1381028" y="4148538"/>
            <a:ext cx="457200" cy="457200"/>
            <a:chOff x="1020916" y="1442088"/>
            <a:chExt cx="457200" cy="457200"/>
          </a:xfrm>
        </p:grpSpPr>
        <p:pic>
          <p:nvPicPr>
            <p:cNvPr id="692" name="Google Shape;692;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3" name="Google Shape;693;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94" name="Google Shape;694;p52"/>
          <p:cNvGrpSpPr/>
          <p:nvPr/>
        </p:nvGrpSpPr>
        <p:grpSpPr>
          <a:xfrm>
            <a:off x="4331066" y="4148550"/>
            <a:ext cx="457200" cy="457200"/>
            <a:chOff x="1020916" y="1442088"/>
            <a:chExt cx="457200" cy="457200"/>
          </a:xfrm>
        </p:grpSpPr>
        <p:pic>
          <p:nvPicPr>
            <p:cNvPr id="695" name="Google Shape;695;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6" name="Google Shape;696;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97" name="Google Shape;697;p52"/>
          <p:cNvGrpSpPr/>
          <p:nvPr/>
        </p:nvGrpSpPr>
        <p:grpSpPr>
          <a:xfrm>
            <a:off x="7305791" y="4148538"/>
            <a:ext cx="457200" cy="457200"/>
            <a:chOff x="1020916" y="1442088"/>
            <a:chExt cx="457200" cy="457200"/>
          </a:xfrm>
        </p:grpSpPr>
        <p:pic>
          <p:nvPicPr>
            <p:cNvPr id="698" name="Google Shape;698;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9" name="Google Shape;699;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00" name="Google Shape;700;p5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1" name="Google Shape;701;p52"/>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2" name="Google Shape;702;p52"/>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703" name="Shape 703"/>
        <p:cNvGrpSpPr/>
        <p:nvPr/>
      </p:nvGrpSpPr>
      <p:grpSpPr>
        <a:xfrm>
          <a:off x="0" y="0"/>
          <a:ext cx="0" cy="0"/>
          <a:chOff x="0" y="0"/>
          <a:chExt cx="0" cy="0"/>
        </a:xfrm>
      </p:grpSpPr>
      <p:pic>
        <p:nvPicPr>
          <p:cNvPr id="704" name="Google Shape;704;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5" name="Google Shape;705;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 name="Google Shape;70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7" name="Google Shape;707;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08" name="Google Shape;708;p53"/>
          <p:cNvSpPr/>
          <p:nvPr>
            <p:ph idx="2" type="pic"/>
          </p:nvPr>
        </p:nvSpPr>
        <p:spPr>
          <a:xfrm>
            <a:off x="324000" y="1893950"/>
            <a:ext cx="2555400" cy="1939500"/>
          </a:xfrm>
          <a:prstGeom prst="rect">
            <a:avLst/>
          </a:prstGeom>
          <a:noFill/>
          <a:ln>
            <a:noFill/>
          </a:ln>
        </p:spPr>
      </p:sp>
      <p:sp>
        <p:nvSpPr>
          <p:cNvPr id="709" name="Google Shape;709;p53"/>
          <p:cNvSpPr/>
          <p:nvPr>
            <p:ph idx="3" type="pic"/>
          </p:nvPr>
        </p:nvSpPr>
        <p:spPr>
          <a:xfrm>
            <a:off x="6256800" y="1893950"/>
            <a:ext cx="2555400" cy="1939500"/>
          </a:xfrm>
          <a:prstGeom prst="rect">
            <a:avLst/>
          </a:prstGeom>
          <a:noFill/>
          <a:ln>
            <a:noFill/>
          </a:ln>
        </p:spPr>
      </p:sp>
      <p:sp>
        <p:nvSpPr>
          <p:cNvPr id="710" name="Google Shape;710;p53"/>
          <p:cNvSpPr/>
          <p:nvPr>
            <p:ph idx="4" type="pic"/>
          </p:nvPr>
        </p:nvSpPr>
        <p:spPr>
          <a:xfrm>
            <a:off x="3294300" y="1893950"/>
            <a:ext cx="2555400" cy="1939500"/>
          </a:xfrm>
          <a:prstGeom prst="rect">
            <a:avLst/>
          </a:prstGeom>
          <a:noFill/>
          <a:ln>
            <a:noFill/>
          </a:ln>
        </p:spPr>
      </p:sp>
      <p:grpSp>
        <p:nvGrpSpPr>
          <p:cNvPr id="711" name="Google Shape;711;p53"/>
          <p:cNvGrpSpPr/>
          <p:nvPr/>
        </p:nvGrpSpPr>
        <p:grpSpPr>
          <a:xfrm>
            <a:off x="1381028" y="4148538"/>
            <a:ext cx="457200" cy="457200"/>
            <a:chOff x="1020916" y="1442088"/>
            <a:chExt cx="457200" cy="457200"/>
          </a:xfrm>
        </p:grpSpPr>
        <p:pic>
          <p:nvPicPr>
            <p:cNvPr id="712" name="Google Shape;71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3" name="Google Shape;71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14" name="Google Shape;714;p53"/>
          <p:cNvGrpSpPr/>
          <p:nvPr/>
        </p:nvGrpSpPr>
        <p:grpSpPr>
          <a:xfrm>
            <a:off x="4331066" y="4148550"/>
            <a:ext cx="457200" cy="457200"/>
            <a:chOff x="1020916" y="1442088"/>
            <a:chExt cx="457200" cy="457200"/>
          </a:xfrm>
        </p:grpSpPr>
        <p:pic>
          <p:nvPicPr>
            <p:cNvPr id="715" name="Google Shape;71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6" name="Google Shape;71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17" name="Google Shape;717;p53"/>
          <p:cNvGrpSpPr/>
          <p:nvPr/>
        </p:nvGrpSpPr>
        <p:grpSpPr>
          <a:xfrm>
            <a:off x="7305791" y="4148538"/>
            <a:ext cx="457200" cy="457200"/>
            <a:chOff x="1020916" y="1442088"/>
            <a:chExt cx="457200" cy="457200"/>
          </a:xfrm>
        </p:grpSpPr>
        <p:pic>
          <p:nvPicPr>
            <p:cNvPr id="718" name="Google Shape;71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9" name="Google Shape;71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20" name="Google Shape;720;p5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1" name="Google Shape;721;p53"/>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2" name="Google Shape;722;p53"/>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723" name="Shape 723"/>
        <p:cNvGrpSpPr/>
        <p:nvPr/>
      </p:nvGrpSpPr>
      <p:grpSpPr>
        <a:xfrm>
          <a:off x="0" y="0"/>
          <a:ext cx="0" cy="0"/>
          <a:chOff x="0" y="0"/>
          <a:chExt cx="0" cy="0"/>
        </a:xfrm>
      </p:grpSpPr>
      <p:pic>
        <p:nvPicPr>
          <p:cNvPr id="724" name="Google Shape;724;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6" name="Google Shape;726;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7" name="Google Shape;727;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8" name="Google Shape;728;p54"/>
          <p:cNvSpPr/>
          <p:nvPr>
            <p:ph idx="2" type="pic"/>
          </p:nvPr>
        </p:nvSpPr>
        <p:spPr>
          <a:xfrm>
            <a:off x="324000" y="1893950"/>
            <a:ext cx="2555400" cy="1939500"/>
          </a:xfrm>
          <a:prstGeom prst="rect">
            <a:avLst/>
          </a:prstGeom>
          <a:noFill/>
          <a:ln>
            <a:noFill/>
          </a:ln>
        </p:spPr>
      </p:sp>
      <p:sp>
        <p:nvSpPr>
          <p:cNvPr id="729" name="Google Shape;729;p54"/>
          <p:cNvSpPr/>
          <p:nvPr>
            <p:ph idx="3" type="pic"/>
          </p:nvPr>
        </p:nvSpPr>
        <p:spPr>
          <a:xfrm>
            <a:off x="6256800" y="1893950"/>
            <a:ext cx="2555400" cy="1939500"/>
          </a:xfrm>
          <a:prstGeom prst="rect">
            <a:avLst/>
          </a:prstGeom>
          <a:noFill/>
          <a:ln>
            <a:noFill/>
          </a:ln>
        </p:spPr>
      </p:sp>
      <p:sp>
        <p:nvSpPr>
          <p:cNvPr id="730" name="Google Shape;730;p54"/>
          <p:cNvSpPr/>
          <p:nvPr>
            <p:ph idx="4" type="pic"/>
          </p:nvPr>
        </p:nvSpPr>
        <p:spPr>
          <a:xfrm>
            <a:off x="3294300" y="1893950"/>
            <a:ext cx="2555400" cy="1939500"/>
          </a:xfrm>
          <a:prstGeom prst="rect">
            <a:avLst/>
          </a:prstGeom>
          <a:noFill/>
          <a:ln>
            <a:noFill/>
          </a:ln>
        </p:spPr>
      </p:sp>
      <p:grpSp>
        <p:nvGrpSpPr>
          <p:cNvPr id="731" name="Google Shape;731;p54"/>
          <p:cNvGrpSpPr/>
          <p:nvPr/>
        </p:nvGrpSpPr>
        <p:grpSpPr>
          <a:xfrm>
            <a:off x="1381028" y="4148538"/>
            <a:ext cx="457200" cy="457200"/>
            <a:chOff x="1020916" y="1442088"/>
            <a:chExt cx="457200" cy="457200"/>
          </a:xfrm>
        </p:grpSpPr>
        <p:pic>
          <p:nvPicPr>
            <p:cNvPr id="732" name="Google Shape;732;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3" name="Google Shape;733;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34" name="Google Shape;734;p54"/>
          <p:cNvGrpSpPr/>
          <p:nvPr/>
        </p:nvGrpSpPr>
        <p:grpSpPr>
          <a:xfrm>
            <a:off x="4331066" y="4148550"/>
            <a:ext cx="457200" cy="457200"/>
            <a:chOff x="1020916" y="1442088"/>
            <a:chExt cx="457200" cy="457200"/>
          </a:xfrm>
        </p:grpSpPr>
        <p:pic>
          <p:nvPicPr>
            <p:cNvPr id="735" name="Google Shape;735;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6" name="Google Shape;736;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37" name="Google Shape;737;p54"/>
          <p:cNvGrpSpPr/>
          <p:nvPr/>
        </p:nvGrpSpPr>
        <p:grpSpPr>
          <a:xfrm>
            <a:off x="7305791" y="4148538"/>
            <a:ext cx="457200" cy="457200"/>
            <a:chOff x="1020916" y="1442088"/>
            <a:chExt cx="457200" cy="457200"/>
          </a:xfrm>
        </p:grpSpPr>
        <p:pic>
          <p:nvPicPr>
            <p:cNvPr id="738" name="Google Shape;738;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9" name="Google Shape;739;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40" name="Google Shape;740;p5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1" name="Google Shape;741;p54"/>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2" name="Google Shape;742;p54"/>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743" name="Shape 743"/>
        <p:cNvGrpSpPr/>
        <p:nvPr/>
      </p:nvGrpSpPr>
      <p:grpSpPr>
        <a:xfrm>
          <a:off x="0" y="0"/>
          <a:ext cx="0" cy="0"/>
          <a:chOff x="0" y="0"/>
          <a:chExt cx="0" cy="0"/>
        </a:xfrm>
      </p:grpSpPr>
      <p:pic>
        <p:nvPicPr>
          <p:cNvPr id="744" name="Google Shape;744;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5" name="Google Shape;745;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6" name="Google Shape;746;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47" name="Google Shape;747;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48" name="Google Shape;748;p55"/>
          <p:cNvSpPr/>
          <p:nvPr>
            <p:ph idx="2" type="pic"/>
          </p:nvPr>
        </p:nvSpPr>
        <p:spPr>
          <a:xfrm>
            <a:off x="324000" y="1893950"/>
            <a:ext cx="2555400" cy="1939500"/>
          </a:xfrm>
          <a:prstGeom prst="rect">
            <a:avLst/>
          </a:prstGeom>
          <a:noFill/>
          <a:ln>
            <a:noFill/>
          </a:ln>
        </p:spPr>
      </p:sp>
      <p:sp>
        <p:nvSpPr>
          <p:cNvPr id="749" name="Google Shape;749;p55"/>
          <p:cNvSpPr/>
          <p:nvPr>
            <p:ph idx="3" type="pic"/>
          </p:nvPr>
        </p:nvSpPr>
        <p:spPr>
          <a:xfrm>
            <a:off x="6256800" y="1893950"/>
            <a:ext cx="2555400" cy="1939500"/>
          </a:xfrm>
          <a:prstGeom prst="rect">
            <a:avLst/>
          </a:prstGeom>
          <a:noFill/>
          <a:ln>
            <a:noFill/>
          </a:ln>
        </p:spPr>
      </p:sp>
      <p:sp>
        <p:nvSpPr>
          <p:cNvPr id="750" name="Google Shape;750;p55"/>
          <p:cNvSpPr/>
          <p:nvPr>
            <p:ph idx="4" type="pic"/>
          </p:nvPr>
        </p:nvSpPr>
        <p:spPr>
          <a:xfrm>
            <a:off x="3294300" y="1893950"/>
            <a:ext cx="2555400" cy="1939500"/>
          </a:xfrm>
          <a:prstGeom prst="rect">
            <a:avLst/>
          </a:prstGeom>
          <a:noFill/>
          <a:ln>
            <a:noFill/>
          </a:ln>
        </p:spPr>
      </p:sp>
      <p:grpSp>
        <p:nvGrpSpPr>
          <p:cNvPr id="751" name="Google Shape;751;p55"/>
          <p:cNvGrpSpPr/>
          <p:nvPr/>
        </p:nvGrpSpPr>
        <p:grpSpPr>
          <a:xfrm>
            <a:off x="1381028" y="4148538"/>
            <a:ext cx="457200" cy="457200"/>
            <a:chOff x="1020916" y="1442088"/>
            <a:chExt cx="457200" cy="457200"/>
          </a:xfrm>
        </p:grpSpPr>
        <p:pic>
          <p:nvPicPr>
            <p:cNvPr id="752" name="Google Shape;752;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3" name="Google Shape;753;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54" name="Google Shape;754;p55"/>
          <p:cNvGrpSpPr/>
          <p:nvPr/>
        </p:nvGrpSpPr>
        <p:grpSpPr>
          <a:xfrm>
            <a:off x="4331066" y="4148550"/>
            <a:ext cx="457200" cy="457200"/>
            <a:chOff x="1020916" y="1442088"/>
            <a:chExt cx="457200" cy="457200"/>
          </a:xfrm>
        </p:grpSpPr>
        <p:pic>
          <p:nvPicPr>
            <p:cNvPr id="755" name="Google Shape;755;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6" name="Google Shape;756;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57" name="Google Shape;757;p55"/>
          <p:cNvGrpSpPr/>
          <p:nvPr/>
        </p:nvGrpSpPr>
        <p:grpSpPr>
          <a:xfrm>
            <a:off x="7305791" y="4148538"/>
            <a:ext cx="457200" cy="457200"/>
            <a:chOff x="1020916" y="1442088"/>
            <a:chExt cx="457200" cy="457200"/>
          </a:xfrm>
        </p:grpSpPr>
        <p:pic>
          <p:nvPicPr>
            <p:cNvPr id="758" name="Google Shape;758;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9" name="Google Shape;759;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60" name="Google Shape;760;p5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1" name="Google Shape;761;p55"/>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55"/>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_3">
    <p:bg>
      <p:bgPr>
        <a:solidFill>
          <a:srgbClr val="F3EEFB"/>
        </a:solidFill>
      </p:bgPr>
    </p:bg>
    <p:spTree>
      <p:nvGrpSpPr>
        <p:cNvPr id="763" name="Shape 763"/>
        <p:cNvGrpSpPr/>
        <p:nvPr/>
      </p:nvGrpSpPr>
      <p:grpSpPr>
        <a:xfrm>
          <a:off x="0" y="0"/>
          <a:ext cx="0" cy="0"/>
          <a:chOff x="0" y="0"/>
          <a:chExt cx="0" cy="0"/>
        </a:xfrm>
      </p:grpSpPr>
      <p:pic>
        <p:nvPicPr>
          <p:cNvPr id="764" name="Google Shape;764;p5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65" name="Google Shape;765;p5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6" name="Google Shape;766;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67" name="Google Shape;767;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68" name="Google Shape;768;p5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9" name="Google Shape;769;p5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70" name="Google Shape;770;p56"/>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71" name="Shape 771"/>
        <p:cNvGrpSpPr/>
        <p:nvPr/>
      </p:nvGrpSpPr>
      <p:grpSpPr>
        <a:xfrm>
          <a:off x="0" y="0"/>
          <a:ext cx="0" cy="0"/>
          <a:chOff x="0" y="0"/>
          <a:chExt cx="0" cy="0"/>
        </a:xfrm>
      </p:grpSpPr>
      <p:pic>
        <p:nvPicPr>
          <p:cNvPr id="772" name="Google Shape;772;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3" name="Google Shape;773;p5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4" name="Google Shape;774;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5" name="Google Shape;775;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76" name="Google Shape;776;p5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7" name="Google Shape;777;p5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78" name="Google Shape;778;p57"/>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79" name="Shape 779"/>
        <p:cNvGrpSpPr/>
        <p:nvPr/>
      </p:nvGrpSpPr>
      <p:grpSpPr>
        <a:xfrm>
          <a:off x="0" y="0"/>
          <a:ext cx="0" cy="0"/>
          <a:chOff x="0" y="0"/>
          <a:chExt cx="0" cy="0"/>
        </a:xfrm>
      </p:grpSpPr>
      <p:pic>
        <p:nvPicPr>
          <p:cNvPr id="780" name="Google Shape;780;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1" name="Google Shape;781;p5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2" name="Google Shape;782;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84" name="Google Shape;784;p5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5" name="Google Shape;785;p5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6" name="Google Shape;786;p58"/>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87" name="Shape 787"/>
        <p:cNvGrpSpPr/>
        <p:nvPr/>
      </p:nvGrpSpPr>
      <p:grpSpPr>
        <a:xfrm>
          <a:off x="0" y="0"/>
          <a:ext cx="0" cy="0"/>
          <a:chOff x="0" y="0"/>
          <a:chExt cx="0" cy="0"/>
        </a:xfrm>
      </p:grpSpPr>
      <p:pic>
        <p:nvPicPr>
          <p:cNvPr id="788" name="Google Shape;788;p5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9" name="Google Shape;789;p5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9"/>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91" name="Google Shape;791;p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2" name="Google Shape;79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93" name="Google Shape;793;p5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4" name="Google Shape;794;p59"/>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95" name="Shape 795"/>
        <p:cNvGrpSpPr/>
        <p:nvPr/>
      </p:nvGrpSpPr>
      <p:grpSpPr>
        <a:xfrm>
          <a:off x="0" y="0"/>
          <a:ext cx="0" cy="0"/>
          <a:chOff x="0" y="0"/>
          <a:chExt cx="0" cy="0"/>
        </a:xfrm>
      </p:grpSpPr>
      <p:pic>
        <p:nvPicPr>
          <p:cNvPr id="796" name="Google Shape;796;p6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97" name="Google Shape;797;p6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8" name="Google Shape;798;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99" name="Google Shape;79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800" name="Google Shape;800;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801" name="Google Shape;801;p60"/>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02" name="Google Shape;802;p60"/>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3" name="Google Shape;803;p60"/>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804" name="Shape 804"/>
        <p:cNvGrpSpPr/>
        <p:nvPr/>
      </p:nvGrpSpPr>
      <p:grpSpPr>
        <a:xfrm>
          <a:off x="0" y="0"/>
          <a:ext cx="0" cy="0"/>
          <a:chOff x="0" y="0"/>
          <a:chExt cx="0" cy="0"/>
        </a:xfrm>
      </p:grpSpPr>
      <p:pic>
        <p:nvPicPr>
          <p:cNvPr id="805" name="Google Shape;805;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06" name="Google Shape;806;p6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808" name="Google Shape;80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09" name="Google Shape;809;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810" name="Google Shape;810;p61"/>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11" name="Google Shape;811;p6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1"/>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813" name="Shape 813"/>
        <p:cNvGrpSpPr/>
        <p:nvPr/>
      </p:nvGrpSpPr>
      <p:grpSpPr>
        <a:xfrm>
          <a:off x="0" y="0"/>
          <a:ext cx="0" cy="0"/>
          <a:chOff x="0" y="0"/>
          <a:chExt cx="0" cy="0"/>
        </a:xfrm>
      </p:grpSpPr>
      <p:pic>
        <p:nvPicPr>
          <p:cNvPr id="814" name="Google Shape;814;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15" name="Google Shape;815;p6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817" name="Google Shape;817;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18" name="Google Shape;81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19" name="Google Shape;819;p62"/>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20" name="Google Shape;820;p6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21" name="Google Shape;821;p62"/>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822" name="Shape 822"/>
        <p:cNvGrpSpPr/>
        <p:nvPr/>
      </p:nvGrpSpPr>
      <p:grpSpPr>
        <a:xfrm>
          <a:off x="0" y="0"/>
          <a:ext cx="0" cy="0"/>
          <a:chOff x="0" y="0"/>
          <a:chExt cx="0" cy="0"/>
        </a:xfrm>
      </p:grpSpPr>
      <p:pic>
        <p:nvPicPr>
          <p:cNvPr id="823" name="Google Shape;823;p6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24" name="Google Shape;824;p6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826" name="Google Shape;826;p6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27" name="Google Shape;827;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
        <p:nvSpPr>
          <p:cNvPr id="828" name="Google Shape;828;p63"/>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29" name="Google Shape;829;p6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30" name="Google Shape;830;p63"/>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_2">
    <p:bg>
      <p:bgPr>
        <a:solidFill>
          <a:srgbClr val="F3EEFB"/>
        </a:solidFill>
      </p:bgPr>
    </p:bg>
    <p:spTree>
      <p:nvGrpSpPr>
        <p:cNvPr id="831" name="Shape 831"/>
        <p:cNvGrpSpPr/>
        <p:nvPr/>
      </p:nvGrpSpPr>
      <p:grpSpPr>
        <a:xfrm>
          <a:off x="0" y="0"/>
          <a:ext cx="0" cy="0"/>
          <a:chOff x="0" y="0"/>
          <a:chExt cx="0" cy="0"/>
        </a:xfrm>
      </p:grpSpPr>
      <p:pic>
        <p:nvPicPr>
          <p:cNvPr id="832" name="Google Shape;832;p6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833" name="Google Shape;833;p6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35" name="Google Shape;835;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836" name="Google Shape;836;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837" name="Google Shape;837;p64"/>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38" name="Google Shape;838;p6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39" name="Google Shape;839;p64"/>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840" name="Shape 840"/>
        <p:cNvGrpSpPr/>
        <p:nvPr/>
      </p:nvGrpSpPr>
      <p:grpSpPr>
        <a:xfrm>
          <a:off x="0" y="0"/>
          <a:ext cx="0" cy="0"/>
          <a:chOff x="0" y="0"/>
          <a:chExt cx="0" cy="0"/>
        </a:xfrm>
      </p:grpSpPr>
      <p:pic>
        <p:nvPicPr>
          <p:cNvPr id="841" name="Google Shape;841;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42" name="Google Shape;842;p6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44" name="Google Shape;844;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45" name="Google Shape;845;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846" name="Google Shape;846;p65"/>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47" name="Google Shape;847;p6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48" name="Google Shape;848;p65"/>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849" name="Shape 849"/>
        <p:cNvGrpSpPr/>
        <p:nvPr/>
      </p:nvGrpSpPr>
      <p:grpSpPr>
        <a:xfrm>
          <a:off x="0" y="0"/>
          <a:ext cx="0" cy="0"/>
          <a:chOff x="0" y="0"/>
          <a:chExt cx="0" cy="0"/>
        </a:xfrm>
      </p:grpSpPr>
      <p:pic>
        <p:nvPicPr>
          <p:cNvPr id="850" name="Google Shape;850;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51" name="Google Shape;851;p6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53" name="Google Shape;853;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54" name="Google Shape;854;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55" name="Google Shape;855;p66"/>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56" name="Google Shape;856;p6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57" name="Google Shape;857;p66"/>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858" name="Shape 858"/>
        <p:cNvGrpSpPr/>
        <p:nvPr/>
      </p:nvGrpSpPr>
      <p:grpSpPr>
        <a:xfrm>
          <a:off x="0" y="0"/>
          <a:ext cx="0" cy="0"/>
          <a:chOff x="0" y="0"/>
          <a:chExt cx="0" cy="0"/>
        </a:xfrm>
      </p:grpSpPr>
      <p:pic>
        <p:nvPicPr>
          <p:cNvPr id="859" name="Google Shape;859;p6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60" name="Google Shape;860;p6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862" name="Google Shape;862;p6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63" name="Google Shape;863;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64" name="Google Shape;864;p67"/>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65" name="Google Shape;865;p6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66" name="Google Shape;866;p67"/>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67" name="Shape 867"/>
        <p:cNvGrpSpPr/>
        <p:nvPr/>
      </p:nvGrpSpPr>
      <p:grpSpPr>
        <a:xfrm>
          <a:off x="0" y="0"/>
          <a:ext cx="0" cy="0"/>
          <a:chOff x="0" y="0"/>
          <a:chExt cx="0" cy="0"/>
        </a:xfrm>
      </p:grpSpPr>
      <p:grpSp>
        <p:nvGrpSpPr>
          <p:cNvPr id="868" name="Google Shape;868;p68"/>
          <p:cNvGrpSpPr/>
          <p:nvPr/>
        </p:nvGrpSpPr>
        <p:grpSpPr>
          <a:xfrm>
            <a:off x="0" y="0"/>
            <a:ext cx="9151202" cy="652534"/>
            <a:chOff x="0" y="0"/>
            <a:chExt cx="9151202" cy="652534"/>
          </a:xfrm>
        </p:grpSpPr>
        <p:sp>
          <p:nvSpPr>
            <p:cNvPr id="869" name="Google Shape;869;p6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0" name="Google Shape;870;p6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grpSp>
      <p:sp>
        <p:nvSpPr>
          <p:cNvPr id="871" name="Google Shape;871;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72" name="Google Shape;872;p68"/>
          <p:cNvSpPr txBox="1"/>
          <p:nvPr>
            <p:ph type="title"/>
          </p:nvPr>
        </p:nvSpPr>
        <p:spPr>
          <a:xfrm>
            <a:off x="1684800" y="119125"/>
            <a:ext cx="5741400" cy="307800"/>
          </a:xfrm>
          <a:prstGeom prst="rect">
            <a:avLst/>
          </a:prstGeom>
        </p:spPr>
        <p:txBody>
          <a:bodyPr anchorCtr="0" anchor="t" bIns="0" lIns="0" spcFirstLastPara="1" rIns="0" wrap="square" tIns="0">
            <a:spAutoFit/>
          </a:bodyPr>
          <a:lstStyle>
            <a:lvl1pPr lvl="0" rtl="0">
              <a:spcBef>
                <a:spcPts val="0"/>
              </a:spcBef>
              <a:spcAft>
                <a:spcPts val="0"/>
              </a:spcAft>
              <a:buSzPts val="2000"/>
              <a:buNone/>
              <a:defRPr b="0"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73" name="Google Shape;873;p6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74" name="Google Shape;874;p68"/>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75" name="Shape 875"/>
        <p:cNvGrpSpPr/>
        <p:nvPr/>
      </p:nvGrpSpPr>
      <p:grpSpPr>
        <a:xfrm>
          <a:off x="0" y="0"/>
          <a:ext cx="0" cy="0"/>
          <a:chOff x="0" y="0"/>
          <a:chExt cx="0" cy="0"/>
        </a:xfrm>
      </p:grpSpPr>
      <p:grpSp>
        <p:nvGrpSpPr>
          <p:cNvPr id="876" name="Google Shape;876;p69"/>
          <p:cNvGrpSpPr/>
          <p:nvPr/>
        </p:nvGrpSpPr>
        <p:grpSpPr>
          <a:xfrm>
            <a:off x="0" y="0"/>
            <a:ext cx="9151202" cy="886259"/>
            <a:chOff x="0" y="0"/>
            <a:chExt cx="9151202" cy="886259"/>
          </a:xfrm>
        </p:grpSpPr>
        <p:sp>
          <p:nvSpPr>
            <p:cNvPr id="877" name="Google Shape;877;p6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8" name="Google Shape;878;p6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grpSp>
      <p:sp>
        <p:nvSpPr>
          <p:cNvPr id="879" name="Google Shape;879;p69"/>
          <p:cNvSpPr txBox="1"/>
          <p:nvPr>
            <p:ph idx="1" type="body"/>
          </p:nvPr>
        </p:nvSpPr>
        <p:spPr>
          <a:xfrm>
            <a:off x="324000" y="1080000"/>
            <a:ext cx="8113800" cy="37404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80" name="Google Shape;880;p6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81" name="Google Shape;881;p69"/>
          <p:cNvSpPr txBox="1"/>
          <p:nvPr>
            <p:ph type="title"/>
          </p:nvPr>
        </p:nvSpPr>
        <p:spPr>
          <a:xfrm>
            <a:off x="1684800" y="43825"/>
            <a:ext cx="5741400" cy="382800"/>
          </a:xfrm>
          <a:prstGeom prst="rect">
            <a:avLst/>
          </a:prstGeom>
        </p:spPr>
        <p:txBody>
          <a:bodyPr anchorCtr="0" anchor="b" bIns="0" lIns="0" spcFirstLastPara="1" rIns="0" wrap="square" tIns="0">
            <a:sp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882" name="Google Shape;882;p69"/>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83" name="Shape 883"/>
        <p:cNvGrpSpPr/>
        <p:nvPr/>
      </p:nvGrpSpPr>
      <p:grpSpPr>
        <a:xfrm>
          <a:off x="0" y="0"/>
          <a:ext cx="0" cy="0"/>
          <a:chOff x="0" y="0"/>
          <a:chExt cx="0" cy="0"/>
        </a:xfrm>
      </p:grpSpPr>
      <p:sp>
        <p:nvSpPr>
          <p:cNvPr id="884" name="Google Shape;884;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85" name="Google Shape;885;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86" name="Google Shape;886;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87" name="Google Shape;887;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88" name="Google Shape;888;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89" name="Google Shape;889;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Audio clip</a:t>
            </a:r>
            <a:endParaRPr i="0" sz="1600" u="none" cap="none" strike="noStrike">
              <a:solidFill>
                <a:schemeClr val="dk1"/>
              </a:solidFill>
              <a:latin typeface="Lexend"/>
              <a:ea typeface="Lexend"/>
              <a:cs typeface="Lexend"/>
              <a:sym typeface="Lexend"/>
            </a:endParaRPr>
          </a:p>
        </p:txBody>
      </p:sp>
      <p:sp>
        <p:nvSpPr>
          <p:cNvPr id="890" name="Google Shape;890;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Video clip</a:t>
            </a:r>
            <a:endParaRPr i="0" sz="1600" u="none" cap="none" strike="noStrike">
              <a:solidFill>
                <a:schemeClr val="dk1"/>
              </a:solidFill>
              <a:latin typeface="Lexend"/>
              <a:ea typeface="Lexend"/>
              <a:cs typeface="Lexend"/>
              <a:sym typeface="Lexend"/>
            </a:endParaRPr>
          </a:p>
        </p:txBody>
      </p:sp>
      <p:sp>
        <p:nvSpPr>
          <p:cNvPr id="891" name="Google Shape;891;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92" name="Google Shape;892;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93" name="Shape 893"/>
        <p:cNvGrpSpPr/>
        <p:nvPr/>
      </p:nvGrpSpPr>
      <p:grpSpPr>
        <a:xfrm>
          <a:off x="0" y="0"/>
          <a:ext cx="0" cy="0"/>
          <a:chOff x="0" y="0"/>
          <a:chExt cx="0" cy="0"/>
        </a:xfrm>
      </p:grpSpPr>
      <p:pic>
        <p:nvPicPr>
          <p:cNvPr id="894" name="Google Shape;894;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95" name="Google Shape;895;p71"/>
          <p:cNvSpPr txBox="1"/>
          <p:nvPr>
            <p:ph idx="1" type="subTitle"/>
          </p:nvPr>
        </p:nvSpPr>
        <p:spPr>
          <a:xfrm>
            <a:off x="661775" y="1266500"/>
            <a:ext cx="7351200" cy="2627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96" name="Shape 896"/>
        <p:cNvGrpSpPr/>
        <p:nvPr/>
      </p:nvGrpSpPr>
      <p:grpSpPr>
        <a:xfrm>
          <a:off x="0" y="0"/>
          <a:ext cx="0" cy="0"/>
          <a:chOff x="0" y="0"/>
          <a:chExt cx="0" cy="0"/>
        </a:xfrm>
      </p:grpSpPr>
      <p:sp>
        <p:nvSpPr>
          <p:cNvPr id="897" name="Google Shape;897;p72"/>
          <p:cNvSpPr txBox="1"/>
          <p:nvPr>
            <p:ph type="title"/>
          </p:nvPr>
        </p:nvSpPr>
        <p:spPr>
          <a:xfrm>
            <a:off x="459000" y="226200"/>
            <a:ext cx="6600600" cy="814500"/>
          </a:xfrm>
          <a:prstGeom prst="rect">
            <a:avLst/>
          </a:prstGeom>
        </p:spPr>
        <p:txBody>
          <a:bodyPr anchorCtr="0" anchor="t" bIns="0" lIns="0" spcFirstLastPara="1" rIns="0" wrap="square" tIns="0">
            <a:sp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8" name="Google Shape;898;p72"/>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99" name="Shape 899"/>
        <p:cNvGrpSpPr/>
        <p:nvPr/>
      </p:nvGrpSpPr>
      <p:grpSpPr>
        <a:xfrm>
          <a:off x="0" y="0"/>
          <a:ext cx="0" cy="0"/>
          <a:chOff x="0" y="0"/>
          <a:chExt cx="0" cy="0"/>
        </a:xfrm>
      </p:grpSpPr>
      <p:sp>
        <p:nvSpPr>
          <p:cNvPr id="900" name="Google Shape;900;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1" name="Google Shape;901;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902" name="Google Shape;902;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903" name="Google Shape;903;p73"/>
          <p:cNvSpPr txBox="1"/>
          <p:nvPr>
            <p:ph idx="1" type="subTitle"/>
          </p:nvPr>
        </p:nvSpPr>
        <p:spPr>
          <a:xfrm>
            <a:off x="323994" y="99364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904" name="Google Shape;904;p73"/>
          <p:cNvSpPr txBox="1"/>
          <p:nvPr>
            <p:ph idx="2" type="subTitle"/>
          </p:nvPr>
        </p:nvSpPr>
        <p:spPr>
          <a:xfrm>
            <a:off x="323994" y="223873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905" name="Google Shape;905;p73"/>
          <p:cNvSpPr txBox="1"/>
          <p:nvPr>
            <p:ph idx="3" type="subTitle"/>
          </p:nvPr>
        </p:nvSpPr>
        <p:spPr>
          <a:xfrm>
            <a:off x="323994" y="348382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2.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24000" y="167475"/>
            <a:ext cx="6981900" cy="372600"/>
          </a:xfrm>
          <a:prstGeom prst="rect">
            <a:avLst/>
          </a:prstGeom>
          <a:noFill/>
          <a:ln>
            <a:noFill/>
          </a:ln>
        </p:spPr>
        <p:txBody>
          <a:bodyPr anchorCtr="0" anchor="t" bIns="0" lIns="0" spcFirstLastPara="1" rIns="0" wrap="square" tIns="0">
            <a:sp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324000" y="810000"/>
            <a:ext cx="8226000" cy="3159900"/>
          </a:xfrm>
          <a:prstGeom prst="rect">
            <a:avLst/>
          </a:prstGeom>
          <a:noFill/>
          <a:ln>
            <a:noFill/>
          </a:ln>
        </p:spPr>
        <p:txBody>
          <a:bodyPr anchorCtr="0" anchor="t" bIns="0" lIns="0" spcFirstLastPara="1" rIns="0" wrap="square" tIns="0">
            <a:sp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2991">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guide id="23" pos="420">
          <p15:clr>
            <a:srgbClr val="6D9EEB"/>
          </p15:clr>
        </p15:guide>
        <p15:guide id="24" pos="363">
          <p15:clr>
            <a:srgbClr val="FF99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7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71.png"/><Relationship Id="rId4" Type="http://schemas.openxmlformats.org/officeDocument/2006/relationships/image" Target="../media/image73.png"/><Relationship Id="rId5" Type="http://schemas.openxmlformats.org/officeDocument/2006/relationships/image" Target="../media/image6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7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76.png"/><Relationship Id="rId4" Type="http://schemas.openxmlformats.org/officeDocument/2006/relationships/image" Target="../media/image7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7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7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3.xml"/><Relationship Id="rId3" Type="http://schemas.openxmlformats.org/officeDocument/2006/relationships/image" Target="../media/image74.png"/><Relationship Id="rId4" Type="http://schemas.openxmlformats.org/officeDocument/2006/relationships/image" Target="../media/image7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80.png"/><Relationship Id="rId4" Type="http://schemas.openxmlformats.org/officeDocument/2006/relationships/image" Target="../media/image7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5.xml"/><Relationship Id="rId3" Type="http://schemas.openxmlformats.org/officeDocument/2006/relationships/image" Target="../media/image82.png"/><Relationship Id="rId4" Type="http://schemas.openxmlformats.org/officeDocument/2006/relationships/image" Target="../media/image7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8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84.png"/><Relationship Id="rId4" Type="http://schemas.openxmlformats.org/officeDocument/2006/relationships/image" Target="../media/image8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image" Target="../media/image84.png"/><Relationship Id="rId4" Type="http://schemas.openxmlformats.org/officeDocument/2006/relationships/image" Target="../media/image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71.png"/><Relationship Id="rId4" Type="http://schemas.openxmlformats.org/officeDocument/2006/relationships/image" Target="../media/image73.png"/><Relationship Id="rId5" Type="http://schemas.openxmlformats.org/officeDocument/2006/relationships/image" Target="../media/image6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8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8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3.xml"/><Relationship Id="rId3" Type="http://schemas.openxmlformats.org/officeDocument/2006/relationships/image" Target="../media/image7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4.xml"/><Relationship Id="rId3" Type="http://schemas.openxmlformats.org/officeDocument/2006/relationships/image" Target="../media/image71.png"/><Relationship Id="rId4" Type="http://schemas.openxmlformats.org/officeDocument/2006/relationships/image" Target="../media/image73.png"/><Relationship Id="rId5"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5.xml"/><Relationship Id="rId3" Type="http://schemas.openxmlformats.org/officeDocument/2006/relationships/image" Target="../media/image8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6.xml"/><Relationship Id="rId3" Type="http://schemas.openxmlformats.org/officeDocument/2006/relationships/image" Target="../media/image84.png"/><Relationship Id="rId4" Type="http://schemas.openxmlformats.org/officeDocument/2006/relationships/image" Target="../media/image86.png"/><Relationship Id="rId5" Type="http://schemas.openxmlformats.org/officeDocument/2006/relationships/image" Target="../media/image8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7.xml"/><Relationship Id="rId3" Type="http://schemas.openxmlformats.org/officeDocument/2006/relationships/image" Target="../media/image8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image" Target="../media/image8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 Id="rId3" Type="http://schemas.openxmlformats.org/officeDocument/2006/relationships/image" Target="../media/image8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1.xml"/><Relationship Id="rId3" Type="http://schemas.openxmlformats.org/officeDocument/2006/relationships/image" Target="../media/image84.png"/><Relationship Id="rId4" Type="http://schemas.openxmlformats.org/officeDocument/2006/relationships/image" Target="../media/image8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fx-991CW for statistics</a:t>
            </a:r>
            <a:endParaRPr/>
          </a:p>
        </p:txBody>
      </p:sp>
      <p:sp>
        <p:nvSpPr>
          <p:cNvPr id="911" name="Google Shape;911;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Calculator functionality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5" name="Shape 915"/>
        <p:cNvGrpSpPr/>
        <p:nvPr/>
      </p:nvGrpSpPr>
      <p:grpSpPr>
        <a:xfrm>
          <a:off x="0" y="0"/>
          <a:ext cx="0" cy="0"/>
          <a:chOff x="0" y="0"/>
          <a:chExt cx="0" cy="0"/>
        </a:xfrm>
      </p:grpSpPr>
      <p:sp>
        <p:nvSpPr>
          <p:cNvPr id="916" name="Google Shape;916;p75"/>
          <p:cNvSpPr txBox="1"/>
          <p:nvPr/>
        </p:nvSpPr>
        <p:spPr>
          <a:xfrm>
            <a:off x="4824000" y="1184625"/>
            <a:ext cx="39960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76"/>
          <p:cNvSpPr txBox="1"/>
          <p:nvPr>
            <p:ph idx="1" type="subTitle"/>
          </p:nvPr>
        </p:nvSpPr>
        <p:spPr>
          <a:xfrm>
            <a:off x="666000" y="1620000"/>
            <a:ext cx="7351200" cy="25041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fx-991CW to perform calculations with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77"/>
          <p:cNvSpPr txBox="1"/>
          <p:nvPr>
            <p:ph idx="1" type="subTitle"/>
          </p:nvPr>
        </p:nvSpPr>
        <p:spPr>
          <a:xfrm>
            <a:off x="324000" y="810000"/>
            <a:ext cx="84960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frequency is the number of times an event occurs; or the number of individuals (people, animals etc.) with some specific property.</a:t>
            </a:r>
            <a:endParaRPr b="0" sz="2000">
              <a:solidFill>
                <a:schemeClr val="dk1"/>
              </a:solidFill>
            </a:endParaRPr>
          </a:p>
        </p:txBody>
      </p:sp>
      <p:sp>
        <p:nvSpPr>
          <p:cNvPr id="927" name="Google Shape;927;p77"/>
          <p:cNvSpPr txBox="1"/>
          <p:nvPr>
            <p:ph idx="1" type="subTitle"/>
          </p:nvPr>
        </p:nvSpPr>
        <p:spPr>
          <a:xfrm>
            <a:off x="324000" y="1880100"/>
            <a:ext cx="84960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(arithmetic) mean for a set of numerical data is the sum of the values divided by the number of values. It is a measure of central tendency representing the average of the values.</a:t>
            </a:r>
            <a:endParaRPr b="0" sz="2000">
              <a:solidFill>
                <a:schemeClr val="dk1"/>
              </a:solidFill>
            </a:endParaRPr>
          </a:p>
        </p:txBody>
      </p:sp>
      <p:sp>
        <p:nvSpPr>
          <p:cNvPr id="928" name="Google Shape;928;p77"/>
          <p:cNvSpPr txBox="1"/>
          <p:nvPr>
            <p:ph idx="1" type="subTitle"/>
          </p:nvPr>
        </p:nvSpPr>
        <p:spPr>
          <a:xfrm>
            <a:off x="324000" y="3304200"/>
            <a:ext cx="84960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median is the central (middle) piece of data when the data are in numerical order. It is a measure of central tendency representing the average of the values.</a:t>
            </a:r>
            <a:endParaRPr b="0"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78"/>
          <p:cNvSpPr txBox="1"/>
          <p:nvPr>
            <p:ph idx="1" type="subTitle"/>
          </p:nvPr>
        </p:nvSpPr>
        <p:spPr>
          <a:xfrm>
            <a:off x="324000" y="810000"/>
            <a:ext cx="84960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The mode is the most frequent value. It is a measure of central tendency representing the average of the values.</a:t>
            </a:r>
            <a:endParaRPr b="0" sz="2000">
              <a:solidFill>
                <a:schemeClr val="dk1"/>
              </a:solidFill>
            </a:endParaRPr>
          </a:p>
        </p:txBody>
      </p:sp>
      <p:sp>
        <p:nvSpPr>
          <p:cNvPr id="934" name="Google Shape;934;p78"/>
          <p:cNvSpPr txBox="1"/>
          <p:nvPr>
            <p:ph idx="1" type="subTitle"/>
          </p:nvPr>
        </p:nvSpPr>
        <p:spPr>
          <a:xfrm>
            <a:off x="324000" y="2160000"/>
            <a:ext cx="84960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0" lang="en-GB" sz="2000">
                <a:solidFill>
                  <a:schemeClr val="dk1"/>
                </a:solidFill>
              </a:rPr>
              <a:t>A statistical summary sums up the features of a data set. It may contain the mean, median and/or mode which measure the central tendency. It may also contain the range which measures the spread.</a:t>
            </a:r>
            <a:endParaRPr b="0"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9"/>
          <p:cNvSpPr txBox="1"/>
          <p:nvPr>
            <p:ph type="title"/>
          </p:nvPr>
        </p:nvSpPr>
        <p:spPr>
          <a:xfrm>
            <a:off x="1225225" y="2133562"/>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940" name="Google Shape;940;p79"/>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fx-991CW for statistics</a:t>
            </a:r>
            <a:endParaRPr/>
          </a:p>
        </p:txBody>
      </p:sp>
      <p:sp>
        <p:nvSpPr>
          <p:cNvPr id="941" name="Google Shape;941;p79"/>
          <p:cNvSpPr txBox="1"/>
          <p:nvPr>
            <p:ph idx="3" type="title"/>
          </p:nvPr>
        </p:nvSpPr>
        <p:spPr>
          <a:xfrm>
            <a:off x="1225225" y="3069850"/>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942" name="Google Shape;942;p79"/>
          <p:cNvPicPr preferRelativeResize="0"/>
          <p:nvPr/>
        </p:nvPicPr>
        <p:blipFill>
          <a:blip r:embed="rId3">
            <a:alphaModFix/>
          </a:blip>
          <a:stretch>
            <a:fillRect/>
          </a:stretch>
        </p:blipFill>
        <p:spPr>
          <a:xfrm>
            <a:off x="418087" y="2056317"/>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80"/>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(arithmetic) mean for a set of numerical data is the sum of the values divided by the number of values.</a:t>
            </a:r>
            <a:endParaRPr/>
          </a:p>
        </p:txBody>
      </p:sp>
      <p:sp>
        <p:nvSpPr>
          <p:cNvPr id="948" name="Google Shape;948;p8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949" name="Google Shape;949;p80"/>
          <p:cNvPicPr preferRelativeResize="0"/>
          <p:nvPr/>
        </p:nvPicPr>
        <p:blipFill rotWithShape="1">
          <a:blip r:embed="rId3">
            <a:alphaModFix/>
          </a:blip>
          <a:srcRect b="43690" l="0" r="57905" t="0"/>
          <a:stretch/>
        </p:blipFill>
        <p:spPr>
          <a:xfrm>
            <a:off x="5502983" y="2303051"/>
            <a:ext cx="2253901" cy="1435388"/>
          </a:xfrm>
          <a:prstGeom prst="rect">
            <a:avLst/>
          </a:prstGeom>
          <a:noFill/>
          <a:ln>
            <a:noFill/>
          </a:ln>
        </p:spPr>
      </p:pic>
      <p:sp>
        <p:nvSpPr>
          <p:cNvPr id="950" name="Google Shape;950;p80"/>
          <p:cNvSpPr txBox="1"/>
          <p:nvPr/>
        </p:nvSpPr>
        <p:spPr>
          <a:xfrm>
            <a:off x="5502983" y="2303051"/>
            <a:ext cx="22539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There is an easier way to calculate the mean.</a:t>
            </a:r>
            <a:endParaRPr/>
          </a:p>
        </p:txBody>
      </p:sp>
      <p:pic>
        <p:nvPicPr>
          <p:cNvPr id="951" name="Google Shape;951;p80"/>
          <p:cNvPicPr preferRelativeResize="0"/>
          <p:nvPr/>
        </p:nvPicPr>
        <p:blipFill>
          <a:blip r:embed="rId4">
            <a:alphaModFix/>
          </a:blip>
          <a:stretch>
            <a:fillRect/>
          </a:stretch>
        </p:blipFill>
        <p:spPr>
          <a:xfrm flipH="1">
            <a:off x="7749345" y="3188863"/>
            <a:ext cx="727174" cy="909325"/>
          </a:xfrm>
          <a:prstGeom prst="rect">
            <a:avLst/>
          </a:prstGeom>
          <a:noFill/>
          <a:ln>
            <a:noFill/>
          </a:ln>
        </p:spPr>
      </p:pic>
      <p:sp>
        <p:nvSpPr>
          <p:cNvPr id="952" name="Google Shape;952;p80"/>
          <p:cNvSpPr txBox="1"/>
          <p:nvPr/>
        </p:nvSpPr>
        <p:spPr>
          <a:xfrm>
            <a:off x="7408958" y="3941374"/>
            <a:ext cx="14079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 </a:t>
            </a:r>
            <a:endParaRPr sz="1800">
              <a:latin typeface="Lexend"/>
              <a:ea typeface="Lexend"/>
              <a:cs typeface="Lexend"/>
              <a:sym typeface="Lexend"/>
            </a:endParaRPr>
          </a:p>
        </p:txBody>
      </p:sp>
      <p:grpSp>
        <p:nvGrpSpPr>
          <p:cNvPr id="953" name="Google Shape;953;p80"/>
          <p:cNvGrpSpPr/>
          <p:nvPr/>
        </p:nvGrpSpPr>
        <p:grpSpPr>
          <a:xfrm>
            <a:off x="323994" y="2031300"/>
            <a:ext cx="4500056" cy="2504098"/>
            <a:chOff x="475269" y="2232600"/>
            <a:chExt cx="4500056" cy="2504098"/>
          </a:xfrm>
        </p:grpSpPr>
        <p:pic>
          <p:nvPicPr>
            <p:cNvPr id="954" name="Google Shape;954;p80"/>
            <p:cNvPicPr preferRelativeResize="0"/>
            <p:nvPr/>
          </p:nvPicPr>
          <p:blipFill rotWithShape="1">
            <a:blip r:embed="rId3">
              <a:alphaModFix/>
            </a:blip>
            <a:srcRect b="43690" l="0" r="57905" t="0"/>
            <a:stretch/>
          </p:blipFill>
          <p:spPr>
            <a:xfrm flipH="1">
              <a:off x="1690901" y="2232600"/>
              <a:ext cx="3189074" cy="1695301"/>
            </a:xfrm>
            <a:prstGeom prst="rect">
              <a:avLst/>
            </a:prstGeom>
            <a:noFill/>
            <a:ln>
              <a:noFill/>
            </a:ln>
          </p:spPr>
        </p:pic>
        <p:sp>
          <p:nvSpPr>
            <p:cNvPr id="955" name="Google Shape;955;p80"/>
            <p:cNvSpPr txBox="1"/>
            <p:nvPr/>
          </p:nvSpPr>
          <p:spPr>
            <a:xfrm>
              <a:off x="1841825" y="2278000"/>
              <a:ext cx="3133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Does this mean I need to use the calculate mode to add all the numbers before dividing?</a:t>
              </a:r>
              <a:endParaRPr sz="1800">
                <a:latin typeface="Lexend"/>
                <a:ea typeface="Lexend"/>
                <a:cs typeface="Lexend"/>
                <a:sym typeface="Lexend"/>
              </a:endParaRPr>
            </a:p>
          </p:txBody>
        </p:sp>
        <p:pic>
          <p:nvPicPr>
            <p:cNvPr id="956" name="Google Shape;956;p80"/>
            <p:cNvPicPr preferRelativeResize="0"/>
            <p:nvPr/>
          </p:nvPicPr>
          <p:blipFill>
            <a:blip r:embed="rId5">
              <a:alphaModFix/>
            </a:blip>
            <a:stretch>
              <a:fillRect/>
            </a:stretch>
          </p:blipFill>
          <p:spPr>
            <a:xfrm flipH="1">
              <a:off x="697675" y="3227812"/>
              <a:ext cx="1114250" cy="1078300"/>
            </a:xfrm>
            <a:prstGeom prst="rect">
              <a:avLst/>
            </a:prstGeom>
            <a:noFill/>
            <a:ln>
              <a:noFill/>
            </a:ln>
          </p:spPr>
        </p:pic>
        <p:sp>
          <p:nvSpPr>
            <p:cNvPr id="957" name="Google Shape;957;p80"/>
            <p:cNvSpPr txBox="1"/>
            <p:nvPr/>
          </p:nvSpPr>
          <p:spPr>
            <a:xfrm>
              <a:off x="475269" y="41507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p81"/>
          <p:cNvPicPr preferRelativeResize="0"/>
          <p:nvPr/>
        </p:nvPicPr>
        <p:blipFill>
          <a:blip r:embed="rId3">
            <a:alphaModFix/>
          </a:blip>
          <a:stretch>
            <a:fillRect/>
          </a:stretch>
        </p:blipFill>
        <p:spPr>
          <a:xfrm>
            <a:off x="6078299" y="810000"/>
            <a:ext cx="2310800" cy="3926593"/>
          </a:xfrm>
          <a:prstGeom prst="rect">
            <a:avLst/>
          </a:prstGeom>
          <a:noFill/>
          <a:ln>
            <a:noFill/>
          </a:ln>
        </p:spPr>
      </p:pic>
      <p:sp>
        <p:nvSpPr>
          <p:cNvPr id="963" name="Google Shape;963;p81"/>
          <p:cNvSpPr txBox="1"/>
          <p:nvPr>
            <p:ph idx="1" type="body"/>
          </p:nvPr>
        </p:nvSpPr>
        <p:spPr>
          <a:xfrm>
            <a:off x="324000" y="810000"/>
            <a:ext cx="5649000" cy="357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In this lesson, we will be using the Casio fx-991CW model.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We will cover how to use this calculator to carry out different calculations.</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After switching the calculator on, you will see this screen.</a:t>
            </a:r>
            <a:endParaRPr/>
          </a:p>
        </p:txBody>
      </p:sp>
      <p:sp>
        <p:nvSpPr>
          <p:cNvPr id="964" name="Google Shape;964;p8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cxnSp>
        <p:nvCxnSpPr>
          <p:cNvPr id="965" name="Google Shape;965;p81"/>
          <p:cNvCxnSpPr/>
          <p:nvPr/>
        </p:nvCxnSpPr>
        <p:spPr>
          <a:xfrm flipH="1" rot="10800000">
            <a:off x="4645750" y="2043900"/>
            <a:ext cx="1576200" cy="1636500"/>
          </a:xfrm>
          <a:prstGeom prst="straightConnector1">
            <a:avLst/>
          </a:prstGeom>
          <a:noFill/>
          <a:ln cap="flat" cmpd="sng" w="38100">
            <a:solidFill>
              <a:schemeClr val="accent4"/>
            </a:solidFill>
            <a:prstDash val="solid"/>
            <a:round/>
            <a:headEnd len="med" w="med" type="none"/>
            <a:tailEnd len="med" w="med" type="triangle"/>
          </a:ln>
        </p:spPr>
      </p:cxnSp>
      <p:sp>
        <p:nvSpPr>
          <p:cNvPr id="966" name="Google Shape;966;p81"/>
          <p:cNvSpPr/>
          <p:nvPr/>
        </p:nvSpPr>
        <p:spPr>
          <a:xfrm>
            <a:off x="6271875" y="1003050"/>
            <a:ext cx="1880700" cy="7995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id="971" name="Google Shape;971;p82"/>
          <p:cNvPicPr preferRelativeResize="0"/>
          <p:nvPr/>
        </p:nvPicPr>
        <p:blipFill>
          <a:blip r:embed="rId3">
            <a:alphaModFix/>
          </a:blip>
          <a:stretch>
            <a:fillRect/>
          </a:stretch>
        </p:blipFill>
        <p:spPr>
          <a:xfrm>
            <a:off x="6103634" y="810000"/>
            <a:ext cx="2285466" cy="3926600"/>
          </a:xfrm>
          <a:prstGeom prst="rect">
            <a:avLst/>
          </a:prstGeom>
          <a:noFill/>
          <a:ln>
            <a:noFill/>
          </a:ln>
        </p:spPr>
      </p:pic>
      <p:pic>
        <p:nvPicPr>
          <p:cNvPr id="972" name="Google Shape;972;p82"/>
          <p:cNvPicPr preferRelativeResize="0"/>
          <p:nvPr/>
        </p:nvPicPr>
        <p:blipFill>
          <a:blip r:embed="rId4">
            <a:alphaModFix/>
          </a:blip>
          <a:stretch>
            <a:fillRect/>
          </a:stretch>
        </p:blipFill>
        <p:spPr>
          <a:xfrm>
            <a:off x="6078299" y="810000"/>
            <a:ext cx="2310800" cy="3926593"/>
          </a:xfrm>
          <a:prstGeom prst="rect">
            <a:avLst/>
          </a:prstGeom>
          <a:noFill/>
          <a:ln>
            <a:noFill/>
          </a:ln>
        </p:spPr>
      </p:pic>
      <p:sp>
        <p:nvSpPr>
          <p:cNvPr id="973" name="Google Shape;973;p82"/>
          <p:cNvSpPr txBox="1"/>
          <p:nvPr>
            <p:ph idx="1" type="body"/>
          </p:nvPr>
        </p:nvSpPr>
        <p:spPr>
          <a:xfrm>
            <a:off x="324000" y="810000"/>
            <a:ext cx="5649000" cy="1506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You can use the arrow keys to navigate between the options. We are going to begin by focusing on how to calculate the mean from a frequency table.</a:t>
            </a:r>
            <a:endParaRPr/>
          </a:p>
        </p:txBody>
      </p:sp>
      <p:sp>
        <p:nvSpPr>
          <p:cNvPr id="974" name="Google Shape;974;p8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cxnSp>
        <p:nvCxnSpPr>
          <p:cNvPr id="975" name="Google Shape;975;p82"/>
          <p:cNvCxnSpPr/>
          <p:nvPr/>
        </p:nvCxnSpPr>
        <p:spPr>
          <a:xfrm>
            <a:off x="5482875" y="1191600"/>
            <a:ext cx="1659300" cy="968400"/>
          </a:xfrm>
          <a:prstGeom prst="straightConnector1">
            <a:avLst/>
          </a:prstGeom>
          <a:noFill/>
          <a:ln cap="flat" cmpd="sng" w="38100">
            <a:solidFill>
              <a:schemeClr val="accent4"/>
            </a:solidFill>
            <a:prstDash val="solid"/>
            <a:round/>
            <a:headEnd len="med" w="med" type="none"/>
            <a:tailEnd len="med" w="med" type="triangle"/>
          </a:ln>
        </p:spPr>
      </p:cxnSp>
      <p:sp>
        <p:nvSpPr>
          <p:cNvPr id="976" name="Google Shape;976;p82"/>
          <p:cNvSpPr txBox="1"/>
          <p:nvPr>
            <p:ph idx="1" type="body"/>
          </p:nvPr>
        </p:nvSpPr>
        <p:spPr>
          <a:xfrm>
            <a:off x="324000" y="2681250"/>
            <a:ext cx="5649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Navigate to ‘Statistics’ and press the ‘EXE’ button.</a:t>
            </a:r>
            <a:endParaRPr/>
          </a:p>
        </p:txBody>
      </p:sp>
      <p:cxnSp>
        <p:nvCxnSpPr>
          <p:cNvPr id="977" name="Google Shape;977;p82"/>
          <p:cNvCxnSpPr/>
          <p:nvPr/>
        </p:nvCxnSpPr>
        <p:spPr>
          <a:xfrm>
            <a:off x="708925" y="3416425"/>
            <a:ext cx="7179900" cy="1063500"/>
          </a:xfrm>
          <a:prstGeom prst="straightConnector1">
            <a:avLst/>
          </a:prstGeom>
          <a:noFill/>
          <a:ln cap="flat" cmpd="sng" w="38100">
            <a:solidFill>
              <a:schemeClr val="accent4"/>
            </a:solidFill>
            <a:prstDash val="solid"/>
            <a:round/>
            <a:headEnd len="med" w="med" type="none"/>
            <a:tailEnd len="med" w="med" type="triangle"/>
          </a:ln>
        </p:spPr>
      </p:cxnSp>
      <p:sp>
        <p:nvSpPr>
          <p:cNvPr id="978" name="Google Shape;978;p82"/>
          <p:cNvSpPr/>
          <p:nvPr/>
        </p:nvSpPr>
        <p:spPr>
          <a:xfrm>
            <a:off x="7888800" y="4383200"/>
            <a:ext cx="294000" cy="3078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83"/>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Here is a table showing the number of diners at various tables in a restaurant.</a:t>
            </a:r>
            <a:endParaRPr/>
          </a:p>
        </p:txBody>
      </p:sp>
      <p:sp>
        <p:nvSpPr>
          <p:cNvPr id="984" name="Google Shape;984;p8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985" name="Google Shape;985;p83"/>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grpSp>
        <p:nvGrpSpPr>
          <p:cNvPr id="986" name="Google Shape;986;p83"/>
          <p:cNvGrpSpPr/>
          <p:nvPr/>
        </p:nvGrpSpPr>
        <p:grpSpPr>
          <a:xfrm>
            <a:off x="2306100" y="2287400"/>
            <a:ext cx="6513800" cy="1195366"/>
            <a:chOff x="2306100" y="2287400"/>
            <a:chExt cx="6513800" cy="1195366"/>
          </a:xfrm>
        </p:grpSpPr>
        <p:sp>
          <p:nvSpPr>
            <p:cNvPr id="987" name="Google Shape;987;p83"/>
            <p:cNvSpPr txBox="1"/>
            <p:nvPr/>
          </p:nvSpPr>
          <p:spPr>
            <a:xfrm>
              <a:off x="3369500" y="2287400"/>
              <a:ext cx="54504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This represents 3 tables, each with 4 diners.</a:t>
              </a:r>
              <a:endParaRPr sz="2200">
                <a:latin typeface="Lexend"/>
                <a:ea typeface="Lexend"/>
                <a:cs typeface="Lexend"/>
                <a:sym typeface="Lexend"/>
              </a:endParaRPr>
            </a:p>
          </p:txBody>
        </p:sp>
        <p:sp>
          <p:nvSpPr>
            <p:cNvPr id="988" name="Google Shape;988;p83"/>
            <p:cNvSpPr/>
            <p:nvPr/>
          </p:nvSpPr>
          <p:spPr>
            <a:xfrm>
              <a:off x="2306100" y="3179166"/>
              <a:ext cx="303600" cy="3036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89" name="Google Shape;989;p83"/>
            <p:cNvCxnSpPr>
              <a:stCxn id="987" idx="1"/>
              <a:endCxn id="988" idx="3"/>
            </p:cNvCxnSpPr>
            <p:nvPr/>
          </p:nvCxnSpPr>
          <p:spPr>
            <a:xfrm flipH="1">
              <a:off x="2609600" y="2626100"/>
              <a:ext cx="759900" cy="705000"/>
            </a:xfrm>
            <a:prstGeom prst="straightConnector1">
              <a:avLst/>
            </a:prstGeom>
            <a:noFill/>
            <a:ln cap="flat" cmpd="sng" w="38100">
              <a:solidFill>
                <a:schemeClr val="dk1"/>
              </a:solidFill>
              <a:prstDash val="solid"/>
              <a:round/>
              <a:headEnd len="med" w="med" type="none"/>
              <a:tailEnd len="med" w="med" type="none"/>
            </a:ln>
          </p:spPr>
        </p:cxnSp>
      </p:grpSp>
      <p:grpSp>
        <p:nvGrpSpPr>
          <p:cNvPr id="990" name="Google Shape;990;p83"/>
          <p:cNvGrpSpPr/>
          <p:nvPr/>
        </p:nvGrpSpPr>
        <p:grpSpPr>
          <a:xfrm>
            <a:off x="2306100" y="3446184"/>
            <a:ext cx="6513900" cy="677400"/>
            <a:chOff x="2306100" y="3446184"/>
            <a:chExt cx="6513900" cy="677400"/>
          </a:xfrm>
        </p:grpSpPr>
        <p:sp>
          <p:nvSpPr>
            <p:cNvPr id="991" name="Google Shape;991;p83"/>
            <p:cNvSpPr/>
            <p:nvPr/>
          </p:nvSpPr>
          <p:spPr>
            <a:xfrm>
              <a:off x="2306100" y="3636316"/>
              <a:ext cx="303600" cy="3036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2" name="Google Shape;992;p83"/>
            <p:cNvCxnSpPr>
              <a:stCxn id="993" idx="1"/>
              <a:endCxn id="991" idx="3"/>
            </p:cNvCxnSpPr>
            <p:nvPr/>
          </p:nvCxnSpPr>
          <p:spPr>
            <a:xfrm flipH="1">
              <a:off x="2609700" y="3784884"/>
              <a:ext cx="759900" cy="3300"/>
            </a:xfrm>
            <a:prstGeom prst="straightConnector1">
              <a:avLst/>
            </a:prstGeom>
            <a:noFill/>
            <a:ln cap="flat" cmpd="sng" w="38100">
              <a:solidFill>
                <a:schemeClr val="dk1"/>
              </a:solidFill>
              <a:prstDash val="solid"/>
              <a:round/>
              <a:headEnd len="med" w="med" type="none"/>
              <a:tailEnd len="med" w="med" type="none"/>
            </a:ln>
          </p:spPr>
        </p:cxnSp>
        <p:sp>
          <p:nvSpPr>
            <p:cNvPr id="993" name="Google Shape;993;p83"/>
            <p:cNvSpPr txBox="1"/>
            <p:nvPr/>
          </p:nvSpPr>
          <p:spPr>
            <a:xfrm>
              <a:off x="3369600" y="3446184"/>
              <a:ext cx="54504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This represents 2 tables, each with 5 diners.</a:t>
              </a:r>
              <a:endParaRPr sz="22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84"/>
          <p:cNvSpPr txBox="1"/>
          <p:nvPr>
            <p:ph idx="1" type="body"/>
          </p:nvPr>
        </p:nvSpPr>
        <p:spPr>
          <a:xfrm>
            <a:off x="3369600" y="810000"/>
            <a:ext cx="54504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dealing with one set of data so we choose ‘1-Variable’ from the Statistics menu.</a:t>
            </a:r>
            <a:endParaRPr/>
          </a:p>
        </p:txBody>
      </p:sp>
      <p:sp>
        <p:nvSpPr>
          <p:cNvPr id="999" name="Google Shape;999;p8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00" name="Google Shape;1000;p84"/>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01" name="Google Shape;1001;p84"/>
          <p:cNvPicPr preferRelativeResize="0"/>
          <p:nvPr/>
        </p:nvPicPr>
        <p:blipFill>
          <a:blip r:embed="rId3">
            <a:alphaModFix/>
          </a:blip>
          <a:stretch>
            <a:fillRect/>
          </a:stretch>
        </p:blipFill>
        <p:spPr>
          <a:xfrm>
            <a:off x="3369600" y="2160000"/>
            <a:ext cx="3676650" cy="1647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pic>
        <p:nvPicPr>
          <p:cNvPr id="1006" name="Google Shape;1006;p85"/>
          <p:cNvPicPr preferRelativeResize="0"/>
          <p:nvPr/>
        </p:nvPicPr>
        <p:blipFill>
          <a:blip r:embed="rId3">
            <a:alphaModFix/>
          </a:blip>
          <a:stretch>
            <a:fillRect/>
          </a:stretch>
        </p:blipFill>
        <p:spPr>
          <a:xfrm>
            <a:off x="3369600" y="2179538"/>
            <a:ext cx="3676650" cy="1647825"/>
          </a:xfrm>
          <a:prstGeom prst="rect">
            <a:avLst/>
          </a:prstGeom>
          <a:noFill/>
          <a:ln>
            <a:noFill/>
          </a:ln>
        </p:spPr>
      </p:pic>
      <p:sp>
        <p:nvSpPr>
          <p:cNvPr id="1007" name="Google Shape;1007;p85"/>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now need to put the values from the table into the calculator.</a:t>
            </a:r>
            <a:endParaRPr/>
          </a:p>
        </p:txBody>
      </p:sp>
      <p:sp>
        <p:nvSpPr>
          <p:cNvPr id="1008" name="Google Shape;1008;p8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09" name="Google Shape;1009;p85"/>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010" name="Google Shape;1010;p85"/>
          <p:cNvSpPr txBox="1"/>
          <p:nvPr>
            <p:ph idx="1" type="body"/>
          </p:nvPr>
        </p:nvSpPr>
        <p:spPr>
          <a:xfrm>
            <a:off x="324000" y="4084700"/>
            <a:ext cx="81378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If the Freq column is missing, press ‘Tools’, select ‘Frequency’ then select ‘On’.</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p86"/>
          <p:cNvPicPr preferRelativeResize="0"/>
          <p:nvPr/>
        </p:nvPicPr>
        <p:blipFill>
          <a:blip r:embed="rId3">
            <a:alphaModFix/>
          </a:blip>
          <a:stretch>
            <a:fillRect/>
          </a:stretch>
        </p:blipFill>
        <p:spPr>
          <a:xfrm>
            <a:off x="3369600" y="2179538"/>
            <a:ext cx="3676650" cy="1647825"/>
          </a:xfrm>
          <a:prstGeom prst="rect">
            <a:avLst/>
          </a:prstGeom>
          <a:noFill/>
          <a:ln>
            <a:noFill/>
          </a:ln>
        </p:spPr>
      </p:pic>
      <p:sp>
        <p:nvSpPr>
          <p:cNvPr id="1016" name="Google Shape;1016;p86"/>
          <p:cNvSpPr txBox="1"/>
          <p:nvPr>
            <p:ph idx="1" type="body"/>
          </p:nvPr>
        </p:nvSpPr>
        <p:spPr>
          <a:xfrm>
            <a:off x="3369600" y="810000"/>
            <a:ext cx="51921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Enter 0 and then press ‘EXE’. What value appears in the ‘Freq’ column?</a:t>
            </a:r>
            <a:endParaRPr/>
          </a:p>
        </p:txBody>
      </p:sp>
      <p:sp>
        <p:nvSpPr>
          <p:cNvPr id="1017" name="Google Shape;1017;p86"/>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18" name="Google Shape;1018;p86"/>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19" name="Google Shape;1019;p86"/>
          <p:cNvPicPr preferRelativeResize="0"/>
          <p:nvPr/>
        </p:nvPicPr>
        <p:blipFill>
          <a:blip r:embed="rId4">
            <a:alphaModFix/>
          </a:blip>
          <a:stretch>
            <a:fillRect/>
          </a:stretch>
        </p:blipFill>
        <p:spPr>
          <a:xfrm>
            <a:off x="3364825" y="2170013"/>
            <a:ext cx="3686175" cy="16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87"/>
          <p:cNvSpPr txBox="1"/>
          <p:nvPr>
            <p:ph idx="1" type="body"/>
          </p:nvPr>
        </p:nvSpPr>
        <p:spPr>
          <a:xfrm>
            <a:off x="3369600" y="810000"/>
            <a:ext cx="5450400" cy="1635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1 is the default frequency value.</a:t>
            </a:r>
            <a:endParaRPr/>
          </a:p>
          <a:p>
            <a:pPr indent="0" lvl="0" marL="0" rtl="0" algn="l">
              <a:spcBef>
                <a:spcPts val="1000"/>
              </a:spcBef>
              <a:spcAft>
                <a:spcPts val="1000"/>
              </a:spcAft>
              <a:buNone/>
            </a:pPr>
            <a:r>
              <a:rPr lang="en-GB"/>
              <a:t>You can change the value by navigating to the value you wish to change, typing the correct value and pressing ‘EXE’.</a:t>
            </a:r>
            <a:endParaRPr/>
          </a:p>
        </p:txBody>
      </p:sp>
      <p:sp>
        <p:nvSpPr>
          <p:cNvPr id="1025" name="Google Shape;1025;p8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26" name="Google Shape;1026;p87"/>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27" name="Google Shape;1027;p87"/>
          <p:cNvPicPr preferRelativeResize="0"/>
          <p:nvPr/>
        </p:nvPicPr>
        <p:blipFill>
          <a:blip r:embed="rId3">
            <a:alphaModFix/>
          </a:blip>
          <a:stretch>
            <a:fillRect/>
          </a:stretch>
        </p:blipFill>
        <p:spPr>
          <a:xfrm>
            <a:off x="3369600" y="2571738"/>
            <a:ext cx="3695700" cy="1666875"/>
          </a:xfrm>
          <a:prstGeom prst="rect">
            <a:avLst/>
          </a:prstGeom>
          <a:noFill/>
          <a:ln>
            <a:noFill/>
          </a:ln>
        </p:spPr>
      </p:pic>
      <p:pic>
        <p:nvPicPr>
          <p:cNvPr id="1028" name="Google Shape;1028;p87"/>
          <p:cNvPicPr preferRelativeResize="0"/>
          <p:nvPr/>
        </p:nvPicPr>
        <p:blipFill>
          <a:blip r:embed="rId4">
            <a:alphaModFix/>
          </a:blip>
          <a:stretch>
            <a:fillRect/>
          </a:stretch>
        </p:blipFill>
        <p:spPr>
          <a:xfrm>
            <a:off x="3374350" y="2576513"/>
            <a:ext cx="3686175" cy="1657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88"/>
          <p:cNvSpPr txBox="1"/>
          <p:nvPr>
            <p:ph idx="1" type="body"/>
          </p:nvPr>
        </p:nvSpPr>
        <p:spPr>
          <a:xfrm>
            <a:off x="3369600" y="810000"/>
            <a:ext cx="51921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Enter the remaining values into the calculator.</a:t>
            </a:r>
            <a:endParaRPr/>
          </a:p>
        </p:txBody>
      </p:sp>
      <p:sp>
        <p:nvSpPr>
          <p:cNvPr id="1034" name="Google Shape;1034;p88"/>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35" name="Google Shape;1035;p88"/>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36" name="Google Shape;1036;p88"/>
          <p:cNvPicPr preferRelativeResize="0"/>
          <p:nvPr/>
        </p:nvPicPr>
        <p:blipFill>
          <a:blip r:embed="rId3">
            <a:alphaModFix/>
          </a:blip>
          <a:stretch>
            <a:fillRect/>
          </a:stretch>
        </p:blipFill>
        <p:spPr>
          <a:xfrm>
            <a:off x="3369599" y="1626600"/>
            <a:ext cx="3443819" cy="1574324"/>
          </a:xfrm>
          <a:prstGeom prst="rect">
            <a:avLst/>
          </a:prstGeom>
          <a:noFill/>
          <a:ln>
            <a:noFill/>
          </a:ln>
        </p:spPr>
      </p:pic>
      <p:pic>
        <p:nvPicPr>
          <p:cNvPr id="1037" name="Google Shape;1037;p88"/>
          <p:cNvPicPr preferRelativeResize="0"/>
          <p:nvPr/>
        </p:nvPicPr>
        <p:blipFill>
          <a:blip r:embed="rId4">
            <a:alphaModFix/>
          </a:blip>
          <a:stretch>
            <a:fillRect/>
          </a:stretch>
        </p:blipFill>
        <p:spPr>
          <a:xfrm>
            <a:off x="3369599" y="3200912"/>
            <a:ext cx="3443819" cy="15474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89"/>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Once all the values have been correctly entered, press ‘EXE’.</a:t>
            </a:r>
            <a:endParaRPr/>
          </a:p>
        </p:txBody>
      </p:sp>
      <p:sp>
        <p:nvSpPr>
          <p:cNvPr id="1043" name="Google Shape;1043;p8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44" name="Google Shape;1044;p89"/>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045" name="Google Shape;1045;p89"/>
          <p:cNvPicPr preferRelativeResize="0"/>
          <p:nvPr/>
        </p:nvPicPr>
        <p:blipFill>
          <a:blip r:embed="rId3">
            <a:alphaModFix/>
          </a:blip>
          <a:stretch>
            <a:fillRect/>
          </a:stretch>
        </p:blipFill>
        <p:spPr>
          <a:xfrm>
            <a:off x="3369600" y="1620000"/>
            <a:ext cx="3667125" cy="1657350"/>
          </a:xfrm>
          <a:prstGeom prst="rect">
            <a:avLst/>
          </a:prstGeom>
          <a:noFill/>
          <a:ln>
            <a:noFill/>
          </a:ln>
        </p:spPr>
      </p:pic>
      <p:sp>
        <p:nvSpPr>
          <p:cNvPr id="1046" name="Google Shape;1046;p89"/>
          <p:cNvSpPr txBox="1"/>
          <p:nvPr/>
        </p:nvSpPr>
        <p:spPr>
          <a:xfrm>
            <a:off x="3369600" y="3551000"/>
            <a:ext cx="5450400" cy="86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Press ‘EXE’ again to generate the mean for the data you entered.</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90"/>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Once all the values have been correctly entered, press ‘EXE’.</a:t>
            </a:r>
            <a:endParaRPr/>
          </a:p>
        </p:txBody>
      </p:sp>
      <p:sp>
        <p:nvSpPr>
          <p:cNvPr id="1052" name="Google Shape;1052;p9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53" name="Google Shape;1053;p90"/>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054" name="Google Shape;1054;p90"/>
          <p:cNvSpPr txBox="1"/>
          <p:nvPr/>
        </p:nvSpPr>
        <p:spPr>
          <a:xfrm>
            <a:off x="3369600" y="3551000"/>
            <a:ext cx="5450400" cy="86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mean is written as </a:t>
            </a:r>
            <a:endParaRPr sz="2200">
              <a:solidFill>
                <a:schemeClr val="dk1"/>
              </a:solidFill>
              <a:latin typeface="Lexend"/>
              <a:ea typeface="Lexend"/>
              <a:cs typeface="Lexend"/>
              <a:sym typeface="Lexend"/>
            </a:endParaRPr>
          </a:p>
        </p:txBody>
      </p:sp>
      <p:pic>
        <p:nvPicPr>
          <p:cNvPr id="1055" name="Google Shape;1055;p90"/>
          <p:cNvPicPr preferRelativeResize="0"/>
          <p:nvPr/>
        </p:nvPicPr>
        <p:blipFill>
          <a:blip r:embed="rId3">
            <a:alphaModFix/>
          </a:blip>
          <a:stretch>
            <a:fillRect/>
          </a:stretch>
        </p:blipFill>
        <p:spPr>
          <a:xfrm>
            <a:off x="3369600" y="1620000"/>
            <a:ext cx="3676650" cy="1657350"/>
          </a:xfrm>
          <a:prstGeom prst="rect">
            <a:avLst/>
          </a:prstGeom>
          <a:noFill/>
          <a:ln>
            <a:noFill/>
          </a:ln>
        </p:spPr>
      </p:pic>
      <p:pic>
        <p:nvPicPr>
          <p:cNvPr descr="x horizontal bar&#10;&#10;&lt;math xmlns=&quot;http://www.w3.org/1998/Math/MathML&quot; display=&quot;block&quot; data-is-equatio=&quot;1&quot; data-latex=&quot;\overline{x}&quot;&gt;&lt;mover&gt;&lt;mi&gt;x&lt;/mi&gt;&lt;mo accent=&quot;true&quot;&gt;―&lt;/mo&gt;&lt;/mover&gt;&lt;/math&gt;" id="1056" name="Google Shape;1056;p90"/>
          <p:cNvPicPr preferRelativeResize="0"/>
          <p:nvPr/>
        </p:nvPicPr>
        <p:blipFill>
          <a:blip r:embed="rId4">
            <a:alphaModFix/>
          </a:blip>
          <a:stretch>
            <a:fillRect/>
          </a:stretch>
        </p:blipFill>
        <p:spPr>
          <a:xfrm>
            <a:off x="6524050" y="3587850"/>
            <a:ext cx="180975" cy="238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91"/>
          <p:cNvSpPr txBox="1"/>
          <p:nvPr>
            <p:ph idx="1" type="body"/>
          </p:nvPr>
        </p:nvSpPr>
        <p:spPr>
          <a:xfrm>
            <a:off x="3369600" y="810000"/>
            <a:ext cx="54504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Once all the values have been correctly entered, press ‘EXE’.</a:t>
            </a:r>
            <a:endParaRPr/>
          </a:p>
        </p:txBody>
      </p:sp>
      <p:sp>
        <p:nvSpPr>
          <p:cNvPr id="1062" name="Google Shape;1062;p91"/>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63" name="Google Shape;1063;p91"/>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064" name="Google Shape;1064;p91"/>
          <p:cNvSpPr txBox="1"/>
          <p:nvPr/>
        </p:nvSpPr>
        <p:spPr>
          <a:xfrm>
            <a:off x="3369600" y="3551000"/>
            <a:ext cx="5450400" cy="10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mean is written as</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What is the value of the mean?  </a:t>
            </a:r>
            <a:endParaRPr sz="2200">
              <a:solidFill>
                <a:schemeClr val="dk1"/>
              </a:solidFill>
              <a:latin typeface="Lexend"/>
              <a:ea typeface="Lexend"/>
              <a:cs typeface="Lexend"/>
              <a:sym typeface="Lexend"/>
            </a:endParaRPr>
          </a:p>
        </p:txBody>
      </p:sp>
      <p:pic>
        <p:nvPicPr>
          <p:cNvPr id="1065" name="Google Shape;1065;p91"/>
          <p:cNvPicPr preferRelativeResize="0"/>
          <p:nvPr/>
        </p:nvPicPr>
        <p:blipFill>
          <a:blip r:embed="rId3">
            <a:alphaModFix/>
          </a:blip>
          <a:stretch>
            <a:fillRect/>
          </a:stretch>
        </p:blipFill>
        <p:spPr>
          <a:xfrm>
            <a:off x="3369600" y="1620000"/>
            <a:ext cx="3676650" cy="1657350"/>
          </a:xfrm>
          <a:prstGeom prst="rect">
            <a:avLst/>
          </a:prstGeom>
          <a:noFill/>
          <a:ln>
            <a:noFill/>
          </a:ln>
        </p:spPr>
      </p:pic>
      <p:pic>
        <p:nvPicPr>
          <p:cNvPr descr="x horizontal bar&#10;&#10;&lt;math xmlns=&quot;http://www.w3.org/1998/Math/MathML&quot; display=&quot;block&quot; data-is-equatio=&quot;1&quot; data-latex=&quot;\overline{x}&quot;&gt;&lt;mover&gt;&lt;mi&gt;x&lt;/mi&gt;&lt;mo accent=&quot;true&quot;&gt;―&lt;/mo&gt;&lt;/mover&gt;&lt;/math&gt;" id="1066" name="Google Shape;1066;p91"/>
          <p:cNvPicPr preferRelativeResize="0"/>
          <p:nvPr/>
        </p:nvPicPr>
        <p:blipFill>
          <a:blip r:embed="rId4">
            <a:alphaModFix/>
          </a:blip>
          <a:stretch>
            <a:fillRect/>
          </a:stretch>
        </p:blipFill>
        <p:spPr>
          <a:xfrm>
            <a:off x="6524050" y="3587850"/>
            <a:ext cx="180975" cy="238125"/>
          </a:xfrm>
          <a:prstGeom prst="rect">
            <a:avLst/>
          </a:prstGeom>
          <a:noFill/>
          <a:ln>
            <a:noFill/>
          </a:ln>
        </p:spPr>
      </p:pic>
      <p:sp>
        <p:nvSpPr>
          <p:cNvPr id="1067" name="Google Shape;1067;p91"/>
          <p:cNvSpPr txBox="1"/>
          <p:nvPr/>
        </p:nvSpPr>
        <p:spPr>
          <a:xfrm>
            <a:off x="7718600" y="4231700"/>
            <a:ext cx="366300" cy="33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2"/>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(arithmetic) mean for a set of numerical data is the sum of the values divided by the number of values.</a:t>
            </a:r>
            <a:endParaRPr/>
          </a:p>
        </p:txBody>
      </p:sp>
      <p:sp>
        <p:nvSpPr>
          <p:cNvPr id="1073" name="Google Shape;1073;p9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pic>
        <p:nvPicPr>
          <p:cNvPr id="1074" name="Google Shape;1074;p92"/>
          <p:cNvPicPr preferRelativeResize="0"/>
          <p:nvPr/>
        </p:nvPicPr>
        <p:blipFill rotWithShape="1">
          <a:blip r:embed="rId3">
            <a:alphaModFix/>
          </a:blip>
          <a:srcRect b="43690" l="0" r="57905" t="0"/>
          <a:stretch/>
        </p:blipFill>
        <p:spPr>
          <a:xfrm>
            <a:off x="5135950" y="2451075"/>
            <a:ext cx="2620923" cy="1287375"/>
          </a:xfrm>
          <a:prstGeom prst="rect">
            <a:avLst/>
          </a:prstGeom>
          <a:noFill/>
          <a:ln>
            <a:noFill/>
          </a:ln>
        </p:spPr>
      </p:pic>
      <p:sp>
        <p:nvSpPr>
          <p:cNvPr id="1075" name="Google Shape;1075;p92"/>
          <p:cNvSpPr txBox="1"/>
          <p:nvPr/>
        </p:nvSpPr>
        <p:spPr>
          <a:xfrm>
            <a:off x="5181200" y="2451075"/>
            <a:ext cx="25683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Your calculator can still find an estimate for the mean.</a:t>
            </a:r>
            <a:endParaRPr/>
          </a:p>
        </p:txBody>
      </p:sp>
      <p:pic>
        <p:nvPicPr>
          <p:cNvPr id="1076" name="Google Shape;1076;p92"/>
          <p:cNvPicPr preferRelativeResize="0"/>
          <p:nvPr/>
        </p:nvPicPr>
        <p:blipFill>
          <a:blip r:embed="rId4">
            <a:alphaModFix/>
          </a:blip>
          <a:stretch>
            <a:fillRect/>
          </a:stretch>
        </p:blipFill>
        <p:spPr>
          <a:xfrm flipH="1">
            <a:off x="7749345" y="3188863"/>
            <a:ext cx="727174" cy="909325"/>
          </a:xfrm>
          <a:prstGeom prst="rect">
            <a:avLst/>
          </a:prstGeom>
          <a:noFill/>
          <a:ln>
            <a:noFill/>
          </a:ln>
        </p:spPr>
      </p:pic>
      <p:sp>
        <p:nvSpPr>
          <p:cNvPr id="1077" name="Google Shape;1077;p92"/>
          <p:cNvSpPr txBox="1"/>
          <p:nvPr/>
        </p:nvSpPr>
        <p:spPr>
          <a:xfrm>
            <a:off x="7408958" y="3941374"/>
            <a:ext cx="14079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 </a:t>
            </a:r>
            <a:endParaRPr sz="1800">
              <a:latin typeface="Lexend"/>
              <a:ea typeface="Lexend"/>
              <a:cs typeface="Lexend"/>
              <a:sym typeface="Lexend"/>
            </a:endParaRPr>
          </a:p>
        </p:txBody>
      </p:sp>
      <p:grpSp>
        <p:nvGrpSpPr>
          <p:cNvPr id="1078" name="Google Shape;1078;p92"/>
          <p:cNvGrpSpPr/>
          <p:nvPr/>
        </p:nvGrpSpPr>
        <p:grpSpPr>
          <a:xfrm>
            <a:off x="323994" y="2451075"/>
            <a:ext cx="3477056" cy="2084323"/>
            <a:chOff x="475269" y="2652375"/>
            <a:chExt cx="3477056" cy="2084323"/>
          </a:xfrm>
        </p:grpSpPr>
        <p:pic>
          <p:nvPicPr>
            <p:cNvPr id="1079" name="Google Shape;1079;p92"/>
            <p:cNvPicPr preferRelativeResize="0"/>
            <p:nvPr/>
          </p:nvPicPr>
          <p:blipFill rotWithShape="1">
            <a:blip r:embed="rId3">
              <a:alphaModFix/>
            </a:blip>
            <a:srcRect b="43690" l="0" r="57905" t="0"/>
            <a:stretch/>
          </p:blipFill>
          <p:spPr>
            <a:xfrm flipH="1">
              <a:off x="1690902" y="2652375"/>
              <a:ext cx="2201098" cy="1275524"/>
            </a:xfrm>
            <a:prstGeom prst="rect">
              <a:avLst/>
            </a:prstGeom>
            <a:noFill/>
            <a:ln>
              <a:noFill/>
            </a:ln>
          </p:spPr>
        </p:pic>
        <p:sp>
          <p:nvSpPr>
            <p:cNvPr id="1080" name="Google Shape;1080;p92"/>
            <p:cNvSpPr txBox="1"/>
            <p:nvPr/>
          </p:nvSpPr>
          <p:spPr>
            <a:xfrm>
              <a:off x="1841825" y="2707900"/>
              <a:ext cx="2110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But what if I have a grouped frequency table?</a:t>
              </a:r>
              <a:endParaRPr sz="1800">
                <a:latin typeface="Lexend"/>
                <a:ea typeface="Lexend"/>
                <a:cs typeface="Lexend"/>
                <a:sym typeface="Lexend"/>
              </a:endParaRPr>
            </a:p>
          </p:txBody>
        </p:sp>
        <p:pic>
          <p:nvPicPr>
            <p:cNvPr id="1081" name="Google Shape;1081;p92"/>
            <p:cNvPicPr preferRelativeResize="0"/>
            <p:nvPr/>
          </p:nvPicPr>
          <p:blipFill>
            <a:blip r:embed="rId5">
              <a:alphaModFix/>
            </a:blip>
            <a:stretch>
              <a:fillRect/>
            </a:stretch>
          </p:blipFill>
          <p:spPr>
            <a:xfrm flipH="1">
              <a:off x="697675" y="3227812"/>
              <a:ext cx="1114250" cy="1078300"/>
            </a:xfrm>
            <a:prstGeom prst="rect">
              <a:avLst/>
            </a:prstGeom>
            <a:noFill/>
            <a:ln>
              <a:noFill/>
            </a:ln>
          </p:spPr>
        </p:pic>
        <p:sp>
          <p:nvSpPr>
            <p:cNvPr id="1082" name="Google Shape;1082;p92"/>
            <p:cNvSpPr txBox="1"/>
            <p:nvPr/>
          </p:nvSpPr>
          <p:spPr>
            <a:xfrm>
              <a:off x="475269" y="41507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93"/>
          <p:cNvSpPr txBox="1"/>
          <p:nvPr>
            <p:ph idx="1" type="body"/>
          </p:nvPr>
        </p:nvSpPr>
        <p:spPr>
          <a:xfrm>
            <a:off x="324000" y="810000"/>
            <a:ext cx="8496000" cy="2799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To quickly clear all existing data in the table, press ‘Tools’ then select ‘Edit’ then ‘Delete All’.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You now have a blank table to put the new values into.</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Alternatively, you can just overwrite the existing values.</a:t>
            </a:r>
            <a:endParaRPr/>
          </a:p>
        </p:txBody>
      </p:sp>
      <p:sp>
        <p:nvSpPr>
          <p:cNvPr id="1088" name="Google Shape;1088;p9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94"/>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57 </a:t>
            </a:r>
            <a:r>
              <a:rPr lang="en-GB"/>
              <a:t>people were surveyed and asked how much money they spent on food during their visit to </a:t>
            </a:r>
            <a:r>
              <a:rPr lang="en-GB"/>
              <a:t>Oakfield supermarket.</a:t>
            </a:r>
            <a:endParaRPr/>
          </a:p>
        </p:txBody>
      </p:sp>
      <p:sp>
        <p:nvSpPr>
          <p:cNvPr id="1094" name="Google Shape;1094;p9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095" name="Google Shape;1095;p94"/>
          <p:cNvGraphicFramePr/>
          <p:nvPr/>
        </p:nvGraphicFramePr>
        <p:xfrm>
          <a:off x="324000" y="1731975"/>
          <a:ext cx="3000000" cy="3000000"/>
        </p:xfrm>
        <a:graphic>
          <a:graphicData uri="http://schemas.openxmlformats.org/drawingml/2006/table">
            <a:tbl>
              <a:tblPr>
                <a:noFill/>
                <a:tableStyleId>{A17CC0A5-822D-4775-9ABD-B3D7EFE4B155}</a:tableStyleId>
              </a:tblPr>
              <a:tblGrid>
                <a:gridCol w="1805550"/>
                <a:gridCol w="1136125"/>
              </a:tblGrid>
              <a:tr h="333375">
                <a:tc>
                  <a:txBody>
                    <a:bodyPr/>
                    <a:lstStyle/>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amount spent</a:t>
                      </a:r>
                      <a:endParaRPr sz="1600">
                        <a:solidFill>
                          <a:srgbClr val="FFFFFF"/>
                        </a:solidFill>
                        <a:latin typeface="Lexend"/>
                        <a:ea typeface="Lexend"/>
                        <a:cs typeface="Lexend"/>
                        <a:sym typeface="Lexend"/>
                      </a:endParaRPr>
                    </a:p>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(in £)</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chemeClr val="lt1"/>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£0 &lt; £ ≤ £20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 &lt; £ ≤ £50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£50 &lt; £ ≤ £100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£100 &lt; £ ≤ £200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£200 &lt; £ ≤ £300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96" name="Google Shape;1096;p94"/>
          <p:cNvSpPr txBox="1"/>
          <p:nvPr/>
        </p:nvSpPr>
        <p:spPr>
          <a:xfrm>
            <a:off x="3369600" y="1731975"/>
            <a:ext cx="5450400" cy="86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To calculate an </a:t>
            </a:r>
            <a:r>
              <a:rPr lang="en-GB" sz="2200">
                <a:solidFill>
                  <a:schemeClr val="dk1"/>
                </a:solidFill>
                <a:latin typeface="Lexend"/>
                <a:ea typeface="Lexend"/>
                <a:cs typeface="Lexend"/>
                <a:sym typeface="Lexend"/>
              </a:rPr>
              <a:t>estimate</a:t>
            </a:r>
            <a:r>
              <a:rPr lang="en-GB" sz="2200">
                <a:solidFill>
                  <a:schemeClr val="dk1"/>
                </a:solidFill>
                <a:latin typeface="Lexend"/>
                <a:ea typeface="Lexend"/>
                <a:cs typeface="Lexend"/>
                <a:sym typeface="Lexend"/>
              </a:rPr>
              <a:t> for the mean, we need to use the midpoint for each class.</a:t>
            </a:r>
            <a:endParaRPr sz="2200">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pic>
        <p:nvPicPr>
          <p:cNvPr id="1101" name="Google Shape;1101;p95"/>
          <p:cNvPicPr preferRelativeResize="0"/>
          <p:nvPr/>
        </p:nvPicPr>
        <p:blipFill>
          <a:blip r:embed="rId3">
            <a:alphaModFix/>
          </a:blip>
          <a:stretch>
            <a:fillRect/>
          </a:stretch>
        </p:blipFill>
        <p:spPr>
          <a:xfrm>
            <a:off x="3364838" y="2164750"/>
            <a:ext cx="3600450" cy="1647825"/>
          </a:xfrm>
          <a:prstGeom prst="rect">
            <a:avLst/>
          </a:prstGeom>
          <a:noFill/>
          <a:ln>
            <a:noFill/>
          </a:ln>
        </p:spPr>
      </p:pic>
      <p:sp>
        <p:nvSpPr>
          <p:cNvPr id="1102" name="Google Shape;1102;p95"/>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57 people were surveyed and asked how much money they spent on food during their visit to Oakfield supermarket.</a:t>
            </a:r>
            <a:endParaRPr/>
          </a:p>
        </p:txBody>
      </p:sp>
      <p:sp>
        <p:nvSpPr>
          <p:cNvPr id="1103" name="Google Shape;1103;p9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104" name="Google Shape;1104;p95"/>
          <p:cNvGraphicFramePr/>
          <p:nvPr/>
        </p:nvGraphicFramePr>
        <p:xfrm>
          <a:off x="324000" y="1731975"/>
          <a:ext cx="3000000" cy="3000000"/>
        </p:xfrm>
        <a:graphic>
          <a:graphicData uri="http://schemas.openxmlformats.org/drawingml/2006/table">
            <a:tbl>
              <a:tblPr>
                <a:noFill/>
                <a:tableStyleId>{A17CC0A5-822D-4775-9ABD-B3D7EFE4B155}</a:tableStyleId>
              </a:tblPr>
              <a:tblGrid>
                <a:gridCol w="1805550"/>
                <a:gridCol w="1136125"/>
              </a:tblGrid>
              <a:tr h="333375">
                <a:tc>
                  <a:txBody>
                    <a:bodyPr/>
                    <a:lstStyle/>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amount spent</a:t>
                      </a:r>
                      <a:endParaRPr sz="1600">
                        <a:solidFill>
                          <a:srgbClr val="FFFFFF"/>
                        </a:solidFill>
                        <a:latin typeface="Lexend"/>
                        <a:ea typeface="Lexend"/>
                        <a:cs typeface="Lexend"/>
                        <a:sym typeface="Lexend"/>
                      </a:endParaRPr>
                    </a:p>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(in £)</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chemeClr val="lt1"/>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£0 &lt; £ ≤ £20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 &lt; £ ≤ £50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£50 &lt; £ ≤ £100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£100 &lt; £ ≤ £200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£200 &lt; £ ≤ £300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05" name="Google Shape;1105;p95"/>
          <p:cNvSpPr txBox="1"/>
          <p:nvPr/>
        </p:nvSpPr>
        <p:spPr>
          <a:xfrm>
            <a:off x="3369600" y="1731975"/>
            <a:ext cx="5450400" cy="86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a:t>
            </a:r>
            <a:r>
              <a:rPr lang="en-GB" sz="2200">
                <a:solidFill>
                  <a:schemeClr val="dk1"/>
                </a:solidFill>
                <a:latin typeface="Lexend"/>
                <a:ea typeface="Lexend"/>
                <a:cs typeface="Lexend"/>
                <a:sym typeface="Lexend"/>
              </a:rPr>
              <a:t>calculator</a:t>
            </a:r>
            <a:r>
              <a:rPr lang="en-GB" sz="2200">
                <a:solidFill>
                  <a:schemeClr val="dk1"/>
                </a:solidFill>
                <a:latin typeface="Lexend"/>
                <a:ea typeface="Lexend"/>
                <a:cs typeface="Lexend"/>
                <a:sym typeface="Lexend"/>
              </a:rPr>
              <a:t> can do this for you:</a:t>
            </a:r>
            <a:endParaRPr sz="2200">
              <a:solidFill>
                <a:schemeClr val="dk1"/>
              </a:solidFill>
              <a:latin typeface="Lexend"/>
              <a:ea typeface="Lexend"/>
              <a:cs typeface="Lexend"/>
              <a:sym typeface="Lexend"/>
            </a:endParaRPr>
          </a:p>
        </p:txBody>
      </p:sp>
      <p:sp>
        <p:nvSpPr>
          <p:cNvPr id="1106" name="Google Shape;1106;p95"/>
          <p:cNvSpPr txBox="1"/>
          <p:nvPr/>
        </p:nvSpPr>
        <p:spPr>
          <a:xfrm>
            <a:off x="324000" y="4018700"/>
            <a:ext cx="8496000" cy="52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Enter the calculation and press ‘EXE’.</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pic>
        <p:nvPicPr>
          <p:cNvPr id="1111" name="Google Shape;1111;p96"/>
          <p:cNvPicPr preferRelativeResize="0"/>
          <p:nvPr/>
        </p:nvPicPr>
        <p:blipFill>
          <a:blip r:embed="rId3">
            <a:alphaModFix/>
          </a:blip>
          <a:stretch>
            <a:fillRect/>
          </a:stretch>
        </p:blipFill>
        <p:spPr>
          <a:xfrm>
            <a:off x="3374375" y="2174263"/>
            <a:ext cx="3581400" cy="1628775"/>
          </a:xfrm>
          <a:prstGeom prst="rect">
            <a:avLst/>
          </a:prstGeom>
          <a:noFill/>
          <a:ln>
            <a:noFill/>
          </a:ln>
        </p:spPr>
      </p:pic>
      <p:sp>
        <p:nvSpPr>
          <p:cNvPr id="1112" name="Google Shape;1112;p96"/>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57 people were surveyed and asked how much money they spent on food during their visit to Oakfield supermarket.</a:t>
            </a:r>
            <a:endParaRPr/>
          </a:p>
        </p:txBody>
      </p:sp>
      <p:sp>
        <p:nvSpPr>
          <p:cNvPr id="1113" name="Google Shape;1113;p96"/>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114" name="Google Shape;1114;p96"/>
          <p:cNvGraphicFramePr/>
          <p:nvPr/>
        </p:nvGraphicFramePr>
        <p:xfrm>
          <a:off x="324000" y="1731975"/>
          <a:ext cx="3000000" cy="3000000"/>
        </p:xfrm>
        <a:graphic>
          <a:graphicData uri="http://schemas.openxmlformats.org/drawingml/2006/table">
            <a:tbl>
              <a:tblPr>
                <a:noFill/>
                <a:tableStyleId>{A17CC0A5-822D-4775-9ABD-B3D7EFE4B155}</a:tableStyleId>
              </a:tblPr>
              <a:tblGrid>
                <a:gridCol w="1805550"/>
                <a:gridCol w="1136125"/>
              </a:tblGrid>
              <a:tr h="333375">
                <a:tc>
                  <a:txBody>
                    <a:bodyPr/>
                    <a:lstStyle/>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amount spent</a:t>
                      </a:r>
                      <a:endParaRPr sz="1600">
                        <a:solidFill>
                          <a:srgbClr val="FFFFFF"/>
                        </a:solidFill>
                        <a:latin typeface="Lexend"/>
                        <a:ea typeface="Lexend"/>
                        <a:cs typeface="Lexend"/>
                        <a:sym typeface="Lexend"/>
                      </a:endParaRPr>
                    </a:p>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(in £)</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chemeClr val="lt1"/>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£0 &lt; £ ≤ £20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 &lt; £ ≤ £50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£50 &lt; £ ≤ £100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£100 &lt; £ ≤ £200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£200 &lt; £ ≤ £300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15" name="Google Shape;1115;p96"/>
          <p:cNvSpPr txBox="1"/>
          <p:nvPr/>
        </p:nvSpPr>
        <p:spPr>
          <a:xfrm>
            <a:off x="3369600" y="1731975"/>
            <a:ext cx="5450400" cy="86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calculator can do this for you:</a:t>
            </a:r>
            <a:endParaRPr sz="2200">
              <a:solidFill>
                <a:schemeClr val="dk1"/>
              </a:solidFill>
              <a:latin typeface="Lexend"/>
              <a:ea typeface="Lexend"/>
              <a:cs typeface="Lexend"/>
              <a:sym typeface="Lexend"/>
            </a:endParaRPr>
          </a:p>
        </p:txBody>
      </p:sp>
      <p:sp>
        <p:nvSpPr>
          <p:cNvPr id="1116" name="Google Shape;1116;p96"/>
          <p:cNvSpPr txBox="1"/>
          <p:nvPr/>
        </p:nvSpPr>
        <p:spPr>
          <a:xfrm>
            <a:off x="324000" y="4018700"/>
            <a:ext cx="8496000" cy="52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midpoint is displayed in the first column.</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97"/>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57 people were surveyed and asked how much money they spent on food during their visit to Oakfield supermarket.</a:t>
            </a:r>
            <a:endParaRPr/>
          </a:p>
        </p:txBody>
      </p:sp>
      <p:sp>
        <p:nvSpPr>
          <p:cNvPr id="1122" name="Google Shape;1122;p97"/>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graphicFrame>
        <p:nvGraphicFramePr>
          <p:cNvPr id="1123" name="Google Shape;1123;p97"/>
          <p:cNvGraphicFramePr/>
          <p:nvPr/>
        </p:nvGraphicFramePr>
        <p:xfrm>
          <a:off x="324000" y="1731975"/>
          <a:ext cx="3000000" cy="3000000"/>
        </p:xfrm>
        <a:graphic>
          <a:graphicData uri="http://schemas.openxmlformats.org/drawingml/2006/table">
            <a:tbl>
              <a:tblPr>
                <a:noFill/>
                <a:tableStyleId>{A17CC0A5-822D-4775-9ABD-B3D7EFE4B155}</a:tableStyleId>
              </a:tblPr>
              <a:tblGrid>
                <a:gridCol w="1805550"/>
                <a:gridCol w="1136125"/>
              </a:tblGrid>
              <a:tr h="333375">
                <a:tc>
                  <a:txBody>
                    <a:bodyPr/>
                    <a:lstStyle/>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amount spent</a:t>
                      </a:r>
                      <a:endParaRPr sz="1600">
                        <a:solidFill>
                          <a:srgbClr val="FFFFFF"/>
                        </a:solidFill>
                        <a:latin typeface="Lexend"/>
                        <a:ea typeface="Lexend"/>
                        <a:cs typeface="Lexend"/>
                        <a:sym typeface="Lexend"/>
                      </a:endParaRPr>
                    </a:p>
                    <a:p>
                      <a:pPr indent="0" lvl="0" marL="0" rtl="0" algn="ctr">
                        <a:lnSpc>
                          <a:spcPct val="100000"/>
                        </a:lnSpc>
                        <a:spcBef>
                          <a:spcPts val="0"/>
                        </a:spcBef>
                        <a:spcAft>
                          <a:spcPts val="0"/>
                        </a:spcAft>
                        <a:buNone/>
                      </a:pPr>
                      <a:r>
                        <a:rPr lang="en-GB" sz="1600">
                          <a:solidFill>
                            <a:srgbClr val="FFFFFF"/>
                          </a:solidFill>
                          <a:latin typeface="Lexend"/>
                          <a:ea typeface="Lexend"/>
                          <a:cs typeface="Lexend"/>
                          <a:sym typeface="Lexend"/>
                        </a:rPr>
                        <a:t>(in £)</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chemeClr val="lt1"/>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£0 &lt; £ ≤ £20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 &lt; £ ≤ £50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£50 &lt; £ ≤ £100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£100 &lt; £ ≤ £200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£200 &lt; £ ≤ £300</a:t>
                      </a:r>
                      <a:endParaRPr sz="1800">
                        <a:latin typeface="Lexend"/>
                        <a:ea typeface="Lexend"/>
                        <a:cs typeface="Lexend"/>
                        <a:sym typeface="Lexend"/>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24" name="Google Shape;1124;p97"/>
          <p:cNvSpPr txBox="1"/>
          <p:nvPr/>
        </p:nvSpPr>
        <p:spPr>
          <a:xfrm>
            <a:off x="3369600" y="1731975"/>
            <a:ext cx="5450400" cy="86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Calculate</a:t>
            </a:r>
            <a:r>
              <a:rPr lang="en-GB" sz="22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an estimate for the </a:t>
            </a:r>
            <a:r>
              <a:rPr lang="en-GB" sz="2200">
                <a:solidFill>
                  <a:schemeClr val="dk1"/>
                </a:solidFill>
                <a:latin typeface="Lexend"/>
                <a:ea typeface="Lexend"/>
                <a:cs typeface="Lexend"/>
                <a:sym typeface="Lexend"/>
              </a:rPr>
              <a:t>mean amount spent per visitor.</a:t>
            </a:r>
            <a:endParaRPr sz="2200">
              <a:solidFill>
                <a:schemeClr val="dk1"/>
              </a:solidFill>
              <a:latin typeface="Lexend"/>
              <a:ea typeface="Lexend"/>
              <a:cs typeface="Lexend"/>
              <a:sym typeface="Lexend"/>
            </a:endParaRPr>
          </a:p>
        </p:txBody>
      </p:sp>
      <p:sp>
        <p:nvSpPr>
          <p:cNvPr id="1125" name="Google Shape;1125;p97"/>
          <p:cNvSpPr txBox="1"/>
          <p:nvPr/>
        </p:nvSpPr>
        <p:spPr>
          <a:xfrm>
            <a:off x="3369600" y="2566650"/>
            <a:ext cx="5450400" cy="52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£68.25 is the estimated mean amount spent per visitor.</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9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31" name="Google Shape;1131;p98"/>
          <p:cNvSpPr txBox="1"/>
          <p:nvPr>
            <p:ph idx="1" type="body"/>
          </p:nvPr>
        </p:nvSpPr>
        <p:spPr>
          <a:xfrm>
            <a:off x="324000" y="810000"/>
            <a:ext cx="82377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1) This frequency table shows the number of goals scored in each match by all the teams in a club over one football season.</a:t>
            </a:r>
            <a:endParaRPr/>
          </a:p>
        </p:txBody>
      </p:sp>
      <p:graphicFrame>
        <p:nvGraphicFramePr>
          <p:cNvPr id="1132" name="Google Shape;1132;p98"/>
          <p:cNvGraphicFramePr/>
          <p:nvPr/>
        </p:nvGraphicFramePr>
        <p:xfrm>
          <a:off x="324008" y="1927500"/>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133" name="Google Shape;1133;p98"/>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number of goals scored?  </a:t>
            </a:r>
            <a:endParaRPr sz="22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graphicFrame>
        <p:nvGraphicFramePr>
          <p:cNvPr id="1138" name="Google Shape;1138;p99"/>
          <p:cNvGraphicFramePr/>
          <p:nvPr/>
        </p:nvGraphicFramePr>
        <p:xfrm>
          <a:off x="324000" y="1924225"/>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139" name="Google Shape;1139;p9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40" name="Google Shape;1140;p99"/>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2) This frequency table shows the star rating received by a restaurant over its opening weekend.</a:t>
            </a:r>
            <a:endParaRPr/>
          </a:p>
        </p:txBody>
      </p:sp>
      <p:sp>
        <p:nvSpPr>
          <p:cNvPr id="1141" name="Google Shape;1141;p99"/>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star rating?</a:t>
            </a:r>
            <a:endParaRPr sz="22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0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47" name="Google Shape;1147;p100"/>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3) The frequency table shows the number of bedrooms in different houses within an area of a town.</a:t>
            </a:r>
            <a:endParaRPr/>
          </a:p>
        </p:txBody>
      </p:sp>
      <p:sp>
        <p:nvSpPr>
          <p:cNvPr id="1148" name="Google Shape;1148;p100"/>
          <p:cNvSpPr txBox="1"/>
          <p:nvPr/>
        </p:nvSpPr>
        <p:spPr>
          <a:xfrm>
            <a:off x="3369600" y="19275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number of bedrooms?</a:t>
            </a:r>
            <a:endParaRPr sz="2200">
              <a:solidFill>
                <a:schemeClr val="dk1"/>
              </a:solidFill>
              <a:latin typeface="Lexend"/>
              <a:ea typeface="Lexend"/>
              <a:cs typeface="Lexend"/>
              <a:sym typeface="Lexend"/>
            </a:endParaRPr>
          </a:p>
        </p:txBody>
      </p:sp>
      <p:graphicFrame>
        <p:nvGraphicFramePr>
          <p:cNvPr id="1149" name="Google Shape;1149;p100"/>
          <p:cNvGraphicFramePr/>
          <p:nvPr/>
        </p:nvGraphicFramePr>
        <p:xfrm>
          <a:off x="324000" y="1924225"/>
          <a:ext cx="3000000" cy="3000000"/>
        </p:xfrm>
        <a:graphic>
          <a:graphicData uri="http://schemas.openxmlformats.org/drawingml/2006/table">
            <a:tbl>
              <a:tblPr>
                <a:noFill/>
                <a:tableStyleId>{B29D6165-A02E-44EA-BB87-525E58A9FBD4}</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0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55" name="Google Shape;1155;p101"/>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4) </a:t>
            </a:r>
            <a:r>
              <a:rPr lang="en-GB"/>
              <a:t>The time it takes for a sample of pupils to travel to school is collected in this grouped frequency table.</a:t>
            </a:r>
            <a:endParaRPr/>
          </a:p>
        </p:txBody>
      </p:sp>
      <p:sp>
        <p:nvSpPr>
          <p:cNvPr id="1156" name="Google Shape;1156;p101"/>
          <p:cNvSpPr txBox="1"/>
          <p:nvPr/>
        </p:nvSpPr>
        <p:spPr>
          <a:xfrm>
            <a:off x="3861400" y="1927500"/>
            <a:ext cx="49587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estimated mean travel time</a:t>
            </a:r>
            <a:r>
              <a:rPr lang="en-GB" sz="2200">
                <a:solidFill>
                  <a:schemeClr val="dk1"/>
                </a:solidFill>
                <a:latin typeface="Lexend"/>
                <a:ea typeface="Lexend"/>
                <a:cs typeface="Lexend"/>
                <a:sym typeface="Lexend"/>
              </a:rPr>
              <a:t> (to the nearest minute)</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graphicFrame>
        <p:nvGraphicFramePr>
          <p:cNvPr id="1157" name="Google Shape;1157;p101"/>
          <p:cNvGraphicFramePr/>
          <p:nvPr/>
        </p:nvGraphicFramePr>
        <p:xfrm>
          <a:off x="323988" y="1924233"/>
          <a:ext cx="3000000" cy="3000000"/>
        </p:xfrm>
        <a:graphic>
          <a:graphicData uri="http://schemas.openxmlformats.org/drawingml/2006/table">
            <a:tbl>
              <a:tblPr>
                <a:noFill/>
                <a:tableStyleId>{A17CC0A5-822D-4775-9ABD-B3D7EFE4B155}</a:tableStyleId>
              </a:tblPr>
              <a:tblGrid>
                <a:gridCol w="2165125"/>
                <a:gridCol w="1146525"/>
              </a:tblGrid>
              <a:tr h="515725">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T</a:t>
                      </a:r>
                      <a:r>
                        <a:rPr lang="en-GB" sz="1600">
                          <a:solidFill>
                            <a:srgbClr val="FFFFFF"/>
                          </a:solidFill>
                          <a:latin typeface="Lexend"/>
                          <a:ea typeface="Lexend"/>
                          <a:cs typeface="Lexend"/>
                          <a:sym typeface="Lexend"/>
                        </a:rPr>
                        <a:t>ime taken to travel to school (in minutes)</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a:t>
                      </a:r>
                      <a:r>
                        <a:rPr lang="en-GB" sz="1600">
                          <a:solidFill>
                            <a:srgbClr val="FFFFFF"/>
                          </a:solidFill>
                          <a:latin typeface="Lexend"/>
                          <a:ea typeface="Lexend"/>
                          <a:cs typeface="Lexend"/>
                          <a:sym typeface="Lexend"/>
                        </a:rPr>
                        <a:t>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rgbClr val="FFFFFF"/>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0 &lt; </a:t>
                      </a:r>
                      <a:r>
                        <a:rPr i="1" lang="en-GB" sz="2200">
                          <a:latin typeface="Times New Roman"/>
                          <a:ea typeface="Times New Roman"/>
                          <a:cs typeface="Times New Roman"/>
                          <a:sym typeface="Times New Roman"/>
                        </a:rPr>
                        <a:t>t</a:t>
                      </a:r>
                      <a:r>
                        <a:rPr lang="en-GB" sz="1800">
                          <a:latin typeface="Lexend"/>
                          <a:ea typeface="Lexend"/>
                          <a:cs typeface="Lexend"/>
                          <a:sym typeface="Lexend"/>
                        </a:rPr>
                        <a:t> ≤ 4</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70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26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40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60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0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63" name="Google Shape;1163;p102"/>
          <p:cNvSpPr txBox="1"/>
          <p:nvPr>
            <p:ph idx="1" type="body"/>
          </p:nvPr>
        </p:nvSpPr>
        <p:spPr>
          <a:xfrm>
            <a:off x="324000" y="810000"/>
            <a:ext cx="82377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1) This frequency table shows the number of goals scored in each match by all the teams in a club over one football season.</a:t>
            </a:r>
            <a:endParaRPr/>
          </a:p>
        </p:txBody>
      </p:sp>
      <p:graphicFrame>
        <p:nvGraphicFramePr>
          <p:cNvPr id="1164" name="Google Shape;1164;p102"/>
          <p:cNvGraphicFramePr/>
          <p:nvPr/>
        </p:nvGraphicFramePr>
        <p:xfrm>
          <a:off x="324008" y="1927500"/>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165" name="Google Shape;1165;p102"/>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number of goals scored?</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1.65 goals (which rounds to 2)</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graphicFrame>
        <p:nvGraphicFramePr>
          <p:cNvPr id="1170" name="Google Shape;1170;p103"/>
          <p:cNvGraphicFramePr/>
          <p:nvPr/>
        </p:nvGraphicFramePr>
        <p:xfrm>
          <a:off x="324000" y="1924225"/>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171" name="Google Shape;1171;p10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72" name="Google Shape;1172;p103"/>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2) This frequency table shows the star rating received by a restaurant over its opening weekend.</a:t>
            </a:r>
            <a:endParaRPr/>
          </a:p>
        </p:txBody>
      </p:sp>
      <p:sp>
        <p:nvSpPr>
          <p:cNvPr id="1173" name="Google Shape;1173;p103"/>
          <p:cNvSpPr txBox="1"/>
          <p:nvPr/>
        </p:nvSpPr>
        <p:spPr>
          <a:xfrm>
            <a:off x="3735900" y="19275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was the mean star rating?</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3.64… stars (which rounds to 4)</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0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79" name="Google Shape;1179;p104"/>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3) The frequency table shows the number of bedrooms in different houses within an area of a town.</a:t>
            </a:r>
            <a:endParaRPr/>
          </a:p>
        </p:txBody>
      </p:sp>
      <p:sp>
        <p:nvSpPr>
          <p:cNvPr id="1180" name="Google Shape;1180;p104"/>
          <p:cNvSpPr txBox="1"/>
          <p:nvPr/>
        </p:nvSpPr>
        <p:spPr>
          <a:xfrm>
            <a:off x="3369600" y="19275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mean number of bedrooms?</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2.5 bedrooms (which rounds to 3)</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graphicFrame>
        <p:nvGraphicFramePr>
          <p:cNvPr id="1181" name="Google Shape;1181;p104"/>
          <p:cNvGraphicFramePr/>
          <p:nvPr/>
        </p:nvGraphicFramePr>
        <p:xfrm>
          <a:off x="324000" y="1924225"/>
          <a:ext cx="3000000" cy="3000000"/>
        </p:xfrm>
        <a:graphic>
          <a:graphicData uri="http://schemas.openxmlformats.org/drawingml/2006/table">
            <a:tbl>
              <a:tblPr>
                <a:noFill/>
                <a:tableStyleId>{B29D6165-A02E-44EA-BB87-525E58A9FBD4}</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4"/>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0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87" name="Google Shape;1187;p105"/>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4) The time it takes for a sample of pupils to travel to school is collected in this grouped frequency table.</a:t>
            </a:r>
            <a:endParaRPr/>
          </a:p>
        </p:txBody>
      </p:sp>
      <p:sp>
        <p:nvSpPr>
          <p:cNvPr id="1188" name="Google Shape;1188;p105"/>
          <p:cNvSpPr txBox="1"/>
          <p:nvPr/>
        </p:nvSpPr>
        <p:spPr>
          <a:xfrm>
            <a:off x="3861400" y="1927500"/>
            <a:ext cx="49587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is the estimated mean travel time (to the nearest minute)?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18 minutes</a:t>
            </a:r>
            <a:endParaRPr sz="2200">
              <a:solidFill>
                <a:schemeClr val="dk1"/>
              </a:solidFill>
              <a:latin typeface="Kalam"/>
              <a:ea typeface="Kalam"/>
              <a:cs typeface="Kalam"/>
              <a:sym typeface="Kalam"/>
            </a:endParaRPr>
          </a:p>
        </p:txBody>
      </p:sp>
      <p:graphicFrame>
        <p:nvGraphicFramePr>
          <p:cNvPr id="1189" name="Google Shape;1189;p105"/>
          <p:cNvGraphicFramePr/>
          <p:nvPr/>
        </p:nvGraphicFramePr>
        <p:xfrm>
          <a:off x="323988" y="1924233"/>
          <a:ext cx="3000000" cy="3000000"/>
        </p:xfrm>
        <a:graphic>
          <a:graphicData uri="http://schemas.openxmlformats.org/drawingml/2006/table">
            <a:tbl>
              <a:tblPr>
                <a:noFill/>
                <a:tableStyleId>{A17CC0A5-822D-4775-9ABD-B3D7EFE4B155}</a:tableStyleId>
              </a:tblPr>
              <a:tblGrid>
                <a:gridCol w="2165125"/>
                <a:gridCol w="1146525"/>
              </a:tblGrid>
              <a:tr h="515725">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Time taken to travel to school (in minutes)</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a:t>
                      </a:r>
                      <a:r>
                        <a:rPr lang="en-GB" sz="1600">
                          <a:solidFill>
                            <a:srgbClr val="FFFFFF"/>
                          </a:solidFill>
                          <a:latin typeface="Lexend"/>
                          <a:ea typeface="Lexend"/>
                          <a:cs typeface="Lexend"/>
                          <a:sym typeface="Lexend"/>
                        </a:rPr>
                        <a:t>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rgbClr val="FFFFFF"/>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rgbClr val="845AD9"/>
                    </a:solidFill>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0 &lt; </a:t>
                      </a:r>
                      <a:r>
                        <a:rPr i="1" lang="en-GB" sz="2200">
                          <a:latin typeface="Times New Roman"/>
                          <a:ea typeface="Times New Roman"/>
                          <a:cs typeface="Times New Roman"/>
                          <a:sym typeface="Times New Roman"/>
                        </a:rPr>
                        <a:t>t</a:t>
                      </a:r>
                      <a:r>
                        <a:rPr lang="en-GB" sz="1800">
                          <a:latin typeface="Lexend"/>
                          <a:ea typeface="Lexend"/>
                          <a:cs typeface="Lexend"/>
                          <a:sym typeface="Lexend"/>
                        </a:rPr>
                        <a:t> ≤ 4</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70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26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40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60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06"/>
          <p:cNvSpPr txBox="1"/>
          <p:nvPr>
            <p:ph type="title"/>
          </p:nvPr>
        </p:nvSpPr>
        <p:spPr>
          <a:xfrm>
            <a:off x="1225225" y="2133562"/>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Finding the mean from a frequency table</a:t>
            </a:r>
            <a:endParaRPr/>
          </a:p>
        </p:txBody>
      </p:sp>
      <p:sp>
        <p:nvSpPr>
          <p:cNvPr id="1195" name="Google Shape;1195;p106"/>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fx-991CW for statistics</a:t>
            </a:r>
            <a:endParaRPr/>
          </a:p>
        </p:txBody>
      </p:sp>
      <p:sp>
        <p:nvSpPr>
          <p:cNvPr id="1196" name="Google Shape;1196;p106"/>
          <p:cNvSpPr txBox="1"/>
          <p:nvPr>
            <p:ph idx="3" type="title"/>
          </p:nvPr>
        </p:nvSpPr>
        <p:spPr>
          <a:xfrm>
            <a:off x="1225225" y="3069850"/>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197" name="Google Shape;1197;p106"/>
          <p:cNvPicPr preferRelativeResize="0"/>
          <p:nvPr/>
        </p:nvPicPr>
        <p:blipFill>
          <a:blip r:embed="rId3">
            <a:alphaModFix/>
          </a:blip>
          <a:stretch>
            <a:fillRect/>
          </a:stretch>
        </p:blipFill>
        <p:spPr>
          <a:xfrm>
            <a:off x="418087" y="2993342"/>
            <a:ext cx="450575" cy="446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107"/>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Your calculator can do more than just calculate the mean.</a:t>
            </a:r>
            <a:endParaRPr/>
          </a:p>
        </p:txBody>
      </p:sp>
      <p:sp>
        <p:nvSpPr>
          <p:cNvPr id="1203" name="Google Shape;1203;p10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04" name="Google Shape;1204;p107"/>
          <p:cNvPicPr preferRelativeResize="0"/>
          <p:nvPr/>
        </p:nvPicPr>
        <p:blipFill rotWithShape="1">
          <a:blip r:embed="rId3">
            <a:alphaModFix/>
          </a:blip>
          <a:srcRect b="43690" l="0" r="57905" t="0"/>
          <a:stretch/>
        </p:blipFill>
        <p:spPr>
          <a:xfrm>
            <a:off x="5339475" y="2451075"/>
            <a:ext cx="2417398" cy="1287375"/>
          </a:xfrm>
          <a:prstGeom prst="rect">
            <a:avLst/>
          </a:prstGeom>
          <a:noFill/>
          <a:ln>
            <a:noFill/>
          </a:ln>
        </p:spPr>
      </p:pic>
      <p:sp>
        <p:nvSpPr>
          <p:cNvPr id="1205" name="Google Shape;1205;p107"/>
          <p:cNvSpPr txBox="1"/>
          <p:nvPr/>
        </p:nvSpPr>
        <p:spPr>
          <a:xfrm>
            <a:off x="5332050" y="2511400"/>
            <a:ext cx="24174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Other calculations are performed at the same time.</a:t>
            </a:r>
            <a:endParaRPr/>
          </a:p>
        </p:txBody>
      </p:sp>
      <p:pic>
        <p:nvPicPr>
          <p:cNvPr id="1206" name="Google Shape;1206;p107"/>
          <p:cNvPicPr preferRelativeResize="0"/>
          <p:nvPr/>
        </p:nvPicPr>
        <p:blipFill>
          <a:blip r:embed="rId4">
            <a:alphaModFix/>
          </a:blip>
          <a:stretch>
            <a:fillRect/>
          </a:stretch>
        </p:blipFill>
        <p:spPr>
          <a:xfrm flipH="1">
            <a:off x="7749345" y="3188863"/>
            <a:ext cx="727174" cy="909325"/>
          </a:xfrm>
          <a:prstGeom prst="rect">
            <a:avLst/>
          </a:prstGeom>
          <a:noFill/>
          <a:ln>
            <a:noFill/>
          </a:ln>
        </p:spPr>
      </p:pic>
      <p:sp>
        <p:nvSpPr>
          <p:cNvPr id="1207" name="Google Shape;1207;p107"/>
          <p:cNvSpPr txBox="1"/>
          <p:nvPr/>
        </p:nvSpPr>
        <p:spPr>
          <a:xfrm>
            <a:off x="7408958" y="3941374"/>
            <a:ext cx="14079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 </a:t>
            </a:r>
            <a:endParaRPr sz="1800">
              <a:latin typeface="Lexend"/>
              <a:ea typeface="Lexend"/>
              <a:cs typeface="Lexend"/>
              <a:sym typeface="Lexend"/>
            </a:endParaRPr>
          </a:p>
        </p:txBody>
      </p:sp>
      <p:grpSp>
        <p:nvGrpSpPr>
          <p:cNvPr id="1208" name="Google Shape;1208;p107"/>
          <p:cNvGrpSpPr/>
          <p:nvPr/>
        </p:nvGrpSpPr>
        <p:grpSpPr>
          <a:xfrm>
            <a:off x="323994" y="2451075"/>
            <a:ext cx="4404706" cy="2084323"/>
            <a:chOff x="475269" y="2652375"/>
            <a:chExt cx="4404706" cy="2084323"/>
          </a:xfrm>
        </p:grpSpPr>
        <p:pic>
          <p:nvPicPr>
            <p:cNvPr id="1209" name="Google Shape;1209;p107"/>
            <p:cNvPicPr preferRelativeResize="0"/>
            <p:nvPr/>
          </p:nvPicPr>
          <p:blipFill rotWithShape="1">
            <a:blip r:embed="rId3">
              <a:alphaModFix/>
            </a:blip>
            <a:srcRect b="43690" l="0" r="57905" t="0"/>
            <a:stretch/>
          </p:blipFill>
          <p:spPr>
            <a:xfrm flipH="1">
              <a:off x="1690901" y="2652375"/>
              <a:ext cx="3189074" cy="1275524"/>
            </a:xfrm>
            <a:prstGeom prst="rect">
              <a:avLst/>
            </a:prstGeom>
            <a:noFill/>
            <a:ln>
              <a:noFill/>
            </a:ln>
          </p:spPr>
        </p:pic>
        <p:sp>
          <p:nvSpPr>
            <p:cNvPr id="1210" name="Google Shape;1210;p107"/>
            <p:cNvSpPr txBox="1"/>
            <p:nvPr/>
          </p:nvSpPr>
          <p:spPr>
            <a:xfrm>
              <a:off x="1841825" y="2707900"/>
              <a:ext cx="2992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When I found the mean, there was lots more shown on the screen.</a:t>
              </a:r>
              <a:endParaRPr sz="1800">
                <a:latin typeface="Lexend"/>
                <a:ea typeface="Lexend"/>
                <a:cs typeface="Lexend"/>
                <a:sym typeface="Lexend"/>
              </a:endParaRPr>
            </a:p>
          </p:txBody>
        </p:sp>
        <p:pic>
          <p:nvPicPr>
            <p:cNvPr id="1211" name="Google Shape;1211;p107"/>
            <p:cNvPicPr preferRelativeResize="0"/>
            <p:nvPr/>
          </p:nvPicPr>
          <p:blipFill>
            <a:blip r:embed="rId5">
              <a:alphaModFix/>
            </a:blip>
            <a:stretch>
              <a:fillRect/>
            </a:stretch>
          </p:blipFill>
          <p:spPr>
            <a:xfrm flipH="1">
              <a:off x="697675" y="3227812"/>
              <a:ext cx="1114250" cy="1078300"/>
            </a:xfrm>
            <a:prstGeom prst="rect">
              <a:avLst/>
            </a:prstGeom>
            <a:noFill/>
            <a:ln>
              <a:noFill/>
            </a:ln>
          </p:spPr>
        </p:pic>
        <p:sp>
          <p:nvSpPr>
            <p:cNvPr id="1212" name="Google Shape;1212;p107"/>
            <p:cNvSpPr txBox="1"/>
            <p:nvPr/>
          </p:nvSpPr>
          <p:spPr>
            <a:xfrm>
              <a:off x="475269" y="41507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08"/>
          <p:cNvSpPr txBox="1"/>
          <p:nvPr>
            <p:ph idx="1" type="body"/>
          </p:nvPr>
        </p:nvSpPr>
        <p:spPr>
          <a:xfrm>
            <a:off x="3369600" y="810000"/>
            <a:ext cx="5192100" cy="2024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Here is a table showing the number of diners at various tables in a restaurant.</a:t>
            </a:r>
            <a:endParaRPr/>
          </a:p>
          <a:p>
            <a:pPr indent="0" lvl="0" marL="0" rtl="0" algn="l">
              <a:spcBef>
                <a:spcPts val="1000"/>
              </a:spcBef>
              <a:spcAft>
                <a:spcPts val="1000"/>
              </a:spcAft>
              <a:buNone/>
            </a:pPr>
            <a:r>
              <a:rPr lang="en-GB"/>
              <a:t>When we calculated the mean, this information was displayed:</a:t>
            </a:r>
            <a:endParaRPr/>
          </a:p>
        </p:txBody>
      </p:sp>
      <p:sp>
        <p:nvSpPr>
          <p:cNvPr id="1218" name="Google Shape;1218;p108"/>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aphicFrame>
        <p:nvGraphicFramePr>
          <p:cNvPr id="1219" name="Google Shape;1219;p108"/>
          <p:cNvGraphicFramePr/>
          <p:nvPr/>
        </p:nvGraphicFramePr>
        <p:xfrm>
          <a:off x="324000" y="808100"/>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pic>
        <p:nvPicPr>
          <p:cNvPr id="1220" name="Google Shape;1220;p108"/>
          <p:cNvPicPr preferRelativeResize="0"/>
          <p:nvPr/>
        </p:nvPicPr>
        <p:blipFill>
          <a:blip r:embed="rId3">
            <a:alphaModFix/>
          </a:blip>
          <a:stretch>
            <a:fillRect/>
          </a:stretch>
        </p:blipFill>
        <p:spPr>
          <a:xfrm>
            <a:off x="3369600" y="2951325"/>
            <a:ext cx="3676650" cy="1657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09"/>
          <p:cNvSpPr txBox="1"/>
          <p:nvPr>
            <p:ph idx="1" type="body"/>
          </p:nvPr>
        </p:nvSpPr>
        <p:spPr>
          <a:xfrm>
            <a:off x="324000" y="810000"/>
            <a:ext cx="84960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Pressing the down arrow key reveals more information.</a:t>
            </a:r>
            <a:endParaRPr/>
          </a:p>
        </p:txBody>
      </p:sp>
      <p:sp>
        <p:nvSpPr>
          <p:cNvPr id="1226" name="Google Shape;1226;p10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27" name="Google Shape;1227;p109"/>
          <p:cNvPicPr preferRelativeResize="0"/>
          <p:nvPr/>
        </p:nvPicPr>
        <p:blipFill>
          <a:blip r:embed="rId3">
            <a:alphaModFix/>
          </a:blip>
          <a:stretch>
            <a:fillRect/>
          </a:stretch>
        </p:blipFill>
        <p:spPr>
          <a:xfrm>
            <a:off x="324000" y="1315200"/>
            <a:ext cx="3676650" cy="1657350"/>
          </a:xfrm>
          <a:prstGeom prst="rect">
            <a:avLst/>
          </a:prstGeom>
          <a:noFill/>
          <a:ln>
            <a:noFill/>
          </a:ln>
        </p:spPr>
      </p:pic>
      <p:pic>
        <p:nvPicPr>
          <p:cNvPr id="1228" name="Google Shape;1228;p109"/>
          <p:cNvPicPr preferRelativeResize="0"/>
          <p:nvPr/>
        </p:nvPicPr>
        <p:blipFill>
          <a:blip r:embed="rId4">
            <a:alphaModFix/>
          </a:blip>
          <a:stretch>
            <a:fillRect/>
          </a:stretch>
        </p:blipFill>
        <p:spPr>
          <a:xfrm>
            <a:off x="5152875" y="1310438"/>
            <a:ext cx="3667125" cy="1666875"/>
          </a:xfrm>
          <a:prstGeom prst="rect">
            <a:avLst/>
          </a:prstGeom>
          <a:noFill/>
          <a:ln>
            <a:noFill/>
          </a:ln>
        </p:spPr>
      </p:pic>
      <p:pic>
        <p:nvPicPr>
          <p:cNvPr id="1229" name="Google Shape;1229;p109"/>
          <p:cNvPicPr preferRelativeResize="0"/>
          <p:nvPr/>
        </p:nvPicPr>
        <p:blipFill>
          <a:blip r:embed="rId5">
            <a:alphaModFix/>
          </a:blip>
          <a:stretch>
            <a:fillRect/>
          </a:stretch>
        </p:blipFill>
        <p:spPr>
          <a:xfrm>
            <a:off x="2874688" y="3196575"/>
            <a:ext cx="3394617" cy="1551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10"/>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going to consider the information needed for GCSE maths.</a:t>
            </a:r>
            <a:endParaRPr/>
          </a:p>
        </p:txBody>
      </p:sp>
      <p:sp>
        <p:nvSpPr>
          <p:cNvPr id="1235" name="Google Shape;1235;p11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pic>
        <p:nvPicPr>
          <p:cNvPr id="1236" name="Google Shape;1236;p110"/>
          <p:cNvPicPr preferRelativeResize="0"/>
          <p:nvPr/>
        </p:nvPicPr>
        <p:blipFill>
          <a:blip r:embed="rId3">
            <a:alphaModFix/>
          </a:blip>
          <a:stretch>
            <a:fillRect/>
          </a:stretch>
        </p:blipFill>
        <p:spPr>
          <a:xfrm>
            <a:off x="324000" y="1924800"/>
            <a:ext cx="3676650" cy="1657350"/>
          </a:xfrm>
          <a:prstGeom prst="rect">
            <a:avLst/>
          </a:prstGeom>
          <a:noFill/>
          <a:ln>
            <a:noFill/>
          </a:ln>
        </p:spPr>
      </p:pic>
      <p:grpSp>
        <p:nvGrpSpPr>
          <p:cNvPr id="1237" name="Google Shape;1237;p110"/>
          <p:cNvGrpSpPr/>
          <p:nvPr/>
        </p:nvGrpSpPr>
        <p:grpSpPr>
          <a:xfrm>
            <a:off x="1297200" y="2156100"/>
            <a:ext cx="4477275" cy="457200"/>
            <a:chOff x="1297200" y="2156100"/>
            <a:chExt cx="4477275" cy="457200"/>
          </a:xfrm>
        </p:grpSpPr>
        <p:sp>
          <p:nvSpPr>
            <p:cNvPr id="1238" name="Google Shape;1238;p110"/>
            <p:cNvSpPr txBox="1"/>
            <p:nvPr/>
          </p:nvSpPr>
          <p:spPr>
            <a:xfrm>
              <a:off x="4939875" y="2156100"/>
              <a:ext cx="8346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Mean</a:t>
              </a:r>
              <a:endParaRPr sz="2200">
                <a:solidFill>
                  <a:schemeClr val="dk1"/>
                </a:solidFill>
                <a:latin typeface="Lexend"/>
                <a:ea typeface="Lexend"/>
                <a:cs typeface="Lexend"/>
                <a:sym typeface="Lexend"/>
              </a:endParaRPr>
            </a:p>
          </p:txBody>
        </p:sp>
        <p:cxnSp>
          <p:nvCxnSpPr>
            <p:cNvPr id="1239" name="Google Shape;1239;p110"/>
            <p:cNvCxnSpPr>
              <a:endCxn id="1240" idx="3"/>
            </p:cNvCxnSpPr>
            <p:nvPr/>
          </p:nvCxnSpPr>
          <p:spPr>
            <a:xfrm flipH="1">
              <a:off x="2131800" y="2362050"/>
              <a:ext cx="2808000" cy="162600"/>
            </a:xfrm>
            <a:prstGeom prst="straightConnector1">
              <a:avLst/>
            </a:prstGeom>
            <a:noFill/>
            <a:ln cap="flat" cmpd="sng" w="19050">
              <a:solidFill>
                <a:schemeClr val="accent5"/>
              </a:solidFill>
              <a:prstDash val="solid"/>
              <a:round/>
              <a:headEnd len="med" w="med" type="none"/>
              <a:tailEnd len="med" w="med" type="triangle"/>
            </a:ln>
          </p:spPr>
        </p:cxnSp>
        <p:sp>
          <p:nvSpPr>
            <p:cNvPr id="1240" name="Google Shape;1240;p110"/>
            <p:cNvSpPr/>
            <p:nvPr/>
          </p:nvSpPr>
          <p:spPr>
            <a:xfrm>
              <a:off x="1297200" y="2436000"/>
              <a:ext cx="8346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41" name="Google Shape;1241;p110"/>
          <p:cNvGrpSpPr/>
          <p:nvPr/>
        </p:nvGrpSpPr>
        <p:grpSpPr>
          <a:xfrm>
            <a:off x="1297200" y="2573325"/>
            <a:ext cx="7522875" cy="768075"/>
            <a:chOff x="1297200" y="2573325"/>
            <a:chExt cx="7522875" cy="768075"/>
          </a:xfrm>
        </p:grpSpPr>
        <p:sp>
          <p:nvSpPr>
            <p:cNvPr id="1242" name="Google Shape;1242;p110"/>
            <p:cNvSpPr txBox="1"/>
            <p:nvPr/>
          </p:nvSpPr>
          <p:spPr>
            <a:xfrm>
              <a:off x="4939875" y="2613300"/>
              <a:ext cx="3880200" cy="72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sum of the values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(may be written as ∑</a:t>
              </a:r>
              <a:r>
                <a:rPr i="1" lang="en-GB" sz="2400">
                  <a:solidFill>
                    <a:schemeClr val="dk1"/>
                  </a:solidFill>
                  <a:latin typeface="Times New Roman"/>
                  <a:ea typeface="Times New Roman"/>
                  <a:cs typeface="Times New Roman"/>
                  <a:sym typeface="Times New Roman"/>
                </a:rPr>
                <a:t>fx</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cxnSp>
          <p:nvCxnSpPr>
            <p:cNvPr id="1243" name="Google Shape;1243;p110"/>
            <p:cNvCxnSpPr>
              <a:stCxn id="1242" idx="1"/>
              <a:endCxn id="1244" idx="3"/>
            </p:cNvCxnSpPr>
            <p:nvPr/>
          </p:nvCxnSpPr>
          <p:spPr>
            <a:xfrm rot="10800000">
              <a:off x="2217375" y="2662050"/>
              <a:ext cx="2722500" cy="315300"/>
            </a:xfrm>
            <a:prstGeom prst="straightConnector1">
              <a:avLst/>
            </a:prstGeom>
            <a:noFill/>
            <a:ln cap="flat" cmpd="sng" w="19050">
              <a:solidFill>
                <a:schemeClr val="accent5"/>
              </a:solidFill>
              <a:prstDash val="solid"/>
              <a:round/>
              <a:headEnd len="med" w="med" type="none"/>
              <a:tailEnd len="med" w="med" type="triangle"/>
            </a:ln>
          </p:spPr>
        </p:cxnSp>
        <p:sp>
          <p:nvSpPr>
            <p:cNvPr id="1244" name="Google Shape;1244;p110"/>
            <p:cNvSpPr/>
            <p:nvPr/>
          </p:nvSpPr>
          <p:spPr>
            <a:xfrm>
              <a:off x="1297200" y="2573325"/>
              <a:ext cx="9201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3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pic>
        <p:nvPicPr>
          <p:cNvPr id="1249" name="Google Shape;1249;p111"/>
          <p:cNvPicPr preferRelativeResize="0"/>
          <p:nvPr/>
        </p:nvPicPr>
        <p:blipFill>
          <a:blip r:embed="rId3">
            <a:alphaModFix/>
          </a:blip>
          <a:stretch>
            <a:fillRect/>
          </a:stretch>
        </p:blipFill>
        <p:spPr>
          <a:xfrm>
            <a:off x="323988" y="1927575"/>
            <a:ext cx="3667125" cy="1666875"/>
          </a:xfrm>
          <a:prstGeom prst="rect">
            <a:avLst/>
          </a:prstGeom>
          <a:noFill/>
          <a:ln>
            <a:noFill/>
          </a:ln>
        </p:spPr>
      </p:pic>
      <p:sp>
        <p:nvSpPr>
          <p:cNvPr id="1250" name="Google Shape;1250;p111"/>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going to consider the information needed for GCSE maths.</a:t>
            </a:r>
            <a:endParaRPr/>
          </a:p>
        </p:txBody>
      </p:sp>
      <p:sp>
        <p:nvSpPr>
          <p:cNvPr id="1251" name="Google Shape;1251;p11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pSp>
        <p:nvGrpSpPr>
          <p:cNvPr id="1252" name="Google Shape;1252;p111"/>
          <p:cNvGrpSpPr/>
          <p:nvPr/>
        </p:nvGrpSpPr>
        <p:grpSpPr>
          <a:xfrm>
            <a:off x="1328166" y="1938175"/>
            <a:ext cx="6756609" cy="830163"/>
            <a:chOff x="1463125" y="1044038"/>
            <a:chExt cx="6756609" cy="830163"/>
          </a:xfrm>
        </p:grpSpPr>
        <p:sp>
          <p:nvSpPr>
            <p:cNvPr id="1253" name="Google Shape;1253;p111"/>
            <p:cNvSpPr txBox="1"/>
            <p:nvPr/>
          </p:nvSpPr>
          <p:spPr>
            <a:xfrm>
              <a:off x="5074834" y="1044038"/>
              <a:ext cx="31449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number of values </a:t>
              </a:r>
              <a:endParaRPr sz="2200">
                <a:solidFill>
                  <a:schemeClr val="dk1"/>
                </a:solidFill>
                <a:latin typeface="Lexend"/>
                <a:ea typeface="Lexend"/>
                <a:cs typeface="Lexend"/>
                <a:sym typeface="Lexend"/>
              </a:endParaRPr>
            </a:p>
          </p:txBody>
        </p:sp>
        <p:cxnSp>
          <p:nvCxnSpPr>
            <p:cNvPr id="1254" name="Google Shape;1254;p111"/>
            <p:cNvCxnSpPr>
              <a:stCxn id="1253" idx="1"/>
              <a:endCxn id="1255" idx="3"/>
            </p:cNvCxnSpPr>
            <p:nvPr/>
          </p:nvCxnSpPr>
          <p:spPr>
            <a:xfrm flipH="1">
              <a:off x="2297734" y="1249988"/>
              <a:ext cx="2777100" cy="535500"/>
            </a:xfrm>
            <a:prstGeom prst="straightConnector1">
              <a:avLst/>
            </a:prstGeom>
            <a:noFill/>
            <a:ln cap="flat" cmpd="sng" w="19050">
              <a:solidFill>
                <a:schemeClr val="accent5"/>
              </a:solidFill>
              <a:prstDash val="solid"/>
              <a:round/>
              <a:headEnd len="med" w="med" type="none"/>
              <a:tailEnd len="med" w="med" type="triangle"/>
            </a:ln>
          </p:spPr>
        </p:cxnSp>
        <p:sp>
          <p:nvSpPr>
            <p:cNvPr id="1255" name="Google Shape;1255;p111"/>
            <p:cNvSpPr/>
            <p:nvPr/>
          </p:nvSpPr>
          <p:spPr>
            <a:xfrm>
              <a:off x="1463125" y="1696900"/>
              <a:ext cx="8346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56" name="Google Shape;1256;p111"/>
          <p:cNvGrpSpPr/>
          <p:nvPr/>
        </p:nvGrpSpPr>
        <p:grpSpPr>
          <a:xfrm>
            <a:off x="1328175" y="2399784"/>
            <a:ext cx="7491900" cy="500500"/>
            <a:chOff x="1328175" y="2384700"/>
            <a:chExt cx="7491900" cy="500500"/>
          </a:xfrm>
        </p:grpSpPr>
        <p:sp>
          <p:nvSpPr>
            <p:cNvPr id="1257" name="Google Shape;1257;p111"/>
            <p:cNvSpPr txBox="1"/>
            <p:nvPr/>
          </p:nvSpPr>
          <p:spPr>
            <a:xfrm>
              <a:off x="4939875" y="2384700"/>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Minimum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Lexend"/>
                  <a:ea typeface="Lexend"/>
                  <a:cs typeface="Lexend"/>
                  <a:sym typeface="Lexend"/>
                </a:rPr>
                <a:t> value</a:t>
              </a:r>
              <a:endParaRPr sz="2200">
                <a:solidFill>
                  <a:schemeClr val="dk1"/>
                </a:solidFill>
                <a:latin typeface="Lexend"/>
                <a:ea typeface="Lexend"/>
                <a:cs typeface="Lexend"/>
                <a:sym typeface="Lexend"/>
              </a:endParaRPr>
            </a:p>
          </p:txBody>
        </p:sp>
        <p:cxnSp>
          <p:nvCxnSpPr>
            <p:cNvPr id="1258" name="Google Shape;1258;p111"/>
            <p:cNvCxnSpPr>
              <a:stCxn id="1257" idx="1"/>
              <a:endCxn id="1259" idx="3"/>
            </p:cNvCxnSpPr>
            <p:nvPr/>
          </p:nvCxnSpPr>
          <p:spPr>
            <a:xfrm flipH="1">
              <a:off x="2164575" y="2566650"/>
              <a:ext cx="2775300" cy="229800"/>
            </a:xfrm>
            <a:prstGeom prst="straightConnector1">
              <a:avLst/>
            </a:prstGeom>
            <a:noFill/>
            <a:ln cap="flat" cmpd="sng" w="19050">
              <a:solidFill>
                <a:schemeClr val="accent5"/>
              </a:solidFill>
              <a:prstDash val="solid"/>
              <a:round/>
              <a:headEnd len="med" w="med" type="none"/>
              <a:tailEnd len="med" w="med" type="triangle"/>
            </a:ln>
          </p:spPr>
        </p:cxnSp>
        <p:sp>
          <p:nvSpPr>
            <p:cNvPr id="1259" name="Google Shape;1259;p111"/>
            <p:cNvSpPr/>
            <p:nvPr/>
          </p:nvSpPr>
          <p:spPr>
            <a:xfrm>
              <a:off x="1328175" y="2707900"/>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60" name="Google Shape;1260;p111"/>
          <p:cNvGrpSpPr/>
          <p:nvPr/>
        </p:nvGrpSpPr>
        <p:grpSpPr>
          <a:xfrm>
            <a:off x="1328175" y="2815766"/>
            <a:ext cx="7491900" cy="363900"/>
            <a:chOff x="1328175" y="2815766"/>
            <a:chExt cx="7491900" cy="363900"/>
          </a:xfrm>
        </p:grpSpPr>
        <p:sp>
          <p:nvSpPr>
            <p:cNvPr id="1261" name="Google Shape;1261;p111"/>
            <p:cNvSpPr txBox="1"/>
            <p:nvPr/>
          </p:nvSpPr>
          <p:spPr>
            <a:xfrm>
              <a:off x="4939875" y="2815766"/>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Lower quartile</a:t>
              </a:r>
              <a:endParaRPr sz="2200">
                <a:solidFill>
                  <a:schemeClr val="dk1"/>
                </a:solidFill>
                <a:latin typeface="Lexend"/>
                <a:ea typeface="Lexend"/>
                <a:cs typeface="Lexend"/>
                <a:sym typeface="Lexend"/>
              </a:endParaRPr>
            </a:p>
          </p:txBody>
        </p:sp>
        <p:cxnSp>
          <p:nvCxnSpPr>
            <p:cNvPr id="1262" name="Google Shape;1262;p111"/>
            <p:cNvCxnSpPr>
              <a:stCxn id="1261" idx="1"/>
              <a:endCxn id="1263" idx="3"/>
            </p:cNvCxnSpPr>
            <p:nvPr/>
          </p:nvCxnSpPr>
          <p:spPr>
            <a:xfrm rot="10800000">
              <a:off x="2164575" y="2935916"/>
              <a:ext cx="2775300" cy="61800"/>
            </a:xfrm>
            <a:prstGeom prst="straightConnector1">
              <a:avLst/>
            </a:prstGeom>
            <a:noFill/>
            <a:ln cap="flat" cmpd="sng" w="19050">
              <a:solidFill>
                <a:schemeClr val="accent5"/>
              </a:solidFill>
              <a:prstDash val="solid"/>
              <a:round/>
              <a:headEnd len="med" w="med" type="none"/>
              <a:tailEnd len="med" w="med" type="triangle"/>
            </a:ln>
          </p:spPr>
        </p:cxnSp>
        <p:sp>
          <p:nvSpPr>
            <p:cNvPr id="1263" name="Google Shape;1263;p111"/>
            <p:cNvSpPr/>
            <p:nvPr/>
          </p:nvSpPr>
          <p:spPr>
            <a:xfrm>
              <a:off x="1328175" y="2847396"/>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64" name="Google Shape;1264;p111"/>
          <p:cNvGrpSpPr/>
          <p:nvPr/>
        </p:nvGrpSpPr>
        <p:grpSpPr>
          <a:xfrm>
            <a:off x="1328175" y="2998308"/>
            <a:ext cx="7491900" cy="600458"/>
            <a:chOff x="1328175" y="2998308"/>
            <a:chExt cx="7491900" cy="600458"/>
          </a:xfrm>
        </p:grpSpPr>
        <p:sp>
          <p:nvSpPr>
            <p:cNvPr id="1265" name="Google Shape;1265;p111"/>
            <p:cNvSpPr txBox="1"/>
            <p:nvPr/>
          </p:nvSpPr>
          <p:spPr>
            <a:xfrm>
              <a:off x="4939875" y="3234866"/>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Median</a:t>
              </a:r>
              <a:endParaRPr sz="2200">
                <a:solidFill>
                  <a:schemeClr val="dk1"/>
                </a:solidFill>
                <a:latin typeface="Lexend"/>
                <a:ea typeface="Lexend"/>
                <a:cs typeface="Lexend"/>
                <a:sym typeface="Lexend"/>
              </a:endParaRPr>
            </a:p>
          </p:txBody>
        </p:sp>
        <p:cxnSp>
          <p:nvCxnSpPr>
            <p:cNvPr id="1266" name="Google Shape;1266;p111"/>
            <p:cNvCxnSpPr>
              <a:stCxn id="1265" idx="1"/>
              <a:endCxn id="1267" idx="3"/>
            </p:cNvCxnSpPr>
            <p:nvPr/>
          </p:nvCxnSpPr>
          <p:spPr>
            <a:xfrm rot="10800000">
              <a:off x="2164575" y="3086816"/>
              <a:ext cx="2775300" cy="330000"/>
            </a:xfrm>
            <a:prstGeom prst="straightConnector1">
              <a:avLst/>
            </a:prstGeom>
            <a:noFill/>
            <a:ln cap="flat" cmpd="sng" w="19050">
              <a:solidFill>
                <a:schemeClr val="accent5"/>
              </a:solidFill>
              <a:prstDash val="solid"/>
              <a:round/>
              <a:headEnd len="med" w="med" type="none"/>
              <a:tailEnd len="med" w="med" type="triangle"/>
            </a:ln>
          </p:spPr>
        </p:cxnSp>
        <p:sp>
          <p:nvSpPr>
            <p:cNvPr id="1267" name="Google Shape;1267;p111"/>
            <p:cNvSpPr/>
            <p:nvPr/>
          </p:nvSpPr>
          <p:spPr>
            <a:xfrm>
              <a:off x="1328175" y="2998308"/>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68" name="Google Shape;1268;p111"/>
          <p:cNvGrpSpPr/>
          <p:nvPr/>
        </p:nvGrpSpPr>
        <p:grpSpPr>
          <a:xfrm>
            <a:off x="1328175" y="3143816"/>
            <a:ext cx="7491900" cy="874049"/>
            <a:chOff x="1328175" y="3143816"/>
            <a:chExt cx="7491900" cy="874049"/>
          </a:xfrm>
        </p:grpSpPr>
        <p:sp>
          <p:nvSpPr>
            <p:cNvPr id="1269" name="Google Shape;1269;p111"/>
            <p:cNvSpPr txBox="1"/>
            <p:nvPr/>
          </p:nvSpPr>
          <p:spPr>
            <a:xfrm>
              <a:off x="4939875" y="3653966"/>
              <a:ext cx="3880200" cy="36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Upper quartile</a:t>
              </a:r>
              <a:endParaRPr sz="2200">
                <a:solidFill>
                  <a:schemeClr val="dk1"/>
                </a:solidFill>
                <a:latin typeface="Lexend"/>
                <a:ea typeface="Lexend"/>
                <a:cs typeface="Lexend"/>
                <a:sym typeface="Lexend"/>
              </a:endParaRPr>
            </a:p>
          </p:txBody>
        </p:sp>
        <p:cxnSp>
          <p:nvCxnSpPr>
            <p:cNvPr id="1270" name="Google Shape;1270;p111"/>
            <p:cNvCxnSpPr>
              <a:stCxn id="1269" idx="1"/>
              <a:endCxn id="1271" idx="3"/>
            </p:cNvCxnSpPr>
            <p:nvPr/>
          </p:nvCxnSpPr>
          <p:spPr>
            <a:xfrm rot="10800000">
              <a:off x="2164575" y="3232616"/>
              <a:ext cx="2775300" cy="603300"/>
            </a:xfrm>
            <a:prstGeom prst="straightConnector1">
              <a:avLst/>
            </a:prstGeom>
            <a:noFill/>
            <a:ln cap="flat" cmpd="sng" w="19050">
              <a:solidFill>
                <a:schemeClr val="accent5"/>
              </a:solidFill>
              <a:prstDash val="solid"/>
              <a:round/>
              <a:headEnd len="med" w="med" type="none"/>
              <a:tailEnd len="med" w="med" type="triangle"/>
            </a:ln>
          </p:spPr>
        </p:cxnSp>
        <p:sp>
          <p:nvSpPr>
            <p:cNvPr id="1271" name="Google Shape;1271;p111"/>
            <p:cNvSpPr/>
            <p:nvPr/>
          </p:nvSpPr>
          <p:spPr>
            <a:xfrm>
              <a:off x="1328175" y="3143816"/>
              <a:ext cx="8364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5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6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6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pic>
        <p:nvPicPr>
          <p:cNvPr id="1276" name="Google Shape;1276;p112"/>
          <p:cNvPicPr preferRelativeResize="0"/>
          <p:nvPr/>
        </p:nvPicPr>
        <p:blipFill>
          <a:blip r:embed="rId3">
            <a:alphaModFix/>
          </a:blip>
          <a:stretch>
            <a:fillRect/>
          </a:stretch>
        </p:blipFill>
        <p:spPr>
          <a:xfrm>
            <a:off x="324001" y="1924101"/>
            <a:ext cx="3625434" cy="1657350"/>
          </a:xfrm>
          <a:prstGeom prst="rect">
            <a:avLst/>
          </a:prstGeom>
          <a:noFill/>
          <a:ln>
            <a:noFill/>
          </a:ln>
        </p:spPr>
      </p:pic>
      <p:sp>
        <p:nvSpPr>
          <p:cNvPr id="1277" name="Google Shape;1277;p112"/>
          <p:cNvSpPr txBox="1"/>
          <p:nvPr>
            <p:ph idx="1" type="body"/>
          </p:nvPr>
        </p:nvSpPr>
        <p:spPr>
          <a:xfrm>
            <a:off x="324000" y="810000"/>
            <a:ext cx="84960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We are going to consider the information needed for GCSE maths.</a:t>
            </a:r>
            <a:endParaRPr/>
          </a:p>
        </p:txBody>
      </p:sp>
      <p:sp>
        <p:nvSpPr>
          <p:cNvPr id="1278" name="Google Shape;1278;p11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pSp>
        <p:nvGrpSpPr>
          <p:cNvPr id="1279" name="Google Shape;1279;p112"/>
          <p:cNvGrpSpPr/>
          <p:nvPr/>
        </p:nvGrpSpPr>
        <p:grpSpPr>
          <a:xfrm>
            <a:off x="1297200" y="2156100"/>
            <a:ext cx="6402975" cy="457200"/>
            <a:chOff x="1297200" y="2156100"/>
            <a:chExt cx="6402975" cy="457200"/>
          </a:xfrm>
        </p:grpSpPr>
        <p:sp>
          <p:nvSpPr>
            <p:cNvPr id="1280" name="Google Shape;1280;p112"/>
            <p:cNvSpPr txBox="1"/>
            <p:nvPr/>
          </p:nvSpPr>
          <p:spPr>
            <a:xfrm>
              <a:off x="4939875" y="2156100"/>
              <a:ext cx="27603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Maximum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Lexend"/>
                  <a:ea typeface="Lexend"/>
                  <a:cs typeface="Lexend"/>
                  <a:sym typeface="Lexend"/>
                </a:rPr>
                <a:t> value</a:t>
              </a:r>
              <a:endParaRPr sz="2200">
                <a:solidFill>
                  <a:schemeClr val="dk1"/>
                </a:solidFill>
                <a:latin typeface="Lexend"/>
                <a:ea typeface="Lexend"/>
                <a:cs typeface="Lexend"/>
                <a:sym typeface="Lexend"/>
              </a:endParaRPr>
            </a:p>
          </p:txBody>
        </p:sp>
        <p:cxnSp>
          <p:nvCxnSpPr>
            <p:cNvPr id="1281" name="Google Shape;1281;p112"/>
            <p:cNvCxnSpPr>
              <a:endCxn id="1282" idx="3"/>
            </p:cNvCxnSpPr>
            <p:nvPr/>
          </p:nvCxnSpPr>
          <p:spPr>
            <a:xfrm flipH="1">
              <a:off x="2131800" y="2362050"/>
              <a:ext cx="2808000" cy="162600"/>
            </a:xfrm>
            <a:prstGeom prst="straightConnector1">
              <a:avLst/>
            </a:prstGeom>
            <a:noFill/>
            <a:ln cap="flat" cmpd="sng" w="19050">
              <a:solidFill>
                <a:schemeClr val="accent5"/>
              </a:solidFill>
              <a:prstDash val="solid"/>
              <a:round/>
              <a:headEnd len="med" w="med" type="none"/>
              <a:tailEnd len="med" w="med" type="triangle"/>
            </a:ln>
          </p:spPr>
        </p:cxnSp>
        <p:sp>
          <p:nvSpPr>
            <p:cNvPr id="1282" name="Google Shape;1282;p112"/>
            <p:cNvSpPr/>
            <p:nvPr/>
          </p:nvSpPr>
          <p:spPr>
            <a:xfrm>
              <a:off x="1297200" y="2436000"/>
              <a:ext cx="834600" cy="1773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13"/>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For this data, calculate the following:</a:t>
            </a:r>
            <a:endParaRPr/>
          </a:p>
        </p:txBody>
      </p:sp>
      <p:sp>
        <p:nvSpPr>
          <p:cNvPr id="1288" name="Google Shape;1288;p113"/>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aphicFrame>
        <p:nvGraphicFramePr>
          <p:cNvPr id="1289" name="Google Shape;1289;p113"/>
          <p:cNvGraphicFramePr/>
          <p:nvPr/>
        </p:nvGraphicFramePr>
        <p:xfrm>
          <a:off x="324000" y="1269375"/>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290" name="Google Shape;1290;p113"/>
          <p:cNvSpPr txBox="1"/>
          <p:nvPr/>
        </p:nvSpPr>
        <p:spPr>
          <a:xfrm>
            <a:off x="3369600" y="1269375"/>
            <a:ext cx="5450400" cy="10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 Mean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b) Median</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c) Interquartile range </a:t>
            </a:r>
            <a:endParaRPr sz="220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14"/>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For this data, calculate the following:</a:t>
            </a:r>
            <a:endParaRPr/>
          </a:p>
        </p:txBody>
      </p:sp>
      <p:sp>
        <p:nvSpPr>
          <p:cNvPr id="1296" name="Google Shape;1296;p114"/>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Analysis</a:t>
            </a:r>
            <a:endParaRPr/>
          </a:p>
        </p:txBody>
      </p:sp>
      <p:graphicFrame>
        <p:nvGraphicFramePr>
          <p:cNvPr id="1297" name="Google Shape;1297;p114"/>
          <p:cNvGraphicFramePr/>
          <p:nvPr/>
        </p:nvGraphicFramePr>
        <p:xfrm>
          <a:off x="324000" y="1269375"/>
          <a:ext cx="3000000" cy="3000000"/>
        </p:xfrm>
        <a:graphic>
          <a:graphicData uri="http://schemas.openxmlformats.org/drawingml/2006/table">
            <a:tbl>
              <a:tblPr>
                <a:noFill/>
                <a:tableStyleId>{B29D6165-A02E-44EA-BB87-525E58A9FBD4}</a:tableStyleId>
              </a:tblPr>
              <a:tblGrid>
                <a:gridCol w="1429475"/>
                <a:gridCol w="14060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Group size</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r>
            </a:tbl>
          </a:graphicData>
        </a:graphic>
      </p:graphicFrame>
      <p:sp>
        <p:nvSpPr>
          <p:cNvPr id="1298" name="Google Shape;1298;p114"/>
          <p:cNvSpPr txBox="1"/>
          <p:nvPr/>
        </p:nvSpPr>
        <p:spPr>
          <a:xfrm>
            <a:off x="3369600" y="1269375"/>
            <a:ext cx="5450400" cy="197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 Mean </a:t>
            </a:r>
            <a:r>
              <a:rPr lang="en-GB" sz="2200">
                <a:solidFill>
                  <a:schemeClr val="dk1"/>
                </a:solidFill>
                <a:latin typeface="Kalam"/>
                <a:ea typeface="Kalam"/>
                <a:cs typeface="Kalam"/>
                <a:sym typeface="Kalam"/>
              </a:rPr>
              <a:t>= 3</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b) Median </a:t>
            </a:r>
            <a:r>
              <a:rPr lang="en-GB" sz="2200">
                <a:solidFill>
                  <a:schemeClr val="dk1"/>
                </a:solidFill>
                <a:latin typeface="Kalam"/>
                <a:ea typeface="Kalam"/>
                <a:cs typeface="Kalam"/>
                <a:sym typeface="Kalam"/>
              </a:rPr>
              <a:t>= 3</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c) Interquartile range </a:t>
            </a:r>
            <a:r>
              <a:rPr lang="en-GB" sz="2200">
                <a:solidFill>
                  <a:schemeClr val="dk1"/>
                </a:solidFill>
                <a:latin typeface="Kalam"/>
                <a:ea typeface="Kalam"/>
                <a:cs typeface="Kalam"/>
                <a:sym typeface="Kalam"/>
              </a:rPr>
              <a:t>= 4 − 2 = 2</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pic>
        <p:nvPicPr>
          <p:cNvPr id="1299" name="Google Shape;1299;p114"/>
          <p:cNvPicPr preferRelativeResize="0"/>
          <p:nvPr/>
        </p:nvPicPr>
        <p:blipFill>
          <a:blip r:embed="rId3">
            <a:alphaModFix/>
          </a:blip>
          <a:stretch>
            <a:fillRect/>
          </a:stretch>
        </p:blipFill>
        <p:spPr>
          <a:xfrm>
            <a:off x="3369600" y="3041186"/>
            <a:ext cx="2828770" cy="1275146"/>
          </a:xfrm>
          <a:prstGeom prst="rect">
            <a:avLst/>
          </a:prstGeom>
          <a:noFill/>
          <a:ln>
            <a:noFill/>
          </a:ln>
        </p:spPr>
      </p:pic>
      <p:pic>
        <p:nvPicPr>
          <p:cNvPr id="1300" name="Google Shape;1300;p114"/>
          <p:cNvPicPr preferRelativeResize="0"/>
          <p:nvPr/>
        </p:nvPicPr>
        <p:blipFill>
          <a:blip r:embed="rId4">
            <a:alphaModFix/>
          </a:blip>
          <a:stretch>
            <a:fillRect/>
          </a:stretch>
        </p:blipFill>
        <p:spPr>
          <a:xfrm>
            <a:off x="5956418" y="3037510"/>
            <a:ext cx="2821442" cy="1282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11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06" name="Google Shape;1306;p115"/>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1) This frequency table shows the number of goals scored in each match by all the teams in a club over one football season. </a:t>
            </a:r>
            <a:endParaRPr sz="2000"/>
          </a:p>
        </p:txBody>
      </p:sp>
      <p:graphicFrame>
        <p:nvGraphicFramePr>
          <p:cNvPr id="1307" name="Google Shape;1307;p115"/>
          <p:cNvGraphicFramePr/>
          <p:nvPr/>
        </p:nvGraphicFramePr>
        <p:xfrm>
          <a:off x="324008" y="1698900"/>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308" name="Google Shape;1308;p115"/>
          <p:cNvSpPr txBox="1"/>
          <p:nvPr/>
        </p:nvSpPr>
        <p:spPr>
          <a:xfrm>
            <a:off x="3735900" y="1698900"/>
            <a:ext cx="5084100" cy="27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c) Would the club prefer to report the mean or median as the average number of goals scored? Why?</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graphicFrame>
        <p:nvGraphicFramePr>
          <p:cNvPr id="1313" name="Google Shape;1313;p116"/>
          <p:cNvGraphicFramePr/>
          <p:nvPr/>
        </p:nvGraphicFramePr>
        <p:xfrm>
          <a:off x="324000" y="1695625"/>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314" name="Google Shape;1314;p11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15" name="Google Shape;1315;p116"/>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2) This frequency table shows the star rating received by a restaurant over its opening weekend.</a:t>
            </a:r>
            <a:endParaRPr sz="2000"/>
          </a:p>
        </p:txBody>
      </p:sp>
      <p:sp>
        <p:nvSpPr>
          <p:cNvPr id="1316" name="Google Shape;1316;p116"/>
          <p:cNvSpPr txBox="1"/>
          <p:nvPr/>
        </p:nvSpPr>
        <p:spPr>
          <a:xfrm>
            <a:off x="3735900" y="1698900"/>
            <a:ext cx="50841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c) Would the restaurant prefer to report the mean or median as the average rating? Why?</a:t>
            </a:r>
            <a:endParaRPr sz="2000">
              <a:solidFill>
                <a:schemeClr val="dk1"/>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1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22" name="Google Shape;1322;p117"/>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3) The frequency table shows the number of bedrooms in different houses within an area of a town.</a:t>
            </a:r>
            <a:endParaRPr sz="2000"/>
          </a:p>
        </p:txBody>
      </p:sp>
      <p:sp>
        <p:nvSpPr>
          <p:cNvPr id="1323" name="Google Shape;1323;p117"/>
          <p:cNvSpPr txBox="1"/>
          <p:nvPr/>
        </p:nvSpPr>
        <p:spPr>
          <a:xfrm>
            <a:off x="3369600" y="16989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developer wishes to build more expensive houses (3+ bedrooms) but the local council want cheaper housing. The council argue that there are already enough houses with 3 or more bedrooms.</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Are the council correct? Use the data to support your decision.</a:t>
            </a:r>
            <a:endParaRPr sz="2000">
              <a:solidFill>
                <a:schemeClr val="dk1"/>
              </a:solidFill>
              <a:latin typeface="Lexend"/>
              <a:ea typeface="Lexend"/>
              <a:cs typeface="Lexend"/>
              <a:sym typeface="Lexend"/>
            </a:endParaRPr>
          </a:p>
        </p:txBody>
      </p:sp>
      <p:graphicFrame>
        <p:nvGraphicFramePr>
          <p:cNvPr id="1324" name="Google Shape;1324;p117"/>
          <p:cNvGraphicFramePr/>
          <p:nvPr/>
        </p:nvGraphicFramePr>
        <p:xfrm>
          <a:off x="324000" y="1695625"/>
          <a:ext cx="3000000" cy="3000000"/>
        </p:xfrm>
        <a:graphic>
          <a:graphicData uri="http://schemas.openxmlformats.org/drawingml/2006/table">
            <a:tbl>
              <a:tblPr>
                <a:noFill/>
                <a:tableStyleId>{B29D6165-A02E-44EA-BB87-525E58A9FBD4}</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1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30" name="Google Shape;1330;p118"/>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4) The time it takes for a sample of pupils to travel to school is collected in this grouped frequency table.</a:t>
            </a:r>
            <a:endParaRPr sz="2000"/>
          </a:p>
        </p:txBody>
      </p:sp>
      <p:sp>
        <p:nvSpPr>
          <p:cNvPr id="1331" name="Google Shape;1331;p118"/>
          <p:cNvSpPr txBox="1"/>
          <p:nvPr/>
        </p:nvSpPr>
        <p:spPr>
          <a:xfrm>
            <a:off x="3861400" y="1698900"/>
            <a:ext cx="49587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It takes 17 mins for Jacob to travel to school by bus.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Jacob claims this takes him longer than the average pupil so he </a:t>
            </a:r>
            <a:r>
              <a:rPr lang="en-GB" sz="2000">
                <a:solidFill>
                  <a:schemeClr val="dk1"/>
                </a:solidFill>
                <a:latin typeface="Lexend"/>
                <a:ea typeface="Lexend"/>
                <a:cs typeface="Lexend"/>
                <a:sym typeface="Lexend"/>
              </a:rPr>
              <a:t>should</a:t>
            </a:r>
            <a:r>
              <a:rPr lang="en-GB" sz="2000">
                <a:solidFill>
                  <a:schemeClr val="dk1"/>
                </a:solidFill>
                <a:latin typeface="Lexend"/>
                <a:ea typeface="Lexend"/>
                <a:cs typeface="Lexend"/>
                <a:sym typeface="Lexend"/>
              </a:rPr>
              <a:t> be </a:t>
            </a:r>
            <a:r>
              <a:rPr lang="en-GB" sz="2000">
                <a:solidFill>
                  <a:schemeClr val="dk1"/>
                </a:solidFill>
                <a:latin typeface="Lexend"/>
                <a:ea typeface="Lexend"/>
                <a:cs typeface="Lexend"/>
                <a:sym typeface="Lexend"/>
              </a:rPr>
              <a:t>taken to school by car every day instead.</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Do you agree or disagree with Jacob? Use evidence to support your answer.</a:t>
            </a:r>
            <a:endParaRPr sz="2000">
              <a:solidFill>
                <a:schemeClr val="dk1"/>
              </a:solidFill>
              <a:latin typeface="Lexend"/>
              <a:ea typeface="Lexend"/>
              <a:cs typeface="Lexend"/>
              <a:sym typeface="Lexend"/>
            </a:endParaRPr>
          </a:p>
        </p:txBody>
      </p:sp>
      <p:graphicFrame>
        <p:nvGraphicFramePr>
          <p:cNvPr id="1332" name="Google Shape;1332;p118"/>
          <p:cNvGraphicFramePr/>
          <p:nvPr/>
        </p:nvGraphicFramePr>
        <p:xfrm>
          <a:off x="323988" y="1695633"/>
          <a:ext cx="3000000" cy="3000000"/>
        </p:xfrm>
        <a:graphic>
          <a:graphicData uri="http://schemas.openxmlformats.org/drawingml/2006/table">
            <a:tbl>
              <a:tblPr>
                <a:noFill/>
                <a:tableStyleId>{A17CC0A5-822D-4775-9ABD-B3D7EFE4B155}</a:tableStyleId>
              </a:tblPr>
              <a:tblGrid>
                <a:gridCol w="2165125"/>
                <a:gridCol w="1146525"/>
              </a:tblGrid>
              <a:tr h="515725">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Time taken to travel to school (in minutes)</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a:t>
                      </a:r>
                      <a:r>
                        <a:rPr lang="en-GB" sz="1600">
                          <a:solidFill>
                            <a:srgbClr val="FFFFFF"/>
                          </a:solidFill>
                          <a:latin typeface="Lexend"/>
                          <a:ea typeface="Lexend"/>
                          <a:cs typeface="Lexend"/>
                          <a:sym typeface="Lexend"/>
                        </a:rPr>
                        <a:t>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rgbClr val="FFFFFF"/>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0 &lt; </a:t>
                      </a:r>
                      <a:r>
                        <a:rPr i="1" lang="en-GB" sz="2200">
                          <a:latin typeface="Times New Roman"/>
                          <a:ea typeface="Times New Roman"/>
                          <a:cs typeface="Times New Roman"/>
                          <a:sym typeface="Times New Roman"/>
                        </a:rPr>
                        <a:t>t</a:t>
                      </a:r>
                      <a:r>
                        <a:rPr lang="en-GB" sz="1800">
                          <a:latin typeface="Lexend"/>
                          <a:ea typeface="Lexend"/>
                          <a:cs typeface="Lexend"/>
                          <a:sym typeface="Lexend"/>
                        </a:rPr>
                        <a:t> ≤ 4</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70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26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40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60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11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38" name="Google Shape;1338;p119"/>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1) This frequency table shows the number of goals scored in each match by all the teams in a club over one football season.</a:t>
            </a:r>
            <a:endParaRPr sz="2000"/>
          </a:p>
        </p:txBody>
      </p:sp>
      <p:graphicFrame>
        <p:nvGraphicFramePr>
          <p:cNvPr id="1339" name="Google Shape;1339;p119"/>
          <p:cNvGraphicFramePr/>
          <p:nvPr/>
        </p:nvGraphicFramePr>
        <p:xfrm>
          <a:off x="324008" y="1698900"/>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340" name="Google Shape;1340;p119"/>
          <p:cNvSpPr txBox="1"/>
          <p:nvPr/>
        </p:nvSpPr>
        <p:spPr>
          <a:xfrm>
            <a:off x="3735900" y="1698900"/>
            <a:ext cx="50841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1 goal</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3 − 1 = 2 goals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2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46" name="Google Shape;1346;p120"/>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1) This frequency table shows the number of goals scored in each match by all the teams in a club over one football season.</a:t>
            </a:r>
            <a:endParaRPr sz="2000"/>
          </a:p>
        </p:txBody>
      </p:sp>
      <p:graphicFrame>
        <p:nvGraphicFramePr>
          <p:cNvPr id="1347" name="Google Shape;1347;p120"/>
          <p:cNvGraphicFramePr/>
          <p:nvPr/>
        </p:nvGraphicFramePr>
        <p:xfrm>
          <a:off x="324008" y="1698900"/>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Goals scored</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tc>
              </a:tr>
            </a:tbl>
          </a:graphicData>
        </a:graphic>
      </p:graphicFrame>
      <p:sp>
        <p:nvSpPr>
          <p:cNvPr id="1348" name="Google Shape;1348;p120"/>
          <p:cNvSpPr txBox="1"/>
          <p:nvPr/>
        </p:nvSpPr>
        <p:spPr>
          <a:xfrm>
            <a:off x="3735900" y="1698900"/>
            <a:ext cx="50841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c) Would the club prefer to report the mean or median as the average number of goals scored? Why?</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Mean = 1.65 goals. Median = 1 goal.</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The club would prefer to report the mean as it rounds to 2 goals making the club’s performance look better.</a:t>
            </a:r>
            <a:endParaRPr sz="2000">
              <a:solidFill>
                <a:schemeClr val="dk1"/>
              </a:solidFill>
              <a:latin typeface="Kalam"/>
              <a:ea typeface="Kalam"/>
              <a:cs typeface="Kalam"/>
              <a:sym typeface="Kala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graphicFrame>
        <p:nvGraphicFramePr>
          <p:cNvPr id="1353" name="Google Shape;1353;p121"/>
          <p:cNvGraphicFramePr/>
          <p:nvPr/>
        </p:nvGraphicFramePr>
        <p:xfrm>
          <a:off x="324000" y="1695625"/>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354" name="Google Shape;1354;p12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55" name="Google Shape;1355;p121"/>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2) This frequency table shows the star rating received by a restaurant over its opening weekend.</a:t>
            </a:r>
            <a:endParaRPr sz="2000"/>
          </a:p>
        </p:txBody>
      </p:sp>
      <p:sp>
        <p:nvSpPr>
          <p:cNvPr id="1356" name="Google Shape;1356;p121"/>
          <p:cNvSpPr txBox="1"/>
          <p:nvPr/>
        </p:nvSpPr>
        <p:spPr>
          <a:xfrm>
            <a:off x="3735900" y="1698900"/>
            <a:ext cx="5084100" cy="27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Calculate the median.</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4 stars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b) Calculate the interquartile range.</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a:t>
            </a:r>
            <a:r>
              <a:rPr lang="en-GB" sz="2000">
                <a:solidFill>
                  <a:schemeClr val="dk1"/>
                </a:solidFill>
                <a:latin typeface="Kalam"/>
                <a:ea typeface="Kalam"/>
                <a:cs typeface="Kalam"/>
                <a:sym typeface="Kalam"/>
              </a:rPr>
              <a:t>5 − 3 = 2 stars</a:t>
            </a:r>
            <a:endParaRPr sz="20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graphicFrame>
        <p:nvGraphicFramePr>
          <p:cNvPr id="1361" name="Google Shape;1361;p122"/>
          <p:cNvGraphicFramePr/>
          <p:nvPr/>
        </p:nvGraphicFramePr>
        <p:xfrm>
          <a:off x="324000" y="1695625"/>
          <a:ext cx="3000000" cy="3000000"/>
        </p:xfrm>
        <a:graphic>
          <a:graphicData uri="http://schemas.openxmlformats.org/drawingml/2006/table">
            <a:tbl>
              <a:tblPr>
                <a:noFill/>
                <a:tableStyleId>{B29D6165-A02E-44EA-BB87-525E58A9FBD4}</a:tableStyleId>
              </a:tblPr>
              <a:tblGrid>
                <a:gridCol w="1738125"/>
                <a:gridCol w="1475600"/>
              </a:tblGrid>
              <a:tr h="44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Star rating</a:t>
                      </a:r>
                      <a:endParaRPr sz="1800">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5"/>
                    </a:solidFill>
                  </a:tcPr>
                </a:tc>
              </a:tr>
              <a:tr h="43795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38</a:t>
                      </a:r>
                      <a:endParaRPr sz="1800">
                        <a:latin typeface="Lexend"/>
                        <a:ea typeface="Lexend"/>
                        <a:cs typeface="Lexend"/>
                        <a:sym typeface="Lexend"/>
                      </a:endParaRPr>
                    </a:p>
                  </a:txBody>
                  <a:tcPr marT="91425" marB="91425" marR="91425" marL="91425"/>
                </a:tc>
              </a:tr>
              <a:tr h="43795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tc>
              </a:tr>
            </a:tbl>
          </a:graphicData>
        </a:graphic>
      </p:graphicFrame>
      <p:sp>
        <p:nvSpPr>
          <p:cNvPr id="1362" name="Google Shape;1362;p12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63" name="Google Shape;1363;p122"/>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2) This frequency table shows the star rating received by a restaurant over its opening weekend.</a:t>
            </a:r>
            <a:endParaRPr sz="2000"/>
          </a:p>
        </p:txBody>
      </p:sp>
      <p:sp>
        <p:nvSpPr>
          <p:cNvPr id="1364" name="Google Shape;1364;p122"/>
          <p:cNvSpPr txBox="1"/>
          <p:nvPr/>
        </p:nvSpPr>
        <p:spPr>
          <a:xfrm>
            <a:off x="3735900" y="1698900"/>
            <a:ext cx="5084100" cy="289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c) Would the restaurant prefer to report the mean or median as the average rating? Why?</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Mean = </a:t>
            </a:r>
            <a:r>
              <a:rPr lang="en-GB" sz="2200">
                <a:solidFill>
                  <a:schemeClr val="dk1"/>
                </a:solidFill>
                <a:latin typeface="Kalam"/>
                <a:ea typeface="Kalam"/>
                <a:cs typeface="Kalam"/>
                <a:sym typeface="Kalam"/>
              </a:rPr>
              <a:t>3.64… stars.</a:t>
            </a:r>
            <a:r>
              <a:rPr lang="en-GB" sz="2000">
                <a:solidFill>
                  <a:schemeClr val="dk1"/>
                </a:solidFill>
                <a:latin typeface="Kalam"/>
                <a:ea typeface="Kalam"/>
                <a:cs typeface="Kalam"/>
                <a:sym typeface="Kalam"/>
              </a:rPr>
              <a:t> Median = 4 stars.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The restaurant could report either but the median does not need to be rounded.</a:t>
            </a:r>
            <a:endParaRPr sz="2000">
              <a:solidFill>
                <a:schemeClr val="dk1"/>
              </a:solidFill>
              <a:latin typeface="Lexend"/>
              <a:ea typeface="Lexend"/>
              <a:cs typeface="Lexend"/>
              <a:sym typeface="Lexe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2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70" name="Google Shape;1370;p123"/>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3) The frequency table shows the number of bedrooms in different houses within an area of a town.</a:t>
            </a:r>
            <a:endParaRPr sz="2000"/>
          </a:p>
        </p:txBody>
      </p:sp>
      <p:sp>
        <p:nvSpPr>
          <p:cNvPr id="1371" name="Google Shape;1371;p123"/>
          <p:cNvSpPr txBox="1"/>
          <p:nvPr/>
        </p:nvSpPr>
        <p:spPr>
          <a:xfrm>
            <a:off x="3369600" y="16989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developer wishes to build more expensive houses (3+ bedrooms) but the local council want cheaper housing. The council argue that there are already enough houses with 3 or more bedrooms.</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Are the council correct? Use the data to support your decision.</a:t>
            </a:r>
            <a:endParaRPr sz="2000">
              <a:solidFill>
                <a:schemeClr val="dk1"/>
              </a:solidFill>
              <a:latin typeface="Lexend"/>
              <a:ea typeface="Lexend"/>
              <a:cs typeface="Lexend"/>
              <a:sym typeface="Lexend"/>
            </a:endParaRPr>
          </a:p>
        </p:txBody>
      </p:sp>
      <p:graphicFrame>
        <p:nvGraphicFramePr>
          <p:cNvPr id="1372" name="Google Shape;1372;p123"/>
          <p:cNvGraphicFramePr/>
          <p:nvPr/>
        </p:nvGraphicFramePr>
        <p:xfrm>
          <a:off x="324000" y="1695625"/>
          <a:ext cx="3000000" cy="3000000"/>
        </p:xfrm>
        <a:graphic>
          <a:graphicData uri="http://schemas.openxmlformats.org/drawingml/2006/table">
            <a:tbl>
              <a:tblPr>
                <a:noFill/>
                <a:tableStyleId>{B29D6165-A02E-44EA-BB87-525E58A9FBD4}</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12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78" name="Google Shape;1378;p124"/>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3) The frequency table shows the number of bedrooms in different houses within an area of a town.</a:t>
            </a:r>
            <a:endParaRPr sz="2000"/>
          </a:p>
        </p:txBody>
      </p:sp>
      <p:sp>
        <p:nvSpPr>
          <p:cNvPr id="1379" name="Google Shape;1379;p124"/>
          <p:cNvSpPr txBox="1"/>
          <p:nvPr/>
        </p:nvSpPr>
        <p:spPr>
          <a:xfrm>
            <a:off x="3369600" y="1698900"/>
            <a:ext cx="54504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Mean = 2.5 bedrooms. Median = 2 bedrooms.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Interquartile range = 3 − 2 = 1</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E.g.</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If the council uses the mean, then they can round and state that the average number of bedrooms in houses in this area is 3. Therefore there are plenty of houses with 3 (or more) bedrooms in.</a:t>
            </a:r>
            <a:endParaRPr sz="2000">
              <a:solidFill>
                <a:schemeClr val="dk1"/>
              </a:solidFill>
              <a:latin typeface="Kalam"/>
              <a:ea typeface="Kalam"/>
              <a:cs typeface="Kalam"/>
              <a:sym typeface="Kalam"/>
            </a:endParaRPr>
          </a:p>
        </p:txBody>
      </p:sp>
      <p:graphicFrame>
        <p:nvGraphicFramePr>
          <p:cNvPr id="1380" name="Google Shape;1380;p124"/>
          <p:cNvGraphicFramePr/>
          <p:nvPr/>
        </p:nvGraphicFramePr>
        <p:xfrm>
          <a:off x="324000" y="1695625"/>
          <a:ext cx="3000000" cy="3000000"/>
        </p:xfrm>
        <a:graphic>
          <a:graphicData uri="http://schemas.openxmlformats.org/drawingml/2006/table">
            <a:tbl>
              <a:tblPr>
                <a:noFill/>
                <a:tableStyleId>{B29D6165-A02E-44EA-BB87-525E58A9FBD4}</a:tableStyleId>
              </a:tblPr>
              <a:tblGrid>
                <a:gridCol w="1395175"/>
                <a:gridCol w="1434875"/>
              </a:tblGrid>
              <a:tr h="381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Bedrooms</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93</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800">
                          <a:latin typeface="Lexend"/>
                          <a:ea typeface="Lexend"/>
                          <a:cs typeface="Lexend"/>
                          <a:sym typeface="Lexend"/>
                        </a:rPr>
                        <a:t>33</a:t>
                      </a:r>
                      <a:endParaRPr sz="18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2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86" name="Google Shape;1386;p125"/>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4) The time it takes for a sample of pupils to travel to school is collected in this grouped frequency table.</a:t>
            </a:r>
            <a:endParaRPr sz="2000"/>
          </a:p>
        </p:txBody>
      </p:sp>
      <p:sp>
        <p:nvSpPr>
          <p:cNvPr id="1387" name="Google Shape;1387;p125"/>
          <p:cNvSpPr txBox="1"/>
          <p:nvPr/>
        </p:nvSpPr>
        <p:spPr>
          <a:xfrm>
            <a:off x="3861400" y="1698900"/>
            <a:ext cx="49587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It takes 17 mins for Jacob to travel to school by bus.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Jacob claims this takes him longer than the average pupil so he should be taken to school by car every day instead.</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Do you agree or disagree with Jacob? Use evidence to support your answer.</a:t>
            </a:r>
            <a:endParaRPr sz="2000">
              <a:solidFill>
                <a:schemeClr val="dk1"/>
              </a:solidFill>
              <a:latin typeface="Lexend"/>
              <a:ea typeface="Lexend"/>
              <a:cs typeface="Lexend"/>
              <a:sym typeface="Lexend"/>
            </a:endParaRPr>
          </a:p>
        </p:txBody>
      </p:sp>
      <p:graphicFrame>
        <p:nvGraphicFramePr>
          <p:cNvPr id="1388" name="Google Shape;1388;p125"/>
          <p:cNvGraphicFramePr/>
          <p:nvPr/>
        </p:nvGraphicFramePr>
        <p:xfrm>
          <a:off x="323988" y="1695633"/>
          <a:ext cx="3000000" cy="3000000"/>
        </p:xfrm>
        <a:graphic>
          <a:graphicData uri="http://schemas.openxmlformats.org/drawingml/2006/table">
            <a:tbl>
              <a:tblPr>
                <a:noFill/>
                <a:tableStyleId>{A17CC0A5-822D-4775-9ABD-B3D7EFE4B155}</a:tableStyleId>
              </a:tblPr>
              <a:tblGrid>
                <a:gridCol w="2165125"/>
                <a:gridCol w="1146525"/>
              </a:tblGrid>
              <a:tr h="515725">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Time taken to travel to school (in minutes)</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rgbClr val="FFFFFF"/>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0 &lt; </a:t>
                      </a:r>
                      <a:r>
                        <a:rPr i="1" lang="en-GB" sz="2200">
                          <a:latin typeface="Times New Roman"/>
                          <a:ea typeface="Times New Roman"/>
                          <a:cs typeface="Times New Roman"/>
                          <a:sym typeface="Times New Roman"/>
                        </a:rPr>
                        <a:t>t</a:t>
                      </a:r>
                      <a:r>
                        <a:rPr lang="en-GB" sz="1800">
                          <a:latin typeface="Lexend"/>
                          <a:ea typeface="Lexend"/>
                          <a:cs typeface="Lexend"/>
                          <a:sym typeface="Lexend"/>
                        </a:rPr>
                        <a:t> ≤ 4</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70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26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40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60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2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Analysis</a:t>
            </a:r>
            <a:endParaRPr/>
          </a:p>
        </p:txBody>
      </p:sp>
      <p:sp>
        <p:nvSpPr>
          <p:cNvPr id="1394" name="Google Shape;1394;p126"/>
          <p:cNvSpPr txBox="1"/>
          <p:nvPr>
            <p:ph idx="1" type="body"/>
          </p:nvPr>
        </p:nvSpPr>
        <p:spPr>
          <a:xfrm>
            <a:off x="324000" y="810000"/>
            <a:ext cx="8237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4) The time it takes for a sample of pupils to travel to school is collected in this grouped frequency table.</a:t>
            </a:r>
            <a:endParaRPr sz="2000"/>
          </a:p>
        </p:txBody>
      </p:sp>
      <p:sp>
        <p:nvSpPr>
          <p:cNvPr id="1395" name="Google Shape;1395;p126"/>
          <p:cNvSpPr txBox="1"/>
          <p:nvPr/>
        </p:nvSpPr>
        <p:spPr>
          <a:xfrm>
            <a:off x="3861400" y="1698900"/>
            <a:ext cx="4958700" cy="282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Mean ≈ 18 minutes. Median = 13 minutes.</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If Jacob uses the median time then he is correct.</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However, Jacob’s family could argue he is wrong by using the mean time. </a:t>
            </a:r>
            <a:endParaRPr sz="2000">
              <a:solidFill>
                <a:schemeClr val="dk1"/>
              </a:solidFill>
              <a:latin typeface="Lexend"/>
              <a:ea typeface="Lexend"/>
              <a:cs typeface="Lexend"/>
              <a:sym typeface="Lexend"/>
            </a:endParaRPr>
          </a:p>
        </p:txBody>
      </p:sp>
      <p:graphicFrame>
        <p:nvGraphicFramePr>
          <p:cNvPr id="1396" name="Google Shape;1396;p126"/>
          <p:cNvGraphicFramePr/>
          <p:nvPr/>
        </p:nvGraphicFramePr>
        <p:xfrm>
          <a:off x="323988" y="1695633"/>
          <a:ext cx="3000000" cy="3000000"/>
        </p:xfrm>
        <a:graphic>
          <a:graphicData uri="http://schemas.openxmlformats.org/drawingml/2006/table">
            <a:tbl>
              <a:tblPr>
                <a:noFill/>
                <a:tableStyleId>{A17CC0A5-822D-4775-9ABD-B3D7EFE4B155}</a:tableStyleId>
              </a:tblPr>
              <a:tblGrid>
                <a:gridCol w="2165125"/>
                <a:gridCol w="1146525"/>
              </a:tblGrid>
              <a:tr h="515725">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Time taken to travel to school (in minutes)</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frequency</a:t>
                      </a:r>
                      <a:endParaRPr sz="1600">
                        <a:solidFill>
                          <a:srgbClr val="FFFFFF"/>
                        </a:solidFill>
                        <a:latin typeface="Lexend"/>
                        <a:ea typeface="Lexend"/>
                        <a:cs typeface="Lexend"/>
                        <a:sym typeface="Lexend"/>
                      </a:endParaRPr>
                    </a:p>
                    <a:p>
                      <a:pPr indent="0" lvl="0" marL="0" marR="0" rtl="0" algn="ctr">
                        <a:lnSpc>
                          <a:spcPct val="100000"/>
                        </a:lnSpc>
                        <a:spcBef>
                          <a:spcPts val="0"/>
                        </a:spcBef>
                        <a:spcAft>
                          <a:spcPts val="0"/>
                        </a:spcAft>
                        <a:buNone/>
                      </a:pPr>
                      <a:r>
                        <a:rPr lang="en-GB" sz="1600">
                          <a:solidFill>
                            <a:srgbClr val="FFFFFF"/>
                          </a:solidFill>
                          <a:latin typeface="Lexend"/>
                          <a:ea typeface="Lexend"/>
                          <a:cs typeface="Lexend"/>
                          <a:sym typeface="Lexend"/>
                        </a:rPr>
                        <a:t>(</a:t>
                      </a:r>
                      <a:r>
                        <a:rPr i="1" lang="en-GB" sz="1800">
                          <a:solidFill>
                            <a:srgbClr val="FFFFFF"/>
                          </a:solidFill>
                          <a:latin typeface="Times New Roman"/>
                          <a:ea typeface="Times New Roman"/>
                          <a:cs typeface="Times New Roman"/>
                          <a:sym typeface="Times New Roman"/>
                        </a:rPr>
                        <a:t>f</a:t>
                      </a:r>
                      <a:r>
                        <a:rPr i="1" lang="en-GB" sz="1200">
                          <a:solidFill>
                            <a:srgbClr val="FFFFFF"/>
                          </a:solidFill>
                          <a:latin typeface="Times New Roman"/>
                          <a:ea typeface="Times New Roman"/>
                          <a:cs typeface="Times New Roman"/>
                          <a:sym typeface="Times New Roman"/>
                        </a:rPr>
                        <a:t> </a:t>
                      </a:r>
                      <a:r>
                        <a:rPr lang="en-GB" sz="1600">
                          <a:solidFill>
                            <a:srgbClr val="FFFFFF"/>
                          </a:solidFill>
                          <a:latin typeface="Lexend"/>
                          <a:ea typeface="Lexend"/>
                          <a:cs typeface="Lexend"/>
                          <a:sym typeface="Lexend"/>
                        </a:rPr>
                        <a:t>)</a:t>
                      </a:r>
                      <a:endParaRPr sz="1600">
                        <a:solidFill>
                          <a:srgbClr val="FFFFFF"/>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0 &lt; </a:t>
                      </a:r>
                      <a:r>
                        <a:rPr i="1" lang="en-GB" sz="2200">
                          <a:latin typeface="Times New Roman"/>
                          <a:ea typeface="Times New Roman"/>
                          <a:cs typeface="Times New Roman"/>
                          <a:sym typeface="Times New Roman"/>
                        </a:rPr>
                        <a:t>t</a:t>
                      </a:r>
                      <a:r>
                        <a:rPr lang="en-GB" sz="1800">
                          <a:latin typeface="Lexend"/>
                          <a:ea typeface="Lexend"/>
                          <a:cs typeface="Lexend"/>
                          <a:sym typeface="Lexend"/>
                        </a:rPr>
                        <a:t> ≤ 4</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16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70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26</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26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40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8200">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40 &lt; </a:t>
                      </a:r>
                      <a:r>
                        <a:rPr i="1" lang="en-GB" sz="2200">
                          <a:solidFill>
                            <a:srgbClr val="000000"/>
                          </a:solidFill>
                          <a:latin typeface="Times New Roman"/>
                          <a:ea typeface="Times New Roman"/>
                          <a:cs typeface="Times New Roman"/>
                          <a:sym typeface="Times New Roman"/>
                        </a:rPr>
                        <a:t>t</a:t>
                      </a:r>
                      <a:r>
                        <a:rPr lang="en-GB" sz="1800">
                          <a:latin typeface="Lexend"/>
                          <a:ea typeface="Lexend"/>
                          <a:cs typeface="Lexend"/>
                          <a:sym typeface="Lexend"/>
                        </a:rPr>
                        <a:t> ≤ 60</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27"/>
          <p:cNvSpPr txBox="1"/>
          <p:nvPr>
            <p:ph type="title"/>
          </p:nvPr>
        </p:nvSpPr>
        <p:spPr>
          <a:xfrm>
            <a:off x="1684800" y="119125"/>
            <a:ext cx="57414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the fx-991CW for statistics</a:t>
            </a:r>
            <a:endParaRPr/>
          </a:p>
        </p:txBody>
      </p:sp>
      <p:sp>
        <p:nvSpPr>
          <p:cNvPr id="1402" name="Google Shape;1402;p127"/>
          <p:cNvSpPr txBox="1"/>
          <p:nvPr>
            <p:ph idx="1" type="body"/>
          </p:nvPr>
        </p:nvSpPr>
        <p:spPr>
          <a:xfrm>
            <a:off x="324000" y="810000"/>
            <a:ext cx="8237700" cy="357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Some calculators can perform more than just basic calculations.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The fx-991CW can produce a statistical summary of a set of data.</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The summary includes the mean, median, upper and lower quartiles.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128"/>
          <p:cNvSpPr txBox="1"/>
          <p:nvPr>
            <p:ph idx="1" type="subTitle"/>
          </p:nvPr>
        </p:nvSpPr>
        <p:spPr>
          <a:xfrm>
            <a:off x="666000" y="1636650"/>
            <a:ext cx="7351200" cy="1870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2025.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Casio and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08" name="Google Shape;1408;p12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