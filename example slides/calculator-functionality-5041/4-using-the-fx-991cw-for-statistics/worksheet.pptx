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3E4608-15AE-45C1-8124-475B86CB10BF}">
  <a:tblStyle styleId="{063E4608-15AE-45C1-8124-475B86CB10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A35AE1C-D301-4A08-B422-6253AD4ECA8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75ff07947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75ff0794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statistics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398675"/>
            <a:ext cx="686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Finding the mean from a frequency table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7572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This frequency table shows the number of goals scored in each match by all the teams in a club over one football season.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2"/>
          <p:cNvGraphicFramePr/>
          <p:nvPr/>
        </p:nvGraphicFramePr>
        <p:xfrm>
          <a:off x="468008" y="23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{063E4608-15AE-45C1-8124-475B86CB10BF}</a:tableStyleId>
              </a:tblPr>
              <a:tblGrid>
                <a:gridCol w="1261700"/>
                <a:gridCol w="1071100"/>
              </a:tblGrid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" name="Google Shape;107;p12"/>
          <p:cNvSpPr txBox="1"/>
          <p:nvPr/>
        </p:nvSpPr>
        <p:spPr>
          <a:xfrm>
            <a:off x="2947200" y="2341300"/>
            <a:ext cx="414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was the mean number of goals scored?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" name="Google Shape;108;p12"/>
          <p:cNvGraphicFramePr/>
          <p:nvPr/>
        </p:nvGraphicFramePr>
        <p:xfrm>
          <a:off x="468000" y="529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{063E4608-15AE-45C1-8124-475B86CB10BF}</a:tableStyleId>
              </a:tblPr>
              <a:tblGrid>
                <a:gridCol w="1261700"/>
                <a:gridCol w="1071100"/>
              </a:tblGrid>
              <a:tr h="2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" name="Google Shape;109;p12"/>
          <p:cNvSpPr txBox="1"/>
          <p:nvPr/>
        </p:nvSpPr>
        <p:spPr>
          <a:xfrm>
            <a:off x="468000" y="47925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This frequency table shows the star rating received by a restaurant over its opening weekend.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2947350" y="5300400"/>
            <a:ext cx="414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was the mean star rating?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468000" y="75989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The frequency table shows the number of bedrooms in different houses within an area of a town.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2947200" y="8106800"/>
            <a:ext cx="4144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is the mean number of bedrooms?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3" name="Google Shape;113;p12"/>
          <p:cNvGraphicFramePr/>
          <p:nvPr/>
        </p:nvGraphicFramePr>
        <p:xfrm>
          <a:off x="468000" y="810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{063E4608-15AE-45C1-8124-475B86CB10BF}</a:tableStyleId>
              </a:tblPr>
              <a:tblGrid>
                <a:gridCol w="1150050"/>
                <a:gridCol w="1182750"/>
              </a:tblGrid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statistics</a:t>
            </a:r>
            <a:endParaRPr/>
          </a:p>
        </p:txBody>
      </p:sp>
      <p:cxnSp>
        <p:nvCxnSpPr>
          <p:cNvPr id="120" name="Google Shape;120;p13"/>
          <p:cNvCxnSpPr/>
          <p:nvPr/>
        </p:nvCxnSpPr>
        <p:spPr>
          <a:xfrm>
            <a:off x="474751" y="34188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3"/>
          <p:cNvSpPr txBox="1"/>
          <p:nvPr/>
        </p:nvSpPr>
        <p:spPr>
          <a:xfrm>
            <a:off x="468000" y="7200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4) The time it takes for a sample of pupils to travel to school is collected in this grouped frequency table.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3420000" y="1227900"/>
            <a:ext cx="36720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is the estimated mean travel time (to the nearest minute)?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3" name="Google Shape;123;p13"/>
          <p:cNvGraphicFramePr/>
          <p:nvPr/>
        </p:nvGraphicFramePr>
        <p:xfrm>
          <a:off x="467988" y="1224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{BA35AE1C-D301-4A08-B422-6253AD4ECA87}</a:tableStyleId>
              </a:tblPr>
              <a:tblGrid>
                <a:gridCol w="1737550"/>
                <a:gridCol w="920100"/>
              </a:tblGrid>
              <a:tr h="41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taken to travel to school (in minutes)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b="1" i="1" lang="en-GB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 </a:t>
                      </a: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&lt; 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3"/>
          <p:cNvSpPr txBox="1"/>
          <p:nvPr/>
        </p:nvSpPr>
        <p:spPr>
          <a:xfrm>
            <a:off x="474750" y="3495965"/>
            <a:ext cx="686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Analysis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474750" y="3787565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This frequency table shows the number of goals scored in each match by all the teams in a club over one football season.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6" name="Google Shape;126;p13"/>
          <p:cNvGraphicFramePr/>
          <p:nvPr/>
        </p:nvGraphicFramePr>
        <p:xfrm>
          <a:off x="474758" y="4286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{063E4608-15AE-45C1-8124-475B86CB10BF}</a:tableStyleId>
              </a:tblPr>
              <a:tblGrid>
                <a:gridCol w="1261675"/>
                <a:gridCol w="1071125"/>
              </a:tblGrid>
              <a:tr h="32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" name="Google Shape;127;p13"/>
          <p:cNvSpPr txBox="1"/>
          <p:nvPr/>
        </p:nvSpPr>
        <p:spPr>
          <a:xfrm>
            <a:off x="2953950" y="4286190"/>
            <a:ext cx="41448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Calculate the median.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Calculate the interquartile range.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2953950" y="5607815"/>
            <a:ext cx="41448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Would the club prefer to report the mean or median as the average number of goals scored? Why?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67850" y="7086213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This frequency table shows the star rating received by a restaurant over its opening weekend.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947350" y="7548538"/>
            <a:ext cx="41448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Calculate the median.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Calculate the interquartile range.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" name="Google Shape;131;p13"/>
          <p:cNvGraphicFramePr/>
          <p:nvPr/>
        </p:nvGraphicFramePr>
        <p:xfrm>
          <a:off x="467850" y="7548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{063E4608-15AE-45C1-8124-475B86CB10BF}</a:tableStyleId>
              </a:tblPr>
              <a:tblGrid>
                <a:gridCol w="1261700"/>
                <a:gridCol w="1071100"/>
              </a:tblGrid>
              <a:tr h="2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" name="Google Shape;132;p13"/>
          <p:cNvSpPr txBox="1"/>
          <p:nvPr/>
        </p:nvSpPr>
        <p:spPr>
          <a:xfrm>
            <a:off x="2947350" y="8645713"/>
            <a:ext cx="41448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Would the restaurant prefer to report the mean or median as the average rating? Why?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statistics</a:t>
            </a:r>
            <a:endParaRPr/>
          </a:p>
        </p:txBody>
      </p:sp>
      <p:sp>
        <p:nvSpPr>
          <p:cNvPr id="138" name="Google Shape;138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67850" y="7200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The frequency table shows the number of bedrooms in different houses within an area of a town.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2947350" y="1224625"/>
            <a:ext cx="41448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 developer wishes to build more expensive houses (3+ bedrooms) but the local council want cheaper housing. The council argue that there are already enough houses with 3 or more bedrooms.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Are the council correct? Use the data to support your decision.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3" name="Google Shape;143;p14"/>
          <p:cNvGraphicFramePr/>
          <p:nvPr/>
        </p:nvGraphicFramePr>
        <p:xfrm>
          <a:off x="467850" y="1224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{063E4608-15AE-45C1-8124-475B86CB10BF}</a:tableStyleId>
              </a:tblPr>
              <a:tblGrid>
                <a:gridCol w="1150050"/>
                <a:gridCol w="1182750"/>
              </a:tblGrid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4" name="Google Shape;144;p14"/>
          <p:cNvSpPr txBox="1"/>
          <p:nvPr/>
        </p:nvSpPr>
        <p:spPr>
          <a:xfrm>
            <a:off x="467850" y="38605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4) The time it takes for a sample of pupils to travel to school is collected in this grouped frequency table.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3420000" y="4462175"/>
            <a:ext cx="36723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It takes 17 mins for Jacob to travel to school by bus.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Jacob claims this takes him longer than the average pupil so he should be taken to school by car every day instead.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Do you agree or disagree with Jacob? Use evidence to support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6" name="Google Shape;146;p14"/>
          <p:cNvGraphicFramePr/>
          <p:nvPr/>
        </p:nvGraphicFramePr>
        <p:xfrm>
          <a:off x="467988" y="4425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{BA35AE1C-D301-4A08-B422-6253AD4ECA87}</a:tableStyleId>
              </a:tblPr>
              <a:tblGrid>
                <a:gridCol w="1737550"/>
                <a:gridCol w="920100"/>
              </a:tblGrid>
              <a:tr h="41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taken to travel to school (in minutes)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b="1" i="1" lang="en-GB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 </a:t>
                      </a: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&lt; 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