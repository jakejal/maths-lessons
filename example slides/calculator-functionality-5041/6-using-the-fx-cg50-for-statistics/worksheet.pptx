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A1321D-5018-4DEE-82D7-A997576DDA91}">
  <a:tblStyle styleId="{C5A1321D-5018-4DEE-82D7-A997576DDA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76817EA-4177-4C41-8454-08958C87623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2"/>
          <p:cNvSpPr txBox="1"/>
          <p:nvPr/>
        </p:nvSpPr>
        <p:spPr>
          <a:xfrm>
            <a:off x="467850" y="1398675"/>
            <a:ext cx="686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Numerical summaries of data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17572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This frequency table shows the star rating received by a restaurant over its opening weekend.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3088450" y="2214550"/>
            <a:ext cx="40035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was the mean star rating?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was the median star rating?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8" name="Google Shape;108;p12"/>
          <p:cNvGraphicFramePr/>
          <p:nvPr/>
        </p:nvGraphicFramePr>
        <p:xfrm>
          <a:off x="467850" y="221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{C5A1321D-5018-4DEE-82D7-A997576DDA91}</a:tableStyleId>
              </a:tblPr>
              <a:tblGrid>
                <a:gridCol w="1261700"/>
                <a:gridCol w="1071100"/>
              </a:tblGrid>
              <a:tr h="29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 rating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" name="Google Shape;109;p12"/>
          <p:cNvSpPr txBox="1"/>
          <p:nvPr/>
        </p:nvSpPr>
        <p:spPr>
          <a:xfrm>
            <a:off x="467850" y="4541225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The frequency table shows the number of bedrooms in different houses within an area of a town.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3088450" y="4938425"/>
            <a:ext cx="40035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is the mean number of bedrooms?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is the median number of bedrooms?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1" name="Google Shape;111;p12"/>
          <p:cNvGraphicFramePr/>
          <p:nvPr/>
        </p:nvGraphicFramePr>
        <p:xfrm>
          <a:off x="467850" y="504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{C5A1321D-5018-4DEE-82D7-A997576DDA91}</a:tableStyleId>
              </a:tblPr>
              <a:tblGrid>
                <a:gridCol w="1150050"/>
                <a:gridCol w="1182750"/>
              </a:tblGrid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Bedrooms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  <a:tr h="31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12" name="Google Shape;112;p12"/>
          <p:cNvSpPr txBox="1"/>
          <p:nvPr/>
        </p:nvSpPr>
        <p:spPr>
          <a:xfrm>
            <a:off x="467850" y="7019525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The time it takes for a sample of pupils to travel to school is collected in this grouped frequency table.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3292250" y="7527425"/>
            <a:ext cx="37998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is the estimated mean travel time (to the nearest minute)?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is the estimated median travel time (to the nearest minute)?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4" name="Google Shape;114;p12"/>
          <p:cNvGraphicFramePr/>
          <p:nvPr/>
        </p:nvGraphicFramePr>
        <p:xfrm>
          <a:off x="467838" y="7524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{276817EA-4177-4C41-8454-08958C876230}</a:tableStyleId>
              </a:tblPr>
              <a:tblGrid>
                <a:gridCol w="1733975"/>
                <a:gridCol w="918225"/>
              </a:tblGrid>
              <a:tr h="61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taken to travel to school (in minutes)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b="1" i="1" lang="en-GB" sz="1200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 </a:t>
                      </a: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&lt; </a:t>
                      </a: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&lt; </a:t>
                      </a:r>
                      <a:r>
                        <a:rPr i="1"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≤ 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statistics</a:t>
            </a:r>
            <a:endParaRPr/>
          </a:p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Graphical representations of data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68000" y="1078525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The table shows weather data from Bradford, for five months in 2021.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does this data suggest about the weather? Justify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5" name="Google Shape;125;p13"/>
          <p:cNvGraphicFramePr/>
          <p:nvPr/>
        </p:nvGraphicFramePr>
        <p:xfrm>
          <a:off x="468000" y="188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{C5A1321D-5018-4DEE-82D7-A997576DDA91}</a:tableStyleId>
              </a:tblPr>
              <a:tblGrid>
                <a:gridCol w="806550"/>
                <a:gridCol w="944000"/>
                <a:gridCol w="884025"/>
              </a:tblGrid>
              <a:tr h="59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13"/>
          <p:cNvSpPr txBox="1"/>
          <p:nvPr/>
        </p:nvSpPr>
        <p:spPr>
          <a:xfrm>
            <a:off x="468000" y="4733325"/>
            <a:ext cx="662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Jacob runs a series of long-distance races. For each race, he records his time and the elevation of the course.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What does this data suggest about elevation and the time taken? Justify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" name="Google Shape;127;p13"/>
          <p:cNvGraphicFramePr/>
          <p:nvPr/>
        </p:nvGraphicFramePr>
        <p:xfrm>
          <a:off x="468000" y="549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{C5A1321D-5018-4DEE-82D7-A997576DDA91}</a:tableStyleId>
              </a:tblPr>
              <a:tblGrid>
                <a:gridCol w="1473550"/>
                <a:gridCol w="1161025"/>
              </a:tblGrid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elevation (m)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22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