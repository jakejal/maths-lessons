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7E595D-D93E-494E-BB35-A9D0E5687DF0}">
  <a:tblStyle styleId="{C97E595D-D93E-494E-BB35-A9D0E5687D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B1FD06D-526B-415D-B671-CE012D32238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statistics</a:t>
            </a:r>
            <a:endParaRPr/>
          </a:p>
        </p:txBody>
      </p:sp>
      <p:sp>
        <p:nvSpPr>
          <p:cNvPr id="116" name="Google Shape;11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7" name="Google Shape;117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2"/>
          <p:cNvSpPr txBox="1"/>
          <p:nvPr/>
        </p:nvSpPr>
        <p:spPr>
          <a:xfrm>
            <a:off x="467850" y="1398675"/>
            <a:ext cx="686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Numerical summaries of data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17572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This frequency table shows the star rating received by a restaurant over its opening weekend.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3088450" y="2214550"/>
            <a:ext cx="40035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What was the mean star rating?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3.64… stars (which rounds to 4)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What was the median star rating?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4 stars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1" name="Google Shape;121;p12"/>
          <p:cNvGraphicFramePr/>
          <p:nvPr/>
        </p:nvGraphicFramePr>
        <p:xfrm>
          <a:off x="467850" y="2214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{C97E595D-D93E-494E-BB35-A9D0E5687DF0}</a:tableStyleId>
              </a:tblPr>
              <a:tblGrid>
                <a:gridCol w="1261700"/>
                <a:gridCol w="1071100"/>
              </a:tblGrid>
              <a:tr h="2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" name="Google Shape;122;p12"/>
          <p:cNvSpPr txBox="1"/>
          <p:nvPr/>
        </p:nvSpPr>
        <p:spPr>
          <a:xfrm>
            <a:off x="467850" y="4541225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The frequency table shows the number of bedrooms in different houses within an area of a town.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3088450" y="4938425"/>
            <a:ext cx="40035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What is the mean number of bedrooms?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2.5 bedrooms (which rounds to 3)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What is the median number of bedrooms?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 bedrooms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4" name="Google Shape;124;p12"/>
          <p:cNvGraphicFramePr/>
          <p:nvPr/>
        </p:nvGraphicFramePr>
        <p:xfrm>
          <a:off x="467850" y="504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{C97E595D-D93E-494E-BB35-A9D0E5687DF0}</a:tableStyleId>
              </a:tblPr>
              <a:tblGrid>
                <a:gridCol w="1150050"/>
                <a:gridCol w="1182750"/>
              </a:tblGrid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5" name="Google Shape;125;p12"/>
          <p:cNvSpPr txBox="1"/>
          <p:nvPr/>
        </p:nvSpPr>
        <p:spPr>
          <a:xfrm>
            <a:off x="467850" y="7019525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The time it takes for a sample of pupils to travel to school is collected in this grouped frequency table.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292250" y="7527425"/>
            <a:ext cx="37998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What is the estimated mean travel time (to the nearest minute)?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18 minutes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What is the estimated median travel time (to the nearest minute)?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13 minutes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7" name="Google Shape;127;p12"/>
          <p:cNvGraphicFramePr/>
          <p:nvPr/>
        </p:nvGraphicFramePr>
        <p:xfrm>
          <a:off x="467838" y="7524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{FB1FD06D-526B-415D-B671-CE012D322388}</a:tableStyleId>
              </a:tblPr>
              <a:tblGrid>
                <a:gridCol w="1733975"/>
                <a:gridCol w="918225"/>
              </a:tblGrid>
              <a:tr h="61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taken to travel to school (in minutes)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b="1" i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 &lt; </a:t>
                      </a: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statistics</a:t>
            </a:r>
            <a:endParaRPr/>
          </a:p>
        </p:txBody>
      </p:sp>
      <p:sp>
        <p:nvSpPr>
          <p:cNvPr id="133" name="Google Shape;133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Graphical representations of data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468000" y="1078525"/>
            <a:ext cx="6624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The table shows weather data from Bradford, for five months in 2021.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does this data suggest about the weather? Justify your answer.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" name="Google Shape;138;p13"/>
          <p:cNvGraphicFramePr/>
          <p:nvPr/>
        </p:nvGraphicFramePr>
        <p:xfrm>
          <a:off x="468000" y="188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{C97E595D-D93E-494E-BB35-A9D0E5687DF0}</a:tableStyleId>
              </a:tblPr>
              <a:tblGrid>
                <a:gridCol w="806550"/>
                <a:gridCol w="944000"/>
                <a:gridCol w="884025"/>
              </a:tblGrid>
              <a:tr h="59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sunshine (hours)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9" name="Google Shape;13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1645" y="1888525"/>
            <a:ext cx="3406550" cy="19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 txBox="1"/>
          <p:nvPr/>
        </p:nvSpPr>
        <p:spPr>
          <a:xfrm>
            <a:off x="3431649" y="3987875"/>
            <a:ext cx="3660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There is negative correlation. More rain means less sunshine.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1723" y="5494598"/>
            <a:ext cx="3398176" cy="19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3"/>
          <p:cNvSpPr txBox="1"/>
          <p:nvPr/>
        </p:nvSpPr>
        <p:spPr>
          <a:xfrm>
            <a:off x="468000" y="4733325"/>
            <a:ext cx="662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Jacob runs a series of long-distance races. For each race, he records his time and the elevation of the course.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does this data suggest about elevation and the time taken? Justify your answer.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3" name="Google Shape;143;p13"/>
          <p:cNvGraphicFramePr/>
          <p:nvPr/>
        </p:nvGraphicFramePr>
        <p:xfrm>
          <a:off x="468000" y="549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{C97E595D-D93E-494E-BB35-A9D0E5687DF0}</a:tableStyleId>
              </a:tblPr>
              <a:tblGrid>
                <a:gridCol w="1473550"/>
                <a:gridCol w="1161025"/>
              </a:tblGrid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elevation (m)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p13"/>
          <p:cNvSpPr txBox="1"/>
          <p:nvPr/>
        </p:nvSpPr>
        <p:spPr>
          <a:xfrm>
            <a:off x="468000" y="7840625"/>
            <a:ext cx="6624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There is positive correlation. The greater the elevation, the more time it takes to run the course.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