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82" r:id="rId4"/>
    <p:sldMasterId id="21474837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363DF8-A601-4682-A2D8-522FD6330D0C}">
  <a:tblStyle styleId="{1E363DF8-A601-4682-A2D8-522FD6330D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7D50A51-0BAF-46F3-9E2E-6CD1D8F2456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2fcdcf486b6_0_2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g2fcdcf486b6_0_2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g2fcdcf486b6_0_2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5" name="Google Shape;1655;g2fcdcf486b6_0_2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2fcdcf486b6_0_2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2fcdcf486b6_0_2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32763c6720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32763c6720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g32763c6720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2" name="Google Shape;1672;g32763c6720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32763c6720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32763c6720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32cd051c6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32cd051c6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32cd051c672_0_1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32cd051c672_0_1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32cd051c67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32cd051c67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32cd051c67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32cd051c67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32cd051c67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32cd051c67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32cd051c672_0_2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32cd051c672_0_2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32cd051c672_0_2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32cd051c672_0_2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32cd051c672_0_2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9" name="Google Shape;1759;g32cd051c672_0_2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32cd051c672_0_2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32cd051c672_0_2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32cd051c67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" name="Google Shape;1779;g32cd051c67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g32cd051c67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4" name="Google Shape;1794;g32cd051c67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g32cd051c67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2" name="Google Shape;1802;g32cd051c67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g32cd051c672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3" name="Google Shape;1813;g32cd051c672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g32cd051c672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" name="Google Shape;1823;g32cd051c67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32cd051c672_0_2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32cd051c672_0_2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32cd051c67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32cd051c67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32cd051c672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32cd051c67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32cd051c672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9" name="Google Shape;1859;g32cd051c672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32cd051c672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32cd051c672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32cd051c672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32cd051c672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g32cd051c672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3" name="Google Shape;1883;g32cd051c672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g32a48678a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1" name="Google Shape;1891;g32a48678a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32cd051c672_0_5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32cd051c672_0_5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32cd051c672_0_4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32cd051c672_0_4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32cd051c672_0_5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3" name="Google Shape;1923;g32cd051c672_0_5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32cd051c672_0_5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32cd051c672_0_5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g32cd051c672_0_5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1" name="Google Shape;1941;g32cd051c672_0_5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32cd051c672_0_5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32cd051c672_0_5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32cd051c672_0_5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32cd051c672_0_5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32cd051c672_0_5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32cd051c672_0_5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g32d22797ed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7" name="Google Shape;1977;g32d22797ed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32d22797ed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32d22797ed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32d22797ed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32d22797ed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32d22797ed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32d22797ed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2fcdcf486b6_0_2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2fcdcf486b6_0_2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2fcdcf486b6_0_2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2fcdcf486b6_0_2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3.png"/><Relationship Id="rId4" Type="http://schemas.openxmlformats.org/officeDocument/2006/relationships/image" Target="../media/image12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127.png"/><Relationship Id="rId4" Type="http://schemas.openxmlformats.org/officeDocument/2006/relationships/image" Target="../media/image38.png"/><Relationship Id="rId9" Type="http://schemas.openxmlformats.org/officeDocument/2006/relationships/image" Target="../media/image37.png"/><Relationship Id="rId5" Type="http://schemas.openxmlformats.org/officeDocument/2006/relationships/image" Target="../media/image33.png"/><Relationship Id="rId6" Type="http://schemas.openxmlformats.org/officeDocument/2006/relationships/image" Target="../media/image47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127.png"/><Relationship Id="rId4" Type="http://schemas.openxmlformats.org/officeDocument/2006/relationships/image" Target="../media/image46.png"/><Relationship Id="rId11" Type="http://schemas.openxmlformats.org/officeDocument/2006/relationships/image" Target="../media/image37.png"/><Relationship Id="rId10" Type="http://schemas.openxmlformats.org/officeDocument/2006/relationships/image" Target="../media/image51.png"/><Relationship Id="rId9" Type="http://schemas.openxmlformats.org/officeDocument/2006/relationships/image" Target="../media/image41.png"/><Relationship Id="rId5" Type="http://schemas.openxmlformats.org/officeDocument/2006/relationships/image" Target="../media/image38.png"/><Relationship Id="rId6" Type="http://schemas.openxmlformats.org/officeDocument/2006/relationships/image" Target="../media/image33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4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4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45.png"/><Relationship Id="rId4" Type="http://schemas.openxmlformats.org/officeDocument/2006/relationships/image" Target="../media/image5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45.png"/><Relationship Id="rId4" Type="http://schemas.openxmlformats.org/officeDocument/2006/relationships/image" Target="../media/image5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5.png"/><Relationship Id="rId4" Type="http://schemas.openxmlformats.org/officeDocument/2006/relationships/image" Target="../media/image5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5.png"/><Relationship Id="rId4" Type="http://schemas.openxmlformats.org/officeDocument/2006/relationships/image" Target="../media/image5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48.png"/><Relationship Id="rId4" Type="http://schemas.openxmlformats.org/officeDocument/2006/relationships/image" Target="../media/image5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4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4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8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8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5.png"/><Relationship Id="rId3" Type="http://schemas.openxmlformats.org/officeDocument/2006/relationships/image" Target="../media/image83.png"/><Relationship Id="rId4" Type="http://schemas.openxmlformats.org/officeDocument/2006/relationships/image" Target="../media/image86.png"/><Relationship Id="rId5" Type="http://schemas.openxmlformats.org/officeDocument/2006/relationships/image" Target="../media/image89.png"/><Relationship Id="rId6" Type="http://schemas.openxmlformats.org/officeDocument/2006/relationships/image" Target="../media/image35.png"/><Relationship Id="rId7" Type="http://schemas.openxmlformats.org/officeDocument/2006/relationships/image" Target="../media/image8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3.png"/><Relationship Id="rId4" Type="http://schemas.openxmlformats.org/officeDocument/2006/relationships/image" Target="../media/image127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7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127.png"/><Relationship Id="rId4" Type="http://schemas.openxmlformats.org/officeDocument/2006/relationships/image" Target="../media/image38.png"/><Relationship Id="rId9" Type="http://schemas.openxmlformats.org/officeDocument/2006/relationships/image" Target="../media/image37.png"/><Relationship Id="rId5" Type="http://schemas.openxmlformats.org/officeDocument/2006/relationships/image" Target="../media/image33.png"/><Relationship Id="rId6" Type="http://schemas.openxmlformats.org/officeDocument/2006/relationships/image" Target="../media/image47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127.png"/><Relationship Id="rId4" Type="http://schemas.openxmlformats.org/officeDocument/2006/relationships/image" Target="../media/image46.png"/><Relationship Id="rId11" Type="http://schemas.openxmlformats.org/officeDocument/2006/relationships/image" Target="../media/image37.png"/><Relationship Id="rId10" Type="http://schemas.openxmlformats.org/officeDocument/2006/relationships/image" Target="../media/image51.png"/><Relationship Id="rId9" Type="http://schemas.openxmlformats.org/officeDocument/2006/relationships/image" Target="../media/image41.png"/><Relationship Id="rId5" Type="http://schemas.openxmlformats.org/officeDocument/2006/relationships/image" Target="../media/image38.png"/><Relationship Id="rId6" Type="http://schemas.openxmlformats.org/officeDocument/2006/relationships/image" Target="../media/image33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Relationship Id="rId3" Type="http://schemas.openxmlformats.org/officeDocument/2006/relationships/image" Target="../media/image45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45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45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3.png"/><Relationship Id="rId3" Type="http://schemas.openxmlformats.org/officeDocument/2006/relationships/image" Target="../media/image45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Relationship Id="rId3" Type="http://schemas.openxmlformats.org/officeDocument/2006/relationships/image" Target="../media/image45.png"/><Relationship Id="rId4" Type="http://schemas.openxmlformats.org/officeDocument/2006/relationships/image" Target="../media/image52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45.png"/><Relationship Id="rId4" Type="http://schemas.openxmlformats.org/officeDocument/2006/relationships/image" Target="../media/image52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45.png"/><Relationship Id="rId4" Type="http://schemas.openxmlformats.org/officeDocument/2006/relationships/image" Target="../media/image52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3.png"/><Relationship Id="rId3" Type="http://schemas.openxmlformats.org/officeDocument/2006/relationships/image" Target="../media/image45.png"/><Relationship Id="rId4" Type="http://schemas.openxmlformats.org/officeDocument/2006/relationships/image" Target="../media/image52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5.png"/><Relationship Id="rId3" Type="http://schemas.openxmlformats.org/officeDocument/2006/relationships/image" Target="../media/image48.png"/><Relationship Id="rId4" Type="http://schemas.openxmlformats.org/officeDocument/2006/relationships/image" Target="../media/image52.png"/><Relationship Id="rId5" Type="http://schemas.openxmlformats.org/officeDocument/2006/relationships/image" Target="../media/image60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Relationship Id="rId5" Type="http://schemas.openxmlformats.org/officeDocument/2006/relationships/image" Target="../media/image55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Relationship Id="rId5" Type="http://schemas.openxmlformats.org/officeDocument/2006/relationships/image" Target="../media/image55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Relationship Id="rId5" Type="http://schemas.openxmlformats.org/officeDocument/2006/relationships/image" Target="../media/image55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Relationship Id="rId3" Type="http://schemas.openxmlformats.org/officeDocument/2006/relationships/image" Target="../media/image52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Relationship Id="rId3" Type="http://schemas.openxmlformats.org/officeDocument/2006/relationships/image" Target="../media/image64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64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64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3.png"/><Relationship Id="rId3" Type="http://schemas.openxmlformats.org/officeDocument/2006/relationships/image" Target="../media/image64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Relationship Id="rId3" Type="http://schemas.openxmlformats.org/officeDocument/2006/relationships/image" Target="../media/image68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68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68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3.png"/><Relationship Id="rId3" Type="http://schemas.openxmlformats.org/officeDocument/2006/relationships/image" Target="../media/image68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3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" name="Google Shape;1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5" name="Google Shape;55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6" name="Google Shape;66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8" name="Google Shape;6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5" name="Google Shape;7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7" name="Google Shape;7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4" name="Google Shape;9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" name="Google Shape;96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8" name="Google Shape;9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" name="Google Shape;115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17" name="Google Shape;11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1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24" name="Google Shape;124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3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6" name="Google Shape;126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" name="Google Shape;153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5" name="Google Shape;15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2" name="Google Shape;16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7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4" name="Google Shape;164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3" name="Google Shape;17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" name="Google Shape;17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" name="Google Shape;192;p20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7" name="Google Shape;19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8" name="Google Shape;208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2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7" name="Google Shape;217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2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9" name="Google Shape;219;p2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1" name="Google Shape;22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3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3" name="Google Shape;243;p2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" name="Google Shape;244;p2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" name="Google Shape;250;p25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2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55" name="Google Shape;255;p2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6" name="Google Shape;256;p2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5" name="Google Shape;265;p26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6" name="Google Shape;266;p26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27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69" name="Google Shape;269;p27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0" name="Google Shape;270;p27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8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85" name="Google Shape;285;p28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7" name="Google Shape;287;p2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29"/>
          <p:cNvCxnSpPr>
            <a:endCxn id="2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9" name="Google Shape;29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9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02" name="Google Shape;302;p29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3" name="Google Shape;303;p29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4" name="Google Shape;304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9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06" name="Google Shape;306;p29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30"/>
          <p:cNvCxnSpPr>
            <a:endCxn id="315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5" name="Google Shape;31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30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19" name="Google Shape;319;p30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0" name="Google Shape;320;p30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30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23" name="Google Shape;323;p30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4" name="Google Shape;324;p30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5" name="Google Shape;325;p30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3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6" name="Google Shape;336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31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41" name="Google Shape;341;p31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2" name="Google Shape;342;p31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3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1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45" name="Google Shape;345;p31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6" name="Google Shape;346;p31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31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8" name="Google Shape;348;p31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2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3" name="Google Shape;353;p3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54" name="Google Shape;3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7" name="Google Shape;357;p3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33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360" name="Google Shape;360;p33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33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3" name="Google Shape;3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66" name="Google Shape;366;p3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1" name="Google Shape;3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74" name="Google Shape;374;p3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1" name="Google Shape;381;p3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6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9" name="Google Shape;389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90" name="Google Shape;390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3" name="Google Shape;39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5" name="Google Shape;395;p3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6" name="Google Shape;396;p36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7" name="Google Shape;397;p36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7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3" name="Google Shape;403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4" name="Google Shape;40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6" name="Google Shape;406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7" name="Google Shape;407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09" name="Google Shape;409;p3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0" name="Google Shape;410;p37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1" name="Google Shape;411;p37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2" name="Google Shape;412;p37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8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18" name="Google Shape;418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19" name="Google Shape;419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1" name="Google Shape;421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22" name="Google Shape;422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4" name="Google Shape;424;p38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8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8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38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9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33" name="Google Shape;433;p3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34" name="Google Shape;434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5" name="Google Shape;435;p3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6" name="Google Shape;436;p3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37" name="Google Shape;437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3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39" name="Google Shape;439;p3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9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9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1" name="Google Shape;451;p4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2" name="Google Shape;45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53" name="Google Shape;45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8" name="Google Shape;458;p40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2" name="Google Shape;46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4" name="Google Shape;46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9" name="Google Shape;469;p41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0" name="Google Shape;470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71" name="Google Shape;471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4" name="Google Shape;474;p41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8" name="Google Shape;47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0" name="Google Shape;48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42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87" name="Google Shape;487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8" name="Google Shape;488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9" name="Google Shape;489;p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0" name="Google Shape;490;p42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4" name="Google Shape;49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6" name="Google Shape;49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3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p43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43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1" name="Google Shape;501;p43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2" name="Google Shape;502;p4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503" name="Google Shape;503;p43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43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4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43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4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11" name="Google Shape;51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4" name="Google Shape;514;p4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5" name="Google Shape;515;p4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6" name="Google Shape;516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7" name="Google Shape;51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20" name="Google Shape;52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3" name="Google Shape;52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25" name="Google Shape;525;p44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6" name="Google Shape;526;p44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0" name="Google Shape;53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5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5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5" name="Google Shape;535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6" name="Google Shape;53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9" name="Google Shape;53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42" name="Google Shape;54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44" name="Google Shape;544;p4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5" name="Google Shape;545;p45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6" name="Google Shape;546;p45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3" name="Google Shape;553;p46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4" name="Google Shape;554;p46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5" name="Google Shape;555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56" name="Google Shape;55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59" name="Google Shape;55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62" name="Google Shape;562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64" name="Google Shape;564;p4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5" name="Google Shape;565;p46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6" name="Google Shape;566;p46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4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7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7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76" name="Google Shape;57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79" name="Google Shape;57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82" name="Google Shape;58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84" name="Google Shape;584;p4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5" name="Google Shape;585;p47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6" name="Google Shape;586;p47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0" name="Google Shape;59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3" name="Google Shape;593;p4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4" name="Google Shape;594;p4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6" name="Google Shape;596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7" name="Google Shape;597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0" name="Google Shape;600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3" name="Google Shape;603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5" name="Google Shape;605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6" name="Google Shape;60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08" name="Google Shape;608;p4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8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0" name="Google Shape;610;p48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4" name="Google Shape;61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7" name="Google Shape;617;p49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49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49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0" name="Google Shape;620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1" name="Google Shape;621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2" name="Google Shape;622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3" name="Google Shape;623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4" name="Google Shape;624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6" name="Google Shape;626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7" name="Google Shape;627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8" name="Google Shape;628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9" name="Google Shape;629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0" name="Google Shape;630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1" name="Google Shape;631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32" name="Google Shape;632;p4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3" name="Google Shape;633;p4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4" name="Google Shape;634;p49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9" name="Google Shape;63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2" name="Google Shape;642;p50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3" name="Google Shape;643;p50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4" name="Google Shape;644;p50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45" name="Google Shape;645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46" name="Google Shape;646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" name="Google Shape;647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8" name="Google Shape;648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49" name="Google Shape;649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0" name="Google Shape;650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1" name="Google Shape;651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52" name="Google Shape;65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3" name="Google Shape;65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4" name="Google Shape;654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55" name="Google Shape;65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6" name="Google Shape;65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57" name="Google Shape;657;p50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50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63" name="Google Shape;66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7" name="Google Shape;667;p51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8" name="Google Shape;668;p51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69" name="Google Shape;669;p5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70" name="Google Shape;67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2" name="Google Shape;672;p5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73" name="Google Shape;673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5" name="Google Shape;675;p5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76" name="Google Shape;676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7" name="Google Shape;677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8" name="Google Shape;678;p5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79" name="Google Shape;679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81" name="Google Shape;681;p51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2" name="Google Shape;682;p51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6" name="Google Shape;68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8" name="Google Shape;688;p5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9" name="Google Shape;689;p5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5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91" name="Google Shape;691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92" name="Google Shape;692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3" name="Google Shape;693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94" name="Google Shape;694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95" name="Google Shape;695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6" name="Google Shape;696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97" name="Google Shape;697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98" name="Google Shape;698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00" name="Google Shape;700;p5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1" name="Google Shape;701;p5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2" name="Google Shape;702;p5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6" name="Google Shape;70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8" name="Google Shape;708;p53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09" name="Google Shape;709;p53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0" name="Google Shape;710;p53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11" name="Google Shape;71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12" name="Google Shape;71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3" name="Google Shape;71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4" name="Google Shape;71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15" name="Google Shape;71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6" name="Google Shape;71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7" name="Google Shape;71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18" name="Google Shape;71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9" name="Google Shape;71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20" name="Google Shape;720;p5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1" name="Google Shape;721;p5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2" name="Google Shape;722;p53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6" name="Google Shape;72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8" name="Google Shape;728;p54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29" name="Google Shape;729;p54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30" name="Google Shape;730;p54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31" name="Google Shape;731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32" name="Google Shape;732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3" name="Google Shape;733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34" name="Google Shape;734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35" name="Google Shape;735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37" name="Google Shape;737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38" name="Google Shape;738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9" name="Google Shape;739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40" name="Google Shape;740;p5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1" name="Google Shape;741;p54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p54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6" name="Google Shape;74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55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49" name="Google Shape;749;p55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50" name="Google Shape;750;p55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51" name="Google Shape;751;p5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52" name="Google Shape;752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3" name="Google Shape;753;p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54" name="Google Shape;754;p5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55" name="Google Shape;755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6" name="Google Shape;756;p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57" name="Google Shape;757;p5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58" name="Google Shape;758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9" name="Google Shape;759;p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60" name="Google Shape;760;p5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1" name="Google Shape;761;p55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2" name="Google Shape;762;p55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6" name="Google Shape;76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5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9" name="Google Shape;769;p5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0" name="Google Shape;770;p5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5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7" name="Google Shape;777;p5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8" name="Google Shape;778;p5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2" name="Google Shape;78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5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5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6" name="Google Shape;786;p5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91" name="Google Shape;79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5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4" name="Google Shape;794;p5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8" name="Google Shape;79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2" name="Google Shape;802;p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3" name="Google Shape;803;p6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8" name="Google Shape;80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1" name="Google Shape;811;p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6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7" name="Google Shape;81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0" name="Google Shape;820;p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1" name="Google Shape;821;p6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6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6" name="Google Shape;82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9" name="Google Shape;829;p6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0" name="Google Shape;830;p6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6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8" name="Google Shape;838;p6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9" name="Google Shape;839;p6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4" name="Google Shape;8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6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7" name="Google Shape;847;p6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8" name="Google Shape;848;p6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3" name="Google Shape;85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66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6" name="Google Shape;856;p6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6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6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6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2" name="Google Shape;86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6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5" name="Google Shape;865;p6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6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8" name="Google Shape;868;p68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869" name="Google Shape;869;p68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0" name="Google Shape;870;p68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1" name="Google Shape;871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68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3" name="Google Shape;873;p6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6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6" name="Google Shape;876;p69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877" name="Google Shape;877;p69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8" name="Google Shape;878;p69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9" name="Google Shape;879;p6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6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6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6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4" name="Google Shape;894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1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2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8" name="Google Shape;898;p7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1" name="Google Shape;901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7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4" name="Google Shape;904;p7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5" name="Google Shape;905;p7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" name="Google Shape;911;p7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5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4" name="Google Shape;914;p75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15" name="Google Shape;91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9" name="Google Shape;919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7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1" name="Google Shape;921;p7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23" name="Google Shape;923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925" name="Google Shape;925;p7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7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7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0" name="Google Shape;930;p7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7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32" name="Google Shape;932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7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Google Shape;935;p7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7" name="Google Shape;937;p7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8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39" name="Google Shape;939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41" name="Google Shape;941;p7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42" name="Google Shape;942;p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78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44" name="Google Shape;944;p7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8" name="Google Shape;948;p7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9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0" name="Google Shape;95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7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952" name="Google Shape;952;p79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5" name="Google Shape;955;p8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80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7" name="Google Shape;957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959" name="Google Shape;959;p8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0" name="Google Shape;960;p8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61" name="Google Shape;961;p8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" name="Google Shape;962;p8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63" name="Google Shape;963;p8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" name="Google Shape;965;p8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8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8" name="Google Shape;968;p8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1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70" name="Google Shape;970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8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973;p8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8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5" name="Google Shape;975;p8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77" name="Google Shape;977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8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79" name="Google Shape;979;p8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80" name="Google Shape;980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" name="Google Shape;981;p82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82" name="Google Shape;982;p8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4" name="Google Shape;984;p8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7" name="Google Shape;987;p8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83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89" name="Google Shape;989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4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5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5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5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5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5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1" name="Google Shape;1001;p85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02" name="Google Shape;1002;p8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03" name="Google Shape;1003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04" name="Google Shape;1004;p8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05" name="Google Shape;1005;p8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06" name="Google Shape;1006;p85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0" name="Google Shape;1010;p8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8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86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3" name="Google Shape;1013;p86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4" name="Google Shape;1014;p86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8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7" name="Google Shape;1017;p8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8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8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20" name="Google Shape;1020;p8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21" name="Google Shape;1021;p87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4" name="Google Shape;1024;p8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8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26" name="Google Shape;1026;p88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27" name="Google Shape;1027;p88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28" name="Google Shape;1028;p88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29" name="Google Shape;1029;p8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2" name="Google Shape;1032;p8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89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34" name="Google Shape;1034;p89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35" name="Google Shape;1035;p89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36" name="Google Shape;1036;p89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37" name="Google Shape;1037;p8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0" name="Google Shape;1040;p9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0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42" name="Google Shape;1042;p90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43" name="Google Shape;1043;p90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44" name="Google Shape;1044;p90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45" name="Google Shape;1045;p90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46" name="Google Shape;1046;p9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9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9" name="Google Shape;1049;p9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91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1" name="Google Shape;1051;p91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2" name="Google Shape;1052;p91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053" name="Google Shape;1053;p91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054" name="Google Shape;1054;p91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5" name="Google Shape;1055;p9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9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8" name="Google Shape;1058;p92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92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92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1" name="Google Shape;1061;p92"/>
          <p:cNvCxnSpPr>
            <a:endCxn id="1062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63" name="Google Shape;1063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9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65" name="Google Shape;1065;p9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62" name="Google Shape;1062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92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9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9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9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9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93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9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9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9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6" name="Google Shape;1076;p93"/>
          <p:cNvCxnSpPr>
            <a:endCxn id="1077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77" name="Google Shape;1077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9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80" name="Google Shape;1080;p93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81" name="Google Shape;1081;p93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82" name="Google Shape;1082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9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4" name="Google Shape;1084;p93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9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9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8" name="Google Shape;1088;p9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9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94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9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9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94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9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6" name="Google Shape;1096;p94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97" name="Google Shape;1097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9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9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4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1" name="Google Shape;1101;p94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2" name="Google Shape;1102;p94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3" name="Google Shape;1103;p94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04" name="Google Shape;1104;p9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9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6" name="Google Shape;1106;p94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9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4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Google Shape;1110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5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13" name="Google Shape;111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4" name="Google Shape;1114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9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7" name="Google Shape;1117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9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0" name="Google Shape;1120;p9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4" name="Google Shape;1124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7" name="Google Shape;1127;p9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9" name="Google Shape;1129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1" name="Google Shape;1131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4" name="Google Shape;1134;p9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6" name="Google Shape;1136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9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9" name="Google Shape;1139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9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2" name="Google Shape;1142;p9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3" name="Google Shape;1143;p9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44" name="Google Shape;1144;p9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45" name="Google Shape;1145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6" name="Google Shape;1146;p9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7" name="Google Shape;1147;p9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48" name="Google Shape;1148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0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2" name="Google Shape;1152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0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5" name="Google Shape;1155;p10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6" name="Google Shape;1156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57" name="Google Shape;1157;p10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58" name="Google Shape;1158;p10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10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10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61" name="Google Shape;1161;p10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10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01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5" name="Google Shape;1165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10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8" name="Google Shape;1168;p10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9" name="Google Shape;1169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70" name="Google Shape;1170;p10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71" name="Google Shape;1171;p1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2" name="Google Shape;1172;p10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3" name="Google Shape;1173;p10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74" name="Google Shape;1174;p1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10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0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8" name="Google Shape;1178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10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1" name="Google Shape;1181;p10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2" name="Google Shape;1182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83" name="Google Shape;1183;p10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84" name="Google Shape;1184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10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6" name="Google Shape;1186;p10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87" name="Google Shape;1187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8" name="Google Shape;1188;p10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0" name="Google Shape;1190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1" name="Google Shape;1191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10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10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10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103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8" name="Google Shape;1198;p10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10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200" name="Google Shape;1200;p10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1" name="Google Shape;1201;p10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10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3" name="Google Shape;1203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06" name="Google Shape;1206;p10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207" name="Google Shape;1207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8" name="Google Shape;120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9" name="Google Shape;1209;p10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210" name="Google Shape;1210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1" name="Google Shape;121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Google Shape;1213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10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10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10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10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9" name="Google Shape;1219;p10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220" name="Google Shape;122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3" name="Google Shape;1223;p10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4" name="Google Shape;1224;p10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5" name="Google Shape;1225;p10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226" name="Google Shape;122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8" name="Google Shape;1228;p10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31" name="Google Shape;1231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10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10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6" name="Google Shape;1236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10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10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10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10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2" name="Google Shape;1242;p10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243" name="Google Shape;124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6" name="Google Shape;1246;p10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7" name="Google Shape;1247;p10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8" name="Google Shape;1248;p10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249" name="Google Shape;124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1" name="Google Shape;1251;p10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54" name="Google Shape;1254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10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10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" name="Google Shape;1259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10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10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10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10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5" name="Google Shape;1265;p10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266" name="Google Shape;1266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9" name="Google Shape;1269;p10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0" name="Google Shape;1270;p10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1" name="Google Shape;1271;p10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272" name="Google Shape;127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3" name="Google Shape;127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4" name="Google Shape;1274;p10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77" name="Google Shape;1277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10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10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5" name="Google Shape;1285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8" name="Google Shape;1288;p10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9" name="Google Shape;1289;p10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90" name="Google Shape;1290;p10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91" name="Google Shape;1291;p10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292" name="Google Shape;1292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3" name="Google Shape;1293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4" name="Google Shape;1294;p10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295" name="Google Shape;1295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6" name="Google Shape;1296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7" name="Google Shape;1297;p10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98" name="Google Shape;1298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9" name="Google Shape;129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1" name="Google Shape;1301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4" name="Google Shape;1304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7" name="Google Shape;1307;p10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8" name="Google Shape;1308;p10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9" name="Google Shape;1309;p10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10" name="Google Shape;1310;p10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11" name="Google Shape;1311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2" name="Google Shape;1312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3" name="Google Shape;1313;p10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14" name="Google Shape;1314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5" name="Google Shape;1315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6" name="Google Shape;1316;p10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17" name="Google Shape;1317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8" name="Google Shape;1318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0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3" name="Google Shape;1323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10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6" name="Google Shape;1326;p10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27" name="Google Shape;1327;p10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28" name="Google Shape;1328;p10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29" name="Google Shape;1329;p10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30" name="Google Shape;1330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1" name="Google Shape;1331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2" name="Google Shape;1332;p10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33" name="Google Shape;1333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4" name="Google Shape;1334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5" name="Google Shape;1335;p10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36" name="Google Shape;1336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7" name="Google Shape;1337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1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2" name="Google Shape;1342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11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5" name="Google Shape;1345;p11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46" name="Google Shape;1346;p11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47" name="Google Shape;1347;p11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48" name="Google Shape;1348;p11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49" name="Google Shape;1349;p1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0" name="Google Shape;1350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1" name="Google Shape;1351;p11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52" name="Google Shape;1352;p1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3" name="Google Shape;1353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4" name="Google Shape;1354;p11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55" name="Google Shape;1355;p1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6" name="Google Shape;1356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8" name="Google Shape;1358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1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61" name="Google Shape;1361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11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4" name="Google Shape;1364;p11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65" name="Google Shape;1365;p11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66" name="Google Shape;1366;p11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67" name="Google Shape;1367;p11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68" name="Google Shape;1368;p11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69" name="Google Shape;1369;p1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0" name="Google Shape;1370;p11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1" name="Google Shape;1371;p11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72" name="Google Shape;1372;p1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1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4" name="Google Shape;1374;p11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75" name="Google Shape;1375;p1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6" name="Google Shape;1376;p11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7" name="Google Shape;1377;p11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378" name="Google Shape;1378;p1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9" name="Google Shape;1379;p11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1" name="Google Shape;138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1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4" name="Google Shape;138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11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7" name="Google Shape;1387;p11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88" name="Google Shape;1388;p11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89" name="Google Shape;1389;p11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90" name="Google Shape;1390;p11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91" name="Google Shape;1391;p11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92" name="Google Shape;1392;p1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3" name="Google Shape;1393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4" name="Google Shape;1394;p11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95" name="Google Shape;1395;p1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6" name="Google Shape;1396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7" name="Google Shape;1397;p11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98" name="Google Shape;1398;p1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9" name="Google Shape;1399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0" name="Google Shape;1400;p11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401" name="Google Shape;1401;p1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2" name="Google Shape;1402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11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07" name="Google Shape;1407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11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0" name="Google Shape;1410;p11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11" name="Google Shape;1411;p11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12" name="Google Shape;1412;p11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13" name="Google Shape;1413;p11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14" name="Google Shape;1414;p11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415" name="Google Shape;1415;p1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6" name="Google Shape;1416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7" name="Google Shape;1417;p11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418" name="Google Shape;1418;p1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9" name="Google Shape;1419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0" name="Google Shape;1420;p11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421" name="Google Shape;1421;p1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2" name="Google Shape;1422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3" name="Google Shape;1423;p11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424" name="Google Shape;1424;p1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5" name="Google Shape;1425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1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30" name="Google Shape;143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11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3" name="Google Shape;1433;p11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34" name="Google Shape;1434;p11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35" name="Google Shape;1435;p11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36" name="Google Shape;1436;p11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37" name="Google Shape;1437;p11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438" name="Google Shape;1438;p1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9" name="Google Shape;1439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0" name="Google Shape;1440;p11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441" name="Google Shape;1441;p1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2" name="Google Shape;1442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3" name="Google Shape;1443;p11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444" name="Google Shape;1444;p1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5" name="Google Shape;1445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6" name="Google Shape;1446;p11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447" name="Google Shape;1447;p1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8" name="Google Shape;1448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1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53" name="Google Shape;1453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6" name="Google Shape;1456;p11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57" name="Google Shape;1457;p11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58" name="Google Shape;1458;p11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59" name="Google Shape;1459;p11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60" name="Google Shape;1460;p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1" name="Google Shape;1461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2" name="Google Shape;1462;p11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63" name="Google Shape;1463;p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4" name="Google Shape;1464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5" name="Google Shape;1465;p11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66" name="Google Shape;1466;p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7" name="Google Shape;1467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9" name="Google Shape;1469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11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72" name="Google Shape;1472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3" name="Google Shape;1473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1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5" name="Google Shape;1475;p11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76" name="Google Shape;1476;p11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77" name="Google Shape;1477;p11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78" name="Google Shape;1478;p11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79" name="Google Shape;1479;p1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0" name="Google Shape;1480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1" name="Google Shape;1481;p11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82" name="Google Shape;1482;p1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3" name="Google Shape;1483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4" name="Google Shape;1484;p11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85" name="Google Shape;1485;p1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6" name="Google Shape;1486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48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11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91" name="Google Shape;1491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11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4" name="Google Shape;1494;p11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95" name="Google Shape;1495;p11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96" name="Google Shape;1496;p11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97" name="Google Shape;1497;p11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98" name="Google Shape;1498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9" name="Google Shape;1499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0" name="Google Shape;1500;p11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501" name="Google Shape;1501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2" name="Google Shape;1502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3" name="Google Shape;1503;p11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504" name="Google Shape;1504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5" name="Google Shape;1505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7" name="Google Shape;1507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11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10" name="Google Shape;1510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1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3" name="Google Shape;1513;p11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14" name="Google Shape;1514;p11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15" name="Google Shape;1515;p11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16" name="Google Shape;1516;p11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517" name="Google Shape;1517;p1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8" name="Google Shape;1518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9" name="Google Shape;1519;p11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520" name="Google Shape;1520;p1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1" name="Google Shape;1521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2" name="Google Shape;1522;p11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523" name="Google Shape;1523;p1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4" name="Google Shape;1524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Google Shape;1526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29" name="Google Shape;1529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0" name="Google Shape;1530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11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3" name="Google Shape;1533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36" name="Google Shape;1536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1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0" name="Google Shape;1540;p1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1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1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43" name="Google Shape;1543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1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7" name="Google Shape;1547;p1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p12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1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50" name="Google Shape;1550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12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1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4" name="Google Shape;1554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55" name="Google Shape;1555;p1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1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57" name="Google Shape;1557;p12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12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59" name="Google Shape;1559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12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Google Shape;1562;p1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1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1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65" name="Google Shape;1565;p12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12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12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68" name="Google Shape;1568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0" name="Google Shape;1570;p1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Google Shape;1571;p1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1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73" name="Google Shape;1573;p12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25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12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76" name="Google Shape;1576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1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1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12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1" name="Google Shape;1581;p12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126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12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84" name="Google Shape;1584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6" name="Google Shape;1586;p1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12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9" name="Google Shape;1589;p127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2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91" name="Google Shape;1591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p12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4" name="Google Shape;1594;p1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1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2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7" name="Google Shape;1597;p12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2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9" name="Google Shape;1599;p1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0" name="Google Shape;1600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2" name="Google Shape;1602;p1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1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12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5" name="Google Shape;1605;p129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12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7" name="Google Shape;1607;p1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8" name="Google Shape;1608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0" name="Google Shape;1610;p1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13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3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3" name="Google Shape;1613;p130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13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5" name="Google Shape;1615;p1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6" name="Google Shape;1616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131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9" name="Google Shape;1619;p13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0" name="Google Shape;1620;p13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1" name="Google Shape;1621;p13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13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132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5" name="Google Shape;1625;p13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13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7" name="Google Shape;1627;p13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32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0" name="Google Shape;1630;p1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631" name="Google Shape;1631;p13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34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3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134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134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134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134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134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134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34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3" name="Google Shape;1643;p1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44" name="Google Shape;1644;p135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136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74" Type="http://schemas.openxmlformats.org/officeDocument/2006/relationships/theme" Target="../theme/theme1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11.xml"/><Relationship Id="rId42" Type="http://schemas.openxmlformats.org/officeDocument/2006/relationships/slideLayout" Target="../slideLayouts/slideLayout113.xml"/><Relationship Id="rId41" Type="http://schemas.openxmlformats.org/officeDocument/2006/relationships/slideLayout" Target="../slideLayouts/slideLayout112.xml"/><Relationship Id="rId44" Type="http://schemas.openxmlformats.org/officeDocument/2006/relationships/slideLayout" Target="../slideLayouts/slideLayout115.xml"/><Relationship Id="rId43" Type="http://schemas.openxmlformats.org/officeDocument/2006/relationships/slideLayout" Target="../slideLayouts/slideLayout114.xml"/><Relationship Id="rId46" Type="http://schemas.openxmlformats.org/officeDocument/2006/relationships/slideLayout" Target="../slideLayouts/slideLayout117.xml"/><Relationship Id="rId45" Type="http://schemas.openxmlformats.org/officeDocument/2006/relationships/slideLayout" Target="../slideLayouts/slideLayout116.xml"/><Relationship Id="rId1" Type="http://schemas.openxmlformats.org/officeDocument/2006/relationships/image" Target="../media/image63.png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48" Type="http://schemas.openxmlformats.org/officeDocument/2006/relationships/slideLayout" Target="../slideLayouts/slideLayout119.xml"/><Relationship Id="rId47" Type="http://schemas.openxmlformats.org/officeDocument/2006/relationships/slideLayout" Target="../slideLayouts/slideLayout118.xml"/><Relationship Id="rId49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31" Type="http://schemas.openxmlformats.org/officeDocument/2006/relationships/slideLayout" Target="../slideLayouts/slideLayout102.xml"/><Relationship Id="rId30" Type="http://schemas.openxmlformats.org/officeDocument/2006/relationships/slideLayout" Target="../slideLayouts/slideLayout101.xml"/><Relationship Id="rId33" Type="http://schemas.openxmlformats.org/officeDocument/2006/relationships/slideLayout" Target="../slideLayouts/slideLayout104.xml"/><Relationship Id="rId32" Type="http://schemas.openxmlformats.org/officeDocument/2006/relationships/slideLayout" Target="../slideLayouts/slideLayout103.xml"/><Relationship Id="rId35" Type="http://schemas.openxmlformats.org/officeDocument/2006/relationships/slideLayout" Target="../slideLayouts/slideLayout106.xml"/><Relationship Id="rId34" Type="http://schemas.openxmlformats.org/officeDocument/2006/relationships/slideLayout" Target="../slideLayouts/slideLayout105.xml"/><Relationship Id="rId37" Type="http://schemas.openxmlformats.org/officeDocument/2006/relationships/slideLayout" Target="../slideLayouts/slideLayout108.xml"/><Relationship Id="rId36" Type="http://schemas.openxmlformats.org/officeDocument/2006/relationships/slideLayout" Target="../slideLayouts/slideLayout107.xml"/><Relationship Id="rId39" Type="http://schemas.openxmlformats.org/officeDocument/2006/relationships/slideLayout" Target="../slideLayouts/slideLayout110.xml"/><Relationship Id="rId38" Type="http://schemas.openxmlformats.org/officeDocument/2006/relationships/slideLayout" Target="../slideLayouts/slideLayout109.xml"/><Relationship Id="rId62" Type="http://schemas.openxmlformats.org/officeDocument/2006/relationships/slideLayout" Target="../slideLayouts/slideLayout133.xml"/><Relationship Id="rId61" Type="http://schemas.openxmlformats.org/officeDocument/2006/relationships/slideLayout" Target="../slideLayouts/slideLayout132.xml"/><Relationship Id="rId20" Type="http://schemas.openxmlformats.org/officeDocument/2006/relationships/slideLayout" Target="../slideLayouts/slideLayout91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34.xml"/><Relationship Id="rId22" Type="http://schemas.openxmlformats.org/officeDocument/2006/relationships/slideLayout" Target="../slideLayouts/slideLayout93.xml"/><Relationship Id="rId21" Type="http://schemas.openxmlformats.org/officeDocument/2006/relationships/slideLayout" Target="../slideLayouts/slideLayout92.xml"/><Relationship Id="rId24" Type="http://schemas.openxmlformats.org/officeDocument/2006/relationships/slideLayout" Target="../slideLayouts/slideLayout95.xml"/><Relationship Id="rId23" Type="http://schemas.openxmlformats.org/officeDocument/2006/relationships/slideLayout" Target="../slideLayouts/slideLayout94.xml"/><Relationship Id="rId60" Type="http://schemas.openxmlformats.org/officeDocument/2006/relationships/slideLayout" Target="../slideLayouts/slideLayout131.xml"/><Relationship Id="rId26" Type="http://schemas.openxmlformats.org/officeDocument/2006/relationships/slideLayout" Target="../slideLayouts/slideLayout97.xml"/><Relationship Id="rId25" Type="http://schemas.openxmlformats.org/officeDocument/2006/relationships/slideLayout" Target="../slideLayouts/slideLayout96.xml"/><Relationship Id="rId28" Type="http://schemas.openxmlformats.org/officeDocument/2006/relationships/slideLayout" Target="../slideLayouts/slideLayout99.xml"/><Relationship Id="rId27" Type="http://schemas.openxmlformats.org/officeDocument/2006/relationships/slideLayout" Target="../slideLayouts/slideLayout98.xml"/><Relationship Id="rId29" Type="http://schemas.openxmlformats.org/officeDocument/2006/relationships/slideLayout" Target="../slideLayouts/slideLayout100.xml"/><Relationship Id="rId51" Type="http://schemas.openxmlformats.org/officeDocument/2006/relationships/slideLayout" Target="../slideLayouts/slideLayout122.xml"/><Relationship Id="rId50" Type="http://schemas.openxmlformats.org/officeDocument/2006/relationships/slideLayout" Target="../slideLayouts/slideLayout121.xml"/><Relationship Id="rId53" Type="http://schemas.openxmlformats.org/officeDocument/2006/relationships/slideLayout" Target="../slideLayouts/slideLayout124.xml"/><Relationship Id="rId52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82.xml"/><Relationship Id="rId5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81.xml"/><Relationship Id="rId54" Type="http://schemas.openxmlformats.org/officeDocument/2006/relationships/slideLayout" Target="../slideLayouts/slideLayout125.xml"/><Relationship Id="rId13" Type="http://schemas.openxmlformats.org/officeDocument/2006/relationships/slideLayout" Target="../slideLayouts/slideLayout84.xml"/><Relationship Id="rId57" Type="http://schemas.openxmlformats.org/officeDocument/2006/relationships/slideLayout" Target="../slideLayouts/slideLayout128.xml"/><Relationship Id="rId12" Type="http://schemas.openxmlformats.org/officeDocument/2006/relationships/slideLayout" Target="../slideLayouts/slideLayout83.xml"/><Relationship Id="rId56" Type="http://schemas.openxmlformats.org/officeDocument/2006/relationships/slideLayout" Target="../slideLayouts/slideLayout127.xml"/><Relationship Id="rId15" Type="http://schemas.openxmlformats.org/officeDocument/2006/relationships/slideLayout" Target="../slideLayouts/slideLayout86.xml"/><Relationship Id="rId59" Type="http://schemas.openxmlformats.org/officeDocument/2006/relationships/slideLayout" Target="../slideLayouts/slideLayout130.xml"/><Relationship Id="rId14" Type="http://schemas.openxmlformats.org/officeDocument/2006/relationships/slideLayout" Target="../slideLayouts/slideLayout85.xml"/><Relationship Id="rId58" Type="http://schemas.openxmlformats.org/officeDocument/2006/relationships/slideLayout" Target="../slideLayouts/slideLayout129.xml"/><Relationship Id="rId17" Type="http://schemas.openxmlformats.org/officeDocument/2006/relationships/slideLayout" Target="../slideLayouts/slideLayout88.xml"/><Relationship Id="rId16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90.xml"/><Relationship Id="rId18" Type="http://schemas.openxmlformats.org/officeDocument/2006/relationships/slideLayout" Target="../slideLayouts/slideLayout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908" name="Google Shape;908;p74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909" name="Google Shape;909;p7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  <p:sldLayoutId id="2147483744" r:id="rId26"/>
    <p:sldLayoutId id="2147483745" r:id="rId27"/>
    <p:sldLayoutId id="2147483746" r:id="rId28"/>
    <p:sldLayoutId id="2147483747" r:id="rId29"/>
    <p:sldLayoutId id="2147483748" r:id="rId30"/>
    <p:sldLayoutId id="2147483749" r:id="rId31"/>
    <p:sldLayoutId id="2147483750" r:id="rId32"/>
    <p:sldLayoutId id="2147483751" r:id="rId33"/>
    <p:sldLayoutId id="2147483752" r:id="rId34"/>
    <p:sldLayoutId id="2147483753" r:id="rId35"/>
    <p:sldLayoutId id="2147483754" r:id="rId36"/>
    <p:sldLayoutId id="2147483755" r:id="rId37"/>
    <p:sldLayoutId id="2147483756" r:id="rId38"/>
    <p:sldLayoutId id="2147483757" r:id="rId39"/>
    <p:sldLayoutId id="2147483758" r:id="rId40"/>
    <p:sldLayoutId id="2147483759" r:id="rId41"/>
    <p:sldLayoutId id="2147483760" r:id="rId42"/>
    <p:sldLayoutId id="2147483761" r:id="rId43"/>
    <p:sldLayoutId id="2147483762" r:id="rId44"/>
    <p:sldLayoutId id="2147483763" r:id="rId45"/>
    <p:sldLayoutId id="2147483764" r:id="rId46"/>
    <p:sldLayoutId id="2147483765" r:id="rId47"/>
    <p:sldLayoutId id="2147483766" r:id="rId48"/>
    <p:sldLayoutId id="2147483767" r:id="rId49"/>
    <p:sldLayoutId id="2147483768" r:id="rId50"/>
    <p:sldLayoutId id="2147483769" r:id="rId51"/>
    <p:sldLayoutId id="2147483770" r:id="rId52"/>
    <p:sldLayoutId id="2147483771" r:id="rId53"/>
    <p:sldLayoutId id="2147483772" r:id="rId54"/>
    <p:sldLayoutId id="2147483773" r:id="rId55"/>
    <p:sldLayoutId id="2147483774" r:id="rId56"/>
    <p:sldLayoutId id="2147483775" r:id="rId57"/>
    <p:sldLayoutId id="2147483776" r:id="rId58"/>
    <p:sldLayoutId id="2147483777" r:id="rId59"/>
    <p:sldLayoutId id="2147483778" r:id="rId60"/>
    <p:sldLayoutId id="2147483779" r:id="rId61"/>
    <p:sldLayoutId id="2147483780" r:id="rId62"/>
    <p:sldLayoutId id="2147483781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4.png"/><Relationship Id="rId4" Type="http://schemas.openxmlformats.org/officeDocument/2006/relationships/image" Target="../media/image117.png"/><Relationship Id="rId5" Type="http://schemas.openxmlformats.org/officeDocument/2006/relationships/image" Target="../media/image1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2.png"/><Relationship Id="rId4" Type="http://schemas.openxmlformats.org/officeDocument/2006/relationships/image" Target="../media/image1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4.png"/><Relationship Id="rId4" Type="http://schemas.openxmlformats.org/officeDocument/2006/relationships/image" Target="../media/image117.png"/><Relationship Id="rId5" Type="http://schemas.openxmlformats.org/officeDocument/2006/relationships/image" Target="../media/image1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4.png"/><Relationship Id="rId4" Type="http://schemas.openxmlformats.org/officeDocument/2006/relationships/image" Target="../media/image117.png"/><Relationship Id="rId5" Type="http://schemas.openxmlformats.org/officeDocument/2006/relationships/image" Target="../media/image1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6.png"/><Relationship Id="rId4" Type="http://schemas.openxmlformats.org/officeDocument/2006/relationships/image" Target="../media/image1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13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statistics</a:t>
            </a:r>
            <a:endParaRPr/>
          </a:p>
        </p:txBody>
      </p:sp>
      <p:sp>
        <p:nvSpPr>
          <p:cNvPr id="1652" name="Google Shape;1652;p13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functionality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138"/>
          <p:cNvSpPr txBox="1"/>
          <p:nvPr/>
        </p:nvSpPr>
        <p:spPr>
          <a:xfrm>
            <a:off x="4824000" y="1184625"/>
            <a:ext cx="39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139"/>
          <p:cNvSpPr txBox="1"/>
          <p:nvPr>
            <p:ph idx="1" type="subTitle"/>
          </p:nvPr>
        </p:nvSpPr>
        <p:spPr>
          <a:xfrm>
            <a:off x="666000" y="1620000"/>
            <a:ext cx="73512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fx-CG50 to perform calculations with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140"/>
          <p:cNvSpPr txBox="1"/>
          <p:nvPr>
            <p:ph idx="1" type="subTitle"/>
          </p:nvPr>
        </p:nvSpPr>
        <p:spPr>
          <a:xfrm>
            <a:off x="324000" y="8100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The frequency is the number of times an event occurs; or the number of individuals (people, animals etc.) with some specific property.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1668" name="Google Shape;1668;p140"/>
          <p:cNvSpPr txBox="1"/>
          <p:nvPr>
            <p:ph idx="1" type="subTitle"/>
          </p:nvPr>
        </p:nvSpPr>
        <p:spPr>
          <a:xfrm>
            <a:off x="324000" y="1880100"/>
            <a:ext cx="84960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The (arithmetic) mean for a set of numerical data is the sum of the values divided by the number of values. It is a measure of central tendency representing the average of the values.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1669" name="Google Shape;1669;p140"/>
          <p:cNvSpPr txBox="1"/>
          <p:nvPr>
            <p:ph idx="1" type="subTitle"/>
          </p:nvPr>
        </p:nvSpPr>
        <p:spPr>
          <a:xfrm>
            <a:off x="324000" y="3304200"/>
            <a:ext cx="84960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The median is the central (middle) piece of data when the data are in numerical order. It is a measure of central tendency representing the average of the values.</a:t>
            </a:r>
            <a:endParaRPr b="0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141"/>
          <p:cNvSpPr txBox="1"/>
          <p:nvPr>
            <p:ph idx="1" type="subTitle"/>
          </p:nvPr>
        </p:nvSpPr>
        <p:spPr>
          <a:xfrm>
            <a:off x="324000" y="8100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The mode is the most frequent value. It is a measure of central tendency representing the average of the values.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1675" name="Google Shape;1675;p141"/>
          <p:cNvSpPr txBox="1"/>
          <p:nvPr>
            <p:ph idx="1" type="subTitle"/>
          </p:nvPr>
        </p:nvSpPr>
        <p:spPr>
          <a:xfrm>
            <a:off x="324000" y="2160000"/>
            <a:ext cx="84960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A statistical summary sums up the features of a data set. It may contain the mean, median and/or mode which measure the central tendency. It may also contain the range which measures the spread.</a:t>
            </a:r>
            <a:endParaRPr b="0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142"/>
          <p:cNvSpPr txBox="1"/>
          <p:nvPr>
            <p:ph type="title"/>
          </p:nvPr>
        </p:nvSpPr>
        <p:spPr>
          <a:xfrm>
            <a:off x="1225225" y="21335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sp>
        <p:nvSpPr>
          <p:cNvPr id="1681" name="Google Shape;1681;p142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statistics</a:t>
            </a:r>
            <a:endParaRPr/>
          </a:p>
        </p:txBody>
      </p:sp>
      <p:sp>
        <p:nvSpPr>
          <p:cNvPr id="1682" name="Google Shape;1682;p142"/>
          <p:cNvSpPr txBox="1"/>
          <p:nvPr>
            <p:ph idx="3" type="title"/>
          </p:nvPr>
        </p:nvSpPr>
        <p:spPr>
          <a:xfrm>
            <a:off x="1225225" y="30698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pic>
        <p:nvPicPr>
          <p:cNvPr id="1683" name="Google Shape;1683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87" y="205631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43"/>
          <p:cNvSpPr txBox="1"/>
          <p:nvPr>
            <p:ph idx="1" type="body"/>
          </p:nvPr>
        </p:nvSpPr>
        <p:spPr>
          <a:xfrm>
            <a:off x="324000" y="810000"/>
            <a:ext cx="8496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(arithmetic) mean for a set of numerical data is the sum of the values divided by the number of values.</a:t>
            </a:r>
            <a:endParaRPr/>
          </a:p>
        </p:txBody>
      </p:sp>
      <p:sp>
        <p:nvSpPr>
          <p:cNvPr id="1689" name="Google Shape;1689;p14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pic>
        <p:nvPicPr>
          <p:cNvPr id="1690" name="Google Shape;1690;p14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502983" y="2303051"/>
            <a:ext cx="2253901" cy="1435388"/>
          </a:xfrm>
          <a:prstGeom prst="rect">
            <a:avLst/>
          </a:prstGeom>
          <a:noFill/>
          <a:ln>
            <a:noFill/>
          </a:ln>
        </p:spPr>
      </p:pic>
      <p:sp>
        <p:nvSpPr>
          <p:cNvPr id="1691" name="Google Shape;1691;p143"/>
          <p:cNvSpPr txBox="1"/>
          <p:nvPr/>
        </p:nvSpPr>
        <p:spPr>
          <a:xfrm>
            <a:off x="5502983" y="2303051"/>
            <a:ext cx="22539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an easier way to calculate the mean.</a:t>
            </a:r>
            <a:endParaRPr/>
          </a:p>
        </p:txBody>
      </p:sp>
      <p:pic>
        <p:nvPicPr>
          <p:cNvPr id="1692" name="Google Shape;1692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749345" y="3188863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3" name="Google Shape;1693;p143"/>
          <p:cNvSpPr txBox="1"/>
          <p:nvPr/>
        </p:nvSpPr>
        <p:spPr>
          <a:xfrm>
            <a:off x="7408958" y="3941374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4" name="Google Shape;1694;p143"/>
          <p:cNvGrpSpPr/>
          <p:nvPr/>
        </p:nvGrpSpPr>
        <p:grpSpPr>
          <a:xfrm>
            <a:off x="323994" y="2031300"/>
            <a:ext cx="4500056" cy="2504098"/>
            <a:chOff x="475269" y="2232600"/>
            <a:chExt cx="4500056" cy="2504098"/>
          </a:xfrm>
        </p:grpSpPr>
        <p:pic>
          <p:nvPicPr>
            <p:cNvPr id="1695" name="Google Shape;1695;p143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1690901" y="2232600"/>
              <a:ext cx="3189074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6" name="Google Shape;1696;p143"/>
            <p:cNvSpPr txBox="1"/>
            <p:nvPr/>
          </p:nvSpPr>
          <p:spPr>
            <a:xfrm>
              <a:off x="1841825" y="2278000"/>
              <a:ext cx="31335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Does this mean I need to use the calculate mode to add all the numbers before dividing?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697" name="Google Shape;1697;p1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697675" y="3227812"/>
              <a:ext cx="1114250" cy="107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8" name="Google Shape;1698;p143"/>
            <p:cNvSpPr txBox="1"/>
            <p:nvPr/>
          </p:nvSpPr>
          <p:spPr>
            <a:xfrm>
              <a:off x="475269" y="4150798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3" name="Google Shape;1703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5534" y="543172"/>
            <a:ext cx="2734800" cy="4399338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4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sp>
        <p:nvSpPr>
          <p:cNvPr id="1705" name="Google Shape;1705;p144"/>
          <p:cNvSpPr txBox="1"/>
          <p:nvPr>
            <p:ph idx="1" type="body"/>
          </p:nvPr>
        </p:nvSpPr>
        <p:spPr>
          <a:xfrm>
            <a:off x="324000" y="810000"/>
            <a:ext cx="6154500" cy="21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fx-CG50 allows you to produce a statistical summary quickly.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From the main menu, navigate to the ‘Statistics’ option and press ‘EXE’.</a:t>
            </a:r>
            <a:endParaRPr/>
          </a:p>
        </p:txBody>
      </p:sp>
      <p:cxnSp>
        <p:nvCxnSpPr>
          <p:cNvPr id="1706" name="Google Shape;1706;p144"/>
          <p:cNvCxnSpPr/>
          <p:nvPr/>
        </p:nvCxnSpPr>
        <p:spPr>
          <a:xfrm flipH="1" rot="10800000">
            <a:off x="5430100" y="1516125"/>
            <a:ext cx="1666500" cy="1070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145"/>
          <p:cNvSpPr txBox="1"/>
          <p:nvPr>
            <p:ph idx="1" type="body"/>
          </p:nvPr>
        </p:nvSpPr>
        <p:spPr>
          <a:xfrm>
            <a:off x="3369600" y="810000"/>
            <a:ext cx="54504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 table showing the number of diners at various tables in a restaurant.</a:t>
            </a:r>
            <a:endParaRPr/>
          </a:p>
        </p:txBody>
      </p:sp>
      <p:sp>
        <p:nvSpPr>
          <p:cNvPr id="1712" name="Google Shape;1712;p14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graphicFrame>
        <p:nvGraphicFramePr>
          <p:cNvPr id="1713" name="Google Shape;1713;p145"/>
          <p:cNvGraphicFramePr/>
          <p:nvPr/>
        </p:nvGraphicFramePr>
        <p:xfrm>
          <a:off x="324000" y="8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429475"/>
                <a:gridCol w="14060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1714" name="Google Shape;1714;p145"/>
          <p:cNvGrpSpPr/>
          <p:nvPr/>
        </p:nvGrpSpPr>
        <p:grpSpPr>
          <a:xfrm>
            <a:off x="2306100" y="2287400"/>
            <a:ext cx="6513800" cy="1195366"/>
            <a:chOff x="2306100" y="2287400"/>
            <a:chExt cx="6513800" cy="1195366"/>
          </a:xfrm>
        </p:grpSpPr>
        <p:sp>
          <p:nvSpPr>
            <p:cNvPr id="1715" name="Google Shape;1715;p145"/>
            <p:cNvSpPr txBox="1"/>
            <p:nvPr/>
          </p:nvSpPr>
          <p:spPr>
            <a:xfrm>
              <a:off x="3369500" y="2287400"/>
              <a:ext cx="54504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This represents 3 tables, each with 4 diners.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6" name="Google Shape;1716;p145"/>
            <p:cNvSpPr/>
            <p:nvPr/>
          </p:nvSpPr>
          <p:spPr>
            <a:xfrm>
              <a:off x="2306100" y="3179166"/>
              <a:ext cx="303600" cy="3036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17" name="Google Shape;1717;p145"/>
            <p:cNvCxnSpPr>
              <a:stCxn id="1715" idx="1"/>
              <a:endCxn id="1716" idx="3"/>
            </p:cNvCxnSpPr>
            <p:nvPr/>
          </p:nvCxnSpPr>
          <p:spPr>
            <a:xfrm flipH="1">
              <a:off x="2609600" y="2626100"/>
              <a:ext cx="759900" cy="705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18" name="Google Shape;1718;p145"/>
          <p:cNvGrpSpPr/>
          <p:nvPr/>
        </p:nvGrpSpPr>
        <p:grpSpPr>
          <a:xfrm>
            <a:off x="2306100" y="3446184"/>
            <a:ext cx="6513900" cy="677400"/>
            <a:chOff x="2306100" y="3446184"/>
            <a:chExt cx="6513900" cy="677400"/>
          </a:xfrm>
        </p:grpSpPr>
        <p:sp>
          <p:nvSpPr>
            <p:cNvPr id="1719" name="Google Shape;1719;p145"/>
            <p:cNvSpPr/>
            <p:nvPr/>
          </p:nvSpPr>
          <p:spPr>
            <a:xfrm>
              <a:off x="2306100" y="3636316"/>
              <a:ext cx="303600" cy="3036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0" name="Google Shape;1720;p145"/>
            <p:cNvCxnSpPr>
              <a:stCxn id="1721" idx="1"/>
              <a:endCxn id="1719" idx="3"/>
            </p:cNvCxnSpPr>
            <p:nvPr/>
          </p:nvCxnSpPr>
          <p:spPr>
            <a:xfrm flipH="1">
              <a:off x="2609700" y="3784884"/>
              <a:ext cx="759900" cy="3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1" name="Google Shape;1721;p145"/>
            <p:cNvSpPr txBox="1"/>
            <p:nvPr/>
          </p:nvSpPr>
          <p:spPr>
            <a:xfrm>
              <a:off x="3369600" y="3446184"/>
              <a:ext cx="54504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This represents 2 tables, each with 5 diners.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146"/>
          <p:cNvSpPr txBox="1"/>
          <p:nvPr>
            <p:ph idx="1" type="body"/>
          </p:nvPr>
        </p:nvSpPr>
        <p:spPr>
          <a:xfrm>
            <a:off x="3369600" y="810000"/>
            <a:ext cx="54504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Enter the data in the same order into the table on the screen.</a:t>
            </a:r>
            <a:endParaRPr/>
          </a:p>
        </p:txBody>
      </p:sp>
      <p:sp>
        <p:nvSpPr>
          <p:cNvPr id="1727" name="Google Shape;1727;p14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graphicFrame>
        <p:nvGraphicFramePr>
          <p:cNvPr id="1728" name="Google Shape;1728;p146"/>
          <p:cNvGraphicFramePr/>
          <p:nvPr/>
        </p:nvGraphicFramePr>
        <p:xfrm>
          <a:off x="324000" y="8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429475"/>
                <a:gridCol w="14060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729" name="Google Shape;1729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1722400"/>
            <a:ext cx="388620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147"/>
          <p:cNvSpPr txBox="1"/>
          <p:nvPr>
            <p:ph idx="1" type="body"/>
          </p:nvPr>
        </p:nvSpPr>
        <p:spPr>
          <a:xfrm>
            <a:off x="3369600" y="810000"/>
            <a:ext cx="54504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Press ‘CALC’ (F2). You now need to define what each list represents. Press ‘SET’ (F6).</a:t>
            </a:r>
            <a:endParaRPr/>
          </a:p>
        </p:txBody>
      </p:sp>
      <p:sp>
        <p:nvSpPr>
          <p:cNvPr id="1735" name="Google Shape;1735;p14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graphicFrame>
        <p:nvGraphicFramePr>
          <p:cNvPr id="1736" name="Google Shape;1736;p147"/>
          <p:cNvGraphicFramePr/>
          <p:nvPr/>
        </p:nvGraphicFramePr>
        <p:xfrm>
          <a:off x="324000" y="8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429475"/>
                <a:gridCol w="14060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737" name="Google Shape;1737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1927500"/>
            <a:ext cx="3213993" cy="18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148"/>
          <p:cNvSpPr txBox="1"/>
          <p:nvPr>
            <p:ph idx="1" type="body"/>
          </p:nvPr>
        </p:nvSpPr>
        <p:spPr>
          <a:xfrm>
            <a:off x="3369600" y="810000"/>
            <a:ext cx="54504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1Var XList: should say List 1.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1Var Freq: should say List 2. (This is what each list represents in our table.)</a:t>
            </a:r>
            <a:endParaRPr/>
          </a:p>
        </p:txBody>
      </p:sp>
      <p:sp>
        <p:nvSpPr>
          <p:cNvPr id="1743" name="Google Shape;1743;p14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graphicFrame>
        <p:nvGraphicFramePr>
          <p:cNvPr id="1744" name="Google Shape;1744;p148"/>
          <p:cNvGraphicFramePr/>
          <p:nvPr/>
        </p:nvGraphicFramePr>
        <p:xfrm>
          <a:off x="324000" y="8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429475"/>
                <a:gridCol w="14060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745" name="Google Shape;1745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2156100"/>
            <a:ext cx="3213993" cy="18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148"/>
          <p:cNvSpPr txBox="1"/>
          <p:nvPr/>
        </p:nvSpPr>
        <p:spPr>
          <a:xfrm>
            <a:off x="324000" y="4108700"/>
            <a:ext cx="819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You can use ‘LIST’ (F1) to change this if needed.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49"/>
          <p:cNvSpPr txBox="1"/>
          <p:nvPr>
            <p:ph idx="1" type="body"/>
          </p:nvPr>
        </p:nvSpPr>
        <p:spPr>
          <a:xfrm>
            <a:off x="3369600" y="810000"/>
            <a:ext cx="54504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Press ‘EXIT’ and then </a:t>
            </a:r>
            <a:r>
              <a:rPr lang="en-GB"/>
              <a:t>select</a:t>
            </a:r>
            <a:r>
              <a:rPr lang="en-GB"/>
              <a:t> ‘1-VAR’ (F1), to produce the statistical summary. You can scroll down to see more.</a:t>
            </a:r>
            <a:endParaRPr/>
          </a:p>
        </p:txBody>
      </p:sp>
      <p:sp>
        <p:nvSpPr>
          <p:cNvPr id="1752" name="Google Shape;1752;p14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graphicFrame>
        <p:nvGraphicFramePr>
          <p:cNvPr id="1753" name="Google Shape;1753;p149"/>
          <p:cNvGraphicFramePr/>
          <p:nvPr/>
        </p:nvGraphicFramePr>
        <p:xfrm>
          <a:off x="324000" y="8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429475"/>
                <a:gridCol w="14060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754" name="Google Shape;1754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2079900"/>
            <a:ext cx="3241780" cy="18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5" name="Google Shape;1755;p149"/>
          <p:cNvSpPr txBox="1"/>
          <p:nvPr/>
        </p:nvSpPr>
        <p:spPr>
          <a:xfrm>
            <a:off x="3369600" y="4008150"/>
            <a:ext cx="54504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mean is written as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x horizontal bar&#10;&#10;&lt;math xmlns=&quot;http://www.w3.org/1998/Math/MathML&quot; display=&quot;block&quot; data-is-equatio=&quot;1&quot; data-latex=&quot;\overline{x}&quot;&gt;&lt;mover&gt;&lt;mi&gt;x&lt;/mi&gt;&lt;mo accent=&quot;true&quot;&gt;―&lt;/mo&gt;&lt;/mover&gt;&lt;/math&gt;" id="1756" name="Google Shape;1756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4050" y="4040612"/>
            <a:ext cx="180975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150"/>
          <p:cNvSpPr txBox="1"/>
          <p:nvPr>
            <p:ph idx="1" type="body"/>
          </p:nvPr>
        </p:nvSpPr>
        <p:spPr>
          <a:xfrm>
            <a:off x="324000" y="810000"/>
            <a:ext cx="82377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frequency table shows the number of goals scored in each match by all the teams in a club over one football season.</a:t>
            </a:r>
            <a:endParaRPr/>
          </a:p>
        </p:txBody>
      </p:sp>
      <p:graphicFrame>
        <p:nvGraphicFramePr>
          <p:cNvPr id="1762" name="Google Shape;1762;p150"/>
          <p:cNvGraphicFramePr/>
          <p:nvPr/>
        </p:nvGraphicFramePr>
        <p:xfrm>
          <a:off x="324008" y="192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738125"/>
                <a:gridCol w="14756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 scored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63" name="Google Shape;1763;p150"/>
          <p:cNvSpPr txBox="1"/>
          <p:nvPr/>
        </p:nvSpPr>
        <p:spPr>
          <a:xfrm>
            <a:off x="3735900" y="1927500"/>
            <a:ext cx="5084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was the mean number of goals scored?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50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sp>
        <p:nvSpPr>
          <p:cNvPr id="1765" name="Google Shape;1765;p150"/>
          <p:cNvSpPr txBox="1"/>
          <p:nvPr/>
        </p:nvSpPr>
        <p:spPr>
          <a:xfrm>
            <a:off x="6913650" y="2775375"/>
            <a:ext cx="190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1.65 goals (which rounds to 2)</a:t>
            </a:r>
            <a:endParaRPr/>
          </a:p>
        </p:txBody>
      </p:sp>
      <p:pic>
        <p:nvPicPr>
          <p:cNvPr id="1766" name="Google Shape;1766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908" y="2700000"/>
            <a:ext cx="2979565" cy="172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1" name="Google Shape;1771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897" y="2699997"/>
            <a:ext cx="2979575" cy="171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2" name="Google Shape;1772;p151"/>
          <p:cNvSpPr txBox="1"/>
          <p:nvPr>
            <p:ph idx="1" type="body"/>
          </p:nvPr>
        </p:nvSpPr>
        <p:spPr>
          <a:xfrm>
            <a:off x="324000" y="810000"/>
            <a:ext cx="82377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frequency table shows the number of goals scored in each match by all the teams in a club over one football season.</a:t>
            </a:r>
            <a:endParaRPr/>
          </a:p>
        </p:txBody>
      </p:sp>
      <p:graphicFrame>
        <p:nvGraphicFramePr>
          <p:cNvPr id="1773" name="Google Shape;1773;p151"/>
          <p:cNvGraphicFramePr/>
          <p:nvPr/>
        </p:nvGraphicFramePr>
        <p:xfrm>
          <a:off x="324008" y="192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738125"/>
                <a:gridCol w="14756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 scored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74" name="Google Shape;1774;p151"/>
          <p:cNvSpPr txBox="1"/>
          <p:nvPr/>
        </p:nvSpPr>
        <p:spPr>
          <a:xfrm>
            <a:off x="3735900" y="1927500"/>
            <a:ext cx="5084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was the median number of goals scored?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151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sp>
        <p:nvSpPr>
          <p:cNvPr id="1776" name="Google Shape;1776;p151"/>
          <p:cNvSpPr txBox="1"/>
          <p:nvPr/>
        </p:nvSpPr>
        <p:spPr>
          <a:xfrm>
            <a:off x="6913650" y="2775375"/>
            <a:ext cx="190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goal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152"/>
          <p:cNvSpPr txBox="1"/>
          <p:nvPr>
            <p:ph idx="1" type="body"/>
          </p:nvPr>
        </p:nvSpPr>
        <p:spPr>
          <a:xfrm>
            <a:off x="324000" y="810000"/>
            <a:ext cx="8496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(arithmetic) mean for a set of numerical data is the sum of the values divided by the number of values.</a:t>
            </a:r>
            <a:endParaRPr/>
          </a:p>
        </p:txBody>
      </p:sp>
      <p:sp>
        <p:nvSpPr>
          <p:cNvPr id="1782" name="Google Shape;1782;p15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pic>
        <p:nvPicPr>
          <p:cNvPr id="1783" name="Google Shape;1783;p15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135950" y="2451075"/>
            <a:ext cx="2620923" cy="128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4" name="Google Shape;1784;p152"/>
          <p:cNvSpPr txBox="1"/>
          <p:nvPr/>
        </p:nvSpPr>
        <p:spPr>
          <a:xfrm>
            <a:off x="5181200" y="2451075"/>
            <a:ext cx="25683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Your calculator can still find an estimate for the mean.</a:t>
            </a:r>
            <a:endParaRPr/>
          </a:p>
        </p:txBody>
      </p:sp>
      <p:pic>
        <p:nvPicPr>
          <p:cNvPr id="1785" name="Google Shape;1785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749345" y="3188863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6" name="Google Shape;1786;p152"/>
          <p:cNvSpPr txBox="1"/>
          <p:nvPr/>
        </p:nvSpPr>
        <p:spPr>
          <a:xfrm>
            <a:off x="7408958" y="3941374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7" name="Google Shape;1787;p152"/>
          <p:cNvGrpSpPr/>
          <p:nvPr/>
        </p:nvGrpSpPr>
        <p:grpSpPr>
          <a:xfrm>
            <a:off x="323994" y="2451075"/>
            <a:ext cx="3477056" cy="2084323"/>
            <a:chOff x="475269" y="2652375"/>
            <a:chExt cx="3477056" cy="2084323"/>
          </a:xfrm>
        </p:grpSpPr>
        <p:pic>
          <p:nvPicPr>
            <p:cNvPr id="1788" name="Google Shape;1788;p152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1690902" y="2652375"/>
              <a:ext cx="2201098" cy="1275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9" name="Google Shape;1789;p152"/>
            <p:cNvSpPr txBox="1"/>
            <p:nvPr/>
          </p:nvSpPr>
          <p:spPr>
            <a:xfrm>
              <a:off x="1841825" y="2707900"/>
              <a:ext cx="21105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But what if I have a grouped frequency table?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90" name="Google Shape;1790;p15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697675" y="3227812"/>
              <a:ext cx="1114250" cy="107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1" name="Google Shape;1791;p152"/>
            <p:cNvSpPr txBox="1"/>
            <p:nvPr/>
          </p:nvSpPr>
          <p:spPr>
            <a:xfrm>
              <a:off x="475269" y="4150798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153"/>
          <p:cNvSpPr txBox="1"/>
          <p:nvPr>
            <p:ph idx="1" type="body"/>
          </p:nvPr>
        </p:nvSpPr>
        <p:spPr>
          <a:xfrm>
            <a:off x="324000" y="810000"/>
            <a:ext cx="8496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57 people were surveyed and asked how much money they spent on food during their visit to Oakfield supermarket.</a:t>
            </a:r>
            <a:endParaRPr/>
          </a:p>
        </p:txBody>
      </p:sp>
      <p:sp>
        <p:nvSpPr>
          <p:cNvPr id="1797" name="Google Shape;1797;p15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graphicFrame>
        <p:nvGraphicFramePr>
          <p:cNvPr id="1798" name="Google Shape;1798;p153"/>
          <p:cNvGraphicFramePr/>
          <p:nvPr/>
        </p:nvGraphicFramePr>
        <p:xfrm>
          <a:off x="324000" y="173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{77D50A51-0BAF-46F3-9E2E-6CD1D8F2456E}</a:tableStyleId>
              </a:tblPr>
              <a:tblGrid>
                <a:gridCol w="1805550"/>
                <a:gridCol w="11361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 spent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(in £)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r>
                        <a:rPr i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 &lt; £ ≤ £20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 &lt; £ ≤ £50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£50 &lt; £ ≤ £100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£100 &lt; £ ≤ £200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£200 &lt; £ ≤ £300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9" name="Google Shape;1799;p153"/>
          <p:cNvSpPr txBox="1"/>
          <p:nvPr/>
        </p:nvSpPr>
        <p:spPr>
          <a:xfrm>
            <a:off x="3369600" y="1731975"/>
            <a:ext cx="54504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calculate an estimate for the mean, we need to use the midpoint for each class.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54"/>
          <p:cNvSpPr txBox="1"/>
          <p:nvPr>
            <p:ph idx="1" type="body"/>
          </p:nvPr>
        </p:nvSpPr>
        <p:spPr>
          <a:xfrm>
            <a:off x="324000" y="810000"/>
            <a:ext cx="8496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57 people were surveyed and asked how much money they spent on food during their visit to Oakfield supermarket.</a:t>
            </a:r>
            <a:endParaRPr/>
          </a:p>
        </p:txBody>
      </p:sp>
      <p:sp>
        <p:nvSpPr>
          <p:cNvPr id="1805" name="Google Shape;1805;p15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graphicFrame>
        <p:nvGraphicFramePr>
          <p:cNvPr id="1806" name="Google Shape;1806;p154"/>
          <p:cNvGraphicFramePr/>
          <p:nvPr/>
        </p:nvGraphicFramePr>
        <p:xfrm>
          <a:off x="324000" y="173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{77D50A51-0BAF-46F3-9E2E-6CD1D8F2456E}</a:tableStyleId>
              </a:tblPr>
              <a:tblGrid>
                <a:gridCol w="1805550"/>
                <a:gridCol w="11361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 spent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(in £)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r>
                        <a:rPr i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 &lt; £ ≤ £20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 &lt; £ ≤ £50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£50 &lt; £ ≤ £100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£100 &lt; £ ≤ £200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£200 &lt; £ ≤ £300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7" name="Google Shape;1807;p154"/>
          <p:cNvSpPr txBox="1"/>
          <p:nvPr/>
        </p:nvSpPr>
        <p:spPr>
          <a:xfrm>
            <a:off x="3369600" y="1731975"/>
            <a:ext cx="54504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calculator can do this for you: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154"/>
          <p:cNvSpPr txBox="1"/>
          <p:nvPr/>
        </p:nvSpPr>
        <p:spPr>
          <a:xfrm>
            <a:off x="324000" y="4018700"/>
            <a:ext cx="8496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Enter the calculation and press ‘EXE’.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9" name="Google Shape;1809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2164748"/>
            <a:ext cx="3187217" cy="185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0" name="Google Shape;1810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0" y="2164748"/>
            <a:ext cx="3187225" cy="1844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155"/>
          <p:cNvSpPr txBox="1"/>
          <p:nvPr>
            <p:ph idx="1" type="body"/>
          </p:nvPr>
        </p:nvSpPr>
        <p:spPr>
          <a:xfrm>
            <a:off x="324000" y="810000"/>
            <a:ext cx="8496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57 people were surveyed and asked how much money they spent on food during their visit to Oakfield supermarket.</a:t>
            </a:r>
            <a:endParaRPr/>
          </a:p>
        </p:txBody>
      </p:sp>
      <p:sp>
        <p:nvSpPr>
          <p:cNvPr id="1816" name="Google Shape;1816;p15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graphicFrame>
        <p:nvGraphicFramePr>
          <p:cNvPr id="1817" name="Google Shape;1817;p155"/>
          <p:cNvGraphicFramePr/>
          <p:nvPr/>
        </p:nvGraphicFramePr>
        <p:xfrm>
          <a:off x="324000" y="173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{77D50A51-0BAF-46F3-9E2E-6CD1D8F2456E}</a:tableStyleId>
              </a:tblPr>
              <a:tblGrid>
                <a:gridCol w="1805550"/>
                <a:gridCol w="11361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 spent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(in £)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r>
                        <a:rPr i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 &lt; £ ≤ £20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 &lt; £ ≤ £50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£50 &lt; £ ≤ £100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£100 &lt; £ ≤ £200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£200 &lt; £ ≤ £300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8" name="Google Shape;1818;p155"/>
          <p:cNvSpPr txBox="1"/>
          <p:nvPr/>
        </p:nvSpPr>
        <p:spPr>
          <a:xfrm>
            <a:off x="3369600" y="1731975"/>
            <a:ext cx="54504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calculator can do this for you: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55"/>
          <p:cNvSpPr txBox="1"/>
          <p:nvPr/>
        </p:nvSpPr>
        <p:spPr>
          <a:xfrm>
            <a:off x="324000" y="4018700"/>
            <a:ext cx="8496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midpoint is displayed in the first column.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0" name="Google Shape;1820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2164748"/>
            <a:ext cx="3187225" cy="1844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156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57 people were surveyed and asked how much money they spent on food during their visit to Oakfield supermarket.</a:t>
            </a:r>
            <a:endParaRPr/>
          </a:p>
        </p:txBody>
      </p:sp>
      <p:sp>
        <p:nvSpPr>
          <p:cNvPr id="1826" name="Google Shape;1826;p156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graphicFrame>
        <p:nvGraphicFramePr>
          <p:cNvPr id="1827" name="Google Shape;1827;p156"/>
          <p:cNvGraphicFramePr/>
          <p:nvPr/>
        </p:nvGraphicFramePr>
        <p:xfrm>
          <a:off x="324000" y="173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{77D50A51-0BAF-46F3-9E2E-6CD1D8F2456E}</a:tableStyleId>
              </a:tblPr>
              <a:tblGrid>
                <a:gridCol w="1805550"/>
                <a:gridCol w="11361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 spent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(in £)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r>
                        <a:rPr i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 &lt; £ ≤ £20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 &lt; £ ≤ £50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£50 &lt; £ ≤ £100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£100 &lt; £ ≤ £200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£200 &lt; £ ≤ £300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8" name="Google Shape;1828;p156"/>
          <p:cNvSpPr txBox="1"/>
          <p:nvPr/>
        </p:nvSpPr>
        <p:spPr>
          <a:xfrm>
            <a:off x="3369600" y="1731975"/>
            <a:ext cx="54504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Calculate an estimate for the mean amount spent per visitor.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156"/>
          <p:cNvSpPr txBox="1"/>
          <p:nvPr/>
        </p:nvSpPr>
        <p:spPr>
          <a:xfrm>
            <a:off x="6490600" y="2566650"/>
            <a:ext cx="2329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£68.25 is the estimated mean amount spent per visitor.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30" name="Google Shape;1830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2463625"/>
            <a:ext cx="3017078" cy="175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157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57 people were surveyed and asked how much money they spent on food during their visit to Oakfield supermarket.</a:t>
            </a:r>
            <a:endParaRPr/>
          </a:p>
        </p:txBody>
      </p:sp>
      <p:sp>
        <p:nvSpPr>
          <p:cNvPr id="1836" name="Google Shape;1836;p157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graphicFrame>
        <p:nvGraphicFramePr>
          <p:cNvPr id="1837" name="Google Shape;1837;p157"/>
          <p:cNvGraphicFramePr/>
          <p:nvPr/>
        </p:nvGraphicFramePr>
        <p:xfrm>
          <a:off x="324000" y="173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{77D50A51-0BAF-46F3-9E2E-6CD1D8F2456E}</a:tableStyleId>
              </a:tblPr>
              <a:tblGrid>
                <a:gridCol w="1805550"/>
                <a:gridCol w="11361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 spent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(in £)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r>
                        <a:rPr i="1"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 &lt; £ ≤ £20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 &lt; £ ≤ £50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£50 &lt; £ ≤ £100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£100 &lt; £ ≤ £200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£200 &lt; £ ≤ £300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8" name="Google Shape;1838;p157"/>
          <p:cNvSpPr txBox="1"/>
          <p:nvPr/>
        </p:nvSpPr>
        <p:spPr>
          <a:xfrm>
            <a:off x="3369600" y="1731975"/>
            <a:ext cx="54504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Calculate an estimate for the median amount spent per visitor.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157"/>
          <p:cNvSpPr txBox="1"/>
          <p:nvPr/>
        </p:nvSpPr>
        <p:spPr>
          <a:xfrm>
            <a:off x="6516500" y="2566650"/>
            <a:ext cx="23034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£35 is the estimated median amount spent per visitor.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40" name="Google Shape;1840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2471183"/>
            <a:ext cx="3042976" cy="175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5" name="Google Shape;1845;p158"/>
          <p:cNvGraphicFramePr/>
          <p:nvPr/>
        </p:nvGraphicFramePr>
        <p:xfrm>
          <a:off x="324000" y="169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738125"/>
                <a:gridCol w="14756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46" name="Google Shape;1846;p15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sp>
        <p:nvSpPr>
          <p:cNvPr id="1847" name="Google Shape;1847;p158"/>
          <p:cNvSpPr txBox="1"/>
          <p:nvPr>
            <p:ph idx="1" type="body"/>
          </p:nvPr>
        </p:nvSpPr>
        <p:spPr>
          <a:xfrm>
            <a:off x="324000" y="810000"/>
            <a:ext cx="82377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This frequency table shows the star rating received by a restaurant over its opening weekend.</a:t>
            </a:r>
            <a:endParaRPr sz="2000"/>
          </a:p>
        </p:txBody>
      </p:sp>
      <p:sp>
        <p:nvSpPr>
          <p:cNvPr id="1848" name="Google Shape;1848;p158"/>
          <p:cNvSpPr txBox="1"/>
          <p:nvPr/>
        </p:nvSpPr>
        <p:spPr>
          <a:xfrm>
            <a:off x="3735900" y="1698900"/>
            <a:ext cx="50841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was the mean star rating?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was the median star rating?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5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sp>
        <p:nvSpPr>
          <p:cNvPr id="1854" name="Google Shape;1854;p159"/>
          <p:cNvSpPr txBox="1"/>
          <p:nvPr>
            <p:ph idx="1" type="body"/>
          </p:nvPr>
        </p:nvSpPr>
        <p:spPr>
          <a:xfrm>
            <a:off x="324000" y="810000"/>
            <a:ext cx="82377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The frequency table shows the number of bedrooms in different houses within an area of a town.</a:t>
            </a:r>
            <a:endParaRPr sz="2000"/>
          </a:p>
        </p:txBody>
      </p:sp>
      <p:sp>
        <p:nvSpPr>
          <p:cNvPr id="1855" name="Google Shape;1855;p159"/>
          <p:cNvSpPr txBox="1"/>
          <p:nvPr/>
        </p:nvSpPr>
        <p:spPr>
          <a:xfrm>
            <a:off x="3369600" y="1698900"/>
            <a:ext cx="54504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mean number of bedrooms?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What is the median number of bedrooms?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56" name="Google Shape;1856;p159"/>
          <p:cNvGraphicFramePr/>
          <p:nvPr/>
        </p:nvGraphicFramePr>
        <p:xfrm>
          <a:off x="324000" y="169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395175"/>
                <a:gridCol w="143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6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sp>
        <p:nvSpPr>
          <p:cNvPr id="1862" name="Google Shape;1862;p160"/>
          <p:cNvSpPr txBox="1"/>
          <p:nvPr>
            <p:ph idx="1" type="body"/>
          </p:nvPr>
        </p:nvSpPr>
        <p:spPr>
          <a:xfrm>
            <a:off x="324000" y="810000"/>
            <a:ext cx="82377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The time it takes for a sample of pupils to travel to school is collected in this grouped frequency table.</a:t>
            </a:r>
            <a:endParaRPr sz="2000"/>
          </a:p>
        </p:txBody>
      </p:sp>
      <p:sp>
        <p:nvSpPr>
          <p:cNvPr id="1863" name="Google Shape;1863;p160"/>
          <p:cNvSpPr txBox="1"/>
          <p:nvPr/>
        </p:nvSpPr>
        <p:spPr>
          <a:xfrm>
            <a:off x="3861400" y="1698900"/>
            <a:ext cx="4958700" cy="24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estimated mean travel time (to the nearest minute)?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estimated median travel time (to the nearest minute)?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4" name="Google Shape;1864;p160"/>
          <p:cNvGraphicFramePr/>
          <p:nvPr/>
        </p:nvGraphicFramePr>
        <p:xfrm>
          <a:off x="323988" y="16956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{77D50A51-0BAF-46F3-9E2E-6CD1D8F2456E}</a:tableStyleId>
              </a:tblPr>
              <a:tblGrid>
                <a:gridCol w="2165125"/>
                <a:gridCol w="1146525"/>
              </a:tblGrid>
              <a:tr h="5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taken to travel to school (in minutes)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r>
                        <a:rPr i="1" lang="en-GB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2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 &lt; 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&lt; 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&lt; 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 &lt; 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 &lt; 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&lt; 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9" name="Google Shape;1869;p161"/>
          <p:cNvGraphicFramePr/>
          <p:nvPr/>
        </p:nvGraphicFramePr>
        <p:xfrm>
          <a:off x="324000" y="169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738125"/>
                <a:gridCol w="14756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70" name="Google Shape;1870;p16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sp>
        <p:nvSpPr>
          <p:cNvPr id="1871" name="Google Shape;1871;p161"/>
          <p:cNvSpPr txBox="1"/>
          <p:nvPr>
            <p:ph idx="1" type="body"/>
          </p:nvPr>
        </p:nvSpPr>
        <p:spPr>
          <a:xfrm>
            <a:off x="324000" y="810000"/>
            <a:ext cx="82377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This frequency table shows the star rating received by a restaurant over its opening weekend.</a:t>
            </a:r>
            <a:endParaRPr sz="2000"/>
          </a:p>
        </p:txBody>
      </p:sp>
      <p:sp>
        <p:nvSpPr>
          <p:cNvPr id="1872" name="Google Shape;1872;p161"/>
          <p:cNvSpPr txBox="1"/>
          <p:nvPr/>
        </p:nvSpPr>
        <p:spPr>
          <a:xfrm>
            <a:off x="3735900" y="1698900"/>
            <a:ext cx="50841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was the mean star rating?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3.64… stars (which rounds to 4)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What was the median star rating?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stars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16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sp>
        <p:nvSpPr>
          <p:cNvPr id="1878" name="Google Shape;1878;p162"/>
          <p:cNvSpPr txBox="1"/>
          <p:nvPr>
            <p:ph idx="1" type="body"/>
          </p:nvPr>
        </p:nvSpPr>
        <p:spPr>
          <a:xfrm>
            <a:off x="324000" y="810000"/>
            <a:ext cx="82377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The frequency table shows the number of bedrooms in different houses within an area of a town.</a:t>
            </a:r>
            <a:endParaRPr sz="2000"/>
          </a:p>
        </p:txBody>
      </p:sp>
      <p:sp>
        <p:nvSpPr>
          <p:cNvPr id="1879" name="Google Shape;1879;p162"/>
          <p:cNvSpPr txBox="1"/>
          <p:nvPr/>
        </p:nvSpPr>
        <p:spPr>
          <a:xfrm>
            <a:off x="3369600" y="1698900"/>
            <a:ext cx="54504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mean number of bedrooms?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2.5 bedrooms (which rounds to 3)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What is the median number of bedrooms?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bedrooms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80" name="Google Shape;1880;p162"/>
          <p:cNvGraphicFramePr/>
          <p:nvPr/>
        </p:nvGraphicFramePr>
        <p:xfrm>
          <a:off x="324000" y="169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395175"/>
                <a:gridCol w="143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16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sp>
        <p:nvSpPr>
          <p:cNvPr id="1886" name="Google Shape;1886;p163"/>
          <p:cNvSpPr txBox="1"/>
          <p:nvPr>
            <p:ph idx="1" type="body"/>
          </p:nvPr>
        </p:nvSpPr>
        <p:spPr>
          <a:xfrm>
            <a:off x="324000" y="810000"/>
            <a:ext cx="82377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The time it takes for a sample of pupils to travel to school is collected in this grouped frequency table.</a:t>
            </a:r>
            <a:endParaRPr sz="2000"/>
          </a:p>
        </p:txBody>
      </p:sp>
      <p:sp>
        <p:nvSpPr>
          <p:cNvPr id="1887" name="Google Shape;1887;p163"/>
          <p:cNvSpPr txBox="1"/>
          <p:nvPr/>
        </p:nvSpPr>
        <p:spPr>
          <a:xfrm>
            <a:off x="3861400" y="1698900"/>
            <a:ext cx="4958700" cy="28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estimated mean travel time (to the nearest minute)?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 minutes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What is the estimated median travel time (to the nearest minute)?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 minutes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88" name="Google Shape;1888;p163"/>
          <p:cNvGraphicFramePr/>
          <p:nvPr/>
        </p:nvGraphicFramePr>
        <p:xfrm>
          <a:off x="323988" y="16956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{77D50A51-0BAF-46F3-9E2E-6CD1D8F2456E}</a:tableStyleId>
              </a:tblPr>
              <a:tblGrid>
                <a:gridCol w="2165125"/>
                <a:gridCol w="1146525"/>
              </a:tblGrid>
              <a:tr h="5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taken to travel to school (in minutes)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r>
                        <a:rPr i="1" lang="en-GB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2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 &lt; 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&lt; 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&lt; 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 &lt; 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 &lt; 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&lt; 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164"/>
          <p:cNvSpPr txBox="1"/>
          <p:nvPr>
            <p:ph type="title"/>
          </p:nvPr>
        </p:nvSpPr>
        <p:spPr>
          <a:xfrm>
            <a:off x="1225225" y="21335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  <p:sp>
        <p:nvSpPr>
          <p:cNvPr id="1894" name="Google Shape;1894;p164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statistics</a:t>
            </a:r>
            <a:endParaRPr/>
          </a:p>
        </p:txBody>
      </p:sp>
      <p:sp>
        <p:nvSpPr>
          <p:cNvPr id="1895" name="Google Shape;1895;p164"/>
          <p:cNvSpPr txBox="1"/>
          <p:nvPr>
            <p:ph idx="3" type="title"/>
          </p:nvPr>
        </p:nvSpPr>
        <p:spPr>
          <a:xfrm>
            <a:off x="1225225" y="30698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pic>
        <p:nvPicPr>
          <p:cNvPr id="1896" name="Google Shape;1896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87" y="299334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165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fx-CG50 can plot scatter graphs and draw a line of best fit.</a:t>
            </a:r>
            <a:endParaRPr/>
          </a:p>
        </p:txBody>
      </p:sp>
      <p:sp>
        <p:nvSpPr>
          <p:cNvPr id="1902" name="Google Shape;1902;p16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pic>
        <p:nvPicPr>
          <p:cNvPr id="1903" name="Google Shape;1903;p16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135950" y="2451075"/>
            <a:ext cx="2620923" cy="128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4" name="Google Shape;1904;p165"/>
          <p:cNvSpPr txBox="1"/>
          <p:nvPr/>
        </p:nvSpPr>
        <p:spPr>
          <a:xfrm>
            <a:off x="5181200" y="2451075"/>
            <a:ext cx="25683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can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calculations needed for A Level maths.</a:t>
            </a:r>
            <a:endParaRPr/>
          </a:p>
        </p:txBody>
      </p:sp>
      <p:pic>
        <p:nvPicPr>
          <p:cNvPr id="1905" name="Google Shape;1905;p1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749345" y="3188863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6" name="Google Shape;1906;p165"/>
          <p:cNvSpPr txBox="1"/>
          <p:nvPr/>
        </p:nvSpPr>
        <p:spPr>
          <a:xfrm>
            <a:off x="7408958" y="3941374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7" name="Google Shape;1907;p165"/>
          <p:cNvGrpSpPr/>
          <p:nvPr/>
        </p:nvGrpSpPr>
        <p:grpSpPr>
          <a:xfrm>
            <a:off x="323994" y="2451075"/>
            <a:ext cx="3477056" cy="2084323"/>
            <a:chOff x="475269" y="2652375"/>
            <a:chExt cx="3477056" cy="2084323"/>
          </a:xfrm>
        </p:grpSpPr>
        <p:pic>
          <p:nvPicPr>
            <p:cNvPr id="1908" name="Google Shape;1908;p165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1690902" y="2652375"/>
              <a:ext cx="2201098" cy="1275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9" name="Google Shape;1909;p165"/>
            <p:cNvSpPr txBox="1"/>
            <p:nvPr/>
          </p:nvSpPr>
          <p:spPr>
            <a:xfrm>
              <a:off x="1841825" y="2707900"/>
              <a:ext cx="21105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Wow! That’s amazing!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910" name="Google Shape;1910;p16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697675" y="3227812"/>
              <a:ext cx="1114250" cy="107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1" name="Google Shape;1911;p165"/>
            <p:cNvSpPr txBox="1"/>
            <p:nvPr/>
          </p:nvSpPr>
          <p:spPr>
            <a:xfrm>
              <a:off x="475269" y="4150798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66"/>
          <p:cNvSpPr txBox="1"/>
          <p:nvPr>
            <p:ph idx="1" type="body"/>
          </p:nvPr>
        </p:nvSpPr>
        <p:spPr>
          <a:xfrm>
            <a:off x="324000" y="759300"/>
            <a:ext cx="8237700" cy="77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data below shows the age and heights for a sample of six children. What do you notice about this data?</a:t>
            </a:r>
            <a:endParaRPr sz="2000"/>
          </a:p>
        </p:txBody>
      </p:sp>
      <p:graphicFrame>
        <p:nvGraphicFramePr>
          <p:cNvPr id="1917" name="Google Shape;1917;p166"/>
          <p:cNvGraphicFramePr/>
          <p:nvPr/>
        </p:nvGraphicFramePr>
        <p:xfrm>
          <a:off x="324000" y="14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{77D50A51-0BAF-46F3-9E2E-6CD1D8F2456E}</a:tableStyleId>
              </a:tblPr>
              <a:tblGrid>
                <a:gridCol w="997675"/>
                <a:gridCol w="1041950"/>
              </a:tblGrid>
              <a:tr h="492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ages (years)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(cm)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8" name="Google Shape;1918;p16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sp>
        <p:nvSpPr>
          <p:cNvPr id="1919" name="Google Shape;1919;p166"/>
          <p:cNvSpPr txBox="1"/>
          <p:nvPr/>
        </p:nvSpPr>
        <p:spPr>
          <a:xfrm>
            <a:off x="2518950" y="1461000"/>
            <a:ext cx="63012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plot this scatter graph on your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calculator using the ‘Statistics’ mode.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Enter the data into the table.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0" name="Google Shape;1920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8950" y="2443500"/>
            <a:ext cx="3857625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5" name="Google Shape;1925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188" y="2443488"/>
            <a:ext cx="386715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6" name="Google Shape;1926;p167"/>
          <p:cNvSpPr txBox="1"/>
          <p:nvPr>
            <p:ph idx="1" type="body"/>
          </p:nvPr>
        </p:nvSpPr>
        <p:spPr>
          <a:xfrm>
            <a:off x="324000" y="759300"/>
            <a:ext cx="8237700" cy="77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data below shows the age and heights for a sample of six children. What do you notice about this data?</a:t>
            </a:r>
            <a:endParaRPr sz="2000"/>
          </a:p>
        </p:txBody>
      </p:sp>
      <p:graphicFrame>
        <p:nvGraphicFramePr>
          <p:cNvPr id="1927" name="Google Shape;1927;p167"/>
          <p:cNvGraphicFramePr/>
          <p:nvPr/>
        </p:nvGraphicFramePr>
        <p:xfrm>
          <a:off x="324000" y="14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{77D50A51-0BAF-46F3-9E2E-6CD1D8F2456E}</a:tableStyleId>
              </a:tblPr>
              <a:tblGrid>
                <a:gridCol w="997675"/>
                <a:gridCol w="1041950"/>
              </a:tblGrid>
              <a:tr h="492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ages (years)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(cm)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8" name="Google Shape;1928;p1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sp>
        <p:nvSpPr>
          <p:cNvPr id="1929" name="Google Shape;1929;p167"/>
          <p:cNvSpPr txBox="1"/>
          <p:nvPr/>
        </p:nvSpPr>
        <p:spPr>
          <a:xfrm>
            <a:off x="2518950" y="1461000"/>
            <a:ext cx="63012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‘GRAPH’ (F1). Pressing ‘SET’ (F6) lets you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determine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variable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on which axis and what the points will look like. (Mark type.)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8938" y="2443500"/>
            <a:ext cx="3895725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68"/>
          <p:cNvSpPr txBox="1"/>
          <p:nvPr>
            <p:ph idx="1" type="body"/>
          </p:nvPr>
        </p:nvSpPr>
        <p:spPr>
          <a:xfrm>
            <a:off x="324000" y="759300"/>
            <a:ext cx="8237700" cy="77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data below shows the age and heights for a sample of six children. What do you notice about this data?</a:t>
            </a:r>
            <a:endParaRPr sz="2000"/>
          </a:p>
        </p:txBody>
      </p:sp>
      <p:graphicFrame>
        <p:nvGraphicFramePr>
          <p:cNvPr id="1936" name="Google Shape;1936;p168"/>
          <p:cNvGraphicFramePr/>
          <p:nvPr/>
        </p:nvGraphicFramePr>
        <p:xfrm>
          <a:off x="324000" y="14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{77D50A51-0BAF-46F3-9E2E-6CD1D8F2456E}</a:tableStyleId>
              </a:tblPr>
              <a:tblGrid>
                <a:gridCol w="997675"/>
                <a:gridCol w="1041950"/>
              </a:tblGrid>
              <a:tr h="492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ages (years)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(cm)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7" name="Google Shape;1937;p1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sp>
        <p:nvSpPr>
          <p:cNvPr id="1938" name="Google Shape;1938;p168"/>
          <p:cNvSpPr txBox="1"/>
          <p:nvPr/>
        </p:nvSpPr>
        <p:spPr>
          <a:xfrm>
            <a:off x="2518950" y="1461000"/>
            <a:ext cx="63012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‘EXIT’ and then select ‘GRAPH1’ (F1).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038" y="2443500"/>
            <a:ext cx="385762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69"/>
          <p:cNvSpPr txBox="1"/>
          <p:nvPr>
            <p:ph idx="1" type="body"/>
          </p:nvPr>
        </p:nvSpPr>
        <p:spPr>
          <a:xfrm>
            <a:off x="324000" y="759300"/>
            <a:ext cx="8237700" cy="77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data below shows the age and heights for a sample of six children. What do you notice about this data?</a:t>
            </a:r>
            <a:endParaRPr sz="2000"/>
          </a:p>
        </p:txBody>
      </p:sp>
      <p:graphicFrame>
        <p:nvGraphicFramePr>
          <p:cNvPr id="1945" name="Google Shape;1945;p169"/>
          <p:cNvGraphicFramePr/>
          <p:nvPr/>
        </p:nvGraphicFramePr>
        <p:xfrm>
          <a:off x="324000" y="14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{77D50A51-0BAF-46F3-9E2E-6CD1D8F2456E}</a:tableStyleId>
              </a:tblPr>
              <a:tblGrid>
                <a:gridCol w="997675"/>
                <a:gridCol w="1041950"/>
              </a:tblGrid>
              <a:tr h="492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ages (years)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(cm)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6" name="Google Shape;1946;p1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sp>
        <p:nvSpPr>
          <p:cNvPr id="1947" name="Google Shape;1947;p169"/>
          <p:cNvSpPr txBox="1"/>
          <p:nvPr/>
        </p:nvSpPr>
        <p:spPr>
          <a:xfrm>
            <a:off x="2518950" y="1461000"/>
            <a:ext cx="63012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‘CALC’ (F1), then X (F2) and then ‘ax+b’ (F1).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 the next screen, press ‘DRAW’ (F6) to see the line of best fit.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8" name="Google Shape;1948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4038" y="2448250"/>
            <a:ext cx="3857625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170"/>
          <p:cNvSpPr txBox="1"/>
          <p:nvPr>
            <p:ph idx="1" type="body"/>
          </p:nvPr>
        </p:nvSpPr>
        <p:spPr>
          <a:xfrm>
            <a:off x="324000" y="759300"/>
            <a:ext cx="8237700" cy="77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data below shows the age and heights for a sample of six children. What do you notice about this data?</a:t>
            </a:r>
            <a:endParaRPr sz="2000"/>
          </a:p>
        </p:txBody>
      </p:sp>
      <p:graphicFrame>
        <p:nvGraphicFramePr>
          <p:cNvPr id="1954" name="Google Shape;1954;p170"/>
          <p:cNvGraphicFramePr/>
          <p:nvPr/>
        </p:nvGraphicFramePr>
        <p:xfrm>
          <a:off x="324000" y="14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{77D50A51-0BAF-46F3-9E2E-6CD1D8F2456E}</a:tableStyleId>
              </a:tblPr>
              <a:tblGrid>
                <a:gridCol w="997675"/>
                <a:gridCol w="1041950"/>
              </a:tblGrid>
              <a:tr h="492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ages (years)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(cm)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5" name="Google Shape;1955;p1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sp>
        <p:nvSpPr>
          <p:cNvPr id="1956" name="Google Shape;1956;p170"/>
          <p:cNvSpPr txBox="1"/>
          <p:nvPr/>
        </p:nvSpPr>
        <p:spPr>
          <a:xfrm>
            <a:off x="2518950" y="3739650"/>
            <a:ext cx="63012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appears to be a positive correlation. The older a child is, the taller they are.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7" name="Google Shape;1957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8938" y="1462088"/>
            <a:ext cx="3857625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1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sp>
        <p:nvSpPr>
          <p:cNvPr id="1963" name="Google Shape;1963;p171"/>
          <p:cNvSpPr txBox="1"/>
          <p:nvPr>
            <p:ph idx="1" type="body"/>
          </p:nvPr>
        </p:nvSpPr>
        <p:spPr>
          <a:xfrm>
            <a:off x="324000" y="759300"/>
            <a:ext cx="8237700" cy="24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data below shows the volume of water in a container over a period of time.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a) Which variable should be plotted on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-axis?</a:t>
            </a:r>
            <a:endParaRPr sz="2000"/>
          </a:p>
        </p:txBody>
      </p:sp>
      <p:graphicFrame>
        <p:nvGraphicFramePr>
          <p:cNvPr id="1964" name="Google Shape;1964;p171"/>
          <p:cNvGraphicFramePr/>
          <p:nvPr/>
        </p:nvGraphicFramePr>
        <p:xfrm>
          <a:off x="324000" y="1539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446600"/>
                <a:gridCol w="721325"/>
                <a:gridCol w="721325"/>
                <a:gridCol w="721325"/>
                <a:gridCol w="721325"/>
                <a:gridCol w="721325"/>
                <a:gridCol w="72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65" name="Google Shape;1965;p171"/>
          <p:cNvSpPr txBox="1"/>
          <p:nvPr/>
        </p:nvSpPr>
        <p:spPr>
          <a:xfrm>
            <a:off x="324000" y="2955300"/>
            <a:ext cx="8496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independent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variable - time.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1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sp>
        <p:nvSpPr>
          <p:cNvPr id="1971" name="Google Shape;1971;p172"/>
          <p:cNvSpPr txBox="1"/>
          <p:nvPr>
            <p:ph idx="1" type="body"/>
          </p:nvPr>
        </p:nvSpPr>
        <p:spPr>
          <a:xfrm>
            <a:off x="324000" y="759300"/>
            <a:ext cx="8237700" cy="24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data below shows the volume of water in a container over a period of time.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b) Sketch the scatter graph and line of best fit. What do you notice about the data?</a:t>
            </a:r>
            <a:endParaRPr sz="2000"/>
          </a:p>
        </p:txBody>
      </p:sp>
      <p:graphicFrame>
        <p:nvGraphicFramePr>
          <p:cNvPr id="1972" name="Google Shape;1972;p172"/>
          <p:cNvGraphicFramePr/>
          <p:nvPr/>
        </p:nvGraphicFramePr>
        <p:xfrm>
          <a:off x="324000" y="1539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446600"/>
                <a:gridCol w="721325"/>
                <a:gridCol w="721325"/>
                <a:gridCol w="721325"/>
                <a:gridCol w="721325"/>
                <a:gridCol w="721325"/>
                <a:gridCol w="72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973" name="Google Shape;1973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6" y="3239996"/>
            <a:ext cx="2723669" cy="15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172"/>
          <p:cNvSpPr txBox="1"/>
          <p:nvPr/>
        </p:nvSpPr>
        <p:spPr>
          <a:xfrm>
            <a:off x="3369600" y="3240000"/>
            <a:ext cx="545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is positive correlation. As the time increases, so does the water volume.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17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sp>
        <p:nvSpPr>
          <p:cNvPr id="1980" name="Google Shape;1980;p173"/>
          <p:cNvSpPr txBox="1"/>
          <p:nvPr>
            <p:ph idx="1" type="body"/>
          </p:nvPr>
        </p:nvSpPr>
        <p:spPr>
          <a:xfrm>
            <a:off x="324000" y="8100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The table shows weather data from Bradford, for five months in 2021.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does this data suggest about the weather? Justify your answer.</a:t>
            </a:r>
            <a:endParaRPr sz="1800"/>
          </a:p>
        </p:txBody>
      </p:sp>
      <p:graphicFrame>
        <p:nvGraphicFramePr>
          <p:cNvPr id="1981" name="Google Shape;1981;p173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042875"/>
                <a:gridCol w="1220600"/>
                <a:gridCol w="1143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rainfall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sunshine (hours)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17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sp>
        <p:nvSpPr>
          <p:cNvPr id="1987" name="Google Shape;1987;p174"/>
          <p:cNvSpPr txBox="1"/>
          <p:nvPr>
            <p:ph idx="1" type="body"/>
          </p:nvPr>
        </p:nvSpPr>
        <p:spPr>
          <a:xfrm>
            <a:off x="324000" y="810000"/>
            <a:ext cx="82377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Jacob runs a series of long-distance races. For each race, he records his time and the elevation of the course. </a:t>
            </a:r>
            <a:br>
              <a:rPr lang="en-GB" sz="1800"/>
            </a:br>
            <a:r>
              <a:rPr lang="en-GB" sz="1800"/>
              <a:t>What does this data suggest about elevation and the time taken? Justify your answer.</a:t>
            </a:r>
            <a:endParaRPr sz="1800"/>
          </a:p>
        </p:txBody>
      </p:sp>
      <p:graphicFrame>
        <p:nvGraphicFramePr>
          <p:cNvPr id="1988" name="Google Shape;1988;p174"/>
          <p:cNvGraphicFramePr/>
          <p:nvPr/>
        </p:nvGraphicFramePr>
        <p:xfrm>
          <a:off x="324000" y="210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556100"/>
                <a:gridCol w="122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elevation (m)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17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sp>
        <p:nvSpPr>
          <p:cNvPr id="1994" name="Google Shape;1994;p175"/>
          <p:cNvSpPr txBox="1"/>
          <p:nvPr>
            <p:ph idx="1" type="body"/>
          </p:nvPr>
        </p:nvSpPr>
        <p:spPr>
          <a:xfrm>
            <a:off x="324000" y="8100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The table shows weather data from Bradford, for five months in 2021.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does this data suggest about the weather? Justify your answer.</a:t>
            </a:r>
            <a:endParaRPr sz="1800"/>
          </a:p>
        </p:txBody>
      </p:sp>
      <p:graphicFrame>
        <p:nvGraphicFramePr>
          <p:cNvPr id="1995" name="Google Shape;1995;p175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042875"/>
                <a:gridCol w="1220600"/>
                <a:gridCol w="1143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rainfall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sunshine (hours)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96" name="Google Shape;1996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8600" y="1620000"/>
            <a:ext cx="3406550" cy="19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997" name="Google Shape;1997;p175"/>
          <p:cNvSpPr txBox="1"/>
          <p:nvPr/>
        </p:nvSpPr>
        <p:spPr>
          <a:xfrm>
            <a:off x="3928600" y="3719350"/>
            <a:ext cx="48915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is negative correlation. More rain means less sunshine.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2" name="Google Shape;2002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2104673"/>
            <a:ext cx="3398176" cy="19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3" name="Google Shape;2003;p17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  <p:sp>
        <p:nvSpPr>
          <p:cNvPr id="2004" name="Google Shape;2004;p176"/>
          <p:cNvSpPr txBox="1"/>
          <p:nvPr>
            <p:ph idx="1" type="body"/>
          </p:nvPr>
        </p:nvSpPr>
        <p:spPr>
          <a:xfrm>
            <a:off x="324000" y="810000"/>
            <a:ext cx="82377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Jacob runs a series of long-distance races. For each race, he records his time and the elevation of the course. </a:t>
            </a:r>
            <a:br>
              <a:rPr lang="en-GB" sz="1800"/>
            </a:br>
            <a:r>
              <a:rPr lang="en-GB" sz="1800"/>
              <a:t>What does this data suggest about elevation and the time taken? Justify your answer.</a:t>
            </a:r>
            <a:endParaRPr sz="1800"/>
          </a:p>
        </p:txBody>
      </p:sp>
      <p:graphicFrame>
        <p:nvGraphicFramePr>
          <p:cNvPr id="2005" name="Google Shape;2005;p176"/>
          <p:cNvGraphicFramePr/>
          <p:nvPr/>
        </p:nvGraphicFramePr>
        <p:xfrm>
          <a:off x="324000" y="210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{1E363DF8-A601-4682-A2D8-522FD6330D0C}</a:tableStyleId>
              </a:tblPr>
              <a:tblGrid>
                <a:gridCol w="1556100"/>
                <a:gridCol w="122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elevation (m)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6" name="Google Shape;2006;p176"/>
          <p:cNvSpPr txBox="1"/>
          <p:nvPr/>
        </p:nvSpPr>
        <p:spPr>
          <a:xfrm>
            <a:off x="6907675" y="2104675"/>
            <a:ext cx="1912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is positive correlation. The greater the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elevation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the more time it takes to run the course.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177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statistics</a:t>
            </a:r>
            <a:endParaRPr/>
          </a:p>
        </p:txBody>
      </p:sp>
      <p:sp>
        <p:nvSpPr>
          <p:cNvPr id="2012" name="Google Shape;2012;p177"/>
          <p:cNvSpPr txBox="1"/>
          <p:nvPr>
            <p:ph idx="1" type="body"/>
          </p:nvPr>
        </p:nvSpPr>
        <p:spPr>
          <a:xfrm>
            <a:off x="324000" y="810000"/>
            <a:ext cx="8237700" cy="356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calculators can perform more than just basic calculations.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fx-CG50 can produce a statistical summary of a set of data.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summary includes the mean, median, upper and lower quartiles.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fx-CG50 can produce graphical representations of data.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178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2025.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Casio and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018" name="Google Shape;2018;p1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