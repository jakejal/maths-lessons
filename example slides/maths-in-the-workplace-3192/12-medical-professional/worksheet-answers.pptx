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B62367-CA17-4322-A208-184269D944DD}">
  <a:tblStyle styleId="{A0B62367-CA17-4322-A208-184269D944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0f8c9d5e8_0_3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0f8c9d5e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Medical professional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7998" y="12193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Arithmetic in medical professions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76400" y="18261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shows a patient’s fluid input and output records during four hours.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76400" y="5026500"/>
            <a:ext cx="6624000" cy="15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fluid balance for each hour.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Answers 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hown in the table.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Calculate the overall fluid balance for the entire 4-hour period.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305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0" name="Google Shape;120;p12"/>
          <p:cNvGraphicFramePr/>
          <p:nvPr/>
        </p:nvGraphicFramePr>
        <p:xfrm>
          <a:off x="467975" y="22222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{A0B62367-CA17-4322-A208-184269D944DD}</a:tableStyleId>
              </a:tblPr>
              <a:tblGrid>
                <a:gridCol w="637825"/>
                <a:gridCol w="661725"/>
                <a:gridCol w="1058050"/>
                <a:gridCol w="859900"/>
                <a:gridCol w="766625"/>
                <a:gridCol w="953150"/>
                <a:gridCol w="859900"/>
                <a:gridCol w="826850"/>
              </a:tblGrid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fluid balance</a:t>
                      </a:r>
                      <a:b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drink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liquid medication</a:t>
                      </a:r>
                      <a:b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IV fluids</a:t>
                      </a:r>
                      <a:b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 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urine</a:t>
                      </a:r>
                      <a:b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vomit or aspiration</a:t>
                      </a:r>
                      <a:b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drain</a:t>
                      </a:r>
                      <a:b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-190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-90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265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1" name="Google Shape;121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/>
        </p:nvSpPr>
        <p:spPr>
          <a:xfrm>
            <a:off x="476400" y="4272275"/>
            <a:ext cx="64416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‘administration rate’ is the amount of the diluted drug that is given to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patient per hour from the IV bag. Calculate administration rate for this scenario.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738653" y="4874600"/>
            <a:ext cx="21357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500 ÷ 3 = 166.7 (to 1 d.p.)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Medical professional</a:t>
            </a:r>
            <a:endParaRPr/>
          </a:p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467998" y="7621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Using formulae in medical professions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476400" y="1292700"/>
            <a:ext cx="8237700" cy="21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patient has a mass of 90 kg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are prescribed 600 mg of a drug called rifampicin.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drug comes vials which each have a volume of 10 ml.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Each vial contains 300 mg of the drug.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It need to be diluted up to 500 ml for the IV bag.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Once diluted, it needs to be administered continuously over 3 hours.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formula below to calculate the dose required.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2183849" y="2961900"/>
            <a:ext cx="3357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 of drug prescribed (mg)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733033" y="3096044"/>
            <a:ext cx="1817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drug dose (ml)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" name="Google Shape;134;p13"/>
          <p:cNvCxnSpPr/>
          <p:nvPr/>
        </p:nvCxnSpPr>
        <p:spPr>
          <a:xfrm>
            <a:off x="2055705" y="3229241"/>
            <a:ext cx="256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3"/>
          <p:cNvSpPr txBox="1"/>
          <p:nvPr/>
        </p:nvSpPr>
        <p:spPr>
          <a:xfrm>
            <a:off x="2183849" y="3239375"/>
            <a:ext cx="2918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 of drug per vial (mg)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4774653" y="3128350"/>
            <a:ext cx="2002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1F1F1F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volume of each vial (ml)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476400" y="5407500"/>
            <a:ext cx="8237700" cy="15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1 mg = 1000 mcg. How many mcg of rifampicin was prescribed to the patient?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Use your answers from parts (b) to (c) and the formula below to calculate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mcg/kg/min settings for the IV drip.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1989126" y="6892850"/>
            <a:ext cx="4137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administration rate (ml/hr) </a:t>
            </a:r>
            <a:r>
              <a:rPr lang="en-GB" sz="1200">
                <a:solidFill>
                  <a:srgbClr val="1F1F1F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amount prescribed (mcg)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628800" y="6970225"/>
            <a:ext cx="127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drip settings   =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(mcg/kg/min)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" name="Google Shape;140;p13"/>
          <p:cNvCxnSpPr/>
          <p:nvPr/>
        </p:nvCxnSpPr>
        <p:spPr>
          <a:xfrm>
            <a:off x="1948445" y="7098984"/>
            <a:ext cx="4104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3"/>
          <p:cNvSpPr txBox="1"/>
          <p:nvPr/>
        </p:nvSpPr>
        <p:spPr>
          <a:xfrm>
            <a:off x="2006036" y="7127086"/>
            <a:ext cx="3084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bag volume (ml) </a:t>
            </a:r>
            <a:r>
              <a:rPr lang="en-GB" sz="1200">
                <a:solidFill>
                  <a:srgbClr val="1F1F1F"/>
                </a:solidFill>
                <a:latin typeface="Lexend"/>
                <a:ea typeface="Lexend"/>
                <a:cs typeface="Lexend"/>
                <a:sym typeface="Lexend"/>
              </a:rPr>
              <a:t>× patient mass (kg) × 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" name="Google Shape;142;p13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3"/>
          <p:cNvSpPr txBox="1"/>
          <p:nvPr/>
        </p:nvSpPr>
        <p:spPr>
          <a:xfrm>
            <a:off x="741486" y="3632856"/>
            <a:ext cx="2793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1049082" y="3737239"/>
            <a:ext cx="11649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× 10 = 20 ml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741486" y="3830342"/>
            <a:ext cx="3909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6" name="Google Shape;146;p13"/>
          <p:cNvCxnSpPr/>
          <p:nvPr/>
        </p:nvCxnSpPr>
        <p:spPr>
          <a:xfrm>
            <a:off x="746299" y="3827624"/>
            <a:ext cx="24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13"/>
          <p:cNvSpPr txBox="1"/>
          <p:nvPr/>
        </p:nvSpPr>
        <p:spPr>
          <a:xfrm>
            <a:off x="738653" y="5865200"/>
            <a:ext cx="21357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600 × 1000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= 600 000 mcg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703116" y="7747650"/>
            <a:ext cx="13020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166.7 × 600 000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1887272" y="7852050"/>
            <a:ext cx="16110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37.04 mcg/kg/min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703135" y="7945144"/>
            <a:ext cx="9627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500 × 90 × 60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1" name="Google Shape;151;p13"/>
          <p:cNvCxnSpPr/>
          <p:nvPr/>
        </p:nvCxnSpPr>
        <p:spPr>
          <a:xfrm>
            <a:off x="675735" y="7942424"/>
            <a:ext cx="115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57" name="Google Shape;157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Medical professional</a:t>
            </a:r>
            <a:endParaRPr/>
          </a:p>
        </p:txBody>
      </p:sp>
      <p:sp>
        <p:nvSpPr>
          <p:cNvPr id="158" name="Google Shape;158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467998" y="7621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C: Using formulae in medical professions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476400" y="1292700"/>
            <a:ext cx="6673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graph shows a patient’s vital signs over five days.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476400" y="5407500"/>
            <a:ext cx="58650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On what day was their respiratory rate at its lowest?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476400" y="5821952"/>
            <a:ext cx="41673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was their heart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on Tuesday?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478800" y="6236404"/>
            <a:ext cx="46692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Lucas thinks their body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temperature was 155℃ on Monday.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mistake has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 made?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468000" y="7123207"/>
            <a:ext cx="38979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What was their body temperature on Monday?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468425" y="7537659"/>
            <a:ext cx="47826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Describe the trend in their blood pressure over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five days.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478800" y="8578350"/>
            <a:ext cx="54144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A healthy blood pressure recording is around 120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 what day(s) is the patient’s blood pressure around these levels?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" name="Google Shape;168;p14"/>
          <p:cNvCxnSpPr/>
          <p:nvPr/>
        </p:nvCxnSpPr>
        <p:spPr>
          <a:xfrm>
            <a:off x="4008825" y="8765689"/>
            <a:ext cx="243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14"/>
          <p:cNvSpPr txBox="1"/>
          <p:nvPr/>
        </p:nvSpPr>
        <p:spPr>
          <a:xfrm>
            <a:off x="4042642" y="8776503"/>
            <a:ext cx="243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4708632" y="5405069"/>
            <a:ext cx="91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Wednesday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3632475" y="5825880"/>
            <a:ext cx="18651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84 beats per minute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668821" y="6739956"/>
            <a:ext cx="4782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Lucas used the scale on the left rather than the scale on the right.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4267692" y="7123500"/>
            <a:ext cx="4872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39 °C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661750" y="7875911"/>
            <a:ext cx="4645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patient’s blood pressure gradually decreased over the five days.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(Or any wording that suggests that it is decreasing.)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657486" y="9315721"/>
            <a:ext cx="5177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Friday matches exactly.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patient’s blood pressure is also close to this on Thursday and Wednesday.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6" name="Google Shape;1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525" y="1987400"/>
            <a:ext cx="3194450" cy="2653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14"/>
          <p:cNvCxnSpPr/>
          <p:nvPr/>
        </p:nvCxnSpPr>
        <p:spPr>
          <a:xfrm rot="10800000">
            <a:off x="2389516" y="1817726"/>
            <a:ext cx="0" cy="284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14"/>
          <p:cNvCxnSpPr/>
          <p:nvPr/>
        </p:nvCxnSpPr>
        <p:spPr>
          <a:xfrm>
            <a:off x="2389516" y="4652199"/>
            <a:ext cx="3205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14"/>
          <p:cNvSpPr txBox="1"/>
          <p:nvPr/>
        </p:nvSpPr>
        <p:spPr>
          <a:xfrm rot="-5400000">
            <a:off x="621125" y="2910200"/>
            <a:ext cx="24072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heart rate (beats/min)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2834190" y="4653428"/>
            <a:ext cx="453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3354059" y="4653428"/>
            <a:ext cx="453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3936730" y="4653428"/>
            <a:ext cx="453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4414731" y="4653428"/>
            <a:ext cx="453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4997403" y="4653428"/>
            <a:ext cx="453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1937600" y="4541558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1937600" y="4249582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1937600" y="3957607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1937600" y="3665631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4"/>
          <p:cNvSpPr txBox="1"/>
          <p:nvPr/>
        </p:nvSpPr>
        <p:spPr>
          <a:xfrm>
            <a:off x="1937600" y="3373655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1937600" y="3081680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1937600" y="2789704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1937600" y="2497728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1937600" y="2205753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1937600" y="1913777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2860125" y="2596051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3388325" y="2713516"/>
            <a:ext cx="141300" cy="8184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3922500" y="2842691"/>
            <a:ext cx="141300" cy="694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4442125" y="2842690"/>
            <a:ext cx="141300" cy="794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4971325" y="2877291"/>
            <a:ext cx="141300" cy="7350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2885522" y="41602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14"/>
          <p:cNvCxnSpPr>
            <a:stCxn id="200" idx="6"/>
            <a:endCxn id="202" idx="2"/>
          </p:cNvCxnSpPr>
          <p:nvPr/>
        </p:nvCxnSpPr>
        <p:spPr>
          <a:xfrm>
            <a:off x="2958722" y="4196847"/>
            <a:ext cx="456600" cy="762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14"/>
          <p:cNvSpPr txBox="1"/>
          <p:nvPr/>
        </p:nvSpPr>
        <p:spPr>
          <a:xfrm rot="-5400000">
            <a:off x="321575" y="2904950"/>
            <a:ext cx="2407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respiratory rate (breaths/min)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4"/>
          <p:cNvSpPr txBox="1"/>
          <p:nvPr/>
        </p:nvSpPr>
        <p:spPr>
          <a:xfrm rot="-5400000">
            <a:off x="6275" y="2915450"/>
            <a:ext cx="2407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blood pressure (mmHg)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1131435" y="4306441"/>
            <a:ext cx="156900" cy="3405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1725816" y="4300358"/>
            <a:ext cx="175800" cy="1518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1441223" y="4310414"/>
            <a:ext cx="131700" cy="1317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14"/>
          <p:cNvCxnSpPr/>
          <p:nvPr/>
        </p:nvCxnSpPr>
        <p:spPr>
          <a:xfrm rot="10800000">
            <a:off x="5588781" y="1817726"/>
            <a:ext cx="0" cy="284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14"/>
          <p:cNvSpPr txBox="1"/>
          <p:nvPr/>
        </p:nvSpPr>
        <p:spPr>
          <a:xfrm rot="5400000">
            <a:off x="5322925" y="3492675"/>
            <a:ext cx="1718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body temperature (℃)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6090615" y="4498616"/>
            <a:ext cx="158400" cy="1584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2877975" y="2304565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3411369" y="231236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3936239" y="2349019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4468788" y="2309098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4996132" y="2354271"/>
            <a:ext cx="93300" cy="93300"/>
          </a:xfrm>
          <a:prstGeom prst="diamond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14"/>
          <p:cNvCxnSpPr>
            <a:stCxn id="211" idx="3"/>
            <a:endCxn id="212" idx="1"/>
          </p:cNvCxnSpPr>
          <p:nvPr/>
        </p:nvCxnSpPr>
        <p:spPr>
          <a:xfrm>
            <a:off x="2971275" y="2351215"/>
            <a:ext cx="440100" cy="7800"/>
          </a:xfrm>
          <a:prstGeom prst="straightConnector1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14"/>
          <p:cNvCxnSpPr>
            <a:stCxn id="213" idx="1"/>
            <a:endCxn id="212" idx="3"/>
          </p:cNvCxnSpPr>
          <p:nvPr/>
        </p:nvCxnSpPr>
        <p:spPr>
          <a:xfrm rot="10800000">
            <a:off x="3504539" y="2359069"/>
            <a:ext cx="431700" cy="36600"/>
          </a:xfrm>
          <a:prstGeom prst="straightConnector1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4"/>
          <p:cNvCxnSpPr>
            <a:stCxn id="214" idx="1"/>
            <a:endCxn id="213" idx="3"/>
          </p:cNvCxnSpPr>
          <p:nvPr/>
        </p:nvCxnSpPr>
        <p:spPr>
          <a:xfrm flipH="1">
            <a:off x="4029588" y="2355748"/>
            <a:ext cx="439200" cy="39900"/>
          </a:xfrm>
          <a:prstGeom prst="straightConnector1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14"/>
          <p:cNvCxnSpPr>
            <a:stCxn id="215" idx="1"/>
            <a:endCxn id="214" idx="3"/>
          </p:cNvCxnSpPr>
          <p:nvPr/>
        </p:nvCxnSpPr>
        <p:spPr>
          <a:xfrm rot="10800000">
            <a:off x="4562032" y="2355621"/>
            <a:ext cx="434100" cy="45300"/>
          </a:xfrm>
          <a:prstGeom prst="straightConnector1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14"/>
          <p:cNvSpPr/>
          <p:nvPr/>
        </p:nvSpPr>
        <p:spPr>
          <a:xfrm>
            <a:off x="3415244" y="4236447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3944966" y="44576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474689" y="4381492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5008089" y="4352071"/>
            <a:ext cx="73200" cy="73200"/>
          </a:xfrm>
          <a:prstGeom prst="ellipse">
            <a:avLst/>
          </a:prstGeom>
          <a:solidFill>
            <a:srgbClr val="E6F2F2"/>
          </a:solidFill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" name="Google Shape;223;p14"/>
          <p:cNvCxnSpPr>
            <a:stCxn id="202" idx="5"/>
            <a:endCxn id="220" idx="2"/>
          </p:cNvCxnSpPr>
          <p:nvPr/>
        </p:nvCxnSpPr>
        <p:spPr>
          <a:xfrm>
            <a:off x="3477724" y="4298927"/>
            <a:ext cx="467100" cy="1953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14"/>
          <p:cNvCxnSpPr>
            <a:endCxn id="221" idx="2"/>
          </p:cNvCxnSpPr>
          <p:nvPr/>
        </p:nvCxnSpPr>
        <p:spPr>
          <a:xfrm flipH="1" rot="10800000">
            <a:off x="4018089" y="4418092"/>
            <a:ext cx="456600" cy="762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14"/>
          <p:cNvCxnSpPr>
            <a:endCxn id="222" idx="2"/>
          </p:cNvCxnSpPr>
          <p:nvPr/>
        </p:nvCxnSpPr>
        <p:spPr>
          <a:xfrm flipH="1" rot="10800000">
            <a:off x="4549689" y="4388671"/>
            <a:ext cx="458400" cy="381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14"/>
          <p:cNvSpPr txBox="1"/>
          <p:nvPr/>
        </p:nvSpPr>
        <p:spPr>
          <a:xfrm>
            <a:off x="3696474" y="4845457"/>
            <a:ext cx="45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7" name="Google Shape;227;p14"/>
          <p:cNvGrpSpPr/>
          <p:nvPr/>
        </p:nvGrpSpPr>
        <p:grpSpPr>
          <a:xfrm>
            <a:off x="2891824" y="3264637"/>
            <a:ext cx="2201272" cy="382527"/>
            <a:chOff x="5406424" y="2807437"/>
            <a:chExt cx="2201272" cy="382527"/>
          </a:xfrm>
        </p:grpSpPr>
        <p:sp>
          <p:nvSpPr>
            <p:cNvPr id="228" name="Google Shape;228;p14"/>
            <p:cNvSpPr/>
            <p:nvPr/>
          </p:nvSpPr>
          <p:spPr>
            <a:xfrm>
              <a:off x="5406424" y="280743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9" name="Google Shape;229;p14"/>
            <p:cNvCxnSpPr>
              <a:stCxn id="228" idx="5"/>
              <a:endCxn id="230" idx="1"/>
            </p:cNvCxnSpPr>
            <p:nvPr/>
          </p:nvCxnSpPr>
          <p:spPr>
            <a:xfrm>
              <a:off x="5472574" y="2845537"/>
              <a:ext cx="482100" cy="957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0" name="Google Shape;230;p14"/>
            <p:cNvSpPr/>
            <p:nvPr/>
          </p:nvSpPr>
          <p:spPr>
            <a:xfrm>
              <a:off x="5932479" y="2903024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6463728" y="2909157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6989773" y="29613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7519495" y="3113765"/>
              <a:ext cx="88200" cy="76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4" name="Google Shape;234;p14"/>
            <p:cNvCxnSpPr>
              <a:stCxn id="230" idx="5"/>
              <a:endCxn id="231" idx="1"/>
            </p:cNvCxnSpPr>
            <p:nvPr/>
          </p:nvCxnSpPr>
          <p:spPr>
            <a:xfrm>
              <a:off x="5998629" y="2941124"/>
              <a:ext cx="487200" cy="60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" name="Google Shape;235;p14"/>
            <p:cNvCxnSpPr>
              <a:stCxn id="231" idx="5"/>
              <a:endCxn id="232" idx="1"/>
            </p:cNvCxnSpPr>
            <p:nvPr/>
          </p:nvCxnSpPr>
          <p:spPr>
            <a:xfrm>
              <a:off x="6529878" y="2947257"/>
              <a:ext cx="481800" cy="522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14"/>
            <p:cNvCxnSpPr>
              <a:stCxn id="232" idx="5"/>
              <a:endCxn id="233" idx="1"/>
            </p:cNvCxnSpPr>
            <p:nvPr/>
          </p:nvCxnSpPr>
          <p:spPr>
            <a:xfrm>
              <a:off x="7055923" y="2999465"/>
              <a:ext cx="485700" cy="1524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7" name="Google Shape;237;p14"/>
          <p:cNvSpPr txBox="1"/>
          <p:nvPr/>
        </p:nvSpPr>
        <p:spPr>
          <a:xfrm>
            <a:off x="5666165" y="4541558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5666165" y="4245802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14"/>
          <p:cNvSpPr txBox="1"/>
          <p:nvPr/>
        </p:nvSpPr>
        <p:spPr>
          <a:xfrm>
            <a:off x="5666165" y="3950047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5666165" y="3654292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5666165" y="3358536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5666165" y="3062781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14"/>
          <p:cNvSpPr txBox="1"/>
          <p:nvPr/>
        </p:nvSpPr>
        <p:spPr>
          <a:xfrm>
            <a:off x="5666165" y="2767026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5666165" y="2471270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5666165" y="2175515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5666165" y="1879759"/>
            <a:ext cx="3906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