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409BD7-C511-4B50-A34D-4ECA7A1CFEEE}">
  <a:tblStyle styleId="{55409BD7-C511-4B50-A34D-4ECA7A1CFE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01e8a3a51e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01e8a3a51e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d83f33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d83f33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00ff7c61d7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00ff7c61d7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00ff7c61d7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00ff7c61d7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00ff7c61d7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00ff7c61d7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01e8a3a5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01e8a3a5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01e8a3a5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01e8a3a5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00ff7c61d7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00ff7c61d7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01e8a3a51e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01e8a3a51e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00ff7c61d7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00ff7c61d7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f57d53f3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f57d53f3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00ff7c61d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00ff7c61d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01e8a3a51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01e8a3a5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00ff7c61d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00ff7c61d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00ff7c61d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00ff7c61d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00ff7c61d7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00ff7c61d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00ff7c61d7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00ff7c61d7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00ff7c61d7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00ff7c61d7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00ff7c61d7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00ff7c61d7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00ff7c61d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00ff7c61d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00ff7c61d7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00ff7c61d7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00ff7c61d7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00ff7c61d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00ff7c61d7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00ff7c61d7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00ff7c61d7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300ff7c61d7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fc689f40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fc689f40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00ff7c61d7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300ff7c61d7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00ff7c61d7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300ff7c61d7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00ff7c61d7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300ff7c61d7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f57d53f32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f57d53f32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00ff7c61d7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00ff7c61d7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01e8a3a51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301e8a3a51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01e8a3a51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01e8a3a51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00ff7c61d7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00ff7c61d7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00ff7c61d7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00ff7c61d7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00ff7c61d7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00ff7c61d7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10f5b9e645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310f5b9e645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10f5b9e645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310f5b9e645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10f5b9e645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310f5b9e645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10f5b9e645_2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10f5b9e645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310f5b9e645_2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310f5b9e645_2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10f5b9e645_2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10f5b9e645_2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10f5b9e645_2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310f5b9e645_2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310f5b9e645_2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310f5b9e645_2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310f5b9e645_2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310f5b9e645_2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310f5b9e645_2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310f5b9e645_2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310f5b9e645_2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310f5b9e645_2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10f5b9e645_2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310f5b9e645_2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85.png"/><Relationship Id="rId5" Type="http://schemas.openxmlformats.org/officeDocument/2006/relationships/image" Target="../media/image41.png"/><Relationship Id="rId6" Type="http://schemas.openxmlformats.org/officeDocument/2006/relationships/image" Target="../media/image39.png"/><Relationship Id="rId7" Type="http://schemas.openxmlformats.org/officeDocument/2006/relationships/image" Target="../media/image3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85.png"/><Relationship Id="rId4" Type="http://schemas.openxmlformats.org/officeDocument/2006/relationships/image" Target="../media/image40.png"/><Relationship Id="rId9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41.png"/><Relationship Id="rId8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85.png"/><Relationship Id="rId4" Type="http://schemas.openxmlformats.org/officeDocument/2006/relationships/image" Target="../media/image46.png"/><Relationship Id="rId11" Type="http://schemas.openxmlformats.org/officeDocument/2006/relationships/image" Target="../media/image30.png"/><Relationship Id="rId10" Type="http://schemas.openxmlformats.org/officeDocument/2006/relationships/image" Target="../media/image49.png"/><Relationship Id="rId9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45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7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7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70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7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2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png"/><Relationship Id="rId4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1.png"/><Relationship Id="rId4" Type="http://schemas.openxmlformats.org/officeDocument/2006/relationships/image" Target="../media/image63.png"/><Relationship Id="rId5" Type="http://schemas.openxmlformats.org/officeDocument/2006/relationships/image" Target="../media/image7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medical professionals.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1154623"/>
            <a:ext cx="84369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formula is a rule linking sets of physical variables in context.</a:t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line graph is a graph where the points are connected by line segments. It shows how something changes in value, usually over time.</a:t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</a:t>
            </a:r>
            <a:r>
              <a:rPr lang="en-GB"/>
              <a:t> in medical professions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866" name="Google Shape;866;p7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50" y="174099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Interpreting data in medical professions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24000" y="759300"/>
            <a:ext cx="8496000" cy="7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a patient is closely monitored in a hospital, nurses may keep a record of the amount of fluid that enters and leaves their body. </a:t>
            </a:r>
            <a:endParaRPr sz="2000"/>
          </a:p>
        </p:txBody>
      </p:sp>
      <p:sp>
        <p:nvSpPr>
          <p:cNvPr id="875" name="Google Shape;875;p79"/>
          <p:cNvSpPr txBox="1"/>
          <p:nvPr>
            <p:ph idx="1" type="body"/>
          </p:nvPr>
        </p:nvSpPr>
        <p:spPr>
          <a:xfrm>
            <a:off x="324000" y="1597500"/>
            <a:ext cx="8496000" cy="3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Fluids </a:t>
            </a:r>
            <a:r>
              <a:rPr lang="en-GB" sz="2000">
                <a:solidFill>
                  <a:schemeClr val="accent4"/>
                </a:solidFill>
              </a:rPr>
              <a:t>entering</a:t>
            </a:r>
            <a:r>
              <a:rPr lang="en-GB" sz="2000"/>
              <a:t> the body include drinks, liquid medication (IV medication), IV fluids and blood transfusions. Fluids </a:t>
            </a:r>
            <a:r>
              <a:rPr lang="en-GB" sz="2000">
                <a:solidFill>
                  <a:schemeClr val="accent4"/>
                </a:solidFill>
              </a:rPr>
              <a:t>leaving</a:t>
            </a:r>
            <a:r>
              <a:rPr lang="en-GB" sz="2000"/>
              <a:t> the body include urine, vomit and fluid drains.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This information is used to calculate a </a:t>
            </a:r>
            <a:r>
              <a:rPr lang="en-GB" sz="2000">
                <a:solidFill>
                  <a:schemeClr val="accent4"/>
                </a:solidFill>
              </a:rPr>
              <a:t>fluid balance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fluid balance may be either </a:t>
            </a:r>
            <a:r>
              <a:rPr lang="en-GB" sz="2000">
                <a:solidFill>
                  <a:schemeClr val="accent4"/>
                </a:solidFill>
              </a:rPr>
              <a:t>positive</a:t>
            </a:r>
            <a:r>
              <a:rPr lang="en-GB" sz="2000"/>
              <a:t> or </a:t>
            </a:r>
            <a:r>
              <a:rPr lang="en-GB" sz="2000">
                <a:solidFill>
                  <a:schemeClr val="accent4"/>
                </a:solidFill>
              </a:rPr>
              <a:t>negative</a:t>
            </a:r>
            <a:r>
              <a:rPr lang="en-GB" sz="2000"/>
              <a:t>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positive number would indicate that more fluid has entered the body than left it. A negative number would indicate that more fluid has left the body than entered it.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80"/>
          <p:cNvSpPr txBox="1"/>
          <p:nvPr>
            <p:ph idx="1" type="body"/>
          </p:nvPr>
        </p:nvSpPr>
        <p:spPr>
          <a:xfrm>
            <a:off x="324000" y="759300"/>
            <a:ext cx="8237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nurse is examining a patient’s fluid balance chart.</a:t>
            </a:r>
            <a:endParaRPr sz="2000"/>
          </a:p>
        </p:txBody>
      </p:sp>
      <p:sp>
        <p:nvSpPr>
          <p:cNvPr id="881" name="Google Shape;88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in medical professions</a:t>
            </a:r>
            <a:endParaRPr/>
          </a:p>
        </p:txBody>
      </p:sp>
      <p:graphicFrame>
        <p:nvGraphicFramePr>
          <p:cNvPr id="882" name="Google Shape;882;p80"/>
          <p:cNvGraphicFramePr/>
          <p:nvPr/>
        </p:nvGraphicFramePr>
        <p:xfrm>
          <a:off x="489325" y="131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{55409BD7-C511-4B50-A34D-4ECA7A1CFEEE}</a:tableStyleId>
              </a:tblPr>
              <a:tblGrid>
                <a:gridCol w="1088900"/>
                <a:gridCol w="1396625"/>
                <a:gridCol w="1044950"/>
                <a:gridCol w="1088900"/>
                <a:gridCol w="1264750"/>
                <a:gridCol w="1176825"/>
                <a:gridCol w="1176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rink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rine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3" name="Google Shape;883;p80"/>
          <p:cNvSpPr txBox="1"/>
          <p:nvPr>
            <p:ph idx="1" type="body"/>
          </p:nvPr>
        </p:nvSpPr>
        <p:spPr>
          <a:xfrm>
            <a:off x="324000" y="3350100"/>
            <a:ext cx="8237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their fluid balance.</a:t>
            </a:r>
            <a:endParaRPr sz="2000"/>
          </a:p>
        </p:txBody>
      </p:sp>
      <p:sp>
        <p:nvSpPr>
          <p:cNvPr id="884" name="Google Shape;884;p80"/>
          <p:cNvSpPr txBox="1"/>
          <p:nvPr>
            <p:ph idx="1" type="body"/>
          </p:nvPr>
        </p:nvSpPr>
        <p:spPr>
          <a:xfrm>
            <a:off x="781200" y="3731100"/>
            <a:ext cx="43275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otal input: 100 + 500 = 600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781200" y="4150200"/>
            <a:ext cx="43275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Total output: 100 + 20 = 120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6" name="Google Shape;886;p80"/>
          <p:cNvSpPr txBox="1"/>
          <p:nvPr>
            <p:ph idx="1" type="body"/>
          </p:nvPr>
        </p:nvSpPr>
        <p:spPr>
          <a:xfrm>
            <a:off x="781200" y="4569300"/>
            <a:ext cx="3989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Fluid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balance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600 – 120 = 480 ml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7" name="Google Shape;887;p80"/>
          <p:cNvSpPr txBox="1"/>
          <p:nvPr>
            <p:ph idx="1" type="body"/>
          </p:nvPr>
        </p:nvSpPr>
        <p:spPr>
          <a:xfrm>
            <a:off x="5734200" y="4188300"/>
            <a:ext cx="2396400" cy="7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patient’s fluid balance is positive.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nurse is examining a patient’s fluid balance chart.</a:t>
            </a:r>
            <a:endParaRPr sz="2000"/>
          </a:p>
        </p:txBody>
      </p:sp>
      <p:sp>
        <p:nvSpPr>
          <p:cNvPr id="893" name="Google Shape;89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graphicFrame>
        <p:nvGraphicFramePr>
          <p:cNvPr id="894" name="Google Shape;894;p81"/>
          <p:cNvGraphicFramePr/>
          <p:nvPr/>
        </p:nvGraphicFramePr>
        <p:xfrm>
          <a:off x="489325" y="131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{55409BD7-C511-4B50-A34D-4ECA7A1CFEEE}</a:tableStyleId>
              </a:tblPr>
              <a:tblGrid>
                <a:gridCol w="1088900"/>
                <a:gridCol w="1396625"/>
                <a:gridCol w="1044950"/>
                <a:gridCol w="1088900"/>
                <a:gridCol w="1264750"/>
                <a:gridCol w="1176825"/>
                <a:gridCol w="1176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5" name="Google Shape;895;p81"/>
          <p:cNvSpPr txBox="1"/>
          <p:nvPr>
            <p:ph idx="1" type="body"/>
          </p:nvPr>
        </p:nvSpPr>
        <p:spPr>
          <a:xfrm>
            <a:off x="324000" y="3350100"/>
            <a:ext cx="8237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 total input.</a:t>
            </a:r>
            <a:endParaRPr sz="2000"/>
          </a:p>
        </p:txBody>
      </p:sp>
      <p:sp>
        <p:nvSpPr>
          <p:cNvPr id="896" name="Google Shape;896;p81"/>
          <p:cNvSpPr txBox="1"/>
          <p:nvPr>
            <p:ph idx="1" type="body"/>
          </p:nvPr>
        </p:nvSpPr>
        <p:spPr>
          <a:xfrm>
            <a:off x="781200" y="3883500"/>
            <a:ext cx="43275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+ 10 = 160 ml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nurse is examining a patient’s fluid balance chart.</a:t>
            </a:r>
            <a:endParaRPr sz="2000"/>
          </a:p>
        </p:txBody>
      </p:sp>
      <p:sp>
        <p:nvSpPr>
          <p:cNvPr id="902" name="Google Shape;90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graphicFrame>
        <p:nvGraphicFramePr>
          <p:cNvPr id="903" name="Google Shape;903;p82"/>
          <p:cNvGraphicFramePr/>
          <p:nvPr/>
        </p:nvGraphicFramePr>
        <p:xfrm>
          <a:off x="489325" y="131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{55409BD7-C511-4B50-A34D-4ECA7A1CFEEE}</a:tableStyleId>
              </a:tblPr>
              <a:tblGrid>
                <a:gridCol w="1088900"/>
                <a:gridCol w="1396625"/>
                <a:gridCol w="1044950"/>
                <a:gridCol w="1088900"/>
                <a:gridCol w="1264750"/>
                <a:gridCol w="1176825"/>
                <a:gridCol w="1176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4" name="Google Shape;904;p82"/>
          <p:cNvSpPr txBox="1"/>
          <p:nvPr>
            <p:ph idx="1" type="body"/>
          </p:nvPr>
        </p:nvSpPr>
        <p:spPr>
          <a:xfrm>
            <a:off x="324000" y="3350100"/>
            <a:ext cx="8237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 total output.</a:t>
            </a:r>
            <a:endParaRPr sz="2000"/>
          </a:p>
        </p:txBody>
      </p:sp>
      <p:sp>
        <p:nvSpPr>
          <p:cNvPr id="905" name="Google Shape;905;p82"/>
          <p:cNvSpPr txBox="1"/>
          <p:nvPr>
            <p:ph idx="1" type="body"/>
          </p:nvPr>
        </p:nvSpPr>
        <p:spPr>
          <a:xfrm>
            <a:off x="781200" y="3883500"/>
            <a:ext cx="43275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+ 10 = 210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nurse is examining a patient’s fluid balance chart.</a:t>
            </a:r>
            <a:endParaRPr sz="2000"/>
          </a:p>
        </p:txBody>
      </p:sp>
      <p:sp>
        <p:nvSpPr>
          <p:cNvPr id="911" name="Google Shape;91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graphicFrame>
        <p:nvGraphicFramePr>
          <p:cNvPr id="912" name="Google Shape;912;p83"/>
          <p:cNvGraphicFramePr/>
          <p:nvPr/>
        </p:nvGraphicFramePr>
        <p:xfrm>
          <a:off x="489325" y="131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{55409BD7-C511-4B50-A34D-4ECA7A1CFEEE}</a:tableStyleId>
              </a:tblPr>
              <a:tblGrid>
                <a:gridCol w="1088900"/>
                <a:gridCol w="1396625"/>
                <a:gridCol w="1044950"/>
                <a:gridCol w="1088900"/>
                <a:gridCol w="1264750"/>
                <a:gridCol w="1176825"/>
                <a:gridCol w="1176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3" name="Google Shape;913;p83"/>
          <p:cNvSpPr txBox="1"/>
          <p:nvPr>
            <p:ph idx="1" type="body"/>
          </p:nvPr>
        </p:nvSpPr>
        <p:spPr>
          <a:xfrm>
            <a:off x="324000" y="3350100"/>
            <a:ext cx="8237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 fluid balance.</a:t>
            </a:r>
            <a:endParaRPr sz="2000"/>
          </a:p>
        </p:txBody>
      </p:sp>
      <p:sp>
        <p:nvSpPr>
          <p:cNvPr id="914" name="Google Shape;914;p83"/>
          <p:cNvSpPr txBox="1"/>
          <p:nvPr>
            <p:ph idx="1" type="body"/>
          </p:nvPr>
        </p:nvSpPr>
        <p:spPr>
          <a:xfrm>
            <a:off x="781200" y="3883500"/>
            <a:ext cx="43275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160 –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210 = -50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83"/>
          <p:cNvSpPr txBox="1"/>
          <p:nvPr>
            <p:ph idx="1" type="body"/>
          </p:nvPr>
        </p:nvSpPr>
        <p:spPr>
          <a:xfrm>
            <a:off x="781200" y="4340700"/>
            <a:ext cx="49338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patient’s fluid balance is negative.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4"/>
          <p:cNvSpPr txBox="1"/>
          <p:nvPr>
            <p:ph idx="1" type="body"/>
          </p:nvPr>
        </p:nvSpPr>
        <p:spPr>
          <a:xfrm>
            <a:off x="324000" y="759300"/>
            <a:ext cx="8237700" cy="6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table shows a patient’s fluid input and output records during four hours.</a:t>
            </a:r>
            <a:br>
              <a:rPr lang="en-GB" sz="1600"/>
            </a:br>
            <a:r>
              <a:rPr lang="en-GB" sz="1600"/>
              <a:t>a) Calculate the fluid balance for each hour.</a:t>
            </a:r>
            <a:endParaRPr sz="1600"/>
          </a:p>
        </p:txBody>
      </p:sp>
      <p:sp>
        <p:nvSpPr>
          <p:cNvPr id="921" name="Google Shape;921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graphicFrame>
        <p:nvGraphicFramePr>
          <p:cNvPr id="922" name="Google Shape;922;p84"/>
          <p:cNvGraphicFramePr/>
          <p:nvPr/>
        </p:nvGraphicFramePr>
        <p:xfrm>
          <a:off x="324000" y="142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{55409BD7-C511-4B50-A34D-4ECA7A1CFEEE}</a:tableStyleId>
              </a:tblPr>
              <a:tblGrid>
                <a:gridCol w="801800"/>
                <a:gridCol w="831850"/>
                <a:gridCol w="1330050"/>
                <a:gridCol w="1080950"/>
                <a:gridCol w="963725"/>
                <a:gridCol w="1198175"/>
                <a:gridCol w="1080950"/>
                <a:gridCol w="103942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3" name="Google Shape;923;p84"/>
          <p:cNvSpPr txBox="1"/>
          <p:nvPr>
            <p:ph idx="1" type="body"/>
          </p:nvPr>
        </p:nvSpPr>
        <p:spPr>
          <a:xfrm>
            <a:off x="324000" y="4525338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Calculate the overall fluid balance for the entire 4-hour period.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table shows a patient’s fluid input and output records during four hours.</a:t>
            </a:r>
            <a:br>
              <a:rPr lang="en-GB" sz="1600"/>
            </a:br>
            <a:r>
              <a:rPr lang="en-GB" sz="1600"/>
              <a:t>a) Calculate the fluid balance for each hour.</a:t>
            </a:r>
            <a:endParaRPr sz="1600"/>
          </a:p>
        </p:txBody>
      </p:sp>
      <p:sp>
        <p:nvSpPr>
          <p:cNvPr id="929" name="Google Shape;929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graphicFrame>
        <p:nvGraphicFramePr>
          <p:cNvPr id="930" name="Google Shape;930;p85"/>
          <p:cNvGraphicFramePr/>
          <p:nvPr/>
        </p:nvGraphicFramePr>
        <p:xfrm>
          <a:off x="324000" y="142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{55409BD7-C511-4B50-A34D-4ECA7A1CFEEE}</a:tableStyleId>
              </a:tblPr>
              <a:tblGrid>
                <a:gridCol w="801800"/>
                <a:gridCol w="831850"/>
                <a:gridCol w="1330050"/>
                <a:gridCol w="1080950"/>
                <a:gridCol w="963725"/>
                <a:gridCol w="1198175"/>
                <a:gridCol w="1080950"/>
                <a:gridCol w="103942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1" name="Google Shape;931;p85"/>
          <p:cNvSpPr txBox="1"/>
          <p:nvPr>
            <p:ph idx="1" type="body"/>
          </p:nvPr>
        </p:nvSpPr>
        <p:spPr>
          <a:xfrm>
            <a:off x="324000" y="4525338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Calculate the overall fluid balance for the entire 4-hour period.</a:t>
            </a:r>
            <a:endParaRPr sz="1600"/>
          </a:p>
        </p:txBody>
      </p:sp>
      <p:sp>
        <p:nvSpPr>
          <p:cNvPr id="932" name="Google Shape;932;p85"/>
          <p:cNvSpPr txBox="1"/>
          <p:nvPr>
            <p:ph idx="4294967295" type="body"/>
          </p:nvPr>
        </p:nvSpPr>
        <p:spPr>
          <a:xfrm>
            <a:off x="7687700" y="2640875"/>
            <a:ext cx="582600" cy="2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85"/>
          <p:cNvSpPr txBox="1"/>
          <p:nvPr>
            <p:ph idx="4294967295" type="body"/>
          </p:nvPr>
        </p:nvSpPr>
        <p:spPr>
          <a:xfrm>
            <a:off x="7687700" y="3066845"/>
            <a:ext cx="582600" cy="2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-190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85"/>
          <p:cNvSpPr txBox="1"/>
          <p:nvPr>
            <p:ph idx="4294967295" type="body"/>
          </p:nvPr>
        </p:nvSpPr>
        <p:spPr>
          <a:xfrm>
            <a:off x="7687700" y="3508431"/>
            <a:ext cx="582600" cy="2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-90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85"/>
          <p:cNvSpPr txBox="1"/>
          <p:nvPr>
            <p:ph idx="4294967295" type="body"/>
          </p:nvPr>
        </p:nvSpPr>
        <p:spPr>
          <a:xfrm>
            <a:off x="7687700" y="3920660"/>
            <a:ext cx="582600" cy="2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265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85"/>
          <p:cNvSpPr txBox="1"/>
          <p:nvPr>
            <p:ph idx="4294967295" type="body"/>
          </p:nvPr>
        </p:nvSpPr>
        <p:spPr>
          <a:xfrm>
            <a:off x="6925700" y="4530250"/>
            <a:ext cx="1123800" cy="2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sp>
        <p:nvSpPr>
          <p:cNvPr id="942" name="Google Shape;942;p8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943" name="Google Shape;943;p8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pic>
        <p:nvPicPr>
          <p:cNvPr id="944" name="Google Shape;94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17" y="2766066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951" name="Google Shape;951;p87"/>
          <p:cNvSpPr txBox="1"/>
          <p:nvPr>
            <p:ph idx="1" type="body"/>
          </p:nvPr>
        </p:nvSpPr>
        <p:spPr>
          <a:xfrm>
            <a:off x="324000" y="1225800"/>
            <a:ext cx="8496000" cy="35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lang="en-GB" sz="1900">
                <a:solidFill>
                  <a:schemeClr val="accent5"/>
                </a:solidFill>
              </a:rPr>
              <a:t>amount</a:t>
            </a:r>
            <a:r>
              <a:rPr lang="en-GB" sz="1900"/>
              <a:t> that is prescribed differs depending on the patient’s condition and the drug that is being used.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Some drugs may be given as tablets, others may be as liquids.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Liquid drugs may be given </a:t>
            </a:r>
            <a:r>
              <a:rPr lang="en-GB" sz="1900">
                <a:solidFill>
                  <a:schemeClr val="accent5"/>
                </a:solidFill>
              </a:rPr>
              <a:t>gradually over a period of time</a:t>
            </a:r>
            <a:r>
              <a:rPr lang="en-GB" sz="1900"/>
              <a:t> by using an intravenous (IV) drip.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lang="en-GB" sz="1900">
                <a:solidFill>
                  <a:schemeClr val="accent5"/>
                </a:solidFill>
              </a:rPr>
              <a:t>rate</a:t>
            </a:r>
            <a:r>
              <a:rPr lang="en-GB" sz="1900"/>
              <a:t> at which a drug is given through a drip can depend on many factors, such as the amount of drug required, the time period and the mass of the patient.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These values can be calculated using </a:t>
            </a:r>
            <a:r>
              <a:rPr lang="en-GB" sz="1900">
                <a:solidFill>
                  <a:schemeClr val="accent5"/>
                </a:solidFill>
              </a:rPr>
              <a:t>formulae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952" name="Google Shape;952;p87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When patients are in hospital, they may be prescribed drugs.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958" name="Google Shape;958;p88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Amiodarone is a drug that can be used to treat some heart conditions.</a:t>
            </a:r>
            <a:br>
              <a:rPr lang="en-GB" sz="1900"/>
            </a:b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</p:txBody>
      </p:sp>
      <p:sp>
        <p:nvSpPr>
          <p:cNvPr id="959" name="Google Shape;959;p88"/>
          <p:cNvSpPr txBox="1"/>
          <p:nvPr>
            <p:ph idx="1" type="body"/>
          </p:nvPr>
        </p:nvSpPr>
        <p:spPr>
          <a:xfrm>
            <a:off x="2305200" y="28132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(mg) </a:t>
            </a:r>
            <a:endParaRPr sz="1800"/>
          </a:p>
        </p:txBody>
      </p:sp>
      <p:sp>
        <p:nvSpPr>
          <p:cNvPr id="960" name="Google Shape;960;p88"/>
          <p:cNvSpPr txBox="1"/>
          <p:nvPr>
            <p:ph idx="1" type="body"/>
          </p:nvPr>
        </p:nvSpPr>
        <p:spPr>
          <a:xfrm>
            <a:off x="324000" y="29656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</a:t>
            </a:r>
            <a:r>
              <a:rPr lang="en-GB" sz="1800">
                <a:solidFill>
                  <a:schemeClr val="accent5"/>
                </a:solidFill>
              </a:rPr>
              <a:t>       </a:t>
            </a:r>
            <a:r>
              <a:rPr lang="en-GB" sz="1800"/>
              <a:t> = </a:t>
            </a:r>
            <a:endParaRPr sz="1800"/>
          </a:p>
        </p:txBody>
      </p:sp>
      <p:cxnSp>
        <p:nvCxnSpPr>
          <p:cNvPr id="961" name="Google Shape;961;p88"/>
          <p:cNvCxnSpPr/>
          <p:nvPr/>
        </p:nvCxnSpPr>
        <p:spPr>
          <a:xfrm>
            <a:off x="2253245" y="31530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88"/>
          <p:cNvSpPr txBox="1"/>
          <p:nvPr>
            <p:ph idx="1" type="body"/>
          </p:nvPr>
        </p:nvSpPr>
        <p:spPr>
          <a:xfrm>
            <a:off x="2305200" y="31942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963" name="Google Shape;963;p88"/>
          <p:cNvSpPr txBox="1"/>
          <p:nvPr>
            <p:ph idx="1" type="body"/>
          </p:nvPr>
        </p:nvSpPr>
        <p:spPr>
          <a:xfrm>
            <a:off x="5124600" y="2965625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volume of each vial (ml) </a:t>
            </a:r>
            <a:endParaRPr sz="1800"/>
          </a:p>
        </p:txBody>
      </p:sp>
      <p:sp>
        <p:nvSpPr>
          <p:cNvPr id="964" name="Google Shape;964;p88"/>
          <p:cNvSpPr txBox="1"/>
          <p:nvPr>
            <p:ph idx="1" type="body"/>
          </p:nvPr>
        </p:nvSpPr>
        <p:spPr>
          <a:xfrm>
            <a:off x="324000" y="2214796"/>
            <a:ext cx="8237700" cy="5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Use the formula to calculate the drug dosage required.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226974" y="3883025"/>
            <a:ext cx="4879626" cy="8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971" name="Google Shape;971;p89"/>
          <p:cNvSpPr txBox="1"/>
          <p:nvPr>
            <p:ph idx="1" type="body"/>
          </p:nvPr>
        </p:nvSpPr>
        <p:spPr>
          <a:xfrm>
            <a:off x="324000" y="759300"/>
            <a:ext cx="8237700" cy="19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Amiodarone is a drug that can be used to treat some heart conditions.</a:t>
            </a:r>
            <a:br>
              <a:rPr lang="en-GB" sz="1900"/>
            </a:b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Use the formula to calculate the drug dosage required.</a:t>
            </a:r>
            <a:endParaRPr sz="1900"/>
          </a:p>
        </p:txBody>
      </p:sp>
      <p:sp>
        <p:nvSpPr>
          <p:cNvPr id="972" name="Google Shape;972;p89"/>
          <p:cNvSpPr txBox="1"/>
          <p:nvPr>
            <p:ph idx="1" type="body"/>
          </p:nvPr>
        </p:nvSpPr>
        <p:spPr>
          <a:xfrm>
            <a:off x="2305200" y="28132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</a:t>
            </a:r>
            <a:r>
              <a:rPr lang="en-GB" sz="1800">
                <a:solidFill>
                  <a:schemeClr val="accent5"/>
                </a:solidFill>
              </a:rPr>
              <a:t>(mg)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973" name="Google Shape;97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9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9"/>
          <p:cNvSpPr txBox="1"/>
          <p:nvPr>
            <p:ph idx="1" type="body"/>
          </p:nvPr>
        </p:nvSpPr>
        <p:spPr>
          <a:xfrm>
            <a:off x="3456325" y="4264500"/>
            <a:ext cx="45222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units for the drug dose will be ml. </a:t>
            </a:r>
            <a:endParaRPr sz="1900"/>
          </a:p>
        </p:txBody>
      </p:sp>
      <p:sp>
        <p:nvSpPr>
          <p:cNvPr id="976" name="Google Shape;976;p89"/>
          <p:cNvSpPr txBox="1"/>
          <p:nvPr>
            <p:ph idx="1" type="body"/>
          </p:nvPr>
        </p:nvSpPr>
        <p:spPr>
          <a:xfrm>
            <a:off x="324000" y="29656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</a:t>
            </a:r>
            <a:r>
              <a:rPr lang="en-GB" sz="1800">
                <a:solidFill>
                  <a:schemeClr val="accent5"/>
                </a:solidFill>
              </a:rPr>
              <a:t>       </a:t>
            </a:r>
            <a:r>
              <a:rPr lang="en-GB" sz="1800"/>
              <a:t> = </a:t>
            </a:r>
            <a:endParaRPr sz="1800"/>
          </a:p>
        </p:txBody>
      </p:sp>
      <p:cxnSp>
        <p:nvCxnSpPr>
          <p:cNvPr id="977" name="Google Shape;977;p89"/>
          <p:cNvCxnSpPr/>
          <p:nvPr/>
        </p:nvCxnSpPr>
        <p:spPr>
          <a:xfrm>
            <a:off x="2253245" y="31530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8" name="Google Shape;978;p89"/>
          <p:cNvSpPr txBox="1"/>
          <p:nvPr>
            <p:ph idx="1" type="body"/>
          </p:nvPr>
        </p:nvSpPr>
        <p:spPr>
          <a:xfrm>
            <a:off x="2305200" y="31942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</a:t>
            </a:r>
            <a:r>
              <a:rPr lang="en-GB" sz="1800">
                <a:solidFill>
                  <a:schemeClr val="accent5"/>
                </a:solidFill>
              </a:rPr>
              <a:t>(mg)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79" name="Google Shape;979;p89"/>
          <p:cNvSpPr txBox="1"/>
          <p:nvPr>
            <p:ph idx="1" type="body"/>
          </p:nvPr>
        </p:nvSpPr>
        <p:spPr>
          <a:xfrm>
            <a:off x="5124600" y="2965625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volume of each vial </a:t>
            </a:r>
            <a:r>
              <a:rPr lang="en-GB" sz="1800">
                <a:solidFill>
                  <a:schemeClr val="accent5"/>
                </a:solidFill>
              </a:rPr>
              <a:t>(ml) 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980" name="Google Shape;980;p89"/>
          <p:cNvCxnSpPr/>
          <p:nvPr/>
        </p:nvCxnSpPr>
        <p:spPr>
          <a:xfrm flipH="1" rot="10800000">
            <a:off x="4536300" y="2848963"/>
            <a:ext cx="360900" cy="227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89"/>
          <p:cNvCxnSpPr/>
          <p:nvPr/>
        </p:nvCxnSpPr>
        <p:spPr>
          <a:xfrm flipH="1" rot="10800000">
            <a:off x="4207066" y="3240316"/>
            <a:ext cx="360900" cy="227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89"/>
          <p:cNvSpPr txBox="1"/>
          <p:nvPr>
            <p:ph idx="1" type="body"/>
          </p:nvPr>
        </p:nvSpPr>
        <p:spPr>
          <a:xfrm>
            <a:off x="1512140" y="29681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(ml)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119200" y="3793175"/>
            <a:ext cx="5857375" cy="10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989" name="Google Shape;989;p90"/>
          <p:cNvSpPr txBox="1"/>
          <p:nvPr>
            <p:ph idx="1" type="body"/>
          </p:nvPr>
        </p:nvSpPr>
        <p:spPr>
          <a:xfrm>
            <a:off x="324000" y="759300"/>
            <a:ext cx="8237700" cy="19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Amiodarone is a drug that can be used to treat some heart conditions.</a:t>
            </a:r>
            <a:br>
              <a:rPr lang="en-GB" sz="1900"/>
            </a:b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Use the formula to calculate the drug dosage required.</a:t>
            </a:r>
            <a:endParaRPr sz="1900"/>
          </a:p>
        </p:txBody>
      </p:sp>
      <p:sp>
        <p:nvSpPr>
          <p:cNvPr id="990" name="Google Shape;990;p90"/>
          <p:cNvSpPr txBox="1"/>
          <p:nvPr>
            <p:ph idx="1" type="body"/>
          </p:nvPr>
        </p:nvSpPr>
        <p:spPr>
          <a:xfrm>
            <a:off x="2305200" y="28132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(mg) </a:t>
            </a:r>
            <a:endParaRPr sz="1800"/>
          </a:p>
        </p:txBody>
      </p:sp>
      <p:pic>
        <p:nvPicPr>
          <p:cNvPr id="991" name="Google Shape;99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90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90"/>
          <p:cNvSpPr txBox="1"/>
          <p:nvPr>
            <p:ph idx="1" type="body"/>
          </p:nvPr>
        </p:nvSpPr>
        <p:spPr>
          <a:xfrm>
            <a:off x="2253250" y="4112100"/>
            <a:ext cx="56277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 can substitute in values from the information to calculate the required drug dose.</a:t>
            </a:r>
            <a:endParaRPr sz="1900"/>
          </a:p>
        </p:txBody>
      </p:sp>
      <p:sp>
        <p:nvSpPr>
          <p:cNvPr id="994" name="Google Shape;994;p90"/>
          <p:cNvSpPr txBox="1"/>
          <p:nvPr>
            <p:ph idx="1" type="body"/>
          </p:nvPr>
        </p:nvSpPr>
        <p:spPr>
          <a:xfrm>
            <a:off x="324000" y="29656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995" name="Google Shape;995;p90"/>
          <p:cNvCxnSpPr/>
          <p:nvPr/>
        </p:nvCxnSpPr>
        <p:spPr>
          <a:xfrm>
            <a:off x="2253245" y="31530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90"/>
          <p:cNvSpPr txBox="1"/>
          <p:nvPr>
            <p:ph idx="1" type="body"/>
          </p:nvPr>
        </p:nvSpPr>
        <p:spPr>
          <a:xfrm>
            <a:off x="2305200" y="31942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997" name="Google Shape;997;p90"/>
          <p:cNvSpPr txBox="1"/>
          <p:nvPr>
            <p:ph idx="1" type="body"/>
          </p:nvPr>
        </p:nvSpPr>
        <p:spPr>
          <a:xfrm>
            <a:off x="5124600" y="2965625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volume of each vial (ml) </a:t>
            </a:r>
            <a:endParaRPr sz="1800"/>
          </a:p>
        </p:txBody>
      </p:sp>
      <p:sp>
        <p:nvSpPr>
          <p:cNvPr id="998" name="Google Shape;998;p90"/>
          <p:cNvSpPr txBox="1"/>
          <p:nvPr>
            <p:ph idx="1" type="body"/>
          </p:nvPr>
        </p:nvSpPr>
        <p:spPr>
          <a:xfrm>
            <a:off x="1512140" y="29681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004" name="Google Shape;1004;p91"/>
          <p:cNvSpPr txBox="1"/>
          <p:nvPr>
            <p:ph idx="1" type="body"/>
          </p:nvPr>
        </p:nvSpPr>
        <p:spPr>
          <a:xfrm>
            <a:off x="324000" y="759300"/>
            <a:ext cx="8237700" cy="19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Amiodarone is a drug that can be used to treat some heart conditions.</a:t>
            </a:r>
            <a:br>
              <a:rPr lang="en-GB" sz="1900"/>
            </a:b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Use the formula to calculate the drug dosage required.</a:t>
            </a:r>
            <a:endParaRPr sz="1900"/>
          </a:p>
        </p:txBody>
      </p:sp>
      <p:sp>
        <p:nvSpPr>
          <p:cNvPr id="1005" name="Google Shape;1005;p91"/>
          <p:cNvSpPr txBox="1"/>
          <p:nvPr>
            <p:ph idx="1" type="body"/>
          </p:nvPr>
        </p:nvSpPr>
        <p:spPr>
          <a:xfrm>
            <a:off x="2305200" y="28132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(mg) </a:t>
            </a:r>
            <a:endParaRPr sz="1800"/>
          </a:p>
        </p:txBody>
      </p:sp>
      <p:pic>
        <p:nvPicPr>
          <p:cNvPr id="1006" name="Google Shape;100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91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91"/>
          <p:cNvSpPr txBox="1"/>
          <p:nvPr>
            <p:ph idx="1" type="body"/>
          </p:nvPr>
        </p:nvSpPr>
        <p:spPr>
          <a:xfrm>
            <a:off x="324000" y="29656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009" name="Google Shape;1009;p91"/>
          <p:cNvCxnSpPr/>
          <p:nvPr/>
        </p:nvCxnSpPr>
        <p:spPr>
          <a:xfrm>
            <a:off x="2253245" y="31530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0" name="Google Shape;1010;p91"/>
          <p:cNvSpPr txBox="1"/>
          <p:nvPr>
            <p:ph idx="1" type="body"/>
          </p:nvPr>
        </p:nvSpPr>
        <p:spPr>
          <a:xfrm>
            <a:off x="2305200" y="31942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011" name="Google Shape;1011;p91"/>
          <p:cNvSpPr txBox="1"/>
          <p:nvPr>
            <p:ph idx="1" type="body"/>
          </p:nvPr>
        </p:nvSpPr>
        <p:spPr>
          <a:xfrm>
            <a:off x="5124600" y="2965625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volume of each vial (ml) </a:t>
            </a:r>
            <a:endParaRPr sz="1800"/>
          </a:p>
        </p:txBody>
      </p:sp>
      <p:sp>
        <p:nvSpPr>
          <p:cNvPr id="1012" name="Google Shape;1012;p91"/>
          <p:cNvSpPr txBox="1"/>
          <p:nvPr>
            <p:ph idx="1" type="body"/>
          </p:nvPr>
        </p:nvSpPr>
        <p:spPr>
          <a:xfrm>
            <a:off x="1512140" y="29681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sp>
        <p:nvSpPr>
          <p:cNvPr id="1013" name="Google Shape;1013;p91"/>
          <p:cNvSpPr txBox="1"/>
          <p:nvPr>
            <p:ph idx="1" type="body"/>
          </p:nvPr>
        </p:nvSpPr>
        <p:spPr>
          <a:xfrm>
            <a:off x="2305200" y="36514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91"/>
          <p:cNvSpPr txBox="1"/>
          <p:nvPr>
            <p:ph idx="1" type="body"/>
          </p:nvPr>
        </p:nvSpPr>
        <p:spPr>
          <a:xfrm>
            <a:off x="1913847" y="3824532"/>
            <a:ext cx="24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=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5" name="Google Shape;1015;p91"/>
          <p:cNvCxnSpPr/>
          <p:nvPr/>
        </p:nvCxnSpPr>
        <p:spPr>
          <a:xfrm>
            <a:off x="2253245" y="3991241"/>
            <a:ext cx="542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91"/>
          <p:cNvSpPr txBox="1"/>
          <p:nvPr>
            <p:ph idx="1" type="body"/>
          </p:nvPr>
        </p:nvSpPr>
        <p:spPr>
          <a:xfrm>
            <a:off x="2305200" y="40324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91"/>
          <p:cNvSpPr txBox="1"/>
          <p:nvPr>
            <p:ph idx="1" type="body"/>
          </p:nvPr>
        </p:nvSpPr>
        <p:spPr>
          <a:xfrm>
            <a:off x="2935507" y="3828259"/>
            <a:ext cx="555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91"/>
          <p:cNvSpPr txBox="1"/>
          <p:nvPr>
            <p:ph idx="1" type="body"/>
          </p:nvPr>
        </p:nvSpPr>
        <p:spPr>
          <a:xfrm>
            <a:off x="1913874" y="4510325"/>
            <a:ext cx="1021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18 ml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19" name="Google Shape;1019;p91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rot="10800000">
            <a:off x="4419602" y="3623801"/>
            <a:ext cx="3759498" cy="119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1"/>
          <p:cNvSpPr txBox="1"/>
          <p:nvPr>
            <p:ph idx="1" type="body"/>
          </p:nvPr>
        </p:nvSpPr>
        <p:spPr>
          <a:xfrm>
            <a:off x="4546040" y="3866553"/>
            <a:ext cx="3359400" cy="8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</a:t>
            </a:r>
            <a:r>
              <a:rPr lang="en-GB" sz="1800"/>
              <a:t>ml of liquid would be required so that the patient receives 900 mg of the drug.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687650" y="3793175"/>
            <a:ext cx="6288925" cy="10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027" name="Google Shape;1027;p92"/>
          <p:cNvSpPr txBox="1"/>
          <p:nvPr>
            <p:ph idx="1" type="body"/>
          </p:nvPr>
        </p:nvSpPr>
        <p:spPr>
          <a:xfrm>
            <a:off x="324000" y="759300"/>
            <a:ext cx="82377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formula can be </a:t>
            </a:r>
            <a:r>
              <a:rPr lang="en-GB" sz="1900"/>
              <a:t>interpreted</a:t>
            </a:r>
            <a:r>
              <a:rPr lang="en-GB" sz="1900"/>
              <a:t> in different ways for this context</a:t>
            </a:r>
            <a:r>
              <a:rPr lang="en-GB" sz="1900"/>
              <a:t>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</p:txBody>
      </p:sp>
      <p:sp>
        <p:nvSpPr>
          <p:cNvPr id="1028" name="Google Shape;1028;p92"/>
          <p:cNvSpPr txBox="1"/>
          <p:nvPr>
            <p:ph idx="1" type="body"/>
          </p:nvPr>
        </p:nvSpPr>
        <p:spPr>
          <a:xfrm>
            <a:off x="2305200" y="25084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(mg) </a:t>
            </a:r>
            <a:endParaRPr sz="1800"/>
          </a:p>
        </p:txBody>
      </p:sp>
      <p:pic>
        <p:nvPicPr>
          <p:cNvPr id="1029" name="Google Shape;102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2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2"/>
          <p:cNvSpPr txBox="1"/>
          <p:nvPr>
            <p:ph idx="1" type="body"/>
          </p:nvPr>
        </p:nvSpPr>
        <p:spPr>
          <a:xfrm>
            <a:off x="324000" y="26608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032" name="Google Shape;1032;p92"/>
          <p:cNvCxnSpPr/>
          <p:nvPr/>
        </p:nvCxnSpPr>
        <p:spPr>
          <a:xfrm>
            <a:off x="2253245" y="28482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92"/>
          <p:cNvSpPr txBox="1"/>
          <p:nvPr>
            <p:ph idx="1" type="body"/>
          </p:nvPr>
        </p:nvSpPr>
        <p:spPr>
          <a:xfrm>
            <a:off x="2305200" y="28894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034" name="Google Shape;1034;p92"/>
          <p:cNvSpPr txBox="1"/>
          <p:nvPr>
            <p:ph idx="1" type="body"/>
          </p:nvPr>
        </p:nvSpPr>
        <p:spPr>
          <a:xfrm>
            <a:off x="5124600" y="2660825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volume of each vial (ml) </a:t>
            </a:r>
            <a:endParaRPr sz="1800"/>
          </a:p>
        </p:txBody>
      </p:sp>
      <p:sp>
        <p:nvSpPr>
          <p:cNvPr id="1035" name="Google Shape;1035;p92"/>
          <p:cNvSpPr txBox="1"/>
          <p:nvPr>
            <p:ph idx="1" type="body"/>
          </p:nvPr>
        </p:nvSpPr>
        <p:spPr>
          <a:xfrm>
            <a:off x="1512140" y="26633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sp>
        <p:nvSpPr>
          <p:cNvPr id="1036" name="Google Shape;1036;p92"/>
          <p:cNvSpPr/>
          <p:nvPr/>
        </p:nvSpPr>
        <p:spPr>
          <a:xfrm>
            <a:off x="2215600" y="2366500"/>
            <a:ext cx="2857500" cy="911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2"/>
          <p:cNvSpPr txBox="1"/>
          <p:nvPr>
            <p:ph idx="1" type="body"/>
          </p:nvPr>
        </p:nvSpPr>
        <p:spPr>
          <a:xfrm>
            <a:off x="1770500" y="4112100"/>
            <a:ext cx="61107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In this case, the division calculates the number of vials required to administer 900 mg of the drug.</a:t>
            </a:r>
            <a:endParaRPr sz="1900"/>
          </a:p>
        </p:txBody>
      </p:sp>
      <p:sp>
        <p:nvSpPr>
          <p:cNvPr id="1038" name="Google Shape;1038;p92"/>
          <p:cNvSpPr txBox="1"/>
          <p:nvPr>
            <p:ph idx="1" type="body"/>
          </p:nvPr>
        </p:nvSpPr>
        <p:spPr>
          <a:xfrm>
            <a:off x="2229000" y="34990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 ÷ 150 = 6 vials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35170" y="4215657"/>
            <a:ext cx="7350724" cy="5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045" name="Google Shape;1045;p93"/>
          <p:cNvSpPr txBox="1"/>
          <p:nvPr>
            <p:ph idx="1" type="body"/>
          </p:nvPr>
        </p:nvSpPr>
        <p:spPr>
          <a:xfrm>
            <a:off x="324000" y="759300"/>
            <a:ext cx="82377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formula can be interpreted in different ways for this context.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</p:txBody>
      </p:sp>
      <p:sp>
        <p:nvSpPr>
          <p:cNvPr id="1046" name="Google Shape;1046;p93"/>
          <p:cNvSpPr txBox="1"/>
          <p:nvPr>
            <p:ph idx="1" type="body"/>
          </p:nvPr>
        </p:nvSpPr>
        <p:spPr>
          <a:xfrm>
            <a:off x="2305200" y="25084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(mg) </a:t>
            </a:r>
            <a:endParaRPr sz="1800"/>
          </a:p>
        </p:txBody>
      </p:sp>
      <p:pic>
        <p:nvPicPr>
          <p:cNvPr id="1047" name="Google Shape;104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3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3"/>
          <p:cNvSpPr txBox="1"/>
          <p:nvPr>
            <p:ph idx="1" type="body"/>
          </p:nvPr>
        </p:nvSpPr>
        <p:spPr>
          <a:xfrm>
            <a:off x="324000" y="26608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050" name="Google Shape;1050;p93"/>
          <p:cNvCxnSpPr/>
          <p:nvPr/>
        </p:nvCxnSpPr>
        <p:spPr>
          <a:xfrm>
            <a:off x="2253245" y="28482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1" name="Google Shape;1051;p93"/>
          <p:cNvSpPr txBox="1"/>
          <p:nvPr>
            <p:ph idx="1" type="body"/>
          </p:nvPr>
        </p:nvSpPr>
        <p:spPr>
          <a:xfrm>
            <a:off x="2305200" y="28894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052" name="Google Shape;1052;p93"/>
          <p:cNvSpPr txBox="1"/>
          <p:nvPr>
            <p:ph idx="1" type="body"/>
          </p:nvPr>
        </p:nvSpPr>
        <p:spPr>
          <a:xfrm>
            <a:off x="5124600" y="2660825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volume of each vial (ml) </a:t>
            </a:r>
            <a:endParaRPr sz="1800"/>
          </a:p>
        </p:txBody>
      </p:sp>
      <p:sp>
        <p:nvSpPr>
          <p:cNvPr id="1053" name="Google Shape;1053;p93"/>
          <p:cNvSpPr txBox="1"/>
          <p:nvPr>
            <p:ph idx="1" type="body"/>
          </p:nvPr>
        </p:nvSpPr>
        <p:spPr>
          <a:xfrm>
            <a:off x="1512140" y="26633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sp>
        <p:nvSpPr>
          <p:cNvPr id="1054" name="Google Shape;1054;p93"/>
          <p:cNvSpPr txBox="1"/>
          <p:nvPr>
            <p:ph idx="1" type="body"/>
          </p:nvPr>
        </p:nvSpPr>
        <p:spPr>
          <a:xfrm>
            <a:off x="890450" y="4440900"/>
            <a:ext cx="6990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multiplication then tells us how much liquid is in 6 vials.</a:t>
            </a:r>
            <a:endParaRPr sz="1900"/>
          </a:p>
        </p:txBody>
      </p:sp>
      <p:sp>
        <p:nvSpPr>
          <p:cNvPr id="1055" name="Google Shape;1055;p93"/>
          <p:cNvSpPr txBox="1"/>
          <p:nvPr>
            <p:ph idx="1" type="body"/>
          </p:nvPr>
        </p:nvSpPr>
        <p:spPr>
          <a:xfrm>
            <a:off x="2173507" y="34990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 ÷ 150 = 6 vials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93"/>
          <p:cNvSpPr txBox="1"/>
          <p:nvPr>
            <p:ph idx="1" type="body"/>
          </p:nvPr>
        </p:nvSpPr>
        <p:spPr>
          <a:xfrm>
            <a:off x="2630707" y="3935518"/>
            <a:ext cx="19020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18 ml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93"/>
          <p:cNvSpPr/>
          <p:nvPr/>
        </p:nvSpPr>
        <p:spPr>
          <a:xfrm>
            <a:off x="5066050" y="2598705"/>
            <a:ext cx="2995800" cy="38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063" name="Google Shape;1063;p94"/>
          <p:cNvSpPr txBox="1"/>
          <p:nvPr>
            <p:ph idx="1" type="body"/>
          </p:nvPr>
        </p:nvSpPr>
        <p:spPr>
          <a:xfrm>
            <a:off x="324000" y="759300"/>
            <a:ext cx="82377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formula can be interpreted in different ways for this context.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</p:txBody>
      </p:sp>
      <p:sp>
        <p:nvSpPr>
          <p:cNvPr id="1064" name="Google Shape;1064;p94"/>
          <p:cNvSpPr txBox="1"/>
          <p:nvPr>
            <p:ph idx="1" type="body"/>
          </p:nvPr>
        </p:nvSpPr>
        <p:spPr>
          <a:xfrm>
            <a:off x="2305200" y="25084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of each vial (ml)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065" name="Google Shape;106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4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4"/>
          <p:cNvSpPr txBox="1"/>
          <p:nvPr>
            <p:ph idx="1" type="body"/>
          </p:nvPr>
        </p:nvSpPr>
        <p:spPr>
          <a:xfrm>
            <a:off x="324000" y="26608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068" name="Google Shape;1068;p94"/>
          <p:cNvCxnSpPr/>
          <p:nvPr/>
        </p:nvCxnSpPr>
        <p:spPr>
          <a:xfrm>
            <a:off x="2253245" y="28482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94"/>
          <p:cNvSpPr txBox="1"/>
          <p:nvPr>
            <p:ph idx="1" type="body"/>
          </p:nvPr>
        </p:nvSpPr>
        <p:spPr>
          <a:xfrm>
            <a:off x="2305200" y="28894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070" name="Google Shape;1070;p94"/>
          <p:cNvSpPr txBox="1"/>
          <p:nvPr>
            <p:ph idx="1" type="body"/>
          </p:nvPr>
        </p:nvSpPr>
        <p:spPr>
          <a:xfrm>
            <a:off x="5124600" y="2660825"/>
            <a:ext cx="31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</a:t>
            </a:r>
            <a:r>
              <a:rPr lang="en-GB" sz="1800"/>
              <a:t>amount prescribed (mg)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1" name="Google Shape;1071;p94"/>
          <p:cNvSpPr txBox="1"/>
          <p:nvPr>
            <p:ph idx="1" type="body"/>
          </p:nvPr>
        </p:nvSpPr>
        <p:spPr>
          <a:xfrm>
            <a:off x="1512140" y="26633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pic>
        <p:nvPicPr>
          <p:cNvPr id="1072" name="Google Shape;1072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422675" y="3793175"/>
            <a:ext cx="5553900" cy="10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>
            <p:ph idx="1" type="body"/>
          </p:nvPr>
        </p:nvSpPr>
        <p:spPr>
          <a:xfrm>
            <a:off x="2557250" y="4112100"/>
            <a:ext cx="53238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If we rearrange the equation, then we could interpret its components in a different way.</a:t>
            </a: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079" name="Google Shape;1079;p95"/>
          <p:cNvSpPr txBox="1"/>
          <p:nvPr>
            <p:ph idx="1" type="body"/>
          </p:nvPr>
        </p:nvSpPr>
        <p:spPr>
          <a:xfrm>
            <a:off x="324000" y="759300"/>
            <a:ext cx="82377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formula can be interpreted in different ways for this context.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</p:txBody>
      </p:sp>
      <p:sp>
        <p:nvSpPr>
          <p:cNvPr id="1080" name="Google Shape;1080;p95"/>
          <p:cNvSpPr txBox="1"/>
          <p:nvPr>
            <p:ph idx="1" type="body"/>
          </p:nvPr>
        </p:nvSpPr>
        <p:spPr>
          <a:xfrm>
            <a:off x="2305200" y="25084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of each vial (ml) </a:t>
            </a:r>
            <a:endParaRPr sz="1800"/>
          </a:p>
        </p:txBody>
      </p:sp>
      <p:pic>
        <p:nvPicPr>
          <p:cNvPr id="1081" name="Google Shape;108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5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5"/>
          <p:cNvSpPr txBox="1"/>
          <p:nvPr>
            <p:ph idx="1" type="body"/>
          </p:nvPr>
        </p:nvSpPr>
        <p:spPr>
          <a:xfrm>
            <a:off x="324000" y="26608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084" name="Google Shape;1084;p95"/>
          <p:cNvCxnSpPr/>
          <p:nvPr/>
        </p:nvCxnSpPr>
        <p:spPr>
          <a:xfrm>
            <a:off x="2253245" y="28482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5" name="Google Shape;1085;p95"/>
          <p:cNvSpPr txBox="1"/>
          <p:nvPr>
            <p:ph idx="1" type="body"/>
          </p:nvPr>
        </p:nvSpPr>
        <p:spPr>
          <a:xfrm>
            <a:off x="2305200" y="28894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086" name="Google Shape;1086;p95"/>
          <p:cNvSpPr txBox="1"/>
          <p:nvPr>
            <p:ph idx="1" type="body"/>
          </p:nvPr>
        </p:nvSpPr>
        <p:spPr>
          <a:xfrm>
            <a:off x="5124600" y="2660825"/>
            <a:ext cx="31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amount prescribed (mg)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7" name="Google Shape;1087;p95"/>
          <p:cNvSpPr txBox="1"/>
          <p:nvPr>
            <p:ph idx="1" type="body"/>
          </p:nvPr>
        </p:nvSpPr>
        <p:spPr>
          <a:xfrm>
            <a:off x="1512140" y="26633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sp>
        <p:nvSpPr>
          <p:cNvPr id="1088" name="Google Shape;1088;p95"/>
          <p:cNvSpPr/>
          <p:nvPr/>
        </p:nvSpPr>
        <p:spPr>
          <a:xfrm>
            <a:off x="2215600" y="2390934"/>
            <a:ext cx="2857500" cy="911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9" name="Google Shape;108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422675" y="3793175"/>
            <a:ext cx="5553900" cy="10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95"/>
          <p:cNvSpPr txBox="1"/>
          <p:nvPr>
            <p:ph idx="1" type="body"/>
          </p:nvPr>
        </p:nvSpPr>
        <p:spPr>
          <a:xfrm>
            <a:off x="2557250" y="4112100"/>
            <a:ext cx="5323800" cy="6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division tells us what volume of the vial would be needed to administer 1 mg of drug.</a:t>
            </a:r>
            <a:endParaRPr sz="1900"/>
          </a:p>
        </p:txBody>
      </p:sp>
      <p:sp>
        <p:nvSpPr>
          <p:cNvPr id="1091" name="Google Shape;1091;p95"/>
          <p:cNvSpPr txBox="1"/>
          <p:nvPr>
            <p:ph idx="1" type="body"/>
          </p:nvPr>
        </p:nvSpPr>
        <p:spPr>
          <a:xfrm>
            <a:off x="2280749" y="3433175"/>
            <a:ext cx="51786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÷ 150 = 0.02 ml provides 1 mg of the drug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097" name="Google Shape;1097;p96"/>
          <p:cNvSpPr txBox="1"/>
          <p:nvPr>
            <p:ph idx="1" type="body"/>
          </p:nvPr>
        </p:nvSpPr>
        <p:spPr>
          <a:xfrm>
            <a:off x="324000" y="759300"/>
            <a:ext cx="82377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formula can be interpreted in different ways for this context.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A patient is prescribed 900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</p:txBody>
      </p:sp>
      <p:sp>
        <p:nvSpPr>
          <p:cNvPr id="1098" name="Google Shape;1098;p96"/>
          <p:cNvSpPr txBox="1"/>
          <p:nvPr>
            <p:ph idx="1" type="body"/>
          </p:nvPr>
        </p:nvSpPr>
        <p:spPr>
          <a:xfrm>
            <a:off x="2305200" y="2508425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of each vial (ml) </a:t>
            </a:r>
            <a:endParaRPr sz="1800"/>
          </a:p>
        </p:txBody>
      </p:sp>
      <p:pic>
        <p:nvPicPr>
          <p:cNvPr id="1099" name="Google Shape;109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2438" y="3017488"/>
            <a:ext cx="885299" cy="856731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 txBox="1"/>
          <p:nvPr/>
        </p:nvSpPr>
        <p:spPr>
          <a:xfrm>
            <a:off x="7881025" y="38646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6"/>
          <p:cNvSpPr txBox="1"/>
          <p:nvPr>
            <p:ph idx="1" type="body"/>
          </p:nvPr>
        </p:nvSpPr>
        <p:spPr>
          <a:xfrm>
            <a:off x="324000" y="2660836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102" name="Google Shape;1102;p96"/>
          <p:cNvCxnSpPr/>
          <p:nvPr/>
        </p:nvCxnSpPr>
        <p:spPr>
          <a:xfrm>
            <a:off x="2253245" y="2848241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96"/>
          <p:cNvSpPr txBox="1"/>
          <p:nvPr>
            <p:ph idx="1" type="body"/>
          </p:nvPr>
        </p:nvSpPr>
        <p:spPr>
          <a:xfrm>
            <a:off x="2305200" y="2889436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104" name="Google Shape;1104;p96"/>
          <p:cNvSpPr txBox="1"/>
          <p:nvPr>
            <p:ph idx="1" type="body"/>
          </p:nvPr>
        </p:nvSpPr>
        <p:spPr>
          <a:xfrm>
            <a:off x="5124600" y="2660825"/>
            <a:ext cx="31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amount prescribed (mg)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5" name="Google Shape;1105;p96"/>
          <p:cNvSpPr txBox="1"/>
          <p:nvPr>
            <p:ph idx="1" type="body"/>
          </p:nvPr>
        </p:nvSpPr>
        <p:spPr>
          <a:xfrm>
            <a:off x="1512140" y="2663365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sp>
        <p:nvSpPr>
          <p:cNvPr id="1106" name="Google Shape;1106;p96"/>
          <p:cNvSpPr txBox="1"/>
          <p:nvPr>
            <p:ph idx="1" type="body"/>
          </p:nvPr>
        </p:nvSpPr>
        <p:spPr>
          <a:xfrm>
            <a:off x="2280750" y="3433175"/>
            <a:ext cx="49806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÷ 150 = 0.02 ml provides 1 mg of the drug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96"/>
          <p:cNvSpPr/>
          <p:nvPr/>
        </p:nvSpPr>
        <p:spPr>
          <a:xfrm>
            <a:off x="5066050" y="2609059"/>
            <a:ext cx="2995800" cy="381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8" name="Google Shape;1108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39970" y="4215657"/>
            <a:ext cx="7350724" cy="5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96"/>
          <p:cNvSpPr txBox="1"/>
          <p:nvPr>
            <p:ph idx="1" type="body"/>
          </p:nvPr>
        </p:nvSpPr>
        <p:spPr>
          <a:xfrm>
            <a:off x="1195250" y="4440900"/>
            <a:ext cx="7624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multiplication then scales this up to 900 mg of the drug.</a:t>
            </a:r>
            <a:endParaRPr sz="1900"/>
          </a:p>
        </p:txBody>
      </p:sp>
      <p:sp>
        <p:nvSpPr>
          <p:cNvPr id="1110" name="Google Shape;1110;p96"/>
          <p:cNvSpPr txBox="1"/>
          <p:nvPr>
            <p:ph idx="1" type="body"/>
          </p:nvPr>
        </p:nvSpPr>
        <p:spPr>
          <a:xfrm>
            <a:off x="1944900" y="3900725"/>
            <a:ext cx="5426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0.02 </a:t>
            </a: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900 = 18 ml provides 900 mg of the drug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116" name="Google Shape;1116;p97"/>
          <p:cNvSpPr txBox="1"/>
          <p:nvPr>
            <p:ph idx="1" type="body"/>
          </p:nvPr>
        </p:nvSpPr>
        <p:spPr>
          <a:xfrm>
            <a:off x="324000" y="759300"/>
            <a:ext cx="8237700" cy="15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patient is prescribed 600 mg of amiodarone.</a:t>
            </a:r>
            <a:br>
              <a:rPr lang="en-GB" sz="1900"/>
            </a:br>
            <a:r>
              <a:rPr lang="en-GB" sz="1900"/>
              <a:t>The amount of drug in each vial is 150 mg.</a:t>
            </a:r>
            <a:br>
              <a:rPr lang="en-GB" sz="1900"/>
            </a:br>
            <a:r>
              <a:rPr lang="en-GB" sz="1900"/>
              <a:t>The volume of liquid in each vial is 3 ml.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Use the formula to calculate the drug dosage required.</a:t>
            </a:r>
            <a:endParaRPr sz="1900"/>
          </a:p>
        </p:txBody>
      </p:sp>
      <p:sp>
        <p:nvSpPr>
          <p:cNvPr id="1117" name="Google Shape;1117;p97"/>
          <p:cNvSpPr txBox="1"/>
          <p:nvPr>
            <p:ph idx="1" type="body"/>
          </p:nvPr>
        </p:nvSpPr>
        <p:spPr>
          <a:xfrm>
            <a:off x="2305200" y="2309133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prescribed (mg) </a:t>
            </a:r>
            <a:endParaRPr sz="1800"/>
          </a:p>
        </p:txBody>
      </p:sp>
      <p:sp>
        <p:nvSpPr>
          <p:cNvPr id="1118" name="Google Shape;1118;p97"/>
          <p:cNvSpPr txBox="1"/>
          <p:nvPr>
            <p:ph idx="1" type="body"/>
          </p:nvPr>
        </p:nvSpPr>
        <p:spPr>
          <a:xfrm>
            <a:off x="324000" y="2461544"/>
            <a:ext cx="231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drug dose         = </a:t>
            </a:r>
            <a:endParaRPr sz="1800"/>
          </a:p>
        </p:txBody>
      </p:sp>
      <p:cxnSp>
        <p:nvCxnSpPr>
          <p:cNvPr id="1119" name="Google Shape;1119;p97"/>
          <p:cNvCxnSpPr/>
          <p:nvPr/>
        </p:nvCxnSpPr>
        <p:spPr>
          <a:xfrm>
            <a:off x="2253245" y="2648949"/>
            <a:ext cx="275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0" name="Google Shape;1120;p97"/>
          <p:cNvSpPr txBox="1"/>
          <p:nvPr>
            <p:ph idx="1" type="body"/>
          </p:nvPr>
        </p:nvSpPr>
        <p:spPr>
          <a:xfrm>
            <a:off x="2305200" y="2690144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amount per vial (mg) </a:t>
            </a:r>
            <a:endParaRPr sz="1800"/>
          </a:p>
        </p:txBody>
      </p:sp>
      <p:sp>
        <p:nvSpPr>
          <p:cNvPr id="1121" name="Google Shape;1121;p97"/>
          <p:cNvSpPr txBox="1"/>
          <p:nvPr>
            <p:ph idx="1" type="body"/>
          </p:nvPr>
        </p:nvSpPr>
        <p:spPr>
          <a:xfrm>
            <a:off x="5124600" y="2461533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volume of each vial (ml) </a:t>
            </a:r>
            <a:endParaRPr sz="1800"/>
          </a:p>
        </p:txBody>
      </p:sp>
      <p:sp>
        <p:nvSpPr>
          <p:cNvPr id="1122" name="Google Shape;1122;p97"/>
          <p:cNvSpPr txBox="1"/>
          <p:nvPr>
            <p:ph idx="1" type="body"/>
          </p:nvPr>
        </p:nvSpPr>
        <p:spPr>
          <a:xfrm>
            <a:off x="1512140" y="2464073"/>
            <a:ext cx="55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(ml)</a:t>
            </a:r>
            <a:endParaRPr sz="1800"/>
          </a:p>
        </p:txBody>
      </p:sp>
      <p:sp>
        <p:nvSpPr>
          <p:cNvPr id="1123" name="Google Shape;1123;p97"/>
          <p:cNvSpPr txBox="1"/>
          <p:nvPr>
            <p:ph idx="1" type="body"/>
          </p:nvPr>
        </p:nvSpPr>
        <p:spPr>
          <a:xfrm>
            <a:off x="2305200" y="3164917"/>
            <a:ext cx="2995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97"/>
          <p:cNvSpPr txBox="1"/>
          <p:nvPr>
            <p:ph idx="1" type="body"/>
          </p:nvPr>
        </p:nvSpPr>
        <p:spPr>
          <a:xfrm>
            <a:off x="1913847" y="3338024"/>
            <a:ext cx="245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=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25" name="Google Shape;1125;p97"/>
          <p:cNvCxnSpPr/>
          <p:nvPr/>
        </p:nvCxnSpPr>
        <p:spPr>
          <a:xfrm>
            <a:off x="2253245" y="3504733"/>
            <a:ext cx="542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97"/>
          <p:cNvSpPr txBox="1"/>
          <p:nvPr>
            <p:ph idx="1" type="body"/>
          </p:nvPr>
        </p:nvSpPr>
        <p:spPr>
          <a:xfrm>
            <a:off x="2305200" y="3545929"/>
            <a:ext cx="2623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97"/>
          <p:cNvSpPr txBox="1"/>
          <p:nvPr>
            <p:ph idx="1" type="body"/>
          </p:nvPr>
        </p:nvSpPr>
        <p:spPr>
          <a:xfrm>
            <a:off x="2935507" y="3341751"/>
            <a:ext cx="555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97"/>
          <p:cNvSpPr txBox="1"/>
          <p:nvPr>
            <p:ph idx="1" type="body"/>
          </p:nvPr>
        </p:nvSpPr>
        <p:spPr>
          <a:xfrm>
            <a:off x="1913874" y="3950548"/>
            <a:ext cx="1021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12 ml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97"/>
          <p:cNvSpPr txBox="1"/>
          <p:nvPr>
            <p:ph idx="1" type="body"/>
          </p:nvPr>
        </p:nvSpPr>
        <p:spPr>
          <a:xfrm>
            <a:off x="324000" y="4507754"/>
            <a:ext cx="82377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many vials of drug are required?</a:t>
            </a:r>
            <a:endParaRPr sz="1900"/>
          </a:p>
        </p:txBody>
      </p:sp>
      <p:sp>
        <p:nvSpPr>
          <p:cNvPr id="1130" name="Google Shape;1130;p97"/>
          <p:cNvSpPr txBox="1"/>
          <p:nvPr>
            <p:ph idx="1" type="body"/>
          </p:nvPr>
        </p:nvSpPr>
        <p:spPr>
          <a:xfrm>
            <a:off x="4861364" y="4493100"/>
            <a:ext cx="37002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150 = 4   or   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3 = 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136" name="Google Shape;1136;p98"/>
          <p:cNvSpPr txBox="1"/>
          <p:nvPr>
            <p:ph idx="1" type="body"/>
          </p:nvPr>
        </p:nvSpPr>
        <p:spPr>
          <a:xfrm>
            <a:off x="324000" y="759300"/>
            <a:ext cx="8483700" cy="20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patient requires 18 ml of amiodarone.</a:t>
            </a:r>
            <a:br>
              <a:rPr lang="en-GB" sz="1900"/>
            </a:br>
            <a:r>
              <a:rPr lang="en-GB" sz="1900"/>
              <a:t>It needs to be diluted in a bag with a fluid before it is given.</a:t>
            </a:r>
            <a:br>
              <a:rPr lang="en-GB" sz="1900"/>
            </a:br>
            <a:r>
              <a:rPr lang="en-GB" sz="1900"/>
              <a:t>The total volume in the bag should be 50 ml after it has been diluted.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How much </a:t>
            </a:r>
            <a:r>
              <a:rPr lang="en-GB" sz="1900"/>
              <a:t>fluid</a:t>
            </a:r>
            <a:r>
              <a:rPr lang="en-GB" sz="1900"/>
              <a:t> is required?</a:t>
            </a:r>
            <a:endParaRPr sz="1900"/>
          </a:p>
        </p:txBody>
      </p:sp>
      <p:sp>
        <p:nvSpPr>
          <p:cNvPr id="1137" name="Google Shape;1137;p98"/>
          <p:cNvSpPr txBox="1"/>
          <p:nvPr>
            <p:ph idx="1" type="body"/>
          </p:nvPr>
        </p:nvSpPr>
        <p:spPr>
          <a:xfrm>
            <a:off x="1030490" y="2823575"/>
            <a:ext cx="1839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 – 18 = 32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8" name="Google Shape;1138;p98"/>
          <p:cNvSpPr txBox="1"/>
          <p:nvPr>
            <p:ph idx="1" type="body"/>
          </p:nvPr>
        </p:nvSpPr>
        <p:spPr>
          <a:xfrm>
            <a:off x="1030506" y="3433175"/>
            <a:ext cx="43884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 ml of fluid is required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144" name="Google Shape;1144;p99"/>
          <p:cNvSpPr txBox="1"/>
          <p:nvPr>
            <p:ph idx="1" type="body"/>
          </p:nvPr>
        </p:nvSpPr>
        <p:spPr>
          <a:xfrm>
            <a:off x="324000" y="759300"/>
            <a:ext cx="8483700" cy="20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Sometimes, the amount of drug required cannot all be given at once. </a:t>
            </a:r>
            <a:br>
              <a:rPr lang="en-GB" sz="1900"/>
            </a:br>
            <a:r>
              <a:rPr lang="en-GB" sz="1900"/>
              <a:t>It may need to be given gradually over multiple hours.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 amount given per hour is referred to as the </a:t>
            </a:r>
            <a:r>
              <a:rPr lang="en-GB" sz="1900">
                <a:solidFill>
                  <a:schemeClr val="accent5"/>
                </a:solidFill>
              </a:rPr>
              <a:t>administration rate</a:t>
            </a:r>
            <a:r>
              <a:rPr lang="en-GB" sz="1900"/>
              <a:t>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E.g. A patient is given a 50 ml bag of diluted amiodarone over 24 hours.</a:t>
            </a:r>
            <a:br>
              <a:rPr lang="en-GB" sz="1900"/>
            </a:br>
            <a:r>
              <a:rPr lang="en-GB" sz="1900"/>
              <a:t>What is the administration rate?</a:t>
            </a:r>
            <a:endParaRPr sz="1900"/>
          </a:p>
        </p:txBody>
      </p:sp>
      <p:sp>
        <p:nvSpPr>
          <p:cNvPr id="1145" name="Google Shape;1145;p99"/>
          <p:cNvSpPr txBox="1"/>
          <p:nvPr>
            <p:ph idx="1" type="body"/>
          </p:nvPr>
        </p:nvSpPr>
        <p:spPr>
          <a:xfrm>
            <a:off x="1030510" y="2975975"/>
            <a:ext cx="3622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 ÷ 24 = 2.0833333…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99"/>
          <p:cNvSpPr txBox="1"/>
          <p:nvPr>
            <p:ph idx="1" type="body"/>
          </p:nvPr>
        </p:nvSpPr>
        <p:spPr>
          <a:xfrm>
            <a:off x="1030500" y="3509375"/>
            <a:ext cx="6134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patient should be given 2.0833333… ml per hour.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99"/>
          <p:cNvSpPr txBox="1"/>
          <p:nvPr>
            <p:ph idx="1" type="body"/>
          </p:nvPr>
        </p:nvSpPr>
        <p:spPr>
          <a:xfrm>
            <a:off x="324000" y="4151100"/>
            <a:ext cx="84837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50"/>
              <a:t>The machine </a:t>
            </a:r>
            <a:r>
              <a:rPr lang="en-GB" sz="1850"/>
              <a:t>that administers</a:t>
            </a:r>
            <a:r>
              <a:rPr lang="en-GB" sz="1850"/>
              <a:t> the drug can only be programmed</a:t>
            </a:r>
            <a:r>
              <a:rPr lang="en-GB" sz="1850"/>
              <a:t> using amounts given</a:t>
            </a:r>
            <a:r>
              <a:rPr lang="en-GB" sz="1850"/>
              <a:t> to 1 decimal place. So, </a:t>
            </a:r>
            <a:r>
              <a:rPr lang="en-GB" sz="1850"/>
              <a:t>the amount</a:t>
            </a:r>
            <a:r>
              <a:rPr lang="en-GB" sz="1850"/>
              <a:t> </a:t>
            </a:r>
            <a:r>
              <a:rPr lang="en-GB" sz="1850"/>
              <a:t>needs to</a:t>
            </a:r>
            <a:r>
              <a:rPr lang="en-GB" sz="1850"/>
              <a:t> be rounded.</a:t>
            </a:r>
            <a:endParaRPr sz="185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153" name="Google Shape;1153;p100"/>
          <p:cNvSpPr txBox="1"/>
          <p:nvPr>
            <p:ph idx="1" type="body"/>
          </p:nvPr>
        </p:nvSpPr>
        <p:spPr>
          <a:xfrm>
            <a:off x="324000" y="759300"/>
            <a:ext cx="8483700" cy="20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Sometimes, the amount of drug required cannot all be given at once. </a:t>
            </a:r>
            <a:br>
              <a:rPr lang="en-GB" sz="1900"/>
            </a:br>
            <a:r>
              <a:rPr lang="en-GB" sz="1900"/>
              <a:t>It may need to be given gradually over multiple hours.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 amount given per hour is referred to as the </a:t>
            </a:r>
            <a:r>
              <a:rPr lang="en-GB" sz="1900">
                <a:solidFill>
                  <a:schemeClr val="accent5"/>
                </a:solidFill>
              </a:rPr>
              <a:t>administration rate</a:t>
            </a:r>
            <a:r>
              <a:rPr lang="en-GB" sz="1900"/>
              <a:t>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E.g. A patient is given a 50 ml bag of diluted amiodarone over 24 hours.</a:t>
            </a:r>
            <a:br>
              <a:rPr lang="en-GB" sz="1900"/>
            </a:br>
            <a:r>
              <a:rPr lang="en-GB" sz="1900"/>
              <a:t>What is the administration rate?</a:t>
            </a:r>
            <a:endParaRPr sz="1900"/>
          </a:p>
        </p:txBody>
      </p:sp>
      <p:sp>
        <p:nvSpPr>
          <p:cNvPr id="1154" name="Google Shape;1154;p100"/>
          <p:cNvSpPr txBox="1"/>
          <p:nvPr>
            <p:ph idx="1" type="body"/>
          </p:nvPr>
        </p:nvSpPr>
        <p:spPr>
          <a:xfrm>
            <a:off x="1030509" y="2975975"/>
            <a:ext cx="3541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 ÷ 24 = 2.08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33333…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≈ 2.1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100"/>
          <p:cNvSpPr txBox="1"/>
          <p:nvPr>
            <p:ph idx="1" type="body"/>
          </p:nvPr>
        </p:nvSpPr>
        <p:spPr>
          <a:xfrm>
            <a:off x="1030500" y="3509375"/>
            <a:ext cx="51090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patient should be given 2.1 ml per hour.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100"/>
          <p:cNvSpPr txBox="1"/>
          <p:nvPr>
            <p:ph idx="1" type="body"/>
          </p:nvPr>
        </p:nvSpPr>
        <p:spPr>
          <a:xfrm>
            <a:off x="324000" y="4151100"/>
            <a:ext cx="84837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50"/>
              <a:t>The machine that administers the drug can only be programmed using amounts given to 1 decimal place. So, the amount needs to be rounded.</a:t>
            </a:r>
            <a:endParaRPr sz="18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162" name="Google Shape;1162;p101"/>
          <p:cNvSpPr txBox="1"/>
          <p:nvPr>
            <p:ph idx="1" type="body"/>
          </p:nvPr>
        </p:nvSpPr>
        <p:spPr>
          <a:xfrm>
            <a:off x="324000" y="759300"/>
            <a:ext cx="8483700" cy="16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When a drug is administered continuously by an IV drip, the settings of the drip are adjusted according to various factors, including the patient’s mass.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It is calculated using the following formula:</a:t>
            </a:r>
            <a:endParaRPr sz="1800"/>
          </a:p>
        </p:txBody>
      </p:sp>
      <p:sp>
        <p:nvSpPr>
          <p:cNvPr id="1163" name="Google Shape;1163;p101"/>
          <p:cNvSpPr txBox="1"/>
          <p:nvPr>
            <p:ph idx="1" type="body"/>
          </p:nvPr>
        </p:nvSpPr>
        <p:spPr>
          <a:xfrm>
            <a:off x="2305200" y="2279825"/>
            <a:ext cx="6929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administration rate (ml/hr) </a:t>
            </a: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amount prescribed (mcg)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4" name="Google Shape;1164;p101"/>
          <p:cNvSpPr txBox="1"/>
          <p:nvPr>
            <p:ph idx="1" type="body"/>
          </p:nvPr>
        </p:nvSpPr>
        <p:spPr>
          <a:xfrm>
            <a:off x="324000" y="2324965"/>
            <a:ext cx="2243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drip settings   =</a:t>
            </a:r>
            <a:br>
              <a:rPr lang="en-GB" sz="1800"/>
            </a:br>
            <a:r>
              <a:rPr lang="en-GB" sz="1600"/>
              <a:t>(mcg/kg/min)</a:t>
            </a:r>
            <a:r>
              <a:rPr lang="en-GB" sz="1800"/>
              <a:t>   </a:t>
            </a:r>
            <a:endParaRPr sz="1800"/>
          </a:p>
        </p:txBody>
      </p:sp>
      <p:cxnSp>
        <p:nvCxnSpPr>
          <p:cNvPr id="1165" name="Google Shape;1165;p101"/>
          <p:cNvCxnSpPr/>
          <p:nvPr/>
        </p:nvCxnSpPr>
        <p:spPr>
          <a:xfrm>
            <a:off x="2253245" y="2619641"/>
            <a:ext cx="621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6" name="Google Shape;1166;p101"/>
          <p:cNvSpPr txBox="1"/>
          <p:nvPr>
            <p:ph idx="1" type="body"/>
          </p:nvPr>
        </p:nvSpPr>
        <p:spPr>
          <a:xfrm>
            <a:off x="2305200" y="2660825"/>
            <a:ext cx="6841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bag volume (ml) </a:t>
            </a:r>
            <a:r>
              <a:rPr lang="en-GB" sz="1800">
                <a:solidFill>
                  <a:srgbClr val="1F1F1F"/>
                </a:solidFill>
              </a:rPr>
              <a:t>× patient mass (kg) × 60</a:t>
            </a:r>
            <a:endParaRPr sz="1800"/>
          </a:p>
        </p:txBody>
      </p:sp>
      <p:sp>
        <p:nvSpPr>
          <p:cNvPr id="1167" name="Google Shape;1167;p101"/>
          <p:cNvSpPr txBox="1"/>
          <p:nvPr>
            <p:ph idx="1" type="body"/>
          </p:nvPr>
        </p:nvSpPr>
        <p:spPr>
          <a:xfrm>
            <a:off x="324000" y="3546462"/>
            <a:ext cx="8483700" cy="13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may need to convert between milligrams (mg) and micrograms (mcg) before using the formula.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 milligram = 1000 micrograms.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173" name="Google Shape;1173;p102"/>
          <p:cNvSpPr txBox="1"/>
          <p:nvPr>
            <p:ph idx="1" type="body"/>
          </p:nvPr>
        </p:nvSpPr>
        <p:spPr>
          <a:xfrm>
            <a:off x="2305200" y="832025"/>
            <a:ext cx="6929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administration rate (ml/hr) </a:t>
            </a: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amount prescribed (mcg)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4" name="Google Shape;1174;p102"/>
          <p:cNvSpPr txBox="1"/>
          <p:nvPr>
            <p:ph idx="1" type="body"/>
          </p:nvPr>
        </p:nvSpPr>
        <p:spPr>
          <a:xfrm>
            <a:off x="324000" y="877165"/>
            <a:ext cx="2243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drip settings   =</a:t>
            </a:r>
            <a:br>
              <a:rPr lang="en-GB" sz="1800"/>
            </a:br>
            <a:r>
              <a:rPr lang="en-GB" sz="1600"/>
              <a:t>(mcg/kg/min)</a:t>
            </a:r>
            <a:r>
              <a:rPr lang="en-GB" sz="1800"/>
              <a:t>   </a:t>
            </a:r>
            <a:endParaRPr sz="1800"/>
          </a:p>
        </p:txBody>
      </p:sp>
      <p:cxnSp>
        <p:nvCxnSpPr>
          <p:cNvPr id="1175" name="Google Shape;1175;p102"/>
          <p:cNvCxnSpPr/>
          <p:nvPr/>
        </p:nvCxnSpPr>
        <p:spPr>
          <a:xfrm>
            <a:off x="2253245" y="1171841"/>
            <a:ext cx="621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102"/>
          <p:cNvSpPr txBox="1"/>
          <p:nvPr>
            <p:ph idx="1" type="body"/>
          </p:nvPr>
        </p:nvSpPr>
        <p:spPr>
          <a:xfrm>
            <a:off x="2305200" y="1213025"/>
            <a:ext cx="6841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bag volume (ml) </a:t>
            </a:r>
            <a:r>
              <a:rPr lang="en-GB" sz="1800">
                <a:solidFill>
                  <a:srgbClr val="1F1F1F"/>
                </a:solidFill>
              </a:rPr>
              <a:t>× patient mass (kg) × 60</a:t>
            </a:r>
            <a:endParaRPr sz="1800"/>
          </a:p>
        </p:txBody>
      </p:sp>
      <p:sp>
        <p:nvSpPr>
          <p:cNvPr id="1177" name="Google Shape;1177;p102"/>
          <p:cNvSpPr txBox="1"/>
          <p:nvPr>
            <p:ph idx="1" type="body"/>
          </p:nvPr>
        </p:nvSpPr>
        <p:spPr>
          <a:xfrm>
            <a:off x="324000" y="1902300"/>
            <a:ext cx="8483700" cy="22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E.g. A</a:t>
            </a:r>
            <a:r>
              <a:rPr lang="en-GB" sz="1800"/>
              <a:t>miodarone drug is administered continuously by an IV drip.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patient was prescribed 900 mg of amiodarone.</a:t>
            </a:r>
            <a:br>
              <a:rPr lang="en-GB" sz="1800"/>
            </a:br>
            <a:r>
              <a:rPr lang="en-GB" sz="1800"/>
              <a:t>It is diluted up to 50 ml for the bag.</a:t>
            </a:r>
            <a:br>
              <a:rPr lang="en-GB" sz="1800"/>
            </a:br>
            <a:r>
              <a:rPr lang="en-GB" sz="1800"/>
              <a:t>The administration rate is 2.1 ml/hr.</a:t>
            </a:r>
            <a:br>
              <a:rPr lang="en-GB" sz="1800"/>
            </a:br>
            <a:r>
              <a:rPr lang="en-GB" sz="1800"/>
              <a:t>The patient has a mass of 75 kg.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Calculate the mcg/kg/min setting for the IV drip.</a:t>
            </a:r>
            <a:br>
              <a:rPr lang="en-GB" sz="1900"/>
            </a:br>
            <a:endParaRPr sz="1900"/>
          </a:p>
        </p:txBody>
      </p:sp>
      <p:sp>
        <p:nvSpPr>
          <p:cNvPr id="1178" name="Google Shape;1178;p102"/>
          <p:cNvSpPr txBox="1"/>
          <p:nvPr>
            <p:ph idx="1" type="body"/>
          </p:nvPr>
        </p:nvSpPr>
        <p:spPr>
          <a:xfrm>
            <a:off x="324000" y="4271388"/>
            <a:ext cx="36474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drip settings (mcg/kg/min) =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79" name="Google Shape;1179;p102"/>
          <p:cNvCxnSpPr/>
          <p:nvPr/>
        </p:nvCxnSpPr>
        <p:spPr>
          <a:xfrm>
            <a:off x="3698838" y="4453590"/>
            <a:ext cx="179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0" name="Google Shape;1180;p102"/>
          <p:cNvSpPr txBox="1"/>
          <p:nvPr>
            <p:ph idx="1" type="body"/>
          </p:nvPr>
        </p:nvSpPr>
        <p:spPr>
          <a:xfrm>
            <a:off x="3782308" y="4153775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102"/>
          <p:cNvSpPr txBox="1"/>
          <p:nvPr>
            <p:ph idx="1" type="body"/>
          </p:nvPr>
        </p:nvSpPr>
        <p:spPr>
          <a:xfrm>
            <a:off x="4239476" y="4153775"/>
            <a:ext cx="129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900 000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102"/>
          <p:cNvSpPr txBox="1"/>
          <p:nvPr>
            <p:ph idx="1" type="body"/>
          </p:nvPr>
        </p:nvSpPr>
        <p:spPr>
          <a:xfrm>
            <a:off x="3782308" y="4473229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102"/>
          <p:cNvSpPr txBox="1"/>
          <p:nvPr>
            <p:ph idx="1" type="body"/>
          </p:nvPr>
        </p:nvSpPr>
        <p:spPr>
          <a:xfrm>
            <a:off x="4239475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75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102"/>
          <p:cNvSpPr txBox="1"/>
          <p:nvPr>
            <p:ph idx="1" type="body"/>
          </p:nvPr>
        </p:nvSpPr>
        <p:spPr>
          <a:xfrm>
            <a:off x="4895968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102"/>
          <p:cNvSpPr txBox="1"/>
          <p:nvPr>
            <p:ph idx="1" type="body"/>
          </p:nvPr>
        </p:nvSpPr>
        <p:spPr>
          <a:xfrm>
            <a:off x="5734200" y="4271388"/>
            <a:ext cx="36474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8.4 mcg/kg/min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102"/>
          <p:cNvSpPr txBox="1"/>
          <p:nvPr>
            <p:ph idx="1" type="body"/>
          </p:nvPr>
        </p:nvSpPr>
        <p:spPr>
          <a:xfrm>
            <a:off x="5658000" y="2823588"/>
            <a:ext cx="36474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 </a:t>
            </a: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1000 = 900 000 mcg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87" name="Google Shape;1187;p102"/>
          <p:cNvCxnSpPr>
            <a:endCxn id="1186" idx="1"/>
          </p:cNvCxnSpPr>
          <p:nvPr/>
        </p:nvCxnSpPr>
        <p:spPr>
          <a:xfrm>
            <a:off x="4245900" y="2647188"/>
            <a:ext cx="1412100" cy="34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8" name="Google Shape;1188;p102"/>
          <p:cNvSpPr/>
          <p:nvPr/>
        </p:nvSpPr>
        <p:spPr>
          <a:xfrm>
            <a:off x="3359532" y="2269257"/>
            <a:ext cx="890400" cy="383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102"/>
          <p:cNvSpPr/>
          <p:nvPr/>
        </p:nvSpPr>
        <p:spPr>
          <a:xfrm>
            <a:off x="2244624" y="2629628"/>
            <a:ext cx="721200" cy="330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102"/>
          <p:cNvSpPr/>
          <p:nvPr/>
        </p:nvSpPr>
        <p:spPr>
          <a:xfrm>
            <a:off x="3206023" y="2934425"/>
            <a:ext cx="1033500" cy="330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102"/>
          <p:cNvSpPr/>
          <p:nvPr/>
        </p:nvSpPr>
        <p:spPr>
          <a:xfrm>
            <a:off x="3206024" y="3257475"/>
            <a:ext cx="721200" cy="330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102"/>
          <p:cNvSpPr/>
          <p:nvPr/>
        </p:nvSpPr>
        <p:spPr>
          <a:xfrm>
            <a:off x="2244598" y="790400"/>
            <a:ext cx="3087300" cy="383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102"/>
          <p:cNvSpPr/>
          <p:nvPr/>
        </p:nvSpPr>
        <p:spPr>
          <a:xfrm>
            <a:off x="5510850" y="790400"/>
            <a:ext cx="2961600" cy="383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102"/>
          <p:cNvSpPr/>
          <p:nvPr/>
        </p:nvSpPr>
        <p:spPr>
          <a:xfrm>
            <a:off x="2254952" y="1171400"/>
            <a:ext cx="1896900" cy="383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102"/>
          <p:cNvSpPr/>
          <p:nvPr/>
        </p:nvSpPr>
        <p:spPr>
          <a:xfrm>
            <a:off x="4326425" y="1171400"/>
            <a:ext cx="1999500" cy="383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102"/>
          <p:cNvSpPr/>
          <p:nvPr/>
        </p:nvSpPr>
        <p:spPr>
          <a:xfrm>
            <a:off x="6500500" y="1171400"/>
            <a:ext cx="358800" cy="383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02" name="Google Shape;1202;p103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</a:t>
            </a:r>
            <a:r>
              <a:rPr lang="en-GB" sz="2000"/>
              <a:t>patient was prescribed 600 mg of amiodarone.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 milligram (mg) = 1000 micrograms (mcg).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How many micrograms of amiodarone was the patient prescribed?</a:t>
            </a:r>
            <a:endParaRPr sz="2000"/>
          </a:p>
        </p:txBody>
      </p:sp>
      <p:sp>
        <p:nvSpPr>
          <p:cNvPr id="1203" name="Google Shape;1203;p103"/>
          <p:cNvSpPr txBox="1"/>
          <p:nvPr>
            <p:ph idx="1" type="body"/>
          </p:nvPr>
        </p:nvSpPr>
        <p:spPr>
          <a:xfrm>
            <a:off x="2870838" y="2664300"/>
            <a:ext cx="34128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600 × 1000 = 600 000 mcg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09" name="Google Shape;1209;p104"/>
          <p:cNvSpPr txBox="1"/>
          <p:nvPr>
            <p:ph idx="1" type="body"/>
          </p:nvPr>
        </p:nvSpPr>
        <p:spPr>
          <a:xfrm>
            <a:off x="2305200" y="832025"/>
            <a:ext cx="6929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administration rate (ml/hr) </a:t>
            </a:r>
            <a:r>
              <a:rPr lang="en-GB" sz="1800">
                <a:solidFill>
                  <a:srgbClr val="1F1F1F"/>
                </a:solidFill>
              </a:rPr>
              <a:t>×</a:t>
            </a:r>
            <a:r>
              <a:rPr lang="en-GB" sz="1800"/>
              <a:t> amount prescribed (mcg)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0" name="Google Shape;1210;p104"/>
          <p:cNvSpPr txBox="1"/>
          <p:nvPr>
            <p:ph idx="1" type="body"/>
          </p:nvPr>
        </p:nvSpPr>
        <p:spPr>
          <a:xfrm>
            <a:off x="324000" y="877165"/>
            <a:ext cx="2243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drip settings   =</a:t>
            </a:r>
            <a:br>
              <a:rPr lang="en-GB" sz="1800"/>
            </a:br>
            <a:r>
              <a:rPr lang="en-GB" sz="1600"/>
              <a:t>(mcg/kg/min)</a:t>
            </a:r>
            <a:r>
              <a:rPr lang="en-GB" sz="1800"/>
              <a:t>   </a:t>
            </a:r>
            <a:endParaRPr sz="1800"/>
          </a:p>
        </p:txBody>
      </p:sp>
      <p:cxnSp>
        <p:nvCxnSpPr>
          <p:cNvPr id="1211" name="Google Shape;1211;p104"/>
          <p:cNvCxnSpPr/>
          <p:nvPr/>
        </p:nvCxnSpPr>
        <p:spPr>
          <a:xfrm>
            <a:off x="2253245" y="1171841"/>
            <a:ext cx="621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104"/>
          <p:cNvSpPr txBox="1"/>
          <p:nvPr>
            <p:ph idx="1" type="body"/>
          </p:nvPr>
        </p:nvSpPr>
        <p:spPr>
          <a:xfrm>
            <a:off x="2305200" y="1213025"/>
            <a:ext cx="6841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bag volume (ml) </a:t>
            </a:r>
            <a:r>
              <a:rPr lang="en-GB" sz="1800">
                <a:solidFill>
                  <a:srgbClr val="1F1F1F"/>
                </a:solidFill>
              </a:rPr>
              <a:t>× patient mass (kg) × 60</a:t>
            </a:r>
            <a:endParaRPr sz="1800"/>
          </a:p>
        </p:txBody>
      </p:sp>
      <p:sp>
        <p:nvSpPr>
          <p:cNvPr id="1213" name="Google Shape;1213;p104"/>
          <p:cNvSpPr txBox="1"/>
          <p:nvPr>
            <p:ph idx="1" type="body"/>
          </p:nvPr>
        </p:nvSpPr>
        <p:spPr>
          <a:xfrm>
            <a:off x="324000" y="1749900"/>
            <a:ext cx="8483700" cy="179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patient was prescribed with 600 000 mcg of amiodarone.</a:t>
            </a:r>
            <a:br>
              <a:rPr lang="en-GB" sz="1800"/>
            </a:br>
            <a:r>
              <a:rPr lang="en-GB" sz="1800"/>
              <a:t>It is diluted up to 50 ml for the bag.</a:t>
            </a:r>
            <a:br>
              <a:rPr lang="en-GB" sz="1800"/>
            </a:br>
            <a:r>
              <a:rPr lang="en-GB" sz="1800"/>
              <a:t>The administration rate is 2.1 ml/hr.</a:t>
            </a:r>
            <a:br>
              <a:rPr lang="en-GB" sz="1800"/>
            </a:br>
            <a:r>
              <a:rPr lang="en-GB" sz="1800"/>
              <a:t>The patient has a mass of 90 kg.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fraction shows all the values substituted correctly?</a:t>
            </a:r>
            <a:br>
              <a:rPr lang="en-GB" sz="1900"/>
            </a:br>
            <a:endParaRPr sz="1900"/>
          </a:p>
        </p:txBody>
      </p:sp>
      <p:cxnSp>
        <p:nvCxnSpPr>
          <p:cNvPr id="1214" name="Google Shape;1214;p104"/>
          <p:cNvCxnSpPr/>
          <p:nvPr/>
        </p:nvCxnSpPr>
        <p:spPr>
          <a:xfrm>
            <a:off x="803238" y="4453590"/>
            <a:ext cx="179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104"/>
          <p:cNvSpPr txBox="1"/>
          <p:nvPr>
            <p:ph idx="1" type="body"/>
          </p:nvPr>
        </p:nvSpPr>
        <p:spPr>
          <a:xfrm>
            <a:off x="886708" y="4153775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6" name="Google Shape;1216;p104"/>
          <p:cNvSpPr txBox="1"/>
          <p:nvPr>
            <p:ph idx="1" type="body"/>
          </p:nvPr>
        </p:nvSpPr>
        <p:spPr>
          <a:xfrm>
            <a:off x="1343876" y="4153775"/>
            <a:ext cx="129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600 000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104"/>
          <p:cNvSpPr txBox="1"/>
          <p:nvPr>
            <p:ph idx="1" type="body"/>
          </p:nvPr>
        </p:nvSpPr>
        <p:spPr>
          <a:xfrm>
            <a:off x="886708" y="4473229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2.1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104"/>
          <p:cNvSpPr txBox="1"/>
          <p:nvPr>
            <p:ph idx="1" type="body"/>
          </p:nvPr>
        </p:nvSpPr>
        <p:spPr>
          <a:xfrm>
            <a:off x="1343875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50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9" name="Google Shape;1219;p104"/>
          <p:cNvSpPr txBox="1"/>
          <p:nvPr>
            <p:ph idx="1" type="body"/>
          </p:nvPr>
        </p:nvSpPr>
        <p:spPr>
          <a:xfrm>
            <a:off x="2000368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0" name="Google Shape;1220;p104"/>
          <p:cNvCxnSpPr/>
          <p:nvPr/>
        </p:nvCxnSpPr>
        <p:spPr>
          <a:xfrm>
            <a:off x="3669531" y="4453590"/>
            <a:ext cx="179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1" name="Google Shape;1221;p104"/>
          <p:cNvSpPr txBox="1"/>
          <p:nvPr>
            <p:ph idx="1" type="body"/>
          </p:nvPr>
        </p:nvSpPr>
        <p:spPr>
          <a:xfrm>
            <a:off x="3753000" y="4153775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2.1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104"/>
          <p:cNvSpPr txBox="1"/>
          <p:nvPr>
            <p:ph idx="1" type="body"/>
          </p:nvPr>
        </p:nvSpPr>
        <p:spPr>
          <a:xfrm>
            <a:off x="4210168" y="4153775"/>
            <a:ext cx="129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50 × 90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3" name="Google Shape;1223;p104"/>
          <p:cNvSpPr txBox="1"/>
          <p:nvPr>
            <p:ph idx="1" type="body"/>
          </p:nvPr>
        </p:nvSpPr>
        <p:spPr>
          <a:xfrm>
            <a:off x="3753000" y="4473225"/>
            <a:ext cx="9495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600 000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4" name="Google Shape;1224;p104"/>
          <p:cNvSpPr txBox="1"/>
          <p:nvPr>
            <p:ph idx="1" type="body"/>
          </p:nvPr>
        </p:nvSpPr>
        <p:spPr>
          <a:xfrm>
            <a:off x="4866660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5" name="Google Shape;1225;p104"/>
          <p:cNvCxnSpPr/>
          <p:nvPr/>
        </p:nvCxnSpPr>
        <p:spPr>
          <a:xfrm>
            <a:off x="6565131" y="4453590"/>
            <a:ext cx="179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104"/>
          <p:cNvSpPr txBox="1"/>
          <p:nvPr>
            <p:ph idx="1" type="body"/>
          </p:nvPr>
        </p:nvSpPr>
        <p:spPr>
          <a:xfrm>
            <a:off x="6648600" y="4153775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2.1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7" name="Google Shape;1227;p104"/>
          <p:cNvSpPr txBox="1"/>
          <p:nvPr>
            <p:ph idx="1" type="body"/>
          </p:nvPr>
        </p:nvSpPr>
        <p:spPr>
          <a:xfrm>
            <a:off x="7105768" y="4153775"/>
            <a:ext cx="129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600 000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8" name="Google Shape;1228;p104"/>
          <p:cNvSpPr txBox="1"/>
          <p:nvPr>
            <p:ph idx="1" type="body"/>
          </p:nvPr>
        </p:nvSpPr>
        <p:spPr>
          <a:xfrm>
            <a:off x="6648600" y="4473229"/>
            <a:ext cx="4323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104"/>
          <p:cNvSpPr txBox="1"/>
          <p:nvPr>
            <p:ph idx="1" type="body"/>
          </p:nvPr>
        </p:nvSpPr>
        <p:spPr>
          <a:xfrm>
            <a:off x="7105768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90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104"/>
          <p:cNvSpPr txBox="1"/>
          <p:nvPr>
            <p:ph idx="1" type="body"/>
          </p:nvPr>
        </p:nvSpPr>
        <p:spPr>
          <a:xfrm>
            <a:off x="7762260" y="4473225"/>
            <a:ext cx="663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1F1F1F"/>
                </a:solidFill>
                <a:latin typeface="Kalam"/>
                <a:ea typeface="Kalam"/>
                <a:cs typeface="Kalam"/>
                <a:sym typeface="Kalam"/>
              </a:rPr>
              <a:t>× 60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31" name="Google Shape;1231;p104"/>
          <p:cNvGrpSpPr/>
          <p:nvPr/>
        </p:nvGrpSpPr>
        <p:grpSpPr>
          <a:xfrm>
            <a:off x="1461526" y="3539217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4"/>
          <p:cNvGrpSpPr/>
          <p:nvPr/>
        </p:nvGrpSpPr>
        <p:grpSpPr>
          <a:xfrm>
            <a:off x="4353841" y="3539217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4"/>
          <p:cNvGrpSpPr/>
          <p:nvPr/>
        </p:nvGrpSpPr>
        <p:grpSpPr>
          <a:xfrm>
            <a:off x="7254949" y="3539217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40" name="Google Shape;1240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8458" y="357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46" name="Google Shape;1246;p105"/>
          <p:cNvSpPr txBox="1"/>
          <p:nvPr>
            <p:ph idx="1" type="body"/>
          </p:nvPr>
        </p:nvSpPr>
        <p:spPr>
          <a:xfrm>
            <a:off x="324000" y="759300"/>
            <a:ext cx="8237700" cy="21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A patient has a mass of 90 kg</a:t>
            </a:r>
            <a:br>
              <a:rPr lang="en-GB" sz="1600"/>
            </a:br>
            <a:r>
              <a:rPr lang="en-GB" sz="1600"/>
              <a:t>    They are prescribed 600 mg of a drug called rifampicin.</a:t>
            </a:r>
            <a:br>
              <a:rPr lang="en-GB" sz="1600"/>
            </a:br>
            <a:r>
              <a:rPr lang="en-GB" sz="1600"/>
              <a:t>    The drug comes vials which each have a volume of 10 ml.</a:t>
            </a:r>
            <a:br>
              <a:rPr lang="en-GB" sz="1600"/>
            </a:br>
            <a:r>
              <a:rPr lang="en-GB" sz="1600"/>
              <a:t>    Each vial contains 300 mg of the drug.</a:t>
            </a:r>
            <a:br>
              <a:rPr lang="en-GB" sz="1600"/>
            </a:br>
            <a:r>
              <a:rPr lang="en-GB" sz="1600"/>
              <a:t>    It need to be diluted up to 500 ml for the IV bag.</a:t>
            </a:r>
            <a:br>
              <a:rPr lang="en-GB" sz="1600"/>
            </a:br>
            <a:r>
              <a:rPr lang="en-GB" sz="1600"/>
              <a:t>    Once diluted, it needs to be administered continuously over 3 hours.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a) Use the formula below to calculate the dose required.</a:t>
            </a:r>
            <a:endParaRPr sz="1600"/>
          </a:p>
        </p:txBody>
      </p:sp>
      <p:sp>
        <p:nvSpPr>
          <p:cNvPr id="1247" name="Google Shape;1247;p105"/>
          <p:cNvSpPr txBox="1"/>
          <p:nvPr>
            <p:ph idx="1" type="body"/>
          </p:nvPr>
        </p:nvSpPr>
        <p:spPr>
          <a:xfrm>
            <a:off x="324000" y="3891275"/>
            <a:ext cx="8237700" cy="9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b) The ‘administration rate’ is the amount of the diluted drug that is given to the </a:t>
            </a:r>
            <a:br>
              <a:rPr lang="en-GB" sz="1600"/>
            </a:br>
            <a:r>
              <a:rPr lang="en-GB" sz="1600"/>
              <a:t>     patient per hour from the IV bag. Calculate administration rate for this scenario.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8" name="Google Shape;1248;p105"/>
          <p:cNvSpPr txBox="1"/>
          <p:nvPr>
            <p:ph idx="4294967295" type="body"/>
          </p:nvPr>
        </p:nvSpPr>
        <p:spPr>
          <a:xfrm>
            <a:off x="2336249" y="2961900"/>
            <a:ext cx="33576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amount of drug prescribed (mg) </a:t>
            </a:r>
            <a:endParaRPr sz="1600"/>
          </a:p>
        </p:txBody>
      </p:sp>
      <p:sp>
        <p:nvSpPr>
          <p:cNvPr id="1249" name="Google Shape;1249;p105"/>
          <p:cNvSpPr txBox="1"/>
          <p:nvPr>
            <p:ph idx="4294967295" type="body"/>
          </p:nvPr>
        </p:nvSpPr>
        <p:spPr>
          <a:xfrm>
            <a:off x="580633" y="3096044"/>
            <a:ext cx="1817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drug dose (ml) = </a:t>
            </a:r>
            <a:endParaRPr sz="1600"/>
          </a:p>
        </p:txBody>
      </p:sp>
      <p:cxnSp>
        <p:nvCxnSpPr>
          <p:cNvPr id="1250" name="Google Shape;1250;p105"/>
          <p:cNvCxnSpPr/>
          <p:nvPr/>
        </p:nvCxnSpPr>
        <p:spPr>
          <a:xfrm>
            <a:off x="2284305" y="3229241"/>
            <a:ext cx="335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105"/>
          <p:cNvSpPr txBox="1"/>
          <p:nvPr>
            <p:ph idx="4294967295" type="body"/>
          </p:nvPr>
        </p:nvSpPr>
        <p:spPr>
          <a:xfrm>
            <a:off x="2336249" y="3239375"/>
            <a:ext cx="2918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amount of drug per vial (mg) </a:t>
            </a:r>
            <a:endParaRPr sz="1600"/>
          </a:p>
        </p:txBody>
      </p:sp>
      <p:sp>
        <p:nvSpPr>
          <p:cNvPr id="1252" name="Google Shape;1252;p105"/>
          <p:cNvSpPr txBox="1"/>
          <p:nvPr>
            <p:ph idx="4294967295" type="body"/>
          </p:nvPr>
        </p:nvSpPr>
        <p:spPr>
          <a:xfrm>
            <a:off x="5765260" y="3092479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1F1F1F"/>
                </a:solidFill>
              </a:rPr>
              <a:t>×</a:t>
            </a:r>
            <a:r>
              <a:rPr lang="en-GB" sz="1600"/>
              <a:t> volume of each vial (ml) 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58" name="Google Shape;1258;p106"/>
          <p:cNvSpPr txBox="1"/>
          <p:nvPr>
            <p:ph idx="1" type="body"/>
          </p:nvPr>
        </p:nvSpPr>
        <p:spPr>
          <a:xfrm>
            <a:off x="324000" y="759300"/>
            <a:ext cx="8237700" cy="32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A patient has a mass of 90 kg</a:t>
            </a:r>
            <a:br>
              <a:rPr lang="en-GB" sz="1600"/>
            </a:br>
            <a:r>
              <a:rPr lang="en-GB" sz="1600"/>
              <a:t>    They are prescribed 600 mg of a drug called rifampicin.</a:t>
            </a:r>
            <a:br>
              <a:rPr lang="en-GB" sz="1600"/>
            </a:br>
            <a:r>
              <a:rPr lang="en-GB" sz="1600"/>
              <a:t>    The drug comes vials which each have a volume of 10 ml.</a:t>
            </a:r>
            <a:br>
              <a:rPr lang="en-GB" sz="1600"/>
            </a:br>
            <a:r>
              <a:rPr lang="en-GB" sz="1600"/>
              <a:t>    Each vial contains 300 mg of the drug.</a:t>
            </a:r>
            <a:br>
              <a:rPr lang="en-GB" sz="1600"/>
            </a:br>
            <a:r>
              <a:rPr lang="en-GB" sz="1600"/>
              <a:t>    It need to be diluted up to 500 ml for the IV bag.</a:t>
            </a:r>
            <a:br>
              <a:rPr lang="en-GB" sz="1600"/>
            </a:br>
            <a:r>
              <a:rPr lang="en-GB" sz="1600"/>
              <a:t>    Once diluted, it needs to be administered continuously over 3 hours.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c) 1 mg = 1000 mcg. How many mcg of rifampicin was prescribed to the patient?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Use your answers from parts (b) to </a:t>
            </a:r>
            <a:r>
              <a:rPr lang="en-GB" sz="1600"/>
              <a:t>(c)</a:t>
            </a:r>
            <a:r>
              <a:rPr lang="en-GB" sz="1600"/>
              <a:t> and the formula below to calculate the </a:t>
            </a:r>
            <a:br>
              <a:rPr lang="en-GB" sz="1600"/>
            </a:br>
            <a:r>
              <a:rPr lang="en-GB" sz="1600"/>
              <a:t>    mcg/kg/min settings for the IV drip.</a:t>
            </a:r>
            <a:endParaRPr sz="1600"/>
          </a:p>
        </p:txBody>
      </p:sp>
      <p:sp>
        <p:nvSpPr>
          <p:cNvPr id="1259" name="Google Shape;1259;p106"/>
          <p:cNvSpPr txBox="1"/>
          <p:nvPr>
            <p:ph idx="4294967295" type="body"/>
          </p:nvPr>
        </p:nvSpPr>
        <p:spPr>
          <a:xfrm>
            <a:off x="2305200" y="4073456"/>
            <a:ext cx="6929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administration rate (ml/hr) </a:t>
            </a:r>
            <a:r>
              <a:rPr lang="en-GB" sz="1600">
                <a:solidFill>
                  <a:srgbClr val="1F1F1F"/>
                </a:solidFill>
              </a:rPr>
              <a:t>×</a:t>
            </a:r>
            <a:r>
              <a:rPr lang="en-GB" sz="1600"/>
              <a:t> amount prescribed (mcg)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0" name="Google Shape;1260;p106"/>
          <p:cNvSpPr txBox="1"/>
          <p:nvPr>
            <p:ph idx="4294967295" type="body"/>
          </p:nvPr>
        </p:nvSpPr>
        <p:spPr>
          <a:xfrm>
            <a:off x="476400" y="4227034"/>
            <a:ext cx="2243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drip settings   =</a:t>
            </a:r>
            <a:br>
              <a:rPr lang="en-GB" sz="1600"/>
            </a:br>
            <a:r>
              <a:rPr lang="en-GB" sz="1600"/>
              <a:t>(mcg/kg/min)   </a:t>
            </a:r>
            <a:endParaRPr sz="1600"/>
          </a:p>
        </p:txBody>
      </p:sp>
      <p:cxnSp>
        <p:nvCxnSpPr>
          <p:cNvPr id="1261" name="Google Shape;1261;p106"/>
          <p:cNvCxnSpPr/>
          <p:nvPr/>
        </p:nvCxnSpPr>
        <p:spPr>
          <a:xfrm>
            <a:off x="2253245" y="4383964"/>
            <a:ext cx="554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2" name="Google Shape;1262;p106"/>
          <p:cNvSpPr txBox="1"/>
          <p:nvPr>
            <p:ph idx="4294967295" type="body"/>
          </p:nvPr>
        </p:nvSpPr>
        <p:spPr>
          <a:xfrm>
            <a:off x="2305200" y="4454456"/>
            <a:ext cx="6841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bag volume (ml) </a:t>
            </a:r>
            <a:r>
              <a:rPr lang="en-GB" sz="1600">
                <a:solidFill>
                  <a:srgbClr val="1F1F1F"/>
                </a:solidFill>
              </a:rPr>
              <a:t>× patient mass (kg) × 60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68" name="Google Shape;1268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A patient has a mass of 90 kg</a:t>
            </a:r>
            <a:br>
              <a:rPr lang="en-GB" sz="1600"/>
            </a:br>
            <a:r>
              <a:rPr lang="en-GB" sz="1600"/>
              <a:t>    They are prescribed 600 mg of a drug called rifampicin.</a:t>
            </a:r>
            <a:br>
              <a:rPr lang="en-GB" sz="1600"/>
            </a:br>
            <a:r>
              <a:rPr lang="en-GB" sz="1600"/>
              <a:t>    The drug comes vials which each have a volume of 10 ml.</a:t>
            </a:r>
            <a:br>
              <a:rPr lang="en-GB" sz="1600"/>
            </a:br>
            <a:r>
              <a:rPr lang="en-GB" sz="1600"/>
              <a:t>    Each vial contains 300 mg of the drug.</a:t>
            </a:r>
            <a:br>
              <a:rPr lang="en-GB" sz="1600"/>
            </a:br>
            <a:r>
              <a:rPr lang="en-GB" sz="1600"/>
              <a:t>    It need to be diluted up to 500 ml for the IV bag.</a:t>
            </a:r>
            <a:br>
              <a:rPr lang="en-GB" sz="1600"/>
            </a:br>
            <a:r>
              <a:rPr lang="en-GB" sz="1600"/>
              <a:t>    Once diluted, it needs to be administered continuously over 3 hours.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a) Use the formula below to calculate the dose required.</a:t>
            </a:r>
            <a:endParaRPr sz="1600"/>
          </a:p>
        </p:txBody>
      </p:sp>
      <p:sp>
        <p:nvSpPr>
          <p:cNvPr id="1269" name="Google Shape;1269;p107"/>
          <p:cNvSpPr txBox="1"/>
          <p:nvPr>
            <p:ph idx="4294967295" type="body"/>
          </p:nvPr>
        </p:nvSpPr>
        <p:spPr>
          <a:xfrm>
            <a:off x="2336249" y="2961900"/>
            <a:ext cx="33576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amount of drug prescribed (mg) </a:t>
            </a:r>
            <a:endParaRPr sz="1600"/>
          </a:p>
        </p:txBody>
      </p:sp>
      <p:sp>
        <p:nvSpPr>
          <p:cNvPr id="1270" name="Google Shape;1270;p107"/>
          <p:cNvSpPr txBox="1"/>
          <p:nvPr>
            <p:ph idx="4294967295" type="body"/>
          </p:nvPr>
        </p:nvSpPr>
        <p:spPr>
          <a:xfrm>
            <a:off x="580633" y="3096044"/>
            <a:ext cx="1817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drug dose (ml) = </a:t>
            </a:r>
            <a:endParaRPr sz="1600"/>
          </a:p>
        </p:txBody>
      </p:sp>
      <p:cxnSp>
        <p:nvCxnSpPr>
          <p:cNvPr id="1271" name="Google Shape;1271;p107"/>
          <p:cNvCxnSpPr/>
          <p:nvPr/>
        </p:nvCxnSpPr>
        <p:spPr>
          <a:xfrm>
            <a:off x="2284305" y="3229241"/>
            <a:ext cx="335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107"/>
          <p:cNvSpPr txBox="1"/>
          <p:nvPr>
            <p:ph idx="4294967295" type="body"/>
          </p:nvPr>
        </p:nvSpPr>
        <p:spPr>
          <a:xfrm>
            <a:off x="2336249" y="3239375"/>
            <a:ext cx="2918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mount of drug per vial (mg) </a:t>
            </a:r>
            <a:endParaRPr sz="1600"/>
          </a:p>
        </p:txBody>
      </p:sp>
      <p:sp>
        <p:nvSpPr>
          <p:cNvPr id="1273" name="Google Shape;1273;p107"/>
          <p:cNvSpPr txBox="1"/>
          <p:nvPr>
            <p:ph idx="4294967295" type="body"/>
          </p:nvPr>
        </p:nvSpPr>
        <p:spPr>
          <a:xfrm>
            <a:off x="5765260" y="3092479"/>
            <a:ext cx="28371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1F1F1F"/>
                </a:solidFill>
              </a:rPr>
              <a:t>×</a:t>
            </a:r>
            <a:r>
              <a:rPr lang="en-GB" sz="1600"/>
              <a:t> volume of each vial (ml) </a:t>
            </a:r>
            <a:endParaRPr sz="1600"/>
          </a:p>
        </p:txBody>
      </p:sp>
      <p:pic>
        <p:nvPicPr>
          <p:cNvPr descr="&lt;math xmlns=&quot;http://www.w3.org/1998/Math/MathML&quot; display=&quot;block&quot; data-is-equatio=&quot;1&quot; data-latex=&quot;\frac{600}{300}\times10\ =\ 20\ \text{ml}&quot;&gt;&lt;mfrac&gt;&lt;mn&gt;600&lt;/mn&gt;&lt;mn&gt;300&lt;/mn&gt;&lt;/mfrac&gt;&lt;mo&gt;×&lt;/mo&gt;&lt;mn&gt;10&lt;/mn&gt;&lt;mtext&gt;&lt;/mtext&gt;&lt;mo&gt;=&lt;/mo&gt;&lt;mtext&gt;&lt;/mtext&gt;&lt;mn&gt;20&lt;/mn&gt;&lt;mtext&gt;&lt;/mtext&gt;&lt;mtext&gt;ml&lt;/mtext&gt;&lt;/math&gt;" id="1274" name="Google Shape;1274;p107" title="600 over 300 times 10 equals 20 m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99" y="3856200"/>
            <a:ext cx="2043435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fraction with numerator 166.7 times 600 000 and denominator 500 times 90 times 60 equals 37.04 mcg slash kg slash min&#10;&#10;&lt;math xmlns=&quot;http://www.w3.org/1998/Math/MathML&quot; display=&quot;block&quot; data-is-equatio=&quot;1&quot; data-latex=&quot;\frac{166.7\times600\ 000}{500\times90\times60}=37.04\ \text{mcg/kg/min}&quot;&gt;&lt;mfrac&gt;&lt;mrow&gt;&lt;mn&gt;166.7&lt;/mn&gt;&lt;mo&gt;×&lt;/mo&gt;&lt;mn&gt;600&lt;/mn&gt;&lt;mtext&gt;&lt;/mtext&gt;&lt;mn&gt;000&lt;/mn&gt;&lt;/mrow&gt;&lt;mrow&gt;&lt;mn&gt;500&lt;/mn&gt;&lt;mo&gt;×&lt;/mo&gt;&lt;mn&gt;90&lt;/mn&gt;&lt;mo&gt;×&lt;/mo&gt;&lt;mn&gt;60&lt;/mn&gt;&lt;/mrow&gt;&lt;/mfrac&gt;&lt;mo&gt;=&lt;/mo&gt;&lt;mn&gt;37.04&lt;/mn&gt;&lt;mtext&gt;&lt;/mtext&gt;&lt;mtext&gt;mcg/kg/min&lt;/mtext&gt;&lt;/math&gt;" id="1279" name="Google Shape;127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238" y="4269775"/>
            <a:ext cx="4009987" cy="5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81" name="Google Shape;1281;p108"/>
          <p:cNvSpPr txBox="1"/>
          <p:nvPr>
            <p:ph idx="1" type="body"/>
          </p:nvPr>
        </p:nvSpPr>
        <p:spPr>
          <a:xfrm>
            <a:off x="324000" y="767075"/>
            <a:ext cx="8237700" cy="6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b) The ‘administration rate’ is the amount of the diluted drug that is given to the </a:t>
            </a:r>
            <a:br>
              <a:rPr lang="en-GB" sz="1600"/>
            </a:br>
            <a:r>
              <a:rPr lang="en-GB" sz="1600"/>
              <a:t>     patient per hour from the IV bag. Calculate administration rate for this scenario. </a:t>
            </a:r>
            <a:endParaRPr sz="1600"/>
          </a:p>
        </p:txBody>
      </p:sp>
      <p:sp>
        <p:nvSpPr>
          <p:cNvPr id="1282" name="Google Shape;1282;p108"/>
          <p:cNvSpPr txBox="1"/>
          <p:nvPr>
            <p:ph idx="1" type="body"/>
          </p:nvPr>
        </p:nvSpPr>
        <p:spPr>
          <a:xfrm>
            <a:off x="324000" y="1902300"/>
            <a:ext cx="8237700" cy="15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c) 1 mg = 1000 mcg. How many mcg of rifampicin was prescribed to the patient?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Use your answers from parts (b) to (c) and the formula below to calculate the </a:t>
            </a:r>
            <a:br>
              <a:rPr lang="en-GB" sz="1600"/>
            </a:br>
            <a:r>
              <a:rPr lang="en-GB" sz="1600"/>
              <a:t>    mcg/kg/min settings for the IV drip.</a:t>
            </a:r>
            <a:endParaRPr sz="1600"/>
          </a:p>
        </p:txBody>
      </p:sp>
      <p:sp>
        <p:nvSpPr>
          <p:cNvPr id="1283" name="Google Shape;1283;p108"/>
          <p:cNvSpPr txBox="1"/>
          <p:nvPr>
            <p:ph idx="4294967295" type="body"/>
          </p:nvPr>
        </p:nvSpPr>
        <p:spPr>
          <a:xfrm>
            <a:off x="2305200" y="3387656"/>
            <a:ext cx="69297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administration rate (ml/hr) </a:t>
            </a:r>
            <a:r>
              <a:rPr lang="en-GB" sz="1600">
                <a:solidFill>
                  <a:srgbClr val="1F1F1F"/>
                </a:solidFill>
              </a:rPr>
              <a:t>×</a:t>
            </a:r>
            <a:r>
              <a:rPr lang="en-GB" sz="1600"/>
              <a:t> amount prescribed (mcg)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84" name="Google Shape;1284;p108"/>
          <p:cNvSpPr txBox="1"/>
          <p:nvPr>
            <p:ph idx="4294967295" type="body"/>
          </p:nvPr>
        </p:nvSpPr>
        <p:spPr>
          <a:xfrm>
            <a:off x="476400" y="3541234"/>
            <a:ext cx="2243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drip settings   =</a:t>
            </a:r>
            <a:br>
              <a:rPr lang="en-GB" sz="1600"/>
            </a:br>
            <a:r>
              <a:rPr lang="en-GB" sz="1600"/>
              <a:t>(mcg/kg/min)   </a:t>
            </a:r>
            <a:endParaRPr sz="1600"/>
          </a:p>
        </p:txBody>
      </p:sp>
      <p:cxnSp>
        <p:nvCxnSpPr>
          <p:cNvPr id="1285" name="Google Shape;1285;p108"/>
          <p:cNvCxnSpPr/>
          <p:nvPr/>
        </p:nvCxnSpPr>
        <p:spPr>
          <a:xfrm>
            <a:off x="2253245" y="3698164"/>
            <a:ext cx="554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108"/>
          <p:cNvSpPr txBox="1"/>
          <p:nvPr>
            <p:ph idx="4294967295" type="body"/>
          </p:nvPr>
        </p:nvSpPr>
        <p:spPr>
          <a:xfrm>
            <a:off x="2305200" y="3768656"/>
            <a:ext cx="68418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bag volume (ml) </a:t>
            </a:r>
            <a:r>
              <a:rPr lang="en-GB" sz="1600">
                <a:solidFill>
                  <a:srgbClr val="1F1F1F"/>
                </a:solidFill>
              </a:rPr>
              <a:t>× patient mass (kg) × 60</a:t>
            </a:r>
            <a:endParaRPr sz="1600"/>
          </a:p>
        </p:txBody>
      </p:sp>
      <p:pic>
        <p:nvPicPr>
          <p:cNvPr descr="&lt;math xmlns=&quot;http://www.w3.org/1998/Math/MathML&quot; display=&quot;block&quot; data-is-equatio=&quot;1&quot; data-latex=&quot;500\ \div3\ =166.7\ \text{(to 1 d.p.)}&quot;&gt;&lt;mn&gt;500&lt;/mn&gt;&lt;mtext&gt;&lt;/mtext&gt;&lt;mo&gt;÷&lt;/mo&gt;&lt;mn&gt;3&lt;/mn&gt;&lt;mtext&gt;&lt;/mtext&gt;&lt;mo&gt;=&lt;/mo&gt;&lt;mn&gt;166.7&lt;/mn&gt;&lt;mtext&gt;&lt;/mtext&gt;&lt;mtext&gt;(to 1 d.p.)&lt;/mtext&gt;&lt;/math&gt;" id="1287" name="Google Shape;1287;p108" title="500 division sign 3 equals 166.7 open paren to 1 d period p period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898" y="1457325"/>
            <a:ext cx="2730939" cy="22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00\ \times1000\ =\ 600\ 000\ \text{mcg}&quot;&gt;&lt;mn&gt;600&lt;/mn&gt;&lt;mtext&gt;&lt;/mtext&gt;&lt;mo&gt;×&lt;/mo&gt;&lt;mn&gt;1000&lt;/mn&gt;&lt;mtext&gt;&lt;/mtext&gt;&lt;mo&gt;=&lt;/mo&gt;&lt;mtext&gt;&lt;/mtext&gt;&lt;mn&gt;600&lt;/mn&gt;&lt;mtext&gt;&lt;/mtext&gt;&lt;mn&gt;000&lt;/mn&gt;&lt;mtext&gt;&lt;/mtext&gt;&lt;mtext&gt;mcg&lt;/mtext&gt;&lt;/math&gt;" id="1288" name="Google Shape;1288;p108" title="600 times 1000 equals 600 000 mc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321" y="2311955"/>
            <a:ext cx="2836773" cy="2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in medical professions</a:t>
            </a:r>
            <a:endParaRPr/>
          </a:p>
        </p:txBody>
      </p:sp>
      <p:sp>
        <p:nvSpPr>
          <p:cNvPr id="1294" name="Google Shape;1294;p10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medical professions</a:t>
            </a:r>
            <a:endParaRPr/>
          </a:p>
        </p:txBody>
      </p:sp>
      <p:sp>
        <p:nvSpPr>
          <p:cNvPr id="1295" name="Google Shape;1295;p10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pic>
        <p:nvPicPr>
          <p:cNvPr id="1296" name="Google Shape;129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17" y="369512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10"/>
          <p:cNvSpPr txBox="1"/>
          <p:nvPr>
            <p:ph idx="1" type="body"/>
          </p:nvPr>
        </p:nvSpPr>
        <p:spPr>
          <a:xfrm>
            <a:off x="324000" y="759300"/>
            <a:ext cx="8496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One way that medical staff assess a patient’s health is by their </a:t>
            </a:r>
            <a:br>
              <a:rPr lang="en-GB" sz="2000"/>
            </a:br>
            <a:r>
              <a:rPr lang="en-GB" sz="2000"/>
              <a:t>‘vital signs’.</a:t>
            </a:r>
            <a:endParaRPr sz="2000"/>
          </a:p>
        </p:txBody>
      </p:sp>
      <p:sp>
        <p:nvSpPr>
          <p:cNvPr id="1303" name="Google Shape;1303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</a:t>
            </a:r>
            <a:r>
              <a:rPr lang="en-GB"/>
              <a:t> data in medical professions</a:t>
            </a:r>
            <a:endParaRPr/>
          </a:p>
        </p:txBody>
      </p:sp>
      <p:sp>
        <p:nvSpPr>
          <p:cNvPr id="1304" name="Google Shape;1304;p110"/>
          <p:cNvSpPr txBox="1"/>
          <p:nvPr>
            <p:ph idx="1" type="body"/>
          </p:nvPr>
        </p:nvSpPr>
        <p:spPr>
          <a:xfrm>
            <a:off x="324000" y="1588127"/>
            <a:ext cx="8496000" cy="31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Vital signs include: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body temperature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respiratory rate - how many breaths the patient takes per minute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heart rate - how many times the patient’s heart beats per minute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GB" sz="2000"/>
              <a:t>blood pressure - the strength that blood is pushed against a person’s arteries as the heart pumps it around the body.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11"/>
          <p:cNvSpPr txBox="1"/>
          <p:nvPr>
            <p:ph idx="1" type="body"/>
          </p:nvPr>
        </p:nvSpPr>
        <p:spPr>
          <a:xfrm>
            <a:off x="324000" y="759300"/>
            <a:ext cx="82377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blood pressure measurement has two parts:</a:t>
            </a:r>
            <a:endParaRPr sz="1800"/>
          </a:p>
        </p:txBody>
      </p:sp>
      <p:sp>
        <p:nvSpPr>
          <p:cNvPr id="1310" name="Google Shape;1310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sp>
        <p:nvSpPr>
          <p:cNvPr id="1311" name="Google Shape;1311;p111"/>
          <p:cNvSpPr/>
          <p:nvPr/>
        </p:nvSpPr>
        <p:spPr>
          <a:xfrm>
            <a:off x="1471856" y="3183366"/>
            <a:ext cx="817475" cy="945050"/>
          </a:xfrm>
          <a:custGeom>
            <a:rect b="b" l="l" r="r" t="t"/>
            <a:pathLst>
              <a:path extrusionOk="0" h="37802" w="32699">
                <a:moveTo>
                  <a:pt x="0" y="37647"/>
                </a:moveTo>
                <a:cubicBezTo>
                  <a:pt x="243" y="32230"/>
                  <a:pt x="755" y="11415"/>
                  <a:pt x="1460" y="5147"/>
                </a:cubicBezTo>
                <a:cubicBezTo>
                  <a:pt x="2166" y="-1121"/>
                  <a:pt x="3236" y="143"/>
                  <a:pt x="4233" y="40"/>
                </a:cubicBezTo>
                <a:cubicBezTo>
                  <a:pt x="5231" y="-63"/>
                  <a:pt x="6131" y="3031"/>
                  <a:pt x="7445" y="4527"/>
                </a:cubicBezTo>
                <a:cubicBezTo>
                  <a:pt x="8759" y="6023"/>
                  <a:pt x="11094" y="6230"/>
                  <a:pt x="12116" y="9016"/>
                </a:cubicBezTo>
                <a:cubicBezTo>
                  <a:pt x="13138" y="11802"/>
                  <a:pt x="13017" y="19949"/>
                  <a:pt x="13576" y="21243"/>
                </a:cubicBezTo>
                <a:cubicBezTo>
                  <a:pt x="14136" y="22537"/>
                  <a:pt x="14792" y="17040"/>
                  <a:pt x="15473" y="16782"/>
                </a:cubicBezTo>
                <a:cubicBezTo>
                  <a:pt x="16154" y="16524"/>
                  <a:pt x="16593" y="17791"/>
                  <a:pt x="17663" y="19695"/>
                </a:cubicBezTo>
                <a:cubicBezTo>
                  <a:pt x="18734" y="21599"/>
                  <a:pt x="19390" y="25189"/>
                  <a:pt x="21896" y="28207"/>
                </a:cubicBezTo>
                <a:cubicBezTo>
                  <a:pt x="24402" y="31225"/>
                  <a:pt x="30899" y="36203"/>
                  <a:pt x="32699" y="3780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2" name="Google Shape;1312;p111"/>
          <p:cNvSpPr/>
          <p:nvPr/>
        </p:nvSpPr>
        <p:spPr>
          <a:xfrm>
            <a:off x="2281298" y="3183366"/>
            <a:ext cx="817475" cy="945050"/>
          </a:xfrm>
          <a:custGeom>
            <a:rect b="b" l="l" r="r" t="t"/>
            <a:pathLst>
              <a:path extrusionOk="0" h="37802" w="32699">
                <a:moveTo>
                  <a:pt x="0" y="37647"/>
                </a:moveTo>
                <a:cubicBezTo>
                  <a:pt x="243" y="32230"/>
                  <a:pt x="755" y="11415"/>
                  <a:pt x="1460" y="5147"/>
                </a:cubicBezTo>
                <a:cubicBezTo>
                  <a:pt x="2166" y="-1121"/>
                  <a:pt x="3236" y="143"/>
                  <a:pt x="4233" y="40"/>
                </a:cubicBezTo>
                <a:cubicBezTo>
                  <a:pt x="5231" y="-63"/>
                  <a:pt x="6131" y="3031"/>
                  <a:pt x="7445" y="4527"/>
                </a:cubicBezTo>
                <a:cubicBezTo>
                  <a:pt x="8759" y="6023"/>
                  <a:pt x="11094" y="6230"/>
                  <a:pt x="12116" y="9016"/>
                </a:cubicBezTo>
                <a:cubicBezTo>
                  <a:pt x="13138" y="11802"/>
                  <a:pt x="13017" y="19949"/>
                  <a:pt x="13576" y="21243"/>
                </a:cubicBezTo>
                <a:cubicBezTo>
                  <a:pt x="14136" y="22537"/>
                  <a:pt x="14792" y="17040"/>
                  <a:pt x="15473" y="16782"/>
                </a:cubicBezTo>
                <a:cubicBezTo>
                  <a:pt x="16154" y="16524"/>
                  <a:pt x="16593" y="17791"/>
                  <a:pt x="17663" y="19695"/>
                </a:cubicBezTo>
                <a:cubicBezTo>
                  <a:pt x="18734" y="21599"/>
                  <a:pt x="19390" y="25189"/>
                  <a:pt x="21896" y="28207"/>
                </a:cubicBezTo>
                <a:cubicBezTo>
                  <a:pt x="24402" y="31225"/>
                  <a:pt x="30899" y="36203"/>
                  <a:pt x="32699" y="3780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3" name="Google Shape;1313;p111"/>
          <p:cNvSpPr/>
          <p:nvPr/>
        </p:nvSpPr>
        <p:spPr>
          <a:xfrm>
            <a:off x="3090191" y="3183366"/>
            <a:ext cx="817475" cy="945050"/>
          </a:xfrm>
          <a:custGeom>
            <a:rect b="b" l="l" r="r" t="t"/>
            <a:pathLst>
              <a:path extrusionOk="0" h="37802" w="32699">
                <a:moveTo>
                  <a:pt x="0" y="37647"/>
                </a:moveTo>
                <a:cubicBezTo>
                  <a:pt x="243" y="32230"/>
                  <a:pt x="755" y="11415"/>
                  <a:pt x="1460" y="5147"/>
                </a:cubicBezTo>
                <a:cubicBezTo>
                  <a:pt x="2166" y="-1121"/>
                  <a:pt x="3236" y="143"/>
                  <a:pt x="4233" y="40"/>
                </a:cubicBezTo>
                <a:cubicBezTo>
                  <a:pt x="5231" y="-63"/>
                  <a:pt x="6131" y="3031"/>
                  <a:pt x="7445" y="4527"/>
                </a:cubicBezTo>
                <a:cubicBezTo>
                  <a:pt x="8759" y="6023"/>
                  <a:pt x="11094" y="6230"/>
                  <a:pt x="12116" y="9016"/>
                </a:cubicBezTo>
                <a:cubicBezTo>
                  <a:pt x="13138" y="11802"/>
                  <a:pt x="13017" y="19949"/>
                  <a:pt x="13576" y="21243"/>
                </a:cubicBezTo>
                <a:cubicBezTo>
                  <a:pt x="14136" y="22537"/>
                  <a:pt x="14792" y="17040"/>
                  <a:pt x="15473" y="16782"/>
                </a:cubicBezTo>
                <a:cubicBezTo>
                  <a:pt x="16154" y="16524"/>
                  <a:pt x="16593" y="17791"/>
                  <a:pt x="17663" y="19695"/>
                </a:cubicBezTo>
                <a:cubicBezTo>
                  <a:pt x="18734" y="21599"/>
                  <a:pt x="19390" y="25189"/>
                  <a:pt x="21896" y="28207"/>
                </a:cubicBezTo>
                <a:cubicBezTo>
                  <a:pt x="24402" y="31225"/>
                  <a:pt x="30899" y="36203"/>
                  <a:pt x="32699" y="3780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314" name="Google Shape;1314;p111"/>
          <p:cNvCxnSpPr/>
          <p:nvPr/>
        </p:nvCxnSpPr>
        <p:spPr>
          <a:xfrm rot="10800000">
            <a:off x="1278913" y="2714503"/>
            <a:ext cx="0" cy="177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5" name="Google Shape;1315;p111"/>
          <p:cNvCxnSpPr/>
          <p:nvPr/>
        </p:nvCxnSpPr>
        <p:spPr>
          <a:xfrm>
            <a:off x="1278913" y="4486303"/>
            <a:ext cx="3040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111"/>
          <p:cNvCxnSpPr/>
          <p:nvPr/>
        </p:nvCxnSpPr>
        <p:spPr>
          <a:xfrm rot="10800000">
            <a:off x="1281943" y="3956275"/>
            <a:ext cx="18990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111"/>
          <p:cNvCxnSpPr/>
          <p:nvPr/>
        </p:nvCxnSpPr>
        <p:spPr>
          <a:xfrm>
            <a:off x="1264775" y="3160800"/>
            <a:ext cx="2973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318" name="Google Shape;1318;p111"/>
          <p:cNvSpPr txBox="1"/>
          <p:nvPr>
            <p:ph idx="1" type="body"/>
          </p:nvPr>
        </p:nvSpPr>
        <p:spPr>
          <a:xfrm>
            <a:off x="4271517" y="3022533"/>
            <a:ext cx="6606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SBP</a:t>
            </a:r>
            <a:endParaRPr sz="1800"/>
          </a:p>
        </p:txBody>
      </p:sp>
      <p:cxnSp>
        <p:nvCxnSpPr>
          <p:cNvPr id="1319" name="Google Shape;1319;p111"/>
          <p:cNvCxnSpPr/>
          <p:nvPr/>
        </p:nvCxnSpPr>
        <p:spPr>
          <a:xfrm>
            <a:off x="1264775" y="4130700"/>
            <a:ext cx="2973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320" name="Google Shape;1320;p111"/>
          <p:cNvSpPr txBox="1"/>
          <p:nvPr>
            <p:ph idx="1" type="body"/>
          </p:nvPr>
        </p:nvSpPr>
        <p:spPr>
          <a:xfrm>
            <a:off x="4286400" y="3977550"/>
            <a:ext cx="6606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DBP</a:t>
            </a:r>
            <a:endParaRPr sz="1800"/>
          </a:p>
        </p:txBody>
      </p:sp>
      <p:sp>
        <p:nvSpPr>
          <p:cNvPr id="1321" name="Google Shape;1321;p111"/>
          <p:cNvSpPr txBox="1"/>
          <p:nvPr>
            <p:ph idx="1" type="body"/>
          </p:nvPr>
        </p:nvSpPr>
        <p:spPr>
          <a:xfrm rot="-5400000">
            <a:off x="-526000" y="3271350"/>
            <a:ext cx="21378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lood pressure (mmHg)</a:t>
            </a:r>
            <a:endParaRPr sz="1600"/>
          </a:p>
        </p:txBody>
      </p:sp>
      <p:sp>
        <p:nvSpPr>
          <p:cNvPr id="1322" name="Google Shape;1322;p111"/>
          <p:cNvSpPr txBox="1"/>
          <p:nvPr>
            <p:ph idx="1" type="body"/>
          </p:nvPr>
        </p:nvSpPr>
        <p:spPr>
          <a:xfrm>
            <a:off x="1752265" y="4529702"/>
            <a:ext cx="17547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ime (seconds)</a:t>
            </a:r>
            <a:endParaRPr sz="1800"/>
          </a:p>
        </p:txBody>
      </p:sp>
      <p:sp>
        <p:nvSpPr>
          <p:cNvPr id="1323" name="Google Shape;1323;p111"/>
          <p:cNvSpPr txBox="1"/>
          <p:nvPr>
            <p:ph idx="1" type="body"/>
          </p:nvPr>
        </p:nvSpPr>
        <p:spPr>
          <a:xfrm>
            <a:off x="837869" y="3035466"/>
            <a:ext cx="5772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120</a:t>
            </a:r>
            <a:endParaRPr sz="1800"/>
          </a:p>
        </p:txBody>
      </p:sp>
      <p:sp>
        <p:nvSpPr>
          <p:cNvPr id="1324" name="Google Shape;1324;p111"/>
          <p:cNvSpPr txBox="1"/>
          <p:nvPr>
            <p:ph idx="1" type="body"/>
          </p:nvPr>
        </p:nvSpPr>
        <p:spPr>
          <a:xfrm>
            <a:off x="943839" y="3994525"/>
            <a:ext cx="426900" cy="3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70</a:t>
            </a:r>
            <a:endParaRPr sz="1800"/>
          </a:p>
        </p:txBody>
      </p:sp>
      <p:sp>
        <p:nvSpPr>
          <p:cNvPr id="1325" name="Google Shape;1325;p111"/>
          <p:cNvSpPr txBox="1"/>
          <p:nvPr>
            <p:ph idx="1" type="body"/>
          </p:nvPr>
        </p:nvSpPr>
        <p:spPr>
          <a:xfrm>
            <a:off x="5154375" y="2588100"/>
            <a:ext cx="3606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Blood pressure is usually written as one number over another. However this notation does </a:t>
            </a:r>
            <a:r>
              <a:rPr lang="en-GB" sz="1800">
                <a:solidFill>
                  <a:schemeClr val="accent2"/>
                </a:solidFill>
              </a:rPr>
              <a:t>not</a:t>
            </a:r>
            <a:r>
              <a:rPr lang="en-GB" sz="1800"/>
              <a:t> represent a fraction.</a:t>
            </a:r>
            <a:endParaRPr sz="1800"/>
          </a:p>
        </p:txBody>
      </p:sp>
      <p:sp>
        <p:nvSpPr>
          <p:cNvPr id="1326" name="Google Shape;1326;p111"/>
          <p:cNvSpPr txBox="1"/>
          <p:nvPr>
            <p:ph idx="1" type="body"/>
          </p:nvPr>
        </p:nvSpPr>
        <p:spPr>
          <a:xfrm>
            <a:off x="6557376" y="4122567"/>
            <a:ext cx="4269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120</a:t>
            </a:r>
            <a:br>
              <a:rPr lang="en-GB" sz="1800"/>
            </a:br>
            <a:r>
              <a:rPr lang="en-GB" sz="1800"/>
              <a:t>70</a:t>
            </a:r>
            <a:endParaRPr sz="1800"/>
          </a:p>
        </p:txBody>
      </p:sp>
      <p:cxnSp>
        <p:nvCxnSpPr>
          <p:cNvPr id="1327" name="Google Shape;1327;p111"/>
          <p:cNvCxnSpPr/>
          <p:nvPr/>
        </p:nvCxnSpPr>
        <p:spPr>
          <a:xfrm>
            <a:off x="6598596" y="4430392"/>
            <a:ext cx="342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111"/>
          <p:cNvSpPr txBox="1"/>
          <p:nvPr>
            <p:ph idx="1" type="body"/>
          </p:nvPr>
        </p:nvSpPr>
        <p:spPr>
          <a:xfrm>
            <a:off x="7582308" y="3917832"/>
            <a:ext cx="628500" cy="8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SBP</a:t>
            </a:r>
            <a:br>
              <a:rPr lang="en-GB" sz="1800"/>
            </a:br>
            <a:br>
              <a:rPr lang="en-GB" sz="1800"/>
            </a:br>
            <a:r>
              <a:rPr lang="en-GB" sz="1800"/>
              <a:t>DBP</a:t>
            </a:r>
            <a:endParaRPr sz="1800"/>
          </a:p>
        </p:txBody>
      </p:sp>
      <p:cxnSp>
        <p:nvCxnSpPr>
          <p:cNvPr id="1329" name="Google Shape;1329;p111"/>
          <p:cNvCxnSpPr/>
          <p:nvPr/>
        </p:nvCxnSpPr>
        <p:spPr>
          <a:xfrm flipH="1">
            <a:off x="7025801" y="4084049"/>
            <a:ext cx="598800" cy="12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111"/>
          <p:cNvCxnSpPr/>
          <p:nvPr/>
        </p:nvCxnSpPr>
        <p:spPr>
          <a:xfrm rot="10800000">
            <a:off x="6998376" y="4568217"/>
            <a:ext cx="594900" cy="10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111"/>
          <p:cNvSpPr txBox="1"/>
          <p:nvPr>
            <p:ph idx="1" type="body"/>
          </p:nvPr>
        </p:nvSpPr>
        <p:spPr>
          <a:xfrm>
            <a:off x="324000" y="1206031"/>
            <a:ext cx="82377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systolic blood pressure (SBP) is a high number which shows the pressure when the heart squeezes;</a:t>
            </a:r>
            <a:endParaRPr sz="1800"/>
          </a:p>
        </p:txBody>
      </p:sp>
      <p:sp>
        <p:nvSpPr>
          <p:cNvPr id="1332" name="Google Shape;1332;p111"/>
          <p:cNvSpPr txBox="1"/>
          <p:nvPr>
            <p:ph idx="1" type="body"/>
          </p:nvPr>
        </p:nvSpPr>
        <p:spPr>
          <a:xfrm>
            <a:off x="324000" y="1826399"/>
            <a:ext cx="82377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diastolic blood pressure (DBP) is a low number which shows the pressure when the heart relaxes.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721" y="1590950"/>
            <a:ext cx="4736125" cy="29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12"/>
          <p:cNvSpPr txBox="1"/>
          <p:nvPr>
            <p:ph idx="1" type="body"/>
          </p:nvPr>
        </p:nvSpPr>
        <p:spPr>
          <a:xfrm>
            <a:off x="324000" y="759300"/>
            <a:ext cx="82377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 vital signs can be displayed on the same graph.</a:t>
            </a:r>
            <a:endParaRPr sz="1800"/>
          </a:p>
        </p:txBody>
      </p:sp>
      <p:sp>
        <p:nvSpPr>
          <p:cNvPr id="1339" name="Google Shape;1339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340" name="Google Shape;1340;p112"/>
          <p:cNvCxnSpPr/>
          <p:nvPr/>
        </p:nvCxnSpPr>
        <p:spPr>
          <a:xfrm rot="10800000">
            <a:off x="1905767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1" name="Google Shape;1341;p112"/>
          <p:cNvCxnSpPr/>
          <p:nvPr/>
        </p:nvCxnSpPr>
        <p:spPr>
          <a:xfrm>
            <a:off x="1905767" y="4549598"/>
            <a:ext cx="47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112"/>
          <p:cNvSpPr txBox="1"/>
          <p:nvPr>
            <p:ph idx="1" type="body"/>
          </p:nvPr>
        </p:nvSpPr>
        <p:spPr>
          <a:xfrm rot="-5400000">
            <a:off x="-510750" y="2516450"/>
            <a:ext cx="34995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343" name="Google Shape;1343;p112"/>
          <p:cNvSpPr txBox="1"/>
          <p:nvPr>
            <p:ph idx="1" type="body"/>
          </p:nvPr>
        </p:nvSpPr>
        <p:spPr>
          <a:xfrm>
            <a:off x="24680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Mon</a:t>
            </a:r>
            <a:endParaRPr sz="1600"/>
          </a:p>
        </p:txBody>
      </p:sp>
      <p:sp>
        <p:nvSpPr>
          <p:cNvPr id="1344" name="Google Shape;1344;p112"/>
          <p:cNvSpPr txBox="1"/>
          <p:nvPr>
            <p:ph idx="1" type="body"/>
          </p:nvPr>
        </p:nvSpPr>
        <p:spPr>
          <a:xfrm>
            <a:off x="3295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Tue</a:t>
            </a:r>
            <a:endParaRPr sz="1600"/>
          </a:p>
        </p:txBody>
      </p:sp>
      <p:sp>
        <p:nvSpPr>
          <p:cNvPr id="1345" name="Google Shape;1345;p112"/>
          <p:cNvSpPr txBox="1"/>
          <p:nvPr>
            <p:ph idx="1" type="body"/>
          </p:nvPr>
        </p:nvSpPr>
        <p:spPr>
          <a:xfrm>
            <a:off x="4057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Wed</a:t>
            </a:r>
            <a:endParaRPr sz="1600"/>
          </a:p>
        </p:txBody>
      </p:sp>
      <p:sp>
        <p:nvSpPr>
          <p:cNvPr id="1346" name="Google Shape;1346;p112"/>
          <p:cNvSpPr txBox="1"/>
          <p:nvPr>
            <p:ph idx="1" type="body"/>
          </p:nvPr>
        </p:nvSpPr>
        <p:spPr>
          <a:xfrm>
            <a:off x="48302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Thu</a:t>
            </a:r>
            <a:endParaRPr sz="1600"/>
          </a:p>
        </p:txBody>
      </p:sp>
      <p:sp>
        <p:nvSpPr>
          <p:cNvPr id="1347" name="Google Shape;1347;p112"/>
          <p:cNvSpPr txBox="1"/>
          <p:nvPr>
            <p:ph idx="1" type="body"/>
          </p:nvPr>
        </p:nvSpPr>
        <p:spPr>
          <a:xfrm>
            <a:off x="5613201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Fri</a:t>
            </a:r>
            <a:endParaRPr sz="1600"/>
          </a:p>
        </p:txBody>
      </p:sp>
      <p:sp>
        <p:nvSpPr>
          <p:cNvPr id="1348" name="Google Shape;1348;p112"/>
          <p:cNvSpPr txBox="1"/>
          <p:nvPr>
            <p:ph idx="1" type="body"/>
          </p:nvPr>
        </p:nvSpPr>
        <p:spPr>
          <a:xfrm>
            <a:off x="1404198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349" name="Google Shape;1349;p112"/>
          <p:cNvSpPr txBox="1"/>
          <p:nvPr>
            <p:ph idx="1" type="body"/>
          </p:nvPr>
        </p:nvSpPr>
        <p:spPr>
          <a:xfrm>
            <a:off x="1404198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350" name="Google Shape;1350;p112"/>
          <p:cNvSpPr txBox="1"/>
          <p:nvPr>
            <p:ph idx="1" type="body"/>
          </p:nvPr>
        </p:nvSpPr>
        <p:spPr>
          <a:xfrm>
            <a:off x="1404198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351" name="Google Shape;1351;p112"/>
          <p:cNvSpPr txBox="1"/>
          <p:nvPr>
            <p:ph idx="1" type="body"/>
          </p:nvPr>
        </p:nvSpPr>
        <p:spPr>
          <a:xfrm>
            <a:off x="1404198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352" name="Google Shape;1352;p112"/>
          <p:cNvSpPr txBox="1"/>
          <p:nvPr>
            <p:ph idx="1" type="body"/>
          </p:nvPr>
        </p:nvSpPr>
        <p:spPr>
          <a:xfrm>
            <a:off x="1404198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353" name="Google Shape;1353;p112"/>
          <p:cNvSpPr txBox="1"/>
          <p:nvPr>
            <p:ph idx="1" type="body"/>
          </p:nvPr>
        </p:nvSpPr>
        <p:spPr>
          <a:xfrm>
            <a:off x="1404198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354" name="Google Shape;1354;p112"/>
          <p:cNvSpPr txBox="1"/>
          <p:nvPr>
            <p:ph idx="1" type="body"/>
          </p:nvPr>
        </p:nvSpPr>
        <p:spPr>
          <a:xfrm>
            <a:off x="1404198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355" name="Google Shape;1355;p112"/>
          <p:cNvSpPr txBox="1"/>
          <p:nvPr>
            <p:ph idx="1" type="body"/>
          </p:nvPr>
        </p:nvSpPr>
        <p:spPr>
          <a:xfrm>
            <a:off x="1404198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356" name="Google Shape;1356;p112"/>
          <p:cNvSpPr txBox="1"/>
          <p:nvPr>
            <p:ph idx="1" type="body"/>
          </p:nvPr>
        </p:nvSpPr>
        <p:spPr>
          <a:xfrm>
            <a:off x="1404198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357" name="Google Shape;1357;p112"/>
          <p:cNvSpPr txBox="1"/>
          <p:nvPr>
            <p:ph idx="1" type="body"/>
          </p:nvPr>
        </p:nvSpPr>
        <p:spPr>
          <a:xfrm>
            <a:off x="1404198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grpSp>
        <p:nvGrpSpPr>
          <p:cNvPr id="1358" name="Google Shape;1358;p112"/>
          <p:cNvGrpSpPr/>
          <p:nvPr/>
        </p:nvGrpSpPr>
        <p:grpSpPr>
          <a:xfrm>
            <a:off x="2620100" y="1918650"/>
            <a:ext cx="3299100" cy="1479300"/>
            <a:chOff x="2620100" y="1918650"/>
            <a:chExt cx="3299100" cy="1479300"/>
          </a:xfrm>
        </p:grpSpPr>
        <p:sp>
          <p:nvSpPr>
            <p:cNvPr id="1359" name="Google Shape;1359;p112"/>
            <p:cNvSpPr/>
            <p:nvPr/>
          </p:nvSpPr>
          <p:spPr>
            <a:xfrm>
              <a:off x="2620100" y="2592450"/>
              <a:ext cx="156900" cy="8055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112"/>
            <p:cNvSpPr/>
            <p:nvPr/>
          </p:nvSpPr>
          <p:spPr>
            <a:xfrm>
              <a:off x="3413500" y="2501250"/>
              <a:ext cx="156900" cy="8283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112"/>
            <p:cNvSpPr/>
            <p:nvPr/>
          </p:nvSpPr>
          <p:spPr>
            <a:xfrm>
              <a:off x="4175500" y="2226050"/>
              <a:ext cx="156900" cy="10140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112"/>
            <p:cNvSpPr/>
            <p:nvPr/>
          </p:nvSpPr>
          <p:spPr>
            <a:xfrm>
              <a:off x="4979350" y="2101600"/>
              <a:ext cx="156900" cy="9543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112"/>
            <p:cNvSpPr/>
            <p:nvPr/>
          </p:nvSpPr>
          <p:spPr>
            <a:xfrm>
              <a:off x="5762300" y="1918650"/>
              <a:ext cx="156900" cy="9084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4" name="Google Shape;1364;p112"/>
          <p:cNvGrpSpPr/>
          <p:nvPr/>
        </p:nvGrpSpPr>
        <p:grpSpPr>
          <a:xfrm>
            <a:off x="2632700" y="3904395"/>
            <a:ext cx="3273905" cy="532278"/>
            <a:chOff x="2632700" y="3904395"/>
            <a:chExt cx="3273905" cy="532278"/>
          </a:xfrm>
        </p:grpSpPr>
        <p:sp>
          <p:nvSpPr>
            <p:cNvPr id="1365" name="Google Shape;1365;p112"/>
            <p:cNvSpPr/>
            <p:nvPr/>
          </p:nvSpPr>
          <p:spPr>
            <a:xfrm>
              <a:off x="2632700" y="4304973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112"/>
            <p:cNvSpPr/>
            <p:nvPr/>
          </p:nvSpPr>
          <p:spPr>
            <a:xfrm>
              <a:off x="3426100" y="4223568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112"/>
            <p:cNvSpPr/>
            <p:nvPr/>
          </p:nvSpPr>
          <p:spPr>
            <a:xfrm>
              <a:off x="4188100" y="4141743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112"/>
            <p:cNvSpPr/>
            <p:nvPr/>
          </p:nvSpPr>
          <p:spPr>
            <a:xfrm>
              <a:off x="4991955" y="4191613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9" name="Google Shape;1369;p112"/>
            <p:cNvSpPr/>
            <p:nvPr/>
          </p:nvSpPr>
          <p:spPr>
            <a:xfrm>
              <a:off x="5774905" y="3904395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0" name="Google Shape;1370;p112"/>
            <p:cNvCxnSpPr>
              <a:stCxn id="1365" idx="6"/>
              <a:endCxn id="1366" idx="2"/>
            </p:cNvCxnSpPr>
            <p:nvPr/>
          </p:nvCxnSpPr>
          <p:spPr>
            <a:xfrm flipH="1" rot="10800000">
              <a:off x="2764400" y="4289523"/>
              <a:ext cx="661800" cy="81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112"/>
            <p:cNvCxnSpPr>
              <a:endCxn id="1367" idx="2"/>
            </p:cNvCxnSpPr>
            <p:nvPr/>
          </p:nvCxnSpPr>
          <p:spPr>
            <a:xfrm flipH="1" rot="10800000">
              <a:off x="3557800" y="4207593"/>
              <a:ext cx="630300" cy="6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2" name="Google Shape;1372;p112"/>
            <p:cNvCxnSpPr>
              <a:endCxn id="1368" idx="2"/>
            </p:cNvCxnSpPr>
            <p:nvPr/>
          </p:nvCxnSpPr>
          <p:spPr>
            <a:xfrm>
              <a:off x="4319655" y="4211263"/>
              <a:ext cx="672300" cy="46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3" name="Google Shape;1373;p112"/>
            <p:cNvCxnSpPr>
              <a:stCxn id="1368" idx="6"/>
              <a:endCxn id="1369" idx="2"/>
            </p:cNvCxnSpPr>
            <p:nvPr/>
          </p:nvCxnSpPr>
          <p:spPr>
            <a:xfrm flipH="1" rot="10800000">
              <a:off x="5123655" y="3970363"/>
              <a:ext cx="651300" cy="287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74" name="Google Shape;1374;p112"/>
          <p:cNvGrpSpPr/>
          <p:nvPr/>
        </p:nvGrpSpPr>
        <p:grpSpPr>
          <a:xfrm>
            <a:off x="2608818" y="2826922"/>
            <a:ext cx="3322693" cy="472329"/>
            <a:chOff x="2608818" y="2826922"/>
            <a:chExt cx="3322693" cy="472329"/>
          </a:xfrm>
        </p:grpSpPr>
        <p:sp>
          <p:nvSpPr>
            <p:cNvPr id="1375" name="Google Shape;1375;p112"/>
            <p:cNvSpPr/>
            <p:nvPr/>
          </p:nvSpPr>
          <p:spPr>
            <a:xfrm>
              <a:off x="2608818" y="3147451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112"/>
            <p:cNvSpPr/>
            <p:nvPr/>
          </p:nvSpPr>
          <p:spPr>
            <a:xfrm>
              <a:off x="3402048" y="3053649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112"/>
            <p:cNvSpPr/>
            <p:nvPr/>
          </p:nvSpPr>
          <p:spPr>
            <a:xfrm>
              <a:off x="4164048" y="2906453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112"/>
            <p:cNvSpPr/>
            <p:nvPr/>
          </p:nvSpPr>
          <p:spPr>
            <a:xfrm>
              <a:off x="4962482" y="2897917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112"/>
            <p:cNvSpPr/>
            <p:nvPr/>
          </p:nvSpPr>
          <p:spPr>
            <a:xfrm>
              <a:off x="5755712" y="2826922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0" name="Google Shape;1380;p112"/>
            <p:cNvCxnSpPr>
              <a:stCxn id="1375" idx="5"/>
              <a:endCxn id="1376" idx="1"/>
            </p:cNvCxnSpPr>
            <p:nvPr/>
          </p:nvCxnSpPr>
          <p:spPr>
            <a:xfrm flipH="1" rot="10800000">
              <a:off x="2740668" y="3129451"/>
              <a:ext cx="705300" cy="93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1" name="Google Shape;1381;p112"/>
            <p:cNvCxnSpPr>
              <a:stCxn id="1376" idx="5"/>
              <a:endCxn id="1377" idx="1"/>
            </p:cNvCxnSpPr>
            <p:nvPr/>
          </p:nvCxnSpPr>
          <p:spPr>
            <a:xfrm flipH="1" rot="10800000">
              <a:off x="3533898" y="2982249"/>
              <a:ext cx="674100" cy="147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2" name="Google Shape;1382;p112"/>
            <p:cNvCxnSpPr>
              <a:stCxn id="1377" idx="5"/>
              <a:endCxn id="1378" idx="1"/>
            </p:cNvCxnSpPr>
            <p:nvPr/>
          </p:nvCxnSpPr>
          <p:spPr>
            <a:xfrm flipH="1" rot="10800000">
              <a:off x="4295898" y="2973953"/>
              <a:ext cx="710400" cy="8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3" name="Google Shape;1383;p112"/>
            <p:cNvCxnSpPr>
              <a:stCxn id="1378" idx="5"/>
              <a:endCxn id="1379" idx="1"/>
            </p:cNvCxnSpPr>
            <p:nvPr/>
          </p:nvCxnSpPr>
          <p:spPr>
            <a:xfrm flipH="1" rot="10800000">
              <a:off x="5094332" y="2902717"/>
              <a:ext cx="705300" cy="71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84" name="Google Shape;1384;p112"/>
          <p:cNvSpPr txBox="1"/>
          <p:nvPr>
            <p:ph idx="1" type="body"/>
          </p:nvPr>
        </p:nvSpPr>
        <p:spPr>
          <a:xfrm rot="-5400000">
            <a:off x="-886500" y="2511200"/>
            <a:ext cx="34995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385" name="Google Shape;1385;p112"/>
          <p:cNvSpPr txBox="1"/>
          <p:nvPr>
            <p:ph idx="1" type="body"/>
          </p:nvPr>
        </p:nvSpPr>
        <p:spPr>
          <a:xfrm rot="-5400000">
            <a:off x="-1278000" y="2521700"/>
            <a:ext cx="34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386" name="Google Shape;1386;p112"/>
          <p:cNvSpPr/>
          <p:nvPr/>
        </p:nvSpPr>
        <p:spPr>
          <a:xfrm>
            <a:off x="393300" y="4479775"/>
            <a:ext cx="156900" cy="340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12"/>
          <p:cNvSpPr/>
          <p:nvPr/>
        </p:nvSpPr>
        <p:spPr>
          <a:xfrm>
            <a:off x="1140081" y="4473692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2"/>
          <p:cNvSpPr/>
          <p:nvPr/>
        </p:nvSpPr>
        <p:spPr>
          <a:xfrm>
            <a:off x="779288" y="4483748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9" name="Google Shape;1389;p112"/>
          <p:cNvCxnSpPr/>
          <p:nvPr/>
        </p:nvCxnSpPr>
        <p:spPr>
          <a:xfrm>
            <a:off x="5840750" y="1918650"/>
            <a:ext cx="884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112"/>
          <p:cNvCxnSpPr/>
          <p:nvPr/>
        </p:nvCxnSpPr>
        <p:spPr>
          <a:xfrm>
            <a:off x="5840750" y="2833050"/>
            <a:ext cx="884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91" name="Google Shape;1391;p112"/>
          <p:cNvSpPr txBox="1"/>
          <p:nvPr>
            <p:ph idx="1" type="body"/>
          </p:nvPr>
        </p:nvSpPr>
        <p:spPr>
          <a:xfrm>
            <a:off x="6745734" y="1784232"/>
            <a:ext cx="2410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SBP (high number)</a:t>
            </a:r>
            <a:endParaRPr sz="1800"/>
          </a:p>
        </p:txBody>
      </p:sp>
      <p:sp>
        <p:nvSpPr>
          <p:cNvPr id="1392" name="Google Shape;1392;p112"/>
          <p:cNvSpPr txBox="1"/>
          <p:nvPr>
            <p:ph idx="1" type="body"/>
          </p:nvPr>
        </p:nvSpPr>
        <p:spPr>
          <a:xfrm>
            <a:off x="6745734" y="2698632"/>
            <a:ext cx="2410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DBP (low number)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721" y="1590950"/>
            <a:ext cx="4736125" cy="29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13"/>
          <p:cNvSpPr txBox="1"/>
          <p:nvPr>
            <p:ph idx="1" type="body"/>
          </p:nvPr>
        </p:nvSpPr>
        <p:spPr>
          <a:xfrm>
            <a:off x="324000" y="759300"/>
            <a:ext cx="82377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 scales may also be represented on the same graph.</a:t>
            </a:r>
            <a:endParaRPr sz="1800"/>
          </a:p>
        </p:txBody>
      </p:sp>
      <p:sp>
        <p:nvSpPr>
          <p:cNvPr id="1399" name="Google Shape;1399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400" name="Google Shape;1400;p113"/>
          <p:cNvCxnSpPr/>
          <p:nvPr/>
        </p:nvCxnSpPr>
        <p:spPr>
          <a:xfrm rot="10800000">
            <a:off x="1905767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1" name="Google Shape;1401;p113"/>
          <p:cNvCxnSpPr/>
          <p:nvPr/>
        </p:nvCxnSpPr>
        <p:spPr>
          <a:xfrm>
            <a:off x="1905767" y="4549598"/>
            <a:ext cx="47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2" name="Google Shape;1402;p113"/>
          <p:cNvSpPr txBox="1"/>
          <p:nvPr>
            <p:ph idx="1" type="body"/>
          </p:nvPr>
        </p:nvSpPr>
        <p:spPr>
          <a:xfrm rot="-5400000">
            <a:off x="-510750" y="2516450"/>
            <a:ext cx="34995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403" name="Google Shape;1403;p113"/>
          <p:cNvSpPr txBox="1"/>
          <p:nvPr>
            <p:ph idx="1" type="body"/>
          </p:nvPr>
        </p:nvSpPr>
        <p:spPr>
          <a:xfrm>
            <a:off x="24680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Mon</a:t>
            </a:r>
            <a:endParaRPr sz="1600"/>
          </a:p>
        </p:txBody>
      </p:sp>
      <p:sp>
        <p:nvSpPr>
          <p:cNvPr id="1404" name="Google Shape;1404;p113"/>
          <p:cNvSpPr txBox="1"/>
          <p:nvPr>
            <p:ph idx="1" type="body"/>
          </p:nvPr>
        </p:nvSpPr>
        <p:spPr>
          <a:xfrm>
            <a:off x="3295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Tue</a:t>
            </a:r>
            <a:endParaRPr sz="1600"/>
          </a:p>
        </p:txBody>
      </p:sp>
      <p:sp>
        <p:nvSpPr>
          <p:cNvPr id="1405" name="Google Shape;1405;p113"/>
          <p:cNvSpPr txBox="1"/>
          <p:nvPr>
            <p:ph idx="1" type="body"/>
          </p:nvPr>
        </p:nvSpPr>
        <p:spPr>
          <a:xfrm>
            <a:off x="4057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Wed</a:t>
            </a:r>
            <a:endParaRPr sz="1600"/>
          </a:p>
        </p:txBody>
      </p:sp>
      <p:sp>
        <p:nvSpPr>
          <p:cNvPr id="1406" name="Google Shape;1406;p113"/>
          <p:cNvSpPr txBox="1"/>
          <p:nvPr>
            <p:ph idx="1" type="body"/>
          </p:nvPr>
        </p:nvSpPr>
        <p:spPr>
          <a:xfrm>
            <a:off x="48302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Thu</a:t>
            </a:r>
            <a:endParaRPr sz="1600"/>
          </a:p>
        </p:txBody>
      </p:sp>
      <p:sp>
        <p:nvSpPr>
          <p:cNvPr id="1407" name="Google Shape;1407;p113"/>
          <p:cNvSpPr txBox="1"/>
          <p:nvPr>
            <p:ph idx="1" type="body"/>
          </p:nvPr>
        </p:nvSpPr>
        <p:spPr>
          <a:xfrm>
            <a:off x="5613201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Fri</a:t>
            </a:r>
            <a:endParaRPr sz="1600"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1404198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1404198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410" name="Google Shape;1410;p113"/>
          <p:cNvSpPr txBox="1"/>
          <p:nvPr>
            <p:ph idx="1" type="body"/>
          </p:nvPr>
        </p:nvSpPr>
        <p:spPr>
          <a:xfrm>
            <a:off x="1404198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411" name="Google Shape;1411;p113"/>
          <p:cNvSpPr txBox="1"/>
          <p:nvPr>
            <p:ph idx="1" type="body"/>
          </p:nvPr>
        </p:nvSpPr>
        <p:spPr>
          <a:xfrm>
            <a:off x="1404198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412" name="Google Shape;1412;p113"/>
          <p:cNvSpPr txBox="1"/>
          <p:nvPr>
            <p:ph idx="1" type="body"/>
          </p:nvPr>
        </p:nvSpPr>
        <p:spPr>
          <a:xfrm>
            <a:off x="1404198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413" name="Google Shape;1413;p113"/>
          <p:cNvSpPr txBox="1"/>
          <p:nvPr>
            <p:ph idx="1" type="body"/>
          </p:nvPr>
        </p:nvSpPr>
        <p:spPr>
          <a:xfrm>
            <a:off x="1404198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414" name="Google Shape;1414;p113"/>
          <p:cNvSpPr txBox="1"/>
          <p:nvPr>
            <p:ph idx="1" type="body"/>
          </p:nvPr>
        </p:nvSpPr>
        <p:spPr>
          <a:xfrm>
            <a:off x="1404198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415" name="Google Shape;1415;p113"/>
          <p:cNvSpPr txBox="1"/>
          <p:nvPr>
            <p:ph idx="1" type="body"/>
          </p:nvPr>
        </p:nvSpPr>
        <p:spPr>
          <a:xfrm>
            <a:off x="1404198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416" name="Google Shape;1416;p113"/>
          <p:cNvSpPr txBox="1"/>
          <p:nvPr>
            <p:ph idx="1" type="body"/>
          </p:nvPr>
        </p:nvSpPr>
        <p:spPr>
          <a:xfrm>
            <a:off x="1404198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417" name="Google Shape;1417;p113"/>
          <p:cNvSpPr txBox="1"/>
          <p:nvPr>
            <p:ph idx="1" type="body"/>
          </p:nvPr>
        </p:nvSpPr>
        <p:spPr>
          <a:xfrm>
            <a:off x="1404198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1418" name="Google Shape;1418;p113"/>
          <p:cNvSpPr/>
          <p:nvPr/>
        </p:nvSpPr>
        <p:spPr>
          <a:xfrm>
            <a:off x="2620100" y="2592450"/>
            <a:ext cx="156900" cy="805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3"/>
          <p:cNvSpPr/>
          <p:nvPr/>
        </p:nvSpPr>
        <p:spPr>
          <a:xfrm>
            <a:off x="3413500" y="2501250"/>
            <a:ext cx="156900" cy="8283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3"/>
          <p:cNvSpPr/>
          <p:nvPr/>
        </p:nvSpPr>
        <p:spPr>
          <a:xfrm>
            <a:off x="4175500" y="2226050"/>
            <a:ext cx="156900" cy="10140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113"/>
          <p:cNvSpPr/>
          <p:nvPr/>
        </p:nvSpPr>
        <p:spPr>
          <a:xfrm>
            <a:off x="4979350" y="2101600"/>
            <a:ext cx="156900" cy="9543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3"/>
          <p:cNvSpPr/>
          <p:nvPr/>
        </p:nvSpPr>
        <p:spPr>
          <a:xfrm>
            <a:off x="5762300" y="1918650"/>
            <a:ext cx="156900" cy="9084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/>
          <p:nvPr/>
        </p:nvSpPr>
        <p:spPr>
          <a:xfrm>
            <a:off x="2632700" y="4304973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/>
          <p:nvPr/>
        </p:nvSpPr>
        <p:spPr>
          <a:xfrm>
            <a:off x="3426100" y="4223568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113"/>
          <p:cNvSpPr/>
          <p:nvPr/>
        </p:nvSpPr>
        <p:spPr>
          <a:xfrm>
            <a:off x="4188100" y="4141743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3"/>
          <p:cNvSpPr/>
          <p:nvPr/>
        </p:nvSpPr>
        <p:spPr>
          <a:xfrm>
            <a:off x="4991955" y="4191613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3"/>
          <p:cNvSpPr/>
          <p:nvPr/>
        </p:nvSpPr>
        <p:spPr>
          <a:xfrm>
            <a:off x="5774905" y="3904395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8" name="Google Shape;1428;p113"/>
          <p:cNvCxnSpPr>
            <a:stCxn id="1423" idx="6"/>
            <a:endCxn id="1424" idx="2"/>
          </p:cNvCxnSpPr>
          <p:nvPr/>
        </p:nvCxnSpPr>
        <p:spPr>
          <a:xfrm flipH="1" rot="10800000">
            <a:off x="2764400" y="4289523"/>
            <a:ext cx="661800" cy="81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113"/>
          <p:cNvCxnSpPr>
            <a:endCxn id="1425" idx="2"/>
          </p:cNvCxnSpPr>
          <p:nvPr/>
        </p:nvCxnSpPr>
        <p:spPr>
          <a:xfrm flipH="1" rot="10800000">
            <a:off x="3557800" y="4207593"/>
            <a:ext cx="630300" cy="6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113"/>
          <p:cNvCxnSpPr>
            <a:endCxn id="1426" idx="2"/>
          </p:cNvCxnSpPr>
          <p:nvPr/>
        </p:nvCxnSpPr>
        <p:spPr>
          <a:xfrm>
            <a:off x="4319655" y="4211263"/>
            <a:ext cx="672300" cy="46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113"/>
          <p:cNvCxnSpPr>
            <a:stCxn id="1426" idx="6"/>
            <a:endCxn id="1427" idx="2"/>
          </p:cNvCxnSpPr>
          <p:nvPr/>
        </p:nvCxnSpPr>
        <p:spPr>
          <a:xfrm flipH="1" rot="10800000">
            <a:off x="5123655" y="3970363"/>
            <a:ext cx="651300" cy="287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113"/>
          <p:cNvSpPr/>
          <p:nvPr/>
        </p:nvSpPr>
        <p:spPr>
          <a:xfrm>
            <a:off x="2608818" y="3147451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113"/>
          <p:cNvSpPr/>
          <p:nvPr/>
        </p:nvSpPr>
        <p:spPr>
          <a:xfrm>
            <a:off x="3402048" y="3053649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3"/>
          <p:cNvSpPr/>
          <p:nvPr/>
        </p:nvSpPr>
        <p:spPr>
          <a:xfrm>
            <a:off x="4164048" y="2906453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3"/>
          <p:cNvSpPr/>
          <p:nvPr/>
        </p:nvSpPr>
        <p:spPr>
          <a:xfrm>
            <a:off x="4962482" y="2897917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113"/>
          <p:cNvSpPr/>
          <p:nvPr/>
        </p:nvSpPr>
        <p:spPr>
          <a:xfrm>
            <a:off x="5755712" y="2826922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7" name="Google Shape;1437;p113"/>
          <p:cNvCxnSpPr>
            <a:stCxn id="1432" idx="5"/>
            <a:endCxn id="1433" idx="1"/>
          </p:cNvCxnSpPr>
          <p:nvPr/>
        </p:nvCxnSpPr>
        <p:spPr>
          <a:xfrm flipH="1" rot="10800000">
            <a:off x="2740668" y="3129451"/>
            <a:ext cx="705300" cy="93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113"/>
          <p:cNvCxnSpPr>
            <a:stCxn id="1433" idx="5"/>
            <a:endCxn id="1434" idx="1"/>
          </p:cNvCxnSpPr>
          <p:nvPr/>
        </p:nvCxnSpPr>
        <p:spPr>
          <a:xfrm flipH="1" rot="10800000">
            <a:off x="3533898" y="2982249"/>
            <a:ext cx="674100" cy="147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113"/>
          <p:cNvCxnSpPr>
            <a:stCxn id="1434" idx="5"/>
            <a:endCxn id="1435" idx="1"/>
          </p:cNvCxnSpPr>
          <p:nvPr/>
        </p:nvCxnSpPr>
        <p:spPr>
          <a:xfrm flipH="1" rot="10800000">
            <a:off x="4295898" y="2973953"/>
            <a:ext cx="710400" cy="8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113"/>
          <p:cNvCxnSpPr>
            <a:stCxn id="1435" idx="5"/>
            <a:endCxn id="1436" idx="1"/>
          </p:cNvCxnSpPr>
          <p:nvPr/>
        </p:nvCxnSpPr>
        <p:spPr>
          <a:xfrm flipH="1" rot="10800000">
            <a:off x="5094332" y="2902717"/>
            <a:ext cx="705300" cy="71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1" name="Google Shape;1441;p113"/>
          <p:cNvSpPr txBox="1"/>
          <p:nvPr>
            <p:ph idx="1" type="body"/>
          </p:nvPr>
        </p:nvSpPr>
        <p:spPr>
          <a:xfrm rot="-5400000">
            <a:off x="-886500" y="2511200"/>
            <a:ext cx="34995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442" name="Google Shape;1442;p113"/>
          <p:cNvSpPr txBox="1"/>
          <p:nvPr>
            <p:ph idx="1" type="body"/>
          </p:nvPr>
        </p:nvSpPr>
        <p:spPr>
          <a:xfrm rot="-5400000">
            <a:off x="-1278000" y="2521700"/>
            <a:ext cx="34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443" name="Google Shape;1443;p113"/>
          <p:cNvSpPr/>
          <p:nvPr/>
        </p:nvSpPr>
        <p:spPr>
          <a:xfrm>
            <a:off x="393300" y="4479775"/>
            <a:ext cx="156900" cy="340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113"/>
          <p:cNvSpPr/>
          <p:nvPr/>
        </p:nvSpPr>
        <p:spPr>
          <a:xfrm>
            <a:off x="1140081" y="4473692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13"/>
          <p:cNvSpPr/>
          <p:nvPr/>
        </p:nvSpPr>
        <p:spPr>
          <a:xfrm>
            <a:off x="779288" y="4483748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6" name="Google Shape;1446;p113"/>
          <p:cNvCxnSpPr/>
          <p:nvPr/>
        </p:nvCxnSpPr>
        <p:spPr>
          <a:xfrm rot="10800000">
            <a:off x="6640634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7" name="Google Shape;1447;p113"/>
          <p:cNvSpPr txBox="1"/>
          <p:nvPr>
            <p:ph idx="1" type="body"/>
          </p:nvPr>
        </p:nvSpPr>
        <p:spPr>
          <a:xfrm>
            <a:off x="6682932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448" name="Google Shape;1448;p113"/>
          <p:cNvSpPr txBox="1"/>
          <p:nvPr>
            <p:ph idx="1" type="body"/>
          </p:nvPr>
        </p:nvSpPr>
        <p:spPr>
          <a:xfrm>
            <a:off x="6682932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449" name="Google Shape;1449;p113"/>
          <p:cNvSpPr txBox="1"/>
          <p:nvPr>
            <p:ph idx="1" type="body"/>
          </p:nvPr>
        </p:nvSpPr>
        <p:spPr>
          <a:xfrm>
            <a:off x="6682932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450" name="Google Shape;1450;p113"/>
          <p:cNvSpPr txBox="1"/>
          <p:nvPr>
            <p:ph idx="1" type="body"/>
          </p:nvPr>
        </p:nvSpPr>
        <p:spPr>
          <a:xfrm>
            <a:off x="6682932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451" name="Google Shape;1451;p113"/>
          <p:cNvSpPr txBox="1"/>
          <p:nvPr>
            <p:ph idx="1" type="body"/>
          </p:nvPr>
        </p:nvSpPr>
        <p:spPr>
          <a:xfrm>
            <a:off x="6682932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452" name="Google Shape;1452;p113"/>
          <p:cNvSpPr txBox="1"/>
          <p:nvPr>
            <p:ph idx="1" type="body"/>
          </p:nvPr>
        </p:nvSpPr>
        <p:spPr>
          <a:xfrm>
            <a:off x="6682932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453" name="Google Shape;1453;p113"/>
          <p:cNvSpPr txBox="1"/>
          <p:nvPr>
            <p:ph idx="1" type="body"/>
          </p:nvPr>
        </p:nvSpPr>
        <p:spPr>
          <a:xfrm>
            <a:off x="6682932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454" name="Google Shape;1454;p113"/>
          <p:cNvSpPr txBox="1"/>
          <p:nvPr>
            <p:ph idx="1" type="body"/>
          </p:nvPr>
        </p:nvSpPr>
        <p:spPr>
          <a:xfrm>
            <a:off x="6682932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455" name="Google Shape;1455;p113"/>
          <p:cNvSpPr txBox="1"/>
          <p:nvPr>
            <p:ph idx="1" type="body"/>
          </p:nvPr>
        </p:nvSpPr>
        <p:spPr>
          <a:xfrm>
            <a:off x="6682932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456" name="Google Shape;1456;p113"/>
          <p:cNvSpPr txBox="1"/>
          <p:nvPr>
            <p:ph idx="1" type="body"/>
          </p:nvPr>
        </p:nvSpPr>
        <p:spPr>
          <a:xfrm>
            <a:off x="6682932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  <p:sp>
        <p:nvSpPr>
          <p:cNvPr id="1457" name="Google Shape;1457;p113"/>
          <p:cNvSpPr txBox="1"/>
          <p:nvPr>
            <p:ph idx="1" type="body"/>
          </p:nvPr>
        </p:nvSpPr>
        <p:spPr>
          <a:xfrm rot="5400000">
            <a:off x="6077634" y="3180517"/>
            <a:ext cx="22413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458" name="Google Shape;1458;p113"/>
          <p:cNvSpPr/>
          <p:nvPr/>
        </p:nvSpPr>
        <p:spPr>
          <a:xfrm>
            <a:off x="7096659" y="4525619"/>
            <a:ext cx="175800" cy="1758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3"/>
          <p:cNvSpPr/>
          <p:nvPr/>
        </p:nvSpPr>
        <p:spPr>
          <a:xfrm>
            <a:off x="2630886" y="2036381"/>
            <a:ext cx="131700" cy="1317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13"/>
          <p:cNvSpPr/>
          <p:nvPr/>
        </p:nvSpPr>
        <p:spPr>
          <a:xfrm>
            <a:off x="3427447" y="2050122"/>
            <a:ext cx="131700" cy="1317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3"/>
          <p:cNvSpPr/>
          <p:nvPr/>
        </p:nvSpPr>
        <p:spPr>
          <a:xfrm>
            <a:off x="4194652" y="1984332"/>
            <a:ext cx="131700" cy="1317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13"/>
          <p:cNvSpPr/>
          <p:nvPr/>
        </p:nvSpPr>
        <p:spPr>
          <a:xfrm>
            <a:off x="4982677" y="1942692"/>
            <a:ext cx="131700" cy="1317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3"/>
          <p:cNvSpPr/>
          <p:nvPr/>
        </p:nvSpPr>
        <p:spPr>
          <a:xfrm>
            <a:off x="5770701" y="1906258"/>
            <a:ext cx="131700" cy="1317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4" name="Google Shape;1464;p113"/>
          <p:cNvCxnSpPr>
            <a:stCxn id="1459" idx="3"/>
            <a:endCxn id="1460" idx="1"/>
          </p:cNvCxnSpPr>
          <p:nvPr/>
        </p:nvCxnSpPr>
        <p:spPr>
          <a:xfrm>
            <a:off x="2762586" y="2102231"/>
            <a:ext cx="664800" cy="13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5" name="Google Shape;1465;p113"/>
          <p:cNvCxnSpPr>
            <a:stCxn id="1461" idx="1"/>
            <a:endCxn id="1460" idx="3"/>
          </p:cNvCxnSpPr>
          <p:nvPr/>
        </p:nvCxnSpPr>
        <p:spPr>
          <a:xfrm flipH="1">
            <a:off x="3559252" y="2050182"/>
            <a:ext cx="635400" cy="65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113"/>
          <p:cNvCxnSpPr>
            <a:stCxn id="1462" idx="1"/>
            <a:endCxn id="1461" idx="3"/>
          </p:cNvCxnSpPr>
          <p:nvPr/>
        </p:nvCxnSpPr>
        <p:spPr>
          <a:xfrm flipH="1">
            <a:off x="4326277" y="2008542"/>
            <a:ext cx="656400" cy="41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113"/>
          <p:cNvCxnSpPr>
            <a:endCxn id="1462" idx="3"/>
          </p:cNvCxnSpPr>
          <p:nvPr/>
        </p:nvCxnSpPr>
        <p:spPr>
          <a:xfrm flipH="1">
            <a:off x="5114377" y="1972842"/>
            <a:ext cx="652800" cy="35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721" y="1590950"/>
            <a:ext cx="4736125" cy="294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3" name="Google Shape;1473;p114"/>
          <p:cNvGrpSpPr/>
          <p:nvPr/>
        </p:nvGrpSpPr>
        <p:grpSpPr>
          <a:xfrm>
            <a:off x="2620100" y="1906258"/>
            <a:ext cx="3299100" cy="2530415"/>
            <a:chOff x="2620100" y="1906258"/>
            <a:chExt cx="3299100" cy="2530415"/>
          </a:xfrm>
        </p:grpSpPr>
        <p:grpSp>
          <p:nvGrpSpPr>
            <p:cNvPr id="1474" name="Google Shape;1474;p114"/>
            <p:cNvGrpSpPr/>
            <p:nvPr/>
          </p:nvGrpSpPr>
          <p:grpSpPr>
            <a:xfrm>
              <a:off x="2620100" y="1918650"/>
              <a:ext cx="3299100" cy="1479300"/>
              <a:chOff x="2620100" y="1918650"/>
              <a:chExt cx="3299100" cy="1479300"/>
            </a:xfrm>
          </p:grpSpPr>
          <p:sp>
            <p:nvSpPr>
              <p:cNvPr id="1475" name="Google Shape;1475;p114"/>
              <p:cNvSpPr/>
              <p:nvPr/>
            </p:nvSpPr>
            <p:spPr>
              <a:xfrm>
                <a:off x="2620100" y="2592450"/>
                <a:ext cx="156900" cy="8055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6" name="Google Shape;1476;p114"/>
              <p:cNvSpPr/>
              <p:nvPr/>
            </p:nvSpPr>
            <p:spPr>
              <a:xfrm>
                <a:off x="3413500" y="2501250"/>
                <a:ext cx="156900" cy="8283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7" name="Google Shape;1477;p114"/>
              <p:cNvSpPr/>
              <p:nvPr/>
            </p:nvSpPr>
            <p:spPr>
              <a:xfrm>
                <a:off x="4175500" y="2226050"/>
                <a:ext cx="156900" cy="10140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8" name="Google Shape;1478;p114"/>
              <p:cNvSpPr/>
              <p:nvPr/>
            </p:nvSpPr>
            <p:spPr>
              <a:xfrm>
                <a:off x="4979350" y="2101600"/>
                <a:ext cx="156900" cy="9543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9" name="Google Shape;1479;p114"/>
              <p:cNvSpPr/>
              <p:nvPr/>
            </p:nvSpPr>
            <p:spPr>
              <a:xfrm>
                <a:off x="5762300" y="1918650"/>
                <a:ext cx="156900" cy="9084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80" name="Google Shape;1480;p114"/>
            <p:cNvGrpSpPr/>
            <p:nvPr/>
          </p:nvGrpSpPr>
          <p:grpSpPr>
            <a:xfrm>
              <a:off x="2632700" y="3904395"/>
              <a:ext cx="3273905" cy="532278"/>
              <a:chOff x="2632700" y="3904395"/>
              <a:chExt cx="3273905" cy="532278"/>
            </a:xfrm>
          </p:grpSpPr>
          <p:sp>
            <p:nvSpPr>
              <p:cNvPr id="1481" name="Google Shape;1481;p114"/>
              <p:cNvSpPr/>
              <p:nvPr/>
            </p:nvSpPr>
            <p:spPr>
              <a:xfrm>
                <a:off x="2632700" y="4304973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2" name="Google Shape;1482;p114"/>
              <p:cNvSpPr/>
              <p:nvPr/>
            </p:nvSpPr>
            <p:spPr>
              <a:xfrm>
                <a:off x="3426100" y="4223568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3" name="Google Shape;1483;p114"/>
              <p:cNvSpPr/>
              <p:nvPr/>
            </p:nvSpPr>
            <p:spPr>
              <a:xfrm>
                <a:off x="4188100" y="4141743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4" name="Google Shape;1484;p114"/>
              <p:cNvSpPr/>
              <p:nvPr/>
            </p:nvSpPr>
            <p:spPr>
              <a:xfrm>
                <a:off x="4991955" y="4191613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5" name="Google Shape;1485;p114"/>
              <p:cNvSpPr/>
              <p:nvPr/>
            </p:nvSpPr>
            <p:spPr>
              <a:xfrm>
                <a:off x="5774905" y="3904395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86" name="Google Shape;1486;p114"/>
              <p:cNvCxnSpPr>
                <a:stCxn id="1481" idx="6"/>
                <a:endCxn id="1482" idx="2"/>
              </p:cNvCxnSpPr>
              <p:nvPr/>
            </p:nvCxnSpPr>
            <p:spPr>
              <a:xfrm flipH="1" rot="10800000">
                <a:off x="2764400" y="4289523"/>
                <a:ext cx="661800" cy="81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7" name="Google Shape;1487;p114"/>
              <p:cNvCxnSpPr>
                <a:endCxn id="1483" idx="2"/>
              </p:cNvCxnSpPr>
              <p:nvPr/>
            </p:nvCxnSpPr>
            <p:spPr>
              <a:xfrm flipH="1" rot="10800000">
                <a:off x="3557800" y="4207593"/>
                <a:ext cx="630300" cy="69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8" name="Google Shape;1488;p114"/>
              <p:cNvCxnSpPr>
                <a:endCxn id="1484" idx="2"/>
              </p:cNvCxnSpPr>
              <p:nvPr/>
            </p:nvCxnSpPr>
            <p:spPr>
              <a:xfrm>
                <a:off x="4319655" y="4211263"/>
                <a:ext cx="672300" cy="462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9" name="Google Shape;1489;p114"/>
              <p:cNvCxnSpPr>
                <a:stCxn id="1484" idx="6"/>
                <a:endCxn id="1485" idx="2"/>
              </p:cNvCxnSpPr>
              <p:nvPr/>
            </p:nvCxnSpPr>
            <p:spPr>
              <a:xfrm flipH="1" rot="10800000">
                <a:off x="5123655" y="3970363"/>
                <a:ext cx="651300" cy="287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90" name="Google Shape;1490;p114"/>
            <p:cNvGrpSpPr/>
            <p:nvPr/>
          </p:nvGrpSpPr>
          <p:grpSpPr>
            <a:xfrm>
              <a:off x="2630886" y="1906258"/>
              <a:ext cx="3271515" cy="275564"/>
              <a:chOff x="2630886" y="1906258"/>
              <a:chExt cx="3271515" cy="275564"/>
            </a:xfrm>
          </p:grpSpPr>
          <p:sp>
            <p:nvSpPr>
              <p:cNvPr id="1491" name="Google Shape;1491;p114"/>
              <p:cNvSpPr/>
              <p:nvPr/>
            </p:nvSpPr>
            <p:spPr>
              <a:xfrm>
                <a:off x="2630886" y="2036381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92" name="Google Shape;1492;p114"/>
              <p:cNvSpPr/>
              <p:nvPr/>
            </p:nvSpPr>
            <p:spPr>
              <a:xfrm>
                <a:off x="3427447" y="205012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93" name="Google Shape;1493;p114"/>
              <p:cNvSpPr/>
              <p:nvPr/>
            </p:nvSpPr>
            <p:spPr>
              <a:xfrm>
                <a:off x="4194652" y="198433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94" name="Google Shape;1494;p114"/>
              <p:cNvSpPr/>
              <p:nvPr/>
            </p:nvSpPr>
            <p:spPr>
              <a:xfrm>
                <a:off x="4982677" y="194269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95" name="Google Shape;1495;p114"/>
              <p:cNvSpPr/>
              <p:nvPr/>
            </p:nvSpPr>
            <p:spPr>
              <a:xfrm>
                <a:off x="5770701" y="1906258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496" name="Google Shape;1496;p114"/>
              <p:cNvCxnSpPr>
                <a:stCxn id="1491" idx="3"/>
                <a:endCxn id="1492" idx="1"/>
              </p:cNvCxnSpPr>
              <p:nvPr/>
            </p:nvCxnSpPr>
            <p:spPr>
              <a:xfrm>
                <a:off x="2762586" y="2102231"/>
                <a:ext cx="6648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7" name="Google Shape;1497;p114"/>
              <p:cNvCxnSpPr>
                <a:stCxn id="1493" idx="1"/>
                <a:endCxn id="1492" idx="3"/>
              </p:cNvCxnSpPr>
              <p:nvPr/>
            </p:nvCxnSpPr>
            <p:spPr>
              <a:xfrm flipH="1">
                <a:off x="3559252" y="2050182"/>
                <a:ext cx="635400" cy="65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8" name="Google Shape;1498;p114"/>
              <p:cNvCxnSpPr>
                <a:stCxn id="1494" idx="1"/>
                <a:endCxn id="1493" idx="3"/>
              </p:cNvCxnSpPr>
              <p:nvPr/>
            </p:nvCxnSpPr>
            <p:spPr>
              <a:xfrm flipH="1">
                <a:off x="4326277" y="2008542"/>
                <a:ext cx="656400" cy="41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9" name="Google Shape;1499;p114"/>
              <p:cNvCxnSpPr>
                <a:endCxn id="1494" idx="3"/>
              </p:cNvCxnSpPr>
              <p:nvPr/>
            </p:nvCxnSpPr>
            <p:spPr>
              <a:xfrm flipH="1">
                <a:off x="5114377" y="1972842"/>
                <a:ext cx="652800" cy="35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00" name="Google Shape;1500;p114"/>
          <p:cNvSpPr txBox="1"/>
          <p:nvPr>
            <p:ph idx="1" type="body"/>
          </p:nvPr>
        </p:nvSpPr>
        <p:spPr>
          <a:xfrm>
            <a:off x="324000" y="759300"/>
            <a:ext cx="52893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was the patient’s heart rate on Monday?</a:t>
            </a:r>
            <a:endParaRPr sz="1800"/>
          </a:p>
        </p:txBody>
      </p:sp>
      <p:sp>
        <p:nvSpPr>
          <p:cNvPr id="1501" name="Google Shape;1501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502" name="Google Shape;1502;p114"/>
          <p:cNvCxnSpPr/>
          <p:nvPr/>
        </p:nvCxnSpPr>
        <p:spPr>
          <a:xfrm rot="10800000">
            <a:off x="1905767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3" name="Google Shape;1503;p114"/>
          <p:cNvCxnSpPr/>
          <p:nvPr/>
        </p:nvCxnSpPr>
        <p:spPr>
          <a:xfrm>
            <a:off x="1905767" y="4549598"/>
            <a:ext cx="47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4" name="Google Shape;1504;p114"/>
          <p:cNvSpPr txBox="1"/>
          <p:nvPr>
            <p:ph idx="1" type="body"/>
          </p:nvPr>
        </p:nvSpPr>
        <p:spPr>
          <a:xfrm rot="-5400000">
            <a:off x="-510750" y="2516450"/>
            <a:ext cx="34995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505" name="Google Shape;1505;p114"/>
          <p:cNvSpPr txBox="1"/>
          <p:nvPr>
            <p:ph idx="1" type="body"/>
          </p:nvPr>
        </p:nvSpPr>
        <p:spPr>
          <a:xfrm>
            <a:off x="24680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Mon</a:t>
            </a:r>
            <a:endParaRPr sz="1600"/>
          </a:p>
        </p:txBody>
      </p:sp>
      <p:sp>
        <p:nvSpPr>
          <p:cNvPr id="1506" name="Google Shape;1506;p114"/>
          <p:cNvSpPr txBox="1"/>
          <p:nvPr>
            <p:ph idx="1" type="body"/>
          </p:nvPr>
        </p:nvSpPr>
        <p:spPr>
          <a:xfrm>
            <a:off x="3295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Tue</a:t>
            </a:r>
            <a:endParaRPr sz="1600"/>
          </a:p>
        </p:txBody>
      </p:sp>
      <p:sp>
        <p:nvSpPr>
          <p:cNvPr id="1507" name="Google Shape;1507;p114"/>
          <p:cNvSpPr txBox="1"/>
          <p:nvPr>
            <p:ph idx="1" type="body"/>
          </p:nvPr>
        </p:nvSpPr>
        <p:spPr>
          <a:xfrm>
            <a:off x="4057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Wed</a:t>
            </a:r>
            <a:endParaRPr sz="1600"/>
          </a:p>
        </p:txBody>
      </p:sp>
      <p:sp>
        <p:nvSpPr>
          <p:cNvPr id="1508" name="Google Shape;1508;p114"/>
          <p:cNvSpPr txBox="1"/>
          <p:nvPr>
            <p:ph idx="1" type="body"/>
          </p:nvPr>
        </p:nvSpPr>
        <p:spPr>
          <a:xfrm>
            <a:off x="48302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Thu</a:t>
            </a:r>
            <a:endParaRPr sz="1600"/>
          </a:p>
        </p:txBody>
      </p:sp>
      <p:sp>
        <p:nvSpPr>
          <p:cNvPr id="1509" name="Google Shape;1509;p114"/>
          <p:cNvSpPr txBox="1"/>
          <p:nvPr>
            <p:ph idx="1" type="body"/>
          </p:nvPr>
        </p:nvSpPr>
        <p:spPr>
          <a:xfrm>
            <a:off x="5613201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Fri</a:t>
            </a:r>
            <a:endParaRPr sz="1600"/>
          </a:p>
        </p:txBody>
      </p:sp>
      <p:sp>
        <p:nvSpPr>
          <p:cNvPr id="1510" name="Google Shape;1510;p114"/>
          <p:cNvSpPr txBox="1"/>
          <p:nvPr>
            <p:ph idx="1" type="body"/>
          </p:nvPr>
        </p:nvSpPr>
        <p:spPr>
          <a:xfrm>
            <a:off x="1404198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511" name="Google Shape;1511;p114"/>
          <p:cNvSpPr txBox="1"/>
          <p:nvPr>
            <p:ph idx="1" type="body"/>
          </p:nvPr>
        </p:nvSpPr>
        <p:spPr>
          <a:xfrm>
            <a:off x="1404198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12" name="Google Shape;1512;p114"/>
          <p:cNvSpPr txBox="1"/>
          <p:nvPr>
            <p:ph idx="1" type="body"/>
          </p:nvPr>
        </p:nvSpPr>
        <p:spPr>
          <a:xfrm>
            <a:off x="1404198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513" name="Google Shape;1513;p114"/>
          <p:cNvSpPr txBox="1"/>
          <p:nvPr>
            <p:ph idx="1" type="body"/>
          </p:nvPr>
        </p:nvSpPr>
        <p:spPr>
          <a:xfrm>
            <a:off x="1404198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514" name="Google Shape;1514;p114"/>
          <p:cNvSpPr txBox="1"/>
          <p:nvPr>
            <p:ph idx="1" type="body"/>
          </p:nvPr>
        </p:nvSpPr>
        <p:spPr>
          <a:xfrm>
            <a:off x="1404198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515" name="Google Shape;1515;p114"/>
          <p:cNvSpPr txBox="1"/>
          <p:nvPr>
            <p:ph idx="1" type="body"/>
          </p:nvPr>
        </p:nvSpPr>
        <p:spPr>
          <a:xfrm>
            <a:off x="1404198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516" name="Google Shape;1516;p114"/>
          <p:cNvSpPr txBox="1"/>
          <p:nvPr>
            <p:ph idx="1" type="body"/>
          </p:nvPr>
        </p:nvSpPr>
        <p:spPr>
          <a:xfrm>
            <a:off x="1404198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517" name="Google Shape;1517;p114"/>
          <p:cNvSpPr txBox="1"/>
          <p:nvPr>
            <p:ph idx="1" type="body"/>
          </p:nvPr>
        </p:nvSpPr>
        <p:spPr>
          <a:xfrm>
            <a:off x="1404198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518" name="Google Shape;1518;p114"/>
          <p:cNvSpPr txBox="1"/>
          <p:nvPr>
            <p:ph idx="1" type="body"/>
          </p:nvPr>
        </p:nvSpPr>
        <p:spPr>
          <a:xfrm>
            <a:off x="1404198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519" name="Google Shape;1519;p114"/>
          <p:cNvSpPr txBox="1"/>
          <p:nvPr>
            <p:ph idx="1" type="body"/>
          </p:nvPr>
        </p:nvSpPr>
        <p:spPr>
          <a:xfrm>
            <a:off x="1404198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grpSp>
        <p:nvGrpSpPr>
          <p:cNvPr id="1520" name="Google Shape;1520;p114"/>
          <p:cNvGrpSpPr/>
          <p:nvPr/>
        </p:nvGrpSpPr>
        <p:grpSpPr>
          <a:xfrm>
            <a:off x="2608818" y="2826922"/>
            <a:ext cx="3322693" cy="472215"/>
            <a:chOff x="2608818" y="2826922"/>
            <a:chExt cx="3322693" cy="472215"/>
          </a:xfrm>
        </p:grpSpPr>
        <p:sp>
          <p:nvSpPr>
            <p:cNvPr id="1521" name="Google Shape;1521;p114"/>
            <p:cNvSpPr/>
            <p:nvPr/>
          </p:nvSpPr>
          <p:spPr>
            <a:xfrm>
              <a:off x="2608818" y="3147337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114"/>
            <p:cNvSpPr/>
            <p:nvPr/>
          </p:nvSpPr>
          <p:spPr>
            <a:xfrm>
              <a:off x="3402048" y="3053649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114"/>
            <p:cNvSpPr/>
            <p:nvPr/>
          </p:nvSpPr>
          <p:spPr>
            <a:xfrm>
              <a:off x="4164048" y="2906453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114"/>
            <p:cNvSpPr/>
            <p:nvPr/>
          </p:nvSpPr>
          <p:spPr>
            <a:xfrm>
              <a:off x="4962482" y="2897917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114"/>
            <p:cNvSpPr/>
            <p:nvPr/>
          </p:nvSpPr>
          <p:spPr>
            <a:xfrm>
              <a:off x="5755712" y="2826922"/>
              <a:ext cx="175800" cy="1518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6" name="Google Shape;1526;p114"/>
            <p:cNvCxnSpPr>
              <a:stCxn id="1521" idx="5"/>
              <a:endCxn id="1522" idx="1"/>
            </p:cNvCxnSpPr>
            <p:nvPr/>
          </p:nvCxnSpPr>
          <p:spPr>
            <a:xfrm flipH="1" rot="10800000">
              <a:off x="2740668" y="3129637"/>
              <a:ext cx="705300" cy="93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7" name="Google Shape;1527;p114"/>
            <p:cNvCxnSpPr>
              <a:stCxn id="1522" idx="5"/>
              <a:endCxn id="1523" idx="1"/>
            </p:cNvCxnSpPr>
            <p:nvPr/>
          </p:nvCxnSpPr>
          <p:spPr>
            <a:xfrm flipH="1" rot="10800000">
              <a:off x="3533898" y="2982249"/>
              <a:ext cx="674100" cy="147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8" name="Google Shape;1528;p114"/>
            <p:cNvCxnSpPr>
              <a:stCxn id="1523" idx="5"/>
              <a:endCxn id="1524" idx="1"/>
            </p:cNvCxnSpPr>
            <p:nvPr/>
          </p:nvCxnSpPr>
          <p:spPr>
            <a:xfrm flipH="1" rot="10800000">
              <a:off x="4295898" y="2973953"/>
              <a:ext cx="710400" cy="8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9" name="Google Shape;1529;p114"/>
            <p:cNvCxnSpPr>
              <a:stCxn id="1524" idx="5"/>
              <a:endCxn id="1525" idx="1"/>
            </p:cNvCxnSpPr>
            <p:nvPr/>
          </p:nvCxnSpPr>
          <p:spPr>
            <a:xfrm flipH="1" rot="10800000">
              <a:off x="5094332" y="2902717"/>
              <a:ext cx="705300" cy="71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30" name="Google Shape;1530;p114"/>
          <p:cNvSpPr txBox="1"/>
          <p:nvPr>
            <p:ph idx="1" type="body"/>
          </p:nvPr>
        </p:nvSpPr>
        <p:spPr>
          <a:xfrm rot="-5400000">
            <a:off x="-886500" y="2511200"/>
            <a:ext cx="34995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531" name="Google Shape;1531;p114"/>
          <p:cNvSpPr txBox="1"/>
          <p:nvPr>
            <p:ph idx="1" type="body"/>
          </p:nvPr>
        </p:nvSpPr>
        <p:spPr>
          <a:xfrm rot="-5400000">
            <a:off x="-1278000" y="2521700"/>
            <a:ext cx="34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532" name="Google Shape;1532;p114"/>
          <p:cNvSpPr/>
          <p:nvPr/>
        </p:nvSpPr>
        <p:spPr>
          <a:xfrm>
            <a:off x="393300" y="4479775"/>
            <a:ext cx="156900" cy="340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14"/>
          <p:cNvSpPr/>
          <p:nvPr/>
        </p:nvSpPr>
        <p:spPr>
          <a:xfrm>
            <a:off x="1140081" y="4473692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14"/>
          <p:cNvSpPr/>
          <p:nvPr/>
        </p:nvSpPr>
        <p:spPr>
          <a:xfrm>
            <a:off x="779288" y="4483748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5" name="Google Shape;1535;p114"/>
          <p:cNvCxnSpPr/>
          <p:nvPr/>
        </p:nvCxnSpPr>
        <p:spPr>
          <a:xfrm rot="10800000">
            <a:off x="6640634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6" name="Google Shape;1536;p114"/>
          <p:cNvSpPr txBox="1"/>
          <p:nvPr>
            <p:ph idx="1" type="body"/>
          </p:nvPr>
        </p:nvSpPr>
        <p:spPr>
          <a:xfrm>
            <a:off x="6682932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537" name="Google Shape;1537;p114"/>
          <p:cNvSpPr txBox="1"/>
          <p:nvPr>
            <p:ph idx="1" type="body"/>
          </p:nvPr>
        </p:nvSpPr>
        <p:spPr>
          <a:xfrm>
            <a:off x="6682932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538" name="Google Shape;1538;p114"/>
          <p:cNvSpPr txBox="1"/>
          <p:nvPr>
            <p:ph idx="1" type="body"/>
          </p:nvPr>
        </p:nvSpPr>
        <p:spPr>
          <a:xfrm>
            <a:off x="6682932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539" name="Google Shape;1539;p114"/>
          <p:cNvSpPr txBox="1"/>
          <p:nvPr>
            <p:ph idx="1" type="body"/>
          </p:nvPr>
        </p:nvSpPr>
        <p:spPr>
          <a:xfrm>
            <a:off x="6682932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540" name="Google Shape;1540;p114"/>
          <p:cNvSpPr txBox="1"/>
          <p:nvPr>
            <p:ph idx="1" type="body"/>
          </p:nvPr>
        </p:nvSpPr>
        <p:spPr>
          <a:xfrm>
            <a:off x="6682932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41" name="Google Shape;1541;p114"/>
          <p:cNvSpPr txBox="1"/>
          <p:nvPr>
            <p:ph idx="1" type="body"/>
          </p:nvPr>
        </p:nvSpPr>
        <p:spPr>
          <a:xfrm>
            <a:off x="6682932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542" name="Google Shape;1542;p114"/>
          <p:cNvSpPr txBox="1"/>
          <p:nvPr>
            <p:ph idx="1" type="body"/>
          </p:nvPr>
        </p:nvSpPr>
        <p:spPr>
          <a:xfrm>
            <a:off x="6682932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543" name="Google Shape;1543;p114"/>
          <p:cNvSpPr txBox="1"/>
          <p:nvPr>
            <p:ph idx="1" type="body"/>
          </p:nvPr>
        </p:nvSpPr>
        <p:spPr>
          <a:xfrm>
            <a:off x="6682932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544" name="Google Shape;1544;p114"/>
          <p:cNvSpPr txBox="1"/>
          <p:nvPr>
            <p:ph idx="1" type="body"/>
          </p:nvPr>
        </p:nvSpPr>
        <p:spPr>
          <a:xfrm>
            <a:off x="6682932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545" name="Google Shape;1545;p114"/>
          <p:cNvSpPr txBox="1"/>
          <p:nvPr>
            <p:ph idx="1" type="body"/>
          </p:nvPr>
        </p:nvSpPr>
        <p:spPr>
          <a:xfrm>
            <a:off x="6682932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  <p:sp>
        <p:nvSpPr>
          <p:cNvPr id="1546" name="Google Shape;1546;p114"/>
          <p:cNvSpPr txBox="1"/>
          <p:nvPr>
            <p:ph idx="1" type="body"/>
          </p:nvPr>
        </p:nvSpPr>
        <p:spPr>
          <a:xfrm rot="5400000">
            <a:off x="6077634" y="3180517"/>
            <a:ext cx="22413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547" name="Google Shape;1547;p114"/>
          <p:cNvSpPr/>
          <p:nvPr/>
        </p:nvSpPr>
        <p:spPr>
          <a:xfrm>
            <a:off x="7096659" y="4525619"/>
            <a:ext cx="175800" cy="1758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14"/>
          <p:cNvSpPr txBox="1"/>
          <p:nvPr>
            <p:ph idx="1" type="body"/>
          </p:nvPr>
        </p:nvSpPr>
        <p:spPr>
          <a:xfrm>
            <a:off x="5820866" y="759300"/>
            <a:ext cx="2819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 beats/min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9" name="Google Shape;1549;p114"/>
          <p:cNvSpPr/>
          <p:nvPr/>
        </p:nvSpPr>
        <p:spPr>
          <a:xfrm>
            <a:off x="2478125" y="3022234"/>
            <a:ext cx="433500" cy="433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0" name="Google Shape;1550;p114"/>
          <p:cNvCxnSpPr/>
          <p:nvPr/>
        </p:nvCxnSpPr>
        <p:spPr>
          <a:xfrm rot="10800000">
            <a:off x="1915325" y="3238803"/>
            <a:ext cx="776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5" name="Google Shape;1555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721" y="1590950"/>
            <a:ext cx="4736125" cy="294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6" name="Google Shape;1556;p115"/>
          <p:cNvCxnSpPr/>
          <p:nvPr/>
        </p:nvCxnSpPr>
        <p:spPr>
          <a:xfrm rot="10800000">
            <a:off x="1905767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7" name="Google Shape;1557;p115"/>
          <p:cNvCxnSpPr/>
          <p:nvPr/>
        </p:nvCxnSpPr>
        <p:spPr>
          <a:xfrm>
            <a:off x="1905767" y="4549598"/>
            <a:ext cx="47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8" name="Google Shape;1558;p115"/>
          <p:cNvSpPr txBox="1"/>
          <p:nvPr>
            <p:ph idx="1" type="body"/>
          </p:nvPr>
        </p:nvSpPr>
        <p:spPr>
          <a:xfrm rot="-5400000">
            <a:off x="-510750" y="2516450"/>
            <a:ext cx="34995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559" name="Google Shape;1559;p115"/>
          <p:cNvSpPr txBox="1"/>
          <p:nvPr>
            <p:ph idx="1" type="body"/>
          </p:nvPr>
        </p:nvSpPr>
        <p:spPr>
          <a:xfrm>
            <a:off x="24680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Mon</a:t>
            </a:r>
            <a:endParaRPr sz="1600"/>
          </a:p>
        </p:txBody>
      </p:sp>
      <p:sp>
        <p:nvSpPr>
          <p:cNvPr id="1560" name="Google Shape;1560;p115"/>
          <p:cNvSpPr txBox="1"/>
          <p:nvPr>
            <p:ph idx="1" type="body"/>
          </p:nvPr>
        </p:nvSpPr>
        <p:spPr>
          <a:xfrm>
            <a:off x="3295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Tue</a:t>
            </a:r>
            <a:endParaRPr sz="1600"/>
          </a:p>
        </p:txBody>
      </p:sp>
      <p:sp>
        <p:nvSpPr>
          <p:cNvPr id="1561" name="Google Shape;1561;p115"/>
          <p:cNvSpPr txBox="1"/>
          <p:nvPr>
            <p:ph idx="1" type="body"/>
          </p:nvPr>
        </p:nvSpPr>
        <p:spPr>
          <a:xfrm>
            <a:off x="4057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Wed</a:t>
            </a:r>
            <a:endParaRPr sz="1600"/>
          </a:p>
        </p:txBody>
      </p:sp>
      <p:sp>
        <p:nvSpPr>
          <p:cNvPr id="1562" name="Google Shape;1562;p115"/>
          <p:cNvSpPr txBox="1"/>
          <p:nvPr>
            <p:ph idx="1" type="body"/>
          </p:nvPr>
        </p:nvSpPr>
        <p:spPr>
          <a:xfrm>
            <a:off x="48302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Thu</a:t>
            </a:r>
            <a:endParaRPr sz="1600"/>
          </a:p>
        </p:txBody>
      </p:sp>
      <p:sp>
        <p:nvSpPr>
          <p:cNvPr id="1563" name="Google Shape;1563;p115"/>
          <p:cNvSpPr txBox="1"/>
          <p:nvPr>
            <p:ph idx="1" type="body"/>
          </p:nvPr>
        </p:nvSpPr>
        <p:spPr>
          <a:xfrm>
            <a:off x="5613201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Fri</a:t>
            </a:r>
            <a:endParaRPr sz="1600"/>
          </a:p>
        </p:txBody>
      </p:sp>
      <p:sp>
        <p:nvSpPr>
          <p:cNvPr id="1564" name="Google Shape;1564;p115"/>
          <p:cNvSpPr txBox="1"/>
          <p:nvPr>
            <p:ph idx="1" type="body"/>
          </p:nvPr>
        </p:nvSpPr>
        <p:spPr>
          <a:xfrm>
            <a:off x="1404198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565" name="Google Shape;1565;p115"/>
          <p:cNvSpPr txBox="1"/>
          <p:nvPr>
            <p:ph idx="1" type="body"/>
          </p:nvPr>
        </p:nvSpPr>
        <p:spPr>
          <a:xfrm>
            <a:off x="1404198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66" name="Google Shape;1566;p115"/>
          <p:cNvSpPr txBox="1"/>
          <p:nvPr>
            <p:ph idx="1" type="body"/>
          </p:nvPr>
        </p:nvSpPr>
        <p:spPr>
          <a:xfrm>
            <a:off x="1404198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567" name="Google Shape;1567;p115"/>
          <p:cNvSpPr txBox="1"/>
          <p:nvPr>
            <p:ph idx="1" type="body"/>
          </p:nvPr>
        </p:nvSpPr>
        <p:spPr>
          <a:xfrm>
            <a:off x="1404198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568" name="Google Shape;1568;p115"/>
          <p:cNvSpPr txBox="1"/>
          <p:nvPr>
            <p:ph idx="1" type="body"/>
          </p:nvPr>
        </p:nvSpPr>
        <p:spPr>
          <a:xfrm>
            <a:off x="1404198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569" name="Google Shape;1569;p115"/>
          <p:cNvSpPr txBox="1"/>
          <p:nvPr>
            <p:ph idx="1" type="body"/>
          </p:nvPr>
        </p:nvSpPr>
        <p:spPr>
          <a:xfrm>
            <a:off x="1404198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570" name="Google Shape;1570;p115"/>
          <p:cNvSpPr txBox="1"/>
          <p:nvPr>
            <p:ph idx="1" type="body"/>
          </p:nvPr>
        </p:nvSpPr>
        <p:spPr>
          <a:xfrm>
            <a:off x="1404198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571" name="Google Shape;1571;p115"/>
          <p:cNvSpPr txBox="1"/>
          <p:nvPr>
            <p:ph idx="1" type="body"/>
          </p:nvPr>
        </p:nvSpPr>
        <p:spPr>
          <a:xfrm>
            <a:off x="1404198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572" name="Google Shape;1572;p115"/>
          <p:cNvSpPr txBox="1"/>
          <p:nvPr>
            <p:ph idx="1" type="body"/>
          </p:nvPr>
        </p:nvSpPr>
        <p:spPr>
          <a:xfrm>
            <a:off x="1404198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573" name="Google Shape;1573;p115"/>
          <p:cNvSpPr txBox="1"/>
          <p:nvPr>
            <p:ph idx="1" type="body"/>
          </p:nvPr>
        </p:nvSpPr>
        <p:spPr>
          <a:xfrm>
            <a:off x="1404198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grpSp>
        <p:nvGrpSpPr>
          <p:cNvPr id="1574" name="Google Shape;1574;p115"/>
          <p:cNvGrpSpPr/>
          <p:nvPr/>
        </p:nvGrpSpPr>
        <p:grpSpPr>
          <a:xfrm>
            <a:off x="2632700" y="3904395"/>
            <a:ext cx="3273905" cy="532278"/>
            <a:chOff x="2632700" y="3904395"/>
            <a:chExt cx="3273905" cy="532278"/>
          </a:xfrm>
        </p:grpSpPr>
        <p:sp>
          <p:nvSpPr>
            <p:cNvPr id="1575" name="Google Shape;1575;p115"/>
            <p:cNvSpPr/>
            <p:nvPr/>
          </p:nvSpPr>
          <p:spPr>
            <a:xfrm>
              <a:off x="2632700" y="4304973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115"/>
            <p:cNvSpPr/>
            <p:nvPr/>
          </p:nvSpPr>
          <p:spPr>
            <a:xfrm>
              <a:off x="3426100" y="4223568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115"/>
            <p:cNvSpPr/>
            <p:nvPr/>
          </p:nvSpPr>
          <p:spPr>
            <a:xfrm>
              <a:off x="4188100" y="4141743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115"/>
            <p:cNvSpPr/>
            <p:nvPr/>
          </p:nvSpPr>
          <p:spPr>
            <a:xfrm>
              <a:off x="4991955" y="4191613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9" name="Google Shape;1579;p115"/>
            <p:cNvSpPr/>
            <p:nvPr/>
          </p:nvSpPr>
          <p:spPr>
            <a:xfrm>
              <a:off x="5774905" y="3904395"/>
              <a:ext cx="131700" cy="1317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0" name="Google Shape;1580;p115"/>
            <p:cNvCxnSpPr>
              <a:stCxn id="1575" idx="6"/>
              <a:endCxn id="1576" idx="2"/>
            </p:cNvCxnSpPr>
            <p:nvPr/>
          </p:nvCxnSpPr>
          <p:spPr>
            <a:xfrm flipH="1" rot="10800000">
              <a:off x="2764400" y="4289523"/>
              <a:ext cx="661800" cy="81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1" name="Google Shape;1581;p115"/>
            <p:cNvCxnSpPr>
              <a:endCxn id="1577" idx="2"/>
            </p:cNvCxnSpPr>
            <p:nvPr/>
          </p:nvCxnSpPr>
          <p:spPr>
            <a:xfrm flipH="1" rot="10800000">
              <a:off x="3557800" y="4207593"/>
              <a:ext cx="630300" cy="6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2" name="Google Shape;1582;p115"/>
            <p:cNvCxnSpPr>
              <a:endCxn id="1578" idx="2"/>
            </p:cNvCxnSpPr>
            <p:nvPr/>
          </p:nvCxnSpPr>
          <p:spPr>
            <a:xfrm>
              <a:off x="4319655" y="4211263"/>
              <a:ext cx="672300" cy="46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3" name="Google Shape;1583;p115"/>
            <p:cNvCxnSpPr>
              <a:stCxn id="1578" idx="6"/>
              <a:endCxn id="1579" idx="2"/>
            </p:cNvCxnSpPr>
            <p:nvPr/>
          </p:nvCxnSpPr>
          <p:spPr>
            <a:xfrm flipH="1" rot="10800000">
              <a:off x="5123655" y="3970363"/>
              <a:ext cx="651300" cy="287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84" name="Google Shape;1584;p115"/>
          <p:cNvSpPr txBox="1"/>
          <p:nvPr>
            <p:ph idx="1" type="body"/>
          </p:nvPr>
        </p:nvSpPr>
        <p:spPr>
          <a:xfrm rot="-5400000">
            <a:off x="-886500" y="2511200"/>
            <a:ext cx="34995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585" name="Google Shape;1585;p115"/>
          <p:cNvSpPr txBox="1"/>
          <p:nvPr>
            <p:ph idx="1" type="body"/>
          </p:nvPr>
        </p:nvSpPr>
        <p:spPr>
          <a:xfrm rot="-5400000">
            <a:off x="-1278000" y="2521700"/>
            <a:ext cx="34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586" name="Google Shape;1586;p115"/>
          <p:cNvSpPr/>
          <p:nvPr/>
        </p:nvSpPr>
        <p:spPr>
          <a:xfrm>
            <a:off x="393300" y="4479775"/>
            <a:ext cx="156900" cy="340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15"/>
          <p:cNvSpPr/>
          <p:nvPr/>
        </p:nvSpPr>
        <p:spPr>
          <a:xfrm>
            <a:off x="1140081" y="4473692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15"/>
          <p:cNvSpPr/>
          <p:nvPr/>
        </p:nvSpPr>
        <p:spPr>
          <a:xfrm>
            <a:off x="779288" y="4483748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9" name="Google Shape;1589;p115"/>
          <p:cNvCxnSpPr/>
          <p:nvPr/>
        </p:nvCxnSpPr>
        <p:spPr>
          <a:xfrm rot="10800000">
            <a:off x="6640634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0" name="Google Shape;1590;p115"/>
          <p:cNvSpPr txBox="1"/>
          <p:nvPr>
            <p:ph idx="1" type="body"/>
          </p:nvPr>
        </p:nvSpPr>
        <p:spPr>
          <a:xfrm>
            <a:off x="6682932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591" name="Google Shape;1591;p115"/>
          <p:cNvSpPr txBox="1"/>
          <p:nvPr>
            <p:ph idx="1" type="body"/>
          </p:nvPr>
        </p:nvSpPr>
        <p:spPr>
          <a:xfrm>
            <a:off x="6682932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592" name="Google Shape;1592;p115"/>
          <p:cNvSpPr txBox="1"/>
          <p:nvPr>
            <p:ph idx="1" type="body"/>
          </p:nvPr>
        </p:nvSpPr>
        <p:spPr>
          <a:xfrm>
            <a:off x="6682932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593" name="Google Shape;1593;p115"/>
          <p:cNvSpPr txBox="1"/>
          <p:nvPr>
            <p:ph idx="1" type="body"/>
          </p:nvPr>
        </p:nvSpPr>
        <p:spPr>
          <a:xfrm>
            <a:off x="6682932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594" name="Google Shape;1594;p115"/>
          <p:cNvSpPr txBox="1"/>
          <p:nvPr>
            <p:ph idx="1" type="body"/>
          </p:nvPr>
        </p:nvSpPr>
        <p:spPr>
          <a:xfrm>
            <a:off x="6682932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95" name="Google Shape;1595;p115"/>
          <p:cNvSpPr txBox="1"/>
          <p:nvPr>
            <p:ph idx="1" type="body"/>
          </p:nvPr>
        </p:nvSpPr>
        <p:spPr>
          <a:xfrm>
            <a:off x="6682932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596" name="Google Shape;1596;p115"/>
          <p:cNvSpPr txBox="1"/>
          <p:nvPr>
            <p:ph idx="1" type="body"/>
          </p:nvPr>
        </p:nvSpPr>
        <p:spPr>
          <a:xfrm>
            <a:off x="6682932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597" name="Google Shape;1597;p115"/>
          <p:cNvSpPr txBox="1"/>
          <p:nvPr>
            <p:ph idx="1" type="body"/>
          </p:nvPr>
        </p:nvSpPr>
        <p:spPr>
          <a:xfrm>
            <a:off x="6682932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598" name="Google Shape;1598;p115"/>
          <p:cNvSpPr txBox="1"/>
          <p:nvPr>
            <p:ph idx="1" type="body"/>
          </p:nvPr>
        </p:nvSpPr>
        <p:spPr>
          <a:xfrm>
            <a:off x="6682932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599" name="Google Shape;1599;p115"/>
          <p:cNvSpPr txBox="1"/>
          <p:nvPr>
            <p:ph idx="1" type="body"/>
          </p:nvPr>
        </p:nvSpPr>
        <p:spPr>
          <a:xfrm>
            <a:off x="6682932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  <p:sp>
        <p:nvSpPr>
          <p:cNvPr id="1600" name="Google Shape;1600;p115"/>
          <p:cNvSpPr txBox="1"/>
          <p:nvPr>
            <p:ph idx="1" type="body"/>
          </p:nvPr>
        </p:nvSpPr>
        <p:spPr>
          <a:xfrm rot="5400000">
            <a:off x="6077634" y="3180517"/>
            <a:ext cx="22413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601" name="Google Shape;1601;p115"/>
          <p:cNvSpPr/>
          <p:nvPr/>
        </p:nvSpPr>
        <p:spPr>
          <a:xfrm>
            <a:off x="7096659" y="4525619"/>
            <a:ext cx="175800" cy="1758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2" name="Google Shape;1602;p115"/>
          <p:cNvGrpSpPr/>
          <p:nvPr/>
        </p:nvGrpSpPr>
        <p:grpSpPr>
          <a:xfrm>
            <a:off x="2608818" y="1906258"/>
            <a:ext cx="3322693" cy="1491692"/>
            <a:chOff x="2608818" y="1906258"/>
            <a:chExt cx="3322693" cy="1491692"/>
          </a:xfrm>
        </p:grpSpPr>
        <p:grpSp>
          <p:nvGrpSpPr>
            <p:cNvPr id="1603" name="Google Shape;1603;p115"/>
            <p:cNvGrpSpPr/>
            <p:nvPr/>
          </p:nvGrpSpPr>
          <p:grpSpPr>
            <a:xfrm>
              <a:off x="2620100" y="1918650"/>
              <a:ext cx="3299100" cy="1479300"/>
              <a:chOff x="2620100" y="1918650"/>
              <a:chExt cx="3299100" cy="1479300"/>
            </a:xfrm>
          </p:grpSpPr>
          <p:sp>
            <p:nvSpPr>
              <p:cNvPr id="1604" name="Google Shape;1604;p115"/>
              <p:cNvSpPr/>
              <p:nvPr/>
            </p:nvSpPr>
            <p:spPr>
              <a:xfrm>
                <a:off x="2620100" y="2592450"/>
                <a:ext cx="156900" cy="8055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5" name="Google Shape;1605;p115"/>
              <p:cNvSpPr/>
              <p:nvPr/>
            </p:nvSpPr>
            <p:spPr>
              <a:xfrm>
                <a:off x="3413500" y="2501250"/>
                <a:ext cx="156900" cy="8283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6" name="Google Shape;1606;p115"/>
              <p:cNvSpPr/>
              <p:nvPr/>
            </p:nvSpPr>
            <p:spPr>
              <a:xfrm>
                <a:off x="4175500" y="2226050"/>
                <a:ext cx="156900" cy="10140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7" name="Google Shape;1607;p115"/>
              <p:cNvSpPr/>
              <p:nvPr/>
            </p:nvSpPr>
            <p:spPr>
              <a:xfrm>
                <a:off x="4979350" y="2101600"/>
                <a:ext cx="156900" cy="9543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8" name="Google Shape;1608;p115"/>
              <p:cNvSpPr/>
              <p:nvPr/>
            </p:nvSpPr>
            <p:spPr>
              <a:xfrm>
                <a:off x="5762300" y="1918650"/>
                <a:ext cx="156900" cy="9084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09" name="Google Shape;1609;p115"/>
            <p:cNvGrpSpPr/>
            <p:nvPr/>
          </p:nvGrpSpPr>
          <p:grpSpPr>
            <a:xfrm>
              <a:off x="2608818" y="2826922"/>
              <a:ext cx="3322693" cy="472215"/>
              <a:chOff x="2608818" y="2826922"/>
              <a:chExt cx="3322693" cy="472215"/>
            </a:xfrm>
          </p:grpSpPr>
          <p:sp>
            <p:nvSpPr>
              <p:cNvPr id="1610" name="Google Shape;1610;p115"/>
              <p:cNvSpPr/>
              <p:nvPr/>
            </p:nvSpPr>
            <p:spPr>
              <a:xfrm>
                <a:off x="2608818" y="3147337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1" name="Google Shape;1611;p115"/>
              <p:cNvSpPr/>
              <p:nvPr/>
            </p:nvSpPr>
            <p:spPr>
              <a:xfrm>
                <a:off x="3402048" y="3053649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2" name="Google Shape;1612;p115"/>
              <p:cNvSpPr/>
              <p:nvPr/>
            </p:nvSpPr>
            <p:spPr>
              <a:xfrm>
                <a:off x="4164048" y="2906453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3" name="Google Shape;1613;p115"/>
              <p:cNvSpPr/>
              <p:nvPr/>
            </p:nvSpPr>
            <p:spPr>
              <a:xfrm>
                <a:off x="4962482" y="2897917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4" name="Google Shape;1614;p115"/>
              <p:cNvSpPr/>
              <p:nvPr/>
            </p:nvSpPr>
            <p:spPr>
              <a:xfrm>
                <a:off x="5755712" y="2826922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15" name="Google Shape;1615;p115"/>
              <p:cNvCxnSpPr>
                <a:stCxn id="1610" idx="5"/>
                <a:endCxn id="1611" idx="1"/>
              </p:cNvCxnSpPr>
              <p:nvPr/>
            </p:nvCxnSpPr>
            <p:spPr>
              <a:xfrm flipH="1" rot="10800000">
                <a:off x="2740668" y="3129637"/>
                <a:ext cx="705300" cy="9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6" name="Google Shape;1616;p115"/>
              <p:cNvCxnSpPr>
                <a:stCxn id="1611" idx="5"/>
                <a:endCxn id="1612" idx="1"/>
              </p:cNvCxnSpPr>
              <p:nvPr/>
            </p:nvCxnSpPr>
            <p:spPr>
              <a:xfrm flipH="1" rot="10800000">
                <a:off x="3533898" y="2982249"/>
                <a:ext cx="674100" cy="147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7" name="Google Shape;1617;p115"/>
              <p:cNvCxnSpPr>
                <a:stCxn id="1612" idx="5"/>
                <a:endCxn id="1613" idx="1"/>
              </p:cNvCxnSpPr>
              <p:nvPr/>
            </p:nvCxnSpPr>
            <p:spPr>
              <a:xfrm flipH="1" rot="10800000">
                <a:off x="4295898" y="2973953"/>
                <a:ext cx="710400" cy="8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8" name="Google Shape;1618;p115"/>
              <p:cNvCxnSpPr>
                <a:stCxn id="1613" idx="5"/>
                <a:endCxn id="1614" idx="1"/>
              </p:cNvCxnSpPr>
              <p:nvPr/>
            </p:nvCxnSpPr>
            <p:spPr>
              <a:xfrm flipH="1" rot="10800000">
                <a:off x="5094332" y="2902717"/>
                <a:ext cx="705300" cy="71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19" name="Google Shape;1619;p115"/>
            <p:cNvGrpSpPr/>
            <p:nvPr/>
          </p:nvGrpSpPr>
          <p:grpSpPr>
            <a:xfrm>
              <a:off x="2630886" y="1906258"/>
              <a:ext cx="3271515" cy="275564"/>
              <a:chOff x="2630886" y="1906258"/>
              <a:chExt cx="3271515" cy="275564"/>
            </a:xfrm>
          </p:grpSpPr>
          <p:sp>
            <p:nvSpPr>
              <p:cNvPr id="1620" name="Google Shape;1620;p115"/>
              <p:cNvSpPr/>
              <p:nvPr/>
            </p:nvSpPr>
            <p:spPr>
              <a:xfrm>
                <a:off x="2630886" y="2036381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1" name="Google Shape;1621;p115"/>
              <p:cNvSpPr/>
              <p:nvPr/>
            </p:nvSpPr>
            <p:spPr>
              <a:xfrm>
                <a:off x="3427447" y="205012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2" name="Google Shape;1622;p115"/>
              <p:cNvSpPr/>
              <p:nvPr/>
            </p:nvSpPr>
            <p:spPr>
              <a:xfrm>
                <a:off x="4194652" y="198433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3" name="Google Shape;1623;p115"/>
              <p:cNvSpPr/>
              <p:nvPr/>
            </p:nvSpPr>
            <p:spPr>
              <a:xfrm>
                <a:off x="4982677" y="194269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4" name="Google Shape;1624;p115"/>
              <p:cNvSpPr/>
              <p:nvPr/>
            </p:nvSpPr>
            <p:spPr>
              <a:xfrm>
                <a:off x="5770701" y="1906258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25" name="Google Shape;1625;p115"/>
              <p:cNvCxnSpPr>
                <a:stCxn id="1620" idx="3"/>
                <a:endCxn id="1621" idx="1"/>
              </p:cNvCxnSpPr>
              <p:nvPr/>
            </p:nvCxnSpPr>
            <p:spPr>
              <a:xfrm>
                <a:off x="2762586" y="2102231"/>
                <a:ext cx="6648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6" name="Google Shape;1626;p115"/>
              <p:cNvCxnSpPr>
                <a:stCxn id="1622" idx="1"/>
                <a:endCxn id="1621" idx="3"/>
              </p:cNvCxnSpPr>
              <p:nvPr/>
            </p:nvCxnSpPr>
            <p:spPr>
              <a:xfrm flipH="1">
                <a:off x="3559252" y="2050182"/>
                <a:ext cx="635400" cy="65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7" name="Google Shape;1627;p115"/>
              <p:cNvCxnSpPr>
                <a:stCxn id="1623" idx="1"/>
                <a:endCxn id="1622" idx="3"/>
              </p:cNvCxnSpPr>
              <p:nvPr/>
            </p:nvCxnSpPr>
            <p:spPr>
              <a:xfrm flipH="1">
                <a:off x="4326277" y="2008542"/>
                <a:ext cx="656400" cy="41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8" name="Google Shape;1628;p115"/>
              <p:cNvCxnSpPr>
                <a:endCxn id="1623" idx="3"/>
              </p:cNvCxnSpPr>
              <p:nvPr/>
            </p:nvCxnSpPr>
            <p:spPr>
              <a:xfrm flipH="1">
                <a:off x="5114377" y="1972842"/>
                <a:ext cx="652800" cy="35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29" name="Google Shape;1629;p115"/>
          <p:cNvSpPr txBox="1"/>
          <p:nvPr>
            <p:ph idx="1" type="body"/>
          </p:nvPr>
        </p:nvSpPr>
        <p:spPr>
          <a:xfrm>
            <a:off x="324000" y="759300"/>
            <a:ext cx="63588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was the patient’s respiratory rate on Wednesday?</a:t>
            </a:r>
            <a:endParaRPr sz="1800"/>
          </a:p>
        </p:txBody>
      </p:sp>
      <p:sp>
        <p:nvSpPr>
          <p:cNvPr id="1630" name="Google Shape;1630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sp>
        <p:nvSpPr>
          <p:cNvPr id="1631" name="Google Shape;1631;p115"/>
          <p:cNvSpPr txBox="1"/>
          <p:nvPr>
            <p:ph idx="1" type="body"/>
          </p:nvPr>
        </p:nvSpPr>
        <p:spPr>
          <a:xfrm>
            <a:off x="6800999" y="759300"/>
            <a:ext cx="2819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breaths/min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32" name="Google Shape;1632;p115"/>
          <p:cNvCxnSpPr/>
          <p:nvPr/>
        </p:nvCxnSpPr>
        <p:spPr>
          <a:xfrm rot="10800000">
            <a:off x="1919200" y="4213645"/>
            <a:ext cx="2335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33" name="Google Shape;1633;p115"/>
          <p:cNvSpPr/>
          <p:nvPr/>
        </p:nvSpPr>
        <p:spPr>
          <a:xfrm>
            <a:off x="4046924" y="3991900"/>
            <a:ext cx="433500" cy="433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" name="Google Shape;1638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721" y="1590950"/>
            <a:ext cx="4736125" cy="294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9" name="Google Shape;1639;p116"/>
          <p:cNvCxnSpPr/>
          <p:nvPr/>
        </p:nvCxnSpPr>
        <p:spPr>
          <a:xfrm rot="10800000">
            <a:off x="1905767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0" name="Google Shape;1640;p116"/>
          <p:cNvCxnSpPr/>
          <p:nvPr/>
        </p:nvCxnSpPr>
        <p:spPr>
          <a:xfrm>
            <a:off x="1905767" y="4549598"/>
            <a:ext cx="47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116"/>
          <p:cNvSpPr txBox="1"/>
          <p:nvPr>
            <p:ph idx="1" type="body"/>
          </p:nvPr>
        </p:nvSpPr>
        <p:spPr>
          <a:xfrm rot="-5400000">
            <a:off x="-510750" y="2516450"/>
            <a:ext cx="34995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642" name="Google Shape;1642;p116"/>
          <p:cNvSpPr txBox="1"/>
          <p:nvPr>
            <p:ph idx="1" type="body"/>
          </p:nvPr>
        </p:nvSpPr>
        <p:spPr>
          <a:xfrm>
            <a:off x="24680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Mon</a:t>
            </a:r>
            <a:endParaRPr sz="1600"/>
          </a:p>
        </p:txBody>
      </p:sp>
      <p:sp>
        <p:nvSpPr>
          <p:cNvPr id="1643" name="Google Shape;1643;p116"/>
          <p:cNvSpPr txBox="1"/>
          <p:nvPr>
            <p:ph idx="1" type="body"/>
          </p:nvPr>
        </p:nvSpPr>
        <p:spPr>
          <a:xfrm>
            <a:off x="3295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Tue</a:t>
            </a:r>
            <a:endParaRPr sz="1600"/>
          </a:p>
        </p:txBody>
      </p:sp>
      <p:sp>
        <p:nvSpPr>
          <p:cNvPr id="1644" name="Google Shape;1644;p116"/>
          <p:cNvSpPr txBox="1"/>
          <p:nvPr>
            <p:ph idx="1" type="body"/>
          </p:nvPr>
        </p:nvSpPr>
        <p:spPr>
          <a:xfrm>
            <a:off x="4057800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Wed</a:t>
            </a:r>
            <a:endParaRPr sz="1600"/>
          </a:p>
        </p:txBody>
      </p:sp>
      <p:sp>
        <p:nvSpPr>
          <p:cNvPr id="1645" name="Google Shape;1645;p116"/>
          <p:cNvSpPr txBox="1"/>
          <p:nvPr>
            <p:ph idx="1" type="body"/>
          </p:nvPr>
        </p:nvSpPr>
        <p:spPr>
          <a:xfrm>
            <a:off x="4830267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Thu</a:t>
            </a:r>
            <a:endParaRPr sz="1600"/>
          </a:p>
        </p:txBody>
      </p:sp>
      <p:sp>
        <p:nvSpPr>
          <p:cNvPr id="1646" name="Google Shape;1646;p116"/>
          <p:cNvSpPr txBox="1"/>
          <p:nvPr>
            <p:ph idx="1" type="body"/>
          </p:nvPr>
        </p:nvSpPr>
        <p:spPr>
          <a:xfrm>
            <a:off x="5613201" y="4600701"/>
            <a:ext cx="502800" cy="42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Fri</a:t>
            </a:r>
            <a:endParaRPr sz="1600"/>
          </a:p>
        </p:txBody>
      </p:sp>
      <p:sp>
        <p:nvSpPr>
          <p:cNvPr id="1647" name="Google Shape;1647;p116"/>
          <p:cNvSpPr txBox="1"/>
          <p:nvPr>
            <p:ph idx="1" type="body"/>
          </p:nvPr>
        </p:nvSpPr>
        <p:spPr>
          <a:xfrm>
            <a:off x="1404198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648" name="Google Shape;1648;p116"/>
          <p:cNvSpPr txBox="1"/>
          <p:nvPr>
            <p:ph idx="1" type="body"/>
          </p:nvPr>
        </p:nvSpPr>
        <p:spPr>
          <a:xfrm>
            <a:off x="1404198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649" name="Google Shape;1649;p116"/>
          <p:cNvSpPr txBox="1"/>
          <p:nvPr>
            <p:ph idx="1" type="body"/>
          </p:nvPr>
        </p:nvSpPr>
        <p:spPr>
          <a:xfrm>
            <a:off x="1404198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650" name="Google Shape;1650;p116"/>
          <p:cNvSpPr txBox="1"/>
          <p:nvPr>
            <p:ph idx="1" type="body"/>
          </p:nvPr>
        </p:nvSpPr>
        <p:spPr>
          <a:xfrm>
            <a:off x="1404198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651" name="Google Shape;1651;p116"/>
          <p:cNvSpPr txBox="1"/>
          <p:nvPr>
            <p:ph idx="1" type="body"/>
          </p:nvPr>
        </p:nvSpPr>
        <p:spPr>
          <a:xfrm>
            <a:off x="1404198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652" name="Google Shape;1652;p116"/>
          <p:cNvSpPr txBox="1"/>
          <p:nvPr>
            <p:ph idx="1" type="body"/>
          </p:nvPr>
        </p:nvSpPr>
        <p:spPr>
          <a:xfrm>
            <a:off x="1404198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653" name="Google Shape;1653;p116"/>
          <p:cNvSpPr txBox="1"/>
          <p:nvPr>
            <p:ph idx="1" type="body"/>
          </p:nvPr>
        </p:nvSpPr>
        <p:spPr>
          <a:xfrm>
            <a:off x="1404198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654" name="Google Shape;1654;p116"/>
          <p:cNvSpPr txBox="1"/>
          <p:nvPr>
            <p:ph idx="1" type="body"/>
          </p:nvPr>
        </p:nvSpPr>
        <p:spPr>
          <a:xfrm>
            <a:off x="1404198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655" name="Google Shape;1655;p116"/>
          <p:cNvSpPr txBox="1"/>
          <p:nvPr>
            <p:ph idx="1" type="body"/>
          </p:nvPr>
        </p:nvSpPr>
        <p:spPr>
          <a:xfrm>
            <a:off x="1404198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656" name="Google Shape;1656;p116"/>
          <p:cNvSpPr txBox="1"/>
          <p:nvPr>
            <p:ph idx="1" type="body"/>
          </p:nvPr>
        </p:nvSpPr>
        <p:spPr>
          <a:xfrm>
            <a:off x="1404198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grpSp>
        <p:nvGrpSpPr>
          <p:cNvPr id="1657" name="Google Shape;1657;p116"/>
          <p:cNvGrpSpPr/>
          <p:nvPr/>
        </p:nvGrpSpPr>
        <p:grpSpPr>
          <a:xfrm>
            <a:off x="2608818" y="1918650"/>
            <a:ext cx="3322693" cy="2518023"/>
            <a:chOff x="2608818" y="1918650"/>
            <a:chExt cx="3322693" cy="2518023"/>
          </a:xfrm>
        </p:grpSpPr>
        <p:grpSp>
          <p:nvGrpSpPr>
            <p:cNvPr id="1658" name="Google Shape;1658;p116"/>
            <p:cNvGrpSpPr/>
            <p:nvPr/>
          </p:nvGrpSpPr>
          <p:grpSpPr>
            <a:xfrm>
              <a:off x="2620100" y="1918650"/>
              <a:ext cx="3299100" cy="1479300"/>
              <a:chOff x="2620100" y="1918650"/>
              <a:chExt cx="3299100" cy="1479300"/>
            </a:xfrm>
          </p:grpSpPr>
          <p:sp>
            <p:nvSpPr>
              <p:cNvPr id="1659" name="Google Shape;1659;p116"/>
              <p:cNvSpPr/>
              <p:nvPr/>
            </p:nvSpPr>
            <p:spPr>
              <a:xfrm>
                <a:off x="2620100" y="2592450"/>
                <a:ext cx="156900" cy="8055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0" name="Google Shape;1660;p116"/>
              <p:cNvSpPr/>
              <p:nvPr/>
            </p:nvSpPr>
            <p:spPr>
              <a:xfrm>
                <a:off x="3413500" y="2501250"/>
                <a:ext cx="156900" cy="8283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1" name="Google Shape;1661;p116"/>
              <p:cNvSpPr/>
              <p:nvPr/>
            </p:nvSpPr>
            <p:spPr>
              <a:xfrm>
                <a:off x="4175500" y="2226050"/>
                <a:ext cx="156900" cy="10140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2" name="Google Shape;1662;p116"/>
              <p:cNvSpPr/>
              <p:nvPr/>
            </p:nvSpPr>
            <p:spPr>
              <a:xfrm>
                <a:off x="4979350" y="2101600"/>
                <a:ext cx="156900" cy="9543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3" name="Google Shape;1663;p116"/>
              <p:cNvSpPr/>
              <p:nvPr/>
            </p:nvSpPr>
            <p:spPr>
              <a:xfrm>
                <a:off x="5762300" y="1918650"/>
                <a:ext cx="156900" cy="9084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64" name="Google Shape;1664;p116"/>
            <p:cNvGrpSpPr/>
            <p:nvPr/>
          </p:nvGrpSpPr>
          <p:grpSpPr>
            <a:xfrm>
              <a:off x="2632700" y="3904395"/>
              <a:ext cx="3273905" cy="532278"/>
              <a:chOff x="2632700" y="3904395"/>
              <a:chExt cx="3273905" cy="532278"/>
            </a:xfrm>
          </p:grpSpPr>
          <p:sp>
            <p:nvSpPr>
              <p:cNvPr id="1665" name="Google Shape;1665;p116"/>
              <p:cNvSpPr/>
              <p:nvPr/>
            </p:nvSpPr>
            <p:spPr>
              <a:xfrm>
                <a:off x="2632700" y="4304973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6" name="Google Shape;1666;p116"/>
              <p:cNvSpPr/>
              <p:nvPr/>
            </p:nvSpPr>
            <p:spPr>
              <a:xfrm>
                <a:off x="3426100" y="4223568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7" name="Google Shape;1667;p116"/>
              <p:cNvSpPr/>
              <p:nvPr/>
            </p:nvSpPr>
            <p:spPr>
              <a:xfrm>
                <a:off x="4188100" y="4141743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8" name="Google Shape;1668;p116"/>
              <p:cNvSpPr/>
              <p:nvPr/>
            </p:nvSpPr>
            <p:spPr>
              <a:xfrm>
                <a:off x="4991955" y="4191613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9" name="Google Shape;1669;p116"/>
              <p:cNvSpPr/>
              <p:nvPr/>
            </p:nvSpPr>
            <p:spPr>
              <a:xfrm>
                <a:off x="5774905" y="3904395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70" name="Google Shape;1670;p116"/>
              <p:cNvCxnSpPr>
                <a:stCxn id="1665" idx="6"/>
                <a:endCxn id="1666" idx="2"/>
              </p:cNvCxnSpPr>
              <p:nvPr/>
            </p:nvCxnSpPr>
            <p:spPr>
              <a:xfrm flipH="1" rot="10800000">
                <a:off x="2764400" y="4289523"/>
                <a:ext cx="661800" cy="81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1" name="Google Shape;1671;p116"/>
              <p:cNvCxnSpPr>
                <a:endCxn id="1667" idx="2"/>
              </p:cNvCxnSpPr>
              <p:nvPr/>
            </p:nvCxnSpPr>
            <p:spPr>
              <a:xfrm flipH="1" rot="10800000">
                <a:off x="3557800" y="4207593"/>
                <a:ext cx="630300" cy="69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2" name="Google Shape;1672;p116"/>
              <p:cNvCxnSpPr>
                <a:endCxn id="1668" idx="2"/>
              </p:cNvCxnSpPr>
              <p:nvPr/>
            </p:nvCxnSpPr>
            <p:spPr>
              <a:xfrm>
                <a:off x="4319655" y="4211263"/>
                <a:ext cx="672300" cy="462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3" name="Google Shape;1673;p116"/>
              <p:cNvCxnSpPr>
                <a:stCxn id="1668" idx="6"/>
                <a:endCxn id="1669" idx="2"/>
              </p:cNvCxnSpPr>
              <p:nvPr/>
            </p:nvCxnSpPr>
            <p:spPr>
              <a:xfrm flipH="1" rot="10800000">
                <a:off x="5123655" y="3970363"/>
                <a:ext cx="651300" cy="287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74" name="Google Shape;1674;p116"/>
            <p:cNvGrpSpPr/>
            <p:nvPr/>
          </p:nvGrpSpPr>
          <p:grpSpPr>
            <a:xfrm>
              <a:off x="2608818" y="2826922"/>
              <a:ext cx="3322693" cy="472215"/>
              <a:chOff x="2608818" y="2826922"/>
              <a:chExt cx="3322693" cy="472215"/>
            </a:xfrm>
          </p:grpSpPr>
          <p:sp>
            <p:nvSpPr>
              <p:cNvPr id="1675" name="Google Shape;1675;p116"/>
              <p:cNvSpPr/>
              <p:nvPr/>
            </p:nvSpPr>
            <p:spPr>
              <a:xfrm>
                <a:off x="2608818" y="3147337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6" name="Google Shape;1676;p116"/>
              <p:cNvSpPr/>
              <p:nvPr/>
            </p:nvSpPr>
            <p:spPr>
              <a:xfrm>
                <a:off x="3402048" y="3053649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7" name="Google Shape;1677;p116"/>
              <p:cNvSpPr/>
              <p:nvPr/>
            </p:nvSpPr>
            <p:spPr>
              <a:xfrm>
                <a:off x="4164048" y="2906453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8" name="Google Shape;1678;p116"/>
              <p:cNvSpPr/>
              <p:nvPr/>
            </p:nvSpPr>
            <p:spPr>
              <a:xfrm>
                <a:off x="4962482" y="2897917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9" name="Google Shape;1679;p116"/>
              <p:cNvSpPr/>
              <p:nvPr/>
            </p:nvSpPr>
            <p:spPr>
              <a:xfrm>
                <a:off x="5755712" y="2826922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80" name="Google Shape;1680;p116"/>
              <p:cNvCxnSpPr>
                <a:stCxn id="1675" idx="5"/>
                <a:endCxn id="1676" idx="1"/>
              </p:cNvCxnSpPr>
              <p:nvPr/>
            </p:nvCxnSpPr>
            <p:spPr>
              <a:xfrm flipH="1" rot="10800000">
                <a:off x="2740668" y="3129637"/>
                <a:ext cx="705300" cy="9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1" name="Google Shape;1681;p116"/>
              <p:cNvCxnSpPr>
                <a:stCxn id="1676" idx="5"/>
                <a:endCxn id="1677" idx="1"/>
              </p:cNvCxnSpPr>
              <p:nvPr/>
            </p:nvCxnSpPr>
            <p:spPr>
              <a:xfrm flipH="1" rot="10800000">
                <a:off x="3533898" y="2982249"/>
                <a:ext cx="674100" cy="147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2" name="Google Shape;1682;p116"/>
              <p:cNvCxnSpPr>
                <a:stCxn id="1677" idx="5"/>
                <a:endCxn id="1678" idx="1"/>
              </p:cNvCxnSpPr>
              <p:nvPr/>
            </p:nvCxnSpPr>
            <p:spPr>
              <a:xfrm flipH="1" rot="10800000">
                <a:off x="4295898" y="2973953"/>
                <a:ext cx="710400" cy="8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3" name="Google Shape;1683;p116"/>
              <p:cNvCxnSpPr>
                <a:stCxn id="1678" idx="5"/>
                <a:endCxn id="1679" idx="1"/>
              </p:cNvCxnSpPr>
              <p:nvPr/>
            </p:nvCxnSpPr>
            <p:spPr>
              <a:xfrm flipH="1" rot="10800000">
                <a:off x="5094332" y="2902717"/>
                <a:ext cx="705300" cy="71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84" name="Google Shape;1684;p116"/>
          <p:cNvSpPr txBox="1"/>
          <p:nvPr>
            <p:ph idx="1" type="body"/>
          </p:nvPr>
        </p:nvSpPr>
        <p:spPr>
          <a:xfrm rot="-5400000">
            <a:off x="-886500" y="2511200"/>
            <a:ext cx="34995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685" name="Google Shape;1685;p116"/>
          <p:cNvSpPr txBox="1"/>
          <p:nvPr>
            <p:ph idx="1" type="body"/>
          </p:nvPr>
        </p:nvSpPr>
        <p:spPr>
          <a:xfrm rot="-5400000">
            <a:off x="-1278000" y="2521700"/>
            <a:ext cx="34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686" name="Google Shape;1686;p116"/>
          <p:cNvSpPr/>
          <p:nvPr/>
        </p:nvSpPr>
        <p:spPr>
          <a:xfrm>
            <a:off x="393300" y="4479775"/>
            <a:ext cx="156900" cy="340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16"/>
          <p:cNvSpPr/>
          <p:nvPr/>
        </p:nvSpPr>
        <p:spPr>
          <a:xfrm>
            <a:off x="1140081" y="4473692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16"/>
          <p:cNvSpPr/>
          <p:nvPr/>
        </p:nvSpPr>
        <p:spPr>
          <a:xfrm>
            <a:off x="779288" y="4483748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9" name="Google Shape;1689;p116"/>
          <p:cNvCxnSpPr/>
          <p:nvPr/>
        </p:nvCxnSpPr>
        <p:spPr>
          <a:xfrm rot="10800000">
            <a:off x="6640634" y="1226465"/>
            <a:ext cx="0" cy="33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0" name="Google Shape;1690;p116"/>
          <p:cNvSpPr txBox="1"/>
          <p:nvPr>
            <p:ph idx="1" type="body"/>
          </p:nvPr>
        </p:nvSpPr>
        <p:spPr>
          <a:xfrm>
            <a:off x="6682932" y="442736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691" name="Google Shape;1691;p116"/>
          <p:cNvSpPr txBox="1"/>
          <p:nvPr>
            <p:ph idx="1" type="body"/>
          </p:nvPr>
        </p:nvSpPr>
        <p:spPr>
          <a:xfrm>
            <a:off x="6682932" y="4103308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692" name="Google Shape;1692;p116"/>
          <p:cNvSpPr txBox="1"/>
          <p:nvPr>
            <p:ph idx="1" type="body"/>
          </p:nvPr>
        </p:nvSpPr>
        <p:spPr>
          <a:xfrm>
            <a:off x="6682932" y="3779249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693" name="Google Shape;1693;p116"/>
          <p:cNvSpPr txBox="1"/>
          <p:nvPr>
            <p:ph idx="1" type="body"/>
          </p:nvPr>
        </p:nvSpPr>
        <p:spPr>
          <a:xfrm>
            <a:off x="6682932" y="345519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694" name="Google Shape;1694;p116"/>
          <p:cNvSpPr txBox="1"/>
          <p:nvPr>
            <p:ph idx="1" type="body"/>
          </p:nvPr>
        </p:nvSpPr>
        <p:spPr>
          <a:xfrm>
            <a:off x="6682932" y="313113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695" name="Google Shape;1695;p116"/>
          <p:cNvSpPr txBox="1"/>
          <p:nvPr>
            <p:ph idx="1" type="body"/>
          </p:nvPr>
        </p:nvSpPr>
        <p:spPr>
          <a:xfrm>
            <a:off x="6682932" y="2807071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696" name="Google Shape;1696;p116"/>
          <p:cNvSpPr txBox="1"/>
          <p:nvPr>
            <p:ph idx="1" type="body"/>
          </p:nvPr>
        </p:nvSpPr>
        <p:spPr>
          <a:xfrm>
            <a:off x="6682932" y="248301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697" name="Google Shape;1697;p116"/>
          <p:cNvSpPr txBox="1"/>
          <p:nvPr>
            <p:ph idx="1" type="body"/>
          </p:nvPr>
        </p:nvSpPr>
        <p:spPr>
          <a:xfrm>
            <a:off x="6682932" y="215895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698" name="Google Shape;1698;p116"/>
          <p:cNvSpPr txBox="1"/>
          <p:nvPr>
            <p:ph idx="1" type="body"/>
          </p:nvPr>
        </p:nvSpPr>
        <p:spPr>
          <a:xfrm>
            <a:off x="6682932" y="183489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699" name="Google Shape;1699;p116"/>
          <p:cNvSpPr txBox="1"/>
          <p:nvPr>
            <p:ph idx="1" type="body"/>
          </p:nvPr>
        </p:nvSpPr>
        <p:spPr>
          <a:xfrm>
            <a:off x="6682932" y="151083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  <p:sp>
        <p:nvSpPr>
          <p:cNvPr id="1700" name="Google Shape;1700;p116"/>
          <p:cNvSpPr txBox="1"/>
          <p:nvPr>
            <p:ph idx="1" type="body"/>
          </p:nvPr>
        </p:nvSpPr>
        <p:spPr>
          <a:xfrm rot="5400000">
            <a:off x="6077634" y="3180517"/>
            <a:ext cx="22413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701" name="Google Shape;1701;p116"/>
          <p:cNvSpPr/>
          <p:nvPr/>
        </p:nvSpPr>
        <p:spPr>
          <a:xfrm>
            <a:off x="7096659" y="4525619"/>
            <a:ext cx="175800" cy="1758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2" name="Google Shape;1702;p116"/>
          <p:cNvGrpSpPr/>
          <p:nvPr/>
        </p:nvGrpSpPr>
        <p:grpSpPr>
          <a:xfrm>
            <a:off x="2630886" y="1906258"/>
            <a:ext cx="3271515" cy="275564"/>
            <a:chOff x="2630886" y="1906258"/>
            <a:chExt cx="3271515" cy="275564"/>
          </a:xfrm>
        </p:grpSpPr>
        <p:sp>
          <p:nvSpPr>
            <p:cNvPr id="1703" name="Google Shape;1703;p116"/>
            <p:cNvSpPr/>
            <p:nvPr/>
          </p:nvSpPr>
          <p:spPr>
            <a:xfrm>
              <a:off x="2630886" y="2036381"/>
              <a:ext cx="131700" cy="131700"/>
            </a:xfrm>
            <a:prstGeom prst="diamond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4" name="Google Shape;1704;p116"/>
            <p:cNvSpPr/>
            <p:nvPr/>
          </p:nvSpPr>
          <p:spPr>
            <a:xfrm>
              <a:off x="3427447" y="2050122"/>
              <a:ext cx="131700" cy="131700"/>
            </a:xfrm>
            <a:prstGeom prst="diamond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116"/>
            <p:cNvSpPr/>
            <p:nvPr/>
          </p:nvSpPr>
          <p:spPr>
            <a:xfrm>
              <a:off x="4194652" y="1984332"/>
              <a:ext cx="131700" cy="131700"/>
            </a:xfrm>
            <a:prstGeom prst="diamond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6" name="Google Shape;1706;p116"/>
            <p:cNvSpPr/>
            <p:nvPr/>
          </p:nvSpPr>
          <p:spPr>
            <a:xfrm>
              <a:off x="4982677" y="1942692"/>
              <a:ext cx="131700" cy="131700"/>
            </a:xfrm>
            <a:prstGeom prst="diamond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116"/>
            <p:cNvSpPr/>
            <p:nvPr/>
          </p:nvSpPr>
          <p:spPr>
            <a:xfrm>
              <a:off x="5770701" y="1906258"/>
              <a:ext cx="131700" cy="131700"/>
            </a:xfrm>
            <a:prstGeom prst="diamond">
              <a:avLst/>
            </a:prstGeom>
            <a:solidFill>
              <a:srgbClr val="FAEAF6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8" name="Google Shape;1708;p116"/>
            <p:cNvCxnSpPr>
              <a:stCxn id="1703" idx="3"/>
              <a:endCxn id="1704" idx="1"/>
            </p:cNvCxnSpPr>
            <p:nvPr/>
          </p:nvCxnSpPr>
          <p:spPr>
            <a:xfrm>
              <a:off x="2762586" y="2102231"/>
              <a:ext cx="664800" cy="138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9" name="Google Shape;1709;p116"/>
            <p:cNvCxnSpPr>
              <a:stCxn id="1705" idx="1"/>
              <a:endCxn id="1704" idx="3"/>
            </p:cNvCxnSpPr>
            <p:nvPr/>
          </p:nvCxnSpPr>
          <p:spPr>
            <a:xfrm flipH="1">
              <a:off x="3559252" y="2050182"/>
              <a:ext cx="635400" cy="65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0" name="Google Shape;1710;p116"/>
            <p:cNvCxnSpPr>
              <a:stCxn id="1706" idx="1"/>
              <a:endCxn id="1705" idx="3"/>
            </p:cNvCxnSpPr>
            <p:nvPr/>
          </p:nvCxnSpPr>
          <p:spPr>
            <a:xfrm flipH="1">
              <a:off x="4326277" y="2008542"/>
              <a:ext cx="656400" cy="41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1" name="Google Shape;1711;p116"/>
            <p:cNvCxnSpPr>
              <a:endCxn id="1706" idx="3"/>
            </p:cNvCxnSpPr>
            <p:nvPr/>
          </p:nvCxnSpPr>
          <p:spPr>
            <a:xfrm flipH="1">
              <a:off x="5114377" y="1972842"/>
              <a:ext cx="652800" cy="35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12" name="Google Shape;1712;p116"/>
          <p:cNvSpPr txBox="1"/>
          <p:nvPr>
            <p:ph idx="1" type="body"/>
          </p:nvPr>
        </p:nvSpPr>
        <p:spPr>
          <a:xfrm>
            <a:off x="324000" y="759300"/>
            <a:ext cx="63588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was the patient’s body temperature on Thursday?</a:t>
            </a:r>
            <a:endParaRPr sz="1800"/>
          </a:p>
        </p:txBody>
      </p:sp>
      <p:sp>
        <p:nvSpPr>
          <p:cNvPr id="1713" name="Google Shape;1713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sp>
        <p:nvSpPr>
          <p:cNvPr id="1714" name="Google Shape;1714;p116"/>
          <p:cNvSpPr txBox="1"/>
          <p:nvPr>
            <p:ph idx="1" type="body"/>
          </p:nvPr>
        </p:nvSpPr>
        <p:spPr>
          <a:xfrm>
            <a:off x="6800999" y="759300"/>
            <a:ext cx="2819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39 °C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15" name="Google Shape;1715;p116"/>
          <p:cNvCxnSpPr/>
          <p:nvPr/>
        </p:nvCxnSpPr>
        <p:spPr>
          <a:xfrm rot="10800000">
            <a:off x="5068895" y="2005100"/>
            <a:ext cx="1517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16" name="Google Shape;1716;p116"/>
          <p:cNvSpPr/>
          <p:nvPr/>
        </p:nvSpPr>
        <p:spPr>
          <a:xfrm>
            <a:off x="4829858" y="1782100"/>
            <a:ext cx="433500" cy="433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1" name="Google Shape;1721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721" y="1839961"/>
            <a:ext cx="4736125" cy="29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17"/>
          <p:cNvSpPr txBox="1"/>
          <p:nvPr>
            <p:ph idx="1" type="body"/>
          </p:nvPr>
        </p:nvSpPr>
        <p:spPr>
          <a:xfrm>
            <a:off x="324000" y="759300"/>
            <a:ext cx="6898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trend can be observed in the patient’s blood pressure?</a:t>
            </a:r>
            <a:endParaRPr sz="1800"/>
          </a:p>
        </p:txBody>
      </p:sp>
      <p:sp>
        <p:nvSpPr>
          <p:cNvPr id="1723" name="Google Shape;1723;p1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724" name="Google Shape;1724;p117"/>
          <p:cNvCxnSpPr/>
          <p:nvPr/>
        </p:nvCxnSpPr>
        <p:spPr>
          <a:xfrm rot="10800000">
            <a:off x="1905775" y="1798802"/>
            <a:ext cx="0" cy="30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5" name="Google Shape;1725;p117"/>
          <p:cNvCxnSpPr/>
          <p:nvPr/>
        </p:nvCxnSpPr>
        <p:spPr>
          <a:xfrm>
            <a:off x="1905767" y="4799132"/>
            <a:ext cx="47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6" name="Google Shape;1726;p117"/>
          <p:cNvSpPr txBox="1"/>
          <p:nvPr>
            <p:ph idx="1" type="body"/>
          </p:nvPr>
        </p:nvSpPr>
        <p:spPr>
          <a:xfrm rot="-5400000">
            <a:off x="-510750" y="2474582"/>
            <a:ext cx="34995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727" name="Google Shape;1727;p117"/>
          <p:cNvSpPr txBox="1"/>
          <p:nvPr>
            <p:ph idx="1" type="body"/>
          </p:nvPr>
        </p:nvSpPr>
        <p:spPr>
          <a:xfrm>
            <a:off x="1404198" y="461410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728" name="Google Shape;1728;p117"/>
          <p:cNvSpPr txBox="1"/>
          <p:nvPr>
            <p:ph idx="1" type="body"/>
          </p:nvPr>
        </p:nvSpPr>
        <p:spPr>
          <a:xfrm>
            <a:off x="1404198" y="435284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729" name="Google Shape;1729;p117"/>
          <p:cNvSpPr txBox="1"/>
          <p:nvPr>
            <p:ph idx="1" type="body"/>
          </p:nvPr>
        </p:nvSpPr>
        <p:spPr>
          <a:xfrm>
            <a:off x="1404198" y="402878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730" name="Google Shape;1730;p117"/>
          <p:cNvSpPr txBox="1"/>
          <p:nvPr>
            <p:ph idx="1" type="body"/>
          </p:nvPr>
        </p:nvSpPr>
        <p:spPr>
          <a:xfrm>
            <a:off x="1404198" y="370472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731" name="Google Shape;1731;p117"/>
          <p:cNvSpPr txBox="1"/>
          <p:nvPr>
            <p:ph idx="1" type="body"/>
          </p:nvPr>
        </p:nvSpPr>
        <p:spPr>
          <a:xfrm>
            <a:off x="1404198" y="338066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732" name="Google Shape;1732;p117"/>
          <p:cNvSpPr txBox="1"/>
          <p:nvPr>
            <p:ph idx="1" type="body"/>
          </p:nvPr>
        </p:nvSpPr>
        <p:spPr>
          <a:xfrm>
            <a:off x="1404198" y="3056605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733" name="Google Shape;1733;p117"/>
          <p:cNvSpPr txBox="1"/>
          <p:nvPr>
            <p:ph idx="1" type="body"/>
          </p:nvPr>
        </p:nvSpPr>
        <p:spPr>
          <a:xfrm>
            <a:off x="1404198" y="2732546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734" name="Google Shape;1734;p117"/>
          <p:cNvSpPr txBox="1"/>
          <p:nvPr>
            <p:ph idx="1" type="body"/>
          </p:nvPr>
        </p:nvSpPr>
        <p:spPr>
          <a:xfrm>
            <a:off x="1404198" y="2408486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735" name="Google Shape;1735;p117"/>
          <p:cNvSpPr txBox="1"/>
          <p:nvPr>
            <p:ph idx="1" type="body"/>
          </p:nvPr>
        </p:nvSpPr>
        <p:spPr>
          <a:xfrm>
            <a:off x="1404198" y="2084427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736" name="Google Shape;1736;p117"/>
          <p:cNvSpPr/>
          <p:nvPr/>
        </p:nvSpPr>
        <p:spPr>
          <a:xfrm>
            <a:off x="2620100" y="2841984"/>
            <a:ext cx="156900" cy="805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17"/>
          <p:cNvSpPr/>
          <p:nvPr/>
        </p:nvSpPr>
        <p:spPr>
          <a:xfrm>
            <a:off x="3413500" y="2750784"/>
            <a:ext cx="156900" cy="8283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17"/>
          <p:cNvSpPr/>
          <p:nvPr/>
        </p:nvSpPr>
        <p:spPr>
          <a:xfrm>
            <a:off x="4175500" y="2475584"/>
            <a:ext cx="156900" cy="10140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17"/>
          <p:cNvSpPr/>
          <p:nvPr/>
        </p:nvSpPr>
        <p:spPr>
          <a:xfrm>
            <a:off x="4979350" y="2351134"/>
            <a:ext cx="156900" cy="9543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17"/>
          <p:cNvSpPr/>
          <p:nvPr/>
        </p:nvSpPr>
        <p:spPr>
          <a:xfrm>
            <a:off x="5762300" y="2168184"/>
            <a:ext cx="156900" cy="9084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17"/>
          <p:cNvSpPr txBox="1"/>
          <p:nvPr>
            <p:ph idx="1" type="body"/>
          </p:nvPr>
        </p:nvSpPr>
        <p:spPr>
          <a:xfrm rot="-5400000">
            <a:off x="-886500" y="2469332"/>
            <a:ext cx="34995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742" name="Google Shape;1742;p117"/>
          <p:cNvSpPr txBox="1"/>
          <p:nvPr>
            <p:ph idx="1" type="body"/>
          </p:nvPr>
        </p:nvSpPr>
        <p:spPr>
          <a:xfrm rot="-5400000">
            <a:off x="-1278000" y="2479832"/>
            <a:ext cx="34995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743" name="Google Shape;1743;p117"/>
          <p:cNvSpPr/>
          <p:nvPr/>
        </p:nvSpPr>
        <p:spPr>
          <a:xfrm>
            <a:off x="393300" y="4437907"/>
            <a:ext cx="156900" cy="340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17"/>
          <p:cNvSpPr/>
          <p:nvPr/>
        </p:nvSpPr>
        <p:spPr>
          <a:xfrm>
            <a:off x="1140081" y="4431824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17"/>
          <p:cNvSpPr/>
          <p:nvPr/>
        </p:nvSpPr>
        <p:spPr>
          <a:xfrm>
            <a:off x="779288" y="4441880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6" name="Google Shape;1746;p117"/>
          <p:cNvCxnSpPr/>
          <p:nvPr/>
        </p:nvCxnSpPr>
        <p:spPr>
          <a:xfrm rot="10800000">
            <a:off x="6640625" y="1798802"/>
            <a:ext cx="0" cy="30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7" name="Google Shape;1747;p117"/>
          <p:cNvSpPr txBox="1"/>
          <p:nvPr>
            <p:ph idx="1" type="body"/>
          </p:nvPr>
        </p:nvSpPr>
        <p:spPr>
          <a:xfrm>
            <a:off x="6682932" y="4614100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748" name="Google Shape;1748;p117"/>
          <p:cNvSpPr txBox="1"/>
          <p:nvPr>
            <p:ph idx="1" type="body"/>
          </p:nvPr>
        </p:nvSpPr>
        <p:spPr>
          <a:xfrm>
            <a:off x="6682932" y="4352842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49" name="Google Shape;1749;p117"/>
          <p:cNvSpPr txBox="1"/>
          <p:nvPr>
            <p:ph idx="1" type="body"/>
          </p:nvPr>
        </p:nvSpPr>
        <p:spPr>
          <a:xfrm>
            <a:off x="6682932" y="4028783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750" name="Google Shape;1750;p117"/>
          <p:cNvSpPr txBox="1"/>
          <p:nvPr>
            <p:ph idx="1" type="body"/>
          </p:nvPr>
        </p:nvSpPr>
        <p:spPr>
          <a:xfrm>
            <a:off x="6682932" y="370472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751" name="Google Shape;1751;p117"/>
          <p:cNvSpPr txBox="1"/>
          <p:nvPr>
            <p:ph idx="1" type="body"/>
          </p:nvPr>
        </p:nvSpPr>
        <p:spPr>
          <a:xfrm>
            <a:off x="6682932" y="3380664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752" name="Google Shape;1752;p117"/>
          <p:cNvSpPr txBox="1"/>
          <p:nvPr>
            <p:ph idx="1" type="body"/>
          </p:nvPr>
        </p:nvSpPr>
        <p:spPr>
          <a:xfrm>
            <a:off x="6682932" y="3056605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753" name="Google Shape;1753;p117"/>
          <p:cNvSpPr txBox="1"/>
          <p:nvPr>
            <p:ph idx="1" type="body"/>
          </p:nvPr>
        </p:nvSpPr>
        <p:spPr>
          <a:xfrm>
            <a:off x="6682932" y="2732546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754" name="Google Shape;1754;p117"/>
          <p:cNvSpPr txBox="1"/>
          <p:nvPr>
            <p:ph idx="1" type="body"/>
          </p:nvPr>
        </p:nvSpPr>
        <p:spPr>
          <a:xfrm>
            <a:off x="6682932" y="2408486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755" name="Google Shape;1755;p117"/>
          <p:cNvSpPr txBox="1"/>
          <p:nvPr>
            <p:ph idx="1" type="body"/>
          </p:nvPr>
        </p:nvSpPr>
        <p:spPr>
          <a:xfrm>
            <a:off x="6682932" y="2084427"/>
            <a:ext cx="4335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756" name="Google Shape;1756;p117"/>
          <p:cNvSpPr txBox="1"/>
          <p:nvPr>
            <p:ph idx="1" type="body"/>
          </p:nvPr>
        </p:nvSpPr>
        <p:spPr>
          <a:xfrm rot="5400000">
            <a:off x="6077634" y="3291048"/>
            <a:ext cx="22413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757" name="Google Shape;1757;p117"/>
          <p:cNvSpPr/>
          <p:nvPr/>
        </p:nvSpPr>
        <p:spPr>
          <a:xfrm>
            <a:off x="7096659" y="4636151"/>
            <a:ext cx="175800" cy="175800"/>
          </a:xfrm>
          <a:prstGeom prst="diamond">
            <a:avLst/>
          </a:prstGeom>
          <a:solidFill>
            <a:srgbClr val="FAEAF6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8" name="Google Shape;1758;p117"/>
          <p:cNvGrpSpPr/>
          <p:nvPr/>
        </p:nvGrpSpPr>
        <p:grpSpPr>
          <a:xfrm>
            <a:off x="2608818" y="2155792"/>
            <a:ext cx="3322693" cy="2530415"/>
            <a:chOff x="2608818" y="2155792"/>
            <a:chExt cx="3322693" cy="2530415"/>
          </a:xfrm>
        </p:grpSpPr>
        <p:grpSp>
          <p:nvGrpSpPr>
            <p:cNvPr id="1759" name="Google Shape;1759;p117"/>
            <p:cNvGrpSpPr/>
            <p:nvPr/>
          </p:nvGrpSpPr>
          <p:grpSpPr>
            <a:xfrm>
              <a:off x="2632700" y="4153929"/>
              <a:ext cx="3273905" cy="532278"/>
              <a:chOff x="2632700" y="4153929"/>
              <a:chExt cx="3273905" cy="532278"/>
            </a:xfrm>
          </p:grpSpPr>
          <p:sp>
            <p:nvSpPr>
              <p:cNvPr id="1760" name="Google Shape;1760;p117"/>
              <p:cNvSpPr/>
              <p:nvPr/>
            </p:nvSpPr>
            <p:spPr>
              <a:xfrm>
                <a:off x="2632700" y="4554507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1" name="Google Shape;1761;p117"/>
              <p:cNvSpPr/>
              <p:nvPr/>
            </p:nvSpPr>
            <p:spPr>
              <a:xfrm>
                <a:off x="3426100" y="4473102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2" name="Google Shape;1762;p117"/>
              <p:cNvSpPr/>
              <p:nvPr/>
            </p:nvSpPr>
            <p:spPr>
              <a:xfrm>
                <a:off x="4188100" y="4391277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3" name="Google Shape;1763;p117"/>
              <p:cNvSpPr/>
              <p:nvPr/>
            </p:nvSpPr>
            <p:spPr>
              <a:xfrm>
                <a:off x="4991955" y="4441147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4" name="Google Shape;1764;p117"/>
              <p:cNvSpPr/>
              <p:nvPr/>
            </p:nvSpPr>
            <p:spPr>
              <a:xfrm>
                <a:off x="5774905" y="4153929"/>
                <a:ext cx="131700" cy="131700"/>
              </a:xfrm>
              <a:prstGeom prst="ellipse">
                <a:avLst/>
              </a:prstGeom>
              <a:solidFill>
                <a:srgbClr val="E6F2F2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65" name="Google Shape;1765;p117"/>
              <p:cNvCxnSpPr>
                <a:stCxn id="1760" idx="6"/>
                <a:endCxn id="1761" idx="2"/>
              </p:cNvCxnSpPr>
              <p:nvPr/>
            </p:nvCxnSpPr>
            <p:spPr>
              <a:xfrm flipH="1" rot="10800000">
                <a:off x="2764400" y="4539057"/>
                <a:ext cx="661800" cy="81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6" name="Google Shape;1766;p117"/>
              <p:cNvCxnSpPr>
                <a:endCxn id="1762" idx="2"/>
              </p:cNvCxnSpPr>
              <p:nvPr/>
            </p:nvCxnSpPr>
            <p:spPr>
              <a:xfrm flipH="1" rot="10800000">
                <a:off x="3557800" y="4457127"/>
                <a:ext cx="630300" cy="69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7" name="Google Shape;1767;p117"/>
              <p:cNvCxnSpPr>
                <a:endCxn id="1763" idx="2"/>
              </p:cNvCxnSpPr>
              <p:nvPr/>
            </p:nvCxnSpPr>
            <p:spPr>
              <a:xfrm>
                <a:off x="4319655" y="4460797"/>
                <a:ext cx="672300" cy="462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117"/>
              <p:cNvCxnSpPr>
                <a:stCxn id="1763" idx="6"/>
                <a:endCxn id="1764" idx="2"/>
              </p:cNvCxnSpPr>
              <p:nvPr/>
            </p:nvCxnSpPr>
            <p:spPr>
              <a:xfrm flipH="1" rot="10800000">
                <a:off x="5123655" y="4219897"/>
                <a:ext cx="651300" cy="287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69" name="Google Shape;1769;p117"/>
            <p:cNvGrpSpPr/>
            <p:nvPr/>
          </p:nvGrpSpPr>
          <p:grpSpPr>
            <a:xfrm>
              <a:off x="2608818" y="3076456"/>
              <a:ext cx="3322693" cy="472215"/>
              <a:chOff x="2608818" y="3076456"/>
              <a:chExt cx="3322693" cy="472215"/>
            </a:xfrm>
          </p:grpSpPr>
          <p:sp>
            <p:nvSpPr>
              <p:cNvPr id="1770" name="Google Shape;1770;p117"/>
              <p:cNvSpPr/>
              <p:nvPr/>
            </p:nvSpPr>
            <p:spPr>
              <a:xfrm>
                <a:off x="2608818" y="3396871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1" name="Google Shape;1771;p117"/>
              <p:cNvSpPr/>
              <p:nvPr/>
            </p:nvSpPr>
            <p:spPr>
              <a:xfrm>
                <a:off x="3402048" y="3303183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2" name="Google Shape;1772;p117"/>
              <p:cNvSpPr/>
              <p:nvPr/>
            </p:nvSpPr>
            <p:spPr>
              <a:xfrm>
                <a:off x="4164048" y="3155988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3" name="Google Shape;1773;p117"/>
              <p:cNvSpPr/>
              <p:nvPr/>
            </p:nvSpPr>
            <p:spPr>
              <a:xfrm>
                <a:off x="4962482" y="3147451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74" name="Google Shape;1774;p117"/>
              <p:cNvCxnSpPr>
                <a:stCxn id="1770" idx="5"/>
                <a:endCxn id="1771" idx="1"/>
              </p:cNvCxnSpPr>
              <p:nvPr/>
            </p:nvCxnSpPr>
            <p:spPr>
              <a:xfrm flipH="1" rot="10800000">
                <a:off x="2740668" y="3379171"/>
                <a:ext cx="705300" cy="9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5" name="Google Shape;1775;p117"/>
              <p:cNvCxnSpPr>
                <a:stCxn id="1771" idx="5"/>
                <a:endCxn id="1772" idx="1"/>
              </p:cNvCxnSpPr>
              <p:nvPr/>
            </p:nvCxnSpPr>
            <p:spPr>
              <a:xfrm flipH="1" rot="10800000">
                <a:off x="3533898" y="3231783"/>
                <a:ext cx="674100" cy="147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6" name="Google Shape;1776;p117"/>
              <p:cNvCxnSpPr>
                <a:stCxn id="1772" idx="5"/>
                <a:endCxn id="1773" idx="1"/>
              </p:cNvCxnSpPr>
              <p:nvPr/>
            </p:nvCxnSpPr>
            <p:spPr>
              <a:xfrm flipH="1" rot="10800000">
                <a:off x="4295898" y="3223488"/>
                <a:ext cx="710400" cy="8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7" name="Google Shape;1777;p117"/>
              <p:cNvCxnSpPr>
                <a:stCxn id="1773" idx="5"/>
                <a:endCxn id="1778" idx="1"/>
              </p:cNvCxnSpPr>
              <p:nvPr/>
            </p:nvCxnSpPr>
            <p:spPr>
              <a:xfrm flipH="1" rot="10800000">
                <a:off x="5094332" y="3152251"/>
                <a:ext cx="705300" cy="71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78" name="Google Shape;1778;p117"/>
              <p:cNvSpPr/>
              <p:nvPr/>
            </p:nvSpPr>
            <p:spPr>
              <a:xfrm>
                <a:off x="5755712" y="3076456"/>
                <a:ext cx="175800" cy="151800"/>
              </a:xfrm>
              <a:prstGeom prst="triangle">
                <a:avLst>
                  <a:gd fmla="val 50000" name="adj"/>
                </a:avLst>
              </a:prstGeom>
              <a:solidFill>
                <a:srgbClr val="F3EEFB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79" name="Google Shape;1779;p117"/>
            <p:cNvGrpSpPr/>
            <p:nvPr/>
          </p:nvGrpSpPr>
          <p:grpSpPr>
            <a:xfrm>
              <a:off x="2630886" y="2155792"/>
              <a:ext cx="3271515" cy="275564"/>
              <a:chOff x="2630886" y="2155792"/>
              <a:chExt cx="3271515" cy="275564"/>
            </a:xfrm>
          </p:grpSpPr>
          <p:sp>
            <p:nvSpPr>
              <p:cNvPr id="1780" name="Google Shape;1780;p117"/>
              <p:cNvSpPr/>
              <p:nvPr/>
            </p:nvSpPr>
            <p:spPr>
              <a:xfrm>
                <a:off x="2630886" y="2285915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1" name="Google Shape;1781;p117"/>
              <p:cNvSpPr/>
              <p:nvPr/>
            </p:nvSpPr>
            <p:spPr>
              <a:xfrm>
                <a:off x="3427447" y="2299656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2" name="Google Shape;1782;p117"/>
              <p:cNvSpPr/>
              <p:nvPr/>
            </p:nvSpPr>
            <p:spPr>
              <a:xfrm>
                <a:off x="4194652" y="2233866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3" name="Google Shape;1783;p117"/>
              <p:cNvSpPr/>
              <p:nvPr/>
            </p:nvSpPr>
            <p:spPr>
              <a:xfrm>
                <a:off x="4982677" y="2192226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4" name="Google Shape;1784;p117"/>
              <p:cNvSpPr/>
              <p:nvPr/>
            </p:nvSpPr>
            <p:spPr>
              <a:xfrm>
                <a:off x="5770701" y="2155792"/>
                <a:ext cx="131700" cy="131700"/>
              </a:xfrm>
              <a:prstGeom prst="diamond">
                <a:avLst/>
              </a:prstGeom>
              <a:solidFill>
                <a:srgbClr val="FAEAF6"/>
              </a:solidFill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785" name="Google Shape;1785;p117"/>
              <p:cNvCxnSpPr>
                <a:stCxn id="1780" idx="3"/>
                <a:endCxn id="1781" idx="1"/>
              </p:cNvCxnSpPr>
              <p:nvPr/>
            </p:nvCxnSpPr>
            <p:spPr>
              <a:xfrm>
                <a:off x="2762586" y="2351765"/>
                <a:ext cx="664800" cy="13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6" name="Google Shape;1786;p117"/>
              <p:cNvCxnSpPr>
                <a:stCxn id="1782" idx="1"/>
                <a:endCxn id="1781" idx="3"/>
              </p:cNvCxnSpPr>
              <p:nvPr/>
            </p:nvCxnSpPr>
            <p:spPr>
              <a:xfrm flipH="1">
                <a:off x="3559252" y="2299716"/>
                <a:ext cx="635400" cy="65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7" name="Google Shape;1787;p117"/>
              <p:cNvCxnSpPr>
                <a:stCxn id="1783" idx="1"/>
                <a:endCxn id="1782" idx="3"/>
              </p:cNvCxnSpPr>
              <p:nvPr/>
            </p:nvCxnSpPr>
            <p:spPr>
              <a:xfrm flipH="1">
                <a:off x="4326277" y="2258076"/>
                <a:ext cx="656400" cy="41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8" name="Google Shape;1788;p117"/>
              <p:cNvCxnSpPr>
                <a:endCxn id="1783" idx="3"/>
              </p:cNvCxnSpPr>
              <p:nvPr/>
            </p:nvCxnSpPr>
            <p:spPr>
              <a:xfrm flipH="1">
                <a:off x="5114377" y="2222376"/>
                <a:ext cx="652800" cy="35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789" name="Google Shape;1789;p117"/>
          <p:cNvSpPr txBox="1"/>
          <p:nvPr>
            <p:ph idx="1" type="body"/>
          </p:nvPr>
        </p:nvSpPr>
        <p:spPr>
          <a:xfrm>
            <a:off x="1903266" y="1237434"/>
            <a:ext cx="1282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decreasing</a:t>
            </a:r>
            <a:endParaRPr sz="1800"/>
          </a:p>
        </p:txBody>
      </p:sp>
      <p:sp>
        <p:nvSpPr>
          <p:cNvPr id="1790" name="Google Shape;1790;p117"/>
          <p:cNvSpPr txBox="1"/>
          <p:nvPr>
            <p:ph idx="1" type="body"/>
          </p:nvPr>
        </p:nvSpPr>
        <p:spPr>
          <a:xfrm>
            <a:off x="4417866" y="1237434"/>
            <a:ext cx="12822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increasing</a:t>
            </a:r>
            <a:endParaRPr sz="1800"/>
          </a:p>
        </p:txBody>
      </p:sp>
      <p:sp>
        <p:nvSpPr>
          <p:cNvPr id="1791" name="Google Shape;1791;p117"/>
          <p:cNvSpPr txBox="1"/>
          <p:nvPr>
            <p:ph idx="1" type="body"/>
          </p:nvPr>
        </p:nvSpPr>
        <p:spPr>
          <a:xfrm>
            <a:off x="6932466" y="1237434"/>
            <a:ext cx="21087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stays the same</a:t>
            </a:r>
            <a:endParaRPr sz="1800"/>
          </a:p>
        </p:txBody>
      </p:sp>
      <p:grpSp>
        <p:nvGrpSpPr>
          <p:cNvPr id="1792" name="Google Shape;1792;p117"/>
          <p:cNvGrpSpPr/>
          <p:nvPr/>
        </p:nvGrpSpPr>
        <p:grpSpPr>
          <a:xfrm>
            <a:off x="1416308" y="1182460"/>
            <a:ext cx="457200" cy="457200"/>
            <a:chOff x="1020916" y="1442088"/>
            <a:chExt cx="457200" cy="457200"/>
          </a:xfrm>
        </p:grpSpPr>
        <p:pic>
          <p:nvPicPr>
            <p:cNvPr id="1793" name="Google Shape;1793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4" name="Google Shape;1794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5" name="Google Shape;1795;p117"/>
          <p:cNvGrpSpPr/>
          <p:nvPr/>
        </p:nvGrpSpPr>
        <p:grpSpPr>
          <a:xfrm>
            <a:off x="3917575" y="1182460"/>
            <a:ext cx="457200" cy="457200"/>
            <a:chOff x="1020916" y="1442088"/>
            <a:chExt cx="457200" cy="457200"/>
          </a:xfrm>
        </p:grpSpPr>
        <p:pic>
          <p:nvPicPr>
            <p:cNvPr id="1796" name="Google Shape;1796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7" name="Google Shape;1797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8" name="Google Shape;1798;p117"/>
          <p:cNvGrpSpPr/>
          <p:nvPr/>
        </p:nvGrpSpPr>
        <p:grpSpPr>
          <a:xfrm>
            <a:off x="6418842" y="1182460"/>
            <a:ext cx="457200" cy="457200"/>
            <a:chOff x="1020916" y="1442088"/>
            <a:chExt cx="457200" cy="457200"/>
          </a:xfrm>
        </p:grpSpPr>
        <p:pic>
          <p:nvPicPr>
            <p:cNvPr id="1799" name="Google Shape;1799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0" name="Google Shape;1800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01" name="Google Shape;1801;p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8340" y="1309824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25" y="1530200"/>
            <a:ext cx="3194450" cy="26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18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graph shows a patient’s vital signs over five days.</a:t>
            </a:r>
            <a:endParaRPr sz="1600"/>
          </a:p>
        </p:txBody>
      </p:sp>
      <p:sp>
        <p:nvSpPr>
          <p:cNvPr id="1808" name="Google Shape;1808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809" name="Google Shape;1809;p118"/>
          <p:cNvCxnSpPr/>
          <p:nvPr/>
        </p:nvCxnSpPr>
        <p:spPr>
          <a:xfrm rot="10800000">
            <a:off x="4904116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0" name="Google Shape;1810;p118"/>
          <p:cNvCxnSpPr/>
          <p:nvPr/>
        </p:nvCxnSpPr>
        <p:spPr>
          <a:xfrm>
            <a:off x="4904116" y="4194999"/>
            <a:ext cx="32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1" name="Google Shape;1811;p118"/>
          <p:cNvSpPr txBox="1"/>
          <p:nvPr>
            <p:ph idx="4294967295" type="body"/>
          </p:nvPr>
        </p:nvSpPr>
        <p:spPr>
          <a:xfrm rot="-5400000">
            <a:off x="2706885" y="2481350"/>
            <a:ext cx="32649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812" name="Google Shape;1812;p118"/>
          <p:cNvSpPr txBox="1"/>
          <p:nvPr>
            <p:ph idx="4294967295" type="body"/>
          </p:nvPr>
        </p:nvSpPr>
        <p:spPr>
          <a:xfrm>
            <a:off x="534879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endParaRPr sz="1600"/>
          </a:p>
        </p:txBody>
      </p:sp>
      <p:sp>
        <p:nvSpPr>
          <p:cNvPr id="1813" name="Google Shape;1813;p118"/>
          <p:cNvSpPr txBox="1"/>
          <p:nvPr>
            <p:ph idx="4294967295" type="body"/>
          </p:nvPr>
        </p:nvSpPr>
        <p:spPr>
          <a:xfrm>
            <a:off x="5868659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</a:t>
            </a:r>
            <a:endParaRPr sz="1600"/>
          </a:p>
        </p:txBody>
      </p:sp>
      <p:sp>
        <p:nvSpPr>
          <p:cNvPr id="1814" name="Google Shape;1814;p118"/>
          <p:cNvSpPr txBox="1"/>
          <p:nvPr>
            <p:ph idx="4294967295" type="body"/>
          </p:nvPr>
        </p:nvSpPr>
        <p:spPr>
          <a:xfrm>
            <a:off x="645133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1815" name="Google Shape;1815;p118"/>
          <p:cNvSpPr txBox="1"/>
          <p:nvPr>
            <p:ph idx="4294967295" type="body"/>
          </p:nvPr>
        </p:nvSpPr>
        <p:spPr>
          <a:xfrm>
            <a:off x="6929331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</a:t>
            </a:r>
            <a:endParaRPr sz="1600"/>
          </a:p>
        </p:txBody>
      </p:sp>
      <p:sp>
        <p:nvSpPr>
          <p:cNvPr id="1816" name="Google Shape;1816;p118"/>
          <p:cNvSpPr txBox="1"/>
          <p:nvPr>
            <p:ph idx="4294967295" type="body"/>
          </p:nvPr>
        </p:nvSpPr>
        <p:spPr>
          <a:xfrm>
            <a:off x="7512003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817" name="Google Shape;1817;p118"/>
          <p:cNvSpPr txBox="1"/>
          <p:nvPr>
            <p:ph idx="4294967295" type="body"/>
          </p:nvPr>
        </p:nvSpPr>
        <p:spPr>
          <a:xfrm>
            <a:off x="4452200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818" name="Google Shape;1818;p118"/>
          <p:cNvSpPr txBox="1"/>
          <p:nvPr>
            <p:ph idx="4294967295" type="body"/>
          </p:nvPr>
        </p:nvSpPr>
        <p:spPr>
          <a:xfrm>
            <a:off x="4452200" y="379238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819" name="Google Shape;1819;p118"/>
          <p:cNvSpPr txBox="1"/>
          <p:nvPr>
            <p:ph idx="4294967295" type="body"/>
          </p:nvPr>
        </p:nvSpPr>
        <p:spPr>
          <a:xfrm>
            <a:off x="4452200" y="350040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820" name="Google Shape;1820;p118"/>
          <p:cNvSpPr txBox="1"/>
          <p:nvPr>
            <p:ph idx="4294967295" type="body"/>
          </p:nvPr>
        </p:nvSpPr>
        <p:spPr>
          <a:xfrm>
            <a:off x="4452200" y="320843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821" name="Google Shape;1821;p118"/>
          <p:cNvSpPr txBox="1"/>
          <p:nvPr>
            <p:ph idx="4294967295" type="body"/>
          </p:nvPr>
        </p:nvSpPr>
        <p:spPr>
          <a:xfrm>
            <a:off x="4452200" y="291645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822" name="Google Shape;1822;p118"/>
          <p:cNvSpPr txBox="1"/>
          <p:nvPr>
            <p:ph idx="4294967295" type="body"/>
          </p:nvPr>
        </p:nvSpPr>
        <p:spPr>
          <a:xfrm>
            <a:off x="4452200" y="262448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823" name="Google Shape;1823;p118"/>
          <p:cNvSpPr txBox="1"/>
          <p:nvPr>
            <p:ph idx="4294967295" type="body"/>
          </p:nvPr>
        </p:nvSpPr>
        <p:spPr>
          <a:xfrm>
            <a:off x="4452200" y="2332504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824" name="Google Shape;1824;p118"/>
          <p:cNvSpPr txBox="1"/>
          <p:nvPr>
            <p:ph idx="4294967295" type="body"/>
          </p:nvPr>
        </p:nvSpPr>
        <p:spPr>
          <a:xfrm>
            <a:off x="4452200" y="204052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825" name="Google Shape;1825;p118"/>
          <p:cNvSpPr txBox="1"/>
          <p:nvPr>
            <p:ph idx="4294967295" type="body"/>
          </p:nvPr>
        </p:nvSpPr>
        <p:spPr>
          <a:xfrm>
            <a:off x="4452200" y="1748553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826" name="Google Shape;1826;p118"/>
          <p:cNvSpPr txBox="1"/>
          <p:nvPr>
            <p:ph idx="4294967295" type="body"/>
          </p:nvPr>
        </p:nvSpPr>
        <p:spPr>
          <a:xfrm>
            <a:off x="4452200" y="145657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1827" name="Google Shape;1827;p118"/>
          <p:cNvSpPr/>
          <p:nvPr/>
        </p:nvSpPr>
        <p:spPr>
          <a:xfrm>
            <a:off x="5374725" y="21388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118"/>
          <p:cNvSpPr/>
          <p:nvPr/>
        </p:nvSpPr>
        <p:spPr>
          <a:xfrm>
            <a:off x="5902925" y="22563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18"/>
          <p:cNvSpPr/>
          <p:nvPr/>
        </p:nvSpPr>
        <p:spPr>
          <a:xfrm>
            <a:off x="6437100" y="23854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18"/>
          <p:cNvSpPr/>
          <p:nvPr/>
        </p:nvSpPr>
        <p:spPr>
          <a:xfrm>
            <a:off x="6956725" y="23854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18"/>
          <p:cNvSpPr/>
          <p:nvPr/>
        </p:nvSpPr>
        <p:spPr>
          <a:xfrm>
            <a:off x="7485925" y="24200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18"/>
          <p:cNvSpPr/>
          <p:nvPr/>
        </p:nvSpPr>
        <p:spPr>
          <a:xfrm>
            <a:off x="5400122" y="37030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3" name="Google Shape;1833;p118"/>
          <p:cNvCxnSpPr>
            <a:stCxn id="1832" idx="6"/>
            <a:endCxn id="1834" idx="2"/>
          </p:cNvCxnSpPr>
          <p:nvPr/>
        </p:nvCxnSpPr>
        <p:spPr>
          <a:xfrm>
            <a:off x="5473322" y="37396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5" name="Google Shape;1835;p118"/>
          <p:cNvSpPr txBox="1"/>
          <p:nvPr>
            <p:ph idx="4294967295" type="body"/>
          </p:nvPr>
        </p:nvSpPr>
        <p:spPr>
          <a:xfrm rot="-5400000">
            <a:off x="2407335" y="2476100"/>
            <a:ext cx="32649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836" name="Google Shape;1836;p118"/>
          <p:cNvSpPr txBox="1"/>
          <p:nvPr>
            <p:ph idx="4294967295" type="body"/>
          </p:nvPr>
        </p:nvSpPr>
        <p:spPr>
          <a:xfrm rot="-5400000">
            <a:off x="2092035" y="2486600"/>
            <a:ext cx="3264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837" name="Google Shape;1837;p118"/>
          <p:cNvSpPr/>
          <p:nvPr/>
        </p:nvSpPr>
        <p:spPr>
          <a:xfrm>
            <a:off x="36460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18"/>
          <p:cNvSpPr/>
          <p:nvPr/>
        </p:nvSpPr>
        <p:spPr>
          <a:xfrm>
            <a:off x="42404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18"/>
          <p:cNvSpPr/>
          <p:nvPr/>
        </p:nvSpPr>
        <p:spPr>
          <a:xfrm>
            <a:off x="39558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0" name="Google Shape;1840;p118"/>
          <p:cNvCxnSpPr/>
          <p:nvPr/>
        </p:nvCxnSpPr>
        <p:spPr>
          <a:xfrm rot="10800000">
            <a:off x="8103381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1" name="Google Shape;1841;p118"/>
          <p:cNvSpPr txBox="1"/>
          <p:nvPr>
            <p:ph idx="4294967295" type="body"/>
          </p:nvPr>
        </p:nvSpPr>
        <p:spPr>
          <a:xfrm rot="5400000">
            <a:off x="7408067" y="2931525"/>
            <a:ext cx="2577300" cy="2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842" name="Google Shape;1842;p118"/>
          <p:cNvSpPr/>
          <p:nvPr/>
        </p:nvSpPr>
        <p:spPr>
          <a:xfrm>
            <a:off x="8605215" y="40414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18"/>
          <p:cNvSpPr/>
          <p:nvPr/>
        </p:nvSpPr>
        <p:spPr>
          <a:xfrm>
            <a:off x="5392575" y="18473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18"/>
          <p:cNvSpPr/>
          <p:nvPr/>
        </p:nvSpPr>
        <p:spPr>
          <a:xfrm>
            <a:off x="5925969" y="18551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18"/>
          <p:cNvSpPr/>
          <p:nvPr/>
        </p:nvSpPr>
        <p:spPr>
          <a:xfrm>
            <a:off x="6450839" y="18918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18"/>
          <p:cNvSpPr/>
          <p:nvPr/>
        </p:nvSpPr>
        <p:spPr>
          <a:xfrm>
            <a:off x="6983388" y="18518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18"/>
          <p:cNvSpPr/>
          <p:nvPr/>
        </p:nvSpPr>
        <p:spPr>
          <a:xfrm>
            <a:off x="7510732" y="18970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8" name="Google Shape;1848;p118"/>
          <p:cNvCxnSpPr>
            <a:stCxn id="1843" idx="3"/>
            <a:endCxn id="1844" idx="1"/>
          </p:cNvCxnSpPr>
          <p:nvPr/>
        </p:nvCxnSpPr>
        <p:spPr>
          <a:xfrm>
            <a:off x="5485875" y="18940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118"/>
          <p:cNvCxnSpPr>
            <a:stCxn id="1845" idx="1"/>
            <a:endCxn id="1844" idx="3"/>
          </p:cNvCxnSpPr>
          <p:nvPr/>
        </p:nvCxnSpPr>
        <p:spPr>
          <a:xfrm rot="10800000">
            <a:off x="6019139" y="19018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0" name="Google Shape;1850;p118"/>
          <p:cNvCxnSpPr>
            <a:stCxn id="1846" idx="1"/>
            <a:endCxn id="1845" idx="3"/>
          </p:cNvCxnSpPr>
          <p:nvPr/>
        </p:nvCxnSpPr>
        <p:spPr>
          <a:xfrm flipH="1">
            <a:off x="6544188" y="18985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118"/>
          <p:cNvCxnSpPr>
            <a:stCxn id="1847" idx="1"/>
            <a:endCxn id="1846" idx="3"/>
          </p:cNvCxnSpPr>
          <p:nvPr/>
        </p:nvCxnSpPr>
        <p:spPr>
          <a:xfrm rot="10800000">
            <a:off x="7076632" y="18984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4" name="Google Shape;1834;p118"/>
          <p:cNvSpPr/>
          <p:nvPr/>
        </p:nvSpPr>
        <p:spPr>
          <a:xfrm>
            <a:off x="5929844" y="3779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18"/>
          <p:cNvSpPr/>
          <p:nvPr/>
        </p:nvSpPr>
        <p:spPr>
          <a:xfrm>
            <a:off x="6459566" y="4000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18"/>
          <p:cNvSpPr/>
          <p:nvPr/>
        </p:nvSpPr>
        <p:spPr>
          <a:xfrm>
            <a:off x="6989289" y="39242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18"/>
          <p:cNvSpPr/>
          <p:nvPr/>
        </p:nvSpPr>
        <p:spPr>
          <a:xfrm>
            <a:off x="7522689" y="38948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5" name="Google Shape;1855;p118"/>
          <p:cNvCxnSpPr>
            <a:stCxn id="1834" idx="5"/>
            <a:endCxn id="1852" idx="2"/>
          </p:cNvCxnSpPr>
          <p:nvPr/>
        </p:nvCxnSpPr>
        <p:spPr>
          <a:xfrm>
            <a:off x="5992324" y="38417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6" name="Google Shape;1856;p118"/>
          <p:cNvCxnSpPr>
            <a:endCxn id="1853" idx="2"/>
          </p:cNvCxnSpPr>
          <p:nvPr/>
        </p:nvCxnSpPr>
        <p:spPr>
          <a:xfrm flipH="1" rot="10800000">
            <a:off x="6532689" y="39608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7" name="Google Shape;1857;p118"/>
          <p:cNvCxnSpPr>
            <a:endCxn id="1854" idx="2"/>
          </p:cNvCxnSpPr>
          <p:nvPr/>
        </p:nvCxnSpPr>
        <p:spPr>
          <a:xfrm flipH="1" rot="10800000">
            <a:off x="7064289" y="39314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8" name="Google Shape;1858;p118"/>
          <p:cNvSpPr txBox="1"/>
          <p:nvPr>
            <p:ph idx="4294967295" type="body"/>
          </p:nvPr>
        </p:nvSpPr>
        <p:spPr>
          <a:xfrm>
            <a:off x="6134874" y="4487086"/>
            <a:ext cx="453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day</a:t>
            </a:r>
            <a:endParaRPr sz="1600"/>
          </a:p>
        </p:txBody>
      </p:sp>
      <p:sp>
        <p:nvSpPr>
          <p:cNvPr id="1859" name="Google Shape;1859;p118"/>
          <p:cNvSpPr txBox="1"/>
          <p:nvPr>
            <p:ph idx="1" type="body"/>
          </p:nvPr>
        </p:nvSpPr>
        <p:spPr>
          <a:xfrm>
            <a:off x="324000" y="1216500"/>
            <a:ext cx="34506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On what day was their</a:t>
            </a:r>
            <a:r>
              <a:rPr lang="en-GB" sz="1600"/>
              <a:t> 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respiratory rate at its lowest?</a:t>
            </a:r>
            <a:endParaRPr sz="1600"/>
          </a:p>
        </p:txBody>
      </p:sp>
      <p:sp>
        <p:nvSpPr>
          <p:cNvPr id="1860" name="Google Shape;1860;p118"/>
          <p:cNvSpPr txBox="1"/>
          <p:nvPr>
            <p:ph idx="1" type="body"/>
          </p:nvPr>
        </p:nvSpPr>
        <p:spPr>
          <a:xfrm>
            <a:off x="324000" y="1978500"/>
            <a:ext cx="30456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What was their heart </a:t>
            </a:r>
            <a:br>
              <a:rPr lang="en-GB" sz="1600"/>
            </a:br>
            <a:r>
              <a:rPr lang="en-GB" sz="1600"/>
              <a:t>     rate on Tuesday?</a:t>
            </a:r>
            <a:endParaRPr sz="1600"/>
          </a:p>
        </p:txBody>
      </p:sp>
      <p:sp>
        <p:nvSpPr>
          <p:cNvPr id="1861" name="Google Shape;1861;p118"/>
          <p:cNvSpPr txBox="1"/>
          <p:nvPr>
            <p:ph idx="1" type="body"/>
          </p:nvPr>
        </p:nvSpPr>
        <p:spPr>
          <a:xfrm>
            <a:off x="324000" y="2740500"/>
            <a:ext cx="3045600" cy="12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Lucas thinks their body </a:t>
            </a:r>
            <a:br>
              <a:rPr lang="en-GB" sz="1600"/>
            </a:br>
            <a:r>
              <a:rPr lang="en-GB" sz="1600"/>
              <a:t>    temperature was 155℃ on </a:t>
            </a:r>
            <a:br>
              <a:rPr lang="en-GB" sz="1600"/>
            </a:br>
            <a:r>
              <a:rPr lang="en-GB" sz="1600"/>
              <a:t>    Monday. What mistake has </a:t>
            </a:r>
            <a:br>
              <a:rPr lang="en-GB" sz="1600"/>
            </a:br>
            <a:r>
              <a:rPr lang="en-GB" sz="1600"/>
              <a:t>    Lucas made?</a:t>
            </a:r>
            <a:endParaRPr sz="1600"/>
          </a:p>
        </p:txBody>
      </p:sp>
      <p:sp>
        <p:nvSpPr>
          <p:cNvPr id="1862" name="Google Shape;1862;p118"/>
          <p:cNvSpPr txBox="1"/>
          <p:nvPr>
            <p:ph idx="1" type="body"/>
          </p:nvPr>
        </p:nvSpPr>
        <p:spPr>
          <a:xfrm>
            <a:off x="324000" y="4035900"/>
            <a:ext cx="30456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What was their body </a:t>
            </a:r>
            <a:br>
              <a:rPr lang="en-GB" sz="1600"/>
            </a:br>
            <a:r>
              <a:rPr lang="en-GB" sz="1600"/>
              <a:t>    temperature on Monday?</a:t>
            </a:r>
            <a:endParaRPr sz="1600"/>
          </a:p>
        </p:txBody>
      </p:sp>
      <p:grpSp>
        <p:nvGrpSpPr>
          <p:cNvPr id="1863" name="Google Shape;1863;p118"/>
          <p:cNvGrpSpPr/>
          <p:nvPr/>
        </p:nvGrpSpPr>
        <p:grpSpPr>
          <a:xfrm>
            <a:off x="5406424" y="2807437"/>
            <a:ext cx="2201272" cy="382527"/>
            <a:chOff x="5406424" y="2807437"/>
            <a:chExt cx="2201272" cy="382527"/>
          </a:xfrm>
        </p:grpSpPr>
        <p:sp>
          <p:nvSpPr>
            <p:cNvPr id="1864" name="Google Shape;1864;p118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5" name="Google Shape;1865;p118"/>
            <p:cNvCxnSpPr>
              <a:stCxn id="1864" idx="5"/>
              <a:endCxn id="1866" idx="1"/>
            </p:cNvCxnSpPr>
            <p:nvPr/>
          </p:nvCxnSpPr>
          <p:spPr>
            <a:xfrm>
              <a:off x="5472574" y="2845537"/>
              <a:ext cx="482100" cy="77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66" name="Google Shape;1866;p118"/>
            <p:cNvSpPr/>
            <p:nvPr/>
          </p:nvSpPr>
          <p:spPr>
            <a:xfrm>
              <a:off x="5932479" y="28851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118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8" name="Google Shape;1868;p118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9" name="Google Shape;1869;p118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70" name="Google Shape;1870;p118"/>
            <p:cNvCxnSpPr>
              <a:stCxn id="1866" idx="5"/>
              <a:endCxn id="1867" idx="1"/>
            </p:cNvCxnSpPr>
            <p:nvPr/>
          </p:nvCxnSpPr>
          <p:spPr>
            <a:xfrm>
              <a:off x="5998629" y="2923265"/>
              <a:ext cx="487200" cy="24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1" name="Google Shape;1871;p118"/>
            <p:cNvCxnSpPr>
              <a:stCxn id="1867" idx="5"/>
              <a:endCxn id="1868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2" name="Google Shape;1872;p118"/>
            <p:cNvCxnSpPr>
              <a:stCxn id="1868" idx="5"/>
              <a:endCxn id="1869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3" name="Google Shape;1873;p118"/>
          <p:cNvSpPr txBox="1"/>
          <p:nvPr>
            <p:ph idx="4294967295" type="body"/>
          </p:nvPr>
        </p:nvSpPr>
        <p:spPr>
          <a:xfrm>
            <a:off x="8180765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874" name="Google Shape;1874;p118"/>
          <p:cNvSpPr txBox="1"/>
          <p:nvPr>
            <p:ph idx="4294967295" type="body"/>
          </p:nvPr>
        </p:nvSpPr>
        <p:spPr>
          <a:xfrm>
            <a:off x="8180765" y="378860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75" name="Google Shape;1875;p118"/>
          <p:cNvSpPr txBox="1"/>
          <p:nvPr>
            <p:ph idx="4294967295" type="body"/>
          </p:nvPr>
        </p:nvSpPr>
        <p:spPr>
          <a:xfrm>
            <a:off x="8180765" y="349284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876" name="Google Shape;1876;p118"/>
          <p:cNvSpPr txBox="1"/>
          <p:nvPr>
            <p:ph idx="4294967295" type="body"/>
          </p:nvPr>
        </p:nvSpPr>
        <p:spPr>
          <a:xfrm>
            <a:off x="8180765" y="319709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877" name="Google Shape;1877;p118"/>
          <p:cNvSpPr txBox="1"/>
          <p:nvPr>
            <p:ph idx="4294967295" type="body"/>
          </p:nvPr>
        </p:nvSpPr>
        <p:spPr>
          <a:xfrm>
            <a:off x="8180765" y="290133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878" name="Google Shape;1878;p118"/>
          <p:cNvSpPr txBox="1"/>
          <p:nvPr>
            <p:ph idx="4294967295" type="body"/>
          </p:nvPr>
        </p:nvSpPr>
        <p:spPr>
          <a:xfrm>
            <a:off x="8180765" y="260558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879" name="Google Shape;1879;p118"/>
          <p:cNvSpPr txBox="1"/>
          <p:nvPr>
            <p:ph idx="4294967295" type="body"/>
          </p:nvPr>
        </p:nvSpPr>
        <p:spPr>
          <a:xfrm>
            <a:off x="8180765" y="230982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880" name="Google Shape;1880;p118"/>
          <p:cNvSpPr txBox="1"/>
          <p:nvPr>
            <p:ph idx="4294967295" type="body"/>
          </p:nvPr>
        </p:nvSpPr>
        <p:spPr>
          <a:xfrm>
            <a:off x="8180765" y="201407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881" name="Google Shape;1881;p118"/>
          <p:cNvSpPr txBox="1"/>
          <p:nvPr>
            <p:ph idx="4294967295" type="body"/>
          </p:nvPr>
        </p:nvSpPr>
        <p:spPr>
          <a:xfrm>
            <a:off x="8180765" y="171831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882" name="Google Shape;1882;p118"/>
          <p:cNvSpPr txBox="1"/>
          <p:nvPr>
            <p:ph idx="4294967295" type="body"/>
          </p:nvPr>
        </p:nvSpPr>
        <p:spPr>
          <a:xfrm>
            <a:off x="8180765" y="1422559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7" name="Google Shape;1887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25" y="1530200"/>
            <a:ext cx="3194450" cy="26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11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graph shows a patient’s vital signs over five days.</a:t>
            </a:r>
            <a:endParaRPr sz="1600"/>
          </a:p>
        </p:txBody>
      </p:sp>
      <p:sp>
        <p:nvSpPr>
          <p:cNvPr id="1889" name="Google Shape;1889;p1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890" name="Google Shape;1890;p119"/>
          <p:cNvCxnSpPr/>
          <p:nvPr/>
        </p:nvCxnSpPr>
        <p:spPr>
          <a:xfrm rot="10800000">
            <a:off x="4904116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1" name="Google Shape;1891;p119"/>
          <p:cNvCxnSpPr/>
          <p:nvPr/>
        </p:nvCxnSpPr>
        <p:spPr>
          <a:xfrm>
            <a:off x="4904116" y="4194999"/>
            <a:ext cx="32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2" name="Google Shape;1892;p119"/>
          <p:cNvSpPr txBox="1"/>
          <p:nvPr>
            <p:ph idx="4294967295" type="body"/>
          </p:nvPr>
        </p:nvSpPr>
        <p:spPr>
          <a:xfrm rot="-5400000">
            <a:off x="2706885" y="2481350"/>
            <a:ext cx="32649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893" name="Google Shape;1893;p119"/>
          <p:cNvSpPr txBox="1"/>
          <p:nvPr>
            <p:ph idx="4294967295" type="body"/>
          </p:nvPr>
        </p:nvSpPr>
        <p:spPr>
          <a:xfrm>
            <a:off x="534879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endParaRPr sz="1600"/>
          </a:p>
        </p:txBody>
      </p:sp>
      <p:sp>
        <p:nvSpPr>
          <p:cNvPr id="1894" name="Google Shape;1894;p119"/>
          <p:cNvSpPr txBox="1"/>
          <p:nvPr>
            <p:ph idx="4294967295" type="body"/>
          </p:nvPr>
        </p:nvSpPr>
        <p:spPr>
          <a:xfrm>
            <a:off x="5868659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</a:t>
            </a:r>
            <a:endParaRPr sz="1600"/>
          </a:p>
        </p:txBody>
      </p:sp>
      <p:sp>
        <p:nvSpPr>
          <p:cNvPr id="1895" name="Google Shape;1895;p119"/>
          <p:cNvSpPr txBox="1"/>
          <p:nvPr>
            <p:ph idx="4294967295" type="body"/>
          </p:nvPr>
        </p:nvSpPr>
        <p:spPr>
          <a:xfrm>
            <a:off x="645133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1896" name="Google Shape;1896;p119"/>
          <p:cNvSpPr txBox="1"/>
          <p:nvPr>
            <p:ph idx="4294967295" type="body"/>
          </p:nvPr>
        </p:nvSpPr>
        <p:spPr>
          <a:xfrm>
            <a:off x="6929331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</a:t>
            </a:r>
            <a:endParaRPr sz="1600"/>
          </a:p>
        </p:txBody>
      </p:sp>
      <p:sp>
        <p:nvSpPr>
          <p:cNvPr id="1897" name="Google Shape;1897;p119"/>
          <p:cNvSpPr txBox="1"/>
          <p:nvPr>
            <p:ph idx="4294967295" type="body"/>
          </p:nvPr>
        </p:nvSpPr>
        <p:spPr>
          <a:xfrm>
            <a:off x="7512003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898" name="Google Shape;1898;p119"/>
          <p:cNvSpPr txBox="1"/>
          <p:nvPr>
            <p:ph idx="4294967295" type="body"/>
          </p:nvPr>
        </p:nvSpPr>
        <p:spPr>
          <a:xfrm>
            <a:off x="4452200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899" name="Google Shape;1899;p119"/>
          <p:cNvSpPr txBox="1"/>
          <p:nvPr>
            <p:ph idx="4294967295" type="body"/>
          </p:nvPr>
        </p:nvSpPr>
        <p:spPr>
          <a:xfrm>
            <a:off x="4452200" y="379238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900" name="Google Shape;1900;p119"/>
          <p:cNvSpPr txBox="1"/>
          <p:nvPr>
            <p:ph idx="4294967295" type="body"/>
          </p:nvPr>
        </p:nvSpPr>
        <p:spPr>
          <a:xfrm>
            <a:off x="4452200" y="350040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901" name="Google Shape;1901;p119"/>
          <p:cNvSpPr txBox="1"/>
          <p:nvPr>
            <p:ph idx="4294967295" type="body"/>
          </p:nvPr>
        </p:nvSpPr>
        <p:spPr>
          <a:xfrm>
            <a:off x="4452200" y="320843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902" name="Google Shape;1902;p119"/>
          <p:cNvSpPr txBox="1"/>
          <p:nvPr>
            <p:ph idx="4294967295" type="body"/>
          </p:nvPr>
        </p:nvSpPr>
        <p:spPr>
          <a:xfrm>
            <a:off x="4452200" y="291645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903" name="Google Shape;1903;p119"/>
          <p:cNvSpPr txBox="1"/>
          <p:nvPr>
            <p:ph idx="4294967295" type="body"/>
          </p:nvPr>
        </p:nvSpPr>
        <p:spPr>
          <a:xfrm>
            <a:off x="4452200" y="262448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904" name="Google Shape;1904;p119"/>
          <p:cNvSpPr txBox="1"/>
          <p:nvPr>
            <p:ph idx="4294967295" type="body"/>
          </p:nvPr>
        </p:nvSpPr>
        <p:spPr>
          <a:xfrm>
            <a:off x="4452200" y="2332504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905" name="Google Shape;1905;p119"/>
          <p:cNvSpPr txBox="1"/>
          <p:nvPr>
            <p:ph idx="4294967295" type="body"/>
          </p:nvPr>
        </p:nvSpPr>
        <p:spPr>
          <a:xfrm>
            <a:off x="4452200" y="204052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906" name="Google Shape;1906;p119"/>
          <p:cNvSpPr txBox="1"/>
          <p:nvPr>
            <p:ph idx="4294967295" type="body"/>
          </p:nvPr>
        </p:nvSpPr>
        <p:spPr>
          <a:xfrm>
            <a:off x="4452200" y="1748553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907" name="Google Shape;1907;p119"/>
          <p:cNvSpPr txBox="1"/>
          <p:nvPr>
            <p:ph idx="4294967295" type="body"/>
          </p:nvPr>
        </p:nvSpPr>
        <p:spPr>
          <a:xfrm>
            <a:off x="4452200" y="145657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1908" name="Google Shape;1908;p119"/>
          <p:cNvSpPr/>
          <p:nvPr/>
        </p:nvSpPr>
        <p:spPr>
          <a:xfrm>
            <a:off x="5374725" y="21388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19"/>
          <p:cNvSpPr/>
          <p:nvPr/>
        </p:nvSpPr>
        <p:spPr>
          <a:xfrm>
            <a:off x="5902925" y="22563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119"/>
          <p:cNvSpPr/>
          <p:nvPr/>
        </p:nvSpPr>
        <p:spPr>
          <a:xfrm>
            <a:off x="6437100" y="23854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119"/>
          <p:cNvSpPr/>
          <p:nvPr/>
        </p:nvSpPr>
        <p:spPr>
          <a:xfrm>
            <a:off x="6956725" y="23854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19"/>
          <p:cNvSpPr/>
          <p:nvPr/>
        </p:nvSpPr>
        <p:spPr>
          <a:xfrm>
            <a:off x="7485925" y="24200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19"/>
          <p:cNvSpPr/>
          <p:nvPr/>
        </p:nvSpPr>
        <p:spPr>
          <a:xfrm>
            <a:off x="5400122" y="37030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4" name="Google Shape;1914;p119"/>
          <p:cNvCxnSpPr>
            <a:stCxn id="1913" idx="6"/>
            <a:endCxn id="1915" idx="2"/>
          </p:cNvCxnSpPr>
          <p:nvPr/>
        </p:nvCxnSpPr>
        <p:spPr>
          <a:xfrm>
            <a:off x="5473322" y="37396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119"/>
          <p:cNvSpPr txBox="1"/>
          <p:nvPr>
            <p:ph idx="4294967295" type="body"/>
          </p:nvPr>
        </p:nvSpPr>
        <p:spPr>
          <a:xfrm rot="-5400000">
            <a:off x="2407335" y="2476100"/>
            <a:ext cx="32649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917" name="Google Shape;1917;p119"/>
          <p:cNvSpPr txBox="1"/>
          <p:nvPr>
            <p:ph idx="4294967295" type="body"/>
          </p:nvPr>
        </p:nvSpPr>
        <p:spPr>
          <a:xfrm rot="-5400000">
            <a:off x="2092035" y="2486600"/>
            <a:ext cx="3264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918" name="Google Shape;1918;p119"/>
          <p:cNvSpPr/>
          <p:nvPr/>
        </p:nvSpPr>
        <p:spPr>
          <a:xfrm>
            <a:off x="36460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19"/>
          <p:cNvSpPr/>
          <p:nvPr/>
        </p:nvSpPr>
        <p:spPr>
          <a:xfrm>
            <a:off x="42404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19"/>
          <p:cNvSpPr/>
          <p:nvPr/>
        </p:nvSpPr>
        <p:spPr>
          <a:xfrm>
            <a:off x="39558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1" name="Google Shape;1921;p119"/>
          <p:cNvCxnSpPr/>
          <p:nvPr/>
        </p:nvCxnSpPr>
        <p:spPr>
          <a:xfrm rot="10800000">
            <a:off x="8103381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2" name="Google Shape;1922;p119"/>
          <p:cNvSpPr txBox="1"/>
          <p:nvPr>
            <p:ph idx="4294967295" type="body"/>
          </p:nvPr>
        </p:nvSpPr>
        <p:spPr>
          <a:xfrm rot="5400000">
            <a:off x="7408067" y="2931525"/>
            <a:ext cx="2577300" cy="2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1923" name="Google Shape;1923;p119"/>
          <p:cNvSpPr/>
          <p:nvPr/>
        </p:nvSpPr>
        <p:spPr>
          <a:xfrm>
            <a:off x="8605215" y="40414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19"/>
          <p:cNvSpPr/>
          <p:nvPr/>
        </p:nvSpPr>
        <p:spPr>
          <a:xfrm>
            <a:off x="5392575" y="18473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19"/>
          <p:cNvSpPr/>
          <p:nvPr/>
        </p:nvSpPr>
        <p:spPr>
          <a:xfrm>
            <a:off x="5925969" y="18551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19"/>
          <p:cNvSpPr/>
          <p:nvPr/>
        </p:nvSpPr>
        <p:spPr>
          <a:xfrm>
            <a:off x="6450839" y="18918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19"/>
          <p:cNvSpPr/>
          <p:nvPr/>
        </p:nvSpPr>
        <p:spPr>
          <a:xfrm>
            <a:off x="6983388" y="18518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19"/>
          <p:cNvSpPr/>
          <p:nvPr/>
        </p:nvSpPr>
        <p:spPr>
          <a:xfrm>
            <a:off x="7510732" y="18970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9" name="Google Shape;1929;p119"/>
          <p:cNvCxnSpPr>
            <a:stCxn id="1924" idx="3"/>
            <a:endCxn id="1925" idx="1"/>
          </p:cNvCxnSpPr>
          <p:nvPr/>
        </p:nvCxnSpPr>
        <p:spPr>
          <a:xfrm>
            <a:off x="5485875" y="18940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0" name="Google Shape;1930;p119"/>
          <p:cNvCxnSpPr>
            <a:stCxn id="1926" idx="1"/>
            <a:endCxn id="1925" idx="3"/>
          </p:cNvCxnSpPr>
          <p:nvPr/>
        </p:nvCxnSpPr>
        <p:spPr>
          <a:xfrm rot="10800000">
            <a:off x="6019139" y="19018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119"/>
          <p:cNvCxnSpPr>
            <a:stCxn id="1927" idx="1"/>
            <a:endCxn id="1926" idx="3"/>
          </p:cNvCxnSpPr>
          <p:nvPr/>
        </p:nvCxnSpPr>
        <p:spPr>
          <a:xfrm flipH="1">
            <a:off x="6544188" y="18985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119"/>
          <p:cNvCxnSpPr>
            <a:stCxn id="1928" idx="1"/>
            <a:endCxn id="1927" idx="3"/>
          </p:cNvCxnSpPr>
          <p:nvPr/>
        </p:nvCxnSpPr>
        <p:spPr>
          <a:xfrm rot="10800000">
            <a:off x="7076632" y="18984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5" name="Google Shape;1915;p119"/>
          <p:cNvSpPr/>
          <p:nvPr/>
        </p:nvSpPr>
        <p:spPr>
          <a:xfrm>
            <a:off x="5929844" y="3779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119"/>
          <p:cNvSpPr/>
          <p:nvPr/>
        </p:nvSpPr>
        <p:spPr>
          <a:xfrm>
            <a:off x="6459566" y="4000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19"/>
          <p:cNvSpPr/>
          <p:nvPr/>
        </p:nvSpPr>
        <p:spPr>
          <a:xfrm>
            <a:off x="6989289" y="39242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19"/>
          <p:cNvSpPr/>
          <p:nvPr/>
        </p:nvSpPr>
        <p:spPr>
          <a:xfrm>
            <a:off x="7522689" y="38948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6" name="Google Shape;1936;p119"/>
          <p:cNvCxnSpPr>
            <a:stCxn id="1915" idx="5"/>
            <a:endCxn id="1933" idx="2"/>
          </p:cNvCxnSpPr>
          <p:nvPr/>
        </p:nvCxnSpPr>
        <p:spPr>
          <a:xfrm>
            <a:off x="5992324" y="38417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119"/>
          <p:cNvCxnSpPr>
            <a:endCxn id="1934" idx="2"/>
          </p:cNvCxnSpPr>
          <p:nvPr/>
        </p:nvCxnSpPr>
        <p:spPr>
          <a:xfrm flipH="1" rot="10800000">
            <a:off x="6532689" y="39608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8" name="Google Shape;1938;p119"/>
          <p:cNvCxnSpPr>
            <a:endCxn id="1935" idx="2"/>
          </p:cNvCxnSpPr>
          <p:nvPr/>
        </p:nvCxnSpPr>
        <p:spPr>
          <a:xfrm flipH="1" rot="10800000">
            <a:off x="7064289" y="39314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9" name="Google Shape;1939;p119"/>
          <p:cNvSpPr txBox="1"/>
          <p:nvPr>
            <p:ph idx="4294967295" type="body"/>
          </p:nvPr>
        </p:nvSpPr>
        <p:spPr>
          <a:xfrm>
            <a:off x="6134874" y="4487086"/>
            <a:ext cx="453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day</a:t>
            </a:r>
            <a:endParaRPr sz="1600"/>
          </a:p>
        </p:txBody>
      </p:sp>
      <p:sp>
        <p:nvSpPr>
          <p:cNvPr id="1940" name="Google Shape;1940;p119"/>
          <p:cNvSpPr txBox="1"/>
          <p:nvPr>
            <p:ph idx="1" type="body"/>
          </p:nvPr>
        </p:nvSpPr>
        <p:spPr>
          <a:xfrm>
            <a:off x="324000" y="1216500"/>
            <a:ext cx="31197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e) Describe the trend in their </a:t>
            </a:r>
            <a:br>
              <a:rPr lang="en-GB" sz="1600"/>
            </a:br>
            <a:r>
              <a:rPr lang="en-GB" sz="1600"/>
              <a:t>    blood pressure over the </a:t>
            </a:r>
            <a:br>
              <a:rPr lang="en-GB" sz="1600"/>
            </a:br>
            <a:r>
              <a:rPr lang="en-GB" sz="1600"/>
              <a:t>    five days.</a:t>
            </a:r>
            <a:endParaRPr sz="1600"/>
          </a:p>
        </p:txBody>
      </p:sp>
      <p:sp>
        <p:nvSpPr>
          <p:cNvPr id="1941" name="Google Shape;1941;p119"/>
          <p:cNvSpPr txBox="1"/>
          <p:nvPr>
            <p:ph idx="1" type="body"/>
          </p:nvPr>
        </p:nvSpPr>
        <p:spPr>
          <a:xfrm>
            <a:off x="324000" y="2467101"/>
            <a:ext cx="3045600" cy="17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f) A healthy blood pressure  </a:t>
            </a:r>
            <a:br>
              <a:rPr lang="en-GB" sz="1600"/>
            </a:br>
            <a:r>
              <a:rPr lang="en-GB" sz="1600"/>
              <a:t>    recording is around 120</a:t>
            </a:r>
            <a:br>
              <a:rPr lang="en-GB" sz="1600"/>
            </a:br>
            <a:r>
              <a:rPr lang="en-GB" sz="1600"/>
              <a:t>                                       70</a:t>
            </a:r>
            <a:br>
              <a:rPr lang="en-GB" sz="1600"/>
            </a:br>
            <a:r>
              <a:rPr lang="en-GB" sz="1600"/>
              <a:t>   On what day(s) is the  </a:t>
            </a:r>
            <a:br>
              <a:rPr lang="en-GB" sz="1600"/>
            </a:br>
            <a:r>
              <a:rPr lang="en-GB" sz="1600"/>
              <a:t>   patient’s blood pressure </a:t>
            </a:r>
            <a:br>
              <a:rPr lang="en-GB" sz="1600"/>
            </a:br>
            <a:r>
              <a:rPr lang="en-GB" sz="1600"/>
              <a:t>   around these levels?</a:t>
            </a:r>
            <a:endParaRPr sz="1600"/>
          </a:p>
        </p:txBody>
      </p:sp>
      <p:cxnSp>
        <p:nvCxnSpPr>
          <p:cNvPr id="1942" name="Google Shape;1942;p119"/>
          <p:cNvCxnSpPr/>
          <p:nvPr/>
        </p:nvCxnSpPr>
        <p:spPr>
          <a:xfrm>
            <a:off x="2533050" y="3004685"/>
            <a:ext cx="345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43" name="Google Shape;1943;p119"/>
          <p:cNvGrpSpPr/>
          <p:nvPr/>
        </p:nvGrpSpPr>
        <p:grpSpPr>
          <a:xfrm>
            <a:off x="5406424" y="2807437"/>
            <a:ext cx="2201272" cy="382527"/>
            <a:chOff x="5406424" y="2807437"/>
            <a:chExt cx="2201272" cy="382527"/>
          </a:xfrm>
        </p:grpSpPr>
        <p:sp>
          <p:nvSpPr>
            <p:cNvPr id="1944" name="Google Shape;1944;p119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45" name="Google Shape;1945;p119"/>
            <p:cNvCxnSpPr>
              <a:stCxn id="1944" idx="5"/>
              <a:endCxn id="1946" idx="1"/>
            </p:cNvCxnSpPr>
            <p:nvPr/>
          </p:nvCxnSpPr>
          <p:spPr>
            <a:xfrm>
              <a:off x="5472574" y="2845537"/>
              <a:ext cx="482100" cy="77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6" name="Google Shape;1946;p119"/>
            <p:cNvSpPr/>
            <p:nvPr/>
          </p:nvSpPr>
          <p:spPr>
            <a:xfrm>
              <a:off x="5932479" y="28851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7" name="Google Shape;1947;p119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8" name="Google Shape;1948;p119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9" name="Google Shape;1949;p119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0" name="Google Shape;1950;p119"/>
            <p:cNvCxnSpPr>
              <a:stCxn id="1946" idx="5"/>
              <a:endCxn id="1947" idx="1"/>
            </p:cNvCxnSpPr>
            <p:nvPr/>
          </p:nvCxnSpPr>
          <p:spPr>
            <a:xfrm>
              <a:off x="5998629" y="2923265"/>
              <a:ext cx="487200" cy="24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1" name="Google Shape;1951;p119"/>
            <p:cNvCxnSpPr>
              <a:stCxn id="1947" idx="5"/>
              <a:endCxn id="1948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2" name="Google Shape;1952;p119"/>
            <p:cNvCxnSpPr>
              <a:stCxn id="1948" idx="5"/>
              <a:endCxn id="1949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3" name="Google Shape;1953;p119"/>
          <p:cNvSpPr txBox="1"/>
          <p:nvPr>
            <p:ph idx="4294967295" type="body"/>
          </p:nvPr>
        </p:nvSpPr>
        <p:spPr>
          <a:xfrm>
            <a:off x="8180765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954" name="Google Shape;1954;p119"/>
          <p:cNvSpPr txBox="1"/>
          <p:nvPr>
            <p:ph idx="4294967295" type="body"/>
          </p:nvPr>
        </p:nvSpPr>
        <p:spPr>
          <a:xfrm>
            <a:off x="8180765" y="378860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55" name="Google Shape;1955;p119"/>
          <p:cNvSpPr txBox="1"/>
          <p:nvPr>
            <p:ph idx="4294967295" type="body"/>
          </p:nvPr>
        </p:nvSpPr>
        <p:spPr>
          <a:xfrm>
            <a:off x="8180765" y="349284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956" name="Google Shape;1956;p119"/>
          <p:cNvSpPr txBox="1"/>
          <p:nvPr>
            <p:ph idx="4294967295" type="body"/>
          </p:nvPr>
        </p:nvSpPr>
        <p:spPr>
          <a:xfrm>
            <a:off x="8180765" y="319709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957" name="Google Shape;1957;p119"/>
          <p:cNvSpPr txBox="1"/>
          <p:nvPr>
            <p:ph idx="4294967295" type="body"/>
          </p:nvPr>
        </p:nvSpPr>
        <p:spPr>
          <a:xfrm>
            <a:off x="8180765" y="290133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958" name="Google Shape;1958;p119"/>
          <p:cNvSpPr txBox="1"/>
          <p:nvPr>
            <p:ph idx="4294967295" type="body"/>
          </p:nvPr>
        </p:nvSpPr>
        <p:spPr>
          <a:xfrm>
            <a:off x="8180765" y="260558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1959" name="Google Shape;1959;p119"/>
          <p:cNvSpPr txBox="1"/>
          <p:nvPr>
            <p:ph idx="4294967295" type="body"/>
          </p:nvPr>
        </p:nvSpPr>
        <p:spPr>
          <a:xfrm>
            <a:off x="8180765" y="230982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960" name="Google Shape;1960;p119"/>
          <p:cNvSpPr txBox="1"/>
          <p:nvPr>
            <p:ph idx="4294967295" type="body"/>
          </p:nvPr>
        </p:nvSpPr>
        <p:spPr>
          <a:xfrm>
            <a:off x="8180765" y="201407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1961" name="Google Shape;1961;p119"/>
          <p:cNvSpPr txBox="1"/>
          <p:nvPr>
            <p:ph idx="4294967295" type="body"/>
          </p:nvPr>
        </p:nvSpPr>
        <p:spPr>
          <a:xfrm>
            <a:off x="8180765" y="171831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962" name="Google Shape;1962;p119"/>
          <p:cNvSpPr txBox="1"/>
          <p:nvPr>
            <p:ph idx="4294967295" type="body"/>
          </p:nvPr>
        </p:nvSpPr>
        <p:spPr>
          <a:xfrm>
            <a:off x="8180765" y="1422559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7" name="Google Shape;1967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25" y="1530200"/>
            <a:ext cx="3194450" cy="26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graph shows a patient’s vital signs over five days.</a:t>
            </a:r>
            <a:endParaRPr sz="1600"/>
          </a:p>
        </p:txBody>
      </p:sp>
      <p:sp>
        <p:nvSpPr>
          <p:cNvPr id="1969" name="Google Shape;1969;p12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1970" name="Google Shape;1970;p120"/>
          <p:cNvCxnSpPr/>
          <p:nvPr/>
        </p:nvCxnSpPr>
        <p:spPr>
          <a:xfrm rot="10800000">
            <a:off x="4904116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1" name="Google Shape;1971;p120"/>
          <p:cNvCxnSpPr/>
          <p:nvPr/>
        </p:nvCxnSpPr>
        <p:spPr>
          <a:xfrm>
            <a:off x="4904116" y="4194999"/>
            <a:ext cx="32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120"/>
          <p:cNvSpPr txBox="1"/>
          <p:nvPr>
            <p:ph idx="4294967295" type="body"/>
          </p:nvPr>
        </p:nvSpPr>
        <p:spPr>
          <a:xfrm rot="-5400000">
            <a:off x="2706885" y="2481350"/>
            <a:ext cx="32649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1973" name="Google Shape;1973;p120"/>
          <p:cNvSpPr txBox="1"/>
          <p:nvPr>
            <p:ph idx="4294967295" type="body"/>
          </p:nvPr>
        </p:nvSpPr>
        <p:spPr>
          <a:xfrm>
            <a:off x="534879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endParaRPr sz="1600"/>
          </a:p>
        </p:txBody>
      </p:sp>
      <p:sp>
        <p:nvSpPr>
          <p:cNvPr id="1974" name="Google Shape;1974;p120"/>
          <p:cNvSpPr txBox="1"/>
          <p:nvPr>
            <p:ph idx="4294967295" type="body"/>
          </p:nvPr>
        </p:nvSpPr>
        <p:spPr>
          <a:xfrm>
            <a:off x="5868659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</a:t>
            </a:r>
            <a:endParaRPr sz="1600"/>
          </a:p>
        </p:txBody>
      </p:sp>
      <p:sp>
        <p:nvSpPr>
          <p:cNvPr id="1975" name="Google Shape;1975;p120"/>
          <p:cNvSpPr txBox="1"/>
          <p:nvPr>
            <p:ph idx="4294967295" type="body"/>
          </p:nvPr>
        </p:nvSpPr>
        <p:spPr>
          <a:xfrm>
            <a:off x="645133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1976" name="Google Shape;1976;p120"/>
          <p:cNvSpPr txBox="1"/>
          <p:nvPr>
            <p:ph idx="4294967295" type="body"/>
          </p:nvPr>
        </p:nvSpPr>
        <p:spPr>
          <a:xfrm>
            <a:off x="6929331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</a:t>
            </a:r>
            <a:endParaRPr sz="1600"/>
          </a:p>
        </p:txBody>
      </p:sp>
      <p:sp>
        <p:nvSpPr>
          <p:cNvPr id="1977" name="Google Shape;1977;p120"/>
          <p:cNvSpPr txBox="1"/>
          <p:nvPr>
            <p:ph idx="4294967295" type="body"/>
          </p:nvPr>
        </p:nvSpPr>
        <p:spPr>
          <a:xfrm>
            <a:off x="7512003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978" name="Google Shape;1978;p120"/>
          <p:cNvSpPr txBox="1"/>
          <p:nvPr>
            <p:ph idx="4294967295" type="body"/>
          </p:nvPr>
        </p:nvSpPr>
        <p:spPr>
          <a:xfrm>
            <a:off x="4452200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979" name="Google Shape;1979;p120"/>
          <p:cNvSpPr txBox="1"/>
          <p:nvPr>
            <p:ph idx="4294967295" type="body"/>
          </p:nvPr>
        </p:nvSpPr>
        <p:spPr>
          <a:xfrm>
            <a:off x="4452200" y="379238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980" name="Google Shape;1980;p120"/>
          <p:cNvSpPr txBox="1"/>
          <p:nvPr>
            <p:ph idx="4294967295" type="body"/>
          </p:nvPr>
        </p:nvSpPr>
        <p:spPr>
          <a:xfrm>
            <a:off x="4452200" y="350040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981" name="Google Shape;1981;p120"/>
          <p:cNvSpPr txBox="1"/>
          <p:nvPr>
            <p:ph idx="4294967295" type="body"/>
          </p:nvPr>
        </p:nvSpPr>
        <p:spPr>
          <a:xfrm>
            <a:off x="4452200" y="320843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982" name="Google Shape;1982;p120"/>
          <p:cNvSpPr txBox="1"/>
          <p:nvPr>
            <p:ph idx="4294967295" type="body"/>
          </p:nvPr>
        </p:nvSpPr>
        <p:spPr>
          <a:xfrm>
            <a:off x="4452200" y="291645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1983" name="Google Shape;1983;p120"/>
          <p:cNvSpPr txBox="1"/>
          <p:nvPr>
            <p:ph idx="4294967295" type="body"/>
          </p:nvPr>
        </p:nvSpPr>
        <p:spPr>
          <a:xfrm>
            <a:off x="4452200" y="262448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984" name="Google Shape;1984;p120"/>
          <p:cNvSpPr txBox="1"/>
          <p:nvPr>
            <p:ph idx="4294967295" type="body"/>
          </p:nvPr>
        </p:nvSpPr>
        <p:spPr>
          <a:xfrm>
            <a:off x="4452200" y="2332504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1985" name="Google Shape;1985;p120"/>
          <p:cNvSpPr txBox="1"/>
          <p:nvPr>
            <p:ph idx="4294967295" type="body"/>
          </p:nvPr>
        </p:nvSpPr>
        <p:spPr>
          <a:xfrm>
            <a:off x="4452200" y="204052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1986" name="Google Shape;1986;p120"/>
          <p:cNvSpPr txBox="1"/>
          <p:nvPr>
            <p:ph idx="4294967295" type="body"/>
          </p:nvPr>
        </p:nvSpPr>
        <p:spPr>
          <a:xfrm>
            <a:off x="4452200" y="1748553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1987" name="Google Shape;1987;p120"/>
          <p:cNvSpPr txBox="1"/>
          <p:nvPr>
            <p:ph idx="4294967295" type="body"/>
          </p:nvPr>
        </p:nvSpPr>
        <p:spPr>
          <a:xfrm>
            <a:off x="4452200" y="145657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1988" name="Google Shape;1988;p120"/>
          <p:cNvSpPr/>
          <p:nvPr/>
        </p:nvSpPr>
        <p:spPr>
          <a:xfrm>
            <a:off x="5374725" y="21388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20"/>
          <p:cNvSpPr/>
          <p:nvPr/>
        </p:nvSpPr>
        <p:spPr>
          <a:xfrm>
            <a:off x="5902925" y="22563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20"/>
          <p:cNvSpPr/>
          <p:nvPr/>
        </p:nvSpPr>
        <p:spPr>
          <a:xfrm>
            <a:off x="6437100" y="23854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20"/>
          <p:cNvSpPr/>
          <p:nvPr/>
        </p:nvSpPr>
        <p:spPr>
          <a:xfrm>
            <a:off x="6956725" y="23854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20"/>
          <p:cNvSpPr/>
          <p:nvPr/>
        </p:nvSpPr>
        <p:spPr>
          <a:xfrm>
            <a:off x="7485925" y="24200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120"/>
          <p:cNvSpPr/>
          <p:nvPr/>
        </p:nvSpPr>
        <p:spPr>
          <a:xfrm>
            <a:off x="5400122" y="37030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4" name="Google Shape;1994;p120"/>
          <p:cNvCxnSpPr>
            <a:stCxn id="1993" idx="6"/>
            <a:endCxn id="1995" idx="2"/>
          </p:cNvCxnSpPr>
          <p:nvPr/>
        </p:nvCxnSpPr>
        <p:spPr>
          <a:xfrm>
            <a:off x="5473322" y="37396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6" name="Google Shape;1996;p120"/>
          <p:cNvSpPr txBox="1"/>
          <p:nvPr>
            <p:ph idx="4294967295" type="body"/>
          </p:nvPr>
        </p:nvSpPr>
        <p:spPr>
          <a:xfrm rot="-5400000">
            <a:off x="2407335" y="2476100"/>
            <a:ext cx="32649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1997" name="Google Shape;1997;p120"/>
          <p:cNvSpPr txBox="1"/>
          <p:nvPr>
            <p:ph idx="4294967295" type="body"/>
          </p:nvPr>
        </p:nvSpPr>
        <p:spPr>
          <a:xfrm rot="-5400000">
            <a:off x="2092035" y="2486600"/>
            <a:ext cx="3264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1998" name="Google Shape;1998;p120"/>
          <p:cNvSpPr/>
          <p:nvPr/>
        </p:nvSpPr>
        <p:spPr>
          <a:xfrm>
            <a:off x="36460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20"/>
          <p:cNvSpPr/>
          <p:nvPr/>
        </p:nvSpPr>
        <p:spPr>
          <a:xfrm>
            <a:off x="42404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20"/>
          <p:cNvSpPr/>
          <p:nvPr/>
        </p:nvSpPr>
        <p:spPr>
          <a:xfrm>
            <a:off x="39558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1" name="Google Shape;2001;p120"/>
          <p:cNvCxnSpPr/>
          <p:nvPr/>
        </p:nvCxnSpPr>
        <p:spPr>
          <a:xfrm rot="10800000">
            <a:off x="8103381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2" name="Google Shape;2002;p120"/>
          <p:cNvSpPr txBox="1"/>
          <p:nvPr>
            <p:ph idx="4294967295" type="body"/>
          </p:nvPr>
        </p:nvSpPr>
        <p:spPr>
          <a:xfrm rot="5400000">
            <a:off x="7408067" y="2931525"/>
            <a:ext cx="2577300" cy="2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2003" name="Google Shape;2003;p120"/>
          <p:cNvSpPr/>
          <p:nvPr/>
        </p:nvSpPr>
        <p:spPr>
          <a:xfrm>
            <a:off x="8605215" y="40414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20"/>
          <p:cNvSpPr/>
          <p:nvPr/>
        </p:nvSpPr>
        <p:spPr>
          <a:xfrm>
            <a:off x="5392575" y="18473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20"/>
          <p:cNvSpPr/>
          <p:nvPr/>
        </p:nvSpPr>
        <p:spPr>
          <a:xfrm>
            <a:off x="5925969" y="18551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20"/>
          <p:cNvSpPr/>
          <p:nvPr/>
        </p:nvSpPr>
        <p:spPr>
          <a:xfrm>
            <a:off x="6450839" y="18918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20"/>
          <p:cNvSpPr/>
          <p:nvPr/>
        </p:nvSpPr>
        <p:spPr>
          <a:xfrm>
            <a:off x="6983388" y="18518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20"/>
          <p:cNvSpPr/>
          <p:nvPr/>
        </p:nvSpPr>
        <p:spPr>
          <a:xfrm>
            <a:off x="7510732" y="18970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9" name="Google Shape;2009;p120"/>
          <p:cNvCxnSpPr>
            <a:stCxn id="2004" idx="3"/>
            <a:endCxn id="2005" idx="1"/>
          </p:cNvCxnSpPr>
          <p:nvPr/>
        </p:nvCxnSpPr>
        <p:spPr>
          <a:xfrm>
            <a:off x="5485875" y="18940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0" name="Google Shape;2010;p120"/>
          <p:cNvCxnSpPr>
            <a:stCxn id="2006" idx="1"/>
            <a:endCxn id="2005" idx="3"/>
          </p:cNvCxnSpPr>
          <p:nvPr/>
        </p:nvCxnSpPr>
        <p:spPr>
          <a:xfrm rot="10800000">
            <a:off x="6019139" y="19018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1" name="Google Shape;2011;p120"/>
          <p:cNvCxnSpPr>
            <a:stCxn id="2007" idx="1"/>
            <a:endCxn id="2006" idx="3"/>
          </p:cNvCxnSpPr>
          <p:nvPr/>
        </p:nvCxnSpPr>
        <p:spPr>
          <a:xfrm flipH="1">
            <a:off x="6544188" y="18985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2" name="Google Shape;2012;p120"/>
          <p:cNvCxnSpPr>
            <a:stCxn id="2008" idx="1"/>
            <a:endCxn id="2007" idx="3"/>
          </p:cNvCxnSpPr>
          <p:nvPr/>
        </p:nvCxnSpPr>
        <p:spPr>
          <a:xfrm rot="10800000">
            <a:off x="7076632" y="18984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5" name="Google Shape;1995;p120"/>
          <p:cNvSpPr/>
          <p:nvPr/>
        </p:nvSpPr>
        <p:spPr>
          <a:xfrm>
            <a:off x="5929844" y="3779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120"/>
          <p:cNvSpPr/>
          <p:nvPr/>
        </p:nvSpPr>
        <p:spPr>
          <a:xfrm>
            <a:off x="6459566" y="4000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120"/>
          <p:cNvSpPr/>
          <p:nvPr/>
        </p:nvSpPr>
        <p:spPr>
          <a:xfrm>
            <a:off x="6989289" y="39242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120"/>
          <p:cNvSpPr/>
          <p:nvPr/>
        </p:nvSpPr>
        <p:spPr>
          <a:xfrm>
            <a:off x="7522689" y="38948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6" name="Google Shape;2016;p120"/>
          <p:cNvCxnSpPr>
            <a:stCxn id="1995" idx="5"/>
            <a:endCxn id="2013" idx="2"/>
          </p:cNvCxnSpPr>
          <p:nvPr/>
        </p:nvCxnSpPr>
        <p:spPr>
          <a:xfrm>
            <a:off x="5992324" y="38417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7" name="Google Shape;2017;p120"/>
          <p:cNvCxnSpPr>
            <a:endCxn id="2014" idx="2"/>
          </p:cNvCxnSpPr>
          <p:nvPr/>
        </p:nvCxnSpPr>
        <p:spPr>
          <a:xfrm flipH="1" rot="10800000">
            <a:off x="6532689" y="39608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8" name="Google Shape;2018;p120"/>
          <p:cNvCxnSpPr>
            <a:endCxn id="2015" idx="2"/>
          </p:cNvCxnSpPr>
          <p:nvPr/>
        </p:nvCxnSpPr>
        <p:spPr>
          <a:xfrm flipH="1" rot="10800000">
            <a:off x="7064289" y="39314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19" name="Google Shape;2019;p120"/>
          <p:cNvGrpSpPr/>
          <p:nvPr/>
        </p:nvGrpSpPr>
        <p:grpSpPr>
          <a:xfrm>
            <a:off x="5406424" y="2807437"/>
            <a:ext cx="2201272" cy="382527"/>
            <a:chOff x="5406424" y="2807437"/>
            <a:chExt cx="2201272" cy="382527"/>
          </a:xfrm>
        </p:grpSpPr>
        <p:sp>
          <p:nvSpPr>
            <p:cNvPr id="2020" name="Google Shape;2020;p120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21" name="Google Shape;2021;p120"/>
            <p:cNvCxnSpPr>
              <a:stCxn id="2020" idx="5"/>
              <a:endCxn id="2022" idx="1"/>
            </p:cNvCxnSpPr>
            <p:nvPr/>
          </p:nvCxnSpPr>
          <p:spPr>
            <a:xfrm>
              <a:off x="5472574" y="2845537"/>
              <a:ext cx="482100" cy="77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2" name="Google Shape;2022;p120"/>
            <p:cNvSpPr/>
            <p:nvPr/>
          </p:nvSpPr>
          <p:spPr>
            <a:xfrm>
              <a:off x="5932479" y="28851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3" name="Google Shape;2023;p120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4" name="Google Shape;2024;p120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5" name="Google Shape;2025;p120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26" name="Google Shape;2026;p120"/>
            <p:cNvCxnSpPr>
              <a:stCxn id="2022" idx="5"/>
              <a:endCxn id="2023" idx="1"/>
            </p:cNvCxnSpPr>
            <p:nvPr/>
          </p:nvCxnSpPr>
          <p:spPr>
            <a:xfrm>
              <a:off x="5998629" y="2923265"/>
              <a:ext cx="487200" cy="24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7" name="Google Shape;2027;p120"/>
            <p:cNvCxnSpPr>
              <a:stCxn id="2023" idx="5"/>
              <a:endCxn id="2024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120"/>
            <p:cNvCxnSpPr>
              <a:stCxn id="2024" idx="5"/>
              <a:endCxn id="2025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9" name="Google Shape;2029;p120"/>
          <p:cNvSpPr txBox="1"/>
          <p:nvPr>
            <p:ph idx="4294967295" type="body"/>
          </p:nvPr>
        </p:nvSpPr>
        <p:spPr>
          <a:xfrm>
            <a:off x="6134874" y="4487086"/>
            <a:ext cx="453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day</a:t>
            </a:r>
            <a:endParaRPr sz="1600"/>
          </a:p>
        </p:txBody>
      </p:sp>
      <p:sp>
        <p:nvSpPr>
          <p:cNvPr id="2030" name="Google Shape;2030;p120"/>
          <p:cNvSpPr txBox="1"/>
          <p:nvPr>
            <p:ph idx="1" type="body"/>
          </p:nvPr>
        </p:nvSpPr>
        <p:spPr>
          <a:xfrm>
            <a:off x="324000" y="1216500"/>
            <a:ext cx="34404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On what day was their </a:t>
            </a:r>
            <a:br>
              <a:rPr lang="en-GB" sz="1600"/>
            </a:br>
            <a:r>
              <a:rPr lang="en-GB" sz="1600"/>
              <a:t>    respiratory rate at its lowest?</a:t>
            </a:r>
            <a:endParaRPr sz="1600"/>
          </a:p>
        </p:txBody>
      </p:sp>
      <p:sp>
        <p:nvSpPr>
          <p:cNvPr id="2031" name="Google Shape;2031;p120"/>
          <p:cNvSpPr txBox="1"/>
          <p:nvPr>
            <p:ph idx="1" type="body"/>
          </p:nvPr>
        </p:nvSpPr>
        <p:spPr>
          <a:xfrm>
            <a:off x="324000" y="2892900"/>
            <a:ext cx="30456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What was their heart </a:t>
            </a:r>
            <a:br>
              <a:rPr lang="en-GB" sz="1600"/>
            </a:br>
            <a:r>
              <a:rPr lang="en-GB" sz="1600"/>
              <a:t>     rate on Tuesday?</a:t>
            </a:r>
            <a:endParaRPr sz="1600"/>
          </a:p>
        </p:txBody>
      </p:sp>
      <p:sp>
        <p:nvSpPr>
          <p:cNvPr id="2032" name="Google Shape;2032;p120"/>
          <p:cNvSpPr txBox="1"/>
          <p:nvPr>
            <p:ph idx="1" type="body"/>
          </p:nvPr>
        </p:nvSpPr>
        <p:spPr>
          <a:xfrm>
            <a:off x="628800" y="1978500"/>
            <a:ext cx="12219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Wednesday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3" name="Google Shape;2033;p120"/>
          <p:cNvSpPr txBox="1"/>
          <p:nvPr>
            <p:ph idx="1" type="body"/>
          </p:nvPr>
        </p:nvSpPr>
        <p:spPr>
          <a:xfrm>
            <a:off x="628800" y="3578700"/>
            <a:ext cx="20505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84 beats per minute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4" name="Google Shape;2034;p120"/>
          <p:cNvSpPr txBox="1"/>
          <p:nvPr>
            <p:ph idx="4294967295" type="body"/>
          </p:nvPr>
        </p:nvSpPr>
        <p:spPr>
          <a:xfrm>
            <a:off x="8180765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035" name="Google Shape;2035;p120"/>
          <p:cNvSpPr txBox="1"/>
          <p:nvPr>
            <p:ph idx="4294967295" type="body"/>
          </p:nvPr>
        </p:nvSpPr>
        <p:spPr>
          <a:xfrm>
            <a:off x="8180765" y="378860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2036" name="Google Shape;2036;p120"/>
          <p:cNvSpPr txBox="1"/>
          <p:nvPr>
            <p:ph idx="4294967295" type="body"/>
          </p:nvPr>
        </p:nvSpPr>
        <p:spPr>
          <a:xfrm>
            <a:off x="8180765" y="349284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2037" name="Google Shape;2037;p120"/>
          <p:cNvSpPr txBox="1"/>
          <p:nvPr>
            <p:ph idx="4294967295" type="body"/>
          </p:nvPr>
        </p:nvSpPr>
        <p:spPr>
          <a:xfrm>
            <a:off x="8180765" y="319709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2038" name="Google Shape;2038;p120"/>
          <p:cNvSpPr txBox="1"/>
          <p:nvPr>
            <p:ph idx="4294967295" type="body"/>
          </p:nvPr>
        </p:nvSpPr>
        <p:spPr>
          <a:xfrm>
            <a:off x="8180765" y="290133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039" name="Google Shape;2039;p120"/>
          <p:cNvSpPr txBox="1"/>
          <p:nvPr>
            <p:ph idx="4294967295" type="body"/>
          </p:nvPr>
        </p:nvSpPr>
        <p:spPr>
          <a:xfrm>
            <a:off x="8180765" y="260558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2040" name="Google Shape;2040;p120"/>
          <p:cNvSpPr txBox="1"/>
          <p:nvPr>
            <p:ph idx="4294967295" type="body"/>
          </p:nvPr>
        </p:nvSpPr>
        <p:spPr>
          <a:xfrm>
            <a:off x="8180765" y="230982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2041" name="Google Shape;2041;p120"/>
          <p:cNvSpPr txBox="1"/>
          <p:nvPr>
            <p:ph idx="4294967295" type="body"/>
          </p:nvPr>
        </p:nvSpPr>
        <p:spPr>
          <a:xfrm>
            <a:off x="8180765" y="201407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2042" name="Google Shape;2042;p120"/>
          <p:cNvSpPr txBox="1"/>
          <p:nvPr>
            <p:ph idx="4294967295" type="body"/>
          </p:nvPr>
        </p:nvSpPr>
        <p:spPr>
          <a:xfrm>
            <a:off x="8180765" y="171831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043" name="Google Shape;2043;p120"/>
          <p:cNvSpPr txBox="1"/>
          <p:nvPr>
            <p:ph idx="4294967295" type="body"/>
          </p:nvPr>
        </p:nvSpPr>
        <p:spPr>
          <a:xfrm>
            <a:off x="8180765" y="1422559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" name="Google Shape;2048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25" y="1530200"/>
            <a:ext cx="3194450" cy="26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graph shows a patient’s vital signs over five days.</a:t>
            </a:r>
            <a:endParaRPr sz="1600"/>
          </a:p>
        </p:txBody>
      </p:sp>
      <p:sp>
        <p:nvSpPr>
          <p:cNvPr id="2050" name="Google Shape;2050;p1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2051" name="Google Shape;2051;p121"/>
          <p:cNvCxnSpPr/>
          <p:nvPr/>
        </p:nvCxnSpPr>
        <p:spPr>
          <a:xfrm rot="10800000">
            <a:off x="4904116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2" name="Google Shape;2052;p121"/>
          <p:cNvCxnSpPr/>
          <p:nvPr/>
        </p:nvCxnSpPr>
        <p:spPr>
          <a:xfrm>
            <a:off x="4904116" y="4194999"/>
            <a:ext cx="32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3" name="Google Shape;2053;p121"/>
          <p:cNvSpPr txBox="1"/>
          <p:nvPr>
            <p:ph idx="4294967295" type="body"/>
          </p:nvPr>
        </p:nvSpPr>
        <p:spPr>
          <a:xfrm rot="-5400000">
            <a:off x="2706885" y="2481350"/>
            <a:ext cx="32649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2054" name="Google Shape;2054;p121"/>
          <p:cNvSpPr txBox="1"/>
          <p:nvPr>
            <p:ph idx="4294967295" type="body"/>
          </p:nvPr>
        </p:nvSpPr>
        <p:spPr>
          <a:xfrm>
            <a:off x="534879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endParaRPr sz="1600"/>
          </a:p>
        </p:txBody>
      </p:sp>
      <p:sp>
        <p:nvSpPr>
          <p:cNvPr id="2055" name="Google Shape;2055;p121"/>
          <p:cNvSpPr txBox="1"/>
          <p:nvPr>
            <p:ph idx="4294967295" type="body"/>
          </p:nvPr>
        </p:nvSpPr>
        <p:spPr>
          <a:xfrm>
            <a:off x="5868659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</a:t>
            </a:r>
            <a:endParaRPr sz="1600"/>
          </a:p>
        </p:txBody>
      </p:sp>
      <p:sp>
        <p:nvSpPr>
          <p:cNvPr id="2056" name="Google Shape;2056;p121"/>
          <p:cNvSpPr txBox="1"/>
          <p:nvPr>
            <p:ph idx="4294967295" type="body"/>
          </p:nvPr>
        </p:nvSpPr>
        <p:spPr>
          <a:xfrm>
            <a:off x="645133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2057" name="Google Shape;2057;p121"/>
          <p:cNvSpPr txBox="1"/>
          <p:nvPr>
            <p:ph idx="4294967295" type="body"/>
          </p:nvPr>
        </p:nvSpPr>
        <p:spPr>
          <a:xfrm>
            <a:off x="6929331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</a:t>
            </a:r>
            <a:endParaRPr sz="1600"/>
          </a:p>
        </p:txBody>
      </p:sp>
      <p:sp>
        <p:nvSpPr>
          <p:cNvPr id="2058" name="Google Shape;2058;p121"/>
          <p:cNvSpPr txBox="1"/>
          <p:nvPr>
            <p:ph idx="4294967295" type="body"/>
          </p:nvPr>
        </p:nvSpPr>
        <p:spPr>
          <a:xfrm>
            <a:off x="7512003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2059" name="Google Shape;2059;p121"/>
          <p:cNvSpPr txBox="1"/>
          <p:nvPr>
            <p:ph idx="4294967295" type="body"/>
          </p:nvPr>
        </p:nvSpPr>
        <p:spPr>
          <a:xfrm>
            <a:off x="4452200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060" name="Google Shape;2060;p121"/>
          <p:cNvSpPr txBox="1"/>
          <p:nvPr>
            <p:ph idx="4294967295" type="body"/>
          </p:nvPr>
        </p:nvSpPr>
        <p:spPr>
          <a:xfrm>
            <a:off x="4452200" y="379238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061" name="Google Shape;2061;p121"/>
          <p:cNvSpPr txBox="1"/>
          <p:nvPr>
            <p:ph idx="4294967295" type="body"/>
          </p:nvPr>
        </p:nvSpPr>
        <p:spPr>
          <a:xfrm>
            <a:off x="4452200" y="350040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062" name="Google Shape;2062;p121"/>
          <p:cNvSpPr txBox="1"/>
          <p:nvPr>
            <p:ph idx="4294967295" type="body"/>
          </p:nvPr>
        </p:nvSpPr>
        <p:spPr>
          <a:xfrm>
            <a:off x="4452200" y="320843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2063" name="Google Shape;2063;p121"/>
          <p:cNvSpPr txBox="1"/>
          <p:nvPr>
            <p:ph idx="4294967295" type="body"/>
          </p:nvPr>
        </p:nvSpPr>
        <p:spPr>
          <a:xfrm>
            <a:off x="4452200" y="291645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2064" name="Google Shape;2064;p121"/>
          <p:cNvSpPr txBox="1"/>
          <p:nvPr>
            <p:ph idx="4294967295" type="body"/>
          </p:nvPr>
        </p:nvSpPr>
        <p:spPr>
          <a:xfrm>
            <a:off x="4452200" y="262448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2065" name="Google Shape;2065;p121"/>
          <p:cNvSpPr txBox="1"/>
          <p:nvPr>
            <p:ph idx="4294967295" type="body"/>
          </p:nvPr>
        </p:nvSpPr>
        <p:spPr>
          <a:xfrm>
            <a:off x="4452200" y="2332504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2066" name="Google Shape;2066;p121"/>
          <p:cNvSpPr txBox="1"/>
          <p:nvPr>
            <p:ph idx="4294967295" type="body"/>
          </p:nvPr>
        </p:nvSpPr>
        <p:spPr>
          <a:xfrm>
            <a:off x="4452200" y="204052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2067" name="Google Shape;2067;p121"/>
          <p:cNvSpPr txBox="1"/>
          <p:nvPr>
            <p:ph idx="4294967295" type="body"/>
          </p:nvPr>
        </p:nvSpPr>
        <p:spPr>
          <a:xfrm>
            <a:off x="4452200" y="1748553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2068" name="Google Shape;2068;p121"/>
          <p:cNvSpPr txBox="1"/>
          <p:nvPr>
            <p:ph idx="4294967295" type="body"/>
          </p:nvPr>
        </p:nvSpPr>
        <p:spPr>
          <a:xfrm>
            <a:off x="4452200" y="145657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2069" name="Google Shape;2069;p121"/>
          <p:cNvSpPr/>
          <p:nvPr/>
        </p:nvSpPr>
        <p:spPr>
          <a:xfrm>
            <a:off x="5374725" y="21388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21"/>
          <p:cNvSpPr/>
          <p:nvPr/>
        </p:nvSpPr>
        <p:spPr>
          <a:xfrm>
            <a:off x="5902925" y="22563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21"/>
          <p:cNvSpPr/>
          <p:nvPr/>
        </p:nvSpPr>
        <p:spPr>
          <a:xfrm>
            <a:off x="6437100" y="23854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21"/>
          <p:cNvSpPr/>
          <p:nvPr/>
        </p:nvSpPr>
        <p:spPr>
          <a:xfrm>
            <a:off x="6956725" y="23854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21"/>
          <p:cNvSpPr/>
          <p:nvPr/>
        </p:nvSpPr>
        <p:spPr>
          <a:xfrm>
            <a:off x="7485925" y="24200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21"/>
          <p:cNvSpPr/>
          <p:nvPr/>
        </p:nvSpPr>
        <p:spPr>
          <a:xfrm>
            <a:off x="5400122" y="37030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5" name="Google Shape;2075;p121"/>
          <p:cNvCxnSpPr>
            <a:stCxn id="2074" idx="6"/>
            <a:endCxn id="2076" idx="2"/>
          </p:cNvCxnSpPr>
          <p:nvPr/>
        </p:nvCxnSpPr>
        <p:spPr>
          <a:xfrm>
            <a:off x="5473322" y="37396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7" name="Google Shape;2077;p121"/>
          <p:cNvSpPr txBox="1"/>
          <p:nvPr>
            <p:ph idx="4294967295" type="body"/>
          </p:nvPr>
        </p:nvSpPr>
        <p:spPr>
          <a:xfrm rot="-5400000">
            <a:off x="2407335" y="2476100"/>
            <a:ext cx="32649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2078" name="Google Shape;2078;p121"/>
          <p:cNvSpPr txBox="1"/>
          <p:nvPr>
            <p:ph idx="4294967295" type="body"/>
          </p:nvPr>
        </p:nvSpPr>
        <p:spPr>
          <a:xfrm rot="-5400000">
            <a:off x="2092035" y="2486600"/>
            <a:ext cx="3264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2079" name="Google Shape;2079;p121"/>
          <p:cNvSpPr/>
          <p:nvPr/>
        </p:nvSpPr>
        <p:spPr>
          <a:xfrm>
            <a:off x="36460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21"/>
          <p:cNvSpPr/>
          <p:nvPr/>
        </p:nvSpPr>
        <p:spPr>
          <a:xfrm>
            <a:off x="42404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121"/>
          <p:cNvSpPr/>
          <p:nvPr/>
        </p:nvSpPr>
        <p:spPr>
          <a:xfrm>
            <a:off x="39558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2" name="Google Shape;2082;p121"/>
          <p:cNvCxnSpPr/>
          <p:nvPr/>
        </p:nvCxnSpPr>
        <p:spPr>
          <a:xfrm rot="10800000">
            <a:off x="8103381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3" name="Google Shape;2083;p121"/>
          <p:cNvSpPr txBox="1"/>
          <p:nvPr>
            <p:ph idx="4294967295" type="body"/>
          </p:nvPr>
        </p:nvSpPr>
        <p:spPr>
          <a:xfrm>
            <a:off x="8180765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084" name="Google Shape;2084;p121"/>
          <p:cNvSpPr txBox="1"/>
          <p:nvPr>
            <p:ph idx="4294967295" type="body"/>
          </p:nvPr>
        </p:nvSpPr>
        <p:spPr>
          <a:xfrm>
            <a:off x="8180765" y="378860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2085" name="Google Shape;2085;p121"/>
          <p:cNvSpPr txBox="1"/>
          <p:nvPr>
            <p:ph idx="4294967295" type="body"/>
          </p:nvPr>
        </p:nvSpPr>
        <p:spPr>
          <a:xfrm>
            <a:off x="8180765" y="349284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2086" name="Google Shape;2086;p121"/>
          <p:cNvSpPr txBox="1"/>
          <p:nvPr>
            <p:ph idx="4294967295" type="body"/>
          </p:nvPr>
        </p:nvSpPr>
        <p:spPr>
          <a:xfrm>
            <a:off x="8180765" y="319709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2087" name="Google Shape;2087;p121"/>
          <p:cNvSpPr txBox="1"/>
          <p:nvPr>
            <p:ph idx="4294967295" type="body"/>
          </p:nvPr>
        </p:nvSpPr>
        <p:spPr>
          <a:xfrm>
            <a:off x="8180765" y="290133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088" name="Google Shape;2088;p121"/>
          <p:cNvSpPr txBox="1"/>
          <p:nvPr>
            <p:ph idx="4294967295" type="body"/>
          </p:nvPr>
        </p:nvSpPr>
        <p:spPr>
          <a:xfrm>
            <a:off x="8180765" y="260558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2089" name="Google Shape;2089;p121"/>
          <p:cNvSpPr txBox="1"/>
          <p:nvPr>
            <p:ph idx="4294967295" type="body"/>
          </p:nvPr>
        </p:nvSpPr>
        <p:spPr>
          <a:xfrm>
            <a:off x="8180765" y="230982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2090" name="Google Shape;2090;p121"/>
          <p:cNvSpPr txBox="1"/>
          <p:nvPr>
            <p:ph idx="4294967295" type="body"/>
          </p:nvPr>
        </p:nvSpPr>
        <p:spPr>
          <a:xfrm>
            <a:off x="8180765" y="201407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2091" name="Google Shape;2091;p121"/>
          <p:cNvSpPr txBox="1"/>
          <p:nvPr>
            <p:ph idx="4294967295" type="body"/>
          </p:nvPr>
        </p:nvSpPr>
        <p:spPr>
          <a:xfrm>
            <a:off x="8180765" y="171831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092" name="Google Shape;2092;p121"/>
          <p:cNvSpPr txBox="1"/>
          <p:nvPr>
            <p:ph idx="4294967295" type="body"/>
          </p:nvPr>
        </p:nvSpPr>
        <p:spPr>
          <a:xfrm>
            <a:off x="8180765" y="1422559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  <p:sp>
        <p:nvSpPr>
          <p:cNvPr id="2093" name="Google Shape;2093;p121"/>
          <p:cNvSpPr txBox="1"/>
          <p:nvPr>
            <p:ph idx="4294967295" type="body"/>
          </p:nvPr>
        </p:nvSpPr>
        <p:spPr>
          <a:xfrm rot="5400000">
            <a:off x="7408067" y="2931525"/>
            <a:ext cx="2577300" cy="2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2094" name="Google Shape;2094;p121"/>
          <p:cNvSpPr/>
          <p:nvPr/>
        </p:nvSpPr>
        <p:spPr>
          <a:xfrm>
            <a:off x="8605215" y="40414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121"/>
          <p:cNvSpPr/>
          <p:nvPr/>
        </p:nvSpPr>
        <p:spPr>
          <a:xfrm>
            <a:off x="5392575" y="18473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21"/>
          <p:cNvSpPr/>
          <p:nvPr/>
        </p:nvSpPr>
        <p:spPr>
          <a:xfrm>
            <a:off x="5925969" y="18551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21"/>
          <p:cNvSpPr/>
          <p:nvPr/>
        </p:nvSpPr>
        <p:spPr>
          <a:xfrm>
            <a:off x="6450839" y="18918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21"/>
          <p:cNvSpPr/>
          <p:nvPr/>
        </p:nvSpPr>
        <p:spPr>
          <a:xfrm>
            <a:off x="6983388" y="18518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121"/>
          <p:cNvSpPr/>
          <p:nvPr/>
        </p:nvSpPr>
        <p:spPr>
          <a:xfrm>
            <a:off x="7510732" y="18970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0" name="Google Shape;2100;p121"/>
          <p:cNvCxnSpPr>
            <a:stCxn id="2095" idx="3"/>
            <a:endCxn id="2096" idx="1"/>
          </p:cNvCxnSpPr>
          <p:nvPr/>
        </p:nvCxnSpPr>
        <p:spPr>
          <a:xfrm>
            <a:off x="5485875" y="18940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1" name="Google Shape;2101;p121"/>
          <p:cNvCxnSpPr>
            <a:stCxn id="2097" idx="1"/>
            <a:endCxn id="2096" idx="3"/>
          </p:cNvCxnSpPr>
          <p:nvPr/>
        </p:nvCxnSpPr>
        <p:spPr>
          <a:xfrm rot="10800000">
            <a:off x="6019139" y="19018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121"/>
          <p:cNvCxnSpPr>
            <a:stCxn id="2098" idx="1"/>
            <a:endCxn id="2097" idx="3"/>
          </p:cNvCxnSpPr>
          <p:nvPr/>
        </p:nvCxnSpPr>
        <p:spPr>
          <a:xfrm flipH="1">
            <a:off x="6544188" y="18985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3" name="Google Shape;2103;p121"/>
          <p:cNvCxnSpPr>
            <a:stCxn id="2099" idx="1"/>
            <a:endCxn id="2098" idx="3"/>
          </p:cNvCxnSpPr>
          <p:nvPr/>
        </p:nvCxnSpPr>
        <p:spPr>
          <a:xfrm rot="10800000">
            <a:off x="7076632" y="18984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6" name="Google Shape;2076;p121"/>
          <p:cNvSpPr/>
          <p:nvPr/>
        </p:nvSpPr>
        <p:spPr>
          <a:xfrm>
            <a:off x="5929844" y="3779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21"/>
          <p:cNvSpPr/>
          <p:nvPr/>
        </p:nvSpPr>
        <p:spPr>
          <a:xfrm>
            <a:off x="6459566" y="4000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121"/>
          <p:cNvSpPr/>
          <p:nvPr/>
        </p:nvSpPr>
        <p:spPr>
          <a:xfrm>
            <a:off x="6989289" y="39242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121"/>
          <p:cNvSpPr/>
          <p:nvPr/>
        </p:nvSpPr>
        <p:spPr>
          <a:xfrm>
            <a:off x="7522689" y="38948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7" name="Google Shape;2107;p121"/>
          <p:cNvCxnSpPr>
            <a:stCxn id="2076" idx="5"/>
            <a:endCxn id="2104" idx="2"/>
          </p:cNvCxnSpPr>
          <p:nvPr/>
        </p:nvCxnSpPr>
        <p:spPr>
          <a:xfrm>
            <a:off x="5992324" y="38417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8" name="Google Shape;2108;p121"/>
          <p:cNvCxnSpPr>
            <a:endCxn id="2105" idx="2"/>
          </p:cNvCxnSpPr>
          <p:nvPr/>
        </p:nvCxnSpPr>
        <p:spPr>
          <a:xfrm flipH="1" rot="10800000">
            <a:off x="6532689" y="39608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9" name="Google Shape;2109;p121"/>
          <p:cNvCxnSpPr>
            <a:endCxn id="2106" idx="2"/>
          </p:cNvCxnSpPr>
          <p:nvPr/>
        </p:nvCxnSpPr>
        <p:spPr>
          <a:xfrm flipH="1" rot="10800000">
            <a:off x="7064289" y="39314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0" name="Google Shape;2110;p121"/>
          <p:cNvSpPr txBox="1"/>
          <p:nvPr>
            <p:ph idx="4294967295" type="body"/>
          </p:nvPr>
        </p:nvSpPr>
        <p:spPr>
          <a:xfrm>
            <a:off x="6134874" y="4487086"/>
            <a:ext cx="453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day</a:t>
            </a:r>
            <a:endParaRPr sz="1600"/>
          </a:p>
        </p:txBody>
      </p:sp>
      <p:sp>
        <p:nvSpPr>
          <p:cNvPr id="2111" name="Google Shape;2111;p121"/>
          <p:cNvSpPr txBox="1"/>
          <p:nvPr>
            <p:ph idx="1" type="body"/>
          </p:nvPr>
        </p:nvSpPr>
        <p:spPr>
          <a:xfrm>
            <a:off x="324000" y="1216500"/>
            <a:ext cx="3045600" cy="12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Lucas thinks their body </a:t>
            </a:r>
            <a:br>
              <a:rPr lang="en-GB" sz="1600"/>
            </a:br>
            <a:r>
              <a:rPr lang="en-GB" sz="1600"/>
              <a:t>    temperature was 155℃ on </a:t>
            </a:r>
            <a:br>
              <a:rPr lang="en-GB" sz="1600"/>
            </a:br>
            <a:r>
              <a:rPr lang="en-GB" sz="1600"/>
              <a:t>    Monday. What mistake has </a:t>
            </a:r>
            <a:br>
              <a:rPr lang="en-GB" sz="1600"/>
            </a:br>
            <a:r>
              <a:rPr lang="en-GB" sz="1600"/>
              <a:t>    Lucas made?</a:t>
            </a:r>
            <a:endParaRPr sz="1600"/>
          </a:p>
        </p:txBody>
      </p:sp>
      <p:sp>
        <p:nvSpPr>
          <p:cNvPr id="2112" name="Google Shape;2112;p121"/>
          <p:cNvSpPr txBox="1"/>
          <p:nvPr>
            <p:ph idx="1" type="body"/>
          </p:nvPr>
        </p:nvSpPr>
        <p:spPr>
          <a:xfrm>
            <a:off x="324000" y="3654900"/>
            <a:ext cx="30456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What was their body </a:t>
            </a:r>
            <a:br>
              <a:rPr lang="en-GB" sz="1600"/>
            </a:br>
            <a:r>
              <a:rPr lang="en-GB" sz="1600"/>
              <a:t>    temperature on Monday?</a:t>
            </a:r>
            <a:endParaRPr sz="1600"/>
          </a:p>
        </p:txBody>
      </p:sp>
      <p:sp>
        <p:nvSpPr>
          <p:cNvPr id="2113" name="Google Shape;2113;p121"/>
          <p:cNvSpPr txBox="1"/>
          <p:nvPr>
            <p:ph idx="1" type="body"/>
          </p:nvPr>
        </p:nvSpPr>
        <p:spPr>
          <a:xfrm>
            <a:off x="552600" y="2435700"/>
            <a:ext cx="2553300" cy="9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Lucas used the scale on the left rather than the scale on the right.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4" name="Google Shape;2114;p121"/>
          <p:cNvSpPr txBox="1"/>
          <p:nvPr>
            <p:ph idx="1" type="body"/>
          </p:nvPr>
        </p:nvSpPr>
        <p:spPr>
          <a:xfrm>
            <a:off x="552600" y="4340700"/>
            <a:ext cx="20505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39 °C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15" name="Google Shape;2115;p121"/>
          <p:cNvGrpSpPr/>
          <p:nvPr/>
        </p:nvGrpSpPr>
        <p:grpSpPr>
          <a:xfrm>
            <a:off x="5406424" y="2807437"/>
            <a:ext cx="2201272" cy="382527"/>
            <a:chOff x="5406424" y="2807437"/>
            <a:chExt cx="2201272" cy="382527"/>
          </a:xfrm>
        </p:grpSpPr>
        <p:sp>
          <p:nvSpPr>
            <p:cNvPr id="2116" name="Google Shape;2116;p121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17" name="Google Shape;2117;p121"/>
            <p:cNvCxnSpPr>
              <a:stCxn id="2116" idx="5"/>
              <a:endCxn id="2118" idx="1"/>
            </p:cNvCxnSpPr>
            <p:nvPr/>
          </p:nvCxnSpPr>
          <p:spPr>
            <a:xfrm>
              <a:off x="5472574" y="2845537"/>
              <a:ext cx="482100" cy="77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8" name="Google Shape;2118;p121"/>
            <p:cNvSpPr/>
            <p:nvPr/>
          </p:nvSpPr>
          <p:spPr>
            <a:xfrm>
              <a:off x="5932479" y="28851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9" name="Google Shape;2119;p121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0" name="Google Shape;2120;p121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1" name="Google Shape;2121;p121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22" name="Google Shape;2122;p121"/>
            <p:cNvCxnSpPr>
              <a:stCxn id="2118" idx="5"/>
              <a:endCxn id="2119" idx="1"/>
            </p:cNvCxnSpPr>
            <p:nvPr/>
          </p:nvCxnSpPr>
          <p:spPr>
            <a:xfrm>
              <a:off x="5998629" y="2923265"/>
              <a:ext cx="487200" cy="24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3" name="Google Shape;2123;p121"/>
            <p:cNvCxnSpPr>
              <a:stCxn id="2119" idx="5"/>
              <a:endCxn id="2120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4" name="Google Shape;2124;p121"/>
            <p:cNvCxnSpPr>
              <a:stCxn id="2120" idx="5"/>
              <a:endCxn id="2121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25" y="1530200"/>
            <a:ext cx="3194450" cy="26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1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graph shows a patient’s vital signs over five days.</a:t>
            </a:r>
            <a:endParaRPr sz="1600"/>
          </a:p>
        </p:txBody>
      </p:sp>
      <p:sp>
        <p:nvSpPr>
          <p:cNvPr id="2131" name="Google Shape;2131;p12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2132" name="Google Shape;2132;p122"/>
          <p:cNvCxnSpPr/>
          <p:nvPr/>
        </p:nvCxnSpPr>
        <p:spPr>
          <a:xfrm rot="10800000">
            <a:off x="4904116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3" name="Google Shape;2133;p122"/>
          <p:cNvCxnSpPr/>
          <p:nvPr/>
        </p:nvCxnSpPr>
        <p:spPr>
          <a:xfrm>
            <a:off x="4904116" y="4194999"/>
            <a:ext cx="32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122"/>
          <p:cNvSpPr txBox="1"/>
          <p:nvPr>
            <p:ph idx="4294967295" type="body"/>
          </p:nvPr>
        </p:nvSpPr>
        <p:spPr>
          <a:xfrm rot="-5400000">
            <a:off x="2706885" y="2481350"/>
            <a:ext cx="32649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2135" name="Google Shape;2135;p122"/>
          <p:cNvSpPr txBox="1"/>
          <p:nvPr>
            <p:ph idx="4294967295" type="body"/>
          </p:nvPr>
        </p:nvSpPr>
        <p:spPr>
          <a:xfrm>
            <a:off x="534879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endParaRPr sz="1600"/>
          </a:p>
        </p:txBody>
      </p:sp>
      <p:sp>
        <p:nvSpPr>
          <p:cNvPr id="2136" name="Google Shape;2136;p122"/>
          <p:cNvSpPr txBox="1"/>
          <p:nvPr>
            <p:ph idx="4294967295" type="body"/>
          </p:nvPr>
        </p:nvSpPr>
        <p:spPr>
          <a:xfrm>
            <a:off x="5868659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</a:t>
            </a:r>
            <a:endParaRPr sz="1600"/>
          </a:p>
        </p:txBody>
      </p:sp>
      <p:sp>
        <p:nvSpPr>
          <p:cNvPr id="2137" name="Google Shape;2137;p122"/>
          <p:cNvSpPr txBox="1"/>
          <p:nvPr>
            <p:ph idx="4294967295" type="body"/>
          </p:nvPr>
        </p:nvSpPr>
        <p:spPr>
          <a:xfrm>
            <a:off x="645133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2138" name="Google Shape;2138;p122"/>
          <p:cNvSpPr txBox="1"/>
          <p:nvPr>
            <p:ph idx="4294967295" type="body"/>
          </p:nvPr>
        </p:nvSpPr>
        <p:spPr>
          <a:xfrm>
            <a:off x="6929331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</a:t>
            </a:r>
            <a:endParaRPr sz="1600"/>
          </a:p>
        </p:txBody>
      </p:sp>
      <p:sp>
        <p:nvSpPr>
          <p:cNvPr id="2139" name="Google Shape;2139;p122"/>
          <p:cNvSpPr txBox="1"/>
          <p:nvPr>
            <p:ph idx="4294967295" type="body"/>
          </p:nvPr>
        </p:nvSpPr>
        <p:spPr>
          <a:xfrm>
            <a:off x="7512003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2140" name="Google Shape;2140;p122"/>
          <p:cNvSpPr txBox="1"/>
          <p:nvPr>
            <p:ph idx="4294967295" type="body"/>
          </p:nvPr>
        </p:nvSpPr>
        <p:spPr>
          <a:xfrm>
            <a:off x="4452200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141" name="Google Shape;2141;p122"/>
          <p:cNvSpPr txBox="1"/>
          <p:nvPr>
            <p:ph idx="4294967295" type="body"/>
          </p:nvPr>
        </p:nvSpPr>
        <p:spPr>
          <a:xfrm>
            <a:off x="4452200" y="379238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142" name="Google Shape;2142;p122"/>
          <p:cNvSpPr txBox="1"/>
          <p:nvPr>
            <p:ph idx="4294967295" type="body"/>
          </p:nvPr>
        </p:nvSpPr>
        <p:spPr>
          <a:xfrm>
            <a:off x="4452200" y="350040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143" name="Google Shape;2143;p122"/>
          <p:cNvSpPr txBox="1"/>
          <p:nvPr>
            <p:ph idx="4294967295" type="body"/>
          </p:nvPr>
        </p:nvSpPr>
        <p:spPr>
          <a:xfrm>
            <a:off x="4452200" y="320843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2144" name="Google Shape;2144;p122"/>
          <p:cNvSpPr txBox="1"/>
          <p:nvPr>
            <p:ph idx="4294967295" type="body"/>
          </p:nvPr>
        </p:nvSpPr>
        <p:spPr>
          <a:xfrm>
            <a:off x="4452200" y="291645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2145" name="Google Shape;2145;p122"/>
          <p:cNvSpPr txBox="1"/>
          <p:nvPr>
            <p:ph idx="4294967295" type="body"/>
          </p:nvPr>
        </p:nvSpPr>
        <p:spPr>
          <a:xfrm>
            <a:off x="4452200" y="262448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2146" name="Google Shape;2146;p122"/>
          <p:cNvSpPr txBox="1"/>
          <p:nvPr>
            <p:ph idx="4294967295" type="body"/>
          </p:nvPr>
        </p:nvSpPr>
        <p:spPr>
          <a:xfrm>
            <a:off x="4452200" y="2332504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2147" name="Google Shape;2147;p122"/>
          <p:cNvSpPr txBox="1"/>
          <p:nvPr>
            <p:ph idx="4294967295" type="body"/>
          </p:nvPr>
        </p:nvSpPr>
        <p:spPr>
          <a:xfrm>
            <a:off x="4452200" y="204052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2148" name="Google Shape;2148;p122"/>
          <p:cNvSpPr txBox="1"/>
          <p:nvPr>
            <p:ph idx="4294967295" type="body"/>
          </p:nvPr>
        </p:nvSpPr>
        <p:spPr>
          <a:xfrm>
            <a:off x="4452200" y="1748553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2149" name="Google Shape;2149;p122"/>
          <p:cNvSpPr txBox="1"/>
          <p:nvPr>
            <p:ph idx="4294967295" type="body"/>
          </p:nvPr>
        </p:nvSpPr>
        <p:spPr>
          <a:xfrm>
            <a:off x="4452200" y="145657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2150" name="Google Shape;2150;p122"/>
          <p:cNvSpPr/>
          <p:nvPr/>
        </p:nvSpPr>
        <p:spPr>
          <a:xfrm>
            <a:off x="5374725" y="21388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22"/>
          <p:cNvSpPr/>
          <p:nvPr/>
        </p:nvSpPr>
        <p:spPr>
          <a:xfrm>
            <a:off x="5902925" y="22563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22"/>
          <p:cNvSpPr/>
          <p:nvPr/>
        </p:nvSpPr>
        <p:spPr>
          <a:xfrm>
            <a:off x="6437100" y="23854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22"/>
          <p:cNvSpPr/>
          <p:nvPr/>
        </p:nvSpPr>
        <p:spPr>
          <a:xfrm>
            <a:off x="6956725" y="23854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22"/>
          <p:cNvSpPr/>
          <p:nvPr/>
        </p:nvSpPr>
        <p:spPr>
          <a:xfrm>
            <a:off x="7485925" y="24200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22"/>
          <p:cNvSpPr/>
          <p:nvPr/>
        </p:nvSpPr>
        <p:spPr>
          <a:xfrm>
            <a:off x="5400122" y="37030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6" name="Google Shape;2156;p122"/>
          <p:cNvCxnSpPr>
            <a:stCxn id="2155" idx="6"/>
            <a:endCxn id="2157" idx="2"/>
          </p:cNvCxnSpPr>
          <p:nvPr/>
        </p:nvCxnSpPr>
        <p:spPr>
          <a:xfrm>
            <a:off x="5473322" y="37396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8" name="Google Shape;2158;p122"/>
          <p:cNvSpPr txBox="1"/>
          <p:nvPr>
            <p:ph idx="4294967295" type="body"/>
          </p:nvPr>
        </p:nvSpPr>
        <p:spPr>
          <a:xfrm rot="-5400000">
            <a:off x="2407335" y="2476100"/>
            <a:ext cx="32649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2159" name="Google Shape;2159;p122"/>
          <p:cNvSpPr txBox="1"/>
          <p:nvPr>
            <p:ph idx="4294967295" type="body"/>
          </p:nvPr>
        </p:nvSpPr>
        <p:spPr>
          <a:xfrm rot="-5400000">
            <a:off x="2092035" y="2486600"/>
            <a:ext cx="3264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2160" name="Google Shape;2160;p122"/>
          <p:cNvSpPr/>
          <p:nvPr/>
        </p:nvSpPr>
        <p:spPr>
          <a:xfrm>
            <a:off x="36460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22"/>
          <p:cNvSpPr/>
          <p:nvPr/>
        </p:nvSpPr>
        <p:spPr>
          <a:xfrm>
            <a:off x="42404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122"/>
          <p:cNvSpPr/>
          <p:nvPr/>
        </p:nvSpPr>
        <p:spPr>
          <a:xfrm>
            <a:off x="39558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3" name="Google Shape;2163;p122"/>
          <p:cNvCxnSpPr/>
          <p:nvPr/>
        </p:nvCxnSpPr>
        <p:spPr>
          <a:xfrm rot="10800000">
            <a:off x="8103381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4" name="Google Shape;2164;p122"/>
          <p:cNvSpPr txBox="1"/>
          <p:nvPr>
            <p:ph idx="4294967295" type="body"/>
          </p:nvPr>
        </p:nvSpPr>
        <p:spPr>
          <a:xfrm rot="5400000">
            <a:off x="7408067" y="2931525"/>
            <a:ext cx="2577300" cy="2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2165" name="Google Shape;2165;p122"/>
          <p:cNvSpPr/>
          <p:nvPr/>
        </p:nvSpPr>
        <p:spPr>
          <a:xfrm>
            <a:off x="8605215" y="40414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22"/>
          <p:cNvSpPr/>
          <p:nvPr/>
        </p:nvSpPr>
        <p:spPr>
          <a:xfrm>
            <a:off x="5392575" y="18473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22"/>
          <p:cNvSpPr/>
          <p:nvPr/>
        </p:nvSpPr>
        <p:spPr>
          <a:xfrm>
            <a:off x="5925969" y="18551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22"/>
          <p:cNvSpPr/>
          <p:nvPr/>
        </p:nvSpPr>
        <p:spPr>
          <a:xfrm>
            <a:off x="6450839" y="18918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22"/>
          <p:cNvSpPr/>
          <p:nvPr/>
        </p:nvSpPr>
        <p:spPr>
          <a:xfrm>
            <a:off x="6983388" y="18518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22"/>
          <p:cNvSpPr/>
          <p:nvPr/>
        </p:nvSpPr>
        <p:spPr>
          <a:xfrm>
            <a:off x="7510732" y="18970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1" name="Google Shape;2171;p122"/>
          <p:cNvCxnSpPr>
            <a:stCxn id="2166" idx="3"/>
            <a:endCxn id="2167" idx="1"/>
          </p:cNvCxnSpPr>
          <p:nvPr/>
        </p:nvCxnSpPr>
        <p:spPr>
          <a:xfrm>
            <a:off x="5485875" y="18940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2" name="Google Shape;2172;p122"/>
          <p:cNvCxnSpPr>
            <a:stCxn id="2168" idx="1"/>
            <a:endCxn id="2167" idx="3"/>
          </p:cNvCxnSpPr>
          <p:nvPr/>
        </p:nvCxnSpPr>
        <p:spPr>
          <a:xfrm rot="10800000">
            <a:off x="6019139" y="19018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3" name="Google Shape;2173;p122"/>
          <p:cNvCxnSpPr>
            <a:stCxn id="2169" idx="1"/>
            <a:endCxn id="2168" idx="3"/>
          </p:cNvCxnSpPr>
          <p:nvPr/>
        </p:nvCxnSpPr>
        <p:spPr>
          <a:xfrm flipH="1">
            <a:off x="6544188" y="18985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4" name="Google Shape;2174;p122"/>
          <p:cNvCxnSpPr>
            <a:stCxn id="2170" idx="1"/>
            <a:endCxn id="2169" idx="3"/>
          </p:cNvCxnSpPr>
          <p:nvPr/>
        </p:nvCxnSpPr>
        <p:spPr>
          <a:xfrm rot="10800000">
            <a:off x="7076632" y="18984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7" name="Google Shape;2157;p122"/>
          <p:cNvSpPr/>
          <p:nvPr/>
        </p:nvSpPr>
        <p:spPr>
          <a:xfrm>
            <a:off x="5929844" y="3779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22"/>
          <p:cNvSpPr/>
          <p:nvPr/>
        </p:nvSpPr>
        <p:spPr>
          <a:xfrm>
            <a:off x="6459566" y="4000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122"/>
          <p:cNvSpPr/>
          <p:nvPr/>
        </p:nvSpPr>
        <p:spPr>
          <a:xfrm>
            <a:off x="6989289" y="39242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122"/>
          <p:cNvSpPr/>
          <p:nvPr/>
        </p:nvSpPr>
        <p:spPr>
          <a:xfrm>
            <a:off x="7522689" y="38948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8" name="Google Shape;2178;p122"/>
          <p:cNvCxnSpPr>
            <a:stCxn id="2157" idx="5"/>
            <a:endCxn id="2175" idx="2"/>
          </p:cNvCxnSpPr>
          <p:nvPr/>
        </p:nvCxnSpPr>
        <p:spPr>
          <a:xfrm>
            <a:off x="5992324" y="38417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9" name="Google Shape;2179;p122"/>
          <p:cNvCxnSpPr>
            <a:endCxn id="2176" idx="2"/>
          </p:cNvCxnSpPr>
          <p:nvPr/>
        </p:nvCxnSpPr>
        <p:spPr>
          <a:xfrm flipH="1" rot="10800000">
            <a:off x="6532689" y="39608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0" name="Google Shape;2180;p122"/>
          <p:cNvCxnSpPr>
            <a:endCxn id="2177" idx="2"/>
          </p:cNvCxnSpPr>
          <p:nvPr/>
        </p:nvCxnSpPr>
        <p:spPr>
          <a:xfrm flipH="1" rot="10800000">
            <a:off x="7064289" y="39314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1" name="Google Shape;2181;p122"/>
          <p:cNvSpPr txBox="1"/>
          <p:nvPr>
            <p:ph idx="4294967295" type="body"/>
          </p:nvPr>
        </p:nvSpPr>
        <p:spPr>
          <a:xfrm>
            <a:off x="6134874" y="4487086"/>
            <a:ext cx="453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day</a:t>
            </a:r>
            <a:endParaRPr sz="1600"/>
          </a:p>
        </p:txBody>
      </p:sp>
      <p:sp>
        <p:nvSpPr>
          <p:cNvPr id="2182" name="Google Shape;2182;p122"/>
          <p:cNvSpPr txBox="1"/>
          <p:nvPr>
            <p:ph idx="1" type="body"/>
          </p:nvPr>
        </p:nvSpPr>
        <p:spPr>
          <a:xfrm>
            <a:off x="324000" y="1216500"/>
            <a:ext cx="3119700" cy="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e) Describe the trend in their </a:t>
            </a:r>
            <a:br>
              <a:rPr lang="en-GB" sz="1600"/>
            </a:br>
            <a:r>
              <a:rPr lang="en-GB" sz="1600"/>
              <a:t>    blood pressure over the </a:t>
            </a:r>
            <a:br>
              <a:rPr lang="en-GB" sz="1600"/>
            </a:br>
            <a:r>
              <a:rPr lang="en-GB" sz="1600"/>
              <a:t>    five days.</a:t>
            </a:r>
            <a:endParaRPr sz="1600"/>
          </a:p>
        </p:txBody>
      </p:sp>
      <p:sp>
        <p:nvSpPr>
          <p:cNvPr id="2183" name="Google Shape;2183;p122"/>
          <p:cNvSpPr txBox="1"/>
          <p:nvPr>
            <p:ph idx="1" type="body"/>
          </p:nvPr>
        </p:nvSpPr>
        <p:spPr>
          <a:xfrm>
            <a:off x="552600" y="2160225"/>
            <a:ext cx="3036300" cy="21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patient’s blood pressure gradually decreased over the five days.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(Or any wording that suggests that it is decreasing.)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84" name="Google Shape;2184;p122"/>
          <p:cNvGrpSpPr/>
          <p:nvPr/>
        </p:nvGrpSpPr>
        <p:grpSpPr>
          <a:xfrm>
            <a:off x="5406424" y="2807437"/>
            <a:ext cx="2201272" cy="382527"/>
            <a:chOff x="5406424" y="2807437"/>
            <a:chExt cx="2201272" cy="382527"/>
          </a:xfrm>
        </p:grpSpPr>
        <p:sp>
          <p:nvSpPr>
            <p:cNvPr id="2185" name="Google Shape;2185;p122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86" name="Google Shape;2186;p122"/>
            <p:cNvCxnSpPr>
              <a:stCxn id="2185" idx="5"/>
              <a:endCxn id="2187" idx="1"/>
            </p:cNvCxnSpPr>
            <p:nvPr/>
          </p:nvCxnSpPr>
          <p:spPr>
            <a:xfrm>
              <a:off x="5472574" y="2845537"/>
              <a:ext cx="482100" cy="77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7" name="Google Shape;2187;p122"/>
            <p:cNvSpPr/>
            <p:nvPr/>
          </p:nvSpPr>
          <p:spPr>
            <a:xfrm>
              <a:off x="5932479" y="28851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8" name="Google Shape;2188;p122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9" name="Google Shape;2189;p122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0" name="Google Shape;2190;p122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91" name="Google Shape;2191;p122"/>
            <p:cNvCxnSpPr>
              <a:stCxn id="2187" idx="5"/>
              <a:endCxn id="2188" idx="1"/>
            </p:cNvCxnSpPr>
            <p:nvPr/>
          </p:nvCxnSpPr>
          <p:spPr>
            <a:xfrm>
              <a:off x="5998629" y="2923265"/>
              <a:ext cx="487200" cy="24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2" name="Google Shape;2192;p122"/>
            <p:cNvCxnSpPr>
              <a:stCxn id="2188" idx="5"/>
              <a:endCxn id="2189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3" name="Google Shape;2193;p122"/>
            <p:cNvCxnSpPr>
              <a:stCxn id="2189" idx="5"/>
              <a:endCxn id="2190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94" name="Google Shape;2194;p122"/>
          <p:cNvSpPr txBox="1"/>
          <p:nvPr>
            <p:ph idx="4294967295" type="body"/>
          </p:nvPr>
        </p:nvSpPr>
        <p:spPr>
          <a:xfrm>
            <a:off x="8180765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195" name="Google Shape;2195;p122"/>
          <p:cNvSpPr txBox="1"/>
          <p:nvPr>
            <p:ph idx="4294967295" type="body"/>
          </p:nvPr>
        </p:nvSpPr>
        <p:spPr>
          <a:xfrm>
            <a:off x="8180765" y="378860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2196" name="Google Shape;2196;p122"/>
          <p:cNvSpPr txBox="1"/>
          <p:nvPr>
            <p:ph idx="4294967295" type="body"/>
          </p:nvPr>
        </p:nvSpPr>
        <p:spPr>
          <a:xfrm>
            <a:off x="8180765" y="349284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2197" name="Google Shape;2197;p122"/>
          <p:cNvSpPr txBox="1"/>
          <p:nvPr>
            <p:ph idx="4294967295" type="body"/>
          </p:nvPr>
        </p:nvSpPr>
        <p:spPr>
          <a:xfrm>
            <a:off x="8180765" y="319709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2198" name="Google Shape;2198;p122"/>
          <p:cNvSpPr txBox="1"/>
          <p:nvPr>
            <p:ph idx="4294967295" type="body"/>
          </p:nvPr>
        </p:nvSpPr>
        <p:spPr>
          <a:xfrm>
            <a:off x="8180765" y="290133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199" name="Google Shape;2199;p122"/>
          <p:cNvSpPr txBox="1"/>
          <p:nvPr>
            <p:ph idx="4294967295" type="body"/>
          </p:nvPr>
        </p:nvSpPr>
        <p:spPr>
          <a:xfrm>
            <a:off x="8180765" y="260558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2200" name="Google Shape;2200;p122"/>
          <p:cNvSpPr txBox="1"/>
          <p:nvPr>
            <p:ph idx="4294967295" type="body"/>
          </p:nvPr>
        </p:nvSpPr>
        <p:spPr>
          <a:xfrm>
            <a:off x="8180765" y="230982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2201" name="Google Shape;2201;p122"/>
          <p:cNvSpPr txBox="1"/>
          <p:nvPr>
            <p:ph idx="4294967295" type="body"/>
          </p:nvPr>
        </p:nvSpPr>
        <p:spPr>
          <a:xfrm>
            <a:off x="8180765" y="201407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2202" name="Google Shape;2202;p122"/>
          <p:cNvSpPr txBox="1"/>
          <p:nvPr>
            <p:ph idx="4294967295" type="body"/>
          </p:nvPr>
        </p:nvSpPr>
        <p:spPr>
          <a:xfrm>
            <a:off x="8180765" y="171831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203" name="Google Shape;2203;p122"/>
          <p:cNvSpPr txBox="1"/>
          <p:nvPr>
            <p:ph idx="4294967295" type="body"/>
          </p:nvPr>
        </p:nvSpPr>
        <p:spPr>
          <a:xfrm>
            <a:off x="8180765" y="1422559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8" name="Google Shape;2208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25" y="1530200"/>
            <a:ext cx="3194450" cy="26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p1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graph shows a patient’s vital signs over five days.</a:t>
            </a:r>
            <a:endParaRPr sz="1600"/>
          </a:p>
        </p:txBody>
      </p:sp>
      <p:sp>
        <p:nvSpPr>
          <p:cNvPr id="2210" name="Google Shape;2210;p12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data in medical professions</a:t>
            </a:r>
            <a:endParaRPr/>
          </a:p>
        </p:txBody>
      </p:sp>
      <p:cxnSp>
        <p:nvCxnSpPr>
          <p:cNvPr id="2211" name="Google Shape;2211;p123"/>
          <p:cNvCxnSpPr/>
          <p:nvPr/>
        </p:nvCxnSpPr>
        <p:spPr>
          <a:xfrm rot="10800000">
            <a:off x="4904116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2" name="Google Shape;2212;p123"/>
          <p:cNvCxnSpPr/>
          <p:nvPr/>
        </p:nvCxnSpPr>
        <p:spPr>
          <a:xfrm>
            <a:off x="4904116" y="4194999"/>
            <a:ext cx="32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3" name="Google Shape;2213;p123"/>
          <p:cNvSpPr txBox="1"/>
          <p:nvPr>
            <p:ph idx="4294967295" type="body"/>
          </p:nvPr>
        </p:nvSpPr>
        <p:spPr>
          <a:xfrm rot="-5400000">
            <a:off x="2706885" y="2481350"/>
            <a:ext cx="32649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heart rate (beats/min)</a:t>
            </a:r>
            <a:endParaRPr sz="1600"/>
          </a:p>
        </p:txBody>
      </p:sp>
      <p:sp>
        <p:nvSpPr>
          <p:cNvPr id="2214" name="Google Shape;2214;p123"/>
          <p:cNvSpPr txBox="1"/>
          <p:nvPr>
            <p:ph idx="4294967295" type="body"/>
          </p:nvPr>
        </p:nvSpPr>
        <p:spPr>
          <a:xfrm>
            <a:off x="534879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</a:t>
            </a:r>
            <a:endParaRPr sz="1600"/>
          </a:p>
        </p:txBody>
      </p:sp>
      <p:sp>
        <p:nvSpPr>
          <p:cNvPr id="2215" name="Google Shape;2215;p123"/>
          <p:cNvSpPr txBox="1"/>
          <p:nvPr>
            <p:ph idx="4294967295" type="body"/>
          </p:nvPr>
        </p:nvSpPr>
        <p:spPr>
          <a:xfrm>
            <a:off x="5868659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Tu</a:t>
            </a:r>
            <a:endParaRPr sz="1600"/>
          </a:p>
        </p:txBody>
      </p:sp>
      <p:sp>
        <p:nvSpPr>
          <p:cNvPr id="2216" name="Google Shape;2216;p123"/>
          <p:cNvSpPr txBox="1"/>
          <p:nvPr>
            <p:ph idx="4294967295" type="body"/>
          </p:nvPr>
        </p:nvSpPr>
        <p:spPr>
          <a:xfrm>
            <a:off x="6451330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2217" name="Google Shape;2217;p123"/>
          <p:cNvSpPr txBox="1"/>
          <p:nvPr>
            <p:ph idx="4294967295" type="body"/>
          </p:nvPr>
        </p:nvSpPr>
        <p:spPr>
          <a:xfrm>
            <a:off x="6929331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</a:t>
            </a:r>
            <a:endParaRPr sz="1600"/>
          </a:p>
        </p:txBody>
      </p:sp>
      <p:sp>
        <p:nvSpPr>
          <p:cNvPr id="2218" name="Google Shape;2218;p123"/>
          <p:cNvSpPr txBox="1"/>
          <p:nvPr>
            <p:ph idx="4294967295" type="body"/>
          </p:nvPr>
        </p:nvSpPr>
        <p:spPr>
          <a:xfrm>
            <a:off x="7512003" y="4196228"/>
            <a:ext cx="453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2219" name="Google Shape;2219;p123"/>
          <p:cNvSpPr txBox="1"/>
          <p:nvPr>
            <p:ph idx="4294967295" type="body"/>
          </p:nvPr>
        </p:nvSpPr>
        <p:spPr>
          <a:xfrm>
            <a:off x="4452200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220" name="Google Shape;2220;p123"/>
          <p:cNvSpPr txBox="1"/>
          <p:nvPr>
            <p:ph idx="4294967295" type="body"/>
          </p:nvPr>
        </p:nvSpPr>
        <p:spPr>
          <a:xfrm>
            <a:off x="4452200" y="379238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221" name="Google Shape;2221;p123"/>
          <p:cNvSpPr txBox="1"/>
          <p:nvPr>
            <p:ph idx="4294967295" type="body"/>
          </p:nvPr>
        </p:nvSpPr>
        <p:spPr>
          <a:xfrm>
            <a:off x="4452200" y="350040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222" name="Google Shape;2222;p123"/>
          <p:cNvSpPr txBox="1"/>
          <p:nvPr>
            <p:ph idx="4294967295" type="body"/>
          </p:nvPr>
        </p:nvSpPr>
        <p:spPr>
          <a:xfrm>
            <a:off x="4452200" y="320843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2223" name="Google Shape;2223;p123"/>
          <p:cNvSpPr txBox="1"/>
          <p:nvPr>
            <p:ph idx="4294967295" type="body"/>
          </p:nvPr>
        </p:nvSpPr>
        <p:spPr>
          <a:xfrm>
            <a:off x="4452200" y="291645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</a:t>
            </a:r>
            <a:endParaRPr sz="1600"/>
          </a:p>
        </p:txBody>
      </p:sp>
      <p:sp>
        <p:nvSpPr>
          <p:cNvPr id="2224" name="Google Shape;2224;p123"/>
          <p:cNvSpPr txBox="1"/>
          <p:nvPr>
            <p:ph idx="4294967295" type="body"/>
          </p:nvPr>
        </p:nvSpPr>
        <p:spPr>
          <a:xfrm>
            <a:off x="4452200" y="262448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2225" name="Google Shape;2225;p123"/>
          <p:cNvSpPr txBox="1"/>
          <p:nvPr>
            <p:ph idx="4294967295" type="body"/>
          </p:nvPr>
        </p:nvSpPr>
        <p:spPr>
          <a:xfrm>
            <a:off x="4452200" y="2332504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endParaRPr sz="1600"/>
          </a:p>
        </p:txBody>
      </p:sp>
      <p:sp>
        <p:nvSpPr>
          <p:cNvPr id="2226" name="Google Shape;2226;p123"/>
          <p:cNvSpPr txBox="1"/>
          <p:nvPr>
            <p:ph idx="4294967295" type="body"/>
          </p:nvPr>
        </p:nvSpPr>
        <p:spPr>
          <a:xfrm>
            <a:off x="4452200" y="204052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140</a:t>
            </a:r>
            <a:endParaRPr sz="1600"/>
          </a:p>
        </p:txBody>
      </p:sp>
      <p:sp>
        <p:nvSpPr>
          <p:cNvPr id="2227" name="Google Shape;2227;p123"/>
          <p:cNvSpPr txBox="1"/>
          <p:nvPr>
            <p:ph idx="4294967295" type="body"/>
          </p:nvPr>
        </p:nvSpPr>
        <p:spPr>
          <a:xfrm>
            <a:off x="4452200" y="1748553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160</a:t>
            </a:r>
            <a:endParaRPr sz="1600"/>
          </a:p>
        </p:txBody>
      </p:sp>
      <p:sp>
        <p:nvSpPr>
          <p:cNvPr id="2228" name="Google Shape;2228;p123"/>
          <p:cNvSpPr txBox="1"/>
          <p:nvPr>
            <p:ph idx="4294967295" type="body"/>
          </p:nvPr>
        </p:nvSpPr>
        <p:spPr>
          <a:xfrm>
            <a:off x="4452200" y="145657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180</a:t>
            </a:r>
            <a:endParaRPr sz="1600"/>
          </a:p>
        </p:txBody>
      </p:sp>
      <p:sp>
        <p:nvSpPr>
          <p:cNvPr id="2229" name="Google Shape;2229;p123"/>
          <p:cNvSpPr/>
          <p:nvPr/>
        </p:nvSpPr>
        <p:spPr>
          <a:xfrm>
            <a:off x="5374725" y="21388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123"/>
          <p:cNvSpPr/>
          <p:nvPr/>
        </p:nvSpPr>
        <p:spPr>
          <a:xfrm>
            <a:off x="5902925" y="22563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123"/>
          <p:cNvSpPr/>
          <p:nvPr/>
        </p:nvSpPr>
        <p:spPr>
          <a:xfrm>
            <a:off x="6437100" y="23854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123"/>
          <p:cNvSpPr/>
          <p:nvPr/>
        </p:nvSpPr>
        <p:spPr>
          <a:xfrm>
            <a:off x="6956725" y="23854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123"/>
          <p:cNvSpPr/>
          <p:nvPr/>
        </p:nvSpPr>
        <p:spPr>
          <a:xfrm>
            <a:off x="7485925" y="24200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23"/>
          <p:cNvSpPr/>
          <p:nvPr/>
        </p:nvSpPr>
        <p:spPr>
          <a:xfrm>
            <a:off x="5400122" y="37030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5" name="Google Shape;2235;p123"/>
          <p:cNvCxnSpPr>
            <a:stCxn id="2234" idx="6"/>
            <a:endCxn id="2236" idx="2"/>
          </p:cNvCxnSpPr>
          <p:nvPr/>
        </p:nvCxnSpPr>
        <p:spPr>
          <a:xfrm>
            <a:off x="5473322" y="37396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7" name="Google Shape;2237;p123"/>
          <p:cNvSpPr txBox="1"/>
          <p:nvPr>
            <p:ph idx="4294967295" type="body"/>
          </p:nvPr>
        </p:nvSpPr>
        <p:spPr>
          <a:xfrm rot="-5400000">
            <a:off x="2407335" y="2476100"/>
            <a:ext cx="32649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respiratory rate (breaths/min)</a:t>
            </a:r>
            <a:endParaRPr sz="1600"/>
          </a:p>
        </p:txBody>
      </p:sp>
      <p:sp>
        <p:nvSpPr>
          <p:cNvPr id="2238" name="Google Shape;2238;p123"/>
          <p:cNvSpPr txBox="1"/>
          <p:nvPr>
            <p:ph idx="4294967295" type="body"/>
          </p:nvPr>
        </p:nvSpPr>
        <p:spPr>
          <a:xfrm rot="-5400000">
            <a:off x="2092035" y="2486600"/>
            <a:ext cx="3264900" cy="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blood pressure (mmHg)</a:t>
            </a:r>
            <a:br>
              <a:rPr lang="en-GB" sz="1600"/>
            </a:br>
            <a:endParaRPr sz="1600"/>
          </a:p>
        </p:txBody>
      </p:sp>
      <p:sp>
        <p:nvSpPr>
          <p:cNvPr id="2239" name="Google Shape;2239;p123"/>
          <p:cNvSpPr/>
          <p:nvPr/>
        </p:nvSpPr>
        <p:spPr>
          <a:xfrm>
            <a:off x="36460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0" name="Google Shape;2240;p123"/>
          <p:cNvSpPr/>
          <p:nvPr/>
        </p:nvSpPr>
        <p:spPr>
          <a:xfrm>
            <a:off x="42404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123"/>
          <p:cNvSpPr/>
          <p:nvPr/>
        </p:nvSpPr>
        <p:spPr>
          <a:xfrm>
            <a:off x="39558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2" name="Google Shape;2242;p123"/>
          <p:cNvCxnSpPr/>
          <p:nvPr/>
        </p:nvCxnSpPr>
        <p:spPr>
          <a:xfrm rot="10800000">
            <a:off x="8103381" y="1360526"/>
            <a:ext cx="0" cy="28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3" name="Google Shape;2243;p123"/>
          <p:cNvSpPr txBox="1"/>
          <p:nvPr>
            <p:ph idx="4294967295" type="body"/>
          </p:nvPr>
        </p:nvSpPr>
        <p:spPr>
          <a:xfrm rot="5400000">
            <a:off x="7408067" y="2931525"/>
            <a:ext cx="2577300" cy="2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body temperature (℃)</a:t>
            </a:r>
            <a:endParaRPr sz="1600"/>
          </a:p>
        </p:txBody>
      </p:sp>
      <p:sp>
        <p:nvSpPr>
          <p:cNvPr id="2244" name="Google Shape;2244;p123"/>
          <p:cNvSpPr/>
          <p:nvPr/>
        </p:nvSpPr>
        <p:spPr>
          <a:xfrm>
            <a:off x="8605215" y="40414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23"/>
          <p:cNvSpPr/>
          <p:nvPr/>
        </p:nvSpPr>
        <p:spPr>
          <a:xfrm>
            <a:off x="5392575" y="18473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23"/>
          <p:cNvSpPr/>
          <p:nvPr/>
        </p:nvSpPr>
        <p:spPr>
          <a:xfrm>
            <a:off x="5925969" y="18551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23"/>
          <p:cNvSpPr/>
          <p:nvPr/>
        </p:nvSpPr>
        <p:spPr>
          <a:xfrm>
            <a:off x="6450839" y="18918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123"/>
          <p:cNvSpPr/>
          <p:nvPr/>
        </p:nvSpPr>
        <p:spPr>
          <a:xfrm>
            <a:off x="6983388" y="18518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23"/>
          <p:cNvSpPr/>
          <p:nvPr/>
        </p:nvSpPr>
        <p:spPr>
          <a:xfrm>
            <a:off x="7510732" y="18970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0" name="Google Shape;2250;p123"/>
          <p:cNvCxnSpPr>
            <a:stCxn id="2245" idx="3"/>
            <a:endCxn id="2246" idx="1"/>
          </p:cNvCxnSpPr>
          <p:nvPr/>
        </p:nvCxnSpPr>
        <p:spPr>
          <a:xfrm>
            <a:off x="5485875" y="18940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1" name="Google Shape;2251;p123"/>
          <p:cNvCxnSpPr>
            <a:stCxn id="2247" idx="1"/>
            <a:endCxn id="2246" idx="3"/>
          </p:cNvCxnSpPr>
          <p:nvPr/>
        </p:nvCxnSpPr>
        <p:spPr>
          <a:xfrm rot="10800000">
            <a:off x="6019139" y="19018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123"/>
          <p:cNvCxnSpPr>
            <a:stCxn id="2248" idx="1"/>
            <a:endCxn id="2247" idx="3"/>
          </p:cNvCxnSpPr>
          <p:nvPr/>
        </p:nvCxnSpPr>
        <p:spPr>
          <a:xfrm flipH="1">
            <a:off x="6544188" y="18985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123"/>
          <p:cNvCxnSpPr>
            <a:stCxn id="2249" idx="1"/>
            <a:endCxn id="2248" idx="3"/>
          </p:cNvCxnSpPr>
          <p:nvPr/>
        </p:nvCxnSpPr>
        <p:spPr>
          <a:xfrm rot="10800000">
            <a:off x="7076632" y="18984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6" name="Google Shape;2236;p123"/>
          <p:cNvSpPr/>
          <p:nvPr/>
        </p:nvSpPr>
        <p:spPr>
          <a:xfrm>
            <a:off x="5929844" y="3779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123"/>
          <p:cNvSpPr/>
          <p:nvPr/>
        </p:nvSpPr>
        <p:spPr>
          <a:xfrm>
            <a:off x="6459566" y="4000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23"/>
          <p:cNvSpPr/>
          <p:nvPr/>
        </p:nvSpPr>
        <p:spPr>
          <a:xfrm>
            <a:off x="6989289" y="39242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6" name="Google Shape;2256;p123"/>
          <p:cNvSpPr/>
          <p:nvPr/>
        </p:nvSpPr>
        <p:spPr>
          <a:xfrm>
            <a:off x="7522689" y="38948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7" name="Google Shape;2257;p123"/>
          <p:cNvCxnSpPr>
            <a:stCxn id="2236" idx="5"/>
            <a:endCxn id="2254" idx="2"/>
          </p:cNvCxnSpPr>
          <p:nvPr/>
        </p:nvCxnSpPr>
        <p:spPr>
          <a:xfrm>
            <a:off x="5992324" y="38417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123"/>
          <p:cNvCxnSpPr>
            <a:endCxn id="2255" idx="2"/>
          </p:cNvCxnSpPr>
          <p:nvPr/>
        </p:nvCxnSpPr>
        <p:spPr>
          <a:xfrm flipH="1" rot="10800000">
            <a:off x="6532689" y="39608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9" name="Google Shape;2259;p123"/>
          <p:cNvCxnSpPr>
            <a:endCxn id="2256" idx="2"/>
          </p:cNvCxnSpPr>
          <p:nvPr/>
        </p:nvCxnSpPr>
        <p:spPr>
          <a:xfrm flipH="1" rot="10800000">
            <a:off x="7064289" y="39314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0" name="Google Shape;2260;p123"/>
          <p:cNvSpPr txBox="1"/>
          <p:nvPr>
            <p:ph idx="4294967295" type="body"/>
          </p:nvPr>
        </p:nvSpPr>
        <p:spPr>
          <a:xfrm>
            <a:off x="6134874" y="4487086"/>
            <a:ext cx="453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day</a:t>
            </a:r>
            <a:endParaRPr sz="1600"/>
          </a:p>
        </p:txBody>
      </p:sp>
      <p:sp>
        <p:nvSpPr>
          <p:cNvPr id="2261" name="Google Shape;2261;p123"/>
          <p:cNvSpPr txBox="1"/>
          <p:nvPr>
            <p:ph idx="1" type="body"/>
          </p:nvPr>
        </p:nvSpPr>
        <p:spPr>
          <a:xfrm>
            <a:off x="324000" y="1247901"/>
            <a:ext cx="3045600" cy="17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f) A healthy blood pressure  </a:t>
            </a:r>
            <a:br>
              <a:rPr lang="en-GB" sz="1600"/>
            </a:br>
            <a:r>
              <a:rPr lang="en-GB" sz="1600"/>
              <a:t>    recording is around 120</a:t>
            </a:r>
            <a:br>
              <a:rPr lang="en-GB" sz="1600"/>
            </a:br>
            <a:r>
              <a:rPr lang="en-GB" sz="1600"/>
              <a:t>                                       70</a:t>
            </a:r>
            <a:br>
              <a:rPr lang="en-GB" sz="1600"/>
            </a:br>
            <a:r>
              <a:rPr lang="en-GB" sz="1600"/>
              <a:t>   On what day(s) is the  </a:t>
            </a:r>
            <a:br>
              <a:rPr lang="en-GB" sz="1600"/>
            </a:br>
            <a:r>
              <a:rPr lang="en-GB" sz="1600"/>
              <a:t>   patient’s blood pressure </a:t>
            </a:r>
            <a:br>
              <a:rPr lang="en-GB" sz="1600"/>
            </a:br>
            <a:r>
              <a:rPr lang="en-GB" sz="1600"/>
              <a:t>   around these levels?</a:t>
            </a:r>
            <a:endParaRPr sz="1600"/>
          </a:p>
        </p:txBody>
      </p:sp>
      <p:cxnSp>
        <p:nvCxnSpPr>
          <p:cNvPr id="2262" name="Google Shape;2262;p123"/>
          <p:cNvCxnSpPr/>
          <p:nvPr/>
        </p:nvCxnSpPr>
        <p:spPr>
          <a:xfrm>
            <a:off x="2533050" y="1785485"/>
            <a:ext cx="345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3" name="Google Shape;2263;p123"/>
          <p:cNvSpPr txBox="1"/>
          <p:nvPr>
            <p:ph idx="1" type="body"/>
          </p:nvPr>
        </p:nvSpPr>
        <p:spPr>
          <a:xfrm>
            <a:off x="552600" y="3074656"/>
            <a:ext cx="25533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Friday matches exactly.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4" name="Google Shape;2264;p123"/>
          <p:cNvSpPr txBox="1"/>
          <p:nvPr>
            <p:ph idx="1" type="body"/>
          </p:nvPr>
        </p:nvSpPr>
        <p:spPr>
          <a:xfrm>
            <a:off x="552600" y="3531855"/>
            <a:ext cx="2553300" cy="12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patient’s blood pressure is also close to this on Thursday and Wednesday.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65" name="Google Shape;2265;p123"/>
          <p:cNvGrpSpPr/>
          <p:nvPr/>
        </p:nvGrpSpPr>
        <p:grpSpPr>
          <a:xfrm>
            <a:off x="5406424" y="2807437"/>
            <a:ext cx="2201272" cy="382527"/>
            <a:chOff x="5406424" y="2807437"/>
            <a:chExt cx="2201272" cy="382527"/>
          </a:xfrm>
        </p:grpSpPr>
        <p:sp>
          <p:nvSpPr>
            <p:cNvPr id="2266" name="Google Shape;2266;p123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67" name="Google Shape;2267;p123"/>
            <p:cNvCxnSpPr>
              <a:stCxn id="2266" idx="5"/>
              <a:endCxn id="2268" idx="1"/>
            </p:cNvCxnSpPr>
            <p:nvPr/>
          </p:nvCxnSpPr>
          <p:spPr>
            <a:xfrm>
              <a:off x="5472574" y="2845537"/>
              <a:ext cx="482100" cy="77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8" name="Google Shape;2268;p123"/>
            <p:cNvSpPr/>
            <p:nvPr/>
          </p:nvSpPr>
          <p:spPr>
            <a:xfrm>
              <a:off x="5932479" y="28851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9" name="Google Shape;2269;p123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0" name="Google Shape;2270;p123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1" name="Google Shape;2271;p123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72" name="Google Shape;2272;p123"/>
            <p:cNvCxnSpPr>
              <a:stCxn id="2268" idx="5"/>
              <a:endCxn id="2269" idx="1"/>
            </p:cNvCxnSpPr>
            <p:nvPr/>
          </p:nvCxnSpPr>
          <p:spPr>
            <a:xfrm>
              <a:off x="5998629" y="2923265"/>
              <a:ext cx="487200" cy="240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3" name="Google Shape;2273;p123"/>
            <p:cNvCxnSpPr>
              <a:stCxn id="2269" idx="5"/>
              <a:endCxn id="2270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4" name="Google Shape;2274;p123"/>
            <p:cNvCxnSpPr>
              <a:stCxn id="2270" idx="5"/>
              <a:endCxn id="2271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75" name="Google Shape;2275;p123"/>
          <p:cNvSpPr txBox="1"/>
          <p:nvPr>
            <p:ph idx="4294967295" type="body"/>
          </p:nvPr>
        </p:nvSpPr>
        <p:spPr>
          <a:xfrm>
            <a:off x="8180765" y="4084358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2276" name="Google Shape;2276;p123"/>
          <p:cNvSpPr txBox="1"/>
          <p:nvPr>
            <p:ph idx="4294967295" type="body"/>
          </p:nvPr>
        </p:nvSpPr>
        <p:spPr>
          <a:xfrm>
            <a:off x="8180765" y="378860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2277" name="Google Shape;2277;p123"/>
          <p:cNvSpPr txBox="1"/>
          <p:nvPr>
            <p:ph idx="4294967295" type="body"/>
          </p:nvPr>
        </p:nvSpPr>
        <p:spPr>
          <a:xfrm>
            <a:off x="8180765" y="3492847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2278" name="Google Shape;2278;p123"/>
          <p:cNvSpPr txBox="1"/>
          <p:nvPr>
            <p:ph idx="4294967295" type="body"/>
          </p:nvPr>
        </p:nvSpPr>
        <p:spPr>
          <a:xfrm>
            <a:off x="8180765" y="3197092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2279" name="Google Shape;2279;p123"/>
          <p:cNvSpPr txBox="1"/>
          <p:nvPr>
            <p:ph idx="4294967295" type="body"/>
          </p:nvPr>
        </p:nvSpPr>
        <p:spPr>
          <a:xfrm>
            <a:off x="8180765" y="290133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2280" name="Google Shape;2280;p123"/>
          <p:cNvSpPr txBox="1"/>
          <p:nvPr>
            <p:ph idx="4294967295" type="body"/>
          </p:nvPr>
        </p:nvSpPr>
        <p:spPr>
          <a:xfrm>
            <a:off x="8180765" y="2605581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</a:t>
            </a:r>
            <a:endParaRPr sz="1600"/>
          </a:p>
        </p:txBody>
      </p:sp>
      <p:sp>
        <p:nvSpPr>
          <p:cNvPr id="2281" name="Google Shape;2281;p123"/>
          <p:cNvSpPr txBox="1"/>
          <p:nvPr>
            <p:ph idx="4294967295" type="body"/>
          </p:nvPr>
        </p:nvSpPr>
        <p:spPr>
          <a:xfrm>
            <a:off x="8180765" y="2309826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2282" name="Google Shape;2282;p123"/>
          <p:cNvSpPr txBox="1"/>
          <p:nvPr>
            <p:ph idx="4294967295" type="body"/>
          </p:nvPr>
        </p:nvSpPr>
        <p:spPr>
          <a:xfrm>
            <a:off x="8180765" y="2014070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35</a:t>
            </a:r>
            <a:endParaRPr sz="1600"/>
          </a:p>
        </p:txBody>
      </p:sp>
      <p:sp>
        <p:nvSpPr>
          <p:cNvPr id="2283" name="Google Shape;2283;p123"/>
          <p:cNvSpPr txBox="1"/>
          <p:nvPr>
            <p:ph idx="4294967295" type="body"/>
          </p:nvPr>
        </p:nvSpPr>
        <p:spPr>
          <a:xfrm>
            <a:off x="8180765" y="1718315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2284" name="Google Shape;2284;p123"/>
          <p:cNvSpPr txBox="1"/>
          <p:nvPr>
            <p:ph idx="4294967295" type="body"/>
          </p:nvPr>
        </p:nvSpPr>
        <p:spPr>
          <a:xfrm>
            <a:off x="8180765" y="1422559"/>
            <a:ext cx="3906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12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Jobs in the medical profession may require the use of formulae and calculations.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t</a:t>
            </a:r>
            <a:r>
              <a:rPr lang="en-GB" sz="2000"/>
              <a:t>he correct drug dosage for a patient must be </a:t>
            </a:r>
            <a:r>
              <a:rPr lang="en-GB" sz="2000"/>
              <a:t>correctly </a:t>
            </a:r>
            <a:r>
              <a:rPr lang="en-GB" sz="2000"/>
              <a:t>calculated. There are formulae for how to calculate this.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Interpreting data is a vital skill for medical staff.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graphs showing a patient’s vital signs may be interpreted to determine a course of action.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90" name="Google Shape;2290;p12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12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96" name="Google Shape;2296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