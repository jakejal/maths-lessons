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90A1ED-8523-4A29-ABDF-D25121938CB8}">
  <a:tblStyle styleId="{6A90A1ED-8523-4A29-ABDF-D25121938C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0f8b0bd22_0_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0f8b0bd2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7998" y="12193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Arithmetic in medical professions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76400" y="18261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a patient’s fluid input and output records during four hours.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76400" y="5026500"/>
            <a:ext cx="6624000" cy="15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fluid balance for each hour.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Calculate the overall fluid balance for the entire 4-hour period.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7" name="Google Shape;107;p12"/>
          <p:cNvGraphicFramePr/>
          <p:nvPr/>
        </p:nvGraphicFramePr>
        <p:xfrm>
          <a:off x="467975" y="22222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{6A90A1ED-8523-4A29-ABDF-D25121938CB8}</a:tableStyleId>
              </a:tblPr>
              <a:tblGrid>
                <a:gridCol w="637825"/>
                <a:gridCol w="661725"/>
                <a:gridCol w="1058050"/>
                <a:gridCol w="859900"/>
                <a:gridCol w="766625"/>
                <a:gridCol w="953150"/>
                <a:gridCol w="859900"/>
                <a:gridCol w="826850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fluid balance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drink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liquid medication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IV fluids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 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urine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vomit or aspiration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drain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8" name="Google Shape;108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467998" y="7621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Using formulae in medical professions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476400" y="1292700"/>
            <a:ext cx="82377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patient has a mass of 90 kg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are prescribed 600 mg of a drug called rifampicin.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drug comes vials which each have a volume of 10 ml.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Each vial contains 300 mg of the drug.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It need to be diluted up to 500 ml for the IV bag.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Once diluted, it needs to be administered continuously over 3 hours.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formula below to calculate the dose required.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476400" y="4272275"/>
            <a:ext cx="64416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‘administration rate’ is the amount of the diluted drug that is given to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patient per hour from the IV bag. Calculate administration rate for this scenario.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2183849" y="2961900"/>
            <a:ext cx="335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 of drug prescribed (mg)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733033" y="3096044"/>
            <a:ext cx="1817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drug dose (ml)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" name="Google Shape;119;p13"/>
          <p:cNvCxnSpPr/>
          <p:nvPr/>
        </p:nvCxnSpPr>
        <p:spPr>
          <a:xfrm>
            <a:off x="2055705" y="3229241"/>
            <a:ext cx="256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3"/>
          <p:cNvSpPr txBox="1"/>
          <p:nvPr/>
        </p:nvSpPr>
        <p:spPr>
          <a:xfrm>
            <a:off x="2183849" y="3239375"/>
            <a:ext cx="291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 of drug per vial (mg)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4774653" y="3128350"/>
            <a:ext cx="200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1F1F1F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volume of each vial (ml)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476400" y="5407500"/>
            <a:ext cx="8237700" cy="15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 mg = 1000 mcg. How many mcg of rifampicin was prescribed to the patient?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Use your answers from parts (b) to (c) and the formula below to calculate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mcg/kg/min settings for the IV drip.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1989126" y="6892850"/>
            <a:ext cx="4137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administration rate (ml/hr) </a:t>
            </a:r>
            <a:r>
              <a:rPr lang="en-GB" sz="1200">
                <a:solidFill>
                  <a:srgbClr val="1F1F1F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amount prescribed (mcg)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628800" y="6970225"/>
            <a:ext cx="12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drip settings   =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(mcg/kg/min)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" name="Google Shape;125;p13"/>
          <p:cNvCxnSpPr/>
          <p:nvPr/>
        </p:nvCxnSpPr>
        <p:spPr>
          <a:xfrm>
            <a:off x="1948445" y="7098984"/>
            <a:ext cx="4104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3"/>
          <p:cNvSpPr txBox="1"/>
          <p:nvPr/>
        </p:nvSpPr>
        <p:spPr>
          <a:xfrm>
            <a:off x="2006036" y="7127086"/>
            <a:ext cx="308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bag volume (ml) </a:t>
            </a:r>
            <a:r>
              <a:rPr lang="en-GB" sz="1200">
                <a:solidFill>
                  <a:srgbClr val="1F1F1F"/>
                </a:solidFill>
                <a:latin typeface="Lexend"/>
                <a:ea typeface="Lexend"/>
                <a:cs typeface="Lexend"/>
                <a:sym typeface="Lexend"/>
              </a:rPr>
              <a:t>× patient mass (kg) × 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28" name="Google Shape;128;p13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sp>
        <p:nvSpPr>
          <p:cNvPr id="135" name="Google Shape;135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467998" y="7621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C: Using formulae in medical professions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476400" y="1292700"/>
            <a:ext cx="6673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graph shows a patient’s vital signs over five 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476400" y="5407500"/>
            <a:ext cx="58650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On what day was their respiratory rate at its lowest?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476400" y="5821952"/>
            <a:ext cx="41673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was their heart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on Tuesday?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478800" y="6236404"/>
            <a:ext cx="46692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Lucas thinks their body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temperature was 155℃ on Monday.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mistake has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made?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468000" y="7123207"/>
            <a:ext cx="38979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What was their body temperature on Monday?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468425" y="7537659"/>
            <a:ext cx="47826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Describe the trend in their blood pressure over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five 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478800" y="8578350"/>
            <a:ext cx="54144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A healthy blood pressure recording is around 120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what day(s) is the patient’s blood pressure around these levels?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" name="Google Shape;145;p14"/>
          <p:cNvCxnSpPr/>
          <p:nvPr/>
        </p:nvCxnSpPr>
        <p:spPr>
          <a:xfrm>
            <a:off x="4008825" y="8765689"/>
            <a:ext cx="24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4"/>
          <p:cNvSpPr txBox="1"/>
          <p:nvPr/>
        </p:nvSpPr>
        <p:spPr>
          <a:xfrm>
            <a:off x="4042642" y="8776503"/>
            <a:ext cx="243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525" y="1987400"/>
            <a:ext cx="3194450" cy="2653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14"/>
          <p:cNvCxnSpPr/>
          <p:nvPr/>
        </p:nvCxnSpPr>
        <p:spPr>
          <a:xfrm rot="10800000">
            <a:off x="2389516" y="1817726"/>
            <a:ext cx="0" cy="28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4"/>
          <p:cNvCxnSpPr/>
          <p:nvPr/>
        </p:nvCxnSpPr>
        <p:spPr>
          <a:xfrm>
            <a:off x="2389516" y="4652199"/>
            <a:ext cx="3205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14"/>
          <p:cNvSpPr txBox="1"/>
          <p:nvPr/>
        </p:nvSpPr>
        <p:spPr>
          <a:xfrm rot="-5400000">
            <a:off x="621125" y="2910200"/>
            <a:ext cx="24072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heart rate (beats/min)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2834190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3354059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3936730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4414731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4997403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1937600" y="4541558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1937600" y="4249582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1937600" y="3957607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1937600" y="3665631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1937600" y="3373655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1937600" y="3081680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1937600" y="2789704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937600" y="2497728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937600" y="2205753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1937600" y="1913777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2860125" y="2596051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388325" y="2713516"/>
            <a:ext cx="141300" cy="818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3922500" y="2842691"/>
            <a:ext cx="141300" cy="694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442125" y="2842690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4971325" y="2877291"/>
            <a:ext cx="141300" cy="7350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2885522" y="41602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14"/>
          <p:cNvCxnSpPr>
            <a:stCxn id="171" idx="6"/>
            <a:endCxn id="173" idx="2"/>
          </p:cNvCxnSpPr>
          <p:nvPr/>
        </p:nvCxnSpPr>
        <p:spPr>
          <a:xfrm>
            <a:off x="2958722" y="4196847"/>
            <a:ext cx="456600" cy="76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14"/>
          <p:cNvSpPr txBox="1"/>
          <p:nvPr/>
        </p:nvSpPr>
        <p:spPr>
          <a:xfrm rot="-5400000">
            <a:off x="321575" y="2904950"/>
            <a:ext cx="2407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respiratory rate (breaths/min)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 rot="-5400000">
            <a:off x="6275" y="2915450"/>
            <a:ext cx="2407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blood pressure (mmHg)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1131435" y="4306441"/>
            <a:ext cx="156900" cy="340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1725816" y="4300358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1441223" y="4310414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14"/>
          <p:cNvCxnSpPr/>
          <p:nvPr/>
        </p:nvCxnSpPr>
        <p:spPr>
          <a:xfrm rot="10800000">
            <a:off x="5588781" y="1817726"/>
            <a:ext cx="0" cy="28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14"/>
          <p:cNvSpPr txBox="1"/>
          <p:nvPr/>
        </p:nvSpPr>
        <p:spPr>
          <a:xfrm rot="5400000">
            <a:off x="5322925" y="3492675"/>
            <a:ext cx="1718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body temperature (℃)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6090615" y="4498616"/>
            <a:ext cx="158400" cy="1584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2877975" y="2304565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3411369" y="231236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3936239" y="2349019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468788" y="230909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4996132" y="2354271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14"/>
          <p:cNvCxnSpPr>
            <a:stCxn id="182" idx="3"/>
            <a:endCxn id="183" idx="1"/>
          </p:cNvCxnSpPr>
          <p:nvPr/>
        </p:nvCxnSpPr>
        <p:spPr>
          <a:xfrm>
            <a:off x="2971275" y="2351215"/>
            <a:ext cx="440100" cy="780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4"/>
          <p:cNvCxnSpPr>
            <a:stCxn id="184" idx="1"/>
            <a:endCxn id="183" idx="3"/>
          </p:cNvCxnSpPr>
          <p:nvPr/>
        </p:nvCxnSpPr>
        <p:spPr>
          <a:xfrm rot="10800000">
            <a:off x="3504539" y="2359069"/>
            <a:ext cx="431700" cy="3660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4"/>
          <p:cNvCxnSpPr>
            <a:stCxn id="185" idx="1"/>
            <a:endCxn id="184" idx="3"/>
          </p:cNvCxnSpPr>
          <p:nvPr/>
        </p:nvCxnSpPr>
        <p:spPr>
          <a:xfrm flipH="1">
            <a:off x="4029588" y="2355748"/>
            <a:ext cx="439200" cy="3990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4"/>
          <p:cNvCxnSpPr>
            <a:stCxn id="186" idx="1"/>
            <a:endCxn id="185" idx="3"/>
          </p:cNvCxnSpPr>
          <p:nvPr/>
        </p:nvCxnSpPr>
        <p:spPr>
          <a:xfrm rot="10800000">
            <a:off x="4562032" y="2355621"/>
            <a:ext cx="434100" cy="4530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4"/>
          <p:cNvSpPr/>
          <p:nvPr/>
        </p:nvSpPr>
        <p:spPr>
          <a:xfrm>
            <a:off x="3415244" y="42364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3944966" y="44576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4474689" y="43814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5008089" y="4352071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14"/>
          <p:cNvCxnSpPr>
            <a:stCxn id="173" idx="5"/>
            <a:endCxn id="191" idx="2"/>
          </p:cNvCxnSpPr>
          <p:nvPr/>
        </p:nvCxnSpPr>
        <p:spPr>
          <a:xfrm>
            <a:off x="3477724" y="4298927"/>
            <a:ext cx="467100" cy="1953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14"/>
          <p:cNvCxnSpPr>
            <a:endCxn id="192" idx="2"/>
          </p:cNvCxnSpPr>
          <p:nvPr/>
        </p:nvCxnSpPr>
        <p:spPr>
          <a:xfrm flipH="1" rot="10800000">
            <a:off x="4018089" y="4418092"/>
            <a:ext cx="456600" cy="76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4"/>
          <p:cNvCxnSpPr>
            <a:endCxn id="193" idx="2"/>
          </p:cNvCxnSpPr>
          <p:nvPr/>
        </p:nvCxnSpPr>
        <p:spPr>
          <a:xfrm flipH="1" rot="10800000">
            <a:off x="4549689" y="4388671"/>
            <a:ext cx="458400" cy="38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14"/>
          <p:cNvSpPr txBox="1"/>
          <p:nvPr/>
        </p:nvSpPr>
        <p:spPr>
          <a:xfrm>
            <a:off x="3696474" y="4845457"/>
            <a:ext cx="45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" name="Google Shape;198;p14"/>
          <p:cNvGrpSpPr/>
          <p:nvPr/>
        </p:nvGrpSpPr>
        <p:grpSpPr>
          <a:xfrm>
            <a:off x="2891824" y="3264637"/>
            <a:ext cx="2201272" cy="382527"/>
            <a:chOff x="5406424" y="2807437"/>
            <a:chExt cx="2201272" cy="382527"/>
          </a:xfrm>
        </p:grpSpPr>
        <p:sp>
          <p:nvSpPr>
            <p:cNvPr id="199" name="Google Shape;199;p14"/>
            <p:cNvSpPr/>
            <p:nvPr/>
          </p:nvSpPr>
          <p:spPr>
            <a:xfrm>
              <a:off x="5406424" y="280743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0" name="Google Shape;200;p14"/>
            <p:cNvCxnSpPr>
              <a:stCxn id="199" idx="5"/>
              <a:endCxn id="201" idx="1"/>
            </p:cNvCxnSpPr>
            <p:nvPr/>
          </p:nvCxnSpPr>
          <p:spPr>
            <a:xfrm>
              <a:off x="5472574" y="2845537"/>
              <a:ext cx="482100" cy="90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" name="Google Shape;201;p14"/>
            <p:cNvSpPr/>
            <p:nvPr/>
          </p:nvSpPr>
          <p:spPr>
            <a:xfrm>
              <a:off x="5932479" y="2897771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6463728" y="290915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89773" y="29613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7519495" y="31137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5" name="Google Shape;205;p14"/>
            <p:cNvCxnSpPr>
              <a:stCxn id="201" idx="5"/>
              <a:endCxn id="202" idx="1"/>
            </p:cNvCxnSpPr>
            <p:nvPr/>
          </p:nvCxnSpPr>
          <p:spPr>
            <a:xfrm>
              <a:off x="5998629" y="2935871"/>
              <a:ext cx="487200" cy="114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14"/>
            <p:cNvCxnSpPr>
              <a:stCxn id="202" idx="5"/>
              <a:endCxn id="203" idx="1"/>
            </p:cNvCxnSpPr>
            <p:nvPr/>
          </p:nvCxnSpPr>
          <p:spPr>
            <a:xfrm>
              <a:off x="6529878" y="2947257"/>
              <a:ext cx="481800" cy="522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14"/>
            <p:cNvCxnSpPr>
              <a:stCxn id="203" idx="5"/>
              <a:endCxn id="204" idx="1"/>
            </p:cNvCxnSpPr>
            <p:nvPr/>
          </p:nvCxnSpPr>
          <p:spPr>
            <a:xfrm>
              <a:off x="7055923" y="2999465"/>
              <a:ext cx="485700" cy="1524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8" name="Google Shape;208;p14"/>
          <p:cNvSpPr txBox="1"/>
          <p:nvPr/>
        </p:nvSpPr>
        <p:spPr>
          <a:xfrm>
            <a:off x="5666165" y="4541558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5666165" y="4245802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4"/>
          <p:cNvSpPr txBox="1"/>
          <p:nvPr/>
        </p:nvSpPr>
        <p:spPr>
          <a:xfrm>
            <a:off x="5666165" y="3950047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4"/>
          <p:cNvSpPr txBox="1"/>
          <p:nvPr/>
        </p:nvSpPr>
        <p:spPr>
          <a:xfrm>
            <a:off x="5666165" y="3654292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5666165" y="3358536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4"/>
          <p:cNvSpPr txBox="1"/>
          <p:nvPr/>
        </p:nvSpPr>
        <p:spPr>
          <a:xfrm>
            <a:off x="5666165" y="3062781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5666165" y="2767026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5666165" y="2471270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5666165" y="2175515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5666165" y="1879759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