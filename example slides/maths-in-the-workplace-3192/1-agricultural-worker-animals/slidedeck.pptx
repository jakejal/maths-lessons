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2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5F091C-C0ED-46E4-BC72-A24479500CE3}">
  <a:tblStyle styleId="{DF5F091C-C0ED-46E4-BC72-A24479500C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f0d8abe3b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2f0d8abe3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2eff59bb43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2eff59bb43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f0928c83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2f0928c83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2f0928c83f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2f0928c83f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2f0d8abe3be_0_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2f0d8abe3be_0_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2f0d8abe3be_0_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2f0d8abe3be_0_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2f0d8abe3be_0_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2f0d8abe3be_0_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2f0d8abe3be_0_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2f0d8abe3be_0_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2f102837945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2f102837945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2f102837945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2f102837945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2f10283794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2f10283794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2f10283794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2f10283794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2f10283794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2f10283794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2f10283794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2f10283794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2f102837945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2f102837945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2f10283794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2f10283794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2f102837945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2f10283794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2f102837945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2f102837945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2f102837945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2f102837945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2f102837945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2f102837945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2f102837945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2f102837945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2f102837945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2f102837945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2f102837945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2f102837945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2f102837945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2f102837945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2f102837945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2f102837945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2f102837945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2f102837945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f102837945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f102837945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2f102837945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2f102837945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2f102837945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2f102837945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2f102837945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2f102837945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2f102837945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1" name="Google Shape;1161;g2f102837945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2f102837945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6" name="Google Shape;1176;g2f102837945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2f102837945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2f102837945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2f102837945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4" name="Google Shape;1214;g2f102837945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2f102837945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2f102837945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2f102837945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2f102837945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2f102837945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4" name="Google Shape;1244;g2f102837945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2f102837945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2f102837945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2f102837945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2f102837945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2f102837945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2f102837945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2f102837945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2f102837945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2f102837945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2f102837945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2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2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2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2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2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8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7.png"/><Relationship Id="rId7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78.png"/><Relationship Id="rId5" Type="http://schemas.openxmlformats.org/officeDocument/2006/relationships/image" Target="../media/image41.png"/><Relationship Id="rId6" Type="http://schemas.openxmlformats.org/officeDocument/2006/relationships/image" Target="../media/image40.png"/><Relationship Id="rId7" Type="http://schemas.openxmlformats.org/officeDocument/2006/relationships/image" Target="../media/image3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78.png"/><Relationship Id="rId4" Type="http://schemas.openxmlformats.org/officeDocument/2006/relationships/image" Target="../media/image34.png"/><Relationship Id="rId9" Type="http://schemas.openxmlformats.org/officeDocument/2006/relationships/image" Target="../media/image35.png"/><Relationship Id="rId5" Type="http://schemas.openxmlformats.org/officeDocument/2006/relationships/image" Target="../media/image39.png"/><Relationship Id="rId6" Type="http://schemas.openxmlformats.org/officeDocument/2006/relationships/image" Target="../media/image44.png"/><Relationship Id="rId7" Type="http://schemas.openxmlformats.org/officeDocument/2006/relationships/image" Target="../media/image41.png"/><Relationship Id="rId8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78.png"/><Relationship Id="rId4" Type="http://schemas.openxmlformats.org/officeDocument/2006/relationships/image" Target="../media/image46.png"/><Relationship Id="rId11" Type="http://schemas.openxmlformats.org/officeDocument/2006/relationships/image" Target="../media/image35.png"/><Relationship Id="rId10" Type="http://schemas.openxmlformats.org/officeDocument/2006/relationships/image" Target="../media/image56.png"/><Relationship Id="rId9" Type="http://schemas.openxmlformats.org/officeDocument/2006/relationships/image" Target="../media/image40.png"/><Relationship Id="rId5" Type="http://schemas.openxmlformats.org/officeDocument/2006/relationships/image" Target="../media/image34.png"/><Relationship Id="rId6" Type="http://schemas.openxmlformats.org/officeDocument/2006/relationships/image" Target="../media/image39.png"/><Relationship Id="rId7" Type="http://schemas.openxmlformats.org/officeDocument/2006/relationships/image" Target="../media/image44.png"/><Relationship Id="rId8" Type="http://schemas.openxmlformats.org/officeDocument/2006/relationships/image" Target="../media/image4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0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0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0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0.png"/><Relationship Id="rId4" Type="http://schemas.openxmlformats.org/officeDocument/2006/relationships/image" Target="../media/image5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0.png"/><Relationship Id="rId4" Type="http://schemas.openxmlformats.org/officeDocument/2006/relationships/image" Target="../media/image5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0.png"/><Relationship Id="rId4" Type="http://schemas.openxmlformats.org/officeDocument/2006/relationships/image" Target="../media/image5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image" Target="../media/image49.png"/><Relationship Id="rId4" Type="http://schemas.openxmlformats.org/officeDocument/2006/relationships/image" Target="../media/image5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4.png"/><Relationship Id="rId4" Type="http://schemas.openxmlformats.org/officeDocument/2006/relationships/image" Target="../media/image57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4.png"/><Relationship Id="rId4" Type="http://schemas.openxmlformats.org/officeDocument/2006/relationships/image" Target="../media/image57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7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4.png"/><Relationship Id="rId4" Type="http://schemas.openxmlformats.org/officeDocument/2006/relationships/image" Target="../media/image6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4.png"/><Relationship Id="rId4" Type="http://schemas.openxmlformats.org/officeDocument/2006/relationships/image" Target="../media/image6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4.png"/><Relationship Id="rId4" Type="http://schemas.openxmlformats.org/officeDocument/2006/relationships/image" Target="../media/image6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6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4.png"/><Relationship Id="rId4" Type="http://schemas.openxmlformats.org/officeDocument/2006/relationships/image" Target="../media/image6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4.png"/><Relationship Id="rId4" Type="http://schemas.openxmlformats.org/officeDocument/2006/relationships/image" Target="../media/image62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4.png"/><Relationship Id="rId4" Type="http://schemas.openxmlformats.org/officeDocument/2006/relationships/image" Target="../media/image62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6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4.png"/><Relationship Id="rId4" Type="http://schemas.openxmlformats.org/officeDocument/2006/relationships/image" Target="../media/image62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4.png"/><Relationship Id="rId4" Type="http://schemas.openxmlformats.org/officeDocument/2006/relationships/image" Target="../media/image6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4.png"/><Relationship Id="rId4" Type="http://schemas.openxmlformats.org/officeDocument/2006/relationships/image" Target="../media/image6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62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7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67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67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67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5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65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65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65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2;p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4;p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4" name="Google Shape;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3" name="Google Shape;5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5" name="Google Shape;5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82">
            <a:off x="6923956" y="1273792"/>
            <a:ext cx="1784155" cy="140454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66" name="Google Shape;6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8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3" name="Google Shape;8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" name="Google Shape;8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8119">
            <a:off x="6742284" y="969390"/>
            <a:ext cx="2161157" cy="191529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2" name="Google Shape;10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" name="Google Shape;10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6027">
            <a:off x="6626180" y="831797"/>
            <a:ext cx="2331091" cy="208957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3" name="Google Shape;11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" name="Google Shape;115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1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15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1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" name="Google Shape;142;p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4" name="Google Shape;14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" name="Google Shape;153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0" name="Google Shape;16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2" name="Google Shape;16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71" name="Google Shape;17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3" name="Google Shape;17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84" name="Google Shape;18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2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95" name="Google Shape;19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" name="Google Shape;19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06" name="Google Shape;2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8" name="Google Shape;2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339">
            <a:off x="6714634" y="840073"/>
            <a:ext cx="2165107" cy="217392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" name="Google Shape;220;p23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221" name="Google Shape;221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2" name="Google Shape;222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3" name="Google Shape;223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4" name="Google Shape;224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25" name="Google Shape;225;p2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27" name="Google Shape;227;p2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2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" name="Google Shape;235;p24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" name="Google Shape;237;p24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2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" name="Google Shape;243;p2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" name="Google Shape;244;p25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" name="Google Shape;245;p25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" name="Google Shape;246;p25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2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2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9" name="Google Shape;269;p2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0" name="Google Shape;270;p27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8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8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28"/>
          <p:cNvCxnSpPr>
            <a:endCxn id="27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9" name="Google Shape;27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" name="Google Shape;281;p2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78" name="Google Shape;27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" name="Google Shape;292;p29"/>
          <p:cNvCxnSpPr>
            <a:endCxn id="29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3" name="Google Shape;29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6" name="Google Shape;296;p2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7" name="Google Shape;297;p2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98" name="Google Shape;298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29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" name="Google Shape;312;p3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3" name="Google Shape;31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7" name="Google Shape;317;p30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8" name="Google Shape;318;p30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9" name="Google Shape;319;p30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20" name="Google Shape;320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30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30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29" name="Google Shape;329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0" name="Google Shape;3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6" name="Google Shape;336;p3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8" name="Google Shape;33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43" name="Google Shape;343;p3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45" name="Google Shape;34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0" name="Google Shape;350;p3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52" name="Google Shape;3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8" name="Google Shape;358;p3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60" name="Google Shape;360;p3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61" name="Google Shape;361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3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3" name="Google Shape;363;p3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64" name="Google Shape;364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3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2" name="Google Shape;372;p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73" name="Google Shape;373;p3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74" name="Google Shape;374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6" name="Google Shape;376;p3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77" name="Google Shape;377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3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86" name="Google Shape;386;p3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87" name="Google Shape;387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90" name="Google Shape;39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7" name="Google Shape;397;p3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8" name="Google Shape;398;p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99" name="Google Shape;399;p3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00" name="Google Shape;40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3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2" name="Google Shape;402;p3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03" name="Google Shape;403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3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3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3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3" name="Google Shape;413;p39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4" name="Google Shape;414;p3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15" name="Google Shape;415;p3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3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7" name="Google Shape;41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" name="Google Shape;42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6" name="Google Shape;42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4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4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1" name="Google Shape;431;p4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2" name="Google Shape;432;p4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33" name="Google Shape;433;p4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4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8" name="Google Shape;43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4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4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4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4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48" name="Google Shape;448;p4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4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3" name="Google Shape;45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4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4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4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4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63" name="Google Shape;463;p4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4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9" name="Google Shape;46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2" name="Google Shape;472;p4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3" name="Google Shape;473;p4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4" name="Google Shape;474;p4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75" name="Google Shape;475;p4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76" name="Google Shape;47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7" name="Google Shape;47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8" name="Google Shape;478;p4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79" name="Google Shape;47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0" name="Google Shape;48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1" name="Google Shape;481;p4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82" name="Google Shape;48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8" name="Google Shape;48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4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2" name="Google Shape;492;p4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3" name="Google Shape;493;p4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4" name="Google Shape;494;p4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95" name="Google Shape;495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7" name="Google Shape;497;p4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98" name="Google Shape;498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9" name="Google Shape;499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0" name="Google Shape;500;p4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01" name="Google Shape;501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2" name="Google Shape;502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7" name="Google Shape;50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0" name="Google Shape;510;p4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14" name="Google Shape;51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17" name="Google Shape;517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20" name="Google Shape;520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4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4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4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4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4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33" name="Google Shape;533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4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36" name="Google Shape;536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4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39" name="Google Shape;539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5" name="Google Shape;5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4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8" name="Google Shape;548;p4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9" name="Google Shape;549;p4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0" name="Google Shape;550;p4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1" name="Google Shape;551;p4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2" name="Google Shape;552;p4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53" name="Google Shape;553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4" name="Google Shape;554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5" name="Google Shape;555;p4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56" name="Google Shape;556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59" name="Google Shape;559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62" name="Google Shape;562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2" name="Google Shape;572;p4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4" name="Google Shape;574;p4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5" name="Google Shape;575;p4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76" name="Google Shape;576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7" name="Google Shape;577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8" name="Google Shape;578;p4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79" name="Google Shape;579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0" name="Google Shape;580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1" name="Google Shape;581;p4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82" name="Google Shape;582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4" name="Google Shape;584;p4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85" name="Google Shape;585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" name="Google Shape;586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1" name="Google Shape;59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4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4" name="Google Shape;594;p4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5" name="Google Shape;595;p4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6" name="Google Shape;596;p4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7" name="Google Shape;597;p4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98" name="Google Shape;598;p4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99" name="Google Shape;599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1" name="Google Shape;601;p4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02" name="Google Shape;602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3" name="Google Shape;603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4" name="Google Shape;604;p4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05" name="Google Shape;605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Google Shape;606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7" name="Google Shape;607;p4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08" name="Google Shape;608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14" name="Google Shape;61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5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7" name="Google Shape;617;p5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8" name="Google Shape;618;p5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9" name="Google Shape;619;p5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20" name="Google Shape;620;p5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21" name="Google Shape;621;p5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22" name="Google Shape;622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4" name="Google Shape;624;p5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25" name="Google Shape;625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" name="Google Shape;626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7" name="Google Shape;627;p5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28" name="Google Shape;628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" name="Google Shape;629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0" name="Google Shape;630;p5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31" name="Google Shape;631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37" name="Google Shape;63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5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0" name="Google Shape;640;p5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1" name="Google Shape;641;p5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2" name="Google Shape;642;p5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43" name="Google Shape;643;p5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44" name="Google Shape;644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5" name="Google Shape;645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6" name="Google Shape;646;p5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47" name="Google Shape;647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8" name="Google Shape;648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9" name="Google Shape;649;p5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50" name="Google Shape;65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1" name="Google Shape;651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56" name="Google Shape;65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8" name="Google Shape;658;p5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9" name="Google Shape;659;p5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0" name="Google Shape;660;p5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1" name="Google Shape;661;p5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62" name="Google Shape;662;p5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63" name="Google Shape;663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5" name="Google Shape;665;p5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66" name="Google Shape;666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7" name="Google Shape;667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8" name="Google Shape;668;p5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69" name="Google Shape;669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0" name="Google Shape;670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5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75" name="Google Shape;67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8" name="Google Shape;678;p5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79" name="Google Shape;679;p5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80" name="Google Shape;680;p5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81" name="Google Shape;681;p5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82" name="Google Shape;682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3" name="Google Shape;683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4" name="Google Shape;684;p5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85" name="Google Shape;685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6" name="Google Shape;686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7" name="Google Shape;687;p5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88" name="Google Shape;688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" name="Google Shape;689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94" name="Google Shape;69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6" name="Google Shape;696;p5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7" name="Google Shape;697;p5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5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9" name="Google Shape;699;p5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00" name="Google Shape;700;p5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01" name="Google Shape;701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2" name="Google Shape;702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3" name="Google Shape;703;p5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04" name="Google Shape;704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5" name="Google Shape;705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6" name="Google Shape;706;p5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07" name="Google Shape;707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8" name="Google Shape;708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13" name="Google Shape;71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p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0" name="Google Shape;72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2" name="Google Shape;722;p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7" name="Google Shape;7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1" name="Google Shape;731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34" name="Google Shape;73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41" name="Google Shape;74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3" name="Google Shape;743;p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4" name="Google Shape;744;p5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0" name="Google Shape;75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2" name="Google Shape;752;p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7" name="Google Shape;757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8" name="Google Shape;75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0" name="Google Shape;760;p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6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5" name="Google Shape;765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6" name="Google Shape;76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8" name="Google Shape;768;p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73" name="Google Shape;77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6" name="Google Shape;776;p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778;p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1" name="Google Shape;781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2" name="Google Shape;78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4" name="Google Shape;784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9" name="Google Shape;789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0" name="Google Shape;79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2" name="Google Shape;792;p6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oogle Shape;794;p6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pic>
          <p:nvPicPr>
            <p:cNvPr id="795" name="Google Shape;795;p66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6" name="Google Shape;796;p6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7" name="Google Shape;797;p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8" name="Google Shape;798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9" name="Google Shape;79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4" name="Google Shape;804;p6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6" name="Google Shape;806;p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0" name="Google Shape;810;p6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2" name="Google Shape;812;p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6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7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1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4" name="Google Shape;834;p7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7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7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7" name="Google Shape;837;p7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8" name="Google Shape;838;p7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slideLayout" Target="../slideLayouts/slideLayout72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74" Type="http://schemas.openxmlformats.org/officeDocument/2006/relationships/theme" Target="../theme/theme1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  <p:sldLayoutId id="2147483719" r:id="rId7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2.png"/><Relationship Id="rId4" Type="http://schemas.openxmlformats.org/officeDocument/2006/relationships/image" Target="../media/image71.png"/><Relationship Id="rId5" Type="http://schemas.openxmlformats.org/officeDocument/2006/relationships/image" Target="../media/image7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7.png"/><Relationship Id="rId4" Type="http://schemas.openxmlformats.org/officeDocument/2006/relationships/image" Target="../media/image7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Agricultural worker (animals)</a:t>
            </a:r>
            <a:endParaRPr/>
          </a:p>
        </p:txBody>
      </p:sp>
      <p:sp>
        <p:nvSpPr>
          <p:cNvPr id="844" name="Google Shape;844;p7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in the workplace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5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understand how maths is used by agricultural workers (animals).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7"/>
          <p:cNvSpPr txBox="1"/>
          <p:nvPr/>
        </p:nvSpPr>
        <p:spPr>
          <a:xfrm>
            <a:off x="383150" y="836400"/>
            <a:ext cx="84369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area is the size of the surface and states the number of unit squares needed to completely cover that surface.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Percentage loss is the decrease when referencing something that loses cost/mass/length, etc. given as a percentage of the original amount.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Geometry in </a:t>
            </a:r>
            <a:r>
              <a:rPr lang="en-GB"/>
              <a:t>agricultural</a:t>
            </a:r>
            <a:r>
              <a:rPr lang="en-GB"/>
              <a:t> work</a:t>
            </a:r>
            <a:endParaRPr/>
          </a:p>
        </p:txBody>
      </p:sp>
      <p:sp>
        <p:nvSpPr>
          <p:cNvPr id="865" name="Google Shape;865;p7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866" name="Google Shape;866;p7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Agricultural worker (animals)</a:t>
            </a:r>
            <a:endParaRPr/>
          </a:p>
        </p:txBody>
      </p:sp>
      <p:pic>
        <p:nvPicPr>
          <p:cNvPr id="867" name="Google Shape;86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570" y="205949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Geometry in agricultural work</a:t>
            </a:r>
            <a:endParaRPr/>
          </a:p>
        </p:txBody>
      </p:sp>
      <p:sp>
        <p:nvSpPr>
          <p:cNvPr id="873" name="Google Shape;873;p79"/>
          <p:cNvSpPr txBox="1"/>
          <p:nvPr>
            <p:ph idx="1" type="body"/>
          </p:nvPr>
        </p:nvSpPr>
        <p:spPr>
          <a:xfrm>
            <a:off x="324000" y="683100"/>
            <a:ext cx="8237700" cy="7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areas of maths do you think an agricultural worker who is working with animals might use?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4" name="Google Shape;874;p79"/>
          <p:cNvSpPr txBox="1"/>
          <p:nvPr>
            <p:ph idx="1" type="body"/>
          </p:nvPr>
        </p:nvSpPr>
        <p:spPr>
          <a:xfrm>
            <a:off x="324000" y="1385819"/>
            <a:ext cx="3242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Area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Multiplication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Division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Percentages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Money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Weights and measures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Temperature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Time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75" name="Google Shape;87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1640" y="1038601"/>
            <a:ext cx="698351" cy="7522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6" name="Google Shape;876;p79"/>
          <p:cNvGrpSpPr/>
          <p:nvPr/>
        </p:nvGrpSpPr>
        <p:grpSpPr>
          <a:xfrm>
            <a:off x="6979409" y="1443789"/>
            <a:ext cx="1125420" cy="784778"/>
            <a:chOff x="5436125" y="3092575"/>
            <a:chExt cx="2440200" cy="1701600"/>
          </a:xfrm>
        </p:grpSpPr>
        <p:sp>
          <p:nvSpPr>
            <p:cNvPr id="877" name="Google Shape;877;p79"/>
            <p:cNvSpPr/>
            <p:nvPr/>
          </p:nvSpPr>
          <p:spPr>
            <a:xfrm>
              <a:off x="5641600" y="3458575"/>
              <a:ext cx="2022600" cy="1335600"/>
            </a:xfrm>
            <a:prstGeom prst="roundRect">
              <a:avLst>
                <a:gd fmla="val 16667" name="adj"/>
              </a:avLst>
            </a:prstGeom>
            <a:solidFill>
              <a:srgbClr val="845AD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8" name="Google Shape;878;p79"/>
            <p:cNvSpPr/>
            <p:nvPr/>
          </p:nvSpPr>
          <p:spPr>
            <a:xfrm>
              <a:off x="5737925" y="3626952"/>
              <a:ext cx="1822800" cy="976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9" name="Google Shape;879;p79"/>
            <p:cNvSpPr/>
            <p:nvPr/>
          </p:nvSpPr>
          <p:spPr>
            <a:xfrm>
              <a:off x="6534100" y="3137575"/>
              <a:ext cx="237600" cy="321000"/>
            </a:xfrm>
            <a:prstGeom prst="rect">
              <a:avLst/>
            </a:prstGeom>
            <a:solidFill>
              <a:srgbClr val="845AD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0" name="Google Shape;880;p79"/>
            <p:cNvSpPr/>
            <p:nvPr/>
          </p:nvSpPr>
          <p:spPr>
            <a:xfrm>
              <a:off x="5436125" y="3092575"/>
              <a:ext cx="2440200" cy="45000"/>
            </a:xfrm>
            <a:prstGeom prst="rect">
              <a:avLst/>
            </a:prstGeom>
            <a:solidFill>
              <a:srgbClr val="845AD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81" name="Google Shape;881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9743" y="1707409"/>
            <a:ext cx="744915" cy="409707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79"/>
          <p:cNvSpPr txBox="1"/>
          <p:nvPr/>
        </p:nvSpPr>
        <p:spPr>
          <a:xfrm>
            <a:off x="7468116" y="2017159"/>
            <a:ext cx="1482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Lexend"/>
                <a:ea typeface="Lexend"/>
                <a:cs typeface="Lexend"/>
                <a:sym typeface="Lexend"/>
              </a:rPr>
              <a:t>kg</a:t>
            </a:r>
            <a:endParaRPr sz="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3" name="Google Shape;883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28950" y="1871450"/>
            <a:ext cx="426025" cy="1724249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79"/>
          <p:cNvSpPr txBox="1"/>
          <p:nvPr/>
        </p:nvSpPr>
        <p:spPr>
          <a:xfrm>
            <a:off x="324000" y="4297200"/>
            <a:ext cx="8004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During this lesson we will look at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 lot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these.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80"/>
          <p:cNvSpPr txBox="1"/>
          <p:nvPr>
            <p:ph idx="1" type="body"/>
          </p:nvPr>
        </p:nvSpPr>
        <p:spPr>
          <a:xfrm>
            <a:off x="324000" y="606900"/>
            <a:ext cx="8496000" cy="21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A farmer has a barn with dimensions of 10 m by 25 m.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They want to work out how many of each animal they can safely house in the barn.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All animals require a different minimum area in which to live safely and comfortably.</a:t>
            </a:r>
            <a:endParaRPr sz="2100"/>
          </a:p>
        </p:txBody>
      </p:sp>
      <p:sp>
        <p:nvSpPr>
          <p:cNvPr id="890" name="Google Shape;890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Geometry in agricultural work</a:t>
            </a:r>
            <a:endParaRPr/>
          </a:p>
        </p:txBody>
      </p:sp>
      <p:graphicFrame>
        <p:nvGraphicFramePr>
          <p:cNvPr id="891" name="Google Shape;891;p80"/>
          <p:cNvGraphicFramePr/>
          <p:nvPr/>
        </p:nvGraphicFramePr>
        <p:xfrm>
          <a:off x="868675" y="258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1422825"/>
                <a:gridCol w="3001925"/>
              </a:tblGrid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Required living area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Cows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m</a:t>
                      </a:r>
                      <a:r>
                        <a:rPr baseline="30000"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aseline="30000"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Chickens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m</a:t>
                      </a:r>
                      <a:r>
                        <a:rPr baseline="30000"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Pigs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2.2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m</a:t>
                      </a:r>
                      <a:r>
                        <a:rPr baseline="30000"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Sheep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m</a:t>
                      </a:r>
                      <a:r>
                        <a:rPr baseline="30000"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2" name="Google Shape;892;p80"/>
          <p:cNvSpPr txBox="1"/>
          <p:nvPr>
            <p:ph idx="1" type="body"/>
          </p:nvPr>
        </p:nvSpPr>
        <p:spPr>
          <a:xfrm>
            <a:off x="324000" y="4301375"/>
            <a:ext cx="8496000" cy="33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How many of each type of animal can safely fit into the barn?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Geometry in agricultural work</a:t>
            </a:r>
            <a:endParaRPr/>
          </a:p>
        </p:txBody>
      </p:sp>
      <p:sp>
        <p:nvSpPr>
          <p:cNvPr id="898" name="Google Shape;898;p81"/>
          <p:cNvSpPr txBox="1"/>
          <p:nvPr>
            <p:ph idx="1" type="body"/>
          </p:nvPr>
        </p:nvSpPr>
        <p:spPr>
          <a:xfrm>
            <a:off x="324000" y="2396375"/>
            <a:ext cx="8496000" cy="33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How many of each type of animal can safely fit into the barn?</a:t>
            </a:r>
            <a:endParaRPr sz="2100"/>
          </a:p>
        </p:txBody>
      </p:sp>
      <p:sp>
        <p:nvSpPr>
          <p:cNvPr id="899" name="Google Shape;899;p81"/>
          <p:cNvSpPr txBox="1"/>
          <p:nvPr>
            <p:ph idx="1" type="body"/>
          </p:nvPr>
        </p:nvSpPr>
        <p:spPr>
          <a:xfrm>
            <a:off x="324000" y="2853575"/>
            <a:ext cx="8496000" cy="33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What will the farmer need to do first</a:t>
            </a:r>
            <a:r>
              <a:rPr lang="en-GB" sz="2100"/>
              <a:t>?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They need to know the area the barn.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What is the area of a rectangular barn measuring 10 m by 25 m?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10 × 25 = 250 m</a:t>
            </a:r>
            <a:r>
              <a:rPr baseline="30000" lang="en-GB" sz="21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100"/>
              <a:t> </a:t>
            </a:r>
            <a:r>
              <a:rPr lang="en-GB" sz="2100"/>
              <a:t> </a:t>
            </a:r>
            <a:endParaRPr sz="2100"/>
          </a:p>
        </p:txBody>
      </p:sp>
      <p:graphicFrame>
        <p:nvGraphicFramePr>
          <p:cNvPr id="900" name="Google Shape;900;p81"/>
          <p:cNvGraphicFramePr/>
          <p:nvPr/>
        </p:nvGraphicFramePr>
        <p:xfrm>
          <a:off x="868675" y="75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1422825"/>
                <a:gridCol w="3001925"/>
              </a:tblGrid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Required living area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Cows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m</a:t>
                      </a:r>
                      <a:r>
                        <a:rPr baseline="30000"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aseline="30000"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Chickens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m</a:t>
                      </a:r>
                      <a:r>
                        <a:rPr baseline="30000"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Pigs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2.2 m</a:t>
                      </a:r>
                      <a:r>
                        <a:rPr baseline="30000"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Sheep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m</a:t>
                      </a:r>
                      <a:r>
                        <a:rPr baseline="30000"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Geometry in agricultural work</a:t>
            </a:r>
            <a:endParaRPr/>
          </a:p>
        </p:txBody>
      </p:sp>
      <p:sp>
        <p:nvSpPr>
          <p:cNvPr id="906" name="Google Shape;906;p82"/>
          <p:cNvSpPr txBox="1"/>
          <p:nvPr>
            <p:ph idx="1" type="body"/>
          </p:nvPr>
        </p:nvSpPr>
        <p:spPr>
          <a:xfrm>
            <a:off x="324000" y="2396375"/>
            <a:ext cx="8496000" cy="33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How many of each type of animal can safely fit into the barn?</a:t>
            </a:r>
            <a:endParaRPr sz="2100"/>
          </a:p>
        </p:txBody>
      </p:sp>
      <p:sp>
        <p:nvSpPr>
          <p:cNvPr id="907" name="Google Shape;907;p82"/>
          <p:cNvSpPr txBox="1"/>
          <p:nvPr>
            <p:ph idx="1" type="body"/>
          </p:nvPr>
        </p:nvSpPr>
        <p:spPr>
          <a:xfrm>
            <a:off x="324000" y="2853575"/>
            <a:ext cx="8496000" cy="33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How will they calculate the maximum number of animals the barn can hold</a:t>
            </a:r>
            <a:r>
              <a:rPr lang="en-GB" sz="2100"/>
              <a:t>?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Area of the barn ÷ required living area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How many cows can the barn hold</a:t>
            </a:r>
            <a:r>
              <a:rPr lang="en-GB" sz="2100"/>
              <a:t>?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250</a:t>
            </a:r>
            <a:r>
              <a:rPr lang="en-GB" sz="2100"/>
              <a:t>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÷ 10 = 25 cows</a:t>
            </a:r>
            <a:r>
              <a:rPr lang="en-GB" sz="2100"/>
              <a:t> </a:t>
            </a:r>
            <a:endParaRPr sz="2100"/>
          </a:p>
        </p:txBody>
      </p:sp>
      <p:graphicFrame>
        <p:nvGraphicFramePr>
          <p:cNvPr id="908" name="Google Shape;908;p82"/>
          <p:cNvGraphicFramePr/>
          <p:nvPr/>
        </p:nvGraphicFramePr>
        <p:xfrm>
          <a:off x="868675" y="75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1422825"/>
                <a:gridCol w="3001925"/>
              </a:tblGrid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Required living area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Cows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m</a:t>
                      </a:r>
                      <a:r>
                        <a:rPr baseline="30000"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aseline="30000"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Chickens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m</a:t>
                      </a:r>
                      <a:r>
                        <a:rPr baseline="30000"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Pigs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2.2 m</a:t>
                      </a:r>
                      <a:r>
                        <a:rPr baseline="30000"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Sheep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m</a:t>
                      </a:r>
                      <a:r>
                        <a:rPr baseline="30000"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83"/>
          <p:cNvSpPr txBox="1"/>
          <p:nvPr>
            <p:ph idx="1" type="body"/>
          </p:nvPr>
        </p:nvSpPr>
        <p:spPr>
          <a:xfrm>
            <a:off x="324000" y="2313975"/>
            <a:ext cx="3511200" cy="14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Calculate the number of: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	chickens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	pigs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	sheep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barn can hold.</a:t>
            </a:r>
            <a:endParaRPr/>
          </a:p>
        </p:txBody>
      </p:sp>
      <p:sp>
        <p:nvSpPr>
          <p:cNvPr id="914" name="Google Shape;914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Geometry in agricultural work</a:t>
            </a:r>
            <a:endParaRPr/>
          </a:p>
        </p:txBody>
      </p:sp>
      <p:sp>
        <p:nvSpPr>
          <p:cNvPr id="915" name="Google Shape;915;p83"/>
          <p:cNvSpPr txBox="1"/>
          <p:nvPr>
            <p:ph idx="1" type="body"/>
          </p:nvPr>
        </p:nvSpPr>
        <p:spPr>
          <a:xfrm>
            <a:off x="3197800" y="2847375"/>
            <a:ext cx="5679300" cy="14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a)	250 ÷ 1 = 250 chickens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b)	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250 ÷ 2.2 = 113.64 (2 d.p.) = 113 pigs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c)	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250 ÷ 2 = 125 sheep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916" name="Google Shape;916;p83"/>
          <p:cNvGraphicFramePr/>
          <p:nvPr/>
        </p:nvGraphicFramePr>
        <p:xfrm>
          <a:off x="868675" y="75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1422825"/>
                <a:gridCol w="3001925"/>
              </a:tblGrid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Required living area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Cows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m</a:t>
                      </a:r>
                      <a:r>
                        <a:rPr baseline="30000"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aseline="30000"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Chickens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m</a:t>
                      </a:r>
                      <a:r>
                        <a:rPr baseline="30000"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Pigs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2.2 m</a:t>
                      </a:r>
                      <a:r>
                        <a:rPr baseline="30000"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Sheep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m</a:t>
                      </a:r>
                      <a:r>
                        <a:rPr baseline="30000"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7" name="Google Shape;917;p83"/>
          <p:cNvSpPr txBox="1"/>
          <p:nvPr/>
        </p:nvSpPr>
        <p:spPr>
          <a:xfrm>
            <a:off x="5716675" y="1319825"/>
            <a:ext cx="31032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of barn =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250 m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84"/>
          <p:cNvSpPr txBox="1"/>
          <p:nvPr>
            <p:ph idx="1" type="body"/>
          </p:nvPr>
        </p:nvSpPr>
        <p:spPr>
          <a:xfrm>
            <a:off x="324000" y="606900"/>
            <a:ext cx="8496000" cy="12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farmer can get more chickens in the barn.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Does this mean they should use the barn for chickens to give maximum profitability?</a:t>
            </a:r>
            <a:endParaRPr sz="2000"/>
          </a:p>
        </p:txBody>
      </p:sp>
      <p:sp>
        <p:nvSpPr>
          <p:cNvPr id="923" name="Google Shape;923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Geometry in agricultural work</a:t>
            </a:r>
            <a:endParaRPr/>
          </a:p>
        </p:txBody>
      </p:sp>
      <p:sp>
        <p:nvSpPr>
          <p:cNvPr id="924" name="Google Shape;924;p84"/>
          <p:cNvSpPr txBox="1"/>
          <p:nvPr>
            <p:ph idx="1" type="body"/>
          </p:nvPr>
        </p:nvSpPr>
        <p:spPr>
          <a:xfrm>
            <a:off x="324000" y="1826100"/>
            <a:ext cx="8237700" cy="12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it does not.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What else do they need to consider?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Cost to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purchase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Cost of care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Cost of feed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Cost of bedding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Cost of vaccinations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Price of produce to sell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5" name="Google Shape;925;p84"/>
          <p:cNvSpPr txBox="1"/>
          <p:nvPr/>
        </p:nvSpPr>
        <p:spPr>
          <a:xfrm>
            <a:off x="4512600" y="3165575"/>
            <a:ext cx="4285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will consider this in the next learning cycle.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Geometry in agricultural work</a:t>
            </a:r>
            <a:endParaRPr/>
          </a:p>
        </p:txBody>
      </p:sp>
      <p:sp>
        <p:nvSpPr>
          <p:cNvPr id="931" name="Google Shape;931;p85"/>
          <p:cNvSpPr txBox="1"/>
          <p:nvPr>
            <p:ph idx="1" type="body"/>
          </p:nvPr>
        </p:nvSpPr>
        <p:spPr>
          <a:xfrm>
            <a:off x="324000" y="683100"/>
            <a:ext cx="68553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</a:t>
            </a:r>
            <a:r>
              <a:rPr lang="en-GB" sz="1800"/>
              <a:t>For each of the following calculate the maximum number of each animal which can be safely and comfortably looked after in these barns: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b)									c)</a:t>
            </a:r>
            <a:endParaRPr sz="1800"/>
          </a:p>
        </p:txBody>
      </p:sp>
      <p:graphicFrame>
        <p:nvGraphicFramePr>
          <p:cNvPr id="932" name="Google Shape;932;p85"/>
          <p:cNvGraphicFramePr/>
          <p:nvPr/>
        </p:nvGraphicFramePr>
        <p:xfrm>
          <a:off x="4957150" y="1575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457500"/>
                <a:gridCol w="1094650"/>
                <a:gridCol w="2219650"/>
              </a:tblGrid>
              <a:tr h="23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Required living area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Cows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m</a:t>
                      </a:r>
                      <a:r>
                        <a:rPr baseline="30000"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aseline="30000"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Chickens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m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iii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Pigs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2.2 m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iv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Sheep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m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3" name="Google Shape;933;p85"/>
          <p:cNvSpPr/>
          <p:nvPr/>
        </p:nvSpPr>
        <p:spPr>
          <a:xfrm>
            <a:off x="699350" y="1620275"/>
            <a:ext cx="1652400" cy="951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4" name="Google Shape;934;p85"/>
          <p:cNvCxnSpPr/>
          <p:nvPr/>
        </p:nvCxnSpPr>
        <p:spPr>
          <a:xfrm>
            <a:off x="2475900" y="1614625"/>
            <a:ext cx="0" cy="98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935" name="Google Shape;935;p85"/>
          <p:cNvCxnSpPr/>
          <p:nvPr/>
        </p:nvCxnSpPr>
        <p:spPr>
          <a:xfrm>
            <a:off x="679294" y="2677825"/>
            <a:ext cx="168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936" name="Google Shape;936;p85"/>
          <p:cNvSpPr txBox="1"/>
          <p:nvPr/>
        </p:nvSpPr>
        <p:spPr>
          <a:xfrm>
            <a:off x="2571851" y="1974726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85"/>
          <p:cNvSpPr txBox="1"/>
          <p:nvPr/>
        </p:nvSpPr>
        <p:spPr>
          <a:xfrm>
            <a:off x="1228450" y="2677445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75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85"/>
          <p:cNvSpPr/>
          <p:nvPr/>
        </p:nvSpPr>
        <p:spPr>
          <a:xfrm>
            <a:off x="948731" y="3240345"/>
            <a:ext cx="1219200" cy="1219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9" name="Google Shape;939;p85"/>
          <p:cNvCxnSpPr/>
          <p:nvPr/>
        </p:nvCxnSpPr>
        <p:spPr>
          <a:xfrm>
            <a:off x="933336" y="4571545"/>
            <a:ext cx="1225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940" name="Google Shape;940;p85"/>
          <p:cNvSpPr txBox="1"/>
          <p:nvPr/>
        </p:nvSpPr>
        <p:spPr>
          <a:xfrm>
            <a:off x="1330092" y="4571166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41" name="Google Shape;941;p85"/>
          <p:cNvCxnSpPr/>
          <p:nvPr/>
        </p:nvCxnSpPr>
        <p:spPr>
          <a:xfrm>
            <a:off x="827656" y="3855095"/>
            <a:ext cx="242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2" name="Google Shape;942;p85"/>
          <p:cNvCxnSpPr/>
          <p:nvPr/>
        </p:nvCxnSpPr>
        <p:spPr>
          <a:xfrm>
            <a:off x="2046856" y="3855095"/>
            <a:ext cx="242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3" name="Google Shape;943;p85"/>
          <p:cNvCxnSpPr/>
          <p:nvPr/>
        </p:nvCxnSpPr>
        <p:spPr>
          <a:xfrm>
            <a:off x="1558331" y="3152520"/>
            <a:ext cx="0" cy="19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4" name="Google Shape;944;p85"/>
          <p:cNvCxnSpPr/>
          <p:nvPr/>
        </p:nvCxnSpPr>
        <p:spPr>
          <a:xfrm>
            <a:off x="1558331" y="4354801"/>
            <a:ext cx="0" cy="19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5" name="Google Shape;945;p85"/>
          <p:cNvSpPr/>
          <p:nvPr/>
        </p:nvSpPr>
        <p:spPr>
          <a:xfrm>
            <a:off x="7202150" y="668100"/>
            <a:ext cx="1577700" cy="8238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Diagrams are not drawn to scale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46" name="Google Shape;946;p85"/>
          <p:cNvCxnSpPr/>
          <p:nvPr/>
        </p:nvCxnSpPr>
        <p:spPr>
          <a:xfrm>
            <a:off x="5345155" y="3231970"/>
            <a:ext cx="0" cy="1280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7" name="Google Shape;947;p85"/>
          <p:cNvCxnSpPr/>
          <p:nvPr/>
        </p:nvCxnSpPr>
        <p:spPr>
          <a:xfrm>
            <a:off x="5328225" y="3237600"/>
            <a:ext cx="24759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85"/>
          <p:cNvCxnSpPr/>
          <p:nvPr/>
        </p:nvCxnSpPr>
        <p:spPr>
          <a:xfrm>
            <a:off x="7787206" y="3231970"/>
            <a:ext cx="0" cy="519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85"/>
          <p:cNvCxnSpPr/>
          <p:nvPr/>
        </p:nvCxnSpPr>
        <p:spPr>
          <a:xfrm>
            <a:off x="6382785" y="3739695"/>
            <a:ext cx="1415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0" name="Google Shape;950;p85"/>
          <p:cNvCxnSpPr/>
          <p:nvPr/>
        </p:nvCxnSpPr>
        <p:spPr>
          <a:xfrm>
            <a:off x="6394059" y="3728416"/>
            <a:ext cx="0" cy="795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1" name="Google Shape;951;p85"/>
          <p:cNvCxnSpPr/>
          <p:nvPr/>
        </p:nvCxnSpPr>
        <p:spPr>
          <a:xfrm>
            <a:off x="5344184" y="4501695"/>
            <a:ext cx="1055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2" name="Google Shape;952;p85"/>
          <p:cNvCxnSpPr/>
          <p:nvPr/>
        </p:nvCxnSpPr>
        <p:spPr>
          <a:xfrm>
            <a:off x="5203863" y="3231975"/>
            <a:ext cx="0" cy="127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953" name="Google Shape;953;p85"/>
          <p:cNvCxnSpPr/>
          <p:nvPr/>
        </p:nvCxnSpPr>
        <p:spPr>
          <a:xfrm>
            <a:off x="5345144" y="3085338"/>
            <a:ext cx="2442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954" name="Google Shape;954;p85"/>
          <p:cNvSpPr txBox="1"/>
          <p:nvPr/>
        </p:nvSpPr>
        <p:spPr>
          <a:xfrm>
            <a:off x="4634626" y="3750976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85"/>
          <p:cNvSpPr txBox="1"/>
          <p:nvPr/>
        </p:nvSpPr>
        <p:spPr>
          <a:xfrm>
            <a:off x="6340500" y="2810508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6" name="Google Shape;956;p85"/>
          <p:cNvCxnSpPr/>
          <p:nvPr/>
        </p:nvCxnSpPr>
        <p:spPr>
          <a:xfrm>
            <a:off x="7877263" y="3231975"/>
            <a:ext cx="0" cy="519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957" name="Google Shape;957;p85"/>
          <p:cNvSpPr txBox="1"/>
          <p:nvPr/>
        </p:nvSpPr>
        <p:spPr>
          <a:xfrm>
            <a:off x="7917001" y="3341993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8" name="Google Shape;958;p85"/>
          <p:cNvCxnSpPr/>
          <p:nvPr/>
        </p:nvCxnSpPr>
        <p:spPr>
          <a:xfrm>
            <a:off x="5352936" y="4571545"/>
            <a:ext cx="1047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959" name="Google Shape;959;p85"/>
          <p:cNvSpPr txBox="1"/>
          <p:nvPr/>
        </p:nvSpPr>
        <p:spPr>
          <a:xfrm>
            <a:off x="5532203" y="4571175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20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Geometry in agricultural work</a:t>
            </a:r>
            <a:endParaRPr/>
          </a:p>
        </p:txBody>
      </p:sp>
      <p:sp>
        <p:nvSpPr>
          <p:cNvPr id="965" name="Google Shape;965;p86"/>
          <p:cNvSpPr txBox="1"/>
          <p:nvPr>
            <p:ph idx="1" type="body"/>
          </p:nvPr>
        </p:nvSpPr>
        <p:spPr>
          <a:xfrm>
            <a:off x="324000" y="668100"/>
            <a:ext cx="6855300" cy="295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</a:t>
            </a:r>
            <a:r>
              <a:rPr lang="en-GB" sz="1800"/>
              <a:t>For each of the following calculate the maximum number of each animal which can be safely and comfortably looked after in these barns: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b)									c)</a:t>
            </a:r>
            <a:endParaRPr sz="1800"/>
          </a:p>
        </p:txBody>
      </p:sp>
      <p:sp>
        <p:nvSpPr>
          <p:cNvPr id="966" name="Google Shape;966;p86"/>
          <p:cNvSpPr/>
          <p:nvPr/>
        </p:nvSpPr>
        <p:spPr>
          <a:xfrm>
            <a:off x="699350" y="1620275"/>
            <a:ext cx="1652400" cy="951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7" name="Google Shape;967;p86"/>
          <p:cNvCxnSpPr/>
          <p:nvPr/>
        </p:nvCxnSpPr>
        <p:spPr>
          <a:xfrm>
            <a:off x="2475900" y="1614625"/>
            <a:ext cx="0" cy="98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968" name="Google Shape;968;p86"/>
          <p:cNvCxnSpPr/>
          <p:nvPr/>
        </p:nvCxnSpPr>
        <p:spPr>
          <a:xfrm>
            <a:off x="679294" y="2677825"/>
            <a:ext cx="168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969" name="Google Shape;969;p86"/>
          <p:cNvSpPr txBox="1"/>
          <p:nvPr/>
        </p:nvSpPr>
        <p:spPr>
          <a:xfrm>
            <a:off x="2571851" y="1974726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86"/>
          <p:cNvSpPr txBox="1"/>
          <p:nvPr/>
        </p:nvSpPr>
        <p:spPr>
          <a:xfrm>
            <a:off x="1228450" y="2677445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86"/>
          <p:cNvSpPr/>
          <p:nvPr/>
        </p:nvSpPr>
        <p:spPr>
          <a:xfrm>
            <a:off x="948731" y="3240345"/>
            <a:ext cx="1219200" cy="1219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2" name="Google Shape;972;p86"/>
          <p:cNvCxnSpPr/>
          <p:nvPr/>
        </p:nvCxnSpPr>
        <p:spPr>
          <a:xfrm>
            <a:off x="933336" y="4571545"/>
            <a:ext cx="1225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973" name="Google Shape;973;p86"/>
          <p:cNvSpPr txBox="1"/>
          <p:nvPr/>
        </p:nvSpPr>
        <p:spPr>
          <a:xfrm>
            <a:off x="1330092" y="4571166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4" name="Google Shape;974;p86"/>
          <p:cNvCxnSpPr/>
          <p:nvPr/>
        </p:nvCxnSpPr>
        <p:spPr>
          <a:xfrm>
            <a:off x="827656" y="3855095"/>
            <a:ext cx="242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5" name="Google Shape;975;p86"/>
          <p:cNvCxnSpPr/>
          <p:nvPr/>
        </p:nvCxnSpPr>
        <p:spPr>
          <a:xfrm>
            <a:off x="2046856" y="3855095"/>
            <a:ext cx="242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6" name="Google Shape;976;p86"/>
          <p:cNvCxnSpPr/>
          <p:nvPr/>
        </p:nvCxnSpPr>
        <p:spPr>
          <a:xfrm>
            <a:off x="1558331" y="3152520"/>
            <a:ext cx="0" cy="19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7" name="Google Shape;977;p86"/>
          <p:cNvCxnSpPr/>
          <p:nvPr/>
        </p:nvCxnSpPr>
        <p:spPr>
          <a:xfrm>
            <a:off x="1558331" y="4354801"/>
            <a:ext cx="0" cy="19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8" name="Google Shape;978;p86"/>
          <p:cNvCxnSpPr/>
          <p:nvPr/>
        </p:nvCxnSpPr>
        <p:spPr>
          <a:xfrm>
            <a:off x="5345155" y="3231970"/>
            <a:ext cx="0" cy="1280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9" name="Google Shape;979;p86"/>
          <p:cNvCxnSpPr/>
          <p:nvPr/>
        </p:nvCxnSpPr>
        <p:spPr>
          <a:xfrm>
            <a:off x="5328225" y="3237600"/>
            <a:ext cx="24759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0" name="Google Shape;980;p86"/>
          <p:cNvCxnSpPr/>
          <p:nvPr/>
        </p:nvCxnSpPr>
        <p:spPr>
          <a:xfrm>
            <a:off x="7787206" y="3231970"/>
            <a:ext cx="0" cy="519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1" name="Google Shape;981;p86"/>
          <p:cNvCxnSpPr/>
          <p:nvPr/>
        </p:nvCxnSpPr>
        <p:spPr>
          <a:xfrm>
            <a:off x="6382785" y="3739695"/>
            <a:ext cx="1415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2" name="Google Shape;982;p86"/>
          <p:cNvCxnSpPr/>
          <p:nvPr/>
        </p:nvCxnSpPr>
        <p:spPr>
          <a:xfrm>
            <a:off x="6394059" y="3728416"/>
            <a:ext cx="0" cy="795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3" name="Google Shape;983;p86"/>
          <p:cNvCxnSpPr/>
          <p:nvPr/>
        </p:nvCxnSpPr>
        <p:spPr>
          <a:xfrm>
            <a:off x="5344184" y="4501695"/>
            <a:ext cx="1055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4" name="Google Shape;984;p86"/>
          <p:cNvCxnSpPr/>
          <p:nvPr/>
        </p:nvCxnSpPr>
        <p:spPr>
          <a:xfrm>
            <a:off x="5203863" y="3231975"/>
            <a:ext cx="0" cy="127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985" name="Google Shape;985;p86"/>
          <p:cNvCxnSpPr/>
          <p:nvPr/>
        </p:nvCxnSpPr>
        <p:spPr>
          <a:xfrm>
            <a:off x="5345144" y="3085338"/>
            <a:ext cx="2442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986" name="Google Shape;986;p86"/>
          <p:cNvSpPr txBox="1"/>
          <p:nvPr/>
        </p:nvSpPr>
        <p:spPr>
          <a:xfrm>
            <a:off x="4634626" y="3750976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86"/>
          <p:cNvSpPr txBox="1"/>
          <p:nvPr/>
        </p:nvSpPr>
        <p:spPr>
          <a:xfrm>
            <a:off x="6340500" y="2810508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8" name="Google Shape;988;p86"/>
          <p:cNvCxnSpPr/>
          <p:nvPr/>
        </p:nvCxnSpPr>
        <p:spPr>
          <a:xfrm>
            <a:off x="7877263" y="3231975"/>
            <a:ext cx="0" cy="519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989" name="Google Shape;989;p86"/>
          <p:cNvSpPr txBox="1"/>
          <p:nvPr/>
        </p:nvSpPr>
        <p:spPr>
          <a:xfrm>
            <a:off x="7917001" y="3341993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90" name="Google Shape;990;p86"/>
          <p:cNvCxnSpPr/>
          <p:nvPr/>
        </p:nvCxnSpPr>
        <p:spPr>
          <a:xfrm>
            <a:off x="5352936" y="4571545"/>
            <a:ext cx="1047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991" name="Google Shape;991;p86"/>
          <p:cNvSpPr txBox="1"/>
          <p:nvPr/>
        </p:nvSpPr>
        <p:spPr>
          <a:xfrm>
            <a:off x="5532203" y="4571175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20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86"/>
          <p:cNvSpPr/>
          <p:nvPr/>
        </p:nvSpPr>
        <p:spPr>
          <a:xfrm>
            <a:off x="7202150" y="668100"/>
            <a:ext cx="1577700" cy="8238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Diagrams are not drawn to scale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93" name="Google Shape;993;p86"/>
          <p:cNvGraphicFramePr/>
          <p:nvPr/>
        </p:nvGraphicFramePr>
        <p:xfrm>
          <a:off x="4957150" y="1575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457500"/>
                <a:gridCol w="1094650"/>
                <a:gridCol w="2219650"/>
              </a:tblGrid>
              <a:tr h="23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Required living area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Cows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m</a:t>
                      </a:r>
                      <a:r>
                        <a:rPr baseline="30000"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aseline="30000"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Chickens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m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iii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Pigs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2.2 m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iv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Sheep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m</a:t>
                      </a:r>
                      <a:r>
                        <a:rPr baseline="30000"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4" name="Google Shape;994;p86"/>
          <p:cNvSpPr txBox="1"/>
          <p:nvPr/>
        </p:nvSpPr>
        <p:spPr>
          <a:xfrm>
            <a:off x="3245600" y="1602750"/>
            <a:ext cx="1047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i) 150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ii) 1500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iii) 681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iv) 750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5" name="Google Shape;995;p86"/>
          <p:cNvSpPr txBox="1"/>
          <p:nvPr/>
        </p:nvSpPr>
        <p:spPr>
          <a:xfrm>
            <a:off x="2407400" y="3202950"/>
            <a:ext cx="1110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i) 250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ii) 2500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iii) 1136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iv) 1250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6" name="Google Shape;996;p86"/>
          <p:cNvSpPr txBox="1"/>
          <p:nvPr/>
        </p:nvSpPr>
        <p:spPr>
          <a:xfrm>
            <a:off x="6387775" y="3795025"/>
            <a:ext cx="1110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i) 140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iii) 636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7" name="Google Shape;997;p86"/>
          <p:cNvSpPr txBox="1"/>
          <p:nvPr/>
        </p:nvSpPr>
        <p:spPr>
          <a:xfrm>
            <a:off x="7431825" y="3795025"/>
            <a:ext cx="1110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ii) 1400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iv) 700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8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Geometry in agricultural work</a:t>
            </a:r>
            <a:endParaRPr/>
          </a:p>
        </p:txBody>
      </p:sp>
      <p:sp>
        <p:nvSpPr>
          <p:cNvPr id="1003" name="Google Shape;1003;p8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1004" name="Google Shape;1004;p8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Agricultural worker (animals)</a:t>
            </a:r>
            <a:endParaRPr/>
          </a:p>
        </p:txBody>
      </p:sp>
      <p:pic>
        <p:nvPicPr>
          <p:cNvPr id="1005" name="Google Shape;1005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70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88"/>
          <p:cNvSpPr txBox="1"/>
          <p:nvPr>
            <p:ph idx="1" type="body"/>
          </p:nvPr>
        </p:nvSpPr>
        <p:spPr>
          <a:xfrm>
            <a:off x="324000" y="606900"/>
            <a:ext cx="8496000" cy="6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Research how much it costs to keep and care for each of these animals in the UK; dairy cows, chickens, pigs and sheep. </a:t>
            </a:r>
            <a:endParaRPr/>
          </a:p>
        </p:txBody>
      </p:sp>
      <p:sp>
        <p:nvSpPr>
          <p:cNvPr id="1011" name="Google Shape;1011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graphicFrame>
        <p:nvGraphicFramePr>
          <p:cNvPr id="1012" name="Google Shape;1012;p88"/>
          <p:cNvGraphicFramePr/>
          <p:nvPr/>
        </p:nvGraphicFramePr>
        <p:xfrm>
          <a:off x="868675" y="22515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1591375"/>
                <a:gridCol w="4234325"/>
              </a:tblGrid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of care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Dairy c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ow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£3.75 per day</a:t>
                      </a:r>
                      <a:endParaRPr baseline="30000"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Chicken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£200 per year per 4 chickens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Pig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£20 per month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Sheep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£95 per year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13" name="Google Shape;1013;p88"/>
          <p:cNvSpPr txBox="1"/>
          <p:nvPr>
            <p:ph idx="1" type="body"/>
          </p:nvPr>
        </p:nvSpPr>
        <p:spPr>
          <a:xfrm>
            <a:off x="324000" y="1368901"/>
            <a:ext cx="8496000" cy="6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are my research figures.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You can use your own or mine for the next part of the lesson.</a:t>
            </a:r>
            <a:endParaRPr/>
          </a:p>
        </p:txBody>
      </p:sp>
      <p:sp>
        <p:nvSpPr>
          <p:cNvPr id="1014" name="Google Shape;1014;p88"/>
          <p:cNvSpPr txBox="1"/>
          <p:nvPr>
            <p:ph idx="1" type="body"/>
          </p:nvPr>
        </p:nvSpPr>
        <p:spPr>
          <a:xfrm>
            <a:off x="324000" y="3948424"/>
            <a:ext cx="8496000" cy="6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might it be useful to do in order to compare these costs?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Work out the cost per year per animal.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1020" name="Google Shape;1020;p89"/>
          <p:cNvSpPr txBox="1"/>
          <p:nvPr>
            <p:ph idx="1" type="body"/>
          </p:nvPr>
        </p:nvSpPr>
        <p:spPr>
          <a:xfrm>
            <a:off x="324000" y="2892900"/>
            <a:ext cx="8237700" cy="19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will we need to do to calculate the cost per year of caring for 1 cow?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We have the cost per day. Therefore, we need to multiply this by the number of days in a year.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£3.75 × 365 = £1368.75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1" name="Google Shape;1021;p89"/>
          <p:cNvSpPr txBox="1"/>
          <p:nvPr>
            <p:ph idx="1" type="body"/>
          </p:nvPr>
        </p:nvSpPr>
        <p:spPr>
          <a:xfrm>
            <a:off x="324000" y="2424425"/>
            <a:ext cx="8496000" cy="3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will start with the cows.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22" name="Google Shape;1022;p89"/>
          <p:cNvGraphicFramePr/>
          <p:nvPr/>
        </p:nvGraphicFramePr>
        <p:xfrm>
          <a:off x="868675" y="7275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1591375"/>
                <a:gridCol w="4234325"/>
              </a:tblGrid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of care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Dairy cow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£3.75 per day</a:t>
                      </a:r>
                      <a:endParaRPr baseline="30000"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Chicken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£200 per year per 4 chickens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Pig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£20 per month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Sheep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£95 per year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1028" name="Google Shape;1028;p90"/>
          <p:cNvSpPr txBox="1"/>
          <p:nvPr>
            <p:ph idx="1" type="body"/>
          </p:nvPr>
        </p:nvSpPr>
        <p:spPr>
          <a:xfrm>
            <a:off x="324000" y="2892900"/>
            <a:ext cx="8237700" cy="193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will we need to do to calculate the cost per year of caring for 1 chicken?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We have the cost per year for 4 chickens. Therefore, we need to divide this by 4 to calculate the cost of one chicken.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£200 ÷ 4 = £50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9" name="Google Shape;1029;p90"/>
          <p:cNvSpPr txBox="1"/>
          <p:nvPr>
            <p:ph idx="1" type="body"/>
          </p:nvPr>
        </p:nvSpPr>
        <p:spPr>
          <a:xfrm>
            <a:off x="324000" y="2424425"/>
            <a:ext cx="8496000" cy="3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 now the chickens.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30" name="Google Shape;1030;p90"/>
          <p:cNvGraphicFramePr/>
          <p:nvPr/>
        </p:nvGraphicFramePr>
        <p:xfrm>
          <a:off x="868675" y="7275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1591375"/>
                <a:gridCol w="4234325"/>
              </a:tblGrid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of care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Dairy cow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£1368.75 per year</a:t>
                      </a:r>
                      <a:endParaRPr baseline="30000"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Chicken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£200 per year per 4 chickens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Pig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£20 per month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Sheep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£95 per year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1036" name="Google Shape;1036;p91"/>
          <p:cNvSpPr txBox="1"/>
          <p:nvPr>
            <p:ph idx="1" type="body"/>
          </p:nvPr>
        </p:nvSpPr>
        <p:spPr>
          <a:xfrm>
            <a:off x="324000" y="2816700"/>
            <a:ext cx="8237700" cy="198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will we need to do to calculate the cost per year of caring for 1 pig?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We have the cost per month. Therefore, we need to multiply this by 12 to find the cost per year.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£20 × 12 = £240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7" name="Google Shape;1037;p91"/>
          <p:cNvSpPr txBox="1"/>
          <p:nvPr>
            <p:ph idx="1" type="body"/>
          </p:nvPr>
        </p:nvSpPr>
        <p:spPr>
          <a:xfrm>
            <a:off x="324000" y="2424425"/>
            <a:ext cx="8496000" cy="3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 the pigs.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38" name="Google Shape;1038;p91"/>
          <p:cNvGraphicFramePr/>
          <p:nvPr/>
        </p:nvGraphicFramePr>
        <p:xfrm>
          <a:off x="868675" y="7275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1591375"/>
                <a:gridCol w="4234325"/>
              </a:tblGrid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of care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Dairy cow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£1368.75 per year</a:t>
                      </a:r>
                      <a:endParaRPr baseline="30000"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Chicken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£50 per year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Pig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£20 per month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Sheep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£95 per year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1044" name="Google Shape;1044;p92"/>
          <p:cNvSpPr txBox="1"/>
          <p:nvPr>
            <p:ph idx="1" type="body"/>
          </p:nvPr>
        </p:nvSpPr>
        <p:spPr>
          <a:xfrm>
            <a:off x="324000" y="2725301"/>
            <a:ext cx="8237700" cy="15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will we need to do to calculate the cost per year of caring for 1 sheep?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Nothing, we have the cost of caring for 1 sheep for a year.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£95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92"/>
          <p:cNvSpPr txBox="1"/>
          <p:nvPr>
            <p:ph idx="1" type="body"/>
          </p:nvPr>
        </p:nvSpPr>
        <p:spPr>
          <a:xfrm>
            <a:off x="324000" y="2348225"/>
            <a:ext cx="8496000" cy="3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And, finally the sheep.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46" name="Google Shape;1046;p92"/>
          <p:cNvGraphicFramePr/>
          <p:nvPr/>
        </p:nvGraphicFramePr>
        <p:xfrm>
          <a:off x="868675" y="7275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1591375"/>
                <a:gridCol w="4234325"/>
              </a:tblGrid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of care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Dairy cow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£1368.75 per year</a:t>
                      </a:r>
                      <a:endParaRPr baseline="30000"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Chicken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£50 per year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Pig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£240 per year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Sheep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£95 per year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graphicFrame>
        <p:nvGraphicFramePr>
          <p:cNvPr id="1052" name="Google Shape;1052;p93"/>
          <p:cNvGraphicFramePr/>
          <p:nvPr/>
        </p:nvGraphicFramePr>
        <p:xfrm>
          <a:off x="868675" y="7275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1595825"/>
                <a:gridCol w="3612875"/>
              </a:tblGrid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of care per year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Dairy c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ow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£1368.75</a:t>
                      </a:r>
                      <a:endParaRPr baseline="30000"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Chicken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£50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Pig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£240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Sheep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£95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3" name="Google Shape;1053;p93"/>
          <p:cNvSpPr txBox="1"/>
          <p:nvPr>
            <p:ph idx="1" type="body"/>
          </p:nvPr>
        </p:nvSpPr>
        <p:spPr>
          <a:xfrm>
            <a:off x="324000" y="3237250"/>
            <a:ext cx="8237700" cy="10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 different number of each animal can fit into the barn. Therefore, we need to find the total cost for all of the animals.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Also we have not yet considered the cost to purchase and the price any produce sells at.</a:t>
            </a:r>
            <a:endParaRPr/>
          </a:p>
        </p:txBody>
      </p:sp>
      <p:sp>
        <p:nvSpPr>
          <p:cNvPr id="1054" name="Google Shape;1054;p93"/>
          <p:cNvSpPr txBox="1"/>
          <p:nvPr>
            <p:ph idx="1" type="body"/>
          </p:nvPr>
        </p:nvSpPr>
        <p:spPr>
          <a:xfrm>
            <a:off x="324000" y="2348225"/>
            <a:ext cx="8496000" cy="3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must mean that it is best to keep chickens.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Do you agree or disagree?  </a:t>
            </a:r>
            <a:r>
              <a:rPr lang="en-GB"/>
              <a:t>Explain</a:t>
            </a:r>
            <a:r>
              <a:rPr lang="en-GB"/>
              <a:t> your answer.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graphicFrame>
        <p:nvGraphicFramePr>
          <p:cNvPr id="1060" name="Google Shape;1060;p94"/>
          <p:cNvGraphicFramePr/>
          <p:nvPr/>
        </p:nvGraphicFramePr>
        <p:xfrm>
          <a:off x="868675" y="7275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1646625"/>
                <a:gridCol w="2820800"/>
                <a:gridCol w="2734300"/>
              </a:tblGrid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of care per year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animals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Dairy c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ow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£1368.75</a:t>
                      </a:r>
                      <a:endParaRPr baseline="30000"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Chicken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£50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250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Pig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£240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113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Sheep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£95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1" name="Google Shape;1061;p94"/>
          <p:cNvSpPr txBox="1"/>
          <p:nvPr>
            <p:ph idx="1" type="body"/>
          </p:nvPr>
        </p:nvSpPr>
        <p:spPr>
          <a:xfrm>
            <a:off x="324000" y="3237250"/>
            <a:ext cx="8237700" cy="43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Total cost for the cows = 25 × £1368.75</a:t>
            </a:r>
            <a:endParaRPr/>
          </a:p>
        </p:txBody>
      </p:sp>
      <p:sp>
        <p:nvSpPr>
          <p:cNvPr id="1062" name="Google Shape;1062;p94"/>
          <p:cNvSpPr txBox="1"/>
          <p:nvPr>
            <p:ph idx="1" type="body"/>
          </p:nvPr>
        </p:nvSpPr>
        <p:spPr>
          <a:xfrm>
            <a:off x="324000" y="2348225"/>
            <a:ext cx="8496000" cy="3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Now we can work out the total cost of caring for all of the animals.</a:t>
            </a:r>
            <a:endParaRPr/>
          </a:p>
        </p:txBody>
      </p:sp>
      <p:sp>
        <p:nvSpPr>
          <p:cNvPr id="1063" name="Google Shape;1063;p94"/>
          <p:cNvSpPr txBox="1"/>
          <p:nvPr>
            <p:ph idx="1" type="body"/>
          </p:nvPr>
        </p:nvSpPr>
        <p:spPr>
          <a:xfrm>
            <a:off x="3448200" y="3666250"/>
            <a:ext cx="2581200" cy="43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£34 218.75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1069" name="Google Shape;1069;p95"/>
          <p:cNvSpPr txBox="1"/>
          <p:nvPr>
            <p:ph idx="1" type="body"/>
          </p:nvPr>
        </p:nvSpPr>
        <p:spPr>
          <a:xfrm>
            <a:off x="324000" y="2348225"/>
            <a:ext cx="37455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 out the total cost for:</a:t>
            </a:r>
            <a:endParaRPr/>
          </a:p>
        </p:txBody>
      </p:sp>
      <p:sp>
        <p:nvSpPr>
          <p:cNvPr id="1070" name="Google Shape;1070;p95"/>
          <p:cNvSpPr txBox="1"/>
          <p:nvPr>
            <p:ph idx="1" type="body"/>
          </p:nvPr>
        </p:nvSpPr>
        <p:spPr>
          <a:xfrm>
            <a:off x="2914800" y="2805425"/>
            <a:ext cx="3843600" cy="13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250 × £50 = £12 500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113 × £240 = £27 120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125 × £95 = £11 875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71" name="Google Shape;1071;p95"/>
          <p:cNvGraphicFramePr/>
          <p:nvPr/>
        </p:nvGraphicFramePr>
        <p:xfrm>
          <a:off x="868675" y="7275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1646625"/>
                <a:gridCol w="2820800"/>
                <a:gridCol w="2734300"/>
              </a:tblGrid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of care per year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animals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Dairy cow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£1368.75</a:t>
                      </a:r>
                      <a:endParaRPr baseline="30000"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Chicken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£50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250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Pig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£240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113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Sheep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£95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2" name="Google Shape;1072;p95"/>
          <p:cNvSpPr txBox="1"/>
          <p:nvPr>
            <p:ph idx="1" type="body"/>
          </p:nvPr>
        </p:nvSpPr>
        <p:spPr>
          <a:xfrm>
            <a:off x="324000" y="2805425"/>
            <a:ext cx="37455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a) the chickens</a:t>
            </a:r>
            <a:endParaRPr/>
          </a:p>
        </p:txBody>
      </p:sp>
      <p:sp>
        <p:nvSpPr>
          <p:cNvPr id="1073" name="Google Shape;1073;p95"/>
          <p:cNvSpPr txBox="1"/>
          <p:nvPr>
            <p:ph idx="1" type="body"/>
          </p:nvPr>
        </p:nvSpPr>
        <p:spPr>
          <a:xfrm>
            <a:off x="324000" y="3262625"/>
            <a:ext cx="37455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b) the pigs</a:t>
            </a:r>
            <a:endParaRPr/>
          </a:p>
        </p:txBody>
      </p:sp>
      <p:sp>
        <p:nvSpPr>
          <p:cNvPr id="1074" name="Google Shape;1074;p95"/>
          <p:cNvSpPr txBox="1"/>
          <p:nvPr>
            <p:ph idx="1" type="body"/>
          </p:nvPr>
        </p:nvSpPr>
        <p:spPr>
          <a:xfrm>
            <a:off x="324000" y="3719825"/>
            <a:ext cx="3745500" cy="48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c) the sheep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graphicFrame>
        <p:nvGraphicFramePr>
          <p:cNvPr id="1080" name="Google Shape;1080;p96"/>
          <p:cNvGraphicFramePr/>
          <p:nvPr/>
        </p:nvGraphicFramePr>
        <p:xfrm>
          <a:off x="868675" y="7275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1612025"/>
                <a:gridCol w="3460850"/>
              </a:tblGrid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c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ost of care per year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Dairy c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ow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£34 218.75</a:t>
                      </a:r>
                      <a:endParaRPr baseline="30000"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Chicken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£12 500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Pig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£27 120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Sheep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£11 875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1" name="Google Shape;1081;p96"/>
          <p:cNvSpPr txBox="1"/>
          <p:nvPr>
            <p:ph idx="1" type="body"/>
          </p:nvPr>
        </p:nvSpPr>
        <p:spPr>
          <a:xfrm>
            <a:off x="324000" y="3237250"/>
            <a:ext cx="8237700" cy="10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We now need to consider the price at which any produce can be sold.</a:t>
            </a:r>
            <a:endParaRPr/>
          </a:p>
        </p:txBody>
      </p:sp>
      <p:sp>
        <p:nvSpPr>
          <p:cNvPr id="1082" name="Google Shape;1082;p96"/>
          <p:cNvSpPr txBox="1"/>
          <p:nvPr>
            <p:ph idx="1" type="body"/>
          </p:nvPr>
        </p:nvSpPr>
        <p:spPr>
          <a:xfrm>
            <a:off x="324000" y="2348225"/>
            <a:ext cx="8496000" cy="3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Now it is best to keep sheep.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Do you agree or disagree?  Explain your answer.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1088" name="Google Shape;1088;p97"/>
          <p:cNvSpPr txBox="1"/>
          <p:nvPr>
            <p:ph idx="1" type="body"/>
          </p:nvPr>
        </p:nvSpPr>
        <p:spPr>
          <a:xfrm>
            <a:off x="324000" y="1637050"/>
            <a:ext cx="8496000" cy="318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Dairy cows produce milk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information do we need to work out the profitability of a dairy cow?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We need to know the amount of milk a cow produces per day and what price the farmer can sell it for.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How many litres of milk do you think 1 cow produces in a day?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On average a cow in the UK produces 22 litres of milk per day.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9" name="Google Shape;1089;p97"/>
          <p:cNvSpPr txBox="1"/>
          <p:nvPr>
            <p:ph idx="1" type="body"/>
          </p:nvPr>
        </p:nvSpPr>
        <p:spPr>
          <a:xfrm>
            <a:off x="324000" y="657601"/>
            <a:ext cx="84960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start with the dairy cows.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do dairy cows produce?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1095" name="Google Shape;1095;p98"/>
          <p:cNvSpPr txBox="1"/>
          <p:nvPr>
            <p:ph idx="1" type="body"/>
          </p:nvPr>
        </p:nvSpPr>
        <p:spPr>
          <a:xfrm>
            <a:off x="324000" y="2703850"/>
            <a:ext cx="8496000" cy="183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start by working out the number of litres of milk produced by 1 cow during a year.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calculation will we do?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22 × 365 = 8030 litres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6" name="Google Shape;1096;p98"/>
          <p:cNvSpPr txBox="1"/>
          <p:nvPr>
            <p:ph idx="1" type="body"/>
          </p:nvPr>
        </p:nvSpPr>
        <p:spPr>
          <a:xfrm>
            <a:off x="324000" y="657601"/>
            <a:ext cx="84960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 of cows = 25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Each cow produces an average of 22 litres of milk per day.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Assume the selling price of a litre of milk is 37.6 p.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total income for our barn of cows?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1102" name="Google Shape;1102;p99"/>
          <p:cNvSpPr txBox="1"/>
          <p:nvPr>
            <p:ph idx="1" type="body"/>
          </p:nvPr>
        </p:nvSpPr>
        <p:spPr>
          <a:xfrm>
            <a:off x="324000" y="657601"/>
            <a:ext cx="84960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 of cows = 25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Each cow produces an average of 22 litres of milk per day.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Assume the selling price of a litre of milk is 37.6 p.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total income for our barn of cows? </a:t>
            </a:r>
            <a:endParaRPr/>
          </a:p>
        </p:txBody>
      </p:sp>
      <p:sp>
        <p:nvSpPr>
          <p:cNvPr id="1103" name="Google Shape;1103;p99"/>
          <p:cNvSpPr txBox="1"/>
          <p:nvPr>
            <p:ph idx="1" type="body"/>
          </p:nvPr>
        </p:nvSpPr>
        <p:spPr>
          <a:xfrm>
            <a:off x="324000" y="2627650"/>
            <a:ext cx="8496000" cy="219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need to know</a:t>
            </a:r>
            <a:r>
              <a:rPr lang="en-GB"/>
              <a:t> the total number of litres for our whole herd.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calculation will we do?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8030 × 25 = 200 750 litres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And, finally the total income received.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200 750 × 0.376 = £75 482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00"/>
          <p:cNvSpPr txBox="1"/>
          <p:nvPr/>
        </p:nvSpPr>
        <p:spPr>
          <a:xfrm>
            <a:off x="324000" y="2330409"/>
            <a:ext cx="66522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Number of eggs produced =  250 × 300 = 75 000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1110" name="Google Shape;1110;p100"/>
          <p:cNvSpPr txBox="1"/>
          <p:nvPr>
            <p:ph idx="1" type="body"/>
          </p:nvPr>
        </p:nvSpPr>
        <p:spPr>
          <a:xfrm>
            <a:off x="324000" y="657601"/>
            <a:ext cx="84960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Number of chickens = 250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Each chicken produces an average of 300 eggs per year.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Assume the selling price of a dozen eggs is 143 p per dozen.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What is the total income for our barn of chickens?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1" name="Google Shape;1111;p100"/>
          <p:cNvSpPr txBox="1"/>
          <p:nvPr>
            <p:ph idx="1" type="body"/>
          </p:nvPr>
        </p:nvSpPr>
        <p:spPr>
          <a:xfrm>
            <a:off x="324000" y="2751650"/>
            <a:ext cx="8496000" cy="153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We need to know </a:t>
            </a:r>
            <a:r>
              <a:rPr lang="en-GB" sz="2100"/>
              <a:t>the total number of dozens we have to sell.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What calculation will we do?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75 000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÷ 12 = 6250 dozen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And finally the total income received.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6250 × £1.43 = £8937.50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1117" name="Google Shape;1117;p101"/>
          <p:cNvSpPr txBox="1"/>
          <p:nvPr>
            <p:ph idx="1" type="body"/>
          </p:nvPr>
        </p:nvSpPr>
        <p:spPr>
          <a:xfrm>
            <a:off x="324000" y="2780050"/>
            <a:ext cx="8496000" cy="183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start by working out the total mass of our herd of pigs.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calculation will we do?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113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× 90 kg = 10 170 kg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And, now the total income received.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10 170 × £2.06 = £20 950.20</a:t>
            </a:r>
            <a:r>
              <a:rPr lang="en-GB"/>
              <a:t> </a:t>
            </a:r>
            <a:endParaRPr/>
          </a:p>
        </p:txBody>
      </p:sp>
      <p:sp>
        <p:nvSpPr>
          <p:cNvPr id="1118" name="Google Shape;1118;p101"/>
          <p:cNvSpPr txBox="1"/>
          <p:nvPr>
            <p:ph idx="1" type="body"/>
          </p:nvPr>
        </p:nvSpPr>
        <p:spPr>
          <a:xfrm>
            <a:off x="324000" y="657601"/>
            <a:ext cx="84960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 of pigs = 113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average pig carcass has a mass of 90 kg.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Assume the selling price of a kilogram of pig is £2.06 per kilogram.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total income for our barn of pigs?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1124" name="Google Shape;1124;p102"/>
          <p:cNvSpPr txBox="1"/>
          <p:nvPr>
            <p:ph idx="1" type="body"/>
          </p:nvPr>
        </p:nvSpPr>
        <p:spPr>
          <a:xfrm>
            <a:off x="324000" y="2787875"/>
            <a:ext cx="8237700" cy="17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125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× 18 kg = 2250 kg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Total income received = 2250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× £5.78 = £13 005</a:t>
            </a:r>
            <a:r>
              <a:rPr lang="en-GB"/>
              <a:t> </a:t>
            </a:r>
            <a:endParaRPr/>
          </a:p>
        </p:txBody>
      </p:sp>
      <p:sp>
        <p:nvSpPr>
          <p:cNvPr id="1125" name="Google Shape;1125;p102"/>
          <p:cNvSpPr txBox="1"/>
          <p:nvPr>
            <p:ph idx="1" type="body"/>
          </p:nvPr>
        </p:nvSpPr>
        <p:spPr>
          <a:xfrm>
            <a:off x="324000" y="733801"/>
            <a:ext cx="84960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 of sheep = 125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average sheep carcass has a mass of 18 kilograms.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Assume the selling price of a kilogram of sheep is £5.78 per kilogram.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total income for our barn of sheep?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1131" name="Google Shape;1131;p103"/>
          <p:cNvSpPr txBox="1"/>
          <p:nvPr>
            <p:ph idx="1" type="body"/>
          </p:nvPr>
        </p:nvSpPr>
        <p:spPr>
          <a:xfrm>
            <a:off x="324000" y="2399050"/>
            <a:ext cx="8496000" cy="183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animals make a profit?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dairy cows and sheep.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Which is the most profitable animal?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dairy cows.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132" name="Google Shape;1132;p103"/>
          <p:cNvGraphicFramePr/>
          <p:nvPr/>
        </p:nvGraphicFramePr>
        <p:xfrm>
          <a:off x="407375" y="7275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1676100"/>
                <a:gridCol w="3598300"/>
                <a:gridCol w="3057950"/>
              </a:tblGrid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cost of care per year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income per year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Dairy cows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£34 218.75</a:t>
                      </a:r>
                      <a:endParaRPr baseline="30000"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£75 482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Chickens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£12 500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£8937.50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Pigs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£27 120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£20 950.20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Sheep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875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£13 005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10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1138" name="Google Shape;1138;p104"/>
          <p:cNvSpPr txBox="1"/>
          <p:nvPr>
            <p:ph idx="1" type="body"/>
          </p:nvPr>
        </p:nvSpPr>
        <p:spPr>
          <a:xfrm>
            <a:off x="324000" y="2399050"/>
            <a:ext cx="8496000" cy="14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the farmer decides that they want to keep chickens, what could they do to make the eggs profitable?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They could decide to sell them directly to the buyer instead of selling to a retailer. A retailer will increase the price the eggs are sold to the buyer so that the retailer can make money.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139" name="Google Shape;1139;p104"/>
          <p:cNvGraphicFramePr/>
          <p:nvPr/>
        </p:nvGraphicFramePr>
        <p:xfrm>
          <a:off x="407375" y="7275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1676100"/>
                <a:gridCol w="3598300"/>
                <a:gridCol w="3057950"/>
              </a:tblGrid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cost of care per year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income per year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Dairy cows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£34 218.75</a:t>
                      </a:r>
                      <a:endParaRPr baseline="30000"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£75 482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Chickens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£12 500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£8937.50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Pigs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27 120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£20 950.20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Sheep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£11 875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£13 005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1145" name="Google Shape;1145;p105"/>
          <p:cNvSpPr txBox="1"/>
          <p:nvPr>
            <p:ph idx="1" type="body"/>
          </p:nvPr>
        </p:nvSpPr>
        <p:spPr>
          <a:xfrm>
            <a:off x="324000" y="646450"/>
            <a:ext cx="8496000" cy="170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farmer looks up the cost of a dozen eggs from different retailers.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These are the prices:  £3.05, £4.10, £3.60 and £3.15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</a:t>
            </a:r>
            <a:r>
              <a:rPr lang="en-GB"/>
              <a:t>should</a:t>
            </a:r>
            <a:r>
              <a:rPr lang="en-GB"/>
              <a:t> the farmer charge for a dozen eggs?</a:t>
            </a:r>
            <a:endParaRPr/>
          </a:p>
        </p:txBody>
      </p:sp>
      <p:sp>
        <p:nvSpPr>
          <p:cNvPr id="1146" name="Google Shape;1146;p105"/>
          <p:cNvSpPr txBox="1"/>
          <p:nvPr>
            <p:ph idx="1" type="body"/>
          </p:nvPr>
        </p:nvSpPr>
        <p:spPr>
          <a:xfrm>
            <a:off x="324000" y="2322850"/>
            <a:ext cx="8496000" cy="170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They decide to use the mean average price of the 4 retailers.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(£3.05 + £4.10 + £3.60 + £3.15) ÷ 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= £13.90 ÷ 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= £3.48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Will the farmer make a profit now?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106"/>
          <p:cNvSpPr txBox="1"/>
          <p:nvPr>
            <p:ph idx="1" type="body"/>
          </p:nvPr>
        </p:nvSpPr>
        <p:spPr>
          <a:xfrm>
            <a:off x="476400" y="2926300"/>
            <a:ext cx="8496000" cy="43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Total annual income = 6250 × £3.48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						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2" name="Google Shape;1152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1153" name="Google Shape;1153;p106"/>
          <p:cNvSpPr txBox="1"/>
          <p:nvPr>
            <p:ph idx="1" type="body"/>
          </p:nvPr>
        </p:nvSpPr>
        <p:spPr>
          <a:xfrm>
            <a:off x="324000" y="1408450"/>
            <a:ext cx="8496000" cy="8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6250 dozens produced over a year.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Selling price per dozen = £3.48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total income now?</a:t>
            </a:r>
            <a:endParaRPr/>
          </a:p>
        </p:txBody>
      </p:sp>
      <p:graphicFrame>
        <p:nvGraphicFramePr>
          <p:cNvPr id="1154" name="Google Shape;1154;p106"/>
          <p:cNvGraphicFramePr/>
          <p:nvPr/>
        </p:nvGraphicFramePr>
        <p:xfrm>
          <a:off x="407375" y="7275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1676100"/>
                <a:gridCol w="3598300"/>
                <a:gridCol w="3057950"/>
              </a:tblGrid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cost of care per year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income per year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Chickens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£12 500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55" name="Google Shape;1155;p106"/>
          <p:cNvSpPr txBox="1"/>
          <p:nvPr>
            <p:ph idx="1" type="body"/>
          </p:nvPr>
        </p:nvSpPr>
        <p:spPr>
          <a:xfrm>
            <a:off x="476400" y="4320000"/>
            <a:ext cx="8496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he chickens now make a profit.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6" name="Google Shape;1156;p106"/>
          <p:cNvSpPr txBox="1"/>
          <p:nvPr/>
        </p:nvSpPr>
        <p:spPr>
          <a:xfrm>
            <a:off x="5669245" y="938915"/>
            <a:ext cx="12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£21 750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106"/>
          <p:cNvSpPr txBox="1"/>
          <p:nvPr>
            <p:ph idx="1" type="body"/>
          </p:nvPr>
        </p:nvSpPr>
        <p:spPr>
          <a:xfrm>
            <a:off x="2991000" y="3383500"/>
            <a:ext cx="1900500" cy="43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 £21 750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8" name="Google Shape;1158;p106"/>
          <p:cNvSpPr txBox="1"/>
          <p:nvPr>
            <p:ph idx="1" type="body"/>
          </p:nvPr>
        </p:nvSpPr>
        <p:spPr>
          <a:xfrm>
            <a:off x="476400" y="3840700"/>
            <a:ext cx="8496000" cy="43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Do the chickens now make a profit?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graphicFrame>
        <p:nvGraphicFramePr>
          <p:cNvPr id="1164" name="Google Shape;1164;p107"/>
          <p:cNvGraphicFramePr/>
          <p:nvPr/>
        </p:nvGraphicFramePr>
        <p:xfrm>
          <a:off x="407375" y="7275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1676100"/>
                <a:gridCol w="3598300"/>
                <a:gridCol w="3057950"/>
              </a:tblGrid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cost of care per year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income per year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Dairy cows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£34 218.75</a:t>
                      </a:r>
                      <a:endParaRPr baseline="30000"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£75 482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Chickens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£12 500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£21 750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Pigs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£27 120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£20 950.20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Sheep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£11 875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£13 005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5" name="Google Shape;1165;p107"/>
          <p:cNvSpPr txBox="1"/>
          <p:nvPr>
            <p:ph idx="1" type="body"/>
          </p:nvPr>
        </p:nvSpPr>
        <p:spPr>
          <a:xfrm>
            <a:off x="324000" y="2475250"/>
            <a:ext cx="8496000" cy="8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They have decided not to consider pigs.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Which of the other animals are most profitable?</a:t>
            </a:r>
            <a:endParaRPr/>
          </a:p>
        </p:txBody>
      </p:sp>
      <p:sp>
        <p:nvSpPr>
          <p:cNvPr id="1166" name="Google Shape;1166;p107"/>
          <p:cNvSpPr txBox="1"/>
          <p:nvPr>
            <p:ph idx="1" type="body"/>
          </p:nvPr>
        </p:nvSpPr>
        <p:spPr>
          <a:xfrm>
            <a:off x="324000" y="3465850"/>
            <a:ext cx="3647400" cy="39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Percentage profit of cows: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7" name="Google Shape;1167;p107"/>
          <p:cNvSpPr/>
          <p:nvPr/>
        </p:nvSpPr>
        <p:spPr>
          <a:xfrm rot="5400000">
            <a:off x="6871375" y="4101800"/>
            <a:ext cx="451200" cy="378600"/>
          </a:xfrm>
          <a:prstGeom prst="arc">
            <a:avLst>
              <a:gd fmla="val 10729459" name="adj1"/>
              <a:gd fmla="val 21296751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68" name="Google Shape;1168;p107"/>
          <p:cNvGraphicFramePr/>
          <p:nvPr/>
        </p:nvGraphicFramePr>
        <p:xfrm>
          <a:off x="4548600" y="354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1238050"/>
                <a:gridCol w="1238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34 218.75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75 482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9" name="Google Shape;1169;p107"/>
          <p:cNvSpPr/>
          <p:nvPr/>
        </p:nvSpPr>
        <p:spPr>
          <a:xfrm flipH="1" rot="-5400000">
            <a:off x="4270025" y="4162875"/>
            <a:ext cx="451200" cy="298500"/>
          </a:xfrm>
          <a:prstGeom prst="arc">
            <a:avLst>
              <a:gd fmla="val 10729459" name="adj1"/>
              <a:gd fmla="val 21196396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times\frac{75\ 482}{34\ 218.75}&quot;&gt;&lt;mo&gt;×&lt;/mo&gt;&lt;mfrac&gt;&lt;mrow&gt;&lt;mn&gt;75&lt;/mn&gt;&lt;mtext&gt;&lt;/mtext&gt;&lt;mn&gt;482&lt;/mn&gt;&lt;/mrow&gt;&lt;mrow&gt;&lt;mn&gt;34&lt;/mn&gt;&lt;mtext&gt;&lt;/mtext&gt;&lt;mn&gt;218.75&lt;/mn&gt;&lt;/mrow&gt;&lt;/mfrac&gt;&lt;/math&gt;" id="1170" name="Google Shape;1170;p107" title="times the fraction with numerator 75 482 and denominator 34 218.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9425" y="4080288"/>
            <a:ext cx="976375" cy="421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75\ 482}{34\ 218.75}&quot;&gt;&lt;mo&gt;×&lt;/mo&gt;&lt;mfrac&gt;&lt;mrow&gt;&lt;mn&gt;75&lt;/mn&gt;&lt;mtext&gt;&lt;/mtext&gt;&lt;mn&gt;482&lt;/mn&gt;&lt;/mrow&gt;&lt;mrow&gt;&lt;mn&gt;34&lt;/mn&gt;&lt;mtext&gt;&lt;/mtext&gt;&lt;mn&gt;218.75&lt;/mn&gt;&lt;/mrow&gt;&lt;/mfrac&gt;&lt;/math&gt;" id="1171" name="Google Shape;1171;p107" title="times the fraction with numerator 75 482 and denominator 34 218.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0825" y="4080288"/>
            <a:ext cx="976375" cy="42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Google Shape;1172;p107"/>
          <p:cNvSpPr txBox="1"/>
          <p:nvPr>
            <p:ph idx="1" type="body"/>
          </p:nvPr>
        </p:nvSpPr>
        <p:spPr>
          <a:xfrm>
            <a:off x="4548600" y="4371525"/>
            <a:ext cx="1225800" cy="22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≈220.6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3" name="Google Shape;1173;p107"/>
          <p:cNvSpPr txBox="1"/>
          <p:nvPr>
            <p:ph idx="1" type="body"/>
          </p:nvPr>
        </p:nvSpPr>
        <p:spPr>
          <a:xfrm>
            <a:off x="333375" y="3896000"/>
            <a:ext cx="2476200" cy="790200"/>
          </a:xfrm>
          <a:prstGeom prst="rect">
            <a:avLst/>
          </a:prstGeom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8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Percentage profit is </a:t>
            </a:r>
            <a:r>
              <a:rPr lang="en-GB"/>
              <a:t>≈</a:t>
            </a:r>
            <a:r>
              <a:rPr lang="en-GB"/>
              <a:t>120 %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8" name="Google Shape;1178;p108"/>
          <p:cNvGraphicFramePr/>
          <p:nvPr/>
        </p:nvGraphicFramePr>
        <p:xfrm>
          <a:off x="1477535" y="255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661175"/>
                <a:gridCol w="1030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12 500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21 750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9" name="Google Shape;1179;p108"/>
          <p:cNvSpPr txBox="1"/>
          <p:nvPr>
            <p:ph idx="1" type="subTitle"/>
          </p:nvPr>
        </p:nvSpPr>
        <p:spPr>
          <a:xfrm>
            <a:off x="337825" y="1735975"/>
            <a:ext cx="3982200" cy="68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Calculate the percentage profit for the chickens.</a:t>
            </a:r>
            <a:endParaRPr/>
          </a:p>
        </p:txBody>
      </p:sp>
      <p:sp>
        <p:nvSpPr>
          <p:cNvPr id="1180" name="Google Shape;1180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graphicFrame>
        <p:nvGraphicFramePr>
          <p:cNvPr id="1181" name="Google Shape;1181;p108"/>
          <p:cNvGraphicFramePr/>
          <p:nvPr/>
        </p:nvGraphicFramePr>
        <p:xfrm>
          <a:off x="1166950" y="6986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1395425"/>
                <a:gridCol w="2828575"/>
                <a:gridCol w="2586100"/>
              </a:tblGrid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cost of care per year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income per year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Chickens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£12 500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£21 750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Sheep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£11 875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£13 005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82" name="Google Shape;1182;p108"/>
          <p:cNvSpPr/>
          <p:nvPr/>
        </p:nvSpPr>
        <p:spPr>
          <a:xfrm rot="5400000">
            <a:off x="2985175" y="3111200"/>
            <a:ext cx="451200" cy="378600"/>
          </a:xfrm>
          <a:prstGeom prst="arc">
            <a:avLst>
              <a:gd fmla="val 10729459" name="adj1"/>
              <a:gd fmla="val 21296751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108"/>
          <p:cNvSpPr txBox="1"/>
          <p:nvPr>
            <p:ph idx="4294967295" type="body"/>
          </p:nvPr>
        </p:nvSpPr>
        <p:spPr>
          <a:xfrm>
            <a:off x="1477525" y="3380925"/>
            <a:ext cx="661200" cy="22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174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times\frac{21\ 750}{12\ 500}&quot;&gt;&lt;mo&gt;×&lt;/mo&gt;&lt;mfrac&gt;&lt;mrow&gt;&lt;mn&gt;21&lt;/mn&gt;&lt;mtext&gt;&lt;/mtext&gt;&lt;mn&gt;750&lt;/mn&gt;&lt;/mrow&gt;&lt;mrow&gt;&lt;mn&gt;12&lt;/mn&gt;&lt;mtext&gt;&lt;/mtext&gt;&lt;mn&gt;500&lt;/mn&gt;&lt;/mrow&gt;&lt;/mfrac&gt;&lt;/math&gt;" id="1184" name="Google Shape;1184;p108" title="times the fraction with numerator 21 750 and denominator 12 5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9460" y="3074900"/>
            <a:ext cx="773481" cy="451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5" name="Google Shape;1185;p108"/>
          <p:cNvGrpSpPr/>
          <p:nvPr/>
        </p:nvGrpSpPr>
        <p:grpSpPr>
          <a:xfrm>
            <a:off x="465010" y="3095925"/>
            <a:ext cx="1108800" cy="451200"/>
            <a:chOff x="465010" y="3095925"/>
            <a:chExt cx="1108800" cy="451200"/>
          </a:xfrm>
        </p:grpSpPr>
        <p:sp>
          <p:nvSpPr>
            <p:cNvPr id="1186" name="Google Shape;1186;p108"/>
            <p:cNvSpPr/>
            <p:nvPr/>
          </p:nvSpPr>
          <p:spPr>
            <a:xfrm flipH="1" rot="-5400000">
              <a:off x="1198960" y="3172275"/>
              <a:ext cx="451200" cy="298500"/>
            </a:xfrm>
            <a:prstGeom prst="arc">
              <a:avLst>
                <a:gd fmla="val 10729459" name="adj1"/>
                <a:gd fmla="val 21196396" name="adj2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&lt;math xmlns=&quot;http://www.w3.org/1998/Math/MathML&quot; display=&quot;block&quot; data-is-equatio=&quot;1&quot; data-latex=&quot;\times\frac{21\ 750}{12\ 500}&quot;&gt;&lt;mo&gt;×&lt;/mo&gt;&lt;mfrac&gt;&lt;mrow&gt;&lt;mn&gt;21&lt;/mn&gt;&lt;mtext&gt;&lt;/mtext&gt;&lt;mn&gt;750&lt;/mn&gt;&lt;/mrow&gt;&lt;mrow&gt;&lt;mn&gt;12&lt;/mn&gt;&lt;mtext&gt;&lt;/mtext&gt;&lt;mn&gt;500&lt;/mn&gt;&lt;/mrow&gt;&lt;/mfrac&gt;&lt;/math&gt;" id="1187" name="Google Shape;1187;p108" title="times the fraction with numerator 21 750 and denominator 12 5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5010" y="3095925"/>
              <a:ext cx="773481" cy="451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8" name="Google Shape;1188;p108"/>
          <p:cNvSpPr txBox="1"/>
          <p:nvPr>
            <p:ph idx="4294967295" type="body"/>
          </p:nvPr>
        </p:nvSpPr>
        <p:spPr>
          <a:xfrm>
            <a:off x="598275" y="3896000"/>
            <a:ext cx="3721800" cy="486600"/>
          </a:xfrm>
          <a:prstGeom prst="rect">
            <a:avLst/>
          </a:prstGeom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8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Percentage profit is 74 %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3" name="Google Shape;1193;p109"/>
          <p:cNvGraphicFramePr/>
          <p:nvPr/>
        </p:nvGraphicFramePr>
        <p:xfrm>
          <a:off x="5820935" y="255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661175"/>
                <a:gridCol w="1030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%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£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100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11 875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13</a:t>
                      </a: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 005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4" name="Google Shape;1194;p109"/>
          <p:cNvSpPr txBox="1"/>
          <p:nvPr>
            <p:ph idx="1" type="subTitle"/>
          </p:nvPr>
        </p:nvSpPr>
        <p:spPr>
          <a:xfrm>
            <a:off x="337825" y="1735975"/>
            <a:ext cx="3982200" cy="68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Calculate the percentage profit for the chickens.</a:t>
            </a:r>
            <a:endParaRPr/>
          </a:p>
        </p:txBody>
      </p:sp>
      <p:sp>
        <p:nvSpPr>
          <p:cNvPr id="1195" name="Google Shape;1195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1196" name="Google Shape;1196;p109"/>
          <p:cNvSpPr txBox="1"/>
          <p:nvPr>
            <p:ph idx="2" type="subTitle"/>
          </p:nvPr>
        </p:nvSpPr>
        <p:spPr>
          <a:xfrm>
            <a:off x="4824000" y="1735975"/>
            <a:ext cx="3982200" cy="64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Calculate the percentage profit for the sheep.</a:t>
            </a:r>
            <a:endParaRPr/>
          </a:p>
        </p:txBody>
      </p:sp>
      <p:graphicFrame>
        <p:nvGraphicFramePr>
          <p:cNvPr id="1197" name="Google Shape;1197;p109"/>
          <p:cNvGraphicFramePr/>
          <p:nvPr/>
        </p:nvGraphicFramePr>
        <p:xfrm>
          <a:off x="1166950" y="6986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1395425"/>
                <a:gridCol w="2828575"/>
                <a:gridCol w="2586100"/>
              </a:tblGrid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cost of care per year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income per year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Chickens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£12 500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£21 750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Sheep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£11 875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£13 005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8" name="Google Shape;1198;p109"/>
          <p:cNvSpPr/>
          <p:nvPr/>
        </p:nvSpPr>
        <p:spPr>
          <a:xfrm rot="5400000">
            <a:off x="7328575" y="3111200"/>
            <a:ext cx="451200" cy="378600"/>
          </a:xfrm>
          <a:prstGeom prst="arc">
            <a:avLst>
              <a:gd fmla="val 10729459" name="adj1"/>
              <a:gd fmla="val 21296751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109"/>
          <p:cNvSpPr txBox="1"/>
          <p:nvPr>
            <p:ph idx="4294967295" type="body"/>
          </p:nvPr>
        </p:nvSpPr>
        <p:spPr>
          <a:xfrm>
            <a:off x="5820925" y="3380925"/>
            <a:ext cx="661200" cy="22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≈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109.5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0" name="Google Shape;1200;p109"/>
          <p:cNvSpPr/>
          <p:nvPr/>
        </p:nvSpPr>
        <p:spPr>
          <a:xfrm flipH="1" rot="-5400000">
            <a:off x="5542360" y="3172275"/>
            <a:ext cx="451200" cy="298500"/>
          </a:xfrm>
          <a:prstGeom prst="arc">
            <a:avLst>
              <a:gd fmla="val 10729459" name="adj1"/>
              <a:gd fmla="val 21196396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109"/>
          <p:cNvSpPr txBox="1"/>
          <p:nvPr>
            <p:ph idx="4294967295" type="body"/>
          </p:nvPr>
        </p:nvSpPr>
        <p:spPr>
          <a:xfrm>
            <a:off x="4941675" y="3896000"/>
            <a:ext cx="3721800" cy="486600"/>
          </a:xfrm>
          <a:prstGeom prst="rect">
            <a:avLst/>
          </a:prstGeom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8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Percentage profit is </a:t>
            </a:r>
            <a:r>
              <a:rPr lang="en-GB" sz="2000"/>
              <a:t>≈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9.5 %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02" name="Google Shape;1202;p109"/>
          <p:cNvGraphicFramePr/>
          <p:nvPr/>
        </p:nvGraphicFramePr>
        <p:xfrm>
          <a:off x="1477535" y="255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661175"/>
                <a:gridCol w="1030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12 500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21 750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3" name="Google Shape;1203;p109"/>
          <p:cNvSpPr/>
          <p:nvPr/>
        </p:nvSpPr>
        <p:spPr>
          <a:xfrm rot="5400000">
            <a:off x="2985175" y="3111200"/>
            <a:ext cx="451200" cy="378600"/>
          </a:xfrm>
          <a:prstGeom prst="arc">
            <a:avLst>
              <a:gd fmla="val 10729459" name="adj1"/>
              <a:gd fmla="val 21296751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109"/>
          <p:cNvSpPr txBox="1"/>
          <p:nvPr>
            <p:ph idx="4294967295" type="body"/>
          </p:nvPr>
        </p:nvSpPr>
        <p:spPr>
          <a:xfrm>
            <a:off x="1477525" y="3380925"/>
            <a:ext cx="661200" cy="22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174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times\frac{21\ 750}{12\ 500}&quot;&gt;&lt;mo&gt;×&lt;/mo&gt;&lt;mfrac&gt;&lt;mrow&gt;&lt;mn&gt;21&lt;/mn&gt;&lt;mtext&gt;&lt;/mtext&gt;&lt;mn&gt;750&lt;/mn&gt;&lt;/mrow&gt;&lt;mrow&gt;&lt;mn&gt;12&lt;/mn&gt;&lt;mtext&gt;&lt;/mtext&gt;&lt;mn&gt;500&lt;/mn&gt;&lt;/mrow&gt;&lt;/mfrac&gt;&lt;/math&gt;" id="1205" name="Google Shape;1205;p109" title="times the fraction with numerator 21 750 and denominator 12 5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9460" y="3074900"/>
            <a:ext cx="773481" cy="451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6" name="Google Shape;1206;p109"/>
          <p:cNvGrpSpPr/>
          <p:nvPr/>
        </p:nvGrpSpPr>
        <p:grpSpPr>
          <a:xfrm>
            <a:off x="465010" y="3095925"/>
            <a:ext cx="1108800" cy="451200"/>
            <a:chOff x="465010" y="3095925"/>
            <a:chExt cx="1108800" cy="451200"/>
          </a:xfrm>
        </p:grpSpPr>
        <p:sp>
          <p:nvSpPr>
            <p:cNvPr id="1207" name="Google Shape;1207;p109"/>
            <p:cNvSpPr/>
            <p:nvPr/>
          </p:nvSpPr>
          <p:spPr>
            <a:xfrm flipH="1" rot="-5400000">
              <a:off x="1198960" y="3172275"/>
              <a:ext cx="451200" cy="298500"/>
            </a:xfrm>
            <a:prstGeom prst="arc">
              <a:avLst>
                <a:gd fmla="val 10729459" name="adj1"/>
                <a:gd fmla="val 21196396" name="adj2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&lt;math xmlns=&quot;http://www.w3.org/1998/Math/MathML&quot; display=&quot;block&quot; data-is-equatio=&quot;1&quot; data-latex=&quot;\times\frac{21\ 750}{12\ 500}&quot;&gt;&lt;mo&gt;×&lt;/mo&gt;&lt;mfrac&gt;&lt;mrow&gt;&lt;mn&gt;21&lt;/mn&gt;&lt;mtext&gt;&lt;/mtext&gt;&lt;mn&gt;750&lt;/mn&gt;&lt;/mrow&gt;&lt;mrow&gt;&lt;mn&gt;12&lt;/mn&gt;&lt;mtext&gt;&lt;/mtext&gt;&lt;mn&gt;500&lt;/mn&gt;&lt;/mrow&gt;&lt;/mfrac&gt;&lt;/math&gt;" id="1208" name="Google Shape;1208;p109" title="times the fraction with numerator 21 750 and denominator 12 5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5010" y="3095925"/>
              <a:ext cx="773481" cy="451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09" name="Google Shape;1209;p109"/>
          <p:cNvSpPr txBox="1"/>
          <p:nvPr>
            <p:ph idx="4294967295" type="body"/>
          </p:nvPr>
        </p:nvSpPr>
        <p:spPr>
          <a:xfrm>
            <a:off x="598275" y="3896000"/>
            <a:ext cx="3721800" cy="486600"/>
          </a:xfrm>
          <a:prstGeom prst="rect">
            <a:avLst/>
          </a:prstGeom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8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Percentage profit is 74 %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times\frac{13\ 005}{11\ 875}&quot;&gt;&lt;mo&gt;×&lt;/mo&gt;&lt;mfrac&gt;&lt;mrow&gt;&lt;mn&gt;13&lt;/mn&gt;&lt;mtext&gt;&lt;/mtext&gt;&lt;mn&gt;005&lt;/mn&gt;&lt;/mrow&gt;&lt;mrow&gt;&lt;mn&gt;11&lt;/mn&gt;&lt;mtext&gt;&lt;/mtext&gt;&lt;mn&gt;875&lt;/mn&gt;&lt;/mrow&gt;&lt;/mfrac&gt;&lt;/math&gt;" id="1210" name="Google Shape;1210;p109" title="times the fraction with numerator 13 005 and denominator 11 8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3092" y="3075600"/>
            <a:ext cx="773500" cy="449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3\ 005}{11\ 875}&quot;&gt;&lt;mo&gt;×&lt;/mo&gt;&lt;mfrac&gt;&lt;mrow&gt;&lt;mn&gt;13&lt;/mn&gt;&lt;mtext&gt;&lt;/mtext&gt;&lt;mn&gt;005&lt;/mn&gt;&lt;/mrow&gt;&lt;mrow&gt;&lt;mn&gt;11&lt;/mn&gt;&lt;mtext&gt;&lt;/mtext&gt;&lt;mn&gt;875&lt;/mn&gt;&lt;/mrow&gt;&lt;/mfrac&gt;&lt;/math&gt;" id="1211" name="Google Shape;1211;p109" title="times the fraction with numerator 13 005 and denominator 11 8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9689" y="3075600"/>
            <a:ext cx="773500" cy="449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graphicFrame>
        <p:nvGraphicFramePr>
          <p:cNvPr id="1217" name="Google Shape;1217;p110"/>
          <p:cNvGraphicFramePr/>
          <p:nvPr/>
        </p:nvGraphicFramePr>
        <p:xfrm>
          <a:off x="407375" y="6513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1676100"/>
                <a:gridCol w="3598300"/>
              </a:tblGrid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Percentage Profit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Dairy cows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120 %</a:t>
                      </a:r>
                      <a:endParaRPr baseline="30000"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Chickens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74 %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Sheep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9.5 %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8" name="Google Shape;1218;p110"/>
          <p:cNvSpPr txBox="1"/>
          <p:nvPr>
            <p:ph idx="1" type="body"/>
          </p:nvPr>
        </p:nvSpPr>
        <p:spPr>
          <a:xfrm>
            <a:off x="324000" y="1941850"/>
            <a:ext cx="8496000" cy="4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of the other animals are most profitable?</a:t>
            </a:r>
            <a:endParaRPr sz="1800"/>
          </a:p>
        </p:txBody>
      </p:sp>
      <p:sp>
        <p:nvSpPr>
          <p:cNvPr id="1219" name="Google Shape;1219;p110"/>
          <p:cNvSpPr txBox="1"/>
          <p:nvPr>
            <p:ph idx="1" type="body"/>
          </p:nvPr>
        </p:nvSpPr>
        <p:spPr>
          <a:xfrm>
            <a:off x="324000" y="2246650"/>
            <a:ext cx="8496000" cy="4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cows are more profitable.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What costs have not been considered?</a:t>
            </a:r>
            <a:endParaRPr sz="18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Purchase cost of the animals has not been included.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Also things like: processing and packaging; wages.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Costs and selling prices change constantly which also makes it really hard to ensure animals are profitable.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I think you will agree that an agricultural worker who works with animals uses a lot of maths!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11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1225" name="Google Shape;1225;p111"/>
          <p:cNvSpPr txBox="1"/>
          <p:nvPr>
            <p:ph idx="1" type="body"/>
          </p:nvPr>
        </p:nvSpPr>
        <p:spPr>
          <a:xfrm>
            <a:off x="324000" y="6069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</a:t>
            </a:r>
            <a:r>
              <a:rPr lang="en-GB" sz="1800"/>
              <a:t>A farmer decides that they want to give their cows more space.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Cost of care for a cow per day is £4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They are going to give each cow 12 m</a:t>
            </a:r>
            <a:r>
              <a:rPr baseline="30000" lang="en-GB" sz="1800"/>
              <a:t>2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Assume each cow produces 20 litres of milk a day.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selling price per litre of milk is 38 p.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Calculate the following: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</a:t>
            </a:r>
            <a:r>
              <a:rPr lang="en-GB" sz="1800"/>
              <a:t>The number of cows the barn can house.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The cost of care for the cows per year.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The income from milk production.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d) The percentage profit.</a:t>
            </a:r>
            <a:endParaRPr sz="1800"/>
          </a:p>
        </p:txBody>
      </p:sp>
      <p:sp>
        <p:nvSpPr>
          <p:cNvPr id="1226" name="Google Shape;1226;p111"/>
          <p:cNvSpPr/>
          <p:nvPr/>
        </p:nvSpPr>
        <p:spPr>
          <a:xfrm>
            <a:off x="6261950" y="1163075"/>
            <a:ext cx="1652400" cy="951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7" name="Google Shape;1227;p111"/>
          <p:cNvCxnSpPr/>
          <p:nvPr/>
        </p:nvCxnSpPr>
        <p:spPr>
          <a:xfrm>
            <a:off x="8038500" y="1157425"/>
            <a:ext cx="0" cy="98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1228" name="Google Shape;1228;p111"/>
          <p:cNvCxnSpPr/>
          <p:nvPr/>
        </p:nvCxnSpPr>
        <p:spPr>
          <a:xfrm>
            <a:off x="6241894" y="2220625"/>
            <a:ext cx="168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1229" name="Google Shape;1229;p111"/>
          <p:cNvSpPr txBox="1"/>
          <p:nvPr/>
        </p:nvSpPr>
        <p:spPr>
          <a:xfrm>
            <a:off x="8134451" y="1517526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111"/>
          <p:cNvSpPr txBox="1"/>
          <p:nvPr/>
        </p:nvSpPr>
        <p:spPr>
          <a:xfrm>
            <a:off x="6791050" y="2220245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75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11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1236" name="Google Shape;1236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A farmer decides that they want keep chickens.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They are going to give each chicken an area of 15 m</a:t>
            </a:r>
            <a:r>
              <a:rPr baseline="30000" lang="en-GB" sz="1800"/>
              <a:t>2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Cost of care for a chicken per year is £50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Each chicken produces 0.8 eggs on average per day.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They decide to sell the eggs themself, selling 1 dozen for £3.20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Calculate the following: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</a:t>
            </a:r>
            <a:r>
              <a:rPr lang="en-GB" sz="1800"/>
              <a:t>The percentage profit.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The farmer wants make a 60% profit.  How much do they need to charge for a dozen eggs?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37" name="Google Shape;1237;p112"/>
          <p:cNvSpPr/>
          <p:nvPr/>
        </p:nvSpPr>
        <p:spPr>
          <a:xfrm>
            <a:off x="6372903" y="939366"/>
            <a:ext cx="1652400" cy="951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8" name="Google Shape;1238;p112"/>
          <p:cNvCxnSpPr/>
          <p:nvPr/>
        </p:nvCxnSpPr>
        <p:spPr>
          <a:xfrm>
            <a:off x="8149453" y="933716"/>
            <a:ext cx="0" cy="98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1239" name="Google Shape;1239;p112"/>
          <p:cNvCxnSpPr/>
          <p:nvPr/>
        </p:nvCxnSpPr>
        <p:spPr>
          <a:xfrm>
            <a:off x="6352848" y="853916"/>
            <a:ext cx="168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1240" name="Google Shape;1240;p112"/>
          <p:cNvSpPr txBox="1"/>
          <p:nvPr/>
        </p:nvSpPr>
        <p:spPr>
          <a:xfrm>
            <a:off x="8245404" y="1293817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112"/>
          <p:cNvSpPr txBox="1"/>
          <p:nvPr/>
        </p:nvSpPr>
        <p:spPr>
          <a:xfrm>
            <a:off x="6902003" y="624937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75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113"/>
          <p:cNvSpPr txBox="1"/>
          <p:nvPr>
            <p:ph idx="1" type="body"/>
          </p:nvPr>
        </p:nvSpPr>
        <p:spPr>
          <a:xfrm>
            <a:off x="324000" y="6069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A farmer decides that they want to give their cows more space.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Cost of care for a cow per day is £4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They are going to give each cow 12 m</a:t>
            </a:r>
            <a:r>
              <a:rPr baseline="30000" lang="en-GB" sz="1800"/>
              <a:t>2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Assume each cow produces 20 litres of milk a day.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selling price per litre of milk is 38 p.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Calculate the following: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a) The number of cows the barn can house.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of barn = 1500 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Number of cows = 1500 ÷ 12 = 125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7" name="Google Shape;1247;p11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1248" name="Google Shape;1248;p113"/>
          <p:cNvSpPr/>
          <p:nvPr/>
        </p:nvSpPr>
        <p:spPr>
          <a:xfrm>
            <a:off x="6261950" y="1163075"/>
            <a:ext cx="1652400" cy="951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49" name="Google Shape;1249;p113"/>
          <p:cNvCxnSpPr/>
          <p:nvPr/>
        </p:nvCxnSpPr>
        <p:spPr>
          <a:xfrm>
            <a:off x="8038500" y="1157425"/>
            <a:ext cx="0" cy="98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1250" name="Google Shape;1250;p113"/>
          <p:cNvCxnSpPr/>
          <p:nvPr/>
        </p:nvCxnSpPr>
        <p:spPr>
          <a:xfrm>
            <a:off x="6241894" y="2220625"/>
            <a:ext cx="168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1251" name="Google Shape;1251;p113"/>
          <p:cNvSpPr txBox="1"/>
          <p:nvPr/>
        </p:nvSpPr>
        <p:spPr>
          <a:xfrm>
            <a:off x="8134451" y="1517526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113"/>
          <p:cNvSpPr txBox="1"/>
          <p:nvPr/>
        </p:nvSpPr>
        <p:spPr>
          <a:xfrm>
            <a:off x="6791050" y="2220245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1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1258" name="Google Shape;1258;p114"/>
          <p:cNvSpPr txBox="1"/>
          <p:nvPr>
            <p:ph idx="1" type="body"/>
          </p:nvPr>
        </p:nvSpPr>
        <p:spPr>
          <a:xfrm>
            <a:off x="324000" y="6069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</a:t>
            </a:r>
            <a:r>
              <a:rPr lang="en-GB" sz="1800"/>
              <a:t>A farmer decides that they want to give their cows more space.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Cost of care for a cow per day is £4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They are going to give each cow 12 m</a:t>
            </a:r>
            <a:r>
              <a:rPr baseline="30000" lang="en-GB" sz="1800"/>
              <a:t>2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Assume each cow produces 20 litres of milk a day.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selling price per litre of milk is 38 p.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Calculate the following: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The cost of care for the cows per year.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Cost of care = 125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× 4 × 365 = £182 500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9" name="Google Shape;1259;p114"/>
          <p:cNvSpPr/>
          <p:nvPr/>
        </p:nvSpPr>
        <p:spPr>
          <a:xfrm>
            <a:off x="6261950" y="1163075"/>
            <a:ext cx="1652400" cy="951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60" name="Google Shape;1260;p114"/>
          <p:cNvCxnSpPr/>
          <p:nvPr/>
        </p:nvCxnSpPr>
        <p:spPr>
          <a:xfrm>
            <a:off x="8038500" y="1157425"/>
            <a:ext cx="0" cy="98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1261" name="Google Shape;1261;p114"/>
          <p:cNvCxnSpPr/>
          <p:nvPr/>
        </p:nvCxnSpPr>
        <p:spPr>
          <a:xfrm>
            <a:off x="6241894" y="2220625"/>
            <a:ext cx="168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1262" name="Google Shape;1262;p114"/>
          <p:cNvSpPr txBox="1"/>
          <p:nvPr/>
        </p:nvSpPr>
        <p:spPr>
          <a:xfrm>
            <a:off x="8134451" y="1517526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114"/>
          <p:cNvSpPr txBox="1"/>
          <p:nvPr/>
        </p:nvSpPr>
        <p:spPr>
          <a:xfrm>
            <a:off x="6791050" y="2220245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75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11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1269" name="Google Shape;1269;p115"/>
          <p:cNvSpPr txBox="1"/>
          <p:nvPr>
            <p:ph idx="1" type="body"/>
          </p:nvPr>
        </p:nvSpPr>
        <p:spPr>
          <a:xfrm>
            <a:off x="324000" y="6069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</a:t>
            </a:r>
            <a:r>
              <a:rPr lang="en-GB" sz="1800"/>
              <a:t>A farmer decides that they want to give their cows more space.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Cost of care for a cow per day is £4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They are going to give each cow 12 m</a:t>
            </a:r>
            <a:r>
              <a:rPr baseline="30000" lang="en-GB" sz="1800"/>
              <a:t>2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Assume each cow produces 20 litres of milk a day.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selling price per litre of milk is 38 p.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Calculate the following: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The income from milk production.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Litres of milk = 125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× 20 × 365 = 912 500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Income = 912 500 × 0.38 = £346 750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0" name="Google Shape;1270;p115"/>
          <p:cNvSpPr/>
          <p:nvPr/>
        </p:nvSpPr>
        <p:spPr>
          <a:xfrm>
            <a:off x="6261950" y="1163075"/>
            <a:ext cx="1652400" cy="951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1" name="Google Shape;1271;p115"/>
          <p:cNvCxnSpPr/>
          <p:nvPr/>
        </p:nvCxnSpPr>
        <p:spPr>
          <a:xfrm>
            <a:off x="8038500" y="1157425"/>
            <a:ext cx="0" cy="98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1272" name="Google Shape;1272;p115"/>
          <p:cNvCxnSpPr/>
          <p:nvPr/>
        </p:nvCxnSpPr>
        <p:spPr>
          <a:xfrm>
            <a:off x="6241894" y="2220625"/>
            <a:ext cx="168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1273" name="Google Shape;1273;p115"/>
          <p:cNvSpPr txBox="1"/>
          <p:nvPr/>
        </p:nvSpPr>
        <p:spPr>
          <a:xfrm>
            <a:off x="8134451" y="1517526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115"/>
          <p:cNvSpPr txBox="1"/>
          <p:nvPr/>
        </p:nvSpPr>
        <p:spPr>
          <a:xfrm>
            <a:off x="6791050" y="2220245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75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11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1280" name="Google Shape;1280;p116"/>
          <p:cNvSpPr txBox="1"/>
          <p:nvPr>
            <p:ph idx="1" type="body"/>
          </p:nvPr>
        </p:nvSpPr>
        <p:spPr>
          <a:xfrm>
            <a:off x="324000" y="6069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</a:t>
            </a:r>
            <a:r>
              <a:rPr lang="en-GB" sz="1800"/>
              <a:t>A farmer decides that they want to give their cows more space.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Cost of care for a cow per day is £4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They are going to give each cow 12 m</a:t>
            </a:r>
            <a:r>
              <a:rPr baseline="30000" lang="en-GB" sz="1800"/>
              <a:t>2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Assume each cow produces 20 litres of milk a day.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selling price per litre of milk is 38 p.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Calculate the following: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d) The percentage profit.</a:t>
            </a:r>
            <a:endParaRPr sz="1800"/>
          </a:p>
        </p:txBody>
      </p:sp>
      <p:sp>
        <p:nvSpPr>
          <p:cNvPr id="1281" name="Google Shape;1281;p116"/>
          <p:cNvSpPr/>
          <p:nvPr/>
        </p:nvSpPr>
        <p:spPr>
          <a:xfrm>
            <a:off x="6261950" y="1163075"/>
            <a:ext cx="1652400" cy="951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82" name="Google Shape;1282;p116"/>
          <p:cNvCxnSpPr/>
          <p:nvPr/>
        </p:nvCxnSpPr>
        <p:spPr>
          <a:xfrm>
            <a:off x="8038500" y="1157425"/>
            <a:ext cx="0" cy="98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1283" name="Google Shape;1283;p116"/>
          <p:cNvCxnSpPr/>
          <p:nvPr/>
        </p:nvCxnSpPr>
        <p:spPr>
          <a:xfrm>
            <a:off x="6241894" y="2220625"/>
            <a:ext cx="168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1284" name="Google Shape;1284;p116"/>
          <p:cNvSpPr txBox="1"/>
          <p:nvPr/>
        </p:nvSpPr>
        <p:spPr>
          <a:xfrm>
            <a:off x="8134451" y="1517526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116"/>
          <p:cNvSpPr txBox="1"/>
          <p:nvPr/>
        </p:nvSpPr>
        <p:spPr>
          <a:xfrm>
            <a:off x="6791050" y="2220245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75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86" name="Google Shape;1286;p116"/>
          <p:cNvGraphicFramePr/>
          <p:nvPr/>
        </p:nvGraphicFramePr>
        <p:xfrm>
          <a:off x="1553735" y="362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{DF5F091C-C0ED-46E4-BC72-A24479500CE3}</a:tableStyleId>
              </a:tblPr>
              <a:tblGrid>
                <a:gridCol w="1152225"/>
                <a:gridCol w="1795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%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£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182 500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346 750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87" name="Google Shape;1287;p116"/>
          <p:cNvSpPr/>
          <p:nvPr/>
        </p:nvSpPr>
        <p:spPr>
          <a:xfrm rot="5400000">
            <a:off x="4356775" y="4178000"/>
            <a:ext cx="451200" cy="378600"/>
          </a:xfrm>
          <a:prstGeom prst="arc">
            <a:avLst>
              <a:gd fmla="val 10729459" name="adj1"/>
              <a:gd fmla="val 21296751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116"/>
          <p:cNvSpPr txBox="1"/>
          <p:nvPr>
            <p:ph idx="4294967295" type="body"/>
          </p:nvPr>
        </p:nvSpPr>
        <p:spPr>
          <a:xfrm>
            <a:off x="1553725" y="4447725"/>
            <a:ext cx="1152300" cy="22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190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9" name="Google Shape;1289;p116"/>
          <p:cNvSpPr/>
          <p:nvPr/>
        </p:nvSpPr>
        <p:spPr>
          <a:xfrm flipH="1" rot="-5400000">
            <a:off x="1275160" y="4239075"/>
            <a:ext cx="451200" cy="298500"/>
          </a:xfrm>
          <a:prstGeom prst="arc">
            <a:avLst>
              <a:gd fmla="val 10729459" name="adj1"/>
              <a:gd fmla="val 21196396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116"/>
          <p:cNvSpPr txBox="1"/>
          <p:nvPr/>
        </p:nvSpPr>
        <p:spPr>
          <a:xfrm>
            <a:off x="4818775" y="4209250"/>
            <a:ext cx="6162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1.9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1" name="Google Shape;1291;p116"/>
          <p:cNvSpPr txBox="1"/>
          <p:nvPr/>
        </p:nvSpPr>
        <p:spPr>
          <a:xfrm>
            <a:off x="694975" y="4209250"/>
            <a:ext cx="6162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1.9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2" name="Google Shape;1292;p116"/>
          <p:cNvSpPr txBox="1"/>
          <p:nvPr/>
        </p:nvSpPr>
        <p:spPr>
          <a:xfrm>
            <a:off x="5504075" y="4412125"/>
            <a:ext cx="269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90% profit is made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11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1298" name="Google Shape;1298;p117"/>
          <p:cNvSpPr txBox="1"/>
          <p:nvPr>
            <p:ph idx="1" type="body"/>
          </p:nvPr>
        </p:nvSpPr>
        <p:spPr>
          <a:xfrm>
            <a:off x="324000" y="6831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</a:t>
            </a:r>
            <a:r>
              <a:rPr lang="en-GB" sz="1800"/>
              <a:t>) A farmer decides that they want keep chickens.</a:t>
            </a:r>
            <a:endParaRPr sz="18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They are going to give each chicken an area of 15 m</a:t>
            </a:r>
            <a:r>
              <a:rPr baseline="30000" lang="en-GB" sz="1800"/>
              <a:t>2</a:t>
            </a:r>
            <a:endParaRPr sz="18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Cost of care for a chicken per year is £50</a:t>
            </a:r>
            <a:endParaRPr sz="18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Each chicken produces 0.8 eggs on average per day.</a:t>
            </a:r>
            <a:endParaRPr sz="18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They decide to sell the eggs themself, selling 1 dozen for £3.20</a:t>
            </a:r>
            <a:endParaRPr sz="18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Calculate the following:</a:t>
            </a:r>
            <a:endParaRPr sz="18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The percentage profit.</a:t>
            </a:r>
            <a:endParaRPr sz="18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of barn = 1500 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Number of chickens = 1500 ÷ 15 = 100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Cost of care per year = 100 × 50 = £5000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Number of eggs per year = 100 × 0.8 × 365 = 29 200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Income from eggs per year = 29 200 ÷ 12 × £3.20 = £7786.67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Percentage profit ≈ 55.7 %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99" name="Google Shape;1299;p117"/>
          <p:cNvSpPr/>
          <p:nvPr/>
        </p:nvSpPr>
        <p:spPr>
          <a:xfrm>
            <a:off x="6372903" y="939366"/>
            <a:ext cx="1652400" cy="951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0" name="Google Shape;1300;p117"/>
          <p:cNvCxnSpPr/>
          <p:nvPr/>
        </p:nvCxnSpPr>
        <p:spPr>
          <a:xfrm>
            <a:off x="8149453" y="933716"/>
            <a:ext cx="0" cy="98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1301" name="Google Shape;1301;p117"/>
          <p:cNvCxnSpPr/>
          <p:nvPr/>
        </p:nvCxnSpPr>
        <p:spPr>
          <a:xfrm>
            <a:off x="6352848" y="853916"/>
            <a:ext cx="168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1302" name="Google Shape;1302;p117"/>
          <p:cNvSpPr txBox="1"/>
          <p:nvPr/>
        </p:nvSpPr>
        <p:spPr>
          <a:xfrm>
            <a:off x="8245404" y="1293817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117"/>
          <p:cNvSpPr txBox="1"/>
          <p:nvPr/>
        </p:nvSpPr>
        <p:spPr>
          <a:xfrm>
            <a:off x="6902003" y="624937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75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11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Costs and percentages</a:t>
            </a:r>
            <a:endParaRPr/>
          </a:p>
        </p:txBody>
      </p:sp>
      <p:sp>
        <p:nvSpPr>
          <p:cNvPr id="1309" name="Google Shape;1309;p118"/>
          <p:cNvSpPr txBox="1"/>
          <p:nvPr>
            <p:ph idx="1" type="body"/>
          </p:nvPr>
        </p:nvSpPr>
        <p:spPr>
          <a:xfrm>
            <a:off x="324000" y="6831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A farmer decides that they want keep chickens.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They are going to give each chicken an area of 15 m</a:t>
            </a:r>
            <a:r>
              <a:rPr baseline="30000" lang="en-GB" sz="1800"/>
              <a:t>2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Cost of care for a chicken per year is £50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Each chicken produces 0.8 eggs on average per day.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They decide to sell the eggs themself.  Selling 1 dozen for £3.20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Calculate the following: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The farmer wants make a 60% profit.  How much do they need to charge for a dozen eggs?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Cost of care per year = 100 × 50 = £5000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Number of dozens per year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29 200 ÷ 12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2433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Income for a 60% profit = £5000 × 1.6 = £8000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Cost per dozen = £8000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÷ 2433 = 3.2881… ≈ £3.29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10" name="Google Shape;1310;p118"/>
          <p:cNvSpPr/>
          <p:nvPr/>
        </p:nvSpPr>
        <p:spPr>
          <a:xfrm>
            <a:off x="6372903" y="939366"/>
            <a:ext cx="1652400" cy="951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11" name="Google Shape;1311;p118"/>
          <p:cNvCxnSpPr/>
          <p:nvPr/>
        </p:nvCxnSpPr>
        <p:spPr>
          <a:xfrm>
            <a:off x="8149453" y="933716"/>
            <a:ext cx="0" cy="98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1312" name="Google Shape;1312;p118"/>
          <p:cNvCxnSpPr/>
          <p:nvPr/>
        </p:nvCxnSpPr>
        <p:spPr>
          <a:xfrm>
            <a:off x="6352848" y="853916"/>
            <a:ext cx="168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1313" name="Google Shape;1313;p118"/>
          <p:cNvSpPr txBox="1"/>
          <p:nvPr/>
        </p:nvSpPr>
        <p:spPr>
          <a:xfrm>
            <a:off x="8245404" y="1293817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118"/>
          <p:cNvSpPr txBox="1"/>
          <p:nvPr/>
        </p:nvSpPr>
        <p:spPr>
          <a:xfrm>
            <a:off x="6902003" y="624937"/>
            <a:ext cx="6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75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119"/>
          <p:cNvSpPr txBox="1"/>
          <p:nvPr>
            <p:ph idx="1" type="body"/>
          </p:nvPr>
        </p:nvSpPr>
        <p:spPr>
          <a:xfrm>
            <a:off x="324000" y="722350"/>
            <a:ext cx="8113800" cy="409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People that work with animals use many areas of maths.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E.g.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Area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Multiplication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Division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Percentages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Money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Weights and measures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Temperature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Time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During this lesson we looked at ensuring that animals have the correct amount of space to live in and how the cost and selling price affects profit margins.</a:t>
            </a:r>
            <a:endParaRPr sz="1800"/>
          </a:p>
        </p:txBody>
      </p:sp>
      <p:sp>
        <p:nvSpPr>
          <p:cNvPr id="1320" name="Google Shape;1320;p119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Agricultural worker (animals)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120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26" name="Google Shape;1326;p1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