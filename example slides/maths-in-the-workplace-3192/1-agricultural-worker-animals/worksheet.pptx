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8" r:id="rId4"/>
  </p:sldMasterIdLst>
  <p:notesMasterIdLst>
    <p:notesMasterId r:id="rId5"/>
  </p:notesMasterIdLst>
  <p:sldIdLst>
    <p:sldId id="256" r:id="rId6"/>
    <p:sldId id="257" r:id="rId7"/>
    <p:sldId id="258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A87117B-F476-483C-8A54-73C9EAA13664}">
  <a:tblStyle styleId="{2A87117B-F476-483C-8A54-73C9EAA1366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08efbc028c_0_2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08efbc028c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Relationship Id="rId6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Relationship Id="rId6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Relationship Id="rId6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" name="Google Shape;13;p2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" name="Google Shape;14;p2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" name="Google Shape;17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" name="Google Shape;24;p3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" name="Google Shape;25;p3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" name="Google Shape;26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" name="Google Shape;30;p4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" name="Google Shape;31;p4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5" name="Google Shape;35;p5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" name="Google Shape;36;p5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7" name="Google Shape;37;p5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38" name="Google Shape;38;p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" name="Google Shape;39;p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6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3" name="Google Shape;43;p6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44" name="Google Shape;44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6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6" name="Google Shape;46;p6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" name="Google Shape;47;p6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49" name="Google Shape;49;p6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" name="Google Shape;50;p6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5" name="Google Shape;55;p7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8" name="Google Shape;58;p7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" name="Google Shape;59;p7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" name="Google Shape;60;p7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61" name="Google Shape;61;p7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" name="Google Shape;62;p7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3" name="Google Shape;63;p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7" name="Google Shape;67;p8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8" name="Google Shape;68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8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0" name="Google Shape;70;p8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" name="Google Shape;71;p8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6" name="Google Shape;76;p9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" name="Google Shape;77;p9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0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1" name="Google Shape;81;p10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" name="Google Shape;82;p10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83" name="Google Shape;83;p10"/>
          <p:cNvSpPr txBox="1"/>
          <p:nvPr>
            <p:ph idx="2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84" name="Google Shape;84;p10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" name="Google Shape;85;p10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1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9" name="Google Shape;89;p11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0" name="Google Shape;90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1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2" name="Google Shape;92;p11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" name="Google Shape;93;p11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1"/>
          <p:cNvSpPr txBox="1"/>
          <p:nvPr>
            <p:ph idx="1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1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1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7" name="Google Shape;97;p1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2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Agricultural worker (animals)</a:t>
            </a:r>
            <a:endParaRPr/>
          </a:p>
        </p:txBody>
      </p:sp>
      <p:sp>
        <p:nvSpPr>
          <p:cNvPr id="103" name="Google Shape;103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04" name="Google Shape;104;p12"/>
          <p:cNvSpPr txBox="1"/>
          <p:nvPr/>
        </p:nvSpPr>
        <p:spPr>
          <a:xfrm>
            <a:off x="1449464" y="6729637"/>
            <a:ext cx="543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20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" name="Google Shape;105;p12"/>
          <p:cNvSpPr txBox="1"/>
          <p:nvPr/>
        </p:nvSpPr>
        <p:spPr>
          <a:xfrm>
            <a:off x="468001" y="1262475"/>
            <a:ext cx="62754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Task A: Geometry in agricultural work</a:t>
            </a:r>
            <a:endParaRPr b="1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2"/>
          <p:cNvSpPr txBox="1"/>
          <p:nvPr/>
        </p:nvSpPr>
        <p:spPr>
          <a:xfrm>
            <a:off x="468000" y="1754779"/>
            <a:ext cx="5370300" cy="23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For each of the following calculate the maximum number of each animal which can be safely and comfortably looked after in these barns: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						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" name="Google Shape;107;p12"/>
          <p:cNvSpPr/>
          <p:nvPr/>
        </p:nvSpPr>
        <p:spPr>
          <a:xfrm>
            <a:off x="762035" y="2500678"/>
            <a:ext cx="1294500" cy="745500"/>
          </a:xfrm>
          <a:prstGeom prst="rect">
            <a:avLst/>
          </a:prstGeom>
          <a:noFill/>
          <a:ln cap="flat" cmpd="sng" w="38100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8" name="Google Shape;108;p12"/>
          <p:cNvCxnSpPr/>
          <p:nvPr/>
        </p:nvCxnSpPr>
        <p:spPr>
          <a:xfrm>
            <a:off x="2153719" y="2496252"/>
            <a:ext cx="0" cy="773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stealth"/>
            <a:tailEnd len="med" w="med" type="triangle"/>
          </a:ln>
        </p:spPr>
      </p:cxnSp>
      <p:cxnSp>
        <p:nvCxnSpPr>
          <p:cNvPr id="109" name="Google Shape;109;p12"/>
          <p:cNvCxnSpPr/>
          <p:nvPr/>
        </p:nvCxnSpPr>
        <p:spPr>
          <a:xfrm>
            <a:off x="746324" y="3329124"/>
            <a:ext cx="1323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stealth"/>
            <a:tailEnd len="med" w="med" type="triangle"/>
          </a:ln>
        </p:spPr>
      </p:cxnSp>
      <p:sp>
        <p:nvSpPr>
          <p:cNvPr id="110" name="Google Shape;110;p12"/>
          <p:cNvSpPr txBox="1"/>
          <p:nvPr/>
        </p:nvSpPr>
        <p:spPr>
          <a:xfrm>
            <a:off x="2228883" y="2778342"/>
            <a:ext cx="543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20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" name="Google Shape;111;p12"/>
          <p:cNvSpPr txBox="1"/>
          <p:nvPr/>
        </p:nvSpPr>
        <p:spPr>
          <a:xfrm>
            <a:off x="1176513" y="3328826"/>
            <a:ext cx="543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75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" name="Google Shape;112;p12"/>
          <p:cNvSpPr/>
          <p:nvPr/>
        </p:nvSpPr>
        <p:spPr>
          <a:xfrm>
            <a:off x="957391" y="3769781"/>
            <a:ext cx="955200" cy="955200"/>
          </a:xfrm>
          <a:prstGeom prst="rect">
            <a:avLst/>
          </a:prstGeom>
          <a:noFill/>
          <a:ln cap="flat" cmpd="sng" w="38100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3" name="Google Shape;113;p12"/>
          <p:cNvCxnSpPr/>
          <p:nvPr/>
        </p:nvCxnSpPr>
        <p:spPr>
          <a:xfrm>
            <a:off x="945331" y="4812594"/>
            <a:ext cx="9597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stealth"/>
            <a:tailEnd len="med" w="med" type="triangle"/>
          </a:ln>
        </p:spPr>
      </p:cxnSp>
      <p:sp>
        <p:nvSpPr>
          <p:cNvPr id="114" name="Google Shape;114;p12"/>
          <p:cNvSpPr txBox="1"/>
          <p:nvPr/>
        </p:nvSpPr>
        <p:spPr>
          <a:xfrm>
            <a:off x="1256135" y="4812297"/>
            <a:ext cx="543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50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2"/>
          <p:cNvCxnSpPr/>
          <p:nvPr/>
        </p:nvCxnSpPr>
        <p:spPr>
          <a:xfrm>
            <a:off x="862545" y="4251354"/>
            <a:ext cx="1899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" name="Google Shape;116;p12"/>
          <p:cNvCxnSpPr/>
          <p:nvPr/>
        </p:nvCxnSpPr>
        <p:spPr>
          <a:xfrm>
            <a:off x="1817621" y="4251354"/>
            <a:ext cx="1899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" name="Google Shape;117;p12"/>
          <p:cNvCxnSpPr/>
          <p:nvPr/>
        </p:nvCxnSpPr>
        <p:spPr>
          <a:xfrm>
            <a:off x="1434929" y="3700982"/>
            <a:ext cx="0" cy="154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" name="Google Shape;118;p12"/>
          <p:cNvCxnSpPr/>
          <p:nvPr/>
        </p:nvCxnSpPr>
        <p:spPr>
          <a:xfrm>
            <a:off x="1434929" y="4642805"/>
            <a:ext cx="0" cy="154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" name="Google Shape;119;p12"/>
          <p:cNvCxnSpPr/>
          <p:nvPr/>
        </p:nvCxnSpPr>
        <p:spPr>
          <a:xfrm>
            <a:off x="3215949" y="5667063"/>
            <a:ext cx="0" cy="406500"/>
          </a:xfrm>
          <a:prstGeom prst="straightConnector1">
            <a:avLst/>
          </a:prstGeom>
          <a:noFill/>
          <a:ln cap="flat" cmpd="sng" w="38100">
            <a:solidFill>
              <a:srgbClr val="22222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" name="Google Shape;120;p12"/>
          <p:cNvCxnSpPr/>
          <p:nvPr/>
        </p:nvCxnSpPr>
        <p:spPr>
          <a:xfrm>
            <a:off x="2115778" y="6064796"/>
            <a:ext cx="1109100" cy="0"/>
          </a:xfrm>
          <a:prstGeom prst="straightConnector1">
            <a:avLst/>
          </a:prstGeom>
          <a:noFill/>
          <a:ln cap="flat" cmpd="sng" w="38100">
            <a:solidFill>
              <a:srgbClr val="22222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" name="Google Shape;121;p12"/>
          <p:cNvCxnSpPr/>
          <p:nvPr/>
        </p:nvCxnSpPr>
        <p:spPr>
          <a:xfrm>
            <a:off x="2124610" y="6055960"/>
            <a:ext cx="0" cy="622800"/>
          </a:xfrm>
          <a:prstGeom prst="straightConnector1">
            <a:avLst/>
          </a:prstGeom>
          <a:noFill/>
          <a:ln cap="flat" cmpd="sng" w="38100">
            <a:solidFill>
              <a:srgbClr val="22222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2" name="Google Shape;122;p12"/>
          <p:cNvSpPr txBox="1"/>
          <p:nvPr/>
        </p:nvSpPr>
        <p:spPr>
          <a:xfrm>
            <a:off x="2082653" y="5352583"/>
            <a:ext cx="543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60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3" name="Google Shape;123;p12"/>
          <p:cNvCxnSpPr/>
          <p:nvPr/>
        </p:nvCxnSpPr>
        <p:spPr>
          <a:xfrm>
            <a:off x="3286496" y="5667067"/>
            <a:ext cx="0" cy="406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stealth"/>
            <a:tailEnd len="med" w="med" type="triangle"/>
          </a:ln>
        </p:spPr>
      </p:cxnSp>
      <p:sp>
        <p:nvSpPr>
          <p:cNvPr id="124" name="Google Shape;124;p12"/>
          <p:cNvSpPr/>
          <p:nvPr/>
        </p:nvSpPr>
        <p:spPr>
          <a:xfrm>
            <a:off x="5856088" y="1754779"/>
            <a:ext cx="1236000" cy="645300"/>
          </a:xfrm>
          <a:prstGeom prst="rect">
            <a:avLst/>
          </a:prstGeom>
          <a:solidFill>
            <a:srgbClr val="F0F0F0"/>
          </a:solidFill>
          <a:ln cap="flat" cmpd="sng" w="38100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Diagrams are not drawn to scale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5" name="Google Shape;125;p12"/>
          <p:cNvCxnSpPr/>
          <p:nvPr/>
        </p:nvCxnSpPr>
        <p:spPr>
          <a:xfrm>
            <a:off x="1302937" y="5680554"/>
            <a:ext cx="0" cy="1002900"/>
          </a:xfrm>
          <a:prstGeom prst="straightConnector1">
            <a:avLst/>
          </a:prstGeom>
          <a:noFill/>
          <a:ln cap="flat" cmpd="sng" w="38100">
            <a:solidFill>
              <a:srgbClr val="22222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" name="Google Shape;126;p12"/>
          <p:cNvCxnSpPr/>
          <p:nvPr/>
        </p:nvCxnSpPr>
        <p:spPr>
          <a:xfrm>
            <a:off x="1289675" y="5684964"/>
            <a:ext cx="1939500" cy="0"/>
          </a:xfrm>
          <a:prstGeom prst="straightConnector1">
            <a:avLst/>
          </a:prstGeom>
          <a:noFill/>
          <a:ln cap="flat" cmpd="sng" w="38100">
            <a:solidFill>
              <a:srgbClr val="22222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" name="Google Shape;127;p12"/>
          <p:cNvCxnSpPr/>
          <p:nvPr/>
        </p:nvCxnSpPr>
        <p:spPr>
          <a:xfrm>
            <a:off x="1302177" y="6675209"/>
            <a:ext cx="827100" cy="0"/>
          </a:xfrm>
          <a:prstGeom prst="straightConnector1">
            <a:avLst/>
          </a:prstGeom>
          <a:noFill/>
          <a:ln cap="flat" cmpd="sng" w="38100">
            <a:solidFill>
              <a:srgbClr val="22222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" name="Google Shape;128;p12"/>
          <p:cNvCxnSpPr/>
          <p:nvPr/>
        </p:nvCxnSpPr>
        <p:spPr>
          <a:xfrm>
            <a:off x="1192254" y="5680557"/>
            <a:ext cx="0" cy="998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stealth"/>
            <a:tailEnd len="med" w="med" type="triangle"/>
          </a:ln>
        </p:spPr>
      </p:cxnSp>
      <p:cxnSp>
        <p:nvCxnSpPr>
          <p:cNvPr id="129" name="Google Shape;129;p12"/>
          <p:cNvCxnSpPr/>
          <p:nvPr/>
        </p:nvCxnSpPr>
        <p:spPr>
          <a:xfrm>
            <a:off x="1302929" y="5581364"/>
            <a:ext cx="19131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stealth"/>
            <a:tailEnd len="med" w="med" type="triangle"/>
          </a:ln>
        </p:spPr>
      </p:cxnSp>
      <p:sp>
        <p:nvSpPr>
          <p:cNvPr id="130" name="Google Shape;130;p12"/>
          <p:cNvSpPr txBox="1"/>
          <p:nvPr/>
        </p:nvSpPr>
        <p:spPr>
          <a:xfrm>
            <a:off x="746335" y="6087124"/>
            <a:ext cx="543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40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" name="Google Shape;131;p12"/>
          <p:cNvSpPr txBox="1"/>
          <p:nvPr/>
        </p:nvSpPr>
        <p:spPr>
          <a:xfrm>
            <a:off x="3317626" y="5766741"/>
            <a:ext cx="543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15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2" name="Google Shape;132;p12"/>
          <p:cNvCxnSpPr/>
          <p:nvPr/>
        </p:nvCxnSpPr>
        <p:spPr>
          <a:xfrm>
            <a:off x="1309033" y="6729927"/>
            <a:ext cx="820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stealth"/>
            <a:tailEnd len="med" w="med" type="triangle"/>
          </a:ln>
        </p:spPr>
      </p:cxnSp>
      <p:graphicFrame>
        <p:nvGraphicFramePr>
          <p:cNvPr id="133" name="Google Shape;133;p12"/>
          <p:cNvGraphicFramePr/>
          <p:nvPr/>
        </p:nvGraphicFramePr>
        <p:xfrm>
          <a:off x="3913325" y="24213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{2A87117B-F476-483C-8A54-73C9EAA13664}</a:tableStyleId>
              </a:tblPr>
              <a:tblGrid>
                <a:gridCol w="418125"/>
                <a:gridCol w="905500"/>
                <a:gridCol w="1836075"/>
              </a:tblGrid>
              <a:tr h="184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Animal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Required living area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4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Cows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 m</a:t>
                      </a:r>
                      <a:r>
                        <a:rPr baseline="30000"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baseline="30000"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4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ii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Chickens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 m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4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iii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Pigs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2.2 m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4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iv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Sheep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 m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34" name="Google Shape;134;p12"/>
          <p:cNvCxnSpPr/>
          <p:nvPr/>
        </p:nvCxnSpPr>
        <p:spPr>
          <a:xfrm>
            <a:off x="474751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3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Agricultural worker (animals)</a:t>
            </a:r>
            <a:endParaRPr/>
          </a:p>
        </p:txBody>
      </p:sp>
      <p:sp>
        <p:nvSpPr>
          <p:cNvPr id="140" name="Google Shape;140;p13"/>
          <p:cNvSpPr txBox="1"/>
          <p:nvPr/>
        </p:nvSpPr>
        <p:spPr>
          <a:xfrm>
            <a:off x="472438" y="1052099"/>
            <a:ext cx="6416400" cy="23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A farmer decides that they want to give their cows more space.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Cost of care for a cow per day is £4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They are going to give each cow 12 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Assume each cow produces 20 litres of milk a day.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selling price per litre of milk is 38 p.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Calculate the following: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The number of cows the barn can house.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The cost of care for the cows per year.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The income from milk production.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 The percentage profit.</a:t>
            </a:r>
            <a:endParaRPr sz="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1" name="Google Shape;141;p13"/>
          <p:cNvSpPr txBox="1"/>
          <p:nvPr/>
        </p:nvSpPr>
        <p:spPr>
          <a:xfrm>
            <a:off x="463512" y="610258"/>
            <a:ext cx="6232800" cy="298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Task B: Costs and percentages</a:t>
            </a:r>
            <a:endParaRPr b="1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3"/>
          <p:cNvSpPr/>
          <p:nvPr/>
        </p:nvSpPr>
        <p:spPr>
          <a:xfrm>
            <a:off x="5097643" y="1485317"/>
            <a:ext cx="1287000" cy="741300"/>
          </a:xfrm>
          <a:prstGeom prst="rect">
            <a:avLst/>
          </a:prstGeom>
          <a:noFill/>
          <a:ln cap="flat" cmpd="sng" w="38100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3" name="Google Shape;143;p13"/>
          <p:cNvCxnSpPr/>
          <p:nvPr/>
        </p:nvCxnSpPr>
        <p:spPr>
          <a:xfrm>
            <a:off x="6481438" y="1480916"/>
            <a:ext cx="0" cy="768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stealth"/>
            <a:tailEnd len="med" w="med" type="triangle"/>
          </a:ln>
        </p:spPr>
      </p:cxnSp>
      <p:cxnSp>
        <p:nvCxnSpPr>
          <p:cNvPr id="144" name="Google Shape;144;p13"/>
          <p:cNvCxnSpPr/>
          <p:nvPr/>
        </p:nvCxnSpPr>
        <p:spPr>
          <a:xfrm>
            <a:off x="5082021" y="2309067"/>
            <a:ext cx="13161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stealth"/>
            <a:tailEnd len="med" w="med" type="triangle"/>
          </a:ln>
        </p:spPr>
      </p:cxnSp>
      <p:sp>
        <p:nvSpPr>
          <p:cNvPr id="145" name="Google Shape;145;p13"/>
          <p:cNvSpPr txBox="1"/>
          <p:nvPr/>
        </p:nvSpPr>
        <p:spPr>
          <a:xfrm>
            <a:off x="6556177" y="1761407"/>
            <a:ext cx="540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20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" name="Google Shape;146;p13"/>
          <p:cNvSpPr txBox="1"/>
          <p:nvPr/>
        </p:nvSpPr>
        <p:spPr>
          <a:xfrm>
            <a:off x="5509771" y="2308771"/>
            <a:ext cx="540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75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" name="Google Shape;147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53" name="Google Shape;153;p14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Agricultural worker (animals)</a:t>
            </a:r>
            <a:endParaRPr/>
          </a:p>
        </p:txBody>
      </p:sp>
      <p:sp>
        <p:nvSpPr>
          <p:cNvPr id="154" name="Google Shape;154;p14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</a:t>
            </a:r>
            <a:r>
              <a:rPr lang="en-GB"/>
              <a:t>cation and Industry</a:t>
            </a:r>
            <a:endParaRPr/>
          </a:p>
        </p:txBody>
      </p:sp>
      <p:sp>
        <p:nvSpPr>
          <p:cNvPr id="155" name="Google Shape;155;p14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v2.4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" name="Google Shape;156;p14"/>
          <p:cNvSpPr txBox="1"/>
          <p:nvPr/>
        </p:nvSpPr>
        <p:spPr>
          <a:xfrm>
            <a:off x="468000" y="764724"/>
            <a:ext cx="6333900" cy="23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 farmer decides that they want keep chickens.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They are going to give each chicken an area of 15 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Cost of care for a chicken per year is £50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Each chicken produces 0.8 eggs on average per day.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They decide to sell the eggs themself, selling 1 dozen for £3.20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Calculate the following: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The percentage profit.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The farmer wants make a 60% profit.  How much do they need to charge for a dozen eggs?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" name="Google Shape;157;p14"/>
          <p:cNvSpPr/>
          <p:nvPr/>
        </p:nvSpPr>
        <p:spPr>
          <a:xfrm>
            <a:off x="5118948" y="961766"/>
            <a:ext cx="1270500" cy="731700"/>
          </a:xfrm>
          <a:prstGeom prst="rect">
            <a:avLst/>
          </a:prstGeom>
          <a:noFill/>
          <a:ln cap="flat" cmpd="sng" w="38100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8" name="Google Shape;158;p14"/>
          <p:cNvCxnSpPr/>
          <p:nvPr/>
        </p:nvCxnSpPr>
        <p:spPr>
          <a:xfrm>
            <a:off x="6484921" y="957422"/>
            <a:ext cx="0" cy="759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stealth"/>
            <a:tailEnd len="med" w="med" type="triangle"/>
          </a:ln>
        </p:spPr>
      </p:cxnSp>
      <p:cxnSp>
        <p:nvCxnSpPr>
          <p:cNvPr id="159" name="Google Shape;159;p14"/>
          <p:cNvCxnSpPr/>
          <p:nvPr/>
        </p:nvCxnSpPr>
        <p:spPr>
          <a:xfrm>
            <a:off x="5103527" y="896064"/>
            <a:ext cx="1299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stealth"/>
            <a:tailEnd len="med" w="med" type="triangle"/>
          </a:ln>
        </p:spPr>
      </p:cxnSp>
      <p:sp>
        <p:nvSpPr>
          <p:cNvPr id="160" name="Google Shape;160;p14"/>
          <p:cNvSpPr txBox="1"/>
          <p:nvPr/>
        </p:nvSpPr>
        <p:spPr>
          <a:xfrm>
            <a:off x="6558697" y="1234301"/>
            <a:ext cx="533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20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" name="Google Shape;161;p14"/>
          <p:cNvSpPr txBox="1"/>
          <p:nvPr/>
        </p:nvSpPr>
        <p:spPr>
          <a:xfrm>
            <a:off x="5525768" y="720003"/>
            <a:ext cx="533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75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Sep 2024 v2">
  <a:themeElements>
    <a:clrScheme name="Simple Light">
      <a:dk1>
        <a:srgbClr val="222222"/>
      </a:dk1>
      <a:lt1>
        <a:srgbClr val="FFFFFF"/>
      </a:lt1>
      <a:dk2>
        <a:srgbClr val="808080"/>
      </a:dk2>
      <a:lt2>
        <a:srgbClr val="F2F2F2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287C34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