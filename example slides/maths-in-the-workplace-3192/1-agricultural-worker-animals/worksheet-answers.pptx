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0C4D75-9376-4853-8206-2F402C5538FC}">
  <a:tblStyle styleId="{4E0C4D75-9376-4853-8206-2F402C5538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8ebc17996_0_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8ebc1799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/>
        </p:nvSpPr>
        <p:spPr>
          <a:xfrm>
            <a:off x="1449464" y="6729637"/>
            <a:ext cx="54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20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12"/>
          <p:cNvSpPr txBox="1"/>
          <p:nvPr/>
        </p:nvSpPr>
        <p:spPr>
          <a:xfrm>
            <a:off x="4140012" y="6090290"/>
            <a:ext cx="86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i) 140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iii) 636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" name="Google Shape;117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8" name="Google Shape;118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Agricultural worker (animals)</a:t>
            </a:r>
            <a:endParaRPr/>
          </a:p>
        </p:txBody>
      </p:sp>
      <p:sp>
        <p:nvSpPr>
          <p:cNvPr id="119" name="Google Shape;119;p12"/>
          <p:cNvSpPr txBox="1"/>
          <p:nvPr/>
        </p:nvSpPr>
        <p:spPr>
          <a:xfrm>
            <a:off x="468001" y="1262475"/>
            <a:ext cx="6275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Geometry in agricultural work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468000" y="1754779"/>
            <a:ext cx="5370300" cy="23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For each of the following calculate the maximum number of each animal which can be safely and comfortably looked after in these barns: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						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12"/>
          <p:cNvSpPr/>
          <p:nvPr/>
        </p:nvSpPr>
        <p:spPr>
          <a:xfrm>
            <a:off x="762035" y="2500678"/>
            <a:ext cx="1294500" cy="745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" name="Google Shape;122;p12"/>
          <p:cNvCxnSpPr/>
          <p:nvPr/>
        </p:nvCxnSpPr>
        <p:spPr>
          <a:xfrm>
            <a:off x="2153719" y="2496252"/>
            <a:ext cx="0" cy="773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123" name="Google Shape;123;p12"/>
          <p:cNvCxnSpPr/>
          <p:nvPr/>
        </p:nvCxnSpPr>
        <p:spPr>
          <a:xfrm>
            <a:off x="746324" y="3329124"/>
            <a:ext cx="1323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124" name="Google Shape;124;p12"/>
          <p:cNvSpPr txBox="1"/>
          <p:nvPr/>
        </p:nvSpPr>
        <p:spPr>
          <a:xfrm>
            <a:off x="2228883" y="2778342"/>
            <a:ext cx="54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2"/>
          <p:cNvSpPr txBox="1"/>
          <p:nvPr/>
        </p:nvSpPr>
        <p:spPr>
          <a:xfrm>
            <a:off x="1176513" y="3328826"/>
            <a:ext cx="54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957391" y="3769781"/>
            <a:ext cx="955200" cy="955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2"/>
          <p:cNvCxnSpPr/>
          <p:nvPr/>
        </p:nvCxnSpPr>
        <p:spPr>
          <a:xfrm>
            <a:off x="945331" y="4812594"/>
            <a:ext cx="959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128" name="Google Shape;128;p12"/>
          <p:cNvSpPr txBox="1"/>
          <p:nvPr/>
        </p:nvSpPr>
        <p:spPr>
          <a:xfrm>
            <a:off x="1256135" y="4812297"/>
            <a:ext cx="54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9" name="Google Shape;129;p12"/>
          <p:cNvCxnSpPr/>
          <p:nvPr/>
        </p:nvCxnSpPr>
        <p:spPr>
          <a:xfrm>
            <a:off x="862545" y="4251354"/>
            <a:ext cx="189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2"/>
          <p:cNvCxnSpPr/>
          <p:nvPr/>
        </p:nvCxnSpPr>
        <p:spPr>
          <a:xfrm>
            <a:off x="1817621" y="4251354"/>
            <a:ext cx="189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2"/>
          <p:cNvCxnSpPr/>
          <p:nvPr/>
        </p:nvCxnSpPr>
        <p:spPr>
          <a:xfrm>
            <a:off x="1434929" y="3700982"/>
            <a:ext cx="0" cy="15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2"/>
          <p:cNvCxnSpPr/>
          <p:nvPr/>
        </p:nvCxnSpPr>
        <p:spPr>
          <a:xfrm>
            <a:off x="1434929" y="4642805"/>
            <a:ext cx="0" cy="15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12"/>
          <p:cNvCxnSpPr/>
          <p:nvPr/>
        </p:nvCxnSpPr>
        <p:spPr>
          <a:xfrm>
            <a:off x="3215949" y="5667063"/>
            <a:ext cx="0" cy="406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12"/>
          <p:cNvCxnSpPr/>
          <p:nvPr/>
        </p:nvCxnSpPr>
        <p:spPr>
          <a:xfrm>
            <a:off x="2115778" y="6064796"/>
            <a:ext cx="1109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12"/>
          <p:cNvCxnSpPr/>
          <p:nvPr/>
        </p:nvCxnSpPr>
        <p:spPr>
          <a:xfrm>
            <a:off x="2124610" y="6055960"/>
            <a:ext cx="0" cy="622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" name="Google Shape;136;p12"/>
          <p:cNvSpPr txBox="1"/>
          <p:nvPr/>
        </p:nvSpPr>
        <p:spPr>
          <a:xfrm>
            <a:off x="2082653" y="5352583"/>
            <a:ext cx="54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" name="Google Shape;137;p12"/>
          <p:cNvCxnSpPr/>
          <p:nvPr/>
        </p:nvCxnSpPr>
        <p:spPr>
          <a:xfrm>
            <a:off x="3286496" y="5667067"/>
            <a:ext cx="0" cy="406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138" name="Google Shape;138;p12"/>
          <p:cNvSpPr/>
          <p:nvPr/>
        </p:nvSpPr>
        <p:spPr>
          <a:xfrm>
            <a:off x="5856088" y="1754779"/>
            <a:ext cx="1236000" cy="645300"/>
          </a:xfrm>
          <a:prstGeom prst="rect">
            <a:avLst/>
          </a:prstGeom>
          <a:solidFill>
            <a:srgbClr val="F0F0F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Diagrams are not drawn to scale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" name="Google Shape;139;p12"/>
          <p:cNvCxnSpPr/>
          <p:nvPr/>
        </p:nvCxnSpPr>
        <p:spPr>
          <a:xfrm>
            <a:off x="1302937" y="5680554"/>
            <a:ext cx="0" cy="100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12"/>
          <p:cNvCxnSpPr/>
          <p:nvPr/>
        </p:nvCxnSpPr>
        <p:spPr>
          <a:xfrm>
            <a:off x="1289675" y="5684964"/>
            <a:ext cx="1939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2"/>
          <p:cNvCxnSpPr/>
          <p:nvPr/>
        </p:nvCxnSpPr>
        <p:spPr>
          <a:xfrm>
            <a:off x="1302177" y="6675209"/>
            <a:ext cx="827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12"/>
          <p:cNvCxnSpPr/>
          <p:nvPr/>
        </p:nvCxnSpPr>
        <p:spPr>
          <a:xfrm>
            <a:off x="1192254" y="5680557"/>
            <a:ext cx="0" cy="998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143" name="Google Shape;143;p12"/>
          <p:cNvCxnSpPr/>
          <p:nvPr/>
        </p:nvCxnSpPr>
        <p:spPr>
          <a:xfrm>
            <a:off x="1302929" y="5581364"/>
            <a:ext cx="1913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144" name="Google Shape;144;p12"/>
          <p:cNvSpPr txBox="1"/>
          <p:nvPr/>
        </p:nvSpPr>
        <p:spPr>
          <a:xfrm>
            <a:off x="746335" y="6087124"/>
            <a:ext cx="54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" name="Google Shape;145;p12"/>
          <p:cNvSpPr txBox="1"/>
          <p:nvPr/>
        </p:nvSpPr>
        <p:spPr>
          <a:xfrm>
            <a:off x="3317626" y="5766741"/>
            <a:ext cx="54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6" name="Google Shape;146;p12"/>
          <p:cNvCxnSpPr/>
          <p:nvPr/>
        </p:nvCxnSpPr>
        <p:spPr>
          <a:xfrm>
            <a:off x="1309033" y="6729927"/>
            <a:ext cx="820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graphicFrame>
        <p:nvGraphicFramePr>
          <p:cNvPr id="147" name="Google Shape;147;p12"/>
          <p:cNvGraphicFramePr/>
          <p:nvPr/>
        </p:nvGraphicFramePr>
        <p:xfrm>
          <a:off x="3913325" y="2421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{4E0C4D75-9376-4853-8206-2F402C5538FC}</a:tableStyleId>
              </a:tblPr>
              <a:tblGrid>
                <a:gridCol w="418125"/>
                <a:gridCol w="905500"/>
                <a:gridCol w="1836075"/>
              </a:tblGrid>
              <a:tr h="18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Required living area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Cows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m</a:t>
                      </a:r>
                      <a:r>
                        <a:rPr baseline="30000"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aseline="30000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Chickens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m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iii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Pigs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2.2 m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iv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Sheep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m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" name="Google Shape;148;p12"/>
          <p:cNvSpPr txBox="1"/>
          <p:nvPr/>
        </p:nvSpPr>
        <p:spPr>
          <a:xfrm>
            <a:off x="2756673" y="2486950"/>
            <a:ext cx="820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i) 150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ii) 1500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iii) 681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iv) 750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" name="Google Shape;149;p12"/>
          <p:cNvSpPr txBox="1"/>
          <p:nvPr/>
        </p:nvSpPr>
        <p:spPr>
          <a:xfrm>
            <a:off x="2100058" y="3740487"/>
            <a:ext cx="86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i) 250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ii) 2500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iii) 1136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iv) 1250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0" name="Google Shape;150;p12"/>
          <p:cNvSpPr txBox="1"/>
          <p:nvPr/>
        </p:nvSpPr>
        <p:spPr>
          <a:xfrm>
            <a:off x="4957882" y="6090290"/>
            <a:ext cx="86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ii) 1400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iv) 700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1" name="Google Shape;151;p12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Agricultural worker (animals)</a:t>
            </a:r>
            <a:endParaRPr/>
          </a:p>
        </p:txBody>
      </p:sp>
      <p:sp>
        <p:nvSpPr>
          <p:cNvPr id="157" name="Google Shape;157;p13"/>
          <p:cNvSpPr txBox="1"/>
          <p:nvPr/>
        </p:nvSpPr>
        <p:spPr>
          <a:xfrm>
            <a:off x="472438" y="1052099"/>
            <a:ext cx="6416400" cy="23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farmer decides that they want to give their cows more space.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Cost of care for a cow per day is £4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They are going to give each cow 12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Assume each cow produces 20 litres of milk a day.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selling price per litre of milk is 38 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number of cows the barn can house.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of barn = 1500 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Number of cows = 1500 ÷ 12 = 125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The cost of care for the cows per year.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Cost of care = 125 × 4 × 365 = £182 500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The income from milk production.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Litres of milk = 125 × 20 × 365 = 912 500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Income = 912 500 × 0.38 = £346 750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The percentage profit.</a:t>
            </a:r>
            <a:endParaRPr sz="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" name="Google Shape;158;p13"/>
          <p:cNvSpPr txBox="1"/>
          <p:nvPr/>
        </p:nvSpPr>
        <p:spPr>
          <a:xfrm>
            <a:off x="463512" y="610258"/>
            <a:ext cx="62328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Costs and percentages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5097643" y="1485317"/>
            <a:ext cx="1287000" cy="7413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0" name="Google Shape;160;p13"/>
          <p:cNvCxnSpPr/>
          <p:nvPr/>
        </p:nvCxnSpPr>
        <p:spPr>
          <a:xfrm>
            <a:off x="6481438" y="1480916"/>
            <a:ext cx="0" cy="768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161" name="Google Shape;161;p13"/>
          <p:cNvCxnSpPr/>
          <p:nvPr/>
        </p:nvCxnSpPr>
        <p:spPr>
          <a:xfrm>
            <a:off x="5082021" y="2309067"/>
            <a:ext cx="1316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162" name="Google Shape;162;p13"/>
          <p:cNvSpPr txBox="1"/>
          <p:nvPr/>
        </p:nvSpPr>
        <p:spPr>
          <a:xfrm>
            <a:off x="6556177" y="1761407"/>
            <a:ext cx="54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3"/>
          <p:cNvSpPr txBox="1"/>
          <p:nvPr/>
        </p:nvSpPr>
        <p:spPr>
          <a:xfrm>
            <a:off x="5509771" y="2308771"/>
            <a:ext cx="54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4" name="Google Shape;164;p13"/>
          <p:cNvGraphicFramePr/>
          <p:nvPr/>
        </p:nvGraphicFramePr>
        <p:xfrm>
          <a:off x="1322260" y="7909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{4E0C4D75-9376-4853-8206-2F402C5538FC}</a:tableStyleId>
              </a:tblPr>
              <a:tblGrid>
                <a:gridCol w="747275"/>
                <a:gridCol w="1164375"/>
              </a:tblGrid>
              <a:tr h="247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£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182 500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190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346 750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" name="Google Shape;165;p13"/>
          <p:cNvSpPr/>
          <p:nvPr/>
        </p:nvSpPr>
        <p:spPr>
          <a:xfrm rot="5400000">
            <a:off x="3092625" y="8279375"/>
            <a:ext cx="298200" cy="294000"/>
          </a:xfrm>
          <a:prstGeom prst="arc">
            <a:avLst>
              <a:gd fmla="val 10729459" name="adj1"/>
              <a:gd fmla="val 21296751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6" name="Google Shape;166;p13"/>
          <p:cNvSpPr/>
          <p:nvPr/>
        </p:nvSpPr>
        <p:spPr>
          <a:xfrm flipH="1" rot="-5400000">
            <a:off x="1153162" y="8331000"/>
            <a:ext cx="298200" cy="232800"/>
          </a:xfrm>
          <a:prstGeom prst="arc">
            <a:avLst>
              <a:gd fmla="val 10729459" name="adj1"/>
              <a:gd fmla="val 21196396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7" name="Google Shape;167;p13"/>
          <p:cNvSpPr txBox="1"/>
          <p:nvPr/>
        </p:nvSpPr>
        <p:spPr>
          <a:xfrm>
            <a:off x="3425291" y="8321919"/>
            <a:ext cx="4785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1.9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750327" y="8329049"/>
            <a:ext cx="4803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1.9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" name="Google Shape;169;p13"/>
          <p:cNvSpPr txBox="1"/>
          <p:nvPr/>
        </p:nvSpPr>
        <p:spPr>
          <a:xfrm>
            <a:off x="3940375" y="8262750"/>
            <a:ext cx="269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90% profit is made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" name="Google Shape;170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76" name="Google Shape;176;p14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Agricultural worker (animals)</a:t>
            </a:r>
            <a:endParaRPr/>
          </a:p>
        </p:txBody>
      </p:sp>
      <p:sp>
        <p:nvSpPr>
          <p:cNvPr id="177" name="Google Shape;177;p14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78" name="Google Shape;178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14"/>
          <p:cNvSpPr txBox="1"/>
          <p:nvPr/>
        </p:nvSpPr>
        <p:spPr>
          <a:xfrm>
            <a:off x="468000" y="764724"/>
            <a:ext cx="6333900" cy="23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farmer decides that they want keep chickens.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They are going to give each chicken an area of 15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Cost of care for a chicken per year is £50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chicken produces 0.8 eggs on average per day.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They decide to sell the eggs themself, selling 1 dozen for £3.20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percentage profit.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of barn = 1500 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Number of chickens = 1500 ÷ 15 = 100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Cost of care per year = 100 × 50 = £5000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Number of eggs per year = 100 × 0.8 × 365 = 29 200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Income from eggs per year = 29 200 ÷ 12 × £3.20 = £7786.67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Percentage profit ≈ 55.7 %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The farmer wants make a 60% profit.  How much do they need to charge for a dozen eggs?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Cost of care per year = 100 × 50 = £5000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Number of dozens per year = 29 200 ÷ 12 = 2433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Income for a 60% profit = £5000 × 1.6 = £8000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Cost per dozen = £8000 ÷ 2433 = 3.2881… ≈ £3.29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5118948" y="961766"/>
            <a:ext cx="1270500" cy="7317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" name="Google Shape;181;p14"/>
          <p:cNvCxnSpPr/>
          <p:nvPr/>
        </p:nvCxnSpPr>
        <p:spPr>
          <a:xfrm>
            <a:off x="6484921" y="957422"/>
            <a:ext cx="0" cy="759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182" name="Google Shape;182;p14"/>
          <p:cNvCxnSpPr/>
          <p:nvPr/>
        </p:nvCxnSpPr>
        <p:spPr>
          <a:xfrm>
            <a:off x="5103527" y="896064"/>
            <a:ext cx="1299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183" name="Google Shape;183;p14"/>
          <p:cNvSpPr txBox="1"/>
          <p:nvPr/>
        </p:nvSpPr>
        <p:spPr>
          <a:xfrm>
            <a:off x="6558697" y="1234301"/>
            <a:ext cx="533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14"/>
          <p:cNvSpPr txBox="1"/>
          <p:nvPr/>
        </p:nvSpPr>
        <p:spPr>
          <a:xfrm>
            <a:off x="5525768" y="720003"/>
            <a:ext cx="533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