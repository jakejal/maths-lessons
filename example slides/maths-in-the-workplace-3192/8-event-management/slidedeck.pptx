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9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7175F1-3109-4986-8E42-C8B2EF7CA559}">
  <a:tblStyle styleId="{757175F1-3109-4986-8E42-C8B2EF7CA5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4249892ea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4249892ea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efd83f2e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efd83f2e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23bee0c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23bee0c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f4249892e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f4249892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f4249892e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f4249892e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f4249892e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f4249892e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f4249892e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f4249892e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f4249892e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f4249892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f4249892e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f4249892e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f4249892e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f4249892e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f4249892e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f4249892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f4249892e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f4249892e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f4249892e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f4249892e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f4249892e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f4249892e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f4249892e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f4249892e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f4249892e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f4249892e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f4249892e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f4249892e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f4249892ea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f4249892ea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f4249892ea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f4249892e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f4249892ea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f4249892ea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f4249892e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f4249892e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f4249892ea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f4249892ea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f4249892ea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f4249892ea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f4249892e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f4249892e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f4249892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f4249892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f4249892e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f4249892e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208791a1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208791a1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061d4919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061d4919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208791a1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208791a1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f4249892e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f4249892e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061d49190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061d49190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3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78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3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78.png"/><Relationship Id="rId4" Type="http://schemas.openxmlformats.org/officeDocument/2006/relationships/image" Target="../media/image37.png"/><Relationship Id="rId9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45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78.png"/><Relationship Id="rId4" Type="http://schemas.openxmlformats.org/officeDocument/2006/relationships/image" Target="../media/image47.png"/><Relationship Id="rId11" Type="http://schemas.openxmlformats.org/officeDocument/2006/relationships/image" Target="../media/image34.png"/><Relationship Id="rId10" Type="http://schemas.openxmlformats.org/officeDocument/2006/relationships/image" Target="../media/image50.png"/><Relationship Id="rId9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45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8.png"/><Relationship Id="rId4" Type="http://schemas.openxmlformats.org/officeDocument/2006/relationships/image" Target="../media/image5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7.png"/><Relationship Id="rId4" Type="http://schemas.openxmlformats.org/officeDocument/2006/relationships/image" Target="../media/image75.png"/><Relationship Id="rId5" Type="http://schemas.openxmlformats.org/officeDocument/2006/relationships/image" Target="../media/image7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3.png"/><Relationship Id="rId4" Type="http://schemas.openxmlformats.org/officeDocument/2006/relationships/image" Target="../media/image7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in event management.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/>
        </p:nvSpPr>
        <p:spPr>
          <a:xfrm>
            <a:off x="383150" y="836400"/>
            <a:ext cx="84369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percentage is a proportion of a whole.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865" name="Google Shape;865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866" name="Google Shape;866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873" name="Google Shape;873;p79"/>
          <p:cNvSpPr txBox="1"/>
          <p:nvPr>
            <p:ph idx="1" type="body"/>
          </p:nvPr>
        </p:nvSpPr>
        <p:spPr>
          <a:xfrm>
            <a:off x="324000" y="683100"/>
            <a:ext cx="82377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areas of maths do you think an event management company might use?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9"/>
          <p:cNvSpPr txBox="1"/>
          <p:nvPr>
            <p:ph idx="1" type="body"/>
          </p:nvPr>
        </p:nvSpPr>
        <p:spPr>
          <a:xfrm>
            <a:off x="324000" y="1385819"/>
            <a:ext cx="324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Area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Multiplication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Division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Percentages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Money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Profit &amp; loss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Ratio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9"/>
          <p:cNvSpPr txBox="1"/>
          <p:nvPr/>
        </p:nvSpPr>
        <p:spPr>
          <a:xfrm>
            <a:off x="324000" y="4297200"/>
            <a:ext cx="800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During this lesson we will look at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some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these.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6" name="Google Shape;876;p79"/>
          <p:cNvGrpSpPr/>
          <p:nvPr/>
        </p:nvGrpSpPr>
        <p:grpSpPr>
          <a:xfrm>
            <a:off x="7141629" y="1079992"/>
            <a:ext cx="1365221" cy="1232417"/>
            <a:chOff x="152400" y="152400"/>
            <a:chExt cx="5360113" cy="4838701"/>
          </a:xfrm>
        </p:grpSpPr>
        <p:pic>
          <p:nvPicPr>
            <p:cNvPr id="877" name="Google Shape;877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5360113" cy="4838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" name="Google Shape;878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395209">
              <a:off x="2661605" y="1902723"/>
              <a:ext cx="1221032" cy="633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9" name="Google Shape;879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2341532">
              <a:off x="2372839" y="1705806"/>
              <a:ext cx="629517" cy="7439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324000" y="683100"/>
            <a:ext cx="82377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 of the most important skills an event planner must have is working to a budget.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Why do you think this is one of the most important skills?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6" name="Google Shape;886;p80"/>
          <p:cNvSpPr txBox="1"/>
          <p:nvPr>
            <p:ph idx="1" type="body"/>
          </p:nvPr>
        </p:nvSpPr>
        <p:spPr>
          <a:xfrm>
            <a:off x="324000" y="2130900"/>
            <a:ext cx="82377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Events will need to be organised in a way that either ‘breaks even’ or makes a profit and not a loss.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will depend on the type of event as to whether it is a profitable event, or a ‘break even’ event.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does ‘break even’ mean?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Where there is neither profit nor loss.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892" name="Google Shape;892;p81"/>
          <p:cNvSpPr txBox="1"/>
          <p:nvPr>
            <p:ph idx="1" type="body"/>
          </p:nvPr>
        </p:nvSpPr>
        <p:spPr>
          <a:xfrm>
            <a:off x="324000" y="683100"/>
            <a:ext cx="82377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think of any examples of events</a:t>
            </a:r>
            <a:r>
              <a:rPr lang="en-GB"/>
              <a:t>?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3" name="Google Shape;893;p81"/>
          <p:cNvSpPr txBox="1"/>
          <p:nvPr>
            <p:ph idx="1" type="body"/>
          </p:nvPr>
        </p:nvSpPr>
        <p:spPr>
          <a:xfrm>
            <a:off x="324000" y="1140300"/>
            <a:ext cx="8237700" cy="3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Planning a concert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Planning a music festival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Planning a sports event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Planning a charity event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might cause these events to ‘break even’ instead of making a profit?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Minimum tickets sales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External factor which affects participation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2"/>
          <p:cNvSpPr txBox="1"/>
          <p:nvPr>
            <p:ph idx="1" type="body"/>
          </p:nvPr>
        </p:nvSpPr>
        <p:spPr>
          <a:xfrm>
            <a:off x="324000" y="759300"/>
            <a:ext cx="8116500" cy="12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Imagine you are planning a charity junior 5-a-side football tournament for 10 teams.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costs will be associated with organising this event?</a:t>
            </a:r>
            <a:endParaRPr/>
          </a:p>
        </p:txBody>
      </p:sp>
      <p:sp>
        <p:nvSpPr>
          <p:cNvPr id="899" name="Google Shape;89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00" name="Google Shape;900;p82"/>
          <p:cNvSpPr txBox="1"/>
          <p:nvPr>
            <p:ph idx="1" type="body"/>
          </p:nvPr>
        </p:nvSpPr>
        <p:spPr>
          <a:xfrm>
            <a:off x="324000" y="2207100"/>
            <a:ext cx="8496000" cy="12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Hiring the venue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Hiring staff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Hiring toilets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Buying trophies &amp; medals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Supplying refreshments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3"/>
          <p:cNvSpPr txBox="1"/>
          <p:nvPr>
            <p:ph idx="1" type="body"/>
          </p:nvPr>
        </p:nvSpPr>
        <p:spPr>
          <a:xfrm>
            <a:off x="324000" y="606900"/>
            <a:ext cx="84960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manage to recruit </a:t>
            </a:r>
            <a:r>
              <a:rPr lang="en-GB" sz="2000"/>
              <a:t>volunteers</a:t>
            </a:r>
            <a:r>
              <a:rPr lang="en-GB" sz="2000"/>
              <a:t> to staff the event but everything else will need to be costed.</a:t>
            </a:r>
            <a:endParaRPr sz="2000"/>
          </a:p>
        </p:txBody>
      </p:sp>
      <p:sp>
        <p:nvSpPr>
          <p:cNvPr id="906" name="Google Shape;90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07" name="Google Shape;907;p83"/>
          <p:cNvSpPr txBox="1"/>
          <p:nvPr>
            <p:ph idx="1" type="body"/>
          </p:nvPr>
        </p:nvSpPr>
        <p:spPr>
          <a:xfrm>
            <a:off x="324000" y="1292700"/>
            <a:ext cx="8496000" cy="16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venue is hired on an hourly basis.  You want to hire it for the correct amount of time.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event will start at 8:30 am and finish at 3 pm.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long do you need to hire the venue for?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6.5 hours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cost of hiring the venue is £250 per hour but the venue offer a 10% discount as it is a charity event.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much will the cost to hire the venue be?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× 250 × 0.9 = £1575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4"/>
          <p:cNvSpPr txBox="1"/>
          <p:nvPr>
            <p:ph idx="1" type="subTitle"/>
          </p:nvPr>
        </p:nvSpPr>
        <p:spPr>
          <a:xfrm>
            <a:off x="324000" y="33485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of hours = 7.5 which means we are charged for 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Cost = 8 × 40 × 0.9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Cost = £288</a:t>
            </a:r>
            <a:endParaRPr/>
          </a:p>
        </p:txBody>
      </p:sp>
      <p:sp>
        <p:nvSpPr>
          <p:cNvPr id="913" name="Google Shape;91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14" name="Google Shape;914;p84"/>
          <p:cNvSpPr txBox="1"/>
          <p:nvPr>
            <p:ph idx="2" type="subTitle"/>
          </p:nvPr>
        </p:nvSpPr>
        <p:spPr>
          <a:xfrm>
            <a:off x="324000" y="1039636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cost of hiring a 5-a-side pitch is £40 per hour.  (The </a:t>
            </a:r>
            <a:r>
              <a:rPr lang="en-GB"/>
              <a:t>venue</a:t>
            </a:r>
            <a:r>
              <a:rPr lang="en-GB"/>
              <a:t> offer you a 10% discount.)  The cost to hire it between 9 am and 4:30 pm is £270.</a:t>
            </a:r>
            <a:endParaRPr/>
          </a:p>
        </p:txBody>
      </p:sp>
      <p:pic>
        <p:nvPicPr>
          <p:cNvPr id="915" name="Google Shape;91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109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021375" y="2832625"/>
            <a:ext cx="3666427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5"/>
          <p:cNvSpPr txBox="1"/>
          <p:nvPr>
            <p:ph idx="1" type="body"/>
          </p:nvPr>
        </p:nvSpPr>
        <p:spPr>
          <a:xfrm>
            <a:off x="324000" y="606900"/>
            <a:ext cx="8496000" cy="12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Now let’s hire some toilets.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cost of hiring a portable toilet is £60 per half day (4 hours) or £100 a day.</a:t>
            </a:r>
            <a:endParaRPr sz="2000"/>
          </a:p>
        </p:txBody>
      </p:sp>
      <p:sp>
        <p:nvSpPr>
          <p:cNvPr id="922" name="Google Shape;92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23" name="Google Shape;923;p85"/>
          <p:cNvSpPr txBox="1"/>
          <p:nvPr>
            <p:ph idx="1" type="body"/>
          </p:nvPr>
        </p:nvSpPr>
        <p:spPr>
          <a:xfrm>
            <a:off x="324000" y="1597500"/>
            <a:ext cx="8496000" cy="12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Can this event hire the toilets for a half day?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event lasts 6.5 hours.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Therefore, they need to pay the daily rate.</a:t>
            </a:r>
            <a:endParaRPr sz="2000"/>
          </a:p>
        </p:txBody>
      </p:sp>
      <p:pic>
        <p:nvPicPr>
          <p:cNvPr id="924" name="Google Shape;92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17352" y="37624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 txBox="1"/>
          <p:nvPr>
            <p:ph idx="1" type="body"/>
          </p:nvPr>
        </p:nvSpPr>
        <p:spPr>
          <a:xfrm>
            <a:off x="4097575" y="2876800"/>
            <a:ext cx="3454800" cy="12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That’s not going to have much of an impact on the total cost of the event.  It is only £100. </a:t>
            </a:r>
            <a:endParaRPr/>
          </a:p>
        </p:txBody>
      </p:sp>
      <p:sp>
        <p:nvSpPr>
          <p:cNvPr id="926" name="Google Shape;926;p85"/>
          <p:cNvSpPr txBox="1"/>
          <p:nvPr>
            <p:ph idx="1" type="body"/>
          </p:nvPr>
        </p:nvSpPr>
        <p:spPr>
          <a:xfrm>
            <a:off x="324000" y="2740500"/>
            <a:ext cx="3417000" cy="12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Do you think that 1 toilet is enough for this event?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probably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not.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Let’s look at an estimate for the number of people attending.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6"/>
          <p:cNvSpPr txBox="1"/>
          <p:nvPr>
            <p:ph idx="1" type="body"/>
          </p:nvPr>
        </p:nvSpPr>
        <p:spPr>
          <a:xfrm>
            <a:off x="324000" y="606900"/>
            <a:ext cx="8496000" cy="12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event is a charity junior 5-a-side football tournament for 10 teams.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</a:t>
            </a:r>
            <a:r>
              <a:rPr lang="en-GB" sz="1800"/>
              <a:t>would</a:t>
            </a:r>
            <a:r>
              <a:rPr lang="en-GB" sz="1800"/>
              <a:t> be a sensible estimate of the number of people attending the tournament?</a:t>
            </a:r>
            <a:endParaRPr sz="1800"/>
          </a:p>
        </p:txBody>
      </p:sp>
      <p:sp>
        <p:nvSpPr>
          <p:cNvPr id="932" name="Google Shape;93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33" name="Google Shape;933;p86"/>
          <p:cNvSpPr txBox="1"/>
          <p:nvPr>
            <p:ph idx="1" type="body"/>
          </p:nvPr>
        </p:nvSpPr>
        <p:spPr>
          <a:xfrm>
            <a:off x="324000" y="1521300"/>
            <a:ext cx="8496000" cy="12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 would consist of the team members, their supporters and staff.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many players will there be?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10 teams of 5.  But, each team will probably bring reserve </a:t>
            </a:r>
            <a:r>
              <a:rPr lang="en-GB" sz="1800"/>
              <a:t>players.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If we assume each team consists of 10 players and each player has 1 supporter.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many people is this?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× 10 × 2 = 200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Assume that there are 50 volunteers.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An estimate of the total number of people attending the tournament is 250 people.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7"/>
          <p:cNvSpPr txBox="1"/>
          <p:nvPr>
            <p:ph idx="1" type="body"/>
          </p:nvPr>
        </p:nvSpPr>
        <p:spPr>
          <a:xfrm>
            <a:off x="324000" y="759300"/>
            <a:ext cx="8496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think that 1 toilet for 250 people is reasonable?</a:t>
            </a:r>
            <a:endParaRPr/>
          </a:p>
        </p:txBody>
      </p:sp>
      <p:sp>
        <p:nvSpPr>
          <p:cNvPr id="939" name="Google Shape;93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40" name="Google Shape;940;p87"/>
          <p:cNvSpPr txBox="1"/>
          <p:nvPr>
            <p:ph idx="1" type="body"/>
          </p:nvPr>
        </p:nvSpPr>
        <p:spPr>
          <a:xfrm>
            <a:off x="324000" y="1140300"/>
            <a:ext cx="8496000" cy="3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although this would make more money for the charity, safety and comfort should be considered.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After an internet search I have discovered that the recommended ratio of toilets to people at an event is 1 : 100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toilets should be hired for this event?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250 ÷ 100 = 2.5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 toilets need to be hired for the event.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Cost of hiring the toilets	= 3 × £100 = £300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820 ÷ 100 = 8.2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this situation you need to round up to 9 toilets. </a:t>
            </a:r>
            <a:endParaRPr/>
          </a:p>
        </p:txBody>
      </p:sp>
      <p:sp>
        <p:nvSpPr>
          <p:cNvPr id="946" name="Google Shape;94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47" name="Google Shape;947;p88"/>
          <p:cNvSpPr txBox="1"/>
          <p:nvPr>
            <p:ph idx="2" type="subTitle"/>
          </p:nvPr>
        </p:nvSpPr>
        <p:spPr>
          <a:xfrm>
            <a:off x="324000" y="1080000"/>
            <a:ext cx="8040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number of toilets needed for an event with an </a:t>
            </a:r>
            <a:r>
              <a:rPr lang="en-GB" sz="2000"/>
              <a:t>attendance</a:t>
            </a:r>
            <a:r>
              <a:rPr lang="en-GB" sz="2000"/>
              <a:t> of 820 people is 8 assuming the recommended ratio of toilets to people is 1 : 100.</a:t>
            </a:r>
            <a:endParaRPr sz="2000"/>
          </a:p>
        </p:txBody>
      </p:sp>
      <p:pic>
        <p:nvPicPr>
          <p:cNvPr id="948" name="Google Shape;94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102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89"/>
          <p:cNvSpPr txBox="1"/>
          <p:nvPr>
            <p:ph idx="1" type="body"/>
          </p:nvPr>
        </p:nvSpPr>
        <p:spPr>
          <a:xfrm>
            <a:off x="324000" y="606900"/>
            <a:ext cx="8496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Since this is a charity event, the company supplying the refreshments agrees to do this for free.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Now we need to find the cost of the trophies and medals.</a:t>
            </a:r>
            <a:endParaRPr sz="2000"/>
          </a:p>
        </p:txBody>
      </p:sp>
      <p:sp>
        <p:nvSpPr>
          <p:cNvPr id="954" name="Google Shape;95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55" name="Google Shape;955;p89"/>
          <p:cNvSpPr txBox="1"/>
          <p:nvPr>
            <p:ph idx="1" type="body"/>
          </p:nvPr>
        </p:nvSpPr>
        <p:spPr>
          <a:xfrm>
            <a:off x="324000" y="1749900"/>
            <a:ext cx="51237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Each team has 10 players.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winners and runners up each get a team trophy and trophy for each player.  All other players get a </a:t>
            </a:r>
            <a:r>
              <a:rPr lang="en-GB" sz="2000"/>
              <a:t>participation</a:t>
            </a:r>
            <a:r>
              <a:rPr lang="en-GB" sz="2000"/>
              <a:t> medal.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Calculate the total cost of buying the trophies and medals.</a:t>
            </a:r>
            <a:endParaRPr sz="2000"/>
          </a:p>
        </p:txBody>
      </p:sp>
      <p:graphicFrame>
        <p:nvGraphicFramePr>
          <p:cNvPr id="956" name="Google Shape;956;p89"/>
          <p:cNvGraphicFramePr/>
          <p:nvPr/>
        </p:nvGraphicFramePr>
        <p:xfrm>
          <a:off x="5301050" y="165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{757175F1-3109-4986-8E42-C8B2EF7CA559}</a:tableStyleId>
              </a:tblPr>
              <a:tblGrid>
                <a:gridCol w="2004775"/>
                <a:gridCol w="138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Award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item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trophy for 1</a:t>
                      </a:r>
                      <a:r>
                        <a:rPr baseline="3000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two teams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Trophy for winners and runners up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Participation medal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62" name="Google Shape;962;p90"/>
          <p:cNvSpPr txBox="1"/>
          <p:nvPr>
            <p:ph idx="1" type="body"/>
          </p:nvPr>
        </p:nvSpPr>
        <p:spPr>
          <a:xfrm>
            <a:off x="324000" y="606900"/>
            <a:ext cx="8496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There are 10 teams and each team has 10 players.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winners and runners up each get a team trophy and trophy for each player.  All other players get a participation medal.</a:t>
            </a:r>
            <a:endParaRPr sz="2000"/>
          </a:p>
        </p:txBody>
      </p:sp>
      <p:sp>
        <p:nvSpPr>
          <p:cNvPr id="963" name="Google Shape;963;p90"/>
          <p:cNvSpPr txBox="1"/>
          <p:nvPr>
            <p:ph idx="1" type="body"/>
          </p:nvPr>
        </p:nvSpPr>
        <p:spPr>
          <a:xfrm>
            <a:off x="324000" y="1826100"/>
            <a:ext cx="4977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Calculate the total cost of buying the trophies and medals.</a:t>
            </a:r>
            <a:endParaRPr sz="2000"/>
          </a:p>
        </p:txBody>
      </p:sp>
      <p:sp>
        <p:nvSpPr>
          <p:cNvPr id="964" name="Google Shape;964;p90"/>
          <p:cNvSpPr txBox="1"/>
          <p:nvPr>
            <p:ph idx="1" type="body"/>
          </p:nvPr>
        </p:nvSpPr>
        <p:spPr>
          <a:xfrm>
            <a:off x="324000" y="2588100"/>
            <a:ext cx="5637000" cy="22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needs to be purchased?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team trophies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winners and runners up trophies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80 participation medals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Total cost = 2 × £12.50 + 20 × £5.50 + 80 × £1</a:t>
            </a:r>
            <a:endParaRPr sz="2000"/>
          </a:p>
        </p:txBody>
      </p:sp>
      <p:graphicFrame>
        <p:nvGraphicFramePr>
          <p:cNvPr id="965" name="Google Shape;965;p90"/>
          <p:cNvGraphicFramePr/>
          <p:nvPr/>
        </p:nvGraphicFramePr>
        <p:xfrm>
          <a:off x="5301050" y="165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{757175F1-3109-4986-8E42-C8B2EF7CA559}</a:tableStyleId>
              </a:tblPr>
              <a:tblGrid>
                <a:gridCol w="2004775"/>
                <a:gridCol w="138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Award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item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trophy for 1</a:t>
                      </a:r>
                      <a:r>
                        <a:rPr baseline="3000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two teams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Trophy for winners and runners up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Participation medal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966" name="Google Shape;966;p90"/>
          <p:cNvSpPr txBox="1"/>
          <p:nvPr>
            <p:ph idx="1" type="body"/>
          </p:nvPr>
        </p:nvSpPr>
        <p:spPr>
          <a:xfrm>
            <a:off x="1589375" y="4418350"/>
            <a:ext cx="873300" cy="5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£215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91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There are 8 teams and each team has 7 players.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winners and runners up each get a team trophy and trophy for each player.  All other players get a participation medal.</a:t>
            </a:r>
            <a:endParaRPr sz="2000"/>
          </a:p>
        </p:txBody>
      </p:sp>
      <p:sp>
        <p:nvSpPr>
          <p:cNvPr id="972" name="Google Shape;97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73" name="Google Shape;973;p91"/>
          <p:cNvSpPr txBox="1"/>
          <p:nvPr>
            <p:ph idx="1" type="body"/>
          </p:nvPr>
        </p:nvSpPr>
        <p:spPr>
          <a:xfrm>
            <a:off x="324000" y="1826100"/>
            <a:ext cx="8496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Calculate the total cost of buying the trophies and medals.</a:t>
            </a:r>
            <a:endParaRPr sz="2000"/>
          </a:p>
        </p:txBody>
      </p:sp>
      <p:sp>
        <p:nvSpPr>
          <p:cNvPr id="974" name="Google Shape;974;p91"/>
          <p:cNvSpPr txBox="1"/>
          <p:nvPr>
            <p:ph idx="1" type="body"/>
          </p:nvPr>
        </p:nvSpPr>
        <p:spPr>
          <a:xfrm>
            <a:off x="324000" y="2588100"/>
            <a:ext cx="5637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What needs to be purchased?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team trophies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 winners and runners up trophies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participation medals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cost = 2 × £12.50 + 14 × £5.50 + 42 × £1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75" name="Google Shape;975;p91"/>
          <p:cNvGraphicFramePr/>
          <p:nvPr/>
        </p:nvGraphicFramePr>
        <p:xfrm>
          <a:off x="5301050" y="218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{757175F1-3109-4986-8E42-C8B2EF7CA559}</a:tableStyleId>
              </a:tblPr>
              <a:tblGrid>
                <a:gridCol w="2004775"/>
                <a:gridCol w="138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Award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item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trophy for 1</a:t>
                      </a:r>
                      <a:r>
                        <a:rPr baseline="3000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two teams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Trophy for winners and runners up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Participation medal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976" name="Google Shape;976;p91"/>
          <p:cNvSpPr txBox="1"/>
          <p:nvPr>
            <p:ph idx="1" type="body"/>
          </p:nvPr>
        </p:nvSpPr>
        <p:spPr>
          <a:xfrm>
            <a:off x="1467000" y="4493100"/>
            <a:ext cx="11856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£144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92"/>
          <p:cNvSpPr txBox="1"/>
          <p:nvPr>
            <p:ph idx="1" type="body"/>
          </p:nvPr>
        </p:nvSpPr>
        <p:spPr>
          <a:xfrm>
            <a:off x="324000" y="6069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event organiser wants to make a profit of at least £750.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should the </a:t>
            </a:r>
            <a:r>
              <a:rPr lang="en-GB">
                <a:solidFill>
                  <a:schemeClr val="accent4"/>
                </a:solidFill>
              </a:rPr>
              <a:t>average</a:t>
            </a:r>
            <a:r>
              <a:rPr lang="en-GB"/>
              <a:t> ticket price be?</a:t>
            </a:r>
            <a:endParaRPr sz="2400"/>
          </a:p>
        </p:txBody>
      </p:sp>
      <p:sp>
        <p:nvSpPr>
          <p:cNvPr id="982" name="Google Shape;98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83" name="Google Shape;983;p92"/>
          <p:cNvSpPr txBox="1"/>
          <p:nvPr>
            <p:ph idx="1" type="body"/>
          </p:nvPr>
        </p:nvSpPr>
        <p:spPr>
          <a:xfrm>
            <a:off x="324000" y="1849202"/>
            <a:ext cx="8237700" cy="3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cost to run the event	= £1575 + £300 + £215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                      </a:t>
            </a:r>
            <a:r>
              <a:rPr lang="en-GB"/>
              <a:t>= £2090</a:t>
            </a:r>
            <a:endParaRPr/>
          </a:p>
        </p:txBody>
      </p:sp>
      <p:sp>
        <p:nvSpPr>
          <p:cNvPr id="984" name="Google Shape;984;p92"/>
          <p:cNvSpPr txBox="1"/>
          <p:nvPr>
            <p:ph idx="1" type="body"/>
          </p:nvPr>
        </p:nvSpPr>
        <p:spPr>
          <a:xfrm>
            <a:off x="324000" y="2749101"/>
            <a:ext cx="82377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income from the event needs to be = £2090 + £750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                                              </a:t>
            </a:r>
            <a:r>
              <a:rPr lang="en-GB"/>
              <a:t>= £2840</a:t>
            </a:r>
            <a:endParaRPr/>
          </a:p>
        </p:txBody>
      </p:sp>
      <p:sp>
        <p:nvSpPr>
          <p:cNvPr id="985" name="Google Shape;985;p92"/>
          <p:cNvSpPr txBox="1"/>
          <p:nvPr>
            <p:ph idx="1" type="body"/>
          </p:nvPr>
        </p:nvSpPr>
        <p:spPr>
          <a:xfrm>
            <a:off x="324000" y="3484651"/>
            <a:ext cx="82377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Average ticket cost	= £2840 ÷ 250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          </a:t>
            </a:r>
            <a:r>
              <a:rPr lang="en-GB"/>
              <a:t>= £11.36</a:t>
            </a:r>
            <a:endParaRPr/>
          </a:p>
        </p:txBody>
      </p:sp>
      <p:sp>
        <p:nvSpPr>
          <p:cNvPr id="986" name="Google Shape;986;p92"/>
          <p:cNvSpPr txBox="1"/>
          <p:nvPr>
            <p:ph idx="1" type="body"/>
          </p:nvPr>
        </p:nvSpPr>
        <p:spPr>
          <a:xfrm>
            <a:off x="324000" y="4220202"/>
            <a:ext cx="8237700" cy="6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From here we can decide which tickets should cost more and which could cost less.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92" name="Google Shape;992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The cost of hiring a venue is £45 per hour.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Calculate</a:t>
            </a:r>
            <a:r>
              <a:rPr lang="en-GB"/>
              <a:t> the cost of hiring a venue for the </a:t>
            </a:r>
            <a:r>
              <a:rPr lang="en-GB"/>
              <a:t>following</a:t>
            </a:r>
            <a:r>
              <a:rPr lang="en-GB"/>
              <a:t> time periods: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2 pm to 5 pm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8:30 am to 4:30 pm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7:45 am to 6:00 pm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998" name="Google Shape;998;p94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To make your event more comfortable for people you decide to use the ratio of 1 : 75 for the toilets to people.  The cost of hiring a toilet is £120.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Calculate the cost of hiring toilets for the following numbers of people: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1500 people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3200 people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400 people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Calculate the cost of trophies and medals for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7 teams of 8 players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12 teams of 12 players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10 teams of 15 players</a:t>
            </a:r>
            <a:endParaRPr/>
          </a:p>
        </p:txBody>
      </p:sp>
      <p:sp>
        <p:nvSpPr>
          <p:cNvPr id="1004" name="Google Shape;1004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graphicFrame>
        <p:nvGraphicFramePr>
          <p:cNvPr id="1005" name="Google Shape;1005;p95"/>
          <p:cNvGraphicFramePr/>
          <p:nvPr/>
        </p:nvGraphicFramePr>
        <p:xfrm>
          <a:off x="5301050" y="165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{757175F1-3109-4986-8E42-C8B2EF7CA559}</a:tableStyleId>
              </a:tblPr>
              <a:tblGrid>
                <a:gridCol w="2004775"/>
                <a:gridCol w="138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Award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item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trophy for 1</a:t>
                      </a:r>
                      <a:r>
                        <a:rPr baseline="3000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two teams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Trophy for winners and runners up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Participation medal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1011" name="Google Shape;1011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d) Using your answers to the previous questions calculate the average ticket price if the profit needs to be at least £1000.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7:45 am to 6:00 pm with a 20% discount as it is a charity event.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10 teams of 15 players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400 attendees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1017" name="Google Shape;1017;p97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The cost of hiring a venue is £45 per hour.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Calculate the cost of hiring a venue for the following time periods: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2 pm to 5 pm          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 × £45 = £135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8:30 am to 4:30 pm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8 × £45 = £360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7:45 am to 6:00 pm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11 × £45 = £495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1023" name="Google Shape;1023;p98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To make your event more comfortable for people you decide to use the ratio of 1 : 75 for the toilets to people.  The cost of hiring a toilet is £120.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Calculate the cost of hiring toilets for the following numbers of people: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1500 people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1500 ÷ 75 = 20           20 × £120 = £2400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) 3200 people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3200 ÷ 75 = 42.666…    43 × £120 = £5160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c) 400 people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400 ÷ 75 = 5.333…        6 × £120 = £720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99"/>
          <p:cNvSpPr txBox="1"/>
          <p:nvPr>
            <p:ph idx="1" type="body"/>
          </p:nvPr>
        </p:nvSpPr>
        <p:spPr>
          <a:xfrm>
            <a:off x="324000" y="6831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Calculate the cost of trophies and medals for the following: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7 teams of 8 players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£12.50 + 16 × £5.50 + 40 × £1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£153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12 teams of 12 players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£12.50 + 24 × £5.50 + 120 × £1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£277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10 teams of 15 players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£12.50 + 30 × £5.50 + 120 × £1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£310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9" name="Google Shape;1029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graphicFrame>
        <p:nvGraphicFramePr>
          <p:cNvPr id="1030" name="Google Shape;1030;p99"/>
          <p:cNvGraphicFramePr/>
          <p:nvPr/>
        </p:nvGraphicFramePr>
        <p:xfrm>
          <a:off x="5301050" y="165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{757175F1-3109-4986-8E42-C8B2EF7CA559}</a:tableStyleId>
              </a:tblPr>
              <a:tblGrid>
                <a:gridCol w="2004775"/>
                <a:gridCol w="138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Award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item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solidFill>
                      <a:srgbClr val="EBED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trophy for 1</a:t>
                      </a:r>
                      <a:r>
                        <a:rPr baseline="3000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two teams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Trophy for winners and runners up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Participation medal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1036" name="Google Shape;1036;p100"/>
          <p:cNvSpPr txBox="1"/>
          <p:nvPr>
            <p:ph idx="1" type="body"/>
          </p:nvPr>
        </p:nvSpPr>
        <p:spPr>
          <a:xfrm>
            <a:off x="324000" y="659931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d) Using your answers to the previous questions calculate the average ticket price if the profit needs to be at least £1000.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7:45 am to 6:00 pm with a 20% discount as it is a charity event.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10 teams of 15 players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400 attendees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venue = £495 × 0.8 = £396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toilets = £720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trophies and medals = £310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income needs to be = £1426 + £1000 = £2426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Average ticket price = £2426 ÷ 400 = £6.07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now decide what tickets should cost more and which cost less.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skills in event planning</a:t>
            </a:r>
            <a:endParaRPr/>
          </a:p>
        </p:txBody>
      </p:sp>
      <p:sp>
        <p:nvSpPr>
          <p:cNvPr id="1042" name="Google Shape;1042;p10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1043" name="Google Shape;1043;p10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  <p:pic>
        <p:nvPicPr>
          <p:cNvPr id="1044" name="Google Shape;104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0" y="298933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1050" name="Google Shape;1050;p10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costs are associated with planning a birthday party?</a:t>
            </a:r>
            <a:endParaRPr/>
          </a:p>
        </p:txBody>
      </p:sp>
      <p:sp>
        <p:nvSpPr>
          <p:cNvPr id="1051" name="Google Shape;1051;p102"/>
          <p:cNvSpPr txBox="1"/>
          <p:nvPr>
            <p:ph idx="1" type="body"/>
          </p:nvPr>
        </p:nvSpPr>
        <p:spPr>
          <a:xfrm>
            <a:off x="324000" y="1292700"/>
            <a:ext cx="8496000" cy="23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Invitations  (£4.99 for a pack of 20)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Hiring a venue (Small hall £25 per hour, large hall £70 per hour)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Entertainment (Children’s entertainer £110 per hour, disco £25 per hour, bouncy castle £120 a day)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Catering (£7.50 per head)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Party ba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gs (£2.70 per child)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03"/>
          <p:cNvSpPr txBox="1"/>
          <p:nvPr>
            <p:ph idx="1" type="body"/>
          </p:nvPr>
        </p:nvSpPr>
        <p:spPr>
          <a:xfrm>
            <a:off x="324000" y="759300"/>
            <a:ext cx="82377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Let’s calculate the cost of a </a:t>
            </a:r>
            <a:r>
              <a:rPr lang="en-GB" sz="2100"/>
              <a:t>birthday</a:t>
            </a:r>
            <a:r>
              <a:rPr lang="en-GB" sz="2100"/>
              <a:t> party for 30 children.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They would like an entertainer.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 small venue will be fine for 30 </a:t>
            </a:r>
            <a:r>
              <a:rPr lang="en-GB" sz="2100"/>
              <a:t>children.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The party will be from 2 pm until 5 pm.</a:t>
            </a:r>
            <a:endParaRPr sz="2100"/>
          </a:p>
        </p:txBody>
      </p:sp>
      <p:sp>
        <p:nvSpPr>
          <p:cNvPr id="1057" name="Google Shape;1057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1058" name="Google Shape;1058;p103"/>
          <p:cNvSpPr txBox="1"/>
          <p:nvPr>
            <p:ph idx="1" type="body"/>
          </p:nvPr>
        </p:nvSpPr>
        <p:spPr>
          <a:xfrm>
            <a:off x="324000" y="2435700"/>
            <a:ext cx="2243400" cy="20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Invitations 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Venue hire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Entertainment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Catering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Party bags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059" name="Google Shape;1059;p103"/>
          <p:cNvSpPr txBox="1"/>
          <p:nvPr>
            <p:ph idx="1" type="body"/>
          </p:nvPr>
        </p:nvSpPr>
        <p:spPr>
          <a:xfrm>
            <a:off x="2321175" y="2435700"/>
            <a:ext cx="6498900" cy="20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Packs of 20 for £4.99, 2 × £4.99 = £9.98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3 hours at a small venue, 3 × £25 = £75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Children’s entertainer for 2 hours = 2 × £110 = £220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30 × £7.50 = £225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30 × £2.70 = £81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Total cost = £610.98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4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 might be able to get a better deal </a:t>
            </a:r>
            <a:r>
              <a:rPr lang="en-GB" sz="2100"/>
              <a:t>elsewhere</a:t>
            </a:r>
            <a:r>
              <a:rPr lang="en-GB" sz="2100"/>
              <a:t> or find ways to save on costs so you can maximise profit or minimise expenditure.</a:t>
            </a:r>
            <a:endParaRPr sz="2100"/>
          </a:p>
        </p:txBody>
      </p:sp>
      <p:sp>
        <p:nvSpPr>
          <p:cNvPr id="1065" name="Google Shape;1065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1066" name="Google Shape;1066;p104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important to consider different vendors/suppliers when planning an event.</a:t>
            </a:r>
            <a:endParaRPr/>
          </a:p>
        </p:txBody>
      </p:sp>
      <p:pic>
        <p:nvPicPr>
          <p:cNvPr id="1067" name="Google Shape;106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4908" y="20981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1073" name="Google Shape;1073;p105"/>
          <p:cNvSpPr txBox="1"/>
          <p:nvPr>
            <p:ph idx="1" type="body"/>
          </p:nvPr>
        </p:nvSpPr>
        <p:spPr>
          <a:xfrm>
            <a:off x="324000" y="606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Plan your own event.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Choose from the following: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charity tournament making at least £500 for your favourite charity.  What should the cost per ticket be?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non-profit event, a child’s birthday party with a budget of £800.  How many children can be invited?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music concert in which you need to make a profit of 20%. 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Or something of your own choice.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can use the internet to research costs of venues, catering, etc in your area. Or use the ones provided in this lesson.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1079" name="Google Shape;1079;p106"/>
          <p:cNvSpPr txBox="1"/>
          <p:nvPr>
            <p:ph idx="1" type="body"/>
          </p:nvPr>
        </p:nvSpPr>
        <p:spPr>
          <a:xfrm>
            <a:off x="324000" y="606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Plan your own event.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Choose from the following: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charity tournament making at least £500 for your favourite charity.  What </a:t>
            </a:r>
            <a:r>
              <a:rPr lang="en-GB"/>
              <a:t>should</a:t>
            </a:r>
            <a:r>
              <a:rPr lang="en-GB"/>
              <a:t> the cost per ticket be?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non-profit event, a child’s birthday party with a budget of £800.  How many children can be invited?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music concert in which you need to make a profit of 20%. 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Or something of your own choice.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can use the internet to research costs of venues, catering, etc in your area. Or use the ones provided in this lesson.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your own event</a:t>
            </a:r>
            <a:endParaRPr/>
          </a:p>
        </p:txBody>
      </p:sp>
      <p:sp>
        <p:nvSpPr>
          <p:cNvPr id="1085" name="Google Shape;1085;p107"/>
          <p:cNvSpPr txBox="1"/>
          <p:nvPr>
            <p:ph idx="1" type="body"/>
          </p:nvPr>
        </p:nvSpPr>
        <p:spPr>
          <a:xfrm>
            <a:off x="324000" y="606900"/>
            <a:ext cx="8496000" cy="4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Planning an obstacle course birthday party for a group of children.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Gold level package - £28.50 per child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Party bag with medal, wrist band and pencil - £6.99 per child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Pizza - 1 large pizza at £25.99 each (1 large per 2 children). 45% party discount and free delivery.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for two children = 85.2745 (unrounded value at this stage)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Budget = £800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800 ÷ 85.2745 = 9.381… so nine pairs of children can be invited.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 children can be invited to the party. Party cost total = £767.47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0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Many areas of maths are used in event management.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During this lesson we mainly focused on costs associated with planning an event.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Ensuring </a:t>
            </a:r>
            <a:r>
              <a:rPr lang="en-GB"/>
              <a:t>safety</a:t>
            </a:r>
            <a:r>
              <a:rPr lang="en-GB"/>
              <a:t> and comfort are addressed is an important factor when deciding on, for example, the number of toilets required for an event.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Many events will have a budget which may limit some aspects of the event.</a:t>
            </a:r>
            <a:endParaRPr/>
          </a:p>
        </p:txBody>
      </p:sp>
      <p:sp>
        <p:nvSpPr>
          <p:cNvPr id="1091" name="Google Shape;1091;p10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0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097" name="Google Shape;1097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