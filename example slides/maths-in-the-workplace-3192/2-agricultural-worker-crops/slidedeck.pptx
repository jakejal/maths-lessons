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E52594-56CD-4313-810C-16913EC617E2}">
  <a:tblStyle styleId="{CDE52594-56CD-4313-810C-16913EC617E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3fbe9e4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3fbe9e4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eff7bdc7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eff7bdc7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f208d0d2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f208d0d2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203ecbab6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203ecbab6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203ecbab6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203ecbab6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2f36e0860e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2f36e0860e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f36e0860e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2f36e0860e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2f36e0860e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2f36e0860e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f37165ee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f37165ee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f37165eea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f37165eea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f37165eea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f37165eea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2f37165eea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2f37165eea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f37165eea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2f37165eea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0469cde91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0469cde9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0469cde91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0469cde91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0469cde91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0469cde91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203ecbab6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203ecbab6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203ecbab6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203ecbab6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203ecbab6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203ecbab6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203ecbab6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2203ecbab6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203ecbab6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2203ecbab6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2f36e0860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2f36e0860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f36e0860e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f36e0860e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f36e0860e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f36e0860e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f36e0860e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2f36e0860e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2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2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2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2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image" Target="../media/image76.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3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76.png"/><Relationship Id="rId4" Type="http://schemas.openxmlformats.org/officeDocument/2006/relationships/image" Target="../media/image39.png"/><Relationship Id="rId9"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46.png"/><Relationship Id="rId7" Type="http://schemas.openxmlformats.org/officeDocument/2006/relationships/image" Target="../media/image42.png"/><Relationship Id="rId8"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76.png"/><Relationship Id="rId4" Type="http://schemas.openxmlformats.org/officeDocument/2006/relationships/image" Target="../media/image45.png"/><Relationship Id="rId11" Type="http://schemas.openxmlformats.org/officeDocument/2006/relationships/image" Target="../media/image35.png"/><Relationship Id="rId10" Type="http://schemas.openxmlformats.org/officeDocument/2006/relationships/image" Target="../media/image52.png"/><Relationship Id="rId9" Type="http://schemas.openxmlformats.org/officeDocument/2006/relationships/image" Target="../media/image43.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image" Target="../media/image46.png"/><Relationship Id="rId8" Type="http://schemas.openxmlformats.org/officeDocument/2006/relationships/image" Target="../media/image4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0.png"/><Relationship Id="rId4" Type="http://schemas.openxmlformats.org/officeDocument/2006/relationships/image" Target="../media/image5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5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6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7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7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7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70.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2.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6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72.png"/><Relationship Id="rId4" Type="http://schemas.openxmlformats.org/officeDocument/2006/relationships/image" Target="../media/image75.png"/><Relationship Id="rId5" Type="http://schemas.openxmlformats.org/officeDocument/2006/relationships/image" Target="../media/image7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 Id="rId3"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 Id="rId3"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0.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Agricultural worker (crops)</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Maths in the 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understand how maths is used by agricultural workers (crops).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nvSpPr>
        <p:spPr>
          <a:xfrm>
            <a:off x="383150" y="836400"/>
            <a:ext cx="8436900" cy="108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The area is the size of the surface and states the number of unit squares needed to completely cover that surface.</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A quick estimate for a calculation is obtained from using approximate values, often rounded to 1 significant figure.</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000">
                <a:solidFill>
                  <a:schemeClr val="dk1"/>
                </a:solidFill>
                <a:latin typeface="Lexend"/>
                <a:ea typeface="Lexend"/>
                <a:cs typeface="Lexend"/>
                <a:sym typeface="Lexend"/>
              </a:rPr>
              <a:t>The (arithmetic) mean for a set of numerical data is the sum of the values divided by the number of values. It is a measure of central tendency representing the average of the values.</a:t>
            </a: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865" name="Google Shape;865;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866" name="Google Shape;866;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Agricultural worker (crops)</a:t>
            </a:r>
            <a:endParaRPr/>
          </a:p>
        </p:txBody>
      </p:sp>
      <p:pic>
        <p:nvPicPr>
          <p:cNvPr id="867" name="Google Shape;867;p78"/>
          <p:cNvPicPr preferRelativeResize="0"/>
          <p:nvPr/>
        </p:nvPicPr>
        <p:blipFill>
          <a:blip r:embed="rId3">
            <a:alphaModFix/>
          </a:blip>
          <a:stretch>
            <a:fillRect/>
          </a:stretch>
        </p:blipFill>
        <p:spPr>
          <a:xfrm>
            <a:off x="40437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t>
            </a:r>
            <a:r>
              <a:rPr lang="en-GB"/>
              <a:t>conversion in the agricultural industry</a:t>
            </a:r>
            <a:r>
              <a:rPr lang="en-GB"/>
              <a:t> </a:t>
            </a:r>
            <a:endParaRPr/>
          </a:p>
        </p:txBody>
      </p:sp>
      <p:sp>
        <p:nvSpPr>
          <p:cNvPr id="873" name="Google Shape;873;p79"/>
          <p:cNvSpPr txBox="1"/>
          <p:nvPr>
            <p:ph idx="1" type="body"/>
          </p:nvPr>
        </p:nvSpPr>
        <p:spPr>
          <a:xfrm>
            <a:off x="324000" y="683100"/>
            <a:ext cx="8237700" cy="708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areas of maths do you think an agricultural worker who is working with crops might use?</a:t>
            </a:r>
            <a:endParaRPr>
              <a:latin typeface="Kalam"/>
              <a:ea typeface="Kalam"/>
              <a:cs typeface="Kalam"/>
              <a:sym typeface="Kalam"/>
            </a:endParaRPr>
          </a:p>
        </p:txBody>
      </p:sp>
      <p:sp>
        <p:nvSpPr>
          <p:cNvPr id="874" name="Google Shape;874;p79"/>
          <p:cNvSpPr txBox="1"/>
          <p:nvPr>
            <p:ph idx="1" type="body"/>
          </p:nvPr>
        </p:nvSpPr>
        <p:spPr>
          <a:xfrm>
            <a:off x="324000" y="1385825"/>
            <a:ext cx="4149300" cy="3020700"/>
          </a:xfrm>
          <a:prstGeom prst="rect">
            <a:avLst/>
          </a:prstGeom>
        </p:spPr>
        <p:txBody>
          <a:bodyPr anchorCtr="0" anchor="t" bIns="0" lIns="0" spcFirstLastPara="1" rIns="0" wrap="square" tIns="0">
            <a:noAutofit/>
          </a:bodyPr>
          <a:lstStyle/>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Area and volume</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Multiplication and division</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Estimation</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Money</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Weights and measures</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Temperature</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Time</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Conversions</a:t>
            </a:r>
            <a:endParaRPr>
              <a:latin typeface="Kalam"/>
              <a:ea typeface="Kalam"/>
              <a:cs typeface="Kalam"/>
              <a:sym typeface="Kalam"/>
            </a:endParaRPr>
          </a:p>
          <a:p>
            <a:pPr indent="-368300" lvl="0" marL="457200" rtl="0" algn="l">
              <a:lnSpc>
                <a:spcPct val="100000"/>
              </a:lnSpc>
              <a:spcBef>
                <a:spcPts val="0"/>
              </a:spcBef>
              <a:spcAft>
                <a:spcPts val="0"/>
              </a:spcAft>
              <a:buSzPts val="2200"/>
              <a:buFont typeface="Kalam"/>
              <a:buChar char="●"/>
            </a:pPr>
            <a:r>
              <a:rPr lang="en-GB">
                <a:latin typeface="Kalam"/>
                <a:ea typeface="Kalam"/>
                <a:cs typeface="Kalam"/>
                <a:sym typeface="Kalam"/>
              </a:rPr>
              <a:t>Standard form</a:t>
            </a:r>
            <a:endParaRPr>
              <a:latin typeface="Kalam"/>
              <a:ea typeface="Kalam"/>
              <a:cs typeface="Kalam"/>
              <a:sym typeface="Kalam"/>
            </a:endParaRPr>
          </a:p>
        </p:txBody>
      </p:sp>
      <p:pic>
        <p:nvPicPr>
          <p:cNvPr id="875" name="Google Shape;875;p79"/>
          <p:cNvPicPr preferRelativeResize="0"/>
          <p:nvPr/>
        </p:nvPicPr>
        <p:blipFill>
          <a:blip r:embed="rId3">
            <a:alphaModFix/>
          </a:blip>
          <a:stretch>
            <a:fillRect/>
          </a:stretch>
        </p:blipFill>
        <p:spPr>
          <a:xfrm>
            <a:off x="8121640" y="1038601"/>
            <a:ext cx="698351" cy="752249"/>
          </a:xfrm>
          <a:prstGeom prst="rect">
            <a:avLst/>
          </a:prstGeom>
          <a:noFill/>
          <a:ln>
            <a:noFill/>
          </a:ln>
        </p:spPr>
      </p:pic>
      <p:grpSp>
        <p:nvGrpSpPr>
          <p:cNvPr id="876" name="Google Shape;876;p79"/>
          <p:cNvGrpSpPr/>
          <p:nvPr/>
        </p:nvGrpSpPr>
        <p:grpSpPr>
          <a:xfrm>
            <a:off x="6979409" y="1443789"/>
            <a:ext cx="1125420" cy="784778"/>
            <a:chOff x="5436125" y="3092575"/>
            <a:chExt cx="2440200" cy="1701600"/>
          </a:xfrm>
        </p:grpSpPr>
        <p:sp>
          <p:nvSpPr>
            <p:cNvPr id="877" name="Google Shape;877;p79"/>
            <p:cNvSpPr/>
            <p:nvPr/>
          </p:nvSpPr>
          <p:spPr>
            <a:xfrm>
              <a:off x="5641600" y="3458575"/>
              <a:ext cx="2022600" cy="1335600"/>
            </a:xfrm>
            <a:prstGeom prst="roundRect">
              <a:avLst>
                <a:gd fmla="val 16667" name="adj"/>
              </a:avLst>
            </a:prstGeom>
            <a:solidFill>
              <a:srgbClr val="845A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8" name="Google Shape;878;p79"/>
            <p:cNvSpPr/>
            <p:nvPr/>
          </p:nvSpPr>
          <p:spPr>
            <a:xfrm>
              <a:off x="5737925" y="3626952"/>
              <a:ext cx="1822800" cy="97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9" name="Google Shape;879;p79"/>
            <p:cNvSpPr/>
            <p:nvPr/>
          </p:nvSpPr>
          <p:spPr>
            <a:xfrm>
              <a:off x="6534100" y="3137575"/>
              <a:ext cx="237600" cy="321000"/>
            </a:xfrm>
            <a:prstGeom prst="rect">
              <a:avLst/>
            </a:prstGeom>
            <a:solidFill>
              <a:srgbClr val="845A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0" name="Google Shape;880;p79"/>
            <p:cNvSpPr/>
            <p:nvPr/>
          </p:nvSpPr>
          <p:spPr>
            <a:xfrm>
              <a:off x="5436125" y="3092575"/>
              <a:ext cx="2440200" cy="45000"/>
            </a:xfrm>
            <a:prstGeom prst="rect">
              <a:avLst/>
            </a:prstGeom>
            <a:solidFill>
              <a:srgbClr val="845A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81" name="Google Shape;881;p79"/>
          <p:cNvPicPr preferRelativeResize="0"/>
          <p:nvPr/>
        </p:nvPicPr>
        <p:blipFill>
          <a:blip r:embed="rId4">
            <a:alphaModFix/>
          </a:blip>
          <a:stretch>
            <a:fillRect/>
          </a:stretch>
        </p:blipFill>
        <p:spPr>
          <a:xfrm>
            <a:off x="7169743" y="1707409"/>
            <a:ext cx="744915" cy="409707"/>
          </a:xfrm>
          <a:prstGeom prst="rect">
            <a:avLst/>
          </a:prstGeom>
          <a:noFill/>
          <a:ln>
            <a:noFill/>
          </a:ln>
        </p:spPr>
      </p:pic>
      <p:sp>
        <p:nvSpPr>
          <p:cNvPr id="882" name="Google Shape;882;p79"/>
          <p:cNvSpPr txBox="1"/>
          <p:nvPr/>
        </p:nvSpPr>
        <p:spPr>
          <a:xfrm>
            <a:off x="7468116" y="2017159"/>
            <a:ext cx="148200" cy="10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800">
                <a:latin typeface="Lexend"/>
                <a:ea typeface="Lexend"/>
                <a:cs typeface="Lexend"/>
                <a:sym typeface="Lexend"/>
              </a:rPr>
              <a:t>kg</a:t>
            </a:r>
            <a:endParaRPr sz="800">
              <a:latin typeface="Lexend"/>
              <a:ea typeface="Lexend"/>
              <a:cs typeface="Lexend"/>
              <a:sym typeface="Lexend"/>
            </a:endParaRPr>
          </a:p>
        </p:txBody>
      </p:sp>
      <p:pic>
        <p:nvPicPr>
          <p:cNvPr id="883" name="Google Shape;883;p79"/>
          <p:cNvPicPr preferRelativeResize="0"/>
          <p:nvPr/>
        </p:nvPicPr>
        <p:blipFill>
          <a:blip r:embed="rId5">
            <a:alphaModFix/>
          </a:blip>
          <a:stretch>
            <a:fillRect/>
          </a:stretch>
        </p:blipFill>
        <p:spPr>
          <a:xfrm>
            <a:off x="8328950" y="1871450"/>
            <a:ext cx="426025" cy="1724249"/>
          </a:xfrm>
          <a:prstGeom prst="rect">
            <a:avLst/>
          </a:prstGeom>
          <a:noFill/>
          <a:ln>
            <a:noFill/>
          </a:ln>
        </p:spPr>
      </p:pic>
      <p:sp>
        <p:nvSpPr>
          <p:cNvPr id="884" name="Google Shape;884;p79"/>
          <p:cNvSpPr txBox="1"/>
          <p:nvPr/>
        </p:nvSpPr>
        <p:spPr>
          <a:xfrm>
            <a:off x="324000" y="4297200"/>
            <a:ext cx="8004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rgbClr val="000000"/>
                </a:solidFill>
                <a:latin typeface="Lexend"/>
                <a:ea typeface="Lexend"/>
                <a:cs typeface="Lexend"/>
                <a:sym typeface="Lexend"/>
              </a:rPr>
              <a:t>During this lesson we will look at </a:t>
            </a:r>
            <a:r>
              <a:rPr lang="en-GB" sz="2200">
                <a:latin typeface="Lexend"/>
                <a:ea typeface="Lexend"/>
                <a:cs typeface="Lexend"/>
                <a:sym typeface="Lexend"/>
              </a:rPr>
              <a:t>some</a:t>
            </a:r>
            <a:r>
              <a:rPr lang="en-GB" sz="2200">
                <a:solidFill>
                  <a:srgbClr val="000000"/>
                </a:solidFill>
                <a:latin typeface="Lexend"/>
                <a:ea typeface="Lexend"/>
                <a:cs typeface="Lexend"/>
                <a:sym typeface="Lexend"/>
              </a:rPr>
              <a:t> of these.</a:t>
            </a:r>
            <a:endParaRPr sz="22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Can you think of any units of measure for area?</a:t>
            </a:r>
            <a:endParaRPr/>
          </a:p>
        </p:txBody>
      </p:sp>
      <p:sp>
        <p:nvSpPr>
          <p:cNvPr id="890" name="Google Shape;89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891" name="Google Shape;891;p80"/>
          <p:cNvSpPr txBox="1"/>
          <p:nvPr>
            <p:ph idx="1" type="body"/>
          </p:nvPr>
        </p:nvSpPr>
        <p:spPr>
          <a:xfrm>
            <a:off x="324000" y="1216500"/>
            <a:ext cx="84186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Font typeface="Kalam"/>
              <a:buChar char="●"/>
            </a:pPr>
            <a:r>
              <a:rPr lang="en-GB">
                <a:latin typeface="Kalam"/>
                <a:ea typeface="Kalam"/>
                <a:cs typeface="Kalam"/>
                <a:sym typeface="Kalam"/>
              </a:rPr>
              <a:t>cm</a:t>
            </a:r>
            <a:r>
              <a:rPr baseline="30000" lang="en-GB">
                <a:latin typeface="Kalam"/>
                <a:ea typeface="Kalam"/>
                <a:cs typeface="Kalam"/>
                <a:sym typeface="Kalam"/>
              </a:rPr>
              <a:t>2</a:t>
            </a:r>
            <a:endParaRPr baseline="30000">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m</a:t>
            </a:r>
            <a:r>
              <a:rPr baseline="30000" lang="en-GB">
                <a:latin typeface="Kalam"/>
                <a:ea typeface="Kalam"/>
                <a:cs typeface="Kalam"/>
                <a:sym typeface="Kalam"/>
              </a:rPr>
              <a:t>2</a:t>
            </a:r>
            <a:r>
              <a:rPr lang="en-GB">
                <a:latin typeface="Kalam"/>
                <a:ea typeface="Kalam"/>
                <a:cs typeface="Kalam"/>
                <a:sym typeface="Kalam"/>
              </a:rPr>
              <a:t> </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km</a:t>
            </a:r>
            <a:r>
              <a:rPr baseline="30000" lang="en-GB">
                <a:latin typeface="Kalam"/>
                <a:ea typeface="Kalam"/>
                <a:cs typeface="Kalam"/>
                <a:sym typeface="Kalam"/>
              </a:rPr>
              <a:t>2</a:t>
            </a:r>
            <a:endParaRPr baseline="30000">
              <a:latin typeface="Kalam"/>
              <a:ea typeface="Kalam"/>
              <a:cs typeface="Kalam"/>
              <a:sym typeface="Kalam"/>
            </a:endParaRPr>
          </a:p>
          <a:p>
            <a:pPr indent="0" lvl="0" marL="0" rtl="0" algn="l">
              <a:spcBef>
                <a:spcPts val="1000"/>
              </a:spcBef>
              <a:spcAft>
                <a:spcPts val="0"/>
              </a:spcAft>
              <a:buNone/>
            </a:pPr>
            <a:r>
              <a:rPr lang="en-GB"/>
              <a:t>These are units that you are familiar with using.</a:t>
            </a:r>
            <a:endParaRPr/>
          </a:p>
          <a:p>
            <a:pPr indent="0" lvl="0" marL="0" rtl="0" algn="l">
              <a:spcBef>
                <a:spcPts val="1000"/>
              </a:spcBef>
              <a:spcAft>
                <a:spcPts val="0"/>
              </a:spcAft>
              <a:buNone/>
            </a:pPr>
            <a:r>
              <a:rPr lang="en-GB"/>
              <a:t>When working with land, other measurements are often used.</a:t>
            </a:r>
            <a:endParaRPr/>
          </a:p>
          <a:p>
            <a:pPr indent="0" lvl="0" marL="0" rtl="0" algn="l">
              <a:spcBef>
                <a:spcPts val="1000"/>
              </a:spcBef>
              <a:spcAft>
                <a:spcPts val="0"/>
              </a:spcAft>
              <a:buNone/>
            </a:pPr>
            <a:r>
              <a:rPr lang="en-GB"/>
              <a:t>Do you know any units of measure for land?</a:t>
            </a:r>
            <a:endParaRPr/>
          </a:p>
          <a:p>
            <a:pPr indent="-368300" lvl="0" marL="457200" rtl="0" algn="l">
              <a:spcBef>
                <a:spcPts val="1000"/>
              </a:spcBef>
              <a:spcAft>
                <a:spcPts val="0"/>
              </a:spcAft>
              <a:buSzPts val="2200"/>
              <a:buFont typeface="Kalam"/>
              <a:buChar char="●"/>
            </a:pPr>
            <a:r>
              <a:rPr lang="en-GB">
                <a:latin typeface="Kalam"/>
                <a:ea typeface="Kalam"/>
                <a:cs typeface="Kalam"/>
                <a:sym typeface="Kalam"/>
              </a:rPr>
              <a:t>Acre</a:t>
            </a:r>
            <a:endParaRPr>
              <a:latin typeface="Kalam"/>
              <a:ea typeface="Kalam"/>
              <a:cs typeface="Kalam"/>
              <a:sym typeface="Kalam"/>
            </a:endParaRPr>
          </a:p>
          <a:p>
            <a:pPr indent="-368300" lvl="0" marL="457200" rtl="0" algn="l">
              <a:spcBef>
                <a:spcPts val="0"/>
              </a:spcBef>
              <a:spcAft>
                <a:spcPts val="0"/>
              </a:spcAft>
              <a:buSzPts val="2200"/>
              <a:buFont typeface="Kalam"/>
              <a:buChar char="●"/>
            </a:pPr>
            <a:r>
              <a:rPr lang="en-GB">
                <a:latin typeface="Kalam"/>
                <a:ea typeface="Kalam"/>
                <a:cs typeface="Kalam"/>
                <a:sym typeface="Kalam"/>
              </a:rPr>
              <a:t>Hectare</a:t>
            </a:r>
            <a:endParaRPr>
              <a:latin typeface="Kalam"/>
              <a:ea typeface="Kalam"/>
              <a:cs typeface="Kalam"/>
              <a:sym typeface="Kalam"/>
            </a:endParaRPr>
          </a:p>
          <a:p>
            <a:pPr indent="0" lvl="0" marL="0" rtl="0" algn="l">
              <a:spcBef>
                <a:spcPts val="1000"/>
              </a:spcBef>
              <a:spcAft>
                <a:spcPts val="0"/>
              </a:spcAft>
              <a:buNone/>
            </a:pPr>
            <a:r>
              <a:t/>
            </a:r>
            <a:endParaRPr>
              <a:latin typeface="Kalam"/>
              <a:ea typeface="Kalam"/>
              <a:cs typeface="Kalam"/>
              <a:sym typeface="Kalam"/>
            </a:endParaRPr>
          </a:p>
          <a:p>
            <a:pPr indent="0" lvl="0" marL="0" rtl="0" algn="l">
              <a:spcBef>
                <a:spcPts val="1000"/>
              </a:spcBef>
              <a:spcAft>
                <a:spcPts val="10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81"/>
          <p:cNvSpPr txBox="1"/>
          <p:nvPr>
            <p:ph idx="1" type="body"/>
          </p:nvPr>
        </p:nvSpPr>
        <p:spPr>
          <a:xfrm>
            <a:off x="324000" y="759300"/>
            <a:ext cx="8237700" cy="248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Acres are an imperial unit of land measure.</a:t>
            </a:r>
            <a:endParaRPr/>
          </a:p>
          <a:p>
            <a:pPr indent="0" lvl="0" marL="0" rtl="0" algn="l">
              <a:spcBef>
                <a:spcPts val="1000"/>
              </a:spcBef>
              <a:spcAft>
                <a:spcPts val="0"/>
              </a:spcAft>
              <a:buNone/>
            </a:pPr>
            <a:r>
              <a:rPr lang="en-GB"/>
              <a:t>Hectares are a metric unit of land measure.</a:t>
            </a:r>
            <a:endParaRPr/>
          </a:p>
          <a:p>
            <a:pPr indent="0" lvl="0" marL="0" rtl="0" algn="l">
              <a:spcBef>
                <a:spcPts val="1000"/>
              </a:spcBef>
              <a:spcAft>
                <a:spcPts val="0"/>
              </a:spcAft>
              <a:buNone/>
            </a:pPr>
            <a:r>
              <a:rPr lang="en-GB"/>
              <a:t>An acre is equivalent to 43 560 square feet.</a:t>
            </a:r>
            <a:endParaRPr/>
          </a:p>
          <a:p>
            <a:pPr indent="0" lvl="0" marL="0" rtl="0" algn="l">
              <a:spcBef>
                <a:spcPts val="1000"/>
              </a:spcBef>
              <a:spcAft>
                <a:spcPts val="0"/>
              </a:spcAft>
              <a:buNone/>
            </a:pPr>
            <a:r>
              <a:rPr lang="en-GB"/>
              <a:t>A hectare is equivalent to 10 000 square metres.</a:t>
            </a:r>
            <a:endParaRPr/>
          </a:p>
          <a:p>
            <a:pPr indent="0" lvl="0" marL="0" rtl="0" algn="l">
              <a:spcBef>
                <a:spcPts val="1000"/>
              </a:spcBef>
              <a:spcAft>
                <a:spcPts val="1000"/>
              </a:spcAft>
              <a:buNone/>
            </a:pPr>
            <a:r>
              <a:rPr lang="en-GB"/>
              <a:t>Which is larger, an acre or a hectare?</a:t>
            </a:r>
            <a:endParaRPr/>
          </a:p>
        </p:txBody>
      </p:sp>
      <p:sp>
        <p:nvSpPr>
          <p:cNvPr id="897" name="Google Shape;897;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898" name="Google Shape;898;p81"/>
          <p:cNvSpPr txBox="1"/>
          <p:nvPr>
            <p:ph idx="1" type="body"/>
          </p:nvPr>
        </p:nvSpPr>
        <p:spPr>
          <a:xfrm>
            <a:off x="324000" y="3239250"/>
            <a:ext cx="2458200" cy="32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foot ≈ 0.3048 m</a:t>
            </a:r>
            <a:endParaRPr/>
          </a:p>
          <a:p>
            <a:pPr indent="0" lvl="0" marL="0" rtl="0" algn="l">
              <a:spcBef>
                <a:spcPts val="1000"/>
              </a:spcBef>
              <a:spcAft>
                <a:spcPts val="1000"/>
              </a:spcAft>
              <a:buNone/>
            </a:pPr>
            <a:r>
              <a:t/>
            </a:r>
            <a:endParaRPr/>
          </a:p>
        </p:txBody>
      </p:sp>
      <p:sp>
        <p:nvSpPr>
          <p:cNvPr id="899" name="Google Shape;899;p81"/>
          <p:cNvSpPr/>
          <p:nvPr/>
        </p:nvSpPr>
        <p:spPr>
          <a:xfrm>
            <a:off x="6075300" y="3224575"/>
            <a:ext cx="1332300" cy="1332300"/>
          </a:xfrm>
          <a:prstGeom prst="rect">
            <a:avLst/>
          </a:prstGeom>
          <a:solidFill>
            <a:schemeClr val="lt2"/>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1 </a:t>
            </a:r>
            <a:r>
              <a:rPr lang="en-GB" sz="1800">
                <a:latin typeface="Lexend"/>
                <a:ea typeface="Lexend"/>
                <a:cs typeface="Lexend"/>
                <a:sym typeface="Lexend"/>
              </a:rPr>
              <a:t>square</a:t>
            </a:r>
            <a:r>
              <a:rPr lang="en-GB" sz="1800">
                <a:latin typeface="Lexend"/>
                <a:ea typeface="Lexend"/>
                <a:cs typeface="Lexend"/>
                <a:sym typeface="Lexend"/>
              </a:rPr>
              <a:t> foot</a:t>
            </a:r>
            <a:endParaRPr sz="1800">
              <a:latin typeface="Lexend"/>
              <a:ea typeface="Lexend"/>
              <a:cs typeface="Lexend"/>
              <a:sym typeface="Lexend"/>
            </a:endParaRPr>
          </a:p>
        </p:txBody>
      </p:sp>
      <p:sp>
        <p:nvSpPr>
          <p:cNvPr id="900" name="Google Shape;900;p81"/>
          <p:cNvSpPr txBox="1"/>
          <p:nvPr/>
        </p:nvSpPr>
        <p:spPr>
          <a:xfrm>
            <a:off x="5132600" y="3596575"/>
            <a:ext cx="1022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foot</a:t>
            </a:r>
            <a:endParaRPr sz="2200">
              <a:solidFill>
                <a:schemeClr val="dk1"/>
              </a:solidFill>
              <a:latin typeface="Lexend"/>
              <a:ea typeface="Lexend"/>
              <a:cs typeface="Lexend"/>
              <a:sym typeface="Lexend"/>
            </a:endParaRPr>
          </a:p>
        </p:txBody>
      </p:sp>
      <p:sp>
        <p:nvSpPr>
          <p:cNvPr id="901" name="Google Shape;901;p81"/>
          <p:cNvSpPr txBox="1"/>
          <p:nvPr/>
        </p:nvSpPr>
        <p:spPr>
          <a:xfrm>
            <a:off x="6231503" y="2724150"/>
            <a:ext cx="1022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foot</a:t>
            </a:r>
            <a:endParaRPr sz="2200">
              <a:solidFill>
                <a:schemeClr val="dk1"/>
              </a:solidFill>
              <a:latin typeface="Lexend"/>
              <a:ea typeface="Lexend"/>
              <a:cs typeface="Lexend"/>
              <a:sym typeface="Lexend"/>
            </a:endParaRPr>
          </a:p>
        </p:txBody>
      </p:sp>
      <p:sp>
        <p:nvSpPr>
          <p:cNvPr id="902" name="Google Shape;902;p81"/>
          <p:cNvSpPr txBox="1"/>
          <p:nvPr/>
        </p:nvSpPr>
        <p:spPr>
          <a:xfrm>
            <a:off x="4652000" y="3596575"/>
            <a:ext cx="150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0.3048 m</a:t>
            </a:r>
            <a:endParaRPr sz="2200">
              <a:solidFill>
                <a:schemeClr val="dk1"/>
              </a:solidFill>
              <a:latin typeface="Lexend"/>
              <a:ea typeface="Lexend"/>
              <a:cs typeface="Lexend"/>
              <a:sym typeface="Lexend"/>
            </a:endParaRPr>
          </a:p>
        </p:txBody>
      </p:sp>
      <p:sp>
        <p:nvSpPr>
          <p:cNvPr id="903" name="Google Shape;903;p81"/>
          <p:cNvSpPr txBox="1"/>
          <p:nvPr/>
        </p:nvSpPr>
        <p:spPr>
          <a:xfrm>
            <a:off x="6043074" y="2734675"/>
            <a:ext cx="150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0.3048 m</a:t>
            </a:r>
            <a:endParaRPr sz="2200">
              <a:solidFill>
                <a:schemeClr val="dk1"/>
              </a:solidFill>
              <a:latin typeface="Lexend"/>
              <a:ea typeface="Lexend"/>
              <a:cs typeface="Lexend"/>
              <a:sym typeface="Lexend"/>
            </a:endParaRPr>
          </a:p>
        </p:txBody>
      </p:sp>
      <p:sp>
        <p:nvSpPr>
          <p:cNvPr id="904" name="Google Shape;904;p81"/>
          <p:cNvSpPr txBox="1"/>
          <p:nvPr/>
        </p:nvSpPr>
        <p:spPr>
          <a:xfrm>
            <a:off x="6108850" y="3493850"/>
            <a:ext cx="1259400" cy="652200"/>
          </a:xfrm>
          <a:prstGeom prst="rect">
            <a:avLst/>
          </a:prstGeom>
          <a:solidFill>
            <a:schemeClr val="lt2"/>
          </a:solidFill>
          <a:ln>
            <a:noFill/>
          </a:ln>
        </p:spPr>
        <p:txBody>
          <a:bodyPr anchorCtr="0" anchor="t" bIns="18000" lIns="18000" spcFirstLastPara="1" rIns="18000" wrap="square" tIns="18000">
            <a:spAutoFit/>
          </a:bodyPr>
          <a:lstStyle/>
          <a:p>
            <a:pPr indent="0" lvl="0" marL="0" rtl="0" algn="ctr">
              <a:spcBef>
                <a:spcPts val="0"/>
              </a:spcBef>
              <a:spcAft>
                <a:spcPts val="0"/>
              </a:spcAft>
              <a:buNone/>
            </a:pPr>
            <a:r>
              <a:rPr lang="en-GB" sz="2000">
                <a:solidFill>
                  <a:schemeClr val="dk1"/>
                </a:solidFill>
                <a:latin typeface="Lexend"/>
                <a:ea typeface="Lexend"/>
                <a:cs typeface="Lexend"/>
                <a:sym typeface="Lexend"/>
              </a:rPr>
              <a:t>0.092… m</a:t>
            </a:r>
            <a:r>
              <a:rPr baseline="30000" lang="en-GB" sz="2000">
                <a:solidFill>
                  <a:schemeClr val="dk1"/>
                </a:solidFill>
                <a:latin typeface="Lexend"/>
                <a:ea typeface="Lexend"/>
                <a:cs typeface="Lexend"/>
                <a:sym typeface="Lexend"/>
              </a:rPr>
              <a:t>2</a:t>
            </a:r>
            <a:endParaRPr baseline="30000" sz="2000">
              <a:solidFill>
                <a:schemeClr val="dk1"/>
              </a:solidFill>
              <a:latin typeface="Lexend"/>
              <a:ea typeface="Lexend"/>
              <a:cs typeface="Lexend"/>
              <a:sym typeface="Lexend"/>
            </a:endParaRPr>
          </a:p>
          <a:p>
            <a:pPr indent="0" lvl="0" marL="0" rtl="0" algn="ctr">
              <a:spcBef>
                <a:spcPts val="0"/>
              </a:spcBef>
              <a:spcAft>
                <a:spcPts val="0"/>
              </a:spcAft>
              <a:buNone/>
            </a:pPr>
            <a:r>
              <a:t/>
            </a:r>
            <a:endParaRPr baseline="30000" sz="2000">
              <a:solidFill>
                <a:schemeClr val="dk1"/>
              </a:solidFill>
              <a:latin typeface="Lexend"/>
              <a:ea typeface="Lexend"/>
              <a:cs typeface="Lexend"/>
              <a:sym typeface="Lexend"/>
            </a:endParaRPr>
          </a:p>
        </p:txBody>
      </p:sp>
      <p:sp>
        <p:nvSpPr>
          <p:cNvPr id="905" name="Google Shape;905;p81"/>
          <p:cNvSpPr txBox="1"/>
          <p:nvPr>
            <p:ph idx="1" type="body"/>
          </p:nvPr>
        </p:nvSpPr>
        <p:spPr>
          <a:xfrm>
            <a:off x="324000" y="3673176"/>
            <a:ext cx="3790500" cy="32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square foot ≈ 0.092… m</a:t>
            </a:r>
            <a:r>
              <a:rPr baseline="30000" lang="en-GB"/>
              <a:t>2</a:t>
            </a:r>
            <a:endParaRPr baseline="30000"/>
          </a:p>
          <a:p>
            <a:pPr indent="0" lvl="0" marL="0" rtl="0" algn="l">
              <a:spcBef>
                <a:spcPts val="1000"/>
              </a:spcBef>
              <a:spcAft>
                <a:spcPts val="1000"/>
              </a:spcAft>
              <a:buNone/>
            </a:pPr>
            <a:r>
              <a:t/>
            </a:r>
            <a:endParaRPr/>
          </a:p>
        </p:txBody>
      </p:sp>
      <p:sp>
        <p:nvSpPr>
          <p:cNvPr id="906" name="Google Shape;906;p81"/>
          <p:cNvSpPr txBox="1"/>
          <p:nvPr>
            <p:ph idx="1" type="body"/>
          </p:nvPr>
        </p:nvSpPr>
        <p:spPr>
          <a:xfrm>
            <a:off x="324000" y="4153650"/>
            <a:ext cx="3790500" cy="3234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t>1 acre ≈ 43 560 </a:t>
            </a:r>
            <a:r>
              <a:rPr lang="en-GB"/>
              <a:t>× </a:t>
            </a:r>
            <a:r>
              <a:rPr lang="en-GB"/>
              <a:t>0.092…</a:t>
            </a:r>
            <a:endParaRPr/>
          </a:p>
          <a:p>
            <a:pPr indent="0" lvl="0" marL="0" rtl="0" algn="l">
              <a:lnSpc>
                <a:spcPct val="80000"/>
              </a:lnSpc>
              <a:spcBef>
                <a:spcPts val="1000"/>
              </a:spcBef>
              <a:spcAft>
                <a:spcPts val="1000"/>
              </a:spcAft>
              <a:buNone/>
            </a:pPr>
            <a:r>
              <a:rPr lang="en-GB"/>
              <a:t>1 acre ≈ 4046.86 m</a:t>
            </a:r>
            <a:r>
              <a:rPr baseline="30000" lang="en-GB"/>
              <a:t>2</a:t>
            </a:r>
            <a:r>
              <a:rPr lang="en-GB"/>
              <a:t> </a:t>
            </a:r>
            <a:endParaRPr/>
          </a:p>
        </p:txBody>
      </p:sp>
      <p:sp>
        <p:nvSpPr>
          <p:cNvPr id="907" name="Google Shape;907;p81"/>
          <p:cNvSpPr/>
          <p:nvPr/>
        </p:nvSpPr>
        <p:spPr>
          <a:xfrm>
            <a:off x="3658200" y="4106700"/>
            <a:ext cx="1503300" cy="713700"/>
          </a:xfrm>
          <a:prstGeom prst="rect">
            <a:avLst/>
          </a:prstGeom>
          <a:solidFill>
            <a:schemeClr val="lt1"/>
          </a:solid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A hectare is larger.</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82"/>
          <p:cNvSpPr txBox="1"/>
          <p:nvPr>
            <p:ph idx="1" type="subTitle"/>
          </p:nvPr>
        </p:nvSpPr>
        <p:spPr>
          <a:xfrm>
            <a:off x="337825" y="810000"/>
            <a:ext cx="3982200" cy="117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 2.3 acres into square metres.</a:t>
            </a:r>
            <a:endParaRPr/>
          </a:p>
          <a:p>
            <a:pPr indent="0" lvl="0" marL="0" rtl="0" algn="l">
              <a:lnSpc>
                <a:spcPct val="80000"/>
              </a:lnSpc>
              <a:spcBef>
                <a:spcPts val="1000"/>
              </a:spcBef>
              <a:spcAft>
                <a:spcPts val="1000"/>
              </a:spcAft>
              <a:buClr>
                <a:schemeClr val="dk1"/>
              </a:buClr>
              <a:buSzPts val="1100"/>
              <a:buFont typeface="Arial"/>
              <a:buNone/>
            </a:pPr>
            <a:r>
              <a:rPr lang="en-GB"/>
              <a:t>1 acre ≈ 4046.86 m</a:t>
            </a:r>
            <a:r>
              <a:rPr baseline="30000" lang="en-GB"/>
              <a:t>2</a:t>
            </a:r>
            <a:endParaRPr/>
          </a:p>
        </p:txBody>
      </p:sp>
      <p:sp>
        <p:nvSpPr>
          <p:cNvPr id="913" name="Google Shape;913;p82"/>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914" name="Google Shape;914;p82"/>
          <p:cNvGraphicFramePr/>
          <p:nvPr/>
        </p:nvGraphicFramePr>
        <p:xfrm>
          <a:off x="1104900" y="2305050"/>
          <a:ext cx="3000000" cy="3000000"/>
        </p:xfrm>
        <a:graphic>
          <a:graphicData uri="http://schemas.openxmlformats.org/drawingml/2006/table">
            <a:tbl>
              <a:tblPr>
                <a:noFill/>
                <a:tableStyleId>{CDE52594-56CD-4313-810C-16913EC617E2}</a:tableStyleId>
              </a:tblPr>
              <a:tblGrid>
                <a:gridCol w="1147750"/>
                <a:gridCol w="1147750"/>
              </a:tblGrid>
              <a:tr h="381000">
                <a:tc>
                  <a:txBody>
                    <a:bodyPr/>
                    <a:lstStyle/>
                    <a:p>
                      <a:pPr indent="0" lvl="0" marL="0" rtl="0" algn="ctr">
                        <a:spcBef>
                          <a:spcPts val="0"/>
                        </a:spcBef>
                        <a:spcAft>
                          <a:spcPts val="0"/>
                        </a:spcAft>
                        <a:buNone/>
                      </a:pPr>
                      <a:r>
                        <a:rPr lang="en-GB" sz="1800">
                          <a:latin typeface="Lexend"/>
                          <a:ea typeface="Lexend"/>
                          <a:cs typeface="Lexend"/>
                          <a:sym typeface="Lexend"/>
                        </a:rPr>
                        <a:t>Acres</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m</a:t>
                      </a:r>
                      <a:r>
                        <a:rPr baseline="30000" lang="en-GB" sz="1800">
                          <a:latin typeface="Lexend"/>
                          <a:ea typeface="Lexend"/>
                          <a:cs typeface="Lexend"/>
                          <a:sym typeface="Lexend"/>
                        </a:rPr>
                        <a:t>2</a:t>
                      </a:r>
                      <a:endParaRPr baseline="30000"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4046.86</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15" name="Google Shape;915;p82"/>
          <p:cNvSpPr/>
          <p:nvPr/>
        </p:nvSpPr>
        <p:spPr>
          <a:xfrm rot="-5140094">
            <a:off x="1100785" y="2898526"/>
            <a:ext cx="472650" cy="699174"/>
          </a:xfrm>
          <a:prstGeom prst="arc">
            <a:avLst>
              <a:gd fmla="val 10729459" name="adj1"/>
              <a:gd fmla="val 415200" name="adj2"/>
            </a:avLst>
          </a:prstGeom>
          <a:noFill/>
          <a:ln cap="flat" cmpd="sng" w="38100">
            <a:solidFill>
              <a:srgbClr val="845AD9"/>
            </a:solidFill>
            <a:prstDash val="solid"/>
            <a:round/>
            <a:headEnd len="sm" w="sm" type="triangl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6" name="Google Shape;916;p82"/>
          <p:cNvSpPr txBox="1"/>
          <p:nvPr/>
        </p:nvSpPr>
        <p:spPr>
          <a:xfrm>
            <a:off x="329777" y="2989949"/>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2.3</a:t>
            </a:r>
            <a:endParaRPr sz="1800">
              <a:solidFill>
                <a:schemeClr val="dk1"/>
              </a:solidFill>
              <a:latin typeface="Lexend"/>
              <a:ea typeface="Lexend"/>
              <a:cs typeface="Lexend"/>
              <a:sym typeface="Lexend"/>
            </a:endParaRPr>
          </a:p>
        </p:txBody>
      </p:sp>
      <p:grpSp>
        <p:nvGrpSpPr>
          <p:cNvPr id="917" name="Google Shape;917;p82"/>
          <p:cNvGrpSpPr/>
          <p:nvPr/>
        </p:nvGrpSpPr>
        <p:grpSpPr>
          <a:xfrm>
            <a:off x="2968650" y="2989949"/>
            <a:ext cx="1337027" cy="494551"/>
            <a:chOff x="2968650" y="2989949"/>
            <a:chExt cx="1337027" cy="494551"/>
          </a:xfrm>
        </p:grpSpPr>
        <p:sp>
          <p:nvSpPr>
            <p:cNvPr id="918" name="Google Shape;918;p82"/>
            <p:cNvSpPr/>
            <p:nvPr/>
          </p:nvSpPr>
          <p:spPr>
            <a:xfrm rot="5400000">
              <a:off x="3082050" y="2898600"/>
              <a:ext cx="472500" cy="699300"/>
            </a:xfrm>
            <a:prstGeom prst="arc">
              <a:avLst>
                <a:gd fmla="val 10729459" name="adj1"/>
                <a:gd fmla="val 415200"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82"/>
            <p:cNvSpPr txBox="1"/>
            <p:nvPr/>
          </p:nvSpPr>
          <p:spPr>
            <a:xfrm>
              <a:off x="3606377" y="2989949"/>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2.3</a:t>
              </a:r>
              <a:endParaRPr sz="1800">
                <a:solidFill>
                  <a:schemeClr val="dk1"/>
                </a:solidFill>
                <a:latin typeface="Lexend"/>
                <a:ea typeface="Lexend"/>
                <a:cs typeface="Lexend"/>
                <a:sym typeface="Lexend"/>
              </a:endParaRPr>
            </a:p>
          </p:txBody>
        </p:sp>
      </p:grpSp>
      <p:sp>
        <p:nvSpPr>
          <p:cNvPr id="920" name="Google Shape;920;p82"/>
          <p:cNvSpPr txBox="1"/>
          <p:nvPr/>
        </p:nvSpPr>
        <p:spPr>
          <a:xfrm>
            <a:off x="2264427" y="3218550"/>
            <a:ext cx="113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9307.778</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83"/>
          <p:cNvSpPr txBox="1"/>
          <p:nvPr>
            <p:ph idx="1" type="subTitle"/>
          </p:nvPr>
        </p:nvSpPr>
        <p:spPr>
          <a:xfrm>
            <a:off x="4833625" y="810000"/>
            <a:ext cx="3982200" cy="117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 5.2 acres into square metres.</a:t>
            </a:r>
            <a:endParaRPr/>
          </a:p>
          <a:p>
            <a:pPr indent="0" lvl="0" marL="0" rtl="0" algn="l">
              <a:lnSpc>
                <a:spcPct val="80000"/>
              </a:lnSpc>
              <a:spcBef>
                <a:spcPts val="1000"/>
              </a:spcBef>
              <a:spcAft>
                <a:spcPts val="1000"/>
              </a:spcAft>
              <a:buNone/>
            </a:pPr>
            <a:r>
              <a:rPr lang="en-GB"/>
              <a:t>1 acre ≈ 4046.86 m</a:t>
            </a:r>
            <a:r>
              <a:rPr baseline="30000" lang="en-GB"/>
              <a:t>2</a:t>
            </a:r>
            <a:endParaRPr/>
          </a:p>
        </p:txBody>
      </p:sp>
      <p:sp>
        <p:nvSpPr>
          <p:cNvPr id="926" name="Google Shape;926;p83"/>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927" name="Google Shape;927;p83"/>
          <p:cNvGraphicFramePr/>
          <p:nvPr/>
        </p:nvGraphicFramePr>
        <p:xfrm>
          <a:off x="5471574" y="2305050"/>
          <a:ext cx="3000000" cy="3000000"/>
        </p:xfrm>
        <a:graphic>
          <a:graphicData uri="http://schemas.openxmlformats.org/drawingml/2006/table">
            <a:tbl>
              <a:tblPr>
                <a:noFill/>
                <a:tableStyleId>{CDE52594-56CD-4313-810C-16913EC617E2}</a:tableStyleId>
              </a:tblPr>
              <a:tblGrid>
                <a:gridCol w="1147750"/>
                <a:gridCol w="1147750"/>
              </a:tblGrid>
              <a:tr h="381000">
                <a:tc>
                  <a:txBody>
                    <a:bodyPr/>
                    <a:lstStyle/>
                    <a:p>
                      <a:pPr indent="0" lvl="0" marL="0" rtl="0" algn="ctr">
                        <a:spcBef>
                          <a:spcPts val="0"/>
                        </a:spcBef>
                        <a:spcAft>
                          <a:spcPts val="0"/>
                        </a:spcAft>
                        <a:buNone/>
                      </a:pPr>
                      <a:r>
                        <a:rPr lang="en-GB" sz="2000">
                          <a:latin typeface="Kalam"/>
                          <a:ea typeface="Kalam"/>
                          <a:cs typeface="Kalam"/>
                          <a:sym typeface="Kalam"/>
                        </a:rPr>
                        <a:t>Acres</a:t>
                      </a:r>
                      <a:endParaRPr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m</a:t>
                      </a:r>
                      <a:r>
                        <a:rPr baseline="30000" lang="en-GB" sz="2000">
                          <a:latin typeface="Kalam"/>
                          <a:ea typeface="Kalam"/>
                          <a:cs typeface="Kalam"/>
                          <a:sym typeface="Kalam"/>
                        </a:rPr>
                        <a:t>2</a:t>
                      </a:r>
                      <a:endParaRPr baseline="30000"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4046.86</a:t>
                      </a:r>
                      <a:endParaRPr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Kalam"/>
                          <a:ea typeface="Kalam"/>
                          <a:cs typeface="Kalam"/>
                          <a:sym typeface="Kalam"/>
                        </a:rPr>
                        <a:t>5.2</a:t>
                      </a:r>
                      <a:endParaRPr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Kalam"/>
                        <a:ea typeface="Kalam"/>
                        <a:cs typeface="Kalam"/>
                        <a:sym typeface="Kalam"/>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28" name="Google Shape;928;p83"/>
          <p:cNvSpPr/>
          <p:nvPr/>
        </p:nvSpPr>
        <p:spPr>
          <a:xfrm rot="-5140094">
            <a:off x="5467459" y="2898526"/>
            <a:ext cx="472650" cy="699174"/>
          </a:xfrm>
          <a:prstGeom prst="arc">
            <a:avLst>
              <a:gd fmla="val 10729459" name="adj1"/>
              <a:gd fmla="val 415200" name="adj2"/>
            </a:avLst>
          </a:prstGeom>
          <a:noFill/>
          <a:ln cap="flat" cmpd="sng" w="38100">
            <a:solidFill>
              <a:srgbClr val="845AD9"/>
            </a:solidFill>
            <a:prstDash val="solid"/>
            <a:round/>
            <a:headEnd len="sm" w="sm" type="triangl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Kalam"/>
              <a:ea typeface="Kalam"/>
              <a:cs typeface="Kalam"/>
              <a:sym typeface="Kalam"/>
            </a:endParaRPr>
          </a:p>
        </p:txBody>
      </p:sp>
      <p:sp>
        <p:nvSpPr>
          <p:cNvPr id="929" name="Google Shape;929;p83"/>
          <p:cNvSpPr txBox="1"/>
          <p:nvPr/>
        </p:nvSpPr>
        <p:spPr>
          <a:xfrm>
            <a:off x="4609148" y="2989950"/>
            <a:ext cx="78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5.2</a:t>
            </a:r>
            <a:endParaRPr sz="2000">
              <a:solidFill>
                <a:schemeClr val="dk1"/>
              </a:solidFill>
              <a:latin typeface="Kalam"/>
              <a:ea typeface="Kalam"/>
              <a:cs typeface="Kalam"/>
              <a:sym typeface="Kalam"/>
            </a:endParaRPr>
          </a:p>
        </p:txBody>
      </p:sp>
      <p:grpSp>
        <p:nvGrpSpPr>
          <p:cNvPr id="930" name="Google Shape;930;p83"/>
          <p:cNvGrpSpPr/>
          <p:nvPr/>
        </p:nvGrpSpPr>
        <p:grpSpPr>
          <a:xfrm>
            <a:off x="7487724" y="2989950"/>
            <a:ext cx="1486424" cy="494550"/>
            <a:chOff x="2968650" y="2989950"/>
            <a:chExt cx="1486424" cy="494550"/>
          </a:xfrm>
        </p:grpSpPr>
        <p:sp>
          <p:nvSpPr>
            <p:cNvPr id="931" name="Google Shape;931;p83"/>
            <p:cNvSpPr/>
            <p:nvPr/>
          </p:nvSpPr>
          <p:spPr>
            <a:xfrm rot="5400000">
              <a:off x="3082050" y="2898600"/>
              <a:ext cx="472500" cy="699300"/>
            </a:xfrm>
            <a:prstGeom prst="arc">
              <a:avLst>
                <a:gd fmla="val 10729459" name="adj1"/>
                <a:gd fmla="val 415200"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Kalam"/>
                <a:ea typeface="Kalam"/>
                <a:cs typeface="Kalam"/>
                <a:sym typeface="Kalam"/>
              </a:endParaRPr>
            </a:p>
          </p:txBody>
        </p:sp>
        <p:sp>
          <p:nvSpPr>
            <p:cNvPr id="932" name="Google Shape;932;p83"/>
            <p:cNvSpPr txBox="1"/>
            <p:nvPr/>
          </p:nvSpPr>
          <p:spPr>
            <a:xfrm>
              <a:off x="3606374" y="2989950"/>
              <a:ext cx="84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5.2</a:t>
              </a:r>
              <a:endParaRPr sz="2000">
                <a:solidFill>
                  <a:schemeClr val="dk1"/>
                </a:solidFill>
                <a:latin typeface="Kalam"/>
                <a:ea typeface="Kalam"/>
                <a:cs typeface="Kalam"/>
                <a:sym typeface="Kalam"/>
              </a:endParaRPr>
            </a:p>
          </p:txBody>
        </p:sp>
      </p:grpSp>
      <p:sp>
        <p:nvSpPr>
          <p:cNvPr id="933" name="Google Shape;933;p83"/>
          <p:cNvSpPr txBox="1"/>
          <p:nvPr/>
        </p:nvSpPr>
        <p:spPr>
          <a:xfrm>
            <a:off x="6554899" y="3288371"/>
            <a:ext cx="14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21 043.672</a:t>
            </a:r>
            <a:endParaRPr sz="1800">
              <a:solidFill>
                <a:schemeClr val="dk1"/>
              </a:solidFill>
              <a:latin typeface="Kalam"/>
              <a:ea typeface="Kalam"/>
              <a:cs typeface="Kalam"/>
              <a:sym typeface="Kalam"/>
            </a:endParaRPr>
          </a:p>
        </p:txBody>
      </p:sp>
      <p:sp>
        <p:nvSpPr>
          <p:cNvPr id="934" name="Google Shape;934;p83"/>
          <p:cNvSpPr txBox="1"/>
          <p:nvPr>
            <p:ph idx="1" type="subTitle"/>
          </p:nvPr>
        </p:nvSpPr>
        <p:spPr>
          <a:xfrm>
            <a:off x="337825" y="810000"/>
            <a:ext cx="3982200" cy="117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 2.3 acres into square metres.</a:t>
            </a:r>
            <a:endParaRPr/>
          </a:p>
          <a:p>
            <a:pPr indent="0" lvl="0" marL="0" rtl="0" algn="l">
              <a:lnSpc>
                <a:spcPct val="80000"/>
              </a:lnSpc>
              <a:spcBef>
                <a:spcPts val="1000"/>
              </a:spcBef>
              <a:spcAft>
                <a:spcPts val="1000"/>
              </a:spcAft>
              <a:buNone/>
            </a:pPr>
            <a:r>
              <a:rPr lang="en-GB"/>
              <a:t>1 acre ≈ 4046.86 m</a:t>
            </a:r>
            <a:r>
              <a:rPr baseline="30000" lang="en-GB"/>
              <a:t>2</a:t>
            </a:r>
            <a:endParaRPr/>
          </a:p>
        </p:txBody>
      </p:sp>
      <p:graphicFrame>
        <p:nvGraphicFramePr>
          <p:cNvPr id="935" name="Google Shape;935;p83"/>
          <p:cNvGraphicFramePr/>
          <p:nvPr/>
        </p:nvGraphicFramePr>
        <p:xfrm>
          <a:off x="1104900" y="2305050"/>
          <a:ext cx="3000000" cy="3000000"/>
        </p:xfrm>
        <a:graphic>
          <a:graphicData uri="http://schemas.openxmlformats.org/drawingml/2006/table">
            <a:tbl>
              <a:tblPr>
                <a:noFill/>
                <a:tableStyleId>{CDE52594-56CD-4313-810C-16913EC617E2}</a:tableStyleId>
              </a:tblPr>
              <a:tblGrid>
                <a:gridCol w="1147750"/>
                <a:gridCol w="1147750"/>
              </a:tblGrid>
              <a:tr h="381000">
                <a:tc>
                  <a:txBody>
                    <a:bodyPr/>
                    <a:lstStyle/>
                    <a:p>
                      <a:pPr indent="0" lvl="0" marL="0" rtl="0" algn="ctr">
                        <a:spcBef>
                          <a:spcPts val="0"/>
                        </a:spcBef>
                        <a:spcAft>
                          <a:spcPts val="0"/>
                        </a:spcAft>
                        <a:buNone/>
                      </a:pPr>
                      <a:r>
                        <a:rPr lang="en-GB" sz="1800">
                          <a:latin typeface="Lexend"/>
                          <a:ea typeface="Lexend"/>
                          <a:cs typeface="Lexend"/>
                          <a:sym typeface="Lexend"/>
                        </a:rPr>
                        <a:t>Acres</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m</a:t>
                      </a:r>
                      <a:r>
                        <a:rPr baseline="30000" lang="en-GB" sz="1800">
                          <a:latin typeface="Lexend"/>
                          <a:ea typeface="Lexend"/>
                          <a:cs typeface="Lexend"/>
                          <a:sym typeface="Lexend"/>
                        </a:rPr>
                        <a:t>2</a:t>
                      </a:r>
                      <a:endParaRPr baseline="30000"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4046.86</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36" name="Google Shape;936;p83"/>
          <p:cNvSpPr/>
          <p:nvPr/>
        </p:nvSpPr>
        <p:spPr>
          <a:xfrm rot="-5140094">
            <a:off x="1100785" y="2898526"/>
            <a:ext cx="472650" cy="699174"/>
          </a:xfrm>
          <a:prstGeom prst="arc">
            <a:avLst>
              <a:gd fmla="val 10729459" name="adj1"/>
              <a:gd fmla="val 415200" name="adj2"/>
            </a:avLst>
          </a:prstGeom>
          <a:noFill/>
          <a:ln cap="flat" cmpd="sng" w="38100">
            <a:solidFill>
              <a:srgbClr val="845AD9"/>
            </a:solidFill>
            <a:prstDash val="solid"/>
            <a:round/>
            <a:headEnd len="sm" w="sm" type="triangl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83"/>
          <p:cNvSpPr txBox="1"/>
          <p:nvPr/>
        </p:nvSpPr>
        <p:spPr>
          <a:xfrm>
            <a:off x="329777" y="2989949"/>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2.3</a:t>
            </a:r>
            <a:endParaRPr sz="1800">
              <a:solidFill>
                <a:schemeClr val="dk1"/>
              </a:solidFill>
              <a:latin typeface="Lexend"/>
              <a:ea typeface="Lexend"/>
              <a:cs typeface="Lexend"/>
              <a:sym typeface="Lexend"/>
            </a:endParaRPr>
          </a:p>
        </p:txBody>
      </p:sp>
      <p:grpSp>
        <p:nvGrpSpPr>
          <p:cNvPr id="938" name="Google Shape;938;p83"/>
          <p:cNvGrpSpPr/>
          <p:nvPr/>
        </p:nvGrpSpPr>
        <p:grpSpPr>
          <a:xfrm>
            <a:off x="2968650" y="2989949"/>
            <a:ext cx="1337027" cy="494551"/>
            <a:chOff x="2968650" y="2989949"/>
            <a:chExt cx="1337027" cy="494551"/>
          </a:xfrm>
        </p:grpSpPr>
        <p:sp>
          <p:nvSpPr>
            <p:cNvPr id="939" name="Google Shape;939;p83"/>
            <p:cNvSpPr/>
            <p:nvPr/>
          </p:nvSpPr>
          <p:spPr>
            <a:xfrm rot="5400000">
              <a:off x="3082050" y="2898600"/>
              <a:ext cx="472500" cy="699300"/>
            </a:xfrm>
            <a:prstGeom prst="arc">
              <a:avLst>
                <a:gd fmla="val 10729459" name="adj1"/>
                <a:gd fmla="val 415200"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0" name="Google Shape;940;p83"/>
            <p:cNvSpPr txBox="1"/>
            <p:nvPr/>
          </p:nvSpPr>
          <p:spPr>
            <a:xfrm>
              <a:off x="3606377" y="2989949"/>
              <a:ext cx="69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2.3</a:t>
              </a:r>
              <a:endParaRPr sz="1800">
                <a:solidFill>
                  <a:schemeClr val="dk1"/>
                </a:solidFill>
                <a:latin typeface="Lexend"/>
                <a:ea typeface="Lexend"/>
                <a:cs typeface="Lexend"/>
                <a:sym typeface="Lexend"/>
              </a:endParaRPr>
            </a:p>
          </p:txBody>
        </p:sp>
      </p:grpSp>
      <p:sp>
        <p:nvSpPr>
          <p:cNvPr id="941" name="Google Shape;941;p83"/>
          <p:cNvSpPr txBox="1"/>
          <p:nvPr/>
        </p:nvSpPr>
        <p:spPr>
          <a:xfrm>
            <a:off x="2264427" y="3218550"/>
            <a:ext cx="113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9307.778</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84"/>
          <p:cNvSpPr txBox="1"/>
          <p:nvPr>
            <p:ph idx="1" type="body"/>
          </p:nvPr>
        </p:nvSpPr>
        <p:spPr>
          <a:xfrm>
            <a:off x="324000" y="759300"/>
            <a:ext cx="8237700" cy="27243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a:t>In the UK crops are sold in tonnes.</a:t>
            </a:r>
            <a:endParaRPr/>
          </a:p>
          <a:p>
            <a:pPr indent="0" lvl="0" marL="0" rtl="0" algn="l">
              <a:lnSpc>
                <a:spcPct val="85000"/>
              </a:lnSpc>
              <a:spcBef>
                <a:spcPts val="1000"/>
              </a:spcBef>
              <a:spcAft>
                <a:spcPts val="0"/>
              </a:spcAft>
              <a:buNone/>
            </a:pPr>
            <a:r>
              <a:rPr lang="en-GB"/>
              <a:t>In the US crops are sold in bushels.</a:t>
            </a:r>
            <a:endParaRPr/>
          </a:p>
          <a:p>
            <a:pPr indent="0" lvl="0" marL="0" rtl="0" algn="l">
              <a:lnSpc>
                <a:spcPct val="85000"/>
              </a:lnSpc>
              <a:spcBef>
                <a:spcPts val="1000"/>
              </a:spcBef>
              <a:spcAft>
                <a:spcPts val="0"/>
              </a:spcAft>
              <a:buNone/>
            </a:pPr>
            <a:r>
              <a:rPr lang="en-GB"/>
              <a:t>It is important for farmers to be able to convert between tonnes and bushels so they can compare the markets.</a:t>
            </a:r>
            <a:endParaRPr/>
          </a:p>
          <a:p>
            <a:pPr indent="0" lvl="0" marL="0" rtl="0" algn="l">
              <a:lnSpc>
                <a:spcPct val="85000"/>
              </a:lnSpc>
              <a:spcBef>
                <a:spcPts val="1000"/>
              </a:spcBef>
              <a:spcAft>
                <a:spcPts val="0"/>
              </a:spcAft>
              <a:buNone/>
            </a:pPr>
            <a:r>
              <a:rPr lang="en-GB"/>
              <a:t>Since bushels are a measure of volume rather than mass, different crops have different conversion factors.</a:t>
            </a:r>
            <a:endParaRPr/>
          </a:p>
          <a:p>
            <a:pPr indent="0" lvl="0" marL="0" rtl="0" algn="l">
              <a:lnSpc>
                <a:spcPct val="85000"/>
              </a:lnSpc>
              <a:spcBef>
                <a:spcPts val="1000"/>
              </a:spcBef>
              <a:spcAft>
                <a:spcPts val="1000"/>
              </a:spcAft>
              <a:buNone/>
            </a:pPr>
            <a:r>
              <a:t/>
            </a:r>
            <a:endParaRPr/>
          </a:p>
        </p:txBody>
      </p:sp>
      <p:sp>
        <p:nvSpPr>
          <p:cNvPr id="947" name="Google Shape;947;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948" name="Google Shape;948;p84"/>
          <p:cNvGraphicFramePr/>
          <p:nvPr/>
        </p:nvGraphicFramePr>
        <p:xfrm>
          <a:off x="389448" y="297045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a:t>
                      </a:r>
                      <a:r>
                        <a:rPr lang="en-GB" sz="1700">
                          <a:latin typeface="Lexend"/>
                          <a:ea typeface="Lexend"/>
                          <a:cs typeface="Lexend"/>
                          <a:sym typeface="Lexend"/>
                        </a:rPr>
                        <a:t>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a:t>
                      </a:r>
                      <a:r>
                        <a:rPr lang="en-GB" sz="1700">
                          <a:solidFill>
                            <a:schemeClr val="dk1"/>
                          </a:solidFill>
                          <a:latin typeface="Lexend"/>
                          <a:ea typeface="Lexend"/>
                          <a:cs typeface="Lexend"/>
                          <a:sym typeface="Lexend"/>
                        </a:rPr>
                        <a:t>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Clr>
                          <a:schemeClr val="dk1"/>
                        </a:buClr>
                        <a:buSzPts val="1100"/>
                        <a:buFont typeface="Arial"/>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graphicFrame>
        <p:nvGraphicFramePr>
          <p:cNvPr id="953" name="Google Shape;953;p85"/>
          <p:cNvGraphicFramePr/>
          <p:nvPr/>
        </p:nvGraphicFramePr>
        <p:xfrm>
          <a:off x="4868523" y="6768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
        <p:nvSpPr>
          <p:cNvPr id="954" name="Google Shape;954;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955" name="Google Shape;955;p85"/>
          <p:cNvSpPr txBox="1"/>
          <p:nvPr>
            <p:ph idx="1" type="body"/>
          </p:nvPr>
        </p:nvSpPr>
        <p:spPr>
          <a:xfrm>
            <a:off x="324000" y="681750"/>
            <a:ext cx="4895700" cy="1345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$1 = £0.78</a:t>
            </a:r>
            <a:endParaRPr sz="1800"/>
          </a:p>
          <a:p>
            <a:pPr indent="0" lvl="0" marL="0" rtl="0" algn="l">
              <a:lnSpc>
                <a:spcPct val="100000"/>
              </a:lnSpc>
              <a:spcBef>
                <a:spcPts val="1000"/>
              </a:spcBef>
              <a:spcAft>
                <a:spcPts val="0"/>
              </a:spcAft>
              <a:buNone/>
            </a:pPr>
            <a:r>
              <a:rPr lang="en-GB" sz="1800"/>
              <a:t>Selling price per bushel = $5.86</a:t>
            </a:r>
            <a:endParaRPr sz="1800"/>
          </a:p>
          <a:p>
            <a:pPr indent="0" lvl="0" marL="0" rtl="0" algn="l">
              <a:lnSpc>
                <a:spcPct val="100000"/>
              </a:lnSpc>
              <a:spcBef>
                <a:spcPts val="1000"/>
              </a:spcBef>
              <a:spcAft>
                <a:spcPts val="1000"/>
              </a:spcAft>
              <a:buClr>
                <a:schemeClr val="dk1"/>
              </a:buClr>
              <a:buSzPts val="1100"/>
              <a:buFont typeface="Arial"/>
              <a:buNone/>
            </a:pPr>
            <a:r>
              <a:rPr lang="en-GB" sz="1800"/>
              <a:t>Selling price per tonne = £173</a:t>
            </a:r>
            <a:endParaRPr sz="1800"/>
          </a:p>
        </p:txBody>
      </p:sp>
      <p:sp>
        <p:nvSpPr>
          <p:cNvPr id="956" name="Google Shape;956;p85"/>
          <p:cNvSpPr txBox="1"/>
          <p:nvPr>
            <p:ph idx="1" type="body"/>
          </p:nvPr>
        </p:nvSpPr>
        <p:spPr>
          <a:xfrm>
            <a:off x="324000" y="2510550"/>
            <a:ext cx="8393100" cy="361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t>Are farmers in the US or UK getting a better rate of pay for their wheat?</a:t>
            </a:r>
            <a:endParaRPr sz="1800"/>
          </a:p>
        </p:txBody>
      </p:sp>
      <p:sp>
        <p:nvSpPr>
          <p:cNvPr id="957" name="Google Shape;957;p85"/>
          <p:cNvSpPr txBox="1"/>
          <p:nvPr>
            <p:ph idx="1" type="body"/>
          </p:nvPr>
        </p:nvSpPr>
        <p:spPr>
          <a:xfrm>
            <a:off x="324000" y="2873534"/>
            <a:ext cx="8393100" cy="7296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sz="1800">
                <a:latin typeface="Kalam"/>
                <a:ea typeface="Kalam"/>
                <a:cs typeface="Kalam"/>
                <a:sym typeface="Kalam"/>
              </a:rPr>
              <a:t>How many bushels of wheat are in a tonne?</a:t>
            </a:r>
            <a:endParaRPr sz="1800">
              <a:latin typeface="Kalam"/>
              <a:ea typeface="Kalam"/>
              <a:cs typeface="Kalam"/>
              <a:sym typeface="Kalam"/>
            </a:endParaRPr>
          </a:p>
          <a:p>
            <a:pPr indent="0" lvl="0" marL="0" rtl="0" algn="l">
              <a:lnSpc>
                <a:spcPct val="75000"/>
              </a:lnSpc>
              <a:spcBef>
                <a:spcPts val="1000"/>
              </a:spcBef>
              <a:spcAft>
                <a:spcPts val="0"/>
              </a:spcAft>
              <a:buNone/>
            </a:pPr>
            <a:r>
              <a:rPr lang="en-GB" sz="1800">
                <a:latin typeface="Kalam"/>
                <a:ea typeface="Kalam"/>
                <a:cs typeface="Kalam"/>
                <a:sym typeface="Kalam"/>
              </a:rPr>
              <a:t>1 ÷ 0.027216 = 36.743… </a:t>
            </a:r>
            <a:endParaRPr sz="1800">
              <a:latin typeface="Kalam"/>
              <a:ea typeface="Kalam"/>
              <a:cs typeface="Kalam"/>
              <a:sym typeface="Kalam"/>
            </a:endParaRPr>
          </a:p>
          <a:p>
            <a:pPr indent="0" lvl="0" marL="0" rtl="0" algn="l">
              <a:lnSpc>
                <a:spcPct val="75000"/>
              </a:lnSpc>
              <a:spcBef>
                <a:spcPts val="1000"/>
              </a:spcBef>
              <a:spcAft>
                <a:spcPts val="0"/>
              </a:spcAft>
              <a:buNone/>
            </a:pPr>
            <a:r>
              <a:rPr lang="en-GB" sz="1800">
                <a:latin typeface="Kalam"/>
                <a:ea typeface="Kalam"/>
                <a:cs typeface="Kalam"/>
                <a:sym typeface="Kalam"/>
              </a:rPr>
              <a:t>Price in dollars of a tonne = 36.743… × $5.86 = $215.314…</a:t>
            </a:r>
            <a:endParaRPr sz="1800">
              <a:latin typeface="Kalam"/>
              <a:ea typeface="Kalam"/>
              <a:cs typeface="Kalam"/>
              <a:sym typeface="Kalam"/>
            </a:endParaRPr>
          </a:p>
          <a:p>
            <a:pPr indent="0" lvl="0" marL="0" rtl="0" algn="l">
              <a:lnSpc>
                <a:spcPct val="75000"/>
              </a:lnSpc>
              <a:spcBef>
                <a:spcPts val="1000"/>
              </a:spcBef>
              <a:spcAft>
                <a:spcPts val="0"/>
              </a:spcAft>
              <a:buNone/>
            </a:pPr>
            <a:r>
              <a:rPr lang="en-GB" sz="1800">
                <a:latin typeface="Kalam"/>
                <a:ea typeface="Kalam"/>
                <a:cs typeface="Kalam"/>
                <a:sym typeface="Kalam"/>
              </a:rPr>
              <a:t>Convert $215.314… into pounds.</a:t>
            </a:r>
            <a:endParaRPr sz="1800">
              <a:latin typeface="Kalam"/>
              <a:ea typeface="Kalam"/>
              <a:cs typeface="Kalam"/>
              <a:sym typeface="Kalam"/>
            </a:endParaRPr>
          </a:p>
          <a:p>
            <a:pPr indent="0" lvl="0" marL="0" rtl="0" algn="l">
              <a:lnSpc>
                <a:spcPct val="75000"/>
              </a:lnSpc>
              <a:spcBef>
                <a:spcPts val="1000"/>
              </a:spcBef>
              <a:spcAft>
                <a:spcPts val="0"/>
              </a:spcAft>
              <a:buNone/>
            </a:pPr>
            <a:r>
              <a:rPr lang="en-GB" sz="1800">
                <a:latin typeface="Kalam"/>
                <a:ea typeface="Kalam"/>
                <a:cs typeface="Kalam"/>
                <a:sym typeface="Kalam"/>
              </a:rPr>
              <a:t>215.314… × 0.78 ≈ £167.95 </a:t>
            </a:r>
            <a:endParaRPr sz="1800">
              <a:latin typeface="Kalam"/>
              <a:ea typeface="Kalam"/>
              <a:cs typeface="Kalam"/>
              <a:sym typeface="Kalam"/>
            </a:endParaRPr>
          </a:p>
          <a:p>
            <a:pPr indent="0" lvl="0" marL="0" rtl="0" algn="l">
              <a:lnSpc>
                <a:spcPct val="75000"/>
              </a:lnSpc>
              <a:spcBef>
                <a:spcPts val="1000"/>
              </a:spcBef>
              <a:spcAft>
                <a:spcPts val="1000"/>
              </a:spcAft>
              <a:buNone/>
            </a:pPr>
            <a:r>
              <a:rPr lang="en-GB" sz="1800">
                <a:latin typeface="Kalam"/>
                <a:ea typeface="Kalam"/>
                <a:cs typeface="Kalam"/>
                <a:sym typeface="Kalam"/>
              </a:rPr>
              <a:t>The farmer in the UK is getting a better rate of pay.</a:t>
            </a:r>
            <a:endParaRPr sz="1800">
              <a:latin typeface="Kalam"/>
              <a:ea typeface="Kalam"/>
              <a:cs typeface="Kalam"/>
              <a:sym typeface="Kalam"/>
            </a:endParaRPr>
          </a:p>
        </p:txBody>
      </p:sp>
      <p:sp>
        <p:nvSpPr>
          <p:cNvPr id="958" name="Google Shape;958;p85"/>
          <p:cNvSpPr/>
          <p:nvPr/>
        </p:nvSpPr>
        <p:spPr>
          <a:xfrm>
            <a:off x="4868425" y="2160000"/>
            <a:ext cx="3843300" cy="294900"/>
          </a:xfrm>
          <a:prstGeom prst="rect">
            <a:avLst/>
          </a:prstGeom>
          <a:solidFill>
            <a:srgbClr val="845AD9">
              <a:alpha val="50309"/>
            </a:srgbClr>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graphicFrame>
        <p:nvGraphicFramePr>
          <p:cNvPr id="963" name="Google Shape;963;p86"/>
          <p:cNvGraphicFramePr/>
          <p:nvPr/>
        </p:nvGraphicFramePr>
        <p:xfrm>
          <a:off x="4868523" y="6768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bl>
          </a:graphicData>
        </a:graphic>
      </p:graphicFrame>
      <p:sp>
        <p:nvSpPr>
          <p:cNvPr id="964" name="Google Shape;964;p86"/>
          <p:cNvSpPr txBox="1"/>
          <p:nvPr>
            <p:ph idx="1" type="subTitle"/>
          </p:nvPr>
        </p:nvSpPr>
        <p:spPr>
          <a:xfrm>
            <a:off x="324000" y="3119925"/>
            <a:ext cx="8109300" cy="7308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Clr>
                <a:schemeClr val="dk1"/>
              </a:buClr>
              <a:buSzPts val="1100"/>
              <a:buFont typeface="Arial"/>
              <a:buNone/>
            </a:pPr>
            <a:r>
              <a:rPr lang="en-GB" sz="2000"/>
              <a:t>1 ÷ 0.021772 = 45.93…</a:t>
            </a:r>
            <a:endParaRPr sz="2000"/>
          </a:p>
          <a:p>
            <a:pPr indent="0" lvl="0" marL="0" rtl="0" algn="l">
              <a:lnSpc>
                <a:spcPct val="75000"/>
              </a:lnSpc>
              <a:spcBef>
                <a:spcPts val="1000"/>
              </a:spcBef>
              <a:spcAft>
                <a:spcPts val="0"/>
              </a:spcAft>
              <a:buClr>
                <a:schemeClr val="dk1"/>
              </a:buClr>
              <a:buSzPts val="1100"/>
              <a:buFont typeface="Arial"/>
              <a:buNone/>
            </a:pPr>
            <a:r>
              <a:rPr lang="en-GB" sz="2000"/>
              <a:t>Price in dollars of a tonne  = 45.93… × $7.38 = $338.967…</a:t>
            </a:r>
            <a:endParaRPr sz="2000"/>
          </a:p>
          <a:p>
            <a:pPr indent="0" lvl="0" marL="0" rtl="0" algn="l">
              <a:lnSpc>
                <a:spcPct val="75000"/>
              </a:lnSpc>
              <a:spcBef>
                <a:spcPts val="1000"/>
              </a:spcBef>
              <a:spcAft>
                <a:spcPts val="0"/>
              </a:spcAft>
              <a:buClr>
                <a:schemeClr val="dk1"/>
              </a:buClr>
              <a:buSzPts val="1100"/>
              <a:buFont typeface="Arial"/>
              <a:buNone/>
            </a:pPr>
            <a:r>
              <a:rPr lang="en-GB" sz="2000"/>
              <a:t>338.967… × 0.78 ≈ £264.39</a:t>
            </a:r>
            <a:endParaRPr sz="2000"/>
          </a:p>
          <a:p>
            <a:pPr indent="0" lvl="0" marL="0" rtl="0" algn="l">
              <a:lnSpc>
                <a:spcPct val="75000"/>
              </a:lnSpc>
              <a:spcBef>
                <a:spcPts val="1000"/>
              </a:spcBef>
              <a:spcAft>
                <a:spcPts val="0"/>
              </a:spcAft>
              <a:buClr>
                <a:schemeClr val="dk1"/>
              </a:buClr>
              <a:buSzPts val="1100"/>
              <a:buFont typeface="Arial"/>
              <a:buNone/>
            </a:pPr>
            <a:r>
              <a:rPr lang="en-GB" sz="2000"/>
              <a:t>The farmer in the US is getting a better rate of pay.</a:t>
            </a:r>
            <a:endParaRPr sz="2000"/>
          </a:p>
          <a:p>
            <a:pPr indent="0" lvl="0" marL="0" rtl="0" algn="l">
              <a:spcBef>
                <a:spcPts val="1000"/>
              </a:spcBef>
              <a:spcAft>
                <a:spcPts val="1000"/>
              </a:spcAft>
              <a:buNone/>
            </a:pPr>
            <a:r>
              <a:t/>
            </a:r>
            <a:endParaRPr sz="2000"/>
          </a:p>
        </p:txBody>
      </p:sp>
      <p:sp>
        <p:nvSpPr>
          <p:cNvPr id="965" name="Google Shape;965;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966" name="Google Shape;966;p86"/>
          <p:cNvSpPr txBox="1"/>
          <p:nvPr>
            <p:ph idx="4294967295" type="body"/>
          </p:nvPr>
        </p:nvSpPr>
        <p:spPr>
          <a:xfrm>
            <a:off x="324000" y="1044734"/>
            <a:ext cx="4895700" cy="13455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0"/>
              </a:spcAft>
              <a:buNone/>
            </a:pPr>
            <a:r>
              <a:rPr lang="en-GB" sz="1800"/>
              <a:t>The price is better in the US.</a:t>
            </a:r>
            <a:endParaRPr sz="1800"/>
          </a:p>
          <a:p>
            <a:pPr indent="0" lvl="0" marL="0" rtl="0" algn="l">
              <a:lnSpc>
                <a:spcPct val="60000"/>
              </a:lnSpc>
              <a:spcBef>
                <a:spcPts val="1000"/>
              </a:spcBef>
              <a:spcAft>
                <a:spcPts val="0"/>
              </a:spcAft>
              <a:buNone/>
            </a:pPr>
            <a:r>
              <a:rPr lang="en-GB" sz="1800"/>
              <a:t>$1 = £0.78</a:t>
            </a:r>
            <a:endParaRPr sz="1800"/>
          </a:p>
          <a:p>
            <a:pPr indent="0" lvl="0" marL="0" rtl="0" algn="l">
              <a:lnSpc>
                <a:spcPct val="60000"/>
              </a:lnSpc>
              <a:spcBef>
                <a:spcPts val="1000"/>
              </a:spcBef>
              <a:spcAft>
                <a:spcPts val="0"/>
              </a:spcAft>
              <a:buNone/>
            </a:pPr>
            <a:r>
              <a:rPr lang="en-GB" sz="1800"/>
              <a:t>Selling price per bushel = $7.38</a:t>
            </a:r>
            <a:endParaRPr sz="1800"/>
          </a:p>
          <a:p>
            <a:pPr indent="0" lvl="0" marL="0" rtl="0" algn="l">
              <a:lnSpc>
                <a:spcPct val="60000"/>
              </a:lnSpc>
              <a:spcBef>
                <a:spcPts val="1000"/>
              </a:spcBef>
              <a:spcAft>
                <a:spcPts val="1000"/>
              </a:spcAft>
              <a:buNone/>
            </a:pPr>
            <a:r>
              <a:rPr lang="en-GB" sz="1800"/>
              <a:t>Selling price per tonne = £156</a:t>
            </a:r>
            <a:endParaRPr sz="1800"/>
          </a:p>
        </p:txBody>
      </p:sp>
      <p:pic>
        <p:nvPicPr>
          <p:cNvPr id="967" name="Google Shape;967;p86"/>
          <p:cNvPicPr preferRelativeResize="0"/>
          <p:nvPr/>
        </p:nvPicPr>
        <p:blipFill>
          <a:blip r:embed="rId3">
            <a:alphaModFix/>
          </a:blip>
          <a:stretch>
            <a:fillRect/>
          </a:stretch>
        </p:blipFill>
        <p:spPr>
          <a:xfrm>
            <a:off x="3838358" y="21600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973" name="Google Shape;973;p87"/>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
        <p:nvSpPr>
          <p:cNvPr id="974" name="Google Shape;974;p87"/>
          <p:cNvSpPr txBox="1"/>
          <p:nvPr>
            <p:ph idx="1" type="body"/>
          </p:nvPr>
        </p:nvSpPr>
        <p:spPr>
          <a:xfrm>
            <a:off x="324000" y="759300"/>
            <a:ext cx="4248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Which farmer is getting the best price for oats?</a:t>
            </a:r>
            <a:endParaRPr/>
          </a:p>
          <a:p>
            <a:pPr indent="0" lvl="0" marL="0" rtl="0" algn="l">
              <a:spcBef>
                <a:spcPts val="1000"/>
              </a:spcBef>
              <a:spcAft>
                <a:spcPts val="0"/>
              </a:spcAft>
              <a:buNone/>
            </a:pPr>
            <a:r>
              <a:rPr lang="en-GB"/>
              <a:t>$1 = £0.78</a:t>
            </a:r>
            <a:endParaRPr/>
          </a:p>
          <a:p>
            <a:pPr indent="0" lvl="0" marL="0" rtl="0" algn="l">
              <a:spcBef>
                <a:spcPts val="1000"/>
              </a:spcBef>
              <a:spcAft>
                <a:spcPts val="0"/>
              </a:spcAft>
              <a:buNone/>
            </a:pPr>
            <a:r>
              <a:rPr lang="en-GB"/>
              <a:t>Selling price per bushel = $3.06</a:t>
            </a:r>
            <a:endParaRPr/>
          </a:p>
          <a:p>
            <a:pPr indent="0" lvl="0" marL="0" rtl="0" algn="l">
              <a:spcBef>
                <a:spcPts val="1000"/>
              </a:spcBef>
              <a:spcAft>
                <a:spcPts val="1000"/>
              </a:spcAft>
              <a:buNone/>
            </a:pPr>
            <a:r>
              <a:rPr lang="en-GB"/>
              <a:t>Selling price per tonne = £274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980" name="Google Shape;980;p88"/>
          <p:cNvSpPr txBox="1"/>
          <p:nvPr>
            <p:ph idx="1" type="body"/>
          </p:nvPr>
        </p:nvSpPr>
        <p:spPr>
          <a:xfrm>
            <a:off x="324000" y="759300"/>
            <a:ext cx="43065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$1 = £0.78</a:t>
            </a:r>
            <a:endParaRPr/>
          </a:p>
          <a:p>
            <a:pPr indent="0" lvl="0" marL="0" rtl="0" algn="l">
              <a:spcBef>
                <a:spcPts val="1000"/>
              </a:spcBef>
              <a:spcAft>
                <a:spcPts val="0"/>
              </a:spcAft>
              <a:buNone/>
            </a:pPr>
            <a:r>
              <a:rPr lang="en-GB"/>
              <a:t>Selling price per bushel = $3.78</a:t>
            </a:r>
            <a:endParaRPr/>
          </a:p>
          <a:p>
            <a:pPr indent="0" lvl="0" marL="0" rtl="0" algn="l">
              <a:spcBef>
                <a:spcPts val="1000"/>
              </a:spcBef>
              <a:spcAft>
                <a:spcPts val="0"/>
              </a:spcAft>
              <a:buNone/>
            </a:pPr>
            <a:r>
              <a:rPr lang="en-GB"/>
              <a:t>What is the minimum selling price per tonne of corn in the UK, to make the UK price better?  Give your answer to the nearest pound.</a:t>
            </a:r>
            <a:endParaRPr/>
          </a:p>
          <a:p>
            <a:pPr indent="0" lvl="0" marL="0" rtl="0" algn="l">
              <a:spcBef>
                <a:spcPts val="1000"/>
              </a:spcBef>
              <a:spcAft>
                <a:spcPts val="1000"/>
              </a:spcAft>
              <a:buNone/>
            </a:pPr>
            <a:r>
              <a:t/>
            </a:r>
            <a:endParaRPr/>
          </a:p>
        </p:txBody>
      </p:sp>
      <p:graphicFrame>
        <p:nvGraphicFramePr>
          <p:cNvPr id="981" name="Google Shape;981;p88"/>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987" name="Google Shape;987;p89"/>
          <p:cNvSpPr txBox="1"/>
          <p:nvPr>
            <p:ph idx="1" type="body"/>
          </p:nvPr>
        </p:nvSpPr>
        <p:spPr>
          <a:xfrm>
            <a:off x="324000" y="759300"/>
            <a:ext cx="4248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$1 = £0.78</a:t>
            </a:r>
            <a:endParaRPr/>
          </a:p>
          <a:p>
            <a:pPr indent="0" lvl="0" marL="0" rtl="0" algn="l">
              <a:spcBef>
                <a:spcPts val="1000"/>
              </a:spcBef>
              <a:spcAft>
                <a:spcPts val="0"/>
              </a:spcAft>
              <a:buNone/>
            </a:pPr>
            <a:r>
              <a:rPr lang="en-GB"/>
              <a:t>Selling price per tonne = £153</a:t>
            </a:r>
            <a:endParaRPr/>
          </a:p>
          <a:p>
            <a:pPr indent="0" lvl="0" marL="0" rtl="0" algn="l">
              <a:spcBef>
                <a:spcPts val="1000"/>
              </a:spcBef>
              <a:spcAft>
                <a:spcPts val="0"/>
              </a:spcAft>
              <a:buNone/>
            </a:pPr>
            <a:r>
              <a:rPr lang="en-GB"/>
              <a:t>What is the minimum selling price per bushel of soybeans in the US, to make the US price better?  Give your answer to the nearest cent.</a:t>
            </a:r>
            <a:endParaRPr/>
          </a:p>
          <a:p>
            <a:pPr indent="0" lvl="0" marL="0" rtl="0" algn="l">
              <a:spcBef>
                <a:spcPts val="1000"/>
              </a:spcBef>
              <a:spcAft>
                <a:spcPts val="1000"/>
              </a:spcAft>
              <a:buNone/>
            </a:pPr>
            <a:r>
              <a:t/>
            </a:r>
            <a:endParaRPr/>
          </a:p>
        </p:txBody>
      </p:sp>
      <p:graphicFrame>
        <p:nvGraphicFramePr>
          <p:cNvPr id="988" name="Google Shape;988;p89"/>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994" name="Google Shape;994;p90"/>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
        <p:nvSpPr>
          <p:cNvPr id="995" name="Google Shape;995;p90"/>
          <p:cNvSpPr txBox="1"/>
          <p:nvPr>
            <p:ph idx="1" type="body"/>
          </p:nvPr>
        </p:nvSpPr>
        <p:spPr>
          <a:xfrm>
            <a:off x="324000" y="759300"/>
            <a:ext cx="4500000" cy="229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Which farmer is getting the best price for oats?</a:t>
            </a:r>
            <a:endParaRPr/>
          </a:p>
          <a:p>
            <a:pPr indent="0" lvl="0" marL="0" rtl="0" algn="l">
              <a:spcBef>
                <a:spcPts val="1000"/>
              </a:spcBef>
              <a:spcAft>
                <a:spcPts val="0"/>
              </a:spcAft>
              <a:buNone/>
            </a:pPr>
            <a:r>
              <a:rPr lang="en-GB"/>
              <a:t>$1 = £0.78</a:t>
            </a:r>
            <a:endParaRPr/>
          </a:p>
          <a:p>
            <a:pPr indent="0" lvl="0" marL="0" rtl="0" algn="l">
              <a:spcBef>
                <a:spcPts val="1000"/>
              </a:spcBef>
              <a:spcAft>
                <a:spcPts val="0"/>
              </a:spcAft>
              <a:buNone/>
            </a:pPr>
            <a:r>
              <a:rPr lang="en-GB"/>
              <a:t>Selling price per bushel = $3.06</a:t>
            </a:r>
            <a:endParaRPr/>
          </a:p>
          <a:p>
            <a:pPr indent="0" lvl="0" marL="0" rtl="0" algn="l">
              <a:spcBef>
                <a:spcPts val="1000"/>
              </a:spcBef>
              <a:spcAft>
                <a:spcPts val="1000"/>
              </a:spcAft>
              <a:buNone/>
            </a:pPr>
            <a:r>
              <a:rPr lang="en-GB"/>
              <a:t>Selling price per tonne = £274</a:t>
            </a:r>
            <a:endParaRPr/>
          </a:p>
        </p:txBody>
      </p:sp>
      <p:sp>
        <p:nvSpPr>
          <p:cNvPr id="996" name="Google Shape;996;p90"/>
          <p:cNvSpPr txBox="1"/>
          <p:nvPr>
            <p:ph idx="4294967295" type="subTitle"/>
          </p:nvPr>
        </p:nvSpPr>
        <p:spPr>
          <a:xfrm>
            <a:off x="324000" y="3348525"/>
            <a:ext cx="8109300" cy="7308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a:latin typeface="Kalam"/>
                <a:ea typeface="Kalam"/>
                <a:cs typeface="Kalam"/>
                <a:sym typeface="Kalam"/>
              </a:rPr>
              <a:t>1 ÷ 0.014515 = 68.894…</a:t>
            </a:r>
            <a:endParaRPr>
              <a:latin typeface="Kalam"/>
              <a:ea typeface="Kalam"/>
              <a:cs typeface="Kalam"/>
              <a:sym typeface="Kalam"/>
            </a:endParaRPr>
          </a:p>
          <a:p>
            <a:pPr indent="0" lvl="0" marL="0" rtl="0" algn="l">
              <a:lnSpc>
                <a:spcPct val="75000"/>
              </a:lnSpc>
              <a:spcBef>
                <a:spcPts val="1000"/>
              </a:spcBef>
              <a:spcAft>
                <a:spcPts val="0"/>
              </a:spcAft>
              <a:buNone/>
            </a:pPr>
            <a:r>
              <a:rPr lang="en-GB">
                <a:latin typeface="Kalam"/>
                <a:ea typeface="Kalam"/>
                <a:cs typeface="Kalam"/>
                <a:sym typeface="Kalam"/>
              </a:rPr>
              <a:t>Price in dollars of a tonne	= 68.894… × $3.06 = $210.816…</a:t>
            </a:r>
            <a:endParaRPr>
              <a:latin typeface="Kalam"/>
              <a:ea typeface="Kalam"/>
              <a:cs typeface="Kalam"/>
              <a:sym typeface="Kalam"/>
            </a:endParaRPr>
          </a:p>
          <a:p>
            <a:pPr indent="0" lvl="0" marL="0" rtl="0" algn="l">
              <a:lnSpc>
                <a:spcPct val="75000"/>
              </a:lnSpc>
              <a:spcBef>
                <a:spcPts val="1000"/>
              </a:spcBef>
              <a:spcAft>
                <a:spcPts val="0"/>
              </a:spcAft>
              <a:buNone/>
            </a:pPr>
            <a:r>
              <a:rPr lang="en-GB">
                <a:latin typeface="Kalam"/>
                <a:ea typeface="Kalam"/>
                <a:cs typeface="Kalam"/>
                <a:sym typeface="Kalam"/>
              </a:rPr>
              <a:t>210.816… × 0.78 ≈ £164.44</a:t>
            </a:r>
            <a:endParaRPr>
              <a:latin typeface="Kalam"/>
              <a:ea typeface="Kalam"/>
              <a:cs typeface="Kalam"/>
              <a:sym typeface="Kalam"/>
            </a:endParaRPr>
          </a:p>
          <a:p>
            <a:pPr indent="0" lvl="0" marL="0" rtl="0" algn="l">
              <a:lnSpc>
                <a:spcPct val="75000"/>
              </a:lnSpc>
              <a:spcBef>
                <a:spcPts val="1000"/>
              </a:spcBef>
              <a:spcAft>
                <a:spcPts val="0"/>
              </a:spcAft>
              <a:buNone/>
            </a:pPr>
            <a:r>
              <a:rPr lang="en-GB">
                <a:latin typeface="Kalam"/>
                <a:ea typeface="Kalam"/>
                <a:cs typeface="Kalam"/>
                <a:sym typeface="Kalam"/>
              </a:rPr>
              <a:t>The farmer in the UK is getting a better rate of pay.</a:t>
            </a:r>
            <a:endParaRPr>
              <a:latin typeface="Kalam"/>
              <a:ea typeface="Kalam"/>
              <a:cs typeface="Kalam"/>
              <a:sym typeface="Kalam"/>
            </a:endParaRPr>
          </a:p>
          <a:p>
            <a:pPr indent="0" lvl="0" marL="0" rtl="0" algn="l">
              <a:spcBef>
                <a:spcPts val="1000"/>
              </a:spcBef>
              <a:spcAft>
                <a:spcPts val="1000"/>
              </a:spcAft>
              <a:buNone/>
            </a:pPr>
            <a:r>
              <a:t/>
            </a:r>
            <a:endParaRPr>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1002" name="Google Shape;1002;p91"/>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
        <p:nvSpPr>
          <p:cNvPr id="1003" name="Google Shape;1003;p91"/>
          <p:cNvSpPr txBox="1"/>
          <p:nvPr>
            <p:ph idx="1" type="body"/>
          </p:nvPr>
        </p:nvSpPr>
        <p:spPr>
          <a:xfrm>
            <a:off x="324000" y="759300"/>
            <a:ext cx="43065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$1 = £0.78</a:t>
            </a:r>
            <a:endParaRPr/>
          </a:p>
          <a:p>
            <a:pPr indent="0" lvl="0" marL="0" rtl="0" algn="l">
              <a:spcBef>
                <a:spcPts val="1000"/>
              </a:spcBef>
              <a:spcAft>
                <a:spcPts val="0"/>
              </a:spcAft>
              <a:buNone/>
            </a:pPr>
            <a:r>
              <a:rPr lang="en-GB"/>
              <a:t>Selling price per bushel = $3.78</a:t>
            </a:r>
            <a:endParaRPr/>
          </a:p>
          <a:p>
            <a:pPr indent="0" lvl="0" marL="0" rtl="0" algn="l">
              <a:spcBef>
                <a:spcPts val="1000"/>
              </a:spcBef>
              <a:spcAft>
                <a:spcPts val="0"/>
              </a:spcAft>
              <a:buNone/>
            </a:pPr>
            <a:r>
              <a:rPr lang="en-GB"/>
              <a:t>What is the minimum selling price per tonne of corn in the UK, to make the UK price better?  Give your answer to the nearest pound.</a:t>
            </a:r>
            <a:endParaRPr/>
          </a:p>
          <a:p>
            <a:pPr indent="0" lvl="0" marL="0" rtl="0" algn="l">
              <a:spcBef>
                <a:spcPts val="1000"/>
              </a:spcBef>
              <a:spcAft>
                <a:spcPts val="1000"/>
              </a:spcAft>
              <a:buNone/>
            </a:pPr>
            <a:r>
              <a:t/>
            </a:r>
            <a:endParaRPr/>
          </a:p>
        </p:txBody>
      </p:sp>
      <p:sp>
        <p:nvSpPr>
          <p:cNvPr id="1004" name="Google Shape;1004;p91"/>
          <p:cNvSpPr txBox="1"/>
          <p:nvPr>
            <p:ph idx="4294967295" type="subTitle"/>
          </p:nvPr>
        </p:nvSpPr>
        <p:spPr>
          <a:xfrm>
            <a:off x="4824000" y="2700000"/>
            <a:ext cx="3996000" cy="13794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a:latin typeface="Kalam"/>
                <a:ea typeface="Kalam"/>
                <a:cs typeface="Kalam"/>
                <a:sym typeface="Kalam"/>
              </a:rPr>
              <a:t>1 ÷ 0.0254 = 39.37… </a:t>
            </a:r>
            <a:endParaRPr>
              <a:latin typeface="Kalam"/>
              <a:ea typeface="Kalam"/>
              <a:cs typeface="Kalam"/>
              <a:sym typeface="Kalam"/>
            </a:endParaRPr>
          </a:p>
          <a:p>
            <a:pPr indent="0" lvl="0" marL="0" rtl="0" algn="l">
              <a:lnSpc>
                <a:spcPct val="75000"/>
              </a:lnSpc>
              <a:spcBef>
                <a:spcPts val="1000"/>
              </a:spcBef>
              <a:spcAft>
                <a:spcPts val="0"/>
              </a:spcAft>
              <a:buNone/>
            </a:pPr>
            <a:r>
              <a:rPr lang="en-GB">
                <a:latin typeface="Kalam"/>
                <a:ea typeface="Kalam"/>
                <a:cs typeface="Kalam"/>
                <a:sym typeface="Kalam"/>
              </a:rPr>
              <a:t>Price in dollars of a tonne	</a:t>
            </a:r>
            <a:br>
              <a:rPr lang="en-GB">
                <a:latin typeface="Kalam"/>
                <a:ea typeface="Kalam"/>
                <a:cs typeface="Kalam"/>
                <a:sym typeface="Kalam"/>
              </a:rPr>
            </a:br>
            <a:r>
              <a:rPr lang="en-GB">
                <a:latin typeface="Kalam"/>
                <a:ea typeface="Kalam"/>
                <a:cs typeface="Kalam"/>
                <a:sym typeface="Kalam"/>
              </a:rPr>
              <a:t>= 39.37… × $3.78 = $148.818…</a:t>
            </a:r>
            <a:endParaRPr>
              <a:latin typeface="Kalam"/>
              <a:ea typeface="Kalam"/>
              <a:cs typeface="Kalam"/>
              <a:sym typeface="Kalam"/>
            </a:endParaRPr>
          </a:p>
          <a:p>
            <a:pPr indent="0" lvl="0" marL="0" rtl="0" algn="l">
              <a:lnSpc>
                <a:spcPct val="75000"/>
              </a:lnSpc>
              <a:spcBef>
                <a:spcPts val="1000"/>
              </a:spcBef>
              <a:spcAft>
                <a:spcPts val="0"/>
              </a:spcAft>
              <a:buNone/>
            </a:pPr>
            <a:r>
              <a:rPr lang="en-GB">
                <a:latin typeface="Kalam"/>
                <a:ea typeface="Kalam"/>
                <a:cs typeface="Kalam"/>
                <a:sym typeface="Kalam"/>
              </a:rPr>
              <a:t>148.818… × 0.78 = £116.078…</a:t>
            </a:r>
            <a:endParaRPr>
              <a:latin typeface="Kalam"/>
              <a:ea typeface="Kalam"/>
              <a:cs typeface="Kalam"/>
              <a:sym typeface="Kalam"/>
            </a:endParaRPr>
          </a:p>
          <a:p>
            <a:pPr indent="0" lvl="0" marL="0" rtl="0" algn="l">
              <a:lnSpc>
                <a:spcPct val="75000"/>
              </a:lnSpc>
              <a:spcBef>
                <a:spcPts val="1000"/>
              </a:spcBef>
              <a:spcAft>
                <a:spcPts val="1000"/>
              </a:spcAft>
              <a:buNone/>
            </a:pPr>
            <a:r>
              <a:rPr lang="en-GB">
                <a:latin typeface="Kalam"/>
                <a:ea typeface="Kalam"/>
                <a:cs typeface="Kalam"/>
                <a:sym typeface="Kalam"/>
              </a:rPr>
              <a:t>£117 per tonne (needs to be more than £116)</a:t>
            </a:r>
            <a:endParaRPr>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graphicFrame>
        <p:nvGraphicFramePr>
          <p:cNvPr id="1010" name="Google Shape;1010;p92"/>
          <p:cNvGraphicFramePr/>
          <p:nvPr/>
        </p:nvGraphicFramePr>
        <p:xfrm>
          <a:off x="4868523" y="753000"/>
          <a:ext cx="3000000" cy="3000000"/>
        </p:xfrm>
        <a:graphic>
          <a:graphicData uri="http://schemas.openxmlformats.org/drawingml/2006/table">
            <a:tbl>
              <a:tblPr>
                <a:noFill/>
                <a:tableStyleId>{CDE52594-56CD-4313-810C-16913EC617E2}</a:tableStyleId>
              </a:tblPr>
              <a:tblGrid>
                <a:gridCol w="1236675"/>
                <a:gridCol w="2606475"/>
              </a:tblGrid>
              <a:tr h="251050">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Crop</a:t>
                      </a:r>
                      <a:endParaRPr sz="1700">
                        <a:solidFill>
                          <a:schemeClr val="lt1"/>
                        </a:solidFill>
                        <a:latin typeface="Lexend"/>
                        <a:ea typeface="Lexend"/>
                        <a:cs typeface="Lexend"/>
                        <a:sym typeface="Lexend"/>
                      </a:endParaRPr>
                    </a:p>
                  </a:txBody>
                  <a:tcPr marT="18000" marB="18000" marR="91425" marL="91425">
                    <a:solidFill>
                      <a:schemeClr val="accent4"/>
                    </a:solidFill>
                  </a:tcPr>
                </a:tc>
                <a:tc>
                  <a:txBody>
                    <a:bodyPr/>
                    <a:lstStyle/>
                    <a:p>
                      <a:pPr indent="0" lvl="0" marL="0" rtl="0" algn="l">
                        <a:spcBef>
                          <a:spcPts val="0"/>
                        </a:spcBef>
                        <a:spcAft>
                          <a:spcPts val="0"/>
                        </a:spcAft>
                        <a:buNone/>
                      </a:pPr>
                      <a:r>
                        <a:rPr lang="en-GB" sz="1700">
                          <a:solidFill>
                            <a:schemeClr val="lt1"/>
                          </a:solidFill>
                          <a:latin typeface="Lexend"/>
                          <a:ea typeface="Lexend"/>
                          <a:cs typeface="Lexend"/>
                          <a:sym typeface="Lexend"/>
                        </a:rPr>
                        <a:t>Bushel (bu) to tonne (t)</a:t>
                      </a:r>
                      <a:endParaRPr sz="1700">
                        <a:solidFill>
                          <a:schemeClr val="lt1"/>
                        </a:solidFill>
                        <a:latin typeface="Lexend"/>
                        <a:ea typeface="Lexend"/>
                        <a:cs typeface="Lexend"/>
                        <a:sym typeface="Lexend"/>
                      </a:endParaRPr>
                    </a:p>
                  </a:txBody>
                  <a:tcPr marT="18000" marB="18000" marR="91425" marL="91425">
                    <a:solidFill>
                      <a:schemeClr val="accent4"/>
                    </a:solidFill>
                  </a:tcPr>
                </a:tc>
              </a:tr>
              <a:tr h="251050">
                <a:tc>
                  <a:txBody>
                    <a:bodyPr/>
                    <a:lstStyle/>
                    <a:p>
                      <a:pPr indent="0" lvl="0" marL="0" rtl="0" algn="l">
                        <a:spcBef>
                          <a:spcPts val="0"/>
                        </a:spcBef>
                        <a:spcAft>
                          <a:spcPts val="0"/>
                        </a:spcAft>
                        <a:buNone/>
                      </a:pPr>
                      <a:r>
                        <a:rPr lang="en-GB" sz="1700">
                          <a:latin typeface="Lexend"/>
                          <a:ea typeface="Lexend"/>
                          <a:cs typeface="Lexend"/>
                          <a:sym typeface="Lexend"/>
                        </a:rPr>
                        <a:t>Barley</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latin typeface="Lexend"/>
                          <a:ea typeface="Lexend"/>
                          <a:cs typeface="Lexend"/>
                          <a:sym typeface="Lexend"/>
                        </a:rPr>
                        <a:t>1 bu = 0.021772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Corn</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0.0254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Oats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0.014515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Soybeans</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r h="251050">
                <a:tc>
                  <a:txBody>
                    <a:bodyPr/>
                    <a:lstStyle/>
                    <a:p>
                      <a:pPr indent="0" lvl="0" marL="0" rtl="0" algn="l">
                        <a:spcBef>
                          <a:spcPts val="0"/>
                        </a:spcBef>
                        <a:spcAft>
                          <a:spcPts val="0"/>
                        </a:spcAft>
                        <a:buNone/>
                      </a:pPr>
                      <a:r>
                        <a:rPr lang="en-GB" sz="1700">
                          <a:latin typeface="Lexend"/>
                          <a:ea typeface="Lexend"/>
                          <a:cs typeface="Lexend"/>
                          <a:sym typeface="Lexend"/>
                        </a:rPr>
                        <a:t>Wheat</a:t>
                      </a:r>
                      <a:endParaRPr sz="1700">
                        <a:latin typeface="Lexend"/>
                        <a:ea typeface="Lexend"/>
                        <a:cs typeface="Lexend"/>
                        <a:sym typeface="Lexend"/>
                      </a:endParaRPr>
                    </a:p>
                  </a:txBody>
                  <a:tcPr marT="18000" marB="18000" marR="91425" marL="91425"/>
                </a:tc>
                <a:tc>
                  <a:txBody>
                    <a:bodyPr/>
                    <a:lstStyle/>
                    <a:p>
                      <a:pPr indent="0" lvl="0" marL="0" rtl="0" algn="l">
                        <a:spcBef>
                          <a:spcPts val="0"/>
                        </a:spcBef>
                        <a:spcAft>
                          <a:spcPts val="0"/>
                        </a:spcAft>
                        <a:buNone/>
                      </a:pPr>
                      <a:r>
                        <a:rPr lang="en-GB" sz="1700">
                          <a:solidFill>
                            <a:schemeClr val="dk1"/>
                          </a:solidFill>
                          <a:latin typeface="Lexend"/>
                          <a:ea typeface="Lexend"/>
                          <a:cs typeface="Lexend"/>
                          <a:sym typeface="Lexend"/>
                        </a:rPr>
                        <a:t>1 bu = 0.027216 t</a:t>
                      </a:r>
                      <a:endParaRPr sz="1700">
                        <a:latin typeface="Lexend"/>
                        <a:ea typeface="Lexend"/>
                        <a:cs typeface="Lexend"/>
                        <a:sym typeface="Lexend"/>
                      </a:endParaRPr>
                    </a:p>
                  </a:txBody>
                  <a:tcPr marT="18000" marB="18000" marR="91425" marL="91425"/>
                </a:tc>
              </a:tr>
            </a:tbl>
          </a:graphicData>
        </a:graphic>
      </p:graphicFrame>
      <p:sp>
        <p:nvSpPr>
          <p:cNvPr id="1011" name="Google Shape;1011;p92"/>
          <p:cNvSpPr txBox="1"/>
          <p:nvPr>
            <p:ph idx="1" type="body"/>
          </p:nvPr>
        </p:nvSpPr>
        <p:spPr>
          <a:xfrm>
            <a:off x="324000" y="759300"/>
            <a:ext cx="4248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3) $1 = £0.78</a:t>
            </a:r>
            <a:endParaRPr/>
          </a:p>
          <a:p>
            <a:pPr indent="0" lvl="0" marL="0" rtl="0" algn="l">
              <a:spcBef>
                <a:spcPts val="1000"/>
              </a:spcBef>
              <a:spcAft>
                <a:spcPts val="0"/>
              </a:spcAft>
              <a:buNone/>
            </a:pPr>
            <a:r>
              <a:rPr lang="en-GB"/>
              <a:t>Selling price per tonne = £153</a:t>
            </a:r>
            <a:endParaRPr/>
          </a:p>
          <a:p>
            <a:pPr indent="0" lvl="0" marL="0" rtl="0" algn="l">
              <a:spcBef>
                <a:spcPts val="1000"/>
              </a:spcBef>
              <a:spcAft>
                <a:spcPts val="0"/>
              </a:spcAft>
              <a:buNone/>
            </a:pPr>
            <a:r>
              <a:rPr lang="en-GB"/>
              <a:t>What is the minimum selling price per bushel of soybeans in the US, to make the US price better?  Give your answer to the nearest cent.</a:t>
            </a:r>
            <a:endParaRPr/>
          </a:p>
          <a:p>
            <a:pPr indent="0" lvl="0" marL="0" rtl="0" algn="l">
              <a:spcBef>
                <a:spcPts val="1000"/>
              </a:spcBef>
              <a:spcAft>
                <a:spcPts val="1000"/>
              </a:spcAft>
              <a:buNone/>
            </a:pPr>
            <a:r>
              <a:t/>
            </a:r>
            <a:endParaRPr/>
          </a:p>
        </p:txBody>
      </p:sp>
      <p:sp>
        <p:nvSpPr>
          <p:cNvPr id="1012" name="Google Shape;1012;p92"/>
          <p:cNvSpPr txBox="1"/>
          <p:nvPr>
            <p:ph idx="4294967295" type="subTitle"/>
          </p:nvPr>
        </p:nvSpPr>
        <p:spPr>
          <a:xfrm>
            <a:off x="4868525" y="2700000"/>
            <a:ext cx="3951600" cy="13794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en-GB" sz="2000">
                <a:latin typeface="Kalam"/>
                <a:ea typeface="Kalam"/>
                <a:cs typeface="Kalam"/>
                <a:sym typeface="Kalam"/>
              </a:rPr>
              <a:t>1 ÷ 0.027216 = 36.743…</a:t>
            </a:r>
            <a:endParaRPr sz="2000">
              <a:latin typeface="Kalam"/>
              <a:ea typeface="Kalam"/>
              <a:cs typeface="Kalam"/>
              <a:sym typeface="Kalam"/>
            </a:endParaRPr>
          </a:p>
          <a:p>
            <a:pPr indent="0" lvl="0" marL="0" rtl="0" algn="l">
              <a:lnSpc>
                <a:spcPct val="75000"/>
              </a:lnSpc>
              <a:spcBef>
                <a:spcPts val="1000"/>
              </a:spcBef>
              <a:spcAft>
                <a:spcPts val="0"/>
              </a:spcAft>
              <a:buNone/>
            </a:pPr>
            <a:r>
              <a:rPr lang="en-GB" sz="2000">
                <a:latin typeface="Kalam"/>
                <a:ea typeface="Kalam"/>
                <a:cs typeface="Kalam"/>
                <a:sym typeface="Kalam"/>
              </a:rPr>
              <a:t>Price in dollars of a tonne	</a:t>
            </a:r>
            <a:br>
              <a:rPr lang="en-GB" sz="2000">
                <a:latin typeface="Kalam"/>
                <a:ea typeface="Kalam"/>
                <a:cs typeface="Kalam"/>
                <a:sym typeface="Kalam"/>
              </a:rPr>
            </a:br>
            <a:r>
              <a:rPr lang="en-GB" sz="2000">
                <a:latin typeface="Kalam"/>
                <a:ea typeface="Kalam"/>
                <a:cs typeface="Kalam"/>
                <a:sym typeface="Kalam"/>
              </a:rPr>
              <a:t>= 153 ÷ 0.78 = $196.153…</a:t>
            </a:r>
            <a:endParaRPr sz="2000">
              <a:latin typeface="Kalam"/>
              <a:ea typeface="Kalam"/>
              <a:cs typeface="Kalam"/>
              <a:sym typeface="Kalam"/>
            </a:endParaRPr>
          </a:p>
          <a:p>
            <a:pPr indent="0" lvl="0" marL="0" rtl="0" algn="l">
              <a:lnSpc>
                <a:spcPct val="75000"/>
              </a:lnSpc>
              <a:spcBef>
                <a:spcPts val="1000"/>
              </a:spcBef>
              <a:spcAft>
                <a:spcPts val="0"/>
              </a:spcAft>
              <a:buNone/>
            </a:pPr>
            <a:r>
              <a:rPr lang="en-GB" sz="2000">
                <a:latin typeface="Kalam"/>
                <a:ea typeface="Kalam"/>
                <a:cs typeface="Kalam"/>
                <a:sym typeface="Kalam"/>
              </a:rPr>
              <a:t>$196.153… ÷ 36.743… = $5.3385…</a:t>
            </a:r>
            <a:endParaRPr sz="2000">
              <a:latin typeface="Kalam"/>
              <a:ea typeface="Kalam"/>
              <a:cs typeface="Kalam"/>
              <a:sym typeface="Kalam"/>
            </a:endParaRPr>
          </a:p>
          <a:p>
            <a:pPr indent="0" lvl="0" marL="0" rtl="0" algn="l">
              <a:lnSpc>
                <a:spcPct val="75000"/>
              </a:lnSpc>
              <a:spcBef>
                <a:spcPts val="1000"/>
              </a:spcBef>
              <a:spcAft>
                <a:spcPts val="1000"/>
              </a:spcAft>
              <a:buNone/>
            </a:pPr>
            <a:r>
              <a:rPr lang="en-GB" sz="2000">
                <a:latin typeface="Kalam"/>
                <a:ea typeface="Kalam"/>
                <a:cs typeface="Kalam"/>
                <a:sym typeface="Kalam"/>
              </a:rPr>
              <a:t>$5.34 per bushel</a:t>
            </a:r>
            <a:endParaRPr sz="2000">
              <a:latin typeface="Kalam"/>
              <a:ea typeface="Kalam"/>
              <a:cs typeface="Kalam"/>
              <a:sym typeface="Kala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93"/>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conversion in the agricultural industry</a:t>
            </a:r>
            <a:endParaRPr/>
          </a:p>
        </p:txBody>
      </p:sp>
      <p:sp>
        <p:nvSpPr>
          <p:cNvPr id="1018" name="Google Shape;1018;p93"/>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19" name="Google Shape;1019;p93"/>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Agricultural worker (crops)</a:t>
            </a:r>
            <a:endParaRPr/>
          </a:p>
        </p:txBody>
      </p:sp>
      <p:pic>
        <p:nvPicPr>
          <p:cNvPr id="1020" name="Google Shape;1020;p93"/>
          <p:cNvPicPr preferRelativeResize="0"/>
          <p:nvPr/>
        </p:nvPicPr>
        <p:blipFill>
          <a:blip r:embed="rId3">
            <a:alphaModFix/>
          </a:blip>
          <a:stretch>
            <a:fillRect/>
          </a:stretch>
        </p:blipFill>
        <p:spPr>
          <a:xfrm>
            <a:off x="410125" y="2987794"/>
            <a:ext cx="450575" cy="446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9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order to predict income from crops, farmers use estimation.</a:t>
            </a:r>
            <a:endParaRPr/>
          </a:p>
          <a:p>
            <a:pPr indent="0" lvl="0" marL="0" rtl="0" algn="l">
              <a:spcBef>
                <a:spcPts val="1000"/>
              </a:spcBef>
              <a:spcAft>
                <a:spcPts val="0"/>
              </a:spcAft>
              <a:buNone/>
            </a:pPr>
            <a:r>
              <a:rPr lang="en-GB"/>
              <a:t>To estimate the yield of a crop, they will take a 1 m</a:t>
            </a:r>
            <a:r>
              <a:rPr baseline="30000" lang="en-GB"/>
              <a:t>2</a:t>
            </a:r>
            <a:r>
              <a:rPr lang="en-GB"/>
              <a:t> </a:t>
            </a:r>
            <a:r>
              <a:rPr lang="en-GB"/>
              <a:t>sample from various places in the field.  Then they find the mean of these samples to give an average number of plants per square metre.  This means they can then work out an estimate for the number of plants on their land.</a:t>
            </a:r>
            <a:endParaRPr/>
          </a:p>
          <a:p>
            <a:pPr indent="0" lvl="0" marL="0" rtl="0" algn="l">
              <a:spcBef>
                <a:spcPts val="1000"/>
              </a:spcBef>
              <a:spcAft>
                <a:spcPts val="1000"/>
              </a:spcAft>
              <a:buNone/>
            </a:pPr>
            <a:r>
              <a:rPr lang="en-GB"/>
              <a:t>They will also select a plant and count the number of grains per ear to generate an estimate.</a:t>
            </a:r>
            <a:endParaRPr/>
          </a:p>
        </p:txBody>
      </p:sp>
      <p:sp>
        <p:nvSpPr>
          <p:cNvPr id="1026" name="Google Shape;1026;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estimation in the agricultural industry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95"/>
          <p:cNvSpPr txBox="1"/>
          <p:nvPr>
            <p:ph idx="1" type="body"/>
          </p:nvPr>
        </p:nvSpPr>
        <p:spPr>
          <a:xfrm>
            <a:off x="324000" y="759300"/>
            <a:ext cx="8237700" cy="194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A farmer has a 12 hectare wheat field.</a:t>
            </a:r>
            <a:endParaRPr sz="2100"/>
          </a:p>
          <a:p>
            <a:pPr indent="0" lvl="0" marL="0" rtl="0" algn="l">
              <a:spcBef>
                <a:spcPts val="1000"/>
              </a:spcBef>
              <a:spcAft>
                <a:spcPts val="0"/>
              </a:spcAft>
              <a:buNone/>
            </a:pPr>
            <a:r>
              <a:rPr lang="en-GB" sz="2100"/>
              <a:t>Below are the number of ears of wheat in 5 different square metre samples:</a:t>
            </a:r>
            <a:endParaRPr sz="2100"/>
          </a:p>
          <a:p>
            <a:pPr indent="0" lvl="0" marL="0" rtl="0" algn="l">
              <a:spcBef>
                <a:spcPts val="1000"/>
              </a:spcBef>
              <a:spcAft>
                <a:spcPts val="0"/>
              </a:spcAft>
              <a:buNone/>
            </a:pPr>
            <a:r>
              <a:rPr lang="en-GB" sz="2100"/>
              <a:t>452, 447, 485, 478 and 438</a:t>
            </a:r>
            <a:endParaRPr sz="2100"/>
          </a:p>
          <a:p>
            <a:pPr indent="0" lvl="0" marL="0" rtl="0" algn="l">
              <a:spcBef>
                <a:spcPts val="1000"/>
              </a:spcBef>
              <a:spcAft>
                <a:spcPts val="0"/>
              </a:spcAft>
              <a:buNone/>
            </a:pPr>
            <a:r>
              <a:t/>
            </a:r>
            <a:endParaRPr sz="2100"/>
          </a:p>
          <a:p>
            <a:pPr indent="0" lvl="0" marL="0" rtl="0" algn="l">
              <a:spcBef>
                <a:spcPts val="1000"/>
              </a:spcBef>
              <a:spcAft>
                <a:spcPts val="1000"/>
              </a:spcAft>
              <a:buNone/>
            </a:pPr>
            <a:r>
              <a:t/>
            </a:r>
            <a:endParaRPr sz="2100"/>
          </a:p>
        </p:txBody>
      </p:sp>
      <p:sp>
        <p:nvSpPr>
          <p:cNvPr id="1032" name="Google Shape;1032;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33" name="Google Shape;1033;p95"/>
          <p:cNvSpPr txBox="1"/>
          <p:nvPr>
            <p:ph idx="1" type="body"/>
          </p:nvPr>
        </p:nvSpPr>
        <p:spPr>
          <a:xfrm>
            <a:off x="324000" y="2740500"/>
            <a:ext cx="8237700" cy="186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And, here are the number of grains on each ear of wheat (one plant):</a:t>
            </a:r>
            <a:endParaRPr sz="2100"/>
          </a:p>
          <a:p>
            <a:pPr indent="0" lvl="0" marL="0" rtl="0" algn="l">
              <a:spcBef>
                <a:spcPts val="1000"/>
              </a:spcBef>
              <a:spcAft>
                <a:spcPts val="0"/>
              </a:spcAft>
              <a:buNone/>
            </a:pPr>
            <a:r>
              <a:rPr lang="en-GB" sz="2100"/>
              <a:t>38, 42, 48, 51, 41, 53, 47, 55, 49, 56</a:t>
            </a:r>
            <a:endParaRPr sz="2100"/>
          </a:p>
          <a:p>
            <a:pPr indent="0" lvl="0" marL="0" rtl="0" algn="l">
              <a:spcBef>
                <a:spcPts val="1000"/>
              </a:spcBef>
              <a:spcAft>
                <a:spcPts val="1000"/>
              </a:spcAft>
              <a:buNone/>
            </a:pPr>
            <a:r>
              <a:rPr lang="en-GB" sz="2100"/>
              <a:t>Firstly, they need to calculate the mean number of ears per square metre and the mean number of grains per ear.</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96"/>
          <p:cNvSpPr txBox="1"/>
          <p:nvPr>
            <p:ph idx="1" type="body"/>
          </p:nvPr>
        </p:nvSpPr>
        <p:spPr>
          <a:xfrm>
            <a:off x="324000" y="606900"/>
            <a:ext cx="8237700" cy="126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Below are the number of ears of wheat in 5 different square metre samples:</a:t>
            </a:r>
            <a:endParaRPr/>
          </a:p>
          <a:p>
            <a:pPr indent="0" lvl="0" marL="0" rtl="0" algn="l">
              <a:spcBef>
                <a:spcPts val="1000"/>
              </a:spcBef>
              <a:spcAft>
                <a:spcPts val="0"/>
              </a:spcAft>
              <a:buNone/>
            </a:pPr>
            <a:r>
              <a:rPr lang="en-GB"/>
              <a:t>452, 447, 485, 478 and 438</a:t>
            </a:r>
            <a:endParaRPr/>
          </a:p>
          <a:p>
            <a:pPr indent="0" lvl="0" marL="0" rtl="0" algn="l">
              <a:spcBef>
                <a:spcPts val="1000"/>
              </a:spcBef>
              <a:spcAft>
                <a:spcPts val="1000"/>
              </a:spcAft>
              <a:buNone/>
            </a:pPr>
            <a:r>
              <a:rPr lang="en-GB"/>
              <a:t>How do you calculate the mean?</a:t>
            </a:r>
            <a:endParaRPr/>
          </a:p>
        </p:txBody>
      </p:sp>
      <p:sp>
        <p:nvSpPr>
          <p:cNvPr id="1039" name="Google Shape;1039;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40" name="Google Shape;1040;p96"/>
          <p:cNvSpPr txBox="1"/>
          <p:nvPr>
            <p:ph idx="1" type="body"/>
          </p:nvPr>
        </p:nvSpPr>
        <p:spPr>
          <a:xfrm>
            <a:off x="324000" y="2588100"/>
            <a:ext cx="8237700" cy="126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Find the total number of ears and divide by the number of samples.</a:t>
            </a:r>
            <a:endParaRPr>
              <a:latin typeface="Kalam"/>
              <a:ea typeface="Kalam"/>
              <a:cs typeface="Kalam"/>
              <a:sym typeface="Kalam"/>
            </a:endParaRPr>
          </a:p>
          <a:p>
            <a:pPr indent="0" lvl="0" marL="0" rtl="0" algn="l">
              <a:spcBef>
                <a:spcPts val="1000"/>
              </a:spcBef>
              <a:spcAft>
                <a:spcPts val="0"/>
              </a:spcAft>
              <a:buNone/>
            </a:pPr>
            <a:r>
              <a:rPr lang="en-GB"/>
              <a:t>What is the total number of ears?</a:t>
            </a:r>
            <a:endParaRPr/>
          </a:p>
          <a:p>
            <a:pPr indent="0" lvl="0" marL="0" rtl="0" algn="l">
              <a:spcBef>
                <a:spcPts val="1000"/>
              </a:spcBef>
              <a:spcAft>
                <a:spcPts val="0"/>
              </a:spcAft>
              <a:buNone/>
            </a:pPr>
            <a:r>
              <a:rPr lang="en-GB">
                <a:latin typeface="Kalam"/>
                <a:ea typeface="Kalam"/>
                <a:cs typeface="Kalam"/>
                <a:sym typeface="Kalam"/>
              </a:rPr>
              <a:t>452 + 447 + 485 + 478 + 438 = 2300</a:t>
            </a:r>
            <a:endParaRPr>
              <a:latin typeface="Kalam"/>
              <a:ea typeface="Kalam"/>
              <a:cs typeface="Kalam"/>
              <a:sym typeface="Kalam"/>
            </a:endParaRPr>
          </a:p>
          <a:p>
            <a:pPr indent="0" lvl="0" marL="0" rtl="0" algn="l">
              <a:spcBef>
                <a:spcPts val="1000"/>
              </a:spcBef>
              <a:spcAft>
                <a:spcPts val="0"/>
              </a:spcAft>
              <a:buNone/>
            </a:pPr>
            <a:r>
              <a:rPr lang="en-GB">
                <a:latin typeface="Kalam"/>
                <a:ea typeface="Kalam"/>
                <a:cs typeface="Kalam"/>
                <a:sym typeface="Kalam"/>
              </a:rPr>
              <a:t>Mean number of ears per square metre = 2300 ÷ 5 = 460</a:t>
            </a:r>
            <a:endParaRPr>
              <a:latin typeface="Kalam"/>
              <a:ea typeface="Kalam"/>
              <a:cs typeface="Kalam"/>
              <a:sym typeface="Kalam"/>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41" name="Google Shape;1041;p96"/>
          <p:cNvSpPr/>
          <p:nvPr/>
        </p:nvSpPr>
        <p:spPr>
          <a:xfrm>
            <a:off x="5347125" y="4132500"/>
            <a:ext cx="2209800" cy="341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4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97"/>
          <p:cNvSpPr txBox="1"/>
          <p:nvPr>
            <p:ph idx="1" type="body"/>
          </p:nvPr>
        </p:nvSpPr>
        <p:spPr>
          <a:xfrm>
            <a:off x="324000" y="606900"/>
            <a:ext cx="8237700" cy="1260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H</a:t>
            </a:r>
            <a:r>
              <a:rPr lang="en-GB"/>
              <a:t>ere are the number of grains on each ear of wheat:</a:t>
            </a:r>
            <a:endParaRPr/>
          </a:p>
          <a:p>
            <a:pPr indent="0" lvl="0" marL="0" rtl="0" algn="l">
              <a:spcBef>
                <a:spcPts val="1000"/>
              </a:spcBef>
              <a:spcAft>
                <a:spcPts val="0"/>
              </a:spcAft>
              <a:buNone/>
            </a:pPr>
            <a:r>
              <a:rPr lang="en-GB"/>
              <a:t>38, 42, 48, 51, 41, 53, 47, 55, 49, 56</a:t>
            </a:r>
            <a:endParaRPr>
              <a:latin typeface="Kalam"/>
              <a:ea typeface="Kalam"/>
              <a:cs typeface="Kalam"/>
              <a:sym typeface="Kalam"/>
            </a:endParaRPr>
          </a:p>
          <a:p>
            <a:pPr indent="0" lvl="0" marL="0" rtl="0" algn="l">
              <a:spcBef>
                <a:spcPts val="1000"/>
              </a:spcBef>
              <a:spcAft>
                <a:spcPts val="0"/>
              </a:spcAft>
              <a:buNone/>
            </a:pPr>
            <a:r>
              <a:rPr lang="en-GB"/>
              <a:t>What is the total number of grains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47" name="Google Shape;1047;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48" name="Google Shape;1048;p97"/>
          <p:cNvSpPr txBox="1"/>
          <p:nvPr>
            <p:ph idx="1" type="body"/>
          </p:nvPr>
        </p:nvSpPr>
        <p:spPr>
          <a:xfrm>
            <a:off x="324000" y="2207100"/>
            <a:ext cx="8237700" cy="126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38 + 42 + 48 + 51 + 41 + 53 + 47 + 55 + 49 + 56 = 480</a:t>
            </a:r>
            <a:endParaRPr>
              <a:latin typeface="Kalam"/>
              <a:ea typeface="Kalam"/>
              <a:cs typeface="Kalam"/>
              <a:sym typeface="Kalam"/>
            </a:endParaRPr>
          </a:p>
          <a:p>
            <a:pPr indent="0" lvl="0" marL="0" rtl="0" algn="l">
              <a:spcBef>
                <a:spcPts val="1000"/>
              </a:spcBef>
              <a:spcAft>
                <a:spcPts val="1000"/>
              </a:spcAft>
              <a:buNone/>
            </a:pPr>
            <a:r>
              <a:rPr lang="en-GB">
                <a:latin typeface="Kalam"/>
                <a:ea typeface="Kalam"/>
                <a:cs typeface="Kalam"/>
                <a:sym typeface="Kalam"/>
              </a:rPr>
              <a:t>Mean number of grains per ear = 480 ÷ 10 = 48</a:t>
            </a:r>
            <a:endParaRPr>
              <a:latin typeface="Kalam"/>
              <a:ea typeface="Kalam"/>
              <a:cs typeface="Kalam"/>
              <a:sym typeface="Kalam"/>
            </a:endParaRPr>
          </a:p>
        </p:txBody>
      </p:sp>
      <p:sp>
        <p:nvSpPr>
          <p:cNvPr id="1049" name="Google Shape;1049;p97"/>
          <p:cNvSpPr/>
          <p:nvPr/>
        </p:nvSpPr>
        <p:spPr>
          <a:xfrm>
            <a:off x="4404400" y="2700000"/>
            <a:ext cx="2043900" cy="341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4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98"/>
          <p:cNvSpPr txBox="1"/>
          <p:nvPr>
            <p:ph idx="1" type="body"/>
          </p:nvPr>
        </p:nvSpPr>
        <p:spPr>
          <a:xfrm>
            <a:off x="324000" y="683100"/>
            <a:ext cx="8237700" cy="17244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0"/>
              </a:spcAft>
              <a:buNone/>
            </a:pPr>
            <a:r>
              <a:rPr lang="en-GB" sz="1800"/>
              <a:t>A farmer has a 12 hectare wheat field.</a:t>
            </a:r>
            <a:endParaRPr sz="1800"/>
          </a:p>
          <a:p>
            <a:pPr indent="0" lvl="0" marL="0" rtl="0" algn="l">
              <a:lnSpc>
                <a:spcPct val="60000"/>
              </a:lnSpc>
              <a:spcBef>
                <a:spcPts val="1000"/>
              </a:spcBef>
              <a:spcAft>
                <a:spcPts val="0"/>
              </a:spcAft>
              <a:buClr>
                <a:schemeClr val="dk1"/>
              </a:buClr>
              <a:buSzPts val="1100"/>
              <a:buFont typeface="Arial"/>
              <a:buNone/>
            </a:pPr>
            <a:r>
              <a:rPr lang="en-GB" sz="1800"/>
              <a:t>Mean number of ears per square metre = 460</a:t>
            </a:r>
            <a:endParaRPr sz="1800">
              <a:latin typeface="Kalam"/>
              <a:ea typeface="Kalam"/>
              <a:cs typeface="Kalam"/>
              <a:sym typeface="Kalam"/>
            </a:endParaRPr>
          </a:p>
          <a:p>
            <a:pPr indent="0" lvl="0" marL="0" rtl="0" algn="l">
              <a:lnSpc>
                <a:spcPct val="60000"/>
              </a:lnSpc>
              <a:spcBef>
                <a:spcPts val="1000"/>
              </a:spcBef>
              <a:spcAft>
                <a:spcPts val="0"/>
              </a:spcAft>
              <a:buNone/>
            </a:pPr>
            <a:r>
              <a:rPr lang="en-GB" sz="1800"/>
              <a:t>Mean number of grains per ear = 48</a:t>
            </a:r>
            <a:endParaRPr sz="1800"/>
          </a:p>
          <a:p>
            <a:pPr indent="0" lvl="0" marL="0" rtl="0" algn="l">
              <a:lnSpc>
                <a:spcPct val="60000"/>
              </a:lnSpc>
              <a:spcBef>
                <a:spcPts val="1000"/>
              </a:spcBef>
              <a:spcAft>
                <a:spcPts val="0"/>
              </a:spcAft>
              <a:buNone/>
            </a:pPr>
            <a:r>
              <a:rPr lang="en-GB" sz="1800"/>
              <a:t>Average mass of a grain = 50 mg</a:t>
            </a:r>
            <a:endParaRPr sz="1800"/>
          </a:p>
          <a:p>
            <a:pPr indent="0" lvl="0" marL="0" rtl="0" algn="l">
              <a:lnSpc>
                <a:spcPct val="60000"/>
              </a:lnSpc>
              <a:spcBef>
                <a:spcPts val="1000"/>
              </a:spcBef>
              <a:spcAft>
                <a:spcPts val="0"/>
              </a:spcAft>
              <a:buNone/>
            </a:pPr>
            <a:r>
              <a:rPr lang="en-GB" sz="1800"/>
              <a:t>Selling price per tonne = £173</a:t>
            </a:r>
            <a:endParaRPr sz="1800"/>
          </a:p>
          <a:p>
            <a:pPr indent="0" lvl="0" marL="0" rtl="0" algn="l">
              <a:lnSpc>
                <a:spcPct val="60000"/>
              </a:lnSpc>
              <a:spcBef>
                <a:spcPts val="1000"/>
              </a:spcBef>
              <a:spcAft>
                <a:spcPts val="0"/>
              </a:spcAft>
              <a:buNone/>
            </a:pPr>
            <a:r>
              <a:t/>
            </a:r>
            <a:endParaRPr sz="1800"/>
          </a:p>
          <a:p>
            <a:pPr indent="0" lvl="0" marL="0" rtl="0" algn="l">
              <a:lnSpc>
                <a:spcPct val="60000"/>
              </a:lnSpc>
              <a:spcBef>
                <a:spcPts val="1000"/>
              </a:spcBef>
              <a:spcAft>
                <a:spcPts val="0"/>
              </a:spcAft>
              <a:buNone/>
            </a:pPr>
            <a:r>
              <a:t/>
            </a:r>
            <a:endParaRPr sz="1800"/>
          </a:p>
          <a:p>
            <a:pPr indent="0" lvl="0" marL="0" rtl="0" algn="l">
              <a:lnSpc>
                <a:spcPct val="60000"/>
              </a:lnSpc>
              <a:spcBef>
                <a:spcPts val="1000"/>
              </a:spcBef>
              <a:spcAft>
                <a:spcPts val="1000"/>
              </a:spcAft>
              <a:buNone/>
            </a:pPr>
            <a:r>
              <a:t/>
            </a:r>
            <a:endParaRPr sz="1800"/>
          </a:p>
        </p:txBody>
      </p:sp>
      <p:sp>
        <p:nvSpPr>
          <p:cNvPr id="1055" name="Google Shape;1055;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56" name="Google Shape;1056;p98"/>
          <p:cNvSpPr txBox="1"/>
          <p:nvPr>
            <p:ph idx="1" type="body"/>
          </p:nvPr>
        </p:nvSpPr>
        <p:spPr>
          <a:xfrm>
            <a:off x="324000" y="2189055"/>
            <a:ext cx="8237700" cy="2778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12 hectares = 12 × 10 000 m</a:t>
            </a:r>
            <a:r>
              <a:rPr baseline="30000" lang="en-GB" sz="1800"/>
              <a:t>2</a:t>
            </a:r>
            <a:r>
              <a:rPr lang="en-GB" sz="1800"/>
              <a:t> = 120 000 m</a:t>
            </a:r>
            <a:r>
              <a:rPr baseline="30000" lang="en-GB" sz="1800"/>
              <a:t>2</a:t>
            </a:r>
            <a:endParaRPr sz="1800"/>
          </a:p>
        </p:txBody>
      </p:sp>
      <p:sp>
        <p:nvSpPr>
          <p:cNvPr id="1057" name="Google Shape;1057;p98"/>
          <p:cNvSpPr txBox="1"/>
          <p:nvPr>
            <p:ph idx="1" type="body"/>
          </p:nvPr>
        </p:nvSpPr>
        <p:spPr>
          <a:xfrm>
            <a:off x="324000" y="3408253"/>
            <a:ext cx="82377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Total mass of grain in the field</a:t>
            </a:r>
            <a:endParaRPr sz="1800"/>
          </a:p>
        </p:txBody>
      </p:sp>
      <p:sp>
        <p:nvSpPr>
          <p:cNvPr id="1058" name="Google Shape;1058;p98"/>
          <p:cNvSpPr txBox="1"/>
          <p:nvPr>
            <p:ph idx="1" type="body"/>
          </p:nvPr>
        </p:nvSpPr>
        <p:spPr>
          <a:xfrm>
            <a:off x="4890000" y="3088825"/>
            <a:ext cx="18675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 2.6496 × 10</a:t>
            </a:r>
            <a:r>
              <a:rPr baseline="30000" lang="en-GB" sz="1800"/>
              <a:t>9 </a:t>
            </a:r>
            <a:endParaRPr sz="1800"/>
          </a:p>
        </p:txBody>
      </p:sp>
      <p:sp>
        <p:nvSpPr>
          <p:cNvPr id="1059" name="Google Shape;1059;p98"/>
          <p:cNvSpPr txBox="1"/>
          <p:nvPr>
            <p:ph idx="1" type="body"/>
          </p:nvPr>
        </p:nvSpPr>
        <p:spPr>
          <a:xfrm>
            <a:off x="4438800" y="3713050"/>
            <a:ext cx="2257800" cy="3726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 1.3248 × 10</a:t>
            </a:r>
            <a:r>
              <a:rPr baseline="30000" lang="en-GB" sz="1800"/>
              <a:t>11</a:t>
            </a:r>
            <a:r>
              <a:rPr lang="en-GB" sz="1800"/>
              <a:t> mg</a:t>
            </a:r>
            <a:endParaRPr sz="1800"/>
          </a:p>
        </p:txBody>
      </p:sp>
      <p:sp>
        <p:nvSpPr>
          <p:cNvPr id="1060" name="Google Shape;1060;p98"/>
          <p:cNvSpPr txBox="1"/>
          <p:nvPr>
            <p:ph idx="1" type="body"/>
          </p:nvPr>
        </p:nvSpPr>
        <p:spPr>
          <a:xfrm>
            <a:off x="4438800" y="4017850"/>
            <a:ext cx="2048400" cy="2778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0"/>
              </a:spcAft>
              <a:buNone/>
            </a:pPr>
            <a:r>
              <a:rPr lang="en-GB" sz="1800"/>
              <a:t>=</a:t>
            </a:r>
            <a:r>
              <a:rPr lang="en-GB" sz="1800"/>
              <a:t> 132.48 tonnes</a:t>
            </a:r>
            <a:endParaRPr sz="1800"/>
          </a:p>
          <a:p>
            <a:pPr indent="0" lvl="0" marL="0" rtl="0" algn="l">
              <a:lnSpc>
                <a:spcPct val="60000"/>
              </a:lnSpc>
              <a:spcBef>
                <a:spcPts val="1000"/>
              </a:spcBef>
              <a:spcAft>
                <a:spcPts val="1000"/>
              </a:spcAft>
              <a:buNone/>
            </a:pPr>
            <a:r>
              <a:t/>
            </a:r>
            <a:endParaRPr sz="1800"/>
          </a:p>
        </p:txBody>
      </p:sp>
      <p:sp>
        <p:nvSpPr>
          <p:cNvPr id="1061" name="Google Shape;1061;p98"/>
          <p:cNvSpPr txBox="1"/>
          <p:nvPr>
            <p:ph idx="1" type="body"/>
          </p:nvPr>
        </p:nvSpPr>
        <p:spPr>
          <a:xfrm>
            <a:off x="324000" y="4322650"/>
            <a:ext cx="27855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Income from the field</a:t>
            </a:r>
            <a:endParaRPr sz="1800"/>
          </a:p>
        </p:txBody>
      </p:sp>
      <p:sp>
        <p:nvSpPr>
          <p:cNvPr id="1062" name="Google Shape;1062;p98"/>
          <p:cNvSpPr txBox="1"/>
          <p:nvPr>
            <p:ph idx="1" type="body"/>
          </p:nvPr>
        </p:nvSpPr>
        <p:spPr>
          <a:xfrm>
            <a:off x="3067200" y="4627450"/>
            <a:ext cx="19281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0"/>
              </a:spcAft>
              <a:buNone/>
            </a:pPr>
            <a:r>
              <a:rPr lang="en-GB" sz="1800"/>
              <a:t>= £22 919.04</a:t>
            </a:r>
            <a:endParaRPr sz="1800"/>
          </a:p>
          <a:p>
            <a:pPr indent="0" lvl="0" marL="0" rtl="0" algn="l">
              <a:lnSpc>
                <a:spcPct val="60000"/>
              </a:lnSpc>
              <a:spcBef>
                <a:spcPts val="1000"/>
              </a:spcBef>
              <a:spcAft>
                <a:spcPts val="0"/>
              </a:spcAft>
              <a:buNone/>
            </a:pPr>
            <a:r>
              <a:t/>
            </a:r>
            <a:endParaRPr sz="1800"/>
          </a:p>
          <a:p>
            <a:pPr indent="0" lvl="0" marL="0" rtl="0" algn="l">
              <a:lnSpc>
                <a:spcPct val="60000"/>
              </a:lnSpc>
              <a:spcBef>
                <a:spcPts val="1000"/>
              </a:spcBef>
              <a:spcAft>
                <a:spcPts val="1000"/>
              </a:spcAft>
              <a:buNone/>
            </a:pPr>
            <a:r>
              <a:t/>
            </a:r>
            <a:endParaRPr sz="1800"/>
          </a:p>
        </p:txBody>
      </p:sp>
      <p:sp>
        <p:nvSpPr>
          <p:cNvPr id="1063" name="Google Shape;1063;p98"/>
          <p:cNvSpPr txBox="1"/>
          <p:nvPr>
            <p:ph idx="1" type="body"/>
          </p:nvPr>
        </p:nvSpPr>
        <p:spPr>
          <a:xfrm>
            <a:off x="4813800" y="2798650"/>
            <a:ext cx="3824100" cy="2778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 = 120 000 × 22 080</a:t>
            </a:r>
            <a:endParaRPr sz="1800"/>
          </a:p>
        </p:txBody>
      </p:sp>
      <p:sp>
        <p:nvSpPr>
          <p:cNvPr id="1064" name="Google Shape;1064;p98"/>
          <p:cNvSpPr txBox="1"/>
          <p:nvPr>
            <p:ph idx="1" type="body"/>
          </p:nvPr>
        </p:nvSpPr>
        <p:spPr>
          <a:xfrm>
            <a:off x="324000" y="2493856"/>
            <a:ext cx="82377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Total number of grains per square metre = 460 × 48 = 22 080</a:t>
            </a:r>
            <a:endParaRPr sz="1800"/>
          </a:p>
        </p:txBody>
      </p:sp>
      <p:sp>
        <p:nvSpPr>
          <p:cNvPr id="1065" name="Google Shape;1065;p98"/>
          <p:cNvSpPr txBox="1"/>
          <p:nvPr>
            <p:ph idx="1" type="body"/>
          </p:nvPr>
        </p:nvSpPr>
        <p:spPr>
          <a:xfrm>
            <a:off x="324000" y="2798650"/>
            <a:ext cx="4294200" cy="2778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Total number of grains in the field</a:t>
            </a:r>
            <a:endParaRPr sz="1800"/>
          </a:p>
        </p:txBody>
      </p:sp>
      <p:sp>
        <p:nvSpPr>
          <p:cNvPr id="1066" name="Google Shape;1066;p98"/>
          <p:cNvSpPr txBox="1"/>
          <p:nvPr>
            <p:ph idx="1" type="body"/>
          </p:nvPr>
        </p:nvSpPr>
        <p:spPr>
          <a:xfrm>
            <a:off x="4419900" y="3408250"/>
            <a:ext cx="42942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 2.6496 × 10</a:t>
            </a:r>
            <a:r>
              <a:rPr baseline="30000" lang="en-GB" sz="1800"/>
              <a:t>9</a:t>
            </a:r>
            <a:r>
              <a:rPr lang="en-GB" sz="1800"/>
              <a:t> × 50</a:t>
            </a:r>
            <a:endParaRPr sz="1800"/>
          </a:p>
        </p:txBody>
      </p:sp>
      <p:sp>
        <p:nvSpPr>
          <p:cNvPr id="1067" name="Google Shape;1067;p98"/>
          <p:cNvSpPr txBox="1"/>
          <p:nvPr>
            <p:ph idx="1" type="body"/>
          </p:nvPr>
        </p:nvSpPr>
        <p:spPr>
          <a:xfrm>
            <a:off x="3025175" y="4322650"/>
            <a:ext cx="5688900" cy="206700"/>
          </a:xfrm>
          <a:prstGeom prst="rect">
            <a:avLst/>
          </a:prstGeom>
        </p:spPr>
        <p:txBody>
          <a:bodyPr anchorCtr="0" anchor="t" bIns="0" lIns="0" spcFirstLastPara="1" rIns="0" wrap="square" tIns="0">
            <a:noAutofit/>
          </a:bodyPr>
          <a:lstStyle/>
          <a:p>
            <a:pPr indent="0" lvl="0" marL="0" rtl="0" algn="l">
              <a:lnSpc>
                <a:spcPct val="60000"/>
              </a:lnSpc>
              <a:spcBef>
                <a:spcPts val="0"/>
              </a:spcBef>
              <a:spcAft>
                <a:spcPts val="1000"/>
              </a:spcAft>
              <a:buNone/>
            </a:pPr>
            <a:r>
              <a:rPr lang="en-GB" sz="1800"/>
              <a:t>= 132.48 × £173</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9"/>
          <p:cNvSpPr txBox="1"/>
          <p:nvPr>
            <p:ph idx="1" type="body"/>
          </p:nvPr>
        </p:nvSpPr>
        <p:spPr>
          <a:xfrm>
            <a:off x="324000" y="759300"/>
            <a:ext cx="8237700" cy="24807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a:t>10 hectare barley field</a:t>
            </a:r>
            <a:endParaRPr/>
          </a:p>
          <a:p>
            <a:pPr indent="0" lvl="0" marL="0" rtl="0" algn="l">
              <a:lnSpc>
                <a:spcPct val="85000"/>
              </a:lnSpc>
              <a:spcBef>
                <a:spcPts val="1000"/>
              </a:spcBef>
              <a:spcAft>
                <a:spcPts val="0"/>
              </a:spcAft>
              <a:buNone/>
            </a:pPr>
            <a:r>
              <a:rPr lang="en-GB"/>
              <a:t>Average ears per square metre = 775</a:t>
            </a:r>
            <a:endParaRPr/>
          </a:p>
          <a:p>
            <a:pPr indent="0" lvl="0" marL="0" rtl="0" algn="l">
              <a:lnSpc>
                <a:spcPct val="85000"/>
              </a:lnSpc>
              <a:spcBef>
                <a:spcPts val="1000"/>
              </a:spcBef>
              <a:spcAft>
                <a:spcPts val="0"/>
              </a:spcAft>
              <a:buNone/>
            </a:pPr>
            <a:r>
              <a:rPr lang="en-GB"/>
              <a:t>Average grains per ear = 25</a:t>
            </a:r>
            <a:endParaRPr/>
          </a:p>
          <a:p>
            <a:pPr indent="0" lvl="0" marL="0" rtl="0" algn="l">
              <a:lnSpc>
                <a:spcPct val="85000"/>
              </a:lnSpc>
              <a:spcBef>
                <a:spcPts val="1000"/>
              </a:spcBef>
              <a:spcAft>
                <a:spcPts val="0"/>
              </a:spcAft>
              <a:buNone/>
            </a:pPr>
            <a:r>
              <a:rPr lang="en-GB"/>
              <a:t>Average mass of a grain = 46 mg</a:t>
            </a:r>
            <a:endParaRPr/>
          </a:p>
          <a:p>
            <a:pPr indent="0" lvl="0" marL="0" rtl="0" algn="l">
              <a:lnSpc>
                <a:spcPct val="85000"/>
              </a:lnSpc>
              <a:spcBef>
                <a:spcPts val="1000"/>
              </a:spcBef>
              <a:spcAft>
                <a:spcPts val="0"/>
              </a:spcAft>
              <a:buNone/>
            </a:pPr>
            <a:r>
              <a:rPr lang="en-GB"/>
              <a:t>Price per tonne = £156</a:t>
            </a:r>
            <a:endParaRPr/>
          </a:p>
          <a:p>
            <a:pPr indent="0" lvl="0" marL="0" rtl="0" algn="l">
              <a:lnSpc>
                <a:spcPct val="85000"/>
              </a:lnSpc>
              <a:spcBef>
                <a:spcPts val="1000"/>
              </a:spcBef>
              <a:spcAft>
                <a:spcPts val="1000"/>
              </a:spcAft>
              <a:buNone/>
            </a:pPr>
            <a:r>
              <a:rPr lang="en-GB"/>
              <a:t>Calculate the income from the barley field.</a:t>
            </a:r>
            <a:endParaRPr/>
          </a:p>
        </p:txBody>
      </p:sp>
      <p:sp>
        <p:nvSpPr>
          <p:cNvPr id="1073" name="Google Shape;1073;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estimation in the agricultural industry</a:t>
            </a:r>
            <a:endParaRPr/>
          </a:p>
        </p:txBody>
      </p:sp>
      <p:sp>
        <p:nvSpPr>
          <p:cNvPr id="1074" name="Google Shape;1074;p99"/>
          <p:cNvSpPr txBox="1"/>
          <p:nvPr>
            <p:ph idx="1" type="body"/>
          </p:nvPr>
        </p:nvSpPr>
        <p:spPr>
          <a:xfrm>
            <a:off x="324000" y="3305175"/>
            <a:ext cx="8406900" cy="11541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lang="en-GB">
                <a:latin typeface="Kalam"/>
                <a:ea typeface="Kalam"/>
                <a:cs typeface="Kalam"/>
                <a:sym typeface="Kalam"/>
              </a:rPr>
              <a:t>Total number of grains = 1.9375 × 10</a:t>
            </a:r>
            <a:r>
              <a:rPr baseline="30000" lang="en-GB">
                <a:latin typeface="Kalam"/>
                <a:ea typeface="Kalam"/>
                <a:cs typeface="Kalam"/>
                <a:sym typeface="Kalam"/>
              </a:rPr>
              <a:t>9</a:t>
            </a:r>
            <a:endParaRPr>
              <a:latin typeface="Kalam"/>
              <a:ea typeface="Kalam"/>
              <a:cs typeface="Kalam"/>
              <a:sym typeface="Kalam"/>
            </a:endParaRPr>
          </a:p>
          <a:p>
            <a:pPr indent="0" lvl="0" marL="0" rtl="0" algn="l">
              <a:lnSpc>
                <a:spcPct val="85000"/>
              </a:lnSpc>
              <a:spcBef>
                <a:spcPts val="1000"/>
              </a:spcBef>
              <a:spcAft>
                <a:spcPts val="0"/>
              </a:spcAft>
              <a:buNone/>
            </a:pPr>
            <a:r>
              <a:rPr lang="en-GB">
                <a:latin typeface="Kalam"/>
                <a:ea typeface="Kalam"/>
                <a:cs typeface="Kalam"/>
                <a:sym typeface="Kalam"/>
              </a:rPr>
              <a:t>Total mass of grain = </a:t>
            </a:r>
            <a:r>
              <a:rPr lang="en-GB">
                <a:latin typeface="Kalam"/>
                <a:ea typeface="Kalam"/>
                <a:cs typeface="Kalam"/>
                <a:sym typeface="Kalam"/>
              </a:rPr>
              <a:t>1.9375 × 10</a:t>
            </a:r>
            <a:r>
              <a:rPr baseline="30000" lang="en-GB">
                <a:latin typeface="Kalam"/>
                <a:ea typeface="Kalam"/>
                <a:cs typeface="Kalam"/>
                <a:sym typeface="Kalam"/>
              </a:rPr>
              <a:t>9</a:t>
            </a:r>
            <a:r>
              <a:rPr lang="en-GB">
                <a:latin typeface="Kalam"/>
                <a:ea typeface="Kalam"/>
                <a:cs typeface="Kalam"/>
                <a:sym typeface="Kalam"/>
              </a:rPr>
              <a:t> × 46 × 1 × 10</a:t>
            </a:r>
            <a:r>
              <a:rPr baseline="30000" lang="en-GB">
                <a:latin typeface="Kalam"/>
                <a:ea typeface="Kalam"/>
                <a:cs typeface="Kalam"/>
                <a:sym typeface="Kalam"/>
              </a:rPr>
              <a:t>−9</a:t>
            </a:r>
            <a:r>
              <a:rPr lang="en-GB">
                <a:latin typeface="Kalam"/>
                <a:ea typeface="Kalam"/>
                <a:cs typeface="Kalam"/>
                <a:sym typeface="Kalam"/>
              </a:rPr>
              <a:t> = 89.125 tonnes</a:t>
            </a:r>
            <a:endParaRPr>
              <a:latin typeface="Kalam"/>
              <a:ea typeface="Kalam"/>
              <a:cs typeface="Kalam"/>
              <a:sym typeface="Kalam"/>
            </a:endParaRPr>
          </a:p>
          <a:p>
            <a:pPr indent="0" lvl="0" marL="0" rtl="0" algn="l">
              <a:lnSpc>
                <a:spcPct val="85000"/>
              </a:lnSpc>
              <a:spcBef>
                <a:spcPts val="1000"/>
              </a:spcBef>
              <a:spcAft>
                <a:spcPts val="1000"/>
              </a:spcAft>
              <a:buNone/>
            </a:pPr>
            <a:r>
              <a:rPr lang="en-GB">
                <a:latin typeface="Kalam"/>
                <a:ea typeface="Kalam"/>
                <a:cs typeface="Kalam"/>
                <a:sym typeface="Kalam"/>
              </a:rPr>
              <a:t>Total income = 89.125 × £156 = £13 903.50</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80" name="Google Shape;1080;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a:t>
            </a:r>
            <a:r>
              <a:rPr lang="en-GB"/>
              <a:t>Calculate the total income from a 15 hectare field of oats.</a:t>
            </a:r>
            <a:endParaRPr/>
          </a:p>
          <a:p>
            <a:pPr indent="0" lvl="0" marL="0" rtl="0" algn="l">
              <a:lnSpc>
                <a:spcPct val="85000"/>
              </a:lnSpc>
              <a:spcBef>
                <a:spcPts val="1000"/>
              </a:spcBef>
              <a:spcAft>
                <a:spcPts val="0"/>
              </a:spcAft>
              <a:buNone/>
            </a:pPr>
            <a:r>
              <a:rPr lang="en-GB"/>
              <a:t>Average mass of a grain = 41.3 mg</a:t>
            </a:r>
            <a:endParaRPr/>
          </a:p>
          <a:p>
            <a:pPr indent="0" lvl="0" marL="0" rtl="0" algn="l">
              <a:lnSpc>
                <a:spcPct val="85000"/>
              </a:lnSpc>
              <a:spcBef>
                <a:spcPts val="1000"/>
              </a:spcBef>
              <a:spcAft>
                <a:spcPts val="0"/>
              </a:spcAft>
              <a:buNone/>
            </a:pPr>
            <a:r>
              <a:rPr lang="en-GB"/>
              <a:t>Cost per tonne = £274</a:t>
            </a:r>
            <a:endParaRPr/>
          </a:p>
          <a:p>
            <a:pPr indent="0" lvl="0" marL="0" rtl="0" algn="l">
              <a:lnSpc>
                <a:spcPct val="85000"/>
              </a:lnSpc>
              <a:spcBef>
                <a:spcPts val="1000"/>
              </a:spcBef>
              <a:spcAft>
                <a:spcPts val="0"/>
              </a:spcAft>
              <a:buNone/>
            </a:pPr>
            <a:r>
              <a:rPr lang="en-GB"/>
              <a:t>Number of panicles per square metre samples:</a:t>
            </a:r>
            <a:endParaRPr/>
          </a:p>
          <a:p>
            <a:pPr indent="0" lvl="0" marL="0" rtl="0" algn="l">
              <a:lnSpc>
                <a:spcPct val="85000"/>
              </a:lnSpc>
              <a:spcBef>
                <a:spcPts val="1000"/>
              </a:spcBef>
              <a:spcAft>
                <a:spcPts val="0"/>
              </a:spcAft>
              <a:buNone/>
            </a:pPr>
            <a:r>
              <a:rPr lang="en-GB"/>
              <a:t>412, 423, 404, 398 and 438</a:t>
            </a:r>
            <a:endParaRPr/>
          </a:p>
          <a:p>
            <a:pPr indent="0" lvl="0" marL="0" rtl="0" algn="l">
              <a:lnSpc>
                <a:spcPct val="85000"/>
              </a:lnSpc>
              <a:spcBef>
                <a:spcPts val="1000"/>
              </a:spcBef>
              <a:spcAft>
                <a:spcPts val="0"/>
              </a:spcAft>
              <a:buNone/>
            </a:pPr>
            <a:r>
              <a:rPr lang="en-GB"/>
              <a:t>Number of grains per panicle:</a:t>
            </a:r>
            <a:endParaRPr/>
          </a:p>
          <a:p>
            <a:pPr indent="0" lvl="0" marL="0" rtl="0" algn="l">
              <a:lnSpc>
                <a:spcPct val="85000"/>
              </a:lnSpc>
              <a:spcBef>
                <a:spcPts val="1000"/>
              </a:spcBef>
              <a:spcAft>
                <a:spcPts val="0"/>
              </a:spcAft>
              <a:buNone/>
            </a:pPr>
            <a:r>
              <a:rPr lang="en-GB"/>
              <a:t>43, 49, 41, 52 and 50</a:t>
            </a:r>
            <a:endParaRPr/>
          </a:p>
          <a:p>
            <a:pPr indent="0" lvl="0" marL="0" rtl="0" algn="l">
              <a:lnSpc>
                <a:spcPct val="85000"/>
              </a:lnSpc>
              <a:spcBef>
                <a:spcPts val="1000"/>
              </a:spcBef>
              <a:spcAft>
                <a:spcPts val="0"/>
              </a:spcAft>
              <a:buNone/>
            </a:pPr>
            <a:r>
              <a:t/>
            </a:r>
            <a:endParaRPr/>
          </a:p>
          <a:p>
            <a:pPr indent="0" lvl="0" marL="0" rtl="0" algn="l">
              <a:lnSpc>
                <a:spcPct val="85000"/>
              </a:lnSpc>
              <a:spcBef>
                <a:spcPts val="1000"/>
              </a:spcBef>
              <a:spcAft>
                <a:spcPts val="0"/>
              </a:spcAft>
              <a:buNone/>
            </a:pPr>
            <a:r>
              <a:t/>
            </a:r>
            <a:endParaRPr/>
          </a:p>
          <a:p>
            <a:pPr indent="0" lvl="0" marL="0" rtl="0" algn="l">
              <a:spcBef>
                <a:spcPts val="1000"/>
              </a:spcBef>
              <a:spcAft>
                <a:spcPts val="10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estimation in the agricultural industry</a:t>
            </a:r>
            <a:endParaRPr/>
          </a:p>
        </p:txBody>
      </p:sp>
      <p:sp>
        <p:nvSpPr>
          <p:cNvPr id="1086" name="Google Shape;1086;p101"/>
          <p:cNvSpPr txBox="1"/>
          <p:nvPr>
            <p:ph idx="1" type="body"/>
          </p:nvPr>
        </p:nvSpPr>
        <p:spPr>
          <a:xfrm>
            <a:off x="324000" y="759300"/>
            <a:ext cx="8496000" cy="3020700"/>
          </a:xfrm>
          <a:prstGeom prst="rect">
            <a:avLst/>
          </a:prstGeom>
        </p:spPr>
        <p:txBody>
          <a:bodyPr anchorCtr="0" anchor="t" bIns="0" lIns="0" spcFirstLastPara="1" rIns="0" wrap="square" tIns="0">
            <a:noAutofit/>
          </a:bodyPr>
          <a:lstStyle/>
          <a:p>
            <a:pPr indent="0" lvl="0" marL="0" rtl="0" algn="l">
              <a:lnSpc>
                <a:spcPct val="55000"/>
              </a:lnSpc>
              <a:spcBef>
                <a:spcPts val="0"/>
              </a:spcBef>
              <a:spcAft>
                <a:spcPts val="0"/>
              </a:spcAft>
              <a:buNone/>
            </a:pPr>
            <a:r>
              <a:rPr lang="en-GB"/>
              <a:t>1) </a:t>
            </a:r>
            <a:r>
              <a:rPr lang="en-GB"/>
              <a:t>Calculate the total income from a 15 hectare field of oats.</a:t>
            </a:r>
            <a:endParaRPr/>
          </a:p>
          <a:p>
            <a:pPr indent="0" lvl="0" marL="0" rtl="0" algn="l">
              <a:lnSpc>
                <a:spcPct val="55000"/>
              </a:lnSpc>
              <a:spcBef>
                <a:spcPts val="1000"/>
              </a:spcBef>
              <a:spcAft>
                <a:spcPts val="0"/>
              </a:spcAft>
              <a:buClr>
                <a:schemeClr val="dk1"/>
              </a:buClr>
              <a:buSzPts val="1100"/>
              <a:buFont typeface="Arial"/>
              <a:buNone/>
            </a:pPr>
            <a:r>
              <a:rPr lang="en-GB"/>
              <a:t>Average mass of a grain = 41.3 mg</a:t>
            </a:r>
            <a:endParaRPr/>
          </a:p>
          <a:p>
            <a:pPr indent="0" lvl="0" marL="0" rtl="0" algn="l">
              <a:lnSpc>
                <a:spcPct val="55000"/>
              </a:lnSpc>
              <a:spcBef>
                <a:spcPts val="1000"/>
              </a:spcBef>
              <a:spcAft>
                <a:spcPts val="0"/>
              </a:spcAft>
              <a:buNone/>
            </a:pPr>
            <a:r>
              <a:rPr lang="en-GB"/>
              <a:t>Cost per tonne = £274</a:t>
            </a:r>
            <a:endParaRPr/>
          </a:p>
          <a:p>
            <a:pPr indent="0" lvl="0" marL="0" rtl="0" algn="l">
              <a:lnSpc>
                <a:spcPct val="55000"/>
              </a:lnSpc>
              <a:spcBef>
                <a:spcPts val="1000"/>
              </a:spcBef>
              <a:spcAft>
                <a:spcPts val="0"/>
              </a:spcAft>
              <a:buNone/>
            </a:pPr>
            <a:r>
              <a:rPr lang="en-GB"/>
              <a:t>Number of panicles per square metre samples:</a:t>
            </a:r>
            <a:endParaRPr/>
          </a:p>
          <a:p>
            <a:pPr indent="0" lvl="0" marL="0" rtl="0" algn="l">
              <a:lnSpc>
                <a:spcPct val="55000"/>
              </a:lnSpc>
              <a:spcBef>
                <a:spcPts val="1000"/>
              </a:spcBef>
              <a:spcAft>
                <a:spcPts val="0"/>
              </a:spcAft>
              <a:buNone/>
            </a:pPr>
            <a:r>
              <a:rPr lang="en-GB"/>
              <a:t>412, 423, 404, 398 and 438</a:t>
            </a:r>
            <a:endParaRPr/>
          </a:p>
          <a:p>
            <a:pPr indent="0" lvl="0" marL="0" rtl="0" algn="l">
              <a:lnSpc>
                <a:spcPct val="55000"/>
              </a:lnSpc>
              <a:spcBef>
                <a:spcPts val="1000"/>
              </a:spcBef>
              <a:spcAft>
                <a:spcPts val="0"/>
              </a:spcAft>
              <a:buNone/>
            </a:pPr>
            <a:r>
              <a:rPr lang="en-GB"/>
              <a:t>Number of grains per panicle:</a:t>
            </a:r>
            <a:endParaRPr/>
          </a:p>
          <a:p>
            <a:pPr indent="0" lvl="0" marL="0" rtl="0" algn="l">
              <a:lnSpc>
                <a:spcPct val="55000"/>
              </a:lnSpc>
              <a:spcBef>
                <a:spcPts val="1000"/>
              </a:spcBef>
              <a:spcAft>
                <a:spcPts val="0"/>
              </a:spcAft>
              <a:buNone/>
            </a:pPr>
            <a:r>
              <a:rPr lang="en-GB"/>
              <a:t>43, 49, 41, 52 and 50</a:t>
            </a:r>
            <a:endParaRPr/>
          </a:p>
          <a:p>
            <a:pPr indent="0" lvl="0" marL="0" rtl="0" algn="l">
              <a:lnSpc>
                <a:spcPct val="55000"/>
              </a:lnSpc>
              <a:spcBef>
                <a:spcPts val="1000"/>
              </a:spcBef>
              <a:spcAft>
                <a:spcPts val="0"/>
              </a:spcAft>
              <a:buClr>
                <a:schemeClr val="dk1"/>
              </a:buClr>
              <a:buSzPts val="1100"/>
              <a:buFont typeface="Arial"/>
              <a:buNone/>
            </a:pPr>
            <a:r>
              <a:t/>
            </a:r>
            <a:endParaRPr/>
          </a:p>
          <a:p>
            <a:pPr indent="0" lvl="0" marL="0" rtl="0" algn="l">
              <a:lnSpc>
                <a:spcPct val="55000"/>
              </a:lnSpc>
              <a:spcBef>
                <a:spcPts val="1000"/>
              </a:spcBef>
              <a:spcAft>
                <a:spcPts val="0"/>
              </a:spcAft>
              <a:buClr>
                <a:schemeClr val="dk1"/>
              </a:buClr>
              <a:buSzPts val="1100"/>
              <a:buFont typeface="Arial"/>
              <a:buNone/>
            </a:pPr>
            <a:r>
              <a:t/>
            </a:r>
            <a:endParaRPr/>
          </a:p>
          <a:p>
            <a:pPr indent="0" lvl="0" marL="0" rtl="0" algn="l">
              <a:lnSpc>
                <a:spcPct val="55000"/>
              </a:lnSpc>
              <a:spcBef>
                <a:spcPts val="1000"/>
              </a:spcBef>
              <a:spcAft>
                <a:spcPts val="1000"/>
              </a:spcAft>
              <a:buNone/>
            </a:pPr>
            <a:r>
              <a:t/>
            </a:r>
            <a:endParaRPr/>
          </a:p>
        </p:txBody>
      </p:sp>
      <p:sp>
        <p:nvSpPr>
          <p:cNvPr id="1087" name="Google Shape;1087;p101"/>
          <p:cNvSpPr txBox="1"/>
          <p:nvPr>
            <p:ph idx="4294967295" type="body"/>
          </p:nvPr>
        </p:nvSpPr>
        <p:spPr>
          <a:xfrm>
            <a:off x="324000" y="3228975"/>
            <a:ext cx="8383800" cy="1154100"/>
          </a:xfrm>
          <a:prstGeom prst="rect">
            <a:avLst/>
          </a:prstGeom>
        </p:spPr>
        <p:txBody>
          <a:bodyPr anchorCtr="0" anchor="t" bIns="0" lIns="0" spcFirstLastPara="1" rIns="0" wrap="square" tIns="0">
            <a:noAutofit/>
          </a:bodyPr>
          <a:lstStyle/>
          <a:p>
            <a:pPr indent="0" lvl="0" marL="0" rtl="0" algn="l">
              <a:lnSpc>
                <a:spcPct val="55000"/>
              </a:lnSpc>
              <a:spcBef>
                <a:spcPts val="0"/>
              </a:spcBef>
              <a:spcAft>
                <a:spcPts val="0"/>
              </a:spcAft>
              <a:buNone/>
            </a:pPr>
            <a:r>
              <a:rPr lang="en-GB">
                <a:latin typeface="Kalam"/>
                <a:ea typeface="Kalam"/>
                <a:cs typeface="Kalam"/>
                <a:sym typeface="Kalam"/>
              </a:rPr>
              <a:t>Mean number of panicles = 2075 ÷ 5 = 415</a:t>
            </a:r>
            <a:endParaRPr>
              <a:latin typeface="Kalam"/>
              <a:ea typeface="Kalam"/>
              <a:cs typeface="Kalam"/>
              <a:sym typeface="Kalam"/>
            </a:endParaRPr>
          </a:p>
          <a:p>
            <a:pPr indent="0" lvl="0" marL="0" rtl="0" algn="l">
              <a:lnSpc>
                <a:spcPct val="55000"/>
              </a:lnSpc>
              <a:spcBef>
                <a:spcPts val="1000"/>
              </a:spcBef>
              <a:spcAft>
                <a:spcPts val="0"/>
              </a:spcAft>
              <a:buNone/>
            </a:pPr>
            <a:r>
              <a:rPr lang="en-GB">
                <a:latin typeface="Kalam"/>
                <a:ea typeface="Kalam"/>
                <a:cs typeface="Kalam"/>
                <a:sym typeface="Kalam"/>
              </a:rPr>
              <a:t>Mean number of grains per panicle = 235 ÷ 5 = 47 </a:t>
            </a:r>
            <a:endParaRPr>
              <a:latin typeface="Kalam"/>
              <a:ea typeface="Kalam"/>
              <a:cs typeface="Kalam"/>
              <a:sym typeface="Kalam"/>
            </a:endParaRPr>
          </a:p>
          <a:p>
            <a:pPr indent="0" lvl="0" marL="0" rtl="0" algn="l">
              <a:lnSpc>
                <a:spcPct val="55000"/>
              </a:lnSpc>
              <a:spcBef>
                <a:spcPts val="1000"/>
              </a:spcBef>
              <a:spcAft>
                <a:spcPts val="0"/>
              </a:spcAft>
              <a:buClr>
                <a:schemeClr val="dk1"/>
              </a:buClr>
              <a:buSzPts val="1100"/>
              <a:buFont typeface="Arial"/>
              <a:buNone/>
            </a:pPr>
            <a:r>
              <a:rPr lang="en-GB">
                <a:latin typeface="Kalam"/>
                <a:ea typeface="Kalam"/>
                <a:cs typeface="Kalam"/>
                <a:sym typeface="Kalam"/>
              </a:rPr>
              <a:t>Total number of grains = 415 × 47 × 150 000 = 2.92575 × 10</a:t>
            </a:r>
            <a:r>
              <a:rPr baseline="30000" lang="en-GB">
                <a:latin typeface="Kalam"/>
                <a:ea typeface="Kalam"/>
                <a:cs typeface="Kalam"/>
                <a:sym typeface="Kalam"/>
              </a:rPr>
              <a:t>9</a:t>
            </a:r>
            <a:endParaRPr baseline="30000">
              <a:latin typeface="Kalam"/>
              <a:ea typeface="Kalam"/>
              <a:cs typeface="Kalam"/>
              <a:sym typeface="Kalam"/>
            </a:endParaRPr>
          </a:p>
          <a:p>
            <a:pPr indent="0" lvl="0" marL="0" rtl="0" algn="l">
              <a:lnSpc>
                <a:spcPct val="55000"/>
              </a:lnSpc>
              <a:spcBef>
                <a:spcPts val="1000"/>
              </a:spcBef>
              <a:spcAft>
                <a:spcPts val="0"/>
              </a:spcAft>
              <a:buClr>
                <a:schemeClr val="dk1"/>
              </a:buClr>
              <a:buSzPts val="1100"/>
              <a:buFont typeface="Arial"/>
              <a:buNone/>
            </a:pPr>
            <a:r>
              <a:rPr lang="en-GB">
                <a:latin typeface="Kalam"/>
                <a:ea typeface="Kalam"/>
                <a:cs typeface="Kalam"/>
                <a:sym typeface="Kalam"/>
              </a:rPr>
              <a:t>Total mass of grain =2.92575 × 10</a:t>
            </a:r>
            <a:r>
              <a:rPr baseline="30000" lang="en-GB">
                <a:latin typeface="Kalam"/>
                <a:ea typeface="Kalam"/>
                <a:cs typeface="Kalam"/>
                <a:sym typeface="Kalam"/>
              </a:rPr>
              <a:t>9</a:t>
            </a:r>
            <a:r>
              <a:rPr lang="en-GB">
                <a:latin typeface="Kalam"/>
                <a:ea typeface="Kalam"/>
                <a:cs typeface="Kalam"/>
                <a:sym typeface="Kalam"/>
              </a:rPr>
              <a:t> × 41.3 × 1 × 10</a:t>
            </a:r>
            <a:r>
              <a:rPr baseline="30000" lang="en-GB">
                <a:latin typeface="Kalam"/>
                <a:ea typeface="Kalam"/>
                <a:cs typeface="Kalam"/>
                <a:sym typeface="Kalam"/>
              </a:rPr>
              <a:t>−9</a:t>
            </a:r>
            <a:r>
              <a:rPr lang="en-GB">
                <a:latin typeface="Kalam"/>
                <a:ea typeface="Kalam"/>
                <a:cs typeface="Kalam"/>
                <a:sym typeface="Kalam"/>
              </a:rPr>
              <a:t> = 120.8… tonnes</a:t>
            </a:r>
            <a:endParaRPr>
              <a:latin typeface="Kalam"/>
              <a:ea typeface="Kalam"/>
              <a:cs typeface="Kalam"/>
              <a:sym typeface="Kalam"/>
            </a:endParaRPr>
          </a:p>
          <a:p>
            <a:pPr indent="0" lvl="0" marL="0" rtl="0" algn="l">
              <a:lnSpc>
                <a:spcPct val="55000"/>
              </a:lnSpc>
              <a:spcBef>
                <a:spcPts val="1000"/>
              </a:spcBef>
              <a:spcAft>
                <a:spcPts val="1000"/>
              </a:spcAft>
              <a:buClr>
                <a:schemeClr val="dk1"/>
              </a:buClr>
              <a:buSzPts val="1100"/>
              <a:buFont typeface="Arial"/>
              <a:buNone/>
            </a:pPr>
            <a:r>
              <a:rPr lang="en-GB">
                <a:latin typeface="Kalam"/>
                <a:ea typeface="Kalam"/>
                <a:cs typeface="Kalam"/>
                <a:sym typeface="Kalam"/>
              </a:rPr>
              <a:t>Total income = 120.8… × £274 ≈ £33 108.37</a:t>
            </a:r>
            <a:endParaRPr>
              <a:latin typeface="Kalam"/>
              <a:ea typeface="Kalam"/>
              <a:cs typeface="Kalam"/>
              <a:sym typeface="Kala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02"/>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Working with crops requires you to have a really good understanding of how to convert between different units.</a:t>
            </a:r>
            <a:endParaRPr/>
          </a:p>
          <a:p>
            <a:pPr indent="0" lvl="0" marL="0" rtl="0" algn="l">
              <a:spcBef>
                <a:spcPts val="1000"/>
              </a:spcBef>
              <a:spcAft>
                <a:spcPts val="0"/>
              </a:spcAft>
              <a:buNone/>
            </a:pPr>
            <a:r>
              <a:rPr lang="en-GB"/>
              <a:t>E.g.  Acres and hectares</a:t>
            </a:r>
            <a:endParaRPr/>
          </a:p>
          <a:p>
            <a:pPr indent="0" lvl="0" marL="0" rtl="0" algn="l">
              <a:spcBef>
                <a:spcPts val="1000"/>
              </a:spcBef>
              <a:spcAft>
                <a:spcPts val="0"/>
              </a:spcAft>
              <a:buNone/>
            </a:pPr>
            <a:r>
              <a:rPr lang="en-GB"/>
              <a:t>        Hectares and square metres</a:t>
            </a:r>
            <a:endParaRPr/>
          </a:p>
          <a:p>
            <a:pPr indent="0" lvl="0" marL="0" rtl="0" algn="l">
              <a:spcBef>
                <a:spcPts val="1000"/>
              </a:spcBef>
              <a:spcAft>
                <a:spcPts val="0"/>
              </a:spcAft>
              <a:buNone/>
            </a:pPr>
            <a:r>
              <a:rPr lang="en-GB"/>
              <a:t>        Different currencies</a:t>
            </a:r>
            <a:endParaRPr/>
          </a:p>
          <a:p>
            <a:pPr indent="0" lvl="0" marL="0" rtl="0" algn="l">
              <a:spcBef>
                <a:spcPts val="1000"/>
              </a:spcBef>
              <a:spcAft>
                <a:spcPts val="1000"/>
              </a:spcAft>
              <a:buNone/>
            </a:pPr>
            <a:r>
              <a:rPr lang="en-GB"/>
              <a:t>Estimation is an essential part of working with crops. It allows a farmer to predict the yield of their crops.</a:t>
            </a:r>
            <a:endParaRPr/>
          </a:p>
        </p:txBody>
      </p:sp>
      <p:sp>
        <p:nvSpPr>
          <p:cNvPr id="1093" name="Google Shape;1093;p102"/>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Agricultural worker (crops)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03"/>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099" name="Google Shape;1099;p10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