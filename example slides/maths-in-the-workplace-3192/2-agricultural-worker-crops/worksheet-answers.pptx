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7D6CE85-1F58-4B22-8C97-A80E88C19BB3}">
  <a:tblStyle styleId="{27D6CE85-1F58-4B22-8C97-A80E88C19B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279934fec8d_0_131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279934fec8d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79934fec8d_0_136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279934fec8d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Relationship Id="rId7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" name="Google Shape;13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2" name="Google Shape;32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Google Shape;35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7" name="Google Shape;37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" name="Google Shape;38;p5"/>
          <p:cNvSpPr txBox="1"/>
          <p:nvPr>
            <p:ph idx="1" type="subTitle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9" name="Google Shape;39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40" name="Google Shape;40;p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" name="Google Shape;41;p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2" name="Google Shape;42;p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3" name="Google Shape;43;p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44" name="Google Shape;44;p5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Google Shape;46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7" name="Google Shape;47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8" name="Google Shape;48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" name="Google Shape;53;p6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4" name="Google Shape;54;p6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5" name="Google Shape;55;p6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56" name="Google Shape;56;p6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1" name="Google Shape;61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2" name="Google Shape;62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4" name="Google Shape;64;p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7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" name="Google Shape;66;p7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7" name="Google Shape;67;p7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8" name="Google Shape;68;p7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69" name="Google Shape;69;p7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70" name="Google Shape;70;p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5" name="Google Shape;75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7" name="Google Shape;77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" name="Google Shape;79;p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3" name="Google Shape;83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4" name="Google Shape;84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6" name="Google Shape;86;p9"/>
          <p:cNvSpPr txBox="1"/>
          <p:nvPr>
            <p:ph idx="1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0" name="Google Shape;90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0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0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4" name="Google Shape;94;p10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5" name="Google Shape;95;p10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0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10"/>
          <p:cNvSpPr txBox="1"/>
          <p:nvPr>
            <p:ph idx="2" type="subTitle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2" name="Google Shape;102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4" name="Google Shape;104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b="1" sz="12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chemeClr val="dk1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1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9" name="Google Shape;109;p11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0" name="Google Shape;110;p1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16" name="Google Shape;116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(crops)</a:t>
            </a:r>
            <a:endParaRPr/>
          </a:p>
        </p:txBody>
      </p:sp>
      <p:sp>
        <p:nvSpPr>
          <p:cNvPr id="117" name="Google Shape;117;p12"/>
          <p:cNvSpPr txBox="1"/>
          <p:nvPr/>
        </p:nvSpPr>
        <p:spPr>
          <a:xfrm>
            <a:off x="468001" y="1306325"/>
            <a:ext cx="65436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conversion in the agricultural industry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8" name="Google Shape;118;p12"/>
          <p:cNvGraphicFramePr/>
          <p:nvPr/>
        </p:nvGraphicFramePr>
        <p:xfrm>
          <a:off x="4267498" y="1894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{27D6CE85-1F58-4B22-8C97-A80E88C19BB3}</a:tableStyleId>
              </a:tblPr>
              <a:tblGrid>
                <a:gridCol w="908900"/>
                <a:gridCol w="1915600"/>
              </a:tblGrid>
              <a:tr h="383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Crop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Bushel (bu) to tonne (t)</a:t>
                      </a:r>
                      <a:endParaRPr b="1" sz="12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Barley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0.021772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Corn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0.0254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Oats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0.014515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Soybeans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0.027216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  <a:tr h="2090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Wheat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bu = 0.027216 t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18000" marB="18000" marR="91425" marL="91425"/>
                </a:tc>
              </a:tr>
            </a:tbl>
          </a:graphicData>
        </a:graphic>
      </p:graphicFrame>
      <p:sp>
        <p:nvSpPr>
          <p:cNvPr id="119" name="Google Shape;119;p12"/>
          <p:cNvSpPr txBox="1"/>
          <p:nvPr/>
        </p:nvSpPr>
        <p:spPr>
          <a:xfrm>
            <a:off x="468000" y="1894175"/>
            <a:ext cx="3799500" cy="1873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Which farmer is getting the best price for oats?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bushel = $3.06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tonne = £274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0" name="Google Shape;120;p12"/>
          <p:cNvSpPr txBox="1"/>
          <p:nvPr/>
        </p:nvSpPr>
        <p:spPr>
          <a:xfrm>
            <a:off x="468000" y="3323346"/>
            <a:ext cx="66240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÷ 0.014515 = 68.894…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Price in dollars of a tonne	= 68.894… × $3.06 = $210.816…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210.816… × 0.78 ≈ £164.44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farmer in the UK is getting a better rate of pay.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" name="Google Shape;121;p12"/>
          <p:cNvSpPr txBox="1"/>
          <p:nvPr/>
        </p:nvSpPr>
        <p:spPr>
          <a:xfrm>
            <a:off x="468000" y="4380775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bushel = $3.78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selling price per tonne of corn in the UK, to make the UK price better?  Give your answer to the nearest pound.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2"/>
          <p:cNvSpPr txBox="1"/>
          <p:nvPr/>
        </p:nvSpPr>
        <p:spPr>
          <a:xfrm>
            <a:off x="468000" y="5589075"/>
            <a:ext cx="6624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÷ 0.0254 = 39.37…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Price in dollars of a tonne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39.37… × $3.78 = $148.818…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148.818… × 0.78 = £116.078…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£117 per tonne (needs to be more than £116)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" name="Google Shape;123;p12"/>
          <p:cNvSpPr txBox="1"/>
          <p:nvPr/>
        </p:nvSpPr>
        <p:spPr>
          <a:xfrm>
            <a:off x="468000" y="6664575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$1 = £0.78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Selling price per tonne = £153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is the minimum selling price per bushel of soybeans in the US, to make the US price better?  Give your answer to the nearest cent.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4" name="Google Shape;124;p12"/>
          <p:cNvSpPr txBox="1"/>
          <p:nvPr/>
        </p:nvSpPr>
        <p:spPr>
          <a:xfrm>
            <a:off x="468111" y="7949050"/>
            <a:ext cx="6624000" cy="107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1 ÷ 0.027216 = 36.743…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Price in dollars of a tonne</a:t>
            </a:r>
            <a:r>
              <a:rPr lang="en-GB" sz="12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 153 ÷ 0.78 = $196.153…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$196.153… ÷ 36.743… = $5.3385…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7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$5.34 per bushel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cxnSp>
        <p:nvCxnSpPr>
          <p:cNvPr id="125" name="Google Shape;125;p12"/>
          <p:cNvCxnSpPr/>
          <p:nvPr/>
        </p:nvCxnSpPr>
        <p:spPr>
          <a:xfrm>
            <a:off x="4748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31" name="Google Shape;131;p13"/>
          <p:cNvSpPr txBox="1"/>
          <p:nvPr>
            <p:ph idx="1" type="subTitle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Agricultural worker (crops)</a:t>
            </a:r>
            <a:endParaRPr/>
          </a:p>
        </p:txBody>
      </p:sp>
      <p:sp>
        <p:nvSpPr>
          <p:cNvPr id="132" name="Google Shape;132;p13"/>
          <p:cNvSpPr txBox="1"/>
          <p:nvPr>
            <p:ph idx="2" type="subTitle"/>
          </p:nvPr>
        </p:nvSpPr>
        <p:spPr>
          <a:xfrm>
            <a:off x="3980025" y="9972000"/>
            <a:ext cx="27645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33" name="Google Shape;133;p13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3"/>
          <p:cNvSpPr txBox="1"/>
          <p:nvPr/>
        </p:nvSpPr>
        <p:spPr>
          <a:xfrm>
            <a:off x="468001" y="610258"/>
            <a:ext cx="6245700" cy="298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Using estimation in the agricultural industry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5" name="Google Shape;135;p13"/>
          <p:cNvSpPr txBox="1"/>
          <p:nvPr/>
        </p:nvSpPr>
        <p:spPr>
          <a:xfrm>
            <a:off x="468000" y="1052483"/>
            <a:ext cx="66240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Calculate the total income from a 15 hectare field of oats.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Average mass of a grain = 41.3 mg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Cost per tonne = £274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panicles per square metre samples: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412, 423, 404, 398 and 438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Number of grains per panicle: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43, 49, 41, 52 and 50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6" name="Google Shape;136;p13"/>
          <p:cNvSpPr txBox="1"/>
          <p:nvPr/>
        </p:nvSpPr>
        <p:spPr>
          <a:xfrm>
            <a:off x="468000" y="2977992"/>
            <a:ext cx="6536400" cy="89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5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number of panicles = 2075 ÷ 5 = 415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Mean number of grains per panicle = 235 ÷ 5 = 47 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number of grains = 415 × 47 × 150 000 = 2.92575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endParaRPr baseline="30000"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mass of grain =2.92575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× 41.3 × 1 × 10</a:t>
            </a:r>
            <a:r>
              <a:rPr baseline="30000"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−9</a:t>
            </a: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 = 120.8… tonnes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5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Total income = 120.8… × £274 ≈ £33 108.37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Answers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