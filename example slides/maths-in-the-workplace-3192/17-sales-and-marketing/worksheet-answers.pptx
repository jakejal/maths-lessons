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0cf61e3ead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0cf61e3ea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cf61e3ead_0_8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0cf61e3ea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Sales and marketing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7998" y="1294025"/>
            <a:ext cx="61497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 in marketing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" name="Google Shape;11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082" y="3368801"/>
            <a:ext cx="6078556" cy="397707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2"/>
          <p:cNvSpPr txBox="1"/>
          <p:nvPr/>
        </p:nvSpPr>
        <p:spPr>
          <a:xfrm>
            <a:off x="6007520" y="7379401"/>
            <a:ext cx="1084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Month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 rot="-5400000">
            <a:off x="-715725" y="4311626"/>
            <a:ext cx="27819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Site visits (000’s)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468000" y="1694100"/>
            <a:ext cx="6624000" cy="27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‘Sam’s Sleepwear’ is now well established in the bedwear marketplace. On three occasions in this year they spent just under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£5000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on online advertising campaigns.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were those campaigns?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one was the most effective?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do you know?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468000" y="79641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You might have said: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“The advertising campaigns happened in March, August and November.”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“We know that the November campaign was the most effective one because it resulted in the greatest ‘spike’(increase) in site visits.”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Sales and marketing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467997" y="753684"/>
            <a:ext cx="41007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‘Sam’s Sleepwear’ is now well established in the bedwear marketplace. They spend the below on advertising and generate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14 000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extra visitors to their website.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4898478" y="2592551"/>
            <a:ext cx="728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Direct email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18%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467997" y="1746454"/>
            <a:ext cx="15966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YouTube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£1100	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Direct email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£350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2343222" y="1746454"/>
            <a:ext cx="13833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Facebook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Google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£2500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467997" y="2353147"/>
            <a:ext cx="35952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now make a sale from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visitors and an average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per sale.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468000" y="2982000"/>
            <a:ext cx="36297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which form of media is the most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profitable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advise Sam as to where to spend their next advertising budget.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468000" y="3657416"/>
            <a:ext cx="1838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YouTube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£1100	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3805867" y="3654938"/>
            <a:ext cx="19110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Facebook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468000" y="4906744"/>
            <a:ext cx="22059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Direct email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£350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468000" y="3890179"/>
            <a:ext cx="3532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0.28 × 14 000 = 3920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visitors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3805867" y="3892509"/>
            <a:ext cx="3532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0.16 × 14 000 = 2240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visitors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468000" y="5113699"/>
            <a:ext cx="3532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0.18 × 14 000 = 2520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visitors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468000" y="5346462"/>
            <a:ext cx="3629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£350 ÷ 2520 = £0.13…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 visit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3805867" y="4125272"/>
            <a:ext cx="3629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£500 ÷ 2240 = £0.22…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 visit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468000" y="4122950"/>
            <a:ext cx="3831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£1100 ÷ 3920 = £0.28…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 visit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468000" y="4351550"/>
            <a:ext cx="3786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£0.28… × 40 = £11.22…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 sale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3821175" y="4351543"/>
            <a:ext cx="3629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£0.22… × 40 = £8.92…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 sale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468000" y="5570743"/>
            <a:ext cx="3629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£0.13… × 40 = £5.55…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 sale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68000" y="4580143"/>
            <a:ext cx="3629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£14 − £11.22… ≈ £2.78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profit</a:t>
            </a:r>
            <a:endParaRPr b="1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3821175" y="4580143"/>
            <a:ext cx="3629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£14 − £8.92… ≈ £5.07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profit</a:t>
            </a:r>
            <a:endParaRPr b="1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468000" y="5799002"/>
            <a:ext cx="3629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£14 − £5.55… ≈ £8.44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profit</a:t>
            </a:r>
            <a:endParaRPr b="1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3821175" y="4893766"/>
            <a:ext cx="17352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Google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£2500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3821175" y="5100721"/>
            <a:ext cx="3532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0.38 × 14 000 = 5320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visitors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3821167" y="5333475"/>
            <a:ext cx="3786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£2500 ÷ 5320 = £0.46…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 visit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3821167" y="5570750"/>
            <a:ext cx="3831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£0.46… × 40 = £18.79…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 sale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3821175" y="5799002"/>
            <a:ext cx="3629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£14 − £18.79… ≈ £4.80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loss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468000" y="6321450"/>
            <a:ext cx="6623400" cy="25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You might have said: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“Google is expensive and currently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unprofitable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for a business of your size.”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“Direct email campaigns remain the most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profitable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form of advertising for your business, your market.”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“You spent more than seven times £350 advertising on Google. Perhaps redirect that money and do more direct email campaigns.”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“YouTube and Facebook are both more expensive and less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profitable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than direct email but, they still make a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profit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and give your brand/business good exposure so continue to invest in these.”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5" name="Google Shape;155;p13"/>
          <p:cNvCxnSpPr/>
          <p:nvPr/>
        </p:nvCxnSpPr>
        <p:spPr>
          <a:xfrm>
            <a:off x="4744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13"/>
          <p:cNvSpPr/>
          <p:nvPr/>
        </p:nvSpPr>
        <p:spPr>
          <a:xfrm rot="10800000">
            <a:off x="4215733" y="798042"/>
            <a:ext cx="2556900" cy="2557200"/>
          </a:xfrm>
          <a:prstGeom prst="pie">
            <a:avLst>
              <a:gd fmla="val 5388155" name="adj1"/>
              <a:gd fmla="val 11574783" name="adj2"/>
            </a:avLst>
          </a:prstGeom>
          <a:solidFill>
            <a:srgbClr val="9999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3"/>
          <p:cNvSpPr/>
          <p:nvPr/>
        </p:nvSpPr>
        <p:spPr>
          <a:xfrm rot="7200202">
            <a:off x="4218984" y="798120"/>
            <a:ext cx="2556940" cy="2556940"/>
          </a:xfrm>
          <a:prstGeom prst="pie">
            <a:avLst>
              <a:gd fmla="val 18447359" name="adj1"/>
              <a:gd fmla="val 379946" name="adj2"/>
            </a:avLst>
          </a:prstGeom>
          <a:solidFill>
            <a:srgbClr val="CCCCCC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3"/>
          <p:cNvSpPr/>
          <p:nvPr/>
        </p:nvSpPr>
        <p:spPr>
          <a:xfrm rot="5400000">
            <a:off x="4218882" y="798336"/>
            <a:ext cx="2557200" cy="2556900"/>
          </a:xfrm>
          <a:prstGeom prst="pie">
            <a:avLst>
              <a:gd fmla="val 2090036" name="adj1"/>
              <a:gd fmla="val 10772712" name="adj2"/>
            </a:avLst>
          </a:prstGeom>
          <a:solidFill>
            <a:srgbClr val="D9D9D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3"/>
          <p:cNvSpPr txBox="1"/>
          <p:nvPr/>
        </p:nvSpPr>
        <p:spPr>
          <a:xfrm>
            <a:off x="4536309" y="1536918"/>
            <a:ext cx="6663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Google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advert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38%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5524855" y="1269100"/>
            <a:ext cx="9306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YouTube advert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28%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3"/>
          <p:cNvSpPr/>
          <p:nvPr/>
        </p:nvSpPr>
        <p:spPr>
          <a:xfrm rot="7200202">
            <a:off x="4219477" y="809200"/>
            <a:ext cx="2556940" cy="2556940"/>
          </a:xfrm>
          <a:prstGeom prst="pie">
            <a:avLst>
              <a:gd fmla="val 15104485" name="adj1"/>
              <a:gd fmla="val 18428904" name="adj2"/>
            </a:avLst>
          </a:prstGeom>
          <a:solidFill>
            <a:srgbClr val="B7B7B7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5050878" y="2592551"/>
            <a:ext cx="728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Direct email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18%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5668895" y="2295110"/>
            <a:ext cx="9306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Facebook advert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16%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Sales and marketing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468000" y="1052482"/>
            <a:ext cx="6624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Jun is CEO of a sweet manufacturer that sold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36 000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packets of sweets last year 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£1.80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 packet. Their manufacturing cost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£0.60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per unit.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468750" y="720000"/>
            <a:ext cx="62448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 in sales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" name="Google Shape;1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412983" y="1325319"/>
            <a:ext cx="679008" cy="84909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4"/>
          <p:cNvSpPr txBox="1"/>
          <p:nvPr/>
        </p:nvSpPr>
        <p:spPr>
          <a:xfrm>
            <a:off x="468000" y="1629128"/>
            <a:ext cx="53961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Jun’s current revenue and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profit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1418567" y="1941948"/>
            <a:ext cx="22137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36 000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packets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1418562" y="2254673"/>
            <a:ext cx="2555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Selling price: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£1.80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1418561" y="2567398"/>
            <a:ext cx="23169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 price: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£0.60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1418562" y="2880123"/>
            <a:ext cx="42495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Revenue: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36 000 × £1.80 = £64 800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1418582" y="3505573"/>
            <a:ext cx="3860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Profit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£64 800 − £21 600 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£43 200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1418563" y="3192848"/>
            <a:ext cx="43338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Costs: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36 000 × £0.60 = £21 600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468000" y="4131025"/>
            <a:ext cx="662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If Jun could double his sales by halving his price should he?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1418567" y="4518692"/>
            <a:ext cx="22137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72 000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packets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1418562" y="4894851"/>
            <a:ext cx="2555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Selling price: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£0.90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1418561" y="5271010"/>
            <a:ext cx="23169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 price: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£0.60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1418562" y="5647169"/>
            <a:ext cx="42495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Revenue: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72 000 × £0.90 = £64 800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14"/>
          <p:cNvSpPr txBox="1"/>
          <p:nvPr/>
        </p:nvSpPr>
        <p:spPr>
          <a:xfrm>
            <a:off x="1418582" y="6399488"/>
            <a:ext cx="3860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Profit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£64 800 − £43 200 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£21 600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1418563" y="6023329"/>
            <a:ext cx="43338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Costs: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72 000 × £0.60 = £43 200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3585676" y="4546357"/>
            <a:ext cx="33432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said, “Whilst this will increase volume and market share it halves your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profit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 I recommend you don’t”.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468000" y="6903775"/>
            <a:ext cx="66090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If Jun could increase his sales by a third by reducing his price by one third should he?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4"/>
          <p:cNvSpPr txBox="1"/>
          <p:nvPr/>
        </p:nvSpPr>
        <p:spPr>
          <a:xfrm>
            <a:off x="1416418" y="7468393"/>
            <a:ext cx="22086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48 000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packets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4"/>
          <p:cNvSpPr txBox="1"/>
          <p:nvPr/>
        </p:nvSpPr>
        <p:spPr>
          <a:xfrm>
            <a:off x="1416412" y="7796281"/>
            <a:ext cx="25497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Selling price: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£1.20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4"/>
          <p:cNvSpPr txBox="1"/>
          <p:nvPr/>
        </p:nvSpPr>
        <p:spPr>
          <a:xfrm>
            <a:off x="1416411" y="8124169"/>
            <a:ext cx="23115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 price: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£0.60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1416412" y="8452057"/>
            <a:ext cx="4239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Revenue: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48 000 × £1.20 = £57 600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4"/>
          <p:cNvSpPr txBox="1"/>
          <p:nvPr/>
        </p:nvSpPr>
        <p:spPr>
          <a:xfrm>
            <a:off x="1416432" y="9107834"/>
            <a:ext cx="38517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Profit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£57 600 − £28 800 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£28 800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1416413" y="8779946"/>
            <a:ext cx="432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Costs: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48 000 × £0.60 = £28 800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3756452" y="7258892"/>
            <a:ext cx="33354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said, “Whilst this will increase volume and market share it will reduce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profit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by one third so I recommend you don’t”.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02" name="Google Shape;202;p15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Sales and marketing</a:t>
            </a:r>
            <a:endParaRPr/>
          </a:p>
        </p:txBody>
      </p:sp>
      <p:sp>
        <p:nvSpPr>
          <p:cNvPr id="203" name="Google Shape;203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</a:t>
            </a:r>
            <a:r>
              <a:rPr lang="en-GB"/>
              <a:t>Industry</a:t>
            </a:r>
            <a:endParaRPr/>
          </a:p>
        </p:txBody>
      </p:sp>
      <p:sp>
        <p:nvSpPr>
          <p:cNvPr id="204" name="Google Shape;204;p15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468000" y="720000"/>
            <a:ext cx="6624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Andeep is a commercial accountant for a guitar manufacturer that sells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units a year 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£600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per unit and costs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£480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per unit to make.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 below are good commercial deals?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468000" y="3139607"/>
            <a:ext cx="5396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5%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uplift in sales for 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drop in price?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" name="Google Shape;20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6146" y="1533625"/>
            <a:ext cx="699656" cy="90220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5"/>
          <p:cNvSpPr txBox="1"/>
          <p:nvPr/>
        </p:nvSpPr>
        <p:spPr>
          <a:xfrm>
            <a:off x="468000" y="5030951"/>
            <a:ext cx="5396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50%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uplift in sales for 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15%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drop in price?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5"/>
          <p:cNvSpPr txBox="1"/>
          <p:nvPr/>
        </p:nvSpPr>
        <p:spPr>
          <a:xfrm>
            <a:off x="468000" y="6934230"/>
            <a:ext cx="5396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drop in sales for 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5%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increase in price?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468000" y="8879388"/>
            <a:ext cx="66240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If Andeep were to drop his price by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12%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what percent uplift in sales would he need to see to maintain his existing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profit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468005" y="1544309"/>
            <a:ext cx="20421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guitars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15"/>
          <p:cNvSpPr txBox="1"/>
          <p:nvPr/>
        </p:nvSpPr>
        <p:spPr>
          <a:xfrm>
            <a:off x="468000" y="1806198"/>
            <a:ext cx="23574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Selling price: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£600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5"/>
          <p:cNvSpPr txBox="1"/>
          <p:nvPr/>
        </p:nvSpPr>
        <p:spPr>
          <a:xfrm>
            <a:off x="467999" y="2068087"/>
            <a:ext cx="21372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Cost price: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£480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468001" y="2329981"/>
            <a:ext cx="29520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Revenue: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1200 × £600 = £720 000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468019" y="2853752"/>
            <a:ext cx="15975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Profit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£144 000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15"/>
          <p:cNvSpPr txBox="1"/>
          <p:nvPr/>
        </p:nvSpPr>
        <p:spPr>
          <a:xfrm>
            <a:off x="468001" y="2591858"/>
            <a:ext cx="27096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Costs: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1200 × £480 = £576 000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15"/>
          <p:cNvSpPr txBox="1"/>
          <p:nvPr/>
        </p:nvSpPr>
        <p:spPr>
          <a:xfrm>
            <a:off x="467999" y="1327398"/>
            <a:ext cx="21372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Current: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15"/>
          <p:cNvSpPr txBox="1"/>
          <p:nvPr/>
        </p:nvSpPr>
        <p:spPr>
          <a:xfrm>
            <a:off x="468003" y="3435907"/>
            <a:ext cx="20421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1260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guitars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15"/>
          <p:cNvSpPr txBox="1"/>
          <p:nvPr/>
        </p:nvSpPr>
        <p:spPr>
          <a:xfrm>
            <a:off x="467998" y="3697796"/>
            <a:ext cx="23574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Selling price: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£540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467997" y="3959685"/>
            <a:ext cx="21372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Cost price: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£480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468003" y="4221574"/>
            <a:ext cx="29520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Revenue: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1260 × £540 = £680 400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15"/>
          <p:cNvSpPr txBox="1"/>
          <p:nvPr/>
        </p:nvSpPr>
        <p:spPr>
          <a:xfrm>
            <a:off x="468019" y="4745351"/>
            <a:ext cx="16665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Profit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£75 600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5"/>
          <p:cNvSpPr txBox="1"/>
          <p:nvPr/>
        </p:nvSpPr>
        <p:spPr>
          <a:xfrm>
            <a:off x="468002" y="4483463"/>
            <a:ext cx="26133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Costs: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1260 × £480 = £604 800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4" name="Google Shape;22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0000" y="3141037"/>
            <a:ext cx="278898" cy="29562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5"/>
          <p:cNvSpPr txBox="1"/>
          <p:nvPr/>
        </p:nvSpPr>
        <p:spPr>
          <a:xfrm>
            <a:off x="468003" y="5304227"/>
            <a:ext cx="20421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1800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guitars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15"/>
          <p:cNvSpPr txBox="1"/>
          <p:nvPr/>
        </p:nvSpPr>
        <p:spPr>
          <a:xfrm>
            <a:off x="467998" y="5566118"/>
            <a:ext cx="23574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Selling price: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5"/>
          <p:cNvSpPr txBox="1"/>
          <p:nvPr/>
        </p:nvSpPr>
        <p:spPr>
          <a:xfrm>
            <a:off x="467997" y="5828009"/>
            <a:ext cx="21372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Cost price: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£480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5"/>
          <p:cNvSpPr txBox="1"/>
          <p:nvPr/>
        </p:nvSpPr>
        <p:spPr>
          <a:xfrm>
            <a:off x="468003" y="6089901"/>
            <a:ext cx="29520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Revenue: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1800 × £510 = £918 000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15"/>
          <p:cNvSpPr txBox="1"/>
          <p:nvPr/>
        </p:nvSpPr>
        <p:spPr>
          <a:xfrm>
            <a:off x="468019" y="6613683"/>
            <a:ext cx="16665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Profit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£54 000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468002" y="6351792"/>
            <a:ext cx="26133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Costs: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1800 × £480 = £864 000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1" name="Google Shape;23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6200" y="4969837"/>
            <a:ext cx="278898" cy="29562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5"/>
          <p:cNvSpPr txBox="1"/>
          <p:nvPr/>
        </p:nvSpPr>
        <p:spPr>
          <a:xfrm>
            <a:off x="468003" y="7242401"/>
            <a:ext cx="20421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1080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guitars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467998" y="7504292"/>
            <a:ext cx="23574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Selling price: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£630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467997" y="7766183"/>
            <a:ext cx="21372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Cost price: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£480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468003" y="8028074"/>
            <a:ext cx="29520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Revenue: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1080 × £630 = £680 400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468019" y="8551855"/>
            <a:ext cx="16665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Profit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£162 000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468002" y="8289964"/>
            <a:ext cx="26133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Costs: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1080 × £480 = £518 400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8" name="Google Shape;23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7593" y="6922301"/>
            <a:ext cx="284820" cy="30143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/>
          <p:cNvSpPr txBox="1"/>
          <p:nvPr/>
        </p:nvSpPr>
        <p:spPr>
          <a:xfrm>
            <a:off x="477300" y="9292723"/>
            <a:ext cx="3758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Current total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profit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£144 000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477308" y="9512729"/>
            <a:ext cx="3758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New price: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£600 × 0.88 = £528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477299" y="9717802"/>
            <a:ext cx="4670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New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profit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 unit: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£528 − £480 = £48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3197126" y="9292722"/>
            <a:ext cx="34152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£144 000 ÷ £48 = 3000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units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3197126" y="9506756"/>
            <a:ext cx="30456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3000 ÷ 1200 = 2.5 = 250%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15"/>
          <p:cNvSpPr txBox="1"/>
          <p:nvPr/>
        </p:nvSpPr>
        <p:spPr>
          <a:xfrm>
            <a:off x="5148000" y="9292734"/>
            <a:ext cx="19440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would need to see a 150% increase in sales to achieve the same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profit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