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BEDB2D-1168-43D3-9195-50B46805A593}">
  <a:tblStyle styleId="{5ABEDB2D-1168-43D3-9195-50B46805A59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0cb5f6225_2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0cb5f6225_2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eff7bdc9b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eff7bdc9b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f08b171517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f08b171517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f08b17151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2f08b17151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f08b171517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f08b17151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2f0cb5f622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2f0cb5f622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f0cb5f622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f0cb5f622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f0cb5f622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2f0cb5f622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f0cb5f622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f0cb5f622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f0cb5f6225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2f0cb5f6225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2f0cb5f622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2f0cb5f622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2f0cb5f6225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2f0cb5f622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2f0cb5f6225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2f0cb5f6225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2f0cb5f6225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2f0cb5f6225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2f0cb5f6225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2f0cb5f6225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2f0cb5f6225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2f0cb5f6225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2f0cb5f6225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9" name="Google Shape;1359;g2f0cb5f6225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2f0cb5f6225_0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2f0cb5f6225_0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2f0cb5f6225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2f0cb5f6225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2f08b17151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2f08b17151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2f0cb5f6225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2f0cb5f6225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0557461f5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0557461f5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2f0cb5f622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2f0cb5f622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2f0cb5f6225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2f0cb5f6225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2f0cb5f6225_0_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2f0cb5f6225_0_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2f0cb5f6225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2f0cb5f6225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2f08b17151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2f08b17151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2f08b17151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2f08b17151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2f08b171517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2f08b171517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2f08b171517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2f08b171517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2f0cb5f6225_2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2f0cb5f6225_2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2f0cb5f6225_2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2f0cb5f6225_2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2f0cb5f6225_2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g2f0cb5f6225_2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2f08b171517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2f08b171517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2f08b17151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2f08b17151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2f0cb5f6225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0" name="Google Shape;1600;g2f0cb5f6225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0557461f5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30557461f5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g2f0cb5f6225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7" name="Google Shape;1617;g2f0cb5f6225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2f0cb5f6225_2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4" name="Google Shape;1624;g2f0cb5f6225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g2f0cb5f6225_2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4" name="Google Shape;1634;g2f0cb5f6225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2f0cb5f6225_2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2f0cb5f6225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2f0cb5f6225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2f0cb5f6225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2f0cb5f6225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g2f0cb5f6225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g2f0cb5f6225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8" name="Google Shape;1668;g2f0cb5f6225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g2f0cb5f6225_2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7" name="Google Shape;1677;g2f0cb5f6225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7" name="Google Shape;1687;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8.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2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2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37.png"/><Relationship Id="rId7" Type="http://schemas.openxmlformats.org/officeDocument/2006/relationships/image" Target="../media/image3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0.png"/><Relationship Id="rId4" Type="http://schemas.openxmlformats.org/officeDocument/2006/relationships/image" Target="../media/image78.png"/><Relationship Id="rId5" Type="http://schemas.openxmlformats.org/officeDocument/2006/relationships/image" Target="../media/image43.png"/><Relationship Id="rId6" Type="http://schemas.openxmlformats.org/officeDocument/2006/relationships/image" Target="../media/image42.png"/><Relationship Id="rId7" Type="http://schemas.openxmlformats.org/officeDocument/2006/relationships/image" Target="../media/image3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78.png"/><Relationship Id="rId4" Type="http://schemas.openxmlformats.org/officeDocument/2006/relationships/image" Target="../media/image34.png"/><Relationship Id="rId9" Type="http://schemas.openxmlformats.org/officeDocument/2006/relationships/image" Target="../media/image32.png"/><Relationship Id="rId5" Type="http://schemas.openxmlformats.org/officeDocument/2006/relationships/image" Target="../media/image40.png"/><Relationship Id="rId6" Type="http://schemas.openxmlformats.org/officeDocument/2006/relationships/image" Target="../media/image47.png"/><Relationship Id="rId7" Type="http://schemas.openxmlformats.org/officeDocument/2006/relationships/image" Target="../media/image43.png"/><Relationship Id="rId8" Type="http://schemas.openxmlformats.org/officeDocument/2006/relationships/image" Target="../media/image4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78.png"/><Relationship Id="rId4" Type="http://schemas.openxmlformats.org/officeDocument/2006/relationships/image" Target="../media/image45.png"/><Relationship Id="rId11" Type="http://schemas.openxmlformats.org/officeDocument/2006/relationships/image" Target="../media/image32.png"/><Relationship Id="rId10" Type="http://schemas.openxmlformats.org/officeDocument/2006/relationships/image" Target="../media/image51.png"/><Relationship Id="rId9" Type="http://schemas.openxmlformats.org/officeDocument/2006/relationships/image" Target="../media/image42.png"/><Relationship Id="rId5" Type="http://schemas.openxmlformats.org/officeDocument/2006/relationships/image" Target="../media/image34.png"/><Relationship Id="rId6" Type="http://schemas.openxmlformats.org/officeDocument/2006/relationships/image" Target="../media/image40.png"/><Relationship Id="rId7" Type="http://schemas.openxmlformats.org/officeDocument/2006/relationships/image" Target="../media/image47.png"/><Relationship Id="rId8"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9.png"/><Relationship Id="rId4" Type="http://schemas.openxmlformats.org/officeDocument/2006/relationships/image" Target="../media/image5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8.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71.png"/><Relationship Id="rId4" Type="http://schemas.openxmlformats.org/officeDocument/2006/relationships/image" Target="../media/image75.png"/><Relationship Id="rId5" Type="http://schemas.openxmlformats.org/officeDocument/2006/relationships/image" Target="../media/image7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7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7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7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 Id="rId3" Type="http://schemas.openxmlformats.org/officeDocument/2006/relationships/image" Target="../media/image7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 Id="rId3" Type="http://schemas.openxmlformats.org/officeDocument/2006/relationships/image" Target="../media/image77.png"/><Relationship Id="rId4" Type="http://schemas.openxmlformats.org/officeDocument/2006/relationships/image" Target="../media/image74.png"/><Relationship Id="rId5" Type="http://schemas.openxmlformats.org/officeDocument/2006/relationships/image" Target="../media/image7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2.xml"/><Relationship Id="rId3" Type="http://schemas.openxmlformats.org/officeDocument/2006/relationships/image" Target="../media/image79.png"/><Relationship Id="rId4" Type="http://schemas.openxmlformats.org/officeDocument/2006/relationships/image" Target="../media/image8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3.xml"/><Relationship Id="rId3" Type="http://schemas.openxmlformats.org/officeDocument/2006/relationships/image" Target="../media/image79.png"/><Relationship Id="rId4" Type="http://schemas.openxmlformats.org/officeDocument/2006/relationships/image" Target="../media/image8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xml"/><Relationship Id="rId3" Type="http://schemas.openxmlformats.org/officeDocument/2006/relationships/image" Target="../media/image7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xml"/><Relationship Id="rId3" Type="http://schemas.openxmlformats.org/officeDocument/2006/relationships/image" Target="../media/image8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6.xml"/><Relationship Id="rId3" Type="http://schemas.openxmlformats.org/officeDocument/2006/relationships/image" Target="../media/image8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7.xml"/><Relationship Id="rId3" Type="http://schemas.openxmlformats.org/officeDocument/2006/relationships/image" Target="../media/image83.png"/><Relationship Id="rId4" Type="http://schemas.openxmlformats.org/officeDocument/2006/relationships/image" Target="../media/image8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8.xml"/><Relationship Id="rId3" Type="http://schemas.openxmlformats.org/officeDocument/2006/relationships/image" Target="../media/image85.png"/><Relationship Id="rId4" Type="http://schemas.openxmlformats.org/officeDocument/2006/relationships/image" Target="../media/image84.png"/><Relationship Id="rId5" Type="http://schemas.openxmlformats.org/officeDocument/2006/relationships/image" Target="../media/image8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9.xml"/><Relationship Id="rId3" Type="http://schemas.openxmlformats.org/officeDocument/2006/relationships/image" Target="../media/image85.png"/><Relationship Id="rId4" Type="http://schemas.openxmlformats.org/officeDocument/2006/relationships/image" Target="../media/image84.png"/><Relationship Id="rId5" Type="http://schemas.openxmlformats.org/officeDocument/2006/relationships/image" Target="../media/image8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 Id="rId3" Type="http://schemas.openxmlformats.org/officeDocument/2006/relationships/image" Target="../media/image6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 Id="rId3" Type="http://schemas.openxmlformats.org/officeDocument/2006/relationships/image" Target="../media/image8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 Id="rId3" Type="http://schemas.openxmlformats.org/officeDocument/2006/relationships/image" Target="../media/image8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0.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Catering</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in the 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maths is used in the catering industry.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nvSpPr>
        <p:spPr>
          <a:xfrm>
            <a:off x="383150" y="836400"/>
            <a:ext cx="84369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Metric units are based around the standard units of metre, gram and litre.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Percentage loss is the decrease when referencing something that loses cost/mass/length, etc. given as a percentage of the original amount. </a:t>
            </a:r>
            <a:endParaRPr sz="22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865" name="Google Shape;865;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866" name="Google Shape;866;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Catering</a:t>
            </a:r>
            <a:endParaRPr/>
          </a:p>
        </p:txBody>
      </p:sp>
      <p:pic>
        <p:nvPicPr>
          <p:cNvPr id="867" name="Google Shape;867;p78"/>
          <p:cNvPicPr preferRelativeResize="0"/>
          <p:nvPr/>
        </p:nvPicPr>
        <p:blipFill>
          <a:blip r:embed="rId3">
            <a:alphaModFix/>
          </a:blip>
          <a:stretch>
            <a:fillRect/>
          </a:stretch>
        </p:blipFill>
        <p:spPr>
          <a:xfrm>
            <a:off x="42170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873" name="Google Shape;873;p79"/>
          <p:cNvSpPr txBox="1"/>
          <p:nvPr>
            <p:ph idx="1" type="body"/>
          </p:nvPr>
        </p:nvSpPr>
        <p:spPr>
          <a:xfrm>
            <a:off x="324000" y="759300"/>
            <a:ext cx="8237700" cy="70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areas of maths do you think a caterer might use?</a:t>
            </a:r>
            <a:endParaRPr>
              <a:latin typeface="Kalam"/>
              <a:ea typeface="Kalam"/>
              <a:cs typeface="Kalam"/>
              <a:sym typeface="Kalam"/>
            </a:endParaRPr>
          </a:p>
        </p:txBody>
      </p:sp>
      <p:sp>
        <p:nvSpPr>
          <p:cNvPr id="874" name="Google Shape;874;p79"/>
          <p:cNvSpPr txBox="1"/>
          <p:nvPr>
            <p:ph idx="1" type="body"/>
          </p:nvPr>
        </p:nvSpPr>
        <p:spPr>
          <a:xfrm>
            <a:off x="324000" y="1597500"/>
            <a:ext cx="32421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Font typeface="Kalam"/>
              <a:buChar char="●"/>
            </a:pPr>
            <a:r>
              <a:rPr lang="en-GB">
                <a:latin typeface="Kalam"/>
                <a:ea typeface="Kalam"/>
                <a:cs typeface="Kalam"/>
                <a:sym typeface="Kalam"/>
              </a:rPr>
              <a:t>Measures</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Money</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Conversions</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Proportion</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Percentages</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Ratio</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Temperature</a:t>
            </a:r>
            <a:endParaRPr>
              <a:latin typeface="Kalam"/>
              <a:ea typeface="Kalam"/>
              <a:cs typeface="Kalam"/>
              <a:sym typeface="Kalam"/>
            </a:endParaRPr>
          </a:p>
        </p:txBody>
      </p:sp>
      <p:pic>
        <p:nvPicPr>
          <p:cNvPr id="875" name="Google Shape;875;p79"/>
          <p:cNvPicPr preferRelativeResize="0"/>
          <p:nvPr/>
        </p:nvPicPr>
        <p:blipFill>
          <a:blip r:embed="rId3">
            <a:alphaModFix/>
          </a:blip>
          <a:stretch>
            <a:fillRect/>
          </a:stretch>
        </p:blipFill>
        <p:spPr>
          <a:xfrm>
            <a:off x="8121640" y="810001"/>
            <a:ext cx="698351" cy="752249"/>
          </a:xfrm>
          <a:prstGeom prst="rect">
            <a:avLst/>
          </a:prstGeom>
          <a:noFill/>
          <a:ln>
            <a:noFill/>
          </a:ln>
        </p:spPr>
      </p:pic>
      <p:grpSp>
        <p:nvGrpSpPr>
          <p:cNvPr id="876" name="Google Shape;876;p79"/>
          <p:cNvGrpSpPr/>
          <p:nvPr/>
        </p:nvGrpSpPr>
        <p:grpSpPr>
          <a:xfrm>
            <a:off x="6979409" y="1215189"/>
            <a:ext cx="1125420" cy="784778"/>
            <a:chOff x="5436125" y="3092575"/>
            <a:chExt cx="2440200" cy="1701600"/>
          </a:xfrm>
        </p:grpSpPr>
        <p:sp>
          <p:nvSpPr>
            <p:cNvPr id="877" name="Google Shape;877;p79"/>
            <p:cNvSpPr/>
            <p:nvPr/>
          </p:nvSpPr>
          <p:spPr>
            <a:xfrm>
              <a:off x="5641600" y="3458575"/>
              <a:ext cx="2022600" cy="1335600"/>
            </a:xfrm>
            <a:prstGeom prst="roundRect">
              <a:avLst>
                <a:gd fmla="val 16667" name="adj"/>
              </a:avLst>
            </a:prstGeom>
            <a:solidFill>
              <a:schemeClr val="accent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8" name="Google Shape;878;p79"/>
            <p:cNvSpPr/>
            <p:nvPr/>
          </p:nvSpPr>
          <p:spPr>
            <a:xfrm>
              <a:off x="5737925" y="3626952"/>
              <a:ext cx="1822800" cy="976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9" name="Google Shape;879;p79"/>
            <p:cNvSpPr/>
            <p:nvPr/>
          </p:nvSpPr>
          <p:spPr>
            <a:xfrm>
              <a:off x="6534100" y="3137575"/>
              <a:ext cx="237600" cy="321000"/>
            </a:xfrm>
            <a:prstGeom prst="rect">
              <a:avLst/>
            </a:prstGeom>
            <a:solidFill>
              <a:schemeClr val="accent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0" name="Google Shape;880;p79"/>
            <p:cNvSpPr/>
            <p:nvPr/>
          </p:nvSpPr>
          <p:spPr>
            <a:xfrm>
              <a:off x="5436125" y="3092575"/>
              <a:ext cx="2440200" cy="45000"/>
            </a:xfrm>
            <a:prstGeom prst="rect">
              <a:avLst/>
            </a:prstGeom>
            <a:solidFill>
              <a:schemeClr val="accent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81" name="Google Shape;881;p79"/>
          <p:cNvPicPr preferRelativeResize="0"/>
          <p:nvPr/>
        </p:nvPicPr>
        <p:blipFill>
          <a:blip r:embed="rId4">
            <a:alphaModFix/>
          </a:blip>
          <a:stretch>
            <a:fillRect/>
          </a:stretch>
        </p:blipFill>
        <p:spPr>
          <a:xfrm>
            <a:off x="7169743" y="1478809"/>
            <a:ext cx="744915" cy="409707"/>
          </a:xfrm>
          <a:prstGeom prst="rect">
            <a:avLst/>
          </a:prstGeom>
          <a:noFill/>
          <a:ln>
            <a:noFill/>
          </a:ln>
        </p:spPr>
      </p:pic>
      <p:sp>
        <p:nvSpPr>
          <p:cNvPr id="882" name="Google Shape;882;p79"/>
          <p:cNvSpPr txBox="1"/>
          <p:nvPr/>
        </p:nvSpPr>
        <p:spPr>
          <a:xfrm>
            <a:off x="7468116" y="1788559"/>
            <a:ext cx="148200" cy="10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800">
                <a:latin typeface="Lexend"/>
                <a:ea typeface="Lexend"/>
                <a:cs typeface="Lexend"/>
                <a:sym typeface="Lexend"/>
              </a:rPr>
              <a:t>kg</a:t>
            </a:r>
            <a:endParaRPr sz="800">
              <a:latin typeface="Lexend"/>
              <a:ea typeface="Lexend"/>
              <a:cs typeface="Lexend"/>
              <a:sym typeface="Lexend"/>
            </a:endParaRPr>
          </a:p>
        </p:txBody>
      </p:sp>
      <p:pic>
        <p:nvPicPr>
          <p:cNvPr id="883" name="Google Shape;883;p79"/>
          <p:cNvPicPr preferRelativeResize="0"/>
          <p:nvPr/>
        </p:nvPicPr>
        <p:blipFill>
          <a:blip r:embed="rId5">
            <a:alphaModFix/>
          </a:blip>
          <a:stretch>
            <a:fillRect/>
          </a:stretch>
        </p:blipFill>
        <p:spPr>
          <a:xfrm>
            <a:off x="8328950" y="1642850"/>
            <a:ext cx="426025" cy="1724249"/>
          </a:xfrm>
          <a:prstGeom prst="rect">
            <a:avLst/>
          </a:prstGeom>
          <a:noFill/>
          <a:ln>
            <a:noFill/>
          </a:ln>
        </p:spPr>
      </p:pic>
      <p:sp>
        <p:nvSpPr>
          <p:cNvPr id="884" name="Google Shape;884;p79"/>
          <p:cNvSpPr txBox="1"/>
          <p:nvPr/>
        </p:nvSpPr>
        <p:spPr>
          <a:xfrm>
            <a:off x="324000" y="4297200"/>
            <a:ext cx="8004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During this lesson we will look at the majority of these.</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890" name="Google Shape;890;p80"/>
          <p:cNvSpPr txBox="1"/>
          <p:nvPr>
            <p:ph idx="1" type="body"/>
          </p:nvPr>
        </p:nvSpPr>
        <p:spPr>
          <a:xfrm>
            <a:off x="4824000" y="683100"/>
            <a:ext cx="3996000" cy="113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Often recipes are written in US terms.</a:t>
            </a:r>
            <a:endParaRPr/>
          </a:p>
          <a:p>
            <a:pPr indent="0" lvl="0" marL="0" rtl="0" algn="l">
              <a:spcBef>
                <a:spcPts val="1000"/>
              </a:spcBef>
              <a:spcAft>
                <a:spcPts val="1000"/>
              </a:spcAft>
              <a:buNone/>
            </a:pPr>
            <a:r>
              <a:rPr lang="en-GB"/>
              <a:t>A caterer needs to be able to convert these measures into metric units.</a:t>
            </a:r>
            <a:endParaRPr/>
          </a:p>
        </p:txBody>
      </p:sp>
      <p:pic>
        <p:nvPicPr>
          <p:cNvPr id="891" name="Google Shape;891;p80"/>
          <p:cNvPicPr preferRelativeResize="0"/>
          <p:nvPr/>
        </p:nvPicPr>
        <p:blipFill>
          <a:blip r:embed="rId3">
            <a:alphaModFix/>
          </a:blip>
          <a:stretch>
            <a:fillRect/>
          </a:stretch>
        </p:blipFill>
        <p:spPr>
          <a:xfrm>
            <a:off x="373675" y="683100"/>
            <a:ext cx="4246478" cy="4137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grpSp>
        <p:nvGrpSpPr>
          <p:cNvPr id="896" name="Google Shape;896;p81"/>
          <p:cNvGrpSpPr/>
          <p:nvPr/>
        </p:nvGrpSpPr>
        <p:grpSpPr>
          <a:xfrm>
            <a:off x="2385600" y="1866271"/>
            <a:ext cx="3981025" cy="1943125"/>
            <a:chOff x="328200" y="4039350"/>
            <a:chExt cx="3981025" cy="1943125"/>
          </a:xfrm>
        </p:grpSpPr>
        <p:pic>
          <p:nvPicPr>
            <p:cNvPr id="897" name="Google Shape;897;p81"/>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898" name="Google Shape;898;p81"/>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899" name="Google Shape;899;p81"/>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a:t>
              </a:r>
              <a:r>
                <a:rPr lang="en-GB" sz="1800">
                  <a:solidFill>
                    <a:schemeClr val="dk1"/>
                  </a:solidFill>
                  <a:latin typeface="Lexend"/>
                  <a:ea typeface="Lexend"/>
                  <a:cs typeface="Lexend"/>
                  <a:sym typeface="Lexend"/>
                </a:rPr>
                <a:t>bsp</a:t>
              </a:r>
              <a:endParaRPr sz="1800">
                <a:solidFill>
                  <a:schemeClr val="dk1"/>
                </a:solidFill>
                <a:latin typeface="Lexend"/>
                <a:ea typeface="Lexend"/>
                <a:cs typeface="Lexend"/>
                <a:sym typeface="Lexend"/>
              </a:endParaRPr>
            </a:p>
          </p:txBody>
        </p:sp>
      </p:grpSp>
      <p:sp>
        <p:nvSpPr>
          <p:cNvPr id="900" name="Google Shape;900;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901" name="Google Shape;901;p81"/>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2" name="Google Shape;902;p81"/>
          <p:cNvCxnSpPr>
            <a:stCxn id="901"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903" name="Google Shape;903;p81"/>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904" name="Google Shape;904;p81"/>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5" name="Google Shape;905;p81"/>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6" name="Google Shape;906;p81"/>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07" name="Google Shape;907;p81"/>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908" name="Google Shape;908;p81"/>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9" name="Google Shape;909;p81"/>
          <p:cNvCxnSpPr>
            <a:stCxn id="908"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910" name="Google Shape;910;p81"/>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911" name="Google Shape;911;p81"/>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2" name="Google Shape;912;p81"/>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3" name="Google Shape;913;p81"/>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14" name="Google Shape;914;p81"/>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15" name="Google Shape;915;p81"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16" name="Google Shape;916;p81"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17" name="Google Shape;917;p81"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18" name="Google Shape;918;p81"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19" name="Google Shape;919;p81"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920" name="Google Shape;920;p81"/>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921" name="Google Shape;921;p81"/>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922" name="Google Shape;922;p81"/>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3" name="Google Shape;923;p81"/>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4" name="Google Shape;924;p81"/>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925" name="Google Shape;925;p81"/>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926" name="Google Shape;926;p81"/>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927" name="Google Shape;927;p81"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928" name="Google Shape;928;p81"/>
            <p:cNvGrpSpPr/>
            <p:nvPr/>
          </p:nvGrpSpPr>
          <p:grpSpPr>
            <a:xfrm>
              <a:off x="3507724" y="1857156"/>
              <a:ext cx="2136900" cy="556500"/>
              <a:chOff x="3784325" y="1857156"/>
              <a:chExt cx="2136900" cy="556500"/>
            </a:xfrm>
          </p:grpSpPr>
          <p:sp>
            <p:nvSpPr>
              <p:cNvPr id="929" name="Google Shape;929;p81"/>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0" name="Google Shape;930;p81"/>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931" name="Google Shape;931;p81"/>
          <p:cNvSpPr txBox="1"/>
          <p:nvPr/>
        </p:nvSpPr>
        <p:spPr>
          <a:xfrm>
            <a:off x="343750" y="3746500"/>
            <a:ext cx="8476200" cy="11112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rPr lang="en-GB" sz="1800">
                <a:solidFill>
                  <a:schemeClr val="dk1"/>
                </a:solidFill>
                <a:latin typeface="Lexend"/>
                <a:ea typeface="Lexend"/>
                <a:cs typeface="Lexend"/>
                <a:sym typeface="Lexend"/>
              </a:rPr>
              <a:t>Is there enough information to convert all of the measurements into metric units?  (Grams and millilitres)</a:t>
            </a:r>
            <a:endParaRPr sz="1800">
              <a:solidFill>
                <a:schemeClr val="dk1"/>
              </a:solidFill>
              <a:latin typeface="Lexend"/>
              <a:ea typeface="Lexend"/>
              <a:cs typeface="Lexend"/>
              <a:sym typeface="Lexend"/>
            </a:endParaRPr>
          </a:p>
          <a:p>
            <a:pPr indent="0" lvl="0" marL="0" rtl="0" algn="l">
              <a:lnSpc>
                <a:spcPct val="95000"/>
              </a:lnSpc>
              <a:spcBef>
                <a:spcPts val="0"/>
              </a:spcBef>
              <a:spcAft>
                <a:spcPts val="0"/>
              </a:spcAft>
              <a:buNone/>
            </a:pPr>
            <a:r>
              <a:rPr lang="en-GB" sz="2000">
                <a:solidFill>
                  <a:schemeClr val="dk1"/>
                </a:solidFill>
                <a:latin typeface="Kalam"/>
                <a:ea typeface="Kalam"/>
                <a:cs typeface="Kalam"/>
                <a:sym typeface="Kalam"/>
              </a:rPr>
              <a:t>No. The teaspoon and tablespoons can be converted but not the cup measurements.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grpSp>
        <p:nvGrpSpPr>
          <p:cNvPr id="936" name="Google Shape;936;p82"/>
          <p:cNvGrpSpPr/>
          <p:nvPr/>
        </p:nvGrpSpPr>
        <p:grpSpPr>
          <a:xfrm>
            <a:off x="2385600" y="1866271"/>
            <a:ext cx="3981025" cy="1943125"/>
            <a:chOff x="328200" y="4039350"/>
            <a:chExt cx="3981025" cy="1943125"/>
          </a:xfrm>
        </p:grpSpPr>
        <p:pic>
          <p:nvPicPr>
            <p:cNvPr id="937" name="Google Shape;937;p82"/>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938" name="Google Shape;938;p82"/>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939" name="Google Shape;939;p82"/>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940" name="Google Shape;940;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941" name="Google Shape;941;p82"/>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2" name="Google Shape;942;p82"/>
          <p:cNvCxnSpPr>
            <a:stCxn id="941"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943" name="Google Shape;943;p82"/>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944" name="Google Shape;944;p82"/>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5" name="Google Shape;945;p82"/>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6" name="Google Shape;946;p82"/>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47" name="Google Shape;947;p82"/>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948" name="Google Shape;948;p82"/>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9" name="Google Shape;949;p82"/>
          <p:cNvCxnSpPr>
            <a:stCxn id="948"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950" name="Google Shape;950;p82"/>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951" name="Google Shape;951;p82"/>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2" name="Google Shape;952;p82"/>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3" name="Google Shape;953;p82"/>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54" name="Google Shape;954;p82"/>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55" name="Google Shape;955;p82"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56" name="Google Shape;956;p82"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57" name="Google Shape;957;p82"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58" name="Google Shape;958;p82"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59" name="Google Shape;959;p82"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960" name="Google Shape;960;p82"/>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961" name="Google Shape;961;p82"/>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962" name="Google Shape;962;p82"/>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3" name="Google Shape;963;p82"/>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4" name="Google Shape;964;p82"/>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965" name="Google Shape;965;p82"/>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966" name="Google Shape;966;p82"/>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967" name="Google Shape;967;p82"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968" name="Google Shape;968;p82"/>
            <p:cNvGrpSpPr/>
            <p:nvPr/>
          </p:nvGrpSpPr>
          <p:grpSpPr>
            <a:xfrm>
              <a:off x="3507724" y="1857156"/>
              <a:ext cx="2136900" cy="556500"/>
              <a:chOff x="3784325" y="1857156"/>
              <a:chExt cx="2136900" cy="556500"/>
            </a:xfrm>
          </p:grpSpPr>
          <p:sp>
            <p:nvSpPr>
              <p:cNvPr id="969" name="Google Shape;969;p82"/>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0" name="Google Shape;970;p82"/>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971" name="Google Shape;971;p82"/>
          <p:cNvSpPr txBox="1"/>
          <p:nvPr/>
        </p:nvSpPr>
        <p:spPr>
          <a:xfrm>
            <a:off x="343750" y="4514140"/>
            <a:ext cx="8476200" cy="2925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rPr lang="en-GB" sz="2000">
                <a:solidFill>
                  <a:schemeClr val="dk1"/>
                </a:solidFill>
                <a:latin typeface="Kalam"/>
                <a:ea typeface="Kalam"/>
                <a:cs typeface="Kalam"/>
                <a:sym typeface="Kalam"/>
              </a:rPr>
              <a:t>Some information about the capacity of a cup.</a:t>
            </a:r>
            <a:endParaRPr sz="2000">
              <a:solidFill>
                <a:schemeClr val="dk1"/>
              </a:solidFill>
              <a:latin typeface="Kalam"/>
              <a:ea typeface="Kalam"/>
              <a:cs typeface="Kalam"/>
              <a:sym typeface="Kalam"/>
            </a:endParaRPr>
          </a:p>
        </p:txBody>
      </p:sp>
      <p:sp>
        <p:nvSpPr>
          <p:cNvPr id="972" name="Google Shape;972;p82"/>
          <p:cNvSpPr txBox="1"/>
          <p:nvPr/>
        </p:nvSpPr>
        <p:spPr>
          <a:xfrm>
            <a:off x="343750" y="3822700"/>
            <a:ext cx="84762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What other pieces of information do you need to convert the cup measurements into metric units?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grpSp>
        <p:nvGrpSpPr>
          <p:cNvPr id="977" name="Google Shape;977;p83"/>
          <p:cNvGrpSpPr/>
          <p:nvPr/>
        </p:nvGrpSpPr>
        <p:grpSpPr>
          <a:xfrm>
            <a:off x="2385600" y="1866271"/>
            <a:ext cx="3981025" cy="1943125"/>
            <a:chOff x="328200" y="4039350"/>
            <a:chExt cx="3981025" cy="1943125"/>
          </a:xfrm>
        </p:grpSpPr>
        <p:pic>
          <p:nvPicPr>
            <p:cNvPr id="978" name="Google Shape;978;p83"/>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979" name="Google Shape;979;p83"/>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980" name="Google Shape;980;p83"/>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981" name="Google Shape;981;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982" name="Google Shape;982;p83"/>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83" name="Google Shape;983;p83"/>
          <p:cNvCxnSpPr>
            <a:stCxn id="982"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984" name="Google Shape;984;p83"/>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985" name="Google Shape;985;p83"/>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6" name="Google Shape;986;p83"/>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7" name="Google Shape;987;p83"/>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88" name="Google Shape;988;p83"/>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989" name="Google Shape;989;p83"/>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0" name="Google Shape;990;p83"/>
          <p:cNvCxnSpPr>
            <a:stCxn id="989"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991" name="Google Shape;991;p83"/>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992" name="Google Shape;992;p83"/>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3" name="Google Shape;993;p83"/>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4" name="Google Shape;994;p83"/>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995" name="Google Shape;995;p83"/>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96" name="Google Shape;996;p83"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97" name="Google Shape;997;p83"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98" name="Google Shape;998;p83"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999" name="Google Shape;999;p83"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000" name="Google Shape;1000;p83"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1001" name="Google Shape;1001;p83"/>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002" name="Google Shape;1002;p83"/>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003" name="Google Shape;1003;p83"/>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4" name="Google Shape;1004;p83"/>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5" name="Google Shape;1005;p83"/>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006" name="Google Shape;1006;p83"/>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007" name="Google Shape;1007;p83"/>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008" name="Google Shape;1008;p83"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009" name="Google Shape;1009;p83"/>
            <p:cNvGrpSpPr/>
            <p:nvPr/>
          </p:nvGrpSpPr>
          <p:grpSpPr>
            <a:xfrm>
              <a:off x="3507724" y="1857156"/>
              <a:ext cx="2136900" cy="556500"/>
              <a:chOff x="3784325" y="1857156"/>
              <a:chExt cx="2136900" cy="556500"/>
            </a:xfrm>
          </p:grpSpPr>
          <p:sp>
            <p:nvSpPr>
              <p:cNvPr id="1010" name="Google Shape;1010;p83"/>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1" name="Google Shape;1011;p83"/>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012" name="Google Shape;1012;p83"/>
          <p:cNvSpPr txBox="1"/>
          <p:nvPr/>
        </p:nvSpPr>
        <p:spPr>
          <a:xfrm>
            <a:off x="343750" y="3752140"/>
            <a:ext cx="8476200" cy="10821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rPr lang="en-GB" sz="1800">
                <a:solidFill>
                  <a:schemeClr val="dk1"/>
                </a:solidFill>
                <a:latin typeface="Lexend"/>
                <a:ea typeface="Lexend"/>
                <a:cs typeface="Lexend"/>
                <a:sym typeface="Lexend"/>
              </a:rPr>
              <a:t>Is there enough information now to convert all of the cup measurements into metric units?</a:t>
            </a:r>
            <a:endParaRPr sz="1800">
              <a:solidFill>
                <a:schemeClr val="dk1"/>
              </a:solidFill>
              <a:latin typeface="Lexend"/>
              <a:ea typeface="Lexend"/>
              <a:cs typeface="Lexend"/>
              <a:sym typeface="Lexend"/>
            </a:endParaRPr>
          </a:p>
          <a:p>
            <a:pPr indent="0" lvl="0" marL="0" rtl="0" algn="l">
              <a:lnSpc>
                <a:spcPct val="95000"/>
              </a:lnSpc>
              <a:spcBef>
                <a:spcPts val="0"/>
              </a:spcBef>
              <a:spcAft>
                <a:spcPts val="0"/>
              </a:spcAft>
              <a:buNone/>
            </a:pPr>
            <a:r>
              <a:rPr lang="en-GB" sz="2000">
                <a:solidFill>
                  <a:schemeClr val="dk1"/>
                </a:solidFill>
                <a:latin typeface="Kalam"/>
                <a:ea typeface="Kalam"/>
                <a:cs typeface="Kalam"/>
                <a:sym typeface="Kalam"/>
              </a:rPr>
              <a:t>Yes.</a:t>
            </a:r>
            <a:endParaRPr sz="2000">
              <a:solidFill>
                <a:schemeClr val="dk1"/>
              </a:solidFill>
              <a:latin typeface="Kalam"/>
              <a:ea typeface="Kalam"/>
              <a:cs typeface="Kalam"/>
              <a:sym typeface="Kalam"/>
            </a:endParaRPr>
          </a:p>
          <a:p>
            <a:pPr indent="0" lvl="0" marL="0" rtl="0" algn="l">
              <a:lnSpc>
                <a:spcPct val="95000"/>
              </a:lnSpc>
              <a:spcBef>
                <a:spcPts val="0"/>
              </a:spcBef>
              <a:spcAft>
                <a:spcPts val="0"/>
              </a:spcAft>
              <a:buNone/>
            </a:pPr>
            <a:r>
              <a:rPr lang="en-GB" sz="1800">
                <a:solidFill>
                  <a:schemeClr val="dk1"/>
                </a:solidFill>
                <a:latin typeface="Lexend"/>
                <a:ea typeface="Lexend"/>
                <a:cs typeface="Lexend"/>
                <a:sym typeface="Lexend"/>
              </a:rPr>
              <a:t>Convert all of the cup and spoon measurements into metric units.</a:t>
            </a:r>
            <a:endParaRPr sz="1800">
              <a:solidFill>
                <a:schemeClr val="dk1"/>
              </a:solidFill>
              <a:latin typeface="Lexend"/>
              <a:ea typeface="Lexend"/>
              <a:cs typeface="Lexend"/>
              <a:sym typeface="Lexend"/>
            </a:endParaRPr>
          </a:p>
        </p:txBody>
      </p:sp>
      <p:sp>
        <p:nvSpPr>
          <p:cNvPr id="1013" name="Google Shape;1013;p83"/>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019" name="Google Shape;1019;p84"/>
          <p:cNvSpPr txBox="1"/>
          <p:nvPr>
            <p:ph idx="1" type="body"/>
          </p:nvPr>
        </p:nvSpPr>
        <p:spPr>
          <a:xfrm>
            <a:off x="4824000" y="683100"/>
            <a:ext cx="3996000" cy="242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Before we go through those conversions, let’s think about which of our ingredients need to be converted into grams and which into millilitres.</a:t>
            </a:r>
            <a:endParaRPr/>
          </a:p>
        </p:txBody>
      </p:sp>
      <p:sp>
        <p:nvSpPr>
          <p:cNvPr id="1020" name="Google Shape;1020;p84"/>
          <p:cNvSpPr txBox="1"/>
          <p:nvPr>
            <p:ph idx="1" type="body"/>
          </p:nvPr>
        </p:nvSpPr>
        <p:spPr>
          <a:xfrm>
            <a:off x="4824000" y="3240000"/>
            <a:ext cx="3996000" cy="153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What are grams a metric measure of?</a:t>
            </a:r>
            <a:endParaRPr/>
          </a:p>
          <a:p>
            <a:pPr indent="0" lvl="0" marL="0" rtl="0" algn="l">
              <a:spcBef>
                <a:spcPts val="1000"/>
              </a:spcBef>
              <a:spcAft>
                <a:spcPts val="1000"/>
              </a:spcAft>
              <a:buNone/>
            </a:pPr>
            <a:r>
              <a:rPr lang="en-GB">
                <a:latin typeface="Kalam"/>
                <a:ea typeface="Kalam"/>
                <a:cs typeface="Kalam"/>
                <a:sym typeface="Kalam"/>
              </a:rPr>
              <a:t>Grams are a metric measure of mass. (The solid ingredients)</a:t>
            </a:r>
            <a:endParaRPr>
              <a:latin typeface="Kalam"/>
              <a:ea typeface="Kalam"/>
              <a:cs typeface="Kalam"/>
              <a:sym typeface="Kalam"/>
            </a:endParaRPr>
          </a:p>
        </p:txBody>
      </p:sp>
      <p:pic>
        <p:nvPicPr>
          <p:cNvPr id="1021" name="Google Shape;1021;p84"/>
          <p:cNvPicPr preferRelativeResize="0"/>
          <p:nvPr/>
        </p:nvPicPr>
        <p:blipFill>
          <a:blip r:embed="rId3">
            <a:alphaModFix/>
          </a:blip>
          <a:stretch>
            <a:fillRect/>
          </a:stretch>
        </p:blipFill>
        <p:spPr>
          <a:xfrm>
            <a:off x="373675" y="683100"/>
            <a:ext cx="4246478" cy="4137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027" name="Google Shape;1027;p85"/>
          <p:cNvSpPr txBox="1"/>
          <p:nvPr>
            <p:ph idx="1" type="body"/>
          </p:nvPr>
        </p:nvSpPr>
        <p:spPr>
          <a:xfrm>
            <a:off x="4824000" y="3240000"/>
            <a:ext cx="3996000" cy="153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What are millilitres a metric measure of</a:t>
            </a:r>
            <a:r>
              <a:rPr lang="en-GB"/>
              <a:t>?</a:t>
            </a:r>
            <a:endParaRPr/>
          </a:p>
          <a:p>
            <a:pPr indent="0" lvl="0" marL="0" rtl="0" algn="l">
              <a:spcBef>
                <a:spcPts val="1000"/>
              </a:spcBef>
              <a:spcAft>
                <a:spcPts val="1000"/>
              </a:spcAft>
              <a:buNone/>
            </a:pPr>
            <a:r>
              <a:rPr lang="en-GB">
                <a:latin typeface="Kalam"/>
                <a:ea typeface="Kalam"/>
                <a:cs typeface="Kalam"/>
                <a:sym typeface="Kalam"/>
              </a:rPr>
              <a:t>Millilitres</a:t>
            </a:r>
            <a:r>
              <a:rPr lang="en-GB">
                <a:latin typeface="Kalam"/>
                <a:ea typeface="Kalam"/>
                <a:cs typeface="Kalam"/>
                <a:sym typeface="Kalam"/>
              </a:rPr>
              <a:t> are a metric measure of capacity. (Liquids)</a:t>
            </a:r>
            <a:endParaRPr>
              <a:latin typeface="Kalam"/>
              <a:ea typeface="Kalam"/>
              <a:cs typeface="Kalam"/>
              <a:sym typeface="Kalam"/>
            </a:endParaRPr>
          </a:p>
        </p:txBody>
      </p:sp>
      <p:sp>
        <p:nvSpPr>
          <p:cNvPr id="1028" name="Google Shape;1028;p85"/>
          <p:cNvSpPr txBox="1"/>
          <p:nvPr>
            <p:ph idx="1" type="body"/>
          </p:nvPr>
        </p:nvSpPr>
        <p:spPr>
          <a:xfrm>
            <a:off x="4824000" y="683100"/>
            <a:ext cx="3996000" cy="242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Before we go through those conversions, let’s think about which of our ingredients need to be converted into grams and which into millilitres.</a:t>
            </a:r>
            <a:endParaRPr/>
          </a:p>
        </p:txBody>
      </p:sp>
      <p:pic>
        <p:nvPicPr>
          <p:cNvPr id="1029" name="Google Shape;1029;p85"/>
          <p:cNvPicPr preferRelativeResize="0"/>
          <p:nvPr/>
        </p:nvPicPr>
        <p:blipFill>
          <a:blip r:embed="rId3">
            <a:alphaModFix/>
          </a:blip>
          <a:stretch>
            <a:fillRect/>
          </a:stretch>
        </p:blipFill>
        <p:spPr>
          <a:xfrm>
            <a:off x="373675" y="683100"/>
            <a:ext cx="4246478" cy="4137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035" name="Google Shape;1035;p86"/>
          <p:cNvSpPr txBox="1"/>
          <p:nvPr>
            <p:ph idx="1" type="body"/>
          </p:nvPr>
        </p:nvSpPr>
        <p:spPr>
          <a:xfrm>
            <a:off x="4824000" y="683100"/>
            <a:ext cx="3996000" cy="1140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Which of the brownie ingredients will we measure in grams?</a:t>
            </a:r>
            <a:endParaRPr sz="2000"/>
          </a:p>
        </p:txBody>
      </p:sp>
      <p:sp>
        <p:nvSpPr>
          <p:cNvPr id="1036" name="Google Shape;1036;p86"/>
          <p:cNvSpPr txBox="1"/>
          <p:nvPr>
            <p:ph idx="1" type="body"/>
          </p:nvPr>
        </p:nvSpPr>
        <p:spPr>
          <a:xfrm>
            <a:off x="4824000" y="1639800"/>
            <a:ext cx="3996000" cy="1539900"/>
          </a:xfrm>
          <a:prstGeom prst="rect">
            <a:avLst/>
          </a:prstGeom>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Butter</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Sugar</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Cocoa</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Sea salt</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Flour </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Nuts</a:t>
            </a:r>
            <a:endParaRPr sz="2000">
              <a:latin typeface="Kalam"/>
              <a:ea typeface="Kalam"/>
              <a:cs typeface="Kalam"/>
              <a:sym typeface="Kalam"/>
            </a:endParaRPr>
          </a:p>
        </p:txBody>
      </p:sp>
      <p:sp>
        <p:nvSpPr>
          <p:cNvPr id="1037" name="Google Shape;1037;p86"/>
          <p:cNvSpPr txBox="1"/>
          <p:nvPr>
            <p:ph idx="1" type="body"/>
          </p:nvPr>
        </p:nvSpPr>
        <p:spPr>
          <a:xfrm>
            <a:off x="4824000" y="3468600"/>
            <a:ext cx="3996000" cy="1539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Which of the brownie ingredients will we measure in millilitres?</a:t>
            </a:r>
            <a:endParaRPr sz="2000"/>
          </a:p>
          <a:p>
            <a:pPr indent="-355600" lvl="0" marL="457200" rtl="0" algn="l">
              <a:lnSpc>
                <a:spcPct val="100000"/>
              </a:lnSpc>
              <a:spcBef>
                <a:spcPts val="1000"/>
              </a:spcBef>
              <a:spcAft>
                <a:spcPts val="0"/>
              </a:spcAft>
              <a:buSzPts val="2000"/>
              <a:buFont typeface="Kalam"/>
              <a:buChar char="●"/>
            </a:pPr>
            <a:r>
              <a:rPr lang="en-GB" sz="2000">
                <a:latin typeface="Kalam"/>
                <a:ea typeface="Kalam"/>
                <a:cs typeface="Kalam"/>
                <a:sym typeface="Kalam"/>
              </a:rPr>
              <a:t>Vanilla extract</a:t>
            </a:r>
            <a:endParaRPr sz="2000">
              <a:latin typeface="Kalam"/>
              <a:ea typeface="Kalam"/>
              <a:cs typeface="Kalam"/>
              <a:sym typeface="Kalam"/>
            </a:endParaRPr>
          </a:p>
        </p:txBody>
      </p:sp>
      <p:pic>
        <p:nvPicPr>
          <p:cNvPr id="1038" name="Google Shape;1038;p86"/>
          <p:cNvPicPr preferRelativeResize="0"/>
          <p:nvPr/>
        </p:nvPicPr>
        <p:blipFill>
          <a:blip r:embed="rId3">
            <a:alphaModFix/>
          </a:blip>
          <a:stretch>
            <a:fillRect/>
          </a:stretch>
        </p:blipFill>
        <p:spPr>
          <a:xfrm>
            <a:off x="373675" y="683100"/>
            <a:ext cx="4246478" cy="4137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grpSp>
        <p:nvGrpSpPr>
          <p:cNvPr id="1043" name="Google Shape;1043;p87"/>
          <p:cNvGrpSpPr/>
          <p:nvPr/>
        </p:nvGrpSpPr>
        <p:grpSpPr>
          <a:xfrm>
            <a:off x="2385600" y="1866271"/>
            <a:ext cx="3981025" cy="1943125"/>
            <a:chOff x="328200" y="4039350"/>
            <a:chExt cx="3981025" cy="1943125"/>
          </a:xfrm>
        </p:grpSpPr>
        <p:pic>
          <p:nvPicPr>
            <p:cNvPr id="1044" name="Google Shape;1044;p87"/>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045" name="Google Shape;1045;p87"/>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046" name="Google Shape;1046;p87"/>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047" name="Google Shape;1047;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048" name="Google Shape;1048;p87"/>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49" name="Google Shape;1049;p87"/>
          <p:cNvCxnSpPr>
            <a:stCxn id="1048"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050" name="Google Shape;1050;p87"/>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051" name="Google Shape;1051;p87"/>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2" name="Google Shape;1052;p87"/>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3" name="Google Shape;1053;p87"/>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054" name="Google Shape;1054;p87"/>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1055" name="Google Shape;1055;p87"/>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56" name="Google Shape;1056;p87"/>
          <p:cNvCxnSpPr>
            <a:stCxn id="1055"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057" name="Google Shape;1057;p87"/>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058" name="Google Shape;1058;p87"/>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9" name="Google Shape;1059;p87"/>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0" name="Google Shape;1060;p87"/>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061" name="Google Shape;1061;p87"/>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062" name="Google Shape;1062;p87"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063" name="Google Shape;1063;p87"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064" name="Google Shape;1064;p87"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065" name="Google Shape;1065;p87"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066" name="Google Shape;1066;p87"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1067" name="Google Shape;1067;p87"/>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068" name="Google Shape;1068;p87"/>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069" name="Google Shape;1069;p87"/>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0" name="Google Shape;1070;p87"/>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1" name="Google Shape;1071;p87"/>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072" name="Google Shape;1072;p87"/>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073" name="Google Shape;1073;p87"/>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074" name="Google Shape;1074;p87"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075" name="Google Shape;1075;p87"/>
            <p:cNvGrpSpPr/>
            <p:nvPr/>
          </p:nvGrpSpPr>
          <p:grpSpPr>
            <a:xfrm>
              <a:off x="3507724" y="1857156"/>
              <a:ext cx="2136900" cy="556500"/>
              <a:chOff x="3784325" y="1857156"/>
              <a:chExt cx="2136900" cy="556500"/>
            </a:xfrm>
          </p:grpSpPr>
          <p:sp>
            <p:nvSpPr>
              <p:cNvPr id="1076" name="Google Shape;1076;p87"/>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7" name="Google Shape;1077;p87"/>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078" name="Google Shape;1078;p87"/>
          <p:cNvSpPr txBox="1"/>
          <p:nvPr/>
        </p:nvSpPr>
        <p:spPr>
          <a:xfrm>
            <a:off x="343750" y="3752140"/>
            <a:ext cx="8476200" cy="2925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t/>
            </a:r>
            <a:endParaRPr sz="2000">
              <a:solidFill>
                <a:schemeClr val="dk1"/>
              </a:solidFill>
              <a:latin typeface="Kalam"/>
              <a:ea typeface="Kalam"/>
              <a:cs typeface="Kalam"/>
              <a:sym typeface="Kalam"/>
            </a:endParaRPr>
          </a:p>
        </p:txBody>
      </p:sp>
      <p:sp>
        <p:nvSpPr>
          <p:cNvPr id="1079" name="Google Shape;1079;p87"/>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080" name="Google Shape;1080;p87"/>
          <p:cNvSpPr txBox="1"/>
          <p:nvPr>
            <p:ph idx="1" type="body"/>
          </p:nvPr>
        </p:nvSpPr>
        <p:spPr>
          <a:xfrm>
            <a:off x="328200" y="3918900"/>
            <a:ext cx="8182200" cy="9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Starting with measures of mass.</a:t>
            </a:r>
            <a:endParaRPr/>
          </a:p>
          <a:p>
            <a:pPr indent="0" lvl="0" marL="0" rtl="0" algn="l">
              <a:spcBef>
                <a:spcPts val="1000"/>
              </a:spcBef>
              <a:spcAft>
                <a:spcPts val="1000"/>
              </a:spcAft>
              <a:buNone/>
            </a:pPr>
            <a:r>
              <a:rPr lang="en-GB"/>
              <a:t>Convert all cup and spoon measurements into grams.</a:t>
            </a:r>
            <a:endParaRPr/>
          </a:p>
        </p:txBody>
      </p:sp>
      <p:sp>
        <p:nvSpPr>
          <p:cNvPr id="1081" name="Google Shape;1081;p87"/>
          <p:cNvSpPr txBox="1"/>
          <p:nvPr/>
        </p:nvSpPr>
        <p:spPr>
          <a:xfrm>
            <a:off x="4048100" y="3129700"/>
            <a:ext cx="121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14 grams</a:t>
            </a:r>
            <a:endParaRPr sz="2000">
              <a:solidFill>
                <a:schemeClr val="dk1"/>
              </a:solidFill>
              <a:latin typeface="Kalam"/>
              <a:ea typeface="Kalam"/>
              <a:cs typeface="Kalam"/>
              <a:sym typeface="Kalam"/>
            </a:endParaRPr>
          </a:p>
        </p:txBody>
      </p:sp>
      <p:sp>
        <p:nvSpPr>
          <p:cNvPr id="1082" name="Google Shape;1082;p87"/>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 tbsp</a:t>
            </a:r>
            <a:endParaRPr sz="2000">
              <a:solidFill>
                <a:schemeClr val="dk1"/>
              </a:solidFill>
              <a:latin typeface="Kalam"/>
              <a:ea typeface="Kalam"/>
              <a:cs typeface="Kalam"/>
              <a:sym typeface="Kalam"/>
            </a:endParaRPr>
          </a:p>
        </p:txBody>
      </p:sp>
      <p:sp>
        <p:nvSpPr>
          <p:cNvPr id="1083" name="Google Shape;1083;p87"/>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224 g</a:t>
            </a:r>
            <a:endParaRPr sz="2000">
              <a:solidFill>
                <a:schemeClr val="dk1"/>
              </a:solidFill>
              <a:latin typeface="Kalam"/>
              <a:ea typeface="Kalam"/>
              <a:cs typeface="Kalam"/>
              <a:sym typeface="Kalam"/>
            </a:endParaRPr>
          </a:p>
        </p:txBody>
      </p:sp>
      <p:sp>
        <p:nvSpPr>
          <p:cNvPr id="1084" name="Google Shape;1084;p87"/>
          <p:cNvSpPr txBox="1"/>
          <p:nvPr/>
        </p:nvSpPr>
        <p:spPr>
          <a:xfrm>
            <a:off x="66293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8</a:t>
            </a:r>
            <a:r>
              <a:rPr lang="en-GB" sz="2000">
                <a:solidFill>
                  <a:schemeClr val="dk1"/>
                </a:solidFill>
                <a:latin typeface="Kalam"/>
                <a:ea typeface="Kalam"/>
                <a:cs typeface="Kalam"/>
                <a:sym typeface="Kalam"/>
              </a:rPr>
              <a:t> tbsp</a:t>
            </a:r>
            <a:endParaRPr sz="2000">
              <a:solidFill>
                <a:schemeClr val="dk1"/>
              </a:solidFill>
              <a:latin typeface="Kalam"/>
              <a:ea typeface="Kalam"/>
              <a:cs typeface="Kalam"/>
              <a:sym typeface="Kalam"/>
            </a:endParaRPr>
          </a:p>
        </p:txBody>
      </p:sp>
      <p:sp>
        <p:nvSpPr>
          <p:cNvPr id="1085" name="Google Shape;1085;p87"/>
          <p:cNvSpPr txBox="1"/>
          <p:nvPr/>
        </p:nvSpPr>
        <p:spPr>
          <a:xfrm>
            <a:off x="66293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112 g</a:t>
            </a:r>
            <a:endParaRPr sz="2000">
              <a:solidFill>
                <a:schemeClr val="dk1"/>
              </a:solidFill>
              <a:latin typeface="Kalam"/>
              <a:ea typeface="Kalam"/>
              <a:cs typeface="Kalam"/>
              <a:sym typeface="Kalam"/>
            </a:endParaRPr>
          </a:p>
        </p:txBody>
      </p:sp>
      <p:sp>
        <p:nvSpPr>
          <p:cNvPr id="1086" name="Google Shape;1086;p87"/>
          <p:cNvSpPr txBox="1"/>
          <p:nvPr/>
        </p:nvSpPr>
        <p:spPr>
          <a:xfrm>
            <a:off x="66293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4</a:t>
            </a:r>
            <a:r>
              <a:rPr lang="en-GB" sz="2000">
                <a:solidFill>
                  <a:schemeClr val="dk1"/>
                </a:solidFill>
                <a:latin typeface="Kalam"/>
                <a:ea typeface="Kalam"/>
                <a:cs typeface="Kalam"/>
                <a:sym typeface="Kalam"/>
              </a:rPr>
              <a:t> tbsp</a:t>
            </a:r>
            <a:endParaRPr sz="2000">
              <a:solidFill>
                <a:schemeClr val="dk1"/>
              </a:solidFill>
              <a:latin typeface="Kalam"/>
              <a:ea typeface="Kalam"/>
              <a:cs typeface="Kalam"/>
              <a:sym typeface="Kalam"/>
            </a:endParaRPr>
          </a:p>
        </p:txBody>
      </p:sp>
      <p:sp>
        <p:nvSpPr>
          <p:cNvPr id="1087" name="Google Shape;1087;p87"/>
          <p:cNvSpPr txBox="1"/>
          <p:nvPr/>
        </p:nvSpPr>
        <p:spPr>
          <a:xfrm>
            <a:off x="66293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56 g</a:t>
            </a:r>
            <a:endParaRPr sz="2000">
              <a:solidFill>
                <a:schemeClr val="dk1"/>
              </a:solidFill>
              <a:latin typeface="Kalam"/>
              <a:ea typeface="Kalam"/>
              <a:cs typeface="Kalam"/>
              <a:sym typeface="Kalam"/>
            </a:endParaRPr>
          </a:p>
        </p:txBody>
      </p:sp>
      <p:sp>
        <p:nvSpPr>
          <p:cNvPr id="1088" name="Google Shape;1088;p87"/>
          <p:cNvSpPr txBox="1"/>
          <p:nvPr/>
        </p:nvSpPr>
        <p:spPr>
          <a:xfrm>
            <a:off x="66293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12</a:t>
            </a:r>
            <a:r>
              <a:rPr lang="en-GB" sz="2000">
                <a:solidFill>
                  <a:schemeClr val="dk1"/>
                </a:solidFill>
                <a:latin typeface="Kalam"/>
                <a:ea typeface="Kalam"/>
                <a:cs typeface="Kalam"/>
                <a:sym typeface="Kalam"/>
              </a:rPr>
              <a:t> tbsp</a:t>
            </a:r>
            <a:endParaRPr sz="2000">
              <a:solidFill>
                <a:schemeClr val="dk1"/>
              </a:solidFill>
              <a:latin typeface="Kalam"/>
              <a:ea typeface="Kalam"/>
              <a:cs typeface="Kalam"/>
              <a:sym typeface="Kalam"/>
            </a:endParaRPr>
          </a:p>
        </p:txBody>
      </p:sp>
      <p:sp>
        <p:nvSpPr>
          <p:cNvPr id="1089" name="Google Shape;1089;p87"/>
          <p:cNvSpPr txBox="1"/>
          <p:nvPr/>
        </p:nvSpPr>
        <p:spPr>
          <a:xfrm>
            <a:off x="66293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168 g</a:t>
            </a:r>
            <a:endParaRPr sz="2000">
              <a:solidFill>
                <a:schemeClr val="dk1"/>
              </a:solidFill>
              <a:latin typeface="Kalam"/>
              <a:ea typeface="Kalam"/>
              <a:cs typeface="Kalam"/>
              <a:sym typeface="Kalam"/>
            </a:endParaRPr>
          </a:p>
        </p:txBody>
      </p:sp>
      <p:sp>
        <p:nvSpPr>
          <p:cNvPr id="1090" name="Google Shape;1090;p87"/>
          <p:cNvSpPr txBox="1"/>
          <p:nvPr/>
        </p:nvSpPr>
        <p:spPr>
          <a:xfrm>
            <a:off x="4667975" y="2446825"/>
            <a:ext cx="1431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 4.7 grams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88"/>
          <p:cNvSpPr txBox="1"/>
          <p:nvPr/>
        </p:nvSpPr>
        <p:spPr>
          <a:xfrm>
            <a:off x="61549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 tbsp</a:t>
            </a:r>
            <a:endParaRPr sz="2000">
              <a:solidFill>
                <a:schemeClr val="dk1"/>
              </a:solidFill>
              <a:latin typeface="Kalam"/>
              <a:ea typeface="Kalam"/>
              <a:cs typeface="Kalam"/>
              <a:sym typeface="Kalam"/>
            </a:endParaRPr>
          </a:p>
        </p:txBody>
      </p:sp>
      <p:grpSp>
        <p:nvGrpSpPr>
          <p:cNvPr id="1096" name="Google Shape;1096;p88"/>
          <p:cNvGrpSpPr/>
          <p:nvPr/>
        </p:nvGrpSpPr>
        <p:grpSpPr>
          <a:xfrm>
            <a:off x="2385600" y="1866271"/>
            <a:ext cx="3981025" cy="1943125"/>
            <a:chOff x="328200" y="4039350"/>
            <a:chExt cx="3981025" cy="1943125"/>
          </a:xfrm>
        </p:grpSpPr>
        <p:pic>
          <p:nvPicPr>
            <p:cNvPr id="1097" name="Google Shape;1097;p88"/>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098" name="Google Shape;1098;p88"/>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099" name="Google Shape;1099;p88"/>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100" name="Google Shape;1100;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101" name="Google Shape;1101;p88"/>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02" name="Google Shape;1102;p88"/>
          <p:cNvCxnSpPr>
            <a:stCxn id="1101"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103" name="Google Shape;1103;p88"/>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104" name="Google Shape;1104;p88"/>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5" name="Google Shape;1105;p88"/>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6" name="Google Shape;1106;p88"/>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107" name="Google Shape;1107;p88"/>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1108" name="Google Shape;1108;p88"/>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09" name="Google Shape;1109;p88"/>
          <p:cNvCxnSpPr>
            <a:stCxn id="1108"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110" name="Google Shape;1110;p88"/>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111" name="Google Shape;1111;p88"/>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2" name="Google Shape;1112;p88"/>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3" name="Google Shape;1113;p88"/>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114" name="Google Shape;1114;p88"/>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15" name="Google Shape;1115;p88"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16" name="Google Shape;1116;p88"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17" name="Google Shape;1117;p88"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18" name="Google Shape;1118;p88"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19" name="Google Shape;1119;p88"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1120" name="Google Shape;1120;p88"/>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121" name="Google Shape;1121;p88"/>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122" name="Google Shape;1122;p88"/>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3" name="Google Shape;1123;p88"/>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4" name="Google Shape;1124;p88"/>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125" name="Google Shape;1125;p88"/>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126" name="Google Shape;1126;p88"/>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127" name="Google Shape;1127;p88"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128" name="Google Shape;1128;p88"/>
            <p:cNvGrpSpPr/>
            <p:nvPr/>
          </p:nvGrpSpPr>
          <p:grpSpPr>
            <a:xfrm>
              <a:off x="3507724" y="1857156"/>
              <a:ext cx="2136900" cy="556500"/>
              <a:chOff x="3784325" y="1857156"/>
              <a:chExt cx="2136900" cy="556500"/>
            </a:xfrm>
          </p:grpSpPr>
          <p:sp>
            <p:nvSpPr>
              <p:cNvPr id="1129" name="Google Shape;1129;p88"/>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0" name="Google Shape;1130;p88"/>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131" name="Google Shape;1131;p88"/>
          <p:cNvSpPr txBox="1"/>
          <p:nvPr/>
        </p:nvSpPr>
        <p:spPr>
          <a:xfrm>
            <a:off x="343750" y="3752140"/>
            <a:ext cx="8476200" cy="2925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t/>
            </a:r>
            <a:endParaRPr sz="2000">
              <a:solidFill>
                <a:schemeClr val="dk1"/>
              </a:solidFill>
              <a:latin typeface="Kalam"/>
              <a:ea typeface="Kalam"/>
              <a:cs typeface="Kalam"/>
              <a:sym typeface="Kalam"/>
            </a:endParaRPr>
          </a:p>
        </p:txBody>
      </p:sp>
      <p:sp>
        <p:nvSpPr>
          <p:cNvPr id="1132" name="Google Shape;1132;p88"/>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133" name="Google Shape;1133;p88"/>
          <p:cNvSpPr txBox="1"/>
          <p:nvPr>
            <p:ph idx="1" type="body"/>
          </p:nvPr>
        </p:nvSpPr>
        <p:spPr>
          <a:xfrm>
            <a:off x="328200" y="3766500"/>
            <a:ext cx="8182200" cy="6963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en-GB"/>
              <a:t>Now</a:t>
            </a:r>
            <a:r>
              <a:rPr lang="en-GB"/>
              <a:t> measures for the cup split into thirds.</a:t>
            </a:r>
            <a:endParaRPr/>
          </a:p>
          <a:p>
            <a:pPr indent="0" lvl="0" marL="0" rtl="0" algn="l">
              <a:lnSpc>
                <a:spcPct val="75000"/>
              </a:lnSpc>
              <a:spcBef>
                <a:spcPts val="1000"/>
              </a:spcBef>
              <a:spcAft>
                <a:spcPts val="1000"/>
              </a:spcAft>
              <a:buNone/>
            </a:pPr>
            <a:r>
              <a:rPr lang="en-GB"/>
              <a:t>Why might this cause a problem?</a:t>
            </a:r>
            <a:endParaRPr/>
          </a:p>
        </p:txBody>
      </p:sp>
      <p:sp>
        <p:nvSpPr>
          <p:cNvPr id="1134" name="Google Shape;1134;p88"/>
          <p:cNvSpPr txBox="1"/>
          <p:nvPr>
            <p:ph idx="1" type="body"/>
          </p:nvPr>
        </p:nvSpPr>
        <p:spPr>
          <a:xfrm>
            <a:off x="328200" y="4528500"/>
            <a:ext cx="8182200" cy="292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1000"/>
              </a:spcAft>
              <a:buNone/>
            </a:pPr>
            <a:r>
              <a:rPr lang="en-GB">
                <a:latin typeface="Kalam"/>
                <a:ea typeface="Kalam"/>
                <a:cs typeface="Kalam"/>
                <a:sym typeface="Kalam"/>
              </a:rPr>
              <a:t>3 is not a factor of 16.</a:t>
            </a:r>
            <a:endParaRPr>
              <a:latin typeface="Kalam"/>
              <a:ea typeface="Kalam"/>
              <a:cs typeface="Kalam"/>
              <a:sym typeface="Kalam"/>
            </a:endParaRPr>
          </a:p>
        </p:txBody>
      </p:sp>
      <p:sp>
        <p:nvSpPr>
          <p:cNvPr id="1135" name="Google Shape;1135;p88"/>
          <p:cNvSpPr txBox="1"/>
          <p:nvPr/>
        </p:nvSpPr>
        <p:spPr>
          <a:xfrm>
            <a:off x="4667975" y="2446825"/>
            <a:ext cx="1431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 4.7 grams</a:t>
            </a:r>
            <a:endParaRPr sz="2000">
              <a:solidFill>
                <a:schemeClr val="dk1"/>
              </a:solidFill>
              <a:latin typeface="Kalam"/>
              <a:ea typeface="Kalam"/>
              <a:cs typeface="Kalam"/>
              <a:sym typeface="Kalam"/>
            </a:endParaRPr>
          </a:p>
        </p:txBody>
      </p:sp>
      <p:sp>
        <p:nvSpPr>
          <p:cNvPr id="1136" name="Google Shape;1136;p88"/>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224 g</a:t>
            </a:r>
            <a:endParaRPr sz="2000">
              <a:solidFill>
                <a:schemeClr val="dk1"/>
              </a:solidFill>
              <a:latin typeface="Kalam"/>
              <a:ea typeface="Kalam"/>
              <a:cs typeface="Kalam"/>
              <a:sym typeface="Kalam"/>
            </a:endParaRPr>
          </a:p>
        </p:txBody>
      </p:sp>
      <p:sp>
        <p:nvSpPr>
          <p:cNvPr id="1137" name="Google Shape;1137;p88"/>
          <p:cNvSpPr txBox="1"/>
          <p:nvPr/>
        </p:nvSpPr>
        <p:spPr>
          <a:xfrm>
            <a:off x="66293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112 g</a:t>
            </a:r>
            <a:endParaRPr sz="2000">
              <a:solidFill>
                <a:schemeClr val="dk1"/>
              </a:solidFill>
              <a:latin typeface="Kalam"/>
              <a:ea typeface="Kalam"/>
              <a:cs typeface="Kalam"/>
              <a:sym typeface="Kalam"/>
            </a:endParaRPr>
          </a:p>
        </p:txBody>
      </p:sp>
      <p:sp>
        <p:nvSpPr>
          <p:cNvPr id="1138" name="Google Shape;1138;p88"/>
          <p:cNvSpPr txBox="1"/>
          <p:nvPr/>
        </p:nvSpPr>
        <p:spPr>
          <a:xfrm>
            <a:off x="66293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56 g</a:t>
            </a:r>
            <a:endParaRPr sz="2000">
              <a:solidFill>
                <a:schemeClr val="dk1"/>
              </a:solidFill>
              <a:latin typeface="Kalam"/>
              <a:ea typeface="Kalam"/>
              <a:cs typeface="Kalam"/>
              <a:sym typeface="Kalam"/>
            </a:endParaRPr>
          </a:p>
        </p:txBody>
      </p:sp>
      <p:sp>
        <p:nvSpPr>
          <p:cNvPr id="1139" name="Google Shape;1139;p88"/>
          <p:cNvSpPr txBox="1"/>
          <p:nvPr/>
        </p:nvSpPr>
        <p:spPr>
          <a:xfrm>
            <a:off x="66293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168 g</a:t>
            </a:r>
            <a:endParaRPr sz="2000">
              <a:solidFill>
                <a:schemeClr val="dk1"/>
              </a:solidFill>
              <a:latin typeface="Kalam"/>
              <a:ea typeface="Kalam"/>
              <a:cs typeface="Kalam"/>
              <a:sym typeface="Kalam"/>
            </a:endParaRPr>
          </a:p>
        </p:txBody>
      </p:sp>
      <p:sp>
        <p:nvSpPr>
          <p:cNvPr id="1140" name="Google Shape;1140;p88"/>
          <p:cNvSpPr txBox="1"/>
          <p:nvPr/>
        </p:nvSpPr>
        <p:spPr>
          <a:xfrm>
            <a:off x="4048100" y="3129700"/>
            <a:ext cx="121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14 grams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grpSp>
        <p:nvGrpSpPr>
          <p:cNvPr id="1145" name="Google Shape;1145;p89"/>
          <p:cNvGrpSpPr/>
          <p:nvPr/>
        </p:nvGrpSpPr>
        <p:grpSpPr>
          <a:xfrm>
            <a:off x="2385600" y="1866271"/>
            <a:ext cx="3981025" cy="1943125"/>
            <a:chOff x="328200" y="4039350"/>
            <a:chExt cx="3981025" cy="1943125"/>
          </a:xfrm>
        </p:grpSpPr>
        <p:pic>
          <p:nvPicPr>
            <p:cNvPr id="1146" name="Google Shape;1146;p89"/>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147" name="Google Shape;1147;p89"/>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148" name="Google Shape;1148;p89"/>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149" name="Google Shape;1149;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150" name="Google Shape;1150;p89"/>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1" name="Google Shape;1151;p89"/>
          <p:cNvCxnSpPr>
            <a:stCxn id="1150"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152" name="Google Shape;1152;p89"/>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153" name="Google Shape;1153;p89"/>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4" name="Google Shape;1154;p89"/>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5" name="Google Shape;1155;p89"/>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156" name="Google Shape;1156;p89"/>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1157" name="Google Shape;1157;p89"/>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8" name="Google Shape;1158;p89"/>
          <p:cNvCxnSpPr>
            <a:stCxn id="1157"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159" name="Google Shape;1159;p89"/>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160" name="Google Shape;1160;p89"/>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1" name="Google Shape;1161;p89"/>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2" name="Google Shape;1162;p89"/>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163" name="Google Shape;1163;p89"/>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64" name="Google Shape;1164;p89"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65" name="Google Shape;1165;p89"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66" name="Google Shape;1166;p89"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67" name="Google Shape;1167;p89"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168" name="Google Shape;1168;p89"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1169" name="Google Shape;1169;p89"/>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170" name="Google Shape;1170;p89"/>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171" name="Google Shape;1171;p89"/>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2" name="Google Shape;1172;p89"/>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3" name="Google Shape;1173;p89"/>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174" name="Google Shape;1174;p89"/>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175" name="Google Shape;1175;p89"/>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176" name="Google Shape;1176;p89"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177" name="Google Shape;1177;p89"/>
            <p:cNvGrpSpPr/>
            <p:nvPr/>
          </p:nvGrpSpPr>
          <p:grpSpPr>
            <a:xfrm>
              <a:off x="3507724" y="1857156"/>
              <a:ext cx="2136900" cy="556500"/>
              <a:chOff x="3784325" y="1857156"/>
              <a:chExt cx="2136900" cy="556500"/>
            </a:xfrm>
          </p:grpSpPr>
          <p:sp>
            <p:nvSpPr>
              <p:cNvPr id="1178" name="Google Shape;1178;p89"/>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9" name="Google Shape;1179;p89"/>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180" name="Google Shape;1180;p89"/>
          <p:cNvSpPr txBox="1"/>
          <p:nvPr/>
        </p:nvSpPr>
        <p:spPr>
          <a:xfrm>
            <a:off x="343750" y="3752140"/>
            <a:ext cx="8476200" cy="2925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t/>
            </a:r>
            <a:endParaRPr sz="2000">
              <a:solidFill>
                <a:schemeClr val="dk1"/>
              </a:solidFill>
              <a:latin typeface="Kalam"/>
              <a:ea typeface="Kalam"/>
              <a:cs typeface="Kalam"/>
              <a:sym typeface="Kalam"/>
            </a:endParaRPr>
          </a:p>
        </p:txBody>
      </p:sp>
      <p:sp>
        <p:nvSpPr>
          <p:cNvPr id="1181" name="Google Shape;1181;p89"/>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182" name="Google Shape;1182;p89"/>
          <p:cNvSpPr txBox="1"/>
          <p:nvPr>
            <p:ph idx="1" type="body"/>
          </p:nvPr>
        </p:nvSpPr>
        <p:spPr>
          <a:xfrm>
            <a:off x="328200" y="3918900"/>
            <a:ext cx="8182200" cy="3078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1000"/>
              </a:spcAft>
              <a:buNone/>
            </a:pPr>
            <a:r>
              <a:rPr lang="en-GB"/>
              <a:t>What would be a solution to this problem?</a:t>
            </a:r>
            <a:endParaRPr/>
          </a:p>
        </p:txBody>
      </p:sp>
      <p:sp>
        <p:nvSpPr>
          <p:cNvPr id="1183" name="Google Shape;1183;p89"/>
          <p:cNvSpPr txBox="1"/>
          <p:nvPr/>
        </p:nvSpPr>
        <p:spPr>
          <a:xfrm>
            <a:off x="4667975" y="2446825"/>
            <a:ext cx="1431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 </a:t>
            </a:r>
            <a:r>
              <a:rPr lang="en-GB" sz="2000">
                <a:solidFill>
                  <a:schemeClr val="dk1"/>
                </a:solidFill>
                <a:latin typeface="Kalam"/>
                <a:ea typeface="Kalam"/>
                <a:cs typeface="Kalam"/>
                <a:sym typeface="Kalam"/>
              </a:rPr>
              <a:t>4.7 grams</a:t>
            </a:r>
            <a:endParaRPr sz="2000">
              <a:solidFill>
                <a:schemeClr val="dk1"/>
              </a:solidFill>
              <a:latin typeface="Kalam"/>
              <a:ea typeface="Kalam"/>
              <a:cs typeface="Kalam"/>
              <a:sym typeface="Kalam"/>
            </a:endParaRPr>
          </a:p>
        </p:txBody>
      </p:sp>
      <p:sp>
        <p:nvSpPr>
          <p:cNvPr id="1184" name="Google Shape;1184;p89"/>
          <p:cNvSpPr txBox="1"/>
          <p:nvPr>
            <p:ph idx="1" type="body"/>
          </p:nvPr>
        </p:nvSpPr>
        <p:spPr>
          <a:xfrm>
            <a:off x="328200" y="4376100"/>
            <a:ext cx="8182200" cy="292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1000"/>
              </a:spcAft>
              <a:buNone/>
            </a:pPr>
            <a:r>
              <a:rPr lang="en-GB">
                <a:latin typeface="Kalam"/>
                <a:ea typeface="Kalam"/>
                <a:cs typeface="Kalam"/>
                <a:sym typeface="Kalam"/>
              </a:rPr>
              <a:t>Use teaspoons rather than tablespoons</a:t>
            </a:r>
            <a:r>
              <a:rPr lang="en-GB">
                <a:latin typeface="Kalam"/>
                <a:ea typeface="Kalam"/>
                <a:cs typeface="Kalam"/>
                <a:sym typeface="Kalam"/>
              </a:rPr>
              <a:t>.</a:t>
            </a:r>
            <a:endParaRPr>
              <a:latin typeface="Kalam"/>
              <a:ea typeface="Kalam"/>
              <a:cs typeface="Kalam"/>
              <a:sym typeface="Kalam"/>
            </a:endParaRPr>
          </a:p>
        </p:txBody>
      </p:sp>
      <p:sp>
        <p:nvSpPr>
          <p:cNvPr id="1185" name="Google Shape;1185;p89"/>
          <p:cNvSpPr txBox="1"/>
          <p:nvPr/>
        </p:nvSpPr>
        <p:spPr>
          <a:xfrm>
            <a:off x="6115496"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48</a:t>
            </a:r>
            <a:r>
              <a:rPr lang="en-GB" sz="2000">
                <a:solidFill>
                  <a:schemeClr val="dk1"/>
                </a:solidFill>
                <a:latin typeface="Kalam"/>
                <a:ea typeface="Kalam"/>
                <a:cs typeface="Kalam"/>
                <a:sym typeface="Kalam"/>
              </a:rPr>
              <a:t> tsp</a:t>
            </a:r>
            <a:endParaRPr sz="2000">
              <a:solidFill>
                <a:schemeClr val="dk1"/>
              </a:solidFill>
              <a:latin typeface="Kalam"/>
              <a:ea typeface="Kalam"/>
              <a:cs typeface="Kalam"/>
              <a:sym typeface="Kalam"/>
            </a:endParaRPr>
          </a:p>
        </p:txBody>
      </p:sp>
      <p:sp>
        <p:nvSpPr>
          <p:cNvPr id="1186" name="Google Shape;1186;p89"/>
          <p:cNvSpPr txBox="1"/>
          <p:nvPr/>
        </p:nvSpPr>
        <p:spPr>
          <a:xfrm>
            <a:off x="6115496"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32</a:t>
            </a:r>
            <a:r>
              <a:rPr lang="en-GB" sz="2000">
                <a:solidFill>
                  <a:schemeClr val="dk1"/>
                </a:solidFill>
                <a:latin typeface="Kalam"/>
                <a:ea typeface="Kalam"/>
                <a:cs typeface="Kalam"/>
                <a:sym typeface="Kalam"/>
              </a:rPr>
              <a:t> tsp</a:t>
            </a:r>
            <a:endParaRPr sz="2000">
              <a:solidFill>
                <a:schemeClr val="dk1"/>
              </a:solidFill>
              <a:latin typeface="Kalam"/>
              <a:ea typeface="Kalam"/>
              <a:cs typeface="Kalam"/>
              <a:sym typeface="Kalam"/>
            </a:endParaRPr>
          </a:p>
        </p:txBody>
      </p:sp>
      <p:sp>
        <p:nvSpPr>
          <p:cNvPr id="1187" name="Google Shape;1187;p89"/>
          <p:cNvSpPr txBox="1"/>
          <p:nvPr/>
        </p:nvSpPr>
        <p:spPr>
          <a:xfrm>
            <a:off x="6115496"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150.4 g</a:t>
            </a:r>
            <a:endParaRPr sz="2000">
              <a:solidFill>
                <a:schemeClr val="dk1"/>
              </a:solidFill>
              <a:latin typeface="Kalam"/>
              <a:ea typeface="Kalam"/>
              <a:cs typeface="Kalam"/>
              <a:sym typeface="Kalam"/>
            </a:endParaRPr>
          </a:p>
        </p:txBody>
      </p:sp>
      <p:sp>
        <p:nvSpPr>
          <p:cNvPr id="1188" name="Google Shape;1188;p89"/>
          <p:cNvSpPr txBox="1"/>
          <p:nvPr/>
        </p:nvSpPr>
        <p:spPr>
          <a:xfrm>
            <a:off x="6115496"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a:t>
            </a:r>
            <a:r>
              <a:rPr lang="en-GB" sz="2000">
                <a:solidFill>
                  <a:schemeClr val="dk1"/>
                </a:solidFill>
                <a:latin typeface="Kalam"/>
                <a:ea typeface="Kalam"/>
                <a:cs typeface="Kalam"/>
                <a:sym typeface="Kalam"/>
              </a:rPr>
              <a:t> tsp</a:t>
            </a:r>
            <a:endParaRPr sz="2000">
              <a:solidFill>
                <a:schemeClr val="dk1"/>
              </a:solidFill>
              <a:latin typeface="Kalam"/>
              <a:ea typeface="Kalam"/>
              <a:cs typeface="Kalam"/>
              <a:sym typeface="Kalam"/>
            </a:endParaRPr>
          </a:p>
        </p:txBody>
      </p:sp>
      <p:sp>
        <p:nvSpPr>
          <p:cNvPr id="1189" name="Google Shape;1189;p89"/>
          <p:cNvSpPr txBox="1"/>
          <p:nvPr/>
        </p:nvSpPr>
        <p:spPr>
          <a:xfrm>
            <a:off x="6115496"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75.2 g</a:t>
            </a:r>
            <a:endParaRPr sz="2000">
              <a:solidFill>
                <a:schemeClr val="dk1"/>
              </a:solidFill>
              <a:latin typeface="Kalam"/>
              <a:ea typeface="Kalam"/>
              <a:cs typeface="Kalam"/>
              <a:sym typeface="Kalam"/>
            </a:endParaRPr>
          </a:p>
        </p:txBody>
      </p:sp>
      <p:sp>
        <p:nvSpPr>
          <p:cNvPr id="1190" name="Google Shape;1190;p89"/>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224 g</a:t>
            </a:r>
            <a:endParaRPr sz="2000">
              <a:solidFill>
                <a:schemeClr val="dk1"/>
              </a:solidFill>
              <a:latin typeface="Kalam"/>
              <a:ea typeface="Kalam"/>
              <a:cs typeface="Kalam"/>
              <a:sym typeface="Kalam"/>
            </a:endParaRPr>
          </a:p>
        </p:txBody>
      </p:sp>
      <p:sp>
        <p:nvSpPr>
          <p:cNvPr id="1191" name="Google Shape;1191;p89"/>
          <p:cNvSpPr txBox="1"/>
          <p:nvPr/>
        </p:nvSpPr>
        <p:spPr>
          <a:xfrm>
            <a:off x="66293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112 g</a:t>
            </a:r>
            <a:endParaRPr sz="2000">
              <a:solidFill>
                <a:schemeClr val="dk1"/>
              </a:solidFill>
              <a:latin typeface="Kalam"/>
              <a:ea typeface="Kalam"/>
              <a:cs typeface="Kalam"/>
              <a:sym typeface="Kalam"/>
            </a:endParaRPr>
          </a:p>
        </p:txBody>
      </p:sp>
      <p:sp>
        <p:nvSpPr>
          <p:cNvPr id="1192" name="Google Shape;1192;p89"/>
          <p:cNvSpPr txBox="1"/>
          <p:nvPr/>
        </p:nvSpPr>
        <p:spPr>
          <a:xfrm>
            <a:off x="66293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56 g</a:t>
            </a:r>
            <a:endParaRPr sz="2000">
              <a:solidFill>
                <a:schemeClr val="dk1"/>
              </a:solidFill>
              <a:latin typeface="Kalam"/>
              <a:ea typeface="Kalam"/>
              <a:cs typeface="Kalam"/>
              <a:sym typeface="Kalam"/>
            </a:endParaRPr>
          </a:p>
        </p:txBody>
      </p:sp>
      <p:sp>
        <p:nvSpPr>
          <p:cNvPr id="1193" name="Google Shape;1193;p89"/>
          <p:cNvSpPr txBox="1"/>
          <p:nvPr/>
        </p:nvSpPr>
        <p:spPr>
          <a:xfrm>
            <a:off x="66293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168 g</a:t>
            </a:r>
            <a:endParaRPr sz="2000">
              <a:solidFill>
                <a:schemeClr val="dk1"/>
              </a:solidFill>
              <a:latin typeface="Kalam"/>
              <a:ea typeface="Kalam"/>
              <a:cs typeface="Kalam"/>
              <a:sym typeface="Kalam"/>
            </a:endParaRPr>
          </a:p>
        </p:txBody>
      </p:sp>
      <p:sp>
        <p:nvSpPr>
          <p:cNvPr id="1194" name="Google Shape;1194;p89"/>
          <p:cNvSpPr txBox="1"/>
          <p:nvPr/>
        </p:nvSpPr>
        <p:spPr>
          <a:xfrm>
            <a:off x="5988296" y="1014650"/>
            <a:ext cx="9594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225.6 g</a:t>
            </a:r>
            <a:endParaRPr sz="2000">
              <a:solidFill>
                <a:schemeClr val="dk1"/>
              </a:solidFill>
              <a:latin typeface="Kalam"/>
              <a:ea typeface="Kalam"/>
              <a:cs typeface="Kalam"/>
              <a:sym typeface="Kalam"/>
            </a:endParaRPr>
          </a:p>
        </p:txBody>
      </p:sp>
      <p:sp>
        <p:nvSpPr>
          <p:cNvPr id="1195" name="Google Shape;1195;p89"/>
          <p:cNvSpPr txBox="1"/>
          <p:nvPr/>
        </p:nvSpPr>
        <p:spPr>
          <a:xfrm>
            <a:off x="4048100" y="3129700"/>
            <a:ext cx="121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14 grams</a:t>
            </a:r>
            <a:endParaRPr sz="2000">
              <a:solidFill>
                <a:schemeClr val="dk1"/>
              </a:solidFill>
              <a:latin typeface="Kalam"/>
              <a:ea typeface="Kalam"/>
              <a:cs typeface="Kalam"/>
              <a:sym typeface="Kalam"/>
            </a:endParaRPr>
          </a:p>
        </p:txBody>
      </p:sp>
      <p:sp>
        <p:nvSpPr>
          <p:cNvPr id="1196" name="Google Shape;1196;p89"/>
          <p:cNvSpPr txBox="1"/>
          <p:nvPr/>
        </p:nvSpPr>
        <p:spPr>
          <a:xfrm>
            <a:off x="61549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 tbsp</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90"/>
          <p:cNvSpPr txBox="1"/>
          <p:nvPr/>
        </p:nvSpPr>
        <p:spPr>
          <a:xfrm>
            <a:off x="6115496"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224 g</a:t>
            </a:r>
            <a:endParaRPr sz="2000">
              <a:solidFill>
                <a:schemeClr val="dk1"/>
              </a:solidFill>
              <a:latin typeface="Kalam"/>
              <a:ea typeface="Kalam"/>
              <a:cs typeface="Kalam"/>
              <a:sym typeface="Kalam"/>
            </a:endParaRPr>
          </a:p>
        </p:txBody>
      </p:sp>
      <p:grpSp>
        <p:nvGrpSpPr>
          <p:cNvPr id="1202" name="Google Shape;1202;p90"/>
          <p:cNvGrpSpPr/>
          <p:nvPr/>
        </p:nvGrpSpPr>
        <p:grpSpPr>
          <a:xfrm>
            <a:off x="2385600" y="1866271"/>
            <a:ext cx="3981025" cy="1943125"/>
            <a:chOff x="328200" y="4039350"/>
            <a:chExt cx="3981025" cy="1943125"/>
          </a:xfrm>
        </p:grpSpPr>
        <p:pic>
          <p:nvPicPr>
            <p:cNvPr id="1203" name="Google Shape;1203;p90"/>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204" name="Google Shape;1204;p90"/>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205" name="Google Shape;1205;p90"/>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206" name="Google Shape;1206;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207" name="Google Shape;1207;p90"/>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8" name="Google Shape;1208;p90"/>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9" name="Google Shape;1209;p90"/>
          <p:cNvCxnSpPr>
            <a:stCxn id="1208"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210" name="Google Shape;1210;p90"/>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211" name="Google Shape;1211;p90"/>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2" name="Google Shape;1212;p90"/>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3" name="Google Shape;1213;p90"/>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214" name="Google Shape;1214;p90"/>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15" name="Google Shape;1215;p90"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16" name="Google Shape;1216;p90"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sp>
        <p:nvSpPr>
          <p:cNvPr id="1217" name="Google Shape;1217;p90"/>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218" name="Google Shape;1218;p90"/>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9" name="Google Shape;1219;p90"/>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0" name="Google Shape;1220;p90"/>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221" name="Google Shape;1221;p90"/>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222" name="Google Shape;1222;p90"/>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223" name="Google Shape;1223;p90"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224" name="Google Shape;1224;p90"/>
            <p:cNvGrpSpPr/>
            <p:nvPr/>
          </p:nvGrpSpPr>
          <p:grpSpPr>
            <a:xfrm>
              <a:off x="3507724" y="1857156"/>
              <a:ext cx="2136900" cy="556500"/>
              <a:chOff x="3784325" y="1857156"/>
              <a:chExt cx="2136900" cy="556500"/>
            </a:xfrm>
          </p:grpSpPr>
          <p:sp>
            <p:nvSpPr>
              <p:cNvPr id="1225" name="Google Shape;1225;p90"/>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6" name="Google Shape;1226;p90"/>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227" name="Google Shape;1227;p90"/>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228" name="Google Shape;1228;p90"/>
          <p:cNvSpPr txBox="1"/>
          <p:nvPr>
            <p:ph idx="1" type="body"/>
          </p:nvPr>
        </p:nvSpPr>
        <p:spPr>
          <a:xfrm>
            <a:off x="328200" y="3766500"/>
            <a:ext cx="8182200" cy="30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a:t>Let’s see what happens if I use the fact that we know that 1 cup = 224 grams.</a:t>
            </a:r>
            <a:endParaRPr/>
          </a:p>
        </p:txBody>
      </p:sp>
      <p:sp>
        <p:nvSpPr>
          <p:cNvPr id="1229" name="Google Shape;1229;p90"/>
          <p:cNvSpPr txBox="1"/>
          <p:nvPr/>
        </p:nvSpPr>
        <p:spPr>
          <a:xfrm>
            <a:off x="4667975" y="2446825"/>
            <a:ext cx="1431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 4.7 grams</a:t>
            </a:r>
            <a:endParaRPr sz="2000">
              <a:solidFill>
                <a:schemeClr val="dk1"/>
              </a:solidFill>
              <a:latin typeface="Kalam"/>
              <a:ea typeface="Kalam"/>
              <a:cs typeface="Kalam"/>
              <a:sym typeface="Kalam"/>
            </a:endParaRPr>
          </a:p>
        </p:txBody>
      </p:sp>
      <p:sp>
        <p:nvSpPr>
          <p:cNvPr id="1230" name="Google Shape;1230;p90"/>
          <p:cNvSpPr txBox="1"/>
          <p:nvPr>
            <p:ph idx="1" type="body"/>
          </p:nvPr>
        </p:nvSpPr>
        <p:spPr>
          <a:xfrm>
            <a:off x="328200" y="4528500"/>
            <a:ext cx="8182200" cy="292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1000"/>
              </a:spcAft>
              <a:buNone/>
            </a:pPr>
            <a:r>
              <a:rPr lang="en-GB"/>
              <a:t>Why are the measurements slightly different?</a:t>
            </a:r>
            <a:endParaRPr/>
          </a:p>
        </p:txBody>
      </p:sp>
      <p:sp>
        <p:nvSpPr>
          <p:cNvPr id="1231" name="Google Shape;1231;p90"/>
          <p:cNvSpPr txBox="1"/>
          <p:nvPr/>
        </p:nvSpPr>
        <p:spPr>
          <a:xfrm>
            <a:off x="6115496"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149.3</a:t>
            </a:r>
            <a:r>
              <a:rPr lang="en-GB" sz="2000">
                <a:solidFill>
                  <a:schemeClr val="dk1"/>
                </a:solidFill>
                <a:latin typeface="Kalam"/>
                <a:ea typeface="Kalam"/>
                <a:cs typeface="Kalam"/>
                <a:sym typeface="Kalam"/>
              </a:rPr>
              <a:t> g</a:t>
            </a:r>
            <a:endParaRPr sz="2000">
              <a:solidFill>
                <a:schemeClr val="dk1"/>
              </a:solidFill>
              <a:latin typeface="Kalam"/>
              <a:ea typeface="Kalam"/>
              <a:cs typeface="Kalam"/>
              <a:sym typeface="Kalam"/>
            </a:endParaRPr>
          </a:p>
        </p:txBody>
      </p:sp>
      <p:sp>
        <p:nvSpPr>
          <p:cNvPr id="1232" name="Google Shape;1232;p90"/>
          <p:cNvSpPr txBox="1"/>
          <p:nvPr/>
        </p:nvSpPr>
        <p:spPr>
          <a:xfrm>
            <a:off x="6115496"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74.7 g</a:t>
            </a:r>
            <a:endParaRPr sz="2000">
              <a:solidFill>
                <a:schemeClr val="dk1"/>
              </a:solidFill>
              <a:latin typeface="Kalam"/>
              <a:ea typeface="Kalam"/>
              <a:cs typeface="Kalam"/>
              <a:sym typeface="Kalam"/>
            </a:endParaRPr>
          </a:p>
        </p:txBody>
      </p:sp>
      <p:sp>
        <p:nvSpPr>
          <p:cNvPr id="1233" name="Google Shape;1233;p90"/>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4" name="Google Shape;1234;p90"/>
          <p:cNvSpPr txBox="1"/>
          <p:nvPr/>
        </p:nvSpPr>
        <p:spPr>
          <a:xfrm>
            <a:off x="635100" y="1014650"/>
            <a:ext cx="9024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225.6 g</a:t>
            </a:r>
            <a:endParaRPr sz="2000">
              <a:solidFill>
                <a:schemeClr val="dk1"/>
              </a:solidFill>
              <a:latin typeface="Kalam"/>
              <a:ea typeface="Kalam"/>
              <a:cs typeface="Kalam"/>
              <a:sym typeface="Kalam"/>
            </a:endParaRPr>
          </a:p>
        </p:txBody>
      </p:sp>
      <p:cxnSp>
        <p:nvCxnSpPr>
          <p:cNvPr id="1235" name="Google Shape;1235;p90"/>
          <p:cNvCxnSpPr>
            <a:stCxn id="1233"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236" name="Google Shape;1236;p90"/>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237" name="Google Shape;1237;p90"/>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8" name="Google Shape;1238;p90"/>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9" name="Google Shape;1239;p90"/>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240" name="Google Shape;1240;p90"/>
          <p:cNvGraphicFramePr/>
          <p:nvPr/>
        </p:nvGraphicFramePr>
        <p:xfrm>
          <a:off x="15643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41" name="Google Shape;1241;p90" title="one fourth one half three fourths one third two thirds"/>
          <p:cNvPicPr preferRelativeResize="0"/>
          <p:nvPr/>
        </p:nvPicPr>
        <p:blipFill rotWithShape="1">
          <a:blip r:embed="rId4">
            <a:alphaModFix/>
          </a:blip>
          <a:srcRect b="0" l="62967" r="15872" t="0"/>
          <a:stretch/>
        </p:blipFill>
        <p:spPr>
          <a:xfrm>
            <a:off x="22057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42" name="Google Shape;1242;p90" title="one fourth one half three fourths one third two thirds"/>
          <p:cNvPicPr preferRelativeResize="0"/>
          <p:nvPr/>
        </p:nvPicPr>
        <p:blipFill rotWithShape="1">
          <a:blip r:embed="rId4">
            <a:alphaModFix/>
          </a:blip>
          <a:srcRect b="0" l="84157" r="0" t="0"/>
          <a:stretch/>
        </p:blipFill>
        <p:spPr>
          <a:xfrm>
            <a:off x="2205776" y="1684950"/>
            <a:ext cx="135150" cy="349800"/>
          </a:xfrm>
          <a:prstGeom prst="rect">
            <a:avLst/>
          </a:prstGeom>
          <a:noFill/>
          <a:ln>
            <a:noFill/>
          </a:ln>
        </p:spPr>
      </p:pic>
      <p:sp>
        <p:nvSpPr>
          <p:cNvPr id="1243" name="Google Shape;1243;p90"/>
          <p:cNvSpPr txBox="1"/>
          <p:nvPr/>
        </p:nvSpPr>
        <p:spPr>
          <a:xfrm>
            <a:off x="21735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244" name="Google Shape;1244;p90"/>
          <p:cNvSpPr txBox="1"/>
          <p:nvPr/>
        </p:nvSpPr>
        <p:spPr>
          <a:xfrm>
            <a:off x="705296"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150.4 g</a:t>
            </a:r>
            <a:endParaRPr sz="2000">
              <a:solidFill>
                <a:schemeClr val="dk1"/>
              </a:solidFill>
              <a:latin typeface="Kalam"/>
              <a:ea typeface="Kalam"/>
              <a:cs typeface="Kalam"/>
              <a:sym typeface="Kalam"/>
            </a:endParaRPr>
          </a:p>
        </p:txBody>
      </p:sp>
      <p:sp>
        <p:nvSpPr>
          <p:cNvPr id="1245" name="Google Shape;1245;p90"/>
          <p:cNvSpPr txBox="1"/>
          <p:nvPr/>
        </p:nvSpPr>
        <p:spPr>
          <a:xfrm>
            <a:off x="705296"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75.2 g</a:t>
            </a:r>
            <a:endParaRPr sz="2000">
              <a:solidFill>
                <a:schemeClr val="dk1"/>
              </a:solidFill>
              <a:latin typeface="Kalam"/>
              <a:ea typeface="Kalam"/>
              <a:cs typeface="Kalam"/>
              <a:sym typeface="Kalam"/>
            </a:endParaRPr>
          </a:p>
        </p:txBody>
      </p:sp>
      <p:sp>
        <p:nvSpPr>
          <p:cNvPr id="1246" name="Google Shape;1246;p90"/>
          <p:cNvSpPr txBox="1"/>
          <p:nvPr/>
        </p:nvSpPr>
        <p:spPr>
          <a:xfrm>
            <a:off x="4048100" y="3129700"/>
            <a:ext cx="121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14 grams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91"/>
          <p:cNvSpPr txBox="1"/>
          <p:nvPr/>
        </p:nvSpPr>
        <p:spPr>
          <a:xfrm>
            <a:off x="6115496"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224 g</a:t>
            </a:r>
            <a:endParaRPr sz="2000">
              <a:solidFill>
                <a:schemeClr val="dk1"/>
              </a:solidFill>
              <a:latin typeface="Kalam"/>
              <a:ea typeface="Kalam"/>
              <a:cs typeface="Kalam"/>
              <a:sym typeface="Kalam"/>
            </a:endParaRPr>
          </a:p>
        </p:txBody>
      </p:sp>
      <p:grpSp>
        <p:nvGrpSpPr>
          <p:cNvPr id="1252" name="Google Shape;1252;p91"/>
          <p:cNvGrpSpPr/>
          <p:nvPr/>
        </p:nvGrpSpPr>
        <p:grpSpPr>
          <a:xfrm>
            <a:off x="2385600" y="1866271"/>
            <a:ext cx="3981025" cy="1943125"/>
            <a:chOff x="328200" y="4039350"/>
            <a:chExt cx="3981025" cy="1943125"/>
          </a:xfrm>
        </p:grpSpPr>
        <p:pic>
          <p:nvPicPr>
            <p:cNvPr id="1253" name="Google Shape;1253;p91"/>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254" name="Google Shape;1254;p91"/>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255" name="Google Shape;1255;p91"/>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256" name="Google Shape;1256;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257" name="Google Shape;1257;p91"/>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8" name="Google Shape;1258;p91"/>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9" name="Google Shape;1259;p91"/>
          <p:cNvCxnSpPr>
            <a:stCxn id="1258"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260" name="Google Shape;1260;p91"/>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261" name="Google Shape;1261;p91"/>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2" name="Google Shape;1262;p91"/>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3" name="Google Shape;1263;p91"/>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264" name="Google Shape;1264;p91"/>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65" name="Google Shape;1265;p91"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66" name="Google Shape;1266;p91"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sp>
        <p:nvSpPr>
          <p:cNvPr id="1267" name="Google Shape;1267;p91"/>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268" name="Google Shape;1268;p91"/>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9" name="Google Shape;1269;p91"/>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0" name="Google Shape;1270;p91"/>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271" name="Google Shape;1271;p91"/>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272" name="Google Shape;1272;p91"/>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273" name="Google Shape;1273;p91"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274" name="Google Shape;1274;p91"/>
            <p:cNvGrpSpPr/>
            <p:nvPr/>
          </p:nvGrpSpPr>
          <p:grpSpPr>
            <a:xfrm>
              <a:off x="3507724" y="1857156"/>
              <a:ext cx="2136900" cy="556500"/>
              <a:chOff x="3784325" y="1857156"/>
              <a:chExt cx="2136900" cy="556500"/>
            </a:xfrm>
          </p:grpSpPr>
          <p:sp>
            <p:nvSpPr>
              <p:cNvPr id="1275" name="Google Shape;1275;p91"/>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6" name="Google Shape;1276;p91"/>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277" name="Google Shape;1277;p91"/>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278" name="Google Shape;1278;p91"/>
          <p:cNvSpPr txBox="1"/>
          <p:nvPr/>
        </p:nvSpPr>
        <p:spPr>
          <a:xfrm>
            <a:off x="4667975" y="2446825"/>
            <a:ext cx="1431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 4.7 grams</a:t>
            </a:r>
            <a:endParaRPr sz="2000">
              <a:solidFill>
                <a:schemeClr val="dk1"/>
              </a:solidFill>
              <a:latin typeface="Kalam"/>
              <a:ea typeface="Kalam"/>
              <a:cs typeface="Kalam"/>
              <a:sym typeface="Kalam"/>
            </a:endParaRPr>
          </a:p>
        </p:txBody>
      </p:sp>
      <p:sp>
        <p:nvSpPr>
          <p:cNvPr id="1279" name="Google Shape;1279;p91"/>
          <p:cNvSpPr txBox="1"/>
          <p:nvPr>
            <p:ph idx="1" type="body"/>
          </p:nvPr>
        </p:nvSpPr>
        <p:spPr>
          <a:xfrm>
            <a:off x="328200" y="4147500"/>
            <a:ext cx="8182200" cy="292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en-GB">
                <a:latin typeface="Kalam"/>
                <a:ea typeface="Kalam"/>
                <a:cs typeface="Kalam"/>
                <a:sym typeface="Kalam"/>
              </a:rPr>
              <a:t>These are approximate values.</a:t>
            </a:r>
            <a:endParaRPr>
              <a:latin typeface="Kalam"/>
              <a:ea typeface="Kalam"/>
              <a:cs typeface="Kalam"/>
              <a:sym typeface="Kalam"/>
            </a:endParaRPr>
          </a:p>
          <a:p>
            <a:pPr indent="0" lvl="0" marL="0" rtl="0" algn="l">
              <a:lnSpc>
                <a:spcPct val="75000"/>
              </a:lnSpc>
              <a:spcBef>
                <a:spcPts val="1000"/>
              </a:spcBef>
              <a:spcAft>
                <a:spcPts val="1000"/>
              </a:spcAft>
              <a:buNone/>
            </a:pPr>
            <a:r>
              <a:rPr lang="en-GB"/>
              <a:t>What would the most </a:t>
            </a:r>
            <a:r>
              <a:rPr lang="en-GB"/>
              <a:t>appropriate</a:t>
            </a:r>
            <a:r>
              <a:rPr lang="en-GB"/>
              <a:t> measurement to use?</a:t>
            </a:r>
            <a:endParaRPr/>
          </a:p>
        </p:txBody>
      </p:sp>
      <p:sp>
        <p:nvSpPr>
          <p:cNvPr id="1280" name="Google Shape;1280;p91"/>
          <p:cNvSpPr txBox="1"/>
          <p:nvPr/>
        </p:nvSpPr>
        <p:spPr>
          <a:xfrm>
            <a:off x="6115496"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149.3 g</a:t>
            </a:r>
            <a:endParaRPr sz="2000">
              <a:solidFill>
                <a:schemeClr val="dk1"/>
              </a:solidFill>
              <a:latin typeface="Kalam"/>
              <a:ea typeface="Kalam"/>
              <a:cs typeface="Kalam"/>
              <a:sym typeface="Kalam"/>
            </a:endParaRPr>
          </a:p>
        </p:txBody>
      </p:sp>
      <p:sp>
        <p:nvSpPr>
          <p:cNvPr id="1281" name="Google Shape;1281;p91"/>
          <p:cNvSpPr txBox="1"/>
          <p:nvPr/>
        </p:nvSpPr>
        <p:spPr>
          <a:xfrm>
            <a:off x="6115496"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74.7 g</a:t>
            </a:r>
            <a:endParaRPr sz="2000">
              <a:solidFill>
                <a:schemeClr val="dk1"/>
              </a:solidFill>
              <a:latin typeface="Kalam"/>
              <a:ea typeface="Kalam"/>
              <a:cs typeface="Kalam"/>
              <a:sym typeface="Kalam"/>
            </a:endParaRPr>
          </a:p>
        </p:txBody>
      </p:sp>
      <p:sp>
        <p:nvSpPr>
          <p:cNvPr id="1282" name="Google Shape;1282;p91"/>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3" name="Google Shape;1283;p91"/>
          <p:cNvSpPr txBox="1"/>
          <p:nvPr/>
        </p:nvSpPr>
        <p:spPr>
          <a:xfrm>
            <a:off x="635100" y="1014650"/>
            <a:ext cx="9024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225.6 g</a:t>
            </a:r>
            <a:endParaRPr sz="2000">
              <a:solidFill>
                <a:schemeClr val="dk1"/>
              </a:solidFill>
              <a:latin typeface="Kalam"/>
              <a:ea typeface="Kalam"/>
              <a:cs typeface="Kalam"/>
              <a:sym typeface="Kalam"/>
            </a:endParaRPr>
          </a:p>
        </p:txBody>
      </p:sp>
      <p:cxnSp>
        <p:nvCxnSpPr>
          <p:cNvPr id="1284" name="Google Shape;1284;p91"/>
          <p:cNvCxnSpPr>
            <a:stCxn id="1282"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285" name="Google Shape;1285;p91"/>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286" name="Google Shape;1286;p91"/>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7" name="Google Shape;1287;p91"/>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8" name="Google Shape;1288;p91"/>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289" name="Google Shape;1289;p91"/>
          <p:cNvGraphicFramePr/>
          <p:nvPr/>
        </p:nvGraphicFramePr>
        <p:xfrm>
          <a:off x="15643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90" name="Google Shape;1290;p91" title="one fourth one half three fourths one third two thirds"/>
          <p:cNvPicPr preferRelativeResize="0"/>
          <p:nvPr/>
        </p:nvPicPr>
        <p:blipFill rotWithShape="1">
          <a:blip r:embed="rId4">
            <a:alphaModFix/>
          </a:blip>
          <a:srcRect b="0" l="62967" r="15872" t="0"/>
          <a:stretch/>
        </p:blipFill>
        <p:spPr>
          <a:xfrm>
            <a:off x="22057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291" name="Google Shape;1291;p91" title="one fourth one half three fourths one third two thirds"/>
          <p:cNvPicPr preferRelativeResize="0"/>
          <p:nvPr/>
        </p:nvPicPr>
        <p:blipFill rotWithShape="1">
          <a:blip r:embed="rId4">
            <a:alphaModFix/>
          </a:blip>
          <a:srcRect b="0" l="84157" r="0" t="0"/>
          <a:stretch/>
        </p:blipFill>
        <p:spPr>
          <a:xfrm>
            <a:off x="2205776" y="1684950"/>
            <a:ext cx="135150" cy="349800"/>
          </a:xfrm>
          <a:prstGeom prst="rect">
            <a:avLst/>
          </a:prstGeom>
          <a:noFill/>
          <a:ln>
            <a:noFill/>
          </a:ln>
        </p:spPr>
      </p:pic>
      <p:sp>
        <p:nvSpPr>
          <p:cNvPr id="1292" name="Google Shape;1292;p91"/>
          <p:cNvSpPr txBox="1"/>
          <p:nvPr/>
        </p:nvSpPr>
        <p:spPr>
          <a:xfrm>
            <a:off x="21735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293" name="Google Shape;1293;p91"/>
          <p:cNvSpPr txBox="1"/>
          <p:nvPr/>
        </p:nvSpPr>
        <p:spPr>
          <a:xfrm>
            <a:off x="705296"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150.4 g</a:t>
            </a:r>
            <a:endParaRPr sz="2000">
              <a:solidFill>
                <a:schemeClr val="dk1"/>
              </a:solidFill>
              <a:latin typeface="Kalam"/>
              <a:ea typeface="Kalam"/>
              <a:cs typeface="Kalam"/>
              <a:sym typeface="Kalam"/>
            </a:endParaRPr>
          </a:p>
        </p:txBody>
      </p:sp>
      <p:sp>
        <p:nvSpPr>
          <p:cNvPr id="1294" name="Google Shape;1294;p91"/>
          <p:cNvSpPr txBox="1"/>
          <p:nvPr/>
        </p:nvSpPr>
        <p:spPr>
          <a:xfrm>
            <a:off x="705296"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75.2 g</a:t>
            </a:r>
            <a:endParaRPr sz="2000">
              <a:solidFill>
                <a:schemeClr val="dk1"/>
              </a:solidFill>
              <a:latin typeface="Kalam"/>
              <a:ea typeface="Kalam"/>
              <a:cs typeface="Kalam"/>
              <a:sym typeface="Kalam"/>
            </a:endParaRPr>
          </a:p>
        </p:txBody>
      </p:sp>
      <p:sp>
        <p:nvSpPr>
          <p:cNvPr id="1295" name="Google Shape;1295;p91"/>
          <p:cNvSpPr/>
          <p:nvPr/>
        </p:nvSpPr>
        <p:spPr>
          <a:xfrm>
            <a:off x="4337031" y="892744"/>
            <a:ext cx="218100" cy="204300"/>
          </a:xfrm>
          <a:prstGeom prst="rect">
            <a:avLst/>
          </a:prstGeom>
          <a:solidFill>
            <a:srgbClr val="845AD9">
              <a:alpha val="4563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6" name="Google Shape;1296;p91"/>
          <p:cNvSpPr/>
          <p:nvPr/>
        </p:nvSpPr>
        <p:spPr>
          <a:xfrm>
            <a:off x="4746230" y="2495702"/>
            <a:ext cx="218100" cy="204300"/>
          </a:xfrm>
          <a:prstGeom prst="rect">
            <a:avLst/>
          </a:prstGeom>
          <a:solidFill>
            <a:srgbClr val="845AD9">
              <a:alpha val="4563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7" name="Google Shape;1297;p91"/>
          <p:cNvSpPr txBox="1"/>
          <p:nvPr>
            <p:ph idx="1" type="body"/>
          </p:nvPr>
        </p:nvSpPr>
        <p:spPr>
          <a:xfrm>
            <a:off x="328200" y="3842700"/>
            <a:ext cx="8182200" cy="292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1000"/>
              </a:spcAft>
              <a:buNone/>
            </a:pPr>
            <a:r>
              <a:rPr lang="en-GB"/>
              <a:t>Why are the measurements slightly different?</a:t>
            </a:r>
            <a:endParaRPr/>
          </a:p>
        </p:txBody>
      </p:sp>
      <p:sp>
        <p:nvSpPr>
          <p:cNvPr id="1298" name="Google Shape;1298;p91"/>
          <p:cNvSpPr txBox="1"/>
          <p:nvPr/>
        </p:nvSpPr>
        <p:spPr>
          <a:xfrm>
            <a:off x="4048100" y="3129700"/>
            <a:ext cx="121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14 grams</a:t>
            </a:r>
            <a:endParaRPr sz="2000">
              <a:solidFill>
                <a:schemeClr val="dk1"/>
              </a:solidFill>
              <a:latin typeface="Kalam"/>
              <a:ea typeface="Kalam"/>
              <a:cs typeface="Kalam"/>
              <a:sym typeface="Kalam"/>
            </a:endParaRPr>
          </a:p>
        </p:txBody>
      </p:sp>
      <p:sp>
        <p:nvSpPr>
          <p:cNvPr id="1299" name="Google Shape;1299;p91"/>
          <p:cNvSpPr/>
          <p:nvPr/>
        </p:nvSpPr>
        <p:spPr>
          <a:xfrm>
            <a:off x="4006789" y="3181502"/>
            <a:ext cx="218100" cy="204300"/>
          </a:xfrm>
          <a:prstGeom prst="rect">
            <a:avLst/>
          </a:prstGeom>
          <a:solidFill>
            <a:srgbClr val="845AD9">
              <a:alpha val="45630"/>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0" name="Google Shape;1300;p91"/>
          <p:cNvSpPr txBox="1"/>
          <p:nvPr/>
        </p:nvSpPr>
        <p:spPr>
          <a:xfrm>
            <a:off x="1590204" y="1009010"/>
            <a:ext cx="672600" cy="307800"/>
          </a:xfrm>
          <a:prstGeom prst="rect">
            <a:avLst/>
          </a:prstGeom>
          <a:solidFill>
            <a:srgbClr val="F3EEFB"/>
          </a:solid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225 g</a:t>
            </a:r>
            <a:endParaRPr sz="2000">
              <a:solidFill>
                <a:schemeClr val="dk1"/>
              </a:solidFill>
              <a:latin typeface="Kalam"/>
              <a:ea typeface="Kalam"/>
              <a:cs typeface="Kalam"/>
              <a:sym typeface="Kalam"/>
            </a:endParaRPr>
          </a:p>
        </p:txBody>
      </p:sp>
      <p:sp>
        <p:nvSpPr>
          <p:cNvPr id="1301" name="Google Shape;1301;p91"/>
          <p:cNvSpPr txBox="1"/>
          <p:nvPr/>
        </p:nvSpPr>
        <p:spPr>
          <a:xfrm>
            <a:off x="7009929" y="1009010"/>
            <a:ext cx="672600" cy="307800"/>
          </a:xfrm>
          <a:prstGeom prst="rect">
            <a:avLst/>
          </a:prstGeom>
          <a:solidFill>
            <a:srgbClr val="F3EEFB"/>
          </a:solid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225 g</a:t>
            </a:r>
            <a:endParaRPr sz="2000">
              <a:solidFill>
                <a:schemeClr val="dk1"/>
              </a:solidFill>
              <a:latin typeface="Kalam"/>
              <a:ea typeface="Kalam"/>
              <a:cs typeface="Kalam"/>
              <a:sym typeface="Kalam"/>
            </a:endParaRPr>
          </a:p>
        </p:txBody>
      </p:sp>
      <p:sp>
        <p:nvSpPr>
          <p:cNvPr id="1302" name="Google Shape;1302;p91"/>
          <p:cNvSpPr txBox="1"/>
          <p:nvPr/>
        </p:nvSpPr>
        <p:spPr>
          <a:xfrm>
            <a:off x="1590200" y="1711725"/>
            <a:ext cx="607200" cy="307800"/>
          </a:xfrm>
          <a:prstGeom prst="rect">
            <a:avLst/>
          </a:prstGeom>
          <a:solidFill>
            <a:srgbClr val="F3EEFB"/>
          </a:solid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a:t>
            </a:r>
            <a:r>
              <a:rPr lang="en-GB" sz="2000">
                <a:solidFill>
                  <a:schemeClr val="dk1"/>
                </a:solidFill>
                <a:latin typeface="Kalam"/>
                <a:ea typeface="Kalam"/>
                <a:cs typeface="Kalam"/>
                <a:sym typeface="Kalam"/>
              </a:rPr>
              <a:t>50 g</a:t>
            </a:r>
            <a:endParaRPr sz="2000">
              <a:solidFill>
                <a:schemeClr val="dk1"/>
              </a:solidFill>
              <a:latin typeface="Kalam"/>
              <a:ea typeface="Kalam"/>
              <a:cs typeface="Kalam"/>
              <a:sym typeface="Kalam"/>
            </a:endParaRPr>
          </a:p>
        </p:txBody>
      </p:sp>
      <p:sp>
        <p:nvSpPr>
          <p:cNvPr id="1303" name="Google Shape;1303;p91"/>
          <p:cNvSpPr txBox="1"/>
          <p:nvPr/>
        </p:nvSpPr>
        <p:spPr>
          <a:xfrm>
            <a:off x="7015389" y="1711725"/>
            <a:ext cx="607200" cy="307800"/>
          </a:xfrm>
          <a:prstGeom prst="rect">
            <a:avLst/>
          </a:prstGeom>
          <a:solidFill>
            <a:srgbClr val="F3EEFB"/>
          </a:solid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a:t>
            </a:r>
            <a:r>
              <a:rPr lang="en-GB" sz="2000">
                <a:solidFill>
                  <a:schemeClr val="dk1"/>
                </a:solidFill>
                <a:latin typeface="Kalam"/>
                <a:ea typeface="Kalam"/>
                <a:cs typeface="Kalam"/>
                <a:sym typeface="Kalam"/>
              </a:rPr>
              <a:t>50 g</a:t>
            </a:r>
            <a:endParaRPr sz="2000">
              <a:solidFill>
                <a:schemeClr val="dk1"/>
              </a:solidFill>
              <a:latin typeface="Kalam"/>
              <a:ea typeface="Kalam"/>
              <a:cs typeface="Kalam"/>
              <a:sym typeface="Kalam"/>
            </a:endParaRPr>
          </a:p>
        </p:txBody>
      </p:sp>
      <p:sp>
        <p:nvSpPr>
          <p:cNvPr id="1304" name="Google Shape;1304;p91"/>
          <p:cNvSpPr txBox="1"/>
          <p:nvPr/>
        </p:nvSpPr>
        <p:spPr>
          <a:xfrm>
            <a:off x="1590200" y="2408800"/>
            <a:ext cx="543900" cy="307800"/>
          </a:xfrm>
          <a:prstGeom prst="rect">
            <a:avLst/>
          </a:prstGeom>
          <a:solidFill>
            <a:srgbClr val="F3EEFB"/>
          </a:solid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75</a:t>
            </a:r>
            <a:r>
              <a:rPr lang="en-GB" sz="2000">
                <a:solidFill>
                  <a:schemeClr val="dk1"/>
                </a:solidFill>
                <a:latin typeface="Kalam"/>
                <a:ea typeface="Kalam"/>
                <a:cs typeface="Kalam"/>
                <a:sym typeface="Kalam"/>
              </a:rPr>
              <a:t> g</a:t>
            </a:r>
            <a:endParaRPr sz="2000">
              <a:solidFill>
                <a:schemeClr val="dk1"/>
              </a:solidFill>
              <a:latin typeface="Kalam"/>
              <a:ea typeface="Kalam"/>
              <a:cs typeface="Kalam"/>
              <a:sym typeface="Kalam"/>
            </a:endParaRPr>
          </a:p>
        </p:txBody>
      </p:sp>
      <p:sp>
        <p:nvSpPr>
          <p:cNvPr id="1305" name="Google Shape;1305;p91"/>
          <p:cNvSpPr txBox="1"/>
          <p:nvPr/>
        </p:nvSpPr>
        <p:spPr>
          <a:xfrm>
            <a:off x="7017319" y="2408800"/>
            <a:ext cx="543900" cy="307800"/>
          </a:xfrm>
          <a:prstGeom prst="rect">
            <a:avLst/>
          </a:prstGeom>
          <a:solidFill>
            <a:srgbClr val="F3EEFB"/>
          </a:solid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75 g</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grpSp>
        <p:nvGrpSpPr>
          <p:cNvPr id="1310" name="Google Shape;1310;p92"/>
          <p:cNvGrpSpPr/>
          <p:nvPr/>
        </p:nvGrpSpPr>
        <p:grpSpPr>
          <a:xfrm>
            <a:off x="2385600" y="1866271"/>
            <a:ext cx="3981025" cy="1943125"/>
            <a:chOff x="328200" y="4039350"/>
            <a:chExt cx="3981025" cy="1943125"/>
          </a:xfrm>
        </p:grpSpPr>
        <p:pic>
          <p:nvPicPr>
            <p:cNvPr id="1311" name="Google Shape;1311;p92"/>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312" name="Google Shape;1312;p92"/>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313" name="Google Shape;1313;p92"/>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314" name="Google Shape;1314;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315" name="Google Shape;1315;p92"/>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16" name="Google Shape;1316;p92"/>
          <p:cNvCxnSpPr>
            <a:stCxn id="1315"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317" name="Google Shape;1317;p92"/>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318" name="Google Shape;1318;p92"/>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9" name="Google Shape;1319;p92"/>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0" name="Google Shape;1320;p92"/>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321" name="Google Shape;1321;p92"/>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1322" name="Google Shape;1322;p92"/>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23" name="Google Shape;1323;p92"/>
          <p:cNvCxnSpPr>
            <a:stCxn id="1322"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324" name="Google Shape;1324;p92"/>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325" name="Google Shape;1325;p92"/>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6" name="Google Shape;1326;p92"/>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7" name="Google Shape;1327;p92"/>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328" name="Google Shape;1328;p92"/>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29" name="Google Shape;1329;p92"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30" name="Google Shape;1330;p92"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31" name="Google Shape;1331;p92"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32" name="Google Shape;1332;p92"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33" name="Google Shape;1333;p92"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1334" name="Google Shape;1334;p92"/>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335" name="Google Shape;1335;p92"/>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336" name="Google Shape;1336;p92"/>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7" name="Google Shape;1337;p92"/>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8" name="Google Shape;1338;p92"/>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339" name="Google Shape;1339;p92"/>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340" name="Google Shape;1340;p92"/>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341" name="Google Shape;1341;p92"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342" name="Google Shape;1342;p92"/>
            <p:cNvGrpSpPr/>
            <p:nvPr/>
          </p:nvGrpSpPr>
          <p:grpSpPr>
            <a:xfrm>
              <a:off x="3507724" y="1857156"/>
              <a:ext cx="2136900" cy="556500"/>
              <a:chOff x="3784325" y="1857156"/>
              <a:chExt cx="2136900" cy="556500"/>
            </a:xfrm>
          </p:grpSpPr>
          <p:sp>
            <p:nvSpPr>
              <p:cNvPr id="1343" name="Google Shape;1343;p92"/>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4" name="Google Shape;1344;p92"/>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345" name="Google Shape;1345;p92"/>
          <p:cNvSpPr txBox="1"/>
          <p:nvPr/>
        </p:nvSpPr>
        <p:spPr>
          <a:xfrm>
            <a:off x="343750" y="3752140"/>
            <a:ext cx="8476200" cy="2925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t/>
            </a:r>
            <a:endParaRPr sz="2000">
              <a:solidFill>
                <a:schemeClr val="dk1"/>
              </a:solidFill>
              <a:latin typeface="Kalam"/>
              <a:ea typeface="Kalam"/>
              <a:cs typeface="Kalam"/>
              <a:sym typeface="Kalam"/>
            </a:endParaRPr>
          </a:p>
        </p:txBody>
      </p:sp>
      <p:sp>
        <p:nvSpPr>
          <p:cNvPr id="1346" name="Google Shape;1346;p92"/>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347" name="Google Shape;1347;p92"/>
          <p:cNvSpPr txBox="1"/>
          <p:nvPr>
            <p:ph idx="1" type="body"/>
          </p:nvPr>
        </p:nvSpPr>
        <p:spPr>
          <a:xfrm>
            <a:off x="328200" y="3918900"/>
            <a:ext cx="8182200" cy="9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Starting with measures of capacity.</a:t>
            </a:r>
            <a:endParaRPr/>
          </a:p>
          <a:p>
            <a:pPr indent="0" lvl="0" marL="0" rtl="0" algn="l">
              <a:spcBef>
                <a:spcPts val="1000"/>
              </a:spcBef>
              <a:spcAft>
                <a:spcPts val="1000"/>
              </a:spcAft>
              <a:buNone/>
            </a:pPr>
            <a:r>
              <a:rPr lang="en-GB"/>
              <a:t>Convert all cup and spoon measurements into millilitres.</a:t>
            </a:r>
            <a:endParaRPr/>
          </a:p>
        </p:txBody>
      </p:sp>
      <p:sp>
        <p:nvSpPr>
          <p:cNvPr id="1348" name="Google Shape;1348;p92"/>
          <p:cNvSpPr txBox="1"/>
          <p:nvPr/>
        </p:nvSpPr>
        <p:spPr>
          <a:xfrm>
            <a:off x="4265912" y="3129689"/>
            <a:ext cx="9927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15 ml</a:t>
            </a:r>
            <a:endParaRPr sz="2000">
              <a:solidFill>
                <a:schemeClr val="dk1"/>
              </a:solidFill>
              <a:latin typeface="Kalam"/>
              <a:ea typeface="Kalam"/>
              <a:cs typeface="Kalam"/>
              <a:sym typeface="Kalam"/>
            </a:endParaRPr>
          </a:p>
        </p:txBody>
      </p:sp>
      <p:sp>
        <p:nvSpPr>
          <p:cNvPr id="1349" name="Google Shape;1349;p92"/>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 tbsp</a:t>
            </a:r>
            <a:endParaRPr sz="2000">
              <a:solidFill>
                <a:schemeClr val="dk1"/>
              </a:solidFill>
              <a:latin typeface="Kalam"/>
              <a:ea typeface="Kalam"/>
              <a:cs typeface="Kalam"/>
              <a:sym typeface="Kalam"/>
            </a:endParaRPr>
          </a:p>
        </p:txBody>
      </p:sp>
      <p:sp>
        <p:nvSpPr>
          <p:cNvPr id="1350" name="Google Shape;1350;p92"/>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240</a:t>
            </a:r>
            <a:r>
              <a:rPr lang="en-GB" sz="2000">
                <a:solidFill>
                  <a:schemeClr val="dk1"/>
                </a:solidFill>
                <a:latin typeface="Kalam"/>
                <a:ea typeface="Kalam"/>
                <a:cs typeface="Kalam"/>
                <a:sym typeface="Kalam"/>
              </a:rPr>
              <a:t> ml</a:t>
            </a:r>
            <a:endParaRPr sz="2000">
              <a:solidFill>
                <a:schemeClr val="dk1"/>
              </a:solidFill>
              <a:latin typeface="Kalam"/>
              <a:ea typeface="Kalam"/>
              <a:cs typeface="Kalam"/>
              <a:sym typeface="Kalam"/>
            </a:endParaRPr>
          </a:p>
        </p:txBody>
      </p:sp>
      <p:sp>
        <p:nvSpPr>
          <p:cNvPr id="1351" name="Google Shape;1351;p92"/>
          <p:cNvSpPr txBox="1"/>
          <p:nvPr/>
        </p:nvSpPr>
        <p:spPr>
          <a:xfrm>
            <a:off x="66857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8 tbsp</a:t>
            </a:r>
            <a:endParaRPr sz="2000">
              <a:solidFill>
                <a:schemeClr val="dk1"/>
              </a:solidFill>
              <a:latin typeface="Kalam"/>
              <a:ea typeface="Kalam"/>
              <a:cs typeface="Kalam"/>
              <a:sym typeface="Kalam"/>
            </a:endParaRPr>
          </a:p>
        </p:txBody>
      </p:sp>
      <p:sp>
        <p:nvSpPr>
          <p:cNvPr id="1352" name="Google Shape;1352;p92"/>
          <p:cNvSpPr txBox="1"/>
          <p:nvPr/>
        </p:nvSpPr>
        <p:spPr>
          <a:xfrm>
            <a:off x="66857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120</a:t>
            </a:r>
            <a:r>
              <a:rPr lang="en-GB" sz="2000">
                <a:solidFill>
                  <a:schemeClr val="dk1"/>
                </a:solidFill>
                <a:latin typeface="Kalam"/>
                <a:ea typeface="Kalam"/>
                <a:cs typeface="Kalam"/>
                <a:sym typeface="Kalam"/>
              </a:rPr>
              <a:t> ml</a:t>
            </a:r>
            <a:endParaRPr sz="2000">
              <a:solidFill>
                <a:schemeClr val="dk1"/>
              </a:solidFill>
              <a:latin typeface="Kalam"/>
              <a:ea typeface="Kalam"/>
              <a:cs typeface="Kalam"/>
              <a:sym typeface="Kalam"/>
            </a:endParaRPr>
          </a:p>
        </p:txBody>
      </p:sp>
      <p:sp>
        <p:nvSpPr>
          <p:cNvPr id="1353" name="Google Shape;1353;p92"/>
          <p:cNvSpPr txBox="1"/>
          <p:nvPr/>
        </p:nvSpPr>
        <p:spPr>
          <a:xfrm>
            <a:off x="66857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4 tbsp</a:t>
            </a:r>
            <a:endParaRPr sz="2000">
              <a:solidFill>
                <a:schemeClr val="dk1"/>
              </a:solidFill>
              <a:latin typeface="Kalam"/>
              <a:ea typeface="Kalam"/>
              <a:cs typeface="Kalam"/>
              <a:sym typeface="Kalam"/>
            </a:endParaRPr>
          </a:p>
        </p:txBody>
      </p:sp>
      <p:sp>
        <p:nvSpPr>
          <p:cNvPr id="1354" name="Google Shape;1354;p92"/>
          <p:cNvSpPr txBox="1"/>
          <p:nvPr/>
        </p:nvSpPr>
        <p:spPr>
          <a:xfrm>
            <a:off x="66857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60</a:t>
            </a:r>
            <a:r>
              <a:rPr lang="en-GB" sz="2000">
                <a:solidFill>
                  <a:schemeClr val="dk1"/>
                </a:solidFill>
                <a:latin typeface="Kalam"/>
                <a:ea typeface="Kalam"/>
                <a:cs typeface="Kalam"/>
                <a:sym typeface="Kalam"/>
              </a:rPr>
              <a:t> ml</a:t>
            </a:r>
            <a:endParaRPr sz="2000">
              <a:solidFill>
                <a:schemeClr val="dk1"/>
              </a:solidFill>
              <a:latin typeface="Kalam"/>
              <a:ea typeface="Kalam"/>
              <a:cs typeface="Kalam"/>
              <a:sym typeface="Kalam"/>
            </a:endParaRPr>
          </a:p>
        </p:txBody>
      </p:sp>
      <p:sp>
        <p:nvSpPr>
          <p:cNvPr id="1355" name="Google Shape;1355;p92"/>
          <p:cNvSpPr txBox="1"/>
          <p:nvPr/>
        </p:nvSpPr>
        <p:spPr>
          <a:xfrm>
            <a:off x="66857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12 tbsp</a:t>
            </a:r>
            <a:endParaRPr sz="2000">
              <a:solidFill>
                <a:schemeClr val="dk1"/>
              </a:solidFill>
              <a:latin typeface="Kalam"/>
              <a:ea typeface="Kalam"/>
              <a:cs typeface="Kalam"/>
              <a:sym typeface="Kalam"/>
            </a:endParaRPr>
          </a:p>
        </p:txBody>
      </p:sp>
      <p:sp>
        <p:nvSpPr>
          <p:cNvPr id="1356" name="Google Shape;1356;p92"/>
          <p:cNvSpPr txBox="1"/>
          <p:nvPr/>
        </p:nvSpPr>
        <p:spPr>
          <a:xfrm>
            <a:off x="66857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180</a:t>
            </a:r>
            <a:r>
              <a:rPr lang="en-GB" sz="2000">
                <a:solidFill>
                  <a:schemeClr val="dk1"/>
                </a:solidFill>
                <a:latin typeface="Kalam"/>
                <a:ea typeface="Kalam"/>
                <a:cs typeface="Kalam"/>
                <a:sym typeface="Kalam"/>
              </a:rPr>
              <a:t> ml</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93"/>
          <p:cNvSpPr txBox="1"/>
          <p:nvPr/>
        </p:nvSpPr>
        <p:spPr>
          <a:xfrm>
            <a:off x="6104217"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240 ml</a:t>
            </a:r>
            <a:endParaRPr sz="2000">
              <a:solidFill>
                <a:schemeClr val="dk1"/>
              </a:solidFill>
              <a:latin typeface="Kalam"/>
              <a:ea typeface="Kalam"/>
              <a:cs typeface="Kalam"/>
              <a:sym typeface="Kalam"/>
            </a:endParaRPr>
          </a:p>
        </p:txBody>
      </p:sp>
      <p:grpSp>
        <p:nvGrpSpPr>
          <p:cNvPr id="1362" name="Google Shape;1362;p93"/>
          <p:cNvGrpSpPr/>
          <p:nvPr/>
        </p:nvGrpSpPr>
        <p:grpSpPr>
          <a:xfrm>
            <a:off x="2385600" y="1866271"/>
            <a:ext cx="3981025" cy="1943125"/>
            <a:chOff x="328200" y="4039350"/>
            <a:chExt cx="3981025" cy="1943125"/>
          </a:xfrm>
        </p:grpSpPr>
        <p:pic>
          <p:nvPicPr>
            <p:cNvPr id="1363" name="Google Shape;1363;p93"/>
            <p:cNvPicPr preferRelativeResize="0"/>
            <p:nvPr/>
          </p:nvPicPr>
          <p:blipFill>
            <a:blip r:embed="rId3">
              <a:alphaModFix/>
            </a:blip>
            <a:stretch>
              <a:fillRect/>
            </a:stretch>
          </p:blipFill>
          <p:spPr>
            <a:xfrm>
              <a:off x="328200" y="4039350"/>
              <a:ext cx="3981025" cy="1943125"/>
            </a:xfrm>
            <a:prstGeom prst="rect">
              <a:avLst/>
            </a:prstGeom>
            <a:noFill/>
            <a:ln>
              <a:noFill/>
            </a:ln>
          </p:spPr>
        </p:pic>
        <p:sp>
          <p:nvSpPr>
            <p:cNvPr id="1364" name="Google Shape;1364;p93"/>
            <p:cNvSpPr txBox="1"/>
            <p:nvPr/>
          </p:nvSpPr>
          <p:spPr>
            <a:xfrm>
              <a:off x="2052964" y="4342544"/>
              <a:ext cx="3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tsp</a:t>
              </a:r>
              <a:endParaRPr sz="1800">
                <a:solidFill>
                  <a:schemeClr val="dk1"/>
                </a:solidFill>
                <a:latin typeface="Lexend"/>
                <a:ea typeface="Lexend"/>
                <a:cs typeface="Lexend"/>
                <a:sym typeface="Lexend"/>
              </a:endParaRPr>
            </a:p>
          </p:txBody>
        </p:sp>
        <p:sp>
          <p:nvSpPr>
            <p:cNvPr id="1365" name="Google Shape;1365;p93"/>
            <p:cNvSpPr txBox="1"/>
            <p:nvPr/>
          </p:nvSpPr>
          <p:spPr>
            <a:xfrm>
              <a:off x="954970" y="5290775"/>
              <a:ext cx="533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tbsp</a:t>
              </a:r>
              <a:endParaRPr sz="1800">
                <a:solidFill>
                  <a:schemeClr val="dk1"/>
                </a:solidFill>
                <a:latin typeface="Lexend"/>
                <a:ea typeface="Lexend"/>
                <a:cs typeface="Lexend"/>
                <a:sym typeface="Lexend"/>
              </a:endParaRPr>
            </a:p>
          </p:txBody>
        </p:sp>
      </p:grpSp>
      <p:sp>
        <p:nvSpPr>
          <p:cNvPr id="1366" name="Google Shape;1366;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367" name="Google Shape;1367;p93"/>
          <p:cNvSpPr/>
          <p:nvPr/>
        </p:nvSpPr>
        <p:spPr>
          <a:xfrm>
            <a:off x="6325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8" name="Google Shape;1368;p93"/>
          <p:cNvCxnSpPr>
            <a:stCxn id="1367" idx="2"/>
          </p:cNvCxnSpPr>
          <p:nvPr/>
        </p:nvCxnSpPr>
        <p:spPr>
          <a:xfrm>
            <a:off x="6325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369" name="Google Shape;1369;p93"/>
          <p:cNvCxnSpPr/>
          <p:nvPr/>
        </p:nvCxnSpPr>
        <p:spPr>
          <a:xfrm flipH="1">
            <a:off x="25500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370" name="Google Shape;1370;p93"/>
          <p:cNvSpPr/>
          <p:nvPr/>
        </p:nvSpPr>
        <p:spPr>
          <a:xfrm>
            <a:off x="9483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1" name="Google Shape;1371;p93"/>
          <p:cNvSpPr/>
          <p:nvPr/>
        </p:nvSpPr>
        <p:spPr>
          <a:xfrm rot="-9606547">
            <a:off x="26233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2" name="Google Shape;1372;p93"/>
          <p:cNvSpPr/>
          <p:nvPr/>
        </p:nvSpPr>
        <p:spPr>
          <a:xfrm rot="-9606083">
            <a:off x="26355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373" name="Google Shape;1373;p93"/>
          <p:cNvGraphicFramePr/>
          <p:nvPr/>
        </p:nvGraphicFramePr>
        <p:xfrm>
          <a:off x="1503537" y="1162808"/>
          <a:ext cx="3000000" cy="3000000"/>
        </p:xfrm>
        <a:graphic>
          <a:graphicData uri="http://schemas.openxmlformats.org/drawingml/2006/table">
            <a:tbl>
              <a:tblPr>
                <a:noFill/>
                <a:tableStyleId>{5ABEDB2D-1168-43D3-9195-50B46805A593}</a:tableStyleId>
              </a:tblPr>
              <a:tblGrid>
                <a:gridCol w="591050"/>
              </a:tblGrid>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18950">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sp>
        <p:nvSpPr>
          <p:cNvPr id="1374" name="Google Shape;1374;p93"/>
          <p:cNvSpPr/>
          <p:nvPr/>
        </p:nvSpPr>
        <p:spPr>
          <a:xfrm>
            <a:off x="6042700" y="745725"/>
            <a:ext cx="2171400" cy="34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5" name="Google Shape;1375;p93"/>
          <p:cNvCxnSpPr>
            <a:stCxn id="1374" idx="2"/>
          </p:cNvCxnSpPr>
          <p:nvPr/>
        </p:nvCxnSpPr>
        <p:spPr>
          <a:xfrm>
            <a:off x="6042700" y="920625"/>
            <a:ext cx="315900" cy="2334900"/>
          </a:xfrm>
          <a:prstGeom prst="straightConnector1">
            <a:avLst/>
          </a:prstGeom>
          <a:noFill/>
          <a:ln cap="flat" cmpd="sng" w="9525">
            <a:solidFill>
              <a:schemeClr val="dk1"/>
            </a:solidFill>
            <a:prstDash val="solid"/>
            <a:round/>
            <a:headEnd len="med" w="med" type="none"/>
            <a:tailEnd len="med" w="med" type="none"/>
          </a:ln>
        </p:spPr>
      </p:cxnSp>
      <p:cxnSp>
        <p:nvCxnSpPr>
          <p:cNvPr id="1376" name="Google Shape;1376;p93"/>
          <p:cNvCxnSpPr/>
          <p:nvPr/>
        </p:nvCxnSpPr>
        <p:spPr>
          <a:xfrm flipH="1">
            <a:off x="7960239" y="923508"/>
            <a:ext cx="249900" cy="2315100"/>
          </a:xfrm>
          <a:prstGeom prst="straightConnector1">
            <a:avLst/>
          </a:prstGeom>
          <a:noFill/>
          <a:ln cap="flat" cmpd="sng" w="9525">
            <a:solidFill>
              <a:schemeClr val="dk1"/>
            </a:solidFill>
            <a:prstDash val="solid"/>
            <a:round/>
            <a:headEnd len="med" w="med" type="none"/>
            <a:tailEnd len="med" w="med" type="none"/>
          </a:ln>
        </p:spPr>
      </p:cxnSp>
      <p:sp>
        <p:nvSpPr>
          <p:cNvPr id="1377" name="Google Shape;1377;p93"/>
          <p:cNvSpPr/>
          <p:nvPr/>
        </p:nvSpPr>
        <p:spPr>
          <a:xfrm>
            <a:off x="6358525" y="3179250"/>
            <a:ext cx="1601700" cy="141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8" name="Google Shape;1378;p93"/>
          <p:cNvSpPr/>
          <p:nvPr/>
        </p:nvSpPr>
        <p:spPr>
          <a:xfrm rot="-9606547">
            <a:off x="8033597" y="1073032"/>
            <a:ext cx="541399" cy="1550840"/>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9" name="Google Shape;1379;p93"/>
          <p:cNvSpPr/>
          <p:nvPr/>
        </p:nvSpPr>
        <p:spPr>
          <a:xfrm rot="-9606083">
            <a:off x="8045747" y="1249935"/>
            <a:ext cx="434544" cy="1244604"/>
          </a:xfrm>
          <a:prstGeom prst="chord">
            <a:avLst>
              <a:gd fmla="val 2700000" name="adj1"/>
              <a:gd fmla="val 1620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380" name="Google Shape;1380;p93"/>
          <p:cNvGraphicFramePr/>
          <p:nvPr/>
        </p:nvGraphicFramePr>
        <p:xfrm>
          <a:off x="6974512" y="1152594"/>
          <a:ext cx="3000000" cy="3000000"/>
        </p:xfrm>
        <a:graphic>
          <a:graphicData uri="http://schemas.openxmlformats.org/drawingml/2006/table">
            <a:tbl>
              <a:tblPr>
                <a:noFill/>
                <a:tableStyleId>{5ABEDB2D-1168-43D3-9195-50B46805A593}</a:tableStyleId>
              </a:tblPr>
              <a:tblGrid>
                <a:gridCol w="591050"/>
              </a:tblGrid>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700975">
                <a:tc>
                  <a:txBody>
                    <a:bodyPr/>
                    <a:lstStyle/>
                    <a:p>
                      <a:pPr indent="0" lvl="0" marL="0" rtl="0" algn="l">
                        <a:spcBef>
                          <a:spcPts val="0"/>
                        </a:spcBef>
                        <a:spcAft>
                          <a:spcPts val="0"/>
                        </a:spcAft>
                        <a:buNone/>
                      </a:pPr>
                      <a:r>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r>
            </a:tbl>
          </a:graphicData>
        </a:graphic>
      </p:graphicFrame>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81" name="Google Shape;1381;p93" title="one fourth one half three fourths one third two thirds"/>
          <p:cNvPicPr preferRelativeResize="0"/>
          <p:nvPr/>
        </p:nvPicPr>
        <p:blipFill rotWithShape="1">
          <a:blip r:embed="rId4">
            <a:alphaModFix/>
          </a:blip>
          <a:srcRect b="0" l="18679" r="63047" t="0"/>
          <a:stretch/>
        </p:blipFill>
        <p:spPr>
          <a:xfrm>
            <a:off x="2157188" y="2025800"/>
            <a:ext cx="155887"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82" name="Google Shape;1382;p93" title="one fourth one half three fourths one third two thirds"/>
          <p:cNvPicPr preferRelativeResize="0"/>
          <p:nvPr/>
        </p:nvPicPr>
        <p:blipFill rotWithShape="1">
          <a:blip r:embed="rId4">
            <a:alphaModFix/>
          </a:blip>
          <a:srcRect b="0" l="62967" r="15872" t="0"/>
          <a:stretch/>
        </p:blipFill>
        <p:spPr>
          <a:xfrm>
            <a:off x="7615976" y="2375600"/>
            <a:ext cx="18052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83" name="Google Shape;1383;p93" title="one fourth one half three fourths one third two thirds"/>
          <p:cNvPicPr preferRelativeResize="0"/>
          <p:nvPr/>
        </p:nvPicPr>
        <p:blipFill rotWithShape="1">
          <a:blip r:embed="rId4">
            <a:alphaModFix/>
          </a:blip>
          <a:srcRect b="0" l="84157" r="0" t="0"/>
          <a:stretch/>
        </p:blipFill>
        <p:spPr>
          <a:xfrm>
            <a:off x="7615976" y="1684950"/>
            <a:ext cx="135150"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84" name="Google Shape;1384;p93" title="one fourth one half three fourths one third two thirds"/>
          <p:cNvPicPr preferRelativeResize="0"/>
          <p:nvPr/>
        </p:nvPicPr>
        <p:blipFill rotWithShape="1">
          <a:blip r:embed="rId4">
            <a:alphaModFix/>
          </a:blip>
          <a:srcRect b="0" l="42483" r="39245" t="0"/>
          <a:stretch/>
        </p:blipFill>
        <p:spPr>
          <a:xfrm>
            <a:off x="2157188" y="1516550"/>
            <a:ext cx="155875" cy="349800"/>
          </a:xfrm>
          <a:prstGeom prst="rect">
            <a:avLst/>
          </a:prstGeom>
          <a:noFill/>
          <a:ln>
            <a:noFill/>
          </a:ln>
        </p:spPr>
      </p:pic>
      <p:pic>
        <p:nvPicPr>
          <p:cNvPr descr="&lt;math xmlns=&quot;http://www.w3.org/1998/Math/MathML&quot; display=&quot;block&quot; data-is-equatio=&quot;1&quot; data-latex=&quot;\frac{1}{4}\ \frac{1}{2}\ \frac{3}{4}\ \frac{1}{3}\ \frac{2}{3}&quot;&gt;&lt;mfrac&gt;&lt;mn&gt;1&lt;/mn&gt;&lt;mn&gt;4&lt;/mn&gt;&lt;/mfrac&gt;&lt;mtext&gt;&lt;/mtext&gt;&lt;mfrac&gt;&lt;mn&gt;1&lt;/mn&gt;&lt;mn&gt;2&lt;/mn&gt;&lt;/mfrac&gt;&lt;mtext&gt;&lt;/mtext&gt;&lt;mfrac&gt;&lt;mn&gt;3&lt;/mn&gt;&lt;mn&gt;4&lt;/mn&gt;&lt;/mfrac&gt;&lt;mtext&gt;&lt;/mtext&gt;&lt;mfrac&gt;&lt;mn&gt;1&lt;/mn&gt;&lt;mn&gt;3&lt;/mn&gt;&lt;/mfrac&gt;&lt;mtext&gt;&lt;/mtext&gt;&lt;mfrac&gt;&lt;mn&gt;2&lt;/mn&gt;&lt;mn&gt;3&lt;/mn&gt;&lt;/mfrac&gt;&lt;/math&gt;" id="1385" name="Google Shape;1385;p93" title="one fourth one half three fourths one third two thirds"/>
          <p:cNvPicPr preferRelativeResize="0"/>
          <p:nvPr/>
        </p:nvPicPr>
        <p:blipFill rotWithShape="1">
          <a:blip r:embed="rId4">
            <a:alphaModFix/>
          </a:blip>
          <a:srcRect b="0" l="0" r="84157" t="0"/>
          <a:stretch/>
        </p:blipFill>
        <p:spPr>
          <a:xfrm>
            <a:off x="2157188" y="2535050"/>
            <a:ext cx="135150" cy="349800"/>
          </a:xfrm>
          <a:prstGeom prst="rect">
            <a:avLst/>
          </a:prstGeom>
          <a:noFill/>
          <a:ln>
            <a:noFill/>
          </a:ln>
        </p:spPr>
      </p:pic>
      <p:sp>
        <p:nvSpPr>
          <p:cNvPr id="1386" name="Google Shape;1386;p93"/>
          <p:cNvSpPr txBox="1"/>
          <p:nvPr/>
        </p:nvSpPr>
        <p:spPr>
          <a:xfrm>
            <a:off x="20973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387" name="Google Shape;1387;p93"/>
          <p:cNvSpPr txBox="1"/>
          <p:nvPr/>
        </p:nvSpPr>
        <p:spPr>
          <a:xfrm>
            <a:off x="7583732" y="968456"/>
            <a:ext cx="90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Lexend"/>
                <a:ea typeface="Lexend"/>
                <a:cs typeface="Lexend"/>
                <a:sym typeface="Lexend"/>
              </a:rPr>
              <a:t>1 cup</a:t>
            </a:r>
            <a:endParaRPr>
              <a:solidFill>
                <a:schemeClr val="dk1"/>
              </a:solidFill>
              <a:latin typeface="Lexend"/>
              <a:ea typeface="Lexend"/>
              <a:cs typeface="Lexend"/>
              <a:sym typeface="Lexend"/>
            </a:endParaRPr>
          </a:p>
        </p:txBody>
      </p:sp>
      <p:sp>
        <p:nvSpPr>
          <p:cNvPr id="1388" name="Google Shape;1388;p93"/>
          <p:cNvSpPr/>
          <p:nvPr/>
        </p:nvSpPr>
        <p:spPr>
          <a:xfrm>
            <a:off x="4000500" y="3763081"/>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9" name="Google Shape;1389;p93"/>
          <p:cNvSpPr/>
          <p:nvPr/>
        </p:nvSpPr>
        <p:spPr>
          <a:xfrm>
            <a:off x="3976688" y="3860713"/>
            <a:ext cx="71400" cy="73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0" name="Google Shape;1390;p93"/>
          <p:cNvSpPr txBox="1"/>
          <p:nvPr/>
        </p:nvSpPr>
        <p:spPr>
          <a:xfrm>
            <a:off x="5372950" y="2183010"/>
            <a:ext cx="644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ml</a:t>
            </a:r>
            <a:endParaRPr sz="1800">
              <a:solidFill>
                <a:schemeClr val="dk1"/>
              </a:solidFill>
              <a:latin typeface="Lexend"/>
              <a:ea typeface="Lexend"/>
              <a:cs typeface="Lexend"/>
              <a:sym typeface="Lexend"/>
            </a:endParaRPr>
          </a:p>
        </p:txBody>
      </p:sp>
      <p:sp>
        <p:nvSpPr>
          <p:cNvPr id="1391" name="Google Shape;1391;p93"/>
          <p:cNvSpPr txBox="1"/>
          <p:nvPr/>
        </p:nvSpPr>
        <p:spPr>
          <a:xfrm>
            <a:off x="5330465" y="3151321"/>
            <a:ext cx="552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tsp</a:t>
            </a:r>
            <a:endParaRPr sz="1800">
              <a:solidFill>
                <a:schemeClr val="dk1"/>
              </a:solidFill>
              <a:latin typeface="Lexend"/>
              <a:ea typeface="Lexend"/>
              <a:cs typeface="Lexend"/>
              <a:sym typeface="Lexend"/>
            </a:endParaRPr>
          </a:p>
        </p:txBody>
      </p:sp>
      <p:grpSp>
        <p:nvGrpSpPr>
          <p:cNvPr id="1392" name="Google Shape;1392;p93"/>
          <p:cNvGrpSpPr/>
          <p:nvPr/>
        </p:nvGrpSpPr>
        <p:grpSpPr>
          <a:xfrm>
            <a:off x="3507724" y="714156"/>
            <a:ext cx="2136900" cy="556500"/>
            <a:chOff x="3507724" y="1857156"/>
            <a:chExt cx="2136900" cy="556500"/>
          </a:xfrm>
        </p:grpSpPr>
        <p:pic>
          <p:nvPicPr>
            <p:cNvPr descr="&lt;math xmlns=&quot;http://www.w3.org/1998/Math/MathML&quot; display=&quot;block&quot; data-is-equatio=&quot;1&quot; data-latex=&quot;\frac{1}{14}&quot;&gt;&lt;mfrac&gt;&lt;mn&gt;1&lt;/mn&gt;&lt;mn&gt;14&lt;/mn&gt;&lt;/mfrac&gt;&lt;/math&gt;" id="1393" name="Google Shape;1393;p93" title="1 over 14"/>
            <p:cNvPicPr preferRelativeResize="0"/>
            <p:nvPr/>
          </p:nvPicPr>
          <p:blipFill>
            <a:blip r:embed="rId5">
              <a:alphaModFix/>
            </a:blip>
            <a:stretch>
              <a:fillRect/>
            </a:stretch>
          </p:blipFill>
          <p:spPr>
            <a:xfrm>
              <a:off x="4613609" y="1919292"/>
              <a:ext cx="249900" cy="450478"/>
            </a:xfrm>
            <a:prstGeom prst="rect">
              <a:avLst/>
            </a:prstGeom>
            <a:noFill/>
            <a:ln>
              <a:noFill/>
            </a:ln>
          </p:spPr>
        </p:pic>
        <p:grpSp>
          <p:nvGrpSpPr>
            <p:cNvPr id="1394" name="Google Shape;1394;p93"/>
            <p:cNvGrpSpPr/>
            <p:nvPr/>
          </p:nvGrpSpPr>
          <p:grpSpPr>
            <a:xfrm>
              <a:off x="3507724" y="1857156"/>
              <a:ext cx="2136900" cy="556500"/>
              <a:chOff x="3784325" y="1857156"/>
              <a:chExt cx="2136900" cy="556500"/>
            </a:xfrm>
          </p:grpSpPr>
          <p:sp>
            <p:nvSpPr>
              <p:cNvPr id="1395" name="Google Shape;1395;p93"/>
              <p:cNvSpPr/>
              <p:nvPr/>
            </p:nvSpPr>
            <p:spPr>
              <a:xfrm>
                <a:off x="3784325" y="1857156"/>
                <a:ext cx="2136900" cy="556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6" name="Google Shape;1396;p93"/>
              <p:cNvSpPr txBox="1"/>
              <p:nvPr/>
            </p:nvSpPr>
            <p:spPr>
              <a:xfrm>
                <a:off x="3832750" y="1993900"/>
                <a:ext cx="2087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gram ≈      </a:t>
                </a:r>
                <a:r>
                  <a:rPr baseline="30000" lang="en-GB" sz="1800">
                    <a:solidFill>
                      <a:schemeClr val="dk1"/>
                    </a:solidFill>
                    <a:latin typeface="Lexend"/>
                    <a:ea typeface="Lexend"/>
                    <a:cs typeface="Lexend"/>
                    <a:sym typeface="Lexend"/>
                  </a:rPr>
                  <a:t>th</a:t>
                </a:r>
                <a:r>
                  <a:rPr lang="en-GB" sz="1800">
                    <a:solidFill>
                      <a:schemeClr val="dk1"/>
                    </a:solidFill>
                    <a:latin typeface="Lexend"/>
                    <a:ea typeface="Lexend"/>
                    <a:cs typeface="Lexend"/>
                    <a:sym typeface="Lexend"/>
                  </a:rPr>
                  <a:t> tbsp</a:t>
                </a:r>
                <a:endParaRPr sz="1800">
                  <a:solidFill>
                    <a:schemeClr val="dk1"/>
                  </a:solidFill>
                  <a:latin typeface="Lexend"/>
                  <a:ea typeface="Lexend"/>
                  <a:cs typeface="Lexend"/>
                  <a:sym typeface="Lexend"/>
                </a:endParaRPr>
              </a:p>
            </p:txBody>
          </p:sp>
        </p:grpSp>
      </p:grpSp>
      <p:sp>
        <p:nvSpPr>
          <p:cNvPr id="1397" name="Google Shape;1397;p93"/>
          <p:cNvSpPr txBox="1"/>
          <p:nvPr/>
        </p:nvSpPr>
        <p:spPr>
          <a:xfrm>
            <a:off x="343750" y="3752140"/>
            <a:ext cx="8476200" cy="292500"/>
          </a:xfrm>
          <a:prstGeom prst="rect">
            <a:avLst/>
          </a:prstGeom>
          <a:noFill/>
          <a:ln>
            <a:noFill/>
          </a:ln>
        </p:spPr>
        <p:txBody>
          <a:bodyPr anchorCtr="0" anchor="t" bIns="0" lIns="0" spcFirstLastPara="1" rIns="0" wrap="square" tIns="0">
            <a:spAutoFit/>
          </a:bodyPr>
          <a:lstStyle/>
          <a:p>
            <a:pPr indent="0" lvl="0" marL="0" rtl="0" algn="l">
              <a:lnSpc>
                <a:spcPct val="95000"/>
              </a:lnSpc>
              <a:spcBef>
                <a:spcPts val="0"/>
              </a:spcBef>
              <a:spcAft>
                <a:spcPts val="0"/>
              </a:spcAft>
              <a:buNone/>
            </a:pPr>
            <a:r>
              <a:t/>
            </a:r>
            <a:endParaRPr sz="2000">
              <a:solidFill>
                <a:schemeClr val="dk1"/>
              </a:solidFill>
              <a:latin typeface="Kalam"/>
              <a:ea typeface="Kalam"/>
              <a:cs typeface="Kalam"/>
              <a:sym typeface="Kalam"/>
            </a:endParaRPr>
          </a:p>
        </p:txBody>
      </p:sp>
      <p:sp>
        <p:nvSpPr>
          <p:cNvPr id="1398" name="Google Shape;1398;p93"/>
          <p:cNvSpPr/>
          <p:nvPr/>
        </p:nvSpPr>
        <p:spPr>
          <a:xfrm>
            <a:off x="3507850" y="1400325"/>
            <a:ext cx="2136900" cy="5415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cup = 16 tbsp</a:t>
            </a:r>
            <a:endParaRPr sz="1800">
              <a:latin typeface="Lexend"/>
              <a:ea typeface="Lexend"/>
              <a:cs typeface="Lexend"/>
              <a:sym typeface="Lexend"/>
            </a:endParaRPr>
          </a:p>
        </p:txBody>
      </p:sp>
      <p:sp>
        <p:nvSpPr>
          <p:cNvPr id="1399" name="Google Shape;1399;p93"/>
          <p:cNvSpPr txBox="1"/>
          <p:nvPr>
            <p:ph idx="1" type="body"/>
          </p:nvPr>
        </p:nvSpPr>
        <p:spPr>
          <a:xfrm>
            <a:off x="328200" y="3842700"/>
            <a:ext cx="8182200" cy="6963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1000"/>
              </a:spcAft>
              <a:buNone/>
            </a:pPr>
            <a:r>
              <a:rPr lang="en-GB"/>
              <a:t>Now measures for the cup split into thirds.</a:t>
            </a:r>
            <a:endParaRPr/>
          </a:p>
        </p:txBody>
      </p:sp>
      <p:sp>
        <p:nvSpPr>
          <p:cNvPr id="1400" name="Google Shape;1400;p93"/>
          <p:cNvSpPr txBox="1"/>
          <p:nvPr/>
        </p:nvSpPr>
        <p:spPr>
          <a:xfrm>
            <a:off x="4265912" y="3129689"/>
            <a:ext cx="992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14 grams</a:t>
            </a:r>
            <a:endParaRPr sz="2000">
              <a:solidFill>
                <a:schemeClr val="dk1"/>
              </a:solidFill>
              <a:latin typeface="Kalam"/>
              <a:ea typeface="Kalam"/>
              <a:cs typeface="Kalam"/>
              <a:sym typeface="Kalam"/>
            </a:endParaRPr>
          </a:p>
        </p:txBody>
      </p:sp>
      <p:sp>
        <p:nvSpPr>
          <p:cNvPr id="1401" name="Google Shape;1401;p93"/>
          <p:cNvSpPr txBox="1"/>
          <p:nvPr/>
        </p:nvSpPr>
        <p:spPr>
          <a:xfrm>
            <a:off x="668575" y="10146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240 ml</a:t>
            </a:r>
            <a:endParaRPr sz="2000">
              <a:solidFill>
                <a:schemeClr val="dk1"/>
              </a:solidFill>
              <a:latin typeface="Kalam"/>
              <a:ea typeface="Kalam"/>
              <a:cs typeface="Kalam"/>
              <a:sym typeface="Kalam"/>
            </a:endParaRPr>
          </a:p>
        </p:txBody>
      </p:sp>
      <p:sp>
        <p:nvSpPr>
          <p:cNvPr id="1402" name="Google Shape;1402;p93"/>
          <p:cNvSpPr txBox="1"/>
          <p:nvPr/>
        </p:nvSpPr>
        <p:spPr>
          <a:xfrm>
            <a:off x="668575" y="203069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120 ml</a:t>
            </a:r>
            <a:endParaRPr sz="2000">
              <a:solidFill>
                <a:schemeClr val="dk1"/>
              </a:solidFill>
              <a:latin typeface="Kalam"/>
              <a:ea typeface="Kalam"/>
              <a:cs typeface="Kalam"/>
              <a:sym typeface="Kalam"/>
            </a:endParaRPr>
          </a:p>
        </p:txBody>
      </p:sp>
      <p:sp>
        <p:nvSpPr>
          <p:cNvPr id="1403" name="Google Shape;1403;p93"/>
          <p:cNvSpPr txBox="1"/>
          <p:nvPr/>
        </p:nvSpPr>
        <p:spPr>
          <a:xfrm>
            <a:off x="668575" y="2556042"/>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60 ml</a:t>
            </a:r>
            <a:endParaRPr sz="2000">
              <a:solidFill>
                <a:schemeClr val="dk1"/>
              </a:solidFill>
              <a:latin typeface="Kalam"/>
              <a:ea typeface="Kalam"/>
              <a:cs typeface="Kalam"/>
              <a:sym typeface="Kalam"/>
            </a:endParaRPr>
          </a:p>
        </p:txBody>
      </p:sp>
      <p:sp>
        <p:nvSpPr>
          <p:cNvPr id="1404" name="Google Shape;1404;p93"/>
          <p:cNvSpPr txBox="1"/>
          <p:nvPr/>
        </p:nvSpPr>
        <p:spPr>
          <a:xfrm>
            <a:off x="668575" y="1514684"/>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180 ml</a:t>
            </a:r>
            <a:endParaRPr sz="2000">
              <a:solidFill>
                <a:schemeClr val="dk1"/>
              </a:solidFill>
              <a:latin typeface="Kalam"/>
              <a:ea typeface="Kalam"/>
              <a:cs typeface="Kalam"/>
              <a:sym typeface="Kalam"/>
            </a:endParaRPr>
          </a:p>
        </p:txBody>
      </p:sp>
      <p:sp>
        <p:nvSpPr>
          <p:cNvPr id="1405" name="Google Shape;1405;p93"/>
          <p:cNvSpPr txBox="1"/>
          <p:nvPr/>
        </p:nvSpPr>
        <p:spPr>
          <a:xfrm>
            <a:off x="6104217" y="23862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80</a:t>
            </a:r>
            <a:r>
              <a:rPr lang="en-GB" sz="2000">
                <a:solidFill>
                  <a:schemeClr val="dk1"/>
                </a:solidFill>
                <a:latin typeface="Kalam"/>
                <a:ea typeface="Kalam"/>
                <a:cs typeface="Kalam"/>
                <a:sym typeface="Kalam"/>
              </a:rPr>
              <a:t> ml</a:t>
            </a:r>
            <a:endParaRPr sz="2000">
              <a:solidFill>
                <a:schemeClr val="dk1"/>
              </a:solidFill>
              <a:latin typeface="Kalam"/>
              <a:ea typeface="Kalam"/>
              <a:cs typeface="Kalam"/>
              <a:sym typeface="Kalam"/>
            </a:endParaRPr>
          </a:p>
        </p:txBody>
      </p:sp>
      <p:sp>
        <p:nvSpPr>
          <p:cNvPr id="1406" name="Google Shape;1406;p93"/>
          <p:cNvSpPr txBox="1"/>
          <p:nvPr/>
        </p:nvSpPr>
        <p:spPr>
          <a:xfrm>
            <a:off x="6104217" y="1700450"/>
            <a:ext cx="832200" cy="3078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2000">
                <a:solidFill>
                  <a:schemeClr val="dk1"/>
                </a:solidFill>
                <a:latin typeface="Kalam"/>
                <a:ea typeface="Kalam"/>
                <a:cs typeface="Kalam"/>
                <a:sym typeface="Kalam"/>
              </a:rPr>
              <a:t>16</a:t>
            </a:r>
            <a:r>
              <a:rPr lang="en-GB" sz="2000">
                <a:solidFill>
                  <a:schemeClr val="dk1"/>
                </a:solidFill>
                <a:latin typeface="Kalam"/>
                <a:ea typeface="Kalam"/>
                <a:cs typeface="Kalam"/>
                <a:sym typeface="Kalam"/>
              </a:rPr>
              <a:t>0 ml</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94"/>
          <p:cNvSpPr txBox="1"/>
          <p:nvPr>
            <p:ph idx="1" type="body"/>
          </p:nvPr>
        </p:nvSpPr>
        <p:spPr>
          <a:xfrm>
            <a:off x="324000" y="759300"/>
            <a:ext cx="8496000" cy="88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Cups can be converted into grams or </a:t>
            </a:r>
            <a:r>
              <a:rPr lang="en-GB"/>
              <a:t>millilitres. The conversion rate we have used here is one conversion rate.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However, the conversion rate can differ depending on what we are measuring and it is important to be aware of this.</a:t>
            </a:r>
            <a:endParaRPr/>
          </a:p>
        </p:txBody>
      </p:sp>
      <p:sp>
        <p:nvSpPr>
          <p:cNvPr id="1412" name="Google Shape;1412;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418" name="Google Shape;1418;p95"/>
          <p:cNvSpPr txBox="1"/>
          <p:nvPr>
            <p:ph idx="1" type="body"/>
          </p:nvPr>
        </p:nvSpPr>
        <p:spPr>
          <a:xfrm>
            <a:off x="324000" y="759300"/>
            <a:ext cx="8237700" cy="38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Fill in the missing measurements.</a:t>
            </a:r>
            <a:endParaRPr/>
          </a:p>
        </p:txBody>
      </p:sp>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19" name="Google Shape;1419;p95" title="three fourths one fourth one half one third two thirds"/>
          <p:cNvPicPr preferRelativeResize="0"/>
          <p:nvPr/>
        </p:nvPicPr>
        <p:blipFill rotWithShape="1">
          <a:blip r:embed="rId3">
            <a:alphaModFix/>
          </a:blip>
          <a:srcRect b="0" l="64789" r="19167" t="0"/>
          <a:stretch/>
        </p:blipFill>
        <p:spPr>
          <a:xfrm>
            <a:off x="1072008" y="3792525"/>
            <a:ext cx="17245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20" name="Google Shape;1420;p95" title="three fourths one fourth one half one third two thirds"/>
          <p:cNvPicPr preferRelativeResize="0"/>
          <p:nvPr/>
        </p:nvPicPr>
        <p:blipFill rotWithShape="1">
          <a:blip r:embed="rId3">
            <a:alphaModFix/>
          </a:blip>
          <a:srcRect b="0" l="41961" r="41995" t="0"/>
          <a:stretch/>
        </p:blipFill>
        <p:spPr>
          <a:xfrm>
            <a:off x="1072008" y="3286845"/>
            <a:ext cx="17245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21" name="Google Shape;1421;p95" title="three fourths one fourth one half one third two thirds"/>
          <p:cNvPicPr preferRelativeResize="0"/>
          <p:nvPr/>
        </p:nvPicPr>
        <p:blipFill rotWithShape="1">
          <a:blip r:embed="rId3">
            <a:alphaModFix/>
          </a:blip>
          <a:srcRect b="0" l="86613" r="0" t="0"/>
          <a:stretch/>
        </p:blipFill>
        <p:spPr>
          <a:xfrm>
            <a:off x="1086283" y="2781171"/>
            <a:ext cx="14390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22" name="Google Shape;1422;p95" title="three fourths one fourth one half one third two thirds"/>
          <p:cNvPicPr preferRelativeResize="0"/>
          <p:nvPr/>
        </p:nvPicPr>
        <p:blipFill rotWithShape="1">
          <a:blip r:embed="rId3">
            <a:alphaModFix/>
          </a:blip>
          <a:srcRect b="0" l="0" r="86613" t="0"/>
          <a:stretch/>
        </p:blipFill>
        <p:spPr>
          <a:xfrm>
            <a:off x="1086283" y="2280926"/>
            <a:ext cx="14390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23" name="Google Shape;1423;p95" title="three fourths one fourth one half one third two thirds"/>
          <p:cNvPicPr preferRelativeResize="0"/>
          <p:nvPr/>
        </p:nvPicPr>
        <p:blipFill rotWithShape="1">
          <a:blip r:embed="rId3">
            <a:alphaModFix/>
          </a:blip>
          <a:srcRect b="0" l="22605" r="64007" t="0"/>
          <a:stretch/>
        </p:blipFill>
        <p:spPr>
          <a:xfrm>
            <a:off x="1086283" y="4298200"/>
            <a:ext cx="143900" cy="440750"/>
          </a:xfrm>
          <a:prstGeom prst="rect">
            <a:avLst/>
          </a:prstGeom>
          <a:noFill/>
          <a:ln>
            <a:noFill/>
          </a:ln>
        </p:spPr>
      </p:pic>
      <p:pic>
        <p:nvPicPr>
          <p:cNvPr descr="&lt;math xmlns=&quot;http://www.w3.org/1998/Math/MathML&quot; display=&quot;block&quot; data-is-equatio=&quot;1&quot; data-latex=&quot;\frac{32}{3}\ \frac{16}{3}&quot;&gt;&lt;mfrac&gt;&lt;mn&gt;32&lt;/mn&gt;&lt;mn&gt;3&lt;/mn&gt;&lt;/mfrac&gt;&lt;mtext&gt;&lt;/mtext&gt;&lt;mfrac&gt;&lt;mn&gt;16&lt;/mn&gt;&lt;mn&gt;3&lt;/mn&gt;&lt;/mfrac&gt;&lt;/math&gt;" id="1424" name="Google Shape;1424;p95" title="32 over 3 sixteen thirds"/>
          <p:cNvPicPr preferRelativeResize="0"/>
          <p:nvPr/>
        </p:nvPicPr>
        <p:blipFill rotWithShape="1">
          <a:blip r:embed="rId4">
            <a:alphaModFix/>
          </a:blip>
          <a:srcRect b="0" l="0" r="56825" t="0"/>
          <a:stretch/>
        </p:blipFill>
        <p:spPr>
          <a:xfrm>
            <a:off x="2641020" y="2781175"/>
            <a:ext cx="250525" cy="440750"/>
          </a:xfrm>
          <a:prstGeom prst="rect">
            <a:avLst/>
          </a:prstGeom>
          <a:noFill/>
          <a:ln>
            <a:noFill/>
          </a:ln>
        </p:spPr>
      </p:pic>
      <p:pic>
        <p:nvPicPr>
          <p:cNvPr descr="&lt;math xmlns=&quot;http://www.w3.org/1998/Math/MathML&quot; display=&quot;block&quot; data-is-equatio=&quot;1&quot; data-latex=&quot;\frac{32}{3}\ \frac{16}{3}&quot;&gt;&lt;mfrac&gt;&lt;mn&gt;32&lt;/mn&gt;&lt;mn&gt;3&lt;/mn&gt;&lt;/mfrac&gt;&lt;mtext&gt;&lt;/mtext&gt;&lt;mfrac&gt;&lt;mn&gt;16&lt;/mn&gt;&lt;mn&gt;3&lt;/mn&gt;&lt;/mfrac&gt;&lt;/math&gt;" id="1425" name="Google Shape;1425;p95" title="32 over 3 sixteen thirds"/>
          <p:cNvPicPr preferRelativeResize="0"/>
          <p:nvPr/>
        </p:nvPicPr>
        <p:blipFill rotWithShape="1">
          <a:blip r:embed="rId4">
            <a:alphaModFix/>
          </a:blip>
          <a:srcRect b="0" l="56825" r="0" t="0"/>
          <a:stretch/>
        </p:blipFill>
        <p:spPr>
          <a:xfrm>
            <a:off x="2641020" y="3792525"/>
            <a:ext cx="250525" cy="440750"/>
          </a:xfrm>
          <a:prstGeom prst="rect">
            <a:avLst/>
          </a:prstGeom>
          <a:noFill/>
          <a:ln>
            <a:noFill/>
          </a:ln>
        </p:spPr>
      </p:pic>
      <p:sp>
        <p:nvSpPr>
          <p:cNvPr id="1426" name="Google Shape;1426;p95"/>
          <p:cNvSpPr/>
          <p:nvPr/>
        </p:nvSpPr>
        <p:spPr>
          <a:xfrm>
            <a:off x="2628175" y="3792496"/>
            <a:ext cx="263400" cy="440700"/>
          </a:xfrm>
          <a:prstGeom prst="rect">
            <a:avLst/>
          </a:prstGeom>
          <a:solidFill>
            <a:srgbClr val="F3EEFB"/>
          </a:solidFill>
          <a:ln cap="flat" cmpd="sng" w="9525">
            <a:solidFill>
              <a:srgbClr val="F3EE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427" name="Google Shape;1427;p95"/>
          <p:cNvGraphicFramePr/>
          <p:nvPr/>
        </p:nvGraphicFramePr>
        <p:xfrm>
          <a:off x="473125" y="1238250"/>
          <a:ext cx="3000000" cy="3000000"/>
        </p:xfrm>
        <a:graphic>
          <a:graphicData uri="http://schemas.openxmlformats.org/drawingml/2006/table">
            <a:tbl>
              <a:tblPr>
                <a:noFill/>
                <a:tableStyleId>{5ABEDB2D-1168-43D3-9195-50B46805A593}</a:tableStyleId>
              </a:tblPr>
              <a:tblGrid>
                <a:gridCol w="1398175"/>
                <a:gridCol w="1781675"/>
                <a:gridCol w="1589925"/>
                <a:gridCol w="1714000"/>
                <a:gridCol w="1465850"/>
              </a:tblGrid>
              <a:tr h="503875">
                <a:tc>
                  <a:txBody>
                    <a:bodyPr/>
                    <a:lstStyle/>
                    <a:p>
                      <a:pPr indent="0" lvl="0" marL="0" rtl="0" algn="ctr">
                        <a:spcBef>
                          <a:spcPts val="0"/>
                        </a:spcBef>
                        <a:spcAft>
                          <a:spcPts val="0"/>
                        </a:spcAft>
                        <a:buNone/>
                      </a:pPr>
                      <a:r>
                        <a:rPr lang="en-GB" sz="2200">
                          <a:latin typeface="Lexend"/>
                          <a:ea typeface="Lexend"/>
                          <a:cs typeface="Lexend"/>
                          <a:sym typeface="Lexend"/>
                        </a:rPr>
                        <a:t>Cups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Tablespoons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Teaspoons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Grams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Millilitres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16</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48</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g</a:t>
                      </a:r>
                      <a:endParaRPr sz="2200">
                        <a:latin typeface="Lexend"/>
                        <a:ea typeface="Lexend"/>
                        <a:cs typeface="Lexend"/>
                        <a:sym typeface="Lexend"/>
                      </a:endParaRPr>
                    </a:p>
                  </a:txBody>
                  <a:tcPr marT="18000" marB="18000" marR="306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ml</a:t>
                      </a:r>
                      <a:endParaRPr sz="2200">
                        <a:latin typeface="Lexend"/>
                        <a:ea typeface="Lexend"/>
                        <a:cs typeface="Lexend"/>
                        <a:sym typeface="Lexend"/>
                      </a:endParaRPr>
                    </a:p>
                  </a:txBody>
                  <a:tcPr marT="18000" marB="18000" marR="234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 </a:t>
                      </a:r>
                      <a:r>
                        <a:rPr lang="en-GB" sz="2200">
                          <a:latin typeface="Kalam"/>
                          <a:ea typeface="Kalam"/>
                          <a:cs typeface="Kalam"/>
                          <a:sym typeface="Kalam"/>
                        </a:rPr>
                        <a:t>      </a:t>
                      </a:r>
                      <a:r>
                        <a:rPr lang="en-GB" sz="2200">
                          <a:latin typeface="Lexend"/>
                          <a:ea typeface="Lexend"/>
                          <a:cs typeface="Lexend"/>
                          <a:sym typeface="Lexend"/>
                        </a:rPr>
                        <a:t> g</a:t>
                      </a:r>
                      <a:endParaRPr sz="2200">
                        <a:latin typeface="Lexend"/>
                        <a:ea typeface="Lexend"/>
                        <a:cs typeface="Lexend"/>
                        <a:sym typeface="Lexend"/>
                      </a:endParaRPr>
                    </a:p>
                  </a:txBody>
                  <a:tcPr marT="18000" marB="18000" marR="306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180 ml</a:t>
                      </a:r>
                      <a:endParaRPr sz="2200">
                        <a:latin typeface="Lexend"/>
                        <a:ea typeface="Lexend"/>
                        <a:cs typeface="Lexend"/>
                        <a:sym typeface="Lexend"/>
                      </a:endParaRPr>
                    </a:p>
                  </a:txBody>
                  <a:tcPr marT="18000" marB="18000" marR="234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150 g</a:t>
                      </a:r>
                      <a:endParaRPr sz="2200">
                        <a:latin typeface="Lexend"/>
                        <a:ea typeface="Lexend"/>
                        <a:cs typeface="Lexend"/>
                        <a:sym typeface="Lexend"/>
                      </a:endParaRPr>
                    </a:p>
                  </a:txBody>
                  <a:tcPr marT="18000" marB="18000" marR="306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ml</a:t>
                      </a:r>
                      <a:endParaRPr sz="2200">
                        <a:latin typeface="Lexend"/>
                        <a:ea typeface="Lexend"/>
                        <a:cs typeface="Lexend"/>
                        <a:sym typeface="Lexend"/>
                      </a:endParaRPr>
                    </a:p>
                  </a:txBody>
                  <a:tcPr marT="18000" marB="18000" marR="234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24</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solidFill>
                            <a:schemeClr val="dk1"/>
                          </a:solidFill>
                          <a:latin typeface="Lexend"/>
                          <a:ea typeface="Lexend"/>
                          <a:cs typeface="Lexend"/>
                          <a:sym typeface="Lexend"/>
                        </a:rPr>
                        <a:t>≈ </a:t>
                      </a:r>
                      <a:r>
                        <a:rPr lang="en-GB" sz="2200">
                          <a:latin typeface="Kalam"/>
                          <a:ea typeface="Kalam"/>
                          <a:cs typeface="Kalam"/>
                          <a:sym typeface="Kalam"/>
                        </a:rPr>
                        <a:t>      </a:t>
                      </a:r>
                      <a:r>
                        <a:rPr lang="en-GB" sz="2200">
                          <a:latin typeface="Lexend"/>
                          <a:ea typeface="Lexend"/>
                          <a:cs typeface="Lexend"/>
                          <a:sym typeface="Lexend"/>
                        </a:rPr>
                        <a:t> g</a:t>
                      </a:r>
                      <a:endParaRPr sz="2200">
                        <a:latin typeface="Lexend"/>
                        <a:ea typeface="Lexend"/>
                        <a:cs typeface="Lexend"/>
                        <a:sym typeface="Lexend"/>
                      </a:endParaRPr>
                    </a:p>
                  </a:txBody>
                  <a:tcPr marT="18000" marB="18000" marR="306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120 ml</a:t>
                      </a:r>
                      <a:endParaRPr sz="2200">
                        <a:latin typeface="Lexend"/>
                        <a:ea typeface="Lexend"/>
                        <a:cs typeface="Lexend"/>
                        <a:sym typeface="Lexend"/>
                      </a:endParaRPr>
                    </a:p>
                  </a:txBody>
                  <a:tcPr marT="18000" marB="18000" marR="234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g</a:t>
                      </a:r>
                      <a:endParaRPr sz="2200">
                        <a:latin typeface="Lexend"/>
                        <a:ea typeface="Lexend"/>
                        <a:cs typeface="Lexend"/>
                        <a:sym typeface="Lexend"/>
                      </a:endParaRPr>
                    </a:p>
                  </a:txBody>
                  <a:tcPr marT="18000" marB="18000" marR="306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80 ml</a:t>
                      </a:r>
                      <a:endParaRPr sz="2200">
                        <a:latin typeface="Lexend"/>
                        <a:ea typeface="Lexend"/>
                        <a:cs typeface="Lexend"/>
                        <a:sym typeface="Lexend"/>
                      </a:endParaRPr>
                    </a:p>
                  </a:txBody>
                  <a:tcPr marT="18000" marB="18000" marR="234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56 g</a:t>
                      </a:r>
                      <a:endParaRPr sz="2200">
                        <a:latin typeface="Lexend"/>
                        <a:ea typeface="Lexend"/>
                        <a:cs typeface="Lexend"/>
                        <a:sym typeface="Lexend"/>
                      </a:endParaRPr>
                    </a:p>
                  </a:txBody>
                  <a:tcPr marT="18000" marB="18000" marR="306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r">
                        <a:spcBef>
                          <a:spcPts val="0"/>
                        </a:spcBef>
                        <a:spcAft>
                          <a:spcPts val="0"/>
                        </a:spcAft>
                        <a:buNone/>
                      </a:pPr>
                      <a:r>
                        <a:rPr lang="en-GB" sz="2200">
                          <a:latin typeface="Lexend"/>
                          <a:ea typeface="Lexend"/>
                          <a:cs typeface="Lexend"/>
                          <a:sym typeface="Lexend"/>
                        </a:rPr>
                        <a:t>ml</a:t>
                      </a:r>
                      <a:endParaRPr sz="2200">
                        <a:latin typeface="Lexend"/>
                        <a:ea typeface="Lexend"/>
                        <a:cs typeface="Lexend"/>
                        <a:sym typeface="Lexend"/>
                      </a:endParaRPr>
                    </a:p>
                  </a:txBody>
                  <a:tcPr marT="18000" marB="18000" marR="234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graphicFrame>
        <p:nvGraphicFramePr>
          <p:cNvPr id="1433" name="Google Shape;1433;p96"/>
          <p:cNvGraphicFramePr/>
          <p:nvPr/>
        </p:nvGraphicFramePr>
        <p:xfrm>
          <a:off x="473125" y="1238250"/>
          <a:ext cx="3000000" cy="3000000"/>
        </p:xfrm>
        <a:graphic>
          <a:graphicData uri="http://schemas.openxmlformats.org/drawingml/2006/table">
            <a:tbl>
              <a:tblPr>
                <a:noFill/>
                <a:tableStyleId>{5ABEDB2D-1168-43D3-9195-50B46805A593}</a:tableStyleId>
              </a:tblPr>
              <a:tblGrid>
                <a:gridCol w="1398175"/>
                <a:gridCol w="1781675"/>
                <a:gridCol w="1589925"/>
                <a:gridCol w="1714000"/>
                <a:gridCol w="1465850"/>
              </a:tblGrid>
              <a:tr h="503875">
                <a:tc>
                  <a:txBody>
                    <a:bodyPr/>
                    <a:lstStyle/>
                    <a:p>
                      <a:pPr indent="0" lvl="0" marL="0" rtl="0" algn="ctr">
                        <a:spcBef>
                          <a:spcPts val="0"/>
                        </a:spcBef>
                        <a:spcAft>
                          <a:spcPts val="0"/>
                        </a:spcAft>
                        <a:buNone/>
                      </a:pPr>
                      <a:r>
                        <a:rPr lang="en-GB" sz="2200">
                          <a:latin typeface="Lexend"/>
                          <a:ea typeface="Lexend"/>
                          <a:cs typeface="Lexend"/>
                          <a:sym typeface="Lexend"/>
                        </a:rPr>
                        <a:t>Cups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Tablespoons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Teaspoons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Grams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Millilitres</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16</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48</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224 or 225</a:t>
                      </a:r>
                      <a:r>
                        <a:rPr lang="en-GB" sz="2200">
                          <a:latin typeface="Lexend"/>
                          <a:ea typeface="Lexend"/>
                          <a:cs typeface="Lexend"/>
                          <a:sym typeface="Lexend"/>
                        </a:rPr>
                        <a:t> g</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240 </a:t>
                      </a:r>
                      <a:r>
                        <a:rPr lang="en-GB" sz="2200">
                          <a:latin typeface="Lexend"/>
                          <a:ea typeface="Lexend"/>
                          <a:cs typeface="Lexend"/>
                          <a:sym typeface="Lexend"/>
                        </a:rPr>
                        <a:t>ml</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36</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 </a:t>
                      </a:r>
                      <a:r>
                        <a:rPr lang="en-GB" sz="2200">
                          <a:latin typeface="Kalam"/>
                          <a:ea typeface="Kalam"/>
                          <a:cs typeface="Kalam"/>
                          <a:sym typeface="Kalam"/>
                        </a:rPr>
                        <a:t>168</a:t>
                      </a:r>
                      <a:r>
                        <a:rPr lang="en-GB" sz="2200">
                          <a:latin typeface="Lexend"/>
                          <a:ea typeface="Lexend"/>
                          <a:cs typeface="Lexend"/>
                          <a:sym typeface="Lexend"/>
                        </a:rPr>
                        <a:t> g</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180 ml</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32</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150 g</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160</a:t>
                      </a:r>
                      <a:r>
                        <a:rPr lang="en-GB" sz="2200">
                          <a:latin typeface="Lexend"/>
                          <a:ea typeface="Lexend"/>
                          <a:cs typeface="Lexend"/>
                          <a:sym typeface="Lexend"/>
                        </a:rPr>
                        <a:t> ml</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8</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24</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 </a:t>
                      </a:r>
                      <a:r>
                        <a:rPr lang="en-GB" sz="2200">
                          <a:latin typeface="Kalam"/>
                          <a:ea typeface="Kalam"/>
                          <a:cs typeface="Kalam"/>
                          <a:sym typeface="Kalam"/>
                        </a:rPr>
                        <a:t>112</a:t>
                      </a:r>
                      <a:r>
                        <a:rPr lang="en-GB" sz="2200">
                          <a:latin typeface="Lexend"/>
                          <a:ea typeface="Lexend"/>
                          <a:cs typeface="Lexend"/>
                          <a:sym typeface="Lexend"/>
                        </a:rPr>
                        <a:t> g</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120 ml</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16</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75</a:t>
                      </a:r>
                      <a:r>
                        <a:rPr lang="en-GB" sz="2200">
                          <a:latin typeface="Lexend"/>
                          <a:ea typeface="Lexend"/>
                          <a:cs typeface="Lexend"/>
                          <a:sym typeface="Lexend"/>
                        </a:rPr>
                        <a:t> g</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80 ml</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0387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4</a:t>
                      </a:r>
                      <a:endParaRPr sz="2200">
                        <a:latin typeface="Kalam"/>
                        <a:ea typeface="Kalam"/>
                        <a:cs typeface="Kalam"/>
                        <a:sym typeface="Kalam"/>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56 g</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60</a:t>
                      </a:r>
                      <a:r>
                        <a:rPr lang="en-GB" sz="2200">
                          <a:latin typeface="Lexend"/>
                          <a:ea typeface="Lexend"/>
                          <a:cs typeface="Lexend"/>
                          <a:sym typeface="Lexend"/>
                        </a:rPr>
                        <a:t> ml</a:t>
                      </a:r>
                      <a:endParaRPr sz="2200">
                        <a:latin typeface="Lexend"/>
                        <a:ea typeface="Lexend"/>
                        <a:cs typeface="Lexend"/>
                        <a:sym typeface="Lexend"/>
                      </a:endParaRPr>
                    </a:p>
                  </a:txBody>
                  <a:tcPr marT="18000" marB="18000" marR="18000" marL="18000">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
        <p:nvSpPr>
          <p:cNvPr id="1434" name="Google Shape;1434;p96"/>
          <p:cNvSpPr txBox="1"/>
          <p:nvPr>
            <p:ph idx="1" type="body"/>
          </p:nvPr>
        </p:nvSpPr>
        <p:spPr>
          <a:xfrm>
            <a:off x="324000" y="759300"/>
            <a:ext cx="8237700" cy="38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Fill in the missing measurements.</a:t>
            </a:r>
            <a:endParaRPr/>
          </a:p>
        </p:txBody>
      </p:sp>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35" name="Google Shape;1435;p96" title="three fourths one fourth one half one third two thirds"/>
          <p:cNvPicPr preferRelativeResize="0"/>
          <p:nvPr/>
        </p:nvPicPr>
        <p:blipFill rotWithShape="1">
          <a:blip r:embed="rId3">
            <a:alphaModFix/>
          </a:blip>
          <a:srcRect b="0" l="64789" r="19167" t="0"/>
          <a:stretch/>
        </p:blipFill>
        <p:spPr>
          <a:xfrm>
            <a:off x="1072008" y="3792525"/>
            <a:ext cx="17245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36" name="Google Shape;1436;p96" title="three fourths one fourth one half one third two thirds"/>
          <p:cNvPicPr preferRelativeResize="0"/>
          <p:nvPr/>
        </p:nvPicPr>
        <p:blipFill rotWithShape="1">
          <a:blip r:embed="rId3">
            <a:alphaModFix/>
          </a:blip>
          <a:srcRect b="0" l="41961" r="41995" t="0"/>
          <a:stretch/>
        </p:blipFill>
        <p:spPr>
          <a:xfrm>
            <a:off x="1072008" y="3286845"/>
            <a:ext cx="17245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37" name="Google Shape;1437;p96" title="three fourths one fourth one half one third two thirds"/>
          <p:cNvPicPr preferRelativeResize="0"/>
          <p:nvPr/>
        </p:nvPicPr>
        <p:blipFill rotWithShape="1">
          <a:blip r:embed="rId3">
            <a:alphaModFix/>
          </a:blip>
          <a:srcRect b="0" l="86613" r="0" t="0"/>
          <a:stretch/>
        </p:blipFill>
        <p:spPr>
          <a:xfrm>
            <a:off x="1086283" y="2781171"/>
            <a:ext cx="14390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38" name="Google Shape;1438;p96" title="three fourths one fourth one half one third two thirds"/>
          <p:cNvPicPr preferRelativeResize="0"/>
          <p:nvPr/>
        </p:nvPicPr>
        <p:blipFill rotWithShape="1">
          <a:blip r:embed="rId3">
            <a:alphaModFix/>
          </a:blip>
          <a:srcRect b="0" l="0" r="86613" t="0"/>
          <a:stretch/>
        </p:blipFill>
        <p:spPr>
          <a:xfrm>
            <a:off x="1086283" y="2280926"/>
            <a:ext cx="143900" cy="440750"/>
          </a:xfrm>
          <a:prstGeom prst="rect">
            <a:avLst/>
          </a:prstGeom>
          <a:noFill/>
          <a:ln>
            <a:noFill/>
          </a:ln>
        </p:spPr>
      </p:pic>
      <p:pic>
        <p:nvPicPr>
          <p:cNvPr descr="&lt;math xmlns=&quot;http://www.w3.org/1998/Math/MathML&quot; display=&quot;block&quot; data-is-equatio=&quot;1&quot; data-latex=&quot;\frac{3}{4}\ \frac{1}{4}\ \frac{1}{2}\ \frac{1}{3}\ \frac{2}{3}\ &quot;&gt;&lt;mfrac&gt;&lt;mn&gt;3&lt;/mn&gt;&lt;mn&gt;4&lt;/mn&gt;&lt;/mfrac&gt;&lt;mtext&gt;&lt;/mtext&gt;&lt;mfrac&gt;&lt;mn&gt;1&lt;/mn&gt;&lt;mn&gt;4&lt;/mn&gt;&lt;/mfrac&gt;&lt;mtext&gt;&lt;/mtext&gt;&lt;mfrac&gt;&lt;mn&gt;1&lt;/mn&gt;&lt;mn&gt;2&lt;/mn&gt;&lt;/mfrac&gt;&lt;mtext&gt;&lt;/mtext&gt;&lt;mfrac&gt;&lt;mn&gt;1&lt;/mn&gt;&lt;mn&gt;3&lt;/mn&gt;&lt;/mfrac&gt;&lt;mtext&gt;&lt;/mtext&gt;&lt;mfrac&gt;&lt;mn&gt;2&lt;/mn&gt;&lt;mn&gt;3&lt;/mn&gt;&lt;/mfrac&gt;&lt;mtext&gt;&lt;/mtext&gt;&lt;/math&gt;" id="1439" name="Google Shape;1439;p96" title="three fourths one fourth one half one third two thirds"/>
          <p:cNvPicPr preferRelativeResize="0"/>
          <p:nvPr/>
        </p:nvPicPr>
        <p:blipFill rotWithShape="1">
          <a:blip r:embed="rId3">
            <a:alphaModFix/>
          </a:blip>
          <a:srcRect b="0" l="22605" r="64007" t="0"/>
          <a:stretch/>
        </p:blipFill>
        <p:spPr>
          <a:xfrm>
            <a:off x="1086283" y="4298200"/>
            <a:ext cx="143900" cy="440750"/>
          </a:xfrm>
          <a:prstGeom prst="rect">
            <a:avLst/>
          </a:prstGeom>
          <a:noFill/>
          <a:ln>
            <a:noFill/>
          </a:ln>
        </p:spPr>
      </p:pic>
      <p:pic>
        <p:nvPicPr>
          <p:cNvPr descr="&lt;math xmlns=&quot;http://www.w3.org/1998/Math/MathML&quot; display=&quot;block&quot; data-is-equatio=&quot;1&quot; data-latex=&quot;\frac{32}{3}\ \frac{16}{3}&quot;&gt;&lt;mfrac&gt;&lt;mn&gt;32&lt;/mn&gt;&lt;mn&gt;3&lt;/mn&gt;&lt;/mfrac&gt;&lt;mtext&gt;&lt;/mtext&gt;&lt;mfrac&gt;&lt;mn&gt;16&lt;/mn&gt;&lt;mn&gt;3&lt;/mn&gt;&lt;/mfrac&gt;&lt;/math&gt;" id="1440" name="Google Shape;1440;p96" title="32 over 3 sixteen thirds"/>
          <p:cNvPicPr preferRelativeResize="0"/>
          <p:nvPr/>
        </p:nvPicPr>
        <p:blipFill rotWithShape="1">
          <a:blip r:embed="rId4">
            <a:alphaModFix/>
          </a:blip>
          <a:srcRect b="0" l="0" r="56825" t="0"/>
          <a:stretch/>
        </p:blipFill>
        <p:spPr>
          <a:xfrm>
            <a:off x="2641020" y="2781175"/>
            <a:ext cx="250525" cy="440750"/>
          </a:xfrm>
          <a:prstGeom prst="rect">
            <a:avLst/>
          </a:prstGeom>
          <a:noFill/>
          <a:ln>
            <a:noFill/>
          </a:ln>
        </p:spPr>
      </p:pic>
      <p:pic>
        <p:nvPicPr>
          <p:cNvPr descr="&lt;math xmlns=&quot;http://www.w3.org/1998/Math/MathML&quot; display=&quot;block&quot; data-is-equatio=&quot;1&quot; data-latex=&quot;\frac{32}{3}\ \frac{16}{3}&quot;&gt;&lt;mfrac&gt;&lt;mn&gt;32&lt;/mn&gt;&lt;mn&gt;3&lt;/mn&gt;&lt;/mfrac&gt;&lt;mtext&gt;&lt;/mtext&gt;&lt;mfrac&gt;&lt;mn&gt;16&lt;/mn&gt;&lt;mn&gt;3&lt;/mn&gt;&lt;/mfrac&gt;&lt;/math&gt;" id="1441" name="Google Shape;1441;p96" title="32 over 3 sixteen thirds"/>
          <p:cNvPicPr preferRelativeResize="0"/>
          <p:nvPr/>
        </p:nvPicPr>
        <p:blipFill rotWithShape="1">
          <a:blip r:embed="rId4">
            <a:alphaModFix/>
          </a:blip>
          <a:srcRect b="0" l="56825" r="0" t="0"/>
          <a:stretch/>
        </p:blipFill>
        <p:spPr>
          <a:xfrm>
            <a:off x="2641020" y="3792525"/>
            <a:ext cx="250525" cy="440750"/>
          </a:xfrm>
          <a:prstGeom prst="rect">
            <a:avLst/>
          </a:prstGeom>
          <a:noFill/>
          <a:ln>
            <a:noFill/>
          </a:ln>
        </p:spPr>
      </p:pic>
      <p:sp>
        <p:nvSpPr>
          <p:cNvPr id="1442" name="Google Shape;1442;p96"/>
          <p:cNvSpPr/>
          <p:nvPr/>
        </p:nvSpPr>
        <p:spPr>
          <a:xfrm>
            <a:off x="2628175" y="3769031"/>
            <a:ext cx="263400" cy="4755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3" name="Google Shape;1443;p96"/>
          <p:cNvSpPr/>
          <p:nvPr/>
        </p:nvSpPr>
        <p:spPr>
          <a:xfrm>
            <a:off x="2628175" y="2770889"/>
            <a:ext cx="263400" cy="4755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449" name="Google Shape;1449;p97"/>
          <p:cNvSpPr txBox="1"/>
          <p:nvPr>
            <p:ph idx="1" type="body"/>
          </p:nvPr>
        </p:nvSpPr>
        <p:spPr>
          <a:xfrm>
            <a:off x="4824000" y="584341"/>
            <a:ext cx="3996000" cy="689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t>Now we can </a:t>
            </a:r>
            <a:r>
              <a:rPr lang="en-GB" sz="1800"/>
              <a:t>convert the ingredients in the recipe.</a:t>
            </a:r>
            <a:endParaRPr sz="1800"/>
          </a:p>
        </p:txBody>
      </p:sp>
      <p:sp>
        <p:nvSpPr>
          <p:cNvPr id="1450" name="Google Shape;1450;p97"/>
          <p:cNvSpPr txBox="1"/>
          <p:nvPr>
            <p:ph idx="1" type="body"/>
          </p:nvPr>
        </p:nvSpPr>
        <p:spPr>
          <a:xfrm>
            <a:off x="4824000" y="1323782"/>
            <a:ext cx="3996000" cy="689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Butter    =    10 × 14 = 140 g</a:t>
            </a:r>
            <a:endParaRPr sz="1800"/>
          </a:p>
          <a:p>
            <a:pPr indent="0" lvl="0" marL="0" rtl="0" algn="l">
              <a:lnSpc>
                <a:spcPct val="100000"/>
              </a:lnSpc>
              <a:spcBef>
                <a:spcPts val="1000"/>
              </a:spcBef>
              <a:spcAft>
                <a:spcPts val="0"/>
              </a:spcAft>
              <a:buNone/>
            </a:pPr>
            <a:r>
              <a:rPr lang="en-GB" sz="1800"/>
              <a:t>Sugar   </a:t>
            </a:r>
            <a:r>
              <a:rPr lang="en-GB" sz="1800"/>
              <a:t> =    </a:t>
            </a:r>
            <a:r>
              <a:rPr lang="en-GB" sz="1800"/>
              <a:t>224 + 56 = 280 g</a:t>
            </a:r>
            <a:endParaRPr sz="1800"/>
          </a:p>
          <a:p>
            <a:pPr indent="0" lvl="0" marL="0" rtl="0" algn="l">
              <a:lnSpc>
                <a:spcPct val="100000"/>
              </a:lnSpc>
              <a:spcBef>
                <a:spcPts val="1000"/>
              </a:spcBef>
              <a:spcAft>
                <a:spcPts val="0"/>
              </a:spcAft>
              <a:buNone/>
            </a:pPr>
            <a:r>
              <a:rPr lang="en-GB" sz="1800"/>
              <a:t>Cocoa   =    168 + 2 × 14 = 196 g</a:t>
            </a:r>
            <a:endParaRPr sz="1800"/>
          </a:p>
          <a:p>
            <a:pPr indent="0" lvl="0" marL="0" rtl="0" algn="l">
              <a:lnSpc>
                <a:spcPct val="100000"/>
              </a:lnSpc>
              <a:spcBef>
                <a:spcPts val="1000"/>
              </a:spcBef>
              <a:spcAft>
                <a:spcPts val="0"/>
              </a:spcAft>
              <a:buNone/>
            </a:pPr>
            <a:r>
              <a:rPr lang="en-GB" sz="1800"/>
              <a:t>Vanilla   =    5 ml</a:t>
            </a:r>
            <a:endParaRPr sz="1800"/>
          </a:p>
          <a:p>
            <a:pPr indent="0" lvl="0" marL="0" rtl="0" algn="l">
              <a:lnSpc>
                <a:spcPct val="100000"/>
              </a:lnSpc>
              <a:spcBef>
                <a:spcPts val="1000"/>
              </a:spcBef>
              <a:spcAft>
                <a:spcPts val="0"/>
              </a:spcAft>
              <a:buNone/>
            </a:pPr>
            <a:r>
              <a:rPr lang="en-GB" sz="1800"/>
              <a:t>Salt        =    5 ÷ 4 = 1.25 g</a:t>
            </a:r>
            <a:endParaRPr sz="1800"/>
          </a:p>
          <a:p>
            <a:pPr indent="0" lvl="0" marL="0" rtl="0" algn="l">
              <a:lnSpc>
                <a:spcPct val="100000"/>
              </a:lnSpc>
              <a:spcBef>
                <a:spcPts val="1000"/>
              </a:spcBef>
              <a:spcAft>
                <a:spcPts val="0"/>
              </a:spcAft>
              <a:buNone/>
            </a:pPr>
            <a:r>
              <a:rPr lang="en-GB" sz="1800"/>
              <a:t>Flour      =     112 g or 112.5 g</a:t>
            </a:r>
            <a:endParaRPr sz="1800"/>
          </a:p>
          <a:p>
            <a:pPr indent="0" lvl="0" marL="0" rtl="0" algn="l">
              <a:lnSpc>
                <a:spcPct val="100000"/>
              </a:lnSpc>
              <a:spcBef>
                <a:spcPts val="1000"/>
              </a:spcBef>
              <a:spcAft>
                <a:spcPts val="0"/>
              </a:spcAft>
              <a:buNone/>
            </a:pPr>
            <a:r>
              <a:rPr lang="en-GB" sz="1800"/>
              <a:t>Nuts       =     150 g</a:t>
            </a:r>
            <a:endParaRPr sz="1800"/>
          </a:p>
          <a:p>
            <a:pPr indent="0" lvl="0" marL="0" rtl="0" algn="l">
              <a:lnSpc>
                <a:spcPct val="100000"/>
              </a:lnSpc>
              <a:spcBef>
                <a:spcPts val="1000"/>
              </a:spcBef>
              <a:spcAft>
                <a:spcPts val="1000"/>
              </a:spcAft>
              <a:buNone/>
            </a:pPr>
            <a:r>
              <a:t/>
            </a:r>
            <a:endParaRPr sz="1800"/>
          </a:p>
        </p:txBody>
      </p:sp>
      <p:sp>
        <p:nvSpPr>
          <p:cNvPr id="1451" name="Google Shape;1451;p97"/>
          <p:cNvSpPr txBox="1"/>
          <p:nvPr>
            <p:ph idx="1" type="body"/>
          </p:nvPr>
        </p:nvSpPr>
        <p:spPr>
          <a:xfrm>
            <a:off x="4824000" y="4089541"/>
            <a:ext cx="3996000" cy="689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Can we now bake the brownies?</a:t>
            </a:r>
            <a:endParaRPr sz="1800"/>
          </a:p>
          <a:p>
            <a:pPr indent="0" lvl="0" marL="0" rtl="0" algn="l">
              <a:lnSpc>
                <a:spcPct val="115000"/>
              </a:lnSpc>
              <a:spcBef>
                <a:spcPts val="1000"/>
              </a:spcBef>
              <a:spcAft>
                <a:spcPts val="1000"/>
              </a:spcAft>
              <a:buNone/>
            </a:pPr>
            <a:r>
              <a:rPr lang="en-GB" sz="1800"/>
              <a:t>Ovens in the UK use ℃ not ℉.</a:t>
            </a:r>
            <a:endParaRPr sz="1800"/>
          </a:p>
        </p:txBody>
      </p:sp>
      <p:pic>
        <p:nvPicPr>
          <p:cNvPr id="1452" name="Google Shape;1452;p97"/>
          <p:cNvPicPr preferRelativeResize="0"/>
          <p:nvPr/>
        </p:nvPicPr>
        <p:blipFill>
          <a:blip r:embed="rId3">
            <a:alphaModFix/>
          </a:blip>
          <a:stretch>
            <a:fillRect/>
          </a:stretch>
        </p:blipFill>
        <p:spPr>
          <a:xfrm>
            <a:off x="373675" y="683100"/>
            <a:ext cx="4246478" cy="4137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98"/>
          <p:cNvSpPr txBox="1"/>
          <p:nvPr>
            <p:ph idx="1" type="body"/>
          </p:nvPr>
        </p:nvSpPr>
        <p:spPr>
          <a:xfrm>
            <a:off x="324000" y="759300"/>
            <a:ext cx="3257400" cy="88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To convert ℉ into ℃ </a:t>
            </a:r>
            <a:endParaRPr/>
          </a:p>
          <a:p>
            <a:pPr indent="0" lvl="0" marL="0" rtl="0" algn="l">
              <a:spcBef>
                <a:spcPts val="1000"/>
              </a:spcBef>
              <a:spcAft>
                <a:spcPts val="1000"/>
              </a:spcAft>
              <a:buNone/>
            </a:pPr>
            <a:r>
              <a:rPr lang="en-GB"/>
              <a:t>Subtract 32 multiply by </a:t>
            </a:r>
            <a:endParaRPr/>
          </a:p>
        </p:txBody>
      </p:sp>
      <p:sp>
        <p:nvSpPr>
          <p:cNvPr id="1458" name="Google Shape;1458;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pic>
        <p:nvPicPr>
          <p:cNvPr descr="&lt;math xmlns=&quot;http://www.w3.org/1998/Math/MathML&quot; display=&quot;block&quot; data-is-equatio=&quot;1&quot; data-latex=&quot;\frac{5}{9}&quot;&gt;&lt;mfrac&gt;&lt;mn&gt;5&lt;/mn&gt;&lt;mn&gt;9&lt;/mn&gt;&lt;/mfrac&gt;&lt;/math&gt;" id="1459" name="Google Shape;1459;p98" title="five ninths"/>
          <p:cNvPicPr preferRelativeResize="0"/>
          <p:nvPr/>
        </p:nvPicPr>
        <p:blipFill>
          <a:blip r:embed="rId3">
            <a:alphaModFix/>
          </a:blip>
          <a:stretch>
            <a:fillRect/>
          </a:stretch>
        </p:blipFill>
        <p:spPr>
          <a:xfrm>
            <a:off x="3553200" y="1208400"/>
            <a:ext cx="167100" cy="547250"/>
          </a:xfrm>
          <a:prstGeom prst="rect">
            <a:avLst/>
          </a:prstGeom>
          <a:noFill/>
          <a:ln>
            <a:noFill/>
          </a:ln>
        </p:spPr>
      </p:pic>
      <p:sp>
        <p:nvSpPr>
          <p:cNvPr id="1460" name="Google Shape;1460;p98"/>
          <p:cNvSpPr txBox="1"/>
          <p:nvPr>
            <p:ph idx="1" type="body"/>
          </p:nvPr>
        </p:nvSpPr>
        <p:spPr>
          <a:xfrm>
            <a:off x="538775" y="1978500"/>
            <a:ext cx="15027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325 − 32) × </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5}{9}&quot;&gt;&lt;mfrac&gt;&lt;mn&gt;5&lt;/mn&gt;&lt;mn&gt;9&lt;/mn&gt;&lt;/mfrac&gt;&lt;/math&gt;" id="1461" name="Google Shape;1461;p98" title="five ninths"/>
          <p:cNvPicPr preferRelativeResize="0"/>
          <p:nvPr/>
        </p:nvPicPr>
        <p:blipFill>
          <a:blip r:embed="rId3">
            <a:alphaModFix/>
          </a:blip>
          <a:stretch>
            <a:fillRect/>
          </a:stretch>
        </p:blipFill>
        <p:spPr>
          <a:xfrm>
            <a:off x="2089926" y="1913500"/>
            <a:ext cx="167100" cy="547250"/>
          </a:xfrm>
          <a:prstGeom prst="rect">
            <a:avLst/>
          </a:prstGeom>
          <a:noFill/>
          <a:ln>
            <a:noFill/>
          </a:ln>
        </p:spPr>
      </p:pic>
      <p:sp>
        <p:nvSpPr>
          <p:cNvPr id="1462" name="Google Shape;1462;p98"/>
          <p:cNvSpPr txBox="1"/>
          <p:nvPr>
            <p:ph idx="1" type="body"/>
          </p:nvPr>
        </p:nvSpPr>
        <p:spPr>
          <a:xfrm>
            <a:off x="2442516" y="1978500"/>
            <a:ext cx="37488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 163 </a:t>
            </a:r>
            <a:r>
              <a:rPr lang="en-GB"/>
              <a:t>℃ (nearest integer)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99"/>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468" name="Google Shape;1468;p99"/>
          <p:cNvSpPr txBox="1"/>
          <p:nvPr>
            <p:ph idx="4294967295" type="body"/>
          </p:nvPr>
        </p:nvSpPr>
        <p:spPr>
          <a:xfrm>
            <a:off x="324000" y="759300"/>
            <a:ext cx="3257400" cy="88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To convert ℉ into ℃ </a:t>
            </a:r>
            <a:endParaRPr/>
          </a:p>
          <a:p>
            <a:pPr indent="0" lvl="0" marL="0" rtl="0" algn="l">
              <a:spcBef>
                <a:spcPts val="1000"/>
              </a:spcBef>
              <a:spcAft>
                <a:spcPts val="1000"/>
              </a:spcAft>
              <a:buNone/>
            </a:pPr>
            <a:r>
              <a:rPr lang="en-GB"/>
              <a:t>Subtract 32 multiply by </a:t>
            </a:r>
            <a:endParaRPr/>
          </a:p>
        </p:txBody>
      </p:sp>
      <p:pic>
        <p:nvPicPr>
          <p:cNvPr descr="&lt;math xmlns=&quot;http://www.w3.org/1998/Math/MathML&quot; display=&quot;block&quot; data-is-equatio=&quot;1&quot; data-latex=&quot;\frac{5}{9}&quot;&gt;&lt;mfrac&gt;&lt;mn&gt;5&lt;/mn&gt;&lt;mn&gt;9&lt;/mn&gt;&lt;/mfrac&gt;&lt;/math&gt;" id="1469" name="Google Shape;1469;p99" title="five ninths"/>
          <p:cNvPicPr preferRelativeResize="0"/>
          <p:nvPr/>
        </p:nvPicPr>
        <p:blipFill>
          <a:blip r:embed="rId3">
            <a:alphaModFix/>
          </a:blip>
          <a:stretch>
            <a:fillRect/>
          </a:stretch>
        </p:blipFill>
        <p:spPr>
          <a:xfrm>
            <a:off x="3553200" y="1208400"/>
            <a:ext cx="167100" cy="547250"/>
          </a:xfrm>
          <a:prstGeom prst="rect">
            <a:avLst/>
          </a:prstGeom>
          <a:noFill/>
          <a:ln>
            <a:noFill/>
          </a:ln>
        </p:spPr>
      </p:pic>
      <p:sp>
        <p:nvSpPr>
          <p:cNvPr id="1470" name="Google Shape;1470;p99"/>
          <p:cNvSpPr txBox="1"/>
          <p:nvPr>
            <p:ph idx="4294967295" type="body"/>
          </p:nvPr>
        </p:nvSpPr>
        <p:spPr>
          <a:xfrm>
            <a:off x="324000" y="3426300"/>
            <a:ext cx="17175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260</a:t>
            </a:r>
            <a:r>
              <a:rPr lang="en-GB">
                <a:latin typeface="Times New Roman"/>
                <a:ea typeface="Times New Roman"/>
                <a:cs typeface="Times New Roman"/>
                <a:sym typeface="Times New Roman"/>
              </a:rPr>
              <a:t> − 32) × </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5}{9}&quot;&gt;&lt;mfrac&gt;&lt;mn&gt;5&lt;/mn&gt;&lt;mn&gt;9&lt;/mn&gt;&lt;/mfrac&gt;&lt;/math&gt;" id="1471" name="Google Shape;1471;p99" title="five ninths"/>
          <p:cNvPicPr preferRelativeResize="0"/>
          <p:nvPr/>
        </p:nvPicPr>
        <p:blipFill>
          <a:blip r:embed="rId3">
            <a:alphaModFix/>
          </a:blip>
          <a:stretch>
            <a:fillRect/>
          </a:stretch>
        </p:blipFill>
        <p:spPr>
          <a:xfrm>
            <a:off x="1793450" y="3361300"/>
            <a:ext cx="167100" cy="547250"/>
          </a:xfrm>
          <a:prstGeom prst="rect">
            <a:avLst/>
          </a:prstGeom>
          <a:noFill/>
          <a:ln>
            <a:noFill/>
          </a:ln>
        </p:spPr>
      </p:pic>
      <p:sp>
        <p:nvSpPr>
          <p:cNvPr id="1472" name="Google Shape;1472;p99"/>
          <p:cNvSpPr txBox="1"/>
          <p:nvPr>
            <p:ph idx="4294967295" type="body"/>
          </p:nvPr>
        </p:nvSpPr>
        <p:spPr>
          <a:xfrm>
            <a:off x="2041500" y="3426300"/>
            <a:ext cx="11184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 127 ℃ </a:t>
            </a:r>
            <a:endParaRPr/>
          </a:p>
        </p:txBody>
      </p:sp>
      <p:sp>
        <p:nvSpPr>
          <p:cNvPr id="1473" name="Google Shape;1473;p99"/>
          <p:cNvSpPr txBox="1"/>
          <p:nvPr>
            <p:ph idx="4294967295" type="body"/>
          </p:nvPr>
        </p:nvSpPr>
        <p:spPr>
          <a:xfrm>
            <a:off x="324000" y="1902300"/>
            <a:ext cx="3257400" cy="39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t>
            </a:r>
            <a:r>
              <a:rPr lang="en-GB"/>
              <a:t>onvert 260 ℉ into ℃.</a:t>
            </a:r>
            <a:endParaRPr/>
          </a:p>
          <a:p>
            <a:pPr indent="0" lvl="0" marL="0" rtl="0" algn="l">
              <a:spcBef>
                <a:spcPts val="1000"/>
              </a:spcBef>
              <a:spcAft>
                <a:spcPts val="1000"/>
              </a:spcAft>
              <a:buNone/>
            </a:pPr>
            <a:r>
              <a:rPr lang="en-GB"/>
              <a:t>Give your answer to the nearest integer. </a:t>
            </a:r>
            <a:endParaRPr/>
          </a:p>
        </p:txBody>
      </p:sp>
      <p:sp>
        <p:nvSpPr>
          <p:cNvPr id="1474" name="Google Shape;1474;p99"/>
          <p:cNvSpPr txBox="1"/>
          <p:nvPr>
            <p:ph idx="4294967295" type="body"/>
          </p:nvPr>
        </p:nvSpPr>
        <p:spPr>
          <a:xfrm>
            <a:off x="4819800" y="759300"/>
            <a:ext cx="3257400" cy="88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To convert ℉ into ℃ </a:t>
            </a:r>
            <a:endParaRPr/>
          </a:p>
          <a:p>
            <a:pPr indent="0" lvl="0" marL="0" rtl="0" algn="l">
              <a:spcBef>
                <a:spcPts val="1000"/>
              </a:spcBef>
              <a:spcAft>
                <a:spcPts val="1000"/>
              </a:spcAft>
              <a:buNone/>
            </a:pPr>
            <a:r>
              <a:rPr lang="en-GB"/>
              <a:t>Subtract 32 multiply by </a:t>
            </a:r>
            <a:endParaRPr/>
          </a:p>
        </p:txBody>
      </p:sp>
      <p:pic>
        <p:nvPicPr>
          <p:cNvPr descr="&lt;math xmlns=&quot;http://www.w3.org/1998/Math/MathML&quot; display=&quot;block&quot; data-is-equatio=&quot;1&quot; data-latex=&quot;\frac{5}{9}&quot;&gt;&lt;mfrac&gt;&lt;mn&gt;5&lt;/mn&gt;&lt;mn&gt;9&lt;/mn&gt;&lt;/mfrac&gt;&lt;/math&gt;" id="1475" name="Google Shape;1475;p99" title="five ninths"/>
          <p:cNvPicPr preferRelativeResize="0"/>
          <p:nvPr/>
        </p:nvPicPr>
        <p:blipFill>
          <a:blip r:embed="rId3">
            <a:alphaModFix/>
          </a:blip>
          <a:stretch>
            <a:fillRect/>
          </a:stretch>
        </p:blipFill>
        <p:spPr>
          <a:xfrm>
            <a:off x="8049000" y="1208400"/>
            <a:ext cx="167100" cy="547250"/>
          </a:xfrm>
          <a:prstGeom prst="rect">
            <a:avLst/>
          </a:prstGeom>
          <a:noFill/>
          <a:ln>
            <a:noFill/>
          </a:ln>
        </p:spPr>
      </p:pic>
      <p:sp>
        <p:nvSpPr>
          <p:cNvPr id="1476" name="Google Shape;1476;p99"/>
          <p:cNvSpPr txBox="1"/>
          <p:nvPr>
            <p:ph idx="4294967295" type="body"/>
          </p:nvPr>
        </p:nvSpPr>
        <p:spPr>
          <a:xfrm>
            <a:off x="4819800" y="3426300"/>
            <a:ext cx="18297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a:t>
            </a:r>
            <a:r>
              <a:rPr lang="en-GB">
                <a:latin typeface="Times New Roman"/>
                <a:ea typeface="Times New Roman"/>
                <a:cs typeface="Times New Roman"/>
                <a:sym typeface="Times New Roman"/>
              </a:rPr>
              <a:t>450 </a:t>
            </a:r>
            <a:r>
              <a:rPr lang="en-GB">
                <a:latin typeface="Times New Roman"/>
                <a:ea typeface="Times New Roman"/>
                <a:cs typeface="Times New Roman"/>
                <a:sym typeface="Times New Roman"/>
              </a:rPr>
              <a:t>− 32) × </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5}{9}&quot;&gt;&lt;mfrac&gt;&lt;mn&gt;5&lt;/mn&gt;&lt;mn&gt;9&lt;/mn&gt;&lt;/mfrac&gt;&lt;/math&gt;" id="1477" name="Google Shape;1477;p99" title="five ninths"/>
          <p:cNvPicPr preferRelativeResize="0"/>
          <p:nvPr/>
        </p:nvPicPr>
        <p:blipFill>
          <a:blip r:embed="rId3">
            <a:alphaModFix/>
          </a:blip>
          <a:stretch>
            <a:fillRect/>
          </a:stretch>
        </p:blipFill>
        <p:spPr>
          <a:xfrm>
            <a:off x="6281708" y="3361300"/>
            <a:ext cx="167100" cy="547250"/>
          </a:xfrm>
          <a:prstGeom prst="rect">
            <a:avLst/>
          </a:prstGeom>
          <a:noFill/>
          <a:ln>
            <a:noFill/>
          </a:ln>
        </p:spPr>
      </p:pic>
      <p:sp>
        <p:nvSpPr>
          <p:cNvPr id="1478" name="Google Shape;1478;p99"/>
          <p:cNvSpPr txBox="1"/>
          <p:nvPr>
            <p:ph idx="4294967295" type="body"/>
          </p:nvPr>
        </p:nvSpPr>
        <p:spPr>
          <a:xfrm>
            <a:off x="6508400" y="3426300"/>
            <a:ext cx="13998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 232 ℃</a:t>
            </a:r>
            <a:endParaRPr>
              <a:latin typeface="Times New Roman"/>
              <a:ea typeface="Times New Roman"/>
              <a:cs typeface="Times New Roman"/>
              <a:sym typeface="Times New Roman"/>
            </a:endParaRPr>
          </a:p>
        </p:txBody>
      </p:sp>
      <p:sp>
        <p:nvSpPr>
          <p:cNvPr id="1479" name="Google Shape;1479;p99"/>
          <p:cNvSpPr txBox="1"/>
          <p:nvPr>
            <p:ph idx="4294967295" type="body"/>
          </p:nvPr>
        </p:nvSpPr>
        <p:spPr>
          <a:xfrm>
            <a:off x="4819800" y="1902300"/>
            <a:ext cx="3257400" cy="39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 450 ℉ into ℃.</a:t>
            </a:r>
            <a:endParaRPr/>
          </a:p>
          <a:p>
            <a:pPr indent="0" lvl="0" marL="0" rtl="0" algn="l">
              <a:spcBef>
                <a:spcPts val="1000"/>
              </a:spcBef>
              <a:spcAft>
                <a:spcPts val="1000"/>
              </a:spcAft>
              <a:buNone/>
            </a:pPr>
            <a:r>
              <a:rPr lang="en-GB"/>
              <a:t>Give your answer to the nearest integer.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485" name="Google Shape;1485;p100"/>
          <p:cNvSpPr txBox="1"/>
          <p:nvPr>
            <p:ph idx="4294967295" type="body"/>
          </p:nvPr>
        </p:nvSpPr>
        <p:spPr>
          <a:xfrm>
            <a:off x="1693050" y="3790375"/>
            <a:ext cx="3353100" cy="335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(420 </a:t>
            </a:r>
            <a:r>
              <a:rPr lang="en-GB">
                <a:latin typeface="Times New Roman"/>
                <a:ea typeface="Times New Roman"/>
                <a:cs typeface="Times New Roman"/>
                <a:sym typeface="Times New Roman"/>
              </a:rPr>
              <a:t>− 32) ×    = 216 ℃</a:t>
            </a:r>
            <a:endParaRPr>
              <a:latin typeface="Times New Roman"/>
              <a:ea typeface="Times New Roman"/>
              <a:cs typeface="Times New Roman"/>
              <a:sym typeface="Times New Roman"/>
            </a:endParaRPr>
          </a:p>
        </p:txBody>
      </p:sp>
      <p:pic>
        <p:nvPicPr>
          <p:cNvPr descr="&lt;math xmlns=&quot;http://www.w3.org/1998/Math/MathML&quot; display=&quot;block&quot; data-is-equatio=&quot;1&quot; data-latex=&quot;\frac{5}{9}&quot;&gt;&lt;mfrac&gt;&lt;mn&gt;5&lt;/mn&gt;&lt;mn&gt;9&lt;/mn&gt;&lt;/mfrac&gt;&lt;/math&gt;" id="1486" name="Google Shape;1486;p100" title="five ninths"/>
          <p:cNvPicPr preferRelativeResize="0"/>
          <p:nvPr/>
        </p:nvPicPr>
        <p:blipFill>
          <a:blip r:embed="rId3">
            <a:alphaModFix/>
          </a:blip>
          <a:stretch>
            <a:fillRect/>
          </a:stretch>
        </p:blipFill>
        <p:spPr>
          <a:xfrm>
            <a:off x="3139875" y="3725375"/>
            <a:ext cx="167100" cy="547250"/>
          </a:xfrm>
          <a:prstGeom prst="rect">
            <a:avLst/>
          </a:prstGeom>
          <a:noFill/>
          <a:ln>
            <a:noFill/>
          </a:ln>
        </p:spPr>
      </p:pic>
      <p:sp>
        <p:nvSpPr>
          <p:cNvPr id="1487" name="Google Shape;1487;p10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420 ℉ </a:t>
            </a:r>
            <a:r>
              <a:rPr lang="en-GB">
                <a:latin typeface="Times New Roman"/>
                <a:ea typeface="Times New Roman"/>
                <a:cs typeface="Times New Roman"/>
                <a:sym typeface="Times New Roman"/>
              </a:rPr>
              <a:t>= 402 ℃ </a:t>
            </a:r>
            <a:r>
              <a:rPr lang="en-GB"/>
              <a:t>(nearest integer) </a:t>
            </a:r>
            <a:endParaRPr/>
          </a:p>
        </p:txBody>
      </p:sp>
      <p:pic>
        <p:nvPicPr>
          <p:cNvPr id="1488" name="Google Shape;1488;p100"/>
          <p:cNvPicPr preferRelativeResize="0"/>
          <p:nvPr/>
        </p:nvPicPr>
        <p:blipFill>
          <a:blip r:embed="rId4">
            <a:alphaModFix/>
          </a:blip>
          <a:stretch>
            <a:fillRect/>
          </a:stretch>
        </p:blipFill>
        <p:spPr>
          <a:xfrm>
            <a:off x="6256808" y="2085875"/>
            <a:ext cx="396000" cy="419100"/>
          </a:xfrm>
          <a:prstGeom prst="rect">
            <a:avLst/>
          </a:prstGeom>
          <a:noFill/>
          <a:ln>
            <a:noFill/>
          </a:ln>
        </p:spPr>
      </p:pic>
      <p:sp>
        <p:nvSpPr>
          <p:cNvPr id="1489" name="Google Shape;1489;p100"/>
          <p:cNvSpPr txBox="1"/>
          <p:nvPr>
            <p:ph idx="1" type="subTitle"/>
          </p:nvPr>
        </p:nvSpPr>
        <p:spPr>
          <a:xfrm>
            <a:off x="324000" y="2662725"/>
            <a:ext cx="8299200" cy="730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latin typeface="Lexend"/>
                <a:ea typeface="Lexend"/>
                <a:cs typeface="Lexend"/>
                <a:sym typeface="Lexend"/>
              </a:rPr>
              <a:t>What mistake do you think was made?</a:t>
            </a:r>
            <a:endParaRPr>
              <a:latin typeface="Lexend"/>
              <a:ea typeface="Lexend"/>
              <a:cs typeface="Lexend"/>
              <a:sym typeface="Lexend"/>
            </a:endParaRPr>
          </a:p>
          <a:p>
            <a:pPr indent="0" lvl="0" marL="0" rtl="0" algn="l">
              <a:lnSpc>
                <a:spcPct val="100000"/>
              </a:lnSpc>
              <a:spcBef>
                <a:spcPts val="1000"/>
              </a:spcBef>
              <a:spcAft>
                <a:spcPts val="1000"/>
              </a:spcAft>
              <a:buNone/>
            </a:pPr>
            <a:r>
              <a:rPr lang="en-GB"/>
              <a:t>The order of operations is incorrect.  When inputting into a calculator input: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495" name="Google Shape;1495;p101"/>
          <p:cNvSpPr txBox="1"/>
          <p:nvPr>
            <p:ph idx="1" type="body"/>
          </p:nvPr>
        </p:nvSpPr>
        <p:spPr>
          <a:xfrm>
            <a:off x="324000" y="708300"/>
            <a:ext cx="8237700" cy="1143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t>
            </a:r>
            <a:r>
              <a:rPr lang="en-GB" sz="1800"/>
              <a:t>Convert the following recipes and oven temperatures into UK units of measure.</a:t>
            </a:r>
            <a:endParaRPr sz="1800"/>
          </a:p>
          <a:p>
            <a:pPr indent="-342900" lvl="0" marL="457200" rtl="0" algn="l">
              <a:spcBef>
                <a:spcPts val="1000"/>
              </a:spcBef>
              <a:spcAft>
                <a:spcPts val="0"/>
              </a:spcAft>
              <a:buSzPts val="1800"/>
              <a:buAutoNum type="alphaLcParenR"/>
            </a:pPr>
            <a:r>
              <a:rPr lang="en-GB" sz="1800"/>
              <a:t>Pancake Recipe</a:t>
            </a:r>
            <a:endParaRPr sz="1800"/>
          </a:p>
        </p:txBody>
      </p:sp>
      <p:sp>
        <p:nvSpPr>
          <p:cNvPr id="1496" name="Google Shape;1496;p101"/>
          <p:cNvSpPr txBox="1"/>
          <p:nvPr>
            <p:ph idx="1" type="body"/>
          </p:nvPr>
        </p:nvSpPr>
        <p:spPr>
          <a:xfrm>
            <a:off x="4591200" y="1521375"/>
            <a:ext cx="3324900" cy="122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Scone Recipe</a:t>
            </a:r>
            <a:endParaRPr sz="1800"/>
          </a:p>
        </p:txBody>
      </p:sp>
      <p:pic>
        <p:nvPicPr>
          <p:cNvPr descr="&lt;math xmlns=&quot;http://www.w3.org/1998/Math/MathML&quot; display=&quot;block&quot; data-is-equatio=&quot;1&quot; data-latex=&quot;\frac{1}{4}&quot;&gt;&lt;mfrac&gt;&lt;mn&gt;1&lt;/mn&gt;&lt;mn&gt;4&lt;/mn&gt;&lt;/mfrac&gt;&lt;/math&gt;" id="1497" name="Google Shape;1497;p101" title="one fourth"/>
          <p:cNvPicPr preferRelativeResize="0"/>
          <p:nvPr/>
        </p:nvPicPr>
        <p:blipFill>
          <a:blip r:embed="rId3">
            <a:alphaModFix/>
          </a:blip>
          <a:stretch>
            <a:fillRect/>
          </a:stretch>
        </p:blipFill>
        <p:spPr>
          <a:xfrm>
            <a:off x="5044368" y="2307827"/>
            <a:ext cx="133900" cy="426625"/>
          </a:xfrm>
          <a:prstGeom prst="rect">
            <a:avLst/>
          </a:prstGeom>
          <a:noFill/>
          <a:ln>
            <a:noFill/>
          </a:ln>
        </p:spPr>
      </p:pic>
      <p:pic>
        <p:nvPicPr>
          <p:cNvPr descr="&lt;math xmlns=&quot;http://www.w3.org/1998/Math/MathML&quot; display=&quot;block&quot; data-is-equatio=&quot;1&quot; data-latex=&quot;\frac{1}{2}&quot;&gt;&lt;mfrac&gt;&lt;mn&gt;1&lt;/mn&gt;&lt;mn&gt;2&lt;/mn&gt;&lt;/mfrac&gt;&lt;/math&gt;" id="1498" name="Google Shape;1498;p101" title="one half"/>
          <p:cNvPicPr preferRelativeResize="0"/>
          <p:nvPr/>
        </p:nvPicPr>
        <p:blipFill>
          <a:blip r:embed="rId4">
            <a:alphaModFix/>
          </a:blip>
          <a:stretch>
            <a:fillRect/>
          </a:stretch>
        </p:blipFill>
        <p:spPr>
          <a:xfrm>
            <a:off x="5044375" y="3211319"/>
            <a:ext cx="133900" cy="426611"/>
          </a:xfrm>
          <a:prstGeom prst="rect">
            <a:avLst/>
          </a:prstGeom>
          <a:noFill/>
          <a:ln>
            <a:noFill/>
          </a:ln>
        </p:spPr>
      </p:pic>
      <p:pic>
        <p:nvPicPr>
          <p:cNvPr descr="&lt;math xmlns=&quot;http://www.w3.org/1998/Math/MathML&quot; display=&quot;block&quot; data-is-equatio=&quot;1&quot; data-latex=&quot;1\frac{1}{3}&quot;&gt;&lt;mn&gt;1&lt;/mn&gt;&lt;mfrac&gt;&lt;mn&gt;1&lt;/mn&gt;&lt;mn&gt;3&lt;/mn&gt;&lt;/mfrac&gt;&lt;/math&gt;" id="1499" name="Google Shape;1499;p101" title="1 and one third"/>
          <p:cNvPicPr preferRelativeResize="0"/>
          <p:nvPr/>
        </p:nvPicPr>
        <p:blipFill>
          <a:blip r:embed="rId5">
            <a:alphaModFix/>
          </a:blip>
          <a:stretch>
            <a:fillRect/>
          </a:stretch>
        </p:blipFill>
        <p:spPr>
          <a:xfrm>
            <a:off x="4943942" y="3679419"/>
            <a:ext cx="233249" cy="426600"/>
          </a:xfrm>
          <a:prstGeom prst="rect">
            <a:avLst/>
          </a:prstGeom>
          <a:noFill/>
          <a:ln>
            <a:noFill/>
          </a:ln>
        </p:spPr>
      </p:pic>
      <p:sp>
        <p:nvSpPr>
          <p:cNvPr id="1500" name="Google Shape;1500;p101"/>
          <p:cNvSpPr txBox="1"/>
          <p:nvPr>
            <p:ph idx="1" type="body"/>
          </p:nvPr>
        </p:nvSpPr>
        <p:spPr>
          <a:xfrm>
            <a:off x="5277000" y="1978575"/>
            <a:ext cx="3324900" cy="262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cups flour</a:t>
            </a:r>
            <a:endParaRPr sz="1800"/>
          </a:p>
          <a:p>
            <a:pPr indent="0" lvl="0" marL="0" rtl="0" algn="l">
              <a:spcBef>
                <a:spcPts val="1000"/>
              </a:spcBef>
              <a:spcAft>
                <a:spcPts val="0"/>
              </a:spcAft>
              <a:buNone/>
            </a:pPr>
            <a:r>
              <a:rPr lang="en-GB" sz="1800"/>
              <a:t>cup caster sugar</a:t>
            </a:r>
            <a:endParaRPr sz="1800"/>
          </a:p>
          <a:p>
            <a:pPr indent="0" lvl="0" marL="0" rtl="0" algn="l">
              <a:spcBef>
                <a:spcPts val="1000"/>
              </a:spcBef>
              <a:spcAft>
                <a:spcPts val="0"/>
              </a:spcAft>
              <a:buNone/>
            </a:pPr>
            <a:r>
              <a:rPr lang="en-GB" sz="1800"/>
              <a:t>2 tsp baking powder</a:t>
            </a:r>
            <a:endParaRPr sz="1800"/>
          </a:p>
          <a:p>
            <a:pPr indent="0" lvl="0" marL="0" rtl="0" algn="l">
              <a:spcBef>
                <a:spcPts val="1000"/>
              </a:spcBef>
              <a:spcAft>
                <a:spcPts val="0"/>
              </a:spcAft>
              <a:buNone/>
            </a:pPr>
            <a:r>
              <a:rPr lang="en-GB" sz="1800"/>
              <a:t>cup softened butter</a:t>
            </a:r>
            <a:endParaRPr sz="1800"/>
          </a:p>
          <a:p>
            <a:pPr indent="0" lvl="0" marL="0" rtl="0" algn="l">
              <a:spcBef>
                <a:spcPts val="1000"/>
              </a:spcBef>
              <a:spcAft>
                <a:spcPts val="1000"/>
              </a:spcAft>
              <a:buNone/>
            </a:pPr>
            <a:r>
              <a:rPr lang="en-GB" sz="1800"/>
              <a:t>cup milk</a:t>
            </a:r>
            <a:endParaRPr sz="1800"/>
          </a:p>
        </p:txBody>
      </p:sp>
      <p:sp>
        <p:nvSpPr>
          <p:cNvPr id="1501" name="Google Shape;1501;p101"/>
          <p:cNvSpPr txBox="1"/>
          <p:nvPr>
            <p:ph idx="1" type="body"/>
          </p:nvPr>
        </p:nvSpPr>
        <p:spPr>
          <a:xfrm>
            <a:off x="4667400" y="4225625"/>
            <a:ext cx="3324900" cy="531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Oven temperature 392 ℉</a:t>
            </a:r>
            <a:endParaRPr sz="1800"/>
          </a:p>
        </p:txBody>
      </p:sp>
      <p:sp>
        <p:nvSpPr>
          <p:cNvPr id="1502" name="Google Shape;1502;p101"/>
          <p:cNvSpPr txBox="1"/>
          <p:nvPr>
            <p:ph idx="1" type="body"/>
          </p:nvPr>
        </p:nvSpPr>
        <p:spPr>
          <a:xfrm>
            <a:off x="552600" y="1851300"/>
            <a:ext cx="8237700" cy="296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cup flour</a:t>
            </a:r>
            <a:endParaRPr sz="1800"/>
          </a:p>
          <a:p>
            <a:pPr indent="0" lvl="0" marL="0" rtl="0" algn="l">
              <a:spcBef>
                <a:spcPts val="1000"/>
              </a:spcBef>
              <a:spcAft>
                <a:spcPts val="0"/>
              </a:spcAft>
              <a:buNone/>
            </a:pPr>
            <a:r>
              <a:rPr lang="en-GB" sz="1800"/>
              <a:t>2 tbsp sugar</a:t>
            </a:r>
            <a:endParaRPr sz="1800"/>
          </a:p>
          <a:p>
            <a:pPr indent="0" lvl="0" marL="0" rtl="0" algn="l">
              <a:spcBef>
                <a:spcPts val="1000"/>
              </a:spcBef>
              <a:spcAft>
                <a:spcPts val="0"/>
              </a:spcAft>
              <a:buNone/>
            </a:pPr>
            <a:r>
              <a:rPr lang="en-GB" sz="1800"/>
              <a:t>2 tsp baking powder</a:t>
            </a:r>
            <a:endParaRPr sz="1800"/>
          </a:p>
          <a:p>
            <a:pPr indent="0" lvl="0" marL="0" rtl="0" algn="l">
              <a:spcBef>
                <a:spcPts val="1000"/>
              </a:spcBef>
              <a:spcAft>
                <a:spcPts val="0"/>
              </a:spcAft>
              <a:buNone/>
            </a:pPr>
            <a:r>
              <a:rPr lang="en-GB" sz="1800"/>
              <a:t>1 pinch of salt</a:t>
            </a:r>
            <a:endParaRPr sz="1800"/>
          </a:p>
          <a:p>
            <a:pPr indent="0" lvl="0" marL="0" rtl="0" algn="l">
              <a:spcBef>
                <a:spcPts val="1000"/>
              </a:spcBef>
              <a:spcAft>
                <a:spcPts val="0"/>
              </a:spcAft>
              <a:buNone/>
            </a:pPr>
            <a:r>
              <a:rPr lang="en-GB" sz="1800"/>
              <a:t>1 cup milk</a:t>
            </a:r>
            <a:endParaRPr sz="1800"/>
          </a:p>
          <a:p>
            <a:pPr indent="0" lvl="0" marL="0" rtl="0" algn="l">
              <a:spcBef>
                <a:spcPts val="1000"/>
              </a:spcBef>
              <a:spcAft>
                <a:spcPts val="0"/>
              </a:spcAft>
              <a:buNone/>
            </a:pPr>
            <a:r>
              <a:rPr lang="en-GB" sz="1800"/>
              <a:t>2 tbsp melted butter</a:t>
            </a:r>
            <a:endParaRPr sz="1800"/>
          </a:p>
          <a:p>
            <a:pPr indent="0" lvl="0" marL="0" rtl="0" algn="l">
              <a:spcBef>
                <a:spcPts val="1000"/>
              </a:spcBef>
              <a:spcAft>
                <a:spcPts val="0"/>
              </a:spcAft>
              <a:buNone/>
            </a:pPr>
            <a:r>
              <a:rPr lang="en-GB" sz="1800"/>
              <a:t>1 large egg</a:t>
            </a:r>
            <a:endParaRPr sz="1800"/>
          </a:p>
          <a:p>
            <a:pPr indent="0" lvl="0" marL="0" rtl="0" algn="l">
              <a:spcBef>
                <a:spcPts val="1000"/>
              </a:spcBef>
              <a:spcAft>
                <a:spcPts val="1000"/>
              </a:spcAft>
              <a:buNone/>
            </a:pPr>
            <a:r>
              <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508" name="Google Shape;1508;p102"/>
          <p:cNvSpPr txBox="1"/>
          <p:nvPr>
            <p:ph idx="1" type="body"/>
          </p:nvPr>
        </p:nvSpPr>
        <p:spPr>
          <a:xfrm>
            <a:off x="324000" y="759300"/>
            <a:ext cx="8237700" cy="1227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1) </a:t>
            </a:r>
            <a:r>
              <a:rPr lang="en-GB" sz="1800"/>
              <a:t>Convert the following recipes and oven temperatures into UK units of measure.</a:t>
            </a:r>
            <a:endParaRPr sz="1800"/>
          </a:p>
          <a:p>
            <a:pPr indent="0" lvl="0" marL="0" rtl="0" algn="l">
              <a:lnSpc>
                <a:spcPct val="100000"/>
              </a:lnSpc>
              <a:spcBef>
                <a:spcPts val="1000"/>
              </a:spcBef>
              <a:spcAft>
                <a:spcPts val="0"/>
              </a:spcAft>
              <a:buNone/>
            </a:pPr>
            <a:r>
              <a:rPr lang="en-GB" sz="1800"/>
              <a:t>a)	</a:t>
            </a:r>
            <a:r>
              <a:rPr lang="en-GB" sz="1800"/>
              <a:t>Pancake Recipe</a:t>
            </a:r>
            <a:endParaRPr sz="1800"/>
          </a:p>
          <a:p>
            <a:pPr indent="0" lvl="0" marL="0" rtl="0" algn="l">
              <a:lnSpc>
                <a:spcPct val="100000"/>
              </a:lnSpc>
              <a:spcBef>
                <a:spcPts val="1000"/>
              </a:spcBef>
              <a:spcAft>
                <a:spcPts val="0"/>
              </a:spcAft>
              <a:buNone/>
            </a:pPr>
            <a:r>
              <a:rPr lang="en-GB" sz="1800"/>
              <a:t>     1 cup flour   </a:t>
            </a:r>
            <a:r>
              <a:rPr lang="en-GB" sz="2000">
                <a:latin typeface="Kalam"/>
                <a:ea typeface="Kalam"/>
                <a:cs typeface="Kalam"/>
                <a:sym typeface="Kalam"/>
              </a:rPr>
              <a:t>225 g or 224 g</a:t>
            </a:r>
            <a:endParaRPr>
              <a:latin typeface="Kalam"/>
              <a:ea typeface="Kalam"/>
              <a:cs typeface="Kalam"/>
              <a:sym typeface="Kalam"/>
            </a:endParaRPr>
          </a:p>
          <a:p>
            <a:pPr indent="0" lvl="0" marL="0" rtl="0" algn="l">
              <a:lnSpc>
                <a:spcPct val="100000"/>
              </a:lnSpc>
              <a:spcBef>
                <a:spcPts val="1000"/>
              </a:spcBef>
              <a:spcAft>
                <a:spcPts val="0"/>
              </a:spcAft>
              <a:buNone/>
            </a:pPr>
            <a:r>
              <a:rPr lang="en-GB" sz="1800"/>
              <a:t>     </a:t>
            </a:r>
            <a:r>
              <a:rPr lang="en-GB" sz="1800"/>
              <a:t>2 tbsp sugar   </a:t>
            </a:r>
            <a:r>
              <a:rPr lang="en-GB" sz="2000">
                <a:latin typeface="Kalam"/>
                <a:ea typeface="Kalam"/>
                <a:cs typeface="Kalam"/>
                <a:sym typeface="Kalam"/>
              </a:rPr>
              <a:t>28</a:t>
            </a:r>
            <a:r>
              <a:rPr lang="en-GB" sz="2000">
                <a:latin typeface="Kalam"/>
                <a:ea typeface="Kalam"/>
                <a:cs typeface="Kalam"/>
                <a:sym typeface="Kalam"/>
              </a:rPr>
              <a:t> g</a:t>
            </a:r>
            <a:endParaRPr>
              <a:latin typeface="Kalam"/>
              <a:ea typeface="Kalam"/>
              <a:cs typeface="Kalam"/>
              <a:sym typeface="Kalam"/>
            </a:endParaRPr>
          </a:p>
          <a:p>
            <a:pPr indent="0" lvl="0" marL="0" rtl="0" algn="l">
              <a:lnSpc>
                <a:spcPct val="100000"/>
              </a:lnSpc>
              <a:spcBef>
                <a:spcPts val="1000"/>
              </a:spcBef>
              <a:spcAft>
                <a:spcPts val="0"/>
              </a:spcAft>
              <a:buNone/>
            </a:pPr>
            <a:r>
              <a:rPr lang="en-GB" sz="1800"/>
              <a:t>     </a:t>
            </a:r>
            <a:r>
              <a:rPr lang="en-GB" sz="1800"/>
              <a:t>2 tsp baking powder   </a:t>
            </a:r>
            <a:r>
              <a:rPr lang="en-GB" sz="2000">
                <a:latin typeface="Kalam"/>
                <a:ea typeface="Kalam"/>
                <a:cs typeface="Kalam"/>
                <a:sym typeface="Kalam"/>
              </a:rPr>
              <a:t>9 g</a:t>
            </a:r>
            <a:endParaRPr sz="2000">
              <a:latin typeface="Kalam"/>
              <a:ea typeface="Kalam"/>
              <a:cs typeface="Kalam"/>
              <a:sym typeface="Kalam"/>
            </a:endParaRPr>
          </a:p>
          <a:p>
            <a:pPr indent="0" lvl="0" marL="0" rtl="0" algn="l">
              <a:lnSpc>
                <a:spcPct val="100000"/>
              </a:lnSpc>
              <a:spcBef>
                <a:spcPts val="1000"/>
              </a:spcBef>
              <a:spcAft>
                <a:spcPts val="0"/>
              </a:spcAft>
              <a:buNone/>
            </a:pPr>
            <a:r>
              <a:rPr lang="en-GB" sz="1800"/>
              <a:t>     </a:t>
            </a:r>
            <a:r>
              <a:rPr lang="en-GB" sz="1800"/>
              <a:t>1 pinch of salt		</a:t>
            </a:r>
            <a:endParaRPr sz="1800"/>
          </a:p>
          <a:p>
            <a:pPr indent="0" lvl="0" marL="0" rtl="0" algn="l">
              <a:lnSpc>
                <a:spcPct val="100000"/>
              </a:lnSpc>
              <a:spcBef>
                <a:spcPts val="1000"/>
              </a:spcBef>
              <a:spcAft>
                <a:spcPts val="0"/>
              </a:spcAft>
              <a:buNone/>
            </a:pPr>
            <a:r>
              <a:rPr lang="en-GB" sz="1800"/>
              <a:t>     1 cup milk       </a:t>
            </a:r>
            <a:r>
              <a:rPr lang="en-GB" sz="2000">
                <a:latin typeface="Kalam"/>
                <a:ea typeface="Kalam"/>
                <a:cs typeface="Kalam"/>
                <a:sym typeface="Kalam"/>
              </a:rPr>
              <a:t>240 ml</a:t>
            </a:r>
            <a:endParaRPr sz="2000">
              <a:latin typeface="Kalam"/>
              <a:ea typeface="Kalam"/>
              <a:cs typeface="Kalam"/>
              <a:sym typeface="Kalam"/>
            </a:endParaRPr>
          </a:p>
          <a:p>
            <a:pPr indent="0" lvl="0" marL="0" rtl="0" algn="l">
              <a:lnSpc>
                <a:spcPct val="100000"/>
              </a:lnSpc>
              <a:spcBef>
                <a:spcPts val="1000"/>
              </a:spcBef>
              <a:spcAft>
                <a:spcPts val="0"/>
              </a:spcAft>
              <a:buNone/>
            </a:pPr>
            <a:r>
              <a:rPr lang="en-GB" sz="1800"/>
              <a:t>     </a:t>
            </a:r>
            <a:r>
              <a:rPr lang="en-GB" sz="1800"/>
              <a:t>2 tbsp melted butter     </a:t>
            </a:r>
            <a:r>
              <a:rPr lang="en-GB" sz="2000">
                <a:latin typeface="Kalam"/>
                <a:ea typeface="Kalam"/>
                <a:cs typeface="Kalam"/>
                <a:sym typeface="Kalam"/>
              </a:rPr>
              <a:t>28 g</a:t>
            </a:r>
            <a:endParaRPr sz="1800"/>
          </a:p>
          <a:p>
            <a:pPr indent="0" lvl="0" marL="0" rtl="0" algn="l">
              <a:lnSpc>
                <a:spcPct val="100000"/>
              </a:lnSpc>
              <a:spcBef>
                <a:spcPts val="1000"/>
              </a:spcBef>
              <a:spcAft>
                <a:spcPts val="1000"/>
              </a:spcAft>
              <a:buNone/>
            </a:pPr>
            <a:r>
              <a:rPr lang="en-GB" sz="1800"/>
              <a:t>     1 large egg</a:t>
            </a:r>
            <a:endParaRPr sz="1800"/>
          </a:p>
        </p:txBody>
      </p:sp>
      <p:sp>
        <p:nvSpPr>
          <p:cNvPr id="1509" name="Google Shape;1509;p102"/>
          <p:cNvSpPr txBox="1"/>
          <p:nvPr>
            <p:ph idx="1" type="body"/>
          </p:nvPr>
        </p:nvSpPr>
        <p:spPr>
          <a:xfrm>
            <a:off x="4591200" y="1521300"/>
            <a:ext cx="4228800" cy="45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a:t>
            </a:r>
            <a:r>
              <a:rPr lang="en-GB" sz="1800"/>
              <a:t>Scone Recipe</a:t>
            </a:r>
            <a:endParaRPr sz="2000">
              <a:latin typeface="Kalam"/>
              <a:ea typeface="Kalam"/>
              <a:cs typeface="Kalam"/>
              <a:sym typeface="Kalam"/>
            </a:endParaRPr>
          </a:p>
        </p:txBody>
      </p:sp>
      <p:pic>
        <p:nvPicPr>
          <p:cNvPr descr="&lt;math xmlns=&quot;http://www.w3.org/1998/Math/MathML&quot; display=&quot;block&quot; data-is-equatio=&quot;1&quot; data-latex=&quot;\frac{1}{4}&quot;&gt;&lt;mfrac&gt;&lt;mn&gt;1&lt;/mn&gt;&lt;mn&gt;4&lt;/mn&gt;&lt;/mfrac&gt;&lt;/math&gt;" id="1510" name="Google Shape;1510;p102" title="one fourth"/>
          <p:cNvPicPr preferRelativeResize="0"/>
          <p:nvPr/>
        </p:nvPicPr>
        <p:blipFill>
          <a:blip r:embed="rId3">
            <a:alphaModFix/>
          </a:blip>
          <a:stretch>
            <a:fillRect/>
          </a:stretch>
        </p:blipFill>
        <p:spPr>
          <a:xfrm>
            <a:off x="5044368" y="2415108"/>
            <a:ext cx="133900" cy="426625"/>
          </a:xfrm>
          <a:prstGeom prst="rect">
            <a:avLst/>
          </a:prstGeom>
          <a:noFill/>
          <a:ln>
            <a:noFill/>
          </a:ln>
        </p:spPr>
      </p:pic>
      <p:pic>
        <p:nvPicPr>
          <p:cNvPr descr="&lt;math xmlns=&quot;http://www.w3.org/1998/Math/MathML&quot; display=&quot;block&quot; data-is-equatio=&quot;1&quot; data-latex=&quot;\frac{1}{2}&quot;&gt;&lt;mfrac&gt;&lt;mn&gt;1&lt;/mn&gt;&lt;mn&gt;2&lt;/mn&gt;&lt;/mfrac&gt;&lt;/math&gt;" id="1511" name="Google Shape;1511;p102" title="one half"/>
          <p:cNvPicPr preferRelativeResize="0"/>
          <p:nvPr/>
        </p:nvPicPr>
        <p:blipFill>
          <a:blip r:embed="rId4">
            <a:alphaModFix/>
          </a:blip>
          <a:stretch>
            <a:fillRect/>
          </a:stretch>
        </p:blipFill>
        <p:spPr>
          <a:xfrm>
            <a:off x="5044375" y="3318601"/>
            <a:ext cx="133900" cy="426611"/>
          </a:xfrm>
          <a:prstGeom prst="rect">
            <a:avLst/>
          </a:prstGeom>
          <a:noFill/>
          <a:ln>
            <a:noFill/>
          </a:ln>
        </p:spPr>
      </p:pic>
      <p:pic>
        <p:nvPicPr>
          <p:cNvPr descr="&lt;math xmlns=&quot;http://www.w3.org/1998/Math/MathML&quot; display=&quot;block&quot; data-is-equatio=&quot;1&quot; data-latex=&quot;1\frac{1}{3}&quot;&gt;&lt;mn&gt;1&lt;/mn&gt;&lt;mfrac&gt;&lt;mn&gt;1&lt;/mn&gt;&lt;mn&gt;3&lt;/mn&gt;&lt;/mfrac&gt;&lt;/math&gt;" id="1512" name="Google Shape;1512;p102" title="1 and one third"/>
          <p:cNvPicPr preferRelativeResize="0"/>
          <p:nvPr/>
        </p:nvPicPr>
        <p:blipFill>
          <a:blip r:embed="rId5">
            <a:alphaModFix/>
          </a:blip>
          <a:stretch>
            <a:fillRect/>
          </a:stretch>
        </p:blipFill>
        <p:spPr>
          <a:xfrm>
            <a:off x="4943942" y="3786701"/>
            <a:ext cx="233249" cy="426600"/>
          </a:xfrm>
          <a:prstGeom prst="rect">
            <a:avLst/>
          </a:prstGeom>
          <a:noFill/>
          <a:ln>
            <a:noFill/>
          </a:ln>
        </p:spPr>
      </p:pic>
      <p:sp>
        <p:nvSpPr>
          <p:cNvPr id="1513" name="Google Shape;1513;p102"/>
          <p:cNvSpPr txBox="1"/>
          <p:nvPr>
            <p:ph idx="1" type="body"/>
          </p:nvPr>
        </p:nvSpPr>
        <p:spPr>
          <a:xfrm>
            <a:off x="5277000" y="1978500"/>
            <a:ext cx="4228800" cy="316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cups flour    </a:t>
            </a:r>
            <a:r>
              <a:rPr lang="en-GB" sz="2000">
                <a:latin typeface="Kalam"/>
                <a:ea typeface="Kalam"/>
                <a:cs typeface="Kalam"/>
                <a:sym typeface="Kalam"/>
              </a:rPr>
              <a:t>675 g or 672 g</a:t>
            </a:r>
            <a:r>
              <a:rPr lang="en-GB" sz="1800"/>
              <a:t>	</a:t>
            </a:r>
            <a:endParaRPr sz="1800"/>
          </a:p>
          <a:p>
            <a:pPr indent="0" lvl="0" marL="0" rtl="0" algn="l">
              <a:spcBef>
                <a:spcPts val="1000"/>
              </a:spcBef>
              <a:spcAft>
                <a:spcPts val="0"/>
              </a:spcAft>
              <a:buNone/>
            </a:pPr>
            <a:r>
              <a:rPr lang="en-GB" sz="1800"/>
              <a:t>cup caster sugar    </a:t>
            </a:r>
            <a:r>
              <a:rPr lang="en-GB" sz="2000">
                <a:latin typeface="Kalam"/>
                <a:ea typeface="Kalam"/>
                <a:cs typeface="Kalam"/>
                <a:sym typeface="Kalam"/>
              </a:rPr>
              <a:t>56 g</a:t>
            </a:r>
            <a:endParaRPr sz="1800"/>
          </a:p>
          <a:p>
            <a:pPr indent="0" lvl="0" marL="0" rtl="0" algn="l">
              <a:spcBef>
                <a:spcPts val="1000"/>
              </a:spcBef>
              <a:spcAft>
                <a:spcPts val="0"/>
              </a:spcAft>
              <a:buNone/>
            </a:pPr>
            <a:r>
              <a:rPr lang="en-GB" sz="1800"/>
              <a:t>2 tsp baking powder	    </a:t>
            </a:r>
            <a:r>
              <a:rPr lang="en-GB" sz="2000">
                <a:latin typeface="Kalam"/>
                <a:ea typeface="Kalam"/>
                <a:cs typeface="Kalam"/>
                <a:sym typeface="Kalam"/>
              </a:rPr>
              <a:t>9 g</a:t>
            </a:r>
            <a:endParaRPr sz="1800"/>
          </a:p>
          <a:p>
            <a:pPr indent="0" lvl="0" marL="0" rtl="0" algn="l">
              <a:spcBef>
                <a:spcPts val="1000"/>
              </a:spcBef>
              <a:spcAft>
                <a:spcPts val="0"/>
              </a:spcAft>
              <a:buNone/>
            </a:pPr>
            <a:r>
              <a:rPr lang="en-GB" sz="1800"/>
              <a:t>cup softened butter    </a:t>
            </a:r>
            <a:r>
              <a:rPr lang="en-GB" sz="2000">
                <a:latin typeface="Kalam"/>
                <a:ea typeface="Kalam"/>
                <a:cs typeface="Kalam"/>
                <a:sym typeface="Kalam"/>
              </a:rPr>
              <a:t>112 g</a:t>
            </a:r>
            <a:endParaRPr sz="1800"/>
          </a:p>
          <a:p>
            <a:pPr indent="0" lvl="0" marL="0" rtl="0" algn="l">
              <a:spcBef>
                <a:spcPts val="1000"/>
              </a:spcBef>
              <a:spcAft>
                <a:spcPts val="0"/>
              </a:spcAft>
              <a:buNone/>
            </a:pPr>
            <a:r>
              <a:rPr lang="en-GB" sz="1800"/>
              <a:t>cup milk    </a:t>
            </a:r>
            <a:r>
              <a:rPr lang="en-GB" sz="2000">
                <a:latin typeface="Kalam"/>
                <a:ea typeface="Kalam"/>
                <a:cs typeface="Kalam"/>
                <a:sym typeface="Kalam"/>
              </a:rPr>
              <a:t>320 ml</a:t>
            </a:r>
            <a:endParaRPr sz="2000">
              <a:latin typeface="Kalam"/>
              <a:ea typeface="Kalam"/>
              <a:cs typeface="Kalam"/>
              <a:sym typeface="Kalam"/>
            </a:endParaRPr>
          </a:p>
          <a:p>
            <a:pPr indent="0" lvl="0" marL="0" rtl="0" algn="l">
              <a:spcBef>
                <a:spcPts val="1000"/>
              </a:spcBef>
              <a:spcAft>
                <a:spcPts val="1000"/>
              </a:spcAft>
              <a:buClr>
                <a:schemeClr val="dk1"/>
              </a:buClr>
              <a:buSzPts val="1100"/>
              <a:buFont typeface="Arial"/>
              <a:buNone/>
            </a:pPr>
            <a:r>
              <a:rPr lang="en-GB" sz="1800"/>
              <a:t>Oven temperature   </a:t>
            </a:r>
            <a:r>
              <a:rPr lang="en-GB" sz="2000">
                <a:latin typeface="Kalam"/>
                <a:ea typeface="Kalam"/>
                <a:cs typeface="Kalam"/>
                <a:sym typeface="Kalam"/>
              </a:rPr>
              <a:t>200 </a:t>
            </a:r>
            <a:r>
              <a:rPr lang="en-GB" sz="2000"/>
              <a:t>℃</a:t>
            </a:r>
            <a:r>
              <a:rPr lang="en-GB" sz="1800"/>
              <a:t>		</a:t>
            </a:r>
            <a:endParaRPr sz="2000">
              <a:latin typeface="Kalam"/>
              <a:ea typeface="Kalam"/>
              <a:cs typeface="Kalam"/>
              <a:sym typeface="Kala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03"/>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Measures in catering</a:t>
            </a:r>
            <a:endParaRPr/>
          </a:p>
        </p:txBody>
      </p:sp>
      <p:sp>
        <p:nvSpPr>
          <p:cNvPr id="1519" name="Google Shape;1519;p103"/>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520" name="Google Shape;1520;p103"/>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Catering</a:t>
            </a:r>
            <a:endParaRPr/>
          </a:p>
        </p:txBody>
      </p:sp>
      <p:pic>
        <p:nvPicPr>
          <p:cNvPr id="1521" name="Google Shape;1521;p103"/>
          <p:cNvPicPr preferRelativeResize="0"/>
          <p:nvPr/>
        </p:nvPicPr>
        <p:blipFill>
          <a:blip r:embed="rId3">
            <a:alphaModFix/>
          </a:blip>
          <a:stretch>
            <a:fillRect/>
          </a:stretch>
        </p:blipFill>
        <p:spPr>
          <a:xfrm>
            <a:off x="404775" y="2988375"/>
            <a:ext cx="450575" cy="446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04"/>
          <p:cNvSpPr txBox="1"/>
          <p:nvPr>
            <p:ph idx="1" type="body"/>
          </p:nvPr>
        </p:nvSpPr>
        <p:spPr>
          <a:xfrm>
            <a:off x="5256325" y="606900"/>
            <a:ext cx="3563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Some foods need preparing before they are used in a recipe.</a:t>
            </a:r>
            <a:endParaRPr/>
          </a:p>
          <a:p>
            <a:pPr indent="0" lvl="0" marL="0" rtl="0" algn="l">
              <a:spcBef>
                <a:spcPts val="1000"/>
              </a:spcBef>
              <a:spcAft>
                <a:spcPts val="0"/>
              </a:spcAft>
              <a:buNone/>
            </a:pPr>
            <a:r>
              <a:rPr lang="en-GB"/>
              <a:t>Do you think that any of the ingredients for this recipe would produce any wastage?</a:t>
            </a:r>
            <a:endParaRPr/>
          </a:p>
          <a:p>
            <a:pPr indent="0" lvl="0" marL="0" rtl="0" algn="l">
              <a:spcBef>
                <a:spcPts val="1000"/>
              </a:spcBef>
              <a:spcAft>
                <a:spcPts val="1000"/>
              </a:spcAft>
              <a:buNone/>
            </a:pPr>
            <a:r>
              <a:rPr lang="en-GB">
                <a:latin typeface="Kalam"/>
                <a:ea typeface="Kalam"/>
                <a:cs typeface="Kalam"/>
                <a:sym typeface="Kalam"/>
              </a:rPr>
              <a:t>The red pepper, chicken thighs, garlic and pineapple chunks.</a:t>
            </a:r>
            <a:endParaRPr>
              <a:latin typeface="Kalam"/>
              <a:ea typeface="Kalam"/>
              <a:cs typeface="Kalam"/>
              <a:sym typeface="Kalam"/>
            </a:endParaRPr>
          </a:p>
        </p:txBody>
      </p:sp>
      <p:sp>
        <p:nvSpPr>
          <p:cNvPr id="1527" name="Google Shape;1527;p10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pic>
        <p:nvPicPr>
          <p:cNvPr id="1528" name="Google Shape;1528;p104"/>
          <p:cNvPicPr preferRelativeResize="0"/>
          <p:nvPr/>
        </p:nvPicPr>
        <p:blipFill>
          <a:blip r:embed="rId3">
            <a:alphaModFix/>
          </a:blip>
          <a:stretch>
            <a:fillRect/>
          </a:stretch>
        </p:blipFill>
        <p:spPr>
          <a:xfrm>
            <a:off x="342959" y="765900"/>
            <a:ext cx="4526191" cy="405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05"/>
          <p:cNvSpPr txBox="1"/>
          <p:nvPr>
            <p:ph idx="1" type="body"/>
          </p:nvPr>
        </p:nvSpPr>
        <p:spPr>
          <a:xfrm>
            <a:off x="5256325" y="606900"/>
            <a:ext cx="3563700" cy="113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Although the pepper and garlic </a:t>
            </a:r>
            <a:r>
              <a:rPr lang="en-GB" sz="2000"/>
              <a:t>produce wastage this does not affect the recipe.</a:t>
            </a:r>
            <a:endParaRPr sz="2000">
              <a:latin typeface="Kalam"/>
              <a:ea typeface="Kalam"/>
              <a:cs typeface="Kalam"/>
              <a:sym typeface="Kalam"/>
            </a:endParaRPr>
          </a:p>
        </p:txBody>
      </p:sp>
      <p:sp>
        <p:nvSpPr>
          <p:cNvPr id="1534" name="Google Shape;1534;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535" name="Google Shape;1535;p105"/>
          <p:cNvSpPr txBox="1"/>
          <p:nvPr>
            <p:ph idx="1" type="body"/>
          </p:nvPr>
        </p:nvSpPr>
        <p:spPr>
          <a:xfrm>
            <a:off x="5256325" y="1826100"/>
            <a:ext cx="3563700" cy="148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a:t>
            </a:r>
            <a:r>
              <a:rPr lang="en-GB" sz="2000"/>
              <a:t>wastage of the chicken and pineapple do need to be considered though.</a:t>
            </a:r>
            <a:endParaRPr sz="2000">
              <a:latin typeface="Kalam"/>
              <a:ea typeface="Kalam"/>
              <a:cs typeface="Kalam"/>
              <a:sym typeface="Kalam"/>
            </a:endParaRPr>
          </a:p>
        </p:txBody>
      </p:sp>
      <p:sp>
        <p:nvSpPr>
          <p:cNvPr id="1536" name="Google Shape;1536;p105"/>
          <p:cNvSpPr txBox="1"/>
          <p:nvPr>
            <p:ph idx="1" type="body"/>
          </p:nvPr>
        </p:nvSpPr>
        <p:spPr>
          <a:xfrm>
            <a:off x="5256325" y="3350100"/>
            <a:ext cx="3563700" cy="148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Caterers use percentages to work out how much of particular items they need to buy for recipes.</a:t>
            </a:r>
            <a:endParaRPr sz="2000">
              <a:latin typeface="Kalam"/>
              <a:ea typeface="Kalam"/>
              <a:cs typeface="Kalam"/>
              <a:sym typeface="Kalam"/>
            </a:endParaRPr>
          </a:p>
        </p:txBody>
      </p:sp>
      <p:pic>
        <p:nvPicPr>
          <p:cNvPr id="1537" name="Google Shape;1537;p105"/>
          <p:cNvPicPr preferRelativeResize="0"/>
          <p:nvPr/>
        </p:nvPicPr>
        <p:blipFill>
          <a:blip r:embed="rId3">
            <a:alphaModFix/>
          </a:blip>
          <a:stretch>
            <a:fillRect/>
          </a:stretch>
        </p:blipFill>
        <p:spPr>
          <a:xfrm>
            <a:off x="342959" y="765900"/>
            <a:ext cx="4526191" cy="405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06"/>
          <p:cNvSpPr txBox="1"/>
          <p:nvPr>
            <p:ph idx="1" type="body"/>
          </p:nvPr>
        </p:nvSpPr>
        <p:spPr>
          <a:xfrm>
            <a:off x="303325" y="1902300"/>
            <a:ext cx="8516700" cy="141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Once a product is cleaned, trimmed, and portioned it is called the Edible Portion (EP).  The EP is important because it reflects the true quantity needed and the true cost of the food.</a:t>
            </a:r>
            <a:endParaRPr sz="1800"/>
          </a:p>
          <a:p>
            <a:pPr indent="0" lvl="0" marL="0" rtl="0" algn="l">
              <a:spcBef>
                <a:spcPts val="1000"/>
              </a:spcBef>
              <a:spcAft>
                <a:spcPts val="0"/>
              </a:spcAft>
              <a:buNone/>
            </a:pPr>
            <a:r>
              <a:rPr lang="en-GB" sz="1800"/>
              <a:t>Caterers use percentage yield values to calculate the EP.</a:t>
            </a:r>
            <a:endParaRPr sz="1800"/>
          </a:p>
          <a:p>
            <a:pPr indent="0" lvl="0" marL="0" rtl="0" algn="l">
              <a:spcBef>
                <a:spcPts val="1000"/>
              </a:spcBef>
              <a:spcAft>
                <a:spcPts val="1000"/>
              </a:spcAft>
              <a:buNone/>
            </a:pPr>
            <a:r>
              <a:t/>
            </a:r>
            <a:endParaRPr sz="1800">
              <a:highlight>
                <a:srgbClr val="FAFAFA"/>
              </a:highlight>
            </a:endParaRPr>
          </a:p>
        </p:txBody>
      </p:sp>
      <p:sp>
        <p:nvSpPr>
          <p:cNvPr id="1543" name="Google Shape;1543;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graphicFrame>
        <p:nvGraphicFramePr>
          <p:cNvPr id="1544" name="Google Shape;1544;p106"/>
          <p:cNvGraphicFramePr/>
          <p:nvPr/>
        </p:nvGraphicFramePr>
        <p:xfrm>
          <a:off x="441400" y="3371850"/>
          <a:ext cx="3000000" cy="3000000"/>
        </p:xfrm>
        <a:graphic>
          <a:graphicData uri="http://schemas.openxmlformats.org/drawingml/2006/table">
            <a:tbl>
              <a:tblPr>
                <a:noFill/>
                <a:tableStyleId>{5ABEDB2D-1168-43D3-9195-50B46805A593}</a:tableStyleId>
              </a:tblPr>
              <a:tblGrid>
                <a:gridCol w="1846275"/>
                <a:gridCol w="212527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Percentage yield</a:t>
                      </a:r>
                      <a:endParaRPr sz="18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Chicken thighs</a:t>
                      </a:r>
                      <a:endParaRPr sz="1800">
                        <a:latin typeface="Lexend"/>
                        <a:ea typeface="Lexend"/>
                        <a:cs typeface="Lexend"/>
                        <a:sym typeface="Lexend"/>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Pineapple</a:t>
                      </a:r>
                      <a:endParaRPr sz="1800">
                        <a:latin typeface="Lexend"/>
                        <a:ea typeface="Lexend"/>
                        <a:cs typeface="Lexend"/>
                        <a:sym typeface="Lexend"/>
                      </a:endParaRPr>
                    </a:p>
                  </a:txBody>
                  <a:tcPr marT="91425" marB="91425" marR="91425" marL="91425">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545" name="Google Shape;1545;p106"/>
          <p:cNvSpPr/>
          <p:nvPr/>
        </p:nvSpPr>
        <p:spPr>
          <a:xfrm>
            <a:off x="441400" y="627675"/>
            <a:ext cx="4130700" cy="11985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54000" lIns="54000" spcFirstLastPara="1" rIns="54000" wrap="square" tIns="54000">
            <a:noAutofit/>
          </a:bodyPr>
          <a:lstStyle/>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Pineapple Chicken Recipe</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450 g chicken thighs cut into chunks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250 g fresh pineapple chunks</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107"/>
          <p:cNvSpPr txBox="1"/>
          <p:nvPr>
            <p:ph idx="1" type="body"/>
          </p:nvPr>
        </p:nvSpPr>
        <p:spPr>
          <a:xfrm>
            <a:off x="324000" y="759300"/>
            <a:ext cx="8237700" cy="72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There are tables that chefs and caterers can use which give an average percentage yield.</a:t>
            </a:r>
            <a:endParaRPr/>
          </a:p>
        </p:txBody>
      </p:sp>
      <p:sp>
        <p:nvSpPr>
          <p:cNvPr id="1551" name="Google Shape;1551;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552" name="Google Shape;1552;p107"/>
          <p:cNvSpPr txBox="1"/>
          <p:nvPr>
            <p:ph idx="1" type="body"/>
          </p:nvPr>
        </p:nvSpPr>
        <p:spPr>
          <a:xfrm>
            <a:off x="324000" y="1749900"/>
            <a:ext cx="8237700" cy="72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However, many will calculate their own based on the equipment, quality and the intended use of the ingredients.</a:t>
            </a:r>
            <a:endParaRPr/>
          </a:p>
          <a:p>
            <a:pPr indent="0" lvl="0" marL="0" rtl="0" algn="l">
              <a:spcBef>
                <a:spcPts val="1000"/>
              </a:spcBef>
              <a:spcAft>
                <a:spcPts val="0"/>
              </a:spcAft>
              <a:buNone/>
            </a:pPr>
            <a:r>
              <a:rPr lang="en-GB"/>
              <a:t>How do you think a percentage yield is calculated?</a:t>
            </a:r>
            <a:endParaRPr/>
          </a:p>
          <a:p>
            <a:pPr indent="0" lvl="0" marL="0" rtl="0" algn="l">
              <a:spcBef>
                <a:spcPts val="1000"/>
              </a:spcBef>
              <a:spcAft>
                <a:spcPts val="1000"/>
              </a:spcAft>
              <a:buNone/>
            </a:pPr>
            <a:r>
              <a:rPr lang="en-GB">
                <a:latin typeface="Kalam"/>
                <a:ea typeface="Kalam"/>
                <a:cs typeface="Kalam"/>
                <a:sym typeface="Kalam"/>
              </a:rPr>
              <a:t>Weigh the mass of the purchased product. Prepare the product and reweigh it.</a:t>
            </a:r>
            <a:endParaRPr>
              <a:latin typeface="Kalam"/>
              <a:ea typeface="Kalam"/>
              <a:cs typeface="Kalam"/>
              <a:sym typeface="Kalam"/>
            </a:endParaRPr>
          </a:p>
        </p:txBody>
      </p:sp>
      <p:sp>
        <p:nvSpPr>
          <p:cNvPr id="1553" name="Google Shape;1553;p107"/>
          <p:cNvSpPr txBox="1"/>
          <p:nvPr>
            <p:ph idx="1" type="body"/>
          </p:nvPr>
        </p:nvSpPr>
        <p:spPr>
          <a:xfrm>
            <a:off x="324000" y="3959700"/>
            <a:ext cx="8237700" cy="720000"/>
          </a:xfrm>
          <a:prstGeom prst="rect">
            <a:avLst/>
          </a:prstGeom>
        </p:spPr>
        <p:txBody>
          <a:bodyPr anchorCtr="0" anchor="t" bIns="0" lIns="0" spcFirstLastPara="1" rIns="0" wrap="square" tIns="0">
            <a:noAutofit/>
          </a:bodyPr>
          <a:lstStyle/>
          <a:p>
            <a:pPr indent="0" lvl="0" marL="0" rtl="0" algn="l">
              <a:lnSpc>
                <a:spcPct val="70000"/>
              </a:lnSpc>
              <a:spcBef>
                <a:spcPts val="0"/>
              </a:spcBef>
              <a:spcAft>
                <a:spcPts val="0"/>
              </a:spcAft>
              <a:buNone/>
            </a:pPr>
            <a:r>
              <a:rPr lang="en-GB">
                <a:latin typeface="Kalam"/>
                <a:ea typeface="Kalam"/>
                <a:cs typeface="Kalam"/>
                <a:sym typeface="Kalam"/>
              </a:rPr>
              <a:t>Percentage yield  =   mass of prepared product   × 100 </a:t>
            </a:r>
            <a:endParaRPr>
              <a:latin typeface="Kalam"/>
              <a:ea typeface="Kalam"/>
              <a:cs typeface="Kalam"/>
              <a:sym typeface="Kalam"/>
            </a:endParaRPr>
          </a:p>
          <a:p>
            <a:pPr indent="0" lvl="0" marL="0" rtl="0" algn="l">
              <a:lnSpc>
                <a:spcPct val="70000"/>
              </a:lnSpc>
              <a:spcBef>
                <a:spcPts val="1000"/>
              </a:spcBef>
              <a:spcAft>
                <a:spcPts val="1000"/>
              </a:spcAft>
              <a:buNone/>
            </a:pPr>
            <a:r>
              <a:rPr lang="en-GB">
                <a:latin typeface="Kalam"/>
                <a:ea typeface="Kalam"/>
                <a:cs typeface="Kalam"/>
                <a:sym typeface="Kalam"/>
              </a:rPr>
              <a:t>                       mass of purchased product </a:t>
            </a:r>
            <a:endParaRPr>
              <a:latin typeface="Kalam"/>
              <a:ea typeface="Kalam"/>
              <a:cs typeface="Kalam"/>
              <a:sym typeface="Kalam"/>
            </a:endParaRPr>
          </a:p>
        </p:txBody>
      </p:sp>
      <p:cxnSp>
        <p:nvCxnSpPr>
          <p:cNvPr id="1554" name="Google Shape;1554;p107"/>
          <p:cNvCxnSpPr/>
          <p:nvPr/>
        </p:nvCxnSpPr>
        <p:spPr>
          <a:xfrm>
            <a:off x="2838800" y="4229575"/>
            <a:ext cx="32676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p108"/>
          <p:cNvSpPr txBox="1"/>
          <p:nvPr>
            <p:ph idx="1" type="body"/>
          </p:nvPr>
        </p:nvSpPr>
        <p:spPr>
          <a:xfrm>
            <a:off x="324000" y="1749900"/>
            <a:ext cx="8237700" cy="139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chef prepares 5 kg of kale.</a:t>
            </a:r>
            <a:endParaRPr/>
          </a:p>
          <a:p>
            <a:pPr indent="0" lvl="0" marL="0" rtl="0" algn="l">
              <a:spcBef>
                <a:spcPts val="1000"/>
              </a:spcBef>
              <a:spcAft>
                <a:spcPts val="0"/>
              </a:spcAft>
              <a:buNone/>
            </a:pPr>
            <a:r>
              <a:rPr lang="en-GB"/>
              <a:t>The prepared product has a mass of 3.7 kg.</a:t>
            </a:r>
            <a:endParaRPr/>
          </a:p>
          <a:p>
            <a:pPr indent="0" lvl="0" marL="0" rtl="0" algn="l">
              <a:spcBef>
                <a:spcPts val="1000"/>
              </a:spcBef>
              <a:spcAft>
                <a:spcPts val="1000"/>
              </a:spcAft>
              <a:buNone/>
            </a:pPr>
            <a:r>
              <a:rPr lang="en-GB"/>
              <a:t>What is the percentage yield?</a:t>
            </a:r>
            <a:endParaRPr/>
          </a:p>
        </p:txBody>
      </p:sp>
      <p:sp>
        <p:nvSpPr>
          <p:cNvPr id="1560" name="Google Shape;1560;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561" name="Google Shape;1561;p108"/>
          <p:cNvSpPr txBox="1"/>
          <p:nvPr>
            <p:ph idx="1" type="body"/>
          </p:nvPr>
        </p:nvSpPr>
        <p:spPr>
          <a:xfrm>
            <a:off x="324000" y="3426300"/>
            <a:ext cx="5028300" cy="613500"/>
          </a:xfrm>
          <a:prstGeom prst="rect">
            <a:avLst/>
          </a:prstGeom>
        </p:spPr>
        <p:txBody>
          <a:bodyPr anchorCtr="0" anchor="t" bIns="0" lIns="0" spcFirstLastPara="1" rIns="0" wrap="square" tIns="0">
            <a:noAutofit/>
          </a:bodyPr>
          <a:lstStyle/>
          <a:p>
            <a:pPr indent="0" lvl="0" marL="0" rtl="0" algn="l">
              <a:lnSpc>
                <a:spcPct val="70000"/>
              </a:lnSpc>
              <a:spcBef>
                <a:spcPts val="0"/>
              </a:spcBef>
              <a:spcAft>
                <a:spcPts val="0"/>
              </a:spcAft>
              <a:buNone/>
            </a:pPr>
            <a:r>
              <a:rPr lang="en-GB"/>
              <a:t>Percentage yield  =  3.7</a:t>
            </a:r>
            <a:r>
              <a:rPr lang="en-GB"/>
              <a:t> </a:t>
            </a:r>
            <a:r>
              <a:rPr lang="en-GB"/>
              <a:t>× 100 </a:t>
            </a:r>
            <a:endParaRPr/>
          </a:p>
          <a:p>
            <a:pPr indent="0" lvl="0" marL="0" rtl="0" algn="l">
              <a:lnSpc>
                <a:spcPct val="70000"/>
              </a:lnSpc>
              <a:spcBef>
                <a:spcPts val="1000"/>
              </a:spcBef>
              <a:spcAft>
                <a:spcPts val="1000"/>
              </a:spcAft>
              <a:buNone/>
            </a:pPr>
            <a:r>
              <a:rPr lang="en-GB"/>
              <a:t>                                    5 </a:t>
            </a:r>
            <a:endParaRPr/>
          </a:p>
        </p:txBody>
      </p:sp>
      <p:sp>
        <p:nvSpPr>
          <p:cNvPr id="1562" name="Google Shape;1562;p108"/>
          <p:cNvSpPr txBox="1"/>
          <p:nvPr>
            <p:ph idx="1" type="body"/>
          </p:nvPr>
        </p:nvSpPr>
        <p:spPr>
          <a:xfrm>
            <a:off x="3067200" y="4112100"/>
            <a:ext cx="933600" cy="35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 74 %</a:t>
            </a:r>
            <a:endParaRPr/>
          </a:p>
        </p:txBody>
      </p:sp>
      <p:sp>
        <p:nvSpPr>
          <p:cNvPr id="1563" name="Google Shape;1563;p108"/>
          <p:cNvSpPr txBox="1"/>
          <p:nvPr>
            <p:ph idx="1" type="body"/>
          </p:nvPr>
        </p:nvSpPr>
        <p:spPr>
          <a:xfrm>
            <a:off x="324000" y="759300"/>
            <a:ext cx="8237700" cy="720000"/>
          </a:xfrm>
          <a:prstGeom prst="rect">
            <a:avLst/>
          </a:prstGeom>
        </p:spPr>
        <p:txBody>
          <a:bodyPr anchorCtr="0" anchor="t" bIns="0" lIns="0" spcFirstLastPara="1" rIns="0" wrap="square" tIns="0">
            <a:noAutofit/>
          </a:bodyPr>
          <a:lstStyle/>
          <a:p>
            <a:pPr indent="0" lvl="0" marL="0" rtl="0" algn="l">
              <a:lnSpc>
                <a:spcPct val="70000"/>
              </a:lnSpc>
              <a:spcBef>
                <a:spcPts val="0"/>
              </a:spcBef>
              <a:spcAft>
                <a:spcPts val="0"/>
              </a:spcAft>
              <a:buNone/>
            </a:pPr>
            <a:r>
              <a:rPr lang="en-GB"/>
              <a:t>Percentage yield  =   mass of prepared product   × 100 </a:t>
            </a:r>
            <a:endParaRPr/>
          </a:p>
          <a:p>
            <a:pPr indent="0" lvl="0" marL="0" rtl="0" algn="l">
              <a:lnSpc>
                <a:spcPct val="70000"/>
              </a:lnSpc>
              <a:spcBef>
                <a:spcPts val="1000"/>
              </a:spcBef>
              <a:spcAft>
                <a:spcPts val="1000"/>
              </a:spcAft>
              <a:buNone/>
            </a:pPr>
            <a:r>
              <a:rPr lang="en-GB"/>
              <a:t>                                   mass of purchased product </a:t>
            </a:r>
            <a:endParaRPr/>
          </a:p>
        </p:txBody>
      </p:sp>
      <p:cxnSp>
        <p:nvCxnSpPr>
          <p:cNvPr id="1564" name="Google Shape;1564;p108"/>
          <p:cNvCxnSpPr/>
          <p:nvPr/>
        </p:nvCxnSpPr>
        <p:spPr>
          <a:xfrm>
            <a:off x="2991200" y="1029175"/>
            <a:ext cx="3796200" cy="0"/>
          </a:xfrm>
          <a:prstGeom prst="straightConnector1">
            <a:avLst/>
          </a:prstGeom>
          <a:noFill/>
          <a:ln cap="flat" cmpd="sng" w="38100">
            <a:solidFill>
              <a:schemeClr val="dk1"/>
            </a:solidFill>
            <a:prstDash val="solid"/>
            <a:round/>
            <a:headEnd len="med" w="med" type="none"/>
            <a:tailEnd len="med" w="med" type="none"/>
          </a:ln>
        </p:spPr>
      </p:cxnSp>
      <p:cxnSp>
        <p:nvCxnSpPr>
          <p:cNvPr id="1565" name="Google Shape;1565;p108"/>
          <p:cNvCxnSpPr/>
          <p:nvPr/>
        </p:nvCxnSpPr>
        <p:spPr>
          <a:xfrm>
            <a:off x="3019650" y="3687000"/>
            <a:ext cx="4401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09"/>
          <p:cNvSpPr txBox="1"/>
          <p:nvPr>
            <p:ph idx="1" type="subTitle"/>
          </p:nvPr>
        </p:nvSpPr>
        <p:spPr>
          <a:xfrm>
            <a:off x="337825" y="810000"/>
            <a:ext cx="3982200" cy="1323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a:t>What is the percentage yield for a chef that purchases 20 kg of sweet potatoes and, after preparation, has 16 kg of sweet potatoes?</a:t>
            </a:r>
            <a:endParaRPr/>
          </a:p>
        </p:txBody>
      </p:sp>
      <p:sp>
        <p:nvSpPr>
          <p:cNvPr id="1571" name="Google Shape;1571;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572" name="Google Shape;1572;p109"/>
          <p:cNvSpPr txBox="1"/>
          <p:nvPr>
            <p:ph idx="4294967295" type="body"/>
          </p:nvPr>
        </p:nvSpPr>
        <p:spPr>
          <a:xfrm>
            <a:off x="324000" y="2435700"/>
            <a:ext cx="2563200" cy="510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 yield </a:t>
            </a:r>
            <a:r>
              <a:rPr lang="en-GB" sz="1800"/>
              <a:t>=    </a:t>
            </a:r>
            <a:r>
              <a:rPr lang="en-GB" sz="1800"/>
              <a:t>16 × 100</a:t>
            </a:r>
            <a:endParaRPr sz="1800"/>
          </a:p>
          <a:p>
            <a:pPr indent="0" lvl="0" marL="0" rtl="0" algn="l">
              <a:lnSpc>
                <a:spcPct val="70000"/>
              </a:lnSpc>
              <a:spcBef>
                <a:spcPts val="1000"/>
              </a:spcBef>
              <a:spcAft>
                <a:spcPts val="1000"/>
              </a:spcAft>
              <a:buNone/>
            </a:pPr>
            <a:r>
              <a:rPr lang="en-GB" sz="1800"/>
              <a:t>                   20</a:t>
            </a:r>
            <a:endParaRPr sz="1800"/>
          </a:p>
        </p:txBody>
      </p:sp>
      <p:sp>
        <p:nvSpPr>
          <p:cNvPr id="1573" name="Google Shape;1573;p109"/>
          <p:cNvSpPr txBox="1"/>
          <p:nvPr>
            <p:ph idx="4294967295" type="body"/>
          </p:nvPr>
        </p:nvSpPr>
        <p:spPr>
          <a:xfrm>
            <a:off x="1242086" y="3198600"/>
            <a:ext cx="785700" cy="27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 80 %</a:t>
            </a:r>
            <a:endParaRPr sz="1800"/>
          </a:p>
        </p:txBody>
      </p:sp>
      <p:sp>
        <p:nvSpPr>
          <p:cNvPr id="1574" name="Google Shape;1574;p109"/>
          <p:cNvSpPr txBox="1"/>
          <p:nvPr>
            <p:ph idx="1" type="subTitle"/>
          </p:nvPr>
        </p:nvSpPr>
        <p:spPr>
          <a:xfrm>
            <a:off x="4833625" y="810000"/>
            <a:ext cx="3982200" cy="1323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a:t>What is the percentage yield for a chef that purchases 4 kg of mushrooms and, after preparation, has 3.88 kg of mushrooms?</a:t>
            </a:r>
            <a:endParaRPr/>
          </a:p>
        </p:txBody>
      </p:sp>
      <p:sp>
        <p:nvSpPr>
          <p:cNvPr id="1575" name="Google Shape;1575;p109"/>
          <p:cNvSpPr txBox="1"/>
          <p:nvPr>
            <p:ph idx="4294967295" type="body"/>
          </p:nvPr>
        </p:nvSpPr>
        <p:spPr>
          <a:xfrm>
            <a:off x="4819800" y="2435700"/>
            <a:ext cx="3059100" cy="510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 yield  =  3.88 × 100 </a:t>
            </a:r>
            <a:endParaRPr sz="2000">
              <a:latin typeface="Kalam"/>
              <a:ea typeface="Kalam"/>
              <a:cs typeface="Kalam"/>
              <a:sym typeface="Kalam"/>
            </a:endParaRPr>
          </a:p>
          <a:p>
            <a:pPr indent="0" lvl="0" marL="0" rtl="0" algn="l">
              <a:lnSpc>
                <a:spcPct val="70000"/>
              </a:lnSpc>
              <a:spcBef>
                <a:spcPts val="1000"/>
              </a:spcBef>
              <a:spcAft>
                <a:spcPts val="1000"/>
              </a:spcAft>
              <a:buNone/>
            </a:pPr>
            <a:r>
              <a:rPr lang="en-GB" sz="2000">
                <a:latin typeface="Kalam"/>
                <a:ea typeface="Kalam"/>
                <a:cs typeface="Kalam"/>
                <a:sym typeface="Kalam"/>
              </a:rPr>
              <a:t>               4</a:t>
            </a:r>
            <a:endParaRPr sz="2000">
              <a:latin typeface="Kalam"/>
              <a:ea typeface="Kalam"/>
              <a:cs typeface="Kalam"/>
              <a:sym typeface="Kalam"/>
            </a:endParaRPr>
          </a:p>
        </p:txBody>
      </p:sp>
      <p:sp>
        <p:nvSpPr>
          <p:cNvPr id="1576" name="Google Shape;1576;p109"/>
          <p:cNvSpPr txBox="1"/>
          <p:nvPr>
            <p:ph idx="4294967295" type="body"/>
          </p:nvPr>
        </p:nvSpPr>
        <p:spPr>
          <a:xfrm>
            <a:off x="5737868" y="3274800"/>
            <a:ext cx="1266900" cy="27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 97 %</a:t>
            </a:r>
            <a:endParaRPr sz="2000">
              <a:latin typeface="Kalam"/>
              <a:ea typeface="Kalam"/>
              <a:cs typeface="Kalam"/>
              <a:sym typeface="Kalam"/>
            </a:endParaRPr>
          </a:p>
        </p:txBody>
      </p:sp>
      <p:cxnSp>
        <p:nvCxnSpPr>
          <p:cNvPr id="1577" name="Google Shape;1577;p109"/>
          <p:cNvCxnSpPr/>
          <p:nvPr/>
        </p:nvCxnSpPr>
        <p:spPr>
          <a:xfrm>
            <a:off x="1531050" y="2736750"/>
            <a:ext cx="307500" cy="0"/>
          </a:xfrm>
          <a:prstGeom prst="straightConnector1">
            <a:avLst/>
          </a:prstGeom>
          <a:noFill/>
          <a:ln cap="flat" cmpd="sng" w="38100">
            <a:solidFill>
              <a:schemeClr val="dk1"/>
            </a:solidFill>
            <a:prstDash val="solid"/>
            <a:round/>
            <a:headEnd len="med" w="med" type="none"/>
            <a:tailEnd len="med" w="med" type="none"/>
          </a:ln>
        </p:spPr>
      </p:cxnSp>
      <p:cxnSp>
        <p:nvCxnSpPr>
          <p:cNvPr id="1578" name="Google Shape;1578;p109"/>
          <p:cNvCxnSpPr/>
          <p:nvPr/>
        </p:nvCxnSpPr>
        <p:spPr>
          <a:xfrm>
            <a:off x="6195600" y="2766900"/>
            <a:ext cx="5436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graphicFrame>
        <p:nvGraphicFramePr>
          <p:cNvPr id="1584" name="Google Shape;1584;p110"/>
          <p:cNvGraphicFramePr/>
          <p:nvPr/>
        </p:nvGraphicFramePr>
        <p:xfrm>
          <a:off x="4838700" y="651209"/>
          <a:ext cx="3000000" cy="3000000"/>
        </p:xfrm>
        <a:graphic>
          <a:graphicData uri="http://schemas.openxmlformats.org/drawingml/2006/table">
            <a:tbl>
              <a:tblPr>
                <a:noFill/>
                <a:tableStyleId>{5ABEDB2D-1168-43D3-9195-50B46805A593}</a:tableStyleId>
              </a:tblPr>
              <a:tblGrid>
                <a:gridCol w="1846275"/>
                <a:gridCol w="212527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18000">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Percentage yield</a:t>
                      </a:r>
                      <a:endParaRPr sz="1800">
                        <a:latin typeface="Lexend"/>
                        <a:ea typeface="Lexend"/>
                        <a:cs typeface="Lexend"/>
                        <a:sym typeface="Lexend"/>
                      </a:endParaRPr>
                    </a:p>
                  </a:txBody>
                  <a:tcPr marT="0" marB="18000" marR="18000" marL="18000">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Chicken thighs</a:t>
                      </a:r>
                      <a:endParaRPr sz="1800">
                        <a:latin typeface="Lexend"/>
                        <a:ea typeface="Lexend"/>
                        <a:cs typeface="Lexend"/>
                        <a:sym typeface="Lexend"/>
                      </a:endParaRPr>
                    </a:p>
                  </a:txBody>
                  <a:tcPr marT="0" marB="18000" marR="18000" marL="18000">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0" marB="18000" marR="18000" marL="18000">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Pineapple</a:t>
                      </a:r>
                      <a:endParaRPr sz="1800">
                        <a:latin typeface="Lexend"/>
                        <a:ea typeface="Lexend"/>
                        <a:cs typeface="Lexend"/>
                        <a:sym typeface="Lexend"/>
                      </a:endParaRPr>
                    </a:p>
                  </a:txBody>
                  <a:tcPr marT="0" marB="18000" marR="18000" marL="18000">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18000" marR="18000" marL="18000">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585" name="Google Shape;1585;p110"/>
          <p:cNvSpPr/>
          <p:nvPr/>
        </p:nvSpPr>
        <p:spPr>
          <a:xfrm>
            <a:off x="441400" y="627675"/>
            <a:ext cx="4130700" cy="10659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Pineapple Chicken Recipe</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450 g chicken thighs cut into chunks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250 g fresh pineapple chunks</a:t>
            </a:r>
            <a:endParaRPr sz="1800">
              <a:solidFill>
                <a:schemeClr val="dk1"/>
              </a:solidFill>
              <a:latin typeface="Lexend"/>
              <a:ea typeface="Lexend"/>
              <a:cs typeface="Lexend"/>
              <a:sym typeface="Lexend"/>
            </a:endParaRPr>
          </a:p>
        </p:txBody>
      </p:sp>
      <p:sp>
        <p:nvSpPr>
          <p:cNvPr id="1586" name="Google Shape;1586;p110"/>
          <p:cNvSpPr txBox="1"/>
          <p:nvPr>
            <p:ph idx="1" type="body"/>
          </p:nvPr>
        </p:nvSpPr>
        <p:spPr>
          <a:xfrm>
            <a:off x="379525" y="1749900"/>
            <a:ext cx="8440500" cy="31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79 % </a:t>
            </a:r>
            <a:r>
              <a:rPr lang="en-GB" sz="2000"/>
              <a:t>yield</a:t>
            </a:r>
            <a:r>
              <a:rPr lang="en-GB" sz="2000"/>
              <a:t> means that only 79 % of the purchase weight is usable.</a:t>
            </a:r>
            <a:endParaRPr sz="2000">
              <a:latin typeface="Kalam"/>
              <a:ea typeface="Kalam"/>
              <a:cs typeface="Kalam"/>
              <a:sym typeface="Kalam"/>
            </a:endParaRPr>
          </a:p>
        </p:txBody>
      </p:sp>
      <p:sp>
        <p:nvSpPr>
          <p:cNvPr id="1587" name="Google Shape;1587;p110"/>
          <p:cNvSpPr txBox="1"/>
          <p:nvPr>
            <p:ph idx="1" type="body"/>
          </p:nvPr>
        </p:nvSpPr>
        <p:spPr>
          <a:xfrm>
            <a:off x="379525" y="2130900"/>
            <a:ext cx="84405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weight of chicken thighs needs to be purchased to be left with 450 g </a:t>
            </a:r>
            <a:r>
              <a:rPr lang="en-GB" sz="2000">
                <a:solidFill>
                  <a:schemeClr val="accent5"/>
                </a:solidFill>
              </a:rPr>
              <a:t>after</a:t>
            </a:r>
            <a:r>
              <a:rPr lang="en-GB" sz="2000"/>
              <a:t> the preparation is done?</a:t>
            </a:r>
            <a:endParaRPr sz="2000"/>
          </a:p>
        </p:txBody>
      </p:sp>
      <p:sp>
        <p:nvSpPr>
          <p:cNvPr id="1588" name="Google Shape;1588;p110"/>
          <p:cNvSpPr txBox="1"/>
          <p:nvPr>
            <p:ph idx="1" type="body"/>
          </p:nvPr>
        </p:nvSpPr>
        <p:spPr>
          <a:xfrm>
            <a:off x="379525" y="2969100"/>
            <a:ext cx="8440500" cy="7056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sz="2000"/>
              <a:t>EP = 79 % of the </a:t>
            </a:r>
            <a:r>
              <a:rPr lang="en-GB" sz="2000"/>
              <a:t>purchase</a:t>
            </a:r>
            <a:r>
              <a:rPr lang="en-GB" sz="2000"/>
              <a:t> mass</a:t>
            </a:r>
            <a:endParaRPr sz="2000"/>
          </a:p>
          <a:p>
            <a:pPr indent="0" lvl="0" marL="0" rtl="0" algn="l">
              <a:lnSpc>
                <a:spcPct val="85000"/>
              </a:lnSpc>
              <a:spcBef>
                <a:spcPts val="1000"/>
              </a:spcBef>
              <a:spcAft>
                <a:spcPts val="0"/>
              </a:spcAft>
              <a:buNone/>
            </a:pPr>
            <a:r>
              <a:rPr lang="en-GB" sz="2000"/>
              <a:t>450 g = 0.79 × purchase mass </a:t>
            </a:r>
            <a:endParaRPr sz="2000"/>
          </a:p>
          <a:p>
            <a:pPr indent="0" lvl="0" marL="0" rtl="0" algn="l">
              <a:lnSpc>
                <a:spcPct val="85000"/>
              </a:lnSpc>
              <a:spcBef>
                <a:spcPts val="1000"/>
              </a:spcBef>
              <a:spcAft>
                <a:spcPts val="0"/>
              </a:spcAft>
              <a:buNone/>
            </a:pPr>
            <a:r>
              <a:rPr lang="en-GB" sz="2000"/>
              <a:t>Purchase mass    = 450 ÷ 0.79</a:t>
            </a:r>
            <a:endParaRPr sz="2000"/>
          </a:p>
          <a:p>
            <a:pPr indent="0" lvl="0" marL="0" rtl="0" algn="l">
              <a:lnSpc>
                <a:spcPct val="85000"/>
              </a:lnSpc>
              <a:spcBef>
                <a:spcPts val="1000"/>
              </a:spcBef>
              <a:spcAft>
                <a:spcPts val="0"/>
              </a:spcAft>
              <a:buNone/>
            </a:pPr>
            <a:r>
              <a:rPr lang="en-GB" sz="2000"/>
              <a:t>                             = 569.6 g (1 d.p.)</a:t>
            </a:r>
            <a:endParaRPr sz="2000"/>
          </a:p>
          <a:p>
            <a:pPr indent="0" lvl="0" marL="0" rtl="0" algn="l">
              <a:lnSpc>
                <a:spcPct val="85000"/>
              </a:lnSpc>
              <a:spcBef>
                <a:spcPts val="1000"/>
              </a:spcBef>
              <a:spcAft>
                <a:spcPts val="1000"/>
              </a:spcAft>
              <a:buNone/>
            </a:pPr>
            <a:r>
              <a:rPr lang="en-GB" sz="2000"/>
              <a:t>                             = 570 g  (nearest gram)</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11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594" name="Google Shape;1594;p111"/>
          <p:cNvSpPr txBox="1"/>
          <p:nvPr>
            <p:ph idx="1" type="body"/>
          </p:nvPr>
        </p:nvSpPr>
        <p:spPr>
          <a:xfrm>
            <a:off x="379525" y="1749900"/>
            <a:ext cx="84405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weight of pineapple needs to be purchased to be left with 250 g after the preparation is done?</a:t>
            </a:r>
            <a:endParaRPr/>
          </a:p>
        </p:txBody>
      </p:sp>
      <p:sp>
        <p:nvSpPr>
          <p:cNvPr id="1595" name="Google Shape;1595;p111"/>
          <p:cNvSpPr txBox="1"/>
          <p:nvPr>
            <p:ph idx="1" type="body"/>
          </p:nvPr>
        </p:nvSpPr>
        <p:spPr>
          <a:xfrm>
            <a:off x="379525" y="2588100"/>
            <a:ext cx="8440500" cy="705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EP = 52 % of the purchase mass</a:t>
            </a:r>
            <a:endParaRPr/>
          </a:p>
          <a:p>
            <a:pPr indent="0" lvl="0" marL="0" rtl="0" algn="l">
              <a:lnSpc>
                <a:spcPct val="100000"/>
              </a:lnSpc>
              <a:spcBef>
                <a:spcPts val="1000"/>
              </a:spcBef>
              <a:spcAft>
                <a:spcPts val="0"/>
              </a:spcAft>
              <a:buNone/>
            </a:pPr>
            <a:r>
              <a:rPr lang="en-GB"/>
              <a:t>250 g = 0.52 × purchase mass </a:t>
            </a:r>
            <a:endParaRPr/>
          </a:p>
          <a:p>
            <a:pPr indent="0" lvl="0" marL="0" rtl="0" algn="l">
              <a:lnSpc>
                <a:spcPct val="100000"/>
              </a:lnSpc>
              <a:spcBef>
                <a:spcPts val="1000"/>
              </a:spcBef>
              <a:spcAft>
                <a:spcPts val="0"/>
              </a:spcAft>
              <a:buNone/>
            </a:pPr>
            <a:r>
              <a:rPr lang="en-GB"/>
              <a:t>Purchase mass   = 250 ÷ 0.52</a:t>
            </a:r>
            <a:endParaRPr/>
          </a:p>
          <a:p>
            <a:pPr indent="0" lvl="0" marL="0" rtl="0" algn="l">
              <a:lnSpc>
                <a:spcPct val="100000"/>
              </a:lnSpc>
              <a:spcBef>
                <a:spcPts val="1000"/>
              </a:spcBef>
              <a:spcAft>
                <a:spcPts val="0"/>
              </a:spcAft>
              <a:buNone/>
            </a:pPr>
            <a:r>
              <a:rPr lang="en-GB"/>
              <a:t>                             </a:t>
            </a:r>
            <a:r>
              <a:rPr lang="en-GB"/>
              <a:t>=</a:t>
            </a:r>
            <a:r>
              <a:rPr lang="en-GB"/>
              <a:t> 480.8 g (1 d.p.)</a:t>
            </a:r>
            <a:endParaRPr/>
          </a:p>
          <a:p>
            <a:pPr indent="0" lvl="0" marL="0" rtl="0" algn="l">
              <a:lnSpc>
                <a:spcPct val="100000"/>
              </a:lnSpc>
              <a:spcBef>
                <a:spcPts val="1000"/>
              </a:spcBef>
              <a:spcAft>
                <a:spcPts val="1000"/>
              </a:spcAft>
              <a:buNone/>
            </a:pPr>
            <a:r>
              <a:rPr lang="en-GB"/>
              <a:t>                             = 481 g (nearest gram)</a:t>
            </a:r>
            <a:endParaRPr/>
          </a:p>
        </p:txBody>
      </p:sp>
      <p:sp>
        <p:nvSpPr>
          <p:cNvPr id="1596" name="Google Shape;1596;p111"/>
          <p:cNvSpPr/>
          <p:nvPr/>
        </p:nvSpPr>
        <p:spPr>
          <a:xfrm>
            <a:off x="441400" y="627675"/>
            <a:ext cx="4130700" cy="10659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Pineapple Chicken Recipe</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450 g chicken thighs cut into chunks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250 g fresh pineapple chunks</a:t>
            </a:r>
            <a:endParaRPr sz="1800">
              <a:solidFill>
                <a:schemeClr val="dk1"/>
              </a:solidFill>
              <a:latin typeface="Lexend"/>
              <a:ea typeface="Lexend"/>
              <a:cs typeface="Lexend"/>
              <a:sym typeface="Lexend"/>
            </a:endParaRPr>
          </a:p>
        </p:txBody>
      </p:sp>
      <p:graphicFrame>
        <p:nvGraphicFramePr>
          <p:cNvPr id="1597" name="Google Shape;1597;p111"/>
          <p:cNvGraphicFramePr/>
          <p:nvPr/>
        </p:nvGraphicFramePr>
        <p:xfrm>
          <a:off x="4838700" y="651209"/>
          <a:ext cx="3000000" cy="3000000"/>
        </p:xfrm>
        <a:graphic>
          <a:graphicData uri="http://schemas.openxmlformats.org/drawingml/2006/table">
            <a:tbl>
              <a:tblPr>
                <a:noFill/>
                <a:tableStyleId>{5ABEDB2D-1168-43D3-9195-50B46805A593}</a:tableStyleId>
              </a:tblPr>
              <a:tblGrid>
                <a:gridCol w="1846275"/>
                <a:gridCol w="212527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18000">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Percentage yield</a:t>
                      </a:r>
                      <a:endParaRPr sz="1800">
                        <a:latin typeface="Lexend"/>
                        <a:ea typeface="Lexend"/>
                        <a:cs typeface="Lexend"/>
                        <a:sym typeface="Lexend"/>
                      </a:endParaRPr>
                    </a:p>
                  </a:txBody>
                  <a:tcPr marT="0" marB="18000" marR="18000" marL="18000">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Chicken thighs</a:t>
                      </a:r>
                      <a:endParaRPr sz="1800">
                        <a:latin typeface="Lexend"/>
                        <a:ea typeface="Lexend"/>
                        <a:cs typeface="Lexend"/>
                        <a:sym typeface="Lexend"/>
                      </a:endParaRPr>
                    </a:p>
                  </a:txBody>
                  <a:tcPr marT="0" marB="18000" marR="18000" marL="18000">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0" marB="18000" marR="18000" marL="18000">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Pineapple</a:t>
                      </a:r>
                      <a:endParaRPr sz="1800">
                        <a:latin typeface="Lexend"/>
                        <a:ea typeface="Lexend"/>
                        <a:cs typeface="Lexend"/>
                        <a:sym typeface="Lexend"/>
                      </a:endParaRPr>
                    </a:p>
                  </a:txBody>
                  <a:tcPr marT="0" marB="18000" marR="18000" marL="18000">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52%</a:t>
                      </a:r>
                      <a:endParaRPr sz="1800">
                        <a:latin typeface="Lexend"/>
                        <a:ea typeface="Lexend"/>
                        <a:cs typeface="Lexend"/>
                        <a:sym typeface="Lexend"/>
                      </a:endParaRPr>
                    </a:p>
                  </a:txBody>
                  <a:tcPr marT="0" marB="18000" marR="18000" marL="18000">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112"/>
          <p:cNvSpPr txBox="1"/>
          <p:nvPr>
            <p:ph idx="1" type="subTitle"/>
          </p:nvPr>
        </p:nvSpPr>
        <p:spPr>
          <a:xfrm>
            <a:off x="337825" y="810000"/>
            <a:ext cx="3982200" cy="2321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The percentage </a:t>
            </a:r>
            <a:r>
              <a:rPr lang="en-GB"/>
              <a:t>yield</a:t>
            </a:r>
            <a:r>
              <a:rPr lang="en-GB"/>
              <a:t> of a butternut squash is 66 %.</a:t>
            </a:r>
            <a:endParaRPr/>
          </a:p>
          <a:p>
            <a:pPr indent="0" lvl="0" marL="0" rtl="0" algn="l">
              <a:lnSpc>
                <a:spcPct val="115000"/>
              </a:lnSpc>
              <a:spcBef>
                <a:spcPts val="1000"/>
              </a:spcBef>
              <a:spcAft>
                <a:spcPts val="0"/>
              </a:spcAft>
              <a:buNone/>
            </a:pPr>
            <a:r>
              <a:rPr lang="en-GB"/>
              <a:t>A restaurant needs 10 kg of butternut squash to make soup.</a:t>
            </a:r>
            <a:endParaRPr/>
          </a:p>
          <a:p>
            <a:pPr indent="0" lvl="0" marL="0" rtl="0" algn="l">
              <a:lnSpc>
                <a:spcPct val="115000"/>
              </a:lnSpc>
              <a:spcBef>
                <a:spcPts val="1000"/>
              </a:spcBef>
              <a:spcAft>
                <a:spcPts val="0"/>
              </a:spcAft>
              <a:buNone/>
            </a:pPr>
            <a:r>
              <a:rPr lang="en-GB"/>
              <a:t>How many kilograms of butternut squash do they need to buy?</a:t>
            </a:r>
            <a:endParaRPr/>
          </a:p>
          <a:p>
            <a:pPr indent="0" lvl="0" marL="0" rtl="0" algn="l">
              <a:lnSpc>
                <a:spcPct val="115000"/>
              </a:lnSpc>
              <a:spcBef>
                <a:spcPts val="1000"/>
              </a:spcBef>
              <a:spcAft>
                <a:spcPts val="1000"/>
              </a:spcAft>
              <a:buNone/>
            </a:pPr>
            <a:r>
              <a:rPr lang="en-GB"/>
              <a:t>Give your answer to 1 decimal place.</a:t>
            </a:r>
            <a:endParaRPr/>
          </a:p>
        </p:txBody>
      </p:sp>
      <p:sp>
        <p:nvSpPr>
          <p:cNvPr id="1603" name="Google Shape;1603;p11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04" name="Google Shape;1604;p112"/>
          <p:cNvSpPr txBox="1"/>
          <p:nvPr>
            <p:ph idx="2" type="subTitle"/>
          </p:nvPr>
        </p:nvSpPr>
        <p:spPr>
          <a:xfrm>
            <a:off x="4824000" y="810000"/>
            <a:ext cx="3982200" cy="2835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a:t>The percentage yield of an onion is 89 %.</a:t>
            </a:r>
            <a:endParaRPr/>
          </a:p>
          <a:p>
            <a:pPr indent="0" lvl="0" marL="0" rtl="0" algn="l">
              <a:lnSpc>
                <a:spcPct val="115000"/>
              </a:lnSpc>
              <a:spcBef>
                <a:spcPts val="1000"/>
              </a:spcBef>
              <a:spcAft>
                <a:spcPts val="0"/>
              </a:spcAft>
              <a:buClr>
                <a:schemeClr val="dk1"/>
              </a:buClr>
              <a:buSzPts val="1100"/>
              <a:buFont typeface="Arial"/>
              <a:buNone/>
            </a:pPr>
            <a:r>
              <a:rPr lang="en-GB"/>
              <a:t>A restaurant needs 5 kg of onions to make soup.</a:t>
            </a:r>
            <a:endParaRPr/>
          </a:p>
          <a:p>
            <a:pPr indent="0" lvl="0" marL="0" rtl="0" algn="l">
              <a:lnSpc>
                <a:spcPct val="115000"/>
              </a:lnSpc>
              <a:spcBef>
                <a:spcPts val="1000"/>
              </a:spcBef>
              <a:spcAft>
                <a:spcPts val="0"/>
              </a:spcAft>
              <a:buClr>
                <a:schemeClr val="dk1"/>
              </a:buClr>
              <a:buSzPts val="1100"/>
              <a:buFont typeface="Arial"/>
              <a:buNone/>
            </a:pPr>
            <a:r>
              <a:rPr lang="en-GB"/>
              <a:t>How many kilograms of onions do they need to buy?</a:t>
            </a:r>
            <a:endParaRPr/>
          </a:p>
          <a:p>
            <a:pPr indent="0" lvl="0" marL="0" rtl="0" algn="l">
              <a:lnSpc>
                <a:spcPct val="115000"/>
              </a:lnSpc>
              <a:spcBef>
                <a:spcPts val="1000"/>
              </a:spcBef>
              <a:spcAft>
                <a:spcPts val="1000"/>
              </a:spcAft>
              <a:buClr>
                <a:schemeClr val="dk1"/>
              </a:buClr>
              <a:buSzPts val="1100"/>
              <a:buFont typeface="Arial"/>
              <a:buNone/>
            </a:pPr>
            <a:r>
              <a:rPr lang="en-GB"/>
              <a:t>Give your answer to 1 decimal place.</a:t>
            </a:r>
            <a:endParaRPr/>
          </a:p>
        </p:txBody>
      </p:sp>
      <p:sp>
        <p:nvSpPr>
          <p:cNvPr id="1605" name="Google Shape;1605;p112"/>
          <p:cNvSpPr txBox="1"/>
          <p:nvPr>
            <p:ph idx="1" type="subTitle"/>
          </p:nvPr>
        </p:nvSpPr>
        <p:spPr>
          <a:xfrm>
            <a:off x="337825" y="3781800"/>
            <a:ext cx="3982200" cy="10188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a:t>10</a:t>
            </a:r>
            <a:r>
              <a:rPr lang="en-GB"/>
              <a:t> kg = 0.66 × purchase mass</a:t>
            </a:r>
            <a:endParaRPr/>
          </a:p>
          <a:p>
            <a:pPr indent="0" lvl="0" marL="0" rtl="0" algn="l">
              <a:lnSpc>
                <a:spcPct val="85000"/>
              </a:lnSpc>
              <a:spcBef>
                <a:spcPts val="1000"/>
              </a:spcBef>
              <a:spcAft>
                <a:spcPts val="0"/>
              </a:spcAft>
              <a:buNone/>
            </a:pPr>
            <a:r>
              <a:rPr lang="en-GB"/>
              <a:t>Purchase mass  = 10 ÷ 0.66</a:t>
            </a:r>
            <a:endParaRPr/>
          </a:p>
          <a:p>
            <a:pPr indent="0" lvl="0" marL="0" rtl="0" algn="l">
              <a:lnSpc>
                <a:spcPct val="85000"/>
              </a:lnSpc>
              <a:spcBef>
                <a:spcPts val="1000"/>
              </a:spcBef>
              <a:spcAft>
                <a:spcPts val="1000"/>
              </a:spcAft>
              <a:buClr>
                <a:schemeClr val="dk1"/>
              </a:buClr>
              <a:buSzPts val="1100"/>
              <a:buFont typeface="Arial"/>
              <a:buNone/>
            </a:pPr>
            <a:r>
              <a:rPr lang="en-GB"/>
              <a:t>                            = 15.2 kg</a:t>
            </a:r>
            <a:endParaRPr/>
          </a:p>
        </p:txBody>
      </p:sp>
      <p:sp>
        <p:nvSpPr>
          <p:cNvPr id="1606" name="Google Shape;1606;p112"/>
          <p:cNvSpPr txBox="1"/>
          <p:nvPr>
            <p:ph idx="1" type="subTitle"/>
          </p:nvPr>
        </p:nvSpPr>
        <p:spPr>
          <a:xfrm>
            <a:off x="4833625" y="3781800"/>
            <a:ext cx="4058100" cy="10188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sz="2000">
                <a:latin typeface="Kalam"/>
                <a:ea typeface="Kalam"/>
                <a:cs typeface="Kalam"/>
                <a:sym typeface="Kalam"/>
              </a:rPr>
              <a:t>5</a:t>
            </a:r>
            <a:r>
              <a:rPr lang="en-GB" sz="2000">
                <a:latin typeface="Kalam"/>
                <a:ea typeface="Kalam"/>
                <a:cs typeface="Kalam"/>
                <a:sym typeface="Kalam"/>
              </a:rPr>
              <a:t> kg = 0.89 × purchase mass</a:t>
            </a:r>
            <a:endParaRPr sz="2000">
              <a:latin typeface="Kalam"/>
              <a:ea typeface="Kalam"/>
              <a:cs typeface="Kalam"/>
              <a:sym typeface="Kalam"/>
            </a:endParaRPr>
          </a:p>
          <a:p>
            <a:pPr indent="0" lvl="0" marL="0" rtl="0" algn="l">
              <a:lnSpc>
                <a:spcPct val="85000"/>
              </a:lnSpc>
              <a:spcBef>
                <a:spcPts val="1000"/>
              </a:spcBef>
              <a:spcAft>
                <a:spcPts val="0"/>
              </a:spcAft>
              <a:buNone/>
            </a:pPr>
            <a:r>
              <a:rPr lang="en-GB" sz="2000">
                <a:latin typeface="Kalam"/>
                <a:ea typeface="Kalam"/>
                <a:cs typeface="Kalam"/>
                <a:sym typeface="Kalam"/>
              </a:rPr>
              <a:t>Purchase mass = 5 ÷ 0.89 = 5.61…</a:t>
            </a:r>
            <a:endParaRPr sz="2000">
              <a:latin typeface="Kalam"/>
              <a:ea typeface="Kalam"/>
              <a:cs typeface="Kalam"/>
              <a:sym typeface="Kalam"/>
            </a:endParaRPr>
          </a:p>
          <a:p>
            <a:pPr indent="0" lvl="0" marL="0" rtl="0" algn="l">
              <a:lnSpc>
                <a:spcPct val="85000"/>
              </a:lnSpc>
              <a:spcBef>
                <a:spcPts val="1000"/>
              </a:spcBef>
              <a:spcAft>
                <a:spcPts val="1000"/>
              </a:spcAft>
              <a:buNone/>
            </a:pPr>
            <a:r>
              <a:rPr lang="en-GB" sz="2000">
                <a:latin typeface="Kalam"/>
                <a:ea typeface="Kalam"/>
                <a:cs typeface="Kalam"/>
                <a:sym typeface="Kalam"/>
              </a:rPr>
              <a:t>                 = 5.7 kg*</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113"/>
          <p:cNvSpPr txBox="1"/>
          <p:nvPr>
            <p:ph idx="1" type="subTitle"/>
          </p:nvPr>
        </p:nvSpPr>
        <p:spPr>
          <a:xfrm>
            <a:off x="337825" y="810000"/>
            <a:ext cx="3982200" cy="2321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 Why did we round up and not down?</a:t>
            </a:r>
            <a:endParaRPr/>
          </a:p>
          <a:p>
            <a:pPr indent="0" lvl="0" marL="0" rtl="0" algn="l">
              <a:lnSpc>
                <a:spcPct val="115000"/>
              </a:lnSpc>
              <a:spcBef>
                <a:spcPts val="1000"/>
              </a:spcBef>
              <a:spcAft>
                <a:spcPts val="0"/>
              </a:spcAft>
              <a:buNone/>
            </a:pPr>
            <a:r>
              <a:rPr lang="en-GB">
                <a:latin typeface="Kalam"/>
                <a:ea typeface="Kalam"/>
                <a:cs typeface="Kalam"/>
                <a:sym typeface="Kalam"/>
              </a:rPr>
              <a:t>If the restaurant only bought 5.6 kg of onions then that would result in 4.984kg after preparation.</a:t>
            </a:r>
            <a:endParaRPr>
              <a:latin typeface="Kalam"/>
              <a:ea typeface="Kalam"/>
              <a:cs typeface="Kalam"/>
              <a:sym typeface="Kalam"/>
            </a:endParaRPr>
          </a:p>
          <a:p>
            <a:pPr indent="0" lvl="0" marL="0" rtl="0" algn="l">
              <a:lnSpc>
                <a:spcPct val="115000"/>
              </a:lnSpc>
              <a:spcBef>
                <a:spcPts val="1000"/>
              </a:spcBef>
              <a:spcAft>
                <a:spcPts val="0"/>
              </a:spcAft>
              <a:buNone/>
            </a:pPr>
            <a:r>
              <a:rPr lang="en-GB">
                <a:latin typeface="Kalam"/>
                <a:ea typeface="Kalam"/>
                <a:cs typeface="Kalam"/>
                <a:sym typeface="Kalam"/>
              </a:rPr>
              <a:t>The restaurant needs 5 kg.</a:t>
            </a:r>
            <a:endParaRPr>
              <a:latin typeface="Kalam"/>
              <a:ea typeface="Kalam"/>
              <a:cs typeface="Kalam"/>
              <a:sym typeface="Kalam"/>
            </a:endParaRPr>
          </a:p>
          <a:p>
            <a:pPr indent="0" lvl="0" marL="0" rtl="0" algn="l">
              <a:lnSpc>
                <a:spcPct val="115000"/>
              </a:lnSpc>
              <a:spcBef>
                <a:spcPts val="1000"/>
              </a:spcBef>
              <a:spcAft>
                <a:spcPts val="0"/>
              </a:spcAft>
              <a:buNone/>
            </a:pPr>
            <a:r>
              <a:rPr lang="en-GB">
                <a:latin typeface="Kalam"/>
                <a:ea typeface="Kalam"/>
                <a:cs typeface="Kalam"/>
                <a:sym typeface="Kalam"/>
              </a:rPr>
              <a:t>So we round up to ensure we have enough.</a:t>
            </a:r>
            <a:endParaRPr>
              <a:latin typeface="Kalam"/>
              <a:ea typeface="Kalam"/>
              <a:cs typeface="Kalam"/>
              <a:sym typeface="Kalam"/>
            </a:endParaRPr>
          </a:p>
          <a:p>
            <a:pPr indent="0" lvl="0" marL="0" rtl="0" algn="l">
              <a:lnSpc>
                <a:spcPct val="115000"/>
              </a:lnSpc>
              <a:spcBef>
                <a:spcPts val="1000"/>
              </a:spcBef>
              <a:spcAft>
                <a:spcPts val="1000"/>
              </a:spcAft>
              <a:buNone/>
            </a:pPr>
            <a:r>
              <a:t/>
            </a:r>
            <a:endParaRPr/>
          </a:p>
        </p:txBody>
      </p:sp>
      <p:sp>
        <p:nvSpPr>
          <p:cNvPr id="1612" name="Google Shape;1612;p11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13" name="Google Shape;1613;p113"/>
          <p:cNvSpPr txBox="1"/>
          <p:nvPr>
            <p:ph idx="2" type="subTitle"/>
          </p:nvPr>
        </p:nvSpPr>
        <p:spPr>
          <a:xfrm>
            <a:off x="4824000" y="810000"/>
            <a:ext cx="3982200" cy="2835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a:t>The percentage yield of an onion is 89 %.</a:t>
            </a:r>
            <a:endParaRPr/>
          </a:p>
          <a:p>
            <a:pPr indent="0" lvl="0" marL="0" rtl="0" algn="l">
              <a:lnSpc>
                <a:spcPct val="115000"/>
              </a:lnSpc>
              <a:spcBef>
                <a:spcPts val="1000"/>
              </a:spcBef>
              <a:spcAft>
                <a:spcPts val="0"/>
              </a:spcAft>
              <a:buClr>
                <a:schemeClr val="dk1"/>
              </a:buClr>
              <a:buSzPts val="1100"/>
              <a:buFont typeface="Arial"/>
              <a:buNone/>
            </a:pPr>
            <a:r>
              <a:rPr lang="en-GB"/>
              <a:t>A restaurant needs 5 kg of onions to make soup.</a:t>
            </a:r>
            <a:endParaRPr/>
          </a:p>
          <a:p>
            <a:pPr indent="0" lvl="0" marL="0" rtl="0" algn="l">
              <a:lnSpc>
                <a:spcPct val="115000"/>
              </a:lnSpc>
              <a:spcBef>
                <a:spcPts val="1000"/>
              </a:spcBef>
              <a:spcAft>
                <a:spcPts val="0"/>
              </a:spcAft>
              <a:buClr>
                <a:schemeClr val="dk1"/>
              </a:buClr>
              <a:buSzPts val="1100"/>
              <a:buFont typeface="Arial"/>
              <a:buNone/>
            </a:pPr>
            <a:r>
              <a:rPr lang="en-GB"/>
              <a:t>How many kilograms of onions do they need to buy?</a:t>
            </a:r>
            <a:endParaRPr/>
          </a:p>
          <a:p>
            <a:pPr indent="0" lvl="0" marL="0" rtl="0" algn="l">
              <a:lnSpc>
                <a:spcPct val="115000"/>
              </a:lnSpc>
              <a:spcBef>
                <a:spcPts val="1000"/>
              </a:spcBef>
              <a:spcAft>
                <a:spcPts val="1000"/>
              </a:spcAft>
              <a:buClr>
                <a:schemeClr val="dk1"/>
              </a:buClr>
              <a:buSzPts val="1100"/>
              <a:buFont typeface="Arial"/>
              <a:buNone/>
            </a:pPr>
            <a:r>
              <a:rPr lang="en-GB"/>
              <a:t>Give your answer to 1 decimal place.</a:t>
            </a:r>
            <a:endParaRPr/>
          </a:p>
        </p:txBody>
      </p:sp>
      <p:sp>
        <p:nvSpPr>
          <p:cNvPr id="1614" name="Google Shape;1614;p113"/>
          <p:cNvSpPr txBox="1"/>
          <p:nvPr>
            <p:ph idx="1" type="subTitle"/>
          </p:nvPr>
        </p:nvSpPr>
        <p:spPr>
          <a:xfrm>
            <a:off x="4833625" y="3781800"/>
            <a:ext cx="4058100" cy="10188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sz="2000">
                <a:latin typeface="Kalam"/>
                <a:ea typeface="Kalam"/>
                <a:cs typeface="Kalam"/>
                <a:sym typeface="Kalam"/>
              </a:rPr>
              <a:t>5 kg = 0.89 × purchase mass</a:t>
            </a:r>
            <a:endParaRPr sz="2000">
              <a:latin typeface="Kalam"/>
              <a:ea typeface="Kalam"/>
              <a:cs typeface="Kalam"/>
              <a:sym typeface="Kalam"/>
            </a:endParaRPr>
          </a:p>
          <a:p>
            <a:pPr indent="0" lvl="0" marL="0" rtl="0" algn="l">
              <a:lnSpc>
                <a:spcPct val="85000"/>
              </a:lnSpc>
              <a:spcBef>
                <a:spcPts val="1000"/>
              </a:spcBef>
              <a:spcAft>
                <a:spcPts val="0"/>
              </a:spcAft>
              <a:buNone/>
            </a:pPr>
            <a:r>
              <a:rPr lang="en-GB" sz="2000">
                <a:latin typeface="Kalam"/>
                <a:ea typeface="Kalam"/>
                <a:cs typeface="Kalam"/>
                <a:sym typeface="Kalam"/>
              </a:rPr>
              <a:t>Purchase mass	= 5 ÷ 0.89 = 5.61…</a:t>
            </a:r>
            <a:endParaRPr sz="2000">
              <a:latin typeface="Kalam"/>
              <a:ea typeface="Kalam"/>
              <a:cs typeface="Kalam"/>
              <a:sym typeface="Kalam"/>
            </a:endParaRPr>
          </a:p>
          <a:p>
            <a:pPr indent="0" lvl="0" marL="0" rtl="0" algn="l">
              <a:lnSpc>
                <a:spcPct val="85000"/>
              </a:lnSpc>
              <a:spcBef>
                <a:spcPts val="1000"/>
              </a:spcBef>
              <a:spcAft>
                <a:spcPts val="1000"/>
              </a:spcAft>
              <a:buNone/>
            </a:pPr>
            <a:r>
              <a:rPr lang="en-GB" sz="2000">
                <a:latin typeface="Kalam"/>
                <a:ea typeface="Kalam"/>
                <a:cs typeface="Kalam"/>
                <a:sym typeface="Kalam"/>
              </a:rPr>
              <a:t>                  = 5.7 kg*</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11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20" name="Google Shape;1620;p11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a:t>
            </a:r>
            <a:r>
              <a:rPr lang="en-GB" sz="2000"/>
              <a:t>Calculate the purchase mass in order to have 1 kg of each food listed in the table.</a:t>
            </a:r>
            <a:endParaRPr sz="2000"/>
          </a:p>
          <a:p>
            <a:pPr indent="0" lvl="0" marL="0" rtl="0" algn="l">
              <a:spcBef>
                <a:spcPts val="1000"/>
              </a:spcBef>
              <a:spcAft>
                <a:spcPts val="1000"/>
              </a:spcAft>
              <a:buNone/>
            </a:pPr>
            <a:r>
              <a:rPr lang="en-GB" sz="2000"/>
              <a:t>(Give your answers to the nearest gram)</a:t>
            </a:r>
            <a:endParaRPr sz="2000"/>
          </a:p>
        </p:txBody>
      </p:sp>
      <p:graphicFrame>
        <p:nvGraphicFramePr>
          <p:cNvPr id="1621" name="Google Shape;1621;p114"/>
          <p:cNvGraphicFramePr/>
          <p:nvPr/>
        </p:nvGraphicFramePr>
        <p:xfrm>
          <a:off x="571500" y="2313447"/>
          <a:ext cx="3000000" cy="3000000"/>
        </p:xfrm>
        <a:graphic>
          <a:graphicData uri="http://schemas.openxmlformats.org/drawingml/2006/table">
            <a:tbl>
              <a:tblPr>
                <a:noFill/>
                <a:tableStyleId>{5ABEDB2D-1168-43D3-9195-50B46805A593}</a:tableStyleId>
              </a:tblPr>
              <a:tblGrid>
                <a:gridCol w="1708650"/>
                <a:gridCol w="2028125"/>
                <a:gridCol w="2100225"/>
                <a:gridCol w="2250500"/>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Percentage yield</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Calculation</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Mass to purchase</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Beef</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80 %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Cauliflower</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55 %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Leeks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Parsnips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Whole salmon</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70 %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11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27" name="Google Shape;1627;p115"/>
          <p:cNvSpPr txBox="1"/>
          <p:nvPr>
            <p:ph idx="1" type="body"/>
          </p:nvPr>
        </p:nvSpPr>
        <p:spPr>
          <a:xfrm>
            <a:off x="324000" y="3120475"/>
            <a:ext cx="8237700" cy="6594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a) Calculate the mass (to the nearest gram) for each vegetable that the restaurant </a:t>
            </a:r>
            <a:r>
              <a:rPr lang="en-GB" sz="2000">
                <a:solidFill>
                  <a:schemeClr val="accent5"/>
                </a:solidFill>
              </a:rPr>
              <a:t>needs</a:t>
            </a:r>
            <a:r>
              <a:rPr lang="en-GB" sz="2000"/>
              <a:t> to buy to ensure they can make 50 servings of soup. </a:t>
            </a:r>
            <a:endParaRPr sz="2000"/>
          </a:p>
        </p:txBody>
      </p:sp>
      <p:graphicFrame>
        <p:nvGraphicFramePr>
          <p:cNvPr id="1628" name="Google Shape;1628;p115"/>
          <p:cNvGraphicFramePr/>
          <p:nvPr/>
        </p:nvGraphicFramePr>
        <p:xfrm>
          <a:off x="876300" y="713247"/>
          <a:ext cx="3000000" cy="3000000"/>
        </p:xfrm>
        <a:graphic>
          <a:graphicData uri="http://schemas.openxmlformats.org/drawingml/2006/table">
            <a:tbl>
              <a:tblPr>
                <a:noFill/>
                <a:tableStyleId>{5ABEDB2D-1168-43D3-9195-50B46805A593}</a:tableStyleId>
              </a:tblPr>
              <a:tblGrid>
                <a:gridCol w="1226350"/>
                <a:gridCol w="967525"/>
                <a:gridCol w="96752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 yield</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Cost per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Cabbage</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Carrots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97 %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77 p</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Celery</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Onions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£1.07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Potatoes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81 %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£1.55</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629" name="Google Shape;1629;p115"/>
          <p:cNvSpPr/>
          <p:nvPr/>
        </p:nvSpPr>
        <p:spPr>
          <a:xfrm>
            <a:off x="4556200" y="689713"/>
            <a:ext cx="4130700" cy="21882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Vegetables for Soup (5 servings)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560 g chopped onions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350 g chopped carrots </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450 g chopped celery</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620 g potatoes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1.27 kg cabbage </a:t>
            </a:r>
            <a:endParaRPr sz="1800">
              <a:solidFill>
                <a:schemeClr val="dk1"/>
              </a:solidFill>
              <a:latin typeface="Lexend"/>
              <a:ea typeface="Lexend"/>
              <a:cs typeface="Lexend"/>
              <a:sym typeface="Lexend"/>
            </a:endParaRPr>
          </a:p>
        </p:txBody>
      </p:sp>
      <p:sp>
        <p:nvSpPr>
          <p:cNvPr id="1630" name="Google Shape;1630;p115"/>
          <p:cNvSpPr txBox="1"/>
          <p:nvPr>
            <p:ph idx="1" type="body"/>
          </p:nvPr>
        </p:nvSpPr>
        <p:spPr>
          <a:xfrm>
            <a:off x="324000" y="622525"/>
            <a:ext cx="296700" cy="3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endParaRPr sz="2000"/>
          </a:p>
        </p:txBody>
      </p:sp>
      <p:sp>
        <p:nvSpPr>
          <p:cNvPr id="1631" name="Google Shape;1631;p115"/>
          <p:cNvSpPr txBox="1"/>
          <p:nvPr/>
        </p:nvSpPr>
        <p:spPr>
          <a:xfrm>
            <a:off x="6519625" y="3791600"/>
            <a:ext cx="2633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5" name="Shape 1635"/>
        <p:cNvGrpSpPr/>
        <p:nvPr/>
      </p:nvGrpSpPr>
      <p:grpSpPr>
        <a:xfrm>
          <a:off x="0" y="0"/>
          <a:ext cx="0" cy="0"/>
          <a:chOff x="0" y="0"/>
          <a:chExt cx="0" cy="0"/>
        </a:xfrm>
      </p:grpSpPr>
      <p:sp>
        <p:nvSpPr>
          <p:cNvPr id="1636" name="Google Shape;1636;p11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37" name="Google Shape;1637;p116"/>
          <p:cNvSpPr txBox="1"/>
          <p:nvPr>
            <p:ph idx="1" type="body"/>
          </p:nvPr>
        </p:nvSpPr>
        <p:spPr>
          <a:xfrm>
            <a:off x="324000" y="3216350"/>
            <a:ext cx="8237700" cy="56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 Assuming the cost is proportional to the mass, what is the cost to buy the necessary vegetables? </a:t>
            </a:r>
            <a:r>
              <a:rPr lang="en-GB" sz="2000"/>
              <a:t>(Round up to the nearest penny.)</a:t>
            </a:r>
            <a:endParaRPr sz="2000"/>
          </a:p>
        </p:txBody>
      </p:sp>
      <p:graphicFrame>
        <p:nvGraphicFramePr>
          <p:cNvPr id="1638" name="Google Shape;1638;p116"/>
          <p:cNvGraphicFramePr/>
          <p:nvPr/>
        </p:nvGraphicFramePr>
        <p:xfrm>
          <a:off x="876300" y="713247"/>
          <a:ext cx="3000000" cy="3000000"/>
        </p:xfrm>
        <a:graphic>
          <a:graphicData uri="http://schemas.openxmlformats.org/drawingml/2006/table">
            <a:tbl>
              <a:tblPr>
                <a:noFill/>
                <a:tableStyleId>{5ABEDB2D-1168-43D3-9195-50B46805A593}</a:tableStyleId>
              </a:tblPr>
              <a:tblGrid>
                <a:gridCol w="1226350"/>
                <a:gridCol w="967525"/>
                <a:gridCol w="96752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 yield</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Cost per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Cabbage</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Carrots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97 %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77 p</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Celery</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Onions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£1.07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Potatoes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81 %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£1.55</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639" name="Google Shape;1639;p116"/>
          <p:cNvSpPr/>
          <p:nvPr/>
        </p:nvSpPr>
        <p:spPr>
          <a:xfrm>
            <a:off x="4556200" y="689713"/>
            <a:ext cx="4130700" cy="21882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Vegetables for Soup (5 servings)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560 g chopped onions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350 g chopped carrots </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450 g chopped celery</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620 g potatoes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1.27 kg cabbage </a:t>
            </a:r>
            <a:endParaRPr sz="1800">
              <a:solidFill>
                <a:schemeClr val="dk1"/>
              </a:solidFill>
              <a:latin typeface="Lexend"/>
              <a:ea typeface="Lexend"/>
              <a:cs typeface="Lexend"/>
              <a:sym typeface="Lexend"/>
            </a:endParaRPr>
          </a:p>
        </p:txBody>
      </p:sp>
      <p:sp>
        <p:nvSpPr>
          <p:cNvPr id="1640" name="Google Shape;1640;p116"/>
          <p:cNvSpPr txBox="1"/>
          <p:nvPr>
            <p:ph idx="1" type="body"/>
          </p:nvPr>
        </p:nvSpPr>
        <p:spPr>
          <a:xfrm>
            <a:off x="324000" y="622525"/>
            <a:ext cx="296700" cy="3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endParaRPr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11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46" name="Google Shape;1646;p117"/>
          <p:cNvSpPr txBox="1"/>
          <p:nvPr>
            <p:ph idx="1" type="body"/>
          </p:nvPr>
        </p:nvSpPr>
        <p:spPr>
          <a:xfrm>
            <a:off x="324000" y="3216350"/>
            <a:ext cx="8237700" cy="56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 How much do you think the restaurant should charge for a bowl of soup?</a:t>
            </a:r>
            <a:endParaRPr sz="2000"/>
          </a:p>
        </p:txBody>
      </p:sp>
      <p:graphicFrame>
        <p:nvGraphicFramePr>
          <p:cNvPr id="1647" name="Google Shape;1647;p117"/>
          <p:cNvGraphicFramePr/>
          <p:nvPr/>
        </p:nvGraphicFramePr>
        <p:xfrm>
          <a:off x="876300" y="713247"/>
          <a:ext cx="3000000" cy="3000000"/>
        </p:xfrm>
        <a:graphic>
          <a:graphicData uri="http://schemas.openxmlformats.org/drawingml/2006/table">
            <a:tbl>
              <a:tblPr>
                <a:noFill/>
                <a:tableStyleId>{5ABEDB2D-1168-43D3-9195-50B46805A593}</a:tableStyleId>
              </a:tblPr>
              <a:tblGrid>
                <a:gridCol w="1226350"/>
                <a:gridCol w="967525"/>
                <a:gridCol w="96752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 yield</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Cost per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Cabbage</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Carrots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97 %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77 p</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Celery</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Onions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£1.07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Potatoes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81 %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£1.55</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648" name="Google Shape;1648;p117"/>
          <p:cNvSpPr/>
          <p:nvPr/>
        </p:nvSpPr>
        <p:spPr>
          <a:xfrm>
            <a:off x="4556200" y="689713"/>
            <a:ext cx="4130700" cy="21882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54000" lIns="54000" spcFirstLastPara="1" rIns="54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Vegetables for Soup (5 servings)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560 g chopped onions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350 g chopped carrots </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450 g chopped celery</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620 g potatoes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1.27 kg cabbage </a:t>
            </a:r>
            <a:endParaRPr sz="1800">
              <a:solidFill>
                <a:schemeClr val="dk1"/>
              </a:solidFill>
              <a:latin typeface="Lexend"/>
              <a:ea typeface="Lexend"/>
              <a:cs typeface="Lexend"/>
              <a:sym typeface="Lexend"/>
            </a:endParaRPr>
          </a:p>
        </p:txBody>
      </p:sp>
      <p:sp>
        <p:nvSpPr>
          <p:cNvPr id="1649" name="Google Shape;1649;p117"/>
          <p:cNvSpPr txBox="1"/>
          <p:nvPr>
            <p:ph idx="1" type="body"/>
          </p:nvPr>
        </p:nvSpPr>
        <p:spPr>
          <a:xfrm>
            <a:off x="324000" y="622525"/>
            <a:ext cx="296700" cy="3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endParaRPr sz="2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11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55" name="Google Shape;1655;p118"/>
          <p:cNvSpPr txBox="1"/>
          <p:nvPr>
            <p:ph idx="1" type="body"/>
          </p:nvPr>
        </p:nvSpPr>
        <p:spPr>
          <a:xfrm>
            <a:off x="324000" y="698725"/>
            <a:ext cx="8237700" cy="77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a:t>
            </a:r>
            <a:r>
              <a:rPr lang="en-GB" sz="2000"/>
              <a:t>Calculate the </a:t>
            </a:r>
            <a:r>
              <a:rPr lang="en-GB" sz="2000"/>
              <a:t>purchase</a:t>
            </a:r>
            <a:r>
              <a:rPr lang="en-GB" sz="2000"/>
              <a:t> mass in order to have 1 kg of each food listed in the table.</a:t>
            </a:r>
            <a:endParaRPr sz="2000"/>
          </a:p>
          <a:p>
            <a:pPr indent="0" lvl="0" marL="0" rtl="0" algn="l">
              <a:spcBef>
                <a:spcPts val="1000"/>
              </a:spcBef>
              <a:spcAft>
                <a:spcPts val="0"/>
              </a:spcAft>
              <a:buNone/>
            </a:pPr>
            <a:r>
              <a:rPr lang="en-GB" sz="2000"/>
              <a:t>(Give your answers to the nearest gram)</a:t>
            </a:r>
            <a:endParaRPr sz="2000"/>
          </a:p>
          <a:p>
            <a:pPr indent="0" lvl="0" marL="0" rtl="0" algn="l">
              <a:spcBef>
                <a:spcPts val="1000"/>
              </a:spcBef>
              <a:spcAft>
                <a:spcPts val="1000"/>
              </a:spcAft>
              <a:buNone/>
            </a:pPr>
            <a:r>
              <a:t/>
            </a:r>
            <a:endParaRPr sz="2000"/>
          </a:p>
        </p:txBody>
      </p:sp>
      <p:graphicFrame>
        <p:nvGraphicFramePr>
          <p:cNvPr id="1656" name="Google Shape;1656;p118"/>
          <p:cNvGraphicFramePr/>
          <p:nvPr/>
        </p:nvGraphicFramePr>
        <p:xfrm>
          <a:off x="952500" y="2084847"/>
          <a:ext cx="3000000" cy="3000000"/>
        </p:xfrm>
        <a:graphic>
          <a:graphicData uri="http://schemas.openxmlformats.org/drawingml/2006/table">
            <a:tbl>
              <a:tblPr>
                <a:noFill/>
                <a:tableStyleId>{5ABEDB2D-1168-43D3-9195-50B46805A593}</a:tableStyleId>
              </a:tblPr>
              <a:tblGrid>
                <a:gridCol w="1655025"/>
                <a:gridCol w="2112200"/>
                <a:gridCol w="1886600"/>
                <a:gridCol w="201632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Percentage</a:t>
                      </a:r>
                      <a:r>
                        <a:rPr lang="en-GB" sz="1800">
                          <a:latin typeface="Lexend"/>
                          <a:ea typeface="Lexend"/>
                          <a:cs typeface="Lexend"/>
                          <a:sym typeface="Lexend"/>
                        </a:rPr>
                        <a:t> yield</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Calculation</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Mass to purchase</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Beef</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80 %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 ÷ 0.8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1.250 kg</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Cauliflower</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55 %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 ÷ 0.55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1.819 kg*</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Leeks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 ÷ 0.75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1.334 kg*</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Parsnips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 ÷ 0.85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1.177 kg*</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Whole salmon</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70 %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 ÷ 0.7 </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2000">
                          <a:latin typeface="Kalam"/>
                          <a:ea typeface="Kalam"/>
                          <a:cs typeface="Kalam"/>
                          <a:sym typeface="Kalam"/>
                        </a:rPr>
                        <a:t>1.429 kg</a:t>
                      </a:r>
                      <a:endParaRPr sz="2000">
                        <a:latin typeface="Kalam"/>
                        <a:ea typeface="Kalam"/>
                        <a:cs typeface="Kalam"/>
                        <a:sym typeface="Kalam"/>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11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62" name="Google Shape;1662;p119"/>
          <p:cNvSpPr txBox="1"/>
          <p:nvPr>
            <p:ph idx="1" type="body"/>
          </p:nvPr>
        </p:nvSpPr>
        <p:spPr>
          <a:xfrm>
            <a:off x="324000" y="3441925"/>
            <a:ext cx="8237700" cy="7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Calculate the mass (to the nearest gram) for each vegetable that the restaurant </a:t>
            </a:r>
            <a:r>
              <a:rPr lang="en-GB" sz="2000">
                <a:solidFill>
                  <a:schemeClr val="accent5"/>
                </a:solidFill>
              </a:rPr>
              <a:t>needs</a:t>
            </a:r>
            <a:r>
              <a:rPr lang="en-GB" sz="2000"/>
              <a:t> to buy to ensure they can make 50 servings of soup. </a:t>
            </a:r>
            <a:endParaRPr sz="2000"/>
          </a:p>
        </p:txBody>
      </p:sp>
      <p:graphicFrame>
        <p:nvGraphicFramePr>
          <p:cNvPr id="1663" name="Google Shape;1663;p119"/>
          <p:cNvGraphicFramePr/>
          <p:nvPr/>
        </p:nvGraphicFramePr>
        <p:xfrm>
          <a:off x="620700" y="941847"/>
          <a:ext cx="3000000" cy="3000000"/>
        </p:xfrm>
        <a:graphic>
          <a:graphicData uri="http://schemas.openxmlformats.org/drawingml/2006/table">
            <a:tbl>
              <a:tblPr>
                <a:noFill/>
                <a:tableStyleId>{5ABEDB2D-1168-43D3-9195-50B46805A593}</a:tableStyleId>
              </a:tblPr>
              <a:tblGrid>
                <a:gridCol w="1138125"/>
                <a:gridCol w="1146475"/>
                <a:gridCol w="1023250"/>
                <a:gridCol w="895450"/>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Purchase</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 yield</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Cost per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Cabbage</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16.076</a:t>
                      </a:r>
                      <a:r>
                        <a:rPr lang="en-GB" sz="1800">
                          <a:latin typeface="Lexend"/>
                          <a:ea typeface="Lexend"/>
                          <a:cs typeface="Lexend"/>
                          <a:sym typeface="Lexend"/>
                        </a:rPr>
                        <a:t>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Carrots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3.609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97 %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77 p</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Celery</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75 %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Onions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6.293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89 %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£1.07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Potatoes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7.655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81 %</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£1.55</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664" name="Google Shape;1664;p119"/>
          <p:cNvSpPr/>
          <p:nvPr/>
        </p:nvSpPr>
        <p:spPr>
          <a:xfrm>
            <a:off x="4913100" y="982375"/>
            <a:ext cx="3906900" cy="21882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18000" lIns="54000" spcFirstLastPara="1" rIns="18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Vegetables for Soup (50 servings)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5.6 kg</a:t>
            </a:r>
            <a:r>
              <a:rPr lang="en-GB" sz="1800">
                <a:solidFill>
                  <a:schemeClr val="dk1"/>
                </a:solidFill>
                <a:latin typeface="Lexend"/>
                <a:ea typeface="Lexend"/>
                <a:cs typeface="Lexend"/>
                <a:sym typeface="Lexend"/>
              </a:rPr>
              <a:t> chopped onions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3.5 kg</a:t>
            </a:r>
            <a:r>
              <a:rPr lang="en-GB" sz="1800">
                <a:solidFill>
                  <a:schemeClr val="dk1"/>
                </a:solidFill>
                <a:latin typeface="Lexend"/>
                <a:ea typeface="Lexend"/>
                <a:cs typeface="Lexend"/>
                <a:sym typeface="Lexend"/>
              </a:rPr>
              <a:t> chopped carrots </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4.5 kg</a:t>
            </a:r>
            <a:r>
              <a:rPr lang="en-GB" sz="1800">
                <a:solidFill>
                  <a:schemeClr val="dk1"/>
                </a:solidFill>
                <a:latin typeface="Lexend"/>
                <a:ea typeface="Lexend"/>
                <a:cs typeface="Lexend"/>
                <a:sym typeface="Lexend"/>
              </a:rPr>
              <a:t> chopped celery</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6.2 kg</a:t>
            </a:r>
            <a:r>
              <a:rPr lang="en-GB" sz="1800">
                <a:solidFill>
                  <a:schemeClr val="dk1"/>
                </a:solidFill>
                <a:latin typeface="Lexend"/>
                <a:ea typeface="Lexend"/>
                <a:cs typeface="Lexend"/>
                <a:sym typeface="Lexend"/>
              </a:rPr>
              <a:t> potatoes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Kalam"/>
                <a:ea typeface="Kalam"/>
                <a:cs typeface="Kalam"/>
                <a:sym typeface="Kalam"/>
              </a:rPr>
              <a:t>12.7 kg</a:t>
            </a:r>
            <a:r>
              <a:rPr lang="en-GB" sz="1800">
                <a:solidFill>
                  <a:schemeClr val="dk1"/>
                </a:solidFill>
                <a:latin typeface="Lexend"/>
                <a:ea typeface="Lexend"/>
                <a:cs typeface="Lexend"/>
                <a:sym typeface="Lexend"/>
              </a:rPr>
              <a:t> cabbage </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1665" name="Google Shape;1665;p119"/>
          <p:cNvSpPr txBox="1"/>
          <p:nvPr>
            <p:ph idx="1" type="body"/>
          </p:nvPr>
        </p:nvSpPr>
        <p:spPr>
          <a:xfrm>
            <a:off x="324000" y="622525"/>
            <a:ext cx="296700" cy="3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endParaRPr sz="20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9" name="Shape 1669"/>
        <p:cNvGrpSpPr/>
        <p:nvPr/>
      </p:nvGrpSpPr>
      <p:grpSpPr>
        <a:xfrm>
          <a:off x="0" y="0"/>
          <a:ext cx="0" cy="0"/>
          <a:chOff x="0" y="0"/>
          <a:chExt cx="0" cy="0"/>
        </a:xfrm>
      </p:grpSpPr>
      <p:sp>
        <p:nvSpPr>
          <p:cNvPr id="1670" name="Google Shape;1670;p12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71" name="Google Shape;1671;p120"/>
          <p:cNvSpPr txBox="1"/>
          <p:nvPr>
            <p:ph idx="1" type="body"/>
          </p:nvPr>
        </p:nvSpPr>
        <p:spPr>
          <a:xfrm>
            <a:off x="324000" y="622525"/>
            <a:ext cx="296700" cy="3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endParaRPr sz="2000"/>
          </a:p>
        </p:txBody>
      </p:sp>
      <p:sp>
        <p:nvSpPr>
          <p:cNvPr id="1672" name="Google Shape;1672;p120"/>
          <p:cNvSpPr/>
          <p:nvPr/>
        </p:nvSpPr>
        <p:spPr>
          <a:xfrm>
            <a:off x="4913100" y="810000"/>
            <a:ext cx="3906900" cy="23607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90000" lIns="54000" spcFirstLastPara="1" rIns="18000" wrap="square" tIns="126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Vegetables for Soup (50 servings)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5.6 kg chopped onions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3.5 kg chopped carrots </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 kg chopped celery</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6.2 kg potatoes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12.7 kg</a:t>
            </a:r>
            <a:r>
              <a:rPr lang="en-GB" sz="1800">
                <a:solidFill>
                  <a:schemeClr val="dk1"/>
                </a:solidFill>
                <a:latin typeface="Lexend"/>
                <a:ea typeface="Lexend"/>
                <a:cs typeface="Lexend"/>
                <a:sym typeface="Lexend"/>
              </a:rPr>
              <a:t> cabbage  </a:t>
            </a:r>
            <a:endParaRPr sz="1800">
              <a:solidFill>
                <a:schemeClr val="dk1"/>
              </a:solidFill>
              <a:latin typeface="Lexend"/>
              <a:ea typeface="Lexend"/>
              <a:cs typeface="Lexend"/>
              <a:sym typeface="Lexend"/>
            </a:endParaRPr>
          </a:p>
        </p:txBody>
      </p:sp>
      <p:graphicFrame>
        <p:nvGraphicFramePr>
          <p:cNvPr id="1673" name="Google Shape;1673;p120"/>
          <p:cNvGraphicFramePr/>
          <p:nvPr/>
        </p:nvGraphicFramePr>
        <p:xfrm>
          <a:off x="647700" y="941847"/>
          <a:ext cx="3000000" cy="3000000"/>
        </p:xfrm>
        <a:graphic>
          <a:graphicData uri="http://schemas.openxmlformats.org/drawingml/2006/table">
            <a:tbl>
              <a:tblPr>
                <a:noFill/>
                <a:tableStyleId>{5ABEDB2D-1168-43D3-9195-50B46805A593}</a:tableStyleId>
              </a:tblPr>
              <a:tblGrid>
                <a:gridCol w="1110225"/>
                <a:gridCol w="1108850"/>
                <a:gridCol w="978625"/>
                <a:gridCol w="97862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Purchase</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Cost per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Total cost</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Cabbage</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16.076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£24.12</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Carrots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3.609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77 p</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£2.78</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Celery</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£21.60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Onions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6.293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£1.07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£6.74</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Potatoes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7.655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£1.55</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£11.87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674" name="Google Shape;1674;p120"/>
          <p:cNvSpPr txBox="1"/>
          <p:nvPr>
            <p:ph idx="1" type="body"/>
          </p:nvPr>
        </p:nvSpPr>
        <p:spPr>
          <a:xfrm>
            <a:off x="324000" y="3292550"/>
            <a:ext cx="8496000" cy="56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b) Assuming the cost is proportional to the mass, what is the cost to buy the necessary vegetables? (Round up to the nearest penny.)</a:t>
            </a:r>
            <a:endParaRPr sz="2000"/>
          </a:p>
          <a:p>
            <a:pPr indent="0" lvl="0" marL="0" rtl="0" algn="l">
              <a:spcBef>
                <a:spcPts val="1000"/>
              </a:spcBef>
              <a:spcAft>
                <a:spcPts val="1000"/>
              </a:spcAft>
              <a:buNone/>
            </a:pPr>
            <a:r>
              <a:rPr lang="en-GB" sz="2000">
                <a:latin typeface="Kalam"/>
                <a:ea typeface="Kalam"/>
                <a:cs typeface="Kalam"/>
                <a:sym typeface="Kalam"/>
              </a:rPr>
              <a:t>Total cost = £67.11</a:t>
            </a:r>
            <a:endParaRPr sz="2000">
              <a:latin typeface="Kalam"/>
              <a:ea typeface="Kalam"/>
              <a:cs typeface="Kalam"/>
              <a:sym typeface="Kala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12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Percentages in catering</a:t>
            </a:r>
            <a:endParaRPr/>
          </a:p>
        </p:txBody>
      </p:sp>
      <p:sp>
        <p:nvSpPr>
          <p:cNvPr id="1680" name="Google Shape;1680;p121"/>
          <p:cNvSpPr txBox="1"/>
          <p:nvPr>
            <p:ph idx="1" type="body"/>
          </p:nvPr>
        </p:nvSpPr>
        <p:spPr>
          <a:xfrm>
            <a:off x="324000" y="3289525"/>
            <a:ext cx="8237700" cy="77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 How much do you think the restaurant should charge for a bowl of soup?</a:t>
            </a:r>
            <a:br>
              <a:rPr lang="en-GB" sz="2000"/>
            </a:br>
            <a:r>
              <a:rPr lang="en-GB" sz="2000">
                <a:latin typeface="Kalam"/>
                <a:ea typeface="Kalam"/>
                <a:cs typeface="Kalam"/>
                <a:sym typeface="Kalam"/>
              </a:rPr>
              <a:t>Total cost = £67.11</a:t>
            </a:r>
            <a:br>
              <a:rPr lang="en-GB" sz="2000">
                <a:latin typeface="Kalam"/>
                <a:ea typeface="Kalam"/>
                <a:cs typeface="Kalam"/>
                <a:sym typeface="Kalam"/>
              </a:rPr>
            </a:br>
            <a:r>
              <a:rPr lang="en-GB" sz="2000">
                <a:latin typeface="Kalam"/>
                <a:ea typeface="Kalam"/>
                <a:cs typeface="Kalam"/>
                <a:sym typeface="Kalam"/>
              </a:rPr>
              <a:t>Cost per portion = £1.35</a:t>
            </a:r>
            <a:endParaRPr sz="2000">
              <a:latin typeface="Kalam"/>
              <a:ea typeface="Kalam"/>
              <a:cs typeface="Kalam"/>
              <a:sym typeface="Kalam"/>
            </a:endParaRPr>
          </a:p>
        </p:txBody>
      </p:sp>
      <p:sp>
        <p:nvSpPr>
          <p:cNvPr id="1681" name="Google Shape;1681;p121"/>
          <p:cNvSpPr txBox="1"/>
          <p:nvPr>
            <p:ph idx="1" type="body"/>
          </p:nvPr>
        </p:nvSpPr>
        <p:spPr>
          <a:xfrm>
            <a:off x="324000" y="622525"/>
            <a:ext cx="296700" cy="3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a:t>
            </a:r>
            <a:endParaRPr sz="2000"/>
          </a:p>
        </p:txBody>
      </p:sp>
      <p:sp>
        <p:nvSpPr>
          <p:cNvPr id="1682" name="Google Shape;1682;p121"/>
          <p:cNvSpPr txBox="1"/>
          <p:nvPr>
            <p:ph idx="1" type="body"/>
          </p:nvPr>
        </p:nvSpPr>
        <p:spPr>
          <a:xfrm>
            <a:off x="3369600" y="3899125"/>
            <a:ext cx="5450400" cy="7725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sz="2000">
                <a:latin typeface="Kalam"/>
                <a:ea typeface="Kalam"/>
                <a:cs typeface="Kalam"/>
                <a:sym typeface="Kalam"/>
              </a:rPr>
              <a:t>However, this does not take into account the other ingredients, staff &amp; energy costs or the amount of profit you wish to make.</a:t>
            </a:r>
            <a:endParaRPr sz="2000">
              <a:latin typeface="Kalam"/>
              <a:ea typeface="Kalam"/>
              <a:cs typeface="Kalam"/>
              <a:sym typeface="Kalam"/>
            </a:endParaRPr>
          </a:p>
          <a:p>
            <a:pPr indent="0" lvl="0" marL="0" rtl="0" algn="l">
              <a:lnSpc>
                <a:spcPct val="85000"/>
              </a:lnSpc>
              <a:spcBef>
                <a:spcPts val="1000"/>
              </a:spcBef>
              <a:spcAft>
                <a:spcPts val="1000"/>
              </a:spcAft>
              <a:buNone/>
            </a:pPr>
            <a:r>
              <a:t/>
            </a:r>
            <a:endParaRPr sz="2000">
              <a:latin typeface="Kalam"/>
              <a:ea typeface="Kalam"/>
              <a:cs typeface="Kalam"/>
              <a:sym typeface="Kalam"/>
            </a:endParaRPr>
          </a:p>
        </p:txBody>
      </p:sp>
      <p:sp>
        <p:nvSpPr>
          <p:cNvPr id="1683" name="Google Shape;1683;p121"/>
          <p:cNvSpPr/>
          <p:nvPr/>
        </p:nvSpPr>
        <p:spPr>
          <a:xfrm>
            <a:off x="4913100" y="982375"/>
            <a:ext cx="3906900" cy="2188200"/>
          </a:xfrm>
          <a:prstGeom prst="rect">
            <a:avLst/>
          </a:prstGeom>
          <a:solidFill>
            <a:schemeClr val="lt2"/>
          </a:solidFill>
          <a:ln cap="flat" cmpd="sng" w="38100">
            <a:solidFill>
              <a:schemeClr val="accent5"/>
            </a:solidFill>
            <a:prstDash val="solid"/>
            <a:round/>
            <a:headEnd len="sm" w="sm" type="none"/>
            <a:tailEnd len="sm" w="sm" type="none"/>
          </a:ln>
        </p:spPr>
        <p:txBody>
          <a:bodyPr anchorCtr="0" anchor="ctr" bIns="18000" lIns="54000" spcFirstLastPara="1" rIns="18000" wrap="square" tIns="54000">
            <a:noAutofit/>
          </a:bodyPr>
          <a:lstStyle/>
          <a:p>
            <a:pPr indent="0" lvl="0" marL="0" rtl="0" algn="ctr">
              <a:lnSpc>
                <a:spcPct val="140000"/>
              </a:lnSpc>
              <a:spcBef>
                <a:spcPts val="0"/>
              </a:spcBef>
              <a:spcAft>
                <a:spcPts val="0"/>
              </a:spcAft>
              <a:buNone/>
            </a:pPr>
            <a:r>
              <a:rPr lang="en-GB" sz="1800">
                <a:solidFill>
                  <a:schemeClr val="dk1"/>
                </a:solidFill>
                <a:latin typeface="Lexend"/>
                <a:ea typeface="Lexend"/>
                <a:cs typeface="Lexend"/>
                <a:sym typeface="Lexend"/>
              </a:rPr>
              <a:t>Vegetables for Soup (50 servings)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5.6 kg chopped onions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3.5 kg chopped carrots </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4.5 kg chopped celery</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6.2 kg potatoes</a:t>
            </a:r>
            <a:endParaRPr sz="1800">
              <a:solidFill>
                <a:schemeClr val="dk1"/>
              </a:solidFill>
              <a:latin typeface="Lexend"/>
              <a:ea typeface="Lexend"/>
              <a:cs typeface="Lexend"/>
              <a:sym typeface="Lexend"/>
            </a:endParaRPr>
          </a:p>
          <a:p>
            <a:pPr indent="0" lvl="0" marL="0" rtl="0" algn="l">
              <a:lnSpc>
                <a:spcPct val="140000"/>
              </a:lnSpc>
              <a:spcBef>
                <a:spcPts val="0"/>
              </a:spcBef>
              <a:spcAft>
                <a:spcPts val="0"/>
              </a:spcAft>
              <a:buNone/>
            </a:pPr>
            <a:r>
              <a:rPr lang="en-GB" sz="1800">
                <a:solidFill>
                  <a:schemeClr val="dk1"/>
                </a:solidFill>
                <a:latin typeface="Lexend"/>
                <a:ea typeface="Lexend"/>
                <a:cs typeface="Lexend"/>
                <a:sym typeface="Lexend"/>
              </a:rPr>
              <a:t>12.7 kg cabbage  </a:t>
            </a:r>
            <a:endParaRPr sz="1800">
              <a:solidFill>
                <a:schemeClr val="dk1"/>
              </a:solidFill>
              <a:latin typeface="Lexend"/>
              <a:ea typeface="Lexend"/>
              <a:cs typeface="Lexend"/>
              <a:sym typeface="Lexend"/>
            </a:endParaRPr>
          </a:p>
        </p:txBody>
      </p:sp>
      <p:graphicFrame>
        <p:nvGraphicFramePr>
          <p:cNvPr id="1684" name="Google Shape;1684;p121"/>
          <p:cNvGraphicFramePr/>
          <p:nvPr/>
        </p:nvGraphicFramePr>
        <p:xfrm>
          <a:off x="647700" y="941847"/>
          <a:ext cx="3000000" cy="3000000"/>
        </p:xfrm>
        <a:graphic>
          <a:graphicData uri="http://schemas.openxmlformats.org/drawingml/2006/table">
            <a:tbl>
              <a:tblPr>
                <a:noFill/>
                <a:tableStyleId>{5ABEDB2D-1168-43D3-9195-50B46805A593}</a:tableStyleId>
              </a:tblPr>
              <a:tblGrid>
                <a:gridCol w="1110225"/>
                <a:gridCol w="1108850"/>
                <a:gridCol w="978625"/>
                <a:gridCol w="978625"/>
              </a:tblGrid>
              <a:tr h="340525">
                <a:tc>
                  <a:txBody>
                    <a:bodyPr/>
                    <a:lstStyle/>
                    <a:p>
                      <a:pPr indent="0" lvl="0" marL="0" rtl="0" algn="l">
                        <a:spcBef>
                          <a:spcPts val="0"/>
                        </a:spcBef>
                        <a:spcAft>
                          <a:spcPts val="0"/>
                        </a:spcAft>
                        <a:buNone/>
                      </a:pPr>
                      <a:r>
                        <a:rPr lang="en-GB" sz="1800">
                          <a:latin typeface="Lexend"/>
                          <a:ea typeface="Lexend"/>
                          <a:cs typeface="Lexend"/>
                          <a:sym typeface="Lexend"/>
                        </a:rPr>
                        <a:t>Food</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Purchase</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Cost per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Total cost</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Cabbage</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16.076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£24.12</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Carrots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3.609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77 p</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£2.78</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Celery</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£21.60</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Onions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6.293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£1.07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£6.74</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40525">
                <a:tc>
                  <a:txBody>
                    <a:bodyPr/>
                    <a:lstStyle/>
                    <a:p>
                      <a:pPr indent="0" lvl="0" marL="0" rtl="0" algn="l">
                        <a:spcBef>
                          <a:spcPts val="0"/>
                        </a:spcBef>
                        <a:spcAft>
                          <a:spcPts val="0"/>
                        </a:spcAft>
                        <a:buNone/>
                      </a:pPr>
                      <a:r>
                        <a:rPr lang="en-GB" sz="1800">
                          <a:latin typeface="Lexend"/>
                          <a:ea typeface="Lexend"/>
                          <a:cs typeface="Lexend"/>
                          <a:sym typeface="Lexend"/>
                        </a:rPr>
                        <a:t>Potatoes</a:t>
                      </a:r>
                      <a:endParaRPr sz="1800">
                        <a:latin typeface="Lexend"/>
                        <a:ea typeface="Lexend"/>
                        <a:cs typeface="Lexend"/>
                        <a:sym typeface="Lexend"/>
                      </a:endParaRPr>
                    </a:p>
                  </a:txBody>
                  <a:tcPr marT="0" marB="18000" marR="18000" marL="54000" anchor="ctr">
                    <a:lnL cap="flat" cmpd="sng" w="1905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7.655 kg</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£1.55</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£11.87</a:t>
                      </a:r>
                      <a:endParaRPr sz="1800">
                        <a:latin typeface="Lexend"/>
                        <a:ea typeface="Lexend"/>
                        <a:cs typeface="Lexend"/>
                        <a:sym typeface="Lexend"/>
                      </a:endParaRPr>
                    </a:p>
                  </a:txBody>
                  <a:tcPr marT="0" marB="18000" marR="18000" marL="54000" anchor="ctr">
                    <a:lnL cap="flat" cmpd="sng" w="3810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122"/>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It is necessary to convert between US and metric units of measurement when using recipes.</a:t>
            </a:r>
            <a:endParaRPr/>
          </a:p>
          <a:p>
            <a:pPr indent="0" lvl="0" marL="0" rtl="0" algn="l">
              <a:spcBef>
                <a:spcPts val="1000"/>
              </a:spcBef>
              <a:spcAft>
                <a:spcPts val="0"/>
              </a:spcAft>
              <a:buNone/>
            </a:pPr>
            <a:r>
              <a:rPr lang="en-GB"/>
              <a:t>US recipes tend to use cups and spoons as their units of measurement and UK recipes use the metric units of grams and kilograms.  (You may see some old UK recipes using pounds and ounces).</a:t>
            </a:r>
            <a:endParaRPr/>
          </a:p>
          <a:p>
            <a:pPr indent="0" lvl="0" marL="0" rtl="0" algn="l">
              <a:spcBef>
                <a:spcPts val="1000"/>
              </a:spcBef>
              <a:spcAft>
                <a:spcPts val="1000"/>
              </a:spcAft>
              <a:buNone/>
            </a:pPr>
            <a:r>
              <a:rPr lang="en-GB"/>
              <a:t>Caterers use percentage yields when calculating products to buy as these consider the wastage of the product.</a:t>
            </a:r>
            <a:endParaRPr/>
          </a:p>
        </p:txBody>
      </p:sp>
      <p:sp>
        <p:nvSpPr>
          <p:cNvPr id="1690" name="Google Shape;1690;p122"/>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Catering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123"/>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96" name="Google Shape;1696;p123"/>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