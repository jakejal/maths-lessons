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8ADE1A0-20F8-4421-9B3A-A75AF0CB283B}">
  <a:tblStyle styleId="{D8ADE1A0-20F8-4421-9B3A-A75AF0CB283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0" name="Google Shape;840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2fcd6d29ad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2fcd6d29ad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2efd83f2ff0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5" name="Google Shape;855;g2efd83f2ff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2fcd6d29ad6_0_8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2fcd6d29ad6_0_8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2fcd6d29ad6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2" name="Google Shape;872;g2fcd6d29ad6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2fcd6d29ad6_0_8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2fcd6d29ad6_0_8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2fcd6d29ad6_0_8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2fcd6d29ad6_0_8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2fcd6d29ad6_0_8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6" name="Google Shape;906;g2fcd6d29ad6_0_8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2fd8087c971_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8" name="Google Shape;928;g2fd8087c971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2fd8087c971_3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2fd8087c971_3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2fd8087c971_3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9" name="Google Shape;969;g2fd8087c971_3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g2fd8087c971_3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5" name="Google Shape;995;g2fd8087c971_3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g2fbfd7f7d1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3" name="Google Shape;1003;g2fbfd7f7d1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2fbfd7f7d13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2fbfd7f7d13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g2fbfd7f7d13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3" name="Google Shape;1023;g2fbfd7f7d13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2fbfd7f7d13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3" name="Google Shape;1043;g2fbfd7f7d13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g2fbfd7f7d13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0" name="Google Shape;1080;g2fbfd7f7d13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g2fbfd7f7d1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5" name="Google Shape;1105;g2fbfd7f7d1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g2fd8087c971_3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3" name="Google Shape;1113;g2fd8087c971_3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g2fd8087c971_3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9" name="Google Shape;1119;g2fd8087c971_3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g2fd8087c971_3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7" name="Google Shape;1127;g2fd8087c971_3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g2fd8087c971_3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4" name="Google Shape;1134;g2fd8087c971_3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g2fd8087c971_3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2" name="Google Shape;1142;g2fd8087c971_3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g2fd8087c971_3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5" name="Google Shape;1155;g2fd8087c971_3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g2fd8087c971_3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0" name="Google Shape;1200;g2fd8087c971_3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g2fd8087c971_3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6" name="Google Shape;1206;g2fd8087c971_3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g2fd8087c971_3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2" name="Google Shape;1212;g2fd8087c971_3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g2fd8087c971_3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8" name="Google Shape;1218;g2fd8087c971_3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g2fd8087c971_3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2" name="Google Shape;1262;g2fd8087c971_3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g2fd8087c971_3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0" name="Google Shape;1290;g2fd8087c971_3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8" name="Google Shape;1298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4" name="Google Shape;1304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2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2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21.png"/><Relationship Id="rId5" Type="http://schemas.openxmlformats.org/officeDocument/2006/relationships/image" Target="../media/image28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9.png"/><Relationship Id="rId5" Type="http://schemas.openxmlformats.org/officeDocument/2006/relationships/image" Target="../media/image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9.png"/><Relationship Id="rId5" Type="http://schemas.openxmlformats.org/officeDocument/2006/relationships/image" Target="../media/image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2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29.png"/><Relationship Id="rId5" Type="http://schemas.openxmlformats.org/officeDocument/2006/relationships/image" Target="../media/image2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2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3.png"/><Relationship Id="rId7" Type="http://schemas.openxmlformats.org/officeDocument/2006/relationships/image" Target="../media/image38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0.png"/><Relationship Id="rId4" Type="http://schemas.openxmlformats.org/officeDocument/2006/relationships/image" Target="../media/image82.png"/><Relationship Id="rId5" Type="http://schemas.openxmlformats.org/officeDocument/2006/relationships/image" Target="../media/image43.png"/><Relationship Id="rId6" Type="http://schemas.openxmlformats.org/officeDocument/2006/relationships/image" Target="../media/image42.png"/><Relationship Id="rId7" Type="http://schemas.openxmlformats.org/officeDocument/2006/relationships/image" Target="../media/image39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82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8.png"/><Relationship Id="rId7" Type="http://schemas.openxmlformats.org/officeDocument/2006/relationships/image" Target="../media/image43.png"/><Relationship Id="rId8" Type="http://schemas.openxmlformats.org/officeDocument/2006/relationships/image" Target="../media/image4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82.png"/><Relationship Id="rId4" Type="http://schemas.openxmlformats.org/officeDocument/2006/relationships/image" Target="../media/image44.png"/><Relationship Id="rId11" Type="http://schemas.openxmlformats.org/officeDocument/2006/relationships/image" Target="../media/image39.png"/><Relationship Id="rId10" Type="http://schemas.openxmlformats.org/officeDocument/2006/relationships/image" Target="../media/image51.png"/><Relationship Id="rId9" Type="http://schemas.openxmlformats.org/officeDocument/2006/relationships/image" Target="../media/image42.png"/><Relationship Id="rId5" Type="http://schemas.openxmlformats.org/officeDocument/2006/relationships/image" Target="../media/image34.png"/><Relationship Id="rId6" Type="http://schemas.openxmlformats.org/officeDocument/2006/relationships/image" Target="../media/image40.png"/><Relationship Id="rId7" Type="http://schemas.openxmlformats.org/officeDocument/2006/relationships/image" Target="../media/image48.png"/><Relationship Id="rId8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47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47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47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47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47.png"/><Relationship Id="rId4" Type="http://schemas.openxmlformats.org/officeDocument/2006/relationships/image" Target="../media/image56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47.png"/><Relationship Id="rId4" Type="http://schemas.openxmlformats.org/officeDocument/2006/relationships/image" Target="../media/image56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47.png"/><Relationship Id="rId4" Type="http://schemas.openxmlformats.org/officeDocument/2006/relationships/image" Target="../media/image56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47.png"/><Relationship Id="rId4" Type="http://schemas.openxmlformats.org/officeDocument/2006/relationships/image" Target="../media/image56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7.png"/><Relationship Id="rId3" Type="http://schemas.openxmlformats.org/officeDocument/2006/relationships/image" Target="../media/image53.png"/><Relationship Id="rId4" Type="http://schemas.openxmlformats.org/officeDocument/2006/relationships/image" Target="../media/image56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6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6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6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64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64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64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64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65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65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65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65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Art and design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Google Shape;12;p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3" name="Google Shape;13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" name="Google Shape;14;p2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0">
            <a:off x="6753315" y="1132068"/>
            <a:ext cx="2063340" cy="164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 rotWithShape="1">
          <a:blip r:embed="rId5">
            <a:alphaModFix/>
          </a:blip>
          <a:srcRect b="0" l="6209" r="6209" t="0"/>
          <a:stretch/>
        </p:blipFill>
        <p:spPr>
          <a:xfrm>
            <a:off x="324000" y="4008600"/>
            <a:ext cx="17051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Art and design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" name="Google Shape;27;p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" name="Google Shape;3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" name="Google Shape;35;p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itizenship" showMasterSp="0">
  <p:cSld name="Title Slide 2_1_1_1_1_1_1_1_1_1_1_5">
    <p:bg>
      <p:bgPr>
        <a:solidFill>
          <a:srgbClr val="BEF2BD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45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Citizenship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0" name="Google Shape;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" name="Google Shape;41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2" name="Google Shape;42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" name="Google Shape;43;p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44" name="Google Shape;44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25">
            <a:off x="6945328" y="787504"/>
            <a:ext cx="1710318" cy="205238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" name="Google Shape;46;p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omputing" showMasterSp="0">
  <p:cSld name="Title Slide 2_1_1_1_1_1_1_1_1_1_1_3">
    <p:bg>
      <p:bgPr>
        <a:solidFill>
          <a:srgbClr val="BEF2BD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8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Computing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" name="Google Shape;52;p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53" name="Google Shape;53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" name="Google Shape;54;p6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55" name="Google Shape;55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59982">
            <a:off x="6923956" y="1273792"/>
            <a:ext cx="1784155" cy="1404547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" name="Google Shape;57;p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Design and technology" showMasterSp="0">
  <p:cSld name="Title Slide 2_1_1_1_1_1_1_1_1_1_1_2">
    <p:bg>
      <p:bgPr>
        <a:solidFill>
          <a:srgbClr val="BEF2BD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7058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/>
        </p:nvSpPr>
        <p:spPr>
          <a:xfrm>
            <a:off x="323850" y="3781525"/>
            <a:ext cx="270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Design and technology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2" name="Google Shape;6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4" name="Google Shape;64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" name="Google Shape;65;p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66" name="Google Shape;66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2791">
            <a:off x="6884379" y="985388"/>
            <a:ext cx="1846116" cy="1852594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_2">
    <p:bg>
      <p:bgPr>
        <a:solidFill>
          <a:srgbClr val="BEF2BD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" name="Google Shape;72;p8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" name="Google Shape;76;p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French" showMasterSp="0">
  <p:cSld name="Title Slide 2_1_1_1_1_1_1_1_1_1_1_1">
    <p:bg>
      <p:bgPr>
        <a:solidFill>
          <a:srgbClr val="BEF2BD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7722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French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" name="Google Shape;82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3" name="Google Shape;83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" name="Google Shape;84;p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5" name="Google Shape;85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88119">
            <a:off x="6742284" y="969390"/>
            <a:ext cx="2161157" cy="191529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" name="Google Shape;92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3" name="Google Shape;9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" name="Google Shape;95;p1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rman" showMasterSp="0">
  <p:cSld name="Title Slide 2_1_1_1_1_1_1_1_1_1_1_1_1">
    <p:bg>
      <p:bgPr>
        <a:solidFill>
          <a:srgbClr val="BEF2BD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9169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German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0" name="Google Shape;10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" name="Google Shape;101;p1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02" name="Google Shape;102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" name="Google Shape;103;p11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4" name="Google Shape;104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6027">
            <a:off x="6626180" y="831797"/>
            <a:ext cx="2331091" cy="2089577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_2">
    <p:bg>
      <p:bgPr>
        <a:solidFill>
          <a:srgbClr val="BEF2BD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1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" name="Google Shape;112;p1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13" name="Google Shape;113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" name="Google Shape;114;p12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5" name="Google Shape;115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6" name="Google Shape;116;p1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" name="Google Shape;117;p1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_2">
    <p:bg>
      <p:bgPr>
        <a:solidFill>
          <a:srgbClr val="BEF2BD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" name="Google Shape;121;p1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2" name="Google Shape;12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" name="Google Shape;125;p1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" name="Google Shape;129;p1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0" name="Google Shape;13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4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" name="Google Shape;133;p1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al education" showMasterSp="0">
  <p:cSld name="Title Slide 2_1_1_1_1_1_1_1_1_1_1_1_1_2">
    <p:bg>
      <p:bgPr>
        <a:solidFill>
          <a:srgbClr val="BEF2BD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192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7" name="Google Shape;137;p15"/>
          <p:cNvSpPr txBox="1"/>
          <p:nvPr/>
        </p:nvSpPr>
        <p:spPr>
          <a:xfrm>
            <a:off x="323850" y="3781525"/>
            <a:ext cx="2456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Physical education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8" name="Google Shape;13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9" name="Google Shape;139;p1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40" name="Google Shape;140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1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2" name="Google Shape;142;p1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" name="Google Shape;143;p1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4" name="Google Shape;14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75628">
            <a:off x="6551506" y="729991"/>
            <a:ext cx="2546513" cy="2546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_2">
    <p:bg>
      <p:bgPr>
        <a:solidFill>
          <a:srgbClr val="BEF2BD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8" name="Google Shape;148;p1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9" name="Google Shape;14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" name="Google Shape;150;p1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1" name="Google Shape;151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" name="Google Shape;152;p16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3" name="Google Shape;153;p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4" name="Google Shape;154;p1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" name="Google Shape;155;p1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 and health education" showMasterSp="0">
  <p:cSld name="Title Slide 2_1_1_1_1_1_1_1_1_1_1_7">
    <p:bg>
      <p:bgPr>
        <a:solidFill>
          <a:srgbClr val="BEF2BD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9" name="Google Shape;159;p1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60" name="Google Shape;160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" name="Google Shape;161;p1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62" name="Google Shape;16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65" name="Google Shape;165;p17"/>
          <p:cNvPicPr preferRelativeResize="0"/>
          <p:nvPr/>
        </p:nvPicPr>
        <p:blipFill rotWithShape="1">
          <a:blip r:embed="rId5">
            <a:alphaModFix/>
          </a:blip>
          <a:srcRect b="0" l="6209" r="6209" t="0"/>
          <a:stretch/>
        </p:blipFill>
        <p:spPr>
          <a:xfrm>
            <a:off x="324000" y="4008600"/>
            <a:ext cx="1360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323850" y="3781525"/>
            <a:ext cx="462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RHE (PSHE)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, sex and health education" showMasterSp="0">
  <p:cSld name="Title Slide 2_1_1_1_1_1_1_1_1_1_1_7_1">
    <p:bg>
      <p:bgPr>
        <a:solidFill>
          <a:srgbClr val="BEF2BD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69" name="Google Shape;16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" name="Google Shape;170;p1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71" name="Google Shape;171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" name="Google Shape;172;p18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73" name="Google Shape;17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1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76" name="Google Shape;176;p18"/>
          <p:cNvPicPr preferRelativeResize="0"/>
          <p:nvPr/>
        </p:nvPicPr>
        <p:blipFill rotWithShape="1">
          <a:blip r:embed="rId5">
            <a:alphaModFix/>
          </a:blip>
          <a:srcRect b="0" l="6209" r="6209" t="0"/>
          <a:stretch/>
        </p:blipFill>
        <p:spPr>
          <a:xfrm>
            <a:off x="324000" y="4008600"/>
            <a:ext cx="15119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323850" y="3781525"/>
            <a:ext cx="508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RSHE (PSHE)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igious education" showMasterSp="0">
  <p:cSld name="Title Slide 2_1_1_1_1_1_1_1_1_1_1_1_1_1">
    <p:bg>
      <p:bgPr>
        <a:solidFill>
          <a:srgbClr val="BEF2BD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27187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1" name="Google Shape;181;p19"/>
          <p:cNvSpPr txBox="1"/>
          <p:nvPr/>
        </p:nvSpPr>
        <p:spPr>
          <a:xfrm>
            <a:off x="323850" y="3781525"/>
            <a:ext cx="2798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Religious education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2" name="Google Shape;18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" name="Google Shape;183;p1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84" name="Google Shape;184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" name="Google Shape;185;p1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86" name="Google Shape;18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03">
            <a:off x="6754136" y="1062731"/>
            <a:ext cx="2012844" cy="1854018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1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_2">
    <p:bg>
      <p:bgPr>
        <a:solidFill>
          <a:srgbClr val="BEF2BD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1" name="Google Shape;191;p2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2" name="Google Shape;19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4" name="Google Shape;194;p2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95" name="Google Shape;195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" name="Google Shape;196;p20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7" name="Google Shape;197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8" name="Google Shape;198;p2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panish" showMasterSp="0">
  <p:cSld name="Title Slide 2_1_1_1_1_1_1_1_1_1_1_1_2_1">
    <p:bg>
      <p:bgPr>
        <a:solidFill>
          <a:srgbClr val="BEF2BD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90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3" name="Google Shape;203;p2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Spanish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4" name="Google Shape;20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5" name="Google Shape;205;p2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06" name="Google Shape;206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" name="Google Shape;207;p21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08" name="Google Shape;20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339">
            <a:off x="6714634" y="840073"/>
            <a:ext cx="2165107" cy="217392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2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3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3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3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0" name="Google Shape;220;p23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221" name="Google Shape;221;p2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22" name="Google Shape;222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23" name="Google Shape;223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24" name="Google Shape;224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225" name="Google Shape;225;p23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27" name="Google Shape;227;p2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0" name="Google Shape;230;p2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5" name="Google Shape;235;p24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6" name="Google Shape;236;p24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7" name="Google Shape;237;p24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0" name="Google Shape;240;p2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3" name="Google Shape;243;p2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4" name="Google Shape;244;p25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5" name="Google Shape;245;p25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6" name="Google Shape;246;p25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7" name="Google Shape;247;p25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8" name="Google Shape;248;p25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9" name="Google Shape;249;p25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2" name="Google Shape;252;p2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5" name="Google Shape;255;p2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6" name="Google Shape;256;p26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7" name="Google Shape;257;p26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8" name="Google Shape;258;p26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9" name="Google Shape;259;p26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0" name="Google Shape;260;p26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1" name="Google Shape;261;p26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2" name="Google Shape;262;p26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3" name="Google Shape;263;p26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6" name="Google Shape;266;p2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7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9" name="Google Shape;269;p27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0" name="Google Shape;270;p27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1" name="Google Shape;271;p27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8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8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8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7" name="Google Shape;277;p28"/>
          <p:cNvCxnSpPr>
            <a:endCxn id="27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79" name="Google Shape;279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1" name="Google Shape;281;p2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78" name="Google Shape;278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8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9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2" name="Google Shape;292;p29"/>
          <p:cNvCxnSpPr>
            <a:endCxn id="29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93" name="Google Shape;293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9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96" name="Google Shape;296;p29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97" name="Google Shape;297;p29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98" name="Google Shape;298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0" name="Google Shape;300;p29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9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3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30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3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30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2" name="Google Shape;312;p30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13" name="Google Shape;313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3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0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7" name="Google Shape;317;p30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8" name="Google Shape;318;p30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9" name="Google Shape;319;p30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320" name="Google Shape;320;p3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2" name="Google Shape;322;p30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30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1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29" name="Google Shape;329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30" name="Google Shape;33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36" name="Google Shape;336;p3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38" name="Google Shape;33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3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43" name="Google Shape;343;p3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45" name="Google Shape;34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50" name="Google Shape;350;p3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52" name="Google Shape;35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5" name="Google Shape;355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58" name="Google Shape;358;p3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59" name="Google Shape;359;p35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60" name="Google Shape;360;p3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61" name="Google Shape;361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2" name="Google Shape;362;p3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3" name="Google Shape;363;p3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64" name="Google Shape;364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5" name="Google Shape;365;p3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8" name="Google Shape;368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71" name="Google Shape;371;p3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72" name="Google Shape;372;p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73" name="Google Shape;373;p3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74" name="Google Shape;374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6" name="Google Shape;376;p3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77" name="Google Shape;377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8" name="Google Shape;378;p3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7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1" name="Google Shape;381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86" name="Google Shape;386;p3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87" name="Google Shape;387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90" name="Google Shape;390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8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4" name="Google Shape;394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97" name="Google Shape;397;p3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98" name="Google Shape;398;p3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99" name="Google Shape;399;p3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400" name="Google Shape;400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1" name="Google Shape;401;p3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2" name="Google Shape;402;p3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403" name="Google Shape;403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4" name="Google Shape;404;p3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/why - purple">
  <p:cSld name="TITLE_AND_TWO_COLUMNS_1_1_9_1_3_1">
    <p:bg>
      <p:bgPr>
        <a:solidFill>
          <a:srgbClr val="F3EEFB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9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1" name="Google Shape;411;p39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2" name="Google Shape;412;p39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13" name="Google Shape;413;p39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14" name="Google Shape;414;p3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15" name="Google Shape;415;p39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6" name="Google Shape;416;p39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17" name="Google Shape;417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9" name="Google Shape;419;p3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/why - jade">
  <p:cSld name="TITLE_AND_TWO_COLUMNS_1_1_9_1_3_1_1_1">
    <p:bg>
      <p:bgPr>
        <a:solidFill>
          <a:srgbClr val="E6F2F2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Google Shape;421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3" name="Google Shape;42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5" name="Google Shape;425;p4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6" name="Google Shape;42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40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9" name="Google Shape;429;p40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0" name="Google Shape;430;p40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31" name="Google Shape;431;p4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32" name="Google Shape;432;p4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33" name="Google Shape;433;p40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4" name="Google Shape;434;p40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/why - blue">
  <p:cSld name="TITLE_AND_TWO_COLUMNS_1_1_9_1_3_2">
    <p:bg>
      <p:bgPr>
        <a:solidFill>
          <a:srgbClr val="EBEDFE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Google Shape;43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8" name="Google Shape;43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4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41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4" name="Google Shape;444;p41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5" name="Google Shape;445;p41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41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7" name="Google Shape;447;p4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48" name="Google Shape;448;p41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9" name="Google Shape;449;p41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/why - pink">
  <p:cSld name="TITLE_AND_TWO_COLUMNS_1_1_9_1_3_1_1_1_1">
    <p:bg>
      <p:bgPr>
        <a:solidFill>
          <a:srgbClr val="FAEAF6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4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3" name="Google Shape;45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5" name="Google Shape;455;p4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42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42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0" name="Google Shape;460;p42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42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4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63" name="Google Shape;463;p42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4" name="Google Shape;464;p42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Google Shape;466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9" name="Google Shape;46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1" name="Google Shape;471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2" name="Google Shape;472;p4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73" name="Google Shape;473;p4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74" name="Google Shape;474;p4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75" name="Google Shape;475;p4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76" name="Google Shape;47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7" name="Google Shape;47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8" name="Google Shape;478;p4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79" name="Google Shape;47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0" name="Google Shape;48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1" name="Google Shape;481;p4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82" name="Google Shape;482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3" name="Google Shape;48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" name="Google Shape;485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8" name="Google Shape;48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0" name="Google Shape;490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1" name="Google Shape;491;p4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92" name="Google Shape;492;p4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93" name="Google Shape;493;p4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4" name="Google Shape;494;p4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95" name="Google Shape;495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6" name="Google Shape;496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7" name="Google Shape;497;p4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98" name="Google Shape;498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9" name="Google Shape;499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00" name="Google Shape;500;p4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01" name="Google Shape;501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2" name="Google Shape;502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4" name="Google Shape;504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7" name="Google Shape;507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9" name="Google Shape;509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0" name="Google Shape;510;p4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514" name="Google Shape;514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517" name="Google Shape;517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20" name="Google Shape;520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4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4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4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4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4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4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4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533" name="Google Shape;533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4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536" name="Google Shape;536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4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39" name="Google Shape;539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" name="Google Shape;542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4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5" name="Google Shape;5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7" name="Google Shape;547;p4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8" name="Google Shape;548;p4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49" name="Google Shape;549;p4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50" name="Google Shape;550;p4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51" name="Google Shape;551;p4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52" name="Google Shape;552;p4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53" name="Google Shape;553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4" name="Google Shape;554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5" name="Google Shape;555;p4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56" name="Google Shape;556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59" name="Google Shape;559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62" name="Google Shape;562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2" name="Google Shape;572;p4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3" name="Google Shape;573;p4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4" name="Google Shape;574;p4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75" name="Google Shape;575;p4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76" name="Google Shape;576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7" name="Google Shape;577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8" name="Google Shape;578;p4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79" name="Google Shape;579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0" name="Google Shape;580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1" name="Google Shape;581;p4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82" name="Google Shape;582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3" name="Google Shape;583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4" name="Google Shape;584;p4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85" name="Google Shape;585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6" name="Google Shape;586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8" name="Google Shape;58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4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1" name="Google Shape;59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3" name="Google Shape;593;p4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4" name="Google Shape;594;p4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5" name="Google Shape;595;p4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6" name="Google Shape;596;p4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7" name="Google Shape;597;p4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98" name="Google Shape;598;p4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99" name="Google Shape;599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1" name="Google Shape;601;p4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602" name="Google Shape;602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3" name="Google Shape;603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4" name="Google Shape;604;p4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605" name="Google Shape;605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6" name="Google Shape;606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7" name="Google Shape;607;p4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608" name="Google Shape;608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9" name="Google Shape;609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1" name="Google Shape;611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5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5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14" name="Google Shape;614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6" name="Google Shape;616;p5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7" name="Google Shape;617;p5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18" name="Google Shape;618;p5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19" name="Google Shape;619;p5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20" name="Google Shape;620;p5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621" name="Google Shape;621;p5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622" name="Google Shape;622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4" name="Google Shape;624;p5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625" name="Google Shape;625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6" name="Google Shape;626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7" name="Google Shape;627;p5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628" name="Google Shape;628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9" name="Google Shape;629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30" name="Google Shape;630;p5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631" name="Google Shape;631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2" name="Google Shape;632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" name="Google Shape;634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5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37" name="Google Shape;63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9" name="Google Shape;639;p5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0" name="Google Shape;640;p5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41" name="Google Shape;641;p5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42" name="Google Shape;642;p5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43" name="Google Shape;643;p5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44" name="Google Shape;644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5" name="Google Shape;645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46" name="Google Shape;646;p5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47" name="Google Shape;647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8" name="Google Shape;648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49" name="Google Shape;649;p5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50" name="Google Shape;650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1" name="Google Shape;651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56" name="Google Shape;65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8" name="Google Shape;658;p5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9" name="Google Shape;659;p5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60" name="Google Shape;660;p5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61" name="Google Shape;661;p5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62" name="Google Shape;662;p5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63" name="Google Shape;663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4" name="Google Shape;664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65" name="Google Shape;665;p5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66" name="Google Shape;666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7" name="Google Shape;667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68" name="Google Shape;668;p5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69" name="Google Shape;669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0" name="Google Shape;670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2" name="Google Shape;672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5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75" name="Google Shape;67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7" name="Google Shape;677;p5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8" name="Google Shape;678;p5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79" name="Google Shape;679;p5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80" name="Google Shape;680;p5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81" name="Google Shape;681;p5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82" name="Google Shape;682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3" name="Google Shape;683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84" name="Google Shape;684;p5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85" name="Google Shape;685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6" name="Google Shape;686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87" name="Google Shape;687;p5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88" name="Google Shape;688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9" name="Google Shape;689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1" name="Google Shape;691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5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5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94" name="Google Shape;694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6" name="Google Shape;696;p5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7" name="Google Shape;697;p5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98" name="Google Shape;698;p5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99" name="Google Shape;699;p5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700" name="Google Shape;700;p5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701" name="Google Shape;701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2" name="Google Shape;702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03" name="Google Shape;703;p5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704" name="Google Shape;704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5" name="Google Shape;705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06" name="Google Shape;706;p5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707" name="Google Shape;707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8" name="Google Shape;708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0" name="Google Shape;710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13" name="Google Shape;713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5" name="Google Shape;715;p5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" name="Google Shape;717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20" name="Google Shape;720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2" name="Google Shape;722;p5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4" name="Google Shape;724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27" name="Google Shape;727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1" name="Google Shape;731;p5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Google Shape;732;p5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5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34" name="Google Shape;734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5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5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5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5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41" name="Google Shape;741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5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3" name="Google Shape;743;p5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4" name="Google Shape;744;p5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6" name="Google Shape;746;p6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p6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6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50" name="Google Shape;750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p6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2" name="Google Shape;752;p6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4" name="Google Shape;754;p6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6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6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7" name="Google Shape;757;p6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58" name="Google Shape;758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6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0" name="Google Shape;760;p6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2" name="Google Shape;762;p6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63" name="Google Shape;763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6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65" name="Google Shape;765;p6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66" name="Google Shape;766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6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8" name="Google Shape;768;p6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0" name="Google Shape;770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6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6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73" name="Google Shape;773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p6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5" name="Google Shape;775;p6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6" name="Google Shape;776;p6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" name="Google Shape;778;p6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79" name="Google Shape;779;p6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6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1" name="Google Shape;781;p6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82" name="Google Shape;782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6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4" name="Google Shape;784;p6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6" name="Google Shape;786;p6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6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6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9" name="Google Shape;789;p6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0" name="Google Shape;790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6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2" name="Google Shape;792;p6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4" name="Google Shape;794;p66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pic>
          <p:nvPicPr>
            <p:cNvPr id="795" name="Google Shape;795;p66"/>
            <p:cNvPicPr preferRelativeResize="0"/>
            <p:nvPr/>
          </p:nvPicPr>
          <p:blipFill rotWithShape="1">
            <a:blip r:embed="rId2">
              <a:alphaModFix/>
            </a:blip>
            <a:srcRect b="1672" l="0" r="0" t="1662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6" name="Google Shape;796;p66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7" name="Google Shape;797;p6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98" name="Google Shape;798;p6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9" name="Google Shape;799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6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6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67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4" name="Google Shape;804;p6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6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06" name="Google Shape;806;p6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7" name="Google Shape;807;p6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68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0" name="Google Shape;810;p6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6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12" name="Google Shape;812;p6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68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5" name="Google Shape;815;p6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69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70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9" name="Google Shape;819;p70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70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1" name="Google Shape;821;p70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2" name="Google Shape;822;p70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3" name="Google Shape;823;p70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70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0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6" name="Google Shape;826;p70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8" name="Google Shape;828;p7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71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72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73" Type="http://schemas.openxmlformats.org/officeDocument/2006/relationships/theme" Target="../theme/theme1.xml"/><Relationship Id="rId72" Type="http://schemas.openxmlformats.org/officeDocument/2006/relationships/slideLayout" Target="../slideLayouts/slideLayout71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71" Type="http://schemas.openxmlformats.org/officeDocument/2006/relationships/slideLayout" Target="../slideLayouts/slideLayout70.xml"/><Relationship Id="rId70" Type="http://schemas.openxmlformats.org/officeDocument/2006/relationships/slideLayout" Target="../slideLayouts/slideLayout69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slideLayout" Target="../slideLayouts/slideLayout63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66" Type="http://schemas.openxmlformats.org/officeDocument/2006/relationships/slideLayout" Target="../slideLayouts/slideLayout65.xml"/><Relationship Id="rId21" Type="http://schemas.openxmlformats.org/officeDocument/2006/relationships/slideLayout" Target="../slideLayouts/slideLayout20.xml"/><Relationship Id="rId65" Type="http://schemas.openxmlformats.org/officeDocument/2006/relationships/slideLayout" Target="../slideLayouts/slideLayout64.xml"/><Relationship Id="rId24" Type="http://schemas.openxmlformats.org/officeDocument/2006/relationships/slideLayout" Target="../slideLayouts/slideLayout23.xml"/><Relationship Id="rId68" Type="http://schemas.openxmlformats.org/officeDocument/2006/relationships/slideLayout" Target="../slideLayouts/slideLayout67.xml"/><Relationship Id="rId23" Type="http://schemas.openxmlformats.org/officeDocument/2006/relationships/slideLayout" Target="../slideLayouts/slideLayout22.xml"/><Relationship Id="rId67" Type="http://schemas.openxmlformats.org/officeDocument/2006/relationships/slideLayout" Target="../slideLayouts/slideLayout66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69" Type="http://schemas.openxmlformats.org/officeDocument/2006/relationships/slideLayout" Target="../slideLayouts/slideLayout68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  <p:sldLayoutId id="2147483710" r:id="rId64"/>
    <p:sldLayoutId id="2147483711" r:id="rId65"/>
    <p:sldLayoutId id="2147483712" r:id="rId66"/>
    <p:sldLayoutId id="2147483713" r:id="rId67"/>
    <p:sldLayoutId id="2147483714" r:id="rId68"/>
    <p:sldLayoutId id="2147483715" r:id="rId69"/>
    <p:sldLayoutId id="2147483716" r:id="rId70"/>
    <p:sldLayoutId id="2147483717" r:id="rId71"/>
    <p:sldLayoutId id="2147483718" r:id="rId7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6.jpg"/><Relationship Id="rId4" Type="http://schemas.openxmlformats.org/officeDocument/2006/relationships/image" Target="../media/image74.jpg"/><Relationship Id="rId5" Type="http://schemas.openxmlformats.org/officeDocument/2006/relationships/image" Target="../media/image7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image" Target="../media/image7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image" Target="../media/image70.png"/><Relationship Id="rId6" Type="http://schemas.openxmlformats.org/officeDocument/2006/relationships/image" Target="../media/image7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0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9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image" Target="../media/image7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0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7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7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Maths in the workplace</a:t>
            </a:r>
            <a:endParaRPr/>
          </a:p>
        </p:txBody>
      </p:sp>
      <p:sp>
        <p:nvSpPr>
          <p:cNvPr id="837" name="Google Shape;837;p7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 designer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74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75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understand how maths is used by graphic designers.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76"/>
          <p:cNvSpPr txBox="1"/>
          <p:nvPr>
            <p:ph idx="3" type="subTitle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A </a:t>
            </a:r>
            <a:r>
              <a:rPr lang="en-GB"/>
              <a:t>graphic designer</a:t>
            </a:r>
            <a:r>
              <a:rPr b="0" lang="en-GB"/>
              <a:t> creates visuals for various projects such as adverts, branding, magazines, packaging and websites.</a:t>
            </a:r>
            <a:endParaRPr b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7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golden ratio</a:t>
            </a:r>
            <a:endParaRPr/>
          </a:p>
        </p:txBody>
      </p:sp>
      <p:sp>
        <p:nvSpPr>
          <p:cNvPr id="858" name="Google Shape;858;p7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Rotational symmetry in art</a:t>
            </a:r>
            <a:endParaRPr/>
          </a:p>
        </p:txBody>
      </p:sp>
      <p:sp>
        <p:nvSpPr>
          <p:cNvPr id="859" name="Google Shape;859;p7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 designer</a:t>
            </a:r>
            <a:endParaRPr/>
          </a:p>
        </p:txBody>
      </p:sp>
      <p:pic>
        <p:nvPicPr>
          <p:cNvPr id="860" name="Google Shape;860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426" y="2064177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golden ratio</a:t>
            </a:r>
            <a:endParaRPr/>
          </a:p>
        </p:txBody>
      </p:sp>
      <p:sp>
        <p:nvSpPr>
          <p:cNvPr id="866" name="Google Shape;866;p7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282828"/>
                </a:solidFill>
              </a:rPr>
              <a:t>A </a:t>
            </a:r>
            <a:r>
              <a:rPr b="1" lang="en-GB" sz="2000">
                <a:solidFill>
                  <a:srgbClr val="282828"/>
                </a:solidFill>
              </a:rPr>
              <a:t>graphic designer</a:t>
            </a:r>
            <a:r>
              <a:rPr lang="en-GB" sz="2000">
                <a:solidFill>
                  <a:srgbClr val="282828"/>
                </a:solidFill>
              </a:rPr>
              <a:t> creates visuals for various projects such as adverts, branding, magazines, packaging and websites.</a:t>
            </a:r>
            <a:endParaRPr/>
          </a:p>
        </p:txBody>
      </p:sp>
      <p:pic>
        <p:nvPicPr>
          <p:cNvPr id="867" name="Google Shape;867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981725"/>
            <a:ext cx="2289177" cy="1959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8" name="Google Shape;868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59660" y="1981725"/>
            <a:ext cx="2343724" cy="2078221"/>
          </a:xfrm>
          <a:prstGeom prst="rect">
            <a:avLst/>
          </a:prstGeom>
          <a:noFill/>
          <a:ln>
            <a:noFill/>
          </a:ln>
        </p:spPr>
      </p:pic>
      <p:pic>
        <p:nvPicPr>
          <p:cNvPr id="869" name="Google Shape;869;p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49866" y="1981725"/>
            <a:ext cx="3570135" cy="2113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golden ratio</a:t>
            </a:r>
            <a:endParaRPr/>
          </a:p>
        </p:txBody>
      </p:sp>
      <p:pic>
        <p:nvPicPr>
          <p:cNvPr id="875" name="Google Shape;875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729" y="2199180"/>
            <a:ext cx="466898" cy="1931740"/>
          </a:xfrm>
          <a:prstGeom prst="rect">
            <a:avLst/>
          </a:prstGeom>
          <a:noFill/>
          <a:ln>
            <a:noFill/>
          </a:ln>
        </p:spPr>
      </p:pic>
      <p:sp>
        <p:nvSpPr>
          <p:cNvPr id="876" name="Google Shape;876;p79"/>
          <p:cNvSpPr txBox="1"/>
          <p:nvPr/>
        </p:nvSpPr>
        <p:spPr>
          <a:xfrm>
            <a:off x="324009" y="3950860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77" name="Google Shape;877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61472" y="2199176"/>
            <a:ext cx="568766" cy="1931740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79"/>
          <p:cNvSpPr txBox="1"/>
          <p:nvPr/>
        </p:nvSpPr>
        <p:spPr>
          <a:xfrm>
            <a:off x="7162803" y="395084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79" name="Google Shape;879;p79"/>
          <p:cNvPicPr preferRelativeResize="0"/>
          <p:nvPr/>
        </p:nvPicPr>
        <p:blipFill rotWithShape="1">
          <a:blip r:embed="rId5">
            <a:alphaModFix/>
          </a:blip>
          <a:srcRect b="6172" l="40550" r="0" t="13240"/>
          <a:stretch/>
        </p:blipFill>
        <p:spPr>
          <a:xfrm>
            <a:off x="950275" y="810000"/>
            <a:ext cx="2571448" cy="1695301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p79"/>
          <p:cNvSpPr txBox="1"/>
          <p:nvPr/>
        </p:nvSpPr>
        <p:spPr>
          <a:xfrm>
            <a:off x="1288070" y="991010"/>
            <a:ext cx="2080200" cy="11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But how has maths been used to generate these images?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81" name="Google Shape;881;p79"/>
          <p:cNvPicPr preferRelativeResize="0"/>
          <p:nvPr/>
        </p:nvPicPr>
        <p:blipFill rotWithShape="1">
          <a:blip r:embed="rId5">
            <a:alphaModFix/>
          </a:blip>
          <a:srcRect b="6172" l="40550" r="0" t="13240"/>
          <a:stretch/>
        </p:blipFill>
        <p:spPr>
          <a:xfrm flipH="1">
            <a:off x="4549523" y="810000"/>
            <a:ext cx="3468877" cy="1695301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p79"/>
          <p:cNvSpPr txBox="1"/>
          <p:nvPr/>
        </p:nvSpPr>
        <p:spPr>
          <a:xfrm flipH="1">
            <a:off x="4721175" y="991000"/>
            <a:ext cx="29403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Part of the design work involved some maths referred to as ‘the golden ratio’.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frac{b}{a}=\frac{a+b}{b}\approx1.618&quot;&gt;&lt;mfrac&gt;&lt;mi&gt;b&lt;/mi&gt;&lt;mi&gt;a&lt;/mi&gt;&lt;/mfrac&gt;&lt;mo&gt;=&lt;/mo&gt;&lt;mfrac&gt;&lt;mrow&gt;&lt;mi&gt;a&lt;/mi&gt;&lt;mo&gt;+&lt;/mo&gt;&lt;mi&gt;b&lt;/mi&gt;&lt;/mrow&gt;&lt;mi&gt;b&lt;/mi&gt;&lt;/mfrac&gt;&lt;mo&gt;≈&lt;/mo&gt;&lt;mn&gt;1.618&lt;/mn&gt;&lt;/math&gt;" id="887" name="Google Shape;887;p80" title="b over a equals the fraction with numerator a plus b and denominator b almost equals 1.6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269" y="3431093"/>
            <a:ext cx="2322247" cy="603525"/>
          </a:xfrm>
          <a:prstGeom prst="rect">
            <a:avLst/>
          </a:prstGeom>
          <a:noFill/>
          <a:ln>
            <a:noFill/>
          </a:ln>
        </p:spPr>
      </p:pic>
      <p:sp>
        <p:nvSpPr>
          <p:cNvPr id="888" name="Google Shape;888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golden ratio</a:t>
            </a:r>
            <a:endParaRPr/>
          </a:p>
        </p:txBody>
      </p:sp>
      <p:sp>
        <p:nvSpPr>
          <p:cNvPr id="889" name="Google Shape;889;p8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Two quantities are in the golden ratio if their ratio is the same as the ratio of their sum to the larger of the two quantities.</a:t>
            </a:r>
            <a:endParaRPr sz="2000">
              <a:solidFill>
                <a:srgbClr val="282828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For example, if we have two quantities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000">
                <a:solidFill>
                  <a:srgbClr val="282828"/>
                </a:solidFill>
              </a:rPr>
              <a:t> and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000">
                <a:solidFill>
                  <a:srgbClr val="282828"/>
                </a:solidFill>
              </a:rPr>
              <a:t> then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000">
                <a:solidFill>
                  <a:srgbClr val="282828"/>
                </a:solidFill>
              </a:rPr>
              <a:t> and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000">
                <a:solidFill>
                  <a:srgbClr val="282828"/>
                </a:solidFill>
              </a:rPr>
              <a:t> are in the golden ratio if:</a:t>
            </a:r>
            <a:endParaRPr sz="2000">
              <a:solidFill>
                <a:srgbClr val="282828"/>
              </a:solidFill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2000">
              <a:solidFill>
                <a:srgbClr val="282828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282828"/>
                </a:solidFill>
              </a:rPr>
              <a:t>This can also be expressed as:</a:t>
            </a:r>
            <a:endParaRPr sz="2000">
              <a:solidFill>
                <a:srgbClr val="282828"/>
              </a:solidFill>
            </a:endParaRPr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rgbClr val="282828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golden ratio</a:t>
            </a:r>
            <a:endParaRPr/>
          </a:p>
        </p:txBody>
      </p:sp>
      <p:pic>
        <p:nvPicPr>
          <p:cNvPr id="895" name="Google Shape;895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729" y="2199180"/>
            <a:ext cx="466898" cy="1931740"/>
          </a:xfrm>
          <a:prstGeom prst="rect">
            <a:avLst/>
          </a:prstGeom>
          <a:noFill/>
          <a:ln>
            <a:noFill/>
          </a:ln>
        </p:spPr>
      </p:pic>
      <p:sp>
        <p:nvSpPr>
          <p:cNvPr id="896" name="Google Shape;896;p81"/>
          <p:cNvSpPr txBox="1"/>
          <p:nvPr/>
        </p:nvSpPr>
        <p:spPr>
          <a:xfrm>
            <a:off x="324009" y="3950860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97" name="Google Shape;897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61472" y="2199176"/>
            <a:ext cx="568766" cy="1931740"/>
          </a:xfrm>
          <a:prstGeom prst="rect">
            <a:avLst/>
          </a:prstGeom>
          <a:noFill/>
          <a:ln>
            <a:noFill/>
          </a:ln>
        </p:spPr>
      </p:pic>
      <p:sp>
        <p:nvSpPr>
          <p:cNvPr id="898" name="Google Shape;898;p81"/>
          <p:cNvSpPr txBox="1"/>
          <p:nvPr/>
        </p:nvSpPr>
        <p:spPr>
          <a:xfrm>
            <a:off x="7162803" y="395084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99" name="Google Shape;899;p81"/>
          <p:cNvPicPr preferRelativeResize="0"/>
          <p:nvPr/>
        </p:nvPicPr>
        <p:blipFill rotWithShape="1">
          <a:blip r:embed="rId5">
            <a:alphaModFix/>
          </a:blip>
          <a:srcRect b="6172" l="40550" r="0" t="13240"/>
          <a:stretch/>
        </p:blipFill>
        <p:spPr>
          <a:xfrm>
            <a:off x="950275" y="810000"/>
            <a:ext cx="2571448" cy="1695301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Google Shape;900;p81"/>
          <p:cNvSpPr txBox="1"/>
          <p:nvPr/>
        </p:nvSpPr>
        <p:spPr>
          <a:xfrm>
            <a:off x="1288070" y="991010"/>
            <a:ext cx="2080200" cy="11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But how is that actually useful?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01" name="Google Shape;901;p81"/>
          <p:cNvPicPr preferRelativeResize="0"/>
          <p:nvPr/>
        </p:nvPicPr>
        <p:blipFill rotWithShape="1">
          <a:blip r:embed="rId5">
            <a:alphaModFix/>
          </a:blip>
          <a:srcRect b="6172" l="40550" r="0" t="13240"/>
          <a:stretch/>
        </p:blipFill>
        <p:spPr>
          <a:xfrm flipH="1">
            <a:off x="4549523" y="810000"/>
            <a:ext cx="3468877" cy="1695301"/>
          </a:xfrm>
          <a:prstGeom prst="rect">
            <a:avLst/>
          </a:prstGeom>
          <a:noFill/>
          <a:ln>
            <a:noFill/>
          </a:ln>
        </p:spPr>
      </p:pic>
      <p:sp>
        <p:nvSpPr>
          <p:cNvPr id="902" name="Google Shape;902;p81"/>
          <p:cNvSpPr txBox="1"/>
          <p:nvPr/>
        </p:nvSpPr>
        <p:spPr>
          <a:xfrm flipH="1">
            <a:off x="4721175" y="991000"/>
            <a:ext cx="29403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Hmm, let’s turn that into something more visual.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b}{a}=\frac{a+b}{b}\approx1.618&quot;&gt;&lt;mfrac&gt;&lt;mi&gt;b&lt;/mi&gt;&lt;mi&gt;a&lt;/mi&gt;&lt;/mfrac&gt;&lt;mo&gt;=&lt;/mo&gt;&lt;mfrac&gt;&lt;mrow&gt;&lt;mi&gt;a&lt;/mi&gt;&lt;mo&gt;+&lt;/mo&gt;&lt;mi&gt;b&lt;/mi&gt;&lt;/mrow&gt;&lt;mi&gt;b&lt;/mi&gt;&lt;/mfrac&gt;&lt;mo&gt;≈&lt;/mo&gt;&lt;mn&gt;1.618&lt;/mn&gt;&lt;/math&gt;" id="903" name="Google Shape;903;p81" title="b over a equals the fraction with numerator a plus b and denominator b almost equals 1.6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10269" y="3431093"/>
            <a:ext cx="2322247" cy="60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golden ratio</a:t>
            </a:r>
            <a:endParaRPr/>
          </a:p>
        </p:txBody>
      </p:sp>
      <p:grpSp>
        <p:nvGrpSpPr>
          <p:cNvPr id="909" name="Google Shape;909;p82"/>
          <p:cNvGrpSpPr/>
          <p:nvPr/>
        </p:nvGrpSpPr>
        <p:grpSpPr>
          <a:xfrm rot="-5400000">
            <a:off x="1236445" y="167390"/>
            <a:ext cx="2983805" cy="4808710"/>
            <a:chOff x="2260320" y="-109985"/>
            <a:chExt cx="2983805" cy="4808710"/>
          </a:xfrm>
        </p:grpSpPr>
        <p:sp>
          <p:nvSpPr>
            <p:cNvPr id="910" name="Google Shape;910;p82"/>
            <p:cNvSpPr/>
            <p:nvPr/>
          </p:nvSpPr>
          <p:spPr>
            <a:xfrm>
              <a:off x="4318625" y="3317525"/>
              <a:ext cx="238800" cy="238800"/>
            </a:xfrm>
            <a:prstGeom prst="rect">
              <a:avLst/>
            </a:prstGeom>
            <a:solidFill>
              <a:schemeClr val="accent4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1" name="Google Shape;911;p82"/>
            <p:cNvSpPr/>
            <p:nvPr/>
          </p:nvSpPr>
          <p:spPr>
            <a:xfrm>
              <a:off x="4090025" y="3317525"/>
              <a:ext cx="238800" cy="238800"/>
            </a:xfrm>
            <a:prstGeom prst="rect">
              <a:avLst/>
            </a:prstGeom>
            <a:solidFill>
              <a:schemeClr val="accent5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2" name="Google Shape;912;p82"/>
            <p:cNvSpPr/>
            <p:nvPr/>
          </p:nvSpPr>
          <p:spPr>
            <a:xfrm>
              <a:off x="4090025" y="2860325"/>
              <a:ext cx="467400" cy="467400"/>
            </a:xfrm>
            <a:prstGeom prst="rect">
              <a:avLst/>
            </a:prstGeom>
            <a:solidFill>
              <a:srgbClr val="374CF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3" name="Google Shape;913;p82"/>
            <p:cNvSpPr/>
            <p:nvPr/>
          </p:nvSpPr>
          <p:spPr>
            <a:xfrm>
              <a:off x="4547225" y="2860325"/>
              <a:ext cx="696900" cy="6960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4" name="Google Shape;914;p82"/>
            <p:cNvSpPr/>
            <p:nvPr/>
          </p:nvSpPr>
          <p:spPr>
            <a:xfrm>
              <a:off x="4090025" y="3546125"/>
              <a:ext cx="1154100" cy="11526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5" name="Google Shape;915;p82"/>
            <p:cNvSpPr/>
            <p:nvPr/>
          </p:nvSpPr>
          <p:spPr>
            <a:xfrm>
              <a:off x="2260332" y="2860325"/>
              <a:ext cx="1840800" cy="18384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6" name="Google Shape;916;p82"/>
            <p:cNvSpPr/>
            <p:nvPr/>
          </p:nvSpPr>
          <p:spPr>
            <a:xfrm>
              <a:off x="2260320" y="-109985"/>
              <a:ext cx="2983800" cy="29799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17" name="Google Shape;917;p82"/>
          <p:cNvSpPr txBox="1"/>
          <p:nvPr/>
        </p:nvSpPr>
        <p:spPr>
          <a:xfrm>
            <a:off x="5264175" y="1086025"/>
            <a:ext cx="3555900" cy="24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two coloured squares are the same size.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next square has a length which is approximately 1.618 times the length of a small coloured square.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18" name="Google Shape;918;p82"/>
          <p:cNvGrpSpPr/>
          <p:nvPr/>
        </p:nvGrpSpPr>
        <p:grpSpPr>
          <a:xfrm rot="-5400000">
            <a:off x="1236445" y="167390"/>
            <a:ext cx="2983805" cy="4808710"/>
            <a:chOff x="2260320" y="-109985"/>
            <a:chExt cx="2983805" cy="4808710"/>
          </a:xfrm>
        </p:grpSpPr>
        <p:sp>
          <p:nvSpPr>
            <p:cNvPr id="919" name="Google Shape;919;p82"/>
            <p:cNvSpPr/>
            <p:nvPr/>
          </p:nvSpPr>
          <p:spPr>
            <a:xfrm>
              <a:off x="4318625" y="3317525"/>
              <a:ext cx="238800" cy="238800"/>
            </a:xfrm>
            <a:prstGeom prst="rect">
              <a:avLst/>
            </a:prstGeom>
            <a:solidFill>
              <a:schemeClr val="accent4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0" name="Google Shape;920;p82"/>
            <p:cNvSpPr/>
            <p:nvPr/>
          </p:nvSpPr>
          <p:spPr>
            <a:xfrm>
              <a:off x="4090025" y="3317525"/>
              <a:ext cx="238800" cy="238800"/>
            </a:xfrm>
            <a:prstGeom prst="rect">
              <a:avLst/>
            </a:prstGeom>
            <a:solidFill>
              <a:schemeClr val="accent5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1" name="Google Shape;921;p82"/>
            <p:cNvSpPr/>
            <p:nvPr/>
          </p:nvSpPr>
          <p:spPr>
            <a:xfrm>
              <a:off x="4090025" y="2860325"/>
              <a:ext cx="467400" cy="4674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2" name="Google Shape;922;p82"/>
            <p:cNvSpPr/>
            <p:nvPr/>
          </p:nvSpPr>
          <p:spPr>
            <a:xfrm>
              <a:off x="4547225" y="2860325"/>
              <a:ext cx="696900" cy="6960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3" name="Google Shape;923;p82"/>
            <p:cNvSpPr/>
            <p:nvPr/>
          </p:nvSpPr>
          <p:spPr>
            <a:xfrm>
              <a:off x="4090025" y="3546125"/>
              <a:ext cx="1154100" cy="11526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4" name="Google Shape;924;p82"/>
            <p:cNvSpPr/>
            <p:nvPr/>
          </p:nvSpPr>
          <p:spPr>
            <a:xfrm>
              <a:off x="2260332" y="2860325"/>
              <a:ext cx="1840800" cy="18384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5" name="Google Shape;925;p82"/>
            <p:cNvSpPr/>
            <p:nvPr/>
          </p:nvSpPr>
          <p:spPr>
            <a:xfrm>
              <a:off x="2260320" y="-109985"/>
              <a:ext cx="2983800" cy="29799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golden ratio</a:t>
            </a:r>
            <a:endParaRPr/>
          </a:p>
        </p:txBody>
      </p:sp>
      <p:grpSp>
        <p:nvGrpSpPr>
          <p:cNvPr id="931" name="Google Shape;931;p83"/>
          <p:cNvGrpSpPr/>
          <p:nvPr/>
        </p:nvGrpSpPr>
        <p:grpSpPr>
          <a:xfrm rot="-5400000">
            <a:off x="1236445" y="167390"/>
            <a:ext cx="2983805" cy="4808710"/>
            <a:chOff x="2260320" y="-109985"/>
            <a:chExt cx="2983805" cy="4808710"/>
          </a:xfrm>
        </p:grpSpPr>
        <p:sp>
          <p:nvSpPr>
            <p:cNvPr id="932" name="Google Shape;932;p83"/>
            <p:cNvSpPr/>
            <p:nvPr/>
          </p:nvSpPr>
          <p:spPr>
            <a:xfrm>
              <a:off x="4318625" y="3317525"/>
              <a:ext cx="238800" cy="2388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3" name="Google Shape;933;p83"/>
            <p:cNvSpPr/>
            <p:nvPr/>
          </p:nvSpPr>
          <p:spPr>
            <a:xfrm>
              <a:off x="4090025" y="3317525"/>
              <a:ext cx="238800" cy="2388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4" name="Google Shape;934;p83"/>
            <p:cNvSpPr/>
            <p:nvPr/>
          </p:nvSpPr>
          <p:spPr>
            <a:xfrm>
              <a:off x="4090025" y="2860325"/>
              <a:ext cx="467400" cy="467400"/>
            </a:xfrm>
            <a:prstGeom prst="rect">
              <a:avLst/>
            </a:prstGeom>
            <a:solidFill>
              <a:srgbClr val="374CF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5" name="Google Shape;935;p83"/>
            <p:cNvSpPr/>
            <p:nvPr/>
          </p:nvSpPr>
          <p:spPr>
            <a:xfrm>
              <a:off x="4547225" y="2860325"/>
              <a:ext cx="696900" cy="6960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6" name="Google Shape;936;p83"/>
            <p:cNvSpPr/>
            <p:nvPr/>
          </p:nvSpPr>
          <p:spPr>
            <a:xfrm>
              <a:off x="4090025" y="3546125"/>
              <a:ext cx="1154100" cy="11526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7" name="Google Shape;937;p83"/>
            <p:cNvSpPr/>
            <p:nvPr/>
          </p:nvSpPr>
          <p:spPr>
            <a:xfrm>
              <a:off x="2260332" y="2860325"/>
              <a:ext cx="1840800" cy="18384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8" name="Google Shape;938;p83"/>
            <p:cNvSpPr/>
            <p:nvPr/>
          </p:nvSpPr>
          <p:spPr>
            <a:xfrm>
              <a:off x="2260320" y="-109985"/>
              <a:ext cx="2983800" cy="29799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39" name="Google Shape;939;p83"/>
          <p:cNvSpPr txBox="1"/>
          <p:nvPr/>
        </p:nvSpPr>
        <p:spPr>
          <a:xfrm>
            <a:off x="5264175" y="1086025"/>
            <a:ext cx="3555900" cy="24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pattern continues and the next square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has a length which is approximately 1.618 times the length of the previous square.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40" name="Google Shape;940;p83"/>
          <p:cNvGrpSpPr/>
          <p:nvPr/>
        </p:nvGrpSpPr>
        <p:grpSpPr>
          <a:xfrm rot="-5400000">
            <a:off x="1236445" y="167390"/>
            <a:ext cx="2983805" cy="4808710"/>
            <a:chOff x="2260320" y="-109985"/>
            <a:chExt cx="2983805" cy="4808710"/>
          </a:xfrm>
        </p:grpSpPr>
        <p:sp>
          <p:nvSpPr>
            <p:cNvPr id="941" name="Google Shape;941;p83"/>
            <p:cNvSpPr/>
            <p:nvPr/>
          </p:nvSpPr>
          <p:spPr>
            <a:xfrm>
              <a:off x="4318625" y="3317525"/>
              <a:ext cx="238800" cy="2388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2" name="Google Shape;942;p83"/>
            <p:cNvSpPr/>
            <p:nvPr/>
          </p:nvSpPr>
          <p:spPr>
            <a:xfrm>
              <a:off x="4090025" y="3317525"/>
              <a:ext cx="238800" cy="2388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3" name="Google Shape;943;p83"/>
            <p:cNvSpPr/>
            <p:nvPr/>
          </p:nvSpPr>
          <p:spPr>
            <a:xfrm>
              <a:off x="4090025" y="2860325"/>
              <a:ext cx="467400" cy="467400"/>
            </a:xfrm>
            <a:prstGeom prst="rect">
              <a:avLst/>
            </a:prstGeom>
            <a:solidFill>
              <a:srgbClr val="374CF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4" name="Google Shape;944;p83"/>
            <p:cNvSpPr/>
            <p:nvPr/>
          </p:nvSpPr>
          <p:spPr>
            <a:xfrm>
              <a:off x="4547225" y="2860325"/>
              <a:ext cx="696900" cy="696000"/>
            </a:xfrm>
            <a:prstGeom prst="rect">
              <a:avLst/>
            </a:prstGeom>
            <a:solidFill>
              <a:schemeClr val="accent3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5" name="Google Shape;945;p83"/>
            <p:cNvSpPr/>
            <p:nvPr/>
          </p:nvSpPr>
          <p:spPr>
            <a:xfrm>
              <a:off x="4090025" y="3546125"/>
              <a:ext cx="1154100" cy="11526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6" name="Google Shape;946;p83"/>
            <p:cNvSpPr/>
            <p:nvPr/>
          </p:nvSpPr>
          <p:spPr>
            <a:xfrm>
              <a:off x="2260332" y="2860325"/>
              <a:ext cx="1840800" cy="18384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47" name="Google Shape;947;p83"/>
            <p:cNvSpPr/>
            <p:nvPr/>
          </p:nvSpPr>
          <p:spPr>
            <a:xfrm>
              <a:off x="2260320" y="-109985"/>
              <a:ext cx="2983800" cy="29799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golden ratio</a:t>
            </a:r>
            <a:endParaRPr/>
          </a:p>
        </p:txBody>
      </p:sp>
      <p:grpSp>
        <p:nvGrpSpPr>
          <p:cNvPr id="953" name="Google Shape;953;p84"/>
          <p:cNvGrpSpPr/>
          <p:nvPr/>
        </p:nvGrpSpPr>
        <p:grpSpPr>
          <a:xfrm rot="-5400000">
            <a:off x="1236445" y="167390"/>
            <a:ext cx="2983805" cy="4808710"/>
            <a:chOff x="2260320" y="-109985"/>
            <a:chExt cx="2983805" cy="4808710"/>
          </a:xfrm>
        </p:grpSpPr>
        <p:sp>
          <p:nvSpPr>
            <p:cNvPr id="954" name="Google Shape;954;p84"/>
            <p:cNvSpPr/>
            <p:nvPr/>
          </p:nvSpPr>
          <p:spPr>
            <a:xfrm>
              <a:off x="4318625" y="3317525"/>
              <a:ext cx="238800" cy="2388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5" name="Google Shape;955;p84"/>
            <p:cNvSpPr/>
            <p:nvPr/>
          </p:nvSpPr>
          <p:spPr>
            <a:xfrm>
              <a:off x="4090025" y="3317525"/>
              <a:ext cx="238800" cy="2388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6" name="Google Shape;956;p84"/>
            <p:cNvSpPr/>
            <p:nvPr/>
          </p:nvSpPr>
          <p:spPr>
            <a:xfrm>
              <a:off x="4090025" y="2860325"/>
              <a:ext cx="467400" cy="4674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7" name="Google Shape;957;p84"/>
            <p:cNvSpPr/>
            <p:nvPr/>
          </p:nvSpPr>
          <p:spPr>
            <a:xfrm>
              <a:off x="4547225" y="2860325"/>
              <a:ext cx="696900" cy="6960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8" name="Google Shape;958;p84"/>
            <p:cNvSpPr/>
            <p:nvPr/>
          </p:nvSpPr>
          <p:spPr>
            <a:xfrm>
              <a:off x="4090025" y="3546125"/>
              <a:ext cx="1154100" cy="11526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9" name="Google Shape;959;p84"/>
            <p:cNvSpPr/>
            <p:nvPr/>
          </p:nvSpPr>
          <p:spPr>
            <a:xfrm>
              <a:off x="2260332" y="2860325"/>
              <a:ext cx="1840800" cy="18384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0" name="Google Shape;960;p84"/>
            <p:cNvSpPr/>
            <p:nvPr/>
          </p:nvSpPr>
          <p:spPr>
            <a:xfrm>
              <a:off x="2260320" y="-109985"/>
              <a:ext cx="2983800" cy="29799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61" name="Google Shape;961;p84"/>
          <p:cNvSpPr txBox="1"/>
          <p:nvPr/>
        </p:nvSpPr>
        <p:spPr>
          <a:xfrm>
            <a:off x="5264175" y="1086025"/>
            <a:ext cx="3555900" cy="24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By drawing within the squares, images can be created.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2" name="Google Shape;962;p84"/>
          <p:cNvSpPr/>
          <p:nvPr/>
        </p:nvSpPr>
        <p:spPr>
          <a:xfrm>
            <a:off x="3318375" y="1080000"/>
            <a:ext cx="648600" cy="677100"/>
          </a:xfrm>
          <a:prstGeom prst="triangle">
            <a:avLst>
              <a:gd fmla="val 50000" name="adj"/>
            </a:avLst>
          </a:prstGeom>
          <a:solidFill>
            <a:srgbClr val="F3EEFB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3" name="Google Shape;963;p84"/>
          <p:cNvSpPr/>
          <p:nvPr/>
        </p:nvSpPr>
        <p:spPr>
          <a:xfrm>
            <a:off x="3318375" y="1762675"/>
            <a:ext cx="422400" cy="472200"/>
          </a:xfrm>
          <a:prstGeom prst="triangle">
            <a:avLst>
              <a:gd fmla="val 50000" name="adj"/>
            </a:avLst>
          </a:prstGeom>
          <a:solidFill>
            <a:srgbClr val="F3EEFB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4" name="Google Shape;964;p84"/>
          <p:cNvSpPr/>
          <p:nvPr/>
        </p:nvSpPr>
        <p:spPr>
          <a:xfrm>
            <a:off x="3995700" y="1086025"/>
            <a:ext cx="1137000" cy="1149000"/>
          </a:xfrm>
          <a:prstGeom prst="triangle">
            <a:avLst>
              <a:gd fmla="val 50000" name="adj"/>
            </a:avLst>
          </a:prstGeom>
          <a:solidFill>
            <a:srgbClr val="F3EEFB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84"/>
          <p:cNvSpPr/>
          <p:nvPr/>
        </p:nvSpPr>
        <p:spPr>
          <a:xfrm>
            <a:off x="3318375" y="2235025"/>
            <a:ext cx="1814400" cy="1828500"/>
          </a:xfrm>
          <a:prstGeom prst="triangle">
            <a:avLst>
              <a:gd fmla="val 50000" name="adj"/>
            </a:avLst>
          </a:prstGeom>
          <a:solidFill>
            <a:srgbClr val="F3EEFB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6" name="Google Shape;966;p84"/>
          <p:cNvSpPr/>
          <p:nvPr/>
        </p:nvSpPr>
        <p:spPr>
          <a:xfrm>
            <a:off x="3751500" y="1988248"/>
            <a:ext cx="244200" cy="246900"/>
          </a:xfrm>
          <a:prstGeom prst="triangle">
            <a:avLst>
              <a:gd fmla="val 50000" name="adj"/>
            </a:avLst>
          </a:prstGeom>
          <a:solidFill>
            <a:srgbClr val="F3EEFB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golden ratio</a:t>
            </a:r>
            <a:endParaRPr/>
          </a:p>
        </p:txBody>
      </p:sp>
      <p:grpSp>
        <p:nvGrpSpPr>
          <p:cNvPr id="972" name="Google Shape;972;p85"/>
          <p:cNvGrpSpPr/>
          <p:nvPr/>
        </p:nvGrpSpPr>
        <p:grpSpPr>
          <a:xfrm>
            <a:off x="2023325" y="2400726"/>
            <a:ext cx="692246" cy="692370"/>
            <a:chOff x="2023325" y="2400726"/>
            <a:chExt cx="692246" cy="692370"/>
          </a:xfrm>
        </p:grpSpPr>
        <p:sp>
          <p:nvSpPr>
            <p:cNvPr id="973" name="Google Shape;973;p85"/>
            <p:cNvSpPr/>
            <p:nvPr/>
          </p:nvSpPr>
          <p:spPr>
            <a:xfrm rot="8100000">
              <a:off x="2419683" y="2795936"/>
              <a:ext cx="244376" cy="246922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4" name="Google Shape;974;p85"/>
            <p:cNvSpPr/>
            <p:nvPr/>
          </p:nvSpPr>
          <p:spPr>
            <a:xfrm rot="2700000">
              <a:off x="2419442" y="2450965"/>
              <a:ext cx="244376" cy="246922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5" name="Google Shape;975;p85"/>
            <p:cNvSpPr/>
            <p:nvPr/>
          </p:nvSpPr>
          <p:spPr>
            <a:xfrm flipH="1" rot="-2700000">
              <a:off x="2080410" y="2456663"/>
              <a:ext cx="244376" cy="246922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6" name="Google Shape;976;p85"/>
            <p:cNvSpPr/>
            <p:nvPr/>
          </p:nvSpPr>
          <p:spPr>
            <a:xfrm flipH="1" rot="-8100000">
              <a:off x="2074837" y="2795571"/>
              <a:ext cx="244376" cy="246922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77" name="Google Shape;977;p85"/>
          <p:cNvGrpSpPr/>
          <p:nvPr/>
        </p:nvGrpSpPr>
        <p:grpSpPr>
          <a:xfrm>
            <a:off x="1580089" y="1966583"/>
            <a:ext cx="1549837" cy="1549837"/>
            <a:chOff x="1580089" y="1966583"/>
            <a:chExt cx="1549837" cy="1549837"/>
          </a:xfrm>
        </p:grpSpPr>
        <p:sp>
          <p:nvSpPr>
            <p:cNvPr id="978" name="Google Shape;978;p85"/>
            <p:cNvSpPr/>
            <p:nvPr/>
          </p:nvSpPr>
          <p:spPr>
            <a:xfrm rot="5400000">
              <a:off x="2682475" y="2505468"/>
              <a:ext cx="422700" cy="472200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9" name="Google Shape;979;p85"/>
            <p:cNvSpPr/>
            <p:nvPr/>
          </p:nvSpPr>
          <p:spPr>
            <a:xfrm flipH="1" rot="10800000">
              <a:off x="2143723" y="3044220"/>
              <a:ext cx="422700" cy="472200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0" name="Google Shape;980;p85"/>
            <p:cNvSpPr/>
            <p:nvPr/>
          </p:nvSpPr>
          <p:spPr>
            <a:xfrm flipH="1">
              <a:off x="2143590" y="1966583"/>
              <a:ext cx="422700" cy="472200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1" name="Google Shape;981;p85"/>
            <p:cNvSpPr/>
            <p:nvPr/>
          </p:nvSpPr>
          <p:spPr>
            <a:xfrm rot="-5400000">
              <a:off x="1604839" y="2505335"/>
              <a:ext cx="422700" cy="472200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2" name="Google Shape;982;p85"/>
          <p:cNvGrpSpPr/>
          <p:nvPr/>
        </p:nvGrpSpPr>
        <p:grpSpPr>
          <a:xfrm>
            <a:off x="1257503" y="1639280"/>
            <a:ext cx="2187353" cy="2187976"/>
            <a:chOff x="1257503" y="1639280"/>
            <a:chExt cx="2187353" cy="2187976"/>
          </a:xfrm>
        </p:grpSpPr>
        <p:sp>
          <p:nvSpPr>
            <p:cNvPr id="983" name="Google Shape;983;p85"/>
            <p:cNvSpPr/>
            <p:nvPr/>
          </p:nvSpPr>
          <p:spPr>
            <a:xfrm rot="2700000">
              <a:off x="2641161" y="1769467"/>
              <a:ext cx="648700" cy="677125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4" name="Google Shape;984;p85"/>
            <p:cNvSpPr/>
            <p:nvPr/>
          </p:nvSpPr>
          <p:spPr>
            <a:xfrm flipH="1" rot="-8100000">
              <a:off x="1401903" y="3008724"/>
              <a:ext cx="648700" cy="677125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5" name="Google Shape;985;p85"/>
            <p:cNvSpPr/>
            <p:nvPr/>
          </p:nvSpPr>
          <p:spPr>
            <a:xfrm rot="8100000">
              <a:off x="2651756" y="3019943"/>
              <a:ext cx="648700" cy="677125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6" name="Google Shape;986;p85"/>
            <p:cNvSpPr/>
            <p:nvPr/>
          </p:nvSpPr>
          <p:spPr>
            <a:xfrm flipH="1" rot="-2700000">
              <a:off x="1412499" y="1780686"/>
              <a:ext cx="648700" cy="677125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7" name="Google Shape;987;p85"/>
          <p:cNvGrpSpPr/>
          <p:nvPr/>
        </p:nvGrpSpPr>
        <p:grpSpPr>
          <a:xfrm>
            <a:off x="323579" y="710780"/>
            <a:ext cx="4058510" cy="4058510"/>
            <a:chOff x="323579" y="710780"/>
            <a:chExt cx="4058510" cy="4058510"/>
          </a:xfrm>
        </p:grpSpPr>
        <p:sp>
          <p:nvSpPr>
            <p:cNvPr id="988" name="Google Shape;988;p85"/>
            <p:cNvSpPr/>
            <p:nvPr/>
          </p:nvSpPr>
          <p:spPr>
            <a:xfrm rot="5400000">
              <a:off x="3239089" y="2165521"/>
              <a:ext cx="1137000" cy="1149000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9" name="Google Shape;989;p85"/>
            <p:cNvSpPr/>
            <p:nvPr/>
          </p:nvSpPr>
          <p:spPr>
            <a:xfrm flipH="1" rot="10800000">
              <a:off x="1784321" y="3620290"/>
              <a:ext cx="1137000" cy="1149000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0" name="Google Shape;990;p85"/>
            <p:cNvSpPr/>
            <p:nvPr/>
          </p:nvSpPr>
          <p:spPr>
            <a:xfrm rot="-5400000">
              <a:off x="329579" y="2165549"/>
              <a:ext cx="1137000" cy="1149000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1" name="Google Shape;991;p85"/>
            <p:cNvSpPr/>
            <p:nvPr/>
          </p:nvSpPr>
          <p:spPr>
            <a:xfrm flipH="1">
              <a:off x="1784348" y="710780"/>
              <a:ext cx="1137000" cy="1149000"/>
            </a:xfrm>
            <a:prstGeom prst="triangle">
              <a:avLst>
                <a:gd fmla="val 50000" name="adj"/>
              </a:avLst>
            </a:prstGeom>
            <a:solidFill>
              <a:srgbClr val="F3EEFB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92" name="Google Shape;992;p85"/>
          <p:cNvSpPr txBox="1"/>
          <p:nvPr/>
        </p:nvSpPr>
        <p:spPr>
          <a:xfrm>
            <a:off x="4824000" y="1086025"/>
            <a:ext cx="3996000" cy="24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is a quickly put together image.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Graphic designers can produce more complex images using these ‘building blocks’.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86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Graphic designers</a:t>
            </a:r>
            <a:r>
              <a:rPr lang="en-GB"/>
              <a:t> work on various projects and maths can aid them in designing images that will appeal to the public.</a:t>
            </a:r>
            <a:endParaRPr/>
          </a:p>
        </p:txBody>
      </p:sp>
      <p:sp>
        <p:nvSpPr>
          <p:cNvPr id="998" name="Google Shape;998;p86"/>
          <p:cNvSpPr txBox="1"/>
          <p:nvPr>
            <p:ph idx="2" type="subTitle"/>
          </p:nvPr>
        </p:nvSpPr>
        <p:spPr>
          <a:xfrm>
            <a:off x="324000" y="1080000"/>
            <a:ext cx="84960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</a:t>
            </a:r>
            <a:r>
              <a:rPr b="1" lang="en-GB"/>
              <a:t>graphic designer</a:t>
            </a:r>
            <a:r>
              <a:rPr lang="en-GB"/>
              <a:t> creates visuals for various projects such as adverts, branding, magazines, packaging and websites.</a:t>
            </a:r>
            <a:endParaRPr/>
          </a:p>
        </p:txBody>
      </p:sp>
      <p:sp>
        <p:nvSpPr>
          <p:cNvPr id="999" name="Google Shape;999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golden ratio</a:t>
            </a:r>
            <a:endParaRPr/>
          </a:p>
        </p:txBody>
      </p:sp>
      <p:pic>
        <p:nvPicPr>
          <p:cNvPr id="1000" name="Google Shape;1000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3183" y="20817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8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golden ratio</a:t>
            </a:r>
            <a:endParaRPr/>
          </a:p>
        </p:txBody>
      </p:sp>
      <p:sp>
        <p:nvSpPr>
          <p:cNvPr id="1006" name="Google Shape;1006;p8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Design a logo for a company using the golden ratio template.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Write a paragraph detailing why your logo represents the company well.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For example, if you chose a restaurant chain and you designed a burger then this logo is in keeping with what the restaurant chain stands for.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8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golden ratio</a:t>
            </a:r>
            <a:endParaRPr/>
          </a:p>
        </p:txBody>
      </p:sp>
      <p:sp>
        <p:nvSpPr>
          <p:cNvPr id="1012" name="Google Shape;1012;p88"/>
          <p:cNvSpPr txBox="1"/>
          <p:nvPr>
            <p:ph idx="1" type="body"/>
          </p:nvPr>
        </p:nvSpPr>
        <p:spPr>
          <a:xfrm>
            <a:off x="324000" y="759300"/>
            <a:ext cx="8237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Template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pSp>
        <p:nvGrpSpPr>
          <p:cNvPr id="1013" name="Google Shape;1013;p88"/>
          <p:cNvGrpSpPr/>
          <p:nvPr/>
        </p:nvGrpSpPr>
        <p:grpSpPr>
          <a:xfrm rot="-5400000">
            <a:off x="2694095" y="423740"/>
            <a:ext cx="2983805" cy="4808710"/>
            <a:chOff x="2260320" y="-109985"/>
            <a:chExt cx="2983805" cy="4808710"/>
          </a:xfrm>
        </p:grpSpPr>
        <p:sp>
          <p:nvSpPr>
            <p:cNvPr id="1014" name="Google Shape;1014;p88"/>
            <p:cNvSpPr/>
            <p:nvPr/>
          </p:nvSpPr>
          <p:spPr>
            <a:xfrm>
              <a:off x="4318625" y="3317525"/>
              <a:ext cx="238800" cy="2388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5" name="Google Shape;1015;p88"/>
            <p:cNvSpPr/>
            <p:nvPr/>
          </p:nvSpPr>
          <p:spPr>
            <a:xfrm>
              <a:off x="4090025" y="3317525"/>
              <a:ext cx="238800" cy="2388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6" name="Google Shape;1016;p88"/>
            <p:cNvSpPr/>
            <p:nvPr/>
          </p:nvSpPr>
          <p:spPr>
            <a:xfrm>
              <a:off x="4090025" y="2860325"/>
              <a:ext cx="467400" cy="4674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7" name="Google Shape;1017;p88"/>
            <p:cNvSpPr/>
            <p:nvPr/>
          </p:nvSpPr>
          <p:spPr>
            <a:xfrm>
              <a:off x="4547225" y="2860325"/>
              <a:ext cx="696900" cy="6960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8" name="Google Shape;1018;p88"/>
            <p:cNvSpPr/>
            <p:nvPr/>
          </p:nvSpPr>
          <p:spPr>
            <a:xfrm>
              <a:off x="4090025" y="3546125"/>
              <a:ext cx="1154100" cy="11526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9" name="Google Shape;1019;p88"/>
            <p:cNvSpPr/>
            <p:nvPr/>
          </p:nvSpPr>
          <p:spPr>
            <a:xfrm>
              <a:off x="2260332" y="2860325"/>
              <a:ext cx="1840800" cy="18384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20" name="Google Shape;1020;p88"/>
            <p:cNvSpPr/>
            <p:nvPr/>
          </p:nvSpPr>
          <p:spPr>
            <a:xfrm>
              <a:off x="2260320" y="-109985"/>
              <a:ext cx="2983800" cy="29799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8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golden ratio</a:t>
            </a:r>
            <a:endParaRPr/>
          </a:p>
        </p:txBody>
      </p:sp>
      <p:sp>
        <p:nvSpPr>
          <p:cNvPr id="1026" name="Google Shape;1026;p89"/>
          <p:cNvSpPr txBox="1"/>
          <p:nvPr>
            <p:ph idx="1" type="body"/>
          </p:nvPr>
        </p:nvSpPr>
        <p:spPr>
          <a:xfrm>
            <a:off x="324000" y="759300"/>
            <a:ext cx="8237700" cy="55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E.g. Using the template, I placed circles in each smaller section.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pSp>
        <p:nvGrpSpPr>
          <p:cNvPr id="1027" name="Google Shape;1027;p89"/>
          <p:cNvGrpSpPr/>
          <p:nvPr/>
        </p:nvGrpSpPr>
        <p:grpSpPr>
          <a:xfrm rot="-5400000">
            <a:off x="2998895" y="499940"/>
            <a:ext cx="2983805" cy="4808710"/>
            <a:chOff x="2260320" y="-109985"/>
            <a:chExt cx="2983805" cy="4808710"/>
          </a:xfrm>
        </p:grpSpPr>
        <p:sp>
          <p:nvSpPr>
            <p:cNvPr id="1028" name="Google Shape;1028;p89"/>
            <p:cNvSpPr/>
            <p:nvPr/>
          </p:nvSpPr>
          <p:spPr>
            <a:xfrm>
              <a:off x="4318625" y="3317525"/>
              <a:ext cx="238800" cy="2388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29" name="Google Shape;1029;p89"/>
            <p:cNvSpPr/>
            <p:nvPr/>
          </p:nvSpPr>
          <p:spPr>
            <a:xfrm>
              <a:off x="4090025" y="3317525"/>
              <a:ext cx="238800" cy="2388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0" name="Google Shape;1030;p89"/>
            <p:cNvSpPr/>
            <p:nvPr/>
          </p:nvSpPr>
          <p:spPr>
            <a:xfrm>
              <a:off x="4090025" y="2860325"/>
              <a:ext cx="467400" cy="4674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1" name="Google Shape;1031;p89"/>
            <p:cNvSpPr/>
            <p:nvPr/>
          </p:nvSpPr>
          <p:spPr>
            <a:xfrm>
              <a:off x="4547225" y="2860325"/>
              <a:ext cx="696900" cy="6960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2" name="Google Shape;1032;p89"/>
            <p:cNvSpPr/>
            <p:nvPr/>
          </p:nvSpPr>
          <p:spPr>
            <a:xfrm>
              <a:off x="4090025" y="3546125"/>
              <a:ext cx="1154100" cy="11526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3" name="Google Shape;1033;p89"/>
            <p:cNvSpPr/>
            <p:nvPr/>
          </p:nvSpPr>
          <p:spPr>
            <a:xfrm>
              <a:off x="2260332" y="2860325"/>
              <a:ext cx="1840800" cy="18384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4" name="Google Shape;1034;p89"/>
            <p:cNvSpPr/>
            <p:nvPr/>
          </p:nvSpPr>
          <p:spPr>
            <a:xfrm>
              <a:off x="2260320" y="-109985"/>
              <a:ext cx="2983800" cy="29799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35" name="Google Shape;1035;p89"/>
          <p:cNvSpPr/>
          <p:nvPr/>
        </p:nvSpPr>
        <p:spPr>
          <a:xfrm>
            <a:off x="5071025" y="2571750"/>
            <a:ext cx="1824000" cy="1824000"/>
          </a:xfrm>
          <a:prstGeom prst="ellipse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6" name="Google Shape;1036;p89"/>
          <p:cNvSpPr/>
          <p:nvPr/>
        </p:nvSpPr>
        <p:spPr>
          <a:xfrm>
            <a:off x="5774400" y="1428750"/>
            <a:ext cx="1120800" cy="1120800"/>
          </a:xfrm>
          <a:prstGeom prst="ellipse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7" name="Google Shape;1037;p89"/>
          <p:cNvSpPr/>
          <p:nvPr/>
        </p:nvSpPr>
        <p:spPr>
          <a:xfrm>
            <a:off x="5072675" y="1428750"/>
            <a:ext cx="662700" cy="662700"/>
          </a:xfrm>
          <a:prstGeom prst="ellipse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8" name="Google Shape;1038;p89"/>
          <p:cNvSpPr/>
          <p:nvPr/>
        </p:nvSpPr>
        <p:spPr>
          <a:xfrm>
            <a:off x="5061924" y="2115075"/>
            <a:ext cx="449700" cy="449700"/>
          </a:xfrm>
          <a:prstGeom prst="ellipse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9" name="Google Shape;1039;p89"/>
          <p:cNvSpPr/>
          <p:nvPr/>
        </p:nvSpPr>
        <p:spPr>
          <a:xfrm>
            <a:off x="5519125" y="2099151"/>
            <a:ext cx="231000" cy="231000"/>
          </a:xfrm>
          <a:prstGeom prst="ellipse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0" name="Google Shape;1040;p89"/>
          <p:cNvSpPr/>
          <p:nvPr/>
        </p:nvSpPr>
        <p:spPr>
          <a:xfrm>
            <a:off x="5519125" y="2327751"/>
            <a:ext cx="231000" cy="231000"/>
          </a:xfrm>
          <a:prstGeom prst="ellipse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9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golden ratio</a:t>
            </a:r>
            <a:endParaRPr/>
          </a:p>
        </p:txBody>
      </p:sp>
      <p:sp>
        <p:nvSpPr>
          <p:cNvPr id="1046" name="Google Shape;1046;p90"/>
          <p:cNvSpPr txBox="1"/>
          <p:nvPr>
            <p:ph idx="1" type="body"/>
          </p:nvPr>
        </p:nvSpPr>
        <p:spPr>
          <a:xfrm>
            <a:off x="324000" y="759300"/>
            <a:ext cx="8237700" cy="55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E.g. I used copies of these to design my logo.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pSp>
        <p:nvGrpSpPr>
          <p:cNvPr id="1047" name="Google Shape;1047;p90"/>
          <p:cNvGrpSpPr/>
          <p:nvPr/>
        </p:nvGrpSpPr>
        <p:grpSpPr>
          <a:xfrm rot="-5400000">
            <a:off x="2998895" y="499940"/>
            <a:ext cx="2983805" cy="4808710"/>
            <a:chOff x="2260320" y="-109985"/>
            <a:chExt cx="2983805" cy="4808710"/>
          </a:xfrm>
        </p:grpSpPr>
        <p:sp>
          <p:nvSpPr>
            <p:cNvPr id="1048" name="Google Shape;1048;p90"/>
            <p:cNvSpPr/>
            <p:nvPr/>
          </p:nvSpPr>
          <p:spPr>
            <a:xfrm>
              <a:off x="4318625" y="3317525"/>
              <a:ext cx="238800" cy="2388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9" name="Google Shape;1049;p90"/>
            <p:cNvSpPr/>
            <p:nvPr/>
          </p:nvSpPr>
          <p:spPr>
            <a:xfrm>
              <a:off x="4090025" y="3317525"/>
              <a:ext cx="238800" cy="2388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0" name="Google Shape;1050;p90"/>
            <p:cNvSpPr/>
            <p:nvPr/>
          </p:nvSpPr>
          <p:spPr>
            <a:xfrm>
              <a:off x="4090025" y="2860325"/>
              <a:ext cx="467400" cy="4674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1" name="Google Shape;1051;p90"/>
            <p:cNvSpPr/>
            <p:nvPr/>
          </p:nvSpPr>
          <p:spPr>
            <a:xfrm>
              <a:off x="4547225" y="2860325"/>
              <a:ext cx="696900" cy="6960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2" name="Google Shape;1052;p90"/>
            <p:cNvSpPr/>
            <p:nvPr/>
          </p:nvSpPr>
          <p:spPr>
            <a:xfrm>
              <a:off x="4090025" y="3546125"/>
              <a:ext cx="1154100" cy="11526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3" name="Google Shape;1053;p90"/>
            <p:cNvSpPr/>
            <p:nvPr/>
          </p:nvSpPr>
          <p:spPr>
            <a:xfrm>
              <a:off x="2260332" y="2860325"/>
              <a:ext cx="1840800" cy="18384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4" name="Google Shape;1054;p90"/>
            <p:cNvSpPr/>
            <p:nvPr/>
          </p:nvSpPr>
          <p:spPr>
            <a:xfrm>
              <a:off x="2260320" y="-109985"/>
              <a:ext cx="2983800" cy="29799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55" name="Google Shape;1055;p90"/>
          <p:cNvSpPr/>
          <p:nvPr/>
        </p:nvSpPr>
        <p:spPr>
          <a:xfrm>
            <a:off x="5071025" y="2571750"/>
            <a:ext cx="1824000" cy="1824000"/>
          </a:xfrm>
          <a:prstGeom prst="ellipse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6" name="Google Shape;1056;p90"/>
          <p:cNvSpPr/>
          <p:nvPr/>
        </p:nvSpPr>
        <p:spPr>
          <a:xfrm>
            <a:off x="5774400" y="1428750"/>
            <a:ext cx="1120800" cy="1120800"/>
          </a:xfrm>
          <a:prstGeom prst="ellipse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7" name="Google Shape;1057;p90"/>
          <p:cNvSpPr/>
          <p:nvPr/>
        </p:nvSpPr>
        <p:spPr>
          <a:xfrm>
            <a:off x="5072675" y="1428750"/>
            <a:ext cx="662700" cy="662700"/>
          </a:xfrm>
          <a:prstGeom prst="ellipse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8" name="Google Shape;1058;p90"/>
          <p:cNvSpPr/>
          <p:nvPr/>
        </p:nvSpPr>
        <p:spPr>
          <a:xfrm>
            <a:off x="5061924" y="2115075"/>
            <a:ext cx="449700" cy="449700"/>
          </a:xfrm>
          <a:prstGeom prst="ellipse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9" name="Google Shape;1059;p90"/>
          <p:cNvSpPr/>
          <p:nvPr/>
        </p:nvSpPr>
        <p:spPr>
          <a:xfrm>
            <a:off x="5519125" y="2099151"/>
            <a:ext cx="231000" cy="231000"/>
          </a:xfrm>
          <a:prstGeom prst="ellipse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0" name="Google Shape;1060;p90"/>
          <p:cNvSpPr/>
          <p:nvPr/>
        </p:nvSpPr>
        <p:spPr>
          <a:xfrm>
            <a:off x="5519125" y="2327751"/>
            <a:ext cx="231000" cy="231000"/>
          </a:xfrm>
          <a:prstGeom prst="ellipse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61" name="Google Shape;1061;p90"/>
          <p:cNvGrpSpPr/>
          <p:nvPr/>
        </p:nvGrpSpPr>
        <p:grpSpPr>
          <a:xfrm>
            <a:off x="2481875" y="2876550"/>
            <a:ext cx="2262900" cy="662700"/>
            <a:chOff x="2481875" y="2876550"/>
            <a:chExt cx="2262900" cy="662700"/>
          </a:xfrm>
        </p:grpSpPr>
        <p:sp>
          <p:nvSpPr>
            <p:cNvPr id="1062" name="Google Shape;1062;p90"/>
            <p:cNvSpPr/>
            <p:nvPr/>
          </p:nvSpPr>
          <p:spPr>
            <a:xfrm>
              <a:off x="2481875" y="2876550"/>
              <a:ext cx="662700" cy="662700"/>
            </a:xfrm>
            <a:prstGeom prst="ellipse">
              <a:avLst/>
            </a:prstGeom>
            <a:solidFill>
              <a:schemeClr val="lt1"/>
            </a:solidFill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3" name="Google Shape;1063;p90"/>
            <p:cNvSpPr/>
            <p:nvPr/>
          </p:nvSpPr>
          <p:spPr>
            <a:xfrm>
              <a:off x="4082075" y="2876550"/>
              <a:ext cx="662700" cy="662700"/>
            </a:xfrm>
            <a:prstGeom prst="ellipse">
              <a:avLst/>
            </a:prstGeom>
            <a:solidFill>
              <a:schemeClr val="lt1"/>
            </a:solidFill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64" name="Google Shape;1064;p90"/>
          <p:cNvSpPr/>
          <p:nvPr/>
        </p:nvSpPr>
        <p:spPr>
          <a:xfrm>
            <a:off x="2708825" y="2571750"/>
            <a:ext cx="1824000" cy="1824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65" name="Google Shape;1065;p90"/>
          <p:cNvGrpSpPr/>
          <p:nvPr/>
        </p:nvGrpSpPr>
        <p:grpSpPr>
          <a:xfrm>
            <a:off x="2775924" y="3943875"/>
            <a:ext cx="1668900" cy="449700"/>
            <a:chOff x="2775924" y="3943875"/>
            <a:chExt cx="1668900" cy="449700"/>
          </a:xfrm>
        </p:grpSpPr>
        <p:sp>
          <p:nvSpPr>
            <p:cNvPr id="1066" name="Google Shape;1066;p90"/>
            <p:cNvSpPr/>
            <p:nvPr/>
          </p:nvSpPr>
          <p:spPr>
            <a:xfrm>
              <a:off x="2775924" y="3943875"/>
              <a:ext cx="449700" cy="449700"/>
            </a:xfrm>
            <a:prstGeom prst="ellipse">
              <a:avLst/>
            </a:prstGeom>
            <a:solidFill>
              <a:schemeClr val="lt1"/>
            </a:solidFill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7" name="Google Shape;1067;p90"/>
            <p:cNvSpPr/>
            <p:nvPr/>
          </p:nvSpPr>
          <p:spPr>
            <a:xfrm>
              <a:off x="3995124" y="3943875"/>
              <a:ext cx="449700" cy="449700"/>
            </a:xfrm>
            <a:prstGeom prst="ellipse">
              <a:avLst/>
            </a:prstGeom>
            <a:solidFill>
              <a:schemeClr val="lt1"/>
            </a:solidFill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8" name="Google Shape;1068;p90"/>
          <p:cNvGrpSpPr/>
          <p:nvPr/>
        </p:nvGrpSpPr>
        <p:grpSpPr>
          <a:xfrm>
            <a:off x="2928324" y="1505475"/>
            <a:ext cx="1364100" cy="449700"/>
            <a:chOff x="2928324" y="1505475"/>
            <a:chExt cx="1364100" cy="449700"/>
          </a:xfrm>
        </p:grpSpPr>
        <p:sp>
          <p:nvSpPr>
            <p:cNvPr id="1069" name="Google Shape;1069;p90"/>
            <p:cNvSpPr/>
            <p:nvPr/>
          </p:nvSpPr>
          <p:spPr>
            <a:xfrm>
              <a:off x="2928324" y="1505475"/>
              <a:ext cx="449700" cy="449700"/>
            </a:xfrm>
            <a:prstGeom prst="ellipse">
              <a:avLst/>
            </a:prstGeom>
            <a:solidFill>
              <a:schemeClr val="lt1"/>
            </a:solidFill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0" name="Google Shape;1070;p90"/>
            <p:cNvSpPr/>
            <p:nvPr/>
          </p:nvSpPr>
          <p:spPr>
            <a:xfrm>
              <a:off x="3842724" y="1505475"/>
              <a:ext cx="449700" cy="449700"/>
            </a:xfrm>
            <a:prstGeom prst="ellipse">
              <a:avLst/>
            </a:prstGeom>
            <a:solidFill>
              <a:schemeClr val="lt1"/>
            </a:solidFill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71" name="Google Shape;1071;p90"/>
          <p:cNvSpPr/>
          <p:nvPr/>
        </p:nvSpPr>
        <p:spPr>
          <a:xfrm>
            <a:off x="3031200" y="1581150"/>
            <a:ext cx="1120800" cy="11208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72" name="Google Shape;1072;p90"/>
          <p:cNvGrpSpPr/>
          <p:nvPr/>
        </p:nvGrpSpPr>
        <p:grpSpPr>
          <a:xfrm>
            <a:off x="3225625" y="1788825"/>
            <a:ext cx="769500" cy="759825"/>
            <a:chOff x="939625" y="1788825"/>
            <a:chExt cx="769500" cy="759825"/>
          </a:xfrm>
        </p:grpSpPr>
        <p:sp>
          <p:nvSpPr>
            <p:cNvPr id="1073" name="Google Shape;1073;p90"/>
            <p:cNvSpPr/>
            <p:nvPr/>
          </p:nvSpPr>
          <p:spPr>
            <a:xfrm>
              <a:off x="957875" y="1885950"/>
              <a:ext cx="662700" cy="662700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4" name="Google Shape;1074;p90"/>
            <p:cNvSpPr/>
            <p:nvPr/>
          </p:nvSpPr>
          <p:spPr>
            <a:xfrm>
              <a:off x="939625" y="1788825"/>
              <a:ext cx="769500" cy="551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75" name="Google Shape;1075;p90"/>
          <p:cNvGrpSpPr/>
          <p:nvPr/>
        </p:nvGrpSpPr>
        <p:grpSpPr>
          <a:xfrm>
            <a:off x="3309325" y="1870551"/>
            <a:ext cx="535800" cy="231000"/>
            <a:chOff x="3309325" y="1870551"/>
            <a:chExt cx="535800" cy="231000"/>
          </a:xfrm>
        </p:grpSpPr>
        <p:sp>
          <p:nvSpPr>
            <p:cNvPr id="1076" name="Google Shape;1076;p90"/>
            <p:cNvSpPr/>
            <p:nvPr/>
          </p:nvSpPr>
          <p:spPr>
            <a:xfrm>
              <a:off x="3309325" y="1870551"/>
              <a:ext cx="231000" cy="231000"/>
            </a:xfrm>
            <a:prstGeom prst="ellipse">
              <a:avLst/>
            </a:prstGeom>
            <a:solidFill>
              <a:schemeClr val="dk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7" name="Google Shape;1077;p90"/>
            <p:cNvSpPr/>
            <p:nvPr/>
          </p:nvSpPr>
          <p:spPr>
            <a:xfrm>
              <a:off x="3614125" y="1870551"/>
              <a:ext cx="231000" cy="231000"/>
            </a:xfrm>
            <a:prstGeom prst="ellipse">
              <a:avLst/>
            </a:prstGeom>
            <a:solidFill>
              <a:schemeClr val="dk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9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golden ratio</a:t>
            </a:r>
            <a:endParaRPr/>
          </a:p>
        </p:txBody>
      </p:sp>
      <p:sp>
        <p:nvSpPr>
          <p:cNvPr id="1083" name="Google Shape;1083;p91"/>
          <p:cNvSpPr txBox="1"/>
          <p:nvPr>
            <p:ph idx="1" type="body"/>
          </p:nvPr>
        </p:nvSpPr>
        <p:spPr>
          <a:xfrm>
            <a:off x="324000" y="759300"/>
            <a:ext cx="8237700" cy="55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pSp>
        <p:nvGrpSpPr>
          <p:cNvPr id="1084" name="Google Shape;1084;p91"/>
          <p:cNvGrpSpPr/>
          <p:nvPr/>
        </p:nvGrpSpPr>
        <p:grpSpPr>
          <a:xfrm>
            <a:off x="324000" y="1521400"/>
            <a:ext cx="2262900" cy="2890275"/>
            <a:chOff x="2481875" y="1505475"/>
            <a:chExt cx="2262900" cy="2890275"/>
          </a:xfrm>
        </p:grpSpPr>
        <p:grpSp>
          <p:nvGrpSpPr>
            <p:cNvPr id="1085" name="Google Shape;1085;p91"/>
            <p:cNvGrpSpPr/>
            <p:nvPr/>
          </p:nvGrpSpPr>
          <p:grpSpPr>
            <a:xfrm>
              <a:off x="2481875" y="2876550"/>
              <a:ext cx="2262900" cy="662700"/>
              <a:chOff x="2481875" y="2876550"/>
              <a:chExt cx="2262900" cy="662700"/>
            </a:xfrm>
          </p:grpSpPr>
          <p:sp>
            <p:nvSpPr>
              <p:cNvPr id="1086" name="Google Shape;1086;p91"/>
              <p:cNvSpPr/>
              <p:nvPr/>
            </p:nvSpPr>
            <p:spPr>
              <a:xfrm>
                <a:off x="2481875" y="2876550"/>
                <a:ext cx="662700" cy="662700"/>
              </a:xfrm>
              <a:prstGeom prst="ellipse">
                <a:avLst/>
              </a:prstGeom>
              <a:solidFill>
                <a:schemeClr val="lt1"/>
              </a:solidFill>
              <a:ln cap="flat" cmpd="sng" w="2857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87" name="Google Shape;1087;p91"/>
              <p:cNvSpPr/>
              <p:nvPr/>
            </p:nvSpPr>
            <p:spPr>
              <a:xfrm>
                <a:off x="4082075" y="2876550"/>
                <a:ext cx="662700" cy="662700"/>
              </a:xfrm>
              <a:prstGeom prst="ellipse">
                <a:avLst/>
              </a:prstGeom>
              <a:solidFill>
                <a:schemeClr val="lt1"/>
              </a:solidFill>
              <a:ln cap="flat" cmpd="sng" w="2857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088" name="Google Shape;1088;p91"/>
            <p:cNvSpPr/>
            <p:nvPr/>
          </p:nvSpPr>
          <p:spPr>
            <a:xfrm>
              <a:off x="2708825" y="2571750"/>
              <a:ext cx="1824000" cy="1824000"/>
            </a:xfrm>
            <a:prstGeom prst="ellipse">
              <a:avLst/>
            </a:prstGeom>
            <a:solidFill>
              <a:schemeClr val="lt1"/>
            </a:solidFill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089" name="Google Shape;1089;p91"/>
            <p:cNvGrpSpPr/>
            <p:nvPr/>
          </p:nvGrpSpPr>
          <p:grpSpPr>
            <a:xfrm>
              <a:off x="2775924" y="3943875"/>
              <a:ext cx="1668900" cy="449700"/>
              <a:chOff x="2775924" y="3943875"/>
              <a:chExt cx="1668900" cy="449700"/>
            </a:xfrm>
          </p:grpSpPr>
          <p:sp>
            <p:nvSpPr>
              <p:cNvPr id="1090" name="Google Shape;1090;p91"/>
              <p:cNvSpPr/>
              <p:nvPr/>
            </p:nvSpPr>
            <p:spPr>
              <a:xfrm>
                <a:off x="2775924" y="3943875"/>
                <a:ext cx="449700" cy="449700"/>
              </a:xfrm>
              <a:prstGeom prst="ellipse">
                <a:avLst/>
              </a:prstGeom>
              <a:solidFill>
                <a:schemeClr val="lt1"/>
              </a:solidFill>
              <a:ln cap="flat" cmpd="sng" w="2857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91" name="Google Shape;1091;p91"/>
              <p:cNvSpPr/>
              <p:nvPr/>
            </p:nvSpPr>
            <p:spPr>
              <a:xfrm>
                <a:off x="3995124" y="3943875"/>
                <a:ext cx="449700" cy="449700"/>
              </a:xfrm>
              <a:prstGeom prst="ellipse">
                <a:avLst/>
              </a:prstGeom>
              <a:solidFill>
                <a:schemeClr val="lt1"/>
              </a:solidFill>
              <a:ln cap="flat" cmpd="sng" w="2857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092" name="Google Shape;1092;p91"/>
            <p:cNvGrpSpPr/>
            <p:nvPr/>
          </p:nvGrpSpPr>
          <p:grpSpPr>
            <a:xfrm>
              <a:off x="2928324" y="1505475"/>
              <a:ext cx="1364100" cy="449700"/>
              <a:chOff x="2928324" y="1505475"/>
              <a:chExt cx="1364100" cy="449700"/>
            </a:xfrm>
          </p:grpSpPr>
          <p:sp>
            <p:nvSpPr>
              <p:cNvPr id="1093" name="Google Shape;1093;p91"/>
              <p:cNvSpPr/>
              <p:nvPr/>
            </p:nvSpPr>
            <p:spPr>
              <a:xfrm>
                <a:off x="2928324" y="1505475"/>
                <a:ext cx="449700" cy="449700"/>
              </a:xfrm>
              <a:prstGeom prst="ellipse">
                <a:avLst/>
              </a:prstGeom>
              <a:solidFill>
                <a:schemeClr val="lt1"/>
              </a:solidFill>
              <a:ln cap="flat" cmpd="sng" w="2857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94" name="Google Shape;1094;p91"/>
              <p:cNvSpPr/>
              <p:nvPr/>
            </p:nvSpPr>
            <p:spPr>
              <a:xfrm>
                <a:off x="3842724" y="1505475"/>
                <a:ext cx="449700" cy="449700"/>
              </a:xfrm>
              <a:prstGeom prst="ellipse">
                <a:avLst/>
              </a:prstGeom>
              <a:solidFill>
                <a:schemeClr val="lt1"/>
              </a:solidFill>
              <a:ln cap="flat" cmpd="sng" w="28575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095" name="Google Shape;1095;p91"/>
            <p:cNvSpPr/>
            <p:nvPr/>
          </p:nvSpPr>
          <p:spPr>
            <a:xfrm>
              <a:off x="3031200" y="1581150"/>
              <a:ext cx="1120800" cy="1120800"/>
            </a:xfrm>
            <a:prstGeom prst="ellipse">
              <a:avLst/>
            </a:prstGeom>
            <a:solidFill>
              <a:schemeClr val="lt1"/>
            </a:solidFill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096" name="Google Shape;1096;p91"/>
            <p:cNvGrpSpPr/>
            <p:nvPr/>
          </p:nvGrpSpPr>
          <p:grpSpPr>
            <a:xfrm>
              <a:off x="3225625" y="1788825"/>
              <a:ext cx="769500" cy="759825"/>
              <a:chOff x="939625" y="1788825"/>
              <a:chExt cx="769500" cy="759825"/>
            </a:xfrm>
          </p:grpSpPr>
          <p:sp>
            <p:nvSpPr>
              <p:cNvPr id="1097" name="Google Shape;1097;p91"/>
              <p:cNvSpPr/>
              <p:nvPr/>
            </p:nvSpPr>
            <p:spPr>
              <a:xfrm>
                <a:off x="957875" y="1885950"/>
                <a:ext cx="662700" cy="662700"/>
              </a:xfrm>
              <a:prstGeom prst="ellipse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98" name="Google Shape;1098;p91"/>
              <p:cNvSpPr/>
              <p:nvPr/>
            </p:nvSpPr>
            <p:spPr>
              <a:xfrm>
                <a:off x="939625" y="1788825"/>
                <a:ext cx="769500" cy="5517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099" name="Google Shape;1099;p91"/>
            <p:cNvGrpSpPr/>
            <p:nvPr/>
          </p:nvGrpSpPr>
          <p:grpSpPr>
            <a:xfrm>
              <a:off x="3309325" y="1870551"/>
              <a:ext cx="535800" cy="231000"/>
              <a:chOff x="3309325" y="1870551"/>
              <a:chExt cx="535800" cy="231000"/>
            </a:xfrm>
          </p:grpSpPr>
          <p:sp>
            <p:nvSpPr>
              <p:cNvPr id="1100" name="Google Shape;1100;p91"/>
              <p:cNvSpPr/>
              <p:nvPr/>
            </p:nvSpPr>
            <p:spPr>
              <a:xfrm>
                <a:off x="3309325" y="1870551"/>
                <a:ext cx="231000" cy="231000"/>
              </a:xfrm>
              <a:prstGeom prst="ellipse">
                <a:avLst/>
              </a:prstGeom>
              <a:solidFill>
                <a:schemeClr val="dk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01" name="Google Shape;1101;p91"/>
              <p:cNvSpPr/>
              <p:nvPr/>
            </p:nvSpPr>
            <p:spPr>
              <a:xfrm>
                <a:off x="3614125" y="1870551"/>
                <a:ext cx="231000" cy="231000"/>
              </a:xfrm>
              <a:prstGeom prst="ellipse">
                <a:avLst/>
              </a:prstGeom>
              <a:solidFill>
                <a:schemeClr val="dk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102" name="Google Shape;1102;p91"/>
          <p:cNvSpPr txBox="1"/>
          <p:nvPr/>
        </p:nvSpPr>
        <p:spPr>
          <a:xfrm>
            <a:off x="3503325" y="1521400"/>
            <a:ext cx="4697700" cy="24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 have designed a logo for a company that sells products aimed at toddlers.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teddy is made from circles which means the teddy has a soft ‘round’ appearance. It looks cuddly and safe for children.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92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golden ratio</a:t>
            </a:r>
            <a:endParaRPr/>
          </a:p>
        </p:txBody>
      </p:sp>
      <p:sp>
        <p:nvSpPr>
          <p:cNvPr id="1108" name="Google Shape;1108;p92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Rotational symmetry in art</a:t>
            </a:r>
            <a:endParaRPr/>
          </a:p>
        </p:txBody>
      </p:sp>
      <p:sp>
        <p:nvSpPr>
          <p:cNvPr id="1109" name="Google Shape;1109;p92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 designer</a:t>
            </a:r>
            <a:endParaRPr/>
          </a:p>
        </p:txBody>
      </p:sp>
      <p:pic>
        <p:nvPicPr>
          <p:cNvPr id="1110" name="Google Shape;1110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426" y="2994501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Rotational symmetry in art</a:t>
            </a:r>
            <a:endParaRPr/>
          </a:p>
        </p:txBody>
      </p:sp>
      <p:sp>
        <p:nvSpPr>
          <p:cNvPr id="1116" name="Google Shape;1116;p9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golden ratio is not the only bit of maths that </a:t>
            </a:r>
            <a:r>
              <a:rPr b="1" lang="en-GB"/>
              <a:t>graphic designers</a:t>
            </a:r>
            <a:r>
              <a:rPr lang="en-GB"/>
              <a:t> can use to help create images.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Rotational symmetry can also help.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Rotational symmetry in art</a:t>
            </a:r>
            <a:endParaRPr/>
          </a:p>
        </p:txBody>
      </p:sp>
      <p:sp>
        <p:nvSpPr>
          <p:cNvPr id="1122" name="Google Shape;1122;p94"/>
          <p:cNvSpPr txBox="1"/>
          <p:nvPr>
            <p:ph idx="1" type="body"/>
          </p:nvPr>
        </p:nvSpPr>
        <p:spPr>
          <a:xfrm>
            <a:off x="324000" y="759300"/>
            <a:ext cx="84963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Islamic designs are sometimes created from the repeated use of basic shapes. Beautiful, complex designs are the result.</a:t>
            </a:r>
            <a:endParaRPr/>
          </a:p>
        </p:txBody>
      </p:sp>
      <p:pic>
        <p:nvPicPr>
          <p:cNvPr id="1123" name="Google Shape;1123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620000"/>
            <a:ext cx="4802464" cy="32004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4" name="Google Shape;1124;p94"/>
          <p:cNvSpPr txBox="1"/>
          <p:nvPr/>
        </p:nvSpPr>
        <p:spPr>
          <a:xfrm>
            <a:off x="5332050" y="1636575"/>
            <a:ext cx="3488100" cy="18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shapes can you see in this design?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Rotational symmetry in art</a:t>
            </a:r>
            <a:endParaRPr/>
          </a:p>
        </p:txBody>
      </p:sp>
      <p:sp>
        <p:nvSpPr>
          <p:cNvPr id="1130" name="Google Shape;1130;p9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Celtic designs, such as this version of the Celtic knot, also rely on rotational symmetry</a:t>
            </a:r>
            <a:endParaRPr/>
          </a:p>
        </p:txBody>
      </p:sp>
      <p:pic>
        <p:nvPicPr>
          <p:cNvPr id="1131" name="Google Shape;1131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5000" y="1620001"/>
            <a:ext cx="6593992" cy="3200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Rotational symmetry in art</a:t>
            </a:r>
            <a:endParaRPr/>
          </a:p>
        </p:txBody>
      </p:sp>
      <p:sp>
        <p:nvSpPr>
          <p:cNvPr id="1137" name="Google Shape;1137;p96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Many different cultures create patterns using geometric shapes. You could research other cultures that do this.</a:t>
            </a:r>
            <a:endParaRPr/>
          </a:p>
        </p:txBody>
      </p:sp>
      <p:sp>
        <p:nvSpPr>
          <p:cNvPr id="1138" name="Google Shape;1138;p96"/>
          <p:cNvSpPr txBox="1"/>
          <p:nvPr>
            <p:ph idx="2" type="subTitle"/>
          </p:nvPr>
        </p:nvSpPr>
        <p:spPr>
          <a:xfrm>
            <a:off x="324000" y="1080000"/>
            <a:ext cx="8496000" cy="2505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Only Western cultures use geometric shapes in their designs.</a:t>
            </a:r>
            <a:endParaRPr/>
          </a:p>
        </p:txBody>
      </p:sp>
      <p:pic>
        <p:nvPicPr>
          <p:cNvPr id="1139" name="Google Shape;1139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6808" y="20755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Rotational symmetry in art</a:t>
            </a:r>
            <a:endParaRPr/>
          </a:p>
        </p:txBody>
      </p:sp>
      <p:pic>
        <p:nvPicPr>
          <p:cNvPr id="1145" name="Google Shape;1145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729" y="2199180"/>
            <a:ext cx="466898" cy="19317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6" name="Google Shape;1146;p97"/>
          <p:cNvSpPr txBox="1"/>
          <p:nvPr/>
        </p:nvSpPr>
        <p:spPr>
          <a:xfrm>
            <a:off x="324009" y="3950860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47" name="Google Shape;1147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61472" y="2199176"/>
            <a:ext cx="568766" cy="19317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8" name="Google Shape;1148;p97"/>
          <p:cNvSpPr txBox="1"/>
          <p:nvPr/>
        </p:nvSpPr>
        <p:spPr>
          <a:xfrm>
            <a:off x="7162803" y="395084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49" name="Google Shape;1149;p97"/>
          <p:cNvPicPr preferRelativeResize="0"/>
          <p:nvPr/>
        </p:nvPicPr>
        <p:blipFill rotWithShape="1">
          <a:blip r:embed="rId5">
            <a:alphaModFix/>
          </a:blip>
          <a:srcRect b="6172" l="40550" r="0" t="13240"/>
          <a:stretch/>
        </p:blipFill>
        <p:spPr>
          <a:xfrm>
            <a:off x="950275" y="810000"/>
            <a:ext cx="2571448" cy="1695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50" name="Google Shape;1150;p97"/>
          <p:cNvSpPr txBox="1"/>
          <p:nvPr/>
        </p:nvSpPr>
        <p:spPr>
          <a:xfrm>
            <a:off x="1288070" y="991010"/>
            <a:ext cx="2080200" cy="11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Does it matter whether there is rotational symmetry?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51" name="Google Shape;1151;p97"/>
          <p:cNvPicPr preferRelativeResize="0"/>
          <p:nvPr/>
        </p:nvPicPr>
        <p:blipFill rotWithShape="1">
          <a:blip r:embed="rId5">
            <a:alphaModFix/>
          </a:blip>
          <a:srcRect b="6172" l="40550" r="0" t="13240"/>
          <a:stretch/>
        </p:blipFill>
        <p:spPr>
          <a:xfrm flipH="1">
            <a:off x="4549523" y="810000"/>
            <a:ext cx="3468877" cy="1695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52" name="Google Shape;1152;p97"/>
          <p:cNvSpPr txBox="1"/>
          <p:nvPr/>
        </p:nvSpPr>
        <p:spPr>
          <a:xfrm flipH="1">
            <a:off x="4721175" y="991000"/>
            <a:ext cx="29403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Let’s consider two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designs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made entirely from triangles.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Rotational symmetry in art</a:t>
            </a:r>
            <a:endParaRPr/>
          </a:p>
        </p:txBody>
      </p:sp>
      <p:sp>
        <p:nvSpPr>
          <p:cNvPr id="1158" name="Google Shape;1158;p98"/>
          <p:cNvSpPr txBox="1"/>
          <p:nvPr>
            <p:ph idx="1" type="body"/>
          </p:nvPr>
        </p:nvSpPr>
        <p:spPr>
          <a:xfrm>
            <a:off x="324000" y="759300"/>
            <a:ext cx="8237700" cy="44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With rotational symmetry		  Without rotational symmetry</a:t>
            </a:r>
            <a:endParaRPr/>
          </a:p>
        </p:txBody>
      </p:sp>
      <p:grpSp>
        <p:nvGrpSpPr>
          <p:cNvPr id="1159" name="Google Shape;1159;p98"/>
          <p:cNvGrpSpPr/>
          <p:nvPr/>
        </p:nvGrpSpPr>
        <p:grpSpPr>
          <a:xfrm rot="2700000">
            <a:off x="685087" y="1373086"/>
            <a:ext cx="2837836" cy="2834149"/>
            <a:chOff x="1523450" y="1373150"/>
            <a:chExt cx="2837863" cy="2834176"/>
          </a:xfrm>
        </p:grpSpPr>
        <p:sp>
          <p:nvSpPr>
            <p:cNvPr id="1160" name="Google Shape;1160;p98"/>
            <p:cNvSpPr/>
            <p:nvPr/>
          </p:nvSpPr>
          <p:spPr>
            <a:xfrm>
              <a:off x="1523450" y="2081575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E6F2F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1" name="Google Shape;1161;p98"/>
            <p:cNvSpPr/>
            <p:nvPr/>
          </p:nvSpPr>
          <p:spPr>
            <a:xfrm flipH="1" rot="10800000">
              <a:off x="1873975" y="2081575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E6F2F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2" name="Google Shape;1162;p98"/>
            <p:cNvSpPr/>
            <p:nvPr/>
          </p:nvSpPr>
          <p:spPr>
            <a:xfrm>
              <a:off x="2232350" y="2081575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E6F2F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3" name="Google Shape;1163;p98"/>
            <p:cNvSpPr/>
            <p:nvPr/>
          </p:nvSpPr>
          <p:spPr>
            <a:xfrm>
              <a:off x="2941250" y="2081575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E6F2F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4" name="Google Shape;1164;p98"/>
            <p:cNvSpPr/>
            <p:nvPr/>
          </p:nvSpPr>
          <p:spPr>
            <a:xfrm flipH="1" rot="10800000">
              <a:off x="2585613" y="2079984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E6F2F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5" name="Google Shape;1165;p98"/>
            <p:cNvSpPr/>
            <p:nvPr/>
          </p:nvSpPr>
          <p:spPr>
            <a:xfrm flipH="1" rot="10800000">
              <a:off x="3294038" y="2079984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E6F2F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6" name="Google Shape;1166;p98"/>
            <p:cNvSpPr/>
            <p:nvPr/>
          </p:nvSpPr>
          <p:spPr>
            <a:xfrm>
              <a:off x="1881825" y="2790000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E6F2F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7" name="Google Shape;1167;p98"/>
            <p:cNvSpPr/>
            <p:nvPr/>
          </p:nvSpPr>
          <p:spPr>
            <a:xfrm flipH="1" rot="10800000">
              <a:off x="2232350" y="2790000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E6F2F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8" name="Google Shape;1168;p98"/>
            <p:cNvSpPr/>
            <p:nvPr/>
          </p:nvSpPr>
          <p:spPr>
            <a:xfrm>
              <a:off x="2590725" y="2790000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E6F2F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9" name="Google Shape;1169;p98"/>
            <p:cNvSpPr/>
            <p:nvPr/>
          </p:nvSpPr>
          <p:spPr>
            <a:xfrm>
              <a:off x="3299625" y="2790000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E6F2F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0" name="Google Shape;1170;p98"/>
            <p:cNvSpPr/>
            <p:nvPr/>
          </p:nvSpPr>
          <p:spPr>
            <a:xfrm flipH="1" rot="10800000">
              <a:off x="2943988" y="2788409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E6F2F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1" name="Google Shape;1171;p98"/>
            <p:cNvSpPr/>
            <p:nvPr/>
          </p:nvSpPr>
          <p:spPr>
            <a:xfrm flipH="1" rot="10800000">
              <a:off x="3652413" y="2788409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E6F2F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2" name="Google Shape;1172;p98"/>
            <p:cNvSpPr/>
            <p:nvPr/>
          </p:nvSpPr>
          <p:spPr>
            <a:xfrm flipH="1" rot="10800000">
              <a:off x="1881517" y="3498426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E6F2F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3" name="Google Shape;1173;p98"/>
            <p:cNvSpPr/>
            <p:nvPr/>
          </p:nvSpPr>
          <p:spPr>
            <a:xfrm flipH="1" rot="10800000">
              <a:off x="2589943" y="3498426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E6F2F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4" name="Google Shape;1174;p98"/>
            <p:cNvSpPr/>
            <p:nvPr/>
          </p:nvSpPr>
          <p:spPr>
            <a:xfrm>
              <a:off x="2949574" y="3498426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E6F2F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5" name="Google Shape;1175;p98"/>
            <p:cNvSpPr/>
            <p:nvPr/>
          </p:nvSpPr>
          <p:spPr>
            <a:xfrm>
              <a:off x="3292083" y="1373150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E6F2F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6" name="Google Shape;1176;p98"/>
            <p:cNvSpPr/>
            <p:nvPr/>
          </p:nvSpPr>
          <p:spPr>
            <a:xfrm>
              <a:off x="2583657" y="1373150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E6F2F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7" name="Google Shape;1177;p98"/>
            <p:cNvSpPr/>
            <p:nvPr/>
          </p:nvSpPr>
          <p:spPr>
            <a:xfrm flipH="1" rot="10800000">
              <a:off x="2231568" y="1373150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E6F2F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8" name="Google Shape;1178;p98"/>
          <p:cNvGrpSpPr/>
          <p:nvPr/>
        </p:nvGrpSpPr>
        <p:grpSpPr>
          <a:xfrm rot="2700000">
            <a:off x="5183851" y="1549895"/>
            <a:ext cx="3337925" cy="2834149"/>
            <a:chOff x="1523450" y="1373150"/>
            <a:chExt cx="3337957" cy="2834176"/>
          </a:xfrm>
        </p:grpSpPr>
        <p:sp>
          <p:nvSpPr>
            <p:cNvPr id="1179" name="Google Shape;1179;p98"/>
            <p:cNvSpPr/>
            <p:nvPr/>
          </p:nvSpPr>
          <p:spPr>
            <a:xfrm>
              <a:off x="1523450" y="2081575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E6F2F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0" name="Google Shape;1180;p98"/>
            <p:cNvSpPr/>
            <p:nvPr/>
          </p:nvSpPr>
          <p:spPr>
            <a:xfrm flipH="1" rot="10800000">
              <a:off x="1873975" y="2081575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E6F2F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1" name="Google Shape;1181;p98"/>
            <p:cNvSpPr/>
            <p:nvPr/>
          </p:nvSpPr>
          <p:spPr>
            <a:xfrm>
              <a:off x="2232350" y="2081575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E6F2F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2" name="Google Shape;1182;p98"/>
            <p:cNvSpPr/>
            <p:nvPr/>
          </p:nvSpPr>
          <p:spPr>
            <a:xfrm>
              <a:off x="2941250" y="2081575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E6F2F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3" name="Google Shape;1183;p98"/>
            <p:cNvSpPr/>
            <p:nvPr/>
          </p:nvSpPr>
          <p:spPr>
            <a:xfrm flipH="1" rot="10800000">
              <a:off x="2585613" y="2079984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E6F2F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4" name="Google Shape;1184;p98"/>
            <p:cNvSpPr/>
            <p:nvPr/>
          </p:nvSpPr>
          <p:spPr>
            <a:xfrm flipH="1" rot="10800000">
              <a:off x="3294038" y="2079984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E6F2F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5" name="Google Shape;1185;p98"/>
            <p:cNvSpPr/>
            <p:nvPr/>
          </p:nvSpPr>
          <p:spPr>
            <a:xfrm>
              <a:off x="1881825" y="2790000"/>
              <a:ext cx="708900" cy="708900"/>
            </a:xfrm>
            <a:prstGeom prst="triangle">
              <a:avLst>
                <a:gd fmla="val 0" name="adj"/>
              </a:avLst>
            </a:prstGeom>
            <a:solidFill>
              <a:srgbClr val="E6F2F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6" name="Google Shape;1186;p98"/>
            <p:cNvSpPr/>
            <p:nvPr/>
          </p:nvSpPr>
          <p:spPr>
            <a:xfrm flipH="1" rot="10800000">
              <a:off x="2232348" y="2432391"/>
              <a:ext cx="1066500" cy="1066500"/>
            </a:xfrm>
            <a:prstGeom prst="triangle">
              <a:avLst>
                <a:gd fmla="val 50000" name="adj"/>
              </a:avLst>
            </a:prstGeom>
            <a:solidFill>
              <a:srgbClr val="E6F2F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7" name="Google Shape;1187;p98"/>
            <p:cNvSpPr/>
            <p:nvPr/>
          </p:nvSpPr>
          <p:spPr>
            <a:xfrm>
              <a:off x="2590725" y="2790000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E6F2F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8" name="Google Shape;1188;p98"/>
            <p:cNvSpPr/>
            <p:nvPr/>
          </p:nvSpPr>
          <p:spPr>
            <a:xfrm>
              <a:off x="3299625" y="2790000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E6F2F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9" name="Google Shape;1189;p98"/>
            <p:cNvSpPr/>
            <p:nvPr/>
          </p:nvSpPr>
          <p:spPr>
            <a:xfrm flipH="1" rot="10800000">
              <a:off x="2943988" y="2788409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E6F2F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0" name="Google Shape;1190;p98"/>
            <p:cNvSpPr/>
            <p:nvPr/>
          </p:nvSpPr>
          <p:spPr>
            <a:xfrm flipH="1" rot="10800000">
              <a:off x="3652407" y="2788370"/>
              <a:ext cx="1209000" cy="1209000"/>
            </a:xfrm>
            <a:prstGeom prst="triangle">
              <a:avLst>
                <a:gd fmla="val 50000" name="adj"/>
              </a:avLst>
            </a:prstGeom>
            <a:solidFill>
              <a:srgbClr val="E6F2F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1" name="Google Shape;1191;p98"/>
            <p:cNvSpPr/>
            <p:nvPr/>
          </p:nvSpPr>
          <p:spPr>
            <a:xfrm flipH="1" rot="10800000">
              <a:off x="1881517" y="3498426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E6F2F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2" name="Google Shape;1192;p98"/>
            <p:cNvSpPr/>
            <p:nvPr/>
          </p:nvSpPr>
          <p:spPr>
            <a:xfrm flipH="1" rot="10800000">
              <a:off x="2589943" y="3498426"/>
              <a:ext cx="708900" cy="708900"/>
            </a:xfrm>
            <a:prstGeom prst="triangle">
              <a:avLst>
                <a:gd fmla="val 13486" name="adj"/>
              </a:avLst>
            </a:prstGeom>
            <a:solidFill>
              <a:srgbClr val="E6F2F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3" name="Google Shape;1193;p98"/>
            <p:cNvSpPr/>
            <p:nvPr/>
          </p:nvSpPr>
          <p:spPr>
            <a:xfrm>
              <a:off x="2949574" y="3498426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E6F2F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4" name="Google Shape;1194;p98"/>
            <p:cNvSpPr/>
            <p:nvPr/>
          </p:nvSpPr>
          <p:spPr>
            <a:xfrm>
              <a:off x="3292083" y="1373150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E6F2F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5" name="Google Shape;1195;p98"/>
            <p:cNvSpPr/>
            <p:nvPr/>
          </p:nvSpPr>
          <p:spPr>
            <a:xfrm>
              <a:off x="2583657" y="1373150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rgbClr val="E6F2F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6" name="Google Shape;1196;p98"/>
            <p:cNvSpPr/>
            <p:nvPr/>
          </p:nvSpPr>
          <p:spPr>
            <a:xfrm flipH="1" rot="10800000">
              <a:off x="1764595" y="1534799"/>
              <a:ext cx="1337400" cy="708900"/>
            </a:xfrm>
            <a:prstGeom prst="triangle">
              <a:avLst>
                <a:gd fmla="val 50000" name="adj"/>
              </a:avLst>
            </a:prstGeom>
            <a:solidFill>
              <a:srgbClr val="E6F2F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97" name="Google Shape;1197;p98"/>
          <p:cNvSpPr txBox="1"/>
          <p:nvPr/>
        </p:nvSpPr>
        <p:spPr>
          <a:xfrm>
            <a:off x="3369600" y="3786600"/>
            <a:ext cx="24048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Which do you prefer?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9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a) Create a design using basic shapes. Your design should have rotational symmetry.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b) Create a second version of your design that does not have rotational symmetry.</a:t>
            </a:r>
            <a:endParaRPr/>
          </a:p>
        </p:txBody>
      </p:sp>
      <p:sp>
        <p:nvSpPr>
          <p:cNvPr id="1203" name="Google Shape;1203;p9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Rotational symmetry in art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10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Show your two designs to your classmates/friends/family. Ask them ‘Which image appeals more to you?’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Record the results.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3) Create a chart to display your results. Which image is more popular? Why do you think this is?</a:t>
            </a:r>
            <a:endParaRPr/>
          </a:p>
        </p:txBody>
      </p:sp>
      <p:sp>
        <p:nvSpPr>
          <p:cNvPr id="1209" name="Google Shape;1209;p10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Rotational symmetry in art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10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a) Create a design using basic shapes. Your design should have rotational symmetry.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b) Create a second version of your design that does not have rotational symmetry.</a:t>
            </a:r>
            <a:endParaRPr/>
          </a:p>
        </p:txBody>
      </p:sp>
      <p:sp>
        <p:nvSpPr>
          <p:cNvPr id="1215" name="Google Shape;1215;p10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Rotational symmetry in art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10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Rotational symmetry in art</a:t>
            </a:r>
            <a:endParaRPr/>
          </a:p>
        </p:txBody>
      </p:sp>
      <p:sp>
        <p:nvSpPr>
          <p:cNvPr id="1221" name="Google Shape;1221;p102"/>
          <p:cNvSpPr txBox="1"/>
          <p:nvPr>
            <p:ph idx="4294967295" type="body"/>
          </p:nvPr>
        </p:nvSpPr>
        <p:spPr>
          <a:xfrm>
            <a:off x="324000" y="759300"/>
            <a:ext cx="8237700" cy="44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Design 1</a:t>
            </a:r>
            <a:r>
              <a:rPr lang="en-GB"/>
              <a:t>								  Design 2</a:t>
            </a:r>
            <a:endParaRPr/>
          </a:p>
        </p:txBody>
      </p:sp>
      <p:grpSp>
        <p:nvGrpSpPr>
          <p:cNvPr id="1222" name="Google Shape;1222;p102"/>
          <p:cNvGrpSpPr/>
          <p:nvPr/>
        </p:nvGrpSpPr>
        <p:grpSpPr>
          <a:xfrm rot="2700000">
            <a:off x="685087" y="1373086"/>
            <a:ext cx="2837836" cy="2834149"/>
            <a:chOff x="1523450" y="1373150"/>
            <a:chExt cx="2837863" cy="2834176"/>
          </a:xfrm>
        </p:grpSpPr>
        <p:sp>
          <p:nvSpPr>
            <p:cNvPr id="1223" name="Google Shape;1223;p102"/>
            <p:cNvSpPr/>
            <p:nvPr/>
          </p:nvSpPr>
          <p:spPr>
            <a:xfrm>
              <a:off x="1523450" y="2081575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4" name="Google Shape;1224;p102"/>
            <p:cNvSpPr/>
            <p:nvPr/>
          </p:nvSpPr>
          <p:spPr>
            <a:xfrm flipH="1" rot="10800000">
              <a:off x="1873975" y="2081575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5" name="Google Shape;1225;p102"/>
            <p:cNvSpPr/>
            <p:nvPr/>
          </p:nvSpPr>
          <p:spPr>
            <a:xfrm>
              <a:off x="2232350" y="2081575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6" name="Google Shape;1226;p102"/>
            <p:cNvSpPr/>
            <p:nvPr/>
          </p:nvSpPr>
          <p:spPr>
            <a:xfrm>
              <a:off x="2941250" y="2081575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7" name="Google Shape;1227;p102"/>
            <p:cNvSpPr/>
            <p:nvPr/>
          </p:nvSpPr>
          <p:spPr>
            <a:xfrm flipH="1" rot="10800000">
              <a:off x="2585613" y="2079984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8" name="Google Shape;1228;p102"/>
            <p:cNvSpPr/>
            <p:nvPr/>
          </p:nvSpPr>
          <p:spPr>
            <a:xfrm flipH="1" rot="10800000">
              <a:off x="3294038" y="2079984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9" name="Google Shape;1229;p102"/>
            <p:cNvSpPr/>
            <p:nvPr/>
          </p:nvSpPr>
          <p:spPr>
            <a:xfrm>
              <a:off x="1881825" y="2790000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0" name="Google Shape;1230;p102"/>
            <p:cNvSpPr/>
            <p:nvPr/>
          </p:nvSpPr>
          <p:spPr>
            <a:xfrm flipH="1" rot="10800000">
              <a:off x="2232350" y="2790000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1" name="Google Shape;1231;p102"/>
            <p:cNvSpPr/>
            <p:nvPr/>
          </p:nvSpPr>
          <p:spPr>
            <a:xfrm>
              <a:off x="2590725" y="2790000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2" name="Google Shape;1232;p102"/>
            <p:cNvSpPr/>
            <p:nvPr/>
          </p:nvSpPr>
          <p:spPr>
            <a:xfrm>
              <a:off x="3299625" y="2790000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3" name="Google Shape;1233;p102"/>
            <p:cNvSpPr/>
            <p:nvPr/>
          </p:nvSpPr>
          <p:spPr>
            <a:xfrm flipH="1" rot="10800000">
              <a:off x="2943988" y="2788409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4" name="Google Shape;1234;p102"/>
            <p:cNvSpPr/>
            <p:nvPr/>
          </p:nvSpPr>
          <p:spPr>
            <a:xfrm flipH="1" rot="10800000">
              <a:off x="3652413" y="2788409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5" name="Google Shape;1235;p102"/>
            <p:cNvSpPr/>
            <p:nvPr/>
          </p:nvSpPr>
          <p:spPr>
            <a:xfrm flipH="1" rot="10800000">
              <a:off x="1881517" y="3498426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6" name="Google Shape;1236;p102"/>
            <p:cNvSpPr/>
            <p:nvPr/>
          </p:nvSpPr>
          <p:spPr>
            <a:xfrm flipH="1" rot="10800000">
              <a:off x="2589943" y="3498426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7" name="Google Shape;1237;p102"/>
            <p:cNvSpPr/>
            <p:nvPr/>
          </p:nvSpPr>
          <p:spPr>
            <a:xfrm>
              <a:off x="2949574" y="3498426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8" name="Google Shape;1238;p102"/>
            <p:cNvSpPr/>
            <p:nvPr/>
          </p:nvSpPr>
          <p:spPr>
            <a:xfrm>
              <a:off x="3292083" y="1373150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9" name="Google Shape;1239;p102"/>
            <p:cNvSpPr/>
            <p:nvPr/>
          </p:nvSpPr>
          <p:spPr>
            <a:xfrm>
              <a:off x="2583657" y="1373150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0" name="Google Shape;1240;p102"/>
            <p:cNvSpPr/>
            <p:nvPr/>
          </p:nvSpPr>
          <p:spPr>
            <a:xfrm flipH="1" rot="10800000">
              <a:off x="2231568" y="1373150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1" name="Google Shape;1241;p102"/>
          <p:cNvGrpSpPr/>
          <p:nvPr/>
        </p:nvGrpSpPr>
        <p:grpSpPr>
          <a:xfrm rot="2700000">
            <a:off x="5183851" y="1549895"/>
            <a:ext cx="3337925" cy="2834149"/>
            <a:chOff x="1523450" y="1373150"/>
            <a:chExt cx="3337957" cy="2834176"/>
          </a:xfrm>
        </p:grpSpPr>
        <p:sp>
          <p:nvSpPr>
            <p:cNvPr id="1242" name="Google Shape;1242;p102"/>
            <p:cNvSpPr/>
            <p:nvPr/>
          </p:nvSpPr>
          <p:spPr>
            <a:xfrm>
              <a:off x="1523450" y="2081575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3" name="Google Shape;1243;p102"/>
            <p:cNvSpPr/>
            <p:nvPr/>
          </p:nvSpPr>
          <p:spPr>
            <a:xfrm flipH="1" rot="10800000">
              <a:off x="1873975" y="2081575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4" name="Google Shape;1244;p102"/>
            <p:cNvSpPr/>
            <p:nvPr/>
          </p:nvSpPr>
          <p:spPr>
            <a:xfrm>
              <a:off x="2232350" y="2081575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5" name="Google Shape;1245;p102"/>
            <p:cNvSpPr/>
            <p:nvPr/>
          </p:nvSpPr>
          <p:spPr>
            <a:xfrm>
              <a:off x="2941250" y="2081575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6" name="Google Shape;1246;p102"/>
            <p:cNvSpPr/>
            <p:nvPr/>
          </p:nvSpPr>
          <p:spPr>
            <a:xfrm flipH="1" rot="10800000">
              <a:off x="2585613" y="2079984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7" name="Google Shape;1247;p102"/>
            <p:cNvSpPr/>
            <p:nvPr/>
          </p:nvSpPr>
          <p:spPr>
            <a:xfrm flipH="1" rot="10800000">
              <a:off x="3294038" y="2079984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8" name="Google Shape;1248;p102"/>
            <p:cNvSpPr/>
            <p:nvPr/>
          </p:nvSpPr>
          <p:spPr>
            <a:xfrm>
              <a:off x="1881825" y="2790000"/>
              <a:ext cx="708900" cy="708900"/>
            </a:xfrm>
            <a:prstGeom prst="triangle">
              <a:avLst>
                <a:gd fmla="val 0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9" name="Google Shape;1249;p102"/>
            <p:cNvSpPr/>
            <p:nvPr/>
          </p:nvSpPr>
          <p:spPr>
            <a:xfrm flipH="1" rot="10800000">
              <a:off x="2232348" y="2432391"/>
              <a:ext cx="1066500" cy="1066500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0" name="Google Shape;1250;p102"/>
            <p:cNvSpPr/>
            <p:nvPr/>
          </p:nvSpPr>
          <p:spPr>
            <a:xfrm>
              <a:off x="2590725" y="2790000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1" name="Google Shape;1251;p102"/>
            <p:cNvSpPr/>
            <p:nvPr/>
          </p:nvSpPr>
          <p:spPr>
            <a:xfrm>
              <a:off x="3299625" y="2790000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2" name="Google Shape;1252;p102"/>
            <p:cNvSpPr/>
            <p:nvPr/>
          </p:nvSpPr>
          <p:spPr>
            <a:xfrm flipH="1" rot="10800000">
              <a:off x="2943988" y="2788409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3" name="Google Shape;1253;p102"/>
            <p:cNvSpPr/>
            <p:nvPr/>
          </p:nvSpPr>
          <p:spPr>
            <a:xfrm flipH="1" rot="10800000">
              <a:off x="3652407" y="2788370"/>
              <a:ext cx="1209000" cy="1209000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4" name="Google Shape;1254;p102"/>
            <p:cNvSpPr/>
            <p:nvPr/>
          </p:nvSpPr>
          <p:spPr>
            <a:xfrm flipH="1" rot="10800000">
              <a:off x="1881517" y="3498426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5" name="Google Shape;1255;p102"/>
            <p:cNvSpPr/>
            <p:nvPr/>
          </p:nvSpPr>
          <p:spPr>
            <a:xfrm flipH="1" rot="10800000">
              <a:off x="2589943" y="3498426"/>
              <a:ext cx="708900" cy="708900"/>
            </a:xfrm>
            <a:prstGeom prst="triangle">
              <a:avLst>
                <a:gd fmla="val 13486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6" name="Google Shape;1256;p102"/>
            <p:cNvSpPr/>
            <p:nvPr/>
          </p:nvSpPr>
          <p:spPr>
            <a:xfrm>
              <a:off x="2949574" y="3498426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7" name="Google Shape;1257;p102"/>
            <p:cNvSpPr/>
            <p:nvPr/>
          </p:nvSpPr>
          <p:spPr>
            <a:xfrm>
              <a:off x="3292083" y="1373150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8" name="Google Shape;1258;p102"/>
            <p:cNvSpPr/>
            <p:nvPr/>
          </p:nvSpPr>
          <p:spPr>
            <a:xfrm>
              <a:off x="2583657" y="1373150"/>
              <a:ext cx="708900" cy="708900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9" name="Google Shape;1259;p102"/>
            <p:cNvSpPr/>
            <p:nvPr/>
          </p:nvSpPr>
          <p:spPr>
            <a:xfrm flipH="1" rot="10800000">
              <a:off x="1764595" y="1534799"/>
              <a:ext cx="1337400" cy="708900"/>
            </a:xfrm>
            <a:prstGeom prst="triangle">
              <a:avLst>
                <a:gd fmla="val 50000" name="adj"/>
              </a:avLst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p103"/>
          <p:cNvSpPr txBox="1"/>
          <p:nvPr>
            <p:ph idx="1" type="body"/>
          </p:nvPr>
        </p:nvSpPr>
        <p:spPr>
          <a:xfrm>
            <a:off x="324000" y="759300"/>
            <a:ext cx="87819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Show your two designs to your classmates/friends/family. Ask them ‘Which image appeals more to you?’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Record the results.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10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Rotational symmetry in art</a:t>
            </a:r>
            <a:endParaRPr/>
          </a:p>
        </p:txBody>
      </p:sp>
      <p:graphicFrame>
        <p:nvGraphicFramePr>
          <p:cNvPr id="1266" name="Google Shape;1266;p103"/>
          <p:cNvGraphicFramePr/>
          <p:nvPr/>
        </p:nvGraphicFramePr>
        <p:xfrm>
          <a:off x="952500" y="2495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{D8ADE1A0-20F8-4421-9B3A-A75AF0CB283B}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Design 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Design 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267" name="Google Shape;1267;p103"/>
          <p:cNvGrpSpPr/>
          <p:nvPr/>
        </p:nvGrpSpPr>
        <p:grpSpPr>
          <a:xfrm>
            <a:off x="2201191" y="3087725"/>
            <a:ext cx="4282509" cy="301825"/>
            <a:chOff x="2201191" y="2782925"/>
            <a:chExt cx="4282509" cy="301825"/>
          </a:xfrm>
        </p:grpSpPr>
        <p:cxnSp>
          <p:nvCxnSpPr>
            <p:cNvPr id="1268" name="Google Shape;1268;p103"/>
            <p:cNvCxnSpPr/>
            <p:nvPr/>
          </p:nvCxnSpPr>
          <p:spPr>
            <a:xfrm>
              <a:off x="2292700" y="2782925"/>
              <a:ext cx="0" cy="301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9" name="Google Shape;1269;p103"/>
            <p:cNvCxnSpPr/>
            <p:nvPr/>
          </p:nvCxnSpPr>
          <p:spPr>
            <a:xfrm>
              <a:off x="2368900" y="2782925"/>
              <a:ext cx="0" cy="301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0" name="Google Shape;1270;p103"/>
            <p:cNvCxnSpPr/>
            <p:nvPr/>
          </p:nvCxnSpPr>
          <p:spPr>
            <a:xfrm>
              <a:off x="2445100" y="2782925"/>
              <a:ext cx="0" cy="301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1" name="Google Shape;1271;p103"/>
            <p:cNvCxnSpPr/>
            <p:nvPr/>
          </p:nvCxnSpPr>
          <p:spPr>
            <a:xfrm>
              <a:off x="2521300" y="2782925"/>
              <a:ext cx="0" cy="301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2" name="Google Shape;1272;p103"/>
            <p:cNvCxnSpPr/>
            <p:nvPr/>
          </p:nvCxnSpPr>
          <p:spPr>
            <a:xfrm>
              <a:off x="2826100" y="2782925"/>
              <a:ext cx="0" cy="301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3" name="Google Shape;1273;p103"/>
            <p:cNvCxnSpPr/>
            <p:nvPr/>
          </p:nvCxnSpPr>
          <p:spPr>
            <a:xfrm>
              <a:off x="2902300" y="2782925"/>
              <a:ext cx="0" cy="301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4" name="Google Shape;1274;p103"/>
            <p:cNvCxnSpPr/>
            <p:nvPr/>
          </p:nvCxnSpPr>
          <p:spPr>
            <a:xfrm>
              <a:off x="2978500" y="2782925"/>
              <a:ext cx="0" cy="301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5" name="Google Shape;1275;p103"/>
            <p:cNvCxnSpPr/>
            <p:nvPr/>
          </p:nvCxnSpPr>
          <p:spPr>
            <a:xfrm>
              <a:off x="3054700" y="2782925"/>
              <a:ext cx="0" cy="301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6" name="Google Shape;1276;p103"/>
            <p:cNvCxnSpPr/>
            <p:nvPr/>
          </p:nvCxnSpPr>
          <p:spPr>
            <a:xfrm>
              <a:off x="3359500" y="2782925"/>
              <a:ext cx="0" cy="301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7" name="Google Shape;1277;p103"/>
            <p:cNvCxnSpPr/>
            <p:nvPr/>
          </p:nvCxnSpPr>
          <p:spPr>
            <a:xfrm>
              <a:off x="3435700" y="2782925"/>
              <a:ext cx="0" cy="301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8" name="Google Shape;1278;p103"/>
            <p:cNvCxnSpPr/>
            <p:nvPr/>
          </p:nvCxnSpPr>
          <p:spPr>
            <a:xfrm>
              <a:off x="3511900" y="2782925"/>
              <a:ext cx="0" cy="301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9" name="Google Shape;1279;p103"/>
            <p:cNvCxnSpPr/>
            <p:nvPr/>
          </p:nvCxnSpPr>
          <p:spPr>
            <a:xfrm>
              <a:off x="3588100" y="2782925"/>
              <a:ext cx="0" cy="301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0" name="Google Shape;1280;p103"/>
            <p:cNvCxnSpPr/>
            <p:nvPr/>
          </p:nvCxnSpPr>
          <p:spPr>
            <a:xfrm>
              <a:off x="5950300" y="2782925"/>
              <a:ext cx="0" cy="301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1" name="Google Shape;1281;p103"/>
            <p:cNvCxnSpPr/>
            <p:nvPr/>
          </p:nvCxnSpPr>
          <p:spPr>
            <a:xfrm>
              <a:off x="6026500" y="2782925"/>
              <a:ext cx="0" cy="301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2" name="Google Shape;1282;p103"/>
            <p:cNvCxnSpPr/>
            <p:nvPr/>
          </p:nvCxnSpPr>
          <p:spPr>
            <a:xfrm>
              <a:off x="6102700" y="2782925"/>
              <a:ext cx="0" cy="301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3" name="Google Shape;1283;p103"/>
            <p:cNvCxnSpPr/>
            <p:nvPr/>
          </p:nvCxnSpPr>
          <p:spPr>
            <a:xfrm>
              <a:off x="6178900" y="2782925"/>
              <a:ext cx="0" cy="301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4" name="Google Shape;1284;p103"/>
            <p:cNvCxnSpPr/>
            <p:nvPr/>
          </p:nvCxnSpPr>
          <p:spPr>
            <a:xfrm>
              <a:off x="6483700" y="2782925"/>
              <a:ext cx="0" cy="301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5" name="Google Shape;1285;p103"/>
            <p:cNvCxnSpPr/>
            <p:nvPr/>
          </p:nvCxnSpPr>
          <p:spPr>
            <a:xfrm flipH="1">
              <a:off x="2201191" y="2790450"/>
              <a:ext cx="415800" cy="294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6" name="Google Shape;1286;p103"/>
            <p:cNvCxnSpPr/>
            <p:nvPr/>
          </p:nvCxnSpPr>
          <p:spPr>
            <a:xfrm flipH="1">
              <a:off x="2734591" y="2790450"/>
              <a:ext cx="415800" cy="294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7" name="Google Shape;1287;p103"/>
            <p:cNvCxnSpPr/>
            <p:nvPr/>
          </p:nvCxnSpPr>
          <p:spPr>
            <a:xfrm flipH="1">
              <a:off x="5858791" y="2790450"/>
              <a:ext cx="415800" cy="294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104"/>
          <p:cNvSpPr txBox="1"/>
          <p:nvPr>
            <p:ph idx="1" type="body"/>
          </p:nvPr>
        </p:nvSpPr>
        <p:spPr>
          <a:xfrm>
            <a:off x="324000" y="759300"/>
            <a:ext cx="8237700" cy="76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3) Create a chart to display your results. Which image is more popular? Why do you think this is?</a:t>
            </a:r>
            <a:endParaRPr/>
          </a:p>
        </p:txBody>
      </p:sp>
      <p:sp>
        <p:nvSpPr>
          <p:cNvPr id="1293" name="Google Shape;1293;p10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Rotational symmetry in art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09-09-2024/17d6f91f-c993-4113-b796-219e663b3ec1&quot; data-equatio-type=&quot;desmos&quot;&gt;&lt;mglyph src=&quot;https://equatio-api.texthelp.com/desmos/get/09-09-2024/17d6f91f-c993-4113-b796-219e663b3ec1&quot; alt=&quot;Equatio Desmos Graph&quot;/&gt;&lt;/math&gt;" id="1294" name="Google Shape;1294;p104" title="Equatio Desmos Graph"/>
          <p:cNvPicPr preferRelativeResize="0"/>
          <p:nvPr/>
        </p:nvPicPr>
        <p:blipFill rotWithShape="1">
          <a:blip r:embed="rId3">
            <a:alphaModFix/>
          </a:blip>
          <a:srcRect b="0" l="0" r="40323" t="0"/>
          <a:stretch/>
        </p:blipFill>
        <p:spPr>
          <a:xfrm>
            <a:off x="324009" y="1521950"/>
            <a:ext cx="254649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5" name="Google Shape;1295;p104"/>
          <p:cNvSpPr txBox="1"/>
          <p:nvPr/>
        </p:nvSpPr>
        <p:spPr>
          <a:xfrm>
            <a:off x="3369600" y="2160000"/>
            <a:ext cx="5450400" cy="2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E.g. Design 1 is more popular. I think this is because the first design made a repeating pattern and this is more appealing than the jumbled mess of the second design.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105"/>
          <p:cNvSpPr txBox="1"/>
          <p:nvPr>
            <p:ph idx="1" type="body"/>
          </p:nvPr>
        </p:nvSpPr>
        <p:spPr>
          <a:xfrm>
            <a:off x="324000" y="1080000"/>
            <a:ext cx="84960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</a:t>
            </a:r>
            <a:r>
              <a:rPr b="1" lang="en-GB"/>
              <a:t>graphic designer</a:t>
            </a:r>
            <a:r>
              <a:rPr lang="en-GB"/>
              <a:t> creates visuals for various projects such as adverts, branding, magazines, packaging and websites.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Images that have rotational symmetry are often very appealing.</a:t>
            </a:r>
            <a:endParaRPr/>
          </a:p>
        </p:txBody>
      </p:sp>
      <p:sp>
        <p:nvSpPr>
          <p:cNvPr id="1301" name="Google Shape;1301;p105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 designer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106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307" name="Google Shape;1307;p10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