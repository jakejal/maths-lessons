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8F4CFC5-A099-45B4-9D55-101F00FDB9C2}">
  <a:tblStyle styleId="{28F4CFC5-A099-45B4-9D55-101F00FDB9C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" name="Google Shape;840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0094dd639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30094dd63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2efd83f355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2efd83f355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0094dd6399_0_8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30094dd6399_0_8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30094dd6399_0_8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30094dd6399_0_8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0094dd6399_0_8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30094dd6399_0_8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30094dd6399_0_8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0" name="Google Shape;890;g30094dd6399_0_8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0094dd6399_0_8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30094dd6399_0_8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0094dd6399_0_8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30094dd6399_0_8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30094dd6399_0_9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0" name="Google Shape;940;g30094dd6399_0_9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301f5bfba1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301f5bfba1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301f5bfba1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301f5bfba1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301f5bfba1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301f5bfba1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301f5bfba1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301f5bfba1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301f5bfba1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301f5bfba1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301f5bfba19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301f5bfba1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301f5bfba19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301f5bfba19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301f5bfba19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0" name="Google Shape;1000;g301f5bfba1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301f5bfba19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301f5bfba1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01f5bfba1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301f5bfba1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30094dd6399_0_8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7" name="Google Shape;1027;g30094dd6399_0_8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301f5bfba19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301f5bfba19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301f5bfba19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1" name="Google Shape;1041;g301f5bfba19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301f5bfba19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7" name="Google Shape;1047;g301f5bfba19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301f5bfba19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3" name="Google Shape;1053;g301f5bfba19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301f5bfba19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301f5bfba19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301f5bfba19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3" name="Google Shape;1073;g301f5bfba19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301f5bfba19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4" name="Google Shape;1084;g301f5bfba19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301f5bfba19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5" name="Google Shape;1095;g301f5bfba19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301f5bfba19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301f5bfba19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301f5bfba19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7" name="Google Shape;1117;g301f5bfba19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301f9f73b0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" name="Google Shape;1123;g301f9f73b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301f9f73b0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" name="Google Shape;1129;g301f9f73b0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301f9f73b0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5" name="Google Shape;1135;g301f9f73b0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g301f9f73b0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1" name="Google Shape;1141;g301f9f73b0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301f9f73b0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7" name="Google Shape;1147;g301f9f73b0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g301f9f73b0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3" name="Google Shape;1153;g301f9f73b0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301f9f73b0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9" name="Google Shape;1159;g301f9f73b0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301f9f73b0b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5" name="Google Shape;1165;g301f9f73b0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1" name="Google Shape;1171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7" name="Google Shape;1177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0.png"/><Relationship Id="rId4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22.png"/><Relationship Id="rId5" Type="http://schemas.openxmlformats.org/officeDocument/2006/relationships/image" Target="../media/image1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2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image" Target="../media/image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image" Target="../media/image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9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25.png"/><Relationship Id="rId5" Type="http://schemas.openxmlformats.org/officeDocument/2006/relationships/image" Target="../media/image2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9.png"/><Relationship Id="rId5" Type="http://schemas.openxmlformats.org/officeDocument/2006/relationships/image" Target="../media/image32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81.png"/><Relationship Id="rId5" Type="http://schemas.openxmlformats.org/officeDocument/2006/relationships/image" Target="../media/image41.png"/><Relationship Id="rId6" Type="http://schemas.openxmlformats.org/officeDocument/2006/relationships/image" Target="../media/image43.png"/><Relationship Id="rId7" Type="http://schemas.openxmlformats.org/officeDocument/2006/relationships/image" Target="../media/image3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81.png"/><Relationship Id="rId4" Type="http://schemas.openxmlformats.org/officeDocument/2006/relationships/image" Target="../media/image38.png"/><Relationship Id="rId9" Type="http://schemas.openxmlformats.org/officeDocument/2006/relationships/image" Target="../media/image34.png"/><Relationship Id="rId5" Type="http://schemas.openxmlformats.org/officeDocument/2006/relationships/image" Target="../media/image37.png"/><Relationship Id="rId6" Type="http://schemas.openxmlformats.org/officeDocument/2006/relationships/image" Target="../media/image48.png"/><Relationship Id="rId7" Type="http://schemas.openxmlformats.org/officeDocument/2006/relationships/image" Target="../media/image41.png"/><Relationship Id="rId8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81.png"/><Relationship Id="rId4" Type="http://schemas.openxmlformats.org/officeDocument/2006/relationships/image" Target="../media/image45.png"/><Relationship Id="rId11" Type="http://schemas.openxmlformats.org/officeDocument/2006/relationships/image" Target="../media/image34.png"/><Relationship Id="rId10" Type="http://schemas.openxmlformats.org/officeDocument/2006/relationships/image" Target="../media/image53.png"/><Relationship Id="rId9" Type="http://schemas.openxmlformats.org/officeDocument/2006/relationships/image" Target="../media/image43.png"/><Relationship Id="rId5" Type="http://schemas.openxmlformats.org/officeDocument/2006/relationships/image" Target="../media/image38.png"/><Relationship Id="rId6" Type="http://schemas.openxmlformats.org/officeDocument/2006/relationships/image" Target="../media/image37.png"/><Relationship Id="rId7" Type="http://schemas.openxmlformats.org/officeDocument/2006/relationships/image" Target="../media/image48.png"/><Relationship Id="rId8" Type="http://schemas.openxmlformats.org/officeDocument/2006/relationships/image" Target="../media/image4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5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1.png"/><Relationship Id="rId4" Type="http://schemas.openxmlformats.org/officeDocument/2006/relationships/image" Target="../media/image55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1.png"/><Relationship Id="rId4" Type="http://schemas.openxmlformats.org/officeDocument/2006/relationships/image" Target="../media/image55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1.png"/><Relationship Id="rId4" Type="http://schemas.openxmlformats.org/officeDocument/2006/relationships/image" Target="../media/image55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7.png"/><Relationship Id="rId3" Type="http://schemas.openxmlformats.org/officeDocument/2006/relationships/image" Target="../media/image50.png"/><Relationship Id="rId4" Type="http://schemas.openxmlformats.org/officeDocument/2006/relationships/image" Target="../media/image55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5.png"/><Relationship Id="rId4" Type="http://schemas.openxmlformats.org/officeDocument/2006/relationships/image" Target="../media/image57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5.png"/><Relationship Id="rId4" Type="http://schemas.openxmlformats.org/officeDocument/2006/relationships/image" Target="../media/image57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7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5.png"/><Relationship Id="rId4" Type="http://schemas.openxmlformats.org/officeDocument/2006/relationships/image" Target="../media/image6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5.png"/><Relationship Id="rId4" Type="http://schemas.openxmlformats.org/officeDocument/2006/relationships/image" Target="../media/image6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5.png"/><Relationship Id="rId4" Type="http://schemas.openxmlformats.org/officeDocument/2006/relationships/image" Target="../media/image6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63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5.png"/><Relationship Id="rId4" Type="http://schemas.openxmlformats.org/officeDocument/2006/relationships/image" Target="../media/image63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5.png"/><Relationship Id="rId4" Type="http://schemas.openxmlformats.org/officeDocument/2006/relationships/image" Target="../media/image63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5.png"/><Relationship Id="rId4" Type="http://schemas.openxmlformats.org/officeDocument/2006/relationships/image" Target="../media/image63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63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5.png"/><Relationship Id="rId4" Type="http://schemas.openxmlformats.org/officeDocument/2006/relationships/image" Target="../media/image63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5.png"/><Relationship Id="rId4" Type="http://schemas.openxmlformats.org/officeDocument/2006/relationships/image" Target="../media/image63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5.png"/><Relationship Id="rId4" Type="http://schemas.openxmlformats.org/officeDocument/2006/relationships/image" Target="../media/image63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63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68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68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68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68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66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66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66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66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Art and design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oogle Shape;12;p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3" name="Google Shape;13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Google Shape;14;p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0">
            <a:off x="6753315" y="1132068"/>
            <a:ext cx="2063340" cy="164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7051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Art and design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" name="Google Shape;27;p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" name="Google Shape;35;p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itizenship" showMasterSp="0">
  <p:cSld name="Title Slide 2_1_1_1_1_1_1_1_1_1_1_5">
    <p:bg>
      <p:bgPr>
        <a:solidFill>
          <a:srgbClr val="BEF2BD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45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Citizenship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oogle Shape;41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2" name="Google Shape;42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" name="Google Shape;43;p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4" name="Google Shape;44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25">
            <a:off x="6945328" y="787504"/>
            <a:ext cx="1710318" cy="205238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" name="Google Shape;46;p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mputing" showMasterSp="0">
  <p:cSld name="Title Slide 2_1_1_1_1_1_1_1_1_1_1_3">
    <p:bg>
      <p:bgPr>
        <a:solidFill>
          <a:srgbClr val="BEF2BD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8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Computing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" name="Google Shape;52;p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53" name="Google Shape;53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" name="Google Shape;54;p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5" name="Google Shape;55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59982">
            <a:off x="6923956" y="1273792"/>
            <a:ext cx="1784155" cy="1404547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" name="Google Shape;57;p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Design and technology" showMasterSp="0">
  <p:cSld name="Title Slide 2_1_1_1_1_1_1_1_1_1_1_2">
    <p:bg>
      <p:bgPr>
        <a:solidFill>
          <a:srgbClr val="BEF2BD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7058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23850" y="3781525"/>
            <a:ext cx="270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Design and technology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" name="Google Shape;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4" name="Google Shape;64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66" name="Google Shape;66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2791">
            <a:off x="6884379" y="985388"/>
            <a:ext cx="1846116" cy="1852594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_2">
    <p:bg>
      <p:bgPr>
        <a:solidFill>
          <a:srgbClr val="BEF2BD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" name="Google Shape;72;p8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" name="Google Shape;76;p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French" showMasterSp="0">
  <p:cSld name="Title Slide 2_1_1_1_1_1_1_1_1_1_1_1">
    <p:bg>
      <p:bgPr>
        <a:solidFill>
          <a:srgbClr val="BEF2BD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7722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French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" name="Google Shape;82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3" name="Google Shape;83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5" name="Google Shape;85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88119">
            <a:off x="6742284" y="969390"/>
            <a:ext cx="2161157" cy="191529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" name="Google Shape;9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" name="Google Shape;95;p1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rman" showMasterSp="0">
  <p:cSld name="Title Slide 2_1_1_1_1_1_1_1_1_1_1_1_1">
    <p:bg>
      <p:bgPr>
        <a:solidFill>
          <a:srgbClr val="BEF2BD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9169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German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0" name="Google Shape;10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02" name="Google Shape;102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1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4" name="Google Shape;104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6027">
            <a:off x="6626180" y="831797"/>
            <a:ext cx="2331091" cy="208957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_2">
    <p:bg>
      <p:bgPr>
        <a:solidFill>
          <a:srgbClr val="BEF2BD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1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1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13" name="Google Shape;11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12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5" name="Google Shape;115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6" name="Google Shape;116;p1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_2">
    <p:bg>
      <p:bgPr>
        <a:solidFill>
          <a:srgbClr val="BEF2BD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1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2" name="Google Shape;12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1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" name="Google Shape;129;p1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0" name="Google Shape;13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al education" showMasterSp="0">
  <p:cSld name="Title Slide 2_1_1_1_1_1_1_1_1_1_1_1_1_2">
    <p:bg>
      <p:bgPr>
        <a:solidFill>
          <a:srgbClr val="BEF2BD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192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7" name="Google Shape;137;p15"/>
          <p:cNvSpPr txBox="1"/>
          <p:nvPr/>
        </p:nvSpPr>
        <p:spPr>
          <a:xfrm>
            <a:off x="323850" y="3781525"/>
            <a:ext cx="245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Physical education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8" name="Google Shape;13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" name="Google Shape;139;p1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40" name="Google Shape;140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1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2" name="Google Shape;142;p1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4" name="Google Shape;14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75628">
            <a:off x="6551506" y="729991"/>
            <a:ext cx="2546513" cy="2546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_2">
    <p:bg>
      <p:bgPr>
        <a:solidFill>
          <a:srgbClr val="BEF2BD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1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9" name="Google Shape;14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1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1" name="Google Shape;151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16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3" name="Google Shape;153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" name="Google Shape;154;p1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 and health education" showMasterSp="0">
  <p:cSld name="Title Slide 2_1_1_1_1_1_1_1_1_1_1_7">
    <p:bg>
      <p:bgPr>
        <a:solidFill>
          <a:srgbClr val="BEF2BD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" name="Google Shape;159;p1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0" name="Google Shape;160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" name="Google Shape;161;p1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62" name="Google Shape;16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65" name="Google Shape;165;p17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360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323850" y="3781525"/>
            <a:ext cx="462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RHE (PSHE)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, sex and health education" showMasterSp="0">
  <p:cSld name="Title Slide 2_1_1_1_1_1_1_1_1_1_1_7_1">
    <p:bg>
      <p:bgPr>
        <a:solidFill>
          <a:srgbClr val="BEF2BD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69" name="Google Shape;16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1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71" name="Google Shape;171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18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3" name="Google Shape;17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1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76" name="Google Shape;176;p18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5119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323850" y="3781525"/>
            <a:ext cx="508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RSHE (PSHE)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igious education" showMasterSp="0">
  <p:cSld name="Title Slide 2_1_1_1_1_1_1_1_1_1_1_1_1_1">
    <p:bg>
      <p:bgPr>
        <a:solidFill>
          <a:srgbClr val="BEF2BD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27187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1" name="Google Shape;181;p19"/>
          <p:cNvSpPr txBox="1"/>
          <p:nvPr/>
        </p:nvSpPr>
        <p:spPr>
          <a:xfrm>
            <a:off x="323850" y="3781525"/>
            <a:ext cx="279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Religious education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84" name="Google Shape;184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1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6" name="Google Shape;18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03">
            <a:off x="6754136" y="1062731"/>
            <a:ext cx="2012844" cy="185401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1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_2">
    <p:bg>
      <p:bgPr>
        <a:solidFill>
          <a:srgbClr val="BEF2BD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1" name="Google Shape;191;p2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" name="Google Shape;19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4" name="Google Shape;194;p2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95" name="Google Shape;195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20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7" name="Google Shape;197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8" name="Google Shape;198;p2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panish" showMasterSp="0">
  <p:cSld name="Title Slide 2_1_1_1_1_1_1_1_1_1_1_1_2_1">
    <p:bg>
      <p:bgPr>
        <a:solidFill>
          <a:srgbClr val="BEF2BD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90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" name="Google Shape;203;p2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Spanish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" name="Google Shape;2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p2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06" name="Google Shape;206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2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08" name="Google Shape;20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339">
            <a:off x="6714634" y="840073"/>
            <a:ext cx="2165107" cy="217392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2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3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0" name="Google Shape;220;p23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221" name="Google Shape;221;p2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2" name="Google Shape;222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3" name="Google Shape;223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4" name="Google Shape;224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225" name="Google Shape;225;p23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27" name="Google Shape;227;p2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0" name="Google Shape;230;p2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5" name="Google Shape;235;p24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6" name="Google Shape;236;p24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7" name="Google Shape;237;p24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0" name="Google Shape;240;p2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3" name="Google Shape;243;p2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4" name="Google Shape;244;p25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5" name="Google Shape;245;p25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6" name="Google Shape;246;p25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7" name="Google Shape;247;p25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8" name="Google Shape;248;p25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9" name="Google Shape;249;p25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p2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6" name="Google Shape;256;p26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7" name="Google Shape;257;p26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3" name="Google Shape;263;p26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6" name="Google Shape;266;p2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7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9" name="Google Shape;269;p27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0" name="Google Shape;270;p27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1" name="Google Shape;271;p27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8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8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8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7" name="Google Shape;277;p28"/>
          <p:cNvCxnSpPr>
            <a:endCxn id="27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79" name="Google Shape;279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1" name="Google Shape;281;p2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78" name="Google Shape;278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8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9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2" name="Google Shape;292;p29"/>
          <p:cNvCxnSpPr>
            <a:endCxn id="29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93" name="Google Shape;293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9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6" name="Google Shape;296;p29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7" name="Google Shape;297;p29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98" name="Google Shape;298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0" name="Google Shape;300;p29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9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3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0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0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2" name="Google Shape;312;p30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13" name="Google Shape;313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0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7" name="Google Shape;317;p30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8" name="Google Shape;318;p30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9" name="Google Shape;319;p30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320" name="Google Shape;320;p3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2" name="Google Shape;322;p30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30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1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29" name="Google Shape;329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30" name="Google Shape;33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36" name="Google Shape;336;p3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38" name="Google Shape;33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43" name="Google Shape;343;p3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45" name="Google Shape;34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50" name="Google Shape;350;p3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52" name="Google Shape;35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5" name="Google Shape;355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58" name="Google Shape;358;p3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59" name="Google Shape;359;p35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60" name="Google Shape;360;p3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61" name="Google Shape;361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2" name="Google Shape;362;p3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3" name="Google Shape;363;p3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64" name="Google Shape;364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5" name="Google Shape;365;p3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8" name="Google Shape;368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71" name="Google Shape;371;p3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72" name="Google Shape;372;p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73" name="Google Shape;373;p3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74" name="Google Shape;374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6" name="Google Shape;376;p3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77" name="Google Shape;377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8" name="Google Shape;378;p3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7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1" name="Google Shape;381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86" name="Google Shape;386;p3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87" name="Google Shape;387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90" name="Google Shape;39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4" name="Google Shape;394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7" name="Google Shape;397;p3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8" name="Google Shape;398;p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99" name="Google Shape;399;p3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400" name="Google Shape;400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1" name="Google Shape;401;p3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2" name="Google Shape;402;p3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403" name="Google Shape;403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" name="Google Shape;404;p3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/why - purple">
  <p:cSld name="TITLE_AND_TWO_COLUMNS_1_1_9_1_3_1">
    <p:bg>
      <p:bgPr>
        <a:solidFill>
          <a:srgbClr val="F3EEFB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9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1" name="Google Shape;411;p39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2" name="Google Shape;412;p39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3" name="Google Shape;413;p39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4" name="Google Shape;414;p3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15" name="Google Shape;415;p39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6" name="Google Shape;416;p39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17" name="Google Shape;417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/why - jade">
  <p:cSld name="TITLE_AND_TWO_COLUMNS_1_1_9_1_3_1_1_1">
    <p:bg>
      <p:bgPr>
        <a:solidFill>
          <a:srgbClr val="E6F2F2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3" name="Google Shape;42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5" name="Google Shape;425;p4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6" name="Google Shape;42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40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9" name="Google Shape;429;p40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0" name="Google Shape;430;p40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1" name="Google Shape;431;p4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2" name="Google Shape;432;p4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33" name="Google Shape;433;p40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40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/why - blue">
  <p:cSld name="TITLE_AND_TWO_COLUMNS_1_1_9_1_3_2">
    <p:bg>
      <p:bgPr>
        <a:solidFill>
          <a:srgbClr val="EBEDFE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8" name="Google Shape;43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4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1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4" name="Google Shape;444;p41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5" name="Google Shape;445;p41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41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7" name="Google Shape;447;p4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48" name="Google Shape;448;p41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p41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/why - pink">
  <p:cSld name="TITLE_AND_TWO_COLUMNS_1_1_9_1_3_1_1_1_1">
    <p:bg>
      <p:bgPr>
        <a:solidFill>
          <a:srgbClr val="FAEAF6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3" name="Google Shape;45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5" name="Google Shape;455;p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42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42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0" name="Google Shape;460;p42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42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4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63" name="Google Shape;463;p42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4" name="Google Shape;464;p42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9" name="Google Shape;46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1" name="Google Shape;471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2" name="Google Shape;472;p4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3" name="Google Shape;473;p4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4" name="Google Shape;474;p4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75" name="Google Shape;475;p4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76" name="Google Shape;47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7" name="Google Shape;47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8" name="Google Shape;478;p4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79" name="Google Shape;47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0" name="Google Shape;48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1" name="Google Shape;481;p4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82" name="Google Shape;48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3" name="Google Shape;48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8" name="Google Shape;48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0" name="Google Shape;490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1" name="Google Shape;491;p4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2" name="Google Shape;492;p4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3" name="Google Shape;493;p4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4" name="Google Shape;494;p4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95" name="Google Shape;495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6" name="Google Shape;496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7" name="Google Shape;497;p4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98" name="Google Shape;498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9" name="Google Shape;499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00" name="Google Shape;500;p4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01" name="Google Shape;501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2" name="Google Shape;502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Google Shape;504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7" name="Google Shape;50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9" name="Google Shape;509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0" name="Google Shape;510;p4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14" name="Google Shape;514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17" name="Google Shape;517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20" name="Google Shape;520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4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4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4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4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4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4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4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33" name="Google Shape;533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4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36" name="Google Shape;536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4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39" name="Google Shape;539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Google Shape;542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4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5" name="Google Shape;5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7" name="Google Shape;547;p4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8" name="Google Shape;548;p4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49" name="Google Shape;549;p4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0" name="Google Shape;550;p4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1" name="Google Shape;551;p4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52" name="Google Shape;552;p4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53" name="Google Shape;553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4" name="Google Shape;554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5" name="Google Shape;555;p4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56" name="Google Shape;556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59" name="Google Shape;559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62" name="Google Shape;562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2" name="Google Shape;572;p4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3" name="Google Shape;573;p4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4" name="Google Shape;574;p4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75" name="Google Shape;575;p4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76" name="Google Shape;576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7" name="Google Shape;577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8" name="Google Shape;578;p4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79" name="Google Shape;579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0" name="Google Shape;580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1" name="Google Shape;581;p4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82" name="Google Shape;582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3" name="Google Shape;583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4" name="Google Shape;584;p4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85" name="Google Shape;585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6" name="Google Shape;586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Google Shape;58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4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1" name="Google Shape;59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3" name="Google Shape;593;p4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4" name="Google Shape;594;p4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5" name="Google Shape;595;p4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6" name="Google Shape;596;p4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7" name="Google Shape;597;p4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98" name="Google Shape;598;p4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99" name="Google Shape;599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1" name="Google Shape;601;p4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02" name="Google Shape;602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3" name="Google Shape;603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4" name="Google Shape;604;p4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05" name="Google Shape;605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6" name="Google Shape;606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7" name="Google Shape;607;p4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08" name="Google Shape;608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9" name="Google Shape;609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5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5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14" name="Google Shape;61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6" name="Google Shape;616;p5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7" name="Google Shape;617;p5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8" name="Google Shape;618;p5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9" name="Google Shape;619;p5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20" name="Google Shape;620;p5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621" name="Google Shape;621;p5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622" name="Google Shape;622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4" name="Google Shape;624;p5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25" name="Google Shape;625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6" name="Google Shape;626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7" name="Google Shape;627;p5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28" name="Google Shape;628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9" name="Google Shape;629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30" name="Google Shape;630;p5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31" name="Google Shape;631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2" name="Google Shape;632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" name="Google Shape;634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5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37" name="Google Shape;63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9" name="Google Shape;639;p5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0" name="Google Shape;640;p5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41" name="Google Shape;641;p5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42" name="Google Shape;642;p5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43" name="Google Shape;643;p5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44" name="Google Shape;644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5" name="Google Shape;645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6" name="Google Shape;646;p5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47" name="Google Shape;647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8" name="Google Shape;648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9" name="Google Shape;649;p5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50" name="Google Shape;650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1" name="Google Shape;651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56" name="Google Shape;65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8" name="Google Shape;658;p5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9" name="Google Shape;659;p5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60" name="Google Shape;660;p5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61" name="Google Shape;661;p5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62" name="Google Shape;662;p5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63" name="Google Shape;663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4" name="Google Shape;664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65" name="Google Shape;665;p5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66" name="Google Shape;666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7" name="Google Shape;667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68" name="Google Shape;668;p5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69" name="Google Shape;669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0" name="Google Shape;670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2" name="Google Shape;672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5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75" name="Google Shape;67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7" name="Google Shape;677;p5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8" name="Google Shape;678;p5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79" name="Google Shape;679;p5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80" name="Google Shape;680;p5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81" name="Google Shape;681;p5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82" name="Google Shape;682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3" name="Google Shape;683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84" name="Google Shape;684;p5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85" name="Google Shape;685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6" name="Google Shape;686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87" name="Google Shape;687;p5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88" name="Google Shape;688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9" name="Google Shape;689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1" name="Google Shape;691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5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5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94" name="Google Shape;69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6" name="Google Shape;696;p5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7" name="Google Shape;697;p5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98" name="Google Shape;698;p5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99" name="Google Shape;699;p5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700" name="Google Shape;700;p5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701" name="Google Shape;701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2" name="Google Shape;702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03" name="Google Shape;703;p5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704" name="Google Shape;704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5" name="Google Shape;705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06" name="Google Shape;706;p5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707" name="Google Shape;707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8" name="Google Shape;708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0" name="Google Shape;710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13" name="Google Shape;71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5" name="Google Shape;715;p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" name="Google Shape;717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20" name="Google Shape;72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2" name="Google Shape;722;p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Google Shape;724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27" name="Google Shape;72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1" name="Google Shape;731;p5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5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5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34" name="Google Shape;73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5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5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5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41" name="Google Shape;741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5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3" name="Google Shape;743;p5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4" name="Google Shape;744;p5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6" name="Google Shape;746;p6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6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6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50" name="Google Shape;75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6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2" name="Google Shape;752;p6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Google Shape;754;p6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6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6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7" name="Google Shape;757;p6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58" name="Google Shape;75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6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0" name="Google Shape;760;p6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2" name="Google Shape;762;p6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6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5" name="Google Shape;765;p6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66" name="Google Shape;76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6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8" name="Google Shape;768;p6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0" name="Google Shape;770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6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6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73" name="Google Shape;773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6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6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6" name="Google Shape;776;p6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" name="Google Shape;778;p6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6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6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1" name="Google Shape;781;p6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2" name="Google Shape;782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6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4" name="Google Shape;784;p6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p6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6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6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9" name="Google Shape;789;p6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0" name="Google Shape;790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6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2" name="Google Shape;792;p6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4" name="Google Shape;794;p66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pic>
          <p:nvPicPr>
            <p:cNvPr id="795" name="Google Shape;795;p66"/>
            <p:cNvPicPr preferRelativeResize="0"/>
            <p:nvPr/>
          </p:nvPicPr>
          <p:blipFill rotWithShape="1">
            <a:blip r:embed="rId2">
              <a:alphaModFix/>
            </a:blip>
            <a:srcRect b="1672" l="0" r="0" t="1662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6" name="Google Shape;796;p66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7" name="Google Shape;797;p6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98" name="Google Shape;798;p6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9" name="Google Shape;799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6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6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67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4" name="Google Shape;804;p6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6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06" name="Google Shape;806;p6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7" name="Google Shape;807;p6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68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0" name="Google Shape;810;p6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6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12" name="Google Shape;812;p6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68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5" name="Google Shape;815;p6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69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70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70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70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70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70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70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0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0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70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8" name="Google Shape;828;p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71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7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73" Type="http://schemas.openxmlformats.org/officeDocument/2006/relationships/theme" Target="../theme/theme1.xml"/><Relationship Id="rId72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71" Type="http://schemas.openxmlformats.org/officeDocument/2006/relationships/slideLayout" Target="../slideLayouts/slideLayout70.xml"/><Relationship Id="rId70" Type="http://schemas.openxmlformats.org/officeDocument/2006/relationships/slideLayout" Target="../slideLayouts/slideLayout69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66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20.xml"/><Relationship Id="rId65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23.xml"/><Relationship Id="rId68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22.xml"/><Relationship Id="rId67" Type="http://schemas.openxmlformats.org/officeDocument/2006/relationships/slideLayout" Target="../slideLayouts/slideLayout66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69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  <p:sldLayoutId id="2147483711" r:id="rId65"/>
    <p:sldLayoutId id="2147483712" r:id="rId66"/>
    <p:sldLayoutId id="2147483713" r:id="rId67"/>
    <p:sldLayoutId id="2147483714" r:id="rId68"/>
    <p:sldLayoutId id="2147483715" r:id="rId69"/>
    <p:sldLayoutId id="2147483716" r:id="rId70"/>
    <p:sldLayoutId id="2147483717" r:id="rId71"/>
    <p:sldLayoutId id="2147483718" r:id="rId7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3.png"/><Relationship Id="rId6" Type="http://schemas.openxmlformats.org/officeDocument/2006/relationships/image" Target="../media/image7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3.png"/><Relationship Id="rId6" Type="http://schemas.openxmlformats.org/officeDocument/2006/relationships/image" Target="../media/image7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7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7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7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7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Programmer</a:t>
            </a:r>
            <a:endParaRPr/>
          </a:p>
        </p:txBody>
      </p:sp>
      <p:sp>
        <p:nvSpPr>
          <p:cNvPr id="837" name="Google Shape;837;p7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Maths in the workplace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74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7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understand how maths is used by programmers.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76"/>
          <p:cNvSpPr txBox="1"/>
          <p:nvPr>
            <p:ph idx="3" type="subTitle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A (computer) </a:t>
            </a:r>
            <a:r>
              <a:rPr lang="en-GB"/>
              <a:t>programmer</a:t>
            </a:r>
            <a:r>
              <a:rPr b="0" lang="en-GB"/>
              <a:t> is a person who writes and tests computer programs.</a:t>
            </a:r>
            <a:endParaRPr b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7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Algorithms</a:t>
            </a:r>
            <a:endParaRPr/>
          </a:p>
        </p:txBody>
      </p:sp>
      <p:sp>
        <p:nvSpPr>
          <p:cNvPr id="858" name="Google Shape;858;p7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Logic</a:t>
            </a:r>
            <a:endParaRPr/>
          </a:p>
        </p:txBody>
      </p:sp>
      <p:sp>
        <p:nvSpPr>
          <p:cNvPr id="859" name="Google Shape;859;p7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Programmer</a:t>
            </a:r>
            <a:endParaRPr/>
          </a:p>
        </p:txBody>
      </p:sp>
      <p:pic>
        <p:nvPicPr>
          <p:cNvPr id="860" name="Google Shape;860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525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7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An algorithm is a set of instructions which can be carried out to solve a problem.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2000"/>
              <a:t>Programmers</a:t>
            </a:r>
            <a:r>
              <a:rPr lang="en-GB" sz="2000"/>
              <a:t> </a:t>
            </a:r>
            <a:r>
              <a:rPr lang="en-GB" sz="2000"/>
              <a:t>write algorithms that a computer can follow to solve problems.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The instructions are followed in order by the computer.</a:t>
            </a:r>
            <a:endParaRPr sz="2000"/>
          </a:p>
        </p:txBody>
      </p:sp>
      <p:sp>
        <p:nvSpPr>
          <p:cNvPr id="866" name="Google Shape;866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Algorithms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7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Here is an a</a:t>
            </a:r>
            <a:r>
              <a:rPr lang="en-GB" sz="2000"/>
              <a:t>lgorithm for finding the absolute difference </a:t>
            </a:r>
            <a:r>
              <a:rPr lang="en-GB" sz="2000"/>
              <a:t>between</a:t>
            </a:r>
            <a:r>
              <a:rPr lang="en-GB" sz="2000"/>
              <a:t> any two numbers: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1) Take two numbers,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/>
              <a:t> and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000"/>
              <a:t>, where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&gt;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2) Calculate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3) The result is the absolute difference</a:t>
            </a:r>
            <a:endParaRPr sz="2000"/>
          </a:p>
        </p:txBody>
      </p:sp>
      <p:sp>
        <p:nvSpPr>
          <p:cNvPr id="872" name="Google Shape;872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Algorithms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8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Here is an algorithm for finding the absolute difference between any two numbers: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1) Take two numbers,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/>
              <a:t> and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000"/>
              <a:t>, where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&gt;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2) Calculate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3) The result is the absolute difference</a:t>
            </a:r>
            <a:endParaRPr sz="2000"/>
          </a:p>
        </p:txBody>
      </p:sp>
      <p:sp>
        <p:nvSpPr>
          <p:cNvPr id="878" name="Google Shape;878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Algorithms</a:t>
            </a:r>
            <a:endParaRPr/>
          </a:p>
        </p:txBody>
      </p:sp>
      <p:pic>
        <p:nvPicPr>
          <p:cNvPr id="879" name="Google Shape;879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24012" y="3424262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p80"/>
          <p:cNvSpPr txBox="1"/>
          <p:nvPr/>
        </p:nvSpPr>
        <p:spPr>
          <a:xfrm>
            <a:off x="324000" y="4320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81" name="Google Shape;881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39534" y="3424088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80"/>
          <p:cNvSpPr txBox="1"/>
          <p:nvPr/>
        </p:nvSpPr>
        <p:spPr>
          <a:xfrm>
            <a:off x="7840200" y="4320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83" name="Google Shape;883;p80"/>
          <p:cNvPicPr preferRelativeResize="0"/>
          <p:nvPr/>
        </p:nvPicPr>
        <p:blipFill rotWithShape="1">
          <a:blip r:embed="rId5">
            <a:alphaModFix/>
          </a:blip>
          <a:srcRect b="6172" l="40550" r="0" t="13240"/>
          <a:stretch/>
        </p:blipFill>
        <p:spPr>
          <a:xfrm flipH="1">
            <a:off x="5215700" y="3240000"/>
            <a:ext cx="2993500" cy="865025"/>
          </a:xfrm>
          <a:prstGeom prst="rect">
            <a:avLst/>
          </a:prstGeom>
          <a:noFill/>
          <a:ln>
            <a:noFill/>
          </a:ln>
        </p:spPr>
      </p:pic>
      <p:sp>
        <p:nvSpPr>
          <p:cNvPr id="884" name="Google Shape;884;p80"/>
          <p:cNvSpPr txBox="1"/>
          <p:nvPr/>
        </p:nvSpPr>
        <p:spPr>
          <a:xfrm flipH="1">
            <a:off x="5254825" y="3240000"/>
            <a:ext cx="27951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used 9 and 17 and got the answer 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85" name="Google Shape;885;p80"/>
          <p:cNvPicPr preferRelativeResize="0"/>
          <p:nvPr/>
        </p:nvPicPr>
        <p:blipFill rotWithShape="1">
          <a:blip r:embed="rId5">
            <a:alphaModFix/>
          </a:blip>
          <a:srcRect b="6172" l="40550" r="0" t="13240"/>
          <a:stretch/>
        </p:blipFill>
        <p:spPr>
          <a:xfrm>
            <a:off x="948500" y="3240000"/>
            <a:ext cx="2993500" cy="865025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80"/>
          <p:cNvSpPr txBox="1"/>
          <p:nvPr/>
        </p:nvSpPr>
        <p:spPr>
          <a:xfrm flipH="1">
            <a:off x="1216225" y="3240000"/>
            <a:ext cx="27951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used 9 and 17 and got the answer −8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7" name="Google Shape;887;p80"/>
          <p:cNvSpPr txBox="1"/>
          <p:nvPr/>
        </p:nvSpPr>
        <p:spPr>
          <a:xfrm>
            <a:off x="2956375" y="4208325"/>
            <a:ext cx="27951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Who is right?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8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Here is an algorithm for finding the absolute difference between any two numbers: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1) Take two numbers,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/>
              <a:t> and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000"/>
              <a:t>, where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&gt;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2) Calculate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3) The result is the absolute difference</a:t>
            </a:r>
            <a:endParaRPr sz="2000"/>
          </a:p>
        </p:txBody>
      </p:sp>
      <p:sp>
        <p:nvSpPr>
          <p:cNvPr id="893" name="Google Shape;893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Algorithms</a:t>
            </a:r>
            <a:endParaRPr/>
          </a:p>
        </p:txBody>
      </p:sp>
      <p:pic>
        <p:nvPicPr>
          <p:cNvPr id="894" name="Google Shape;894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24012" y="3424262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895" name="Google Shape;895;p81"/>
          <p:cNvSpPr txBox="1"/>
          <p:nvPr/>
        </p:nvSpPr>
        <p:spPr>
          <a:xfrm>
            <a:off x="324000" y="4320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96" name="Google Shape;896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39534" y="3424088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81"/>
          <p:cNvSpPr txBox="1"/>
          <p:nvPr/>
        </p:nvSpPr>
        <p:spPr>
          <a:xfrm>
            <a:off x="7840200" y="4320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98" name="Google Shape;898;p81"/>
          <p:cNvPicPr preferRelativeResize="0"/>
          <p:nvPr/>
        </p:nvPicPr>
        <p:blipFill rotWithShape="1">
          <a:blip r:embed="rId5">
            <a:alphaModFix/>
          </a:blip>
          <a:srcRect b="6172" l="40550" r="0" t="13240"/>
          <a:stretch/>
        </p:blipFill>
        <p:spPr>
          <a:xfrm flipH="1">
            <a:off x="5215700" y="3240000"/>
            <a:ext cx="2993500" cy="865025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p81"/>
          <p:cNvSpPr txBox="1"/>
          <p:nvPr/>
        </p:nvSpPr>
        <p:spPr>
          <a:xfrm flipH="1">
            <a:off x="5254825" y="3240000"/>
            <a:ext cx="27951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used 9 and 17 and got the answer 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0" name="Google Shape;900;p81"/>
          <p:cNvPicPr preferRelativeResize="0"/>
          <p:nvPr/>
        </p:nvPicPr>
        <p:blipFill rotWithShape="1">
          <a:blip r:embed="rId5">
            <a:alphaModFix/>
          </a:blip>
          <a:srcRect b="6172" l="40550" r="0" t="13240"/>
          <a:stretch/>
        </p:blipFill>
        <p:spPr>
          <a:xfrm>
            <a:off x="948500" y="3240000"/>
            <a:ext cx="2993500" cy="865025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81"/>
          <p:cNvSpPr txBox="1"/>
          <p:nvPr/>
        </p:nvSpPr>
        <p:spPr>
          <a:xfrm flipH="1">
            <a:off x="1216225" y="3240000"/>
            <a:ext cx="27951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used 9 and 17 and got the answer −8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2" name="Google Shape;902;p81"/>
          <p:cNvSpPr txBox="1"/>
          <p:nvPr/>
        </p:nvSpPr>
        <p:spPr>
          <a:xfrm>
            <a:off x="2956375" y="4208325"/>
            <a:ext cx="27951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Who is right?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3" name="Google Shape;903;p81"/>
          <p:cNvSpPr/>
          <p:nvPr/>
        </p:nvSpPr>
        <p:spPr>
          <a:xfrm>
            <a:off x="4826750" y="1613950"/>
            <a:ext cx="626100" cy="313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4" name="Google Shape;904;p81"/>
          <p:cNvSpPr/>
          <p:nvPr/>
        </p:nvSpPr>
        <p:spPr>
          <a:xfrm>
            <a:off x="1834225" y="2112900"/>
            <a:ext cx="626100" cy="313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81"/>
          <p:cNvSpPr txBox="1"/>
          <p:nvPr/>
        </p:nvSpPr>
        <p:spPr>
          <a:xfrm>
            <a:off x="2657050" y="2127975"/>
            <a:ext cx="777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17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9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6" name="Google Shape;906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30046" y="29654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82"/>
          <p:cNvSpPr txBox="1"/>
          <p:nvPr>
            <p:ph idx="1" type="body"/>
          </p:nvPr>
        </p:nvSpPr>
        <p:spPr>
          <a:xfrm>
            <a:off x="324000" y="759300"/>
            <a:ext cx="8237700" cy="35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Instructions have to be clear.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912" name="Google Shape;912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Algorithms</a:t>
            </a:r>
            <a:endParaRPr/>
          </a:p>
        </p:txBody>
      </p:sp>
      <p:pic>
        <p:nvPicPr>
          <p:cNvPr id="913" name="Google Shape;913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996" y="3054800"/>
            <a:ext cx="798316" cy="896106"/>
          </a:xfrm>
          <a:prstGeom prst="rect">
            <a:avLst/>
          </a:prstGeom>
          <a:noFill/>
          <a:ln>
            <a:noFill/>
          </a:ln>
        </p:spPr>
      </p:pic>
      <p:sp>
        <p:nvSpPr>
          <p:cNvPr id="914" name="Google Shape;914;p82"/>
          <p:cNvSpPr txBox="1"/>
          <p:nvPr/>
        </p:nvSpPr>
        <p:spPr>
          <a:xfrm>
            <a:off x="324000" y="3998958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5" name="Google Shape;915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012252" y="3017102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82"/>
          <p:cNvSpPr txBox="1"/>
          <p:nvPr/>
        </p:nvSpPr>
        <p:spPr>
          <a:xfrm>
            <a:off x="7932925" y="40065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7" name="Google Shape;917;p82"/>
          <p:cNvPicPr preferRelativeResize="0"/>
          <p:nvPr/>
        </p:nvPicPr>
        <p:blipFill rotWithShape="1">
          <a:blip r:embed="rId5">
            <a:alphaModFix/>
          </a:blip>
          <a:srcRect b="6172" l="40550" r="0" t="13240"/>
          <a:stretch/>
        </p:blipFill>
        <p:spPr>
          <a:xfrm>
            <a:off x="1046550" y="1294975"/>
            <a:ext cx="2993500" cy="2038038"/>
          </a:xfrm>
          <a:prstGeom prst="rect">
            <a:avLst/>
          </a:prstGeom>
          <a:noFill/>
          <a:ln>
            <a:noFill/>
          </a:ln>
        </p:spPr>
      </p:pic>
      <p:sp>
        <p:nvSpPr>
          <p:cNvPr id="918" name="Google Shape;918;p82"/>
          <p:cNvSpPr txBox="1"/>
          <p:nvPr/>
        </p:nvSpPr>
        <p:spPr>
          <a:xfrm flipH="1">
            <a:off x="1314275" y="1294975"/>
            <a:ext cx="2795100" cy="16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need some help with my homework. Laura, can you please take a look at my work?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9" name="Google Shape;919;p82"/>
          <p:cNvPicPr preferRelativeResize="0"/>
          <p:nvPr/>
        </p:nvPicPr>
        <p:blipFill rotWithShape="1">
          <a:blip r:embed="rId5">
            <a:alphaModFix/>
          </a:blip>
          <a:srcRect b="6172" l="40550" r="0" t="13240"/>
          <a:stretch/>
        </p:blipFill>
        <p:spPr>
          <a:xfrm flipH="1">
            <a:off x="5215700" y="2571750"/>
            <a:ext cx="2993500" cy="865025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82"/>
          <p:cNvSpPr txBox="1"/>
          <p:nvPr/>
        </p:nvSpPr>
        <p:spPr>
          <a:xfrm flipH="1">
            <a:off x="5254825" y="2571750"/>
            <a:ext cx="27951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Sure thing Lucas.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83"/>
          <p:cNvSpPr txBox="1"/>
          <p:nvPr>
            <p:ph idx="1" type="body"/>
          </p:nvPr>
        </p:nvSpPr>
        <p:spPr>
          <a:xfrm>
            <a:off x="324000" y="759300"/>
            <a:ext cx="8237700" cy="35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Instructions have to be clear.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926" name="Google Shape;926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Algorithms</a:t>
            </a:r>
            <a:endParaRPr/>
          </a:p>
        </p:txBody>
      </p:sp>
      <p:pic>
        <p:nvPicPr>
          <p:cNvPr id="927" name="Google Shape;927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996" y="3054800"/>
            <a:ext cx="798316" cy="896106"/>
          </a:xfrm>
          <a:prstGeom prst="rect">
            <a:avLst/>
          </a:prstGeom>
          <a:noFill/>
          <a:ln>
            <a:noFill/>
          </a:ln>
        </p:spPr>
      </p:pic>
      <p:sp>
        <p:nvSpPr>
          <p:cNvPr id="928" name="Google Shape;928;p83"/>
          <p:cNvSpPr txBox="1"/>
          <p:nvPr/>
        </p:nvSpPr>
        <p:spPr>
          <a:xfrm>
            <a:off x="324000" y="3998958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29" name="Google Shape;929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012252" y="3017102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83"/>
          <p:cNvSpPr txBox="1"/>
          <p:nvPr/>
        </p:nvSpPr>
        <p:spPr>
          <a:xfrm>
            <a:off x="7932925" y="40065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1" name="Google Shape;931;p83"/>
          <p:cNvPicPr preferRelativeResize="0"/>
          <p:nvPr/>
        </p:nvPicPr>
        <p:blipFill rotWithShape="1">
          <a:blip r:embed="rId5">
            <a:alphaModFix/>
          </a:blip>
          <a:srcRect b="6172" l="40550" r="0" t="13240"/>
          <a:stretch/>
        </p:blipFill>
        <p:spPr>
          <a:xfrm>
            <a:off x="1046550" y="1294975"/>
            <a:ext cx="2993500" cy="2038038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83"/>
          <p:cNvSpPr txBox="1"/>
          <p:nvPr/>
        </p:nvSpPr>
        <p:spPr>
          <a:xfrm flipH="1">
            <a:off x="1314325" y="1461150"/>
            <a:ext cx="2660100" cy="15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Laura! You said you would help me and I got all my work wrong!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3" name="Google Shape;933;p83"/>
          <p:cNvPicPr preferRelativeResize="0"/>
          <p:nvPr/>
        </p:nvPicPr>
        <p:blipFill rotWithShape="1">
          <a:blip r:embed="rId5">
            <a:alphaModFix/>
          </a:blip>
          <a:srcRect b="6172" l="40550" r="0" t="13240"/>
          <a:stretch/>
        </p:blipFill>
        <p:spPr>
          <a:xfrm flipH="1">
            <a:off x="5215700" y="1294975"/>
            <a:ext cx="2993500" cy="2141800"/>
          </a:xfrm>
          <a:prstGeom prst="rect">
            <a:avLst/>
          </a:prstGeom>
          <a:noFill/>
          <a:ln>
            <a:noFill/>
          </a:ln>
        </p:spPr>
      </p:pic>
      <p:sp>
        <p:nvSpPr>
          <p:cNvPr id="934" name="Google Shape;934;p83"/>
          <p:cNvSpPr txBox="1"/>
          <p:nvPr/>
        </p:nvSpPr>
        <p:spPr>
          <a:xfrm flipH="1">
            <a:off x="5287375" y="1503300"/>
            <a:ext cx="2686200" cy="1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You asked me to take a look and I did. You didn’t ask me to help you correct your work.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5" name="Google Shape;935;p83"/>
          <p:cNvSpPr/>
          <p:nvPr/>
        </p:nvSpPr>
        <p:spPr>
          <a:xfrm>
            <a:off x="625975" y="3718100"/>
            <a:ext cx="271500" cy="113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6" name="Google Shape;936;p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3084" y="3724049"/>
            <a:ext cx="271500" cy="157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7" name="Google Shape;937;p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09209" y="3506899"/>
            <a:ext cx="271500" cy="157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In reality, Laura would have helped Lucas correct his work because she can </a:t>
            </a:r>
            <a:r>
              <a:rPr lang="en-GB" sz="2000">
                <a:solidFill>
                  <a:schemeClr val="accent4"/>
                </a:solidFill>
              </a:rPr>
              <a:t>infer</a:t>
            </a:r>
            <a:r>
              <a:rPr lang="en-GB" sz="2000"/>
              <a:t> what Lucas meant from his question.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A computer cannot do this and therefore </a:t>
            </a:r>
            <a:r>
              <a:rPr b="1" lang="en-GB" sz="2000"/>
              <a:t>programmers</a:t>
            </a:r>
            <a:r>
              <a:rPr lang="en-GB" sz="2000"/>
              <a:t> need to be very careful with the instructions they give.</a:t>
            </a:r>
            <a:endParaRPr sz="2000"/>
          </a:p>
        </p:txBody>
      </p:sp>
      <p:sp>
        <p:nvSpPr>
          <p:cNvPr id="943" name="Google Shape;943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Algorithms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85"/>
          <p:cNvSpPr txBox="1"/>
          <p:nvPr>
            <p:ph idx="1" type="body"/>
          </p:nvPr>
        </p:nvSpPr>
        <p:spPr>
          <a:xfrm>
            <a:off x="324000" y="759300"/>
            <a:ext cx="82377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Algorithm 1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Step 1: Take two positive numbers,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/>
              <a:t> and 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/>
              <a:t>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Step 2: Draw a table with two columns. Put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/>
              <a:t> at the top of the left column and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/>
              <a:t> at the top of the right column.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Step 3: In the next row, in the left-hand column write the number that is half of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/>
              <a:t> (ignoring remainders) and in the right-hand column write the number that is double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/>
              <a:t>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Step 4: Repeat Step 3 until you have a 1 in the left-hand column.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Step 5: Delete any rows where the left-hand column has an even number.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Step 6: Find the sum of the numbers left in the right-hand column.</a:t>
            </a:r>
            <a:endParaRPr sz="1800"/>
          </a:p>
        </p:txBody>
      </p:sp>
      <p:sp>
        <p:nvSpPr>
          <p:cNvPr id="949" name="Google Shape;949;p8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Algorithms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86"/>
          <p:cNvSpPr txBox="1"/>
          <p:nvPr>
            <p:ph idx="1" type="body"/>
          </p:nvPr>
        </p:nvSpPr>
        <p:spPr>
          <a:xfrm>
            <a:off x="324000" y="759300"/>
            <a:ext cx="82377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Carry out algorithm 1 with the following numbers: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/>
              <a:t> = 8,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/>
              <a:t> = 10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/>
              <a:t> = 29,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/>
              <a:t> = 34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/>
              <a:t> = 13,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/>
              <a:t> = 17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d)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/>
              <a:t> = 66,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/>
              <a:t> = 56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2) What does algorithm 1 do?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55" name="Google Shape;955;p8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Algorithms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87"/>
          <p:cNvSpPr txBox="1"/>
          <p:nvPr>
            <p:ph idx="1" type="body"/>
          </p:nvPr>
        </p:nvSpPr>
        <p:spPr>
          <a:xfrm>
            <a:off x="324000" y="759300"/>
            <a:ext cx="82377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Write an algorithm for making a drink of squash or a cup of hot chocolate (more challenging). Give your algorithm to a partner and let them try to ‘break’ your algorithm. Is there a way for them to misinterpret your instructions?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61" name="Google Shape;961;p8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Algorithms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8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Algorithm 1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Step 1: Take two positive numbers,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/>
              <a:t> and 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/>
              <a:t>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Step 2: Draw a table with two columns. Put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/>
              <a:t> at the top of the left column and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/>
              <a:t> at the top of the right column.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Step 3: In the next row, in the left-hand column write the number that is half of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/>
              <a:t> (ignoring remainders) and in the right-hand column write the number that is double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/>
              <a:t>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Step 4: Repeat Step 3 until you have a 1 in the left-hand column.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Step 5: Delete any rows where the left-hand column has an even number.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Step 6: Find the sum of the numbers left in the right-hand column.</a:t>
            </a:r>
            <a:endParaRPr sz="1800"/>
          </a:p>
        </p:txBody>
      </p:sp>
      <p:sp>
        <p:nvSpPr>
          <p:cNvPr id="967" name="Google Shape;967;p8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Algorithms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89"/>
          <p:cNvSpPr txBox="1"/>
          <p:nvPr>
            <p:ph idx="1" type="body"/>
          </p:nvPr>
        </p:nvSpPr>
        <p:spPr>
          <a:xfrm>
            <a:off x="324000" y="759300"/>
            <a:ext cx="8237700" cy="93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Carry out algorithm 1 with the following numbers: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/>
              <a:t> = 8,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/>
              <a:t> = 10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73" name="Google Shape;973;p8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Algorithms</a:t>
            </a:r>
            <a:endParaRPr/>
          </a:p>
        </p:txBody>
      </p:sp>
      <p:graphicFrame>
        <p:nvGraphicFramePr>
          <p:cNvPr id="974" name="Google Shape;974;p89"/>
          <p:cNvGraphicFramePr/>
          <p:nvPr/>
        </p:nvGraphicFramePr>
        <p:xfrm>
          <a:off x="27519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{28F4CFC5-A099-45B4-9D55-101F00FDB9C2}</a:tableStyleId>
              </a:tblPr>
              <a:tblGrid>
                <a:gridCol w="2051000"/>
                <a:gridCol w="2051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40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80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grpSp>
        <p:nvGrpSpPr>
          <p:cNvPr id="975" name="Google Shape;975;p89"/>
          <p:cNvGrpSpPr/>
          <p:nvPr/>
        </p:nvGrpSpPr>
        <p:grpSpPr>
          <a:xfrm>
            <a:off x="2659325" y="1629575"/>
            <a:ext cx="4299600" cy="762000"/>
            <a:chOff x="2659325" y="1629575"/>
            <a:chExt cx="4299600" cy="762000"/>
          </a:xfrm>
        </p:grpSpPr>
        <p:cxnSp>
          <p:nvCxnSpPr>
            <p:cNvPr id="976" name="Google Shape;976;p89"/>
            <p:cNvCxnSpPr/>
            <p:nvPr/>
          </p:nvCxnSpPr>
          <p:spPr>
            <a:xfrm>
              <a:off x="2659325" y="1629575"/>
              <a:ext cx="4299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7" name="Google Shape;977;p89"/>
            <p:cNvCxnSpPr/>
            <p:nvPr/>
          </p:nvCxnSpPr>
          <p:spPr>
            <a:xfrm>
              <a:off x="2659325" y="2010575"/>
              <a:ext cx="4299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8" name="Google Shape;978;p89"/>
            <p:cNvCxnSpPr/>
            <p:nvPr/>
          </p:nvCxnSpPr>
          <p:spPr>
            <a:xfrm>
              <a:off x="2659325" y="2391575"/>
              <a:ext cx="4299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79" name="Google Shape;979;p89"/>
          <p:cNvSpPr txBox="1"/>
          <p:nvPr/>
        </p:nvSpPr>
        <p:spPr>
          <a:xfrm>
            <a:off x="324000" y="3588250"/>
            <a:ext cx="82377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sum of the remaining numbers in the right-hand column is 80 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90"/>
          <p:cNvSpPr txBox="1"/>
          <p:nvPr>
            <p:ph idx="1" type="body"/>
          </p:nvPr>
        </p:nvSpPr>
        <p:spPr>
          <a:xfrm>
            <a:off x="324000" y="759300"/>
            <a:ext cx="8237700" cy="99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Carry out algorithm 1 with the following numbers: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/>
              <a:t> = 29,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/>
              <a:t> = 34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85" name="Google Shape;985;p9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Algorithms</a:t>
            </a:r>
            <a:endParaRPr/>
          </a:p>
        </p:txBody>
      </p:sp>
      <p:graphicFrame>
        <p:nvGraphicFramePr>
          <p:cNvPr id="986" name="Google Shape;986;p90"/>
          <p:cNvGraphicFramePr/>
          <p:nvPr/>
        </p:nvGraphicFramePr>
        <p:xfrm>
          <a:off x="27519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{28F4CFC5-A099-45B4-9D55-101F00FDB9C2}</a:tableStyleId>
              </a:tblPr>
              <a:tblGrid>
                <a:gridCol w="2051000"/>
                <a:gridCol w="2051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29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34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68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136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272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544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cxnSp>
        <p:nvCxnSpPr>
          <p:cNvPr id="987" name="Google Shape;987;p90"/>
          <p:cNvCxnSpPr/>
          <p:nvPr/>
        </p:nvCxnSpPr>
        <p:spPr>
          <a:xfrm>
            <a:off x="2659325" y="2010575"/>
            <a:ext cx="4299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8" name="Google Shape;988;p90"/>
          <p:cNvSpPr txBox="1"/>
          <p:nvPr/>
        </p:nvSpPr>
        <p:spPr>
          <a:xfrm>
            <a:off x="324000" y="3588250"/>
            <a:ext cx="82377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sum of the remaining numbers in the right-hand column is 986 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91"/>
          <p:cNvSpPr txBox="1"/>
          <p:nvPr>
            <p:ph idx="1" type="body"/>
          </p:nvPr>
        </p:nvSpPr>
        <p:spPr>
          <a:xfrm>
            <a:off x="324000" y="759300"/>
            <a:ext cx="8237700" cy="98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Carry out algorithm 1 with the following numbers: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/>
              <a:t> = 13,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/>
              <a:t> = 17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94" name="Google Shape;994;p9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Algorithms</a:t>
            </a:r>
            <a:endParaRPr/>
          </a:p>
        </p:txBody>
      </p:sp>
      <p:graphicFrame>
        <p:nvGraphicFramePr>
          <p:cNvPr id="995" name="Google Shape;995;p91"/>
          <p:cNvGraphicFramePr/>
          <p:nvPr/>
        </p:nvGraphicFramePr>
        <p:xfrm>
          <a:off x="27519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{28F4CFC5-A099-45B4-9D55-101F00FDB9C2}</a:tableStyleId>
              </a:tblPr>
              <a:tblGrid>
                <a:gridCol w="2051000"/>
                <a:gridCol w="2051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13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17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34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68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136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cxnSp>
        <p:nvCxnSpPr>
          <p:cNvPr id="996" name="Google Shape;996;p91"/>
          <p:cNvCxnSpPr/>
          <p:nvPr/>
        </p:nvCxnSpPr>
        <p:spPr>
          <a:xfrm>
            <a:off x="2659325" y="2010575"/>
            <a:ext cx="4299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7" name="Google Shape;997;p91"/>
          <p:cNvSpPr txBox="1"/>
          <p:nvPr/>
        </p:nvSpPr>
        <p:spPr>
          <a:xfrm>
            <a:off x="324000" y="3588250"/>
            <a:ext cx="82377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sum of the remaining numbers in the right-hand column is 221 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9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Carry out algorithm 1 with the following numbers: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d)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/>
              <a:t> = 66,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/>
              <a:t> = 56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03" name="Google Shape;1003;p9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Algorithms</a:t>
            </a:r>
            <a:endParaRPr/>
          </a:p>
        </p:txBody>
      </p:sp>
      <p:graphicFrame>
        <p:nvGraphicFramePr>
          <p:cNvPr id="1004" name="Google Shape;1004;p92"/>
          <p:cNvGraphicFramePr/>
          <p:nvPr/>
        </p:nvGraphicFramePr>
        <p:xfrm>
          <a:off x="27519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{28F4CFC5-A099-45B4-9D55-101F00FDB9C2}</a:tableStyleId>
              </a:tblPr>
              <a:tblGrid>
                <a:gridCol w="2051000"/>
                <a:gridCol w="2051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66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56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33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112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16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224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448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896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1792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3584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grpSp>
        <p:nvGrpSpPr>
          <p:cNvPr id="1005" name="Google Shape;1005;p92"/>
          <p:cNvGrpSpPr/>
          <p:nvPr/>
        </p:nvGrpSpPr>
        <p:grpSpPr>
          <a:xfrm>
            <a:off x="2659325" y="1629575"/>
            <a:ext cx="4299600" cy="1905000"/>
            <a:chOff x="2659325" y="1629575"/>
            <a:chExt cx="4299600" cy="1905000"/>
          </a:xfrm>
        </p:grpSpPr>
        <p:grpSp>
          <p:nvGrpSpPr>
            <p:cNvPr id="1006" name="Google Shape;1006;p92"/>
            <p:cNvGrpSpPr/>
            <p:nvPr/>
          </p:nvGrpSpPr>
          <p:grpSpPr>
            <a:xfrm>
              <a:off x="2659325" y="1629575"/>
              <a:ext cx="4299600" cy="1143000"/>
              <a:chOff x="2659325" y="1629575"/>
              <a:chExt cx="4299600" cy="1143000"/>
            </a:xfrm>
          </p:grpSpPr>
          <p:cxnSp>
            <p:nvCxnSpPr>
              <p:cNvPr id="1007" name="Google Shape;1007;p92"/>
              <p:cNvCxnSpPr/>
              <p:nvPr/>
            </p:nvCxnSpPr>
            <p:spPr>
              <a:xfrm>
                <a:off x="2659325" y="1629575"/>
                <a:ext cx="42996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8" name="Google Shape;1008;p92"/>
              <p:cNvCxnSpPr/>
              <p:nvPr/>
            </p:nvCxnSpPr>
            <p:spPr>
              <a:xfrm>
                <a:off x="2659325" y="2772575"/>
                <a:ext cx="42996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9" name="Google Shape;1009;p92"/>
              <p:cNvCxnSpPr/>
              <p:nvPr/>
            </p:nvCxnSpPr>
            <p:spPr>
              <a:xfrm>
                <a:off x="2659325" y="2391575"/>
                <a:ext cx="42996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010" name="Google Shape;1010;p92"/>
            <p:cNvCxnSpPr/>
            <p:nvPr/>
          </p:nvCxnSpPr>
          <p:spPr>
            <a:xfrm>
              <a:off x="2659325" y="3153575"/>
              <a:ext cx="4299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1" name="Google Shape;1011;p92"/>
            <p:cNvCxnSpPr/>
            <p:nvPr/>
          </p:nvCxnSpPr>
          <p:spPr>
            <a:xfrm>
              <a:off x="2659325" y="3534575"/>
              <a:ext cx="4299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12" name="Google Shape;1012;p92"/>
          <p:cNvSpPr txBox="1"/>
          <p:nvPr/>
        </p:nvSpPr>
        <p:spPr>
          <a:xfrm>
            <a:off x="324000" y="4224550"/>
            <a:ext cx="8237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sum of the remaining numbers in the right-hand column is 3696 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93"/>
          <p:cNvSpPr txBox="1"/>
          <p:nvPr>
            <p:ph idx="1" type="body"/>
          </p:nvPr>
        </p:nvSpPr>
        <p:spPr>
          <a:xfrm>
            <a:off x="324000" y="759300"/>
            <a:ext cx="82377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Carry out algorithm 1 with the following numbers: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/>
              <a:t> = 8,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/>
              <a:t> = 10		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80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/>
              <a:t> = 29,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/>
              <a:t> = 34 		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986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/>
              <a:t> = 13,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/>
              <a:t> = 17 		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221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d)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/>
              <a:t> = 66,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/>
              <a:t> = 56 		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3696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2) What does algorithm 1 do?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algorithm calculates the product of the two numbers.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18" name="Google Shape;1018;p9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Algorithms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94"/>
          <p:cNvSpPr txBox="1"/>
          <p:nvPr>
            <p:ph idx="1" type="body"/>
          </p:nvPr>
        </p:nvSpPr>
        <p:spPr>
          <a:xfrm>
            <a:off x="324000" y="759300"/>
            <a:ext cx="82377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Write an algorithm for making a drink of squash or a cup of hot chocolate (more challenging). Give your algorithm to a partner and let them try to ‘break’ your algorithm. Is there a way for them to misinterpret your instructions?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E.g. There were lots of possibilities here. Hopefully you had lots of fun ‘breaking’ algorithms. Here are some examples of ways you could have done this: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‘Fill the kettle with water’ - this could mean put in water until it reaches the very top of the kettle (water will escape when the kettle boils) 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                          - where does the water come from? (tap, toilet?!)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24" name="Google Shape;1024;p9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Algorithms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95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Algorithms</a:t>
            </a:r>
            <a:endParaRPr/>
          </a:p>
        </p:txBody>
      </p:sp>
      <p:sp>
        <p:nvSpPr>
          <p:cNvPr id="1030" name="Google Shape;1030;p95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Logic</a:t>
            </a:r>
            <a:endParaRPr/>
          </a:p>
        </p:txBody>
      </p:sp>
      <p:sp>
        <p:nvSpPr>
          <p:cNvPr id="1031" name="Google Shape;1031;p95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Programmer</a:t>
            </a:r>
            <a:endParaRPr/>
          </a:p>
        </p:txBody>
      </p:sp>
      <p:pic>
        <p:nvPicPr>
          <p:cNvPr id="1032" name="Google Shape;1032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525" y="298912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Logic</a:t>
            </a:r>
            <a:endParaRPr/>
          </a:p>
        </p:txBody>
      </p:sp>
      <p:sp>
        <p:nvSpPr>
          <p:cNvPr id="1038" name="Google Shape;1038;p96"/>
          <p:cNvSpPr txBox="1"/>
          <p:nvPr>
            <p:ph idx="1" type="body"/>
          </p:nvPr>
        </p:nvSpPr>
        <p:spPr>
          <a:xfrm>
            <a:off x="324000" y="759300"/>
            <a:ext cx="8237700" cy="394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Logic is about using reasoning to determine whether something is true or untrue. This is usually done through a series of statements.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For example: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Andeep is taller than Aisha and Aisha is taller than Sarah.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can you reason about Andeep and Sarah?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Logic</a:t>
            </a:r>
            <a:endParaRPr/>
          </a:p>
        </p:txBody>
      </p:sp>
      <p:sp>
        <p:nvSpPr>
          <p:cNvPr id="1044" name="Google Shape;1044;p97"/>
          <p:cNvSpPr txBox="1"/>
          <p:nvPr>
            <p:ph idx="1" type="body"/>
          </p:nvPr>
        </p:nvSpPr>
        <p:spPr>
          <a:xfrm>
            <a:off x="324000" y="759300"/>
            <a:ext cx="8237700" cy="394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Logic is about using reasoning to determine whether something is true or untrue. This is usually done through a series of statements.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For example: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Andeep is taller than Aisha and Aisha is taller than Sarah.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What can you reason about Andeep and Sarah?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Andeep must be taller than Sarah.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Logic</a:t>
            </a:r>
            <a:endParaRPr/>
          </a:p>
        </p:txBody>
      </p:sp>
      <p:sp>
        <p:nvSpPr>
          <p:cNvPr id="1050" name="Google Shape;1050;p98"/>
          <p:cNvSpPr txBox="1"/>
          <p:nvPr>
            <p:ph idx="1" type="body"/>
          </p:nvPr>
        </p:nvSpPr>
        <p:spPr>
          <a:xfrm>
            <a:off x="324000" y="759300"/>
            <a:ext cx="8237700" cy="394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must be careful to not infer from a statement.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‘If today is Saturday, then I will go to the beach’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Think about what this statement tells us about the day of the week and what I might be doing.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Logic</a:t>
            </a:r>
            <a:endParaRPr/>
          </a:p>
        </p:txBody>
      </p:sp>
      <p:sp>
        <p:nvSpPr>
          <p:cNvPr id="1056" name="Google Shape;1056;p9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Today is Saturday.</a:t>
            </a:r>
            <a:endParaRPr sz="1800"/>
          </a:p>
        </p:txBody>
      </p:sp>
      <p:sp>
        <p:nvSpPr>
          <p:cNvPr id="1057" name="Google Shape;1057;p9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‘If today is Saturday, then I will go to the beach.’</a:t>
            </a:r>
            <a:br>
              <a:rPr lang="en-GB" sz="1800"/>
            </a:br>
            <a:r>
              <a:rPr lang="en-GB" sz="1800"/>
              <a:t>What can you conclude if:</a:t>
            </a:r>
            <a:endParaRPr sz="1800"/>
          </a:p>
        </p:txBody>
      </p:sp>
      <p:sp>
        <p:nvSpPr>
          <p:cNvPr id="1058" name="Google Shape;1058;p9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Today is not Saturday.</a:t>
            </a:r>
            <a:endParaRPr sz="1800"/>
          </a:p>
        </p:txBody>
      </p:sp>
      <p:sp>
        <p:nvSpPr>
          <p:cNvPr id="1059" name="Google Shape;1059;p9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I’m going to the beach today.</a:t>
            </a:r>
            <a:endParaRPr sz="1800"/>
          </a:p>
        </p:txBody>
      </p:sp>
      <p:sp>
        <p:nvSpPr>
          <p:cNvPr id="1060" name="Google Shape;1060;p9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 did not go to the beach today.</a:t>
            </a:r>
            <a:endParaRPr sz="1800"/>
          </a:p>
        </p:txBody>
      </p:sp>
      <p:sp>
        <p:nvSpPr>
          <p:cNvPr id="1061" name="Google Shape;1061;p99"/>
          <p:cNvSpPr txBox="1"/>
          <p:nvPr/>
        </p:nvSpPr>
        <p:spPr>
          <a:xfrm>
            <a:off x="4920625" y="1665649"/>
            <a:ext cx="27231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 will go to the beach.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2" name="Google Shape;1062;p99"/>
          <p:cNvSpPr txBox="1"/>
          <p:nvPr/>
        </p:nvSpPr>
        <p:spPr>
          <a:xfrm>
            <a:off x="4920600" y="2491350"/>
            <a:ext cx="27231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Nothing new.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3" name="Google Shape;1063;p99"/>
          <p:cNvSpPr txBox="1"/>
          <p:nvPr/>
        </p:nvSpPr>
        <p:spPr>
          <a:xfrm>
            <a:off x="4920600" y="3317047"/>
            <a:ext cx="27231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Nothing new.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4" name="Google Shape;1064;p99"/>
          <p:cNvSpPr txBox="1"/>
          <p:nvPr/>
        </p:nvSpPr>
        <p:spPr>
          <a:xfrm>
            <a:off x="4920600" y="4110895"/>
            <a:ext cx="27231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It is not Saturday.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Logic</a:t>
            </a:r>
            <a:endParaRPr/>
          </a:p>
        </p:txBody>
      </p:sp>
      <p:sp>
        <p:nvSpPr>
          <p:cNvPr id="1070" name="Google Shape;1070;p100"/>
          <p:cNvSpPr txBox="1"/>
          <p:nvPr>
            <p:ph idx="1" type="body"/>
          </p:nvPr>
        </p:nvSpPr>
        <p:spPr>
          <a:xfrm>
            <a:off x="324000" y="759300"/>
            <a:ext cx="8237700" cy="394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Logic can help us find contradictions.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At Oak National Academy, it is logic day. On logic day, all pupils either always tell the truth or always lie.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10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Logic</a:t>
            </a:r>
            <a:endParaRPr/>
          </a:p>
        </p:txBody>
      </p:sp>
      <p:sp>
        <p:nvSpPr>
          <p:cNvPr id="1076" name="Google Shape;1076;p101"/>
          <p:cNvSpPr txBox="1"/>
          <p:nvPr>
            <p:ph idx="1" type="body"/>
          </p:nvPr>
        </p:nvSpPr>
        <p:spPr>
          <a:xfrm>
            <a:off x="324000" y="759300"/>
            <a:ext cx="8237700" cy="42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You first meet Aisha and Andeep.</a:t>
            </a:r>
            <a:endParaRPr/>
          </a:p>
        </p:txBody>
      </p:sp>
      <p:pic>
        <p:nvPicPr>
          <p:cNvPr id="1077" name="Google Shape;1077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9137" y="2270974"/>
            <a:ext cx="788350" cy="1016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8" name="Google Shape;1078;p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2190743"/>
            <a:ext cx="623346" cy="1177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9" name="Google Shape;1079;p101"/>
          <p:cNvPicPr preferRelativeResize="0"/>
          <p:nvPr/>
        </p:nvPicPr>
        <p:blipFill rotWithShape="1">
          <a:blip r:embed="rId5">
            <a:alphaModFix/>
          </a:blip>
          <a:srcRect b="6172" l="40550" r="0" t="13240"/>
          <a:stretch/>
        </p:blipFill>
        <p:spPr>
          <a:xfrm>
            <a:off x="850925" y="1355600"/>
            <a:ext cx="2134380" cy="1377424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Google Shape;1080;p101"/>
          <p:cNvSpPr txBox="1"/>
          <p:nvPr/>
        </p:nvSpPr>
        <p:spPr>
          <a:xfrm>
            <a:off x="1113575" y="1502675"/>
            <a:ext cx="1773600" cy="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are both lying today.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101"/>
          <p:cNvSpPr txBox="1"/>
          <p:nvPr/>
        </p:nvSpPr>
        <p:spPr>
          <a:xfrm>
            <a:off x="324000" y="3612850"/>
            <a:ext cx="82377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Aisha lying today? What about Andeep?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10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Logic</a:t>
            </a:r>
            <a:endParaRPr/>
          </a:p>
        </p:txBody>
      </p:sp>
      <p:sp>
        <p:nvSpPr>
          <p:cNvPr id="1087" name="Google Shape;1087;p102"/>
          <p:cNvSpPr txBox="1"/>
          <p:nvPr>
            <p:ph idx="1" type="body"/>
          </p:nvPr>
        </p:nvSpPr>
        <p:spPr>
          <a:xfrm>
            <a:off x="324000" y="759300"/>
            <a:ext cx="8237700" cy="42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You first meet Aisha and Andeep.</a:t>
            </a:r>
            <a:endParaRPr/>
          </a:p>
        </p:txBody>
      </p:sp>
      <p:pic>
        <p:nvPicPr>
          <p:cNvPr id="1088" name="Google Shape;1088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9137" y="2270974"/>
            <a:ext cx="788350" cy="1016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9" name="Google Shape;1089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2190743"/>
            <a:ext cx="623346" cy="1177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0" name="Google Shape;1090;p102"/>
          <p:cNvPicPr preferRelativeResize="0"/>
          <p:nvPr/>
        </p:nvPicPr>
        <p:blipFill rotWithShape="1">
          <a:blip r:embed="rId5">
            <a:alphaModFix/>
          </a:blip>
          <a:srcRect b="6172" l="40550" r="0" t="13240"/>
          <a:stretch/>
        </p:blipFill>
        <p:spPr>
          <a:xfrm>
            <a:off x="850925" y="1355600"/>
            <a:ext cx="2134380" cy="13774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1" name="Google Shape;1091;p102"/>
          <p:cNvSpPr txBox="1"/>
          <p:nvPr/>
        </p:nvSpPr>
        <p:spPr>
          <a:xfrm>
            <a:off x="1011337" y="1502670"/>
            <a:ext cx="1992900" cy="9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are both lying today.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2" name="Google Shape;1092;p102"/>
          <p:cNvSpPr txBox="1"/>
          <p:nvPr/>
        </p:nvSpPr>
        <p:spPr>
          <a:xfrm>
            <a:off x="324000" y="3612850"/>
            <a:ext cx="82377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Aisha is telling the truth, then she is lying today - contradiction. Therefore Aisha is lying. Her statement is not true.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10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Logic</a:t>
            </a:r>
            <a:endParaRPr/>
          </a:p>
        </p:txBody>
      </p:sp>
      <p:sp>
        <p:nvSpPr>
          <p:cNvPr id="1098" name="Google Shape;1098;p103"/>
          <p:cNvSpPr txBox="1"/>
          <p:nvPr>
            <p:ph idx="1" type="body"/>
          </p:nvPr>
        </p:nvSpPr>
        <p:spPr>
          <a:xfrm>
            <a:off x="324000" y="759300"/>
            <a:ext cx="8237700" cy="42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You first meet Aisha and Andeep.</a:t>
            </a:r>
            <a:endParaRPr/>
          </a:p>
        </p:txBody>
      </p:sp>
      <p:pic>
        <p:nvPicPr>
          <p:cNvPr id="1099" name="Google Shape;1099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9137" y="2270974"/>
            <a:ext cx="788350" cy="1016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0" name="Google Shape;1100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2190743"/>
            <a:ext cx="623346" cy="1177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1" name="Google Shape;1101;p103"/>
          <p:cNvPicPr preferRelativeResize="0"/>
          <p:nvPr/>
        </p:nvPicPr>
        <p:blipFill rotWithShape="1">
          <a:blip r:embed="rId5">
            <a:alphaModFix/>
          </a:blip>
          <a:srcRect b="6172" l="40550" r="0" t="13240"/>
          <a:stretch/>
        </p:blipFill>
        <p:spPr>
          <a:xfrm>
            <a:off x="850925" y="1355600"/>
            <a:ext cx="2134380" cy="1377424"/>
          </a:xfrm>
          <a:prstGeom prst="rect">
            <a:avLst/>
          </a:prstGeom>
          <a:noFill/>
          <a:ln>
            <a:noFill/>
          </a:ln>
        </p:spPr>
      </p:pic>
      <p:sp>
        <p:nvSpPr>
          <p:cNvPr id="1102" name="Google Shape;1102;p103"/>
          <p:cNvSpPr txBox="1"/>
          <p:nvPr/>
        </p:nvSpPr>
        <p:spPr>
          <a:xfrm>
            <a:off x="1011337" y="1502670"/>
            <a:ext cx="1992900" cy="9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are both lying today.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103"/>
          <p:cNvSpPr txBox="1"/>
          <p:nvPr/>
        </p:nvSpPr>
        <p:spPr>
          <a:xfrm>
            <a:off x="324000" y="3612850"/>
            <a:ext cx="82377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Since Aisha is not telling the truth, we know that Andeep cannot be lying today. Andeep is telling the truth today.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103"/>
          <p:cNvSpPr txBox="1"/>
          <p:nvPr/>
        </p:nvSpPr>
        <p:spPr>
          <a:xfrm>
            <a:off x="1011325" y="2866200"/>
            <a:ext cx="19929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true.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Logic</a:t>
            </a:r>
            <a:endParaRPr/>
          </a:p>
        </p:txBody>
      </p:sp>
      <p:sp>
        <p:nvSpPr>
          <p:cNvPr id="1110" name="Google Shape;1110;p10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Yes</a:t>
            </a:r>
            <a:endParaRPr sz="1800"/>
          </a:p>
        </p:txBody>
      </p:sp>
      <p:sp>
        <p:nvSpPr>
          <p:cNvPr id="1111" name="Google Shape;1111;p10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You now meet Alex and Izzy. Alex says, ‘Exactly one of us is lying today.’ Is Izzy telling the truth today?</a:t>
            </a:r>
            <a:endParaRPr sz="1800"/>
          </a:p>
        </p:txBody>
      </p:sp>
      <p:sp>
        <p:nvSpPr>
          <p:cNvPr id="1112" name="Google Shape;1112;p10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No</a:t>
            </a:r>
            <a:endParaRPr sz="1800"/>
          </a:p>
        </p:txBody>
      </p:sp>
      <p:sp>
        <p:nvSpPr>
          <p:cNvPr id="1113" name="Google Shape;1113;p10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Not enough information</a:t>
            </a:r>
            <a:endParaRPr sz="1800"/>
          </a:p>
        </p:txBody>
      </p:sp>
      <p:pic>
        <p:nvPicPr>
          <p:cNvPr id="1114" name="Google Shape;1114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6808" y="27551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105"/>
          <p:cNvSpPr txBox="1"/>
          <p:nvPr>
            <p:ph idx="4294967295"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/>
              <a:t>You now meet Alex and Izzy. Alex says, ‘Exactly one of us is lying today.’ Is Izzy telling the truth today?</a:t>
            </a:r>
            <a:endParaRPr b="0" sz="1800"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GB" sz="1800">
                <a:latin typeface="Kalam"/>
                <a:ea typeface="Kalam"/>
                <a:cs typeface="Kalam"/>
                <a:sym typeface="Kalam"/>
              </a:rPr>
              <a:t>If Alex is telling the truth, then Izzy must be lying today.</a:t>
            </a:r>
            <a:endParaRPr b="0"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GB" sz="1800">
                <a:latin typeface="Kalam"/>
                <a:ea typeface="Kalam"/>
                <a:cs typeface="Kalam"/>
                <a:sym typeface="Kalam"/>
              </a:rPr>
              <a:t>If Alex is lying then there cannot be only one person lying today. Therefore Izzy must also be lying.</a:t>
            </a:r>
            <a:endParaRPr b="0"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-GB" sz="1800">
                <a:latin typeface="Kalam"/>
                <a:ea typeface="Kalam"/>
                <a:cs typeface="Kalam"/>
                <a:sym typeface="Kalam"/>
              </a:rPr>
              <a:t>Conclusion - it doesn’t matter whether Alex is telling the truth or lying, Izzy must be lying today.</a:t>
            </a:r>
            <a:endParaRPr b="0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0" name="Google Shape;1120;p10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Logic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10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Logic</a:t>
            </a:r>
            <a:endParaRPr/>
          </a:p>
        </p:txBody>
      </p:sp>
      <p:sp>
        <p:nvSpPr>
          <p:cNvPr id="1126" name="Google Shape;1126;p10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‘If it is raining, I will use an umbrella.’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What can you conclude if: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It is raining.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It is not raining.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 I am using an umbrella.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d) I am not using an umbrella.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10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Logic</a:t>
            </a:r>
            <a:endParaRPr/>
          </a:p>
        </p:txBody>
      </p:sp>
      <p:sp>
        <p:nvSpPr>
          <p:cNvPr id="1132" name="Google Shape;1132;p10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</a:t>
            </a:r>
            <a:r>
              <a:rPr lang="en-GB"/>
              <a:t>At Oak National Academy, it is logic day. On logic day, all pupils either always tell the truth or always lie.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You meet Jacob and Jun. Jacob says, ‘Exactly one of us is telling the truth today.’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Is it possible to state whether Jacob is telling the truth or not?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10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Logic</a:t>
            </a:r>
            <a:endParaRPr/>
          </a:p>
        </p:txBody>
      </p:sp>
      <p:sp>
        <p:nvSpPr>
          <p:cNvPr id="1138" name="Google Shape;1138;p10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</a:t>
            </a:r>
            <a:r>
              <a:rPr lang="en-GB"/>
              <a:t>) At Oak National Academy, it is logic day. On logic day, all pupils either always tell the truth or always lie.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You meet Laura and Lucas.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Laura says, ‘I am lying today </a:t>
            </a:r>
            <a:r>
              <a:rPr lang="en-GB">
                <a:solidFill>
                  <a:schemeClr val="accent5"/>
                </a:solidFill>
              </a:rPr>
              <a:t>and </a:t>
            </a:r>
            <a:r>
              <a:rPr lang="en-GB"/>
              <a:t>Lucas is telling the truth today.’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can you deduce, if anything, about Laura and Lucas?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10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Logic</a:t>
            </a:r>
            <a:endParaRPr/>
          </a:p>
        </p:txBody>
      </p:sp>
      <p:sp>
        <p:nvSpPr>
          <p:cNvPr id="1144" name="Google Shape;1144;p109"/>
          <p:cNvSpPr txBox="1"/>
          <p:nvPr>
            <p:ph idx="1" type="body"/>
          </p:nvPr>
        </p:nvSpPr>
        <p:spPr>
          <a:xfrm>
            <a:off x="324000" y="759300"/>
            <a:ext cx="82377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</a:t>
            </a:r>
            <a:r>
              <a:rPr lang="en-GB"/>
              <a:t>) At Oak National Academy, it is logic day. On logic day, all pupils either always tell the truth or always lie.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You meet Sam and Sofia.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Sam says, ‘One of us is lying and one is telling the truth.’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Sofia says, ‘We are both doing the same thing </a:t>
            </a:r>
            <a:r>
              <a:rPr lang="en-GB">
                <a:solidFill>
                  <a:schemeClr val="accent5"/>
                </a:solidFill>
              </a:rPr>
              <a:t>and</a:t>
            </a:r>
            <a:r>
              <a:rPr lang="en-GB"/>
              <a:t> I am lying.’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can you deduce, if anything, about Sam and Sofia?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11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Logic</a:t>
            </a:r>
            <a:endParaRPr/>
          </a:p>
        </p:txBody>
      </p:sp>
      <p:sp>
        <p:nvSpPr>
          <p:cNvPr id="1150" name="Google Shape;1150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‘If it is raining, I will use an umbrella.’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What can you conclude if: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It is raining.                              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I will use an umbrella.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It is not raining.                       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Nothing new.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 I am using an umbrella.          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Nothing new.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d) I am not using an umbrella.   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It is not raining.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11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Logic</a:t>
            </a:r>
            <a:endParaRPr/>
          </a:p>
        </p:txBody>
      </p:sp>
      <p:sp>
        <p:nvSpPr>
          <p:cNvPr id="1156" name="Google Shape;1156;p111"/>
          <p:cNvSpPr txBox="1"/>
          <p:nvPr>
            <p:ph idx="1" type="body"/>
          </p:nvPr>
        </p:nvSpPr>
        <p:spPr>
          <a:xfrm>
            <a:off x="324000" y="759300"/>
            <a:ext cx="8237700" cy="395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At Oak National Academy, it is logic day. On logic day, all pupils either always tell the truth or always lie.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You meet Jacob and Jun. Jacob says, ‘Exactly one of us is telling the truth today.’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Is it possible to state whether Jacob is telling the truth or not?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No. We can work out that Jun must be lying today but we don’t know whether Jacob is telling the truth or not.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11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Logic</a:t>
            </a:r>
            <a:endParaRPr/>
          </a:p>
        </p:txBody>
      </p:sp>
      <p:sp>
        <p:nvSpPr>
          <p:cNvPr id="1162" name="Google Shape;1162;p112"/>
          <p:cNvSpPr txBox="1"/>
          <p:nvPr>
            <p:ph idx="1" type="body"/>
          </p:nvPr>
        </p:nvSpPr>
        <p:spPr>
          <a:xfrm>
            <a:off x="324000" y="759300"/>
            <a:ext cx="82377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At Oak National Academy, it is logic day. On logic day, all pupils either always tell the truth or always lie.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You meet Laura and Lucas.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Laura says, ‘I am lying today </a:t>
            </a:r>
            <a:r>
              <a:rPr lang="en-GB">
                <a:solidFill>
                  <a:schemeClr val="accent5"/>
                </a:solidFill>
              </a:rPr>
              <a:t>and </a:t>
            </a:r>
            <a:r>
              <a:rPr lang="en-GB"/>
              <a:t>Lucas is telling the truth today.’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What can you deduce, if anything, about Laura and Lucas?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Laura and Lucas are both lying today.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For Laura to be telling the truth, every part of her statement must be true. One part being a lie is enough to know she is lying today.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11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Logic</a:t>
            </a:r>
            <a:endParaRPr/>
          </a:p>
        </p:txBody>
      </p:sp>
      <p:sp>
        <p:nvSpPr>
          <p:cNvPr id="1168" name="Google Shape;1168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4) </a:t>
            </a:r>
            <a:r>
              <a:rPr lang="en-GB"/>
              <a:t>At Oak National Academy, it is logic day. On logic day, all pupils either always tell the truth or always lie.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You meet Sam and Sofia.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Sam says, ‘One of us is lying and one is telling the truth.’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Sofia says, ‘We are both doing the same thing </a:t>
            </a:r>
            <a:r>
              <a:rPr lang="en-GB">
                <a:solidFill>
                  <a:schemeClr val="accent5"/>
                </a:solidFill>
              </a:rPr>
              <a:t>and</a:t>
            </a:r>
            <a:r>
              <a:rPr lang="en-GB"/>
              <a:t> I am lying.’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What can you deduce, if anything, about Sam and Sofia?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Sam is telling the truth and Sofia is lying. 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114"/>
          <p:cNvSpPr txBox="1"/>
          <p:nvPr>
            <p:ph idx="1" type="body"/>
          </p:nvPr>
        </p:nvSpPr>
        <p:spPr>
          <a:xfrm>
            <a:off x="324000" y="927600"/>
            <a:ext cx="8113800" cy="3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 (computer) </a:t>
            </a:r>
            <a:r>
              <a:rPr b="1" lang="en-GB" sz="2000"/>
              <a:t>programmer</a:t>
            </a:r>
            <a:r>
              <a:rPr lang="en-GB" sz="2000"/>
              <a:t> is a person who writes and tests computer programs.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An algorithm is a set of instructions which can be carried out to solve a problem. Programmers write algorithms that a computer can follow to solve problems.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The instructions should follow logically.</a:t>
            </a:r>
            <a:endParaRPr sz="2000"/>
          </a:p>
        </p:txBody>
      </p:sp>
      <p:sp>
        <p:nvSpPr>
          <p:cNvPr id="1174" name="Google Shape;1174;p114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Programmer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115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180" name="Google Shape;1180;p1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