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8" r:id="rId4"/>
  </p:sldMasterIdLst>
  <p:notesMasterIdLst>
    <p:notesMasterId r:id="rId5"/>
  </p:notesMasterIdLst>
  <p:sldIdLst>
    <p:sldId id="256" r:id="rId6"/>
    <p:sldId id="257" r:id="rId7"/>
    <p:sldId id="258" r:id="rId8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1D942A6-B8E5-4610-B19B-A80E27F80FE0}">
  <a:tblStyle styleId="{91D942A6-B8E5-4610-B19B-A80E27F80FE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0cec65323d_0_2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0cec65323d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" name="Google Shape;12;p2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" name="Google Shape;13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2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" name="Google Shape;16;p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" name="Google Shape;21;p3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3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5" name="Google Shape;25;p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0" name="Google Shape;30;p4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" name="Google Shape;31;p4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2" name="Google Shape;32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7" name="Google Shape;37;p5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" name="Google Shape;38;p5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9" name="Google Shape;39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" name="Google Shape;41;p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2" name="Google Shape;42;p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3" name="Google Shape;43;p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4" name="Google Shape;44;p5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6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8" name="Google Shape;48;p6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" name="Google Shape;50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6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2" name="Google Shape;52;p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4" name="Google Shape;54;p6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5" name="Google Shape;55;p6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6" name="Google Shape;56;p6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7" name="Google Shape;57;p6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7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1" name="Google Shape;61;p7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2" name="Google Shape;62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7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5" name="Google Shape;65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7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" name="Google Shape;67;p7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8" name="Google Shape;68;p7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9" name="Google Shape;69;p7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70" name="Google Shape;70;p7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4" name="Google Shape;74;p8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5" name="Google Shape;75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8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8" name="Google Shape;78;p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3" name="Google Shape;83;p9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4" name="Google Shape;84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" name="Google Shape;86;p9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0" name="Google Shape;90;p10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1" name="Google Shape;91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0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0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4" name="Google Shape;94;p10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5" name="Google Shape;95;p10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0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0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1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1" name="Google Shape;101;p11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2" name="Google Shape;10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1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5" name="Google Shape;105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1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" name="Google Shape;107;p11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1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9" name="Google Shape;109;p11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0" name="Google Shape;110;p11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116" name="Google Shape;116;p12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Programmer</a:t>
            </a:r>
            <a:endParaRPr/>
          </a:p>
        </p:txBody>
      </p:sp>
      <p:sp>
        <p:nvSpPr>
          <p:cNvPr id="117" name="Google Shape;117;p12"/>
          <p:cNvSpPr txBox="1"/>
          <p:nvPr/>
        </p:nvSpPr>
        <p:spPr>
          <a:xfrm>
            <a:off x="468000" y="1632100"/>
            <a:ext cx="6624000" cy="25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Algorithm 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Step 1: Take two positive numbers, 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and 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Step 2: Draw a table with two columns. Put 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at the top of the left column and 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at the top of the right column.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Step 3: In the next row, in the left-hand column write the number that is half of 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(ignoring remainders) and in the right-hand column write the number that is double 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Step 4: Repeat Step 3 until you have a 1 in the left-hand column.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Step 5: Delete any rows where the left-hand column has an even number.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Step 6: Find the sum of the numbers left in the right-hand column.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2"/>
          <p:cNvSpPr txBox="1"/>
          <p:nvPr/>
        </p:nvSpPr>
        <p:spPr>
          <a:xfrm>
            <a:off x="467998" y="1232750"/>
            <a:ext cx="6441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Algorithms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" name="Google Shape;119;p12"/>
          <p:cNvSpPr txBox="1"/>
          <p:nvPr/>
        </p:nvSpPr>
        <p:spPr>
          <a:xfrm>
            <a:off x="468000" y="4338600"/>
            <a:ext cx="6624000" cy="7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Carry out algorithm 1 with the following numbers: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8, 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10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20" name="Google Shape;120;p12"/>
          <p:cNvGraphicFramePr/>
          <p:nvPr/>
        </p:nvGraphicFramePr>
        <p:xfrm>
          <a:off x="467992" y="4937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{91D942A6-B8E5-4610-B19B-A80E27F80FE0}</a:tableStyleId>
              </a:tblPr>
              <a:tblGrid>
                <a:gridCol w="841025"/>
                <a:gridCol w="841025"/>
              </a:tblGrid>
              <a:tr h="156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8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/>
                </a:tc>
              </a:tr>
              <a:tr h="156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20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/>
                </a:tc>
              </a:tr>
              <a:tr h="156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2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40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/>
                </a:tc>
              </a:tr>
              <a:tr h="156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80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/>
                </a:tc>
              </a:tr>
            </a:tbl>
          </a:graphicData>
        </a:graphic>
      </p:graphicFrame>
      <p:grpSp>
        <p:nvGrpSpPr>
          <p:cNvPr id="121" name="Google Shape;121;p12"/>
          <p:cNvGrpSpPr/>
          <p:nvPr/>
        </p:nvGrpSpPr>
        <p:grpSpPr>
          <a:xfrm>
            <a:off x="467977" y="5043039"/>
            <a:ext cx="1682004" cy="337638"/>
            <a:chOff x="2659325" y="1555631"/>
            <a:chExt cx="4299600" cy="835944"/>
          </a:xfrm>
        </p:grpSpPr>
        <p:cxnSp>
          <p:nvCxnSpPr>
            <p:cNvPr id="122" name="Google Shape;122;p12"/>
            <p:cNvCxnSpPr/>
            <p:nvPr/>
          </p:nvCxnSpPr>
          <p:spPr>
            <a:xfrm>
              <a:off x="2659325" y="1555631"/>
              <a:ext cx="42996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3" name="Google Shape;123;p12"/>
            <p:cNvCxnSpPr/>
            <p:nvPr/>
          </p:nvCxnSpPr>
          <p:spPr>
            <a:xfrm>
              <a:off x="2659325" y="2010575"/>
              <a:ext cx="42996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4" name="Google Shape;124;p12"/>
            <p:cNvCxnSpPr/>
            <p:nvPr/>
          </p:nvCxnSpPr>
          <p:spPr>
            <a:xfrm>
              <a:off x="2659325" y="2391575"/>
              <a:ext cx="42996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25" name="Google Shape;125;p12"/>
          <p:cNvSpPr txBox="1"/>
          <p:nvPr/>
        </p:nvSpPr>
        <p:spPr>
          <a:xfrm>
            <a:off x="471525" y="5864350"/>
            <a:ext cx="2948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sum of the remaining numbers in the right-hand column is 80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6" name="Google Shape;126;p12"/>
          <p:cNvSpPr txBox="1"/>
          <p:nvPr/>
        </p:nvSpPr>
        <p:spPr>
          <a:xfrm>
            <a:off x="3789374" y="4670233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29, 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34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27" name="Google Shape;127;p12"/>
          <p:cNvGraphicFramePr/>
          <p:nvPr/>
        </p:nvGraphicFramePr>
        <p:xfrm>
          <a:off x="3789374" y="499603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{91D942A6-B8E5-4610-B19B-A80E27F80FE0}</a:tableStyleId>
              </a:tblPr>
              <a:tblGrid>
                <a:gridCol w="841025"/>
                <a:gridCol w="841025"/>
              </a:tblGrid>
              <a:tr h="210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29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34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/>
                </a:tc>
              </a:tr>
              <a:tr h="210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14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68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/>
                </a:tc>
              </a:tr>
              <a:tr h="210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7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136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/>
                </a:tc>
              </a:tr>
              <a:tr h="210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272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/>
                </a:tc>
              </a:tr>
              <a:tr h="210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544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/>
                </a:tc>
              </a:tr>
            </a:tbl>
          </a:graphicData>
        </a:graphic>
      </p:graphicFrame>
      <p:cxnSp>
        <p:nvCxnSpPr>
          <p:cNvPr id="128" name="Google Shape;128;p12"/>
          <p:cNvCxnSpPr/>
          <p:nvPr/>
        </p:nvCxnSpPr>
        <p:spPr>
          <a:xfrm>
            <a:off x="3789374" y="5324183"/>
            <a:ext cx="1682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9" name="Google Shape;129;p12"/>
          <p:cNvSpPr txBox="1"/>
          <p:nvPr/>
        </p:nvSpPr>
        <p:spPr>
          <a:xfrm>
            <a:off x="3780000" y="6153925"/>
            <a:ext cx="3312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sum of the remaining numbers in the right-hand column is 986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0" name="Google Shape;130;p12"/>
          <p:cNvSpPr txBox="1"/>
          <p:nvPr/>
        </p:nvSpPr>
        <p:spPr>
          <a:xfrm>
            <a:off x="467975" y="6651259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13, 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17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31" name="Google Shape;131;p12"/>
          <p:cNvGraphicFramePr/>
          <p:nvPr/>
        </p:nvGraphicFramePr>
        <p:xfrm>
          <a:off x="467975" y="698824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{91D942A6-B8E5-4610-B19B-A80E27F80FE0}</a:tableStyleId>
              </a:tblPr>
              <a:tblGrid>
                <a:gridCol w="841200"/>
                <a:gridCol w="841200"/>
              </a:tblGrid>
              <a:tr h="156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13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17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/>
                </a:tc>
              </a:tr>
              <a:tr h="156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34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/>
                </a:tc>
              </a:tr>
              <a:tr h="156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68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/>
                </a:tc>
              </a:tr>
              <a:tr h="156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136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/>
                </a:tc>
              </a:tr>
            </a:tbl>
          </a:graphicData>
        </a:graphic>
      </p:graphicFrame>
      <p:cxnSp>
        <p:nvCxnSpPr>
          <p:cNvPr id="132" name="Google Shape;132;p12"/>
          <p:cNvCxnSpPr/>
          <p:nvPr/>
        </p:nvCxnSpPr>
        <p:spPr>
          <a:xfrm>
            <a:off x="471533" y="7275359"/>
            <a:ext cx="1693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3" name="Google Shape;133;p12"/>
          <p:cNvSpPr txBox="1"/>
          <p:nvPr/>
        </p:nvSpPr>
        <p:spPr>
          <a:xfrm>
            <a:off x="467975" y="7911100"/>
            <a:ext cx="2948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sum of the remaining numbers in the right-hand column is 221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4" name="Google Shape;134;p12"/>
          <p:cNvSpPr txBox="1"/>
          <p:nvPr/>
        </p:nvSpPr>
        <p:spPr>
          <a:xfrm>
            <a:off x="3795994" y="6640901"/>
            <a:ext cx="66240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66, 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56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35" name="Google Shape;135;p12"/>
          <p:cNvGraphicFramePr/>
          <p:nvPr/>
        </p:nvGraphicFramePr>
        <p:xfrm>
          <a:off x="3799544" y="688880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{91D942A6-B8E5-4610-B19B-A80E27F80FE0}</a:tableStyleId>
              </a:tblPr>
              <a:tblGrid>
                <a:gridCol w="846900"/>
                <a:gridCol w="846900"/>
              </a:tblGrid>
              <a:tr h="157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66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56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/>
                </a:tc>
              </a:tr>
              <a:tr h="157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33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112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/>
                </a:tc>
              </a:tr>
              <a:tr h="157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16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224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/>
                </a:tc>
              </a:tr>
              <a:tr h="157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8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448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/>
                </a:tc>
              </a:tr>
              <a:tr h="157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896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/>
                </a:tc>
              </a:tr>
              <a:tr h="157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2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1792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/>
                </a:tc>
              </a:tr>
              <a:tr h="157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3584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/>
                </a:tc>
              </a:tr>
            </a:tbl>
          </a:graphicData>
        </a:graphic>
      </p:graphicFrame>
      <p:grpSp>
        <p:nvGrpSpPr>
          <p:cNvPr id="136" name="Google Shape;136;p12"/>
          <p:cNvGrpSpPr/>
          <p:nvPr/>
        </p:nvGrpSpPr>
        <p:grpSpPr>
          <a:xfrm>
            <a:off x="3799452" y="6987712"/>
            <a:ext cx="1693612" cy="912685"/>
            <a:chOff x="2659325" y="1629575"/>
            <a:chExt cx="4299600" cy="1905000"/>
          </a:xfrm>
        </p:grpSpPr>
        <p:grpSp>
          <p:nvGrpSpPr>
            <p:cNvPr id="137" name="Google Shape;137;p12"/>
            <p:cNvGrpSpPr/>
            <p:nvPr/>
          </p:nvGrpSpPr>
          <p:grpSpPr>
            <a:xfrm>
              <a:off x="2659325" y="1629575"/>
              <a:ext cx="4299600" cy="1143000"/>
              <a:chOff x="2659325" y="1629575"/>
              <a:chExt cx="4299600" cy="1143000"/>
            </a:xfrm>
          </p:grpSpPr>
          <p:cxnSp>
            <p:nvCxnSpPr>
              <p:cNvPr id="138" name="Google Shape;138;p12"/>
              <p:cNvCxnSpPr/>
              <p:nvPr/>
            </p:nvCxnSpPr>
            <p:spPr>
              <a:xfrm>
                <a:off x="2659325" y="1629575"/>
                <a:ext cx="4299600" cy="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9" name="Google Shape;139;p12"/>
              <p:cNvCxnSpPr/>
              <p:nvPr/>
            </p:nvCxnSpPr>
            <p:spPr>
              <a:xfrm>
                <a:off x="2659325" y="2772575"/>
                <a:ext cx="4299600" cy="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0" name="Google Shape;140;p12"/>
              <p:cNvCxnSpPr/>
              <p:nvPr/>
            </p:nvCxnSpPr>
            <p:spPr>
              <a:xfrm>
                <a:off x="2659325" y="2391575"/>
                <a:ext cx="4299600" cy="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141" name="Google Shape;141;p12"/>
            <p:cNvCxnSpPr/>
            <p:nvPr/>
          </p:nvCxnSpPr>
          <p:spPr>
            <a:xfrm>
              <a:off x="2659325" y="3153575"/>
              <a:ext cx="42996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2" name="Google Shape;142;p12"/>
            <p:cNvCxnSpPr/>
            <p:nvPr/>
          </p:nvCxnSpPr>
          <p:spPr>
            <a:xfrm>
              <a:off x="2659325" y="3534575"/>
              <a:ext cx="42996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43" name="Google Shape;143;p12"/>
          <p:cNvSpPr txBox="1"/>
          <p:nvPr/>
        </p:nvSpPr>
        <p:spPr>
          <a:xfrm>
            <a:off x="3780050" y="8306450"/>
            <a:ext cx="33120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sum of the remaining numbers in the right-hand column is 3696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4" name="Google Shape;144;p12"/>
          <p:cNvSpPr txBox="1"/>
          <p:nvPr/>
        </p:nvSpPr>
        <p:spPr>
          <a:xfrm>
            <a:off x="467975" y="8866700"/>
            <a:ext cx="6624000" cy="5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What does algorithm 1 do?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The algorithm calculates the product of the two numbers.</a:t>
            </a:r>
            <a:endParaRPr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3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Programmer</a:t>
            </a:r>
            <a:endParaRPr/>
          </a:p>
        </p:txBody>
      </p:sp>
      <p:sp>
        <p:nvSpPr>
          <p:cNvPr id="150" name="Google Shape;150;p13"/>
          <p:cNvSpPr txBox="1"/>
          <p:nvPr/>
        </p:nvSpPr>
        <p:spPr>
          <a:xfrm>
            <a:off x="468000" y="720000"/>
            <a:ext cx="6624000" cy="22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Write an algorithm for making a drink of squash or a cup of hot chocolate (more challenging). Give your algorithm to a partner and let them try to ‘break’ your algorithm. Is there a way for them to misinterpret your instructions?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E.g. There were lots of possibilities here. Hopefully you had lots of fun ‘breaking’ algorithms. Here are some examples of ways you could have done this: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‘Fill the kettle with water’ - this could mean put in water until it reaches the very top of the kettle (water will escape when the kettle boils)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                               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- where does the water come from? (tap, toilet?!)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1" name="Google Shape;151;p13"/>
          <p:cNvCxnSpPr/>
          <p:nvPr/>
        </p:nvCxnSpPr>
        <p:spPr>
          <a:xfrm>
            <a:off x="474751" y="5528257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2" name="Google Shape;152;p13"/>
          <p:cNvSpPr txBox="1"/>
          <p:nvPr/>
        </p:nvSpPr>
        <p:spPr>
          <a:xfrm>
            <a:off x="474748" y="5528269"/>
            <a:ext cx="643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Logic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3"/>
          <p:cNvSpPr txBox="1"/>
          <p:nvPr/>
        </p:nvSpPr>
        <p:spPr>
          <a:xfrm>
            <a:off x="468000" y="6030744"/>
            <a:ext cx="6624000" cy="20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‘If it is raining, I will use an umbrella.’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What can you conclude if: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It is raining.				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 will use an umbrella.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It is not raining.				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Nothing new.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I am using an umbrella.		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Nothing new.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I am not using an umbrella.		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It is not raining.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4" name="Google Shape;154;p13"/>
          <p:cNvSpPr txBox="1"/>
          <p:nvPr/>
        </p:nvSpPr>
        <p:spPr>
          <a:xfrm>
            <a:off x="474750" y="8207244"/>
            <a:ext cx="6610500" cy="17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At Oak National Academy, it is logic day. On logic day, all pupils either always tell the truth or always lie.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You meet Jacob and Jun. Jacob says, ‘Exactly one of us is telling the truth today.’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Is it possible to state whether Jacob is telling the truth or not?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No. We can work out that Jun must be lying today but we don’t know whether Jacob is telling the truth or not.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5" name="Google Shape;155;p13"/>
          <p:cNvSpPr txBox="1"/>
          <p:nvPr/>
        </p:nvSpPr>
        <p:spPr>
          <a:xfrm>
            <a:off x="6352325" y="9972000"/>
            <a:ext cx="48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>
                <a:solidFill>
                  <a:srgbClr val="222222"/>
                </a:solidFill>
                <a:latin typeface="Lexend Medium"/>
                <a:ea typeface="Lexend Medium"/>
                <a:cs typeface="Lexend Medium"/>
                <a:sym typeface="Lexend Medium"/>
              </a:rPr>
              <a:t>‹#›</a:t>
            </a:fld>
            <a:endParaRPr sz="1200">
              <a:solidFill>
                <a:srgbClr val="22222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161" name="Google Shape;161;p14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Programmer</a:t>
            </a:r>
            <a:endParaRPr/>
          </a:p>
        </p:txBody>
      </p:sp>
      <p:sp>
        <p:nvSpPr>
          <p:cNvPr id="162" name="Google Shape;162;p14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163" name="Google Shape;163;p14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v2.4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14"/>
          <p:cNvSpPr txBox="1"/>
          <p:nvPr/>
        </p:nvSpPr>
        <p:spPr>
          <a:xfrm>
            <a:off x="468000" y="720000"/>
            <a:ext cx="6624000" cy="32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At Oak National Academy, it is logic day. On logic day, all pupils either always tell the truth or always lie.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You meet Laura and Lucas. Laura says, ‘I am lying today </a:t>
            </a:r>
            <a:r>
              <a:rPr lang="en-GB" sz="12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rPr>
              <a:t>and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Lucas is telling the truth today.’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What can you deduce, if anything, about Laura and Lucas?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Laura and Lucas are both lying today.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For Laura to be telling the truth, every part of her statement must be true. One part being a lie is enough to know she is lying today.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5" name="Google Shape;165;p14"/>
          <p:cNvSpPr txBox="1"/>
          <p:nvPr/>
        </p:nvSpPr>
        <p:spPr>
          <a:xfrm>
            <a:off x="468000" y="3297900"/>
            <a:ext cx="6624000" cy="24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 At Oak National Academy, it is logic day. On logic day, all pupils either always tell the truth or always lie.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You meet Sam and Sofia.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Sam says, ‘One of us is lying and one is telling the truth.’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Sofia says, ‘We are both doing the same thing </a:t>
            </a:r>
            <a:r>
              <a:rPr lang="en-GB" sz="12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rPr>
              <a:t>and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I am lying.’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What can you deduce, if anything, about Sam and Sofia?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Sam is telling the truth and Sofia is lying.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orksheet Answers Sep 2024 v2">
  <a:themeElements>
    <a:clrScheme name="Simple Light">
      <a:dk1>
        <a:srgbClr val="222222"/>
      </a:dk1>
      <a:lt1>
        <a:srgbClr val="FFFFFF"/>
      </a:lt1>
      <a:dk2>
        <a:srgbClr val="808080"/>
      </a:dk2>
      <a:lt2>
        <a:srgbClr val="F2F2F2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287C34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