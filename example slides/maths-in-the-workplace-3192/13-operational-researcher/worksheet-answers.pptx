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ABA06C-560F-4C3F-B267-86505F7F9503}">
  <a:tblStyle styleId="{4AABA06C-560F-4C3F-B267-86505F7F950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0c50b31a62_0_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0c50b31a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14" name="Google Shape;14;p2"/>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15" name="Google Shape;15;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6" name="Google Shape;16;p2"/>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7" name="Google Shape;17;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23" name="Google Shape;23;p3"/>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24" name="Google Shape;24;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5" name="Google Shape;25;p3"/>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26" name="Google Shape;26;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50" name="Google Shape;50;p6"/>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51" name="Google Shape;51;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2" name="Google Shape;52;p6"/>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53" name="Google Shape;53;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4" name="Google Shape;54;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6" name="Google Shape;56;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7" name="Google Shape;57;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63" name="Google Shape;63;p7"/>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64" name="Google Shape;64;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5" name="Google Shape;65;p7"/>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66" name="Google Shape;66;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7" name="Google Shape;67;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9" name="Google Shape;69;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70" name="Google Shape;70;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76" name="Google Shape;76;p8"/>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77" name="Google Shape;77;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8" name="Google Shape;78;p8"/>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79" name="Google Shape;79;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03" name="Google Shape;103;p11"/>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04" name="Google Shape;104;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5" name="Google Shape;105;p11"/>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06" name="Google Shape;106;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7" name="Google Shape;107;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9" name="Google Shape;109;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10" name="Google Shape;110;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Operational research</a:t>
            </a:r>
            <a:endParaRPr/>
          </a:p>
        </p:txBody>
      </p:sp>
      <p:sp>
        <p:nvSpPr>
          <p:cNvPr id="117" name="Google Shape;117;p12"/>
          <p:cNvSpPr txBox="1"/>
          <p:nvPr/>
        </p:nvSpPr>
        <p:spPr>
          <a:xfrm>
            <a:off x="468000" y="1308950"/>
            <a:ext cx="6624000" cy="2772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Packing</a:t>
            </a:r>
            <a:endParaRPr b="1">
              <a:solidFill>
                <a:schemeClr val="dk1"/>
              </a:solidFill>
              <a:latin typeface="Lexend"/>
              <a:ea typeface="Lexend"/>
              <a:cs typeface="Lexend"/>
              <a:sym typeface="Lexend"/>
            </a:endParaRPr>
          </a:p>
        </p:txBody>
      </p:sp>
      <p:sp>
        <p:nvSpPr>
          <p:cNvPr id="118" name="Google Shape;118;p12"/>
          <p:cNvSpPr txBox="1"/>
          <p:nvPr/>
        </p:nvSpPr>
        <p:spPr>
          <a:xfrm>
            <a:off x="468000" y="1723800"/>
            <a:ext cx="6624000" cy="78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 A ferry transports vehicles across a river. The ferry has three lanes that vehicles can use. Each lane is 30 m long.</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One morning these vehicles arrive in this order:</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graphicFrame>
        <p:nvGraphicFramePr>
          <p:cNvPr id="119" name="Google Shape;119;p12"/>
          <p:cNvGraphicFramePr/>
          <p:nvPr/>
        </p:nvGraphicFramePr>
        <p:xfrm>
          <a:off x="468000" y="2584625"/>
          <a:ext cx="3000000" cy="3000000"/>
        </p:xfrm>
        <a:graphic>
          <a:graphicData uri="http://schemas.openxmlformats.org/drawingml/2006/table">
            <a:tbl>
              <a:tblPr>
                <a:noFill/>
                <a:tableStyleId>{4AABA06C-560F-4C3F-B267-86505F7F9503}</a:tableStyleId>
              </a:tblPr>
              <a:tblGrid>
                <a:gridCol w="1106600"/>
                <a:gridCol w="861400"/>
                <a:gridCol w="984000"/>
              </a:tblGrid>
              <a:tr h="2036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Arrival order</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Vehicle</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Length (m)</a:t>
                      </a:r>
                      <a:endParaRPr b="1" sz="1200">
                        <a:solidFill>
                          <a:schemeClr val="dk1"/>
                        </a:solidFill>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car</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car + trailer</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lorry</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13</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van</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lorry</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13</a:t>
                      </a:r>
                      <a:endParaRPr sz="1200">
                        <a:latin typeface="Lexend"/>
                        <a:ea typeface="Lexend"/>
                        <a:cs typeface="Lexend"/>
                        <a:sym typeface="Lexend"/>
                      </a:endParaRPr>
                    </a:p>
                  </a:txBody>
                  <a:tcPr marT="0" marB="0" marR="0" marL="0"/>
                </a:tc>
              </a:tr>
            </a:tbl>
          </a:graphicData>
        </a:graphic>
      </p:graphicFrame>
      <p:graphicFrame>
        <p:nvGraphicFramePr>
          <p:cNvPr id="120" name="Google Shape;120;p12"/>
          <p:cNvGraphicFramePr/>
          <p:nvPr/>
        </p:nvGraphicFramePr>
        <p:xfrm>
          <a:off x="4140000" y="2584625"/>
          <a:ext cx="3000000" cy="3000000"/>
        </p:xfrm>
        <a:graphic>
          <a:graphicData uri="http://schemas.openxmlformats.org/drawingml/2006/table">
            <a:tbl>
              <a:tblPr>
                <a:noFill/>
                <a:tableStyleId>{4AABA06C-560F-4C3F-B267-86505F7F9503}</a:tableStyleId>
              </a:tblPr>
              <a:tblGrid>
                <a:gridCol w="1106600"/>
                <a:gridCol w="861400"/>
                <a:gridCol w="984000"/>
              </a:tblGrid>
              <a:tr h="2036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Arrival order</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Vehicle</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Length (m)</a:t>
                      </a:r>
                      <a:endParaRPr b="1" sz="1200">
                        <a:solidFill>
                          <a:schemeClr val="dk1"/>
                        </a:solidFill>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car</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lorry</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12</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lorry</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14</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9</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van</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0" marB="0" marR="0" marL="0"/>
                </a:tc>
              </a:tr>
              <a:tr h="203600">
                <a:tc>
                  <a:txBody>
                    <a:bodyPr/>
                    <a:lstStyle/>
                    <a:p>
                      <a:pPr indent="0" lvl="0" marL="0" rtl="0" algn="ctr">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lorry</a:t>
                      </a:r>
                      <a:endParaRPr sz="1200">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0" marB="0" marR="0" marL="0"/>
                </a:tc>
              </a:tr>
            </a:tbl>
          </a:graphicData>
        </a:graphic>
      </p:graphicFrame>
      <p:sp>
        <p:nvSpPr>
          <p:cNvPr id="121" name="Google Shape;121;p12"/>
          <p:cNvSpPr txBox="1"/>
          <p:nvPr/>
        </p:nvSpPr>
        <p:spPr>
          <a:xfrm>
            <a:off x="468000" y="4089350"/>
            <a:ext cx="6624000" cy="52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By loading each vehicle, as it arrives, into the first available lane, will all the vehicles be able to cross? Justify your answer.</a:t>
            </a:r>
            <a:endParaRPr sz="1200">
              <a:solidFill>
                <a:srgbClr val="000000"/>
              </a:solidFill>
              <a:latin typeface="Lexend"/>
              <a:ea typeface="Lexend"/>
              <a:cs typeface="Lexend"/>
              <a:sym typeface="Lexend"/>
            </a:endParaRPr>
          </a:p>
        </p:txBody>
      </p:sp>
      <p:grpSp>
        <p:nvGrpSpPr>
          <p:cNvPr id="122" name="Google Shape;122;p12"/>
          <p:cNvGrpSpPr/>
          <p:nvPr/>
        </p:nvGrpSpPr>
        <p:grpSpPr>
          <a:xfrm>
            <a:off x="1303125" y="5437701"/>
            <a:ext cx="874800" cy="241200"/>
            <a:chOff x="1538525" y="3973751"/>
            <a:chExt cx="874800" cy="241200"/>
          </a:xfrm>
        </p:grpSpPr>
        <p:cxnSp>
          <p:nvCxnSpPr>
            <p:cNvPr id="123" name="Google Shape;123;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24" name="Google Shape;124;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25" name="Google Shape;125;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26" name="Google Shape;126;p12"/>
          <p:cNvGrpSpPr/>
          <p:nvPr/>
        </p:nvGrpSpPr>
        <p:grpSpPr>
          <a:xfrm>
            <a:off x="2663925" y="5437701"/>
            <a:ext cx="874800" cy="241200"/>
            <a:chOff x="1538525" y="3973751"/>
            <a:chExt cx="874800" cy="241200"/>
          </a:xfrm>
        </p:grpSpPr>
        <p:cxnSp>
          <p:nvCxnSpPr>
            <p:cNvPr id="127" name="Google Shape;127;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28" name="Google Shape;128;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29" name="Google Shape;129;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30" name="Google Shape;130;p12"/>
          <p:cNvGrpSpPr/>
          <p:nvPr/>
        </p:nvGrpSpPr>
        <p:grpSpPr>
          <a:xfrm>
            <a:off x="4024725" y="5437701"/>
            <a:ext cx="874800" cy="241200"/>
            <a:chOff x="1538525" y="3973751"/>
            <a:chExt cx="874800" cy="241200"/>
          </a:xfrm>
        </p:grpSpPr>
        <p:cxnSp>
          <p:nvCxnSpPr>
            <p:cNvPr id="131" name="Google Shape;131;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32" name="Google Shape;132;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33" name="Google Shape;133;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sp>
        <p:nvSpPr>
          <p:cNvPr id="134" name="Google Shape;134;p12"/>
          <p:cNvSpPr txBox="1"/>
          <p:nvPr/>
        </p:nvSpPr>
        <p:spPr>
          <a:xfrm>
            <a:off x="1303125" y="5580750"/>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         1                   	</a:t>
            </a:r>
            <a:r>
              <a:rPr lang="en-GB" sz="1200">
                <a:latin typeface="Lexend"/>
                <a:ea typeface="Lexend"/>
                <a:cs typeface="Lexend"/>
                <a:sym typeface="Lexend"/>
              </a:rPr>
              <a:t>        </a:t>
            </a:r>
            <a:r>
              <a:rPr lang="en-GB" sz="1200">
                <a:solidFill>
                  <a:srgbClr val="000000"/>
                </a:solidFill>
                <a:latin typeface="Lexend"/>
                <a:ea typeface="Lexend"/>
                <a:cs typeface="Lexend"/>
                <a:sym typeface="Lexend"/>
              </a:rPr>
              <a:t>2                 	        3               </a:t>
            </a:r>
            <a:endParaRPr sz="1200">
              <a:solidFill>
                <a:srgbClr val="000000"/>
              </a:solidFill>
              <a:latin typeface="Lexend"/>
              <a:ea typeface="Lexend"/>
              <a:cs typeface="Lexend"/>
              <a:sym typeface="Lexend"/>
            </a:endParaRPr>
          </a:p>
        </p:txBody>
      </p:sp>
      <p:sp>
        <p:nvSpPr>
          <p:cNvPr id="135" name="Google Shape;135;p12"/>
          <p:cNvSpPr txBox="1"/>
          <p:nvPr/>
        </p:nvSpPr>
        <p:spPr>
          <a:xfrm>
            <a:off x="1303125" y="52239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4</a:t>
            </a:r>
            <a:endParaRPr sz="1200">
              <a:solidFill>
                <a:srgbClr val="000000"/>
              </a:solidFill>
              <a:latin typeface="Kalam"/>
              <a:ea typeface="Kalam"/>
              <a:cs typeface="Kalam"/>
              <a:sym typeface="Kalam"/>
            </a:endParaRPr>
          </a:p>
        </p:txBody>
      </p:sp>
      <p:sp>
        <p:nvSpPr>
          <p:cNvPr id="136" name="Google Shape;136;p12"/>
          <p:cNvSpPr txBox="1"/>
          <p:nvPr/>
        </p:nvSpPr>
        <p:spPr>
          <a:xfrm>
            <a:off x="1303125" y="49953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7</a:t>
            </a:r>
            <a:endParaRPr sz="1200">
              <a:solidFill>
                <a:srgbClr val="000000"/>
              </a:solidFill>
              <a:latin typeface="Kalam"/>
              <a:ea typeface="Kalam"/>
              <a:cs typeface="Kalam"/>
              <a:sym typeface="Kalam"/>
            </a:endParaRPr>
          </a:p>
        </p:txBody>
      </p:sp>
      <p:sp>
        <p:nvSpPr>
          <p:cNvPr id="137" name="Google Shape;137;p12"/>
          <p:cNvSpPr txBox="1"/>
          <p:nvPr/>
        </p:nvSpPr>
        <p:spPr>
          <a:xfrm>
            <a:off x="1303125" y="47667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13</a:t>
            </a:r>
            <a:endParaRPr sz="1200">
              <a:solidFill>
                <a:srgbClr val="000000"/>
              </a:solidFill>
              <a:latin typeface="Kalam"/>
              <a:ea typeface="Kalam"/>
              <a:cs typeface="Kalam"/>
              <a:sym typeface="Kalam"/>
            </a:endParaRPr>
          </a:p>
        </p:txBody>
      </p:sp>
      <p:sp>
        <p:nvSpPr>
          <p:cNvPr id="138" name="Google Shape;138;p12"/>
          <p:cNvSpPr txBox="1"/>
          <p:nvPr/>
        </p:nvSpPr>
        <p:spPr>
          <a:xfrm>
            <a:off x="1303125" y="45381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6</a:t>
            </a:r>
            <a:endParaRPr sz="1200">
              <a:solidFill>
                <a:srgbClr val="000000"/>
              </a:solidFill>
              <a:latin typeface="Kalam"/>
              <a:ea typeface="Kalam"/>
              <a:cs typeface="Kalam"/>
              <a:sym typeface="Kalam"/>
            </a:endParaRPr>
          </a:p>
        </p:txBody>
      </p:sp>
      <p:sp>
        <p:nvSpPr>
          <p:cNvPr id="139" name="Google Shape;139;p12"/>
          <p:cNvSpPr txBox="1"/>
          <p:nvPr/>
        </p:nvSpPr>
        <p:spPr>
          <a:xfrm>
            <a:off x="2656383" y="52239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13</a:t>
            </a:r>
            <a:endParaRPr sz="1200">
              <a:solidFill>
                <a:srgbClr val="000000"/>
              </a:solidFill>
              <a:latin typeface="Kalam"/>
              <a:ea typeface="Kalam"/>
              <a:cs typeface="Kalam"/>
              <a:sym typeface="Kalam"/>
            </a:endParaRPr>
          </a:p>
        </p:txBody>
      </p:sp>
      <p:sp>
        <p:nvSpPr>
          <p:cNvPr id="140" name="Google Shape;140;p12"/>
          <p:cNvSpPr txBox="1"/>
          <p:nvPr/>
        </p:nvSpPr>
        <p:spPr>
          <a:xfrm>
            <a:off x="2656383" y="49953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4</a:t>
            </a:r>
            <a:endParaRPr sz="1200">
              <a:solidFill>
                <a:srgbClr val="000000"/>
              </a:solidFill>
              <a:latin typeface="Kalam"/>
              <a:ea typeface="Kalam"/>
              <a:cs typeface="Kalam"/>
              <a:sym typeface="Kalam"/>
            </a:endParaRPr>
          </a:p>
        </p:txBody>
      </p:sp>
      <p:sp>
        <p:nvSpPr>
          <p:cNvPr id="141" name="Google Shape;141;p12"/>
          <p:cNvSpPr txBox="1"/>
          <p:nvPr/>
        </p:nvSpPr>
        <p:spPr>
          <a:xfrm>
            <a:off x="2656383" y="47667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12</a:t>
            </a:r>
            <a:endParaRPr sz="1200">
              <a:solidFill>
                <a:srgbClr val="000000"/>
              </a:solidFill>
              <a:latin typeface="Kalam"/>
              <a:ea typeface="Kalam"/>
              <a:cs typeface="Kalam"/>
              <a:sym typeface="Kalam"/>
            </a:endParaRPr>
          </a:p>
        </p:txBody>
      </p:sp>
      <p:sp>
        <p:nvSpPr>
          <p:cNvPr id="142" name="Google Shape;142;p12"/>
          <p:cNvSpPr txBox="1"/>
          <p:nvPr/>
        </p:nvSpPr>
        <p:spPr>
          <a:xfrm>
            <a:off x="4024733" y="52239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14</a:t>
            </a:r>
            <a:endParaRPr sz="1200">
              <a:solidFill>
                <a:srgbClr val="000000"/>
              </a:solidFill>
              <a:latin typeface="Kalam"/>
              <a:ea typeface="Kalam"/>
              <a:cs typeface="Kalam"/>
              <a:sym typeface="Kalam"/>
            </a:endParaRPr>
          </a:p>
        </p:txBody>
      </p:sp>
      <p:sp>
        <p:nvSpPr>
          <p:cNvPr id="143" name="Google Shape;143;p12"/>
          <p:cNvSpPr txBox="1"/>
          <p:nvPr/>
        </p:nvSpPr>
        <p:spPr>
          <a:xfrm>
            <a:off x="4024733" y="4995350"/>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6</a:t>
            </a:r>
            <a:endParaRPr sz="1200">
              <a:solidFill>
                <a:srgbClr val="000000"/>
              </a:solidFill>
              <a:latin typeface="Kalam"/>
              <a:ea typeface="Kalam"/>
              <a:cs typeface="Kalam"/>
              <a:sym typeface="Kalam"/>
            </a:endParaRPr>
          </a:p>
        </p:txBody>
      </p:sp>
      <p:sp>
        <p:nvSpPr>
          <p:cNvPr id="144" name="Google Shape;144;p12"/>
          <p:cNvSpPr txBox="1"/>
          <p:nvPr/>
        </p:nvSpPr>
        <p:spPr>
          <a:xfrm>
            <a:off x="5197200" y="4862450"/>
            <a:ext cx="1894800" cy="1042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The final lorry cannot make the crossing.</a:t>
            </a:r>
            <a:endParaRPr sz="1200">
              <a:solidFill>
                <a:srgbClr val="000000"/>
              </a:solidFill>
              <a:latin typeface="Kalam"/>
              <a:ea typeface="Kalam"/>
              <a:cs typeface="Kalam"/>
              <a:sym typeface="Kalam"/>
            </a:endParaRPr>
          </a:p>
        </p:txBody>
      </p:sp>
      <p:sp>
        <p:nvSpPr>
          <p:cNvPr id="145" name="Google Shape;145;p12"/>
          <p:cNvSpPr txBox="1"/>
          <p:nvPr/>
        </p:nvSpPr>
        <p:spPr>
          <a:xfrm>
            <a:off x="468000" y="6025550"/>
            <a:ext cx="6624000" cy="64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By considering all the vehicles (regardless of when they arrived), can all vehicles be loaded onto the ferry? Justify your answer.</a:t>
            </a:r>
            <a:endParaRPr sz="1200">
              <a:solidFill>
                <a:srgbClr val="000000"/>
              </a:solidFill>
              <a:latin typeface="Lexend"/>
              <a:ea typeface="Lexend"/>
              <a:cs typeface="Lexend"/>
              <a:sym typeface="Lexend"/>
            </a:endParaRPr>
          </a:p>
        </p:txBody>
      </p:sp>
      <p:grpSp>
        <p:nvGrpSpPr>
          <p:cNvPr id="146" name="Google Shape;146;p12"/>
          <p:cNvGrpSpPr/>
          <p:nvPr/>
        </p:nvGrpSpPr>
        <p:grpSpPr>
          <a:xfrm>
            <a:off x="1303125" y="7509176"/>
            <a:ext cx="874800" cy="241200"/>
            <a:chOff x="1538525" y="3973751"/>
            <a:chExt cx="874800" cy="241200"/>
          </a:xfrm>
        </p:grpSpPr>
        <p:cxnSp>
          <p:nvCxnSpPr>
            <p:cNvPr id="147" name="Google Shape;147;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48" name="Google Shape;148;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49" name="Google Shape;149;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50" name="Google Shape;150;p12"/>
          <p:cNvGrpSpPr/>
          <p:nvPr/>
        </p:nvGrpSpPr>
        <p:grpSpPr>
          <a:xfrm>
            <a:off x="2663925" y="7509176"/>
            <a:ext cx="874800" cy="241200"/>
            <a:chOff x="1538525" y="3973751"/>
            <a:chExt cx="874800" cy="241200"/>
          </a:xfrm>
        </p:grpSpPr>
        <p:cxnSp>
          <p:nvCxnSpPr>
            <p:cNvPr id="151" name="Google Shape;151;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52" name="Google Shape;152;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53" name="Google Shape;153;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54" name="Google Shape;154;p12"/>
          <p:cNvGrpSpPr/>
          <p:nvPr/>
        </p:nvGrpSpPr>
        <p:grpSpPr>
          <a:xfrm>
            <a:off x="4024725" y="7509176"/>
            <a:ext cx="874800" cy="241200"/>
            <a:chOff x="1538525" y="3973751"/>
            <a:chExt cx="874800" cy="241200"/>
          </a:xfrm>
        </p:grpSpPr>
        <p:cxnSp>
          <p:nvCxnSpPr>
            <p:cNvPr id="155" name="Google Shape;155;p12"/>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56" name="Google Shape;156;p12"/>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57" name="Google Shape;157;p12"/>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sp>
        <p:nvSpPr>
          <p:cNvPr id="158" name="Google Shape;158;p12"/>
          <p:cNvSpPr txBox="1"/>
          <p:nvPr/>
        </p:nvSpPr>
        <p:spPr>
          <a:xfrm>
            <a:off x="1303125" y="7652225"/>
            <a:ext cx="35964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         1                  	         2                   	         3               </a:t>
            </a:r>
            <a:endParaRPr sz="1200">
              <a:solidFill>
                <a:srgbClr val="000000"/>
              </a:solidFill>
              <a:latin typeface="Lexend"/>
              <a:ea typeface="Lexend"/>
              <a:cs typeface="Lexend"/>
              <a:sym typeface="Lexend"/>
            </a:endParaRPr>
          </a:p>
        </p:txBody>
      </p:sp>
      <p:sp>
        <p:nvSpPr>
          <p:cNvPr id="159" name="Google Shape;159;p12"/>
          <p:cNvSpPr txBox="1"/>
          <p:nvPr/>
        </p:nvSpPr>
        <p:spPr>
          <a:xfrm>
            <a:off x="1303125" y="72954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4</a:t>
            </a:r>
            <a:endParaRPr sz="1200">
              <a:solidFill>
                <a:srgbClr val="000000"/>
              </a:solidFill>
              <a:latin typeface="Kalam"/>
              <a:ea typeface="Kalam"/>
              <a:cs typeface="Kalam"/>
              <a:sym typeface="Kalam"/>
            </a:endParaRPr>
          </a:p>
        </p:txBody>
      </p:sp>
      <p:sp>
        <p:nvSpPr>
          <p:cNvPr id="160" name="Google Shape;160;p12"/>
          <p:cNvSpPr txBox="1"/>
          <p:nvPr/>
        </p:nvSpPr>
        <p:spPr>
          <a:xfrm>
            <a:off x="1303125" y="70668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7</a:t>
            </a:r>
            <a:endParaRPr sz="1200">
              <a:solidFill>
                <a:srgbClr val="000000"/>
              </a:solidFill>
              <a:latin typeface="Kalam"/>
              <a:ea typeface="Kalam"/>
              <a:cs typeface="Kalam"/>
              <a:sym typeface="Kalam"/>
            </a:endParaRPr>
          </a:p>
        </p:txBody>
      </p:sp>
      <p:sp>
        <p:nvSpPr>
          <p:cNvPr id="161" name="Google Shape;161;p12"/>
          <p:cNvSpPr txBox="1"/>
          <p:nvPr/>
        </p:nvSpPr>
        <p:spPr>
          <a:xfrm>
            <a:off x="1303125" y="68382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13</a:t>
            </a:r>
            <a:endParaRPr sz="1200">
              <a:solidFill>
                <a:srgbClr val="000000"/>
              </a:solidFill>
              <a:latin typeface="Kalam"/>
              <a:ea typeface="Kalam"/>
              <a:cs typeface="Kalam"/>
              <a:sym typeface="Kalam"/>
            </a:endParaRPr>
          </a:p>
        </p:txBody>
      </p:sp>
      <p:sp>
        <p:nvSpPr>
          <p:cNvPr id="162" name="Google Shape;162;p12"/>
          <p:cNvSpPr txBox="1"/>
          <p:nvPr/>
        </p:nvSpPr>
        <p:spPr>
          <a:xfrm>
            <a:off x="1303125" y="66096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6</a:t>
            </a:r>
            <a:endParaRPr sz="1200">
              <a:solidFill>
                <a:srgbClr val="000000"/>
              </a:solidFill>
              <a:latin typeface="Kalam"/>
              <a:ea typeface="Kalam"/>
              <a:cs typeface="Kalam"/>
              <a:sym typeface="Kalam"/>
            </a:endParaRPr>
          </a:p>
        </p:txBody>
      </p:sp>
      <p:sp>
        <p:nvSpPr>
          <p:cNvPr id="163" name="Google Shape;163;p12"/>
          <p:cNvSpPr txBox="1"/>
          <p:nvPr/>
        </p:nvSpPr>
        <p:spPr>
          <a:xfrm>
            <a:off x="2656383" y="72954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13</a:t>
            </a:r>
            <a:endParaRPr sz="1200">
              <a:solidFill>
                <a:srgbClr val="000000"/>
              </a:solidFill>
              <a:latin typeface="Kalam"/>
              <a:ea typeface="Kalam"/>
              <a:cs typeface="Kalam"/>
              <a:sym typeface="Kalam"/>
            </a:endParaRPr>
          </a:p>
        </p:txBody>
      </p:sp>
      <p:sp>
        <p:nvSpPr>
          <p:cNvPr id="164" name="Google Shape;164;p12"/>
          <p:cNvSpPr txBox="1"/>
          <p:nvPr/>
        </p:nvSpPr>
        <p:spPr>
          <a:xfrm>
            <a:off x="2656383" y="70668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6</a:t>
            </a:r>
            <a:endParaRPr sz="1200">
              <a:solidFill>
                <a:srgbClr val="000000"/>
              </a:solidFill>
              <a:latin typeface="Kalam"/>
              <a:ea typeface="Kalam"/>
              <a:cs typeface="Kalam"/>
              <a:sym typeface="Kalam"/>
            </a:endParaRPr>
          </a:p>
        </p:txBody>
      </p:sp>
      <p:sp>
        <p:nvSpPr>
          <p:cNvPr id="165" name="Google Shape;165;p12"/>
          <p:cNvSpPr txBox="1"/>
          <p:nvPr/>
        </p:nvSpPr>
        <p:spPr>
          <a:xfrm>
            <a:off x="2656383" y="68382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11</a:t>
            </a:r>
            <a:endParaRPr sz="1200">
              <a:solidFill>
                <a:srgbClr val="000000"/>
              </a:solidFill>
              <a:latin typeface="Kalam"/>
              <a:ea typeface="Kalam"/>
              <a:cs typeface="Kalam"/>
              <a:sym typeface="Kalam"/>
            </a:endParaRPr>
          </a:p>
        </p:txBody>
      </p:sp>
      <p:sp>
        <p:nvSpPr>
          <p:cNvPr id="166" name="Google Shape;166;p12"/>
          <p:cNvSpPr txBox="1"/>
          <p:nvPr/>
        </p:nvSpPr>
        <p:spPr>
          <a:xfrm>
            <a:off x="4024733" y="72954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4</a:t>
            </a:r>
            <a:endParaRPr sz="1200">
              <a:solidFill>
                <a:srgbClr val="000000"/>
              </a:solidFill>
              <a:latin typeface="Kalam"/>
              <a:ea typeface="Kalam"/>
              <a:cs typeface="Kalam"/>
              <a:sym typeface="Kalam"/>
            </a:endParaRPr>
          </a:p>
        </p:txBody>
      </p:sp>
      <p:sp>
        <p:nvSpPr>
          <p:cNvPr id="167" name="Google Shape;167;p12"/>
          <p:cNvSpPr txBox="1"/>
          <p:nvPr/>
        </p:nvSpPr>
        <p:spPr>
          <a:xfrm>
            <a:off x="4024733" y="70668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12</a:t>
            </a:r>
            <a:endParaRPr sz="1200">
              <a:solidFill>
                <a:srgbClr val="000000"/>
              </a:solidFill>
              <a:latin typeface="Kalam"/>
              <a:ea typeface="Kalam"/>
              <a:cs typeface="Kalam"/>
              <a:sym typeface="Kalam"/>
            </a:endParaRPr>
          </a:p>
        </p:txBody>
      </p:sp>
      <p:sp>
        <p:nvSpPr>
          <p:cNvPr id="168" name="Google Shape;168;p12"/>
          <p:cNvSpPr txBox="1"/>
          <p:nvPr/>
        </p:nvSpPr>
        <p:spPr>
          <a:xfrm>
            <a:off x="5197200" y="6933925"/>
            <a:ext cx="1894800" cy="1042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A possible solution</a:t>
            </a:r>
            <a:endParaRPr sz="1200">
              <a:solidFill>
                <a:srgbClr val="000000"/>
              </a:solidFill>
              <a:latin typeface="Kalam"/>
              <a:ea typeface="Kalam"/>
              <a:cs typeface="Kalam"/>
              <a:sym typeface="Kalam"/>
            </a:endParaRPr>
          </a:p>
        </p:txBody>
      </p:sp>
      <p:sp>
        <p:nvSpPr>
          <p:cNvPr id="169" name="Google Shape;169;p12"/>
          <p:cNvSpPr txBox="1"/>
          <p:nvPr/>
        </p:nvSpPr>
        <p:spPr>
          <a:xfrm>
            <a:off x="4024733" y="6838225"/>
            <a:ext cx="8748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14</a:t>
            </a:r>
            <a:endParaRPr sz="1200">
              <a:solidFill>
                <a:srgbClr val="000000"/>
              </a:solidFill>
              <a:latin typeface="Kalam"/>
              <a:ea typeface="Kalam"/>
              <a:cs typeface="Kalam"/>
              <a:sym typeface="Kalam"/>
            </a:endParaRPr>
          </a:p>
        </p:txBody>
      </p:sp>
      <p:sp>
        <p:nvSpPr>
          <p:cNvPr id="170" name="Google Shape;170;p12"/>
          <p:cNvSpPr txBox="1"/>
          <p:nvPr/>
        </p:nvSpPr>
        <p:spPr>
          <a:xfrm>
            <a:off x="468000" y="8074975"/>
            <a:ext cx="6624000" cy="64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 Why is your answer to part b not necessarily practical?</a:t>
            </a:r>
            <a:endParaRPr sz="1200">
              <a:solidFill>
                <a:srgbClr val="000000"/>
              </a:solidFill>
              <a:latin typeface="Lexend"/>
              <a:ea typeface="Lexend"/>
              <a:cs typeface="Lexend"/>
              <a:sym typeface="Lexend"/>
            </a:endParaRPr>
          </a:p>
        </p:txBody>
      </p:sp>
      <p:sp>
        <p:nvSpPr>
          <p:cNvPr id="171" name="Google Shape;171;p12"/>
          <p:cNvSpPr txBox="1"/>
          <p:nvPr/>
        </p:nvSpPr>
        <p:spPr>
          <a:xfrm>
            <a:off x="468000" y="8401825"/>
            <a:ext cx="6624000" cy="643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1200">
                <a:solidFill>
                  <a:srgbClr val="000000"/>
                </a:solidFill>
                <a:latin typeface="Kalam"/>
                <a:ea typeface="Kalam"/>
                <a:cs typeface="Kalam"/>
                <a:sym typeface="Kalam"/>
              </a:rPr>
              <a:t>E.g. Vehicles may not arrive at the same time.</a:t>
            </a:r>
            <a:endParaRPr sz="1200">
              <a:solidFill>
                <a:srgbClr val="000000"/>
              </a:solidFill>
              <a:latin typeface="Kalam"/>
              <a:ea typeface="Kalam"/>
              <a:cs typeface="Kalam"/>
              <a:sym typeface="Kalam"/>
            </a:endParaRPr>
          </a:p>
          <a:p>
            <a:pPr indent="0" lvl="0" marL="0" rtl="0" algn="l">
              <a:lnSpc>
                <a:spcPct val="130000"/>
              </a:lnSpc>
              <a:spcBef>
                <a:spcPts val="1000"/>
              </a:spcBef>
              <a:spcAft>
                <a:spcPts val="1000"/>
              </a:spcAft>
              <a:buNone/>
            </a:pPr>
            <a:r>
              <a:rPr lang="en-GB" sz="1200">
                <a:solidFill>
                  <a:srgbClr val="000000"/>
                </a:solidFill>
                <a:latin typeface="Kalam"/>
                <a:ea typeface="Kalam"/>
                <a:cs typeface="Kalam"/>
                <a:sym typeface="Kalam"/>
              </a:rPr>
              <a:t>It might not be possible for vehicles to pass each other in a queue.</a:t>
            </a:r>
            <a:endParaRPr sz="1200">
              <a:solidFill>
                <a:srgbClr val="000000"/>
              </a:solidFill>
              <a:latin typeface="Kalam"/>
              <a:ea typeface="Kalam"/>
              <a:cs typeface="Kalam"/>
              <a:sym typeface="Kala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Operational research</a:t>
            </a:r>
            <a:endParaRPr/>
          </a:p>
        </p:txBody>
      </p:sp>
      <p:sp>
        <p:nvSpPr>
          <p:cNvPr id="177" name="Google Shape;177;p13"/>
          <p:cNvSpPr txBox="1"/>
          <p:nvPr/>
        </p:nvSpPr>
        <p:spPr>
          <a:xfrm>
            <a:off x="468000" y="720000"/>
            <a:ext cx="6624000" cy="30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Jacob is backing up his computer. He is copying games onto 32GB USB sticks. The size of each game is listed in the table.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a) Jacob thinks that it is possible to store all the games on five USB sticks. Explain why Jacob might think this and why he is mistaken.</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8 + 13 + 17 + 21 + 22 + 24 + 25 + 25 = 155</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155 ÷ 32 = 4.84375     Therefore five USB sticks.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However there are six games whose size is over half of what one USB stick can hold. These games can’t be stored together meaning at least six USB sticks will be needed.</a:t>
            </a:r>
            <a:endParaRPr sz="1200">
              <a:latin typeface="Kalam"/>
              <a:ea typeface="Kalam"/>
              <a:cs typeface="Kalam"/>
              <a:sym typeface="Kalam"/>
            </a:endParaRPr>
          </a:p>
          <a:p>
            <a:pPr indent="0" lvl="0" marL="0" rtl="0" algn="l">
              <a:lnSpc>
                <a:spcPct val="115000"/>
              </a:lnSpc>
              <a:spcBef>
                <a:spcPts val="1000"/>
              </a:spcBef>
              <a:spcAft>
                <a:spcPts val="0"/>
              </a:spcAft>
              <a:buNone/>
            </a:pPr>
            <a:r>
              <a:rPr lang="en-GB" sz="1200">
                <a:latin typeface="Lexend"/>
                <a:ea typeface="Lexend"/>
                <a:cs typeface="Lexend"/>
                <a:sym typeface="Lexend"/>
              </a:rPr>
              <a:t>b) State the smallest number of USB sticks that will be needed and give a possible solution as to which games will be stored on each USB stick.</a:t>
            </a:r>
            <a:endParaRPr sz="1200">
              <a:latin typeface="Lexend"/>
              <a:ea typeface="Lexend"/>
              <a:cs typeface="Lexend"/>
              <a:sym typeface="Lexend"/>
            </a:endParaRPr>
          </a:p>
          <a:p>
            <a:pPr indent="0" lvl="0" marL="0" rtl="0" algn="l">
              <a:lnSpc>
                <a:spcPct val="115000"/>
              </a:lnSpc>
              <a:spcBef>
                <a:spcPts val="1000"/>
              </a:spcBef>
              <a:spcAft>
                <a:spcPts val="0"/>
              </a:spcAft>
              <a:buNone/>
            </a:pPr>
            <a:r>
              <a:rPr lang="en-GB" sz="1200">
                <a:latin typeface="Kalam"/>
                <a:ea typeface="Kalam"/>
                <a:cs typeface="Kalam"/>
                <a:sym typeface="Kalam"/>
              </a:rPr>
              <a:t>Six USB sticks will be needed.</a:t>
            </a:r>
            <a:endParaRPr sz="1200">
              <a:latin typeface="Kalam"/>
              <a:ea typeface="Kalam"/>
              <a:cs typeface="Kalam"/>
              <a:sym typeface="Kalam"/>
            </a:endParaRPr>
          </a:p>
          <a:p>
            <a:pPr indent="0" lvl="0" marL="0" rtl="0" algn="l">
              <a:lnSpc>
                <a:spcPct val="115000"/>
              </a:lnSpc>
              <a:spcBef>
                <a:spcPts val="1000"/>
              </a:spcBef>
              <a:spcAft>
                <a:spcPts val="0"/>
              </a:spcAft>
              <a:buNone/>
            </a:pPr>
            <a:r>
              <a:rPr lang="en-GB" sz="1200">
                <a:latin typeface="Kalam"/>
                <a:ea typeface="Kalam"/>
                <a:cs typeface="Kalam"/>
                <a:sym typeface="Kalam"/>
              </a:rPr>
              <a:t>E.g.	</a:t>
            </a:r>
            <a:endParaRPr sz="1200">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graphicFrame>
        <p:nvGraphicFramePr>
          <p:cNvPr id="178" name="Google Shape;178;p13"/>
          <p:cNvGraphicFramePr/>
          <p:nvPr/>
        </p:nvGraphicFramePr>
        <p:xfrm>
          <a:off x="468000" y="1256475"/>
          <a:ext cx="3000000" cy="3000000"/>
        </p:xfrm>
        <a:graphic>
          <a:graphicData uri="http://schemas.openxmlformats.org/drawingml/2006/table">
            <a:tbl>
              <a:tblPr>
                <a:noFill/>
                <a:tableStyleId>{4AABA06C-560F-4C3F-B267-86505F7F9503}</a:tableStyleId>
              </a:tblPr>
              <a:tblGrid>
                <a:gridCol w="916525"/>
                <a:gridCol w="713425"/>
                <a:gridCol w="713425"/>
                <a:gridCol w="713425"/>
                <a:gridCol w="713425"/>
                <a:gridCol w="713425"/>
                <a:gridCol w="713425"/>
                <a:gridCol w="713425"/>
                <a:gridCol w="713425"/>
              </a:tblGrid>
              <a:tr h="250375">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Game</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D</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E</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F</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G</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H</a:t>
                      </a:r>
                      <a:endParaRPr sz="1200">
                        <a:solidFill>
                          <a:srgbClr val="000000"/>
                        </a:solidFill>
                        <a:latin typeface="Lexend"/>
                        <a:ea typeface="Lexend"/>
                        <a:cs typeface="Lexend"/>
                        <a:sym typeface="Lexend"/>
                      </a:endParaRPr>
                    </a:p>
                  </a:txBody>
                  <a:tcPr marT="0" marB="0" marR="0" marL="0"/>
                </a:tc>
              </a:tr>
              <a:tr h="250375">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Size (GB)</a:t>
                      </a:r>
                      <a:endParaRPr b="1" sz="1200">
                        <a:solidFill>
                          <a:schemeClr val="dk1"/>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13</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17</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21</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22</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24</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25</a:t>
                      </a:r>
                      <a:endParaRPr sz="1200">
                        <a:solidFill>
                          <a:srgbClr val="000000"/>
                        </a:solidFill>
                        <a:latin typeface="Lexend"/>
                        <a:ea typeface="Lexend"/>
                        <a:cs typeface="Lexend"/>
                        <a:sym typeface="Lexend"/>
                      </a:endParaRPr>
                    </a:p>
                  </a:txBody>
                  <a:tcPr marT="0" marB="0" marR="0" marL="0"/>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25</a:t>
                      </a:r>
                      <a:endParaRPr sz="1200">
                        <a:solidFill>
                          <a:srgbClr val="000000"/>
                        </a:solidFill>
                        <a:latin typeface="Lexend"/>
                        <a:ea typeface="Lexend"/>
                        <a:cs typeface="Lexend"/>
                        <a:sym typeface="Lexend"/>
                      </a:endParaRPr>
                    </a:p>
                  </a:txBody>
                  <a:tcPr marT="0" marB="0" marR="0" marL="0"/>
                </a:tc>
              </a:tr>
            </a:tbl>
          </a:graphicData>
        </a:graphic>
      </p:graphicFrame>
      <p:grpSp>
        <p:nvGrpSpPr>
          <p:cNvPr id="179" name="Google Shape;179;p13"/>
          <p:cNvGrpSpPr/>
          <p:nvPr/>
        </p:nvGrpSpPr>
        <p:grpSpPr>
          <a:xfrm>
            <a:off x="467948" y="5408851"/>
            <a:ext cx="754602" cy="241200"/>
            <a:chOff x="1538525" y="3973751"/>
            <a:chExt cx="874800" cy="241200"/>
          </a:xfrm>
        </p:grpSpPr>
        <p:cxnSp>
          <p:nvCxnSpPr>
            <p:cNvPr id="180" name="Google Shape;180;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81" name="Google Shape;181;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82" name="Google Shape;182;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83" name="Google Shape;183;p13"/>
          <p:cNvGrpSpPr/>
          <p:nvPr/>
        </p:nvGrpSpPr>
        <p:grpSpPr>
          <a:xfrm>
            <a:off x="1641820" y="5408851"/>
            <a:ext cx="754602" cy="241200"/>
            <a:chOff x="1538525" y="3973751"/>
            <a:chExt cx="874800" cy="241200"/>
          </a:xfrm>
        </p:grpSpPr>
        <p:cxnSp>
          <p:nvCxnSpPr>
            <p:cNvPr id="184" name="Google Shape;184;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85" name="Google Shape;185;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86" name="Google Shape;186;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187" name="Google Shape;187;p13"/>
          <p:cNvGrpSpPr/>
          <p:nvPr/>
        </p:nvGrpSpPr>
        <p:grpSpPr>
          <a:xfrm>
            <a:off x="2815692" y="5408851"/>
            <a:ext cx="754602" cy="241200"/>
            <a:chOff x="1538525" y="3973751"/>
            <a:chExt cx="874800" cy="241200"/>
          </a:xfrm>
        </p:grpSpPr>
        <p:cxnSp>
          <p:nvCxnSpPr>
            <p:cNvPr id="188" name="Google Shape;188;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89" name="Google Shape;189;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90" name="Google Shape;190;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sp>
        <p:nvSpPr>
          <p:cNvPr id="191" name="Google Shape;191;p13"/>
          <p:cNvSpPr txBox="1"/>
          <p:nvPr/>
        </p:nvSpPr>
        <p:spPr>
          <a:xfrm>
            <a:off x="468000" y="5551900"/>
            <a:ext cx="31023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        1    	              2</a:t>
            </a:r>
            <a:r>
              <a:rPr lang="en-GB" sz="1200">
                <a:latin typeface="Lexend"/>
                <a:ea typeface="Lexend"/>
                <a:cs typeface="Lexend"/>
                <a:sym typeface="Lexend"/>
              </a:rPr>
              <a:t>	</a:t>
            </a:r>
            <a:r>
              <a:rPr lang="en-GB" sz="1200">
                <a:solidFill>
                  <a:srgbClr val="000000"/>
                </a:solidFill>
                <a:latin typeface="Lexend"/>
                <a:ea typeface="Lexend"/>
                <a:cs typeface="Lexend"/>
                <a:sym typeface="Lexend"/>
              </a:rPr>
              <a:t>                    3               </a:t>
            </a:r>
            <a:endParaRPr sz="1200">
              <a:solidFill>
                <a:srgbClr val="000000"/>
              </a:solidFill>
              <a:latin typeface="Lexend"/>
              <a:ea typeface="Lexend"/>
              <a:cs typeface="Lexend"/>
              <a:sym typeface="Lexend"/>
            </a:endParaRPr>
          </a:p>
        </p:txBody>
      </p:sp>
      <p:sp>
        <p:nvSpPr>
          <p:cNvPr id="192" name="Google Shape;192;p13"/>
          <p:cNvSpPr txBox="1"/>
          <p:nvPr/>
        </p:nvSpPr>
        <p:spPr>
          <a:xfrm>
            <a:off x="468000"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25</a:t>
            </a:r>
            <a:endParaRPr sz="1200">
              <a:solidFill>
                <a:srgbClr val="000000"/>
              </a:solidFill>
              <a:latin typeface="Kalam"/>
              <a:ea typeface="Kalam"/>
              <a:cs typeface="Kalam"/>
              <a:sym typeface="Kalam"/>
            </a:endParaRPr>
          </a:p>
        </p:txBody>
      </p:sp>
      <p:sp>
        <p:nvSpPr>
          <p:cNvPr id="193" name="Google Shape;193;p13"/>
          <p:cNvSpPr txBox="1"/>
          <p:nvPr/>
        </p:nvSpPr>
        <p:spPr>
          <a:xfrm>
            <a:off x="1635366"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25</a:t>
            </a:r>
            <a:endParaRPr sz="1200">
              <a:solidFill>
                <a:srgbClr val="000000"/>
              </a:solidFill>
              <a:latin typeface="Kalam"/>
              <a:ea typeface="Kalam"/>
              <a:cs typeface="Kalam"/>
              <a:sym typeface="Kalam"/>
            </a:endParaRPr>
          </a:p>
        </p:txBody>
      </p:sp>
      <p:sp>
        <p:nvSpPr>
          <p:cNvPr id="194" name="Google Shape;194;p13"/>
          <p:cNvSpPr txBox="1"/>
          <p:nvPr/>
        </p:nvSpPr>
        <p:spPr>
          <a:xfrm>
            <a:off x="2815751"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24</a:t>
            </a:r>
            <a:endParaRPr sz="1200">
              <a:solidFill>
                <a:srgbClr val="000000"/>
              </a:solidFill>
              <a:latin typeface="Kalam"/>
              <a:ea typeface="Kalam"/>
              <a:cs typeface="Kalam"/>
              <a:sym typeface="Kalam"/>
            </a:endParaRPr>
          </a:p>
        </p:txBody>
      </p:sp>
      <p:sp>
        <p:nvSpPr>
          <p:cNvPr id="195" name="Google Shape;195;p13"/>
          <p:cNvSpPr txBox="1"/>
          <p:nvPr/>
        </p:nvSpPr>
        <p:spPr>
          <a:xfrm>
            <a:off x="2815751" y="49665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8</a:t>
            </a:r>
            <a:endParaRPr sz="1200">
              <a:solidFill>
                <a:srgbClr val="000000"/>
              </a:solidFill>
              <a:latin typeface="Kalam"/>
              <a:ea typeface="Kalam"/>
              <a:cs typeface="Kalam"/>
              <a:sym typeface="Kalam"/>
            </a:endParaRPr>
          </a:p>
        </p:txBody>
      </p:sp>
      <p:grpSp>
        <p:nvGrpSpPr>
          <p:cNvPr id="196" name="Google Shape;196;p13"/>
          <p:cNvGrpSpPr/>
          <p:nvPr/>
        </p:nvGrpSpPr>
        <p:grpSpPr>
          <a:xfrm>
            <a:off x="3989565" y="5408851"/>
            <a:ext cx="754602" cy="241200"/>
            <a:chOff x="1538525" y="3973751"/>
            <a:chExt cx="874800" cy="241200"/>
          </a:xfrm>
        </p:grpSpPr>
        <p:cxnSp>
          <p:nvCxnSpPr>
            <p:cNvPr id="197" name="Google Shape;197;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198" name="Google Shape;198;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199" name="Google Shape;199;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200" name="Google Shape;200;p13"/>
          <p:cNvGrpSpPr/>
          <p:nvPr/>
        </p:nvGrpSpPr>
        <p:grpSpPr>
          <a:xfrm>
            <a:off x="5163437" y="5408851"/>
            <a:ext cx="754602" cy="241200"/>
            <a:chOff x="1538525" y="3973751"/>
            <a:chExt cx="874800" cy="241200"/>
          </a:xfrm>
        </p:grpSpPr>
        <p:cxnSp>
          <p:nvCxnSpPr>
            <p:cNvPr id="201" name="Google Shape;201;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202" name="Google Shape;202;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203" name="Google Shape;203;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grpSp>
        <p:nvGrpSpPr>
          <p:cNvPr id="204" name="Google Shape;204;p13"/>
          <p:cNvGrpSpPr/>
          <p:nvPr/>
        </p:nvGrpSpPr>
        <p:grpSpPr>
          <a:xfrm>
            <a:off x="6337309" y="5408851"/>
            <a:ext cx="754602" cy="241200"/>
            <a:chOff x="1538525" y="3973751"/>
            <a:chExt cx="874800" cy="241200"/>
          </a:xfrm>
        </p:grpSpPr>
        <p:cxnSp>
          <p:nvCxnSpPr>
            <p:cNvPr id="205" name="Google Shape;205;p13"/>
            <p:cNvCxnSpPr/>
            <p:nvPr/>
          </p:nvCxnSpPr>
          <p:spPr>
            <a:xfrm>
              <a:off x="1538525" y="4087650"/>
              <a:ext cx="874800" cy="0"/>
            </a:xfrm>
            <a:prstGeom prst="straightConnector1">
              <a:avLst/>
            </a:prstGeom>
            <a:noFill/>
            <a:ln cap="flat" cmpd="sng" w="28575">
              <a:solidFill>
                <a:srgbClr val="000000"/>
              </a:solidFill>
              <a:prstDash val="solid"/>
              <a:round/>
              <a:headEnd len="med" w="med" type="none"/>
              <a:tailEnd len="med" w="med" type="none"/>
            </a:ln>
          </p:spPr>
        </p:cxnSp>
        <p:cxnSp>
          <p:nvCxnSpPr>
            <p:cNvPr id="206" name="Google Shape;206;p13"/>
            <p:cNvCxnSpPr/>
            <p:nvPr/>
          </p:nvCxnSpPr>
          <p:spPr>
            <a:xfrm>
              <a:off x="1538525" y="3973751"/>
              <a:ext cx="0" cy="241200"/>
            </a:xfrm>
            <a:prstGeom prst="straightConnector1">
              <a:avLst/>
            </a:prstGeom>
            <a:noFill/>
            <a:ln cap="flat" cmpd="sng" w="28575">
              <a:solidFill>
                <a:srgbClr val="000000"/>
              </a:solidFill>
              <a:prstDash val="solid"/>
              <a:round/>
              <a:headEnd len="med" w="med" type="none"/>
              <a:tailEnd len="med" w="med" type="none"/>
            </a:ln>
          </p:spPr>
        </p:cxnSp>
        <p:cxnSp>
          <p:nvCxnSpPr>
            <p:cNvPr id="207" name="Google Shape;207;p13"/>
            <p:cNvCxnSpPr/>
            <p:nvPr/>
          </p:nvCxnSpPr>
          <p:spPr>
            <a:xfrm>
              <a:off x="2406892" y="3973751"/>
              <a:ext cx="0" cy="241200"/>
            </a:xfrm>
            <a:prstGeom prst="straightConnector1">
              <a:avLst/>
            </a:prstGeom>
            <a:noFill/>
            <a:ln cap="flat" cmpd="sng" w="28575">
              <a:solidFill>
                <a:srgbClr val="000000"/>
              </a:solidFill>
              <a:prstDash val="solid"/>
              <a:round/>
              <a:headEnd len="med" w="med" type="none"/>
              <a:tailEnd len="med" w="med" type="none"/>
            </a:ln>
          </p:spPr>
        </p:cxnSp>
      </p:grpSp>
      <p:sp>
        <p:nvSpPr>
          <p:cNvPr id="208" name="Google Shape;208;p13"/>
          <p:cNvSpPr txBox="1"/>
          <p:nvPr/>
        </p:nvSpPr>
        <p:spPr>
          <a:xfrm>
            <a:off x="3989617" y="5551900"/>
            <a:ext cx="3102300" cy="32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        4                         5                          6               </a:t>
            </a:r>
            <a:endParaRPr sz="1200">
              <a:solidFill>
                <a:srgbClr val="000000"/>
              </a:solidFill>
              <a:latin typeface="Lexend"/>
              <a:ea typeface="Lexend"/>
              <a:cs typeface="Lexend"/>
              <a:sym typeface="Lexend"/>
            </a:endParaRPr>
          </a:p>
        </p:txBody>
      </p:sp>
      <p:sp>
        <p:nvSpPr>
          <p:cNvPr id="209" name="Google Shape;209;p13"/>
          <p:cNvSpPr txBox="1"/>
          <p:nvPr/>
        </p:nvSpPr>
        <p:spPr>
          <a:xfrm>
            <a:off x="3989617"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22</a:t>
            </a:r>
            <a:endParaRPr sz="1200">
              <a:solidFill>
                <a:srgbClr val="000000"/>
              </a:solidFill>
              <a:latin typeface="Kalam"/>
              <a:ea typeface="Kalam"/>
              <a:cs typeface="Kalam"/>
              <a:sym typeface="Kalam"/>
            </a:endParaRPr>
          </a:p>
        </p:txBody>
      </p:sp>
      <p:sp>
        <p:nvSpPr>
          <p:cNvPr id="210" name="Google Shape;210;p13"/>
          <p:cNvSpPr txBox="1"/>
          <p:nvPr/>
        </p:nvSpPr>
        <p:spPr>
          <a:xfrm>
            <a:off x="5156983"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21</a:t>
            </a:r>
            <a:endParaRPr sz="1200">
              <a:solidFill>
                <a:srgbClr val="000000"/>
              </a:solidFill>
              <a:latin typeface="Kalam"/>
              <a:ea typeface="Kalam"/>
              <a:cs typeface="Kalam"/>
              <a:sym typeface="Kalam"/>
            </a:endParaRPr>
          </a:p>
        </p:txBody>
      </p:sp>
      <p:sp>
        <p:nvSpPr>
          <p:cNvPr id="211" name="Google Shape;211;p13"/>
          <p:cNvSpPr txBox="1"/>
          <p:nvPr/>
        </p:nvSpPr>
        <p:spPr>
          <a:xfrm>
            <a:off x="6337368" y="51951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17</a:t>
            </a:r>
            <a:endParaRPr sz="1200">
              <a:solidFill>
                <a:srgbClr val="000000"/>
              </a:solidFill>
              <a:latin typeface="Kalam"/>
              <a:ea typeface="Kalam"/>
              <a:cs typeface="Kalam"/>
              <a:sym typeface="Kalam"/>
            </a:endParaRPr>
          </a:p>
        </p:txBody>
      </p:sp>
      <p:sp>
        <p:nvSpPr>
          <p:cNvPr id="212" name="Google Shape;212;p13"/>
          <p:cNvSpPr txBox="1"/>
          <p:nvPr/>
        </p:nvSpPr>
        <p:spPr>
          <a:xfrm>
            <a:off x="6337368" y="4966500"/>
            <a:ext cx="754500" cy="32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13</a:t>
            </a:r>
            <a:endParaRPr sz="1200">
              <a:solidFill>
                <a:srgbClr val="000000"/>
              </a:solidFill>
              <a:latin typeface="Kalam"/>
              <a:ea typeface="Kalam"/>
              <a:cs typeface="Kalam"/>
              <a:sym typeface="Kalam"/>
            </a:endParaRPr>
          </a:p>
        </p:txBody>
      </p:sp>
      <p:cxnSp>
        <p:nvCxnSpPr>
          <p:cNvPr id="213" name="Google Shape;213;p13"/>
          <p:cNvCxnSpPr/>
          <p:nvPr/>
        </p:nvCxnSpPr>
        <p:spPr>
          <a:xfrm>
            <a:off x="474751" y="9971988"/>
            <a:ext cx="6610500" cy="0"/>
          </a:xfrm>
          <a:prstGeom prst="straightConnector1">
            <a:avLst/>
          </a:prstGeom>
          <a:noFill/>
          <a:ln cap="flat" cmpd="sng" w="38100">
            <a:solidFill>
              <a:srgbClr val="000000"/>
            </a:solidFill>
            <a:prstDash val="solid"/>
            <a:round/>
            <a:headEnd len="med" w="med" type="none"/>
            <a:tailEnd len="med" w="med" type="none"/>
          </a:ln>
        </p:spPr>
      </p:cxnSp>
      <p:sp>
        <p:nvSpPr>
          <p:cNvPr id="214" name="Google Shape;214;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220" name="Google Shape;220;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Operational research</a:t>
            </a:r>
            <a:endParaRPr/>
          </a:p>
        </p:txBody>
      </p:sp>
      <p:sp>
        <p:nvSpPr>
          <p:cNvPr id="221" name="Google Shape;221;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222" name="Google Shape;222;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223" name="Google Shape;223;p14"/>
          <p:cNvSpPr txBox="1"/>
          <p:nvPr/>
        </p:nvSpPr>
        <p:spPr>
          <a:xfrm>
            <a:off x="467998" y="720000"/>
            <a:ext cx="6441600" cy="307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Planning a project</a:t>
            </a:r>
            <a:endParaRPr b="1">
              <a:solidFill>
                <a:schemeClr val="dk1"/>
              </a:solidFill>
              <a:latin typeface="Lexend"/>
              <a:ea typeface="Lexend"/>
              <a:cs typeface="Lexend"/>
              <a:sym typeface="Lexend"/>
            </a:endParaRPr>
          </a:p>
        </p:txBody>
      </p:sp>
      <p:sp>
        <p:nvSpPr>
          <p:cNvPr id="224" name="Google Shape;224;p14"/>
          <p:cNvSpPr txBox="1"/>
          <p:nvPr/>
        </p:nvSpPr>
        <p:spPr>
          <a:xfrm>
            <a:off x="468000" y="1146275"/>
            <a:ext cx="6624000" cy="20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 Izzy and Laura are working on a school project. They have broken the project down into a series of tasks. They create a table listing the tasks, how long it will take to complete each task and which tasks have to be completed before a task can be started.</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They have 2.5 hours to work on their project.</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Create a chart showing who will work on which tasks and when.</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Can Izzy and Laura complete their project in time?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(A template chart is provided.)</a:t>
            </a:r>
            <a:endParaRPr sz="1200">
              <a:solidFill>
                <a:srgbClr val="000000"/>
              </a:solidFill>
              <a:latin typeface="Lexend"/>
              <a:ea typeface="Lexend"/>
              <a:cs typeface="Lexend"/>
              <a:sym typeface="Lexend"/>
            </a:endParaRPr>
          </a:p>
        </p:txBody>
      </p:sp>
      <p:graphicFrame>
        <p:nvGraphicFramePr>
          <p:cNvPr id="225" name="Google Shape;225;p14"/>
          <p:cNvGraphicFramePr/>
          <p:nvPr/>
        </p:nvGraphicFramePr>
        <p:xfrm>
          <a:off x="475350" y="3210575"/>
          <a:ext cx="3000000" cy="3000000"/>
        </p:xfrm>
        <a:graphic>
          <a:graphicData uri="http://schemas.openxmlformats.org/drawingml/2006/table">
            <a:tbl>
              <a:tblPr>
                <a:noFill/>
                <a:tableStyleId>{4AABA06C-560F-4C3F-B267-86505F7F9503}</a:tableStyleId>
              </a:tblPr>
              <a:tblGrid>
                <a:gridCol w="2205550"/>
                <a:gridCol w="2205550"/>
                <a:gridCol w="2205550"/>
              </a:tblGrid>
              <a:tr h="59675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Activity</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Duration</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Activities which must be completed first</a:t>
                      </a:r>
                      <a:endParaRPr b="1" sz="1200">
                        <a:solidFill>
                          <a:schemeClr val="dk1"/>
                        </a:solidFill>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A (research)</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60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None</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B (gather supplies)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20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None</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C (create templates)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25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B</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D (create artwork)</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60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A, C</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E (writing)</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50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A, C</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F (checking)</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30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D, E</a:t>
                      </a:r>
                      <a:endParaRPr sz="1200">
                        <a:latin typeface="Lexend"/>
                        <a:ea typeface="Lexend"/>
                        <a:cs typeface="Lexend"/>
                        <a:sym typeface="Lexend"/>
                      </a:endParaRPr>
                    </a:p>
                  </a:txBody>
                  <a:tcPr marT="91425" marB="91425" marR="91425" marL="91425"/>
                </a:tc>
              </a:tr>
              <a:tr h="387875">
                <a:tc>
                  <a:txBody>
                    <a:bodyPr/>
                    <a:lstStyle/>
                    <a:p>
                      <a:pPr indent="0" lvl="0" marL="0" rtl="0" algn="ctr">
                        <a:spcBef>
                          <a:spcPts val="0"/>
                        </a:spcBef>
                        <a:spcAft>
                          <a:spcPts val="0"/>
                        </a:spcAft>
                        <a:buNone/>
                      </a:pPr>
                      <a:r>
                        <a:rPr lang="en-GB" sz="1200">
                          <a:latin typeface="Lexend"/>
                          <a:ea typeface="Lexend"/>
                          <a:cs typeface="Lexend"/>
                          <a:sym typeface="Lexend"/>
                        </a:rPr>
                        <a:t>G (compiling)</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15 mins</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D, E</a:t>
                      </a:r>
                      <a:endParaRPr sz="1200">
                        <a:latin typeface="Lexend"/>
                        <a:ea typeface="Lexend"/>
                        <a:cs typeface="Lexend"/>
                        <a:sym typeface="Lexend"/>
                      </a:endParaRPr>
                    </a:p>
                  </a:txBody>
                  <a:tcPr marT="91425" marB="91425" marR="91425" marL="91425"/>
                </a:tc>
              </a:tr>
            </a:tbl>
          </a:graphicData>
        </a:graphic>
      </p:graphicFrame>
      <p:sp>
        <p:nvSpPr>
          <p:cNvPr id="226" name="Google Shape;226;p14"/>
          <p:cNvSpPr txBox="1"/>
          <p:nvPr/>
        </p:nvSpPr>
        <p:spPr>
          <a:xfrm>
            <a:off x="475350" y="9346500"/>
            <a:ext cx="6624000" cy="42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This example shows Izzy and Laura completing the project on time.</a:t>
            </a:r>
            <a:endParaRPr sz="1200">
              <a:solidFill>
                <a:srgbClr val="000000"/>
              </a:solidFill>
              <a:latin typeface="Kalam"/>
              <a:ea typeface="Kalam"/>
              <a:cs typeface="Kalam"/>
              <a:sym typeface="Kalam"/>
            </a:endParaRPr>
          </a:p>
        </p:txBody>
      </p:sp>
      <p:pic>
        <p:nvPicPr>
          <p:cNvPr id="227" name="Google Shape;227;p14"/>
          <p:cNvPicPr preferRelativeResize="0"/>
          <p:nvPr/>
        </p:nvPicPr>
        <p:blipFill>
          <a:blip r:embed="rId3">
            <a:alphaModFix/>
          </a:blip>
          <a:stretch>
            <a:fillRect/>
          </a:stretch>
        </p:blipFill>
        <p:spPr>
          <a:xfrm>
            <a:off x="467600" y="6943625"/>
            <a:ext cx="6623999" cy="13426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