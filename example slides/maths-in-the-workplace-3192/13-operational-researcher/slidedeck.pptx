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4A8307-0F7D-4AD2-ADF6-A58BC17439A6}">
  <a:tblStyle styleId="{564A8307-0F7D-4AD2-ADF6-A58BC17439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fe1e0b73e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fe1e0b73e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effac932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effac932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fe1e0b73e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fe1e0b73e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2fe1e0b73e4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2fe1e0b73e4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2fe1e0b73e4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2fe1e0b73e4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2fe1e0b73e4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2fe1e0b73e4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fe1e0b73e4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fe1e0b73e4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fe1e0b73e4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fe1e0b73e4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fe1e0b73e4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fe1e0b73e4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fe1e0b73e4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fe1e0b73e4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fe1e0b73e4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2fe1e0b73e4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fe1e0b73e4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fe1e0b73e4_0_1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2fe1e0b73e4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2fe1e0b73e4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2fe1e0b73e4_0_1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2fe1e0b73e4_0_1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2fe1e0b73e4_0_1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2fe1e0b73e4_0_1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2fe1e0b73e4_0_1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2fe1e0b73e4_0_1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2fe1e0b73e4_0_1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2fe1e0b73e4_0_1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fe7cb01f8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2fe7cb01f8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2fe7cb01f8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4" name="Google Shape;1354;g2fe7cb01f8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2fe7cb01f8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2fe7cb01f8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fe7cb01f8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fe7cb01f8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2fe7cb01f8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2fe7cb01f8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2fe7cb01f8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2fe7cb01f8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fe7cb01f8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2fe7cb01f8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2fe7cb01f8f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2fe7cb01f8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2fe1e0b73e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2fe1e0b73e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2fe1e0b73e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2fe1e0b73e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2fe7cb01f8f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2fe7cb01f8f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2fe7cb01f8f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2fe7cb01f8f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2fe7cb01f8f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5" name="Google Shape;1525;g2fe7cb01f8f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2fe7cb01f8f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2fe7cb01f8f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2fe7cb01f8f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4" name="Google Shape;1554;g2fe7cb01f8f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2" name="Shape 1572"/>
        <p:cNvGrpSpPr/>
        <p:nvPr/>
      </p:nvGrpSpPr>
      <p:grpSpPr>
        <a:xfrm>
          <a:off x="0" y="0"/>
          <a:ext cx="0" cy="0"/>
          <a:chOff x="0" y="0"/>
          <a:chExt cx="0" cy="0"/>
        </a:xfrm>
      </p:grpSpPr>
      <p:sp>
        <p:nvSpPr>
          <p:cNvPr id="1573" name="Google Shape;1573;g2fe7cb01f8f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4" name="Google Shape;1574;g2fe7cb01f8f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2fe7cb01f8f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9" name="Google Shape;1599;g2fe7cb01f8f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2fe7cb01f8f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6" name="Google Shape;1626;g2fe7cb01f8f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2fe7cb01f8f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0" name="Google Shape;1650;g2fe7cb01f8f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g2fe7cb01f8f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6" name="Google Shape;1656;g2fe7cb01f8f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2fe7cb01f8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2fe7cb01f8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g2fe7cb01f8f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1" name="Google Shape;1671;g2fe7cb01f8f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2fe7cb01f8f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2fe7cb01f8f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2fe7cb01f8f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2fe7cb01f8f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2fe7cb01f8f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2fe7cb01f8f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4" name="Google Shape;1734;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6.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6.png"/><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2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19.png"/><Relationship Id="rId5" Type="http://schemas.openxmlformats.org/officeDocument/2006/relationships/image" Target="../media/image2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37.png"/><Relationship Id="rId6" Type="http://schemas.openxmlformats.org/officeDocument/2006/relationships/image" Target="../media/image32.png"/><Relationship Id="rId7"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76.png"/><Relationship Id="rId5" Type="http://schemas.openxmlformats.org/officeDocument/2006/relationships/image" Target="../media/image42.png"/><Relationship Id="rId6" Type="http://schemas.openxmlformats.org/officeDocument/2006/relationships/image" Target="../media/image41.png"/><Relationship Id="rId7" Type="http://schemas.openxmlformats.org/officeDocument/2006/relationships/image" Target="../media/image3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76.png"/><Relationship Id="rId4" Type="http://schemas.openxmlformats.org/officeDocument/2006/relationships/image" Target="../media/image40.png"/><Relationship Id="rId9" Type="http://schemas.openxmlformats.org/officeDocument/2006/relationships/image" Target="../media/image38.png"/><Relationship Id="rId5" Type="http://schemas.openxmlformats.org/officeDocument/2006/relationships/image" Target="../media/image35.png"/><Relationship Id="rId6" Type="http://schemas.openxmlformats.org/officeDocument/2006/relationships/image" Target="../media/image44.png"/><Relationship Id="rId7" Type="http://schemas.openxmlformats.org/officeDocument/2006/relationships/image" Target="../media/image42.png"/><Relationship Id="rId8"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76.png"/><Relationship Id="rId4" Type="http://schemas.openxmlformats.org/officeDocument/2006/relationships/image" Target="../media/image46.png"/><Relationship Id="rId11" Type="http://schemas.openxmlformats.org/officeDocument/2006/relationships/image" Target="../media/image38.png"/><Relationship Id="rId10" Type="http://schemas.openxmlformats.org/officeDocument/2006/relationships/image" Target="../media/image53.png"/><Relationship Id="rId9" Type="http://schemas.openxmlformats.org/officeDocument/2006/relationships/image" Target="../media/image41.png"/><Relationship Id="rId5" Type="http://schemas.openxmlformats.org/officeDocument/2006/relationships/image" Target="../media/image40.png"/><Relationship Id="rId6" Type="http://schemas.openxmlformats.org/officeDocument/2006/relationships/image" Target="../media/image35.png"/><Relationship Id="rId7" Type="http://schemas.openxmlformats.org/officeDocument/2006/relationships/image" Target="../media/image44.png"/><Relationship Id="rId8" Type="http://schemas.openxmlformats.org/officeDocument/2006/relationships/image" Target="../media/image4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9.png"/><Relationship Id="rId4" Type="http://schemas.openxmlformats.org/officeDocument/2006/relationships/image" Target="../media/image5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9.png"/><Relationship Id="rId4" Type="http://schemas.openxmlformats.org/officeDocument/2006/relationships/image" Target="../media/image5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9.png"/><Relationship Id="rId4" Type="http://schemas.openxmlformats.org/officeDocument/2006/relationships/image" Target="../media/image5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9.png"/><Relationship Id="rId4" Type="http://schemas.openxmlformats.org/officeDocument/2006/relationships/image" Target="../media/image5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5.png"/><Relationship Id="rId4" Type="http://schemas.openxmlformats.org/officeDocument/2006/relationships/image" Target="../media/image5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7.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theme" Target="../theme/theme1.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7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68.png"/><Relationship Id="rId4" Type="http://schemas.openxmlformats.org/officeDocument/2006/relationships/image" Target="../media/image72.png"/><Relationship Id="rId5" Type="http://schemas.openxmlformats.org/officeDocument/2006/relationships/image" Target="../media/image7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68.png"/><Relationship Id="rId4" Type="http://schemas.openxmlformats.org/officeDocument/2006/relationships/image" Target="../media/image72.png"/><Relationship Id="rId5" Type="http://schemas.openxmlformats.org/officeDocument/2006/relationships/image" Target="../media/image7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2.xml"/><Relationship Id="rId3" Type="http://schemas.openxmlformats.org/officeDocument/2006/relationships/image" Target="../media/image7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3.xml"/><Relationship Id="rId3" Type="http://schemas.openxmlformats.org/officeDocument/2006/relationships/image" Target="../media/image7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4.xml"/><Relationship Id="rId3" Type="http://schemas.openxmlformats.org/officeDocument/2006/relationships/image" Target="../media/image7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9.xml"/><Relationship Id="rId3" Type="http://schemas.openxmlformats.org/officeDocument/2006/relationships/image" Target="../media/image7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 Id="rId3" Type="http://schemas.openxmlformats.org/officeDocument/2006/relationships/image" Target="../media/image7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7.xml"/><Relationship Id="rId3" Type="http://schemas.openxmlformats.org/officeDocument/2006/relationships/image" Target="../media/image7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7.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Operational research</a:t>
            </a:r>
            <a:endParaRPr/>
          </a:p>
        </p:txBody>
      </p:sp>
      <p:sp>
        <p:nvSpPr>
          <p:cNvPr id="837" name="Google Shape;837;p73"/>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in the workplace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1" name="Shape 841"/>
        <p:cNvGrpSpPr/>
        <p:nvPr/>
      </p:nvGrpSpPr>
      <p:grpSpPr>
        <a:xfrm>
          <a:off x="0" y="0"/>
          <a:ext cx="0" cy="0"/>
          <a:chOff x="0" y="0"/>
          <a:chExt cx="0" cy="0"/>
        </a:xfrm>
      </p:grpSpPr>
      <p:sp>
        <p:nvSpPr>
          <p:cNvPr id="842" name="Google Shape;842;p7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maths is used in operational research.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76"/>
          <p:cNvSpPr txBox="1"/>
          <p:nvPr>
            <p:ph idx="3" type="subTitle"/>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Logistics</a:t>
            </a:r>
            <a:r>
              <a:rPr b="0" lang="en-GB"/>
              <a:t> is the careful organisation of a complicated project (set of activities)</a:t>
            </a:r>
            <a:r>
              <a:rPr b="0" lang="en-GB"/>
              <a:t> so that it happens in a successful and effective way.</a:t>
            </a:r>
            <a:endParaRPr b="0"/>
          </a:p>
          <a:p>
            <a:pPr indent="0" lvl="0" marL="0" rtl="0" algn="l">
              <a:spcBef>
                <a:spcPts val="1000"/>
              </a:spcBef>
              <a:spcAft>
                <a:spcPts val="0"/>
              </a:spcAft>
              <a:buNone/>
            </a:pPr>
            <a:r>
              <a:t/>
            </a:r>
            <a:endParaRPr b="0"/>
          </a:p>
          <a:p>
            <a:pPr indent="0" lvl="0" marL="0" rtl="0" algn="l">
              <a:spcBef>
                <a:spcPts val="1000"/>
              </a:spcBef>
              <a:spcAft>
                <a:spcPts val="1000"/>
              </a:spcAft>
              <a:buNone/>
            </a:pPr>
            <a:r>
              <a:t/>
            </a:r>
            <a:endParaRPr b="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7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858" name="Google Shape;858;p7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859" name="Google Shape;859;p7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Operational research</a:t>
            </a:r>
            <a:endParaRPr/>
          </a:p>
        </p:txBody>
      </p:sp>
      <p:pic>
        <p:nvPicPr>
          <p:cNvPr id="860" name="Google Shape;860;p77"/>
          <p:cNvPicPr preferRelativeResize="0"/>
          <p:nvPr/>
        </p:nvPicPr>
        <p:blipFill>
          <a:blip r:embed="rId3">
            <a:alphaModFix/>
          </a:blip>
          <a:stretch>
            <a:fillRect/>
          </a:stretch>
        </p:blipFill>
        <p:spPr>
          <a:xfrm>
            <a:off x="417542" y="2059642"/>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866" name="Google Shape;866;p78"/>
          <p:cNvSpPr txBox="1"/>
          <p:nvPr>
            <p:ph idx="1" type="body"/>
          </p:nvPr>
        </p:nvSpPr>
        <p:spPr>
          <a:xfrm>
            <a:off x="324000" y="759300"/>
            <a:ext cx="8237700" cy="410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 order for a business to survive, its income must be greater than or equal to its expenses.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Just meeting expenses though will not allow the business to invest or improve </a:t>
            </a:r>
            <a:r>
              <a:rPr lang="en-GB"/>
              <a:t>existing</a:t>
            </a:r>
            <a:r>
              <a:rPr lang="en-GB"/>
              <a:t> resources.</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Therefore the more efficient a business is, the more likely it is that the business will make a profit.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872" name="Google Shape;872;p79"/>
          <p:cNvSpPr txBox="1"/>
          <p:nvPr>
            <p:ph idx="1" type="body"/>
          </p:nvPr>
        </p:nvSpPr>
        <p:spPr>
          <a:xfrm>
            <a:off x="324000" y="759300"/>
            <a:ext cx="8237700" cy="410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Let’s focus on </a:t>
            </a:r>
            <a:r>
              <a:rPr lang="en-GB"/>
              <a:t>preparing goods for transportation. To make things easier, we will focus on a small number of goods.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In reality, companies deal with hundreds or even thousands of goods.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878" name="Google Shape;878;p80"/>
          <p:cNvSpPr txBox="1"/>
          <p:nvPr>
            <p:ph idx="1" type="body"/>
          </p:nvPr>
        </p:nvSpPr>
        <p:spPr>
          <a:xfrm>
            <a:off x="324000" y="759300"/>
            <a:ext cx="8237700" cy="410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company needs to send nine items to a store. The items have to be stacked on pallets. A pallet cannot hold more than 200 kg.</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Here are the masses (in kg) of the items:</a:t>
            </a:r>
            <a:endParaRPr/>
          </a:p>
          <a:p>
            <a:pPr indent="0" lvl="0" marL="0" rtl="0" algn="ctr">
              <a:spcBef>
                <a:spcPts val="1000"/>
              </a:spcBef>
              <a:spcAft>
                <a:spcPts val="0"/>
              </a:spcAft>
              <a:buNone/>
            </a:pPr>
            <a:r>
              <a:rPr lang="en-GB"/>
              <a:t>30     70     80     80     100     110     110     120     150</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What is the smallest number of pallets needed?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884" name="Google Shape;884;p81"/>
          <p:cNvSpPr txBox="1"/>
          <p:nvPr>
            <p:ph idx="1" type="body"/>
          </p:nvPr>
        </p:nvSpPr>
        <p:spPr>
          <a:xfrm>
            <a:off x="324000" y="759300"/>
            <a:ext cx="8237700" cy="14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pallet cannot hold more than 200 kg.</a:t>
            </a:r>
            <a:endParaRPr/>
          </a:p>
          <a:p>
            <a:pPr indent="0" lvl="0" marL="0" rtl="0" algn="l">
              <a:spcBef>
                <a:spcPts val="1000"/>
              </a:spcBef>
              <a:spcAft>
                <a:spcPts val="0"/>
              </a:spcAft>
              <a:buNone/>
            </a:pPr>
            <a:r>
              <a:rPr lang="en-GB"/>
              <a:t>Here are the masses (in kg) of the items:</a:t>
            </a:r>
            <a:endParaRPr/>
          </a:p>
          <a:p>
            <a:pPr indent="0" lvl="0" marL="0" rtl="0" algn="ctr">
              <a:spcBef>
                <a:spcPts val="1000"/>
              </a:spcBef>
              <a:spcAft>
                <a:spcPts val="0"/>
              </a:spcAft>
              <a:buNone/>
            </a:pPr>
            <a:r>
              <a:rPr lang="en-GB"/>
              <a:t>30     70     80     80     100     110     110     120     150</a:t>
            </a:r>
            <a:endParaRPr/>
          </a:p>
          <a:p>
            <a:pPr indent="0" lvl="0" marL="0" rtl="0" algn="l">
              <a:spcBef>
                <a:spcPts val="1000"/>
              </a:spcBef>
              <a:spcAft>
                <a:spcPts val="1000"/>
              </a:spcAft>
              <a:buNone/>
            </a:pPr>
            <a:r>
              <a:t/>
            </a:r>
            <a:endParaRPr/>
          </a:p>
        </p:txBody>
      </p:sp>
      <p:pic>
        <p:nvPicPr>
          <p:cNvPr id="885" name="Google Shape;885;p81"/>
          <p:cNvPicPr preferRelativeResize="0"/>
          <p:nvPr/>
        </p:nvPicPr>
        <p:blipFill>
          <a:blip r:embed="rId3">
            <a:alphaModFix/>
          </a:blip>
          <a:stretch>
            <a:fillRect/>
          </a:stretch>
        </p:blipFill>
        <p:spPr>
          <a:xfrm>
            <a:off x="7282425" y="3225766"/>
            <a:ext cx="1114250" cy="1078300"/>
          </a:xfrm>
          <a:prstGeom prst="rect">
            <a:avLst/>
          </a:prstGeom>
          <a:noFill/>
          <a:ln>
            <a:noFill/>
          </a:ln>
        </p:spPr>
      </p:pic>
      <p:pic>
        <p:nvPicPr>
          <p:cNvPr id="886" name="Google Shape;886;p81"/>
          <p:cNvPicPr preferRelativeResize="0"/>
          <p:nvPr/>
        </p:nvPicPr>
        <p:blipFill>
          <a:blip r:embed="rId4">
            <a:alphaModFix/>
          </a:blip>
          <a:stretch>
            <a:fillRect/>
          </a:stretch>
        </p:blipFill>
        <p:spPr>
          <a:xfrm>
            <a:off x="323996" y="3386588"/>
            <a:ext cx="798316" cy="896106"/>
          </a:xfrm>
          <a:prstGeom prst="rect">
            <a:avLst/>
          </a:prstGeom>
          <a:noFill/>
          <a:ln>
            <a:noFill/>
          </a:ln>
        </p:spPr>
      </p:pic>
      <p:sp>
        <p:nvSpPr>
          <p:cNvPr id="887" name="Google Shape;887;p81"/>
          <p:cNvSpPr txBox="1"/>
          <p:nvPr/>
        </p:nvSpPr>
        <p:spPr>
          <a:xfrm>
            <a:off x="7323900" y="43200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888" name="Google Shape;888;p81"/>
          <p:cNvSpPr txBox="1"/>
          <p:nvPr/>
        </p:nvSpPr>
        <p:spPr>
          <a:xfrm>
            <a:off x="324000" y="43200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889" name="Google Shape;889;p81"/>
          <p:cNvGrpSpPr/>
          <p:nvPr/>
        </p:nvGrpSpPr>
        <p:grpSpPr>
          <a:xfrm>
            <a:off x="893700" y="2236175"/>
            <a:ext cx="2399724" cy="1548675"/>
            <a:chOff x="893700" y="2236175"/>
            <a:chExt cx="2399724" cy="1548675"/>
          </a:xfrm>
        </p:grpSpPr>
        <p:pic>
          <p:nvPicPr>
            <p:cNvPr id="890" name="Google Shape;890;p81"/>
            <p:cNvPicPr preferRelativeResize="0"/>
            <p:nvPr/>
          </p:nvPicPr>
          <p:blipFill rotWithShape="1">
            <a:blip r:embed="rId5">
              <a:alphaModFix/>
            </a:blip>
            <a:srcRect b="6172" l="40550" r="0" t="13240"/>
            <a:stretch/>
          </p:blipFill>
          <p:spPr>
            <a:xfrm>
              <a:off x="893700" y="2236175"/>
              <a:ext cx="2399724" cy="1548675"/>
            </a:xfrm>
            <a:prstGeom prst="rect">
              <a:avLst/>
            </a:prstGeom>
            <a:noFill/>
            <a:ln>
              <a:noFill/>
            </a:ln>
          </p:spPr>
        </p:pic>
        <p:sp>
          <p:nvSpPr>
            <p:cNvPr id="891" name="Google Shape;891;p81"/>
            <p:cNvSpPr txBox="1"/>
            <p:nvPr/>
          </p:nvSpPr>
          <p:spPr>
            <a:xfrm>
              <a:off x="1122300" y="2340600"/>
              <a:ext cx="2128200" cy="115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We only need four pallets to transport the items.</a:t>
              </a:r>
              <a:endParaRPr sz="1800">
                <a:solidFill>
                  <a:srgbClr val="000000"/>
                </a:solidFill>
                <a:latin typeface="Lexend"/>
                <a:ea typeface="Lexend"/>
                <a:cs typeface="Lexend"/>
                <a:sym typeface="Lexend"/>
              </a:endParaRPr>
            </a:p>
          </p:txBody>
        </p:sp>
      </p:grpSp>
      <p:grpSp>
        <p:nvGrpSpPr>
          <p:cNvPr id="892" name="Google Shape;892;p81"/>
          <p:cNvGrpSpPr/>
          <p:nvPr/>
        </p:nvGrpSpPr>
        <p:grpSpPr>
          <a:xfrm>
            <a:off x="5076580" y="2254075"/>
            <a:ext cx="2399724" cy="1548666"/>
            <a:chOff x="5076580" y="2254075"/>
            <a:chExt cx="2399724" cy="1548666"/>
          </a:xfrm>
        </p:grpSpPr>
        <p:pic>
          <p:nvPicPr>
            <p:cNvPr id="893" name="Google Shape;893;p81"/>
            <p:cNvPicPr preferRelativeResize="0"/>
            <p:nvPr/>
          </p:nvPicPr>
          <p:blipFill rotWithShape="1">
            <a:blip r:embed="rId5">
              <a:alphaModFix/>
            </a:blip>
            <a:srcRect b="6172" l="40550" r="0" t="13240"/>
            <a:stretch/>
          </p:blipFill>
          <p:spPr>
            <a:xfrm flipH="1">
              <a:off x="5076580" y="2254075"/>
              <a:ext cx="2399724" cy="1548666"/>
            </a:xfrm>
            <a:prstGeom prst="rect">
              <a:avLst/>
            </a:prstGeom>
            <a:noFill/>
            <a:ln>
              <a:noFill/>
            </a:ln>
          </p:spPr>
        </p:pic>
        <p:sp>
          <p:nvSpPr>
            <p:cNvPr id="894" name="Google Shape;894;p81"/>
            <p:cNvSpPr txBox="1"/>
            <p:nvPr/>
          </p:nvSpPr>
          <p:spPr>
            <a:xfrm flipH="1">
              <a:off x="5107925" y="2334470"/>
              <a:ext cx="2240700" cy="1082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I think we need five pallets.</a:t>
              </a:r>
              <a:endParaRPr sz="1800">
                <a:solidFill>
                  <a:srgbClr val="000000"/>
                </a:solidFill>
                <a:latin typeface="Lexend"/>
                <a:ea typeface="Lexend"/>
                <a:cs typeface="Lexend"/>
                <a:sym typeface="Lexend"/>
              </a:endParaRPr>
            </a:p>
          </p:txBody>
        </p:sp>
      </p:grpSp>
      <p:sp>
        <p:nvSpPr>
          <p:cNvPr id="895" name="Google Shape;895;p81"/>
          <p:cNvSpPr txBox="1"/>
          <p:nvPr/>
        </p:nvSpPr>
        <p:spPr>
          <a:xfrm>
            <a:off x="2948425" y="3532050"/>
            <a:ext cx="2498400" cy="11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Who is right? </a:t>
            </a:r>
            <a:br>
              <a:rPr lang="en-GB" sz="2000">
                <a:solidFill>
                  <a:schemeClr val="dk1"/>
                </a:solidFill>
                <a:latin typeface="Lexend"/>
                <a:ea typeface="Lexend"/>
                <a:cs typeface="Lexend"/>
                <a:sym typeface="Lexend"/>
              </a:rPr>
            </a:br>
            <a:r>
              <a:rPr lang="en-GB" sz="2000">
                <a:solidFill>
                  <a:schemeClr val="dk1"/>
                </a:solidFill>
                <a:latin typeface="Lexend"/>
                <a:ea typeface="Lexend"/>
                <a:cs typeface="Lexend"/>
                <a:sym typeface="Lexend"/>
              </a:rPr>
              <a:t>How do you know?</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901" name="Google Shape;901;p82"/>
          <p:cNvSpPr txBox="1"/>
          <p:nvPr>
            <p:ph idx="1" type="body"/>
          </p:nvPr>
        </p:nvSpPr>
        <p:spPr>
          <a:xfrm>
            <a:off x="324000" y="759300"/>
            <a:ext cx="8237700" cy="1435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The total mass is:</a:t>
            </a:r>
            <a:br>
              <a:rPr lang="en-GB"/>
            </a:br>
            <a:r>
              <a:rPr lang="en-GB"/>
              <a:t>30 + 70 + 80 + 80 + 100 + 110 + 110 + 120 + 150 = 850</a:t>
            </a:r>
            <a:endParaRPr/>
          </a:p>
          <a:p>
            <a:pPr indent="0" lvl="0" marL="0" rtl="0" algn="l">
              <a:spcBef>
                <a:spcPts val="0"/>
              </a:spcBef>
              <a:spcAft>
                <a:spcPts val="0"/>
              </a:spcAft>
              <a:buClr>
                <a:schemeClr val="dk1"/>
              </a:buClr>
              <a:buSzPts val="1100"/>
              <a:buFont typeface="Arial"/>
              <a:buNone/>
            </a:pPr>
            <a:r>
              <a:rPr lang="en-GB"/>
              <a:t>850 divided by 200 is 4.25</a:t>
            </a:r>
            <a:endParaRPr sz="2600"/>
          </a:p>
          <a:p>
            <a:pPr indent="0" lvl="0" marL="0" rtl="0" algn="l">
              <a:spcBef>
                <a:spcPts val="0"/>
              </a:spcBef>
              <a:spcAft>
                <a:spcPts val="1000"/>
              </a:spcAft>
              <a:buNone/>
            </a:pPr>
            <a:r>
              <a:t/>
            </a:r>
            <a:endParaRPr sz="2600"/>
          </a:p>
        </p:txBody>
      </p:sp>
      <p:pic>
        <p:nvPicPr>
          <p:cNvPr id="902" name="Google Shape;902;p82"/>
          <p:cNvPicPr preferRelativeResize="0"/>
          <p:nvPr/>
        </p:nvPicPr>
        <p:blipFill>
          <a:blip r:embed="rId3">
            <a:alphaModFix/>
          </a:blip>
          <a:stretch>
            <a:fillRect/>
          </a:stretch>
        </p:blipFill>
        <p:spPr>
          <a:xfrm>
            <a:off x="7282425" y="3225766"/>
            <a:ext cx="1114250" cy="1078300"/>
          </a:xfrm>
          <a:prstGeom prst="rect">
            <a:avLst/>
          </a:prstGeom>
          <a:noFill/>
          <a:ln>
            <a:noFill/>
          </a:ln>
        </p:spPr>
      </p:pic>
      <p:pic>
        <p:nvPicPr>
          <p:cNvPr id="903" name="Google Shape;903;p82"/>
          <p:cNvPicPr preferRelativeResize="0"/>
          <p:nvPr/>
        </p:nvPicPr>
        <p:blipFill>
          <a:blip r:embed="rId4">
            <a:alphaModFix/>
          </a:blip>
          <a:stretch>
            <a:fillRect/>
          </a:stretch>
        </p:blipFill>
        <p:spPr>
          <a:xfrm>
            <a:off x="323996" y="3386588"/>
            <a:ext cx="798316" cy="896106"/>
          </a:xfrm>
          <a:prstGeom prst="rect">
            <a:avLst/>
          </a:prstGeom>
          <a:noFill/>
          <a:ln>
            <a:noFill/>
          </a:ln>
        </p:spPr>
      </p:pic>
      <p:sp>
        <p:nvSpPr>
          <p:cNvPr id="904" name="Google Shape;904;p82"/>
          <p:cNvSpPr txBox="1"/>
          <p:nvPr/>
        </p:nvSpPr>
        <p:spPr>
          <a:xfrm>
            <a:off x="7323900" y="43200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905" name="Google Shape;905;p82"/>
          <p:cNvSpPr txBox="1"/>
          <p:nvPr/>
        </p:nvSpPr>
        <p:spPr>
          <a:xfrm>
            <a:off x="324000" y="43200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906" name="Google Shape;906;p82"/>
          <p:cNvGrpSpPr/>
          <p:nvPr/>
        </p:nvGrpSpPr>
        <p:grpSpPr>
          <a:xfrm>
            <a:off x="893700" y="2236175"/>
            <a:ext cx="2399724" cy="1548675"/>
            <a:chOff x="893700" y="2236175"/>
            <a:chExt cx="2399724" cy="1548675"/>
          </a:xfrm>
        </p:grpSpPr>
        <p:pic>
          <p:nvPicPr>
            <p:cNvPr id="907" name="Google Shape;907;p82"/>
            <p:cNvPicPr preferRelativeResize="0"/>
            <p:nvPr/>
          </p:nvPicPr>
          <p:blipFill rotWithShape="1">
            <a:blip r:embed="rId5">
              <a:alphaModFix/>
            </a:blip>
            <a:srcRect b="6172" l="40550" r="0" t="13240"/>
            <a:stretch/>
          </p:blipFill>
          <p:spPr>
            <a:xfrm>
              <a:off x="893700" y="2236175"/>
              <a:ext cx="2399724" cy="1548675"/>
            </a:xfrm>
            <a:prstGeom prst="rect">
              <a:avLst/>
            </a:prstGeom>
            <a:noFill/>
            <a:ln>
              <a:noFill/>
            </a:ln>
          </p:spPr>
        </p:pic>
        <p:sp>
          <p:nvSpPr>
            <p:cNvPr id="908" name="Google Shape;908;p82"/>
            <p:cNvSpPr txBox="1"/>
            <p:nvPr/>
          </p:nvSpPr>
          <p:spPr>
            <a:xfrm>
              <a:off x="1122300" y="2340600"/>
              <a:ext cx="2128200" cy="115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4.25 rounds down to 4 so its four pallets.</a:t>
              </a:r>
              <a:endParaRPr sz="1800">
                <a:solidFill>
                  <a:srgbClr val="000000"/>
                </a:solidFill>
                <a:latin typeface="Lexend"/>
                <a:ea typeface="Lexend"/>
                <a:cs typeface="Lexend"/>
                <a:sym typeface="Lexend"/>
              </a:endParaRPr>
            </a:p>
          </p:txBody>
        </p:sp>
      </p:grpSp>
      <p:grpSp>
        <p:nvGrpSpPr>
          <p:cNvPr id="909" name="Google Shape;909;p82"/>
          <p:cNvGrpSpPr/>
          <p:nvPr/>
        </p:nvGrpSpPr>
        <p:grpSpPr>
          <a:xfrm>
            <a:off x="5076580" y="2254075"/>
            <a:ext cx="2399724" cy="1548666"/>
            <a:chOff x="5076580" y="2254075"/>
            <a:chExt cx="2399724" cy="1548666"/>
          </a:xfrm>
        </p:grpSpPr>
        <p:pic>
          <p:nvPicPr>
            <p:cNvPr id="910" name="Google Shape;910;p82"/>
            <p:cNvPicPr preferRelativeResize="0"/>
            <p:nvPr/>
          </p:nvPicPr>
          <p:blipFill rotWithShape="1">
            <a:blip r:embed="rId5">
              <a:alphaModFix/>
            </a:blip>
            <a:srcRect b="6172" l="40550" r="0" t="13240"/>
            <a:stretch/>
          </p:blipFill>
          <p:spPr>
            <a:xfrm flipH="1">
              <a:off x="5076580" y="2254075"/>
              <a:ext cx="2399724" cy="1548666"/>
            </a:xfrm>
            <a:prstGeom prst="rect">
              <a:avLst/>
            </a:prstGeom>
            <a:noFill/>
            <a:ln>
              <a:noFill/>
            </a:ln>
          </p:spPr>
        </p:pic>
        <p:sp>
          <p:nvSpPr>
            <p:cNvPr id="911" name="Google Shape;911;p82"/>
            <p:cNvSpPr txBox="1"/>
            <p:nvPr/>
          </p:nvSpPr>
          <p:spPr>
            <a:xfrm flipH="1">
              <a:off x="5107925" y="2334470"/>
              <a:ext cx="2240700" cy="1082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We need more than four pallets so the smallest number we need is five.</a:t>
              </a:r>
              <a:endParaRPr sz="1800">
                <a:solidFill>
                  <a:srgbClr val="000000"/>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917" name="Google Shape;917;p8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pallet cannot hold more than 200 kg.</a:t>
            </a:r>
            <a:endParaRPr/>
          </a:p>
          <a:p>
            <a:pPr indent="0" lvl="0" marL="0" rtl="0" algn="l">
              <a:spcBef>
                <a:spcPts val="1000"/>
              </a:spcBef>
              <a:spcAft>
                <a:spcPts val="0"/>
              </a:spcAft>
              <a:buNone/>
            </a:pPr>
            <a:r>
              <a:rPr lang="en-GB"/>
              <a:t>Here are the masses (in kg) of the items:</a:t>
            </a:r>
            <a:endParaRPr/>
          </a:p>
          <a:p>
            <a:pPr indent="0" lvl="0" marL="0" rtl="0" algn="ctr">
              <a:spcBef>
                <a:spcPts val="1000"/>
              </a:spcBef>
              <a:spcAft>
                <a:spcPts val="0"/>
              </a:spcAft>
              <a:buNone/>
            </a:pPr>
            <a:r>
              <a:rPr lang="en-GB"/>
              <a:t>30     70     80     80     100     110     110     120     150</a:t>
            </a:r>
            <a:endParaRPr/>
          </a:p>
          <a:p>
            <a:pPr indent="0" lvl="0" marL="0" rtl="0" algn="l">
              <a:spcBef>
                <a:spcPts val="1000"/>
              </a:spcBef>
              <a:spcAft>
                <a:spcPts val="0"/>
              </a:spcAft>
              <a:buNone/>
            </a:pPr>
            <a:r>
              <a:rPr lang="en-GB"/>
              <a:t>Decide which items should be placed on which pallet. Can you make the items fit on five pallets?</a:t>
            </a:r>
            <a:endParaRPr/>
          </a:p>
          <a:p>
            <a:pPr indent="0" lvl="0" marL="0" rtl="0" algn="l">
              <a:spcBef>
                <a:spcPts val="1000"/>
              </a:spcBef>
              <a:spcAft>
                <a:spcPts val="1000"/>
              </a:spcAft>
              <a:buNone/>
            </a:pPr>
            <a:r>
              <a:t/>
            </a:r>
            <a:endParaRPr/>
          </a:p>
        </p:txBody>
      </p:sp>
      <p:grpSp>
        <p:nvGrpSpPr>
          <p:cNvPr id="918" name="Google Shape;918;p83"/>
          <p:cNvGrpSpPr/>
          <p:nvPr/>
        </p:nvGrpSpPr>
        <p:grpSpPr>
          <a:xfrm>
            <a:off x="1413000" y="4078801"/>
            <a:ext cx="874800" cy="241200"/>
            <a:chOff x="1538525" y="3973751"/>
            <a:chExt cx="874800" cy="241200"/>
          </a:xfrm>
        </p:grpSpPr>
        <p:cxnSp>
          <p:nvCxnSpPr>
            <p:cNvPr id="919" name="Google Shape;919;p83"/>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20" name="Google Shape;920;p83"/>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21" name="Google Shape;921;p83"/>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22" name="Google Shape;922;p83"/>
          <p:cNvGrpSpPr/>
          <p:nvPr/>
        </p:nvGrpSpPr>
        <p:grpSpPr>
          <a:xfrm>
            <a:off x="2773800" y="4078801"/>
            <a:ext cx="874800" cy="241200"/>
            <a:chOff x="1538525" y="3973751"/>
            <a:chExt cx="874800" cy="241200"/>
          </a:xfrm>
        </p:grpSpPr>
        <p:cxnSp>
          <p:nvCxnSpPr>
            <p:cNvPr id="923" name="Google Shape;923;p83"/>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24" name="Google Shape;924;p83"/>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25" name="Google Shape;925;p83"/>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26" name="Google Shape;926;p83"/>
          <p:cNvGrpSpPr/>
          <p:nvPr/>
        </p:nvGrpSpPr>
        <p:grpSpPr>
          <a:xfrm>
            <a:off x="4134600" y="4078801"/>
            <a:ext cx="874800" cy="241200"/>
            <a:chOff x="1538525" y="3973751"/>
            <a:chExt cx="874800" cy="241200"/>
          </a:xfrm>
        </p:grpSpPr>
        <p:cxnSp>
          <p:nvCxnSpPr>
            <p:cNvPr id="927" name="Google Shape;927;p83"/>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28" name="Google Shape;928;p83"/>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29" name="Google Shape;929;p83"/>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30" name="Google Shape;930;p83"/>
          <p:cNvGrpSpPr/>
          <p:nvPr/>
        </p:nvGrpSpPr>
        <p:grpSpPr>
          <a:xfrm>
            <a:off x="5495400" y="4078801"/>
            <a:ext cx="874800" cy="241200"/>
            <a:chOff x="1538525" y="3973751"/>
            <a:chExt cx="874800" cy="241200"/>
          </a:xfrm>
        </p:grpSpPr>
        <p:cxnSp>
          <p:nvCxnSpPr>
            <p:cNvPr id="931" name="Google Shape;931;p83"/>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32" name="Google Shape;932;p83"/>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33" name="Google Shape;933;p83"/>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34" name="Google Shape;934;p83"/>
          <p:cNvGrpSpPr/>
          <p:nvPr/>
        </p:nvGrpSpPr>
        <p:grpSpPr>
          <a:xfrm>
            <a:off x="6856200" y="4078801"/>
            <a:ext cx="874800" cy="241200"/>
            <a:chOff x="1538525" y="3973751"/>
            <a:chExt cx="874800" cy="241200"/>
          </a:xfrm>
        </p:grpSpPr>
        <p:cxnSp>
          <p:nvCxnSpPr>
            <p:cNvPr id="935" name="Google Shape;935;p83"/>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36" name="Google Shape;936;p83"/>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37" name="Google Shape;937;p83"/>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938" name="Google Shape;938;p83"/>
          <p:cNvSpPr txBox="1"/>
          <p:nvPr/>
        </p:nvSpPr>
        <p:spPr>
          <a:xfrm>
            <a:off x="1413000" y="4221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944" name="Google Shape;944;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pallet cannot hold more than 200 kg.</a:t>
            </a:r>
            <a:endParaRPr/>
          </a:p>
          <a:p>
            <a:pPr indent="0" lvl="0" marL="0" rtl="0" algn="l">
              <a:spcBef>
                <a:spcPts val="1000"/>
              </a:spcBef>
              <a:spcAft>
                <a:spcPts val="0"/>
              </a:spcAft>
              <a:buNone/>
            </a:pPr>
            <a:r>
              <a:rPr lang="en-GB"/>
              <a:t>Here are the masses (in kg) of the items:</a:t>
            </a:r>
            <a:endParaRPr/>
          </a:p>
          <a:p>
            <a:pPr indent="0" lvl="0" marL="0" rtl="0" algn="ctr">
              <a:spcBef>
                <a:spcPts val="1000"/>
              </a:spcBef>
              <a:spcAft>
                <a:spcPts val="0"/>
              </a:spcAft>
              <a:buNone/>
            </a:pPr>
            <a:r>
              <a:rPr lang="en-GB"/>
              <a:t>30     70     80     80     100     110     110     120     150</a:t>
            </a:r>
            <a:endParaRPr/>
          </a:p>
          <a:p>
            <a:pPr indent="0" lvl="0" marL="0" rtl="0" algn="l">
              <a:spcBef>
                <a:spcPts val="1000"/>
              </a:spcBef>
              <a:spcAft>
                <a:spcPts val="0"/>
              </a:spcAft>
              <a:buNone/>
            </a:pPr>
            <a:r>
              <a:rPr lang="en-GB" sz="2000">
                <a:latin typeface="Kalam"/>
                <a:ea typeface="Kalam"/>
                <a:cs typeface="Kalam"/>
                <a:sym typeface="Kalam"/>
              </a:rPr>
              <a:t>Lucas decided to place each item onto the first pallet that could hold it.</a:t>
            </a:r>
            <a:endParaRPr sz="2000">
              <a:latin typeface="Kalam"/>
              <a:ea typeface="Kalam"/>
              <a:cs typeface="Kalam"/>
              <a:sym typeface="Kalam"/>
            </a:endParaRPr>
          </a:p>
          <a:p>
            <a:pPr indent="0" lvl="0" marL="0" rtl="0" algn="l">
              <a:spcBef>
                <a:spcPts val="1000"/>
              </a:spcBef>
              <a:spcAft>
                <a:spcPts val="1000"/>
              </a:spcAft>
              <a:buNone/>
            </a:pPr>
            <a:r>
              <a:t/>
            </a:r>
            <a:endParaRPr/>
          </a:p>
        </p:txBody>
      </p:sp>
      <p:grpSp>
        <p:nvGrpSpPr>
          <p:cNvPr id="945" name="Google Shape;945;p84"/>
          <p:cNvGrpSpPr/>
          <p:nvPr/>
        </p:nvGrpSpPr>
        <p:grpSpPr>
          <a:xfrm>
            <a:off x="1413000" y="4078801"/>
            <a:ext cx="874800" cy="241200"/>
            <a:chOff x="1538525" y="3973751"/>
            <a:chExt cx="874800" cy="241200"/>
          </a:xfrm>
        </p:grpSpPr>
        <p:cxnSp>
          <p:nvCxnSpPr>
            <p:cNvPr id="946" name="Google Shape;946;p84"/>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47" name="Google Shape;947;p84"/>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48" name="Google Shape;948;p84"/>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49" name="Google Shape;949;p84"/>
          <p:cNvGrpSpPr/>
          <p:nvPr/>
        </p:nvGrpSpPr>
        <p:grpSpPr>
          <a:xfrm>
            <a:off x="2773800" y="4078801"/>
            <a:ext cx="874800" cy="241200"/>
            <a:chOff x="1538525" y="3973751"/>
            <a:chExt cx="874800" cy="241200"/>
          </a:xfrm>
        </p:grpSpPr>
        <p:cxnSp>
          <p:nvCxnSpPr>
            <p:cNvPr id="950" name="Google Shape;950;p84"/>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51" name="Google Shape;951;p84"/>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52" name="Google Shape;952;p84"/>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53" name="Google Shape;953;p84"/>
          <p:cNvGrpSpPr/>
          <p:nvPr/>
        </p:nvGrpSpPr>
        <p:grpSpPr>
          <a:xfrm>
            <a:off x="4134600" y="4078801"/>
            <a:ext cx="874800" cy="241200"/>
            <a:chOff x="1538525" y="3973751"/>
            <a:chExt cx="874800" cy="241200"/>
          </a:xfrm>
        </p:grpSpPr>
        <p:cxnSp>
          <p:nvCxnSpPr>
            <p:cNvPr id="954" name="Google Shape;954;p84"/>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55" name="Google Shape;955;p84"/>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56" name="Google Shape;956;p84"/>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57" name="Google Shape;957;p84"/>
          <p:cNvGrpSpPr/>
          <p:nvPr/>
        </p:nvGrpSpPr>
        <p:grpSpPr>
          <a:xfrm>
            <a:off x="5495400" y="4078801"/>
            <a:ext cx="874800" cy="241200"/>
            <a:chOff x="1538525" y="3973751"/>
            <a:chExt cx="874800" cy="241200"/>
          </a:xfrm>
        </p:grpSpPr>
        <p:cxnSp>
          <p:nvCxnSpPr>
            <p:cNvPr id="958" name="Google Shape;958;p84"/>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59" name="Google Shape;959;p84"/>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60" name="Google Shape;960;p84"/>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961" name="Google Shape;961;p84"/>
          <p:cNvGrpSpPr/>
          <p:nvPr/>
        </p:nvGrpSpPr>
        <p:grpSpPr>
          <a:xfrm>
            <a:off x="6856200" y="4078801"/>
            <a:ext cx="874800" cy="241200"/>
            <a:chOff x="1538525" y="3973751"/>
            <a:chExt cx="874800" cy="241200"/>
          </a:xfrm>
        </p:grpSpPr>
        <p:cxnSp>
          <p:nvCxnSpPr>
            <p:cNvPr id="962" name="Google Shape;962;p84"/>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63" name="Google Shape;963;p84"/>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964" name="Google Shape;964;p84"/>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965" name="Google Shape;965;p84"/>
          <p:cNvSpPr txBox="1"/>
          <p:nvPr/>
        </p:nvSpPr>
        <p:spPr>
          <a:xfrm>
            <a:off x="1413000" y="4221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grpSp>
        <p:nvGrpSpPr>
          <p:cNvPr id="966" name="Google Shape;966;p84"/>
          <p:cNvGrpSpPr/>
          <p:nvPr/>
        </p:nvGrpSpPr>
        <p:grpSpPr>
          <a:xfrm>
            <a:off x="927625" y="1743750"/>
            <a:ext cx="1360175" cy="2436750"/>
            <a:chOff x="927625" y="1743750"/>
            <a:chExt cx="1360175" cy="2436750"/>
          </a:xfrm>
        </p:grpSpPr>
        <p:sp>
          <p:nvSpPr>
            <p:cNvPr id="967" name="Google Shape;967;p84"/>
            <p:cNvSpPr/>
            <p:nvPr/>
          </p:nvSpPr>
          <p:spPr>
            <a:xfrm>
              <a:off x="927625" y="17437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8" name="Google Shape;968;p84"/>
            <p:cNvSpPr txBox="1"/>
            <p:nvPr/>
          </p:nvSpPr>
          <p:spPr>
            <a:xfrm>
              <a:off x="1413000" y="3856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grpSp>
      <p:grpSp>
        <p:nvGrpSpPr>
          <p:cNvPr id="969" name="Google Shape;969;p84"/>
          <p:cNvGrpSpPr/>
          <p:nvPr/>
        </p:nvGrpSpPr>
        <p:grpSpPr>
          <a:xfrm>
            <a:off x="1413000" y="1787400"/>
            <a:ext cx="874800" cy="2088300"/>
            <a:chOff x="1413000" y="1787400"/>
            <a:chExt cx="874800" cy="2088300"/>
          </a:xfrm>
        </p:grpSpPr>
        <p:sp>
          <p:nvSpPr>
            <p:cNvPr id="970" name="Google Shape;970;p84"/>
            <p:cNvSpPr txBox="1"/>
            <p:nvPr/>
          </p:nvSpPr>
          <p:spPr>
            <a:xfrm>
              <a:off x="1413000" y="35514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971" name="Google Shape;971;p84"/>
            <p:cNvSpPr/>
            <p:nvPr/>
          </p:nvSpPr>
          <p:spPr>
            <a:xfrm>
              <a:off x="1684800"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72" name="Google Shape;972;p84"/>
          <p:cNvGrpSpPr/>
          <p:nvPr/>
        </p:nvGrpSpPr>
        <p:grpSpPr>
          <a:xfrm>
            <a:off x="1413000" y="1787400"/>
            <a:ext cx="1531525" cy="1783500"/>
            <a:chOff x="1413000" y="1787400"/>
            <a:chExt cx="1531525" cy="1783500"/>
          </a:xfrm>
        </p:grpSpPr>
        <p:sp>
          <p:nvSpPr>
            <p:cNvPr id="973" name="Google Shape;973;p84"/>
            <p:cNvSpPr txBox="1"/>
            <p:nvPr/>
          </p:nvSpPr>
          <p:spPr>
            <a:xfrm>
              <a:off x="1413000" y="32466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974" name="Google Shape;974;p84"/>
            <p:cNvSpPr/>
            <p:nvPr/>
          </p:nvSpPr>
          <p:spPr>
            <a:xfrm>
              <a:off x="2371225"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75" name="Google Shape;975;p84"/>
          <p:cNvGrpSpPr/>
          <p:nvPr/>
        </p:nvGrpSpPr>
        <p:grpSpPr>
          <a:xfrm>
            <a:off x="2773800" y="1743750"/>
            <a:ext cx="882450" cy="2456250"/>
            <a:chOff x="2773800" y="1743750"/>
            <a:chExt cx="882450" cy="2456250"/>
          </a:xfrm>
        </p:grpSpPr>
        <p:sp>
          <p:nvSpPr>
            <p:cNvPr id="976" name="Google Shape;976;p84"/>
            <p:cNvSpPr/>
            <p:nvPr/>
          </p:nvSpPr>
          <p:spPr>
            <a:xfrm>
              <a:off x="3082950" y="17437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7" name="Google Shape;977;p84"/>
            <p:cNvSpPr txBox="1"/>
            <p:nvPr/>
          </p:nvSpPr>
          <p:spPr>
            <a:xfrm>
              <a:off x="2773800"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pSp>
      <p:grpSp>
        <p:nvGrpSpPr>
          <p:cNvPr id="978" name="Google Shape;978;p84"/>
          <p:cNvGrpSpPr/>
          <p:nvPr/>
        </p:nvGrpSpPr>
        <p:grpSpPr>
          <a:xfrm>
            <a:off x="2773800" y="1787400"/>
            <a:ext cx="1689750" cy="2108316"/>
            <a:chOff x="2773800" y="1787400"/>
            <a:chExt cx="1689750" cy="2108316"/>
          </a:xfrm>
        </p:grpSpPr>
        <p:sp>
          <p:nvSpPr>
            <p:cNvPr id="979" name="Google Shape;979;p84"/>
            <p:cNvSpPr txBox="1"/>
            <p:nvPr/>
          </p:nvSpPr>
          <p:spPr>
            <a:xfrm>
              <a:off x="2773800" y="3571416"/>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980" name="Google Shape;980;p84"/>
            <p:cNvSpPr/>
            <p:nvPr/>
          </p:nvSpPr>
          <p:spPr>
            <a:xfrm>
              <a:off x="3890250"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81" name="Google Shape;981;p84"/>
          <p:cNvGrpSpPr/>
          <p:nvPr/>
        </p:nvGrpSpPr>
        <p:grpSpPr>
          <a:xfrm>
            <a:off x="4130316" y="1787400"/>
            <a:ext cx="1194584" cy="2405575"/>
            <a:chOff x="4130316" y="1787400"/>
            <a:chExt cx="1194584" cy="2405575"/>
          </a:xfrm>
        </p:grpSpPr>
        <p:sp>
          <p:nvSpPr>
            <p:cNvPr id="982" name="Google Shape;982;p84"/>
            <p:cNvSpPr txBox="1"/>
            <p:nvPr/>
          </p:nvSpPr>
          <p:spPr>
            <a:xfrm>
              <a:off x="4130316" y="38686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983" name="Google Shape;983;p84"/>
            <p:cNvSpPr/>
            <p:nvPr/>
          </p:nvSpPr>
          <p:spPr>
            <a:xfrm>
              <a:off x="4751600"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84" name="Google Shape;984;p84"/>
          <p:cNvGrpSpPr/>
          <p:nvPr/>
        </p:nvGrpSpPr>
        <p:grpSpPr>
          <a:xfrm>
            <a:off x="5494375" y="1743750"/>
            <a:ext cx="874800" cy="2449225"/>
            <a:chOff x="5494375" y="1743750"/>
            <a:chExt cx="874800" cy="2449225"/>
          </a:xfrm>
        </p:grpSpPr>
        <p:sp>
          <p:nvSpPr>
            <p:cNvPr id="985" name="Google Shape;985;p84"/>
            <p:cNvSpPr txBox="1"/>
            <p:nvPr/>
          </p:nvSpPr>
          <p:spPr>
            <a:xfrm>
              <a:off x="5494375" y="38686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986" name="Google Shape;986;p84"/>
            <p:cNvSpPr/>
            <p:nvPr/>
          </p:nvSpPr>
          <p:spPr>
            <a:xfrm>
              <a:off x="5597825" y="17437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987" name="Google Shape;987;p84"/>
          <p:cNvGrpSpPr/>
          <p:nvPr/>
        </p:nvGrpSpPr>
        <p:grpSpPr>
          <a:xfrm>
            <a:off x="6428975" y="1787400"/>
            <a:ext cx="1302016" cy="2412600"/>
            <a:chOff x="6428975" y="1787400"/>
            <a:chExt cx="1302016" cy="2412600"/>
          </a:xfrm>
        </p:grpSpPr>
        <p:sp>
          <p:nvSpPr>
            <p:cNvPr id="988" name="Google Shape;988;p84"/>
            <p:cNvSpPr txBox="1"/>
            <p:nvPr/>
          </p:nvSpPr>
          <p:spPr>
            <a:xfrm>
              <a:off x="6856191"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989" name="Google Shape;989;p84"/>
            <p:cNvSpPr/>
            <p:nvPr/>
          </p:nvSpPr>
          <p:spPr>
            <a:xfrm>
              <a:off x="6428975"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990" name="Google Shape;990;p84"/>
          <p:cNvPicPr preferRelativeResize="0"/>
          <p:nvPr/>
        </p:nvPicPr>
        <p:blipFill>
          <a:blip r:embed="rId3">
            <a:alphaModFix/>
          </a:blip>
          <a:stretch>
            <a:fillRect/>
          </a:stretch>
        </p:blipFill>
        <p:spPr>
          <a:xfrm>
            <a:off x="7850863" y="1743742"/>
            <a:ext cx="396000" cy="4197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996" name="Google Shape;996;p8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pallet cannot hold more than 200 kg.</a:t>
            </a:r>
            <a:endParaRPr/>
          </a:p>
          <a:p>
            <a:pPr indent="0" lvl="0" marL="0" rtl="0" algn="l">
              <a:spcBef>
                <a:spcPts val="1000"/>
              </a:spcBef>
              <a:spcAft>
                <a:spcPts val="0"/>
              </a:spcAft>
              <a:buNone/>
            </a:pPr>
            <a:r>
              <a:rPr lang="en-GB"/>
              <a:t>Here are the masses (in kg) of the items:</a:t>
            </a:r>
            <a:endParaRPr/>
          </a:p>
          <a:p>
            <a:pPr indent="0" lvl="0" marL="0" rtl="0" algn="ctr">
              <a:spcBef>
                <a:spcPts val="1000"/>
              </a:spcBef>
              <a:spcAft>
                <a:spcPts val="0"/>
              </a:spcAft>
              <a:buNone/>
            </a:pPr>
            <a:r>
              <a:rPr lang="en-GB"/>
              <a:t>30     70     80     80     100     110     110     120     150</a:t>
            </a:r>
            <a:endParaRPr/>
          </a:p>
          <a:p>
            <a:pPr indent="0" lvl="0" marL="0" rtl="0" algn="l">
              <a:spcBef>
                <a:spcPts val="1000"/>
              </a:spcBef>
              <a:spcAft>
                <a:spcPts val="1000"/>
              </a:spcAft>
              <a:buNone/>
            </a:pPr>
            <a:r>
              <a:rPr lang="en-GB" sz="2000">
                <a:latin typeface="Kalam"/>
                <a:ea typeface="Kalam"/>
                <a:cs typeface="Kalam"/>
                <a:sym typeface="Kalam"/>
              </a:rPr>
              <a:t>Lucas then tried again, but this time he started with the largest mass first.</a:t>
            </a:r>
            <a:endParaRPr/>
          </a:p>
        </p:txBody>
      </p:sp>
      <p:grpSp>
        <p:nvGrpSpPr>
          <p:cNvPr id="997" name="Google Shape;997;p85"/>
          <p:cNvGrpSpPr/>
          <p:nvPr/>
        </p:nvGrpSpPr>
        <p:grpSpPr>
          <a:xfrm>
            <a:off x="1413000" y="4078801"/>
            <a:ext cx="874800" cy="241200"/>
            <a:chOff x="1538525" y="3973751"/>
            <a:chExt cx="874800" cy="241200"/>
          </a:xfrm>
        </p:grpSpPr>
        <p:cxnSp>
          <p:nvCxnSpPr>
            <p:cNvPr id="998" name="Google Shape;998;p85"/>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999" name="Google Shape;999;p85"/>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00" name="Google Shape;1000;p85"/>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01" name="Google Shape;1001;p85"/>
          <p:cNvGrpSpPr/>
          <p:nvPr/>
        </p:nvGrpSpPr>
        <p:grpSpPr>
          <a:xfrm>
            <a:off x="2773800" y="4078801"/>
            <a:ext cx="874800" cy="241200"/>
            <a:chOff x="1538525" y="3973751"/>
            <a:chExt cx="874800" cy="241200"/>
          </a:xfrm>
        </p:grpSpPr>
        <p:cxnSp>
          <p:nvCxnSpPr>
            <p:cNvPr id="1002" name="Google Shape;1002;p85"/>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03" name="Google Shape;1003;p85"/>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04" name="Google Shape;1004;p85"/>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05" name="Google Shape;1005;p85"/>
          <p:cNvGrpSpPr/>
          <p:nvPr/>
        </p:nvGrpSpPr>
        <p:grpSpPr>
          <a:xfrm>
            <a:off x="4134600" y="4078801"/>
            <a:ext cx="874800" cy="241200"/>
            <a:chOff x="1538525" y="3973751"/>
            <a:chExt cx="874800" cy="241200"/>
          </a:xfrm>
        </p:grpSpPr>
        <p:cxnSp>
          <p:nvCxnSpPr>
            <p:cNvPr id="1006" name="Google Shape;1006;p85"/>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07" name="Google Shape;1007;p85"/>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08" name="Google Shape;1008;p85"/>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09" name="Google Shape;1009;p85"/>
          <p:cNvGrpSpPr/>
          <p:nvPr/>
        </p:nvGrpSpPr>
        <p:grpSpPr>
          <a:xfrm>
            <a:off x="5495400" y="4078801"/>
            <a:ext cx="874800" cy="241200"/>
            <a:chOff x="1538525" y="3973751"/>
            <a:chExt cx="874800" cy="241200"/>
          </a:xfrm>
        </p:grpSpPr>
        <p:cxnSp>
          <p:nvCxnSpPr>
            <p:cNvPr id="1010" name="Google Shape;1010;p85"/>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11" name="Google Shape;1011;p85"/>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12" name="Google Shape;1012;p85"/>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13" name="Google Shape;1013;p85"/>
          <p:cNvGrpSpPr/>
          <p:nvPr/>
        </p:nvGrpSpPr>
        <p:grpSpPr>
          <a:xfrm>
            <a:off x="6856200" y="4078801"/>
            <a:ext cx="874800" cy="241200"/>
            <a:chOff x="1538525" y="3973751"/>
            <a:chExt cx="874800" cy="241200"/>
          </a:xfrm>
        </p:grpSpPr>
        <p:cxnSp>
          <p:nvCxnSpPr>
            <p:cNvPr id="1014" name="Google Shape;1014;p85"/>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15" name="Google Shape;1015;p85"/>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16" name="Google Shape;1016;p85"/>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017" name="Google Shape;1017;p85"/>
          <p:cNvSpPr txBox="1"/>
          <p:nvPr/>
        </p:nvSpPr>
        <p:spPr>
          <a:xfrm>
            <a:off x="1413000" y="4221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grpSp>
        <p:nvGrpSpPr>
          <p:cNvPr id="1018" name="Google Shape;1018;p85"/>
          <p:cNvGrpSpPr/>
          <p:nvPr/>
        </p:nvGrpSpPr>
        <p:grpSpPr>
          <a:xfrm>
            <a:off x="1413000" y="1743750"/>
            <a:ext cx="6412525" cy="2436750"/>
            <a:chOff x="1413000" y="1743750"/>
            <a:chExt cx="6412525" cy="2436750"/>
          </a:xfrm>
        </p:grpSpPr>
        <p:sp>
          <p:nvSpPr>
            <p:cNvPr id="1019" name="Google Shape;1019;p85"/>
            <p:cNvSpPr/>
            <p:nvPr/>
          </p:nvSpPr>
          <p:spPr>
            <a:xfrm>
              <a:off x="7252225" y="17437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0" name="Google Shape;1020;p85"/>
            <p:cNvSpPr txBox="1"/>
            <p:nvPr/>
          </p:nvSpPr>
          <p:spPr>
            <a:xfrm>
              <a:off x="1413000" y="3856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pSp>
      <p:grpSp>
        <p:nvGrpSpPr>
          <p:cNvPr id="1021" name="Google Shape;1021;p85"/>
          <p:cNvGrpSpPr/>
          <p:nvPr/>
        </p:nvGrpSpPr>
        <p:grpSpPr>
          <a:xfrm>
            <a:off x="2773791" y="1774175"/>
            <a:ext cx="4228484" cy="2418283"/>
            <a:chOff x="2773791" y="1774175"/>
            <a:chExt cx="4228484" cy="2418283"/>
          </a:xfrm>
        </p:grpSpPr>
        <p:sp>
          <p:nvSpPr>
            <p:cNvPr id="1022" name="Google Shape;1022;p85"/>
            <p:cNvSpPr/>
            <p:nvPr/>
          </p:nvSpPr>
          <p:spPr>
            <a:xfrm>
              <a:off x="6428975" y="1774175"/>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3" name="Google Shape;1023;p85"/>
            <p:cNvSpPr txBox="1"/>
            <p:nvPr/>
          </p:nvSpPr>
          <p:spPr>
            <a:xfrm>
              <a:off x="2773791"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grpSp>
      <p:grpSp>
        <p:nvGrpSpPr>
          <p:cNvPr id="1024" name="Google Shape;1024;p85"/>
          <p:cNvGrpSpPr/>
          <p:nvPr/>
        </p:nvGrpSpPr>
        <p:grpSpPr>
          <a:xfrm>
            <a:off x="4130308" y="1774175"/>
            <a:ext cx="2088117" cy="2418283"/>
            <a:chOff x="4130308" y="1774175"/>
            <a:chExt cx="2088117" cy="2418283"/>
          </a:xfrm>
        </p:grpSpPr>
        <p:sp>
          <p:nvSpPr>
            <p:cNvPr id="1025" name="Google Shape;1025;p85"/>
            <p:cNvSpPr txBox="1"/>
            <p:nvPr/>
          </p:nvSpPr>
          <p:spPr>
            <a:xfrm>
              <a:off x="4130308"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026" name="Google Shape;1026;p85"/>
            <p:cNvSpPr/>
            <p:nvPr/>
          </p:nvSpPr>
          <p:spPr>
            <a:xfrm>
              <a:off x="5645125" y="1774175"/>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27" name="Google Shape;1027;p85"/>
          <p:cNvGrpSpPr/>
          <p:nvPr/>
        </p:nvGrpSpPr>
        <p:grpSpPr>
          <a:xfrm>
            <a:off x="4780450" y="1774175"/>
            <a:ext cx="1588716" cy="2418283"/>
            <a:chOff x="4780450" y="1774175"/>
            <a:chExt cx="1588716" cy="2418283"/>
          </a:xfrm>
        </p:grpSpPr>
        <p:sp>
          <p:nvSpPr>
            <p:cNvPr id="1028" name="Google Shape;1028;p85"/>
            <p:cNvSpPr txBox="1"/>
            <p:nvPr/>
          </p:nvSpPr>
          <p:spPr>
            <a:xfrm>
              <a:off x="5494366"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029" name="Google Shape;1029;p85"/>
            <p:cNvSpPr/>
            <p:nvPr/>
          </p:nvSpPr>
          <p:spPr>
            <a:xfrm>
              <a:off x="4780450" y="1774175"/>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30" name="Google Shape;1030;p85"/>
          <p:cNvGrpSpPr/>
          <p:nvPr/>
        </p:nvGrpSpPr>
        <p:grpSpPr>
          <a:xfrm>
            <a:off x="3907175" y="1774175"/>
            <a:ext cx="3823816" cy="2425825"/>
            <a:chOff x="3907175" y="1774175"/>
            <a:chExt cx="3823816" cy="2425825"/>
          </a:xfrm>
        </p:grpSpPr>
        <p:sp>
          <p:nvSpPr>
            <p:cNvPr id="1031" name="Google Shape;1031;p85"/>
            <p:cNvSpPr txBox="1"/>
            <p:nvPr/>
          </p:nvSpPr>
          <p:spPr>
            <a:xfrm>
              <a:off x="6856191"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032" name="Google Shape;1032;p85"/>
            <p:cNvSpPr/>
            <p:nvPr/>
          </p:nvSpPr>
          <p:spPr>
            <a:xfrm>
              <a:off x="3907175" y="1774175"/>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33" name="Google Shape;1033;p85"/>
          <p:cNvGrpSpPr/>
          <p:nvPr/>
        </p:nvGrpSpPr>
        <p:grpSpPr>
          <a:xfrm>
            <a:off x="2773791" y="1774175"/>
            <a:ext cx="916359" cy="2113483"/>
            <a:chOff x="2773791" y="1774175"/>
            <a:chExt cx="916359" cy="2113483"/>
          </a:xfrm>
        </p:grpSpPr>
        <p:sp>
          <p:nvSpPr>
            <p:cNvPr id="1034" name="Google Shape;1034;p85"/>
            <p:cNvSpPr/>
            <p:nvPr/>
          </p:nvSpPr>
          <p:spPr>
            <a:xfrm>
              <a:off x="3116850" y="1774175"/>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5" name="Google Shape;1035;p85"/>
            <p:cNvSpPr txBox="1"/>
            <p:nvPr/>
          </p:nvSpPr>
          <p:spPr>
            <a:xfrm>
              <a:off x="2773791"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pSp>
      <p:grpSp>
        <p:nvGrpSpPr>
          <p:cNvPr id="1036" name="Google Shape;1036;p85"/>
          <p:cNvGrpSpPr/>
          <p:nvPr/>
        </p:nvGrpSpPr>
        <p:grpSpPr>
          <a:xfrm>
            <a:off x="2401925" y="1774175"/>
            <a:ext cx="2618266" cy="2113483"/>
            <a:chOff x="2401925" y="1774175"/>
            <a:chExt cx="2618266" cy="2113483"/>
          </a:xfrm>
        </p:grpSpPr>
        <p:sp>
          <p:nvSpPr>
            <p:cNvPr id="1037" name="Google Shape;1037;p85"/>
            <p:cNvSpPr txBox="1"/>
            <p:nvPr/>
          </p:nvSpPr>
          <p:spPr>
            <a:xfrm>
              <a:off x="4145391"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038" name="Google Shape;1038;p85"/>
            <p:cNvSpPr/>
            <p:nvPr/>
          </p:nvSpPr>
          <p:spPr>
            <a:xfrm>
              <a:off x="2401925" y="1774175"/>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39" name="Google Shape;1039;p85"/>
          <p:cNvGrpSpPr/>
          <p:nvPr/>
        </p:nvGrpSpPr>
        <p:grpSpPr>
          <a:xfrm>
            <a:off x="1684800" y="1774175"/>
            <a:ext cx="4684366" cy="2113483"/>
            <a:chOff x="1684800" y="1774175"/>
            <a:chExt cx="4684366" cy="2113483"/>
          </a:xfrm>
        </p:grpSpPr>
        <p:sp>
          <p:nvSpPr>
            <p:cNvPr id="1040" name="Google Shape;1040;p85"/>
            <p:cNvSpPr/>
            <p:nvPr/>
          </p:nvSpPr>
          <p:spPr>
            <a:xfrm>
              <a:off x="1684800" y="1774175"/>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1" name="Google Shape;1041;p85"/>
            <p:cNvSpPr txBox="1"/>
            <p:nvPr/>
          </p:nvSpPr>
          <p:spPr>
            <a:xfrm>
              <a:off x="5494366"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pSp>
      <p:grpSp>
        <p:nvGrpSpPr>
          <p:cNvPr id="1042" name="Google Shape;1042;p85"/>
          <p:cNvGrpSpPr/>
          <p:nvPr/>
        </p:nvGrpSpPr>
        <p:grpSpPr>
          <a:xfrm>
            <a:off x="947275" y="1743750"/>
            <a:ext cx="1337258" cy="2143908"/>
            <a:chOff x="947275" y="1743750"/>
            <a:chExt cx="1337258" cy="2143908"/>
          </a:xfrm>
        </p:grpSpPr>
        <p:sp>
          <p:nvSpPr>
            <p:cNvPr id="1043" name="Google Shape;1043;p85"/>
            <p:cNvSpPr txBox="1"/>
            <p:nvPr/>
          </p:nvSpPr>
          <p:spPr>
            <a:xfrm>
              <a:off x="1409733"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44" name="Google Shape;1044;p85"/>
            <p:cNvSpPr/>
            <p:nvPr/>
          </p:nvSpPr>
          <p:spPr>
            <a:xfrm>
              <a:off x="947275" y="17437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5" name="Google Shape;1045;p85"/>
          <p:cNvPicPr preferRelativeResize="0"/>
          <p:nvPr/>
        </p:nvPicPr>
        <p:blipFill>
          <a:blip r:embed="rId3">
            <a:alphaModFix/>
          </a:blip>
          <a:stretch>
            <a:fillRect/>
          </a:stretch>
        </p:blipFill>
        <p:spPr>
          <a:xfrm>
            <a:off x="7970783" y="39258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1051" name="Google Shape;1051;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pallet cannot hold more than 200 kg.</a:t>
            </a:r>
            <a:endParaRPr/>
          </a:p>
          <a:p>
            <a:pPr indent="0" lvl="0" marL="0" rtl="0" algn="l">
              <a:spcBef>
                <a:spcPts val="1000"/>
              </a:spcBef>
              <a:spcAft>
                <a:spcPts val="0"/>
              </a:spcAft>
              <a:buNone/>
            </a:pPr>
            <a:r>
              <a:rPr lang="en-GB"/>
              <a:t>Here are the masses (in kg) of the items:</a:t>
            </a:r>
            <a:endParaRPr/>
          </a:p>
          <a:p>
            <a:pPr indent="0" lvl="0" marL="0" rtl="0" algn="ctr">
              <a:spcBef>
                <a:spcPts val="1000"/>
              </a:spcBef>
              <a:spcAft>
                <a:spcPts val="0"/>
              </a:spcAft>
              <a:buNone/>
            </a:pPr>
            <a:r>
              <a:rPr lang="en-GB"/>
              <a:t>30     70     80     80     100     110     110     120     150</a:t>
            </a:r>
            <a:endParaRPr/>
          </a:p>
          <a:p>
            <a:pPr indent="0" lvl="0" marL="0" rtl="0" algn="l">
              <a:spcBef>
                <a:spcPts val="1000"/>
              </a:spcBef>
              <a:spcAft>
                <a:spcPts val="1000"/>
              </a:spcAft>
              <a:buNone/>
            </a:pPr>
            <a:r>
              <a:rPr lang="en-GB" sz="2000">
                <a:latin typeface="Kalam"/>
                <a:ea typeface="Kalam"/>
                <a:cs typeface="Kalam"/>
                <a:sym typeface="Kalam"/>
              </a:rPr>
              <a:t>Izzy grouped the masses to create pallets that were ‘full’.</a:t>
            </a:r>
            <a:endParaRPr/>
          </a:p>
        </p:txBody>
      </p:sp>
      <p:grpSp>
        <p:nvGrpSpPr>
          <p:cNvPr id="1052" name="Google Shape;1052;p86"/>
          <p:cNvGrpSpPr/>
          <p:nvPr/>
        </p:nvGrpSpPr>
        <p:grpSpPr>
          <a:xfrm>
            <a:off x="1413000" y="4078801"/>
            <a:ext cx="874800" cy="241200"/>
            <a:chOff x="1538525" y="3973751"/>
            <a:chExt cx="874800" cy="241200"/>
          </a:xfrm>
        </p:grpSpPr>
        <p:cxnSp>
          <p:nvCxnSpPr>
            <p:cNvPr id="1053" name="Google Shape;1053;p8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54" name="Google Shape;1054;p8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55" name="Google Shape;1055;p8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56" name="Google Shape;1056;p86"/>
          <p:cNvGrpSpPr/>
          <p:nvPr/>
        </p:nvGrpSpPr>
        <p:grpSpPr>
          <a:xfrm>
            <a:off x="2773800" y="4078801"/>
            <a:ext cx="874800" cy="241200"/>
            <a:chOff x="1538525" y="3973751"/>
            <a:chExt cx="874800" cy="241200"/>
          </a:xfrm>
        </p:grpSpPr>
        <p:cxnSp>
          <p:nvCxnSpPr>
            <p:cNvPr id="1057" name="Google Shape;1057;p8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58" name="Google Shape;1058;p8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59" name="Google Shape;1059;p8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60" name="Google Shape;1060;p86"/>
          <p:cNvGrpSpPr/>
          <p:nvPr/>
        </p:nvGrpSpPr>
        <p:grpSpPr>
          <a:xfrm>
            <a:off x="4134600" y="4078801"/>
            <a:ext cx="874800" cy="241200"/>
            <a:chOff x="1538525" y="3973751"/>
            <a:chExt cx="874800" cy="241200"/>
          </a:xfrm>
        </p:grpSpPr>
        <p:cxnSp>
          <p:nvCxnSpPr>
            <p:cNvPr id="1061" name="Google Shape;1061;p8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62" name="Google Shape;1062;p8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63" name="Google Shape;1063;p8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64" name="Google Shape;1064;p86"/>
          <p:cNvGrpSpPr/>
          <p:nvPr/>
        </p:nvGrpSpPr>
        <p:grpSpPr>
          <a:xfrm>
            <a:off x="5495400" y="4078801"/>
            <a:ext cx="874800" cy="241200"/>
            <a:chOff x="1538525" y="3973751"/>
            <a:chExt cx="874800" cy="241200"/>
          </a:xfrm>
        </p:grpSpPr>
        <p:cxnSp>
          <p:nvCxnSpPr>
            <p:cNvPr id="1065" name="Google Shape;1065;p8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66" name="Google Shape;1066;p8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67" name="Google Shape;1067;p8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068" name="Google Shape;1068;p86"/>
          <p:cNvGrpSpPr/>
          <p:nvPr/>
        </p:nvGrpSpPr>
        <p:grpSpPr>
          <a:xfrm>
            <a:off x="6856200" y="4078801"/>
            <a:ext cx="874800" cy="241200"/>
            <a:chOff x="1538525" y="3973751"/>
            <a:chExt cx="874800" cy="241200"/>
          </a:xfrm>
        </p:grpSpPr>
        <p:cxnSp>
          <p:nvCxnSpPr>
            <p:cNvPr id="1069" name="Google Shape;1069;p8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070" name="Google Shape;1070;p8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071" name="Google Shape;1071;p8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072" name="Google Shape;1072;p86"/>
          <p:cNvSpPr txBox="1"/>
          <p:nvPr/>
        </p:nvSpPr>
        <p:spPr>
          <a:xfrm>
            <a:off x="1413000" y="4221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pic>
        <p:nvPicPr>
          <p:cNvPr id="1073" name="Google Shape;1073;p86"/>
          <p:cNvPicPr preferRelativeResize="0"/>
          <p:nvPr/>
        </p:nvPicPr>
        <p:blipFill>
          <a:blip r:embed="rId3">
            <a:alphaModFix/>
          </a:blip>
          <a:stretch>
            <a:fillRect/>
          </a:stretch>
        </p:blipFill>
        <p:spPr>
          <a:xfrm>
            <a:off x="1739157" y="3289000"/>
            <a:ext cx="227905" cy="241200"/>
          </a:xfrm>
          <a:prstGeom prst="rect">
            <a:avLst/>
          </a:prstGeom>
          <a:noFill/>
          <a:ln>
            <a:noFill/>
          </a:ln>
        </p:spPr>
      </p:pic>
      <p:grpSp>
        <p:nvGrpSpPr>
          <p:cNvPr id="1074" name="Google Shape;1074;p86"/>
          <p:cNvGrpSpPr/>
          <p:nvPr/>
        </p:nvGrpSpPr>
        <p:grpSpPr>
          <a:xfrm>
            <a:off x="1409733" y="1787400"/>
            <a:ext cx="5603817" cy="2393100"/>
            <a:chOff x="1409733" y="1787400"/>
            <a:chExt cx="5603817" cy="2393100"/>
          </a:xfrm>
        </p:grpSpPr>
        <p:sp>
          <p:nvSpPr>
            <p:cNvPr id="1075" name="Google Shape;1075;p86"/>
            <p:cNvSpPr txBox="1"/>
            <p:nvPr/>
          </p:nvSpPr>
          <p:spPr>
            <a:xfrm>
              <a:off x="1413000" y="3856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076" name="Google Shape;1076;p86"/>
            <p:cNvSpPr txBox="1"/>
            <p:nvPr/>
          </p:nvSpPr>
          <p:spPr>
            <a:xfrm>
              <a:off x="1409733"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77" name="Google Shape;1077;p86"/>
            <p:cNvSpPr/>
            <p:nvPr/>
          </p:nvSpPr>
          <p:spPr>
            <a:xfrm>
              <a:off x="2375250"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8" name="Google Shape;1078;p86"/>
            <p:cNvSpPr/>
            <p:nvPr/>
          </p:nvSpPr>
          <p:spPr>
            <a:xfrm>
              <a:off x="6440250"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79" name="Google Shape;1079;p86"/>
          <p:cNvGrpSpPr/>
          <p:nvPr/>
        </p:nvGrpSpPr>
        <p:grpSpPr>
          <a:xfrm>
            <a:off x="928800" y="1764950"/>
            <a:ext cx="3525275" cy="2427508"/>
            <a:chOff x="928800" y="1764950"/>
            <a:chExt cx="3525275" cy="2427508"/>
          </a:xfrm>
        </p:grpSpPr>
        <p:sp>
          <p:nvSpPr>
            <p:cNvPr id="1080" name="Google Shape;1080;p86"/>
            <p:cNvSpPr txBox="1"/>
            <p:nvPr/>
          </p:nvSpPr>
          <p:spPr>
            <a:xfrm>
              <a:off x="2773791"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081" name="Google Shape;1081;p86"/>
            <p:cNvSpPr txBox="1"/>
            <p:nvPr/>
          </p:nvSpPr>
          <p:spPr>
            <a:xfrm>
              <a:off x="2773791"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82" name="Google Shape;1082;p86"/>
            <p:cNvSpPr txBox="1"/>
            <p:nvPr/>
          </p:nvSpPr>
          <p:spPr>
            <a:xfrm>
              <a:off x="2773791" y="32585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83" name="Google Shape;1083;p86"/>
            <p:cNvSpPr/>
            <p:nvPr/>
          </p:nvSpPr>
          <p:spPr>
            <a:xfrm>
              <a:off x="928800"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4" name="Google Shape;1084;p86"/>
            <p:cNvSpPr/>
            <p:nvPr/>
          </p:nvSpPr>
          <p:spPr>
            <a:xfrm>
              <a:off x="1684800" y="17649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5" name="Google Shape;1085;p86"/>
            <p:cNvSpPr/>
            <p:nvPr/>
          </p:nvSpPr>
          <p:spPr>
            <a:xfrm>
              <a:off x="3880775"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86" name="Google Shape;1086;p86"/>
          <p:cNvPicPr preferRelativeResize="0"/>
          <p:nvPr/>
        </p:nvPicPr>
        <p:blipFill>
          <a:blip r:embed="rId3">
            <a:alphaModFix/>
          </a:blip>
          <a:stretch>
            <a:fillRect/>
          </a:stretch>
        </p:blipFill>
        <p:spPr>
          <a:xfrm>
            <a:off x="3097257" y="2998800"/>
            <a:ext cx="227905" cy="241200"/>
          </a:xfrm>
          <a:prstGeom prst="rect">
            <a:avLst/>
          </a:prstGeom>
          <a:noFill/>
          <a:ln>
            <a:noFill/>
          </a:ln>
        </p:spPr>
      </p:pic>
      <p:grpSp>
        <p:nvGrpSpPr>
          <p:cNvPr id="1087" name="Google Shape;1087;p86"/>
          <p:cNvGrpSpPr/>
          <p:nvPr/>
        </p:nvGrpSpPr>
        <p:grpSpPr>
          <a:xfrm>
            <a:off x="3082950" y="1787400"/>
            <a:ext cx="2256675" cy="2405058"/>
            <a:chOff x="3082950" y="1787400"/>
            <a:chExt cx="2256675" cy="2405058"/>
          </a:xfrm>
        </p:grpSpPr>
        <p:sp>
          <p:nvSpPr>
            <p:cNvPr id="1088" name="Google Shape;1088;p86"/>
            <p:cNvSpPr txBox="1"/>
            <p:nvPr/>
          </p:nvSpPr>
          <p:spPr>
            <a:xfrm>
              <a:off x="4130308"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089" name="Google Shape;1089;p86"/>
            <p:cNvSpPr txBox="1"/>
            <p:nvPr/>
          </p:nvSpPr>
          <p:spPr>
            <a:xfrm>
              <a:off x="4137850"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090" name="Google Shape;1090;p86"/>
            <p:cNvSpPr/>
            <p:nvPr/>
          </p:nvSpPr>
          <p:spPr>
            <a:xfrm>
              <a:off x="3082950"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1" name="Google Shape;1091;p86"/>
            <p:cNvSpPr/>
            <p:nvPr/>
          </p:nvSpPr>
          <p:spPr>
            <a:xfrm>
              <a:off x="4766325" y="178740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92" name="Google Shape;1092;p86"/>
          <p:cNvGrpSpPr/>
          <p:nvPr/>
        </p:nvGrpSpPr>
        <p:grpSpPr>
          <a:xfrm>
            <a:off x="5494366" y="1764950"/>
            <a:ext cx="2378059" cy="2435050"/>
            <a:chOff x="5494366" y="1764950"/>
            <a:chExt cx="2378059" cy="2435050"/>
          </a:xfrm>
        </p:grpSpPr>
        <p:sp>
          <p:nvSpPr>
            <p:cNvPr id="1093" name="Google Shape;1093;p86"/>
            <p:cNvSpPr txBox="1"/>
            <p:nvPr/>
          </p:nvSpPr>
          <p:spPr>
            <a:xfrm>
              <a:off x="5494366"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094" name="Google Shape;1094;p86"/>
            <p:cNvSpPr txBox="1"/>
            <p:nvPr/>
          </p:nvSpPr>
          <p:spPr>
            <a:xfrm>
              <a:off x="6856191"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sp>
          <p:nvSpPr>
            <p:cNvPr id="1095" name="Google Shape;1095;p86"/>
            <p:cNvSpPr/>
            <p:nvPr/>
          </p:nvSpPr>
          <p:spPr>
            <a:xfrm>
              <a:off x="5589950" y="17649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6" name="Google Shape;1096;p86"/>
            <p:cNvSpPr/>
            <p:nvPr/>
          </p:nvSpPr>
          <p:spPr>
            <a:xfrm>
              <a:off x="7299125" y="1764950"/>
              <a:ext cx="573300" cy="3726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87"/>
          <p:cNvSpPr/>
          <p:nvPr/>
        </p:nvSpPr>
        <p:spPr>
          <a:xfrm>
            <a:off x="324300" y="1092774"/>
            <a:ext cx="7475100" cy="13176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2" name="Google Shape;1102;p87"/>
          <p:cNvSpPr/>
          <p:nvPr/>
        </p:nvSpPr>
        <p:spPr>
          <a:xfrm>
            <a:off x="324300" y="2494547"/>
            <a:ext cx="7475100" cy="9828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3" name="Google Shape;1103;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1104" name="Google Shape;1104;p87"/>
          <p:cNvSpPr txBox="1"/>
          <p:nvPr>
            <p:ph idx="1" type="body"/>
          </p:nvPr>
        </p:nvSpPr>
        <p:spPr>
          <a:xfrm>
            <a:off x="324000" y="7593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of the three methods do you prefer?</a:t>
            </a:r>
            <a:endParaRPr sz="2000"/>
          </a:p>
        </p:txBody>
      </p:sp>
      <p:grpSp>
        <p:nvGrpSpPr>
          <p:cNvPr id="1105" name="Google Shape;1105;p87"/>
          <p:cNvGrpSpPr/>
          <p:nvPr/>
        </p:nvGrpSpPr>
        <p:grpSpPr>
          <a:xfrm>
            <a:off x="400200" y="1110949"/>
            <a:ext cx="6318000" cy="1299550"/>
            <a:chOff x="1413000" y="3246600"/>
            <a:chExt cx="6318000" cy="1299550"/>
          </a:xfrm>
        </p:grpSpPr>
        <p:grpSp>
          <p:nvGrpSpPr>
            <p:cNvPr id="1106" name="Google Shape;1106;p87"/>
            <p:cNvGrpSpPr/>
            <p:nvPr/>
          </p:nvGrpSpPr>
          <p:grpSpPr>
            <a:xfrm>
              <a:off x="1413000" y="4078801"/>
              <a:ext cx="874800" cy="241200"/>
              <a:chOff x="1538525" y="3973751"/>
              <a:chExt cx="874800" cy="241200"/>
            </a:xfrm>
          </p:grpSpPr>
          <p:cxnSp>
            <p:nvCxnSpPr>
              <p:cNvPr id="1107" name="Google Shape;1107;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08" name="Google Shape;1108;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09" name="Google Shape;1109;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10" name="Google Shape;1110;p87"/>
            <p:cNvGrpSpPr/>
            <p:nvPr/>
          </p:nvGrpSpPr>
          <p:grpSpPr>
            <a:xfrm>
              <a:off x="2773800" y="4078801"/>
              <a:ext cx="874800" cy="241200"/>
              <a:chOff x="1538525" y="3973751"/>
              <a:chExt cx="874800" cy="241200"/>
            </a:xfrm>
          </p:grpSpPr>
          <p:cxnSp>
            <p:nvCxnSpPr>
              <p:cNvPr id="1111" name="Google Shape;1111;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12" name="Google Shape;1112;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13" name="Google Shape;1113;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14" name="Google Shape;1114;p87"/>
            <p:cNvGrpSpPr/>
            <p:nvPr/>
          </p:nvGrpSpPr>
          <p:grpSpPr>
            <a:xfrm>
              <a:off x="4134600" y="4078801"/>
              <a:ext cx="874800" cy="241200"/>
              <a:chOff x="1538525" y="3973751"/>
              <a:chExt cx="874800" cy="241200"/>
            </a:xfrm>
          </p:grpSpPr>
          <p:cxnSp>
            <p:nvCxnSpPr>
              <p:cNvPr id="1115" name="Google Shape;1115;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16" name="Google Shape;1116;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17" name="Google Shape;1117;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18" name="Google Shape;1118;p87"/>
            <p:cNvGrpSpPr/>
            <p:nvPr/>
          </p:nvGrpSpPr>
          <p:grpSpPr>
            <a:xfrm>
              <a:off x="5495400" y="4078801"/>
              <a:ext cx="874800" cy="241200"/>
              <a:chOff x="1538525" y="3973751"/>
              <a:chExt cx="874800" cy="241200"/>
            </a:xfrm>
          </p:grpSpPr>
          <p:cxnSp>
            <p:nvCxnSpPr>
              <p:cNvPr id="1119" name="Google Shape;1119;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20" name="Google Shape;1120;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21" name="Google Shape;1121;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22" name="Google Shape;1122;p87"/>
            <p:cNvGrpSpPr/>
            <p:nvPr/>
          </p:nvGrpSpPr>
          <p:grpSpPr>
            <a:xfrm>
              <a:off x="6856200" y="4078801"/>
              <a:ext cx="874800" cy="241200"/>
              <a:chOff x="1538525" y="3973751"/>
              <a:chExt cx="874800" cy="241200"/>
            </a:xfrm>
          </p:grpSpPr>
          <p:cxnSp>
            <p:nvCxnSpPr>
              <p:cNvPr id="1123" name="Google Shape;1123;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24" name="Google Shape;1124;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25" name="Google Shape;1125;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126" name="Google Shape;1126;p87"/>
            <p:cNvSpPr txBox="1"/>
            <p:nvPr/>
          </p:nvSpPr>
          <p:spPr>
            <a:xfrm>
              <a:off x="1413000" y="4221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sp>
          <p:nvSpPr>
            <p:cNvPr id="1127" name="Google Shape;1127;p87"/>
            <p:cNvSpPr txBox="1"/>
            <p:nvPr/>
          </p:nvSpPr>
          <p:spPr>
            <a:xfrm>
              <a:off x="1413000" y="3856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128" name="Google Shape;1128;p87"/>
            <p:cNvSpPr txBox="1"/>
            <p:nvPr/>
          </p:nvSpPr>
          <p:spPr>
            <a:xfrm>
              <a:off x="1413000" y="35514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129" name="Google Shape;1129;p87"/>
            <p:cNvSpPr txBox="1"/>
            <p:nvPr/>
          </p:nvSpPr>
          <p:spPr>
            <a:xfrm>
              <a:off x="1413000" y="32466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130" name="Google Shape;1130;p87"/>
            <p:cNvSpPr txBox="1"/>
            <p:nvPr/>
          </p:nvSpPr>
          <p:spPr>
            <a:xfrm>
              <a:off x="2773800"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131" name="Google Shape;1131;p87"/>
            <p:cNvSpPr txBox="1"/>
            <p:nvPr/>
          </p:nvSpPr>
          <p:spPr>
            <a:xfrm>
              <a:off x="2773800" y="3571416"/>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132" name="Google Shape;1132;p87"/>
            <p:cNvSpPr txBox="1"/>
            <p:nvPr/>
          </p:nvSpPr>
          <p:spPr>
            <a:xfrm>
              <a:off x="4130316" y="38686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133" name="Google Shape;1133;p87"/>
            <p:cNvSpPr txBox="1"/>
            <p:nvPr/>
          </p:nvSpPr>
          <p:spPr>
            <a:xfrm>
              <a:off x="5494375" y="38686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134" name="Google Shape;1134;p87"/>
            <p:cNvSpPr txBox="1"/>
            <p:nvPr/>
          </p:nvSpPr>
          <p:spPr>
            <a:xfrm>
              <a:off x="6856191"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grpSp>
      <p:grpSp>
        <p:nvGrpSpPr>
          <p:cNvPr id="1135" name="Google Shape;1135;p87"/>
          <p:cNvGrpSpPr/>
          <p:nvPr/>
        </p:nvGrpSpPr>
        <p:grpSpPr>
          <a:xfrm>
            <a:off x="398571" y="2521807"/>
            <a:ext cx="6321267" cy="982792"/>
            <a:chOff x="322371" y="2643258"/>
            <a:chExt cx="6321267" cy="982792"/>
          </a:xfrm>
        </p:grpSpPr>
        <p:grpSp>
          <p:nvGrpSpPr>
            <p:cNvPr id="1136" name="Google Shape;1136;p87"/>
            <p:cNvGrpSpPr/>
            <p:nvPr/>
          </p:nvGrpSpPr>
          <p:grpSpPr>
            <a:xfrm>
              <a:off x="325638" y="3158701"/>
              <a:ext cx="874800" cy="241200"/>
              <a:chOff x="1538525" y="3973751"/>
              <a:chExt cx="874800" cy="241200"/>
            </a:xfrm>
          </p:grpSpPr>
          <p:cxnSp>
            <p:nvCxnSpPr>
              <p:cNvPr id="1137" name="Google Shape;1137;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38" name="Google Shape;1138;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39" name="Google Shape;1139;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40" name="Google Shape;1140;p87"/>
            <p:cNvGrpSpPr/>
            <p:nvPr/>
          </p:nvGrpSpPr>
          <p:grpSpPr>
            <a:xfrm>
              <a:off x="1686438" y="3158701"/>
              <a:ext cx="874800" cy="241200"/>
              <a:chOff x="1538525" y="3973751"/>
              <a:chExt cx="874800" cy="241200"/>
            </a:xfrm>
          </p:grpSpPr>
          <p:cxnSp>
            <p:nvCxnSpPr>
              <p:cNvPr id="1141" name="Google Shape;1141;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42" name="Google Shape;1142;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43" name="Google Shape;1143;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44" name="Google Shape;1144;p87"/>
            <p:cNvGrpSpPr/>
            <p:nvPr/>
          </p:nvGrpSpPr>
          <p:grpSpPr>
            <a:xfrm>
              <a:off x="3047238" y="3158701"/>
              <a:ext cx="874800" cy="241200"/>
              <a:chOff x="1538525" y="3973751"/>
              <a:chExt cx="874800" cy="241200"/>
            </a:xfrm>
          </p:grpSpPr>
          <p:cxnSp>
            <p:nvCxnSpPr>
              <p:cNvPr id="1145" name="Google Shape;1145;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46" name="Google Shape;1146;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47" name="Google Shape;1147;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48" name="Google Shape;1148;p87"/>
            <p:cNvGrpSpPr/>
            <p:nvPr/>
          </p:nvGrpSpPr>
          <p:grpSpPr>
            <a:xfrm>
              <a:off x="4408038" y="3158701"/>
              <a:ext cx="874800" cy="241200"/>
              <a:chOff x="1538525" y="3973751"/>
              <a:chExt cx="874800" cy="241200"/>
            </a:xfrm>
          </p:grpSpPr>
          <p:cxnSp>
            <p:nvCxnSpPr>
              <p:cNvPr id="1149" name="Google Shape;1149;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50" name="Google Shape;1150;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51" name="Google Shape;1151;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52" name="Google Shape;1152;p87"/>
            <p:cNvGrpSpPr/>
            <p:nvPr/>
          </p:nvGrpSpPr>
          <p:grpSpPr>
            <a:xfrm>
              <a:off x="5768838" y="3158701"/>
              <a:ext cx="874800" cy="241200"/>
              <a:chOff x="1538525" y="3973751"/>
              <a:chExt cx="874800" cy="241200"/>
            </a:xfrm>
          </p:grpSpPr>
          <p:cxnSp>
            <p:nvCxnSpPr>
              <p:cNvPr id="1153" name="Google Shape;1153;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54" name="Google Shape;1154;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55" name="Google Shape;1155;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156" name="Google Shape;1156;p87"/>
            <p:cNvSpPr txBox="1"/>
            <p:nvPr/>
          </p:nvSpPr>
          <p:spPr>
            <a:xfrm>
              <a:off x="325638" y="33017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sp>
          <p:nvSpPr>
            <p:cNvPr id="1157" name="Google Shape;1157;p87"/>
            <p:cNvSpPr txBox="1"/>
            <p:nvPr/>
          </p:nvSpPr>
          <p:spPr>
            <a:xfrm>
              <a:off x="1686429" y="29480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158" name="Google Shape;1158;p87"/>
            <p:cNvSpPr txBox="1"/>
            <p:nvPr/>
          </p:nvSpPr>
          <p:spPr>
            <a:xfrm>
              <a:off x="3042945" y="29480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159" name="Google Shape;1159;p87"/>
            <p:cNvSpPr txBox="1"/>
            <p:nvPr/>
          </p:nvSpPr>
          <p:spPr>
            <a:xfrm>
              <a:off x="325638" y="29361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sp>
          <p:nvSpPr>
            <p:cNvPr id="1160" name="Google Shape;1160;p87"/>
            <p:cNvSpPr txBox="1"/>
            <p:nvPr/>
          </p:nvSpPr>
          <p:spPr>
            <a:xfrm>
              <a:off x="4407004" y="29480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161" name="Google Shape;1161;p87"/>
            <p:cNvSpPr txBox="1"/>
            <p:nvPr/>
          </p:nvSpPr>
          <p:spPr>
            <a:xfrm>
              <a:off x="5768829" y="29556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162" name="Google Shape;1162;p87"/>
            <p:cNvSpPr txBox="1"/>
            <p:nvPr/>
          </p:nvSpPr>
          <p:spPr>
            <a:xfrm>
              <a:off x="1686429"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163" name="Google Shape;1163;p87"/>
            <p:cNvSpPr txBox="1"/>
            <p:nvPr/>
          </p:nvSpPr>
          <p:spPr>
            <a:xfrm>
              <a:off x="3058029"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164" name="Google Shape;1164;p87"/>
            <p:cNvSpPr txBox="1"/>
            <p:nvPr/>
          </p:nvSpPr>
          <p:spPr>
            <a:xfrm>
              <a:off x="4407004"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165" name="Google Shape;1165;p87"/>
            <p:cNvSpPr txBox="1"/>
            <p:nvPr/>
          </p:nvSpPr>
          <p:spPr>
            <a:xfrm>
              <a:off x="322371"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grpSp>
      <p:sp>
        <p:nvSpPr>
          <p:cNvPr id="1166" name="Google Shape;1166;p87"/>
          <p:cNvSpPr txBox="1"/>
          <p:nvPr/>
        </p:nvSpPr>
        <p:spPr>
          <a:xfrm>
            <a:off x="6924516" y="1876399"/>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Lucas 1</a:t>
            </a:r>
            <a:endParaRPr sz="1800">
              <a:solidFill>
                <a:schemeClr val="dk1"/>
              </a:solidFill>
              <a:latin typeface="Lexend"/>
              <a:ea typeface="Lexend"/>
              <a:cs typeface="Lexend"/>
              <a:sym typeface="Lexend"/>
            </a:endParaRPr>
          </a:p>
        </p:txBody>
      </p:sp>
      <p:sp>
        <p:nvSpPr>
          <p:cNvPr id="1167" name="Google Shape;1167;p87"/>
          <p:cNvSpPr txBox="1"/>
          <p:nvPr/>
        </p:nvSpPr>
        <p:spPr>
          <a:xfrm>
            <a:off x="6924516" y="2956399"/>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Lucas 2</a:t>
            </a:r>
            <a:endParaRPr sz="1800">
              <a:solidFill>
                <a:schemeClr val="dk1"/>
              </a:solidFill>
              <a:latin typeface="Lexend"/>
              <a:ea typeface="Lexend"/>
              <a:cs typeface="Lexend"/>
              <a:sym typeface="Lexend"/>
            </a:endParaRPr>
          </a:p>
        </p:txBody>
      </p:sp>
      <p:grpSp>
        <p:nvGrpSpPr>
          <p:cNvPr id="1168" name="Google Shape;1168;p87"/>
          <p:cNvGrpSpPr/>
          <p:nvPr/>
        </p:nvGrpSpPr>
        <p:grpSpPr>
          <a:xfrm>
            <a:off x="400508" y="3504607"/>
            <a:ext cx="6321267" cy="1287592"/>
            <a:chOff x="1175933" y="3982558"/>
            <a:chExt cx="6321267" cy="1287592"/>
          </a:xfrm>
        </p:grpSpPr>
        <p:grpSp>
          <p:nvGrpSpPr>
            <p:cNvPr id="1169" name="Google Shape;1169;p87"/>
            <p:cNvGrpSpPr/>
            <p:nvPr/>
          </p:nvGrpSpPr>
          <p:grpSpPr>
            <a:xfrm>
              <a:off x="1179200" y="4802801"/>
              <a:ext cx="874800" cy="241200"/>
              <a:chOff x="1538525" y="3973751"/>
              <a:chExt cx="874800" cy="241200"/>
            </a:xfrm>
          </p:grpSpPr>
          <p:cxnSp>
            <p:nvCxnSpPr>
              <p:cNvPr id="1170" name="Google Shape;1170;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71" name="Google Shape;1171;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72" name="Google Shape;1172;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73" name="Google Shape;1173;p87"/>
            <p:cNvGrpSpPr/>
            <p:nvPr/>
          </p:nvGrpSpPr>
          <p:grpSpPr>
            <a:xfrm>
              <a:off x="2540000" y="4802801"/>
              <a:ext cx="874800" cy="241200"/>
              <a:chOff x="1538525" y="3973751"/>
              <a:chExt cx="874800" cy="241200"/>
            </a:xfrm>
          </p:grpSpPr>
          <p:cxnSp>
            <p:nvCxnSpPr>
              <p:cNvPr id="1174" name="Google Shape;1174;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75" name="Google Shape;1175;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76" name="Google Shape;1176;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77" name="Google Shape;1177;p87"/>
            <p:cNvGrpSpPr/>
            <p:nvPr/>
          </p:nvGrpSpPr>
          <p:grpSpPr>
            <a:xfrm>
              <a:off x="3900800" y="4802801"/>
              <a:ext cx="874800" cy="241200"/>
              <a:chOff x="1538525" y="3973751"/>
              <a:chExt cx="874800" cy="241200"/>
            </a:xfrm>
          </p:grpSpPr>
          <p:cxnSp>
            <p:nvCxnSpPr>
              <p:cNvPr id="1178" name="Google Shape;1178;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79" name="Google Shape;1179;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80" name="Google Shape;1180;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81" name="Google Shape;1181;p87"/>
            <p:cNvGrpSpPr/>
            <p:nvPr/>
          </p:nvGrpSpPr>
          <p:grpSpPr>
            <a:xfrm>
              <a:off x="5261600" y="4802801"/>
              <a:ext cx="874800" cy="241200"/>
              <a:chOff x="1538525" y="3973751"/>
              <a:chExt cx="874800" cy="241200"/>
            </a:xfrm>
          </p:grpSpPr>
          <p:cxnSp>
            <p:nvCxnSpPr>
              <p:cNvPr id="1182" name="Google Shape;1182;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83" name="Google Shape;1183;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84" name="Google Shape;1184;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185" name="Google Shape;1185;p87"/>
            <p:cNvGrpSpPr/>
            <p:nvPr/>
          </p:nvGrpSpPr>
          <p:grpSpPr>
            <a:xfrm>
              <a:off x="6622400" y="4802801"/>
              <a:ext cx="874800" cy="241200"/>
              <a:chOff x="1538525" y="3973751"/>
              <a:chExt cx="874800" cy="241200"/>
            </a:xfrm>
          </p:grpSpPr>
          <p:cxnSp>
            <p:nvCxnSpPr>
              <p:cNvPr id="1186" name="Google Shape;1186;p8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187" name="Google Shape;1187;p8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188" name="Google Shape;1188;p8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189" name="Google Shape;1189;p87"/>
            <p:cNvSpPr txBox="1"/>
            <p:nvPr/>
          </p:nvSpPr>
          <p:spPr>
            <a:xfrm>
              <a:off x="1179200" y="4945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grpSp>
          <p:nvGrpSpPr>
            <p:cNvPr id="1190" name="Google Shape;1190;p87"/>
            <p:cNvGrpSpPr/>
            <p:nvPr/>
          </p:nvGrpSpPr>
          <p:grpSpPr>
            <a:xfrm>
              <a:off x="1175933" y="4287358"/>
              <a:ext cx="878067" cy="617142"/>
              <a:chOff x="1409733" y="3563358"/>
              <a:chExt cx="878067" cy="617142"/>
            </a:xfrm>
          </p:grpSpPr>
          <p:sp>
            <p:nvSpPr>
              <p:cNvPr id="1191" name="Google Shape;1191;p87"/>
              <p:cNvSpPr txBox="1"/>
              <p:nvPr/>
            </p:nvSpPr>
            <p:spPr>
              <a:xfrm>
                <a:off x="1413000" y="3856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192" name="Google Shape;1192;p87"/>
              <p:cNvSpPr txBox="1"/>
              <p:nvPr/>
            </p:nvSpPr>
            <p:spPr>
              <a:xfrm>
                <a:off x="1409733"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pSp>
        <p:grpSp>
          <p:nvGrpSpPr>
            <p:cNvPr id="1193" name="Google Shape;1193;p87"/>
            <p:cNvGrpSpPr/>
            <p:nvPr/>
          </p:nvGrpSpPr>
          <p:grpSpPr>
            <a:xfrm>
              <a:off x="2539991" y="3982558"/>
              <a:ext cx="874800" cy="933900"/>
              <a:chOff x="2773791" y="3258558"/>
              <a:chExt cx="874800" cy="933900"/>
            </a:xfrm>
          </p:grpSpPr>
          <p:sp>
            <p:nvSpPr>
              <p:cNvPr id="1194" name="Google Shape;1194;p87"/>
              <p:cNvSpPr txBox="1"/>
              <p:nvPr/>
            </p:nvSpPr>
            <p:spPr>
              <a:xfrm>
                <a:off x="2773791"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195" name="Google Shape;1195;p87"/>
              <p:cNvSpPr txBox="1"/>
              <p:nvPr/>
            </p:nvSpPr>
            <p:spPr>
              <a:xfrm>
                <a:off x="2773791"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196" name="Google Shape;1196;p87"/>
              <p:cNvSpPr txBox="1"/>
              <p:nvPr/>
            </p:nvSpPr>
            <p:spPr>
              <a:xfrm>
                <a:off x="2773791" y="32585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grpSp>
        <p:grpSp>
          <p:nvGrpSpPr>
            <p:cNvPr id="1197" name="Google Shape;1197;p87"/>
            <p:cNvGrpSpPr/>
            <p:nvPr/>
          </p:nvGrpSpPr>
          <p:grpSpPr>
            <a:xfrm>
              <a:off x="3896508" y="4287358"/>
              <a:ext cx="882342" cy="629100"/>
              <a:chOff x="4130308" y="3563358"/>
              <a:chExt cx="882342" cy="629100"/>
            </a:xfrm>
          </p:grpSpPr>
          <p:sp>
            <p:nvSpPr>
              <p:cNvPr id="1198" name="Google Shape;1198;p87"/>
              <p:cNvSpPr txBox="1"/>
              <p:nvPr/>
            </p:nvSpPr>
            <p:spPr>
              <a:xfrm>
                <a:off x="4130308"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199" name="Google Shape;1199;p87"/>
              <p:cNvSpPr txBox="1"/>
              <p:nvPr/>
            </p:nvSpPr>
            <p:spPr>
              <a:xfrm>
                <a:off x="4137850"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pSp>
        <p:grpSp>
          <p:nvGrpSpPr>
            <p:cNvPr id="1200" name="Google Shape;1200;p87"/>
            <p:cNvGrpSpPr/>
            <p:nvPr/>
          </p:nvGrpSpPr>
          <p:grpSpPr>
            <a:xfrm>
              <a:off x="5260566" y="4592158"/>
              <a:ext cx="2236625" cy="331842"/>
              <a:chOff x="5494366" y="3868158"/>
              <a:chExt cx="2236625" cy="331842"/>
            </a:xfrm>
          </p:grpSpPr>
          <p:sp>
            <p:nvSpPr>
              <p:cNvPr id="1201" name="Google Shape;1201;p87"/>
              <p:cNvSpPr txBox="1"/>
              <p:nvPr/>
            </p:nvSpPr>
            <p:spPr>
              <a:xfrm>
                <a:off x="5494366"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202" name="Google Shape;1202;p87"/>
              <p:cNvSpPr txBox="1"/>
              <p:nvPr/>
            </p:nvSpPr>
            <p:spPr>
              <a:xfrm>
                <a:off x="6856191"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grpSp>
      </p:grpSp>
      <p:sp>
        <p:nvSpPr>
          <p:cNvPr id="1203" name="Google Shape;1203;p87"/>
          <p:cNvSpPr/>
          <p:nvPr/>
        </p:nvSpPr>
        <p:spPr>
          <a:xfrm>
            <a:off x="324300" y="3539700"/>
            <a:ext cx="7475100" cy="12117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4" name="Google Shape;1204;p87"/>
          <p:cNvSpPr txBox="1"/>
          <p:nvPr/>
        </p:nvSpPr>
        <p:spPr>
          <a:xfrm>
            <a:off x="6924516" y="4251799"/>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Izzy</a:t>
            </a:r>
            <a:endParaRPr sz="18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88"/>
          <p:cNvSpPr/>
          <p:nvPr/>
        </p:nvSpPr>
        <p:spPr>
          <a:xfrm>
            <a:off x="324300" y="1092774"/>
            <a:ext cx="7475100" cy="13176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0" name="Google Shape;1210;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1211" name="Google Shape;1211;p88"/>
          <p:cNvSpPr txBox="1"/>
          <p:nvPr>
            <p:ph idx="1" type="body"/>
          </p:nvPr>
        </p:nvSpPr>
        <p:spPr>
          <a:xfrm>
            <a:off x="324000" y="7593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of the three methods do you prefer?</a:t>
            </a:r>
            <a:endParaRPr sz="2000"/>
          </a:p>
        </p:txBody>
      </p:sp>
      <p:grpSp>
        <p:nvGrpSpPr>
          <p:cNvPr id="1212" name="Google Shape;1212;p88"/>
          <p:cNvGrpSpPr/>
          <p:nvPr/>
        </p:nvGrpSpPr>
        <p:grpSpPr>
          <a:xfrm>
            <a:off x="400200" y="1110949"/>
            <a:ext cx="6318000" cy="1299550"/>
            <a:chOff x="1413000" y="3246600"/>
            <a:chExt cx="6318000" cy="1299550"/>
          </a:xfrm>
        </p:grpSpPr>
        <p:grpSp>
          <p:nvGrpSpPr>
            <p:cNvPr id="1213" name="Google Shape;1213;p88"/>
            <p:cNvGrpSpPr/>
            <p:nvPr/>
          </p:nvGrpSpPr>
          <p:grpSpPr>
            <a:xfrm>
              <a:off x="1413000" y="4078801"/>
              <a:ext cx="874800" cy="241200"/>
              <a:chOff x="1538525" y="3973751"/>
              <a:chExt cx="874800" cy="241200"/>
            </a:xfrm>
          </p:grpSpPr>
          <p:cxnSp>
            <p:nvCxnSpPr>
              <p:cNvPr id="1214" name="Google Shape;1214;p88"/>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15" name="Google Shape;1215;p88"/>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16" name="Google Shape;1216;p88"/>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17" name="Google Shape;1217;p88"/>
            <p:cNvGrpSpPr/>
            <p:nvPr/>
          </p:nvGrpSpPr>
          <p:grpSpPr>
            <a:xfrm>
              <a:off x="2773800" y="4078801"/>
              <a:ext cx="874800" cy="241200"/>
              <a:chOff x="1538525" y="3973751"/>
              <a:chExt cx="874800" cy="241200"/>
            </a:xfrm>
          </p:grpSpPr>
          <p:cxnSp>
            <p:nvCxnSpPr>
              <p:cNvPr id="1218" name="Google Shape;1218;p88"/>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19" name="Google Shape;1219;p88"/>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20" name="Google Shape;1220;p88"/>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21" name="Google Shape;1221;p88"/>
            <p:cNvGrpSpPr/>
            <p:nvPr/>
          </p:nvGrpSpPr>
          <p:grpSpPr>
            <a:xfrm>
              <a:off x="4134600" y="4078801"/>
              <a:ext cx="874800" cy="241200"/>
              <a:chOff x="1538525" y="3973751"/>
              <a:chExt cx="874800" cy="241200"/>
            </a:xfrm>
          </p:grpSpPr>
          <p:cxnSp>
            <p:nvCxnSpPr>
              <p:cNvPr id="1222" name="Google Shape;1222;p88"/>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23" name="Google Shape;1223;p88"/>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24" name="Google Shape;1224;p88"/>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25" name="Google Shape;1225;p88"/>
            <p:cNvGrpSpPr/>
            <p:nvPr/>
          </p:nvGrpSpPr>
          <p:grpSpPr>
            <a:xfrm>
              <a:off x="5495400" y="4078801"/>
              <a:ext cx="874800" cy="241200"/>
              <a:chOff x="1538525" y="3973751"/>
              <a:chExt cx="874800" cy="241200"/>
            </a:xfrm>
          </p:grpSpPr>
          <p:cxnSp>
            <p:nvCxnSpPr>
              <p:cNvPr id="1226" name="Google Shape;1226;p88"/>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27" name="Google Shape;1227;p88"/>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28" name="Google Shape;1228;p88"/>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29" name="Google Shape;1229;p88"/>
            <p:cNvGrpSpPr/>
            <p:nvPr/>
          </p:nvGrpSpPr>
          <p:grpSpPr>
            <a:xfrm>
              <a:off x="6856200" y="4078801"/>
              <a:ext cx="874800" cy="241200"/>
              <a:chOff x="1538525" y="3973751"/>
              <a:chExt cx="874800" cy="241200"/>
            </a:xfrm>
          </p:grpSpPr>
          <p:cxnSp>
            <p:nvCxnSpPr>
              <p:cNvPr id="1230" name="Google Shape;1230;p88"/>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31" name="Google Shape;1231;p88"/>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32" name="Google Shape;1232;p88"/>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233" name="Google Shape;1233;p88"/>
            <p:cNvSpPr txBox="1"/>
            <p:nvPr/>
          </p:nvSpPr>
          <p:spPr>
            <a:xfrm>
              <a:off x="1413000" y="4221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sp>
          <p:nvSpPr>
            <p:cNvPr id="1234" name="Google Shape;1234;p88"/>
            <p:cNvSpPr txBox="1"/>
            <p:nvPr/>
          </p:nvSpPr>
          <p:spPr>
            <a:xfrm>
              <a:off x="1413000" y="3856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235" name="Google Shape;1235;p88"/>
            <p:cNvSpPr txBox="1"/>
            <p:nvPr/>
          </p:nvSpPr>
          <p:spPr>
            <a:xfrm>
              <a:off x="1413000" y="35514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236" name="Google Shape;1236;p88"/>
            <p:cNvSpPr txBox="1"/>
            <p:nvPr/>
          </p:nvSpPr>
          <p:spPr>
            <a:xfrm>
              <a:off x="1413000" y="32466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237" name="Google Shape;1237;p88"/>
            <p:cNvSpPr txBox="1"/>
            <p:nvPr/>
          </p:nvSpPr>
          <p:spPr>
            <a:xfrm>
              <a:off x="2773800"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238" name="Google Shape;1238;p88"/>
            <p:cNvSpPr txBox="1"/>
            <p:nvPr/>
          </p:nvSpPr>
          <p:spPr>
            <a:xfrm>
              <a:off x="2773800" y="3571416"/>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239" name="Google Shape;1239;p88"/>
            <p:cNvSpPr txBox="1"/>
            <p:nvPr/>
          </p:nvSpPr>
          <p:spPr>
            <a:xfrm>
              <a:off x="4130316" y="38686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240" name="Google Shape;1240;p88"/>
            <p:cNvSpPr txBox="1"/>
            <p:nvPr/>
          </p:nvSpPr>
          <p:spPr>
            <a:xfrm>
              <a:off x="5494375" y="38686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241" name="Google Shape;1241;p88"/>
            <p:cNvSpPr txBox="1"/>
            <p:nvPr/>
          </p:nvSpPr>
          <p:spPr>
            <a:xfrm>
              <a:off x="6856191"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grpSp>
      <p:sp>
        <p:nvSpPr>
          <p:cNvPr id="1242" name="Google Shape;1242;p88"/>
          <p:cNvSpPr txBox="1"/>
          <p:nvPr/>
        </p:nvSpPr>
        <p:spPr>
          <a:xfrm>
            <a:off x="6924516" y="1876399"/>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Lucas 1</a:t>
            </a:r>
            <a:endParaRPr sz="1800">
              <a:solidFill>
                <a:schemeClr val="dk1"/>
              </a:solidFill>
              <a:latin typeface="Lexend"/>
              <a:ea typeface="Lexend"/>
              <a:cs typeface="Lexend"/>
              <a:sym typeface="Lexend"/>
            </a:endParaRPr>
          </a:p>
        </p:txBody>
      </p:sp>
      <p:sp>
        <p:nvSpPr>
          <p:cNvPr id="1243" name="Google Shape;1243;p88"/>
          <p:cNvSpPr txBox="1"/>
          <p:nvPr/>
        </p:nvSpPr>
        <p:spPr>
          <a:xfrm>
            <a:off x="324300" y="2835725"/>
            <a:ext cx="8495700" cy="78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Method 1 was very quick but it didn’t work for these values.</a:t>
            </a:r>
            <a:endParaRPr sz="2000">
              <a:solidFill>
                <a:schemeClr val="dk1"/>
              </a:solidFill>
              <a:latin typeface="Kalam"/>
              <a:ea typeface="Kalam"/>
              <a:cs typeface="Kalam"/>
              <a:sym typeface="Kala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89"/>
          <p:cNvSpPr/>
          <p:nvPr/>
        </p:nvSpPr>
        <p:spPr>
          <a:xfrm>
            <a:off x="324300" y="2494547"/>
            <a:ext cx="7475100" cy="9828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9" name="Google Shape;1249;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1250" name="Google Shape;1250;p89"/>
          <p:cNvSpPr txBox="1"/>
          <p:nvPr>
            <p:ph idx="1" type="body"/>
          </p:nvPr>
        </p:nvSpPr>
        <p:spPr>
          <a:xfrm>
            <a:off x="324000" y="7593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of the three methods do you prefer?</a:t>
            </a:r>
            <a:endParaRPr sz="2000"/>
          </a:p>
        </p:txBody>
      </p:sp>
      <p:grpSp>
        <p:nvGrpSpPr>
          <p:cNvPr id="1251" name="Google Shape;1251;p89"/>
          <p:cNvGrpSpPr/>
          <p:nvPr/>
        </p:nvGrpSpPr>
        <p:grpSpPr>
          <a:xfrm>
            <a:off x="398571" y="2521807"/>
            <a:ext cx="6321267" cy="982792"/>
            <a:chOff x="322371" y="2643258"/>
            <a:chExt cx="6321267" cy="982792"/>
          </a:xfrm>
        </p:grpSpPr>
        <p:grpSp>
          <p:nvGrpSpPr>
            <p:cNvPr id="1252" name="Google Shape;1252;p89"/>
            <p:cNvGrpSpPr/>
            <p:nvPr/>
          </p:nvGrpSpPr>
          <p:grpSpPr>
            <a:xfrm>
              <a:off x="325638" y="3158701"/>
              <a:ext cx="874800" cy="241200"/>
              <a:chOff x="1538525" y="3973751"/>
              <a:chExt cx="874800" cy="241200"/>
            </a:xfrm>
          </p:grpSpPr>
          <p:cxnSp>
            <p:nvCxnSpPr>
              <p:cNvPr id="1253" name="Google Shape;1253;p89"/>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54" name="Google Shape;1254;p89"/>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55" name="Google Shape;1255;p89"/>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56" name="Google Shape;1256;p89"/>
            <p:cNvGrpSpPr/>
            <p:nvPr/>
          </p:nvGrpSpPr>
          <p:grpSpPr>
            <a:xfrm>
              <a:off x="1686438" y="3158701"/>
              <a:ext cx="874800" cy="241200"/>
              <a:chOff x="1538525" y="3973751"/>
              <a:chExt cx="874800" cy="241200"/>
            </a:xfrm>
          </p:grpSpPr>
          <p:cxnSp>
            <p:nvCxnSpPr>
              <p:cNvPr id="1257" name="Google Shape;1257;p89"/>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58" name="Google Shape;1258;p89"/>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59" name="Google Shape;1259;p89"/>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60" name="Google Shape;1260;p89"/>
            <p:cNvGrpSpPr/>
            <p:nvPr/>
          </p:nvGrpSpPr>
          <p:grpSpPr>
            <a:xfrm>
              <a:off x="3047238" y="3158701"/>
              <a:ext cx="874800" cy="241200"/>
              <a:chOff x="1538525" y="3973751"/>
              <a:chExt cx="874800" cy="241200"/>
            </a:xfrm>
          </p:grpSpPr>
          <p:cxnSp>
            <p:nvCxnSpPr>
              <p:cNvPr id="1261" name="Google Shape;1261;p89"/>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62" name="Google Shape;1262;p89"/>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63" name="Google Shape;1263;p89"/>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64" name="Google Shape;1264;p89"/>
            <p:cNvGrpSpPr/>
            <p:nvPr/>
          </p:nvGrpSpPr>
          <p:grpSpPr>
            <a:xfrm>
              <a:off x="4408038" y="3158701"/>
              <a:ext cx="874800" cy="241200"/>
              <a:chOff x="1538525" y="3973751"/>
              <a:chExt cx="874800" cy="241200"/>
            </a:xfrm>
          </p:grpSpPr>
          <p:cxnSp>
            <p:nvCxnSpPr>
              <p:cNvPr id="1265" name="Google Shape;1265;p89"/>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66" name="Google Shape;1266;p89"/>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67" name="Google Shape;1267;p89"/>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68" name="Google Shape;1268;p89"/>
            <p:cNvGrpSpPr/>
            <p:nvPr/>
          </p:nvGrpSpPr>
          <p:grpSpPr>
            <a:xfrm>
              <a:off x="5768838" y="3158701"/>
              <a:ext cx="874800" cy="241200"/>
              <a:chOff x="1538525" y="3973751"/>
              <a:chExt cx="874800" cy="241200"/>
            </a:xfrm>
          </p:grpSpPr>
          <p:cxnSp>
            <p:nvCxnSpPr>
              <p:cNvPr id="1269" name="Google Shape;1269;p89"/>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70" name="Google Shape;1270;p89"/>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71" name="Google Shape;1271;p89"/>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272" name="Google Shape;1272;p89"/>
            <p:cNvSpPr txBox="1"/>
            <p:nvPr/>
          </p:nvSpPr>
          <p:spPr>
            <a:xfrm>
              <a:off x="325638" y="33017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sp>
          <p:nvSpPr>
            <p:cNvPr id="1273" name="Google Shape;1273;p89"/>
            <p:cNvSpPr txBox="1"/>
            <p:nvPr/>
          </p:nvSpPr>
          <p:spPr>
            <a:xfrm>
              <a:off x="1686429" y="29480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274" name="Google Shape;1274;p89"/>
            <p:cNvSpPr txBox="1"/>
            <p:nvPr/>
          </p:nvSpPr>
          <p:spPr>
            <a:xfrm>
              <a:off x="3042945" y="29480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275" name="Google Shape;1275;p89"/>
            <p:cNvSpPr txBox="1"/>
            <p:nvPr/>
          </p:nvSpPr>
          <p:spPr>
            <a:xfrm>
              <a:off x="325638" y="29361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sp>
          <p:nvSpPr>
            <p:cNvPr id="1276" name="Google Shape;1276;p89"/>
            <p:cNvSpPr txBox="1"/>
            <p:nvPr/>
          </p:nvSpPr>
          <p:spPr>
            <a:xfrm>
              <a:off x="4407004" y="29480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277" name="Google Shape;1277;p89"/>
            <p:cNvSpPr txBox="1"/>
            <p:nvPr/>
          </p:nvSpPr>
          <p:spPr>
            <a:xfrm>
              <a:off x="5768829" y="29556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278" name="Google Shape;1278;p89"/>
            <p:cNvSpPr txBox="1"/>
            <p:nvPr/>
          </p:nvSpPr>
          <p:spPr>
            <a:xfrm>
              <a:off x="1686429"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279" name="Google Shape;1279;p89"/>
            <p:cNvSpPr txBox="1"/>
            <p:nvPr/>
          </p:nvSpPr>
          <p:spPr>
            <a:xfrm>
              <a:off x="3058029"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280" name="Google Shape;1280;p89"/>
            <p:cNvSpPr txBox="1"/>
            <p:nvPr/>
          </p:nvSpPr>
          <p:spPr>
            <a:xfrm>
              <a:off x="4407004"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281" name="Google Shape;1281;p89"/>
            <p:cNvSpPr txBox="1"/>
            <p:nvPr/>
          </p:nvSpPr>
          <p:spPr>
            <a:xfrm>
              <a:off x="322371" y="26432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grpSp>
      <p:sp>
        <p:nvSpPr>
          <p:cNvPr id="1282" name="Google Shape;1282;p89"/>
          <p:cNvSpPr txBox="1"/>
          <p:nvPr/>
        </p:nvSpPr>
        <p:spPr>
          <a:xfrm>
            <a:off x="6924516" y="2956399"/>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Lucas 2</a:t>
            </a:r>
            <a:endParaRPr sz="1800">
              <a:solidFill>
                <a:schemeClr val="dk1"/>
              </a:solidFill>
              <a:latin typeface="Lexend"/>
              <a:ea typeface="Lexend"/>
              <a:cs typeface="Lexend"/>
              <a:sym typeface="Lexend"/>
            </a:endParaRPr>
          </a:p>
        </p:txBody>
      </p:sp>
      <p:sp>
        <p:nvSpPr>
          <p:cNvPr id="1283" name="Google Shape;1283;p89"/>
          <p:cNvSpPr txBox="1"/>
          <p:nvPr/>
        </p:nvSpPr>
        <p:spPr>
          <a:xfrm>
            <a:off x="324300" y="3673925"/>
            <a:ext cx="8495700" cy="78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Method 2 was quick and it led to a similar number of items per pallet.</a:t>
            </a:r>
            <a:endParaRPr sz="2000">
              <a:solidFill>
                <a:schemeClr val="dk1"/>
              </a:solidFill>
              <a:latin typeface="Kalam"/>
              <a:ea typeface="Kalam"/>
              <a:cs typeface="Kalam"/>
              <a:sym typeface="Kala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1289" name="Google Shape;1289;p90"/>
          <p:cNvSpPr txBox="1"/>
          <p:nvPr>
            <p:ph idx="1" type="body"/>
          </p:nvPr>
        </p:nvSpPr>
        <p:spPr>
          <a:xfrm>
            <a:off x="324000" y="7593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of the three methods do you prefer?</a:t>
            </a:r>
            <a:endParaRPr sz="2000"/>
          </a:p>
        </p:txBody>
      </p:sp>
      <p:grpSp>
        <p:nvGrpSpPr>
          <p:cNvPr id="1290" name="Google Shape;1290;p90"/>
          <p:cNvGrpSpPr/>
          <p:nvPr/>
        </p:nvGrpSpPr>
        <p:grpSpPr>
          <a:xfrm>
            <a:off x="400508" y="3504607"/>
            <a:ext cx="6321267" cy="1287592"/>
            <a:chOff x="1175933" y="3982558"/>
            <a:chExt cx="6321267" cy="1287592"/>
          </a:xfrm>
        </p:grpSpPr>
        <p:grpSp>
          <p:nvGrpSpPr>
            <p:cNvPr id="1291" name="Google Shape;1291;p90"/>
            <p:cNvGrpSpPr/>
            <p:nvPr/>
          </p:nvGrpSpPr>
          <p:grpSpPr>
            <a:xfrm>
              <a:off x="1179200" y="4802801"/>
              <a:ext cx="874800" cy="241200"/>
              <a:chOff x="1538525" y="3973751"/>
              <a:chExt cx="874800" cy="241200"/>
            </a:xfrm>
          </p:grpSpPr>
          <p:cxnSp>
            <p:nvCxnSpPr>
              <p:cNvPr id="1292" name="Google Shape;1292;p9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93" name="Google Shape;1293;p9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94" name="Google Shape;1294;p9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95" name="Google Shape;1295;p90"/>
            <p:cNvGrpSpPr/>
            <p:nvPr/>
          </p:nvGrpSpPr>
          <p:grpSpPr>
            <a:xfrm>
              <a:off x="2540000" y="4802801"/>
              <a:ext cx="874800" cy="241200"/>
              <a:chOff x="1538525" y="3973751"/>
              <a:chExt cx="874800" cy="241200"/>
            </a:xfrm>
          </p:grpSpPr>
          <p:cxnSp>
            <p:nvCxnSpPr>
              <p:cNvPr id="1296" name="Google Shape;1296;p9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297" name="Google Shape;1297;p9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298" name="Google Shape;1298;p9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299" name="Google Shape;1299;p90"/>
            <p:cNvGrpSpPr/>
            <p:nvPr/>
          </p:nvGrpSpPr>
          <p:grpSpPr>
            <a:xfrm>
              <a:off x="3900800" y="4802801"/>
              <a:ext cx="874800" cy="241200"/>
              <a:chOff x="1538525" y="3973751"/>
              <a:chExt cx="874800" cy="241200"/>
            </a:xfrm>
          </p:grpSpPr>
          <p:cxnSp>
            <p:nvCxnSpPr>
              <p:cNvPr id="1300" name="Google Shape;1300;p9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301" name="Google Shape;1301;p9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302" name="Google Shape;1302;p9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303" name="Google Shape;1303;p90"/>
            <p:cNvGrpSpPr/>
            <p:nvPr/>
          </p:nvGrpSpPr>
          <p:grpSpPr>
            <a:xfrm>
              <a:off x="5261600" y="4802801"/>
              <a:ext cx="874800" cy="241200"/>
              <a:chOff x="1538525" y="3973751"/>
              <a:chExt cx="874800" cy="241200"/>
            </a:xfrm>
          </p:grpSpPr>
          <p:cxnSp>
            <p:nvCxnSpPr>
              <p:cNvPr id="1304" name="Google Shape;1304;p9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305" name="Google Shape;1305;p9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306" name="Google Shape;1306;p9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307" name="Google Shape;1307;p90"/>
            <p:cNvGrpSpPr/>
            <p:nvPr/>
          </p:nvGrpSpPr>
          <p:grpSpPr>
            <a:xfrm>
              <a:off x="6622400" y="4802801"/>
              <a:ext cx="874800" cy="241200"/>
              <a:chOff x="1538525" y="3973751"/>
              <a:chExt cx="874800" cy="241200"/>
            </a:xfrm>
          </p:grpSpPr>
          <p:cxnSp>
            <p:nvCxnSpPr>
              <p:cNvPr id="1308" name="Google Shape;1308;p9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309" name="Google Shape;1309;p9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310" name="Google Shape;1310;p9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311" name="Google Shape;1311;p90"/>
            <p:cNvSpPr txBox="1"/>
            <p:nvPr/>
          </p:nvSpPr>
          <p:spPr>
            <a:xfrm>
              <a:off x="1179200" y="4945850"/>
              <a:ext cx="63180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1                   2                    3                   4                   5</a:t>
              </a:r>
              <a:endParaRPr sz="1800">
                <a:solidFill>
                  <a:schemeClr val="dk1"/>
                </a:solidFill>
                <a:latin typeface="Lexend"/>
                <a:ea typeface="Lexend"/>
                <a:cs typeface="Lexend"/>
                <a:sym typeface="Lexend"/>
              </a:endParaRPr>
            </a:p>
          </p:txBody>
        </p:sp>
        <p:grpSp>
          <p:nvGrpSpPr>
            <p:cNvPr id="1312" name="Google Shape;1312;p90"/>
            <p:cNvGrpSpPr/>
            <p:nvPr/>
          </p:nvGrpSpPr>
          <p:grpSpPr>
            <a:xfrm>
              <a:off x="1175933" y="4287358"/>
              <a:ext cx="878067" cy="617142"/>
              <a:chOff x="1409733" y="3563358"/>
              <a:chExt cx="878067" cy="617142"/>
            </a:xfrm>
          </p:grpSpPr>
          <p:sp>
            <p:nvSpPr>
              <p:cNvPr id="1313" name="Google Shape;1313;p90"/>
              <p:cNvSpPr txBox="1"/>
              <p:nvPr/>
            </p:nvSpPr>
            <p:spPr>
              <a:xfrm>
                <a:off x="1413000" y="3856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314" name="Google Shape;1314;p90"/>
              <p:cNvSpPr txBox="1"/>
              <p:nvPr/>
            </p:nvSpPr>
            <p:spPr>
              <a:xfrm>
                <a:off x="1409733"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pSp>
        <p:grpSp>
          <p:nvGrpSpPr>
            <p:cNvPr id="1315" name="Google Shape;1315;p90"/>
            <p:cNvGrpSpPr/>
            <p:nvPr/>
          </p:nvGrpSpPr>
          <p:grpSpPr>
            <a:xfrm>
              <a:off x="2539991" y="3982558"/>
              <a:ext cx="874800" cy="933900"/>
              <a:chOff x="2773791" y="3258558"/>
              <a:chExt cx="874800" cy="933900"/>
            </a:xfrm>
          </p:grpSpPr>
          <p:sp>
            <p:nvSpPr>
              <p:cNvPr id="1316" name="Google Shape;1316;p90"/>
              <p:cNvSpPr txBox="1"/>
              <p:nvPr/>
            </p:nvSpPr>
            <p:spPr>
              <a:xfrm>
                <a:off x="2773791"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317" name="Google Shape;1317;p90"/>
              <p:cNvSpPr txBox="1"/>
              <p:nvPr/>
            </p:nvSpPr>
            <p:spPr>
              <a:xfrm>
                <a:off x="2773791"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318" name="Google Shape;1318;p90"/>
              <p:cNvSpPr txBox="1"/>
              <p:nvPr/>
            </p:nvSpPr>
            <p:spPr>
              <a:xfrm>
                <a:off x="2773791" y="32585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grpSp>
        <p:grpSp>
          <p:nvGrpSpPr>
            <p:cNvPr id="1319" name="Google Shape;1319;p90"/>
            <p:cNvGrpSpPr/>
            <p:nvPr/>
          </p:nvGrpSpPr>
          <p:grpSpPr>
            <a:xfrm>
              <a:off x="3896508" y="4287358"/>
              <a:ext cx="882342" cy="629100"/>
              <a:chOff x="4130308" y="3563358"/>
              <a:chExt cx="882342" cy="629100"/>
            </a:xfrm>
          </p:grpSpPr>
          <p:sp>
            <p:nvSpPr>
              <p:cNvPr id="1320" name="Google Shape;1320;p90"/>
              <p:cNvSpPr txBox="1"/>
              <p:nvPr/>
            </p:nvSpPr>
            <p:spPr>
              <a:xfrm>
                <a:off x="4130308"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321" name="Google Shape;1321;p90"/>
              <p:cNvSpPr txBox="1"/>
              <p:nvPr/>
            </p:nvSpPr>
            <p:spPr>
              <a:xfrm>
                <a:off x="4137850" y="35633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pSp>
        <p:grpSp>
          <p:nvGrpSpPr>
            <p:cNvPr id="1322" name="Google Shape;1322;p90"/>
            <p:cNvGrpSpPr/>
            <p:nvPr/>
          </p:nvGrpSpPr>
          <p:grpSpPr>
            <a:xfrm>
              <a:off x="5260566" y="4592158"/>
              <a:ext cx="2236625" cy="331842"/>
              <a:chOff x="5494366" y="3868158"/>
              <a:chExt cx="2236625" cy="331842"/>
            </a:xfrm>
          </p:grpSpPr>
          <p:sp>
            <p:nvSpPr>
              <p:cNvPr id="1323" name="Google Shape;1323;p90"/>
              <p:cNvSpPr txBox="1"/>
              <p:nvPr/>
            </p:nvSpPr>
            <p:spPr>
              <a:xfrm>
                <a:off x="5494366" y="3868158"/>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sz="1800">
                  <a:solidFill>
                    <a:schemeClr val="dk1"/>
                  </a:solidFill>
                  <a:latin typeface="Lexend"/>
                  <a:ea typeface="Lexend"/>
                  <a:cs typeface="Lexend"/>
                  <a:sym typeface="Lexend"/>
                </a:endParaRPr>
              </a:p>
            </p:txBody>
          </p:sp>
          <p:sp>
            <p:nvSpPr>
              <p:cNvPr id="1324" name="Google Shape;1324;p90"/>
              <p:cNvSpPr txBox="1"/>
              <p:nvPr/>
            </p:nvSpPr>
            <p:spPr>
              <a:xfrm>
                <a:off x="6856191" y="38757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grpSp>
      </p:grpSp>
      <p:sp>
        <p:nvSpPr>
          <p:cNvPr id="1325" name="Google Shape;1325;p90"/>
          <p:cNvSpPr/>
          <p:nvPr/>
        </p:nvSpPr>
        <p:spPr>
          <a:xfrm>
            <a:off x="324300" y="3539700"/>
            <a:ext cx="7475100" cy="12117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6" name="Google Shape;1326;p90"/>
          <p:cNvSpPr txBox="1"/>
          <p:nvPr/>
        </p:nvSpPr>
        <p:spPr>
          <a:xfrm>
            <a:off x="6924516" y="4251799"/>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Izzy</a:t>
            </a:r>
            <a:endParaRPr sz="1800">
              <a:solidFill>
                <a:schemeClr val="dk1"/>
              </a:solidFill>
              <a:latin typeface="Lexend"/>
              <a:ea typeface="Lexend"/>
              <a:cs typeface="Lexend"/>
              <a:sym typeface="Lexend"/>
            </a:endParaRPr>
          </a:p>
        </p:txBody>
      </p:sp>
      <p:sp>
        <p:nvSpPr>
          <p:cNvPr id="1327" name="Google Shape;1327;p90"/>
          <p:cNvSpPr txBox="1"/>
          <p:nvPr/>
        </p:nvSpPr>
        <p:spPr>
          <a:xfrm>
            <a:off x="324300" y="2571750"/>
            <a:ext cx="8495700" cy="104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Method 3 led to pallets which we know cannot have any more items placed on them.</a:t>
            </a:r>
            <a:endParaRPr sz="2000">
              <a:solidFill>
                <a:schemeClr val="dk1"/>
              </a:solidFill>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9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It all depends on what constraints there are, such as the size of the items or the dimensions of the packing crates.</a:t>
            </a:r>
            <a:endParaRPr/>
          </a:p>
        </p:txBody>
      </p:sp>
      <p:sp>
        <p:nvSpPr>
          <p:cNvPr id="1333" name="Google Shape;1333;p91"/>
          <p:cNvSpPr txBox="1"/>
          <p:nvPr>
            <p:ph idx="2" type="subTitle"/>
          </p:nvPr>
        </p:nvSpPr>
        <p:spPr>
          <a:xfrm>
            <a:off x="324000" y="1080000"/>
            <a:ext cx="8496000" cy="25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There is only one efficient way to pack items for transporting.</a:t>
            </a:r>
            <a:endParaRPr/>
          </a:p>
        </p:txBody>
      </p:sp>
      <p:sp>
        <p:nvSpPr>
          <p:cNvPr id="1334" name="Google Shape;1334;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pic>
        <p:nvPicPr>
          <p:cNvPr id="1335" name="Google Shape;1335;p91"/>
          <p:cNvPicPr preferRelativeResize="0"/>
          <p:nvPr/>
        </p:nvPicPr>
        <p:blipFill>
          <a:blip r:embed="rId3">
            <a:alphaModFix/>
          </a:blip>
          <a:stretch>
            <a:fillRect/>
          </a:stretch>
        </p:blipFill>
        <p:spPr>
          <a:xfrm>
            <a:off x="6256808" y="20378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341" name="Google Shape;1341;p92"/>
          <p:cNvSpPr txBox="1"/>
          <p:nvPr>
            <p:ph idx="1" type="body"/>
          </p:nvPr>
        </p:nvSpPr>
        <p:spPr>
          <a:xfrm>
            <a:off x="324000" y="759300"/>
            <a:ext cx="8237700" cy="111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A ferry transports vehicles across a river. The ferry has three lanes that vehicles can use. Each lane is 30 m long.</a:t>
            </a:r>
            <a:endParaRPr sz="1800"/>
          </a:p>
          <a:p>
            <a:pPr indent="0" lvl="0" marL="0" rtl="0" algn="l">
              <a:spcBef>
                <a:spcPts val="1000"/>
              </a:spcBef>
              <a:spcAft>
                <a:spcPts val="0"/>
              </a:spcAft>
              <a:buNone/>
            </a:pPr>
            <a:r>
              <a:rPr lang="en-GB" sz="1800"/>
              <a:t>One morning these vehicles arrive in this order:</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200"/>
          </a:p>
          <a:p>
            <a:pPr indent="0" lvl="0" marL="0" rtl="0" algn="l">
              <a:spcBef>
                <a:spcPts val="1000"/>
              </a:spcBef>
              <a:spcAft>
                <a:spcPts val="1000"/>
              </a:spcAft>
              <a:buClr>
                <a:schemeClr val="dk1"/>
              </a:buClr>
              <a:buSzPts val="1100"/>
              <a:buFont typeface="Arial"/>
              <a:buNone/>
            </a:pPr>
            <a:r>
              <a:rPr lang="en-GB" sz="1800"/>
              <a:t>a) By loading each vehicle, as it arrives, into the first available lane, will all the vehicles be able to cross? Justify your answer.</a:t>
            </a:r>
            <a:endParaRPr sz="1800"/>
          </a:p>
        </p:txBody>
      </p:sp>
      <p:graphicFrame>
        <p:nvGraphicFramePr>
          <p:cNvPr id="1342" name="Google Shape;1342;p92"/>
          <p:cNvGraphicFramePr/>
          <p:nvPr/>
        </p:nvGraphicFramePr>
        <p:xfrm>
          <a:off x="577250" y="18705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1</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2</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 + trailer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3</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5</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bl>
          </a:graphicData>
        </a:graphic>
      </p:graphicFrame>
      <p:graphicFrame>
        <p:nvGraphicFramePr>
          <p:cNvPr id="1343" name="Google Shape;1343;p92"/>
          <p:cNvGraphicFramePr/>
          <p:nvPr/>
        </p:nvGraphicFramePr>
        <p:xfrm>
          <a:off x="4432675" y="18705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12</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8</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9</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11</a:t>
                      </a:r>
                      <a:endParaRPr>
                        <a:latin typeface="Lexend"/>
                        <a:ea typeface="Lexend"/>
                        <a:cs typeface="Lexend"/>
                        <a:sym typeface="Lexend"/>
                      </a:endParaRPr>
                    </a:p>
                  </a:txBody>
                  <a:tcPr marT="0" marB="0" marR="0" marL="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349" name="Google Shape;1349;p93"/>
          <p:cNvSpPr txBox="1"/>
          <p:nvPr>
            <p:ph idx="1" type="body"/>
          </p:nvPr>
        </p:nvSpPr>
        <p:spPr>
          <a:xfrm>
            <a:off x="324000" y="759300"/>
            <a:ext cx="8237700" cy="111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A ferry transports vehicles across a river. The ferry has three lanes that vehicles can use. Each lane is 30 m long.</a:t>
            </a:r>
            <a:endParaRPr sz="1800"/>
          </a:p>
          <a:p>
            <a:pPr indent="0" lvl="0" marL="0" rtl="0" algn="l">
              <a:spcBef>
                <a:spcPts val="1000"/>
              </a:spcBef>
              <a:spcAft>
                <a:spcPts val="0"/>
              </a:spcAft>
              <a:buNone/>
            </a:pPr>
            <a:r>
              <a:rPr lang="en-GB" sz="1800"/>
              <a:t>One morning these vehicles arrive in this order:</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200"/>
          </a:p>
          <a:p>
            <a:pPr indent="0" lvl="0" marL="0" rtl="0" algn="l">
              <a:spcBef>
                <a:spcPts val="1000"/>
              </a:spcBef>
              <a:spcAft>
                <a:spcPts val="0"/>
              </a:spcAft>
              <a:buClr>
                <a:schemeClr val="dk1"/>
              </a:buClr>
              <a:buSzPts val="1100"/>
              <a:buFont typeface="Arial"/>
              <a:buNone/>
            </a:pPr>
            <a:r>
              <a:rPr lang="en-GB" sz="1800"/>
              <a:t>b) By considering all the vehicles (regardless of when they arrived), can all vehicles be loaded onto the ferry? Justify your answer. </a:t>
            </a:r>
            <a:endParaRPr sz="1800"/>
          </a:p>
          <a:p>
            <a:pPr indent="0" lvl="0" marL="0" rtl="0" algn="l">
              <a:spcBef>
                <a:spcPts val="1000"/>
              </a:spcBef>
              <a:spcAft>
                <a:spcPts val="1000"/>
              </a:spcAft>
              <a:buClr>
                <a:schemeClr val="dk1"/>
              </a:buClr>
              <a:buSzPts val="1100"/>
              <a:buFont typeface="Arial"/>
              <a:buNone/>
            </a:pPr>
            <a:r>
              <a:rPr lang="en-GB" sz="1800"/>
              <a:t>c) Why is your answer to part b not necessarily practical?</a:t>
            </a:r>
            <a:endParaRPr sz="1800"/>
          </a:p>
        </p:txBody>
      </p:sp>
      <p:graphicFrame>
        <p:nvGraphicFramePr>
          <p:cNvPr id="1350" name="Google Shape;1350;p93"/>
          <p:cNvGraphicFramePr/>
          <p:nvPr/>
        </p:nvGraphicFramePr>
        <p:xfrm>
          <a:off x="577250" y="18705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1</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2</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 + trailer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3</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5</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bl>
          </a:graphicData>
        </a:graphic>
      </p:graphicFrame>
      <p:graphicFrame>
        <p:nvGraphicFramePr>
          <p:cNvPr id="1351" name="Google Shape;1351;p93"/>
          <p:cNvGraphicFramePr/>
          <p:nvPr/>
        </p:nvGraphicFramePr>
        <p:xfrm>
          <a:off x="4432675" y="18705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12</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8</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9</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11</a:t>
                      </a:r>
                      <a:endParaRPr>
                        <a:latin typeface="Lexend"/>
                        <a:ea typeface="Lexend"/>
                        <a:cs typeface="Lexend"/>
                        <a:sym typeface="Lexend"/>
                      </a:endParaRPr>
                    </a:p>
                  </a:txBody>
                  <a:tcPr marT="0" marB="0" marR="0" marL="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357" name="Google Shape;1357;p94"/>
          <p:cNvSpPr txBox="1"/>
          <p:nvPr>
            <p:ph idx="1" type="body"/>
          </p:nvPr>
        </p:nvSpPr>
        <p:spPr>
          <a:xfrm>
            <a:off x="324000" y="759300"/>
            <a:ext cx="8237700" cy="111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a:t>
            </a:r>
            <a:r>
              <a:rPr lang="en-GB" sz="1800"/>
              <a:t>) Jacob is backing up his computer. He is copying games onto 32GB USB sticks. The size of each game is listed in the table.</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200"/>
          </a:p>
          <a:p>
            <a:pPr indent="0" lvl="0" marL="0" rtl="0" algn="l">
              <a:spcBef>
                <a:spcPts val="1000"/>
              </a:spcBef>
              <a:spcAft>
                <a:spcPts val="0"/>
              </a:spcAft>
              <a:buNone/>
            </a:pPr>
            <a:r>
              <a:rPr lang="en-GB" sz="1800"/>
              <a:t>a) </a:t>
            </a:r>
            <a:r>
              <a:rPr lang="en-GB" sz="1800"/>
              <a:t>Jacob thinks that it is possible to store all the games on five USB sticks. Explain why Jacob might think this and why he is mistaken.</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b) State the smallest number of USB sticks that will be needed and give a possible solution as to which games will be stored on each USB stick.</a:t>
            </a:r>
            <a:endParaRPr sz="1800"/>
          </a:p>
        </p:txBody>
      </p:sp>
      <p:graphicFrame>
        <p:nvGraphicFramePr>
          <p:cNvPr id="1358" name="Google Shape;1358;p94"/>
          <p:cNvGraphicFramePr/>
          <p:nvPr/>
        </p:nvGraphicFramePr>
        <p:xfrm>
          <a:off x="324000" y="1448175"/>
          <a:ext cx="3000000" cy="3000000"/>
        </p:xfrm>
        <a:graphic>
          <a:graphicData uri="http://schemas.openxmlformats.org/drawingml/2006/table">
            <a:tbl>
              <a:tblPr>
                <a:noFill/>
                <a:tableStyleId>{564A8307-0F7D-4AD2-ADF6-A58BC17439A6}</a:tableStyleId>
              </a:tblPr>
              <a:tblGrid>
                <a:gridCol w="1175550"/>
                <a:gridCol w="915050"/>
                <a:gridCol w="915050"/>
                <a:gridCol w="915050"/>
                <a:gridCol w="915050"/>
                <a:gridCol w="915050"/>
                <a:gridCol w="915050"/>
                <a:gridCol w="915050"/>
                <a:gridCol w="915050"/>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Game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A</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B</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C</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D</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E</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F</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G</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H</a:t>
                      </a:r>
                      <a:endParaRPr>
                        <a:solidFill>
                          <a:schemeClr val="dk1"/>
                        </a:solidFill>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Size (GB)</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8</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13</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17</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21</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22</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24</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25</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25</a:t>
                      </a:r>
                      <a:endParaRPr>
                        <a:solidFill>
                          <a:schemeClr val="dk1"/>
                        </a:solidFill>
                        <a:latin typeface="Lexend"/>
                        <a:ea typeface="Lexend"/>
                        <a:cs typeface="Lexend"/>
                        <a:sym typeface="Lexend"/>
                      </a:endParaRPr>
                    </a:p>
                  </a:txBody>
                  <a:tcPr marT="0" marB="0" marR="0" marL="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364" name="Google Shape;1364;p9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A ferry transports vehicles across a river. The ferry has three lanes that vehicles can use. Each lane is 30 m long.</a:t>
            </a:r>
            <a:endParaRPr sz="1800"/>
          </a:p>
          <a:p>
            <a:pPr indent="0" lvl="0" marL="0" rtl="0" algn="l">
              <a:spcBef>
                <a:spcPts val="1000"/>
              </a:spcBef>
              <a:spcAft>
                <a:spcPts val="0"/>
              </a:spcAft>
              <a:buNone/>
            </a:pPr>
            <a:r>
              <a:rPr lang="en-GB" sz="1800"/>
              <a:t>One morning these vehicles arrive in this order:</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200"/>
          </a:p>
          <a:p>
            <a:pPr indent="0" lvl="0" marL="0" rtl="0" algn="l">
              <a:spcBef>
                <a:spcPts val="1000"/>
              </a:spcBef>
              <a:spcAft>
                <a:spcPts val="1000"/>
              </a:spcAft>
              <a:buNone/>
            </a:pPr>
            <a:r>
              <a:t/>
            </a:r>
            <a:endParaRPr sz="1800"/>
          </a:p>
        </p:txBody>
      </p:sp>
      <p:graphicFrame>
        <p:nvGraphicFramePr>
          <p:cNvPr id="1365" name="Google Shape;1365;p95"/>
          <p:cNvGraphicFramePr/>
          <p:nvPr/>
        </p:nvGraphicFramePr>
        <p:xfrm>
          <a:off x="577250" y="18705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1</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2</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 + trailer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3</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5</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bl>
          </a:graphicData>
        </a:graphic>
      </p:graphicFrame>
      <p:graphicFrame>
        <p:nvGraphicFramePr>
          <p:cNvPr id="1366" name="Google Shape;1366;p95"/>
          <p:cNvGraphicFramePr/>
          <p:nvPr/>
        </p:nvGraphicFramePr>
        <p:xfrm>
          <a:off x="4432675" y="18705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12</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8</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9</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11</a:t>
                      </a:r>
                      <a:endParaRPr>
                        <a:latin typeface="Lexend"/>
                        <a:ea typeface="Lexend"/>
                        <a:cs typeface="Lexend"/>
                        <a:sym typeface="Lexend"/>
                      </a:endParaRPr>
                    </a:p>
                  </a:txBody>
                  <a:tcPr marT="0" marB="0" marR="0" marL="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372" name="Google Shape;1372;p96"/>
          <p:cNvSpPr txBox="1"/>
          <p:nvPr>
            <p:ph idx="1" type="body"/>
          </p:nvPr>
        </p:nvSpPr>
        <p:spPr>
          <a:xfrm>
            <a:off x="324000" y="759300"/>
            <a:ext cx="8237700" cy="64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By loading each vehicle, as it arrives, into the first available lane, will all the vehicles be able to cross? Justify your answer.</a:t>
            </a:r>
            <a:endParaRPr sz="1800"/>
          </a:p>
        </p:txBody>
      </p:sp>
      <p:graphicFrame>
        <p:nvGraphicFramePr>
          <p:cNvPr id="1373" name="Google Shape;1373;p96"/>
          <p:cNvGraphicFramePr/>
          <p:nvPr/>
        </p:nvGraphicFramePr>
        <p:xfrm>
          <a:off x="577250" y="14133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1</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2</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 + trailer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3</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5</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bl>
          </a:graphicData>
        </a:graphic>
      </p:graphicFrame>
      <p:graphicFrame>
        <p:nvGraphicFramePr>
          <p:cNvPr id="1374" name="Google Shape;1374;p96"/>
          <p:cNvGraphicFramePr/>
          <p:nvPr/>
        </p:nvGraphicFramePr>
        <p:xfrm>
          <a:off x="4432675" y="14133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12</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8</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9</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11</a:t>
                      </a:r>
                      <a:endParaRPr>
                        <a:latin typeface="Lexend"/>
                        <a:ea typeface="Lexend"/>
                        <a:cs typeface="Lexend"/>
                        <a:sym typeface="Lexend"/>
                      </a:endParaRPr>
                    </a:p>
                  </a:txBody>
                  <a:tcPr marT="0" marB="0" marR="0" marL="0"/>
                </a:tc>
              </a:tr>
            </a:tbl>
          </a:graphicData>
        </a:graphic>
      </p:graphicFrame>
      <p:grpSp>
        <p:nvGrpSpPr>
          <p:cNvPr id="1375" name="Google Shape;1375;p96"/>
          <p:cNvGrpSpPr/>
          <p:nvPr/>
        </p:nvGrpSpPr>
        <p:grpSpPr>
          <a:xfrm>
            <a:off x="2644650" y="4176826"/>
            <a:ext cx="874800" cy="241200"/>
            <a:chOff x="1538525" y="3973751"/>
            <a:chExt cx="874800" cy="241200"/>
          </a:xfrm>
        </p:grpSpPr>
        <p:cxnSp>
          <p:nvCxnSpPr>
            <p:cNvPr id="1376" name="Google Shape;1376;p9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377" name="Google Shape;1377;p9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378" name="Google Shape;1378;p9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379" name="Google Shape;1379;p96"/>
          <p:cNvGrpSpPr/>
          <p:nvPr/>
        </p:nvGrpSpPr>
        <p:grpSpPr>
          <a:xfrm>
            <a:off x="4005450" y="4176826"/>
            <a:ext cx="874800" cy="241200"/>
            <a:chOff x="1538525" y="3973751"/>
            <a:chExt cx="874800" cy="241200"/>
          </a:xfrm>
        </p:grpSpPr>
        <p:cxnSp>
          <p:nvCxnSpPr>
            <p:cNvPr id="1380" name="Google Shape;1380;p9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381" name="Google Shape;1381;p9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382" name="Google Shape;1382;p9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383" name="Google Shape;1383;p96"/>
          <p:cNvGrpSpPr/>
          <p:nvPr/>
        </p:nvGrpSpPr>
        <p:grpSpPr>
          <a:xfrm>
            <a:off x="5366250" y="4176826"/>
            <a:ext cx="874800" cy="241200"/>
            <a:chOff x="1538525" y="3973751"/>
            <a:chExt cx="874800" cy="241200"/>
          </a:xfrm>
        </p:grpSpPr>
        <p:cxnSp>
          <p:nvCxnSpPr>
            <p:cNvPr id="1384" name="Google Shape;1384;p96"/>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385" name="Google Shape;1385;p96"/>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386" name="Google Shape;1386;p96"/>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387" name="Google Shape;1387;p96"/>
          <p:cNvSpPr txBox="1"/>
          <p:nvPr/>
        </p:nvSpPr>
        <p:spPr>
          <a:xfrm>
            <a:off x="2644650" y="4319875"/>
            <a:ext cx="35964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a:t>
            </a:r>
            <a:endParaRPr sz="1800">
              <a:solidFill>
                <a:schemeClr val="dk1"/>
              </a:solidFill>
              <a:latin typeface="Lexend"/>
              <a:ea typeface="Lexend"/>
              <a:cs typeface="Lexend"/>
              <a:sym typeface="Lexend"/>
            </a:endParaRPr>
          </a:p>
        </p:txBody>
      </p:sp>
      <p:sp>
        <p:nvSpPr>
          <p:cNvPr id="1388" name="Google Shape;1388;p96"/>
          <p:cNvSpPr txBox="1"/>
          <p:nvPr/>
        </p:nvSpPr>
        <p:spPr>
          <a:xfrm>
            <a:off x="2644650" y="39630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4</a:t>
            </a:r>
            <a:endParaRPr sz="1800">
              <a:solidFill>
                <a:schemeClr val="dk1"/>
              </a:solidFill>
              <a:latin typeface="Kalam"/>
              <a:ea typeface="Kalam"/>
              <a:cs typeface="Kalam"/>
              <a:sym typeface="Kalam"/>
            </a:endParaRPr>
          </a:p>
        </p:txBody>
      </p:sp>
      <p:sp>
        <p:nvSpPr>
          <p:cNvPr id="1389" name="Google Shape;1389;p96"/>
          <p:cNvSpPr txBox="1"/>
          <p:nvPr/>
        </p:nvSpPr>
        <p:spPr>
          <a:xfrm>
            <a:off x="2644650" y="37344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7</a:t>
            </a:r>
            <a:endParaRPr sz="1800">
              <a:solidFill>
                <a:schemeClr val="dk1"/>
              </a:solidFill>
              <a:latin typeface="Kalam"/>
              <a:ea typeface="Kalam"/>
              <a:cs typeface="Kalam"/>
              <a:sym typeface="Kalam"/>
            </a:endParaRPr>
          </a:p>
        </p:txBody>
      </p:sp>
      <p:sp>
        <p:nvSpPr>
          <p:cNvPr id="1390" name="Google Shape;1390;p96"/>
          <p:cNvSpPr txBox="1"/>
          <p:nvPr/>
        </p:nvSpPr>
        <p:spPr>
          <a:xfrm>
            <a:off x="2644650" y="35058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13</a:t>
            </a:r>
            <a:endParaRPr sz="1800">
              <a:solidFill>
                <a:schemeClr val="dk1"/>
              </a:solidFill>
              <a:latin typeface="Kalam"/>
              <a:ea typeface="Kalam"/>
              <a:cs typeface="Kalam"/>
              <a:sym typeface="Kalam"/>
            </a:endParaRPr>
          </a:p>
        </p:txBody>
      </p:sp>
      <p:sp>
        <p:nvSpPr>
          <p:cNvPr id="1391" name="Google Shape;1391;p96"/>
          <p:cNvSpPr txBox="1"/>
          <p:nvPr/>
        </p:nvSpPr>
        <p:spPr>
          <a:xfrm>
            <a:off x="2644650" y="32772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6</a:t>
            </a:r>
            <a:endParaRPr sz="1800">
              <a:solidFill>
                <a:schemeClr val="dk1"/>
              </a:solidFill>
              <a:latin typeface="Kalam"/>
              <a:ea typeface="Kalam"/>
              <a:cs typeface="Kalam"/>
              <a:sym typeface="Kalam"/>
            </a:endParaRPr>
          </a:p>
        </p:txBody>
      </p:sp>
      <p:sp>
        <p:nvSpPr>
          <p:cNvPr id="1392" name="Google Shape;1392;p96"/>
          <p:cNvSpPr txBox="1"/>
          <p:nvPr/>
        </p:nvSpPr>
        <p:spPr>
          <a:xfrm>
            <a:off x="3997908" y="39630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13</a:t>
            </a:r>
            <a:endParaRPr sz="1800">
              <a:solidFill>
                <a:schemeClr val="dk1"/>
              </a:solidFill>
              <a:latin typeface="Kalam"/>
              <a:ea typeface="Kalam"/>
              <a:cs typeface="Kalam"/>
              <a:sym typeface="Kalam"/>
            </a:endParaRPr>
          </a:p>
        </p:txBody>
      </p:sp>
      <p:sp>
        <p:nvSpPr>
          <p:cNvPr id="1393" name="Google Shape;1393;p96"/>
          <p:cNvSpPr txBox="1"/>
          <p:nvPr/>
        </p:nvSpPr>
        <p:spPr>
          <a:xfrm>
            <a:off x="3997908" y="37344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4</a:t>
            </a:r>
            <a:endParaRPr sz="1800">
              <a:solidFill>
                <a:schemeClr val="dk1"/>
              </a:solidFill>
              <a:latin typeface="Kalam"/>
              <a:ea typeface="Kalam"/>
              <a:cs typeface="Kalam"/>
              <a:sym typeface="Kalam"/>
            </a:endParaRPr>
          </a:p>
        </p:txBody>
      </p:sp>
      <p:sp>
        <p:nvSpPr>
          <p:cNvPr id="1394" name="Google Shape;1394;p96"/>
          <p:cNvSpPr txBox="1"/>
          <p:nvPr/>
        </p:nvSpPr>
        <p:spPr>
          <a:xfrm>
            <a:off x="3997908" y="35058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12</a:t>
            </a:r>
            <a:endParaRPr sz="1800">
              <a:solidFill>
                <a:schemeClr val="dk1"/>
              </a:solidFill>
              <a:latin typeface="Kalam"/>
              <a:ea typeface="Kalam"/>
              <a:cs typeface="Kalam"/>
              <a:sym typeface="Kalam"/>
            </a:endParaRPr>
          </a:p>
        </p:txBody>
      </p:sp>
      <p:sp>
        <p:nvSpPr>
          <p:cNvPr id="1395" name="Google Shape;1395;p96"/>
          <p:cNvSpPr txBox="1"/>
          <p:nvPr/>
        </p:nvSpPr>
        <p:spPr>
          <a:xfrm>
            <a:off x="5366258" y="39630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14</a:t>
            </a:r>
            <a:endParaRPr sz="1800">
              <a:solidFill>
                <a:schemeClr val="dk1"/>
              </a:solidFill>
              <a:latin typeface="Kalam"/>
              <a:ea typeface="Kalam"/>
              <a:cs typeface="Kalam"/>
              <a:sym typeface="Kalam"/>
            </a:endParaRPr>
          </a:p>
        </p:txBody>
      </p:sp>
      <p:sp>
        <p:nvSpPr>
          <p:cNvPr id="1396" name="Google Shape;1396;p96"/>
          <p:cNvSpPr txBox="1"/>
          <p:nvPr/>
        </p:nvSpPr>
        <p:spPr>
          <a:xfrm>
            <a:off x="5366258" y="37344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6</a:t>
            </a:r>
            <a:endParaRPr sz="1800">
              <a:solidFill>
                <a:schemeClr val="dk1"/>
              </a:solidFill>
              <a:latin typeface="Kalam"/>
              <a:ea typeface="Kalam"/>
              <a:cs typeface="Kalam"/>
              <a:sym typeface="Kalam"/>
            </a:endParaRPr>
          </a:p>
        </p:txBody>
      </p:sp>
      <p:sp>
        <p:nvSpPr>
          <p:cNvPr id="1397" name="Google Shape;1397;p96"/>
          <p:cNvSpPr/>
          <p:nvPr/>
        </p:nvSpPr>
        <p:spPr>
          <a:xfrm>
            <a:off x="7338150" y="2663950"/>
            <a:ext cx="241200" cy="2412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8" name="Google Shape;1398;p96"/>
          <p:cNvSpPr txBox="1"/>
          <p:nvPr>
            <p:ph idx="4294967295" type="subTitle"/>
          </p:nvPr>
        </p:nvSpPr>
        <p:spPr>
          <a:xfrm>
            <a:off x="6538725" y="3601575"/>
            <a:ext cx="1894800" cy="104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The final lorry cannot make the crossing.</a:t>
            </a:r>
            <a:endParaRPr sz="1800">
              <a:latin typeface="Kalam"/>
              <a:ea typeface="Kalam"/>
              <a:cs typeface="Kalam"/>
              <a:sym typeface="Kala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404" name="Google Shape;1404;p97"/>
          <p:cNvSpPr txBox="1"/>
          <p:nvPr>
            <p:ph idx="1" type="body"/>
          </p:nvPr>
        </p:nvSpPr>
        <p:spPr>
          <a:xfrm>
            <a:off x="324000" y="759300"/>
            <a:ext cx="8237700" cy="643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b) By considering all the vehicles (regardless of when they arrived), can all vehicles be loaded onto the ferry? Justify your answer.</a:t>
            </a:r>
            <a:endParaRPr sz="1800"/>
          </a:p>
        </p:txBody>
      </p:sp>
      <p:graphicFrame>
        <p:nvGraphicFramePr>
          <p:cNvPr id="1405" name="Google Shape;1405;p97"/>
          <p:cNvGraphicFramePr/>
          <p:nvPr/>
        </p:nvGraphicFramePr>
        <p:xfrm>
          <a:off x="577250" y="14133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1</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2</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 + trailer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3</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5</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bl>
          </a:graphicData>
        </a:graphic>
      </p:graphicFrame>
      <p:graphicFrame>
        <p:nvGraphicFramePr>
          <p:cNvPr id="1406" name="Google Shape;1406;p97"/>
          <p:cNvGraphicFramePr/>
          <p:nvPr/>
        </p:nvGraphicFramePr>
        <p:xfrm>
          <a:off x="4432675" y="14133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12</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8</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9</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11</a:t>
                      </a:r>
                      <a:endParaRPr>
                        <a:latin typeface="Lexend"/>
                        <a:ea typeface="Lexend"/>
                        <a:cs typeface="Lexend"/>
                        <a:sym typeface="Lexend"/>
                      </a:endParaRPr>
                    </a:p>
                  </a:txBody>
                  <a:tcPr marT="0" marB="0" marR="0" marL="0"/>
                </a:tc>
              </a:tr>
            </a:tbl>
          </a:graphicData>
        </a:graphic>
      </p:graphicFrame>
      <p:grpSp>
        <p:nvGrpSpPr>
          <p:cNvPr id="1407" name="Google Shape;1407;p97"/>
          <p:cNvGrpSpPr/>
          <p:nvPr/>
        </p:nvGrpSpPr>
        <p:grpSpPr>
          <a:xfrm>
            <a:off x="2644650" y="4176826"/>
            <a:ext cx="874800" cy="241200"/>
            <a:chOff x="1538525" y="3973751"/>
            <a:chExt cx="874800" cy="241200"/>
          </a:xfrm>
        </p:grpSpPr>
        <p:cxnSp>
          <p:nvCxnSpPr>
            <p:cNvPr id="1408" name="Google Shape;1408;p9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09" name="Google Shape;1409;p9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10" name="Google Shape;1410;p9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411" name="Google Shape;1411;p97"/>
          <p:cNvGrpSpPr/>
          <p:nvPr/>
        </p:nvGrpSpPr>
        <p:grpSpPr>
          <a:xfrm>
            <a:off x="4005450" y="4176826"/>
            <a:ext cx="874800" cy="241200"/>
            <a:chOff x="1538525" y="3973751"/>
            <a:chExt cx="874800" cy="241200"/>
          </a:xfrm>
        </p:grpSpPr>
        <p:cxnSp>
          <p:nvCxnSpPr>
            <p:cNvPr id="1412" name="Google Shape;1412;p9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13" name="Google Shape;1413;p9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14" name="Google Shape;1414;p9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415" name="Google Shape;1415;p97"/>
          <p:cNvGrpSpPr/>
          <p:nvPr/>
        </p:nvGrpSpPr>
        <p:grpSpPr>
          <a:xfrm>
            <a:off x="5366250" y="4176826"/>
            <a:ext cx="874800" cy="241200"/>
            <a:chOff x="1538525" y="3973751"/>
            <a:chExt cx="874800" cy="241200"/>
          </a:xfrm>
        </p:grpSpPr>
        <p:cxnSp>
          <p:nvCxnSpPr>
            <p:cNvPr id="1416" name="Google Shape;1416;p97"/>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17" name="Google Shape;1417;p97"/>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18" name="Google Shape;1418;p97"/>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419" name="Google Shape;1419;p97"/>
          <p:cNvSpPr txBox="1"/>
          <p:nvPr/>
        </p:nvSpPr>
        <p:spPr>
          <a:xfrm>
            <a:off x="2644650" y="4319875"/>
            <a:ext cx="35964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a:t>
            </a:r>
            <a:endParaRPr sz="1800">
              <a:solidFill>
                <a:schemeClr val="dk1"/>
              </a:solidFill>
              <a:latin typeface="Lexend"/>
              <a:ea typeface="Lexend"/>
              <a:cs typeface="Lexend"/>
              <a:sym typeface="Lexend"/>
            </a:endParaRPr>
          </a:p>
        </p:txBody>
      </p:sp>
      <p:sp>
        <p:nvSpPr>
          <p:cNvPr id="1420" name="Google Shape;1420;p97"/>
          <p:cNvSpPr txBox="1"/>
          <p:nvPr/>
        </p:nvSpPr>
        <p:spPr>
          <a:xfrm>
            <a:off x="2644650" y="39630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4</a:t>
            </a:r>
            <a:endParaRPr sz="1800">
              <a:solidFill>
                <a:schemeClr val="dk1"/>
              </a:solidFill>
              <a:latin typeface="Kalam"/>
              <a:ea typeface="Kalam"/>
              <a:cs typeface="Kalam"/>
              <a:sym typeface="Kalam"/>
            </a:endParaRPr>
          </a:p>
        </p:txBody>
      </p:sp>
      <p:sp>
        <p:nvSpPr>
          <p:cNvPr id="1421" name="Google Shape;1421;p97"/>
          <p:cNvSpPr txBox="1"/>
          <p:nvPr/>
        </p:nvSpPr>
        <p:spPr>
          <a:xfrm>
            <a:off x="2644650" y="37344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7</a:t>
            </a:r>
            <a:endParaRPr sz="1800">
              <a:solidFill>
                <a:schemeClr val="dk1"/>
              </a:solidFill>
              <a:latin typeface="Kalam"/>
              <a:ea typeface="Kalam"/>
              <a:cs typeface="Kalam"/>
              <a:sym typeface="Kalam"/>
            </a:endParaRPr>
          </a:p>
        </p:txBody>
      </p:sp>
      <p:sp>
        <p:nvSpPr>
          <p:cNvPr id="1422" name="Google Shape;1422;p97"/>
          <p:cNvSpPr txBox="1"/>
          <p:nvPr/>
        </p:nvSpPr>
        <p:spPr>
          <a:xfrm>
            <a:off x="2644650" y="35058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13</a:t>
            </a:r>
            <a:endParaRPr sz="1800">
              <a:solidFill>
                <a:schemeClr val="dk1"/>
              </a:solidFill>
              <a:latin typeface="Kalam"/>
              <a:ea typeface="Kalam"/>
              <a:cs typeface="Kalam"/>
              <a:sym typeface="Kalam"/>
            </a:endParaRPr>
          </a:p>
        </p:txBody>
      </p:sp>
      <p:sp>
        <p:nvSpPr>
          <p:cNvPr id="1423" name="Google Shape;1423;p97"/>
          <p:cNvSpPr txBox="1"/>
          <p:nvPr/>
        </p:nvSpPr>
        <p:spPr>
          <a:xfrm>
            <a:off x="2644650" y="32772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6</a:t>
            </a:r>
            <a:endParaRPr sz="1800">
              <a:solidFill>
                <a:schemeClr val="dk1"/>
              </a:solidFill>
              <a:latin typeface="Kalam"/>
              <a:ea typeface="Kalam"/>
              <a:cs typeface="Kalam"/>
              <a:sym typeface="Kalam"/>
            </a:endParaRPr>
          </a:p>
        </p:txBody>
      </p:sp>
      <p:sp>
        <p:nvSpPr>
          <p:cNvPr id="1424" name="Google Shape;1424;p97"/>
          <p:cNvSpPr txBox="1"/>
          <p:nvPr/>
        </p:nvSpPr>
        <p:spPr>
          <a:xfrm>
            <a:off x="3997908" y="39630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13</a:t>
            </a:r>
            <a:endParaRPr sz="1800">
              <a:solidFill>
                <a:schemeClr val="dk1"/>
              </a:solidFill>
              <a:latin typeface="Kalam"/>
              <a:ea typeface="Kalam"/>
              <a:cs typeface="Kalam"/>
              <a:sym typeface="Kalam"/>
            </a:endParaRPr>
          </a:p>
        </p:txBody>
      </p:sp>
      <p:sp>
        <p:nvSpPr>
          <p:cNvPr id="1425" name="Google Shape;1425;p97"/>
          <p:cNvSpPr txBox="1"/>
          <p:nvPr/>
        </p:nvSpPr>
        <p:spPr>
          <a:xfrm>
            <a:off x="3997908" y="37344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6</a:t>
            </a:r>
            <a:endParaRPr sz="1800">
              <a:solidFill>
                <a:schemeClr val="dk1"/>
              </a:solidFill>
              <a:latin typeface="Kalam"/>
              <a:ea typeface="Kalam"/>
              <a:cs typeface="Kalam"/>
              <a:sym typeface="Kalam"/>
            </a:endParaRPr>
          </a:p>
        </p:txBody>
      </p:sp>
      <p:sp>
        <p:nvSpPr>
          <p:cNvPr id="1426" name="Google Shape;1426;p97"/>
          <p:cNvSpPr txBox="1"/>
          <p:nvPr/>
        </p:nvSpPr>
        <p:spPr>
          <a:xfrm>
            <a:off x="3997908" y="35058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11</a:t>
            </a:r>
            <a:endParaRPr sz="1800">
              <a:solidFill>
                <a:schemeClr val="dk1"/>
              </a:solidFill>
              <a:latin typeface="Kalam"/>
              <a:ea typeface="Kalam"/>
              <a:cs typeface="Kalam"/>
              <a:sym typeface="Kalam"/>
            </a:endParaRPr>
          </a:p>
        </p:txBody>
      </p:sp>
      <p:sp>
        <p:nvSpPr>
          <p:cNvPr id="1427" name="Google Shape;1427;p97"/>
          <p:cNvSpPr txBox="1"/>
          <p:nvPr/>
        </p:nvSpPr>
        <p:spPr>
          <a:xfrm>
            <a:off x="5366258" y="39630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4</a:t>
            </a:r>
            <a:endParaRPr sz="1800">
              <a:solidFill>
                <a:schemeClr val="dk1"/>
              </a:solidFill>
              <a:latin typeface="Kalam"/>
              <a:ea typeface="Kalam"/>
              <a:cs typeface="Kalam"/>
              <a:sym typeface="Kalam"/>
            </a:endParaRPr>
          </a:p>
        </p:txBody>
      </p:sp>
      <p:sp>
        <p:nvSpPr>
          <p:cNvPr id="1428" name="Google Shape;1428;p97"/>
          <p:cNvSpPr txBox="1"/>
          <p:nvPr/>
        </p:nvSpPr>
        <p:spPr>
          <a:xfrm>
            <a:off x="5366258" y="37344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12</a:t>
            </a:r>
            <a:endParaRPr sz="1800">
              <a:solidFill>
                <a:schemeClr val="dk1"/>
              </a:solidFill>
              <a:latin typeface="Kalam"/>
              <a:ea typeface="Kalam"/>
              <a:cs typeface="Kalam"/>
              <a:sym typeface="Kalam"/>
            </a:endParaRPr>
          </a:p>
        </p:txBody>
      </p:sp>
      <p:sp>
        <p:nvSpPr>
          <p:cNvPr id="1429" name="Google Shape;1429;p97"/>
          <p:cNvSpPr txBox="1"/>
          <p:nvPr>
            <p:ph idx="4294967295" type="subTitle"/>
          </p:nvPr>
        </p:nvSpPr>
        <p:spPr>
          <a:xfrm>
            <a:off x="6538725" y="3601575"/>
            <a:ext cx="1894800" cy="104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A possible solution</a:t>
            </a:r>
            <a:endParaRPr sz="1800">
              <a:latin typeface="Kalam"/>
              <a:ea typeface="Kalam"/>
              <a:cs typeface="Kalam"/>
              <a:sym typeface="Kalam"/>
            </a:endParaRPr>
          </a:p>
        </p:txBody>
      </p:sp>
      <p:sp>
        <p:nvSpPr>
          <p:cNvPr id="1430" name="Google Shape;1430;p97"/>
          <p:cNvSpPr txBox="1"/>
          <p:nvPr/>
        </p:nvSpPr>
        <p:spPr>
          <a:xfrm>
            <a:off x="5366258" y="350587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14</a:t>
            </a:r>
            <a:endParaRPr sz="1800">
              <a:solidFill>
                <a:schemeClr val="dk1"/>
              </a:solidFill>
              <a:latin typeface="Kalam"/>
              <a:ea typeface="Kalam"/>
              <a:cs typeface="Kalam"/>
              <a:sym typeface="Kala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436" name="Google Shape;1436;p98"/>
          <p:cNvSpPr txBox="1"/>
          <p:nvPr>
            <p:ph idx="1" type="body"/>
          </p:nvPr>
        </p:nvSpPr>
        <p:spPr>
          <a:xfrm>
            <a:off x="324000" y="759300"/>
            <a:ext cx="8237700" cy="643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c) Why is your answer to part b not necessarily practical?</a:t>
            </a:r>
            <a:endParaRPr sz="1800"/>
          </a:p>
        </p:txBody>
      </p:sp>
      <p:graphicFrame>
        <p:nvGraphicFramePr>
          <p:cNvPr id="1437" name="Google Shape;1437;p98"/>
          <p:cNvGraphicFramePr/>
          <p:nvPr/>
        </p:nvGraphicFramePr>
        <p:xfrm>
          <a:off x="577250" y="14133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1</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2</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 + trailer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3</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5</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13</a:t>
                      </a:r>
                      <a:endParaRPr>
                        <a:latin typeface="Lexend"/>
                        <a:ea typeface="Lexend"/>
                        <a:cs typeface="Lexend"/>
                        <a:sym typeface="Lexend"/>
                      </a:endParaRPr>
                    </a:p>
                  </a:txBody>
                  <a:tcPr marT="0" marB="0" marR="0" marL="0"/>
                </a:tc>
              </a:tr>
            </a:tbl>
          </a:graphicData>
        </a:graphic>
      </p:graphicFrame>
      <p:graphicFrame>
        <p:nvGraphicFramePr>
          <p:cNvPr id="1438" name="Google Shape;1438;p98"/>
          <p:cNvGraphicFramePr/>
          <p:nvPr/>
        </p:nvGraphicFramePr>
        <p:xfrm>
          <a:off x="4432675" y="1413300"/>
          <a:ext cx="3000000" cy="3000000"/>
        </p:xfrm>
        <a:graphic>
          <a:graphicData uri="http://schemas.openxmlformats.org/drawingml/2006/table">
            <a:tbl>
              <a:tblPr>
                <a:noFill/>
                <a:tableStyleId>{564A8307-0F7D-4AD2-ADF6-A58BC17439A6}</a:tableStyleId>
              </a:tblPr>
              <a:tblGrid>
                <a:gridCol w="1360800"/>
                <a:gridCol w="1059250"/>
                <a:gridCol w="1210025"/>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Arrival order</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Vehicle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Length (m)</a:t>
                      </a:r>
                      <a:endParaRPr b="1">
                        <a:solidFill>
                          <a:schemeClr val="lt1"/>
                        </a:solidFill>
                        <a:latin typeface="Lexend"/>
                        <a:ea typeface="Lexend"/>
                        <a:cs typeface="Lexend"/>
                        <a:sym typeface="Lexend"/>
                      </a:endParaRPr>
                    </a:p>
                  </a:txBody>
                  <a:tcPr marT="0" marB="0" marR="0" marL="0">
                    <a:solidFill>
                      <a:schemeClr val="accent4"/>
                    </a:solidFill>
                  </a:tcPr>
                </a:tc>
              </a:tr>
              <a:tr h="250375">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car</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7</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12</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8</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14</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9</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van</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6</a:t>
                      </a:r>
                      <a:endParaRPr>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lorry</a:t>
                      </a:r>
                      <a:endParaRPr>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latin typeface="Lexend"/>
                          <a:ea typeface="Lexend"/>
                          <a:cs typeface="Lexend"/>
                          <a:sym typeface="Lexend"/>
                        </a:rPr>
                        <a:t>11</a:t>
                      </a:r>
                      <a:endParaRPr>
                        <a:latin typeface="Lexend"/>
                        <a:ea typeface="Lexend"/>
                        <a:cs typeface="Lexend"/>
                        <a:sym typeface="Lexend"/>
                      </a:endParaRPr>
                    </a:p>
                  </a:txBody>
                  <a:tcPr marT="0" marB="0" marR="0" marL="0"/>
                </a:tc>
              </a:tr>
            </a:tbl>
          </a:graphicData>
        </a:graphic>
      </p:graphicFrame>
      <p:sp>
        <p:nvSpPr>
          <p:cNvPr id="1439" name="Google Shape;1439;p98"/>
          <p:cNvSpPr txBox="1"/>
          <p:nvPr>
            <p:ph idx="4294967295" type="subTitle"/>
          </p:nvPr>
        </p:nvSpPr>
        <p:spPr>
          <a:xfrm>
            <a:off x="577250" y="3099675"/>
            <a:ext cx="7856400" cy="154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Kalam"/>
                <a:ea typeface="Kalam"/>
                <a:cs typeface="Kalam"/>
                <a:sym typeface="Kalam"/>
              </a:rPr>
              <a:t>E.g. </a:t>
            </a:r>
            <a:r>
              <a:rPr lang="en-GB" sz="1800">
                <a:latin typeface="Kalam"/>
                <a:ea typeface="Kalam"/>
                <a:cs typeface="Kalam"/>
                <a:sym typeface="Kalam"/>
              </a:rPr>
              <a:t>Vehicles</a:t>
            </a:r>
            <a:r>
              <a:rPr lang="en-GB" sz="1800">
                <a:latin typeface="Kalam"/>
                <a:ea typeface="Kalam"/>
                <a:cs typeface="Kalam"/>
                <a:sym typeface="Kalam"/>
              </a:rPr>
              <a:t> may not arrive at the same time.</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It might not be possible for vehicles to pass each other in a queue.</a:t>
            </a:r>
            <a:endParaRPr sz="1800">
              <a:latin typeface="Kalam"/>
              <a:ea typeface="Kalam"/>
              <a:cs typeface="Kalam"/>
              <a:sym typeface="Kala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445" name="Google Shape;1445;p9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Jacob is backing up his computer. He is copying games onto 32GB USB sticks. The size of each game is listed in the table.</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200"/>
          </a:p>
          <a:p>
            <a:pPr indent="0" lvl="0" marL="0" rtl="0" algn="l">
              <a:spcBef>
                <a:spcPts val="1000"/>
              </a:spcBef>
              <a:spcAft>
                <a:spcPts val="0"/>
              </a:spcAft>
              <a:buNone/>
            </a:pPr>
            <a:r>
              <a:rPr lang="en-GB" sz="1800"/>
              <a:t>a) Jacob thinks that it is possible to store all the games on five USB sticks. Explain why Jacob might think this and why he is mistaken.</a:t>
            </a:r>
            <a:endParaRPr sz="1800"/>
          </a:p>
          <a:p>
            <a:pPr indent="0" lvl="0" marL="0" rtl="0" algn="l">
              <a:spcBef>
                <a:spcPts val="1000"/>
              </a:spcBef>
              <a:spcAft>
                <a:spcPts val="0"/>
              </a:spcAft>
              <a:buNone/>
            </a:pPr>
            <a:r>
              <a:rPr lang="en-GB" sz="1800">
                <a:latin typeface="Kalam"/>
                <a:ea typeface="Kalam"/>
                <a:cs typeface="Kalam"/>
                <a:sym typeface="Kalam"/>
              </a:rPr>
              <a:t>8 + 13 + 17 + 21 + 22 + 24 + 25 + 25 = 155</a:t>
            </a:r>
            <a:endParaRPr sz="1800">
              <a:latin typeface="Kalam"/>
              <a:ea typeface="Kalam"/>
              <a:cs typeface="Kalam"/>
              <a:sym typeface="Kalam"/>
            </a:endParaRPr>
          </a:p>
          <a:p>
            <a:pPr indent="0" lvl="0" marL="0" rtl="0" algn="l">
              <a:spcBef>
                <a:spcPts val="1000"/>
              </a:spcBef>
              <a:spcAft>
                <a:spcPts val="0"/>
              </a:spcAft>
              <a:buNone/>
            </a:pPr>
            <a:r>
              <a:rPr lang="en-GB" sz="1800">
                <a:latin typeface="Kalam"/>
                <a:ea typeface="Kalam"/>
                <a:cs typeface="Kalam"/>
                <a:sym typeface="Kalam"/>
              </a:rPr>
              <a:t>155 ÷ 32 = 4.84375     Therefore five USB sticks.</a:t>
            </a:r>
            <a:endParaRPr sz="1800">
              <a:latin typeface="Kalam"/>
              <a:ea typeface="Kalam"/>
              <a:cs typeface="Kalam"/>
              <a:sym typeface="Kalam"/>
            </a:endParaRPr>
          </a:p>
          <a:p>
            <a:pPr indent="0" lvl="0" marL="0" rtl="0" algn="l">
              <a:spcBef>
                <a:spcPts val="1000"/>
              </a:spcBef>
              <a:spcAft>
                <a:spcPts val="0"/>
              </a:spcAft>
              <a:buClr>
                <a:schemeClr val="dk1"/>
              </a:buClr>
              <a:buSzPts val="1100"/>
              <a:buFont typeface="Arial"/>
              <a:buNone/>
            </a:pPr>
            <a:r>
              <a:rPr lang="en-GB" sz="1800">
                <a:latin typeface="Kalam"/>
                <a:ea typeface="Kalam"/>
                <a:cs typeface="Kalam"/>
                <a:sym typeface="Kalam"/>
              </a:rPr>
              <a:t>However there are six games whose size is over half of what one USB stick can hold. These games can’t be stored together meaning at least six USB sticks will be needed.</a:t>
            </a:r>
            <a:endParaRPr sz="1800">
              <a:latin typeface="Kalam"/>
              <a:ea typeface="Kalam"/>
              <a:cs typeface="Kalam"/>
              <a:sym typeface="Kalam"/>
            </a:endParaRPr>
          </a:p>
          <a:p>
            <a:pPr indent="0" lvl="0" marL="0" rtl="0" algn="l">
              <a:spcBef>
                <a:spcPts val="1000"/>
              </a:spcBef>
              <a:spcAft>
                <a:spcPts val="1000"/>
              </a:spcAft>
              <a:buClr>
                <a:schemeClr val="dk1"/>
              </a:buClr>
              <a:buSzPts val="1100"/>
              <a:buFont typeface="Arial"/>
              <a:buNone/>
            </a:pPr>
            <a:r>
              <a:t/>
            </a:r>
            <a:endParaRPr sz="1800"/>
          </a:p>
        </p:txBody>
      </p:sp>
      <p:graphicFrame>
        <p:nvGraphicFramePr>
          <p:cNvPr id="1446" name="Google Shape;1446;p99"/>
          <p:cNvGraphicFramePr/>
          <p:nvPr/>
        </p:nvGraphicFramePr>
        <p:xfrm>
          <a:off x="324000" y="1448175"/>
          <a:ext cx="3000000" cy="3000000"/>
        </p:xfrm>
        <a:graphic>
          <a:graphicData uri="http://schemas.openxmlformats.org/drawingml/2006/table">
            <a:tbl>
              <a:tblPr>
                <a:noFill/>
                <a:tableStyleId>{564A8307-0F7D-4AD2-ADF6-A58BC17439A6}</a:tableStyleId>
              </a:tblPr>
              <a:tblGrid>
                <a:gridCol w="1175550"/>
                <a:gridCol w="915050"/>
                <a:gridCol w="915050"/>
                <a:gridCol w="915050"/>
                <a:gridCol w="915050"/>
                <a:gridCol w="915050"/>
                <a:gridCol w="915050"/>
                <a:gridCol w="915050"/>
                <a:gridCol w="915050"/>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Game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A</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B</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C</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D</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E</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F</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G</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H</a:t>
                      </a:r>
                      <a:endParaRPr>
                        <a:solidFill>
                          <a:schemeClr val="dk1"/>
                        </a:solidFill>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Size (GB)</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8</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13</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17</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21</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22</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24</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25</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25</a:t>
                      </a:r>
                      <a:endParaRPr>
                        <a:solidFill>
                          <a:schemeClr val="dk1"/>
                        </a:solidFill>
                        <a:latin typeface="Lexend"/>
                        <a:ea typeface="Lexend"/>
                        <a:cs typeface="Lexend"/>
                        <a:sym typeface="Lexend"/>
                      </a:endParaRPr>
                    </a:p>
                  </a:txBody>
                  <a:tcPr marT="0" marB="0" marR="0" marL="0"/>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Packing</a:t>
            </a:r>
            <a:endParaRPr/>
          </a:p>
        </p:txBody>
      </p:sp>
      <p:sp>
        <p:nvSpPr>
          <p:cNvPr id="1452" name="Google Shape;1452;p10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Jacob is backing up his computer. He is copying games onto 32GB USB sticks. The size of each game is listed in the table.</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200"/>
          </a:p>
          <a:p>
            <a:pPr indent="0" lvl="0" marL="0" rtl="0" algn="l">
              <a:spcBef>
                <a:spcPts val="1000"/>
              </a:spcBef>
              <a:spcAft>
                <a:spcPts val="0"/>
              </a:spcAft>
              <a:buNone/>
            </a:pPr>
            <a:r>
              <a:rPr lang="en-GB" sz="1800"/>
              <a:t>b) State the smallest number of USB sticks that will be needed and give a possible solution as to which games will be stored on each USB stick.</a:t>
            </a:r>
            <a:endParaRPr sz="1800"/>
          </a:p>
          <a:p>
            <a:pPr indent="0" lvl="0" marL="0" rtl="0" algn="l">
              <a:spcBef>
                <a:spcPts val="1000"/>
              </a:spcBef>
              <a:spcAft>
                <a:spcPts val="0"/>
              </a:spcAft>
              <a:buNone/>
            </a:pPr>
            <a:r>
              <a:rPr lang="en-GB" sz="1800">
                <a:latin typeface="Kalam"/>
                <a:ea typeface="Kalam"/>
                <a:cs typeface="Kalam"/>
                <a:sym typeface="Kalam"/>
              </a:rPr>
              <a:t>Six USB sticks will be needed.</a:t>
            </a:r>
            <a:endParaRPr sz="1800">
              <a:latin typeface="Kalam"/>
              <a:ea typeface="Kalam"/>
              <a:cs typeface="Kalam"/>
              <a:sym typeface="Kalam"/>
            </a:endParaRPr>
          </a:p>
          <a:p>
            <a:pPr indent="0" lvl="0" marL="0" rtl="0" algn="l">
              <a:spcBef>
                <a:spcPts val="1000"/>
              </a:spcBef>
              <a:spcAft>
                <a:spcPts val="1000"/>
              </a:spcAft>
              <a:buClr>
                <a:schemeClr val="dk1"/>
              </a:buClr>
              <a:buSzPts val="1100"/>
              <a:buFont typeface="Arial"/>
              <a:buNone/>
            </a:pPr>
            <a:r>
              <a:rPr lang="en-GB" sz="1800">
                <a:latin typeface="Kalam"/>
                <a:ea typeface="Kalam"/>
                <a:cs typeface="Kalam"/>
                <a:sym typeface="Kalam"/>
              </a:rPr>
              <a:t>E.g.	</a:t>
            </a:r>
            <a:endParaRPr sz="1800">
              <a:latin typeface="Kalam"/>
              <a:ea typeface="Kalam"/>
              <a:cs typeface="Kalam"/>
              <a:sym typeface="Kalam"/>
            </a:endParaRPr>
          </a:p>
        </p:txBody>
      </p:sp>
      <p:graphicFrame>
        <p:nvGraphicFramePr>
          <p:cNvPr id="1453" name="Google Shape;1453;p100"/>
          <p:cNvGraphicFramePr/>
          <p:nvPr/>
        </p:nvGraphicFramePr>
        <p:xfrm>
          <a:off x="324000" y="1448175"/>
          <a:ext cx="3000000" cy="3000000"/>
        </p:xfrm>
        <a:graphic>
          <a:graphicData uri="http://schemas.openxmlformats.org/drawingml/2006/table">
            <a:tbl>
              <a:tblPr>
                <a:noFill/>
                <a:tableStyleId>{564A8307-0F7D-4AD2-ADF6-A58BC17439A6}</a:tableStyleId>
              </a:tblPr>
              <a:tblGrid>
                <a:gridCol w="1175550"/>
                <a:gridCol w="915050"/>
                <a:gridCol w="915050"/>
                <a:gridCol w="915050"/>
                <a:gridCol w="915050"/>
                <a:gridCol w="915050"/>
                <a:gridCol w="915050"/>
                <a:gridCol w="915050"/>
                <a:gridCol w="915050"/>
              </a:tblGrid>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Game</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A</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B</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C</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D</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E</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F</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G</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H</a:t>
                      </a:r>
                      <a:endParaRPr>
                        <a:solidFill>
                          <a:schemeClr val="dk1"/>
                        </a:solidFill>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Size (GB)</a:t>
                      </a:r>
                      <a:endParaRPr b="1">
                        <a:solidFill>
                          <a:schemeClr val="lt1"/>
                        </a:solidFill>
                        <a:latin typeface="Lexend"/>
                        <a:ea typeface="Lexend"/>
                        <a:cs typeface="Lexend"/>
                        <a:sym typeface="Lexend"/>
                      </a:endParaRPr>
                    </a:p>
                  </a:txBody>
                  <a:tcPr marT="0" marB="0" marR="0" marL="0">
                    <a:solidFill>
                      <a:schemeClr val="accent4"/>
                    </a:solidFill>
                  </a:tcPr>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8</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13</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17</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21</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22</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24</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25</a:t>
                      </a:r>
                      <a:endParaRPr>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a:solidFill>
                            <a:schemeClr val="dk1"/>
                          </a:solidFill>
                          <a:latin typeface="Lexend"/>
                          <a:ea typeface="Lexend"/>
                          <a:cs typeface="Lexend"/>
                          <a:sym typeface="Lexend"/>
                        </a:rPr>
                        <a:t>25</a:t>
                      </a:r>
                      <a:endParaRPr>
                        <a:solidFill>
                          <a:schemeClr val="dk1"/>
                        </a:solidFill>
                        <a:latin typeface="Lexend"/>
                        <a:ea typeface="Lexend"/>
                        <a:cs typeface="Lexend"/>
                        <a:sym typeface="Lexend"/>
                      </a:endParaRPr>
                    </a:p>
                  </a:txBody>
                  <a:tcPr marT="0" marB="0" marR="0" marL="0"/>
                </a:tc>
              </a:tr>
            </a:tbl>
          </a:graphicData>
        </a:graphic>
      </p:graphicFrame>
      <p:grpSp>
        <p:nvGrpSpPr>
          <p:cNvPr id="1454" name="Google Shape;1454;p100"/>
          <p:cNvGrpSpPr/>
          <p:nvPr/>
        </p:nvGrpSpPr>
        <p:grpSpPr>
          <a:xfrm>
            <a:off x="723600" y="4139551"/>
            <a:ext cx="874800" cy="241200"/>
            <a:chOff x="1538525" y="3973751"/>
            <a:chExt cx="874800" cy="241200"/>
          </a:xfrm>
        </p:grpSpPr>
        <p:cxnSp>
          <p:nvCxnSpPr>
            <p:cNvPr id="1455" name="Google Shape;1455;p10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56" name="Google Shape;1456;p10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57" name="Google Shape;1457;p10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458" name="Google Shape;1458;p100"/>
          <p:cNvGrpSpPr/>
          <p:nvPr/>
        </p:nvGrpSpPr>
        <p:grpSpPr>
          <a:xfrm>
            <a:off x="2084400" y="4139551"/>
            <a:ext cx="874800" cy="241200"/>
            <a:chOff x="1538525" y="3973751"/>
            <a:chExt cx="874800" cy="241200"/>
          </a:xfrm>
        </p:grpSpPr>
        <p:cxnSp>
          <p:nvCxnSpPr>
            <p:cNvPr id="1459" name="Google Shape;1459;p10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60" name="Google Shape;1460;p10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61" name="Google Shape;1461;p10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462" name="Google Shape;1462;p100"/>
          <p:cNvGrpSpPr/>
          <p:nvPr/>
        </p:nvGrpSpPr>
        <p:grpSpPr>
          <a:xfrm>
            <a:off x="3445200" y="4139551"/>
            <a:ext cx="874800" cy="241200"/>
            <a:chOff x="1538525" y="3973751"/>
            <a:chExt cx="874800" cy="241200"/>
          </a:xfrm>
        </p:grpSpPr>
        <p:cxnSp>
          <p:nvCxnSpPr>
            <p:cNvPr id="1463" name="Google Shape;1463;p10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64" name="Google Shape;1464;p10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65" name="Google Shape;1465;p10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466" name="Google Shape;1466;p100"/>
          <p:cNvSpPr txBox="1"/>
          <p:nvPr/>
        </p:nvSpPr>
        <p:spPr>
          <a:xfrm>
            <a:off x="723600" y="4282600"/>
            <a:ext cx="35964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1                   2                    3               </a:t>
            </a:r>
            <a:endParaRPr sz="1800">
              <a:solidFill>
                <a:schemeClr val="dk1"/>
              </a:solidFill>
              <a:latin typeface="Lexend"/>
              <a:ea typeface="Lexend"/>
              <a:cs typeface="Lexend"/>
              <a:sym typeface="Lexend"/>
            </a:endParaRPr>
          </a:p>
        </p:txBody>
      </p:sp>
      <p:sp>
        <p:nvSpPr>
          <p:cNvPr id="1467" name="Google Shape;1467;p100"/>
          <p:cNvSpPr txBox="1"/>
          <p:nvPr/>
        </p:nvSpPr>
        <p:spPr>
          <a:xfrm>
            <a:off x="723600" y="39258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25</a:t>
            </a:r>
            <a:endParaRPr sz="1800">
              <a:solidFill>
                <a:schemeClr val="dk1"/>
              </a:solidFill>
              <a:latin typeface="Kalam"/>
              <a:ea typeface="Kalam"/>
              <a:cs typeface="Kalam"/>
              <a:sym typeface="Kalam"/>
            </a:endParaRPr>
          </a:p>
        </p:txBody>
      </p:sp>
      <p:sp>
        <p:nvSpPr>
          <p:cNvPr id="1468" name="Google Shape;1468;p100"/>
          <p:cNvSpPr txBox="1"/>
          <p:nvPr/>
        </p:nvSpPr>
        <p:spPr>
          <a:xfrm>
            <a:off x="2076858" y="39258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25</a:t>
            </a:r>
            <a:endParaRPr sz="1800">
              <a:solidFill>
                <a:schemeClr val="dk1"/>
              </a:solidFill>
              <a:latin typeface="Kalam"/>
              <a:ea typeface="Kalam"/>
              <a:cs typeface="Kalam"/>
              <a:sym typeface="Kalam"/>
            </a:endParaRPr>
          </a:p>
        </p:txBody>
      </p:sp>
      <p:sp>
        <p:nvSpPr>
          <p:cNvPr id="1469" name="Google Shape;1469;p100"/>
          <p:cNvSpPr txBox="1"/>
          <p:nvPr/>
        </p:nvSpPr>
        <p:spPr>
          <a:xfrm>
            <a:off x="3445208" y="39258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a:t>
            </a:r>
            <a:r>
              <a:rPr lang="en-GB" sz="1800">
                <a:solidFill>
                  <a:schemeClr val="dk1"/>
                </a:solidFill>
                <a:latin typeface="Kalam"/>
                <a:ea typeface="Kalam"/>
                <a:cs typeface="Kalam"/>
                <a:sym typeface="Kalam"/>
              </a:rPr>
              <a:t>4</a:t>
            </a:r>
            <a:endParaRPr sz="1800">
              <a:solidFill>
                <a:schemeClr val="dk1"/>
              </a:solidFill>
              <a:latin typeface="Kalam"/>
              <a:ea typeface="Kalam"/>
              <a:cs typeface="Kalam"/>
              <a:sym typeface="Kalam"/>
            </a:endParaRPr>
          </a:p>
        </p:txBody>
      </p:sp>
      <p:sp>
        <p:nvSpPr>
          <p:cNvPr id="1470" name="Google Shape;1470;p100"/>
          <p:cNvSpPr txBox="1"/>
          <p:nvPr/>
        </p:nvSpPr>
        <p:spPr>
          <a:xfrm>
            <a:off x="3445208" y="3697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8</a:t>
            </a:r>
            <a:endParaRPr sz="1800">
              <a:solidFill>
                <a:schemeClr val="dk1"/>
              </a:solidFill>
              <a:latin typeface="Kalam"/>
              <a:ea typeface="Kalam"/>
              <a:cs typeface="Kalam"/>
              <a:sym typeface="Kalam"/>
            </a:endParaRPr>
          </a:p>
        </p:txBody>
      </p:sp>
      <p:grpSp>
        <p:nvGrpSpPr>
          <p:cNvPr id="1471" name="Google Shape;1471;p100"/>
          <p:cNvGrpSpPr/>
          <p:nvPr/>
        </p:nvGrpSpPr>
        <p:grpSpPr>
          <a:xfrm>
            <a:off x="4806001" y="4139551"/>
            <a:ext cx="874800" cy="241200"/>
            <a:chOff x="1538525" y="3973751"/>
            <a:chExt cx="874800" cy="241200"/>
          </a:xfrm>
        </p:grpSpPr>
        <p:cxnSp>
          <p:nvCxnSpPr>
            <p:cNvPr id="1472" name="Google Shape;1472;p10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73" name="Google Shape;1473;p10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74" name="Google Shape;1474;p10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475" name="Google Shape;1475;p100"/>
          <p:cNvGrpSpPr/>
          <p:nvPr/>
        </p:nvGrpSpPr>
        <p:grpSpPr>
          <a:xfrm>
            <a:off x="6166801" y="4139551"/>
            <a:ext cx="874800" cy="241200"/>
            <a:chOff x="1538525" y="3973751"/>
            <a:chExt cx="874800" cy="241200"/>
          </a:xfrm>
        </p:grpSpPr>
        <p:cxnSp>
          <p:nvCxnSpPr>
            <p:cNvPr id="1476" name="Google Shape;1476;p10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77" name="Google Shape;1477;p10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78" name="Google Shape;1478;p10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grpSp>
        <p:nvGrpSpPr>
          <p:cNvPr id="1479" name="Google Shape;1479;p100"/>
          <p:cNvGrpSpPr/>
          <p:nvPr/>
        </p:nvGrpSpPr>
        <p:grpSpPr>
          <a:xfrm>
            <a:off x="7527601" y="4139551"/>
            <a:ext cx="874800" cy="241200"/>
            <a:chOff x="1538525" y="3973751"/>
            <a:chExt cx="874800" cy="241200"/>
          </a:xfrm>
        </p:grpSpPr>
        <p:cxnSp>
          <p:nvCxnSpPr>
            <p:cNvPr id="1480" name="Google Shape;1480;p100"/>
            <p:cNvCxnSpPr/>
            <p:nvPr/>
          </p:nvCxnSpPr>
          <p:spPr>
            <a:xfrm>
              <a:off x="1538525" y="4087650"/>
              <a:ext cx="874800" cy="0"/>
            </a:xfrm>
            <a:prstGeom prst="straightConnector1">
              <a:avLst/>
            </a:prstGeom>
            <a:noFill/>
            <a:ln cap="flat" cmpd="sng" w="28575">
              <a:solidFill>
                <a:schemeClr val="dk1"/>
              </a:solidFill>
              <a:prstDash val="solid"/>
              <a:round/>
              <a:headEnd len="med" w="med" type="none"/>
              <a:tailEnd len="med" w="med" type="none"/>
            </a:ln>
          </p:spPr>
        </p:cxnSp>
        <p:cxnSp>
          <p:nvCxnSpPr>
            <p:cNvPr id="1481" name="Google Shape;1481;p100"/>
            <p:cNvCxnSpPr/>
            <p:nvPr/>
          </p:nvCxnSpPr>
          <p:spPr>
            <a:xfrm>
              <a:off x="1538525" y="3973751"/>
              <a:ext cx="0" cy="241200"/>
            </a:xfrm>
            <a:prstGeom prst="straightConnector1">
              <a:avLst/>
            </a:prstGeom>
            <a:noFill/>
            <a:ln cap="flat" cmpd="sng" w="28575">
              <a:solidFill>
                <a:schemeClr val="dk1"/>
              </a:solidFill>
              <a:prstDash val="solid"/>
              <a:round/>
              <a:headEnd len="med" w="med" type="none"/>
              <a:tailEnd len="med" w="med" type="none"/>
            </a:ln>
          </p:spPr>
        </p:cxnSp>
        <p:cxnSp>
          <p:nvCxnSpPr>
            <p:cNvPr id="1482" name="Google Shape;1482;p100"/>
            <p:cNvCxnSpPr/>
            <p:nvPr/>
          </p:nvCxnSpPr>
          <p:spPr>
            <a:xfrm>
              <a:off x="2406892" y="3973751"/>
              <a:ext cx="0" cy="241200"/>
            </a:xfrm>
            <a:prstGeom prst="straightConnector1">
              <a:avLst/>
            </a:prstGeom>
            <a:noFill/>
            <a:ln cap="flat" cmpd="sng" w="28575">
              <a:solidFill>
                <a:schemeClr val="dk1"/>
              </a:solidFill>
              <a:prstDash val="solid"/>
              <a:round/>
              <a:headEnd len="med" w="med" type="none"/>
              <a:tailEnd len="med" w="med" type="none"/>
            </a:ln>
          </p:spPr>
        </p:cxnSp>
      </p:grpSp>
      <p:sp>
        <p:nvSpPr>
          <p:cNvPr id="1483" name="Google Shape;1483;p100"/>
          <p:cNvSpPr txBox="1"/>
          <p:nvPr/>
        </p:nvSpPr>
        <p:spPr>
          <a:xfrm>
            <a:off x="4806001" y="4282600"/>
            <a:ext cx="35964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4                   5                    6               </a:t>
            </a:r>
            <a:endParaRPr sz="1800">
              <a:solidFill>
                <a:schemeClr val="dk1"/>
              </a:solidFill>
              <a:latin typeface="Lexend"/>
              <a:ea typeface="Lexend"/>
              <a:cs typeface="Lexend"/>
              <a:sym typeface="Lexend"/>
            </a:endParaRPr>
          </a:p>
        </p:txBody>
      </p:sp>
      <p:sp>
        <p:nvSpPr>
          <p:cNvPr id="1484" name="Google Shape;1484;p100"/>
          <p:cNvSpPr txBox="1"/>
          <p:nvPr/>
        </p:nvSpPr>
        <p:spPr>
          <a:xfrm>
            <a:off x="4806001" y="39258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22</a:t>
            </a:r>
            <a:endParaRPr sz="1800">
              <a:solidFill>
                <a:schemeClr val="dk1"/>
              </a:solidFill>
              <a:latin typeface="Kalam"/>
              <a:ea typeface="Kalam"/>
              <a:cs typeface="Kalam"/>
              <a:sym typeface="Kalam"/>
            </a:endParaRPr>
          </a:p>
        </p:txBody>
      </p:sp>
      <p:sp>
        <p:nvSpPr>
          <p:cNvPr id="1485" name="Google Shape;1485;p100"/>
          <p:cNvSpPr txBox="1"/>
          <p:nvPr/>
        </p:nvSpPr>
        <p:spPr>
          <a:xfrm>
            <a:off x="6159259" y="39258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21</a:t>
            </a:r>
            <a:endParaRPr sz="1800">
              <a:solidFill>
                <a:schemeClr val="dk1"/>
              </a:solidFill>
              <a:latin typeface="Kalam"/>
              <a:ea typeface="Kalam"/>
              <a:cs typeface="Kalam"/>
              <a:sym typeface="Kalam"/>
            </a:endParaRPr>
          </a:p>
        </p:txBody>
      </p:sp>
      <p:sp>
        <p:nvSpPr>
          <p:cNvPr id="1486" name="Google Shape;1486;p100"/>
          <p:cNvSpPr txBox="1"/>
          <p:nvPr/>
        </p:nvSpPr>
        <p:spPr>
          <a:xfrm>
            <a:off x="7527609" y="39258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17</a:t>
            </a:r>
            <a:endParaRPr sz="1800">
              <a:solidFill>
                <a:schemeClr val="dk1"/>
              </a:solidFill>
              <a:latin typeface="Kalam"/>
              <a:ea typeface="Kalam"/>
              <a:cs typeface="Kalam"/>
              <a:sym typeface="Kalam"/>
            </a:endParaRPr>
          </a:p>
        </p:txBody>
      </p:sp>
      <p:sp>
        <p:nvSpPr>
          <p:cNvPr id="1487" name="Google Shape;1487;p100"/>
          <p:cNvSpPr txBox="1"/>
          <p:nvPr/>
        </p:nvSpPr>
        <p:spPr>
          <a:xfrm>
            <a:off x="7527609" y="369720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13</a:t>
            </a:r>
            <a:endParaRPr sz="1800">
              <a:solidFill>
                <a:schemeClr val="dk1"/>
              </a:solidFill>
              <a:latin typeface="Kalam"/>
              <a:ea typeface="Kalam"/>
              <a:cs typeface="Kalam"/>
              <a:sym typeface="Kala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10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Packing</a:t>
            </a:r>
            <a:endParaRPr/>
          </a:p>
        </p:txBody>
      </p:sp>
      <p:sp>
        <p:nvSpPr>
          <p:cNvPr id="1493" name="Google Shape;1493;p10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494" name="Google Shape;1494;p10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Operational research</a:t>
            </a:r>
            <a:endParaRPr/>
          </a:p>
        </p:txBody>
      </p:sp>
      <p:pic>
        <p:nvPicPr>
          <p:cNvPr id="1495" name="Google Shape;1495;p101"/>
          <p:cNvPicPr preferRelativeResize="0"/>
          <p:nvPr/>
        </p:nvPicPr>
        <p:blipFill>
          <a:blip r:embed="rId3">
            <a:alphaModFix/>
          </a:blip>
          <a:stretch>
            <a:fillRect/>
          </a:stretch>
        </p:blipFill>
        <p:spPr>
          <a:xfrm>
            <a:off x="417542" y="2996667"/>
            <a:ext cx="450575" cy="446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501" name="Google Shape;1501;p10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When managing a project which has lots of activities, it can be helpful to present these on a chart.</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This is especially useful when some </a:t>
            </a:r>
            <a:r>
              <a:rPr lang="en-GB"/>
              <a:t>activities</a:t>
            </a:r>
            <a:r>
              <a:rPr lang="en-GB"/>
              <a:t> cannot start until other activities have been completed.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507" name="Google Shape;1507;p103"/>
          <p:cNvSpPr txBox="1"/>
          <p:nvPr>
            <p:ph idx="1" type="body"/>
          </p:nvPr>
        </p:nvSpPr>
        <p:spPr>
          <a:xfrm>
            <a:off x="324000" y="759300"/>
            <a:ext cx="8237700" cy="36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is an example of such a chart: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The numbers at the top represent time. This could be minutes/hours/days etc.</a:t>
            </a:r>
            <a:endParaRPr/>
          </a:p>
        </p:txBody>
      </p:sp>
      <p:graphicFrame>
        <p:nvGraphicFramePr>
          <p:cNvPr id="1508" name="Google Shape;1508;p103"/>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6833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509" name="Google Shape;1509;p103"/>
          <p:cNvSpPr txBox="1"/>
          <p:nvPr/>
        </p:nvSpPr>
        <p:spPr>
          <a:xfrm>
            <a:off x="709650" y="1411875"/>
            <a:ext cx="74664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a:t>
            </a:r>
            <a:endParaRPr sz="1800">
              <a:solidFill>
                <a:schemeClr val="dk1"/>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515" name="Google Shape;1515;p104"/>
          <p:cNvSpPr txBox="1"/>
          <p:nvPr>
            <p:ph idx="1" type="body"/>
          </p:nvPr>
        </p:nvSpPr>
        <p:spPr>
          <a:xfrm>
            <a:off x="324000" y="759300"/>
            <a:ext cx="8237700" cy="36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is an example of such a chart: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Activities are shown as boxes.</a:t>
            </a:r>
            <a:endParaRPr/>
          </a:p>
          <a:p>
            <a:pPr indent="0" lvl="0" marL="0" rtl="0" algn="l">
              <a:spcBef>
                <a:spcPts val="1000"/>
              </a:spcBef>
              <a:spcAft>
                <a:spcPts val="1000"/>
              </a:spcAft>
              <a:buNone/>
            </a:pPr>
            <a:r>
              <a:rPr lang="en-GB"/>
              <a:t>The length of the box shows how long it takes to complete an activity.</a:t>
            </a:r>
            <a:endParaRPr/>
          </a:p>
        </p:txBody>
      </p:sp>
      <p:graphicFrame>
        <p:nvGraphicFramePr>
          <p:cNvPr id="1516" name="Google Shape;1516;p104"/>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6833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517" name="Google Shape;1517;p104"/>
          <p:cNvSpPr txBox="1"/>
          <p:nvPr/>
        </p:nvSpPr>
        <p:spPr>
          <a:xfrm>
            <a:off x="709650" y="1411875"/>
            <a:ext cx="74664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a:t>
            </a:r>
            <a:endParaRPr sz="1800">
              <a:solidFill>
                <a:schemeClr val="dk1"/>
              </a:solidFill>
              <a:latin typeface="Lexend"/>
              <a:ea typeface="Lexend"/>
              <a:cs typeface="Lexend"/>
              <a:sym typeface="Lexend"/>
            </a:endParaRPr>
          </a:p>
        </p:txBody>
      </p:sp>
      <p:sp>
        <p:nvSpPr>
          <p:cNvPr id="1518" name="Google Shape;1518;p104"/>
          <p:cNvSpPr/>
          <p:nvPr/>
        </p:nvSpPr>
        <p:spPr>
          <a:xfrm>
            <a:off x="7645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519" name="Google Shape;1519;p104"/>
          <p:cNvSpPr/>
          <p:nvPr/>
        </p:nvSpPr>
        <p:spPr>
          <a:xfrm>
            <a:off x="25743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520" name="Google Shape;1520;p104"/>
          <p:cNvSpPr/>
          <p:nvPr/>
        </p:nvSpPr>
        <p:spPr>
          <a:xfrm>
            <a:off x="393172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521" name="Google Shape;1521;p104"/>
          <p:cNvSpPr/>
          <p:nvPr/>
        </p:nvSpPr>
        <p:spPr>
          <a:xfrm>
            <a:off x="4384175" y="1830450"/>
            <a:ext cx="31671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522" name="Google Shape;1522;p104"/>
          <p:cNvSpPr/>
          <p:nvPr/>
        </p:nvSpPr>
        <p:spPr>
          <a:xfrm>
            <a:off x="755127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528" name="Google Shape;1528;p10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is an example of such a chart: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It take 4 minutes to complete activity A.</a:t>
            </a:r>
            <a:endParaRPr/>
          </a:p>
          <a:p>
            <a:pPr indent="0" lvl="0" marL="0" rtl="0" algn="l">
              <a:spcBef>
                <a:spcPts val="1000"/>
              </a:spcBef>
              <a:spcAft>
                <a:spcPts val="0"/>
              </a:spcAft>
              <a:buNone/>
            </a:pPr>
            <a:r>
              <a:rPr lang="en-GB"/>
              <a:t>How long does it take to complete activity D?</a:t>
            </a:r>
            <a:endParaRPr/>
          </a:p>
          <a:p>
            <a:pPr indent="0" lvl="0" marL="0" rtl="0" algn="l">
              <a:spcBef>
                <a:spcPts val="1000"/>
              </a:spcBef>
              <a:spcAft>
                <a:spcPts val="1000"/>
              </a:spcAft>
              <a:buNone/>
            </a:pPr>
            <a:r>
              <a:rPr lang="en-GB"/>
              <a:t>Which two activities take the same amount of time?</a:t>
            </a:r>
            <a:endParaRPr/>
          </a:p>
        </p:txBody>
      </p:sp>
      <p:graphicFrame>
        <p:nvGraphicFramePr>
          <p:cNvPr id="1529" name="Google Shape;1529;p105"/>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6833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bl>
          </a:graphicData>
        </a:graphic>
      </p:graphicFrame>
      <p:sp>
        <p:nvSpPr>
          <p:cNvPr id="1530" name="Google Shape;1530;p105"/>
          <p:cNvSpPr txBox="1"/>
          <p:nvPr/>
        </p:nvSpPr>
        <p:spPr>
          <a:xfrm>
            <a:off x="709650" y="1411875"/>
            <a:ext cx="81102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   mins</a:t>
            </a:r>
            <a:endParaRPr sz="1800">
              <a:solidFill>
                <a:schemeClr val="dk1"/>
              </a:solidFill>
              <a:latin typeface="Lexend"/>
              <a:ea typeface="Lexend"/>
              <a:cs typeface="Lexend"/>
              <a:sym typeface="Lexend"/>
            </a:endParaRPr>
          </a:p>
        </p:txBody>
      </p:sp>
      <p:sp>
        <p:nvSpPr>
          <p:cNvPr id="1531" name="Google Shape;1531;p105"/>
          <p:cNvSpPr/>
          <p:nvPr/>
        </p:nvSpPr>
        <p:spPr>
          <a:xfrm>
            <a:off x="7645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532" name="Google Shape;1532;p105"/>
          <p:cNvSpPr/>
          <p:nvPr/>
        </p:nvSpPr>
        <p:spPr>
          <a:xfrm>
            <a:off x="25743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533" name="Google Shape;1533;p105"/>
          <p:cNvSpPr/>
          <p:nvPr/>
        </p:nvSpPr>
        <p:spPr>
          <a:xfrm>
            <a:off x="393172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534" name="Google Shape;1534;p105"/>
          <p:cNvSpPr/>
          <p:nvPr/>
        </p:nvSpPr>
        <p:spPr>
          <a:xfrm>
            <a:off x="4384175" y="1830450"/>
            <a:ext cx="31671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535" name="Google Shape;1535;p105"/>
          <p:cNvSpPr/>
          <p:nvPr/>
        </p:nvSpPr>
        <p:spPr>
          <a:xfrm>
            <a:off x="755127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536" name="Google Shape;1536;p105"/>
          <p:cNvSpPr txBox="1"/>
          <p:nvPr/>
        </p:nvSpPr>
        <p:spPr>
          <a:xfrm>
            <a:off x="6751659" y="3331242"/>
            <a:ext cx="11583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7 mins</a:t>
            </a:r>
            <a:endParaRPr sz="2200">
              <a:solidFill>
                <a:schemeClr val="dk1"/>
              </a:solidFill>
              <a:latin typeface="Kalam"/>
              <a:ea typeface="Kalam"/>
              <a:cs typeface="Kalam"/>
              <a:sym typeface="Kalam"/>
            </a:endParaRPr>
          </a:p>
        </p:txBody>
      </p:sp>
      <p:sp>
        <p:nvSpPr>
          <p:cNvPr id="1537" name="Google Shape;1537;p105"/>
          <p:cNvSpPr txBox="1"/>
          <p:nvPr/>
        </p:nvSpPr>
        <p:spPr>
          <a:xfrm>
            <a:off x="7483492" y="3842017"/>
            <a:ext cx="11583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C and E</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10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543" name="Google Shape;1543;p106"/>
          <p:cNvSpPr txBox="1"/>
          <p:nvPr>
            <p:ph idx="1" type="body"/>
          </p:nvPr>
        </p:nvSpPr>
        <p:spPr>
          <a:xfrm>
            <a:off x="324000" y="759300"/>
            <a:ext cx="8237700" cy="36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Sometimes there will be spaces between the boxes: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This is because, although one activity has finished, the next one cannot start yet.</a:t>
            </a:r>
            <a:endParaRPr/>
          </a:p>
        </p:txBody>
      </p:sp>
      <p:graphicFrame>
        <p:nvGraphicFramePr>
          <p:cNvPr id="1544" name="Google Shape;1544;p106"/>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6833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545" name="Google Shape;1545;p106"/>
          <p:cNvSpPr txBox="1"/>
          <p:nvPr/>
        </p:nvSpPr>
        <p:spPr>
          <a:xfrm>
            <a:off x="709650" y="1411875"/>
            <a:ext cx="74664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a:t>
            </a:r>
            <a:endParaRPr sz="1800">
              <a:solidFill>
                <a:schemeClr val="dk1"/>
              </a:solidFill>
              <a:latin typeface="Lexend"/>
              <a:ea typeface="Lexend"/>
              <a:cs typeface="Lexend"/>
              <a:sym typeface="Lexend"/>
            </a:endParaRPr>
          </a:p>
        </p:txBody>
      </p:sp>
      <p:sp>
        <p:nvSpPr>
          <p:cNvPr id="1546" name="Google Shape;1546;p106"/>
          <p:cNvSpPr/>
          <p:nvPr/>
        </p:nvSpPr>
        <p:spPr>
          <a:xfrm>
            <a:off x="7645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547" name="Google Shape;1547;p106"/>
          <p:cNvSpPr/>
          <p:nvPr/>
        </p:nvSpPr>
        <p:spPr>
          <a:xfrm>
            <a:off x="25743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548" name="Google Shape;1548;p106"/>
          <p:cNvSpPr/>
          <p:nvPr/>
        </p:nvSpPr>
        <p:spPr>
          <a:xfrm>
            <a:off x="3931725" y="18304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549" name="Google Shape;1549;p106"/>
          <p:cNvSpPr/>
          <p:nvPr/>
        </p:nvSpPr>
        <p:spPr>
          <a:xfrm>
            <a:off x="43841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550" name="Google Shape;1550;p106"/>
          <p:cNvSpPr/>
          <p:nvPr/>
        </p:nvSpPr>
        <p:spPr>
          <a:xfrm>
            <a:off x="755127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551" name="Google Shape;1551;p106"/>
          <p:cNvSpPr/>
          <p:nvPr/>
        </p:nvSpPr>
        <p:spPr>
          <a:xfrm>
            <a:off x="61940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10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557" name="Google Shape;1557;p107"/>
          <p:cNvSpPr txBox="1"/>
          <p:nvPr>
            <p:ph idx="1" type="body"/>
          </p:nvPr>
        </p:nvSpPr>
        <p:spPr>
          <a:xfrm>
            <a:off x="324000" y="759300"/>
            <a:ext cx="8237700" cy="36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Sometimes there will be multiple rows: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Each row represents the activities that one person will complete and when they will do them.</a:t>
            </a:r>
            <a:endParaRPr/>
          </a:p>
          <a:p>
            <a:pPr indent="0" lvl="0" marL="0" rtl="0" algn="l">
              <a:spcBef>
                <a:spcPts val="1000"/>
              </a:spcBef>
              <a:spcAft>
                <a:spcPts val="1000"/>
              </a:spcAft>
              <a:buNone/>
            </a:pPr>
            <a:r>
              <a:rPr lang="en-GB"/>
              <a:t>This chart therefore shows what activities two different people will be doing.</a:t>
            </a:r>
            <a:endParaRPr/>
          </a:p>
        </p:txBody>
      </p:sp>
      <p:graphicFrame>
        <p:nvGraphicFramePr>
          <p:cNvPr id="1558" name="Google Shape;1558;p107"/>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10453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559" name="Google Shape;1559;p107"/>
          <p:cNvSpPr txBox="1"/>
          <p:nvPr/>
        </p:nvSpPr>
        <p:spPr>
          <a:xfrm>
            <a:off x="709650" y="1411875"/>
            <a:ext cx="74664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a:t>
            </a:r>
            <a:endParaRPr sz="1800">
              <a:solidFill>
                <a:schemeClr val="dk1"/>
              </a:solidFill>
              <a:latin typeface="Lexend"/>
              <a:ea typeface="Lexend"/>
              <a:cs typeface="Lexend"/>
              <a:sym typeface="Lexend"/>
            </a:endParaRPr>
          </a:p>
        </p:txBody>
      </p:sp>
      <p:sp>
        <p:nvSpPr>
          <p:cNvPr id="1560" name="Google Shape;1560;p107"/>
          <p:cNvSpPr/>
          <p:nvPr/>
        </p:nvSpPr>
        <p:spPr>
          <a:xfrm>
            <a:off x="7645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561" name="Google Shape;1561;p107"/>
          <p:cNvSpPr/>
          <p:nvPr/>
        </p:nvSpPr>
        <p:spPr>
          <a:xfrm>
            <a:off x="25743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562" name="Google Shape;1562;p107"/>
          <p:cNvSpPr/>
          <p:nvPr/>
        </p:nvSpPr>
        <p:spPr>
          <a:xfrm>
            <a:off x="3931725" y="18304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r>
              <a:rPr lang="en-GB">
                <a:latin typeface="Lexend"/>
                <a:ea typeface="Lexend"/>
                <a:cs typeface="Lexend"/>
                <a:sym typeface="Lexend"/>
              </a:rPr>
              <a:t>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563" name="Google Shape;1563;p107"/>
          <p:cNvSpPr/>
          <p:nvPr/>
        </p:nvSpPr>
        <p:spPr>
          <a:xfrm>
            <a:off x="43841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564" name="Google Shape;1564;p107"/>
          <p:cNvSpPr/>
          <p:nvPr/>
        </p:nvSpPr>
        <p:spPr>
          <a:xfrm>
            <a:off x="755127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565" name="Google Shape;1565;p107"/>
          <p:cNvSpPr/>
          <p:nvPr/>
        </p:nvSpPr>
        <p:spPr>
          <a:xfrm>
            <a:off x="61940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566" name="Google Shape;1566;p107"/>
          <p:cNvSpPr/>
          <p:nvPr/>
        </p:nvSpPr>
        <p:spPr>
          <a:xfrm>
            <a:off x="1669475" y="2287650"/>
            <a:ext cx="13668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567" name="Google Shape;1567;p107"/>
          <p:cNvSpPr/>
          <p:nvPr/>
        </p:nvSpPr>
        <p:spPr>
          <a:xfrm>
            <a:off x="30269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568" name="Google Shape;1568;p107"/>
          <p:cNvSpPr/>
          <p:nvPr/>
        </p:nvSpPr>
        <p:spPr>
          <a:xfrm>
            <a:off x="4384125" y="2287650"/>
            <a:ext cx="18099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569" name="Google Shape;1569;p107"/>
          <p:cNvSpPr/>
          <p:nvPr/>
        </p:nvSpPr>
        <p:spPr>
          <a:xfrm>
            <a:off x="61940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570" name="Google Shape;1570;p107"/>
          <p:cNvSpPr/>
          <p:nvPr/>
        </p:nvSpPr>
        <p:spPr>
          <a:xfrm>
            <a:off x="764575" y="2287650"/>
            <a:ext cx="9048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571" name="Google Shape;1571;p107"/>
          <p:cNvSpPr/>
          <p:nvPr/>
        </p:nvSpPr>
        <p:spPr>
          <a:xfrm>
            <a:off x="7551325" y="22876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5" name="Shape 1575"/>
        <p:cNvGrpSpPr/>
        <p:nvPr/>
      </p:nvGrpSpPr>
      <p:grpSpPr>
        <a:xfrm>
          <a:off x="0" y="0"/>
          <a:ext cx="0" cy="0"/>
          <a:chOff x="0" y="0"/>
          <a:chExt cx="0" cy="0"/>
        </a:xfrm>
      </p:grpSpPr>
      <p:sp>
        <p:nvSpPr>
          <p:cNvPr id="1576" name="Google Shape;1576;p10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577" name="Google Shape;1577;p108"/>
          <p:cNvSpPr txBox="1"/>
          <p:nvPr>
            <p:ph idx="1" type="body"/>
          </p:nvPr>
        </p:nvSpPr>
        <p:spPr>
          <a:xfrm>
            <a:off x="324000" y="759300"/>
            <a:ext cx="8237700" cy="36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Here is a </a:t>
            </a:r>
            <a:r>
              <a:rPr lang="en-GB"/>
              <a:t>project</a:t>
            </a:r>
            <a:r>
              <a:rPr lang="en-GB"/>
              <a:t> that Aisha and Sofia are working on:</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On day 4, Aisha is working on activity </a:t>
            </a:r>
            <a:r>
              <a:rPr lang="en-GB" u="sng"/>
              <a:t>          </a:t>
            </a:r>
            <a:r>
              <a:rPr lang="en-GB" u="sng">
                <a:solidFill>
                  <a:schemeClr val="lt1"/>
                </a:solidFill>
              </a:rPr>
              <a:t>.</a:t>
            </a:r>
            <a:endParaRPr/>
          </a:p>
        </p:txBody>
      </p:sp>
      <p:graphicFrame>
        <p:nvGraphicFramePr>
          <p:cNvPr id="1578" name="Google Shape;1578;p108"/>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10453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579" name="Google Shape;1579;p108"/>
          <p:cNvSpPr txBox="1"/>
          <p:nvPr/>
        </p:nvSpPr>
        <p:spPr>
          <a:xfrm>
            <a:off x="709650" y="1411875"/>
            <a:ext cx="8110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  days</a:t>
            </a:r>
            <a:endParaRPr sz="1800">
              <a:solidFill>
                <a:schemeClr val="dk1"/>
              </a:solidFill>
              <a:latin typeface="Lexend"/>
              <a:ea typeface="Lexend"/>
              <a:cs typeface="Lexend"/>
              <a:sym typeface="Lexend"/>
            </a:endParaRPr>
          </a:p>
        </p:txBody>
      </p:sp>
      <p:sp>
        <p:nvSpPr>
          <p:cNvPr id="1580" name="Google Shape;1580;p108"/>
          <p:cNvSpPr/>
          <p:nvPr/>
        </p:nvSpPr>
        <p:spPr>
          <a:xfrm>
            <a:off x="7645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581" name="Google Shape;1581;p108"/>
          <p:cNvSpPr/>
          <p:nvPr/>
        </p:nvSpPr>
        <p:spPr>
          <a:xfrm>
            <a:off x="25743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582" name="Google Shape;1582;p108"/>
          <p:cNvSpPr/>
          <p:nvPr/>
        </p:nvSpPr>
        <p:spPr>
          <a:xfrm>
            <a:off x="3931725" y="18304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583" name="Google Shape;1583;p108"/>
          <p:cNvSpPr/>
          <p:nvPr/>
        </p:nvSpPr>
        <p:spPr>
          <a:xfrm>
            <a:off x="43841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584" name="Google Shape;1584;p108"/>
          <p:cNvSpPr/>
          <p:nvPr/>
        </p:nvSpPr>
        <p:spPr>
          <a:xfrm>
            <a:off x="755127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585" name="Google Shape;1585;p108"/>
          <p:cNvSpPr/>
          <p:nvPr/>
        </p:nvSpPr>
        <p:spPr>
          <a:xfrm>
            <a:off x="61940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586" name="Google Shape;1586;p108"/>
          <p:cNvSpPr/>
          <p:nvPr/>
        </p:nvSpPr>
        <p:spPr>
          <a:xfrm>
            <a:off x="1669475" y="2287650"/>
            <a:ext cx="13668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587" name="Google Shape;1587;p108"/>
          <p:cNvSpPr/>
          <p:nvPr/>
        </p:nvSpPr>
        <p:spPr>
          <a:xfrm>
            <a:off x="30269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588" name="Google Shape;1588;p108"/>
          <p:cNvSpPr/>
          <p:nvPr/>
        </p:nvSpPr>
        <p:spPr>
          <a:xfrm>
            <a:off x="4384125" y="2287650"/>
            <a:ext cx="18099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589" name="Google Shape;1589;p108"/>
          <p:cNvSpPr/>
          <p:nvPr/>
        </p:nvSpPr>
        <p:spPr>
          <a:xfrm>
            <a:off x="61940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590" name="Google Shape;1590;p108"/>
          <p:cNvSpPr/>
          <p:nvPr/>
        </p:nvSpPr>
        <p:spPr>
          <a:xfrm>
            <a:off x="764575" y="2287650"/>
            <a:ext cx="9048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591" name="Google Shape;1591;p108"/>
          <p:cNvSpPr/>
          <p:nvPr/>
        </p:nvSpPr>
        <p:spPr>
          <a:xfrm>
            <a:off x="7551325" y="22876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592" name="Google Shape;1592;p108"/>
          <p:cNvSpPr txBox="1"/>
          <p:nvPr/>
        </p:nvSpPr>
        <p:spPr>
          <a:xfrm>
            <a:off x="414800" y="1830450"/>
            <a:ext cx="248700" cy="331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593" name="Google Shape;1593;p108"/>
          <p:cNvSpPr txBox="1"/>
          <p:nvPr/>
        </p:nvSpPr>
        <p:spPr>
          <a:xfrm>
            <a:off x="414800" y="2287650"/>
            <a:ext cx="248700" cy="331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S</a:t>
            </a:r>
            <a:endParaRPr sz="1800">
              <a:solidFill>
                <a:schemeClr val="dk1"/>
              </a:solidFill>
              <a:latin typeface="Lexend"/>
              <a:ea typeface="Lexend"/>
              <a:cs typeface="Lexend"/>
              <a:sym typeface="Lexend"/>
            </a:endParaRPr>
          </a:p>
        </p:txBody>
      </p:sp>
      <p:sp>
        <p:nvSpPr>
          <p:cNvPr id="1594" name="Google Shape;1594;p108"/>
          <p:cNvSpPr/>
          <p:nvPr/>
        </p:nvSpPr>
        <p:spPr>
          <a:xfrm>
            <a:off x="5452725" y="3589900"/>
            <a:ext cx="935100" cy="150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95" name="Google Shape;1595;p108"/>
          <p:cNvSpPr txBox="1"/>
          <p:nvPr/>
        </p:nvSpPr>
        <p:spPr>
          <a:xfrm>
            <a:off x="5741525" y="3347916"/>
            <a:ext cx="248700" cy="331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cxnSp>
        <p:nvCxnSpPr>
          <p:cNvPr id="1596" name="Google Shape;1596;p108"/>
          <p:cNvCxnSpPr/>
          <p:nvPr/>
        </p:nvCxnSpPr>
        <p:spPr>
          <a:xfrm>
            <a:off x="2345500" y="1251925"/>
            <a:ext cx="0" cy="16743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109"/>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02" name="Google Shape;1602;p109"/>
          <p:cNvSpPr txBox="1"/>
          <p:nvPr>
            <p:ph idx="4294967295" type="body"/>
          </p:nvPr>
        </p:nvSpPr>
        <p:spPr>
          <a:xfrm>
            <a:off x="324000" y="759300"/>
            <a:ext cx="8237700" cy="36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Here is a project that Aisha and Sofia are working on:</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On day 6, Sofia is working on:</a:t>
            </a:r>
            <a:endParaRPr/>
          </a:p>
        </p:txBody>
      </p:sp>
      <p:graphicFrame>
        <p:nvGraphicFramePr>
          <p:cNvPr id="1603" name="Google Shape;1603;p109"/>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10453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604" name="Google Shape;1604;p109"/>
          <p:cNvSpPr txBox="1"/>
          <p:nvPr/>
        </p:nvSpPr>
        <p:spPr>
          <a:xfrm>
            <a:off x="709650" y="1411875"/>
            <a:ext cx="8110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  days</a:t>
            </a:r>
            <a:endParaRPr sz="1800">
              <a:solidFill>
                <a:schemeClr val="dk1"/>
              </a:solidFill>
              <a:latin typeface="Lexend"/>
              <a:ea typeface="Lexend"/>
              <a:cs typeface="Lexend"/>
              <a:sym typeface="Lexend"/>
            </a:endParaRPr>
          </a:p>
        </p:txBody>
      </p:sp>
      <p:sp>
        <p:nvSpPr>
          <p:cNvPr id="1605" name="Google Shape;1605;p109"/>
          <p:cNvSpPr/>
          <p:nvPr/>
        </p:nvSpPr>
        <p:spPr>
          <a:xfrm>
            <a:off x="7645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606" name="Google Shape;1606;p109"/>
          <p:cNvSpPr/>
          <p:nvPr/>
        </p:nvSpPr>
        <p:spPr>
          <a:xfrm>
            <a:off x="25743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607" name="Google Shape;1607;p109"/>
          <p:cNvSpPr/>
          <p:nvPr/>
        </p:nvSpPr>
        <p:spPr>
          <a:xfrm>
            <a:off x="3931725" y="18304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08" name="Google Shape;1608;p109"/>
          <p:cNvSpPr/>
          <p:nvPr/>
        </p:nvSpPr>
        <p:spPr>
          <a:xfrm>
            <a:off x="43841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609" name="Google Shape;1609;p109"/>
          <p:cNvSpPr/>
          <p:nvPr/>
        </p:nvSpPr>
        <p:spPr>
          <a:xfrm>
            <a:off x="755127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610" name="Google Shape;1610;p109"/>
          <p:cNvSpPr/>
          <p:nvPr/>
        </p:nvSpPr>
        <p:spPr>
          <a:xfrm>
            <a:off x="61940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611" name="Google Shape;1611;p109"/>
          <p:cNvSpPr/>
          <p:nvPr/>
        </p:nvSpPr>
        <p:spPr>
          <a:xfrm>
            <a:off x="1669475" y="2287650"/>
            <a:ext cx="13668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612" name="Google Shape;1612;p109"/>
          <p:cNvSpPr/>
          <p:nvPr/>
        </p:nvSpPr>
        <p:spPr>
          <a:xfrm>
            <a:off x="30269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613" name="Google Shape;1613;p109"/>
          <p:cNvSpPr/>
          <p:nvPr/>
        </p:nvSpPr>
        <p:spPr>
          <a:xfrm>
            <a:off x="4384125" y="2287650"/>
            <a:ext cx="18099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14" name="Google Shape;1614;p109"/>
          <p:cNvSpPr/>
          <p:nvPr/>
        </p:nvSpPr>
        <p:spPr>
          <a:xfrm>
            <a:off x="61940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615" name="Google Shape;1615;p109"/>
          <p:cNvSpPr/>
          <p:nvPr/>
        </p:nvSpPr>
        <p:spPr>
          <a:xfrm>
            <a:off x="764575" y="2287650"/>
            <a:ext cx="9048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16" name="Google Shape;1616;p109"/>
          <p:cNvSpPr/>
          <p:nvPr/>
        </p:nvSpPr>
        <p:spPr>
          <a:xfrm>
            <a:off x="7551325" y="22876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17" name="Google Shape;1617;p109"/>
          <p:cNvSpPr txBox="1"/>
          <p:nvPr/>
        </p:nvSpPr>
        <p:spPr>
          <a:xfrm>
            <a:off x="414800" y="1830450"/>
            <a:ext cx="248700" cy="331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618" name="Google Shape;1618;p109"/>
          <p:cNvSpPr txBox="1"/>
          <p:nvPr/>
        </p:nvSpPr>
        <p:spPr>
          <a:xfrm>
            <a:off x="414800" y="2287650"/>
            <a:ext cx="248700" cy="331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S</a:t>
            </a:r>
            <a:endParaRPr sz="1800">
              <a:solidFill>
                <a:schemeClr val="dk1"/>
              </a:solidFill>
              <a:latin typeface="Lexend"/>
              <a:ea typeface="Lexend"/>
              <a:cs typeface="Lexend"/>
              <a:sym typeface="Lexend"/>
            </a:endParaRPr>
          </a:p>
        </p:txBody>
      </p:sp>
      <p:sp>
        <p:nvSpPr>
          <p:cNvPr id="1619" name="Google Shape;1619;p109"/>
          <p:cNvSpPr txBox="1"/>
          <p:nvPr/>
        </p:nvSpPr>
        <p:spPr>
          <a:xfrm>
            <a:off x="6993700" y="3379200"/>
            <a:ext cx="1076100" cy="73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No activity</a:t>
            </a:r>
            <a:endParaRPr sz="2200">
              <a:solidFill>
                <a:schemeClr val="dk1"/>
              </a:solidFill>
              <a:latin typeface="Lexend"/>
              <a:ea typeface="Lexend"/>
              <a:cs typeface="Lexend"/>
              <a:sym typeface="Lexend"/>
            </a:endParaRPr>
          </a:p>
        </p:txBody>
      </p:sp>
      <p:sp>
        <p:nvSpPr>
          <p:cNvPr id="1620" name="Google Shape;1620;p109"/>
          <p:cNvSpPr txBox="1"/>
          <p:nvPr/>
        </p:nvSpPr>
        <p:spPr>
          <a:xfrm>
            <a:off x="4033950" y="3379200"/>
            <a:ext cx="1076100" cy="71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A</a:t>
            </a:r>
            <a:r>
              <a:rPr lang="en-GB" sz="2200">
                <a:solidFill>
                  <a:schemeClr val="dk1"/>
                </a:solidFill>
                <a:latin typeface="Lexend"/>
                <a:ea typeface="Lexend"/>
                <a:cs typeface="Lexend"/>
                <a:sym typeface="Lexend"/>
              </a:rPr>
              <a:t>ctivity D</a:t>
            </a:r>
            <a:endParaRPr sz="2200">
              <a:solidFill>
                <a:schemeClr val="dk1"/>
              </a:solidFill>
              <a:latin typeface="Lexend"/>
              <a:ea typeface="Lexend"/>
              <a:cs typeface="Lexend"/>
              <a:sym typeface="Lexend"/>
            </a:endParaRPr>
          </a:p>
        </p:txBody>
      </p:sp>
      <p:sp>
        <p:nvSpPr>
          <p:cNvPr id="1621" name="Google Shape;1621;p109"/>
          <p:cNvSpPr txBox="1"/>
          <p:nvPr/>
        </p:nvSpPr>
        <p:spPr>
          <a:xfrm>
            <a:off x="1084775" y="3379200"/>
            <a:ext cx="1076100" cy="719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Activity C</a:t>
            </a:r>
            <a:endParaRPr sz="2200">
              <a:solidFill>
                <a:schemeClr val="dk1"/>
              </a:solidFill>
              <a:latin typeface="Lexend"/>
              <a:ea typeface="Lexend"/>
              <a:cs typeface="Lexend"/>
              <a:sym typeface="Lexend"/>
            </a:endParaRPr>
          </a:p>
        </p:txBody>
      </p:sp>
      <p:pic>
        <p:nvPicPr>
          <p:cNvPr id="1622" name="Google Shape;1622;p109"/>
          <p:cNvPicPr preferRelativeResize="0"/>
          <p:nvPr/>
        </p:nvPicPr>
        <p:blipFill>
          <a:blip r:embed="rId3">
            <a:alphaModFix/>
          </a:blip>
          <a:stretch>
            <a:fillRect/>
          </a:stretch>
        </p:blipFill>
        <p:spPr>
          <a:xfrm>
            <a:off x="4893083" y="4157100"/>
            <a:ext cx="396000" cy="419100"/>
          </a:xfrm>
          <a:prstGeom prst="rect">
            <a:avLst/>
          </a:prstGeom>
          <a:noFill/>
          <a:ln>
            <a:noFill/>
          </a:ln>
        </p:spPr>
      </p:pic>
      <p:cxnSp>
        <p:nvCxnSpPr>
          <p:cNvPr id="1623" name="Google Shape;1623;p109"/>
          <p:cNvCxnSpPr/>
          <p:nvPr/>
        </p:nvCxnSpPr>
        <p:spPr>
          <a:xfrm>
            <a:off x="3259900" y="1251925"/>
            <a:ext cx="0" cy="16743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11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29" name="Google Shape;1629;p11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Here is a project that Aisha and Sofia are working on:</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Describe what each pupil is doing on day 12.</a:t>
            </a:r>
            <a:endParaRPr/>
          </a:p>
        </p:txBody>
      </p:sp>
      <p:graphicFrame>
        <p:nvGraphicFramePr>
          <p:cNvPr id="1630" name="Google Shape;1630;p110"/>
          <p:cNvGraphicFramePr/>
          <p:nvPr/>
        </p:nvGraphicFramePr>
        <p:xfrm>
          <a:off x="764575" y="1654700"/>
          <a:ext cx="3000000" cy="3000000"/>
        </p:xfrm>
        <a:graphic>
          <a:graphicData uri="http://schemas.openxmlformats.org/drawingml/2006/table">
            <a:tbl>
              <a:tblPr>
                <a:noFill/>
                <a:tableStyleId>{564A8307-0F7D-4AD2-ADF6-A58BC17439A6}</a:tableStyleId>
              </a:tblPr>
              <a:tblGrid>
                <a:gridCol w="452450"/>
                <a:gridCol w="452450"/>
                <a:gridCol w="452450"/>
                <a:gridCol w="452450"/>
                <a:gridCol w="452450"/>
                <a:gridCol w="452450"/>
                <a:gridCol w="452450"/>
                <a:gridCol w="452450"/>
                <a:gridCol w="452450"/>
                <a:gridCol w="452450"/>
                <a:gridCol w="452450"/>
                <a:gridCol w="452450"/>
                <a:gridCol w="452450"/>
                <a:gridCol w="452450"/>
                <a:gridCol w="452450"/>
                <a:gridCol w="452450"/>
              </a:tblGrid>
              <a:tr h="10453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631" name="Google Shape;1631;p110"/>
          <p:cNvSpPr txBox="1"/>
          <p:nvPr/>
        </p:nvSpPr>
        <p:spPr>
          <a:xfrm>
            <a:off x="709650" y="1411875"/>
            <a:ext cx="8110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     2     3     4     5     6     7     8     9     10   11   12    13   14   15   16  days</a:t>
            </a:r>
            <a:endParaRPr sz="1800">
              <a:solidFill>
                <a:schemeClr val="dk1"/>
              </a:solidFill>
              <a:latin typeface="Lexend"/>
              <a:ea typeface="Lexend"/>
              <a:cs typeface="Lexend"/>
              <a:sym typeface="Lexend"/>
            </a:endParaRPr>
          </a:p>
        </p:txBody>
      </p:sp>
      <p:sp>
        <p:nvSpPr>
          <p:cNvPr id="1632" name="Google Shape;1632;p110"/>
          <p:cNvSpPr/>
          <p:nvPr/>
        </p:nvSpPr>
        <p:spPr>
          <a:xfrm>
            <a:off x="7645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633" name="Google Shape;1633;p110"/>
          <p:cNvSpPr/>
          <p:nvPr/>
        </p:nvSpPr>
        <p:spPr>
          <a:xfrm>
            <a:off x="25743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634" name="Google Shape;1634;p110"/>
          <p:cNvSpPr/>
          <p:nvPr/>
        </p:nvSpPr>
        <p:spPr>
          <a:xfrm>
            <a:off x="3931725" y="18304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35" name="Google Shape;1635;p110"/>
          <p:cNvSpPr/>
          <p:nvPr/>
        </p:nvSpPr>
        <p:spPr>
          <a:xfrm>
            <a:off x="4384175" y="1830450"/>
            <a:ext cx="1809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636" name="Google Shape;1636;p110"/>
          <p:cNvSpPr/>
          <p:nvPr/>
        </p:nvSpPr>
        <p:spPr>
          <a:xfrm>
            <a:off x="7551275" y="1830450"/>
            <a:ext cx="4524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637" name="Google Shape;1637;p110"/>
          <p:cNvSpPr/>
          <p:nvPr/>
        </p:nvSpPr>
        <p:spPr>
          <a:xfrm>
            <a:off x="6194075" y="18304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638" name="Google Shape;1638;p110"/>
          <p:cNvSpPr/>
          <p:nvPr/>
        </p:nvSpPr>
        <p:spPr>
          <a:xfrm>
            <a:off x="1669475" y="2287650"/>
            <a:ext cx="13668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639" name="Google Shape;1639;p110"/>
          <p:cNvSpPr/>
          <p:nvPr/>
        </p:nvSpPr>
        <p:spPr>
          <a:xfrm>
            <a:off x="30269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640" name="Google Shape;1640;p110"/>
          <p:cNvSpPr/>
          <p:nvPr/>
        </p:nvSpPr>
        <p:spPr>
          <a:xfrm>
            <a:off x="4384125" y="2287650"/>
            <a:ext cx="18099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41" name="Google Shape;1641;p110"/>
          <p:cNvSpPr/>
          <p:nvPr/>
        </p:nvSpPr>
        <p:spPr>
          <a:xfrm>
            <a:off x="6194075" y="2287650"/>
            <a:ext cx="13572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642" name="Google Shape;1642;p110"/>
          <p:cNvSpPr/>
          <p:nvPr/>
        </p:nvSpPr>
        <p:spPr>
          <a:xfrm>
            <a:off x="764575" y="2287650"/>
            <a:ext cx="9048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43" name="Google Shape;1643;p110"/>
          <p:cNvSpPr/>
          <p:nvPr/>
        </p:nvSpPr>
        <p:spPr>
          <a:xfrm>
            <a:off x="7551325" y="2287650"/>
            <a:ext cx="4524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CB</a:t>
            </a:r>
            <a:endParaRPr>
              <a:latin typeface="Lexend"/>
              <a:ea typeface="Lexend"/>
              <a:cs typeface="Lexend"/>
              <a:sym typeface="Lexend"/>
            </a:endParaRPr>
          </a:p>
          <a:p>
            <a:pPr indent="0" lvl="0" marL="0" rtl="0" algn="ctr">
              <a:spcBef>
                <a:spcPts val="0"/>
              </a:spcBef>
              <a:spcAft>
                <a:spcPts val="0"/>
              </a:spcAft>
              <a:buNone/>
            </a:pPr>
            <a:r>
              <a:t/>
            </a:r>
            <a:endParaRPr>
              <a:latin typeface="Lexend"/>
              <a:ea typeface="Lexend"/>
              <a:cs typeface="Lexend"/>
              <a:sym typeface="Lexend"/>
            </a:endParaRPr>
          </a:p>
        </p:txBody>
      </p:sp>
      <p:sp>
        <p:nvSpPr>
          <p:cNvPr id="1644" name="Google Shape;1644;p110"/>
          <p:cNvSpPr txBox="1"/>
          <p:nvPr/>
        </p:nvSpPr>
        <p:spPr>
          <a:xfrm>
            <a:off x="414800" y="1830450"/>
            <a:ext cx="248700" cy="331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645" name="Google Shape;1645;p110"/>
          <p:cNvSpPr txBox="1"/>
          <p:nvPr/>
        </p:nvSpPr>
        <p:spPr>
          <a:xfrm>
            <a:off x="414800" y="2287650"/>
            <a:ext cx="248700" cy="331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S</a:t>
            </a:r>
            <a:endParaRPr sz="1800">
              <a:solidFill>
                <a:schemeClr val="dk1"/>
              </a:solidFill>
              <a:latin typeface="Lexend"/>
              <a:ea typeface="Lexend"/>
              <a:cs typeface="Lexend"/>
              <a:sym typeface="Lexend"/>
            </a:endParaRPr>
          </a:p>
        </p:txBody>
      </p:sp>
      <p:sp>
        <p:nvSpPr>
          <p:cNvPr id="1646" name="Google Shape;1646;p110"/>
          <p:cNvSpPr txBox="1"/>
          <p:nvPr/>
        </p:nvSpPr>
        <p:spPr>
          <a:xfrm>
            <a:off x="324000" y="3741200"/>
            <a:ext cx="81153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On day 12, Aisha is doing activity E and Sofia is not doing an activity for the project. </a:t>
            </a:r>
            <a:endParaRPr sz="2000">
              <a:solidFill>
                <a:schemeClr val="dk1"/>
              </a:solidFill>
              <a:latin typeface="Kalam"/>
              <a:ea typeface="Kalam"/>
              <a:cs typeface="Kalam"/>
              <a:sym typeface="Kalam"/>
            </a:endParaRPr>
          </a:p>
        </p:txBody>
      </p:sp>
      <p:cxnSp>
        <p:nvCxnSpPr>
          <p:cNvPr id="1647" name="Google Shape;1647;p110"/>
          <p:cNvCxnSpPr/>
          <p:nvPr/>
        </p:nvCxnSpPr>
        <p:spPr>
          <a:xfrm>
            <a:off x="5959875" y="1340200"/>
            <a:ext cx="0" cy="16743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11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53" name="Google Shape;1653;p111"/>
          <p:cNvSpPr txBox="1"/>
          <p:nvPr>
            <p:ph idx="1" type="body"/>
          </p:nvPr>
        </p:nvSpPr>
        <p:spPr>
          <a:xfrm>
            <a:off x="324000" y="759300"/>
            <a:ext cx="8237700" cy="406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 </a:t>
            </a:r>
            <a:r>
              <a:rPr lang="en-GB" sz="2000"/>
              <a:t>Izzy and Laura are working on a school project. They have broken the project down into a series of tasks. </a:t>
            </a:r>
            <a:r>
              <a:rPr lang="en-GB" sz="2000"/>
              <a:t>They</a:t>
            </a:r>
            <a:r>
              <a:rPr lang="en-GB" sz="2000"/>
              <a:t> </a:t>
            </a:r>
            <a:r>
              <a:rPr lang="en-GB" sz="2000"/>
              <a:t>create a</a:t>
            </a:r>
            <a:r>
              <a:rPr lang="en-GB" sz="2000"/>
              <a:t> table listing the tasks, how long it will take to complete each task and which tasks have to be completed before a task can be started.</a:t>
            </a:r>
            <a:endParaRPr sz="2000"/>
          </a:p>
          <a:p>
            <a:pPr indent="0" lvl="0" marL="0" rtl="0" algn="l">
              <a:spcBef>
                <a:spcPts val="1000"/>
              </a:spcBef>
              <a:spcAft>
                <a:spcPts val="0"/>
              </a:spcAft>
              <a:buNone/>
            </a:pPr>
            <a:r>
              <a:rPr lang="en-GB" sz="2000"/>
              <a:t>They have 2.5 hours to work on their project.</a:t>
            </a:r>
            <a:endParaRPr sz="2000"/>
          </a:p>
          <a:p>
            <a:pPr indent="0" lvl="0" marL="0" rtl="0" algn="l">
              <a:spcBef>
                <a:spcPts val="1000"/>
              </a:spcBef>
              <a:spcAft>
                <a:spcPts val="0"/>
              </a:spcAft>
              <a:buNone/>
            </a:pPr>
            <a:r>
              <a:rPr lang="en-GB" sz="2000"/>
              <a:t>Create a chart showing who will work on which tasks and when.</a:t>
            </a:r>
            <a:endParaRPr sz="2000"/>
          </a:p>
          <a:p>
            <a:pPr indent="0" lvl="0" marL="0" rtl="0" algn="l">
              <a:spcBef>
                <a:spcPts val="1000"/>
              </a:spcBef>
              <a:spcAft>
                <a:spcPts val="0"/>
              </a:spcAft>
              <a:buNone/>
            </a:pPr>
            <a:r>
              <a:rPr lang="en-GB" sz="2000"/>
              <a:t>Can Izzy and Laura complete their project in time?</a:t>
            </a:r>
            <a:endParaRPr sz="2000"/>
          </a:p>
          <a:p>
            <a:pPr indent="0" lvl="0" marL="0" rtl="0" algn="l">
              <a:spcBef>
                <a:spcPts val="1000"/>
              </a:spcBef>
              <a:spcAft>
                <a:spcPts val="1000"/>
              </a:spcAft>
              <a:buNone/>
            </a:pPr>
            <a:r>
              <a:rPr lang="en-GB" sz="2000"/>
              <a:t>(A template chart is provided.)</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11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59" name="Google Shape;1659;p112"/>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endParaRPr/>
          </a:p>
        </p:txBody>
      </p:sp>
      <p:graphicFrame>
        <p:nvGraphicFramePr>
          <p:cNvPr id="1660" name="Google Shape;1660;p112"/>
          <p:cNvGraphicFramePr/>
          <p:nvPr/>
        </p:nvGraphicFramePr>
        <p:xfrm>
          <a:off x="700500" y="809975"/>
          <a:ext cx="3000000" cy="3000000"/>
        </p:xfrm>
        <a:graphic>
          <a:graphicData uri="http://schemas.openxmlformats.org/drawingml/2006/table">
            <a:tbl>
              <a:tblPr>
                <a:noFill/>
                <a:tableStyleId>{564A8307-0F7D-4AD2-ADF6-A58BC17439A6}</a:tableStyleId>
              </a:tblPr>
              <a:tblGrid>
                <a:gridCol w="2252900"/>
                <a:gridCol w="2252900"/>
                <a:gridCol w="2252900"/>
              </a:tblGrid>
              <a:tr h="569100">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Activity</a:t>
                      </a:r>
                      <a:endParaRPr b="1">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Duration</a:t>
                      </a:r>
                      <a:endParaRPr b="1">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Activities which must be completed first</a:t>
                      </a:r>
                      <a:endParaRPr b="1">
                        <a:solidFill>
                          <a:schemeClr val="lt1"/>
                        </a:solidFill>
                        <a:latin typeface="Lexend"/>
                        <a:ea typeface="Lexend"/>
                        <a:cs typeface="Lexend"/>
                        <a:sym typeface="Lexend"/>
                      </a:endParaRPr>
                    </a:p>
                  </a:txBody>
                  <a:tcPr marT="91425" marB="91425" marR="91425" marL="91425">
                    <a:solidFill>
                      <a:schemeClr val="accent5"/>
                    </a:solidFill>
                  </a:tcPr>
                </a:tc>
              </a:tr>
              <a:tr h="369925">
                <a:tc>
                  <a:txBody>
                    <a:bodyPr/>
                    <a:lstStyle/>
                    <a:p>
                      <a:pPr indent="0" lvl="0" marL="0" rtl="0" algn="ctr">
                        <a:spcBef>
                          <a:spcPts val="0"/>
                        </a:spcBef>
                        <a:spcAft>
                          <a:spcPts val="0"/>
                        </a:spcAft>
                        <a:buNone/>
                      </a:pPr>
                      <a:r>
                        <a:rPr lang="en-GB">
                          <a:latin typeface="Lexend"/>
                          <a:ea typeface="Lexend"/>
                          <a:cs typeface="Lexend"/>
                          <a:sym typeface="Lexend"/>
                        </a:rPr>
                        <a:t>A (research)</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60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None</a:t>
                      </a:r>
                      <a:endParaRPr>
                        <a:latin typeface="Lexend"/>
                        <a:ea typeface="Lexend"/>
                        <a:cs typeface="Lexend"/>
                        <a:sym typeface="Lexend"/>
                      </a:endParaRPr>
                    </a:p>
                  </a:txBody>
                  <a:tcPr marT="91425" marB="91425" marR="91425" marL="91425"/>
                </a:tc>
              </a:tr>
              <a:tr h="369925">
                <a:tc>
                  <a:txBody>
                    <a:bodyPr/>
                    <a:lstStyle/>
                    <a:p>
                      <a:pPr indent="0" lvl="0" marL="0" rtl="0" algn="ctr">
                        <a:spcBef>
                          <a:spcPts val="0"/>
                        </a:spcBef>
                        <a:spcAft>
                          <a:spcPts val="0"/>
                        </a:spcAft>
                        <a:buNone/>
                      </a:pPr>
                      <a:r>
                        <a:rPr lang="en-GB">
                          <a:latin typeface="Lexend"/>
                          <a:ea typeface="Lexend"/>
                          <a:cs typeface="Lexend"/>
                          <a:sym typeface="Lexend"/>
                        </a:rPr>
                        <a:t>B (gather supplies)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20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None</a:t>
                      </a:r>
                      <a:endParaRPr>
                        <a:latin typeface="Lexend"/>
                        <a:ea typeface="Lexend"/>
                        <a:cs typeface="Lexend"/>
                        <a:sym typeface="Lexend"/>
                      </a:endParaRPr>
                    </a:p>
                  </a:txBody>
                  <a:tcPr marT="91425" marB="91425" marR="91425" marL="91425"/>
                </a:tc>
              </a:tr>
              <a:tr h="369925">
                <a:tc>
                  <a:txBody>
                    <a:bodyPr/>
                    <a:lstStyle/>
                    <a:p>
                      <a:pPr indent="0" lvl="0" marL="0" rtl="0" algn="ctr">
                        <a:spcBef>
                          <a:spcPts val="0"/>
                        </a:spcBef>
                        <a:spcAft>
                          <a:spcPts val="0"/>
                        </a:spcAft>
                        <a:buNone/>
                      </a:pPr>
                      <a:r>
                        <a:rPr lang="en-GB">
                          <a:latin typeface="Lexend"/>
                          <a:ea typeface="Lexend"/>
                          <a:cs typeface="Lexend"/>
                          <a:sym typeface="Lexend"/>
                        </a:rPr>
                        <a:t>C (create templates)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25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a:txBody>
                  <a:tcPr marT="91425" marB="91425" marR="91425" marL="91425"/>
                </a:tc>
              </a:tr>
              <a:tr h="369925">
                <a:tc>
                  <a:txBody>
                    <a:bodyPr/>
                    <a:lstStyle/>
                    <a:p>
                      <a:pPr indent="0" lvl="0" marL="0" rtl="0" algn="ctr">
                        <a:spcBef>
                          <a:spcPts val="0"/>
                        </a:spcBef>
                        <a:spcAft>
                          <a:spcPts val="0"/>
                        </a:spcAft>
                        <a:buNone/>
                      </a:pPr>
                      <a:r>
                        <a:rPr lang="en-GB">
                          <a:latin typeface="Lexend"/>
                          <a:ea typeface="Lexend"/>
                          <a:cs typeface="Lexend"/>
                          <a:sym typeface="Lexend"/>
                        </a:rPr>
                        <a:t>D (create artwork)</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60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A, C</a:t>
                      </a:r>
                      <a:endParaRPr>
                        <a:latin typeface="Lexend"/>
                        <a:ea typeface="Lexend"/>
                        <a:cs typeface="Lexend"/>
                        <a:sym typeface="Lexend"/>
                      </a:endParaRPr>
                    </a:p>
                  </a:txBody>
                  <a:tcPr marT="91425" marB="91425" marR="91425" marL="91425"/>
                </a:tc>
              </a:tr>
              <a:tr h="369925">
                <a:tc>
                  <a:txBody>
                    <a:bodyPr/>
                    <a:lstStyle/>
                    <a:p>
                      <a:pPr indent="0" lvl="0" marL="0" rtl="0" algn="ctr">
                        <a:spcBef>
                          <a:spcPts val="0"/>
                        </a:spcBef>
                        <a:spcAft>
                          <a:spcPts val="0"/>
                        </a:spcAft>
                        <a:buNone/>
                      </a:pPr>
                      <a:r>
                        <a:rPr lang="en-GB">
                          <a:latin typeface="Lexend"/>
                          <a:ea typeface="Lexend"/>
                          <a:cs typeface="Lexend"/>
                          <a:sym typeface="Lexend"/>
                        </a:rPr>
                        <a:t>E (writing)</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50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A, C</a:t>
                      </a:r>
                      <a:endParaRPr>
                        <a:latin typeface="Lexend"/>
                        <a:ea typeface="Lexend"/>
                        <a:cs typeface="Lexend"/>
                        <a:sym typeface="Lexend"/>
                      </a:endParaRPr>
                    </a:p>
                  </a:txBody>
                  <a:tcPr marT="91425" marB="91425" marR="91425" marL="91425"/>
                </a:tc>
              </a:tr>
              <a:tr h="369925">
                <a:tc>
                  <a:txBody>
                    <a:bodyPr/>
                    <a:lstStyle/>
                    <a:p>
                      <a:pPr indent="0" lvl="0" marL="0" rtl="0" algn="ctr">
                        <a:spcBef>
                          <a:spcPts val="0"/>
                        </a:spcBef>
                        <a:spcAft>
                          <a:spcPts val="0"/>
                        </a:spcAft>
                        <a:buNone/>
                      </a:pPr>
                      <a:r>
                        <a:rPr lang="en-GB">
                          <a:latin typeface="Lexend"/>
                          <a:ea typeface="Lexend"/>
                          <a:cs typeface="Lexend"/>
                          <a:sym typeface="Lexend"/>
                        </a:rPr>
                        <a:t>F (checking)</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30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D, E</a:t>
                      </a:r>
                      <a:endParaRPr>
                        <a:latin typeface="Lexend"/>
                        <a:ea typeface="Lexend"/>
                        <a:cs typeface="Lexend"/>
                        <a:sym typeface="Lexend"/>
                      </a:endParaRPr>
                    </a:p>
                  </a:txBody>
                  <a:tcPr marT="91425" marB="91425" marR="91425" marL="91425"/>
                </a:tc>
              </a:tr>
              <a:tr h="369925">
                <a:tc>
                  <a:txBody>
                    <a:bodyPr/>
                    <a:lstStyle/>
                    <a:p>
                      <a:pPr indent="0" lvl="0" marL="0" rtl="0" algn="ctr">
                        <a:spcBef>
                          <a:spcPts val="0"/>
                        </a:spcBef>
                        <a:spcAft>
                          <a:spcPts val="0"/>
                        </a:spcAft>
                        <a:buNone/>
                      </a:pPr>
                      <a:r>
                        <a:rPr lang="en-GB">
                          <a:latin typeface="Lexend"/>
                          <a:ea typeface="Lexend"/>
                          <a:cs typeface="Lexend"/>
                          <a:sym typeface="Lexend"/>
                        </a:rPr>
                        <a:t>G (compiling)</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15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D, E</a:t>
                      </a:r>
                      <a:endParaRPr>
                        <a:latin typeface="Lexend"/>
                        <a:ea typeface="Lexend"/>
                        <a:cs typeface="Lexend"/>
                        <a:sym typeface="Lexend"/>
                      </a:endParaRPr>
                    </a:p>
                  </a:txBody>
                  <a:tcPr marT="91425" marB="91425" marR="91425" marL="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11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66" name="Google Shape;1666;p113"/>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Chart template</a:t>
            </a:r>
            <a:endParaRPr/>
          </a:p>
        </p:txBody>
      </p:sp>
      <p:sp>
        <p:nvSpPr>
          <p:cNvPr id="1667" name="Google Shape;1667;p113"/>
          <p:cNvSpPr txBox="1"/>
          <p:nvPr/>
        </p:nvSpPr>
        <p:spPr>
          <a:xfrm>
            <a:off x="328650" y="1411875"/>
            <a:ext cx="8491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0    10   20   30  </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40   50   60   70   80   90  </a:t>
            </a:r>
            <a:r>
              <a:rPr lang="en-GB" sz="6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100 110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120 </a:t>
            </a:r>
            <a:r>
              <a:rPr lang="en-GB" sz="9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130 140 150 160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170 180</a:t>
            </a:r>
            <a:endParaRPr sz="1800">
              <a:solidFill>
                <a:schemeClr val="dk1"/>
              </a:solidFill>
              <a:latin typeface="Lexend"/>
              <a:ea typeface="Lexend"/>
              <a:cs typeface="Lexend"/>
              <a:sym typeface="Lexend"/>
            </a:endParaRPr>
          </a:p>
        </p:txBody>
      </p:sp>
      <p:graphicFrame>
        <p:nvGraphicFramePr>
          <p:cNvPr id="1668" name="Google Shape;1668;p113"/>
          <p:cNvGraphicFramePr/>
          <p:nvPr/>
        </p:nvGraphicFramePr>
        <p:xfrm>
          <a:off x="383575" y="1654700"/>
          <a:ext cx="3000000" cy="3000000"/>
        </p:xfrm>
        <a:graphic>
          <a:graphicData uri="http://schemas.openxmlformats.org/drawingml/2006/table">
            <a:tbl>
              <a:tblPr>
                <a:noFill/>
                <a:tableStyleId>{564A8307-0F7D-4AD2-ADF6-A58BC17439A6}</a:tableStyleId>
              </a:tblPr>
              <a:tblGrid>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tblGrid>
              <a:tr h="1414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sp>
        <p:nvSpPr>
          <p:cNvPr id="1673" name="Google Shape;1673;p11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74" name="Google Shape;1674;p114"/>
          <p:cNvSpPr txBox="1"/>
          <p:nvPr>
            <p:ph idx="1" type="body"/>
          </p:nvPr>
        </p:nvSpPr>
        <p:spPr>
          <a:xfrm>
            <a:off x="324000" y="759300"/>
            <a:ext cx="8237700" cy="42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t>
            </a:r>
            <a:r>
              <a:rPr lang="en-GB" sz="2000">
                <a:latin typeface="Kalam"/>
                <a:ea typeface="Kalam"/>
                <a:cs typeface="Kalam"/>
                <a:sym typeface="Kalam"/>
              </a:rPr>
              <a:t>This example shows Izzy and Laura completing the project on time.</a:t>
            </a:r>
            <a:endParaRPr sz="2000">
              <a:latin typeface="Kalam"/>
              <a:ea typeface="Kalam"/>
              <a:cs typeface="Kalam"/>
              <a:sym typeface="Kalam"/>
            </a:endParaRPr>
          </a:p>
        </p:txBody>
      </p:sp>
      <p:graphicFrame>
        <p:nvGraphicFramePr>
          <p:cNvPr id="1675" name="Google Shape;1675;p114"/>
          <p:cNvGraphicFramePr/>
          <p:nvPr/>
        </p:nvGraphicFramePr>
        <p:xfrm>
          <a:off x="383575" y="1502300"/>
          <a:ext cx="3000000" cy="3000000"/>
        </p:xfrm>
        <a:graphic>
          <a:graphicData uri="http://schemas.openxmlformats.org/drawingml/2006/table">
            <a:tbl>
              <a:tblPr>
                <a:noFill/>
                <a:tableStyleId>{564A8307-0F7D-4AD2-ADF6-A58BC17439A6}</a:tableStyleId>
              </a:tblPr>
              <a:tblGrid>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tblGrid>
              <a:tr h="1414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676" name="Google Shape;1676;p114"/>
          <p:cNvSpPr txBox="1"/>
          <p:nvPr/>
        </p:nvSpPr>
        <p:spPr>
          <a:xfrm>
            <a:off x="328650" y="1259475"/>
            <a:ext cx="8491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0    10   20   30  </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40   50   60   70   80   90  </a:t>
            </a:r>
            <a:r>
              <a:rPr lang="en-GB" sz="6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100 110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120 </a:t>
            </a:r>
            <a:r>
              <a:rPr lang="en-GB" sz="9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130 140 150 160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170 180</a:t>
            </a:r>
            <a:endParaRPr sz="1800">
              <a:solidFill>
                <a:schemeClr val="dk1"/>
              </a:solidFill>
              <a:latin typeface="Lexend"/>
              <a:ea typeface="Lexend"/>
              <a:cs typeface="Lexend"/>
              <a:sym typeface="Lexend"/>
            </a:endParaRPr>
          </a:p>
        </p:txBody>
      </p:sp>
      <p:graphicFrame>
        <p:nvGraphicFramePr>
          <p:cNvPr id="1677" name="Google Shape;1677;p114"/>
          <p:cNvGraphicFramePr/>
          <p:nvPr/>
        </p:nvGraphicFramePr>
        <p:xfrm>
          <a:off x="328650" y="3309250"/>
          <a:ext cx="3000000" cy="3000000"/>
        </p:xfrm>
        <a:graphic>
          <a:graphicData uri="http://schemas.openxmlformats.org/drawingml/2006/table">
            <a:tbl>
              <a:tblPr>
                <a:noFill/>
                <a:tableStyleId>{564A8307-0F7D-4AD2-ADF6-A58BC17439A6}</a:tableStyleId>
              </a:tblPr>
              <a:tblGrid>
                <a:gridCol w="1941375"/>
                <a:gridCol w="1037375"/>
                <a:gridCol w="3876550"/>
              </a:tblGrid>
              <a:tr h="322650">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Activity</a:t>
                      </a:r>
                      <a:endParaRPr b="1">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Duration</a:t>
                      </a:r>
                      <a:endParaRPr b="1">
                        <a:solidFill>
                          <a:schemeClr val="lt1"/>
                        </a:solidFill>
                        <a:latin typeface="Lexend"/>
                        <a:ea typeface="Lexend"/>
                        <a:cs typeface="Lexend"/>
                        <a:sym typeface="Lexend"/>
                      </a:endParaRPr>
                    </a:p>
                  </a:txBody>
                  <a:tcPr marT="91425" marB="91425" marR="91425" marL="91425">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Activities which must be completed first</a:t>
                      </a:r>
                      <a:endParaRPr b="1">
                        <a:solidFill>
                          <a:schemeClr val="lt1"/>
                        </a:solidFill>
                        <a:latin typeface="Lexend"/>
                        <a:ea typeface="Lexend"/>
                        <a:cs typeface="Lexend"/>
                        <a:sym typeface="Lexend"/>
                      </a:endParaRPr>
                    </a:p>
                  </a:txBody>
                  <a:tcPr marT="91425" marB="91425" marR="91425" marL="91425">
                    <a:solidFill>
                      <a:schemeClr val="accent5"/>
                    </a:solidFill>
                  </a:tcPr>
                </a:tc>
              </a:tr>
              <a:tr h="286175">
                <a:tc>
                  <a:txBody>
                    <a:bodyPr/>
                    <a:lstStyle/>
                    <a:p>
                      <a:pPr indent="0" lvl="0" marL="0" rtl="0" algn="ctr">
                        <a:spcBef>
                          <a:spcPts val="0"/>
                        </a:spcBef>
                        <a:spcAft>
                          <a:spcPts val="0"/>
                        </a:spcAft>
                        <a:buNone/>
                      </a:pPr>
                      <a:r>
                        <a:rPr lang="en-GB">
                          <a:latin typeface="Lexend"/>
                          <a:ea typeface="Lexend"/>
                          <a:cs typeface="Lexend"/>
                          <a:sym typeface="Lexend"/>
                        </a:rPr>
                        <a:t>A (research)</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60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None</a:t>
                      </a:r>
                      <a:endParaRPr>
                        <a:latin typeface="Lexend"/>
                        <a:ea typeface="Lexend"/>
                        <a:cs typeface="Lexend"/>
                        <a:sym typeface="Lexend"/>
                      </a:endParaRPr>
                    </a:p>
                  </a:txBody>
                  <a:tcPr marT="91425" marB="91425" marR="91425" marL="91425"/>
                </a:tc>
              </a:tr>
              <a:tr h="440275">
                <a:tc>
                  <a:txBody>
                    <a:bodyPr/>
                    <a:lstStyle/>
                    <a:p>
                      <a:pPr indent="0" lvl="0" marL="0" rtl="0" algn="ctr">
                        <a:spcBef>
                          <a:spcPts val="0"/>
                        </a:spcBef>
                        <a:spcAft>
                          <a:spcPts val="0"/>
                        </a:spcAft>
                        <a:buNone/>
                      </a:pPr>
                      <a:r>
                        <a:rPr lang="en-GB">
                          <a:latin typeface="Lexend"/>
                          <a:ea typeface="Lexend"/>
                          <a:cs typeface="Lexend"/>
                          <a:sym typeface="Lexend"/>
                        </a:rPr>
                        <a:t>B (gather supplies)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20 mins</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a:latin typeface="Lexend"/>
                          <a:ea typeface="Lexend"/>
                          <a:cs typeface="Lexend"/>
                          <a:sym typeface="Lexend"/>
                        </a:rPr>
                        <a:t>None</a:t>
                      </a:r>
                      <a:endParaRPr>
                        <a:latin typeface="Lexend"/>
                        <a:ea typeface="Lexend"/>
                        <a:cs typeface="Lexend"/>
                        <a:sym typeface="Lexend"/>
                      </a:endParaRPr>
                    </a:p>
                  </a:txBody>
                  <a:tcPr marT="91425" marB="91425" marR="91425" marL="91425"/>
                </a:tc>
              </a:tr>
            </a:tbl>
          </a:graphicData>
        </a:graphic>
      </p:graphicFrame>
      <p:sp>
        <p:nvSpPr>
          <p:cNvPr id="1678" name="Google Shape;1678;p114"/>
          <p:cNvSpPr/>
          <p:nvPr/>
        </p:nvSpPr>
        <p:spPr>
          <a:xfrm>
            <a:off x="383575" y="1699950"/>
            <a:ext cx="2745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679" name="Google Shape;1679;p114"/>
          <p:cNvSpPr/>
          <p:nvPr/>
        </p:nvSpPr>
        <p:spPr>
          <a:xfrm>
            <a:off x="383575" y="2335025"/>
            <a:ext cx="9153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p11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85" name="Google Shape;1685;p115"/>
          <p:cNvSpPr txBox="1"/>
          <p:nvPr>
            <p:ph idx="1" type="body"/>
          </p:nvPr>
        </p:nvSpPr>
        <p:spPr>
          <a:xfrm>
            <a:off x="324000" y="759300"/>
            <a:ext cx="8237700" cy="43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t>
            </a:r>
            <a:r>
              <a:rPr lang="en-GB" sz="2000">
                <a:latin typeface="Kalam"/>
                <a:ea typeface="Kalam"/>
                <a:cs typeface="Kalam"/>
                <a:sym typeface="Kalam"/>
              </a:rPr>
              <a:t>This example shows Izzy and Laura completing the project on time.</a:t>
            </a:r>
            <a:endParaRPr sz="2000">
              <a:latin typeface="Kalam"/>
              <a:ea typeface="Kalam"/>
              <a:cs typeface="Kalam"/>
              <a:sym typeface="Kalam"/>
            </a:endParaRPr>
          </a:p>
        </p:txBody>
      </p:sp>
      <p:graphicFrame>
        <p:nvGraphicFramePr>
          <p:cNvPr id="1686" name="Google Shape;1686;p115"/>
          <p:cNvGraphicFramePr/>
          <p:nvPr/>
        </p:nvGraphicFramePr>
        <p:xfrm>
          <a:off x="383575" y="1502300"/>
          <a:ext cx="3000000" cy="3000000"/>
        </p:xfrm>
        <a:graphic>
          <a:graphicData uri="http://schemas.openxmlformats.org/drawingml/2006/table">
            <a:tbl>
              <a:tblPr>
                <a:noFill/>
                <a:tableStyleId>{564A8307-0F7D-4AD2-ADF6-A58BC17439A6}</a:tableStyleId>
              </a:tblPr>
              <a:tblGrid>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tblGrid>
              <a:tr h="1414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687" name="Google Shape;1687;p115"/>
          <p:cNvSpPr txBox="1"/>
          <p:nvPr/>
        </p:nvSpPr>
        <p:spPr>
          <a:xfrm>
            <a:off x="328650" y="1259475"/>
            <a:ext cx="8491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0    10   20   30  </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40   50   60   70   80   90  </a:t>
            </a:r>
            <a:r>
              <a:rPr lang="en-GB" sz="6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100 110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120 </a:t>
            </a:r>
            <a:r>
              <a:rPr lang="en-GB" sz="9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130 140 150 160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170 180</a:t>
            </a:r>
            <a:endParaRPr sz="1800">
              <a:solidFill>
                <a:schemeClr val="dk1"/>
              </a:solidFill>
              <a:latin typeface="Lexend"/>
              <a:ea typeface="Lexend"/>
              <a:cs typeface="Lexend"/>
              <a:sym typeface="Lexend"/>
            </a:endParaRPr>
          </a:p>
        </p:txBody>
      </p:sp>
      <p:graphicFrame>
        <p:nvGraphicFramePr>
          <p:cNvPr id="1688" name="Google Shape;1688;p115"/>
          <p:cNvGraphicFramePr/>
          <p:nvPr/>
        </p:nvGraphicFramePr>
        <p:xfrm>
          <a:off x="328650" y="3309250"/>
          <a:ext cx="3000000" cy="3000000"/>
        </p:xfrm>
        <a:graphic>
          <a:graphicData uri="http://schemas.openxmlformats.org/drawingml/2006/table">
            <a:tbl>
              <a:tblPr>
                <a:noFill/>
                <a:tableStyleId>{564A8307-0F7D-4AD2-ADF6-A58BC17439A6}</a:tableStyleId>
              </a:tblPr>
              <a:tblGrid>
                <a:gridCol w="1941375"/>
                <a:gridCol w="1037375"/>
                <a:gridCol w="3876550"/>
              </a:tblGrid>
              <a:tr h="322650">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Activity</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Duration</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Activities which must be completed first</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r>
              <a:tr h="286175">
                <a:tc>
                  <a:txBody>
                    <a:bodyPr/>
                    <a:lstStyle/>
                    <a:p>
                      <a:pPr indent="0" lvl="0" marL="0" rtl="0" algn="ctr">
                        <a:spcBef>
                          <a:spcPts val="0"/>
                        </a:spcBef>
                        <a:spcAft>
                          <a:spcPts val="0"/>
                        </a:spcAft>
                        <a:buNone/>
                      </a:pPr>
                      <a:r>
                        <a:rPr lang="en-GB">
                          <a:latin typeface="Lexend"/>
                          <a:ea typeface="Lexend"/>
                          <a:cs typeface="Lexend"/>
                          <a:sym typeface="Lexend"/>
                        </a:rPr>
                        <a:t>C (create templates)</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2</a:t>
                      </a:r>
                      <a:r>
                        <a:rPr lang="en-GB">
                          <a:latin typeface="Lexend"/>
                          <a:ea typeface="Lexend"/>
                          <a:cs typeface="Lexend"/>
                          <a:sym typeface="Lexend"/>
                        </a:rPr>
                        <a:t>5 mins</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689" name="Google Shape;1689;p115"/>
          <p:cNvSpPr/>
          <p:nvPr/>
        </p:nvSpPr>
        <p:spPr>
          <a:xfrm>
            <a:off x="383575" y="1699950"/>
            <a:ext cx="2745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690" name="Google Shape;1690;p115"/>
          <p:cNvSpPr/>
          <p:nvPr/>
        </p:nvSpPr>
        <p:spPr>
          <a:xfrm>
            <a:off x="383575" y="2335025"/>
            <a:ext cx="9153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691" name="Google Shape;1691;p115"/>
          <p:cNvSpPr/>
          <p:nvPr/>
        </p:nvSpPr>
        <p:spPr>
          <a:xfrm>
            <a:off x="1298875" y="2335025"/>
            <a:ext cx="11523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11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697" name="Google Shape;1697;p116"/>
          <p:cNvSpPr txBox="1"/>
          <p:nvPr>
            <p:ph idx="1" type="body"/>
          </p:nvPr>
        </p:nvSpPr>
        <p:spPr>
          <a:xfrm>
            <a:off x="324000" y="759300"/>
            <a:ext cx="8237700" cy="33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t>
            </a:r>
            <a:r>
              <a:rPr lang="en-GB" sz="2000">
                <a:latin typeface="Kalam"/>
                <a:ea typeface="Kalam"/>
                <a:cs typeface="Kalam"/>
                <a:sym typeface="Kalam"/>
              </a:rPr>
              <a:t>This example shows Izzy and Laura completing the project on time.</a:t>
            </a:r>
            <a:endParaRPr sz="2000">
              <a:latin typeface="Kalam"/>
              <a:ea typeface="Kalam"/>
              <a:cs typeface="Kalam"/>
              <a:sym typeface="Kalam"/>
            </a:endParaRPr>
          </a:p>
        </p:txBody>
      </p:sp>
      <p:graphicFrame>
        <p:nvGraphicFramePr>
          <p:cNvPr id="1698" name="Google Shape;1698;p116"/>
          <p:cNvGraphicFramePr/>
          <p:nvPr/>
        </p:nvGraphicFramePr>
        <p:xfrm>
          <a:off x="383575" y="1502300"/>
          <a:ext cx="3000000" cy="3000000"/>
        </p:xfrm>
        <a:graphic>
          <a:graphicData uri="http://schemas.openxmlformats.org/drawingml/2006/table">
            <a:tbl>
              <a:tblPr>
                <a:noFill/>
                <a:tableStyleId>{564A8307-0F7D-4AD2-ADF6-A58BC17439A6}</a:tableStyleId>
              </a:tblPr>
              <a:tblGrid>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tblGrid>
              <a:tr h="1414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699" name="Google Shape;1699;p116"/>
          <p:cNvSpPr txBox="1"/>
          <p:nvPr/>
        </p:nvSpPr>
        <p:spPr>
          <a:xfrm>
            <a:off x="328650" y="1259475"/>
            <a:ext cx="8491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0    10   20   30  </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40   50   60   70   80   90  </a:t>
            </a:r>
            <a:r>
              <a:rPr lang="en-GB" sz="6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100 110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120 </a:t>
            </a:r>
            <a:r>
              <a:rPr lang="en-GB" sz="9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130 140 150 160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170 180</a:t>
            </a:r>
            <a:endParaRPr sz="1800">
              <a:solidFill>
                <a:schemeClr val="dk1"/>
              </a:solidFill>
              <a:latin typeface="Lexend"/>
              <a:ea typeface="Lexend"/>
              <a:cs typeface="Lexend"/>
              <a:sym typeface="Lexend"/>
            </a:endParaRPr>
          </a:p>
        </p:txBody>
      </p:sp>
      <p:sp>
        <p:nvSpPr>
          <p:cNvPr id="1700" name="Google Shape;1700;p116"/>
          <p:cNvSpPr/>
          <p:nvPr/>
        </p:nvSpPr>
        <p:spPr>
          <a:xfrm>
            <a:off x="383575" y="1699950"/>
            <a:ext cx="2745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701" name="Google Shape;1701;p116"/>
          <p:cNvSpPr/>
          <p:nvPr/>
        </p:nvSpPr>
        <p:spPr>
          <a:xfrm>
            <a:off x="383575" y="2335025"/>
            <a:ext cx="9153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graphicFrame>
        <p:nvGraphicFramePr>
          <p:cNvPr id="1702" name="Google Shape;1702;p116"/>
          <p:cNvGraphicFramePr/>
          <p:nvPr/>
        </p:nvGraphicFramePr>
        <p:xfrm>
          <a:off x="328650" y="3309250"/>
          <a:ext cx="3000000" cy="3000000"/>
        </p:xfrm>
        <a:graphic>
          <a:graphicData uri="http://schemas.openxmlformats.org/drawingml/2006/table">
            <a:tbl>
              <a:tblPr>
                <a:noFill/>
                <a:tableStyleId>{564A8307-0F7D-4AD2-ADF6-A58BC17439A6}</a:tableStyleId>
              </a:tblPr>
              <a:tblGrid>
                <a:gridCol w="1941375"/>
                <a:gridCol w="1037375"/>
                <a:gridCol w="3876550"/>
              </a:tblGrid>
              <a:tr h="322650">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Activity</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Duration</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Activities which must be completed first</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r>
              <a:tr h="286175">
                <a:tc>
                  <a:txBody>
                    <a:bodyPr/>
                    <a:lstStyle/>
                    <a:p>
                      <a:pPr indent="0" lvl="0" marL="0" rtl="0" algn="ctr">
                        <a:spcBef>
                          <a:spcPts val="0"/>
                        </a:spcBef>
                        <a:spcAft>
                          <a:spcPts val="0"/>
                        </a:spcAft>
                        <a:buNone/>
                      </a:pPr>
                      <a:r>
                        <a:rPr lang="en-GB">
                          <a:latin typeface="Lexend"/>
                          <a:ea typeface="Lexend"/>
                          <a:cs typeface="Lexend"/>
                          <a:sym typeface="Lexend"/>
                        </a:rPr>
                        <a:t>D (create artwork)</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6</a:t>
                      </a:r>
                      <a:r>
                        <a:rPr lang="en-GB">
                          <a:latin typeface="Lexend"/>
                          <a:ea typeface="Lexend"/>
                          <a:cs typeface="Lexend"/>
                          <a:sym typeface="Lexend"/>
                        </a:rPr>
                        <a:t>0 mins</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A, </a:t>
                      </a:r>
                      <a:r>
                        <a:rPr lang="en-GB">
                          <a:latin typeface="Lexend"/>
                          <a:ea typeface="Lexend"/>
                          <a:cs typeface="Lexend"/>
                          <a:sym typeface="Lexend"/>
                        </a:rPr>
                        <a:t>C</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0275">
                <a:tc>
                  <a:txBody>
                    <a:bodyPr/>
                    <a:lstStyle/>
                    <a:p>
                      <a:pPr indent="0" lvl="0" marL="0" rtl="0" algn="ctr">
                        <a:spcBef>
                          <a:spcPts val="0"/>
                        </a:spcBef>
                        <a:spcAft>
                          <a:spcPts val="0"/>
                        </a:spcAft>
                        <a:buNone/>
                      </a:pPr>
                      <a:r>
                        <a:rPr lang="en-GB">
                          <a:latin typeface="Lexend"/>
                          <a:ea typeface="Lexend"/>
                          <a:cs typeface="Lexend"/>
                          <a:sym typeface="Lexend"/>
                        </a:rPr>
                        <a:t>E (writing)</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50</a:t>
                      </a:r>
                      <a:r>
                        <a:rPr lang="en-GB">
                          <a:latin typeface="Lexend"/>
                          <a:ea typeface="Lexend"/>
                          <a:cs typeface="Lexend"/>
                          <a:sym typeface="Lexend"/>
                        </a:rPr>
                        <a:t> mins</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A, </a:t>
                      </a:r>
                      <a:r>
                        <a:rPr lang="en-GB">
                          <a:latin typeface="Lexend"/>
                          <a:ea typeface="Lexend"/>
                          <a:cs typeface="Lexend"/>
                          <a:sym typeface="Lexend"/>
                        </a:rPr>
                        <a:t>C</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703" name="Google Shape;1703;p116"/>
          <p:cNvSpPr/>
          <p:nvPr/>
        </p:nvSpPr>
        <p:spPr>
          <a:xfrm>
            <a:off x="3129475" y="1699950"/>
            <a:ext cx="2745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704" name="Google Shape;1704;p116"/>
          <p:cNvSpPr/>
          <p:nvPr/>
        </p:nvSpPr>
        <p:spPr>
          <a:xfrm>
            <a:off x="3132525" y="2335025"/>
            <a:ext cx="22851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705" name="Google Shape;1705;p116"/>
          <p:cNvSpPr/>
          <p:nvPr/>
        </p:nvSpPr>
        <p:spPr>
          <a:xfrm>
            <a:off x="2454200" y="2335025"/>
            <a:ext cx="6753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6" name="Google Shape;1706;p116"/>
          <p:cNvSpPr/>
          <p:nvPr/>
        </p:nvSpPr>
        <p:spPr>
          <a:xfrm>
            <a:off x="1298875" y="2335025"/>
            <a:ext cx="11523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sp>
        <p:nvSpPr>
          <p:cNvPr id="1711" name="Google Shape;1711;p11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Planning a project</a:t>
            </a:r>
            <a:endParaRPr/>
          </a:p>
        </p:txBody>
      </p:sp>
      <p:sp>
        <p:nvSpPr>
          <p:cNvPr id="1712" name="Google Shape;1712;p117"/>
          <p:cNvSpPr txBox="1"/>
          <p:nvPr>
            <p:ph idx="1" type="body"/>
          </p:nvPr>
        </p:nvSpPr>
        <p:spPr>
          <a:xfrm>
            <a:off x="324000" y="759300"/>
            <a:ext cx="8237700" cy="33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t>
            </a:r>
            <a:r>
              <a:rPr lang="en-GB" sz="2000">
                <a:latin typeface="Kalam"/>
                <a:ea typeface="Kalam"/>
                <a:cs typeface="Kalam"/>
                <a:sym typeface="Kalam"/>
              </a:rPr>
              <a:t>This example shows Izzy and Laura completing the project on time.</a:t>
            </a:r>
            <a:endParaRPr sz="2000">
              <a:latin typeface="Kalam"/>
              <a:ea typeface="Kalam"/>
              <a:cs typeface="Kalam"/>
              <a:sym typeface="Kalam"/>
            </a:endParaRPr>
          </a:p>
        </p:txBody>
      </p:sp>
      <p:sp>
        <p:nvSpPr>
          <p:cNvPr id="1713" name="Google Shape;1713;p117"/>
          <p:cNvSpPr txBox="1"/>
          <p:nvPr/>
        </p:nvSpPr>
        <p:spPr>
          <a:xfrm>
            <a:off x="328650" y="1259475"/>
            <a:ext cx="8491500" cy="3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0    10   20   30  </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40   50   60   70   80   90  </a:t>
            </a:r>
            <a:r>
              <a:rPr lang="en-GB" sz="6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100 110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120 </a:t>
            </a:r>
            <a:r>
              <a:rPr lang="en-GB" sz="9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130 140 150 160 </a:t>
            </a:r>
            <a:r>
              <a:rPr lang="en-GB" sz="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170 180</a:t>
            </a:r>
            <a:endParaRPr sz="1800">
              <a:solidFill>
                <a:schemeClr val="dk1"/>
              </a:solidFill>
              <a:latin typeface="Lexend"/>
              <a:ea typeface="Lexend"/>
              <a:cs typeface="Lexend"/>
              <a:sym typeface="Lexend"/>
            </a:endParaRPr>
          </a:p>
        </p:txBody>
      </p:sp>
      <p:graphicFrame>
        <p:nvGraphicFramePr>
          <p:cNvPr id="1714" name="Google Shape;1714;p117"/>
          <p:cNvGraphicFramePr/>
          <p:nvPr/>
        </p:nvGraphicFramePr>
        <p:xfrm>
          <a:off x="328650" y="3309250"/>
          <a:ext cx="3000000" cy="3000000"/>
        </p:xfrm>
        <a:graphic>
          <a:graphicData uri="http://schemas.openxmlformats.org/drawingml/2006/table">
            <a:tbl>
              <a:tblPr>
                <a:noFill/>
                <a:tableStyleId>{564A8307-0F7D-4AD2-ADF6-A58BC17439A6}</a:tableStyleId>
              </a:tblPr>
              <a:tblGrid>
                <a:gridCol w="1941375"/>
                <a:gridCol w="1037375"/>
                <a:gridCol w="3876550"/>
              </a:tblGrid>
              <a:tr h="322650">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Activity</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Duration</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GB">
                          <a:solidFill>
                            <a:schemeClr val="lt1"/>
                          </a:solidFill>
                          <a:latin typeface="Lexend"/>
                          <a:ea typeface="Lexend"/>
                          <a:cs typeface="Lexend"/>
                          <a:sym typeface="Lexend"/>
                        </a:rPr>
                        <a:t>Activities which must be completed first</a:t>
                      </a:r>
                      <a:endParaRPr b="1">
                        <a:solidFill>
                          <a:schemeClr val="lt1"/>
                        </a:solidFill>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accent5"/>
                    </a:solidFill>
                  </a:tcPr>
                </a:tc>
              </a:tr>
              <a:tr h="286175">
                <a:tc>
                  <a:txBody>
                    <a:bodyPr/>
                    <a:lstStyle/>
                    <a:p>
                      <a:pPr indent="0" lvl="0" marL="0" rtl="0" algn="ctr">
                        <a:spcBef>
                          <a:spcPts val="0"/>
                        </a:spcBef>
                        <a:spcAft>
                          <a:spcPts val="0"/>
                        </a:spcAft>
                        <a:buNone/>
                      </a:pPr>
                      <a:r>
                        <a:rPr lang="en-GB">
                          <a:latin typeface="Lexend"/>
                          <a:ea typeface="Lexend"/>
                          <a:cs typeface="Lexend"/>
                          <a:sym typeface="Lexend"/>
                        </a:rPr>
                        <a:t>F (checking)</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30 mins</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D, E</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0275">
                <a:tc>
                  <a:txBody>
                    <a:bodyPr/>
                    <a:lstStyle/>
                    <a:p>
                      <a:pPr indent="0" lvl="0" marL="0" rtl="0" algn="ctr">
                        <a:spcBef>
                          <a:spcPts val="0"/>
                        </a:spcBef>
                        <a:spcAft>
                          <a:spcPts val="0"/>
                        </a:spcAft>
                        <a:buNone/>
                      </a:pPr>
                      <a:r>
                        <a:rPr lang="en-GB">
                          <a:latin typeface="Lexend"/>
                          <a:ea typeface="Lexend"/>
                          <a:cs typeface="Lexend"/>
                          <a:sym typeface="Lexend"/>
                        </a:rPr>
                        <a:t>G (compiling)</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15 mins</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D, E</a:t>
                      </a:r>
                      <a:endParaRPr>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715" name="Google Shape;1715;p117"/>
          <p:cNvGraphicFramePr/>
          <p:nvPr/>
        </p:nvGraphicFramePr>
        <p:xfrm>
          <a:off x="383575" y="1502300"/>
          <a:ext cx="3000000" cy="3000000"/>
        </p:xfrm>
        <a:graphic>
          <a:graphicData uri="http://schemas.openxmlformats.org/drawingml/2006/table">
            <a:tbl>
              <a:tblPr>
                <a:noFill/>
                <a:tableStyleId>{564A8307-0F7D-4AD2-ADF6-A58BC17439A6}</a:tableStyleId>
              </a:tblPr>
              <a:tblGrid>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gridCol w="457650"/>
              </a:tblGrid>
              <a:tr h="1414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716" name="Google Shape;1716;p117"/>
          <p:cNvSpPr/>
          <p:nvPr/>
        </p:nvSpPr>
        <p:spPr>
          <a:xfrm>
            <a:off x="383575" y="1699950"/>
            <a:ext cx="2745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717" name="Google Shape;1717;p117"/>
          <p:cNvSpPr/>
          <p:nvPr/>
        </p:nvSpPr>
        <p:spPr>
          <a:xfrm>
            <a:off x="383575" y="2335025"/>
            <a:ext cx="9153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718" name="Google Shape;1718;p117"/>
          <p:cNvSpPr/>
          <p:nvPr/>
        </p:nvSpPr>
        <p:spPr>
          <a:xfrm>
            <a:off x="3129475" y="1699950"/>
            <a:ext cx="27459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719" name="Google Shape;1719;p117"/>
          <p:cNvSpPr/>
          <p:nvPr/>
        </p:nvSpPr>
        <p:spPr>
          <a:xfrm>
            <a:off x="3132525" y="2335025"/>
            <a:ext cx="22851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720" name="Google Shape;1720;p117"/>
          <p:cNvSpPr/>
          <p:nvPr/>
        </p:nvSpPr>
        <p:spPr>
          <a:xfrm>
            <a:off x="2454200" y="2335025"/>
            <a:ext cx="6753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1" name="Google Shape;1721;p117"/>
          <p:cNvSpPr/>
          <p:nvPr/>
        </p:nvSpPr>
        <p:spPr>
          <a:xfrm>
            <a:off x="1298875" y="2335025"/>
            <a:ext cx="11523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722" name="Google Shape;1722;p117"/>
          <p:cNvSpPr/>
          <p:nvPr/>
        </p:nvSpPr>
        <p:spPr>
          <a:xfrm>
            <a:off x="5872675" y="1699950"/>
            <a:ext cx="13758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723" name="Google Shape;1723;p117"/>
          <p:cNvSpPr/>
          <p:nvPr/>
        </p:nvSpPr>
        <p:spPr>
          <a:xfrm>
            <a:off x="5872675" y="2335025"/>
            <a:ext cx="697500" cy="331800"/>
          </a:xfrm>
          <a:prstGeom prst="rect">
            <a:avLst/>
          </a:prstGeom>
          <a:solidFill>
            <a:srgbClr val="E6F2F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724" name="Google Shape;1724;p117"/>
          <p:cNvSpPr/>
          <p:nvPr/>
        </p:nvSpPr>
        <p:spPr>
          <a:xfrm>
            <a:off x="5417625" y="2335025"/>
            <a:ext cx="4551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5" name="Google Shape;1725;p117"/>
          <p:cNvSpPr/>
          <p:nvPr/>
        </p:nvSpPr>
        <p:spPr>
          <a:xfrm>
            <a:off x="6569025" y="2335025"/>
            <a:ext cx="675300" cy="3318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11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Logistics</a:t>
            </a:r>
            <a:r>
              <a:rPr lang="en-GB"/>
              <a:t> is the careful organisation of a complicated project (set of activities) so that it happens in a successful and effective way.</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A solution may seem optimal but, in reality, not be practical.</a:t>
            </a:r>
            <a:endParaRPr/>
          </a:p>
        </p:txBody>
      </p:sp>
      <p:sp>
        <p:nvSpPr>
          <p:cNvPr id="1731" name="Google Shape;1731;p118"/>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Operational research</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119"/>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737" name="Google Shape;1737;p119"/>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