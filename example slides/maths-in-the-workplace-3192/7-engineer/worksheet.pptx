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b1196cc1e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0b1196cc1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77774" y="1264150"/>
            <a:ext cx="6175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Precision in engineering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" name="Google Shape;105;p12"/>
          <p:cNvGrpSpPr/>
          <p:nvPr/>
        </p:nvGrpSpPr>
        <p:grpSpPr>
          <a:xfrm>
            <a:off x="3391477" y="3084787"/>
            <a:ext cx="3710155" cy="856795"/>
            <a:chOff x="446076" y="3182725"/>
            <a:chExt cx="8145235" cy="1881000"/>
          </a:xfrm>
        </p:grpSpPr>
        <p:grpSp>
          <p:nvGrpSpPr>
            <p:cNvPr id="106" name="Google Shape;106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07" name="Google Shape;107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" name="Google Shape;112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4" name="Google Shape;114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" name="Google Shape;120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7" name="Google Shape;137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138" name="Google Shape;138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" name="Google Shape;139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" name="Google Shape;140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" name="Google Shape;141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43" name="Google Shape;143;p12"/>
          <p:cNvSpPr txBox="1"/>
          <p:nvPr/>
        </p:nvSpPr>
        <p:spPr>
          <a:xfrm>
            <a:off x="477777" y="1666519"/>
            <a:ext cx="26436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Read these measures.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" name="Google Shape;144;p12"/>
          <p:cNvGrpSpPr/>
          <p:nvPr/>
        </p:nvGrpSpPr>
        <p:grpSpPr>
          <a:xfrm>
            <a:off x="806848" y="4002378"/>
            <a:ext cx="3710155" cy="856795"/>
            <a:chOff x="446076" y="3182725"/>
            <a:chExt cx="8145235" cy="18810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46" name="Google Shape;146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3" name="Google Shape;153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" name="Google Shape;158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6" name="Google Shape;176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177" name="Google Shape;177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" name="Google Shape;178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82" name="Google Shape;182;p12"/>
          <p:cNvGrpSpPr/>
          <p:nvPr/>
        </p:nvGrpSpPr>
        <p:grpSpPr>
          <a:xfrm>
            <a:off x="806848" y="2167196"/>
            <a:ext cx="3710155" cy="856795"/>
            <a:chOff x="446076" y="3182725"/>
            <a:chExt cx="8145235" cy="1881000"/>
          </a:xfrm>
        </p:grpSpPr>
        <p:grpSp>
          <p:nvGrpSpPr>
            <p:cNvPr id="183" name="Google Shape;183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84" name="Google Shape;184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9" name="Google Shape;189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1" name="Google Shape;191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4" name="Google Shape;214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215" name="Google Shape;215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6" name="Google Shape;216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" name="Google Shape;217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" name="Google Shape;219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220" name="Google Shape;220;p12"/>
          <p:cNvCxnSpPr/>
          <p:nvPr/>
        </p:nvCxnSpPr>
        <p:spPr>
          <a:xfrm>
            <a:off x="3423500" y="1836750"/>
            <a:ext cx="0" cy="3582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12"/>
          <p:cNvCxnSpPr/>
          <p:nvPr/>
        </p:nvCxnSpPr>
        <p:spPr>
          <a:xfrm>
            <a:off x="5297125" y="2717800"/>
            <a:ext cx="0" cy="3804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2"/>
          <p:cNvCxnSpPr/>
          <p:nvPr/>
        </p:nvCxnSpPr>
        <p:spPr>
          <a:xfrm>
            <a:off x="2371175" y="3583675"/>
            <a:ext cx="0" cy="4179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12"/>
          <p:cNvSpPr txBox="1"/>
          <p:nvPr/>
        </p:nvSpPr>
        <p:spPr>
          <a:xfrm>
            <a:off x="477777" y="2231657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477777" y="4074924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3062405" y="3146195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468000" y="5966636"/>
            <a:ext cx="2367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One and three eighths of an inch.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3260675" y="5966636"/>
            <a:ext cx="309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Two and three sixteenths of an inch.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320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197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074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807" y="7191201"/>
            <a:ext cx="3813194" cy="53990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2" name="Google Shape;23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877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90" y="7191201"/>
            <a:ext cx="2367700" cy="53990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12"/>
          <p:cNvSpPr txBox="1"/>
          <p:nvPr/>
        </p:nvSpPr>
        <p:spPr>
          <a:xfrm>
            <a:off x="468000" y="5629575"/>
            <a:ext cx="5191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rule of thumb to measure out the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2992131" y="799184"/>
            <a:ext cx="1611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centimetre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2992131" y="1234086"/>
            <a:ext cx="15588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millimetre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2992131" y="1698717"/>
            <a:ext cx="1676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micrometre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244" name="Google Shape;244;p13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025" y="733091"/>
            <a:ext cx="271440" cy="335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245" name="Google Shape;245;p13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438" y="1181053"/>
            <a:ext cx="353619" cy="335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\ 000\ 000}&quot;&gt;&lt;mfrac&gt;&lt;mn&gt;1&lt;/mn&gt;&lt;mrow&gt;&lt;mn&gt;1&lt;/mn&gt;&lt;mtext&gt;&lt;/mtext&gt;&lt;mn&gt;000&lt;/mn&gt;&lt;mtext&gt;&lt;/mtext&gt;&lt;mn&gt;000&lt;/mn&gt;&lt;/mrow&gt;&lt;/mfrac&gt;&lt;/math&gt;" id="246" name="Google Shape;246;p13" title="the fraction with numerator 1 and denominator 1 00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9165" y="1627642"/>
            <a:ext cx="687317" cy="335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 txBox="1"/>
          <p:nvPr/>
        </p:nvSpPr>
        <p:spPr>
          <a:xfrm>
            <a:off x="4768926" y="779606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4864756" y="1258757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200161" y="1708162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6130508" y="784095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6130508" y="1226906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6130508" y="1685398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468000" y="720000"/>
            <a:ext cx="1676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How many millimetres in a centimetre?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468000" y="1737081"/>
            <a:ext cx="17874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micrometres in a millimetre?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468000" y="2634505"/>
            <a:ext cx="4615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micrometres in a centimetre?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468000" y="3259275"/>
            <a:ext cx="6408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Engineers can laser cut to a precision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a centimetre is this?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7" name="Google Shape;257;p13"/>
          <p:cNvCxnSpPr/>
          <p:nvPr/>
        </p:nvCxnSpPr>
        <p:spPr>
          <a:xfrm>
            <a:off x="474751" y="5345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13"/>
          <p:cNvSpPr txBox="1"/>
          <p:nvPr/>
        </p:nvSpPr>
        <p:spPr>
          <a:xfrm>
            <a:off x="477550" y="5386675"/>
            <a:ext cx="599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Other applications of maths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477549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2587950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4983541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13"/>
          <p:cNvCxnSpPr/>
          <p:nvPr/>
        </p:nvCxnSpPr>
        <p:spPr>
          <a:xfrm>
            <a:off x="477549" y="8528175"/>
            <a:ext cx="2007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3"/>
          <p:cNvSpPr/>
          <p:nvPr/>
        </p:nvSpPr>
        <p:spPr>
          <a:xfrm>
            <a:off x="839369" y="839309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839369" y="827022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839369" y="8147352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839369" y="802565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39369" y="790707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839369" y="778143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9" name="Google Shape;269;p13"/>
          <p:cNvGrpSpPr/>
          <p:nvPr/>
        </p:nvGrpSpPr>
        <p:grpSpPr>
          <a:xfrm rot="3699315">
            <a:off x="800400" y="7627911"/>
            <a:ext cx="1756105" cy="313178"/>
            <a:chOff x="477525" y="1337228"/>
            <a:chExt cx="8296079" cy="1479494"/>
          </a:xfrm>
        </p:grpSpPr>
        <p:pic>
          <p:nvPicPr>
            <p:cNvPr id="270" name="Google Shape;270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36226">
              <a:off x="7094229" y="1466080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36226">
              <a:off x="5446725" y="1723576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36226">
              <a:off x="3794028" y="1987097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13"/>
            <p:cNvSpPr/>
            <p:nvPr/>
          </p:nvSpPr>
          <p:spPr>
            <a:xfrm>
              <a:off x="5417734" y="1899810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7079275" y="1636289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75" name="Google Shape;275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36226">
              <a:off x="2134910" y="2243629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536226">
              <a:off x="482213" y="2507149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13"/>
            <p:cNvSpPr/>
            <p:nvPr/>
          </p:nvSpPr>
          <p:spPr>
            <a:xfrm>
              <a:off x="2105919" y="2419863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3767460" y="2156342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79" name="Google Shape;279;p13"/>
          <p:cNvCxnSpPr/>
          <p:nvPr/>
        </p:nvCxnSpPr>
        <p:spPr>
          <a:xfrm rot="10800000">
            <a:off x="1129086" y="8624849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0" name="Google Shape;280;p13"/>
          <p:cNvCxnSpPr/>
          <p:nvPr/>
        </p:nvCxnSpPr>
        <p:spPr>
          <a:xfrm flipH="1" rot="10800000">
            <a:off x="771174" y="7042948"/>
            <a:ext cx="1500" cy="145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13"/>
          <p:cNvSpPr txBox="1"/>
          <p:nvPr/>
        </p:nvSpPr>
        <p:spPr>
          <a:xfrm>
            <a:off x="484906" y="7626069"/>
            <a:ext cx="319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1679746" y="7511550"/>
            <a:ext cx="319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39369" y="765123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39369" y="752836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839369" y="740549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39369" y="728379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39369" y="716521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839369" y="703957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39369" y="6918057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39369" y="679518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39369" y="6673490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39369" y="6554908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39369" y="6429268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516475" y="8628157"/>
            <a:ext cx="319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066721" y="808813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066721" y="797634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066721" y="7864557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066721" y="7753836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066721" y="764594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066721" y="7531637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066721" y="741317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066721" y="730138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066721" y="718959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066721" y="7078876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066721" y="697098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066721" y="685667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066721" y="6746120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066721" y="663432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066721" y="652360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066721" y="6415720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066721" y="630140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154706" y="839309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6154706" y="827022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154706" y="8147352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154706" y="802565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154706" y="790707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154706" y="778143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6154706" y="765123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154706" y="752836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6154706" y="740549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154706" y="728379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154706" y="716521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6154706" y="703957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154706" y="6918057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13"/>
          <p:cNvCxnSpPr/>
          <p:nvPr/>
        </p:nvCxnSpPr>
        <p:spPr>
          <a:xfrm rot="10800000">
            <a:off x="2863824" y="8298993"/>
            <a:ext cx="1195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6" name="Google Shape;326;p13"/>
          <p:cNvSpPr txBox="1"/>
          <p:nvPr/>
        </p:nvSpPr>
        <p:spPr>
          <a:xfrm>
            <a:off x="3263705" y="8302007"/>
            <a:ext cx="582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" name="Google Shape;327;p13"/>
          <p:cNvCxnSpPr/>
          <p:nvPr/>
        </p:nvCxnSpPr>
        <p:spPr>
          <a:xfrm flipH="1" rot="10800000">
            <a:off x="4384487" y="6529094"/>
            <a:ext cx="1200" cy="1656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8" name="Google Shape;328;p13"/>
          <p:cNvSpPr txBox="1"/>
          <p:nvPr/>
        </p:nvSpPr>
        <p:spPr>
          <a:xfrm>
            <a:off x="4435394" y="7212224"/>
            <a:ext cx="51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9" name="Google Shape;329;p13"/>
          <p:cNvCxnSpPr/>
          <p:nvPr/>
        </p:nvCxnSpPr>
        <p:spPr>
          <a:xfrm flipH="1" rot="10800000">
            <a:off x="5330688" y="6426164"/>
            <a:ext cx="800700" cy="207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" name="Google Shape;330;p13"/>
          <p:cNvCxnSpPr/>
          <p:nvPr/>
        </p:nvCxnSpPr>
        <p:spPr>
          <a:xfrm flipH="1">
            <a:off x="2863561" y="6541178"/>
            <a:ext cx="1187700" cy="165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13"/>
          <p:cNvSpPr txBox="1"/>
          <p:nvPr/>
        </p:nvSpPr>
        <p:spPr>
          <a:xfrm>
            <a:off x="3003610" y="7069087"/>
            <a:ext cx="51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2" name="Google Shape;332;p13"/>
          <p:cNvCxnSpPr/>
          <p:nvPr/>
        </p:nvCxnSpPr>
        <p:spPr>
          <a:xfrm flipH="1" rot="10800000">
            <a:off x="6506930" y="6414748"/>
            <a:ext cx="1500" cy="208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" name="Google Shape;333;p13"/>
          <p:cNvCxnSpPr/>
          <p:nvPr/>
        </p:nvCxnSpPr>
        <p:spPr>
          <a:xfrm rot="10800000">
            <a:off x="5339566" y="8624848"/>
            <a:ext cx="817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" name="Google Shape;334;p13"/>
          <p:cNvSpPr txBox="1"/>
          <p:nvPr/>
        </p:nvSpPr>
        <p:spPr>
          <a:xfrm>
            <a:off x="5568084" y="8628160"/>
            <a:ext cx="41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6573136" y="7316289"/>
            <a:ext cx="5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6" name="Google Shape;336;p13"/>
          <p:cNvCxnSpPr/>
          <p:nvPr/>
        </p:nvCxnSpPr>
        <p:spPr>
          <a:xfrm>
            <a:off x="2704344" y="8211038"/>
            <a:ext cx="18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13"/>
          <p:cNvCxnSpPr/>
          <p:nvPr/>
        </p:nvCxnSpPr>
        <p:spPr>
          <a:xfrm>
            <a:off x="4858004" y="8520821"/>
            <a:ext cx="18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13"/>
          <p:cNvSpPr/>
          <p:nvPr/>
        </p:nvSpPr>
        <p:spPr>
          <a:xfrm>
            <a:off x="6154706" y="6786870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6154706" y="6663999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154706" y="654230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154706" y="642372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154706" y="629808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154706" y="6176565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5261265" y="7277916"/>
            <a:ext cx="5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477549" y="5849154"/>
            <a:ext cx="6166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Show whether each of these walls is upright.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2" name="Google Shape;352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sp>
        <p:nvSpPr>
          <p:cNvPr id="353" name="Google Shape;353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4" name="Google Shape;354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467875" y="720000"/>
            <a:ext cx="517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Explain how we know this corner is not ‘right’.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1999892" y="3575239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4080113" y="2847158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2299327" y="2369240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9" name="Google Shape;359;p14"/>
          <p:cNvGrpSpPr/>
          <p:nvPr/>
        </p:nvGrpSpPr>
        <p:grpSpPr>
          <a:xfrm rot="962881">
            <a:off x="716227" y="1294605"/>
            <a:ext cx="3372402" cy="2272152"/>
            <a:chOff x="3002400" y="1139680"/>
            <a:chExt cx="4940520" cy="3328670"/>
          </a:xfrm>
        </p:grpSpPr>
        <p:sp>
          <p:nvSpPr>
            <p:cNvPr id="360" name="Google Shape;360;p14"/>
            <p:cNvSpPr/>
            <p:nvPr/>
          </p:nvSpPr>
          <p:spPr>
            <a:xfrm>
              <a:off x="682192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61" name="Google Shape;361;p14"/>
            <p:cNvGrpSpPr/>
            <p:nvPr/>
          </p:nvGrpSpPr>
          <p:grpSpPr>
            <a:xfrm rot="-1162525">
              <a:off x="3812383" y="2689992"/>
              <a:ext cx="3836001" cy="684099"/>
              <a:chOff x="477525" y="1337228"/>
              <a:chExt cx="8296079" cy="1479494"/>
            </a:xfrm>
          </p:grpSpPr>
          <p:pic>
            <p:nvPicPr>
              <p:cNvPr id="362" name="Google Shape;362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7094229" y="1466080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3" name="Google Shape;363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5446725" y="1723576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4" name="Google Shape;364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3794028" y="1987097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" name="Google Shape;365;p14"/>
              <p:cNvSpPr/>
              <p:nvPr/>
            </p:nvSpPr>
            <p:spPr>
              <a:xfrm>
                <a:off x="5417734" y="1899810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6" name="Google Shape;366;p14"/>
              <p:cNvSpPr/>
              <p:nvPr/>
            </p:nvSpPr>
            <p:spPr>
              <a:xfrm>
                <a:off x="7079275" y="1636289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367" name="Google Shape;367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2134910" y="2243629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8" name="Google Shape;36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482213" y="2507149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" name="Google Shape;369;p14"/>
              <p:cNvSpPr/>
              <p:nvPr/>
            </p:nvSpPr>
            <p:spPr>
              <a:xfrm>
                <a:off x="2105919" y="2419863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>
                <a:off x="3767460" y="2156342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71" name="Google Shape;371;p14"/>
            <p:cNvCxnSpPr/>
            <p:nvPr/>
          </p:nvCxnSpPr>
          <p:spPr>
            <a:xfrm rot="10800000">
              <a:off x="4045425" y="4453050"/>
              <a:ext cx="3408600" cy="15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2" name="Google Shape;372;p14"/>
            <p:cNvCxnSpPr/>
            <p:nvPr/>
          </p:nvCxnSpPr>
          <p:spPr>
            <a:xfrm flipH="1" rot="10800000">
              <a:off x="7940820" y="1587959"/>
              <a:ext cx="2100" cy="2436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3" name="Google Shape;373;p14"/>
            <p:cNvSpPr/>
            <p:nvPr/>
          </p:nvSpPr>
          <p:spPr>
            <a:xfrm>
              <a:off x="6183750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554557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4912163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4273988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364057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3002400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 rot="5400000">
              <a:off x="7318964" y="3856668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 rot="5400000">
              <a:off x="7318964" y="3218493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 rot="5400000">
              <a:off x="7318964" y="2580318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 rot="5400000">
              <a:off x="7318964" y="1946905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 rot="5400000">
              <a:off x="7318964" y="1308730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4" name="Google Shape;384;p14"/>
          <p:cNvSpPr/>
          <p:nvPr/>
        </p:nvSpPr>
        <p:spPr>
          <a:xfrm rot="-4459735">
            <a:off x="3705085" y="4863014"/>
            <a:ext cx="68860" cy="3818119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14"/>
          <p:cNvSpPr/>
          <p:nvPr/>
        </p:nvSpPr>
        <p:spPr>
          <a:xfrm flipH="1" rot="4459735">
            <a:off x="3704965" y="4851865"/>
            <a:ext cx="68860" cy="3818119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14"/>
          <p:cNvSpPr/>
          <p:nvPr/>
        </p:nvSpPr>
        <p:spPr>
          <a:xfrm rot="-2389670">
            <a:off x="5961377" y="6074972"/>
            <a:ext cx="98832" cy="1282245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14"/>
          <p:cNvSpPr/>
          <p:nvPr/>
        </p:nvSpPr>
        <p:spPr>
          <a:xfrm flipH="1" rot="2389670">
            <a:off x="1382275" y="6074972"/>
            <a:ext cx="98832" cy="1282245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14"/>
          <p:cNvSpPr/>
          <p:nvPr/>
        </p:nvSpPr>
        <p:spPr>
          <a:xfrm rot="4232521">
            <a:off x="2291862" y="4304114"/>
            <a:ext cx="53135" cy="295673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14"/>
          <p:cNvSpPr/>
          <p:nvPr/>
        </p:nvSpPr>
        <p:spPr>
          <a:xfrm flipH="1" rot="-4232521">
            <a:off x="5080611" y="4304114"/>
            <a:ext cx="53135" cy="295673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898503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829068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489289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6419854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14"/>
          <p:cNvSpPr/>
          <p:nvPr/>
        </p:nvSpPr>
        <p:spPr>
          <a:xfrm rot="5400000">
            <a:off x="5956891" y="6803628"/>
            <a:ext cx="100200" cy="8022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14"/>
          <p:cNvSpPr/>
          <p:nvPr/>
        </p:nvSpPr>
        <p:spPr>
          <a:xfrm rot="5400000">
            <a:off x="1366105" y="6803628"/>
            <a:ext cx="100200" cy="8022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14"/>
          <p:cNvSpPr/>
          <p:nvPr/>
        </p:nvSpPr>
        <p:spPr>
          <a:xfrm rot="5400000">
            <a:off x="3664211" y="3438420"/>
            <a:ext cx="100200" cy="5622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1290606" y="7295253"/>
            <a:ext cx="355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 rot="-2759164">
            <a:off x="1092114" y="6477355"/>
            <a:ext cx="493068" cy="20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474601" y="5641264"/>
            <a:ext cx="43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0" name="Google Shape;400;p14"/>
          <p:cNvCxnSpPr/>
          <p:nvPr/>
        </p:nvCxnSpPr>
        <p:spPr>
          <a:xfrm rot="10800000">
            <a:off x="561075" y="5314020"/>
            <a:ext cx="936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14"/>
          <p:cNvCxnSpPr/>
          <p:nvPr/>
        </p:nvCxnSpPr>
        <p:spPr>
          <a:xfrm rot="10800000">
            <a:off x="561075" y="6207180"/>
            <a:ext cx="936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14"/>
          <p:cNvCxnSpPr/>
          <p:nvPr/>
        </p:nvCxnSpPr>
        <p:spPr>
          <a:xfrm flipH="1" rot="10800000">
            <a:off x="893178" y="5337481"/>
            <a:ext cx="1500" cy="8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3" name="Google Shape;403;p14"/>
          <p:cNvSpPr txBox="1"/>
          <p:nvPr/>
        </p:nvSpPr>
        <p:spPr>
          <a:xfrm rot="-119217">
            <a:off x="3491819" y="5951140"/>
            <a:ext cx="493197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468776" y="4400947"/>
            <a:ext cx="5458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Engineers today use Pythagoras to calculate lengths. Find all the missing lengths of the girders on this bridge. The design is symmetrical.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5" name="Google Shape;405;p14"/>
          <p:cNvCxnSpPr/>
          <p:nvPr/>
        </p:nvCxnSpPr>
        <p:spPr>
          <a:xfrm rot="10800000">
            <a:off x="888196" y="7312706"/>
            <a:ext cx="1046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6" name="Google Shape;406;p14"/>
          <p:cNvCxnSpPr/>
          <p:nvPr/>
        </p:nvCxnSpPr>
        <p:spPr>
          <a:xfrm>
            <a:off x="899675" y="6161238"/>
            <a:ext cx="5625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7" name="Google Shape;407;p14"/>
          <p:cNvCxnSpPr/>
          <p:nvPr/>
        </p:nvCxnSpPr>
        <p:spPr>
          <a:xfrm flipH="1" rot="10800000">
            <a:off x="887900" y="6330463"/>
            <a:ext cx="901500" cy="95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