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721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BE62C34-9E0C-442D-BE69-825E03138A50}">
  <a:tblStyle styleId="{ABE62C34-9E0C-442D-BE69-825E03138A5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1" name="Shape 8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Google Shape;842;g279955a40ae_0_8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3" name="Google Shape;843;g279955a40ae_0_8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7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279955a40ae_0_8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279955a40ae_0_8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2" name="Shape 8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Google Shape;853;g279955a40ae_0_8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4" name="Google Shape;854;g279955a40ae_0_8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7" name="Shape 8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8" name="Google Shape;858;g2f16b27aa3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9" name="Google Shape;859;g2f16b27aa3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2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g2efd83f374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4" name="Google Shape;864;g2efd83f374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0" name="Shape 8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g2f14fc5602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2" name="Google Shape;872;g2f14fc5602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6" name="Shape 8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7" name="Google Shape;887;g2f14fc56022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8" name="Google Shape;888;g2f14fc56022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2" name="Shape 9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3" name="Google Shape;903;g2f14fc56022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4" name="Google Shape;904;g2f14fc56022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2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3" name="Google Shape;923;g2f14fc56022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4" name="Google Shape;924;g2f14fc56022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0" name="Shape 9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" name="Google Shape;931;g2f14fc56022_0_2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2f14fc56022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9" name="Shape 9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0" name="Google Shape;940;g2f14fc56022_0_1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1" name="Google Shape;941;g2f14fc56022_0_1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5" name="Shape 9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6" name="Google Shape;966;g2f16b27aa37_0_24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7" name="Google Shape;967;g2f16b27aa37_0_24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8" name="Shape 9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9" name="Google Shape;979;g2f16b27aa37_0_24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0" name="Google Shape;980;g2f16b27aa37_0_24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2" name="Shape 9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" name="Google Shape;993;g2f16b27aa37_0_2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4" name="Google Shape;994;g2f16b27aa37_0_2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9" name="Shape 10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0" name="Google Shape;1010;g2f16b27aa37_0_25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1" name="Google Shape;1011;g2f16b27aa37_0_25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1" name="Shape 10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Google Shape;1022;g2f16b27aa37_0_2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3" name="Google Shape;1023;g2f16b27aa37_0_2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7" name="Shape 10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8" name="Google Shape;1038;g2f16b27aa37_0_2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9" name="Google Shape;1039;g2f16b27aa37_0_2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4" name="Shape 10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5" name="Google Shape;1055;g2f16b27aa37_0_2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6" name="Google Shape;1056;g2f16b27aa37_0_2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6" name="Shape 10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7" name="Google Shape;1067;g2f16b27aa37_0_26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8" name="Google Shape;1068;g2f16b27aa37_0_26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9" name="Shape 10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0" name="Google Shape;1080;g2f16b27aa37_0_26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1" name="Google Shape;1081;g2f16b27aa37_0_26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1" name="Shape 10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2" name="Google Shape;1092;g2f16b27aa37_0_26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3" name="Google Shape;1093;g2f16b27aa37_0_26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6" name="Shape 1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7" name="Google Shape;1107;g2f16b27aa37_0_26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8" name="Google Shape;1108;g2f16b27aa37_0_26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6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7" name="Google Shape;1127;g2f16b27aa37_0_26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8" name="Google Shape;1128;g2f16b27aa37_0_26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8" name="Shape 1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" name="Google Shape;1139;g2f16b27aa37_0_2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0" name="Google Shape;1140;g2f16b27aa37_0_2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2f16b27aa37_0_27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2f16b27aa37_0_27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2f16b27aa37_0_27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8" name="Google Shape;1188;g2f16b27aa37_0_27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7" name="Shape 1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Google Shape;1198;g2f16b27aa37_0_27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9" name="Google Shape;1199;g2f16b27aa37_0_27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7" name="Shape 1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" name="Google Shape;1218;g2f16b27aa37_0_28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9" name="Google Shape;1219;g2f16b27aa37_0_28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7" name="Shape 1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" name="Google Shape;1228;g2f16b27aa37_0_28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9" name="Google Shape;1229;g2f16b27aa37_0_28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0" name="Shape 1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1" name="Google Shape;1241;g2f16b27aa37_0_28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2" name="Google Shape;1242;g2f16b27aa37_0_28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2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g2f16b27aa37_0_28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4" name="Google Shape;1254;g2f16b27aa37_0_28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3" name="Shape 1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4" name="Google Shape;1264;g2f16b27aa37_0_29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5" name="Google Shape;1265;g2f16b27aa37_0_29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7" name="Shape 1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8" name="Google Shape;1278;g2f16b27aa37_0_28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9" name="Google Shape;1279;g2f16b27aa37_0_28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8" name="Shape 1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9" name="Google Shape;1289;g2f16b27aa37_0_28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0" name="Google Shape;1290;g2f16b27aa37_0_28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4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5" name="Google Shape;1305;g2f16b27aa37_0_28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6" name="Google Shape;1306;g2f16b27aa37_0_28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7" name="Shape 1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8" name="Google Shape;1318;g2f16b27aa37_0_29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9" name="Google Shape;1319;g2f16b27aa37_0_29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2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g2f16b27aa37_0_29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4" name="Google Shape;1334;g2f16b27aa37_0_29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8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g2f16b27aa37_0_29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0" name="Google Shape;1350;g2f16b27aa37_0_29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3" name="Shape 1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4" name="Google Shape;1364;g2f14fc56022_0_5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5" name="Google Shape;1365;g2f14fc56022_0_5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1" name="Shape 1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2" name="Google Shape;1372;g2f14fc56022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3" name="Google Shape;1373;g2f14fc56022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7" name="Shape 1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8" name="Google Shape;1378;g2f3ff226cc6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9" name="Google Shape;1379;g2f3ff226cc6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4" name="Shape 1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5" name="Google Shape;1385;g2f3ff226cc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6" name="Google Shape;1386;g2f3ff226cc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6" name="Shape 1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7" name="Google Shape;1397;g2f3ff226cc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8" name="Google Shape;1398;g2f3ff226cc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g2f3ff226cc6_0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1" name="Google Shape;1411;g2f3ff226cc6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2f3ff226cc6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2f3ff226cc6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1" name="Shape 1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2" name="Google Shape;1432;g2f3ff226cc6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3" name="Google Shape;1433;g2f3ff226cc6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g2f3ff226cc6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3" name="Google Shape;1443;g2f3ff226cc6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8" name="Shape 1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9" name="Google Shape;1459;g2f3ff226cc6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0" name="Google Shape;1460;g2f3ff226cc6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5" name="Shape 1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6" name="Google Shape;1476;g2f3ff226cc6_0_1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7" name="Google Shape;1477;g2f3ff226cc6_0_1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7" name="Shape 1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8" name="Google Shape;1498;g2f3ff226cc6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9" name="Google Shape;1499;g2f3ff226cc6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5" name="Shape 1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6" name="Google Shape;1516;g2f3ff226cc6_0_1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7" name="Google Shape;1517;g2f3ff226cc6_0_1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5" name="Shape 1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Google Shape;1526;g2f3ff226cc6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7" name="Google Shape;1527;g2f3ff226cc6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4" name="Shape 1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5" name="Google Shape;1535;g2f3ff226cc6_0_1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6" name="Google Shape;1536;g2f3ff226cc6_0_1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4" name="Shape 1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5" name="Google Shape;1545;g2f3ff226cc6_0_2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6" name="Google Shape;1546;g2f3ff226cc6_0_2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6" name="Shape 15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Google Shape;1567;g2f3ff226cc6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8" name="Google Shape;1568;g2f3ff226cc6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5" name="Shape 1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" name="Google Shape;1576;g2f3ff226cc6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7" name="Google Shape;1577;g2f3ff226cc6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7" name="Shape 1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8" name="Google Shape;1588;g2f3ff226cc6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9" name="Google Shape;1589;g2f3ff226cc6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7" name="Shape 1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8" name="Google Shape;1598;g279955a40ae_0_8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9" name="Google Shape;1599;g279955a40ae_0_8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3" name="Shape 1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4" name="Google Shape;1604;g279955a40ae_0_8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5" name="Google Shape;1605;g279955a40ae_0_8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0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5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8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7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16.png"/><Relationship Id="rId5" Type="http://schemas.openxmlformats.org/officeDocument/2006/relationships/image" Target="../media/image21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Relationship Id="rId3" Type="http://schemas.openxmlformats.org/officeDocument/2006/relationships/image" Target="../media/image1.png"/><Relationship Id="rId4" Type="http://schemas.openxmlformats.org/officeDocument/2006/relationships/image" Target="../media/image10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19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26.png"/><Relationship Id="rId5" Type="http://schemas.openxmlformats.org/officeDocument/2006/relationships/image" Target="../media/image2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24.png"/><Relationship Id="rId5" Type="http://schemas.openxmlformats.org/officeDocument/2006/relationships/image" Target="../media/image10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7.png"/><Relationship Id="rId4" Type="http://schemas.openxmlformats.org/officeDocument/2006/relationships/image" Target="../media/image24.png"/><Relationship Id="rId5" Type="http://schemas.openxmlformats.org/officeDocument/2006/relationships/image" Target="../media/image10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9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28.png"/><Relationship Id="rId5" Type="http://schemas.openxmlformats.org/officeDocument/2006/relationships/image" Target="../media/image27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Relationship Id="rId3" Type="http://schemas.openxmlformats.org/officeDocument/2006/relationships/image" Target="../media/image1.png"/><Relationship Id="rId4" Type="http://schemas.openxmlformats.org/officeDocument/2006/relationships/image" Target="../media/image7.png"/><Relationship Id="rId5" Type="http://schemas.openxmlformats.org/officeDocument/2006/relationships/image" Target="../media/image25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1.png"/><Relationship Id="rId3" Type="http://schemas.openxmlformats.org/officeDocument/2006/relationships/image" Target="../media/image32.png"/><Relationship Id="rId4" Type="http://schemas.openxmlformats.org/officeDocument/2006/relationships/image" Target="../media/image38.png"/><Relationship Id="rId5" Type="http://schemas.openxmlformats.org/officeDocument/2006/relationships/image" Target="../media/image33.png"/><Relationship Id="rId6" Type="http://schemas.openxmlformats.org/officeDocument/2006/relationships/image" Target="../media/image31.png"/><Relationship Id="rId7" Type="http://schemas.openxmlformats.org/officeDocument/2006/relationships/image" Target="../media/image39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7.png"/><Relationship Id="rId3" Type="http://schemas.openxmlformats.org/officeDocument/2006/relationships/image" Target="../media/image34.png"/><Relationship Id="rId4" Type="http://schemas.openxmlformats.org/officeDocument/2006/relationships/image" Target="../media/image102.png"/><Relationship Id="rId5" Type="http://schemas.openxmlformats.org/officeDocument/2006/relationships/image" Target="../media/image43.png"/><Relationship Id="rId6" Type="http://schemas.openxmlformats.org/officeDocument/2006/relationships/image" Target="../media/image40.png"/><Relationship Id="rId7" Type="http://schemas.openxmlformats.org/officeDocument/2006/relationships/image" Target="../media/image36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102.png"/><Relationship Id="rId4" Type="http://schemas.openxmlformats.org/officeDocument/2006/relationships/image" Target="../media/image37.png"/><Relationship Id="rId9" Type="http://schemas.openxmlformats.org/officeDocument/2006/relationships/image" Target="../media/image36.png"/><Relationship Id="rId5" Type="http://schemas.openxmlformats.org/officeDocument/2006/relationships/image" Target="../media/image34.png"/><Relationship Id="rId6" Type="http://schemas.openxmlformats.org/officeDocument/2006/relationships/image" Target="../media/image48.png"/><Relationship Id="rId7" Type="http://schemas.openxmlformats.org/officeDocument/2006/relationships/image" Target="../media/image43.png"/><Relationship Id="rId8" Type="http://schemas.openxmlformats.org/officeDocument/2006/relationships/image" Target="../media/image40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2.png"/><Relationship Id="rId3" Type="http://schemas.openxmlformats.org/officeDocument/2006/relationships/image" Target="../media/image102.png"/><Relationship Id="rId4" Type="http://schemas.openxmlformats.org/officeDocument/2006/relationships/image" Target="../media/image47.png"/><Relationship Id="rId11" Type="http://schemas.openxmlformats.org/officeDocument/2006/relationships/image" Target="../media/image36.png"/><Relationship Id="rId10" Type="http://schemas.openxmlformats.org/officeDocument/2006/relationships/image" Target="../media/image50.png"/><Relationship Id="rId9" Type="http://schemas.openxmlformats.org/officeDocument/2006/relationships/image" Target="../media/image40.png"/><Relationship Id="rId5" Type="http://schemas.openxmlformats.org/officeDocument/2006/relationships/image" Target="../media/image37.png"/><Relationship Id="rId6" Type="http://schemas.openxmlformats.org/officeDocument/2006/relationships/image" Target="../media/image34.png"/><Relationship Id="rId7" Type="http://schemas.openxmlformats.org/officeDocument/2006/relationships/image" Target="../media/image48.png"/><Relationship Id="rId8" Type="http://schemas.openxmlformats.org/officeDocument/2006/relationships/image" Target="../media/image43.png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1.png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1.png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1.png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1.png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1.png"/><Relationship Id="rId4" Type="http://schemas.openxmlformats.org/officeDocument/2006/relationships/image" Target="../media/image56.png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1.png"/><Relationship Id="rId4" Type="http://schemas.openxmlformats.org/officeDocument/2006/relationships/image" Target="../media/image56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1.png"/><Relationship Id="rId4" Type="http://schemas.openxmlformats.org/officeDocument/2006/relationships/image" Target="../media/image56.png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1.png"/><Relationship Id="rId4" Type="http://schemas.openxmlformats.org/officeDocument/2006/relationships/image" Target="../media/image56.png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7.png"/><Relationship Id="rId3" Type="http://schemas.openxmlformats.org/officeDocument/2006/relationships/image" Target="../media/image49.png"/><Relationship Id="rId4" Type="http://schemas.openxmlformats.org/officeDocument/2006/relationships/image" Target="../media/image56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57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6.png"/><Relationship Id="rId4" Type="http://schemas.openxmlformats.org/officeDocument/2006/relationships/image" Target="../media/image62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6.png"/><Relationship Id="rId4" Type="http://schemas.openxmlformats.org/officeDocument/2006/relationships/image" Target="../media/image62.png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Relationship Id="rId4" Type="http://schemas.openxmlformats.org/officeDocument/2006/relationships/image" Target="../media/image62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62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6.png"/><Relationship Id="rId4" Type="http://schemas.openxmlformats.org/officeDocument/2006/relationships/image" Target="../media/image62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6.png"/><Relationship Id="rId4" Type="http://schemas.openxmlformats.org/officeDocument/2006/relationships/image" Target="../media/image62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Relationship Id="rId4" Type="http://schemas.openxmlformats.org/officeDocument/2006/relationships/image" Target="../media/image62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62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6.png"/><Relationship Id="rId4" Type="http://schemas.openxmlformats.org/officeDocument/2006/relationships/image" Target="../media/image62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6.png"/><Relationship Id="rId4" Type="http://schemas.openxmlformats.org/officeDocument/2006/relationships/image" Target="../media/image62.png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Relationship Id="rId4" Type="http://schemas.openxmlformats.org/officeDocument/2006/relationships/image" Target="../media/image62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Relationship Id="rId4" Type="http://schemas.openxmlformats.org/officeDocument/2006/relationships/image" Target="../media/image62.png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56.png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56.png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56.png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56.png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65.png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65.png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65.png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65.png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9.png"/><Relationship Id="rId3" Type="http://schemas.openxmlformats.org/officeDocument/2006/relationships/image" Target="../media/image68.png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3.png"/><Relationship Id="rId3" Type="http://schemas.openxmlformats.org/officeDocument/2006/relationships/image" Target="../media/image68.png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2.png"/><Relationship Id="rId3" Type="http://schemas.openxmlformats.org/officeDocument/2006/relationships/image" Target="../media/image68.png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4.png"/><Relationship Id="rId3" Type="http://schemas.openxmlformats.org/officeDocument/2006/relationships/image" Target="../media/image68.png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6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Art and design" showMasterSp="0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1" name="Google Shape;11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" name="Google Shape;12;p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3" name="Google Shape;13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" name="Google Shape;14;p2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5" name="Google Shape;15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0">
            <a:off x="6753315" y="1132068"/>
            <a:ext cx="2063340" cy="16430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6" name="Google Shape;16;p2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7051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7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Art and design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Biology" showMasterSp="0">
  <p:cSld name="Title Slide 2_1_1_1_1_1_1_1">
    <p:bg>
      <p:bgPr>
        <a:solidFill>
          <a:srgbClr val="BEF2BD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Biology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5" name="Google Shape;2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6" name="Google Shape;26;p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" name="Google Shape;27;p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hemistry" showMasterSp="0">
  <p:cSld name="Title Slide 2_1_1_1_1_1_1_1_1_1">
    <p:bg>
      <p:bgPr>
        <a:solidFill>
          <a:srgbClr val="BEF2BD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1" name="Google Shape;31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Chemistry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2" name="Google Shape;32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" name="Google Shape;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" name="Google Shape;35;p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itizenship" showMasterSp="0">
  <p:cSld name="Title Slide 2_1_1_1_1_1_1_1_1_1_1_5">
    <p:bg>
      <p:bgPr>
        <a:solidFill>
          <a:srgbClr val="BEF2BD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45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9" name="Google Shape;39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Citizenship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0" name="Google Shape;4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1" name="Google Shape;41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2" name="Google Shape;42;p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" name="Google Shape;43;p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44" name="Google Shape;44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25">
            <a:off x="6945328" y="787504"/>
            <a:ext cx="1710318" cy="205238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" name="Google Shape;46;p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Computing" showMasterSp="0">
  <p:cSld name="Title Slide 2_1_1_1_1_1_1_1_1_1_1_3">
    <p:bg>
      <p:bgPr>
        <a:solidFill>
          <a:srgbClr val="BEF2BD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8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Computing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2" name="Google Shape;52;p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53" name="Google Shape;53;p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" name="Google Shape;54;p6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55" name="Google Shape;55;p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59982">
            <a:off x="6923956" y="1273792"/>
            <a:ext cx="1784155" cy="1404547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" name="Google Shape;57;p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Design and technology" showMasterSp="0">
  <p:cSld name="Title Slide 2_1_1_1_1_1_1_1_1_1_1_2">
    <p:bg>
      <p:bgPr>
        <a:solidFill>
          <a:srgbClr val="BEF2BD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7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7058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23850" y="3781525"/>
            <a:ext cx="2706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Design and technology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2" name="Google Shape;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63" name="Google Shape;63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4" name="Google Shape;64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" name="Google Shape;65;p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66" name="Google Shape;66;p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2791">
            <a:off x="6884379" y="985388"/>
            <a:ext cx="1846116" cy="1852594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English" showMasterSp="0">
  <p:cSld name="Title Slide 2_1_2">
    <p:bg>
      <p:bgPr>
        <a:solidFill>
          <a:srgbClr val="BEF2BD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8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English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" name="Google Shape;72;p8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73" name="Google Shape;7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" name="Google Shape;76;p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867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French" showMasterSp="0">
  <p:cSld name="Title Slide 2_1_1_1_1_1_1_1_1_1_1_1">
    <p:bg>
      <p:bgPr>
        <a:solidFill>
          <a:srgbClr val="BEF2BD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7722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" name="Google Shape;79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0" name="Google Shape;80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French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82" name="Google Shape;82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83" name="Google Shape;83;p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4" name="Google Shape;84;p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85" name="Google Shape;85;p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88119">
            <a:off x="6742284" y="969390"/>
            <a:ext cx="2161157" cy="191529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ography" showMasterSp="0">
  <p:cSld name="Title Slide 2_1_1_1">
    <p:bg>
      <p:bgPr>
        <a:solidFill>
          <a:srgbClr val="BEF2BD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0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Geography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3" name="Google Shape;93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5" name="Google Shape;95;p1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German" showMasterSp="0">
  <p:cSld name="Title Slide 2_1_1_1_1_1_1_1_1_1_1_1_1">
    <p:bg>
      <p:bgPr>
        <a:solidFill>
          <a:srgbClr val="BEF2BD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9169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9" name="Google Shape;99;p1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German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0" name="Google Shape;100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02" name="Google Shape;102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04" name="Google Shape;104;p1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6027">
            <a:off x="6626180" y="831797"/>
            <a:ext cx="2331091" cy="2089577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History" showMasterSp="0">
  <p:cSld name="Title Slide 2_1_1_1_1_2">
    <p:bg>
      <p:bgPr>
        <a:solidFill>
          <a:srgbClr val="BEF2BD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2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2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1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History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11" name="Google Shape;1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2" name="Google Shape;112;p12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13" name="Google Shape;113;p1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4" name="Google Shape;114;p12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15" name="Google Shape;115;p12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6" name="Google Shape;116;p12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" name="Google Shape;117;p12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aths" showMasterSp="0">
  <p:cSld name="Title Slide 2_1_1_2">
    <p:bg>
      <p:bgPr>
        <a:solidFill>
          <a:srgbClr val="BEF2BD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1" name="Google Shape;121;p1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Maths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2" name="Google Shape;12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3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3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5" name="Google Shape;125;p13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Music" showMasterSp="0">
  <p:cSld name="Title Slide 2_1_1_1_1_1">
    <p:bg>
      <p:bgPr>
        <a:solidFill>
          <a:srgbClr val="BEF2BD"/>
        </a:solid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29" name="Google Shape;129;p1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Music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0" name="Google Shape;13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4"/>
          <p:cNvPicPr preferRelativeResize="0"/>
          <p:nvPr/>
        </p:nvPicPr>
        <p:blipFill rotWithShape="1">
          <a:blip r:embed="rId4">
            <a:alphaModFix/>
          </a:blip>
          <a:srcRect b="0" l="6209" r="6209" t="0"/>
          <a:stretch/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4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3" name="Google Shape;133;p14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al education" showMasterSp="0">
  <p:cSld name="Title Slide 2_1_1_1_1_1_1_1_1_1_1_1_1_2">
    <p:bg>
      <p:bgPr>
        <a:solidFill>
          <a:srgbClr val="BEF2BD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15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19295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7" name="Google Shape;137;p15"/>
          <p:cNvSpPr txBox="1"/>
          <p:nvPr/>
        </p:nvSpPr>
        <p:spPr>
          <a:xfrm>
            <a:off x="323850" y="3781525"/>
            <a:ext cx="2456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Physical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8" name="Google Shape;138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" name="Google Shape;139;p1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40" name="Google Shape;140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41" name="Google Shape;141;p15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2" name="Google Shape;142;p15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3" name="Google Shape;143;p1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4" name="Google Shape;144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75628">
            <a:off x="6551506" y="729991"/>
            <a:ext cx="2546513" cy="254649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Physics" showMasterSp="0">
  <p:cSld name="Title Slide 2_1_1_1_1_1_1_1_1_2">
    <p:bg>
      <p:bgPr>
        <a:solidFill>
          <a:srgbClr val="BEF2BD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8" name="Google Shape;148;p1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Physics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9" name="Google Shape;14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0" name="Google Shape;150;p16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51" name="Google Shape;151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2" name="Google Shape;152;p16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53" name="Google Shape;153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6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5" name="Google Shape;155;p16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 and health education" showMasterSp="0">
  <p:cSld name="Title Slide 2_1_1_1_1_1_1_1_1_1_1_7">
    <p:bg>
      <p:bgPr>
        <a:solidFill>
          <a:srgbClr val="BEF2BD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58" name="Google Shape;158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9" name="Google Shape;159;p1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60" name="Google Shape;160;p1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" name="Google Shape;161;p17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62" name="Google Shape;16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17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65" name="Google Shape;165;p17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3608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7"/>
          <p:cNvSpPr txBox="1"/>
          <p:nvPr/>
        </p:nvSpPr>
        <p:spPr>
          <a:xfrm>
            <a:off x="323850" y="3781525"/>
            <a:ext cx="46233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RHE (PSHE)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ationships, sex and health education" showMasterSp="0">
  <p:cSld name="Title Slide 2_1_1_1_1_1_1_1_1_1_1_7_1">
    <p:bg>
      <p:bgPr>
        <a:solidFill>
          <a:srgbClr val="BEF2BD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169" name="Google Shape;169;p1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0" name="Google Shape;170;p18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71" name="Google Shape;171;p1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72" name="Google Shape;172;p18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73" name="Google Shape;173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360033">
            <a:off x="6814806" y="1250542"/>
            <a:ext cx="1965462" cy="1393693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8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18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76" name="Google Shape;176;p18"/>
          <p:cNvPicPr preferRelativeResize="0"/>
          <p:nvPr/>
        </p:nvPicPr>
        <p:blipFill rotWithShape="1">
          <a:blip r:embed="rId5">
            <a:alphaModFix/>
          </a:blip>
          <a:srcRect b="0" l="6209" r="6209" t="0"/>
          <a:stretch/>
        </p:blipFill>
        <p:spPr>
          <a:xfrm>
            <a:off x="324000" y="4008600"/>
            <a:ext cx="1511900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18"/>
          <p:cNvSpPr txBox="1"/>
          <p:nvPr/>
        </p:nvSpPr>
        <p:spPr>
          <a:xfrm>
            <a:off x="323850" y="3781525"/>
            <a:ext cx="5087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RSHE (PSHE)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Religious education" showMasterSp="0">
  <p:cSld name="Title Slide 2_1_1_1_1_1_1_1_1_1_1_1_1_1">
    <p:bg>
      <p:bgPr>
        <a:solidFill>
          <a:srgbClr val="BEF2BD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p19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227187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1" name="Google Shape;181;p19"/>
          <p:cNvSpPr txBox="1"/>
          <p:nvPr/>
        </p:nvSpPr>
        <p:spPr>
          <a:xfrm>
            <a:off x="323850" y="3781525"/>
            <a:ext cx="27981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Religious education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3" name="Google Shape;183;p1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84" name="Google Shape;184;p19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5" name="Google Shape;185;p19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186" name="Google Shape;186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003">
            <a:off x="6754136" y="1062731"/>
            <a:ext cx="2012844" cy="1854018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8" name="Google Shape;188;p19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cience" showMasterSp="0">
  <p:cSld name="Title Slide 2_1_1_1_1_1_1_2">
    <p:bg>
      <p:bgPr>
        <a:solidFill>
          <a:srgbClr val="BEF2BD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1" name="Google Shape;191;p2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Science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92" name="Google Shape;192;p2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0"/>
          <p:cNvPicPr preferRelativeResize="0"/>
          <p:nvPr/>
        </p:nvPicPr>
        <p:blipFill rotWithShape="1">
          <a:blip r:embed="rId3">
            <a:alphaModFix/>
          </a:blip>
          <a:srcRect b="0" l="6209" r="6209" t="0"/>
          <a:stretch/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94" name="Google Shape;194;p20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195" name="Google Shape;195;p20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96" name="Google Shape;196;p20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97" name="Google Shape;197;p20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20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0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0 Title slide - Spanish" showMasterSp="0">
  <p:cSld name="Title Slide 2_1_1_1_1_1_1_1_1_1_1_1_2_1">
    <p:bg>
      <p:bgPr>
        <a:solidFill>
          <a:srgbClr val="BEF2BD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1"/>
          <p:cNvPicPr preferRelativeResize="0"/>
          <p:nvPr/>
        </p:nvPicPr>
        <p:blipFill rotWithShape="1">
          <a:blip r:embed="rId2">
            <a:alphaModFix/>
          </a:blip>
          <a:srcRect b="0" l="6209" r="6209" t="0"/>
          <a:stretch/>
        </p:blipFill>
        <p:spPr>
          <a:xfrm>
            <a:off x="324000" y="4008600"/>
            <a:ext cx="890625" cy="12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3" name="Google Shape;203;p21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Spanish</a:t>
            </a:r>
            <a:endParaRPr b="1" sz="17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04" name="Google Shape;204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5" name="Google Shape;205;p21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206" name="Google Shape;20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07" name="Google Shape;207;p21"/>
            <p:cNvSpPr/>
            <p:nvPr/>
          </p:nvSpPr>
          <p:spPr>
            <a:xfrm>
              <a:off x="6858000" y="868200"/>
              <a:ext cx="2210100" cy="21969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208" name="Google Shape;208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360339">
            <a:off x="6714634" y="840073"/>
            <a:ext cx="2165107" cy="217392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21"/>
          <p:cNvSpPr txBox="1"/>
          <p:nvPr/>
        </p:nvSpPr>
        <p:spPr>
          <a:xfrm>
            <a:off x="323850" y="4327975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Lexend"/>
                <a:ea typeface="Lexend"/>
                <a:cs typeface="Lexend"/>
                <a:sym typeface="Lexend"/>
              </a:rPr>
              <a:t>Unit</a:t>
            </a:r>
            <a:endParaRPr b="1"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 algn="ctr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1 Outcome">
  <p:cSld name="CUSTOM_5">
    <p:bg>
      <p:bgPr>
        <a:solidFill>
          <a:srgbClr val="BEF2BD"/>
        </a:solidFill>
      </p:bgPr>
    </p:bg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213" name="Google Shape;213;p22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800">
                <a:latin typeface="Lexend"/>
                <a:ea typeface="Lexend"/>
                <a:cs typeface="Lexend"/>
                <a:sym typeface="Lexend"/>
              </a:rPr>
              <a:t>Outcome</a:t>
            </a:r>
            <a:endParaRPr b="1" sz="2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4" name="Google Shape;214;p22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2 Hidden guidance slide">
  <p:cSld name="CUSTOM_1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/>
        </p:nvSpPr>
        <p:spPr>
          <a:xfrm>
            <a:off x="329775" y="9534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i="1" lang="en-GB" sz="1200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3"/>
          <p:cNvSpPr txBox="1"/>
          <p:nvPr/>
        </p:nvSpPr>
        <p:spPr>
          <a:xfrm>
            <a:off x="329775" y="629475"/>
            <a:ext cx="42414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4901925" y="629475"/>
            <a:ext cx="401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b="1"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3"/>
          <p:cNvSpPr txBox="1"/>
          <p:nvPr/>
        </p:nvSpPr>
        <p:spPr>
          <a:xfrm>
            <a:off x="329775" y="32059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0" name="Google Shape;220;p23"/>
          <p:cNvGrpSpPr/>
          <p:nvPr/>
        </p:nvGrpSpPr>
        <p:grpSpPr>
          <a:xfrm>
            <a:off x="2650916" y="1644417"/>
            <a:ext cx="1745270" cy="1430724"/>
            <a:chOff x="2642961" y="1644312"/>
            <a:chExt cx="1454634" cy="1195657"/>
          </a:xfrm>
        </p:grpSpPr>
        <p:pic>
          <p:nvPicPr>
            <p:cNvPr id="221" name="Google Shape;221;p23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2" name="Google Shape;222;p2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3" name="Google Shape;223;p2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  <p:pic>
          <p:nvPicPr>
            <p:cNvPr id="224" name="Google Shape;224;p2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rotWithShape="0" algn="bl" dir="5400000" dist="1905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225" name="Google Shape;225;p23"/>
          <p:cNvPicPr preferRelativeResize="0"/>
          <p:nvPr/>
        </p:nvPicPr>
        <p:blipFill rotWithShape="1">
          <a:blip r:embed="rId6">
            <a:alphaModFix/>
          </a:blip>
          <a:srcRect b="5222" l="3910" r="0" t="0"/>
          <a:stretch/>
        </p:blipFill>
        <p:spPr>
          <a:xfrm>
            <a:off x="1328513" y="35697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8750" y="17780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50000"/>
              </a:srgbClr>
            </a:outerShdw>
          </a:effectLst>
        </p:spPr>
      </p:pic>
      <p:sp>
        <p:nvSpPr>
          <p:cNvPr id="227" name="Google Shape;227;p2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Teacher Guidance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">
  <p:cSld name="CUSTOM_3_1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0" name="Google Shape;230;p2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4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4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4" name="Google Shape;234;p24"/>
          <p:cNvSpPr txBox="1"/>
          <p:nvPr>
            <p:ph idx="3" type="subTitle"/>
          </p:nvPr>
        </p:nvSpPr>
        <p:spPr>
          <a:xfrm>
            <a:off x="324000" y="2105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5" name="Google Shape;235;p24"/>
          <p:cNvSpPr txBox="1"/>
          <p:nvPr>
            <p:ph idx="4" type="subTitle"/>
          </p:nvPr>
        </p:nvSpPr>
        <p:spPr>
          <a:xfrm>
            <a:off x="2699325" y="2105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6" name="Google Shape;236;p24"/>
          <p:cNvSpPr txBox="1"/>
          <p:nvPr>
            <p:ph idx="5" type="subTitle"/>
          </p:nvPr>
        </p:nvSpPr>
        <p:spPr>
          <a:xfrm>
            <a:off x="324000" y="3400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7" name="Google Shape;237;p24"/>
          <p:cNvSpPr txBox="1"/>
          <p:nvPr>
            <p:ph idx="6" type="subTitle"/>
          </p:nvPr>
        </p:nvSpPr>
        <p:spPr>
          <a:xfrm>
            <a:off x="2699325" y="3400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4)">
  <p:cSld name="CUSTOM_3_1_1"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25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5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3" name="Google Shape;243;p25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4" name="Google Shape;244;p25"/>
          <p:cNvSpPr txBox="1"/>
          <p:nvPr>
            <p:ph idx="3" type="subTitle"/>
          </p:nvPr>
        </p:nvSpPr>
        <p:spPr>
          <a:xfrm>
            <a:off x="324000" y="1800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5" name="Google Shape;245;p25"/>
          <p:cNvSpPr txBox="1"/>
          <p:nvPr>
            <p:ph idx="4" type="subTitle"/>
          </p:nvPr>
        </p:nvSpPr>
        <p:spPr>
          <a:xfrm>
            <a:off x="2699325" y="1800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6" name="Google Shape;246;p25"/>
          <p:cNvSpPr txBox="1"/>
          <p:nvPr>
            <p:ph idx="5" type="subTitle"/>
          </p:nvPr>
        </p:nvSpPr>
        <p:spPr>
          <a:xfrm>
            <a:off x="324000" y="2791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7" name="Google Shape;247;p25"/>
          <p:cNvSpPr txBox="1"/>
          <p:nvPr>
            <p:ph idx="6" type="subTitle"/>
          </p:nvPr>
        </p:nvSpPr>
        <p:spPr>
          <a:xfrm>
            <a:off x="2699325" y="2791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8" name="Google Shape;248;p25"/>
          <p:cNvSpPr txBox="1"/>
          <p:nvPr>
            <p:ph idx="7" type="subTitle"/>
          </p:nvPr>
        </p:nvSpPr>
        <p:spPr>
          <a:xfrm>
            <a:off x="324000" y="3781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49" name="Google Shape;249;p25"/>
          <p:cNvSpPr txBox="1"/>
          <p:nvPr>
            <p:ph idx="8" type="subTitle"/>
          </p:nvPr>
        </p:nvSpPr>
        <p:spPr>
          <a:xfrm>
            <a:off x="2699325" y="3781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5)">
  <p:cSld name="CUSTOM_3_1_1_1"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2" name="Google Shape;252;p26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2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6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5" name="Google Shape;255;p26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6" name="Google Shape;256;p26"/>
          <p:cNvSpPr txBox="1"/>
          <p:nvPr>
            <p:ph idx="3" type="subTitle"/>
          </p:nvPr>
        </p:nvSpPr>
        <p:spPr>
          <a:xfrm>
            <a:off x="324000" y="24864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7" name="Google Shape;257;p26"/>
          <p:cNvSpPr txBox="1"/>
          <p:nvPr>
            <p:ph idx="4" type="subTitle"/>
          </p:nvPr>
        </p:nvSpPr>
        <p:spPr>
          <a:xfrm>
            <a:off x="2699325" y="24864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8" name="Google Shape;258;p26"/>
          <p:cNvSpPr txBox="1"/>
          <p:nvPr>
            <p:ph idx="5" type="subTitle"/>
          </p:nvPr>
        </p:nvSpPr>
        <p:spPr>
          <a:xfrm>
            <a:off x="324000" y="41628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59" name="Google Shape;259;p26"/>
          <p:cNvSpPr txBox="1"/>
          <p:nvPr>
            <p:ph idx="6" type="subTitle"/>
          </p:nvPr>
        </p:nvSpPr>
        <p:spPr>
          <a:xfrm>
            <a:off x="2699325" y="41628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0" name="Google Shape;260;p26"/>
          <p:cNvSpPr txBox="1"/>
          <p:nvPr>
            <p:ph idx="7" type="subTitle"/>
          </p:nvPr>
        </p:nvSpPr>
        <p:spPr>
          <a:xfrm>
            <a:off x="324000" y="16482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1" name="Google Shape;261;p26"/>
          <p:cNvSpPr txBox="1"/>
          <p:nvPr>
            <p:ph idx="8" type="subTitle"/>
          </p:nvPr>
        </p:nvSpPr>
        <p:spPr>
          <a:xfrm>
            <a:off x="2699325" y="16482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2" name="Google Shape;262;p26"/>
          <p:cNvSpPr txBox="1"/>
          <p:nvPr>
            <p:ph idx="9" type="subTitle"/>
          </p:nvPr>
        </p:nvSpPr>
        <p:spPr>
          <a:xfrm>
            <a:off x="324000" y="3324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3" name="Google Shape;263;p26"/>
          <p:cNvSpPr txBox="1"/>
          <p:nvPr>
            <p:ph idx="13" type="subTitle"/>
          </p:nvPr>
        </p:nvSpPr>
        <p:spPr>
          <a:xfrm>
            <a:off x="2699325" y="3324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p2, 2)">
  <p:cSld name="CUSTOM_3_1_1_1_1"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2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6" name="Google Shape;266;p2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7"/>
          <p:cNvSpPr txBox="1"/>
          <p:nvPr>
            <p:ph idx="1" type="subTitle"/>
          </p:nvPr>
        </p:nvSpPr>
        <p:spPr>
          <a:xfrm>
            <a:off x="324000" y="8100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69" name="Google Shape;269;p27"/>
          <p:cNvSpPr txBox="1"/>
          <p:nvPr>
            <p:ph idx="2" type="subTitle"/>
          </p:nvPr>
        </p:nvSpPr>
        <p:spPr>
          <a:xfrm>
            <a:off x="2699325" y="8100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0" name="Google Shape;270;p27"/>
          <p:cNvSpPr txBox="1"/>
          <p:nvPr>
            <p:ph idx="3" type="subTitle"/>
          </p:nvPr>
        </p:nvSpPr>
        <p:spPr>
          <a:xfrm>
            <a:off x="324000" y="2562600"/>
            <a:ext cx="22035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b="1"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71" name="Google Shape;271;p27"/>
          <p:cNvSpPr txBox="1"/>
          <p:nvPr>
            <p:ph idx="4" type="subTitle"/>
          </p:nvPr>
        </p:nvSpPr>
        <p:spPr>
          <a:xfrm>
            <a:off x="2699325" y="2562600"/>
            <a:ext cx="4047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 sz="18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1800"/>
              <a:buNone/>
              <a:defRPr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18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2)">
  <p:cSld name="CUSTOM_3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4" name="Google Shape;274;p28"/>
          <p:cNvPicPr preferRelativeResize="0"/>
          <p:nvPr/>
        </p:nvPicPr>
        <p:blipFill rotWithShape="1">
          <a:blip r:embed="rId2">
            <a:alphaModFix/>
          </a:blip>
          <a:srcRect b="3669" l="0" r="0" t="3678"/>
          <a:stretch/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28"/>
          <p:cNvPicPr preferRelativeResize="0"/>
          <p:nvPr/>
        </p:nvPicPr>
        <p:blipFill rotWithShape="1">
          <a:blip r:embed="rId3">
            <a:alphaModFix/>
          </a:blip>
          <a:srcRect b="3669" l="0" r="0" t="3678"/>
          <a:stretch/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276" name="Google Shape;276;p28"/>
          <p:cNvPicPr preferRelativeResize="0"/>
          <p:nvPr/>
        </p:nvPicPr>
        <p:blipFill rotWithShape="1">
          <a:blip r:embed="rId4">
            <a:alphaModFix/>
          </a:blip>
          <a:srcRect b="0" l="74623" r="0" t="0"/>
          <a:stretch/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7" name="Google Shape;277;p28"/>
          <p:cNvCxnSpPr>
            <a:endCxn id="278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79" name="Google Shape;279;p2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81" name="Google Shape;281;p28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78" name="Google Shape;278;p2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8"/>
          <p:cNvPicPr preferRelativeResize="0"/>
          <p:nvPr/>
        </p:nvPicPr>
        <p:blipFill rotWithShape="1">
          <a:blip r:embed="rId7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8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4" name="Google Shape;284;p28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3)">
  <p:cSld name="CUSTOM_3_2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6" name="Google Shape;286;p29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29"/>
          <p:cNvPicPr preferRelativeResize="0"/>
          <p:nvPr/>
        </p:nvPicPr>
        <p:blipFill rotWithShape="1">
          <a:blip r:embed="rId4">
            <a:alphaModFix/>
          </a:blip>
          <a:srcRect b="3669" l="0" r="0" t="3678"/>
          <a:stretch/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29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29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92" name="Google Shape;292;p29"/>
          <p:cNvCxnSpPr>
            <a:endCxn id="293" idx="2"/>
          </p:cNvCxnSpPr>
          <p:nvPr/>
        </p:nvCxnSpPr>
        <p:spPr>
          <a:xfrm>
            <a:off x="647802" y="1841898"/>
            <a:ext cx="0" cy="23664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293" name="Google Shape;293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2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9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6" name="Google Shape;296;p29"/>
          <p:cNvSpPr txBox="1"/>
          <p:nvPr>
            <p:ph idx="2" type="title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97" name="Google Shape;297;p29"/>
          <p:cNvSpPr txBox="1"/>
          <p:nvPr>
            <p:ph idx="3" type="title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98" name="Google Shape;298;p29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99" name="Google Shape;299;p2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0" name="Google Shape;300;p29"/>
          <p:cNvPicPr preferRelativeResize="0"/>
          <p:nvPr/>
        </p:nvPicPr>
        <p:blipFill rotWithShape="1">
          <a:blip r:embed="rId9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p2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2" name="Google Shape;302;p29"/>
          <p:cNvSpPr txBox="1"/>
          <p:nvPr>
            <p:ph idx="4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3 Lesson outline (4)">
  <p:cSld name="CUSTOM_4"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4" name="Google Shape;304;p30"/>
          <p:cNvPicPr preferRelativeResize="0"/>
          <p:nvPr/>
        </p:nvPicPr>
        <p:blipFill rotWithShape="1">
          <a:blip r:embed="rId2">
            <a:alphaModFix/>
          </a:blip>
          <a:srcRect b="4438" l="0" r="0" t="4429"/>
          <a:stretch/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30"/>
          <p:cNvPicPr preferRelativeResize="0"/>
          <p:nvPr/>
        </p:nvPicPr>
        <p:blipFill rotWithShape="1">
          <a:blip r:embed="rId4">
            <a:alphaModFix/>
          </a:blip>
          <a:srcRect b="4396" l="0" r="0" t="4387"/>
          <a:stretch/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0"/>
          <p:cNvPicPr preferRelativeResize="0"/>
          <p:nvPr/>
        </p:nvPicPr>
        <p:blipFill rotWithShape="1">
          <a:blip r:embed="rId5">
            <a:alphaModFix/>
          </a:blip>
          <a:srcRect b="3669" l="0" r="0" t="3678"/>
          <a:stretch/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0"/>
          <p:cNvPicPr preferRelativeResize="0"/>
          <p:nvPr/>
        </p:nvPicPr>
        <p:blipFill rotWithShape="1">
          <a:blip r:embed="rId6">
            <a:alphaModFix/>
          </a:blip>
          <a:srcRect b="3669" l="0" r="0" t="3678"/>
          <a:stretch/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30"/>
          <p:cNvPicPr preferRelativeResize="0"/>
          <p:nvPr/>
        </p:nvPicPr>
        <p:blipFill rotWithShape="1">
          <a:blip r:embed="rId3">
            <a:alphaModFix/>
          </a:blip>
          <a:srcRect b="0" l="74623" r="0" t="0"/>
          <a:stretch/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12" name="Google Shape;312;p30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cap="flat" cmpd="sng" w="38100">
            <a:solidFill>
              <a:srgbClr val="282828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13" name="Google Shape;313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3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0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7" name="Google Shape;317;p30"/>
          <p:cNvSpPr txBox="1"/>
          <p:nvPr>
            <p:ph idx="2" type="title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8" name="Google Shape;318;p30"/>
          <p:cNvSpPr txBox="1"/>
          <p:nvPr>
            <p:ph idx="3" type="title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19" name="Google Shape;319;p30"/>
          <p:cNvSpPr txBox="1"/>
          <p:nvPr>
            <p:ph idx="4" type="title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Lexend"/>
              <a:buNone/>
              <a:defRPr b="0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320" name="Google Shape;320;p30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3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22" name="Google Shape;322;p30"/>
          <p:cNvPicPr preferRelativeResize="0"/>
          <p:nvPr/>
        </p:nvPicPr>
        <p:blipFill rotWithShape="1">
          <a:blip r:embed="rId11">
            <a:alphaModFix/>
          </a:blip>
          <a:srcRect b="1709" l="0" r="0" t="1699"/>
          <a:stretch/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p3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4" name="Google Shape;324;p30"/>
          <p:cNvSpPr txBox="1"/>
          <p:nvPr>
            <p:ph idx="5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0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0 Explanation blank - purple ">
  <p:cSld name="TITLE_AND_TWO_COLUMNS_1_1_6_2_1_4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7" name="Google Shape;327;p31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29" name="Google Shape;329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0" name="Google Shape;330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31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0 Explanation blank - jade">
  <p:cSld name="TITLE_AND_TWO_COLUMNS_1_1_6_2_1_2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3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5" name="Google Shape;335;p3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36" name="Google Shape;336;p3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7" name="Google Shape;337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38" name="Google Shape;338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0 Explanation blank - blue ">
  <p:cSld name="TITLE_AND_TWO_COLUMNS_1_1_6_2_2"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0" name="Google Shape;340;p3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3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43" name="Google Shape;343;p3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45" name="Google Shape;345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0 Explanation blank - pink ">
  <p:cSld name="TITLE_AND_TWO_COLUMNS_1_1_6_2_1_1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7" name="Google Shape;347;p3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48" name="Google Shape;348;p3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350" name="Google Shape;350;p3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1" name="Google Shape;351;p3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52" name="Google Shape;35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5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5" name="Google Shape;355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356" name="Google Shape;356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5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8" name="Google Shape;358;p35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59" name="Google Shape;359;p35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60" name="Google Shape;360;p35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61" name="Google Shape;361;p3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2" name="Google Shape;362;p35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63" name="Google Shape;363;p35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64" name="Google Shape;364;p3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65" name="Google Shape;365;p35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8" name="Google Shape;368;p3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36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1" name="Google Shape;371;p36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72" name="Google Shape;372;p3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73" name="Google Shape;373;p3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74" name="Google Shape;374;p3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6" name="Google Shape;376;p3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77" name="Google Shape;377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8" name="Google Shape;378;p3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7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1" name="Google Shape;381;p3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7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4" name="Google Shape;384;p37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5" name="Google Shape;385;p3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86" name="Google Shape;386;p3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387" name="Google Shape;387;p3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8" name="Google Shape;388;p3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89" name="Google Shape;389;p3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390" name="Google Shape;390;p3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1" name="Google Shape;391;p3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8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4" name="Google Shape;394;p3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8"/>
          <p:cNvSpPr txBox="1"/>
          <p:nvPr>
            <p:ph idx="1" type="subTitle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7" name="Google Shape;397;p38"/>
          <p:cNvSpPr txBox="1"/>
          <p:nvPr>
            <p:ph idx="2" type="subTitle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98" name="Google Shape;398;p3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99" name="Google Shape;399;p3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400" name="Google Shape;400;p3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1" name="Google Shape;401;p3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02" name="Google Shape;402;p3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403" name="Google Shape;403;p38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04" name="Google Shape;404;p3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900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b="1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2 CfU true/false/why - purple">
  <p:cSld name="TITLE_AND_TWO_COLUMNS_1_1_9_1_3_1">
    <p:bg>
      <p:bgPr>
        <a:solidFill>
          <a:srgbClr val="F3EEFB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Google Shape;406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9" name="Google Shape;409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9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1" name="Google Shape;411;p39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2" name="Google Shape;412;p39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3" name="Google Shape;413;p39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14" name="Google Shape;414;p39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15" name="Google Shape;415;p39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6" name="Google Shape;416;p39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417" name="Google Shape;417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19" name="Google Shape;419;p3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2 CfU true/false/why - jade">
  <p:cSld name="TITLE_AND_TWO_COLUMNS_1_1_9_1_3_1_1_1">
    <p:bg>
      <p:bgPr>
        <a:solidFill>
          <a:srgbClr val="E6F2F2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1" name="Google Shape;421;p4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2" name="Google Shape;422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3" name="Google Shape;423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5" name="Google Shape;425;p4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6" name="Google Shape;426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7" name="Google Shape;427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28" name="Google Shape;428;p40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9" name="Google Shape;429;p40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0" name="Google Shape;430;p40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1" name="Google Shape;431;p40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32" name="Google Shape;432;p4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33" name="Google Shape;433;p40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4" name="Google Shape;434;p40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2 CfU true/false/why - blue">
  <p:cSld name="TITLE_AND_TWO_COLUMNS_1_1_9_1_3_2">
    <p:bg>
      <p:bgPr>
        <a:solidFill>
          <a:srgbClr val="EBEDFE"/>
        </a:solid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6" name="Google Shape;436;p4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7" name="Google Shape;437;p4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38" name="Google Shape;43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0" name="Google Shape;440;p4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1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4" name="Google Shape;444;p41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5" name="Google Shape;445;p41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41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7" name="Google Shape;447;p4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48" name="Google Shape;448;p41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9" name="Google Shape;449;p41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2 CfU true/false/why - pink">
  <p:cSld name="TITLE_AND_TWO_COLUMNS_1_1_9_1_3_1_1_1_1">
    <p:bg>
      <p:bgPr>
        <a:solidFill>
          <a:srgbClr val="FAEAF6"/>
        </a:solidFill>
      </p:bgPr>
    </p:bg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1" name="Google Shape;451;p4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2" name="Google Shape;452;p4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3" name="Google Shape;453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5" name="Google Shape;455;p4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56" name="Google Shape;456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20853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42"/>
          <p:cNvSpPr txBox="1"/>
          <p:nvPr/>
        </p:nvSpPr>
        <p:spPr>
          <a:xfrm>
            <a:off x="3025325" y="21446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9" name="Google Shape;459;p42"/>
          <p:cNvSpPr txBox="1"/>
          <p:nvPr/>
        </p:nvSpPr>
        <p:spPr>
          <a:xfrm>
            <a:off x="5431100" y="21219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b="1"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0" name="Google Shape;460;p42"/>
          <p:cNvSpPr txBox="1"/>
          <p:nvPr>
            <p:ph idx="1" type="subTitle"/>
          </p:nvPr>
        </p:nvSpPr>
        <p:spPr>
          <a:xfrm>
            <a:off x="324000" y="3577125"/>
            <a:ext cx="8109300" cy="73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Kalam"/>
              <a:buNone/>
              <a:defRPr sz="2200"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Font typeface="Kalam"/>
              <a:buNone/>
              <a:defRPr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1" name="Google Shape;461;p42"/>
          <p:cNvSpPr txBox="1"/>
          <p:nvPr>
            <p:ph idx="2" type="subTitle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2" name="Google Shape;462;p4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463" name="Google Shape;463;p42"/>
          <p:cNvSpPr txBox="1"/>
          <p:nvPr/>
        </p:nvSpPr>
        <p:spPr>
          <a:xfrm>
            <a:off x="2454488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4" name="Google Shape;464;p42"/>
          <p:cNvSpPr txBox="1"/>
          <p:nvPr/>
        </p:nvSpPr>
        <p:spPr>
          <a:xfrm>
            <a:off x="4848713" y="21754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b="1" sz="18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6" name="Google Shape;466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67" name="Google Shape;467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9" name="Google Shape;469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71" name="Google Shape;471;p4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2" name="Google Shape;472;p43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3" name="Google Shape;473;p43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74" name="Google Shape;474;p43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75" name="Google Shape;475;p43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76" name="Google Shape;476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7" name="Google Shape;477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8" name="Google Shape;478;p43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79" name="Google Shape;479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0" name="Google Shape;480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81" name="Google Shape;481;p43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82" name="Google Shape;482;p4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83" name="Google Shape;483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5" name="Google Shape;485;p4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6" name="Google Shape;486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8" name="Google Shape;488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9" name="Google Shape;489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0" name="Google Shape;490;p4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91" name="Google Shape;491;p44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2" name="Google Shape;492;p44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93" name="Google Shape;493;p44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4" name="Google Shape;494;p4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95" name="Google Shape;495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6" name="Google Shape;496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7" name="Google Shape;497;p4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98" name="Google Shape;498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9" name="Google Shape;499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00" name="Google Shape;500;p4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01" name="Google Shape;501;p4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2" name="Google Shape;502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4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7" name="Google Shape;507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8" name="Google Shape;508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9" name="Google Shape;509;p45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10" name="Google Shape;510;p45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5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5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14" name="Google Shape;514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17" name="Google Shape;517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20" name="Google Shape;520;p4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3" name="Google Shape;523;p4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4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6" name="Google Shape;526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8" name="Google Shape;528;p46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9" name="Google Shape;529;p46"/>
          <p:cNvSpPr txBox="1"/>
          <p:nvPr>
            <p:ph idx="1" type="subTitle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0" name="Google Shape;530;p46"/>
          <p:cNvSpPr txBox="1"/>
          <p:nvPr>
            <p:ph idx="3" type="subTitle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1" name="Google Shape;531;p46"/>
          <p:cNvSpPr txBox="1"/>
          <p:nvPr>
            <p:ph idx="4" type="subTitle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2" name="Google Shape;532;p4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533" name="Google Shape;533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4" name="Google Shape;534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5" name="Google Shape;535;p4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536" name="Google Shape;536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7" name="Google Shape;537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8" name="Google Shape;538;p4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539" name="Google Shape;539;p46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0" name="Google Shape;540;p4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" name="Google Shape;542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47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45" name="Google Shape;545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7" name="Google Shape;547;p47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8" name="Google Shape;548;p47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49" name="Google Shape;549;p47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0" name="Google Shape;550;p47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51" name="Google Shape;551;p47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52" name="Google Shape;552;p47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53" name="Google Shape;553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4" name="Google Shape;554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5" name="Google Shape;555;p47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56" name="Google Shape;556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57" name="Google Shape;557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58" name="Google Shape;558;p47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59" name="Google Shape;559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7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62" name="Google Shape;562;p4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564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5" name="Google Shape;565;p4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68" name="Google Shape;568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0" name="Google Shape;570;p48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1" name="Google Shape;571;p48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2" name="Google Shape;572;p48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3" name="Google Shape;573;p48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74" name="Google Shape;574;p48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75" name="Google Shape;575;p4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76" name="Google Shape;576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7" name="Google Shape;577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78" name="Google Shape;578;p4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79" name="Google Shape;579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0" name="Google Shape;580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1" name="Google Shape;581;p4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82" name="Google Shape;582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3" name="Google Shape;583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4" name="Google Shape;584;p4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85" name="Google Shape;585;p48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6" name="Google Shape;586;p4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87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Google Shape;588;p49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9" name="Google Shape;589;p4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4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1" name="Google Shape;591;p4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2" name="Google Shape;592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3" name="Google Shape;593;p49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4" name="Google Shape;594;p49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5" name="Google Shape;595;p49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6" name="Google Shape;596;p49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97" name="Google Shape;597;p49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98" name="Google Shape;598;p4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99" name="Google Shape;599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0" name="Google Shape;600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1" name="Google Shape;601;p4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02" name="Google Shape;602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3" name="Google Shape;603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4" name="Google Shape;604;p4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05" name="Google Shape;605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6" name="Google Shape;606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7" name="Google Shape;607;p4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08" name="Google Shape;608;p4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9" name="Google Shape;609;p4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610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5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12" name="Google Shape;612;p50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3" name="Google Shape;613;p5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14" name="Google Shape;614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5" name="Google Shape;615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6" name="Google Shape;616;p50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7" name="Google Shape;617;p50"/>
          <p:cNvSpPr txBox="1"/>
          <p:nvPr>
            <p:ph idx="1" type="subTitle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8" name="Google Shape;618;p50"/>
          <p:cNvSpPr txBox="1"/>
          <p:nvPr>
            <p:ph idx="3" type="subTitle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19" name="Google Shape;619;p50"/>
          <p:cNvSpPr txBox="1"/>
          <p:nvPr>
            <p:ph idx="4" type="subTitle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620" name="Google Shape;620;p50"/>
          <p:cNvSpPr txBox="1"/>
          <p:nvPr>
            <p:ph idx="5" type="subTitle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ts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621" name="Google Shape;621;p5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622" name="Google Shape;622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4" name="Google Shape;624;p5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625" name="Google Shape;625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6" name="Google Shape;626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7" name="Google Shape;627;p5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628" name="Google Shape;628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9" name="Google Shape;629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30" name="Google Shape;630;p5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631" name="Google Shape;631;p5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32" name="Google Shape;632;p5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4" name="Google Shape;634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5" name="Google Shape;635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6" name="Google Shape;636;p51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37" name="Google Shape;637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8" name="Google Shape;638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9" name="Google Shape;639;p51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0" name="Google Shape;640;p51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1" name="Google Shape;641;p51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42" name="Google Shape;642;p51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43" name="Google Shape;643;p51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44" name="Google Shape;644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5" name="Google Shape;645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6" name="Google Shape;646;p51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47" name="Google Shape;647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48" name="Google Shape;648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49" name="Google Shape;649;p51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50" name="Google Shape;650;p51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51" name="Google Shape;651;p5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3" name="Google Shape;653;p5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5" name="Google Shape;655;p5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56" name="Google Shape;656;p5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8" name="Google Shape;658;p52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59" name="Google Shape;659;p52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60" name="Google Shape;660;p52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61" name="Google Shape;661;p52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62" name="Google Shape;662;p5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63" name="Google Shape;663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4" name="Google Shape;664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5" name="Google Shape;665;p5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66" name="Google Shape;666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67" name="Google Shape;667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68" name="Google Shape;668;p5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69" name="Google Shape;669;p5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70" name="Google Shape;670;p5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671" name="Shape 6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2" name="Google Shape;672;p53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3" name="Google Shape;673;p5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5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75" name="Google Shape;675;p5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76" name="Google Shape;676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7" name="Google Shape;677;p53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8" name="Google Shape;678;p53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79" name="Google Shape;679;p53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80" name="Google Shape;680;p53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681" name="Google Shape;681;p5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82" name="Google Shape;682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3" name="Google Shape;683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4" name="Google Shape;684;p5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85" name="Google Shape;685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6" name="Google Shape;686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87" name="Google Shape;687;p5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88" name="Google Shape;688;p5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89" name="Google Shape;689;p5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90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1" name="Google Shape;691;p5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2" name="Google Shape;692;p5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5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200"/>
              <a:buFont typeface="Lexend"/>
              <a:buNone/>
              <a:defRPr b="0"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94" name="Google Shape;694;p5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5" name="Google Shape;695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6" name="Google Shape;696;p54"/>
          <p:cNvSpPr txBox="1"/>
          <p:nvPr>
            <p:ph idx="2"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7" name="Google Shape;697;p54"/>
          <p:cNvSpPr/>
          <p:nvPr>
            <p:ph idx="3" type="pic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8" name="Google Shape;698;p54"/>
          <p:cNvSpPr/>
          <p:nvPr>
            <p:ph idx="4" type="pic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sp>
        <p:nvSpPr>
          <p:cNvPr id="699" name="Google Shape;699;p54"/>
          <p:cNvSpPr/>
          <p:nvPr>
            <p:ph idx="5" type="pic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700" name="Google Shape;700;p5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701" name="Google Shape;701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2" name="Google Shape;702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3" name="Google Shape;703;p5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704" name="Google Shape;704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5" name="Google Shape;705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706" name="Google Shape;706;p5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707" name="Google Shape;707;p5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08" name="Google Shape;708;p5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800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b="1" sz="18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0" name="Google Shape;710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5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13" name="Google Shape;713;p5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5" name="Google Shape;715;p5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716" name="Shape 7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" name="Google Shape;717;p56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8" name="Google Shape;718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5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20" name="Google Shape;720;p5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1" name="Google Shape;721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2" name="Google Shape;722;p5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4" name="Google Shape;724;p57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6" name="Google Shape;726;p57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27" name="Google Shape;727;p5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28" name="Google Shape;728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9" name="Google Shape;729;p5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730" name="Shape 7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1" name="Google Shape;731;p58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5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58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34" name="Google Shape;734;p5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35" name="Google Shape;735;p5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5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7 Practice - purple ">
  <p:cSld name="TITLE_AND_TWO_COLUMNS_1_1_5_1_3_1_1">
    <p:spTree>
      <p:nvGrpSpPr>
        <p:cNvPr id="737" name="Shape 7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8" name="Google Shape;738;p5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39" name="Google Shape;739;p5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0" name="Google Shape;740;p59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41" name="Google Shape;741;p5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42" name="Google Shape;742;p5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3" name="Google Shape;743;p5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44" name="Google Shape;744;p59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7 Practice - jade">
  <p:cSld name="TITLE_AND_TWO_COLUMNS_1_1_5_1_3_1_1_1_1">
    <p:spTree>
      <p:nvGrpSpPr>
        <p:cNvPr id="745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6" name="Google Shape;746;p60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47" name="Google Shape;747;p6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p60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49" name="Google Shape;749;p6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0" name="Google Shape;750;p6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6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52" name="Google Shape;752;p60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7 Practice - blue ">
  <p:cSld name="TITLE_AND_TWO_COLUMNS_1_1_5_1_3_1_2"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4" name="Google Shape;754;p61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55" name="Google Shape;755;p6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61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57" name="Google Shape;757;p6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58" name="Google Shape;75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59" name="Google Shape;759;p6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0" name="Google Shape;760;p61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7 Practice - pink">
  <p:cSld name="TITLE_AND_TWO_COLUMNS_1_1_5_1_3_1_1_1_1_1">
    <p:spTree>
      <p:nvGrpSpPr>
        <p:cNvPr id="76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2" name="Google Shape;762;p62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63" name="Google Shape;763;p62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4" name="Google Shape;764;p62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65" name="Google Shape;765;p6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66" name="Google Shape;766;p6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67" name="Google Shape;767;p6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68" name="Google Shape;768;p62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769" name="Shape 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0" name="Google Shape;770;p6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6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2" name="Google Shape;772;p63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773" name="Google Shape;773;p6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74" name="Google Shape;774;p6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5" name="Google Shape;775;p6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76" name="Google Shape;776;p63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777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8" name="Google Shape;778;p64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79" name="Google Shape;779;p6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0" name="Google Shape;780;p64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1" name="Google Shape;781;p6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2" name="Google Shape;782;p6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4" name="Google Shape;784;p64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85" name="Shape 7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6" name="Google Shape;786;p65"/>
          <p:cNvPicPr preferRelativeResize="0"/>
          <p:nvPr/>
        </p:nvPicPr>
        <p:blipFill rotWithShape="1">
          <a:blip r:embed="rId2">
            <a:alphaModFix/>
          </a:blip>
          <a:srcRect b="1672" l="0" r="0" t="1662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87" name="Google Shape;787;p6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8" name="Google Shape;788;p65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89" name="Google Shape;789;p6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0" name="Google Shape;790;p6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2" name="Google Shape;792;p65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b="1" sz="2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4" name="Google Shape;794;p66"/>
          <p:cNvGrpSpPr/>
          <p:nvPr/>
        </p:nvGrpSpPr>
        <p:grpSpPr>
          <a:xfrm>
            <a:off x="0" y="1"/>
            <a:ext cx="9151202" cy="649234"/>
            <a:chOff x="0" y="1"/>
            <a:chExt cx="9151202" cy="649234"/>
          </a:xfrm>
        </p:grpSpPr>
        <p:pic>
          <p:nvPicPr>
            <p:cNvPr id="795" name="Google Shape;795;p66"/>
            <p:cNvPicPr preferRelativeResize="0"/>
            <p:nvPr/>
          </p:nvPicPr>
          <p:blipFill rotWithShape="1">
            <a:blip r:embed="rId2">
              <a:alphaModFix/>
            </a:blip>
            <a:srcRect b="1672" l="0" r="0" t="1662"/>
            <a:stretch/>
          </p:blipFill>
          <p:spPr>
            <a:xfrm>
              <a:off x="0" y="532525"/>
              <a:ext cx="9151202" cy="11670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96" name="Google Shape;796;p66"/>
            <p:cNvSpPr/>
            <p:nvPr/>
          </p:nvSpPr>
          <p:spPr>
            <a:xfrm>
              <a:off x="0" y="1"/>
              <a:ext cx="9144300" cy="540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97" name="Google Shape;797;p66"/>
          <p:cNvSpPr txBox="1"/>
          <p:nvPr>
            <p:ph idx="1" type="body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98" name="Google Shape;798;p6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b="1" sz="900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99" name="Google Shape;799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800" name="Google Shape;800;p66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b="1" sz="2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1" name="Google Shape;801;p6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b="0" sz="18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1">
  <p:cSld name="TITLE_AND_TWO_COLUMNS_1_1_5_1_2_1_1">
    <p:spTree>
      <p:nvGrpSpPr>
        <p:cNvPr id="802" name="Shape 8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3" name="Google Shape;803;p67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04" name="Google Shape;804;p67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05" name="Google Shape;805;p67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06" name="Google Shape;806;p67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67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6 Summary 2">
  <p:cSld name="TITLE_AND_TWO_COLUMNS_1_1_5_1_2">
    <p:spTree>
      <p:nvGrpSpPr>
        <p:cNvPr id="808" name="Shape 8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9" name="Google Shape;809;p68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10" name="Google Shape;810;p68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11" name="Google Shape;811;p68"/>
          <p:cNvSpPr txBox="1"/>
          <p:nvPr>
            <p:ph idx="1" type="body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indent="-368300" lvl="1" marL="914400" rtl="0">
              <a:spcBef>
                <a:spcPts val="10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spcBef>
                <a:spcPts val="1000"/>
              </a:spcBef>
              <a:spcAft>
                <a:spcPts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indent="-368300" lvl="3" marL="1828800" rtl="0">
              <a:spcBef>
                <a:spcPts val="800"/>
              </a:spcBef>
              <a:spcAft>
                <a:spcPts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spcBef>
                <a:spcPts val="8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spcBef>
                <a:spcPts val="6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spcBef>
                <a:spcPts val="400"/>
              </a:spcBef>
              <a:spcAft>
                <a:spcPts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12" name="Google Shape;812;p68"/>
          <p:cNvSpPr txBox="1"/>
          <p:nvPr/>
        </p:nvSpPr>
        <p:spPr>
          <a:xfrm>
            <a:off x="324000" y="43825"/>
            <a:ext cx="1316700" cy="382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3" name="Google Shape;813;p68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Lexend"/>
              <a:buNone/>
              <a:defRPr b="0" sz="20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3 Projectable quiz" showMasterSp="0">
  <p:cSld name="Title Slide 3_1">
    <p:bg>
      <p:bgPr>
        <a:solidFill>
          <a:schemeClr val="lt1"/>
        </a:solidFill>
      </p:bgPr>
    </p:bg>
    <p:spTree>
      <p:nvGrpSpPr>
        <p:cNvPr id="814" name="Shape 8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5" name="Google Shape;815;p6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816" name="Google Shape;816;p69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4 Items to copy-paste">
  <p:cSld name="CUSTOM_104_1_2_1_1">
    <p:spTree>
      <p:nvGrpSpPr>
        <p:cNvPr id="817" name="Shape 8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8" name="Google Shape;818;p70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19" name="Google Shape;819;p70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0" name="Google Shape;820;p70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0" lang="en-GB" sz="16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1" name="Google Shape;821;p70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2" name="Google Shape;822;p70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3" name="Google Shape;823;p70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4" name="Google Shape;824;p70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5" name="Google Shape;825;p70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6" name="Google Shape;826;p70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i="0" sz="16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5 OGL">
  <p:cSld name="CUSTOM_5_1">
    <p:bg>
      <p:bgPr>
        <a:solidFill>
          <a:srgbClr val="BEF2BD"/>
        </a:solidFill>
      </p:bgPr>
    </p:bg>
    <p:spTree>
      <p:nvGrpSpPr>
        <p:cNvPr id="827" name="Shape 8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8" name="Google Shape;828;p7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829" name="Google Shape;829;p71"/>
          <p:cNvSpPr txBox="1"/>
          <p:nvPr>
            <p:ph idx="1" type="subTitle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Z.6 Blank">
  <p:cSld name="CUSTOM_6">
    <p:spTree>
      <p:nvGrpSpPr>
        <p:cNvPr id="830" name="Shape 8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1" name="Google Shape;831;p72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32" name="Shape 8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3" name="Google Shape;833;p7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.0 Keywords (3) 1">
  <p:cSld name="CUSTOM_3_1_2">
    <p:spTree>
      <p:nvGrpSpPr>
        <p:cNvPr id="834" name="Shape 8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Google Shape;835;p7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36" name="Google Shape;836;p74"/>
          <p:cNvPicPr preferRelativeResize="0"/>
          <p:nvPr/>
        </p:nvPicPr>
        <p:blipFill rotWithShape="1">
          <a:blip r:embed="rId2">
            <a:alphaModFix/>
          </a:blip>
          <a:srcRect b="1709" l="0" r="0" t="1699"/>
          <a:stretch/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837" name="Google Shape;837;p7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GB" sz="2000" u="none" cap="none" strike="noStrik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b="0" i="0" sz="2000" u="none" cap="none" strike="noStrik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74"/>
          <p:cNvSpPr txBox="1"/>
          <p:nvPr>
            <p:ph idx="1" type="subTitle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39" name="Google Shape;839;p74"/>
          <p:cNvSpPr txBox="1"/>
          <p:nvPr>
            <p:ph idx="2" type="subTitle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840" name="Google Shape;840;p74"/>
          <p:cNvSpPr txBox="1"/>
          <p:nvPr>
            <p:ph idx="3" type="subTitle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ts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1.xml"/><Relationship Id="rId41" Type="http://schemas.openxmlformats.org/officeDocument/2006/relationships/slideLayout" Target="../slideLayouts/slideLayout40.xml"/><Relationship Id="rId44" Type="http://schemas.openxmlformats.org/officeDocument/2006/relationships/slideLayout" Target="../slideLayouts/slideLayout43.xml"/><Relationship Id="rId43" Type="http://schemas.openxmlformats.org/officeDocument/2006/relationships/slideLayout" Target="../slideLayouts/slideLayout42.xml"/><Relationship Id="rId46" Type="http://schemas.openxmlformats.org/officeDocument/2006/relationships/slideLayout" Target="../slideLayouts/slideLayout45.xml"/><Relationship Id="rId45" Type="http://schemas.openxmlformats.org/officeDocument/2006/relationships/slideLayout" Target="../slideLayouts/slideLayout44.xml"/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48" Type="http://schemas.openxmlformats.org/officeDocument/2006/relationships/slideLayout" Target="../slideLayouts/slideLayout47.xml"/><Relationship Id="rId47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73" Type="http://schemas.openxmlformats.org/officeDocument/2006/relationships/slideLayout" Target="../slideLayouts/slideLayout72.xml"/><Relationship Id="rId72" Type="http://schemas.openxmlformats.org/officeDocument/2006/relationships/slideLayout" Target="../slideLayouts/slideLayout71.xml"/><Relationship Id="rId31" Type="http://schemas.openxmlformats.org/officeDocument/2006/relationships/slideLayout" Target="../slideLayouts/slideLayout30.xml"/><Relationship Id="rId75" Type="http://schemas.openxmlformats.org/officeDocument/2006/relationships/theme" Target="../theme/theme1.xml"/><Relationship Id="rId30" Type="http://schemas.openxmlformats.org/officeDocument/2006/relationships/slideLayout" Target="../slideLayouts/slideLayout29.xml"/><Relationship Id="rId74" Type="http://schemas.openxmlformats.org/officeDocument/2006/relationships/slideLayout" Target="../slideLayouts/slideLayout73.xml"/><Relationship Id="rId33" Type="http://schemas.openxmlformats.org/officeDocument/2006/relationships/slideLayout" Target="../slideLayouts/slideLayout32.xml"/><Relationship Id="rId32" Type="http://schemas.openxmlformats.org/officeDocument/2006/relationships/slideLayout" Target="../slideLayouts/slideLayout31.xml"/><Relationship Id="rId35" Type="http://schemas.openxmlformats.org/officeDocument/2006/relationships/slideLayout" Target="../slideLayouts/slideLayout34.xml"/><Relationship Id="rId34" Type="http://schemas.openxmlformats.org/officeDocument/2006/relationships/slideLayout" Target="../slideLayouts/slideLayout33.xml"/><Relationship Id="rId71" Type="http://schemas.openxmlformats.org/officeDocument/2006/relationships/slideLayout" Target="../slideLayouts/slideLayout70.xml"/><Relationship Id="rId70" Type="http://schemas.openxmlformats.org/officeDocument/2006/relationships/slideLayout" Target="../slideLayouts/slideLayout69.xml"/><Relationship Id="rId37" Type="http://schemas.openxmlformats.org/officeDocument/2006/relationships/slideLayout" Target="../slideLayouts/slideLayout36.xml"/><Relationship Id="rId36" Type="http://schemas.openxmlformats.org/officeDocument/2006/relationships/slideLayout" Target="../slideLayouts/slideLayout35.xml"/><Relationship Id="rId39" Type="http://schemas.openxmlformats.org/officeDocument/2006/relationships/slideLayout" Target="../slideLayouts/slideLayout38.xml"/><Relationship Id="rId38" Type="http://schemas.openxmlformats.org/officeDocument/2006/relationships/slideLayout" Target="../slideLayouts/slideLayout37.xml"/><Relationship Id="rId62" Type="http://schemas.openxmlformats.org/officeDocument/2006/relationships/slideLayout" Target="../slideLayouts/slideLayout61.xml"/><Relationship Id="rId61" Type="http://schemas.openxmlformats.org/officeDocument/2006/relationships/slideLayout" Target="../slideLayouts/slideLayout60.xml"/><Relationship Id="rId20" Type="http://schemas.openxmlformats.org/officeDocument/2006/relationships/slideLayout" Target="../slideLayouts/slideLayout19.xml"/><Relationship Id="rId64" Type="http://schemas.openxmlformats.org/officeDocument/2006/relationships/slideLayout" Target="../slideLayouts/slideLayout63.xml"/><Relationship Id="rId63" Type="http://schemas.openxmlformats.org/officeDocument/2006/relationships/slideLayout" Target="../slideLayouts/slideLayout62.xml"/><Relationship Id="rId22" Type="http://schemas.openxmlformats.org/officeDocument/2006/relationships/slideLayout" Target="../slideLayouts/slideLayout21.xml"/><Relationship Id="rId66" Type="http://schemas.openxmlformats.org/officeDocument/2006/relationships/slideLayout" Target="../slideLayouts/slideLayout65.xml"/><Relationship Id="rId21" Type="http://schemas.openxmlformats.org/officeDocument/2006/relationships/slideLayout" Target="../slideLayouts/slideLayout20.xml"/><Relationship Id="rId65" Type="http://schemas.openxmlformats.org/officeDocument/2006/relationships/slideLayout" Target="../slideLayouts/slideLayout64.xml"/><Relationship Id="rId24" Type="http://schemas.openxmlformats.org/officeDocument/2006/relationships/slideLayout" Target="../slideLayouts/slideLayout23.xml"/><Relationship Id="rId68" Type="http://schemas.openxmlformats.org/officeDocument/2006/relationships/slideLayout" Target="../slideLayouts/slideLayout67.xml"/><Relationship Id="rId23" Type="http://schemas.openxmlformats.org/officeDocument/2006/relationships/slideLayout" Target="../slideLayouts/slideLayout22.xml"/><Relationship Id="rId67" Type="http://schemas.openxmlformats.org/officeDocument/2006/relationships/slideLayout" Target="../slideLayouts/slideLayout66.xml"/><Relationship Id="rId60" Type="http://schemas.openxmlformats.org/officeDocument/2006/relationships/slideLayout" Target="../slideLayouts/slideLayout59.xml"/><Relationship Id="rId26" Type="http://schemas.openxmlformats.org/officeDocument/2006/relationships/slideLayout" Target="../slideLayouts/slideLayout25.xml"/><Relationship Id="rId25" Type="http://schemas.openxmlformats.org/officeDocument/2006/relationships/slideLayout" Target="../slideLayouts/slideLayout24.xml"/><Relationship Id="rId69" Type="http://schemas.openxmlformats.org/officeDocument/2006/relationships/slideLayout" Target="../slideLayouts/slideLayout68.xml"/><Relationship Id="rId28" Type="http://schemas.openxmlformats.org/officeDocument/2006/relationships/slideLayout" Target="../slideLayouts/slideLayout27.xml"/><Relationship Id="rId27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8.xml"/><Relationship Id="rId51" Type="http://schemas.openxmlformats.org/officeDocument/2006/relationships/slideLayout" Target="../slideLayouts/slideLayout50.xml"/><Relationship Id="rId50" Type="http://schemas.openxmlformats.org/officeDocument/2006/relationships/slideLayout" Target="../slideLayouts/slideLayout49.xml"/><Relationship Id="rId53" Type="http://schemas.openxmlformats.org/officeDocument/2006/relationships/slideLayout" Target="../slideLayouts/slideLayout52.xml"/><Relationship Id="rId52" Type="http://schemas.openxmlformats.org/officeDocument/2006/relationships/slideLayout" Target="../slideLayouts/slideLayout51.xml"/><Relationship Id="rId11" Type="http://schemas.openxmlformats.org/officeDocument/2006/relationships/slideLayout" Target="../slideLayouts/slideLayout10.xml"/><Relationship Id="rId5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9.xml"/><Relationship Id="rId54" Type="http://schemas.openxmlformats.org/officeDocument/2006/relationships/slideLayout" Target="../slideLayouts/slideLayout53.xml"/><Relationship Id="rId13" Type="http://schemas.openxmlformats.org/officeDocument/2006/relationships/slideLayout" Target="../slideLayouts/slideLayout12.xml"/><Relationship Id="rId57" Type="http://schemas.openxmlformats.org/officeDocument/2006/relationships/slideLayout" Target="../slideLayouts/slideLayout56.xml"/><Relationship Id="rId12" Type="http://schemas.openxmlformats.org/officeDocument/2006/relationships/slideLayout" Target="../slideLayouts/slideLayout11.xml"/><Relationship Id="rId56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14.xml"/><Relationship Id="rId59" Type="http://schemas.openxmlformats.org/officeDocument/2006/relationships/slideLayout" Target="../slideLayouts/slideLayout58.xml"/><Relationship Id="rId14" Type="http://schemas.openxmlformats.org/officeDocument/2006/relationships/slideLayout" Target="../slideLayouts/slideLayout13.xml"/><Relationship Id="rId58" Type="http://schemas.openxmlformats.org/officeDocument/2006/relationships/slideLayout" Target="../slideLayouts/slideLayout57.xml"/><Relationship Id="rId17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15.xml"/><Relationship Id="rId19" Type="http://schemas.openxmlformats.org/officeDocument/2006/relationships/slideLayout" Target="../slideLayouts/slideLayout18.xml"/><Relationship Id="rId1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68300" lvl="0" marL="457200" rtl="0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61950" lvl="1" marL="9144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55600" lvl="2" marL="1371600" rtl="0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49250" lvl="3" marL="18288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42900" lvl="4" marL="2286000" rtl="0">
              <a:lnSpc>
                <a:spcPct val="13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42900" lvl="5" marL="27432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42900" lvl="6" marL="3200400" rtl="0">
              <a:lnSpc>
                <a:spcPct val="13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42900" lvl="7" marL="3657600" rtl="0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42900" lvl="8" marL="41148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  <p:sldLayoutId id="2147483703" r:id="rId57"/>
    <p:sldLayoutId id="2147483704" r:id="rId58"/>
    <p:sldLayoutId id="2147483705" r:id="rId59"/>
    <p:sldLayoutId id="2147483706" r:id="rId60"/>
    <p:sldLayoutId id="2147483707" r:id="rId61"/>
    <p:sldLayoutId id="2147483708" r:id="rId62"/>
    <p:sldLayoutId id="2147483709" r:id="rId63"/>
    <p:sldLayoutId id="2147483710" r:id="rId64"/>
    <p:sldLayoutId id="2147483711" r:id="rId65"/>
    <p:sldLayoutId id="2147483712" r:id="rId66"/>
    <p:sldLayoutId id="2147483713" r:id="rId67"/>
    <p:sldLayoutId id="2147483714" r:id="rId68"/>
    <p:sldLayoutId id="2147483715" r:id="rId69"/>
    <p:sldLayoutId id="2147483716" r:id="rId70"/>
    <p:sldLayoutId id="2147483717" r:id="rId71"/>
    <p:sldLayoutId id="2147483718" r:id="rId72"/>
    <p:sldLayoutId id="2147483719" r:id="rId73"/>
    <p:sldLayoutId id="2147483720" r:id="rId7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3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3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3.png"/><Relationship Id="rId4" Type="http://schemas.openxmlformats.org/officeDocument/2006/relationships/image" Target="../media/image71.png"/><Relationship Id="rId5" Type="http://schemas.openxmlformats.org/officeDocument/2006/relationships/image" Target="../media/image72.png"/><Relationship Id="rId6" Type="http://schemas.openxmlformats.org/officeDocument/2006/relationships/image" Target="../media/image7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7.png"/><Relationship Id="rId4" Type="http://schemas.openxmlformats.org/officeDocument/2006/relationships/image" Target="../media/image7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7.png"/><Relationship Id="rId4" Type="http://schemas.openxmlformats.org/officeDocument/2006/relationships/image" Target="../media/image78.png"/><Relationship Id="rId5" Type="http://schemas.openxmlformats.org/officeDocument/2006/relationships/image" Target="../media/image7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7.png"/><Relationship Id="rId4" Type="http://schemas.openxmlformats.org/officeDocument/2006/relationships/image" Target="../media/image7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7.png"/><Relationship Id="rId4" Type="http://schemas.openxmlformats.org/officeDocument/2006/relationships/image" Target="../media/image7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82.png"/><Relationship Id="rId4" Type="http://schemas.openxmlformats.org/officeDocument/2006/relationships/image" Target="../media/image73.png"/><Relationship Id="rId5" Type="http://schemas.openxmlformats.org/officeDocument/2006/relationships/image" Target="../media/image7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2.png"/><Relationship Id="rId4" Type="http://schemas.openxmlformats.org/officeDocument/2006/relationships/image" Target="../media/image7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0.png"/><Relationship Id="rId4" Type="http://schemas.openxmlformats.org/officeDocument/2006/relationships/image" Target="../media/image8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9.png"/><Relationship Id="rId4" Type="http://schemas.openxmlformats.org/officeDocument/2006/relationships/image" Target="../media/image81.png"/><Relationship Id="rId5" Type="http://schemas.openxmlformats.org/officeDocument/2006/relationships/image" Target="../media/image8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3.png"/><Relationship Id="rId4" Type="http://schemas.openxmlformats.org/officeDocument/2006/relationships/image" Target="../media/image79.png"/><Relationship Id="rId5" Type="http://schemas.openxmlformats.org/officeDocument/2006/relationships/image" Target="../media/image7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3.png"/><Relationship Id="rId4" Type="http://schemas.openxmlformats.org/officeDocument/2006/relationships/image" Target="../media/image79.png"/><Relationship Id="rId5" Type="http://schemas.openxmlformats.org/officeDocument/2006/relationships/image" Target="../media/image7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83.png"/><Relationship Id="rId4" Type="http://schemas.openxmlformats.org/officeDocument/2006/relationships/image" Target="../media/image7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83.png"/><Relationship Id="rId4" Type="http://schemas.openxmlformats.org/officeDocument/2006/relationships/image" Target="../media/image73.png"/><Relationship Id="rId5" Type="http://schemas.openxmlformats.org/officeDocument/2006/relationships/image" Target="../media/image71.png"/><Relationship Id="rId6" Type="http://schemas.openxmlformats.org/officeDocument/2006/relationships/image" Target="../media/image7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89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9.png"/><Relationship Id="rId4" Type="http://schemas.openxmlformats.org/officeDocument/2006/relationships/image" Target="../media/image88.png"/><Relationship Id="rId5" Type="http://schemas.openxmlformats.org/officeDocument/2006/relationships/image" Target="../media/image87.png"/><Relationship Id="rId6" Type="http://schemas.openxmlformats.org/officeDocument/2006/relationships/image" Target="../media/image9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0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89.png"/><Relationship Id="rId4" Type="http://schemas.openxmlformats.org/officeDocument/2006/relationships/image" Target="../media/image92.png"/><Relationship Id="rId5" Type="http://schemas.openxmlformats.org/officeDocument/2006/relationships/image" Target="../media/image7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9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4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93.png"/><Relationship Id="rId4" Type="http://schemas.openxmlformats.org/officeDocument/2006/relationships/image" Target="../media/image91.png"/><Relationship Id="rId5" Type="http://schemas.openxmlformats.org/officeDocument/2006/relationships/image" Target="../media/image94.png"/><Relationship Id="rId6" Type="http://schemas.openxmlformats.org/officeDocument/2006/relationships/image" Target="../media/image95.png"/><Relationship Id="rId7" Type="http://schemas.openxmlformats.org/officeDocument/2006/relationships/image" Target="../media/image9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79.png"/><Relationship Id="rId4" Type="http://schemas.openxmlformats.org/officeDocument/2006/relationships/image" Target="../media/image9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96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7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74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8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98.png"/><Relationship Id="rId4" Type="http://schemas.openxmlformats.org/officeDocument/2006/relationships/image" Target="../media/image74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79.png"/><Relationship Id="rId4" Type="http://schemas.openxmlformats.org/officeDocument/2006/relationships/image" Target="../media/image9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9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71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74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98.png"/><Relationship Id="rId4" Type="http://schemas.openxmlformats.org/officeDocument/2006/relationships/image" Target="../media/image74.png"/><Relationship Id="rId5" Type="http://schemas.openxmlformats.org/officeDocument/2006/relationships/image" Target="../media/image9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98.png"/><Relationship Id="rId4" Type="http://schemas.openxmlformats.org/officeDocument/2006/relationships/image" Target="../media/image74.png"/><Relationship Id="rId5" Type="http://schemas.openxmlformats.org/officeDocument/2006/relationships/image" Target="../media/image97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69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72.png"/><Relationship Id="rId4" Type="http://schemas.openxmlformats.org/officeDocument/2006/relationships/image" Target="../media/image73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72.png"/><Relationship Id="rId4" Type="http://schemas.openxmlformats.org/officeDocument/2006/relationships/image" Target="../media/image73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72.png"/><Relationship Id="rId4" Type="http://schemas.openxmlformats.org/officeDocument/2006/relationships/image" Target="../media/image73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5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9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103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3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6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59.xml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Relationship Id="rId5" Type="http://schemas.openxmlformats.org/officeDocument/2006/relationships/image" Target="../media/image10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4" name="Shape 8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5" name="Google Shape;845;p7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Sports coaching</a:t>
            </a:r>
            <a:endParaRPr/>
          </a:p>
        </p:txBody>
      </p:sp>
      <p:sp>
        <p:nvSpPr>
          <p:cNvPr id="846" name="Google Shape;846;p75"/>
          <p:cNvSpPr txBox="1"/>
          <p:nvPr>
            <p:ph idx="1" type="subTitle"/>
          </p:nvPr>
        </p:nvSpPr>
        <p:spPr>
          <a:xfrm>
            <a:off x="966425" y="4327975"/>
            <a:ext cx="5942400" cy="66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Maths in the workplace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850" name="Shape 8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1" name="Google Shape;851;p76"/>
          <p:cNvSpPr txBox="1"/>
          <p:nvPr/>
        </p:nvSpPr>
        <p:spPr>
          <a:xfrm>
            <a:off x="4917900" y="956025"/>
            <a:ext cx="3661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How our teaching resources are designed for the classroom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5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p77"/>
          <p:cNvSpPr txBox="1"/>
          <p:nvPr>
            <p:ph idx="1" type="subTitle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 can understand how maths is used by sports coaches.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0" name="Shape 8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1" name="Google Shape;861;p78"/>
          <p:cNvSpPr txBox="1"/>
          <p:nvPr/>
        </p:nvSpPr>
        <p:spPr>
          <a:xfrm>
            <a:off x="383150" y="836400"/>
            <a:ext cx="8436900" cy="10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Data are a collection of information.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average is a single number expressing the central or typical value in a set of data; the mode, the median, and the mean.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p7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Recording and using data</a:t>
            </a:r>
            <a:endParaRPr/>
          </a:p>
        </p:txBody>
      </p:sp>
      <p:sp>
        <p:nvSpPr>
          <p:cNvPr id="867" name="Google Shape;867;p79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data to plan </a:t>
            </a:r>
            <a:r>
              <a:rPr lang="en-GB"/>
              <a:t>training sessions</a:t>
            </a:r>
            <a:endParaRPr/>
          </a:p>
        </p:txBody>
      </p:sp>
      <p:sp>
        <p:nvSpPr>
          <p:cNvPr id="868" name="Google Shape;868;p79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Sports coaching</a:t>
            </a:r>
            <a:endParaRPr/>
          </a:p>
        </p:txBody>
      </p:sp>
      <p:pic>
        <p:nvPicPr>
          <p:cNvPr id="869" name="Google Shape;869;p7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337" y="2065852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3" name="Shape 8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Google Shape;874;p80"/>
          <p:cNvSpPr txBox="1"/>
          <p:nvPr>
            <p:ph idx="1" type="body"/>
          </p:nvPr>
        </p:nvSpPr>
        <p:spPr>
          <a:xfrm>
            <a:off x="324000" y="759300"/>
            <a:ext cx="8237700" cy="4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Sports coaches use </a:t>
            </a:r>
            <a:r>
              <a:rPr lang="en-GB"/>
              <a:t>a lot</a:t>
            </a:r>
            <a:r>
              <a:rPr lang="en-GB"/>
              <a:t> of mathematics in their work. One thing they do an awful lot of is </a:t>
            </a:r>
            <a:r>
              <a:rPr lang="en-GB">
                <a:solidFill>
                  <a:schemeClr val="accent4"/>
                </a:solidFill>
              </a:rPr>
              <a:t>measuring</a:t>
            </a:r>
            <a:r>
              <a:rPr lang="en-GB"/>
              <a:t>!</a:t>
            </a:r>
            <a:endParaRPr/>
          </a:p>
        </p:txBody>
      </p:sp>
      <p:sp>
        <p:nvSpPr>
          <p:cNvPr id="875" name="Google Shape;875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Recording and using data</a:t>
            </a:r>
            <a:endParaRPr/>
          </a:p>
        </p:txBody>
      </p:sp>
      <p:pic>
        <p:nvPicPr>
          <p:cNvPr id="876" name="Google Shape;876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226" y="2547802"/>
            <a:ext cx="890608" cy="999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77" name="Google Shape;877;p8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83717" y="1822209"/>
            <a:ext cx="901142" cy="999679"/>
          </a:xfrm>
          <a:prstGeom prst="rect">
            <a:avLst/>
          </a:prstGeom>
          <a:noFill/>
          <a:ln>
            <a:noFill/>
          </a:ln>
        </p:spPr>
      </p:pic>
      <p:sp>
        <p:nvSpPr>
          <p:cNvPr id="878" name="Google Shape;878;p80"/>
          <p:cNvSpPr txBox="1"/>
          <p:nvPr/>
        </p:nvSpPr>
        <p:spPr>
          <a:xfrm>
            <a:off x="233356" y="3543107"/>
            <a:ext cx="1560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Coach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9" name="Google Shape;879;p80"/>
          <p:cNvSpPr txBox="1"/>
          <p:nvPr/>
        </p:nvSpPr>
        <p:spPr>
          <a:xfrm>
            <a:off x="7045251" y="2845800"/>
            <a:ext cx="1560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Sporty </a:t>
            </a: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80" name="Google Shape;880;p8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225" y="1688475"/>
            <a:ext cx="5826174" cy="764375"/>
          </a:xfrm>
          <a:prstGeom prst="rect">
            <a:avLst/>
          </a:prstGeom>
          <a:noFill/>
          <a:ln>
            <a:noFill/>
          </a:ln>
        </p:spPr>
      </p:pic>
      <p:sp>
        <p:nvSpPr>
          <p:cNvPr id="881" name="Google Shape;881;p80"/>
          <p:cNvSpPr txBox="1"/>
          <p:nvPr>
            <p:ph idx="1" type="body"/>
          </p:nvPr>
        </p:nvSpPr>
        <p:spPr>
          <a:xfrm>
            <a:off x="781200" y="1749900"/>
            <a:ext cx="5475600" cy="4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Well done Sofia! You did that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800</a:t>
            </a:r>
            <a:r>
              <a:rPr lang="en-GB"/>
              <a:t> in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:16</a:t>
            </a:r>
            <a:endParaRPr/>
          </a:p>
        </p:txBody>
      </p:sp>
      <p:sp>
        <p:nvSpPr>
          <p:cNvPr id="882" name="Google Shape;882;p80"/>
          <p:cNvSpPr txBox="1"/>
          <p:nvPr>
            <p:ph idx="1" type="body"/>
          </p:nvPr>
        </p:nvSpPr>
        <p:spPr>
          <a:xfrm>
            <a:off x="3512893" y="3174687"/>
            <a:ext cx="1508100" cy="23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m</a:t>
            </a:r>
            <a:r>
              <a:rPr lang="en-GB" sz="2000"/>
              <a:t>easure of distance.</a:t>
            </a:r>
            <a:endParaRPr sz="2000"/>
          </a:p>
        </p:txBody>
      </p:sp>
      <p:sp>
        <p:nvSpPr>
          <p:cNvPr id="883" name="Google Shape;883;p80"/>
          <p:cNvSpPr txBox="1"/>
          <p:nvPr>
            <p:ph idx="1" type="body"/>
          </p:nvPr>
        </p:nvSpPr>
        <p:spPr>
          <a:xfrm>
            <a:off x="5722693" y="3174687"/>
            <a:ext cx="1508100" cy="234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 measure of time.</a:t>
            </a:r>
            <a:endParaRPr sz="2000"/>
          </a:p>
        </p:txBody>
      </p:sp>
      <p:cxnSp>
        <p:nvCxnSpPr>
          <p:cNvPr id="884" name="Google Shape;884;p80"/>
          <p:cNvCxnSpPr/>
          <p:nvPr/>
        </p:nvCxnSpPr>
        <p:spPr>
          <a:xfrm flipH="1" rot="10800000">
            <a:off x="4490750" y="2264587"/>
            <a:ext cx="391200" cy="828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885" name="Google Shape;885;p80"/>
          <p:cNvCxnSpPr/>
          <p:nvPr/>
        </p:nvCxnSpPr>
        <p:spPr>
          <a:xfrm rot="10800000">
            <a:off x="5902573" y="2264637"/>
            <a:ext cx="218100" cy="813300"/>
          </a:xfrm>
          <a:prstGeom prst="straightConnector1">
            <a:avLst/>
          </a:prstGeom>
          <a:noFill/>
          <a:ln cap="flat" cmpd="sng" w="28575">
            <a:solidFill>
              <a:schemeClr val="accent4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81"/>
          <p:cNvSpPr txBox="1"/>
          <p:nvPr>
            <p:ph idx="1" type="body"/>
          </p:nvPr>
        </p:nvSpPr>
        <p:spPr>
          <a:xfrm>
            <a:off x="324000" y="759300"/>
            <a:ext cx="8496000" cy="68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 fact, s</a:t>
            </a:r>
            <a:r>
              <a:rPr lang="en-GB"/>
              <a:t>ports coaches and athletes are so familiar with their </a:t>
            </a:r>
            <a:r>
              <a:rPr lang="en-GB">
                <a:solidFill>
                  <a:schemeClr val="accent4"/>
                </a:solidFill>
              </a:rPr>
              <a:t>measures</a:t>
            </a:r>
            <a:r>
              <a:rPr lang="en-GB"/>
              <a:t> they automatically know what </a:t>
            </a:r>
            <a:r>
              <a:rPr lang="en-GB">
                <a:solidFill>
                  <a:schemeClr val="accent4"/>
                </a:solidFill>
              </a:rPr>
              <a:t>units </a:t>
            </a:r>
            <a:r>
              <a:rPr lang="en-GB"/>
              <a:t>are being used.</a:t>
            </a:r>
            <a:endParaRPr/>
          </a:p>
        </p:txBody>
      </p:sp>
      <p:sp>
        <p:nvSpPr>
          <p:cNvPr id="891" name="Google Shape;891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Recording and using data</a:t>
            </a:r>
            <a:endParaRPr/>
          </a:p>
        </p:txBody>
      </p:sp>
      <p:pic>
        <p:nvPicPr>
          <p:cNvPr id="892" name="Google Shape;892;p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226" y="2547802"/>
            <a:ext cx="890608" cy="999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93" name="Google Shape;893;p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83717" y="1822209"/>
            <a:ext cx="901142" cy="999679"/>
          </a:xfrm>
          <a:prstGeom prst="rect">
            <a:avLst/>
          </a:prstGeom>
          <a:noFill/>
          <a:ln>
            <a:noFill/>
          </a:ln>
        </p:spPr>
      </p:pic>
      <p:sp>
        <p:nvSpPr>
          <p:cNvPr id="894" name="Google Shape;894;p81"/>
          <p:cNvSpPr txBox="1"/>
          <p:nvPr/>
        </p:nvSpPr>
        <p:spPr>
          <a:xfrm>
            <a:off x="233356" y="3543107"/>
            <a:ext cx="1560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Coach 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5" name="Google Shape;895;p81"/>
          <p:cNvSpPr txBox="1"/>
          <p:nvPr/>
        </p:nvSpPr>
        <p:spPr>
          <a:xfrm>
            <a:off x="7045251" y="2845800"/>
            <a:ext cx="1560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Sporty 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96" name="Google Shape;896;p8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225" y="1688475"/>
            <a:ext cx="5826174" cy="764375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81"/>
          <p:cNvSpPr txBox="1"/>
          <p:nvPr>
            <p:ph idx="1" type="body"/>
          </p:nvPr>
        </p:nvSpPr>
        <p:spPr>
          <a:xfrm>
            <a:off x="781200" y="1749900"/>
            <a:ext cx="5475600" cy="4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Well done Sofia! You did that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800</a:t>
            </a:r>
            <a:r>
              <a:rPr lang="en-GB"/>
              <a:t> in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2:16</a:t>
            </a:r>
            <a:endParaRPr/>
          </a:p>
        </p:txBody>
      </p:sp>
      <p:sp>
        <p:nvSpPr>
          <p:cNvPr id="898" name="Google Shape;898;p81"/>
          <p:cNvSpPr txBox="1"/>
          <p:nvPr>
            <p:ph idx="1" type="body"/>
          </p:nvPr>
        </p:nvSpPr>
        <p:spPr>
          <a:xfrm>
            <a:off x="324000" y="4188300"/>
            <a:ext cx="8237700" cy="4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What units do you think Coach Lucas is using here?</a:t>
            </a:r>
            <a:endParaRPr/>
          </a:p>
        </p:txBody>
      </p:sp>
      <p:sp>
        <p:nvSpPr>
          <p:cNvPr id="899" name="Google Shape;899;p81"/>
          <p:cNvSpPr txBox="1"/>
          <p:nvPr>
            <p:ph idx="1" type="body"/>
          </p:nvPr>
        </p:nvSpPr>
        <p:spPr>
          <a:xfrm>
            <a:off x="4785280" y="2401180"/>
            <a:ext cx="1560600" cy="4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800</a:t>
            </a:r>
            <a:r>
              <a:rPr lang="en-GB"/>
              <a:t> metres</a:t>
            </a:r>
            <a:endParaRPr/>
          </a:p>
        </p:txBody>
      </p:sp>
      <p:sp>
        <p:nvSpPr>
          <p:cNvPr id="900" name="Google Shape;900;p81"/>
          <p:cNvSpPr txBox="1"/>
          <p:nvPr>
            <p:ph idx="1" type="body"/>
          </p:nvPr>
        </p:nvSpPr>
        <p:spPr>
          <a:xfrm>
            <a:off x="4785280" y="2858380"/>
            <a:ext cx="1560600" cy="4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/>
              <a:t> minutes</a:t>
            </a:r>
            <a:endParaRPr/>
          </a:p>
        </p:txBody>
      </p:sp>
      <p:sp>
        <p:nvSpPr>
          <p:cNvPr id="901" name="Google Shape;901;p81"/>
          <p:cNvSpPr txBox="1"/>
          <p:nvPr>
            <p:ph idx="1" type="body"/>
          </p:nvPr>
        </p:nvSpPr>
        <p:spPr>
          <a:xfrm>
            <a:off x="4785280" y="3315580"/>
            <a:ext cx="1560600" cy="42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16</a:t>
            </a:r>
            <a:r>
              <a:rPr lang="en-GB"/>
              <a:t> seconds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5" name="Shape 9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6" name="Google Shape;906;p82"/>
          <p:cNvSpPr txBox="1"/>
          <p:nvPr>
            <p:ph idx="1" type="body"/>
          </p:nvPr>
        </p:nvSpPr>
        <p:spPr>
          <a:xfrm>
            <a:off x="324000" y="759300"/>
            <a:ext cx="6640800" cy="3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</a:t>
            </a:r>
            <a:r>
              <a:rPr lang="en-GB"/>
              <a:t>hat </a:t>
            </a:r>
            <a:r>
              <a:rPr lang="en-GB">
                <a:solidFill>
                  <a:schemeClr val="accent4"/>
                </a:solidFill>
              </a:rPr>
              <a:t>units </a:t>
            </a:r>
            <a:r>
              <a:rPr lang="en-GB"/>
              <a:t>is Coach Lucas</a:t>
            </a:r>
            <a:r>
              <a:rPr lang="en-GB"/>
              <a:t> talking about here?</a:t>
            </a:r>
            <a:endParaRPr/>
          </a:p>
        </p:txBody>
      </p:sp>
      <p:sp>
        <p:nvSpPr>
          <p:cNvPr id="907" name="Google Shape;907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Recording and using data</a:t>
            </a:r>
            <a:endParaRPr/>
          </a:p>
        </p:txBody>
      </p:sp>
      <p:pic>
        <p:nvPicPr>
          <p:cNvPr id="908" name="Google Shape;908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3226" y="1938202"/>
            <a:ext cx="890608" cy="999697"/>
          </a:xfrm>
          <a:prstGeom prst="rect">
            <a:avLst/>
          </a:prstGeom>
          <a:noFill/>
          <a:ln>
            <a:noFill/>
          </a:ln>
        </p:spPr>
      </p:pic>
      <p:pic>
        <p:nvPicPr>
          <p:cNvPr id="909" name="Google Shape;909;p8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83717" y="1212609"/>
            <a:ext cx="901142" cy="999679"/>
          </a:xfrm>
          <a:prstGeom prst="rect">
            <a:avLst/>
          </a:prstGeom>
          <a:noFill/>
          <a:ln>
            <a:noFill/>
          </a:ln>
        </p:spPr>
      </p:pic>
      <p:sp>
        <p:nvSpPr>
          <p:cNvPr id="910" name="Google Shape;910;p82"/>
          <p:cNvSpPr txBox="1"/>
          <p:nvPr/>
        </p:nvSpPr>
        <p:spPr>
          <a:xfrm>
            <a:off x="7255185" y="2236200"/>
            <a:ext cx="1560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Sporty 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1" name="Google Shape;911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9150" y="1212624"/>
            <a:ext cx="5880874" cy="761700"/>
          </a:xfrm>
          <a:prstGeom prst="rect">
            <a:avLst/>
          </a:prstGeom>
          <a:noFill/>
          <a:ln>
            <a:noFill/>
          </a:ln>
        </p:spPr>
      </p:pic>
      <p:sp>
        <p:nvSpPr>
          <p:cNvPr id="912" name="Google Shape;912;p82"/>
          <p:cNvSpPr txBox="1"/>
          <p:nvPr>
            <p:ph idx="1" type="body"/>
          </p:nvPr>
        </p:nvSpPr>
        <p:spPr>
          <a:xfrm>
            <a:off x="965950" y="1269300"/>
            <a:ext cx="5619000" cy="3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Well done Sofia! That long jump was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3.95</a:t>
            </a:r>
            <a:endParaRPr/>
          </a:p>
        </p:txBody>
      </p:sp>
      <p:pic>
        <p:nvPicPr>
          <p:cNvPr id="913" name="Google Shape;913;p8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 rot="10800000">
            <a:off x="807650" y="2812813"/>
            <a:ext cx="6295126" cy="13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914" name="Google Shape;914;p82"/>
          <p:cNvSpPr txBox="1"/>
          <p:nvPr>
            <p:ph idx="1" type="body"/>
          </p:nvPr>
        </p:nvSpPr>
        <p:spPr>
          <a:xfrm>
            <a:off x="965950" y="3250500"/>
            <a:ext cx="6136800" cy="761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Well done Aisha! You ran that half marathon in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1:57</a:t>
            </a:r>
            <a:r>
              <a:rPr lang="en-GB"/>
              <a:t> That is an average speed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7 mph</a:t>
            </a:r>
            <a:endParaRPr/>
          </a:p>
        </p:txBody>
      </p:sp>
      <p:sp>
        <p:nvSpPr>
          <p:cNvPr id="915" name="Google Shape;915;p82"/>
          <p:cNvSpPr txBox="1"/>
          <p:nvPr/>
        </p:nvSpPr>
        <p:spPr>
          <a:xfrm>
            <a:off x="7255185" y="3924107"/>
            <a:ext cx="1560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Athletic Aisha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6" name="Google Shape;916;p82"/>
          <p:cNvSpPr/>
          <p:nvPr/>
        </p:nvSpPr>
        <p:spPr>
          <a:xfrm>
            <a:off x="5986625" y="3722945"/>
            <a:ext cx="598200" cy="3135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28575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17" name="Google Shape;917;p82"/>
          <p:cNvSpPr txBox="1"/>
          <p:nvPr>
            <p:ph idx="1" type="body"/>
          </p:nvPr>
        </p:nvSpPr>
        <p:spPr>
          <a:xfrm>
            <a:off x="5309350" y="1832873"/>
            <a:ext cx="1560600" cy="3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3.95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metres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8" name="Google Shape;918;p82"/>
          <p:cNvSpPr txBox="1"/>
          <p:nvPr>
            <p:ph idx="1" type="body"/>
          </p:nvPr>
        </p:nvSpPr>
        <p:spPr>
          <a:xfrm>
            <a:off x="5317445" y="2290075"/>
            <a:ext cx="18120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metres,</a:t>
            </a:r>
            <a:endParaRPr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95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centimetres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19" name="Google Shape;919;p82"/>
          <p:cNvSpPr txBox="1"/>
          <p:nvPr>
            <p:ph idx="1" type="body"/>
          </p:nvPr>
        </p:nvSpPr>
        <p:spPr>
          <a:xfrm>
            <a:off x="1299812" y="4195075"/>
            <a:ext cx="23013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hour,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57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minutes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20" name="Google Shape;920;p82"/>
          <p:cNvSpPr txBox="1"/>
          <p:nvPr>
            <p:ph idx="1" type="body"/>
          </p:nvPr>
        </p:nvSpPr>
        <p:spPr>
          <a:xfrm>
            <a:off x="4728801" y="4195075"/>
            <a:ext cx="20748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miles per hour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921" name="Google Shape;921;p8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flipH="1">
            <a:off x="7743543" y="2701798"/>
            <a:ext cx="660713" cy="12475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5" name="Shape 9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6" name="Google Shape;926;p83"/>
          <p:cNvSpPr txBox="1"/>
          <p:nvPr>
            <p:ph idx="1" type="body"/>
          </p:nvPr>
        </p:nvSpPr>
        <p:spPr>
          <a:xfrm>
            <a:off x="324000" y="759300"/>
            <a:ext cx="4248000" cy="40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Traditionally coaches have used devices like </a:t>
            </a:r>
            <a:r>
              <a:rPr lang="en-GB"/>
              <a:t>stopwatches</a:t>
            </a:r>
            <a:r>
              <a:rPr lang="en-GB"/>
              <a:t> to record performances.</a:t>
            </a:r>
            <a:endParaRPr/>
          </a:p>
        </p:txBody>
      </p:sp>
      <p:sp>
        <p:nvSpPr>
          <p:cNvPr id="927" name="Google Shape;927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Recording and using data</a:t>
            </a:r>
            <a:endParaRPr/>
          </a:p>
        </p:txBody>
      </p:sp>
      <p:sp>
        <p:nvSpPr>
          <p:cNvPr id="928" name="Google Shape;928;p83"/>
          <p:cNvSpPr txBox="1"/>
          <p:nvPr>
            <p:ph idx="1" type="body"/>
          </p:nvPr>
        </p:nvSpPr>
        <p:spPr>
          <a:xfrm>
            <a:off x="324000" y="2130900"/>
            <a:ext cx="4248000" cy="40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These devices gave us limited information and it all had to be written down.</a:t>
            </a:r>
            <a:endParaRPr/>
          </a:p>
        </p:txBody>
      </p:sp>
      <p:pic>
        <p:nvPicPr>
          <p:cNvPr id="929" name="Google Shape;929;p83"/>
          <p:cNvPicPr preferRelativeResize="0"/>
          <p:nvPr/>
        </p:nvPicPr>
        <p:blipFill rotWithShape="1">
          <a:blip r:embed="rId3">
            <a:alphaModFix/>
          </a:blip>
          <a:srcRect b="20968" l="48340" r="11040" t="5996"/>
          <a:stretch/>
        </p:blipFill>
        <p:spPr>
          <a:xfrm>
            <a:off x="5339575" y="1259475"/>
            <a:ext cx="1900524" cy="2277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3" name="Shape 9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4" name="Google Shape;934;p8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8295" y="972839"/>
            <a:ext cx="2016276" cy="3549550"/>
          </a:xfrm>
          <a:prstGeom prst="rect">
            <a:avLst/>
          </a:prstGeom>
          <a:noFill/>
          <a:ln>
            <a:noFill/>
          </a:ln>
        </p:spPr>
      </p:pic>
      <p:sp>
        <p:nvSpPr>
          <p:cNvPr id="935" name="Google Shape;935;p84"/>
          <p:cNvSpPr txBox="1"/>
          <p:nvPr>
            <p:ph idx="1" type="body"/>
          </p:nvPr>
        </p:nvSpPr>
        <p:spPr>
          <a:xfrm>
            <a:off x="324000" y="759300"/>
            <a:ext cx="4248000" cy="69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Modern technology does </a:t>
            </a:r>
            <a:r>
              <a:rPr lang="en-GB"/>
              <a:t>a lot</a:t>
            </a:r>
            <a:r>
              <a:rPr lang="en-GB"/>
              <a:t> of </a:t>
            </a:r>
            <a:r>
              <a:rPr lang="en-GB"/>
              <a:t>the </a:t>
            </a:r>
            <a:r>
              <a:rPr lang="en-GB"/>
              <a:t>recording now.</a:t>
            </a:r>
            <a:endParaRPr/>
          </a:p>
        </p:txBody>
      </p:sp>
      <p:sp>
        <p:nvSpPr>
          <p:cNvPr id="936" name="Google Shape;936;p8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Recording and using data</a:t>
            </a:r>
            <a:endParaRPr/>
          </a:p>
        </p:txBody>
      </p:sp>
      <p:sp>
        <p:nvSpPr>
          <p:cNvPr id="937" name="Google Shape;937;p84"/>
          <p:cNvSpPr txBox="1"/>
          <p:nvPr>
            <p:ph idx="1" type="body"/>
          </p:nvPr>
        </p:nvSpPr>
        <p:spPr>
          <a:xfrm>
            <a:off x="324000" y="1673700"/>
            <a:ext cx="3950400" cy="2210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The</a:t>
            </a:r>
            <a:r>
              <a:rPr lang="en-GB"/>
              <a:t> technology records a variety of data which coaches and athletes can use to monitor their </a:t>
            </a:r>
            <a:r>
              <a:rPr lang="en-GB"/>
              <a:t>performance</a:t>
            </a:r>
            <a:r>
              <a:rPr lang="en-GB"/>
              <a:t>.</a:t>
            </a:r>
            <a:endParaRPr/>
          </a:p>
        </p:txBody>
      </p:sp>
      <p:pic>
        <p:nvPicPr>
          <p:cNvPr id="938" name="Google Shape;938;p8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05600" y="1128234"/>
            <a:ext cx="2148750" cy="31871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2" name="Shape 9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3" name="Google Shape;943;p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29115" y="1319337"/>
            <a:ext cx="1363799" cy="2400886"/>
          </a:xfrm>
          <a:prstGeom prst="rect">
            <a:avLst/>
          </a:prstGeom>
          <a:noFill/>
          <a:ln>
            <a:noFill/>
          </a:ln>
        </p:spPr>
      </p:pic>
      <p:sp>
        <p:nvSpPr>
          <p:cNvPr id="944" name="Google Shape;944;p85"/>
          <p:cNvSpPr txBox="1"/>
          <p:nvPr>
            <p:ph idx="1" type="body"/>
          </p:nvPr>
        </p:nvSpPr>
        <p:spPr>
          <a:xfrm>
            <a:off x="324000" y="759300"/>
            <a:ext cx="8424300" cy="69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Which of these things do you think smart-tech can record for athletes and coaches?</a:t>
            </a:r>
            <a:endParaRPr/>
          </a:p>
        </p:txBody>
      </p:sp>
      <p:sp>
        <p:nvSpPr>
          <p:cNvPr id="945" name="Google Shape;945;p8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Recording and using data</a:t>
            </a:r>
            <a:endParaRPr/>
          </a:p>
        </p:txBody>
      </p:sp>
      <p:pic>
        <p:nvPicPr>
          <p:cNvPr id="946" name="Google Shape;946;p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4547" y="1398575"/>
            <a:ext cx="1399803" cy="2076284"/>
          </a:xfrm>
          <a:prstGeom prst="rect">
            <a:avLst/>
          </a:prstGeom>
          <a:noFill/>
          <a:ln>
            <a:noFill/>
          </a:ln>
        </p:spPr>
      </p:pic>
      <p:sp>
        <p:nvSpPr>
          <p:cNvPr id="947" name="Google Shape;947;p85"/>
          <p:cNvSpPr txBox="1"/>
          <p:nvPr>
            <p:ph idx="1" type="body"/>
          </p:nvPr>
        </p:nvSpPr>
        <p:spPr>
          <a:xfrm>
            <a:off x="324000" y="1597500"/>
            <a:ext cx="1612200" cy="3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Time taken</a:t>
            </a:r>
            <a:endParaRPr/>
          </a:p>
        </p:txBody>
      </p:sp>
      <p:sp>
        <p:nvSpPr>
          <p:cNvPr id="948" name="Google Shape;948;p85"/>
          <p:cNvSpPr txBox="1"/>
          <p:nvPr>
            <p:ph idx="1" type="body"/>
          </p:nvPr>
        </p:nvSpPr>
        <p:spPr>
          <a:xfrm>
            <a:off x="2887200" y="1597500"/>
            <a:ext cx="2478000" cy="3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Distance covered</a:t>
            </a:r>
            <a:endParaRPr/>
          </a:p>
        </p:txBody>
      </p:sp>
      <p:sp>
        <p:nvSpPr>
          <p:cNvPr id="949" name="Google Shape;949;p85"/>
          <p:cNvSpPr txBox="1"/>
          <p:nvPr>
            <p:ph idx="1" type="body"/>
          </p:nvPr>
        </p:nvSpPr>
        <p:spPr>
          <a:xfrm>
            <a:off x="324000" y="2130900"/>
            <a:ext cx="2164500" cy="3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Speed</a:t>
            </a:r>
            <a:endParaRPr/>
          </a:p>
        </p:txBody>
      </p:sp>
      <p:sp>
        <p:nvSpPr>
          <p:cNvPr id="950" name="Google Shape;950;p85"/>
          <p:cNvSpPr txBox="1"/>
          <p:nvPr>
            <p:ph idx="1" type="body"/>
          </p:nvPr>
        </p:nvSpPr>
        <p:spPr>
          <a:xfrm>
            <a:off x="2887199" y="2130900"/>
            <a:ext cx="2994000" cy="3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Average speed</a:t>
            </a:r>
            <a:endParaRPr/>
          </a:p>
        </p:txBody>
      </p:sp>
      <p:sp>
        <p:nvSpPr>
          <p:cNvPr id="951" name="Google Shape;951;p85"/>
          <p:cNvSpPr txBox="1"/>
          <p:nvPr>
            <p:ph idx="1" type="body"/>
          </p:nvPr>
        </p:nvSpPr>
        <p:spPr>
          <a:xfrm>
            <a:off x="324000" y="2664300"/>
            <a:ext cx="1612200" cy="3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Heart rate</a:t>
            </a:r>
            <a:endParaRPr/>
          </a:p>
        </p:txBody>
      </p:sp>
      <p:sp>
        <p:nvSpPr>
          <p:cNvPr id="952" name="Google Shape;952;p85"/>
          <p:cNvSpPr txBox="1"/>
          <p:nvPr>
            <p:ph idx="1" type="body"/>
          </p:nvPr>
        </p:nvSpPr>
        <p:spPr>
          <a:xfrm>
            <a:off x="2887199" y="2664300"/>
            <a:ext cx="2994000" cy="3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Average heart rate</a:t>
            </a:r>
            <a:endParaRPr/>
          </a:p>
        </p:txBody>
      </p:sp>
      <p:sp>
        <p:nvSpPr>
          <p:cNvPr id="953" name="Google Shape;953;p85"/>
          <p:cNvSpPr txBox="1"/>
          <p:nvPr>
            <p:ph idx="1" type="body"/>
          </p:nvPr>
        </p:nvSpPr>
        <p:spPr>
          <a:xfrm>
            <a:off x="324000" y="3197700"/>
            <a:ext cx="2563200" cy="3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Calories burnt</a:t>
            </a:r>
            <a:endParaRPr/>
          </a:p>
        </p:txBody>
      </p:sp>
      <p:sp>
        <p:nvSpPr>
          <p:cNvPr id="954" name="Google Shape;954;p85"/>
          <p:cNvSpPr txBox="1"/>
          <p:nvPr>
            <p:ph idx="1" type="body"/>
          </p:nvPr>
        </p:nvSpPr>
        <p:spPr>
          <a:xfrm>
            <a:off x="2887199" y="3197700"/>
            <a:ext cx="2994000" cy="33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Total hours trained</a:t>
            </a:r>
            <a:endParaRPr/>
          </a:p>
        </p:txBody>
      </p:sp>
      <p:grpSp>
        <p:nvGrpSpPr>
          <p:cNvPr id="955" name="Google Shape;955;p85"/>
          <p:cNvGrpSpPr/>
          <p:nvPr/>
        </p:nvGrpSpPr>
        <p:grpSpPr>
          <a:xfrm>
            <a:off x="5532717" y="1562466"/>
            <a:ext cx="367150" cy="2000027"/>
            <a:chOff x="5532717" y="1562466"/>
            <a:chExt cx="367150" cy="2000027"/>
          </a:xfrm>
        </p:grpSpPr>
        <p:pic>
          <p:nvPicPr>
            <p:cNvPr id="956" name="Google Shape;956;p8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532717" y="1562466"/>
              <a:ext cx="367150" cy="3885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7" name="Google Shape;957;p8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532717" y="2099617"/>
              <a:ext cx="367150" cy="3885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8" name="Google Shape;958;p8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532717" y="2636767"/>
              <a:ext cx="367150" cy="3885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59" name="Google Shape;959;p85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532717" y="3173917"/>
              <a:ext cx="367150" cy="388577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960" name="Google Shape;960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32317" y="1562466"/>
            <a:ext cx="367150" cy="388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1" name="Google Shape;961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32317" y="2099617"/>
            <a:ext cx="367150" cy="388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2" name="Google Shape;962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32317" y="2636767"/>
            <a:ext cx="367150" cy="388577"/>
          </a:xfrm>
          <a:prstGeom prst="rect">
            <a:avLst/>
          </a:prstGeom>
          <a:noFill/>
          <a:ln>
            <a:noFill/>
          </a:ln>
        </p:spPr>
      </p:pic>
      <p:pic>
        <p:nvPicPr>
          <p:cNvPr id="963" name="Google Shape;963;p8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332317" y="3173917"/>
            <a:ext cx="367150" cy="388577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85"/>
          <p:cNvSpPr txBox="1"/>
          <p:nvPr>
            <p:ph idx="1" type="body"/>
          </p:nvPr>
        </p:nvSpPr>
        <p:spPr>
          <a:xfrm>
            <a:off x="324000" y="3731100"/>
            <a:ext cx="8424300" cy="69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</a:t>
            </a:r>
            <a:r>
              <a:rPr lang="en-GB"/>
              <a:t>mart-watches/Smart-phones are smart! They give athletes and coaches </a:t>
            </a:r>
            <a:r>
              <a:rPr lang="en-GB">
                <a:solidFill>
                  <a:schemeClr val="accent4"/>
                </a:solidFill>
              </a:rPr>
              <a:t>a lot</a:t>
            </a:r>
            <a:r>
              <a:rPr lang="en-GB"/>
              <a:t> of varied data to enable the analysis and improvement of performance.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8" name="Shape 9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9" name="Google Shape;969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2233" y="1319322"/>
            <a:ext cx="1704494" cy="3000676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p86"/>
          <p:cNvSpPr txBox="1"/>
          <p:nvPr>
            <p:ph idx="1" type="body"/>
          </p:nvPr>
        </p:nvSpPr>
        <p:spPr>
          <a:xfrm>
            <a:off x="324000" y="759300"/>
            <a:ext cx="84243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 sports we encounter some units we might not have seen before.</a:t>
            </a:r>
            <a:endParaRPr/>
          </a:p>
        </p:txBody>
      </p:sp>
      <p:sp>
        <p:nvSpPr>
          <p:cNvPr id="971" name="Google Shape;971;p8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Recording and using data</a:t>
            </a:r>
            <a:endParaRPr/>
          </a:p>
        </p:txBody>
      </p:sp>
      <p:sp>
        <p:nvSpPr>
          <p:cNvPr id="972" name="Google Shape;972;p86"/>
          <p:cNvSpPr txBox="1"/>
          <p:nvPr>
            <p:ph idx="1" type="body"/>
          </p:nvPr>
        </p:nvSpPr>
        <p:spPr>
          <a:xfrm>
            <a:off x="324000" y="1597500"/>
            <a:ext cx="38217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Kcal</a:t>
            </a:r>
            <a:r>
              <a:rPr lang="en-GB"/>
              <a:t> is short for kilocalories.</a:t>
            </a:r>
            <a:endParaRPr/>
          </a:p>
        </p:txBody>
      </p:sp>
      <p:sp>
        <p:nvSpPr>
          <p:cNvPr id="973" name="Google Shape;973;p86"/>
          <p:cNvSpPr txBox="1"/>
          <p:nvPr>
            <p:ph idx="1" type="body"/>
          </p:nvPr>
        </p:nvSpPr>
        <p:spPr>
          <a:xfrm>
            <a:off x="324000" y="2130900"/>
            <a:ext cx="5121900" cy="148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A c</a:t>
            </a:r>
            <a:r>
              <a:rPr lang="en-GB"/>
              <a:t>alorie is a unit of energy that we get from food and drink. Teenagers burn between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1600</a:t>
            </a:r>
            <a:r>
              <a:rPr lang="en-GB"/>
              <a:t> and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2400</a:t>
            </a:r>
            <a:r>
              <a:rPr lang="en-GB"/>
              <a:t> every day.</a:t>
            </a:r>
            <a:endParaRPr/>
          </a:p>
        </p:txBody>
      </p:sp>
      <p:sp>
        <p:nvSpPr>
          <p:cNvPr id="974" name="Google Shape;974;p86"/>
          <p:cNvSpPr/>
          <p:nvPr/>
        </p:nvSpPr>
        <p:spPr>
          <a:xfrm>
            <a:off x="5846765" y="3100988"/>
            <a:ext cx="1193700" cy="517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5" name="Google Shape;975;p8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64264" y="1326141"/>
            <a:ext cx="901142" cy="999679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86"/>
          <p:cNvSpPr txBox="1"/>
          <p:nvPr/>
        </p:nvSpPr>
        <p:spPr>
          <a:xfrm>
            <a:off x="7335732" y="2349733"/>
            <a:ext cx="1560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Sporty 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7" name="Google Shape;977;p86"/>
          <p:cNvSpPr txBox="1"/>
          <p:nvPr>
            <p:ph idx="1" type="body"/>
          </p:nvPr>
        </p:nvSpPr>
        <p:spPr>
          <a:xfrm>
            <a:off x="324000" y="3784287"/>
            <a:ext cx="5288100" cy="76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Sofia trains at high intensity three or more times a week and factors these extra calories she needs into her diet.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1" name="Shape 9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2" name="Google Shape;982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12233" y="1319322"/>
            <a:ext cx="1704494" cy="3000676"/>
          </a:xfrm>
          <a:prstGeom prst="rect">
            <a:avLst/>
          </a:prstGeom>
          <a:noFill/>
          <a:ln>
            <a:noFill/>
          </a:ln>
        </p:spPr>
      </p:pic>
      <p:sp>
        <p:nvSpPr>
          <p:cNvPr id="983" name="Google Shape;983;p87"/>
          <p:cNvSpPr txBox="1"/>
          <p:nvPr>
            <p:ph idx="1" type="body"/>
          </p:nvPr>
        </p:nvSpPr>
        <p:spPr>
          <a:xfrm>
            <a:off x="324000" y="759300"/>
            <a:ext cx="84243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In sports we encounter some units we might not have seen before.</a:t>
            </a:r>
            <a:endParaRPr/>
          </a:p>
        </p:txBody>
      </p:sp>
      <p:sp>
        <p:nvSpPr>
          <p:cNvPr id="984" name="Google Shape;984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Recording and using data</a:t>
            </a:r>
            <a:endParaRPr/>
          </a:p>
        </p:txBody>
      </p:sp>
      <p:sp>
        <p:nvSpPr>
          <p:cNvPr id="985" name="Google Shape;985;p87"/>
          <p:cNvSpPr txBox="1"/>
          <p:nvPr>
            <p:ph idx="1" type="body"/>
          </p:nvPr>
        </p:nvSpPr>
        <p:spPr>
          <a:xfrm>
            <a:off x="324000" y="1597500"/>
            <a:ext cx="48408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b.p.m.</a:t>
            </a:r>
            <a:r>
              <a:rPr lang="en-GB"/>
              <a:t> stands for ‘Beats per minute’</a:t>
            </a:r>
            <a:endParaRPr/>
          </a:p>
        </p:txBody>
      </p:sp>
      <p:sp>
        <p:nvSpPr>
          <p:cNvPr id="986" name="Google Shape;986;p87"/>
          <p:cNvSpPr txBox="1"/>
          <p:nvPr>
            <p:ph idx="1" type="body"/>
          </p:nvPr>
        </p:nvSpPr>
        <p:spPr>
          <a:xfrm>
            <a:off x="324000" y="3045300"/>
            <a:ext cx="4500000" cy="77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Teenagers and adults will have a resting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b.p.m.</a:t>
            </a:r>
            <a:r>
              <a:rPr lang="en-GB"/>
              <a:t> of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r>
              <a:rPr lang="en-GB"/>
              <a:t> to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00</a:t>
            </a:r>
            <a:endParaRPr/>
          </a:p>
        </p:txBody>
      </p:sp>
      <p:sp>
        <p:nvSpPr>
          <p:cNvPr id="987" name="Google Shape;987;p87"/>
          <p:cNvSpPr/>
          <p:nvPr/>
        </p:nvSpPr>
        <p:spPr>
          <a:xfrm>
            <a:off x="5986625" y="2491400"/>
            <a:ext cx="1122900" cy="5178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88" name="Google Shape;988;p8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64264" y="1326141"/>
            <a:ext cx="901142" cy="999679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87"/>
          <p:cNvSpPr txBox="1"/>
          <p:nvPr/>
        </p:nvSpPr>
        <p:spPr>
          <a:xfrm>
            <a:off x="7335732" y="2349733"/>
            <a:ext cx="1560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Sporty 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0" name="Google Shape;990;p87"/>
          <p:cNvSpPr txBox="1"/>
          <p:nvPr>
            <p:ph idx="1" type="body"/>
          </p:nvPr>
        </p:nvSpPr>
        <p:spPr>
          <a:xfrm>
            <a:off x="324000" y="2130900"/>
            <a:ext cx="5121900" cy="70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is the number of times your heart beats in one minute.</a:t>
            </a:r>
            <a:endParaRPr/>
          </a:p>
        </p:txBody>
      </p:sp>
      <p:sp>
        <p:nvSpPr>
          <p:cNvPr id="991" name="Google Shape;991;p87"/>
          <p:cNvSpPr txBox="1"/>
          <p:nvPr>
            <p:ph idx="1" type="body"/>
          </p:nvPr>
        </p:nvSpPr>
        <p:spPr>
          <a:xfrm>
            <a:off x="324000" y="4035900"/>
            <a:ext cx="8079000" cy="771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Dur</a:t>
            </a:r>
            <a:r>
              <a:rPr lang="en-GB"/>
              <a:t>ing exercise your </a:t>
            </a:r>
            <a:r>
              <a:rPr lang="en-GB" sz="2400">
                <a:latin typeface="Times New Roman"/>
                <a:ea typeface="Times New Roman"/>
                <a:cs typeface="Times New Roman"/>
                <a:sym typeface="Times New Roman"/>
              </a:rPr>
              <a:t>b.p.m.</a:t>
            </a:r>
            <a:r>
              <a:rPr lang="en-GB"/>
              <a:t> increases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as your heart works hard to get oxygen to your muscles.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5" name="Shape 9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6" name="Google Shape;996;p8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3375" y="1617965"/>
            <a:ext cx="4590874" cy="2869299"/>
          </a:xfrm>
          <a:prstGeom prst="rect">
            <a:avLst/>
          </a:prstGeom>
          <a:noFill/>
          <a:ln>
            <a:noFill/>
          </a:ln>
        </p:spPr>
      </p:pic>
      <p:sp>
        <p:nvSpPr>
          <p:cNvPr id="997" name="Google Shape;997;p88"/>
          <p:cNvSpPr txBox="1"/>
          <p:nvPr>
            <p:ph idx="1" type="body"/>
          </p:nvPr>
        </p:nvSpPr>
        <p:spPr>
          <a:xfrm>
            <a:off x="324000" y="759300"/>
            <a:ext cx="8496000" cy="36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Coach Lucas is using an app which has recorded and graphed Sofia’s heart rate during a training session.</a:t>
            </a:r>
            <a:endParaRPr sz="2000"/>
          </a:p>
        </p:txBody>
      </p:sp>
      <p:sp>
        <p:nvSpPr>
          <p:cNvPr id="998" name="Google Shape;998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Recording and using data</a:t>
            </a:r>
            <a:endParaRPr/>
          </a:p>
        </p:txBody>
      </p:sp>
      <p:pic>
        <p:nvPicPr>
          <p:cNvPr id="999" name="Google Shape;999;p8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3159" y="1709600"/>
            <a:ext cx="799345" cy="89726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0" name="Google Shape;1000;p8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flipH="1">
            <a:off x="322499" y="2768156"/>
            <a:ext cx="808800" cy="897244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p88"/>
          <p:cNvSpPr txBox="1"/>
          <p:nvPr>
            <p:ph idx="1" type="body"/>
          </p:nvPr>
        </p:nvSpPr>
        <p:spPr>
          <a:xfrm>
            <a:off x="6207900" y="1562573"/>
            <a:ext cx="2505000" cy="100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When do you think Sofia was working at high intensity?</a:t>
            </a:r>
            <a:endParaRPr sz="2000"/>
          </a:p>
        </p:txBody>
      </p:sp>
      <p:sp>
        <p:nvSpPr>
          <p:cNvPr id="1002" name="Google Shape;1002;p88"/>
          <p:cNvSpPr txBox="1"/>
          <p:nvPr>
            <p:ph idx="1" type="body"/>
          </p:nvPr>
        </p:nvSpPr>
        <p:spPr>
          <a:xfrm>
            <a:off x="1761362" y="2476995"/>
            <a:ext cx="1325700" cy="3135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Warming up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3" name="Google Shape;1003;p88"/>
          <p:cNvSpPr txBox="1"/>
          <p:nvPr>
            <p:ph idx="1" type="body"/>
          </p:nvPr>
        </p:nvSpPr>
        <p:spPr>
          <a:xfrm>
            <a:off x="4705791" y="4476862"/>
            <a:ext cx="14604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Time (minutes)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4" name="Google Shape;1004;p88"/>
          <p:cNvSpPr txBox="1"/>
          <p:nvPr>
            <p:ph idx="1" type="body"/>
          </p:nvPr>
        </p:nvSpPr>
        <p:spPr>
          <a:xfrm rot="-5400000">
            <a:off x="1006509" y="1699130"/>
            <a:ext cx="6591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b.p.m.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5" name="Google Shape;1005;p88"/>
          <p:cNvSpPr txBox="1"/>
          <p:nvPr>
            <p:ph idx="1" type="body"/>
          </p:nvPr>
        </p:nvSpPr>
        <p:spPr>
          <a:xfrm>
            <a:off x="6207900" y="3075075"/>
            <a:ext cx="2643900" cy="6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When do you think Sofia was stretching?</a:t>
            </a:r>
            <a:endParaRPr sz="2000"/>
          </a:p>
        </p:txBody>
      </p:sp>
      <p:sp>
        <p:nvSpPr>
          <p:cNvPr id="1006" name="Google Shape;1006;p88"/>
          <p:cNvSpPr txBox="1"/>
          <p:nvPr>
            <p:ph idx="1" type="body"/>
          </p:nvPr>
        </p:nvSpPr>
        <p:spPr>
          <a:xfrm>
            <a:off x="2751948" y="1749525"/>
            <a:ext cx="1520100" cy="3135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High intensity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7" name="Google Shape;1007;p88"/>
          <p:cNvSpPr txBox="1"/>
          <p:nvPr>
            <p:ph idx="1" type="body"/>
          </p:nvPr>
        </p:nvSpPr>
        <p:spPr>
          <a:xfrm>
            <a:off x="4321975" y="3696200"/>
            <a:ext cx="1140900" cy="3135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Stretch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ing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08" name="Google Shape;1008;p88"/>
          <p:cNvSpPr txBox="1"/>
          <p:nvPr>
            <p:ph idx="1" type="body"/>
          </p:nvPr>
        </p:nvSpPr>
        <p:spPr>
          <a:xfrm>
            <a:off x="4626775" y="1738018"/>
            <a:ext cx="1520100" cy="3135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High intensity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2" name="Shape 10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3" name="Google Shape;1013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79964" y="1289775"/>
            <a:ext cx="3419254" cy="2137030"/>
          </a:xfrm>
          <a:prstGeom prst="rect">
            <a:avLst/>
          </a:prstGeom>
          <a:noFill/>
          <a:ln>
            <a:noFill/>
          </a:ln>
        </p:spPr>
      </p:pic>
      <p:sp>
        <p:nvSpPr>
          <p:cNvPr id="1014" name="Google Shape;1014;p89"/>
          <p:cNvSpPr txBox="1"/>
          <p:nvPr>
            <p:ph idx="1" type="body"/>
          </p:nvPr>
        </p:nvSpPr>
        <p:spPr>
          <a:xfrm>
            <a:off x="324000" y="759300"/>
            <a:ext cx="8237700" cy="6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Sofia’s heart rate was as low as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60 b.p.m.</a:t>
            </a:r>
            <a:r>
              <a:rPr lang="en-GB" sz="2000"/>
              <a:t> </a:t>
            </a:r>
            <a:r>
              <a:rPr lang="en-GB" sz="2000"/>
              <a:t>and as high as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165 b.p.m.</a:t>
            </a:r>
            <a:r>
              <a:rPr lang="en-GB" sz="2000"/>
              <a:t> during her training session.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Let’s see if that is normal.</a:t>
            </a:r>
            <a:endParaRPr sz="2000"/>
          </a:p>
        </p:txBody>
      </p:sp>
      <p:sp>
        <p:nvSpPr>
          <p:cNvPr id="1015" name="Google Shape;1015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Recording and using data</a:t>
            </a:r>
            <a:endParaRPr/>
          </a:p>
        </p:txBody>
      </p:sp>
      <p:pic>
        <p:nvPicPr>
          <p:cNvPr id="1016" name="Google Shape;1016;p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4090819" y="1244156"/>
            <a:ext cx="808800" cy="897244"/>
          </a:xfrm>
          <a:prstGeom prst="rect">
            <a:avLst/>
          </a:prstGeom>
          <a:noFill/>
          <a:ln>
            <a:noFill/>
          </a:ln>
        </p:spPr>
      </p:pic>
      <p:sp>
        <p:nvSpPr>
          <p:cNvPr id="1017" name="Google Shape;1017;p89"/>
          <p:cNvSpPr txBox="1"/>
          <p:nvPr>
            <p:ph idx="1" type="body"/>
          </p:nvPr>
        </p:nvSpPr>
        <p:spPr>
          <a:xfrm>
            <a:off x="7943613" y="3419050"/>
            <a:ext cx="879300" cy="49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Time (minutes)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8" name="Google Shape;1018;p89"/>
          <p:cNvSpPr txBox="1"/>
          <p:nvPr>
            <p:ph idx="1" type="body"/>
          </p:nvPr>
        </p:nvSpPr>
        <p:spPr>
          <a:xfrm rot="-5400000">
            <a:off x="4827620" y="1440765"/>
            <a:ext cx="625800" cy="23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b.p.m.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19" name="Google Shape;1019;p89"/>
          <p:cNvSpPr txBox="1"/>
          <p:nvPr>
            <p:ph idx="1" type="body"/>
          </p:nvPr>
        </p:nvSpPr>
        <p:spPr>
          <a:xfrm>
            <a:off x="324000" y="2207100"/>
            <a:ext cx="4899300" cy="134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Teenagers and adults have a resting heart rate of between</a:t>
            </a:r>
            <a:r>
              <a:rPr lang="en-GB" sz="2000"/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r>
              <a:rPr lang="en-GB" sz="2000"/>
              <a:t> and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100 b.p.m.</a:t>
            </a:r>
            <a:r>
              <a:rPr lang="en-GB" sz="2000"/>
              <a:t> Athletes tend to be at the lower end of that scale with a lower heart rate.</a:t>
            </a:r>
            <a:endParaRPr sz="2000"/>
          </a:p>
        </p:txBody>
      </p:sp>
      <p:sp>
        <p:nvSpPr>
          <p:cNvPr id="1020" name="Google Shape;1020;p89"/>
          <p:cNvSpPr txBox="1"/>
          <p:nvPr>
            <p:ph idx="1" type="body"/>
          </p:nvPr>
        </p:nvSpPr>
        <p:spPr>
          <a:xfrm>
            <a:off x="324000" y="3807300"/>
            <a:ext cx="6076800" cy="625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During </a:t>
            </a:r>
            <a:r>
              <a:rPr lang="en-GB" sz="2000"/>
              <a:t>exercise</a:t>
            </a:r>
            <a:r>
              <a:rPr lang="en-GB" sz="2000"/>
              <a:t> your heart rate will rise.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But, what should we be aiming for?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4" name="Shape 10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5" name="Google Shape;1025;p90"/>
          <p:cNvSpPr txBox="1"/>
          <p:nvPr>
            <p:ph idx="1" type="body"/>
          </p:nvPr>
        </p:nvSpPr>
        <p:spPr>
          <a:xfrm>
            <a:off x="324000" y="759300"/>
            <a:ext cx="8496000" cy="6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To maintain a healthy</a:t>
            </a:r>
            <a:r>
              <a:rPr lang="en-GB" sz="1900"/>
              <a:t> heart it is important to raise your heart rate frequently through exercise. There is a calculation for target heart rate.</a:t>
            </a:r>
            <a:endParaRPr sz="1900"/>
          </a:p>
        </p:txBody>
      </p:sp>
      <p:sp>
        <p:nvSpPr>
          <p:cNvPr id="1026" name="Google Shape;1026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Recording and using data</a:t>
            </a:r>
            <a:endParaRPr/>
          </a:p>
        </p:txBody>
      </p:sp>
      <p:sp>
        <p:nvSpPr>
          <p:cNvPr id="1027" name="Google Shape;1027;p90"/>
          <p:cNvSpPr txBox="1"/>
          <p:nvPr>
            <p:ph idx="1" type="body"/>
          </p:nvPr>
        </p:nvSpPr>
        <p:spPr>
          <a:xfrm>
            <a:off x="247800" y="1505440"/>
            <a:ext cx="7362000" cy="32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1900"/>
              <a:t>Your maximum heart rate is</a:t>
            </a:r>
            <a:r>
              <a:rPr lang="en-GB" sz="1900"/>
              <a:t>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220 b.p.m.</a:t>
            </a:r>
            <a:r>
              <a:rPr lang="en-GB" sz="1900"/>
              <a:t> minus age</a:t>
            </a:r>
            <a:endParaRPr sz="1900"/>
          </a:p>
        </p:txBody>
      </p:sp>
      <p:sp>
        <p:nvSpPr>
          <p:cNvPr id="1028" name="Google Shape;1028;p90"/>
          <p:cNvSpPr txBox="1"/>
          <p:nvPr>
            <p:ph idx="1" type="body"/>
          </p:nvPr>
        </p:nvSpPr>
        <p:spPr>
          <a:xfrm>
            <a:off x="247800" y="1951132"/>
            <a:ext cx="8572200" cy="32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1900"/>
              <a:t>Target</a:t>
            </a:r>
            <a:r>
              <a:rPr lang="en-GB" sz="1900"/>
              <a:t> heart rate for moderate exercise is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50 −</a:t>
            </a:r>
            <a:r>
              <a:rPr lang="en-GB" sz="1900"/>
              <a:t>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70%</a:t>
            </a:r>
            <a:r>
              <a:rPr lang="en-GB" sz="1900"/>
              <a:t> of maximum</a:t>
            </a:r>
            <a:endParaRPr sz="1900"/>
          </a:p>
        </p:txBody>
      </p:sp>
      <p:sp>
        <p:nvSpPr>
          <p:cNvPr id="1029" name="Google Shape;1029;p90"/>
          <p:cNvSpPr txBox="1"/>
          <p:nvPr>
            <p:ph idx="1" type="body"/>
          </p:nvPr>
        </p:nvSpPr>
        <p:spPr>
          <a:xfrm>
            <a:off x="247800" y="2396825"/>
            <a:ext cx="8572200" cy="32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1900"/>
              <a:t>Target heart rate for high intensity exercise is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70 −</a:t>
            </a:r>
            <a:r>
              <a:rPr lang="en-GB" sz="1900"/>
              <a:t>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85%</a:t>
            </a:r>
            <a:r>
              <a:rPr lang="en-GB" sz="1900"/>
              <a:t> of maximum</a:t>
            </a:r>
            <a:endParaRPr sz="1900"/>
          </a:p>
        </p:txBody>
      </p:sp>
      <p:sp>
        <p:nvSpPr>
          <p:cNvPr id="1030" name="Google Shape;1030;p90"/>
          <p:cNvSpPr txBox="1"/>
          <p:nvPr>
            <p:ph idx="1" type="body"/>
          </p:nvPr>
        </p:nvSpPr>
        <p:spPr>
          <a:xfrm>
            <a:off x="324000" y="2934580"/>
            <a:ext cx="5846700" cy="6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Sofia is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14</a:t>
            </a:r>
            <a:r>
              <a:rPr lang="en-GB" sz="1900"/>
              <a:t> and was operating at high intensity.</a:t>
            </a:r>
            <a:endParaRPr sz="1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Was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165 b.p.m.</a:t>
            </a:r>
            <a:r>
              <a:rPr lang="en-GB" sz="1900"/>
              <a:t> the </a:t>
            </a:r>
            <a:r>
              <a:rPr lang="en-GB" sz="1900"/>
              <a:t>right heart rate for her?</a:t>
            </a:r>
            <a:endParaRPr sz="1900"/>
          </a:p>
        </p:txBody>
      </p:sp>
      <p:sp>
        <p:nvSpPr>
          <p:cNvPr id="1031" name="Google Shape;1031;p90"/>
          <p:cNvSpPr txBox="1"/>
          <p:nvPr>
            <p:ph idx="1" type="body"/>
          </p:nvPr>
        </p:nvSpPr>
        <p:spPr>
          <a:xfrm>
            <a:off x="324000" y="3708481"/>
            <a:ext cx="4500000" cy="32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Max heart rate:</a:t>
            </a:r>
            <a:r>
              <a:rPr lang="en-GB" sz="1900"/>
              <a:t>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220 − 1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4 = 206 b.p.m.</a:t>
            </a:r>
            <a:endParaRPr sz="1900"/>
          </a:p>
        </p:txBody>
      </p:sp>
      <p:pic>
        <p:nvPicPr>
          <p:cNvPr id="1032" name="Google Shape;1032;p9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57796" y="3327082"/>
            <a:ext cx="2743533" cy="1474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3" name="Google Shape;1033;p9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60919" y="3329685"/>
            <a:ext cx="2802032" cy="1474072"/>
          </a:xfrm>
          <a:prstGeom prst="rect">
            <a:avLst/>
          </a:prstGeom>
          <a:noFill/>
          <a:ln>
            <a:noFill/>
          </a:ln>
        </p:spPr>
      </p:pic>
      <p:sp>
        <p:nvSpPr>
          <p:cNvPr id="1034" name="Google Shape;1034;p90"/>
          <p:cNvSpPr txBox="1"/>
          <p:nvPr>
            <p:ph idx="1" type="body"/>
          </p:nvPr>
        </p:nvSpPr>
        <p:spPr>
          <a:xfrm>
            <a:off x="324000" y="4089481"/>
            <a:ext cx="4500000" cy="32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70%</a:t>
            </a:r>
            <a:r>
              <a:rPr lang="en-GB" sz="1900"/>
              <a:t> value: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0.7 × 206 = 144 b.p.m.</a:t>
            </a:r>
            <a:endParaRPr sz="1900"/>
          </a:p>
        </p:txBody>
      </p:sp>
      <p:sp>
        <p:nvSpPr>
          <p:cNvPr id="1035" name="Google Shape;1035;p90"/>
          <p:cNvSpPr txBox="1"/>
          <p:nvPr>
            <p:ph idx="1" type="body"/>
          </p:nvPr>
        </p:nvSpPr>
        <p:spPr>
          <a:xfrm>
            <a:off x="324000" y="4505001"/>
            <a:ext cx="4500000" cy="32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85%</a:t>
            </a:r>
            <a:r>
              <a:rPr lang="en-GB" sz="1900"/>
              <a:t> value</a:t>
            </a:r>
            <a:r>
              <a:rPr lang="en-GB" sz="1900"/>
              <a:t>: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0.85 × 206 = 175 b.p.m.</a:t>
            </a:r>
            <a:endParaRPr sz="1900"/>
          </a:p>
        </p:txBody>
      </p:sp>
      <p:sp>
        <p:nvSpPr>
          <p:cNvPr id="1036" name="Google Shape;1036;p90"/>
          <p:cNvSpPr txBox="1"/>
          <p:nvPr>
            <p:ph idx="1" type="body"/>
          </p:nvPr>
        </p:nvSpPr>
        <p:spPr>
          <a:xfrm>
            <a:off x="4995213" y="4001375"/>
            <a:ext cx="3821700" cy="39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At</a:t>
            </a:r>
            <a:r>
              <a:rPr lang="en-GB" sz="1900"/>
              <a:t>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165 b.p.m.</a:t>
            </a:r>
            <a:r>
              <a:rPr lang="en-GB" sz="1900"/>
              <a:t> 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Sofia was in the correct zone for intense 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exercise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.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0" name="Shape 10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1" name="Google Shape;1041;p91"/>
          <p:cNvSpPr txBox="1"/>
          <p:nvPr>
            <p:ph idx="1" type="body"/>
          </p:nvPr>
        </p:nvSpPr>
        <p:spPr>
          <a:xfrm>
            <a:off x="324000" y="759300"/>
            <a:ext cx="8493000" cy="573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Jacob is just taking up regular</a:t>
            </a:r>
            <a:r>
              <a:rPr lang="en-GB" sz="1900"/>
              <a:t> exercise. He wants to do moderate exercise three times a week and will count his heart rate.</a:t>
            </a:r>
            <a:endParaRPr sz="1900"/>
          </a:p>
        </p:txBody>
      </p:sp>
      <p:sp>
        <p:nvSpPr>
          <p:cNvPr id="1042" name="Google Shape;1042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Recording and using data</a:t>
            </a:r>
            <a:endParaRPr/>
          </a:p>
        </p:txBody>
      </p:sp>
      <p:sp>
        <p:nvSpPr>
          <p:cNvPr id="1043" name="Google Shape;1043;p91"/>
          <p:cNvSpPr txBox="1"/>
          <p:nvPr>
            <p:ph idx="1" type="body"/>
          </p:nvPr>
        </p:nvSpPr>
        <p:spPr>
          <a:xfrm>
            <a:off x="247800" y="1505440"/>
            <a:ext cx="7362000" cy="32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1900"/>
              <a:t>Your maximum heart rate is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220 b.p.m.</a:t>
            </a:r>
            <a:r>
              <a:rPr lang="en-GB" sz="1900"/>
              <a:t> minus age</a:t>
            </a:r>
            <a:endParaRPr sz="1900"/>
          </a:p>
        </p:txBody>
      </p:sp>
      <p:sp>
        <p:nvSpPr>
          <p:cNvPr id="1044" name="Google Shape;1044;p91"/>
          <p:cNvSpPr txBox="1"/>
          <p:nvPr>
            <p:ph idx="1" type="body"/>
          </p:nvPr>
        </p:nvSpPr>
        <p:spPr>
          <a:xfrm>
            <a:off x="247800" y="1951132"/>
            <a:ext cx="8572200" cy="32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1900"/>
              <a:t>Target heart rate for moderate exercise is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50 −</a:t>
            </a:r>
            <a:r>
              <a:rPr lang="en-GB" sz="1900"/>
              <a:t>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70%</a:t>
            </a:r>
            <a:r>
              <a:rPr lang="en-GB" sz="1900"/>
              <a:t> of maximum</a:t>
            </a:r>
            <a:endParaRPr sz="1900"/>
          </a:p>
        </p:txBody>
      </p:sp>
      <p:sp>
        <p:nvSpPr>
          <p:cNvPr id="1045" name="Google Shape;1045;p91"/>
          <p:cNvSpPr txBox="1"/>
          <p:nvPr>
            <p:ph idx="1" type="body"/>
          </p:nvPr>
        </p:nvSpPr>
        <p:spPr>
          <a:xfrm>
            <a:off x="247800" y="2396825"/>
            <a:ext cx="8572200" cy="32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1900"/>
              <a:t>Target heart rate for high intensity exercise is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70 −</a:t>
            </a:r>
            <a:r>
              <a:rPr lang="en-GB" sz="1900"/>
              <a:t>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85%</a:t>
            </a:r>
            <a:r>
              <a:rPr lang="en-GB" sz="1900"/>
              <a:t> of maximum</a:t>
            </a:r>
            <a:endParaRPr sz="1900"/>
          </a:p>
        </p:txBody>
      </p:sp>
      <p:sp>
        <p:nvSpPr>
          <p:cNvPr id="1046" name="Google Shape;1046;p91"/>
          <p:cNvSpPr txBox="1"/>
          <p:nvPr>
            <p:ph idx="1" type="body"/>
          </p:nvPr>
        </p:nvSpPr>
        <p:spPr>
          <a:xfrm>
            <a:off x="324000" y="2934575"/>
            <a:ext cx="8493000" cy="659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/>
              <a:t>Jacob</a:t>
            </a:r>
            <a:r>
              <a:rPr lang="en-GB" sz="1900"/>
              <a:t> is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13</a:t>
            </a:r>
            <a:r>
              <a:rPr lang="en-GB" sz="1900"/>
              <a:t> What range for heart rate should Jacob be aiming for?</a:t>
            </a:r>
            <a:endParaRPr sz="1900"/>
          </a:p>
        </p:txBody>
      </p:sp>
      <p:sp>
        <p:nvSpPr>
          <p:cNvPr id="1047" name="Google Shape;1047;p91"/>
          <p:cNvSpPr txBox="1"/>
          <p:nvPr>
            <p:ph idx="1" type="body"/>
          </p:nvPr>
        </p:nvSpPr>
        <p:spPr>
          <a:xfrm>
            <a:off x="324000" y="3608873"/>
            <a:ext cx="4500000" cy="32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Max heart rate:</a:t>
            </a:r>
            <a:r>
              <a:rPr lang="en-GB" sz="1900"/>
              <a:t>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220 − 13 = 207 b.p.m.</a:t>
            </a:r>
            <a:endParaRPr sz="1900"/>
          </a:p>
        </p:txBody>
      </p:sp>
      <p:sp>
        <p:nvSpPr>
          <p:cNvPr id="1048" name="Google Shape;1048;p91"/>
          <p:cNvSpPr txBox="1"/>
          <p:nvPr>
            <p:ph idx="1" type="body"/>
          </p:nvPr>
        </p:nvSpPr>
        <p:spPr>
          <a:xfrm>
            <a:off x="324000" y="3989873"/>
            <a:ext cx="4500000" cy="32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Lower bound: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0.5 × 207 = 104 b.p.m.</a:t>
            </a:r>
            <a:endParaRPr sz="1900"/>
          </a:p>
        </p:txBody>
      </p:sp>
      <p:sp>
        <p:nvSpPr>
          <p:cNvPr id="1049" name="Google Shape;1049;p91"/>
          <p:cNvSpPr txBox="1"/>
          <p:nvPr>
            <p:ph idx="1" type="body"/>
          </p:nvPr>
        </p:nvSpPr>
        <p:spPr>
          <a:xfrm>
            <a:off x="324000" y="4405393"/>
            <a:ext cx="4500000" cy="32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Higher bound: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0.7 × 207 = 145 b.p.m.</a:t>
            </a:r>
            <a:endParaRPr sz="1900"/>
          </a:p>
        </p:txBody>
      </p:sp>
      <p:pic>
        <p:nvPicPr>
          <p:cNvPr id="1050" name="Google Shape;1050;p9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7422" y="997588"/>
            <a:ext cx="824104" cy="1015138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1" name="Google Shape;1051;p9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47101" y="3342001"/>
            <a:ext cx="2759503" cy="1474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2" name="Google Shape;1052;p9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51861" y="3336687"/>
            <a:ext cx="2759499" cy="1471723"/>
          </a:xfrm>
          <a:prstGeom prst="rect">
            <a:avLst/>
          </a:prstGeom>
          <a:noFill/>
          <a:ln>
            <a:noFill/>
          </a:ln>
        </p:spPr>
      </p:pic>
      <p:sp>
        <p:nvSpPr>
          <p:cNvPr id="1053" name="Google Shape;1053;p91"/>
          <p:cNvSpPr txBox="1"/>
          <p:nvPr>
            <p:ph idx="1" type="body"/>
          </p:nvPr>
        </p:nvSpPr>
        <p:spPr>
          <a:xfrm>
            <a:off x="5128950" y="3784275"/>
            <a:ext cx="3574200" cy="39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latin typeface="Kalam"/>
                <a:ea typeface="Kalam"/>
                <a:cs typeface="Kalam"/>
                <a:sym typeface="Kalam"/>
              </a:rPr>
              <a:t>Jacob should aim for a heart rate between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104 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and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 145 b.p.m.</a:t>
            </a:r>
            <a:r>
              <a:rPr lang="en-GB" sz="1900">
                <a:latin typeface="Kalam"/>
                <a:ea typeface="Kalam"/>
                <a:cs typeface="Kalam"/>
                <a:sym typeface="Kalam"/>
              </a:rPr>
              <a:t> for moderate exercise.</a:t>
            </a:r>
            <a:endParaRPr sz="19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7" name="Shape 10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8" name="Google Shape;1058;p92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378976" y="2130175"/>
            <a:ext cx="3376824" cy="141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59" name="Google Shape;1059;p92"/>
          <p:cNvSpPr txBox="1"/>
          <p:nvPr>
            <p:ph idx="1" type="body"/>
          </p:nvPr>
        </p:nvSpPr>
        <p:spPr>
          <a:xfrm>
            <a:off x="324000" y="759300"/>
            <a:ext cx="3165600" cy="86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There are other less technical ways to measure effort for people</a:t>
            </a:r>
            <a:r>
              <a:rPr lang="en-GB" sz="1800"/>
              <a:t> just taking up regular exercise.</a:t>
            </a:r>
            <a:endParaRPr sz="1800"/>
          </a:p>
        </p:txBody>
      </p:sp>
      <p:sp>
        <p:nvSpPr>
          <p:cNvPr id="1060" name="Google Shape;1060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Recording and using data</a:t>
            </a:r>
            <a:endParaRPr/>
          </a:p>
        </p:txBody>
      </p:sp>
      <p:pic>
        <p:nvPicPr>
          <p:cNvPr id="1061" name="Google Shape;1061;p9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1540" y="3486277"/>
            <a:ext cx="890845" cy="109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2" name="Google Shape;1062;p9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4733" y="3584429"/>
            <a:ext cx="890608" cy="999697"/>
          </a:xfrm>
          <a:prstGeom prst="rect">
            <a:avLst/>
          </a:prstGeom>
          <a:noFill/>
          <a:ln>
            <a:noFill/>
          </a:ln>
        </p:spPr>
      </p:pic>
      <p:sp>
        <p:nvSpPr>
          <p:cNvPr id="1063" name="Google Shape;1063;p92"/>
          <p:cNvSpPr txBox="1"/>
          <p:nvPr/>
        </p:nvSpPr>
        <p:spPr>
          <a:xfrm>
            <a:off x="244863" y="4579734"/>
            <a:ext cx="1560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Coach 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4" name="Google Shape;1064;p92"/>
          <p:cNvSpPr txBox="1"/>
          <p:nvPr>
            <p:ph idx="1" type="body"/>
          </p:nvPr>
        </p:nvSpPr>
        <p:spPr>
          <a:xfrm>
            <a:off x="640300" y="2207100"/>
            <a:ext cx="3115500" cy="99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Coaches like me will use an</a:t>
            </a:r>
            <a:r>
              <a:rPr lang="en-GB" sz="1900"/>
              <a:t> </a:t>
            </a:r>
            <a:r>
              <a:rPr lang="en-GB" sz="2100">
                <a:latin typeface="Times New Roman"/>
                <a:ea typeface="Times New Roman"/>
                <a:cs typeface="Times New Roman"/>
                <a:sym typeface="Times New Roman"/>
              </a:rPr>
              <a:t>RPE</a:t>
            </a:r>
            <a:r>
              <a:rPr lang="en-GB" sz="1900"/>
              <a:t> chart to plan your training sessions Jacob.</a:t>
            </a:r>
            <a:endParaRPr sz="1900"/>
          </a:p>
        </p:txBody>
      </p:sp>
      <p:graphicFrame>
        <p:nvGraphicFramePr>
          <p:cNvPr id="1065" name="Google Shape;1065;p92"/>
          <p:cNvGraphicFramePr/>
          <p:nvPr/>
        </p:nvGraphicFramePr>
        <p:xfrm>
          <a:off x="3847719" y="8081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505225"/>
                <a:gridCol w="927075"/>
                <a:gridCol w="3205825"/>
              </a:tblGrid>
              <a:tr h="30755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4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RPE Chart </a:t>
                      </a:r>
                      <a:r>
                        <a:rPr lang="en-GB" sz="1600">
                          <a:solidFill>
                            <a:schemeClr val="accent4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(Rate of perceived exertion)</a:t>
                      </a:r>
                      <a:endParaRPr sz="1600">
                        <a:solidFill>
                          <a:schemeClr val="accent4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738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Max effort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Impossible to continue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Out of breath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Unable to talk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Very hard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Hard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maintain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Can barely breathe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Speaking single words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7-8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Vigorous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Verge of uncomfortable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Short of breath, single sentences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Moderate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ould continue for hours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Breathing heavy, short conversation 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Light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Easy to maintain for hours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Can maintain conversation easily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Very light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Anything other than sleeping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e.g. Sitting watching T.V.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9" name="Shape 10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0" name="Google Shape;1070;p93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337293" y="2130175"/>
            <a:ext cx="2730977" cy="1416375"/>
          </a:xfrm>
          <a:prstGeom prst="rect">
            <a:avLst/>
          </a:prstGeom>
          <a:noFill/>
          <a:ln>
            <a:noFill/>
          </a:ln>
        </p:spPr>
      </p:pic>
      <p:sp>
        <p:nvSpPr>
          <p:cNvPr id="1071" name="Google Shape;1071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Recording and using data</a:t>
            </a:r>
            <a:endParaRPr/>
          </a:p>
        </p:txBody>
      </p:sp>
      <p:pic>
        <p:nvPicPr>
          <p:cNvPr id="1072" name="Google Shape;1072;p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21540" y="3486277"/>
            <a:ext cx="890845" cy="1097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9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4733" y="3584429"/>
            <a:ext cx="890608" cy="999697"/>
          </a:xfrm>
          <a:prstGeom prst="rect">
            <a:avLst/>
          </a:prstGeom>
          <a:noFill/>
          <a:ln>
            <a:noFill/>
          </a:ln>
        </p:spPr>
      </p:pic>
      <p:sp>
        <p:nvSpPr>
          <p:cNvPr id="1074" name="Google Shape;1074;p93"/>
          <p:cNvSpPr txBox="1"/>
          <p:nvPr/>
        </p:nvSpPr>
        <p:spPr>
          <a:xfrm>
            <a:off x="244863" y="4579734"/>
            <a:ext cx="1560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Coach 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5" name="Google Shape;1075;p93"/>
          <p:cNvSpPr txBox="1"/>
          <p:nvPr>
            <p:ph idx="1" type="body"/>
          </p:nvPr>
        </p:nvSpPr>
        <p:spPr>
          <a:xfrm>
            <a:off x="564100" y="2207100"/>
            <a:ext cx="2538600" cy="99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That’s great exercise! It will vary between feeling like a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3, 4,</a:t>
            </a:r>
            <a:r>
              <a:rPr lang="en-GB" sz="1800"/>
              <a:t> or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sz="1800"/>
          </a:p>
        </p:txBody>
      </p:sp>
      <p:graphicFrame>
        <p:nvGraphicFramePr>
          <p:cNvPr id="1076" name="Google Shape;1076;p93"/>
          <p:cNvGraphicFramePr/>
          <p:nvPr/>
        </p:nvGraphicFramePr>
        <p:xfrm>
          <a:off x="3847719" y="8081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505225"/>
                <a:gridCol w="927075"/>
                <a:gridCol w="3205825"/>
              </a:tblGrid>
              <a:tr h="30755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4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RPE Chart </a:t>
                      </a:r>
                      <a:r>
                        <a:rPr lang="en-GB" sz="1600">
                          <a:solidFill>
                            <a:schemeClr val="accent4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(Rate of perceived exertion)</a:t>
                      </a:r>
                      <a:endParaRPr sz="1600">
                        <a:solidFill>
                          <a:schemeClr val="accent4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738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Max effort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Impossible to continue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Out of breath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Unable to talk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Very hard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Hard to maintain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Can barely breathe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Speaking single words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7-8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Vigorous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Verge of uncomfortable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Short of breath, single sentences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Moderate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Could continue for hours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Breathing heavy, short conversation 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Light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Easy to 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maintain for hours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Can maintain conversation easily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Very light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Anything other than sleeping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e.g. Sitting watching T.V.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077" name="Google Shape;1077;p93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923875" y="880796"/>
            <a:ext cx="2569876" cy="1173876"/>
          </a:xfrm>
          <a:prstGeom prst="rect">
            <a:avLst/>
          </a:prstGeom>
          <a:noFill/>
          <a:ln>
            <a:noFill/>
          </a:ln>
        </p:spPr>
      </p:pic>
      <p:sp>
        <p:nvSpPr>
          <p:cNvPr id="1078" name="Google Shape;1078;p93"/>
          <p:cNvSpPr txBox="1"/>
          <p:nvPr>
            <p:ph idx="1" type="body"/>
          </p:nvPr>
        </p:nvSpPr>
        <p:spPr>
          <a:xfrm>
            <a:off x="973800" y="911700"/>
            <a:ext cx="2446800" cy="99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Is </a:t>
            </a:r>
            <a:r>
              <a:rPr lang="en-GB" sz="1800"/>
              <a:t>skateboarding</a:t>
            </a:r>
            <a:r>
              <a:rPr lang="en-GB" sz="1800"/>
              <a:t> good exercise? I fancy taking that up.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3" name="Google Shape;1083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Recording and using data</a:t>
            </a:r>
            <a:endParaRPr/>
          </a:p>
        </p:txBody>
      </p:sp>
      <p:graphicFrame>
        <p:nvGraphicFramePr>
          <p:cNvPr id="1084" name="Google Shape;1084;p94"/>
          <p:cNvGraphicFramePr/>
          <p:nvPr/>
        </p:nvGraphicFramePr>
        <p:xfrm>
          <a:off x="3847719" y="8081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505225"/>
                <a:gridCol w="927075"/>
                <a:gridCol w="3205825"/>
              </a:tblGrid>
              <a:tr h="30755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4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RPE Chart </a:t>
                      </a:r>
                      <a:r>
                        <a:rPr lang="en-GB" sz="1600">
                          <a:solidFill>
                            <a:schemeClr val="accent4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(Rate of perceived exertion)</a:t>
                      </a:r>
                      <a:endParaRPr sz="1600">
                        <a:solidFill>
                          <a:schemeClr val="accent4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738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Max effort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Impossible to continue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Out of breath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Unable to talk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Very hard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Hard to maintain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Can barely breathe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Speaking single words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7-8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Vigorous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Verge of uncomfortable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Short of breath, single sentences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Moderate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Could continue for hours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Breathing heavy, short conversation 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Light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Easy to</a:t>
                      </a: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maintain for hours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Can maintain conversation easily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Very light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Anything other than sleeping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e.g. Sitting watching T.V.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85" name="Google Shape;1085;p94"/>
          <p:cNvSpPr txBox="1"/>
          <p:nvPr>
            <p:ph idx="1" type="body"/>
          </p:nvPr>
        </p:nvSpPr>
        <p:spPr>
          <a:xfrm>
            <a:off x="324000" y="759300"/>
            <a:ext cx="3108300" cy="122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Where do you think these activities would be on the chart for someone just taking up exercise?</a:t>
            </a:r>
            <a:endParaRPr sz="1800"/>
          </a:p>
        </p:txBody>
      </p:sp>
      <p:sp>
        <p:nvSpPr>
          <p:cNvPr id="1086" name="Google Shape;1086;p94"/>
          <p:cNvSpPr txBox="1"/>
          <p:nvPr>
            <p:ph idx="1" type="body"/>
          </p:nvPr>
        </p:nvSpPr>
        <p:spPr>
          <a:xfrm>
            <a:off x="324000" y="2172580"/>
            <a:ext cx="3165600" cy="2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1800"/>
              <a:t>Walking on a treadmill</a:t>
            </a:r>
            <a:endParaRPr sz="1800"/>
          </a:p>
        </p:txBody>
      </p:sp>
      <p:sp>
        <p:nvSpPr>
          <p:cNvPr id="1087" name="Google Shape;1087;p94"/>
          <p:cNvSpPr txBox="1"/>
          <p:nvPr>
            <p:ph idx="1" type="body"/>
          </p:nvPr>
        </p:nvSpPr>
        <p:spPr>
          <a:xfrm>
            <a:off x="324000" y="3117150"/>
            <a:ext cx="2866500" cy="2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1800"/>
              <a:t> minutes cycling to a friend’s house</a:t>
            </a:r>
            <a:endParaRPr sz="1800"/>
          </a:p>
        </p:txBody>
      </p:sp>
      <p:sp>
        <p:nvSpPr>
          <p:cNvPr id="1088" name="Google Shape;1088;p94"/>
          <p:cNvSpPr txBox="1"/>
          <p:nvPr>
            <p:ph idx="1" type="body"/>
          </p:nvPr>
        </p:nvSpPr>
        <p:spPr>
          <a:xfrm>
            <a:off x="324000" y="3799368"/>
            <a:ext cx="2625000" cy="2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/>
              <a:t> minutes intense trampolining</a:t>
            </a:r>
            <a:endParaRPr sz="1800"/>
          </a:p>
        </p:txBody>
      </p:sp>
      <p:sp>
        <p:nvSpPr>
          <p:cNvPr id="1089" name="Google Shape;1089;p94"/>
          <p:cNvSpPr txBox="1"/>
          <p:nvPr>
            <p:ph idx="1" type="body"/>
          </p:nvPr>
        </p:nvSpPr>
        <p:spPr>
          <a:xfrm>
            <a:off x="324000" y="2656371"/>
            <a:ext cx="3165600" cy="2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1800"/>
              <a:t>Walk</a:t>
            </a:r>
            <a:r>
              <a:rPr lang="en-GB" sz="1800"/>
              <a:t>ing up a steep hill</a:t>
            </a:r>
            <a:endParaRPr sz="1800"/>
          </a:p>
        </p:txBody>
      </p:sp>
      <p:sp>
        <p:nvSpPr>
          <p:cNvPr id="1090" name="Google Shape;1090;p94"/>
          <p:cNvSpPr txBox="1"/>
          <p:nvPr>
            <p:ph idx="1" type="body"/>
          </p:nvPr>
        </p:nvSpPr>
        <p:spPr>
          <a:xfrm>
            <a:off x="324000" y="4504600"/>
            <a:ext cx="1474200" cy="2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1800"/>
              <a:t>Gaming</a:t>
            </a:r>
            <a:endParaRPr sz="18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4" name="Shape 10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5" name="Google Shape;1095;p95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1083448" y="728412"/>
            <a:ext cx="2580398" cy="1249826"/>
          </a:xfrm>
          <a:prstGeom prst="rect">
            <a:avLst/>
          </a:prstGeom>
          <a:noFill/>
          <a:ln>
            <a:noFill/>
          </a:ln>
        </p:spPr>
      </p:pic>
      <p:sp>
        <p:nvSpPr>
          <p:cNvPr id="1096" name="Google Shape;1096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Recording and using data</a:t>
            </a:r>
            <a:endParaRPr/>
          </a:p>
        </p:txBody>
      </p:sp>
      <p:graphicFrame>
        <p:nvGraphicFramePr>
          <p:cNvPr id="1097" name="Google Shape;1097;p95"/>
          <p:cNvGraphicFramePr/>
          <p:nvPr/>
        </p:nvGraphicFramePr>
        <p:xfrm>
          <a:off x="3847719" y="8081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505225"/>
                <a:gridCol w="927075"/>
                <a:gridCol w="3205825"/>
              </a:tblGrid>
              <a:tr h="30755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4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RPE Chart </a:t>
                      </a:r>
                      <a:r>
                        <a:rPr lang="en-GB" sz="1600">
                          <a:solidFill>
                            <a:schemeClr val="accent4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(Rate of perceived exertion)</a:t>
                      </a:r>
                      <a:endParaRPr sz="1600">
                        <a:solidFill>
                          <a:schemeClr val="accent4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738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Max effort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Impossible to continue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Out of breath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Unable to talk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Very hard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Hard to maintain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Can barely breathe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Speaking single words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7-8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Vigorous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Verge of uncomfortable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Short of breath, single sentences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Moderate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Could continue for hours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Breathing heavy, short conversation 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Light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Easy to maintain for hours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Can maintain conversation easily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Very light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Anything other than sleeping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e.g. Sitting watching T.V.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98" name="Google Shape;1098;p95"/>
          <p:cNvSpPr txBox="1"/>
          <p:nvPr>
            <p:ph idx="1" type="body"/>
          </p:nvPr>
        </p:nvSpPr>
        <p:spPr>
          <a:xfrm>
            <a:off x="1044320" y="3529856"/>
            <a:ext cx="2705400" cy="2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Walking on a treadmill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99" name="Google Shape;1099;p95"/>
          <p:cNvSpPr txBox="1"/>
          <p:nvPr>
            <p:ph idx="1" type="body"/>
          </p:nvPr>
        </p:nvSpPr>
        <p:spPr>
          <a:xfrm>
            <a:off x="1055825" y="3887854"/>
            <a:ext cx="2357700" cy="2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1800"/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minutes cycling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0" name="Google Shape;1100;p95"/>
          <p:cNvSpPr txBox="1"/>
          <p:nvPr>
            <p:ph idx="1" type="body"/>
          </p:nvPr>
        </p:nvSpPr>
        <p:spPr>
          <a:xfrm>
            <a:off x="247800" y="2621855"/>
            <a:ext cx="3523800" cy="2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 sz="1800"/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minutes intense trampolining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1" name="Google Shape;1101;p95"/>
          <p:cNvSpPr txBox="1"/>
          <p:nvPr>
            <p:ph idx="1" type="body"/>
          </p:nvPr>
        </p:nvSpPr>
        <p:spPr>
          <a:xfrm>
            <a:off x="1055827" y="3067548"/>
            <a:ext cx="2705400" cy="2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Walking up a steep hill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02" name="Google Shape;1102;p95"/>
          <p:cNvSpPr txBox="1"/>
          <p:nvPr>
            <p:ph idx="1" type="body"/>
          </p:nvPr>
        </p:nvSpPr>
        <p:spPr>
          <a:xfrm>
            <a:off x="2522299" y="4340700"/>
            <a:ext cx="1234800" cy="28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Kalam"/>
              <a:buChar char="●"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Gaming</a:t>
            </a:r>
            <a:endParaRPr sz="18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03" name="Google Shape;1103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760" y="1626243"/>
            <a:ext cx="890608" cy="999697"/>
          </a:xfrm>
          <a:prstGeom prst="rect">
            <a:avLst/>
          </a:prstGeom>
          <a:noFill/>
          <a:ln>
            <a:noFill/>
          </a:ln>
        </p:spPr>
      </p:pic>
      <p:sp>
        <p:nvSpPr>
          <p:cNvPr id="1104" name="Google Shape;1104;p95"/>
          <p:cNvSpPr txBox="1"/>
          <p:nvPr/>
        </p:nvSpPr>
        <p:spPr>
          <a:xfrm>
            <a:off x="1159263" y="2328254"/>
            <a:ext cx="1560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Coach 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5" name="Google Shape;1105;p95"/>
          <p:cNvSpPr txBox="1"/>
          <p:nvPr>
            <p:ph idx="1" type="body"/>
          </p:nvPr>
        </p:nvSpPr>
        <p:spPr>
          <a:xfrm>
            <a:off x="1355280" y="782318"/>
            <a:ext cx="2169000" cy="99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If you’re just starting I don’t want to see a</a:t>
            </a:r>
            <a:r>
              <a:rPr lang="en-GB" sz="1800"/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r>
              <a:rPr lang="en-GB" sz="1800"/>
              <a:t> 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or</a:t>
            </a:r>
            <a:r>
              <a:rPr lang="en-GB" sz="1800"/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1800">
                <a:latin typeface="Kalam"/>
                <a:ea typeface="Kalam"/>
                <a:cs typeface="Kalam"/>
                <a:sym typeface="Kalam"/>
              </a:rPr>
              <a:t> just yet!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9" name="Shape 1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0" name="Google Shape;1110;p96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 flipH="1">
            <a:off x="466675" y="2240906"/>
            <a:ext cx="2141225" cy="1228137"/>
          </a:xfrm>
          <a:prstGeom prst="rect">
            <a:avLst/>
          </a:prstGeom>
          <a:noFill/>
          <a:ln>
            <a:noFill/>
          </a:ln>
        </p:spPr>
      </p:pic>
      <p:sp>
        <p:nvSpPr>
          <p:cNvPr id="1111" name="Google Shape;1111;p96"/>
          <p:cNvSpPr txBox="1"/>
          <p:nvPr>
            <p:ph idx="1" type="body"/>
          </p:nvPr>
        </p:nvSpPr>
        <p:spPr>
          <a:xfrm>
            <a:off x="324000" y="759300"/>
            <a:ext cx="84960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Coach Lucas calculates averages to monitor Sofia’s performances in the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800 m</a:t>
            </a:r>
            <a:endParaRPr sz="2000"/>
          </a:p>
        </p:txBody>
      </p:sp>
      <p:sp>
        <p:nvSpPr>
          <p:cNvPr id="1112" name="Google Shape;1112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Recording and using data</a:t>
            </a:r>
            <a:endParaRPr/>
          </a:p>
        </p:txBody>
      </p:sp>
      <p:pic>
        <p:nvPicPr>
          <p:cNvPr id="1113" name="Google Shape;1113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4733" y="3584429"/>
            <a:ext cx="890608" cy="999697"/>
          </a:xfrm>
          <a:prstGeom prst="rect">
            <a:avLst/>
          </a:prstGeom>
          <a:noFill/>
          <a:ln>
            <a:noFill/>
          </a:ln>
        </p:spPr>
      </p:pic>
      <p:sp>
        <p:nvSpPr>
          <p:cNvPr id="1114" name="Google Shape;1114;p96"/>
          <p:cNvSpPr txBox="1"/>
          <p:nvPr/>
        </p:nvSpPr>
        <p:spPr>
          <a:xfrm>
            <a:off x="244863" y="4579734"/>
            <a:ext cx="1560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Coach Lucas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15" name="Google Shape;1115;p96"/>
          <p:cNvSpPr txBox="1"/>
          <p:nvPr>
            <p:ph idx="1" type="body"/>
          </p:nvPr>
        </p:nvSpPr>
        <p:spPr>
          <a:xfrm>
            <a:off x="669200" y="2283300"/>
            <a:ext cx="1927200" cy="9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I can calculate the averages for Sofia’s times.</a:t>
            </a:r>
            <a:endParaRPr sz="1800"/>
          </a:p>
        </p:txBody>
      </p:sp>
      <p:pic>
        <p:nvPicPr>
          <p:cNvPr id="1116" name="Google Shape;1116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759917" y="3443370"/>
            <a:ext cx="901142" cy="999679"/>
          </a:xfrm>
          <a:prstGeom prst="rect">
            <a:avLst/>
          </a:prstGeom>
          <a:noFill/>
          <a:ln>
            <a:noFill/>
          </a:ln>
        </p:spPr>
      </p:pic>
      <p:sp>
        <p:nvSpPr>
          <p:cNvPr id="1117" name="Google Shape;1117;p96"/>
          <p:cNvSpPr txBox="1"/>
          <p:nvPr/>
        </p:nvSpPr>
        <p:spPr>
          <a:xfrm>
            <a:off x="6868776" y="4506912"/>
            <a:ext cx="1560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Sporty Sofia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18" name="Google Shape;1118;p96"/>
          <p:cNvGraphicFramePr/>
          <p:nvPr/>
        </p:nvGraphicFramePr>
        <p:xfrm>
          <a:off x="1773685" y="11656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137925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(sec)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19" name="Google Shape;1119;p96"/>
          <p:cNvSpPr txBox="1"/>
          <p:nvPr>
            <p:ph idx="1" type="body"/>
          </p:nvPr>
        </p:nvSpPr>
        <p:spPr>
          <a:xfrm>
            <a:off x="2772675" y="2153913"/>
            <a:ext cx="17316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Mode:</a:t>
            </a:r>
            <a:r>
              <a:rPr lang="en-GB" sz="1800"/>
              <a:t>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132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sec</a:t>
            </a:r>
            <a:endParaRPr sz="1800"/>
          </a:p>
        </p:txBody>
      </p:sp>
      <p:sp>
        <p:nvSpPr>
          <p:cNvPr id="1120" name="Google Shape;1120;p96"/>
          <p:cNvSpPr txBox="1"/>
          <p:nvPr>
            <p:ph idx="1" type="body"/>
          </p:nvPr>
        </p:nvSpPr>
        <p:spPr>
          <a:xfrm>
            <a:off x="2772675" y="2534920"/>
            <a:ext cx="20451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Median: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132 sec</a:t>
            </a:r>
            <a:endParaRPr sz="1800"/>
          </a:p>
        </p:txBody>
      </p:sp>
      <p:sp>
        <p:nvSpPr>
          <p:cNvPr id="1121" name="Google Shape;1121;p96"/>
          <p:cNvSpPr txBox="1"/>
          <p:nvPr>
            <p:ph idx="1" type="body"/>
          </p:nvPr>
        </p:nvSpPr>
        <p:spPr>
          <a:xfrm>
            <a:off x="2772675" y="2915925"/>
            <a:ext cx="18090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Mean: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132.8 sec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22" name="Google Shape;1122;p96"/>
          <p:cNvPicPr preferRelativeResize="0"/>
          <p:nvPr/>
        </p:nvPicPr>
        <p:blipFill rotWithShape="1">
          <a:blip r:embed="rId3">
            <a:alphaModFix/>
          </a:blip>
          <a:srcRect b="43690" l="0" r="57905" t="0"/>
          <a:stretch/>
        </p:blipFill>
        <p:spPr>
          <a:xfrm>
            <a:off x="4674861" y="2176207"/>
            <a:ext cx="4076099" cy="1310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3" name="Google Shape;1123;p96"/>
          <p:cNvSpPr txBox="1"/>
          <p:nvPr>
            <p:ph idx="1" type="body"/>
          </p:nvPr>
        </p:nvSpPr>
        <p:spPr>
          <a:xfrm>
            <a:off x="4792926" y="2207095"/>
            <a:ext cx="3668700" cy="90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So I’m most likely to run a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132 </a:t>
            </a:r>
            <a:r>
              <a:rPr lang="en-GB" sz="1800"/>
              <a:t>but, I might run a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138</a:t>
            </a:r>
            <a:r>
              <a:rPr lang="en-GB" sz="1800"/>
              <a:t> That’s not enough to beat my competitors!</a:t>
            </a:r>
            <a:endParaRPr sz="1800"/>
          </a:p>
        </p:txBody>
      </p:sp>
      <p:sp>
        <p:nvSpPr>
          <p:cNvPr id="1124" name="Google Shape;1124;p96"/>
          <p:cNvSpPr txBox="1"/>
          <p:nvPr>
            <p:ph idx="1" type="body"/>
          </p:nvPr>
        </p:nvSpPr>
        <p:spPr>
          <a:xfrm>
            <a:off x="1472520" y="3373112"/>
            <a:ext cx="48921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800"/>
              <a:t>Relax. I know you are improving. Have you heard of </a:t>
            </a:r>
            <a:r>
              <a:rPr lang="en-GB" sz="1800">
                <a:solidFill>
                  <a:schemeClr val="accent4"/>
                </a:solidFill>
              </a:rPr>
              <a:t>three-point moving</a:t>
            </a:r>
            <a:r>
              <a:rPr lang="en-GB" sz="1800">
                <a:solidFill>
                  <a:schemeClr val="accent4"/>
                </a:solidFill>
              </a:rPr>
              <a:t> averages</a:t>
            </a:r>
            <a:r>
              <a:rPr lang="en-GB" sz="1800"/>
              <a:t>?</a:t>
            </a:r>
            <a:endParaRPr sz="1800"/>
          </a:p>
        </p:txBody>
      </p:sp>
      <p:pic>
        <p:nvPicPr>
          <p:cNvPr id="1125" name="Google Shape;1125;p9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332366" y="3332613"/>
            <a:ext cx="5044201" cy="99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9" name="Shape 1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" name="Google Shape;1130;p97"/>
          <p:cNvSpPr txBox="1"/>
          <p:nvPr>
            <p:ph idx="1" type="body"/>
          </p:nvPr>
        </p:nvSpPr>
        <p:spPr>
          <a:xfrm>
            <a:off x="324000" y="759300"/>
            <a:ext cx="37518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We can graph</a:t>
            </a:r>
            <a:r>
              <a:rPr lang="en-GB" sz="2000"/>
              <a:t> Sofia’s times.</a:t>
            </a:r>
            <a:endParaRPr sz="2000"/>
          </a:p>
        </p:txBody>
      </p:sp>
      <p:sp>
        <p:nvSpPr>
          <p:cNvPr id="1131" name="Google Shape;1131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Recording and using data</a:t>
            </a:r>
            <a:endParaRPr/>
          </a:p>
        </p:txBody>
      </p:sp>
      <p:graphicFrame>
        <p:nvGraphicFramePr>
          <p:cNvPr id="1132" name="Google Shape;1132;p97"/>
          <p:cNvGraphicFramePr/>
          <p:nvPr/>
        </p:nvGraphicFramePr>
        <p:xfrm>
          <a:off x="1773685" y="11656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137925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(sec)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33" name="Google Shape;1133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3019" y="2018677"/>
            <a:ext cx="3309402" cy="2637451"/>
          </a:xfrm>
          <a:prstGeom prst="rect">
            <a:avLst/>
          </a:prstGeom>
          <a:noFill/>
          <a:ln>
            <a:noFill/>
          </a:ln>
        </p:spPr>
      </p:pic>
      <p:sp>
        <p:nvSpPr>
          <p:cNvPr id="1134" name="Google Shape;1134;p97"/>
          <p:cNvSpPr txBox="1"/>
          <p:nvPr>
            <p:ph idx="1" type="body"/>
          </p:nvPr>
        </p:nvSpPr>
        <p:spPr>
          <a:xfrm>
            <a:off x="8195238" y="4595292"/>
            <a:ext cx="407400" cy="25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Wk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5" name="Google Shape;1135;p97"/>
          <p:cNvSpPr txBox="1"/>
          <p:nvPr>
            <p:ph idx="1" type="body"/>
          </p:nvPr>
        </p:nvSpPr>
        <p:spPr>
          <a:xfrm rot="-5400000">
            <a:off x="4542150" y="2257125"/>
            <a:ext cx="822900" cy="23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Time (s)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36" name="Google Shape;1136;p97"/>
          <p:cNvSpPr txBox="1"/>
          <p:nvPr>
            <p:ph idx="1" type="body"/>
          </p:nvPr>
        </p:nvSpPr>
        <p:spPr>
          <a:xfrm>
            <a:off x="324000" y="2054700"/>
            <a:ext cx="4333800" cy="1311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The line is erratic.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Is it going to go back up?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Will it go down next?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Is Sofia improving?</a:t>
            </a:r>
            <a:endParaRPr sz="2000"/>
          </a:p>
        </p:txBody>
      </p:sp>
      <p:sp>
        <p:nvSpPr>
          <p:cNvPr id="1137" name="Google Shape;1137;p97"/>
          <p:cNvSpPr txBox="1"/>
          <p:nvPr>
            <p:ph idx="1" type="body"/>
          </p:nvPr>
        </p:nvSpPr>
        <p:spPr>
          <a:xfrm>
            <a:off x="324000" y="3767600"/>
            <a:ext cx="3936600" cy="978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</a:t>
            </a:r>
            <a:r>
              <a:rPr lang="en-GB" sz="2000"/>
              <a:t>he pattern, the </a:t>
            </a:r>
            <a:r>
              <a:rPr lang="en-GB" sz="2000">
                <a:solidFill>
                  <a:schemeClr val="accent4"/>
                </a:solidFill>
              </a:rPr>
              <a:t>trend</a:t>
            </a:r>
            <a:r>
              <a:rPr lang="en-GB" sz="2000"/>
              <a:t>, is easier to see if we plot a </a:t>
            </a:r>
            <a:r>
              <a:rPr lang="en-GB" sz="2000">
                <a:solidFill>
                  <a:schemeClr val="accent4"/>
                </a:solidFill>
              </a:rPr>
              <a:t>three-point moving average</a:t>
            </a:r>
            <a:r>
              <a:rPr lang="en-GB" sz="2000"/>
              <a:t>.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1" name="Shape 1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" name="Google Shape;1142;p9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Recording and using data</a:t>
            </a:r>
            <a:endParaRPr/>
          </a:p>
        </p:txBody>
      </p:sp>
      <p:graphicFrame>
        <p:nvGraphicFramePr>
          <p:cNvPr id="1143" name="Google Shape;1143;p98"/>
          <p:cNvGraphicFramePr/>
          <p:nvPr/>
        </p:nvGraphicFramePr>
        <p:xfrm>
          <a:off x="1773685" y="8076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137925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(sec)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144" name="Google Shape;1144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3019" y="2018677"/>
            <a:ext cx="3309402" cy="2637451"/>
          </a:xfrm>
          <a:prstGeom prst="rect">
            <a:avLst/>
          </a:prstGeom>
          <a:noFill/>
          <a:ln>
            <a:noFill/>
          </a:ln>
        </p:spPr>
      </p:pic>
      <p:sp>
        <p:nvSpPr>
          <p:cNvPr id="1145" name="Google Shape;1145;p98"/>
          <p:cNvSpPr txBox="1"/>
          <p:nvPr>
            <p:ph idx="1" type="body"/>
          </p:nvPr>
        </p:nvSpPr>
        <p:spPr>
          <a:xfrm>
            <a:off x="8195238" y="4595292"/>
            <a:ext cx="407400" cy="25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Wk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6" name="Google Shape;1146;p98"/>
          <p:cNvSpPr txBox="1"/>
          <p:nvPr>
            <p:ph idx="1" type="body"/>
          </p:nvPr>
        </p:nvSpPr>
        <p:spPr>
          <a:xfrm rot="-5400000">
            <a:off x="4542150" y="2257125"/>
            <a:ext cx="822900" cy="23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Time (s)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7" name="Google Shape;1147;p98"/>
          <p:cNvSpPr txBox="1"/>
          <p:nvPr>
            <p:ph idx="1" type="body"/>
          </p:nvPr>
        </p:nvSpPr>
        <p:spPr>
          <a:xfrm>
            <a:off x="324000" y="1934900"/>
            <a:ext cx="4500000" cy="43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Take the average of three points.</a:t>
            </a:r>
            <a:endParaRPr sz="2000"/>
          </a:p>
        </p:txBody>
      </p:sp>
      <p:graphicFrame>
        <p:nvGraphicFramePr>
          <p:cNvPr id="1148" name="Google Shape;1148;p98"/>
          <p:cNvGraphicFramePr/>
          <p:nvPr/>
        </p:nvGraphicFramePr>
        <p:xfrm>
          <a:off x="1773685" y="15581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137925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</a:tblGrid>
              <a:tr h="30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49" name="Google Shape;1149;p98"/>
          <p:cNvSpPr/>
          <p:nvPr/>
        </p:nvSpPr>
        <p:spPr>
          <a:xfrm>
            <a:off x="2976525" y="1145450"/>
            <a:ext cx="1635000" cy="47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36+132+138}{3}=135.3&quot;&gt;&lt;mfrac&gt;&lt;mrow&gt;&lt;mn&gt;136&lt;/mn&gt;&lt;mo&gt;+&lt;/mo&gt;&lt;mn&gt;132&lt;/mn&gt;&lt;mo&gt;+&lt;/mo&gt;&lt;mn&gt;138&lt;/mn&gt;&lt;/mrow&gt;&lt;mn&gt;3&lt;/mn&gt;&lt;/mfrac&gt;&lt;mo&gt;=&lt;/mo&gt;&lt;mn&gt;135.3&lt;/mn&gt;&lt;/math&gt;" id="1150" name="Google Shape;1150;p98" title="the fraction with numerator 136 plus 132 plus 138 and denominator 3 equals 135.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5775" y="2547600"/>
            <a:ext cx="2680212" cy="5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32+138+132}{3}=134&quot;&gt;&lt;mfrac&gt;&lt;mrow&gt;&lt;mn&gt;132&lt;/mn&gt;&lt;mo&gt;+&lt;/mo&gt;&lt;mn&gt;138&lt;/mn&gt;&lt;mo&gt;+&lt;/mo&gt;&lt;mn&gt;132&lt;/mn&gt;&lt;/mrow&gt;&lt;mn&gt;3&lt;/mn&gt;&lt;/mfrac&gt;&lt;mo&gt;=&lt;/mo&gt;&lt;mn&gt;134&lt;/mn&gt;&lt;/math&gt;" id="1151" name="Google Shape;1151;p98" title="the fraction with numerator 132 plus 138 plus 132 and denominator 3 equals 13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6798" y="3267920"/>
            <a:ext cx="2499739" cy="5337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38+132+136}{3}=135.3&quot;&gt;&lt;mfrac&gt;&lt;mrow&gt;&lt;mn&gt;138&lt;/mn&gt;&lt;mo&gt;+&lt;/mo&gt;&lt;mn&gt;132&lt;/mn&gt;&lt;mo&gt;+&lt;/mo&gt;&lt;mn&gt;136&lt;/mn&gt;&lt;/mrow&gt;&lt;mn&gt;3&lt;/mn&gt;&lt;/mfrac&gt;&lt;mo&gt;=&lt;/mo&gt;&lt;mn&gt;135.3&lt;/mn&gt;&lt;/math&gt;" id="1152" name="Google Shape;1152;p98" title="the fraction with numerator 138 plus 132 plus 136 and denominator 3 equals 135.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74268" y="3976733"/>
            <a:ext cx="2680212" cy="53375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153" name="Google Shape;1153;p98"/>
          <p:cNvGraphicFramePr/>
          <p:nvPr/>
        </p:nvGraphicFramePr>
        <p:xfrm>
          <a:off x="1773685" y="15581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137925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</a:tblGrid>
              <a:tr h="30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54" name="Google Shape;1154;p98"/>
          <p:cNvGraphicFramePr/>
          <p:nvPr/>
        </p:nvGraphicFramePr>
        <p:xfrm>
          <a:off x="1773685" y="15581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137925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</a:tblGrid>
              <a:tr h="30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135</a:t>
                      </a:r>
                      <a:endParaRPr sz="9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55" name="Google Shape;1155;p98"/>
          <p:cNvSpPr txBox="1"/>
          <p:nvPr/>
        </p:nvSpPr>
        <p:spPr>
          <a:xfrm>
            <a:off x="5824775" y="2538763"/>
            <a:ext cx="23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6" name="Google Shape;1156;p98"/>
          <p:cNvSpPr/>
          <p:nvPr/>
        </p:nvSpPr>
        <p:spPr>
          <a:xfrm>
            <a:off x="3563112" y="1145450"/>
            <a:ext cx="1635000" cy="47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57" name="Google Shape;1157;p98"/>
          <p:cNvGraphicFramePr/>
          <p:nvPr/>
        </p:nvGraphicFramePr>
        <p:xfrm>
          <a:off x="1773685" y="15581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137925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</a:tblGrid>
              <a:tr h="30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58" name="Google Shape;1158;p98"/>
          <p:cNvSpPr txBox="1"/>
          <p:nvPr/>
        </p:nvSpPr>
        <p:spPr>
          <a:xfrm>
            <a:off x="6141082" y="2679657"/>
            <a:ext cx="23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9" name="Google Shape;1159;p98"/>
          <p:cNvSpPr/>
          <p:nvPr/>
        </p:nvSpPr>
        <p:spPr>
          <a:xfrm>
            <a:off x="4149698" y="1145450"/>
            <a:ext cx="1635000" cy="47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60" name="Google Shape;1160;p98"/>
          <p:cNvSpPr txBox="1"/>
          <p:nvPr/>
        </p:nvSpPr>
        <p:spPr>
          <a:xfrm>
            <a:off x="6445882" y="2538763"/>
            <a:ext cx="23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4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5" name="Google Shape;1165;p9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3019" y="2018677"/>
            <a:ext cx="3309402" cy="2637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6" name="Google Shape;1166;p9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0325" y="2019088"/>
            <a:ext cx="3318079" cy="2637451"/>
          </a:xfrm>
          <a:prstGeom prst="rect">
            <a:avLst/>
          </a:prstGeom>
          <a:noFill/>
          <a:ln>
            <a:noFill/>
          </a:ln>
        </p:spPr>
      </p:pic>
      <p:sp>
        <p:nvSpPr>
          <p:cNvPr id="1167" name="Google Shape;1167;p9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Recording and using data</a:t>
            </a:r>
            <a:endParaRPr/>
          </a:p>
        </p:txBody>
      </p:sp>
      <p:graphicFrame>
        <p:nvGraphicFramePr>
          <p:cNvPr id="1168" name="Google Shape;1168;p99"/>
          <p:cNvGraphicFramePr/>
          <p:nvPr/>
        </p:nvGraphicFramePr>
        <p:xfrm>
          <a:off x="1773685" y="8076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137925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(sec)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69" name="Google Shape;1169;p99"/>
          <p:cNvSpPr txBox="1"/>
          <p:nvPr>
            <p:ph idx="1" type="body"/>
          </p:nvPr>
        </p:nvSpPr>
        <p:spPr>
          <a:xfrm>
            <a:off x="8195238" y="4595292"/>
            <a:ext cx="407400" cy="25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Wk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0" name="Google Shape;1170;p99"/>
          <p:cNvSpPr txBox="1"/>
          <p:nvPr>
            <p:ph idx="1" type="body"/>
          </p:nvPr>
        </p:nvSpPr>
        <p:spPr>
          <a:xfrm rot="-5400000">
            <a:off x="4542150" y="2257125"/>
            <a:ext cx="822900" cy="23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Time (s)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71" name="Google Shape;1171;p99"/>
          <p:cNvSpPr txBox="1"/>
          <p:nvPr>
            <p:ph idx="1" type="body"/>
          </p:nvPr>
        </p:nvSpPr>
        <p:spPr>
          <a:xfrm>
            <a:off x="324000" y="2054700"/>
            <a:ext cx="43338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After populating the whole table and plotting all </a:t>
            </a:r>
            <a:r>
              <a:rPr lang="en-GB" sz="2000">
                <a:solidFill>
                  <a:schemeClr val="accent4"/>
                </a:solidFill>
              </a:rPr>
              <a:t>three-point moving averages</a:t>
            </a:r>
            <a:r>
              <a:rPr lang="en-GB" sz="2000"/>
              <a:t>…</a:t>
            </a:r>
            <a:endParaRPr sz="2000"/>
          </a:p>
        </p:txBody>
      </p:sp>
      <p:graphicFrame>
        <p:nvGraphicFramePr>
          <p:cNvPr id="1172" name="Google Shape;1172;p99"/>
          <p:cNvGraphicFramePr/>
          <p:nvPr/>
        </p:nvGraphicFramePr>
        <p:xfrm>
          <a:off x="1773685" y="15581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137925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</a:tblGrid>
              <a:tr h="30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173" name="Google Shape;1173;p99"/>
          <p:cNvGraphicFramePr/>
          <p:nvPr/>
        </p:nvGraphicFramePr>
        <p:xfrm>
          <a:off x="1773685" y="15581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137925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  <a:gridCol w="582050"/>
              </a:tblGrid>
              <a:tr h="30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74" name="Google Shape;1174;p99"/>
          <p:cNvSpPr txBox="1"/>
          <p:nvPr/>
        </p:nvSpPr>
        <p:spPr>
          <a:xfrm>
            <a:off x="5824775" y="2538763"/>
            <a:ext cx="23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5" name="Google Shape;1175;p99"/>
          <p:cNvSpPr txBox="1"/>
          <p:nvPr/>
        </p:nvSpPr>
        <p:spPr>
          <a:xfrm>
            <a:off x="6141082" y="2679657"/>
            <a:ext cx="23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6" name="Google Shape;1176;p99"/>
          <p:cNvSpPr txBox="1"/>
          <p:nvPr/>
        </p:nvSpPr>
        <p:spPr>
          <a:xfrm>
            <a:off x="6445882" y="2538763"/>
            <a:ext cx="23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7" name="Google Shape;1177;p99"/>
          <p:cNvSpPr txBox="1"/>
          <p:nvPr/>
        </p:nvSpPr>
        <p:spPr>
          <a:xfrm>
            <a:off x="6757841" y="2931270"/>
            <a:ext cx="23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8" name="Google Shape;1178;p99"/>
          <p:cNvSpPr txBox="1"/>
          <p:nvPr/>
        </p:nvSpPr>
        <p:spPr>
          <a:xfrm>
            <a:off x="7074148" y="2679657"/>
            <a:ext cx="23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79" name="Google Shape;1179;p99"/>
          <p:cNvSpPr txBox="1"/>
          <p:nvPr/>
        </p:nvSpPr>
        <p:spPr>
          <a:xfrm>
            <a:off x="7378948" y="2919763"/>
            <a:ext cx="23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0" name="Google Shape;1180;p99"/>
          <p:cNvSpPr txBox="1"/>
          <p:nvPr/>
        </p:nvSpPr>
        <p:spPr>
          <a:xfrm>
            <a:off x="7683748" y="3060657"/>
            <a:ext cx="23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1" name="Google Shape;1181;p99"/>
          <p:cNvSpPr txBox="1"/>
          <p:nvPr/>
        </p:nvSpPr>
        <p:spPr>
          <a:xfrm>
            <a:off x="8000055" y="3305110"/>
            <a:ext cx="2334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2" name="Google Shape;1182;p99"/>
          <p:cNvSpPr txBox="1"/>
          <p:nvPr>
            <p:ph idx="1" type="body"/>
          </p:nvPr>
        </p:nvSpPr>
        <p:spPr>
          <a:xfrm>
            <a:off x="324000" y="3250887"/>
            <a:ext cx="43338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We see a far smoother line with a clear</a:t>
            </a:r>
            <a:r>
              <a:rPr lang="en-GB" sz="2000"/>
              <a:t> </a:t>
            </a:r>
            <a:r>
              <a:rPr lang="en-GB" sz="2000">
                <a:solidFill>
                  <a:schemeClr val="accent4"/>
                </a:solidFill>
              </a:rPr>
              <a:t>trend</a:t>
            </a:r>
            <a:r>
              <a:rPr lang="en-GB" sz="2000"/>
              <a:t> </a:t>
            </a:r>
            <a:r>
              <a:rPr lang="en-GB" sz="2000"/>
              <a:t>moving downward.</a:t>
            </a:r>
            <a:endParaRPr sz="2000"/>
          </a:p>
        </p:txBody>
      </p:sp>
      <p:sp>
        <p:nvSpPr>
          <p:cNvPr id="1183" name="Google Shape;1183;p99"/>
          <p:cNvSpPr txBox="1"/>
          <p:nvPr>
            <p:ph idx="1" type="body"/>
          </p:nvPr>
        </p:nvSpPr>
        <p:spPr>
          <a:xfrm>
            <a:off x="324000" y="4165287"/>
            <a:ext cx="36720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Sofia is </a:t>
            </a:r>
            <a:r>
              <a:rPr lang="en-GB" sz="2000"/>
              <a:t>improving</a:t>
            </a:r>
            <a:r>
              <a:rPr lang="en-GB" sz="2000"/>
              <a:t> over time.</a:t>
            </a:r>
            <a:endParaRPr sz="2000"/>
          </a:p>
        </p:txBody>
      </p:sp>
      <p:pic>
        <p:nvPicPr>
          <p:cNvPr id="1184" name="Google Shape;1184;p9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155504" y="3810568"/>
            <a:ext cx="901142" cy="999679"/>
          </a:xfrm>
          <a:prstGeom prst="rect">
            <a:avLst/>
          </a:prstGeom>
          <a:noFill/>
          <a:ln>
            <a:noFill/>
          </a:ln>
        </p:spPr>
      </p:pic>
      <p:sp>
        <p:nvSpPr>
          <p:cNvPr id="1185" name="Google Shape;1185;p99"/>
          <p:cNvSpPr/>
          <p:nvPr/>
        </p:nvSpPr>
        <p:spPr>
          <a:xfrm rot="-5400000">
            <a:off x="4432400" y="4405251"/>
            <a:ext cx="185700" cy="274200"/>
          </a:xfrm>
          <a:prstGeom prst="moon">
            <a:avLst>
              <a:gd fmla="val 50000" name="adj"/>
            </a:avLst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0" name="Google Shape;1190;p1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43013" y="2007175"/>
            <a:ext cx="4151782" cy="2637449"/>
          </a:xfrm>
          <a:prstGeom prst="rect">
            <a:avLst/>
          </a:prstGeom>
          <a:noFill/>
          <a:ln>
            <a:noFill/>
          </a:ln>
        </p:spPr>
      </p:pic>
      <p:sp>
        <p:nvSpPr>
          <p:cNvPr id="1191" name="Google Shape;1191;p10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Recording and using data</a:t>
            </a:r>
            <a:endParaRPr/>
          </a:p>
        </p:txBody>
      </p:sp>
      <p:graphicFrame>
        <p:nvGraphicFramePr>
          <p:cNvPr id="1192" name="Google Shape;1192;p100"/>
          <p:cNvGraphicFramePr/>
          <p:nvPr/>
        </p:nvGraphicFramePr>
        <p:xfrm>
          <a:off x="325885" y="8076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1103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(sec)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93" name="Google Shape;1193;p100"/>
          <p:cNvSpPr txBox="1"/>
          <p:nvPr>
            <p:ph idx="1" type="body"/>
          </p:nvPr>
        </p:nvSpPr>
        <p:spPr>
          <a:xfrm>
            <a:off x="8115066" y="4603820"/>
            <a:ext cx="381000" cy="2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Wk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4" name="Google Shape;1194;p100"/>
          <p:cNvSpPr txBox="1"/>
          <p:nvPr>
            <p:ph idx="1" type="body"/>
          </p:nvPr>
        </p:nvSpPr>
        <p:spPr>
          <a:xfrm rot="-5400000">
            <a:off x="3745630" y="2257125"/>
            <a:ext cx="822900" cy="23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Time (s)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95" name="Google Shape;1195;p100"/>
          <p:cNvSpPr txBox="1"/>
          <p:nvPr>
            <p:ph idx="1" type="body"/>
          </p:nvPr>
        </p:nvSpPr>
        <p:spPr>
          <a:xfrm>
            <a:off x="324000" y="2054700"/>
            <a:ext cx="3165600" cy="135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Find the remaining </a:t>
            </a:r>
            <a:r>
              <a:rPr lang="en-GB" sz="2000">
                <a:solidFill>
                  <a:schemeClr val="accent4"/>
                </a:solidFill>
              </a:rPr>
              <a:t>three-point moving averages</a:t>
            </a:r>
            <a:r>
              <a:rPr lang="en-GB" sz="2000"/>
              <a:t> and continue Sofia’s trend line to check that she has continued to improve.</a:t>
            </a:r>
            <a:endParaRPr sz="2000"/>
          </a:p>
        </p:txBody>
      </p:sp>
      <p:graphicFrame>
        <p:nvGraphicFramePr>
          <p:cNvPr id="1196" name="Google Shape;1196;p100"/>
          <p:cNvGraphicFramePr/>
          <p:nvPr/>
        </p:nvGraphicFramePr>
        <p:xfrm>
          <a:off x="325885" y="15581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1103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</a:tblGrid>
              <a:tr h="30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0" name="Shape 1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01" name="Google Shape;1201;p101"/>
          <p:cNvGraphicFramePr/>
          <p:nvPr/>
        </p:nvGraphicFramePr>
        <p:xfrm>
          <a:off x="325885" y="15581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1103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</a:tblGrid>
              <a:tr h="30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202" name="Google Shape;1202;p101"/>
          <p:cNvGraphicFramePr/>
          <p:nvPr/>
        </p:nvGraphicFramePr>
        <p:xfrm>
          <a:off x="325885" y="15581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1103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</a:tblGrid>
              <a:tr h="30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&lt;math xmlns=&quot;http://www.w3.org/1998/Math/MathML&quot; display=&quot;block&quot; data-is-equatio=&quot;1&quot; data-latex=&quot;\frac{130+126+128}{3}=128&quot;&gt;&lt;mfrac&gt;&lt;mrow&gt;&lt;mn&gt;130&lt;/mn&gt;&lt;mo&gt;+&lt;/mo&gt;&lt;mn&gt;126&lt;/mn&gt;&lt;mo&gt;+&lt;/mo&gt;&lt;mn&gt;128&lt;/mn&gt;&lt;/mrow&gt;&lt;mn&gt;3&lt;/mn&gt;&lt;/mfrac&gt;&lt;mo&gt;=&lt;/mo&gt;&lt;mn&gt;128&lt;/mn&gt;&lt;/math&gt;" id="1203" name="Google Shape;1203;p101" title="the fraction with numerator 130 plus 126 plus 128 and denominator 3 equals 1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7627" y="3434100"/>
            <a:ext cx="2422378" cy="5188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4" name="Google Shape;1204;p10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43013" y="2007175"/>
            <a:ext cx="4151782" cy="2637449"/>
          </a:xfrm>
          <a:prstGeom prst="rect">
            <a:avLst/>
          </a:prstGeom>
          <a:noFill/>
          <a:ln>
            <a:noFill/>
          </a:ln>
        </p:spPr>
      </p:pic>
      <p:sp>
        <p:nvSpPr>
          <p:cNvPr id="1205" name="Google Shape;1205;p10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Recording and using data</a:t>
            </a:r>
            <a:endParaRPr/>
          </a:p>
        </p:txBody>
      </p:sp>
      <p:graphicFrame>
        <p:nvGraphicFramePr>
          <p:cNvPr id="1206" name="Google Shape;1206;p101"/>
          <p:cNvGraphicFramePr/>
          <p:nvPr/>
        </p:nvGraphicFramePr>
        <p:xfrm>
          <a:off x="325885" y="80764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1103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(sec)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07" name="Google Shape;1207;p101"/>
          <p:cNvSpPr txBox="1"/>
          <p:nvPr>
            <p:ph idx="1" type="body"/>
          </p:nvPr>
        </p:nvSpPr>
        <p:spPr>
          <a:xfrm rot="-5400000">
            <a:off x="3745630" y="2257125"/>
            <a:ext cx="822900" cy="23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Time (s)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208" name="Google Shape;1208;p101"/>
          <p:cNvGraphicFramePr/>
          <p:nvPr/>
        </p:nvGraphicFramePr>
        <p:xfrm>
          <a:off x="325885" y="15581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1103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</a:tblGrid>
              <a:tr h="306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8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131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09" name="Google Shape;1209;p101"/>
          <p:cNvSpPr/>
          <p:nvPr/>
        </p:nvSpPr>
        <p:spPr>
          <a:xfrm>
            <a:off x="6036032" y="1145450"/>
            <a:ext cx="1635000" cy="47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126+132+130}{3}=129.3&quot;&gt;&lt;mfrac&gt;&lt;mrow&gt;&lt;mn&gt;126&lt;/mn&gt;&lt;mo&gt;+&lt;/mo&gt;&lt;mn&gt;132&lt;/mn&gt;&lt;mo&gt;+&lt;/mo&gt;&lt;mn&gt;130&lt;/mn&gt;&lt;/mrow&gt;&lt;mn&gt;3&lt;/mn&gt;&lt;/mfrac&gt;&lt;mo&gt;=&lt;/mo&gt;&lt;mn&gt;129.3&lt;/mn&gt;&lt;/math&gt;" id="1210" name="Google Shape;1210;p101" title="the fraction with numerator 126 plus 132 plus 130 and denominator 3 equals 129.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31998" y="2111012"/>
            <a:ext cx="2605353" cy="51882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32+130+126}{3}=129.3&quot;&gt;&lt;mfrac&gt;&lt;mrow&gt;&lt;mn&gt;132&lt;/mn&gt;&lt;mo&gt;+&lt;/mo&gt;&lt;mn&gt;130&lt;/mn&gt;&lt;mo&gt;+&lt;/mo&gt;&lt;mn&gt;126&lt;/mn&gt;&lt;/mrow&gt;&lt;mn&gt;3&lt;/mn&gt;&lt;/mfrac&gt;&lt;mo&gt;=&lt;/mo&gt;&lt;mn&gt;129.3&lt;/mn&gt;&lt;/math&gt;" id="1211" name="Google Shape;1211;p101" title="the fraction with numerator 132 plus 130 plus 126 and denominator 3 equals 129.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4475" y="2790837"/>
            <a:ext cx="2605353" cy="518824"/>
          </a:xfrm>
          <a:prstGeom prst="rect">
            <a:avLst/>
          </a:prstGeom>
          <a:noFill/>
          <a:ln>
            <a:noFill/>
          </a:ln>
        </p:spPr>
      </p:pic>
      <p:sp>
        <p:nvSpPr>
          <p:cNvPr id="1212" name="Google Shape;1212;p101"/>
          <p:cNvSpPr/>
          <p:nvPr/>
        </p:nvSpPr>
        <p:spPr>
          <a:xfrm>
            <a:off x="6611112" y="1145450"/>
            <a:ext cx="1635000" cy="47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3" name="Google Shape;1213;p101"/>
          <p:cNvSpPr/>
          <p:nvPr/>
        </p:nvSpPr>
        <p:spPr>
          <a:xfrm>
            <a:off x="7174685" y="1145450"/>
            <a:ext cx="1635000" cy="4746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4" name="Google Shape;1214;p10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22450" y="2011257"/>
            <a:ext cx="4151777" cy="2633362"/>
          </a:xfrm>
          <a:prstGeom prst="rect">
            <a:avLst/>
          </a:prstGeom>
          <a:noFill/>
          <a:ln>
            <a:noFill/>
          </a:ln>
        </p:spPr>
      </p:pic>
      <p:sp>
        <p:nvSpPr>
          <p:cNvPr id="1215" name="Google Shape;1215;p101"/>
          <p:cNvSpPr txBox="1"/>
          <p:nvPr>
            <p:ph idx="1" type="body"/>
          </p:nvPr>
        </p:nvSpPr>
        <p:spPr>
          <a:xfrm>
            <a:off x="324000" y="4024382"/>
            <a:ext cx="8494200" cy="313500"/>
          </a:xfrm>
          <a:prstGeom prst="rect">
            <a:avLst/>
          </a:prstGeom>
          <a:solidFill>
            <a:srgbClr val="F2EEFA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Sofia has continued to improve. Her rate of improvement has slowed but that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16" name="Google Shape;1216;p101"/>
          <p:cNvSpPr txBox="1"/>
          <p:nvPr>
            <p:ph idx="1" type="body"/>
          </p:nvPr>
        </p:nvSpPr>
        <p:spPr>
          <a:xfrm>
            <a:off x="324000" y="4340700"/>
            <a:ext cx="8172000" cy="313500"/>
          </a:xfrm>
          <a:prstGeom prst="rect">
            <a:avLst/>
          </a:prstGeom>
          <a:solidFill>
            <a:srgbClr val="F2EEFA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is not unusual for high performers as they near their maximum potential.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0" name="Shape 1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1" name="Google Shape;1221;p102"/>
          <p:cNvSpPr txBox="1"/>
          <p:nvPr>
            <p:ph idx="1" type="body"/>
          </p:nvPr>
        </p:nvSpPr>
        <p:spPr>
          <a:xfrm>
            <a:off x="324000" y="759300"/>
            <a:ext cx="8496000" cy="96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a) Jacob goes skateboarding and his watch records his b.p.m.</a:t>
            </a:r>
            <a:endParaRPr sz="20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Write at least three sentences to describe Jacob’s skating session. Use words like ‘moderate intensity’ and ‘high intensity’.</a:t>
            </a:r>
            <a:endParaRPr sz="2000"/>
          </a:p>
        </p:txBody>
      </p:sp>
      <p:sp>
        <p:nvSpPr>
          <p:cNvPr id="1222" name="Google Shape;1222;p10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Recording and using data</a:t>
            </a:r>
            <a:endParaRPr/>
          </a:p>
        </p:txBody>
      </p:sp>
      <p:pic>
        <p:nvPicPr>
          <p:cNvPr id="1223" name="Google Shape;1223;p10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29949" y="1901644"/>
            <a:ext cx="1065501" cy="1312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4" name="Google Shape;1224;p10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2372" y="1881870"/>
            <a:ext cx="3716873" cy="2887802"/>
          </a:xfrm>
          <a:prstGeom prst="rect">
            <a:avLst/>
          </a:prstGeom>
          <a:noFill/>
          <a:ln>
            <a:noFill/>
          </a:ln>
        </p:spPr>
      </p:pic>
      <p:sp>
        <p:nvSpPr>
          <p:cNvPr id="1225" name="Google Shape;1225;p102"/>
          <p:cNvSpPr txBox="1"/>
          <p:nvPr>
            <p:ph idx="4294967295" type="body"/>
          </p:nvPr>
        </p:nvSpPr>
        <p:spPr>
          <a:xfrm>
            <a:off x="7836399" y="4580800"/>
            <a:ext cx="831000" cy="2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(min)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26" name="Google Shape;1226;p102"/>
          <p:cNvSpPr txBox="1"/>
          <p:nvPr>
            <p:ph idx="4294967295" type="body"/>
          </p:nvPr>
        </p:nvSpPr>
        <p:spPr>
          <a:xfrm rot="-5400000">
            <a:off x="3548638" y="2041460"/>
            <a:ext cx="612900" cy="23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b.p.m.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103"/>
          <p:cNvSpPr txBox="1"/>
          <p:nvPr>
            <p:ph idx="1" type="body"/>
          </p:nvPr>
        </p:nvSpPr>
        <p:spPr>
          <a:xfrm>
            <a:off x="324000" y="759300"/>
            <a:ext cx="3317400" cy="961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b) Rank these three moments with a numerical value from the trainers’ RPE chart.</a:t>
            </a:r>
            <a:endParaRPr sz="2000"/>
          </a:p>
        </p:txBody>
      </p:sp>
      <p:sp>
        <p:nvSpPr>
          <p:cNvPr id="1232" name="Google Shape;1232;p103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Recording and using data</a:t>
            </a:r>
            <a:endParaRPr/>
          </a:p>
        </p:txBody>
      </p:sp>
      <p:pic>
        <p:nvPicPr>
          <p:cNvPr id="1233" name="Google Shape;1233;p10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850" y="2191021"/>
            <a:ext cx="3051926" cy="2371174"/>
          </a:xfrm>
          <a:prstGeom prst="rect">
            <a:avLst/>
          </a:prstGeom>
          <a:noFill/>
          <a:ln>
            <a:noFill/>
          </a:ln>
        </p:spPr>
      </p:pic>
      <p:sp>
        <p:nvSpPr>
          <p:cNvPr id="1234" name="Google Shape;1234;p103"/>
          <p:cNvSpPr txBox="1"/>
          <p:nvPr>
            <p:ph idx="4294967295" type="body"/>
          </p:nvPr>
        </p:nvSpPr>
        <p:spPr>
          <a:xfrm>
            <a:off x="2902062" y="4550627"/>
            <a:ext cx="739200" cy="2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(min)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35" name="Google Shape;1235;p103"/>
          <p:cNvSpPr txBox="1"/>
          <p:nvPr>
            <p:ph idx="4294967295" type="body"/>
          </p:nvPr>
        </p:nvSpPr>
        <p:spPr>
          <a:xfrm rot="-5400000">
            <a:off x="85118" y="2350607"/>
            <a:ext cx="612900" cy="23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b.p.m.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236" name="Google Shape;1236;p103"/>
          <p:cNvGraphicFramePr/>
          <p:nvPr/>
        </p:nvGraphicFramePr>
        <p:xfrm>
          <a:off x="3847719" y="8081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505225"/>
                <a:gridCol w="927075"/>
                <a:gridCol w="3205825"/>
              </a:tblGrid>
              <a:tr h="30755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4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RPE Chart </a:t>
                      </a:r>
                      <a:r>
                        <a:rPr lang="en-GB" sz="1600">
                          <a:solidFill>
                            <a:schemeClr val="accent4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(Rate of perceived exertion)</a:t>
                      </a:r>
                      <a:endParaRPr sz="1600">
                        <a:solidFill>
                          <a:schemeClr val="accent4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738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Max effort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Impossible to continue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Out of breath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Unable to talk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Very hard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Hard to maintain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Can barely breathe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Speaking single words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7-8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Vigorous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Verge of uncomfortable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Short of breath, single sentences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Moderate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Could continue for hours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Breathing heavy, short conversation 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Light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Easy to maintain for hours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Can maintain conversation easily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Very light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Anything other than sleeping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e.g. Sitting watching T.V.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37" name="Google Shape;1237;p103"/>
          <p:cNvSpPr/>
          <p:nvPr/>
        </p:nvSpPr>
        <p:spPr>
          <a:xfrm>
            <a:off x="1360926" y="2365147"/>
            <a:ext cx="520200" cy="300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8" name="Google Shape;1238;p103"/>
          <p:cNvSpPr/>
          <p:nvPr/>
        </p:nvSpPr>
        <p:spPr>
          <a:xfrm>
            <a:off x="2984496" y="1919450"/>
            <a:ext cx="520200" cy="300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9" name="Google Shape;1239;p103"/>
          <p:cNvSpPr/>
          <p:nvPr/>
        </p:nvSpPr>
        <p:spPr>
          <a:xfrm>
            <a:off x="2141600" y="3565688"/>
            <a:ext cx="460200" cy="300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3" name="Shape 1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4" name="Google Shape;1244;p104"/>
          <p:cNvSpPr txBox="1"/>
          <p:nvPr>
            <p:ph idx="1" type="body"/>
          </p:nvPr>
        </p:nvSpPr>
        <p:spPr>
          <a:xfrm>
            <a:off x="324000" y="759300"/>
            <a:ext cx="7526700" cy="51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</a:t>
            </a:r>
            <a:r>
              <a:rPr lang="en-GB" sz="1800"/>
              <a:t>) Sporty Sofia is filling in a target heart rate chart for older members of her family to use whilst exercising.</a:t>
            </a:r>
            <a:endParaRPr sz="1800"/>
          </a:p>
        </p:txBody>
      </p:sp>
      <p:sp>
        <p:nvSpPr>
          <p:cNvPr id="1245" name="Google Shape;1245;p104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Recording and using data</a:t>
            </a:r>
            <a:endParaRPr/>
          </a:p>
        </p:txBody>
      </p:sp>
      <p:sp>
        <p:nvSpPr>
          <p:cNvPr id="1246" name="Google Shape;1246;p104"/>
          <p:cNvSpPr txBox="1"/>
          <p:nvPr>
            <p:ph idx="4294967295" type="body"/>
          </p:nvPr>
        </p:nvSpPr>
        <p:spPr>
          <a:xfrm>
            <a:off x="247800" y="1330026"/>
            <a:ext cx="7362000" cy="32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1800"/>
              <a:t>Your maximum heart rate is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220 b.p.m.</a:t>
            </a:r>
            <a:r>
              <a:rPr lang="en-GB" sz="1800"/>
              <a:t> minus age</a:t>
            </a:r>
            <a:endParaRPr sz="1800"/>
          </a:p>
        </p:txBody>
      </p:sp>
      <p:sp>
        <p:nvSpPr>
          <p:cNvPr id="1247" name="Google Shape;1247;p104"/>
          <p:cNvSpPr txBox="1"/>
          <p:nvPr>
            <p:ph idx="4294967295" type="body"/>
          </p:nvPr>
        </p:nvSpPr>
        <p:spPr>
          <a:xfrm>
            <a:off x="247800" y="1653492"/>
            <a:ext cx="8572200" cy="32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1800"/>
              <a:t>Target heart rate for moderate exercise is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50 − 70%</a:t>
            </a:r>
            <a:r>
              <a:rPr lang="en-GB" sz="1800"/>
              <a:t> of maximum</a:t>
            </a:r>
            <a:endParaRPr sz="1800"/>
          </a:p>
        </p:txBody>
      </p:sp>
      <p:sp>
        <p:nvSpPr>
          <p:cNvPr id="1248" name="Google Shape;1248;p104"/>
          <p:cNvSpPr txBox="1"/>
          <p:nvPr>
            <p:ph idx="4294967295" type="body"/>
          </p:nvPr>
        </p:nvSpPr>
        <p:spPr>
          <a:xfrm>
            <a:off x="247800" y="1999971"/>
            <a:ext cx="8572200" cy="32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1800"/>
              <a:t>Target heart rate for high intensity exercise is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70 − 85%</a:t>
            </a:r>
            <a:r>
              <a:rPr lang="en-GB" sz="1800"/>
              <a:t> of maximum</a:t>
            </a:r>
            <a:endParaRPr sz="1800"/>
          </a:p>
        </p:txBody>
      </p:sp>
      <p:pic>
        <p:nvPicPr>
          <p:cNvPr id="1249" name="Google Shape;1249;p10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3824" y="815755"/>
            <a:ext cx="901142" cy="999679"/>
          </a:xfrm>
          <a:prstGeom prst="rect">
            <a:avLst/>
          </a:prstGeom>
          <a:noFill/>
          <a:ln>
            <a:noFill/>
          </a:ln>
        </p:spPr>
      </p:pic>
      <p:sp>
        <p:nvSpPr>
          <p:cNvPr id="1250" name="Google Shape;1250;p104"/>
          <p:cNvSpPr txBox="1"/>
          <p:nvPr>
            <p:ph idx="1" type="body"/>
          </p:nvPr>
        </p:nvSpPr>
        <p:spPr>
          <a:xfrm>
            <a:off x="324000" y="4576400"/>
            <a:ext cx="7526700" cy="24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Fill in the blanks in the table.</a:t>
            </a:r>
            <a:endParaRPr sz="1800"/>
          </a:p>
        </p:txBody>
      </p:sp>
      <p:graphicFrame>
        <p:nvGraphicFramePr>
          <p:cNvPr id="1251" name="Google Shape;1251;p104"/>
          <p:cNvGraphicFramePr/>
          <p:nvPr/>
        </p:nvGraphicFramePr>
        <p:xfrm>
          <a:off x="600512" y="25372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791900"/>
                <a:gridCol w="2456675"/>
                <a:gridCol w="2221775"/>
                <a:gridCol w="2318125"/>
              </a:tblGrid>
              <a:tr h="205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Age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Moderate exercise min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High intensity starts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High intensity max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140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170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95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161.5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119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127.5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5" name="Shape 1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6" name="Google Shape;1256;p105"/>
          <p:cNvSpPr txBox="1"/>
          <p:nvPr>
            <p:ph idx="1" type="body"/>
          </p:nvPr>
        </p:nvSpPr>
        <p:spPr>
          <a:xfrm>
            <a:off x="324000" y="759300"/>
            <a:ext cx="84960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3) Aisha is trying to improve her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400</a:t>
            </a:r>
            <a:r>
              <a:rPr lang="en-GB" sz="2000"/>
              <a:t> metre time. Here are her best times over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000"/>
              <a:t> weeks of training.</a:t>
            </a:r>
            <a:endParaRPr sz="2000"/>
          </a:p>
        </p:txBody>
      </p:sp>
      <p:sp>
        <p:nvSpPr>
          <p:cNvPr id="1257" name="Google Shape;1257;p10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Recording and using data</a:t>
            </a:r>
            <a:endParaRPr/>
          </a:p>
        </p:txBody>
      </p:sp>
      <p:sp>
        <p:nvSpPr>
          <p:cNvPr id="1258" name="Google Shape;1258;p105"/>
          <p:cNvSpPr txBox="1"/>
          <p:nvPr/>
        </p:nvSpPr>
        <p:spPr>
          <a:xfrm>
            <a:off x="7255185" y="1298787"/>
            <a:ext cx="1560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Athletic Aisha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59" name="Google Shape;1259;p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136050" y="1623492"/>
            <a:ext cx="660713" cy="1247574"/>
          </a:xfrm>
          <a:prstGeom prst="rect">
            <a:avLst/>
          </a:prstGeom>
          <a:noFill/>
          <a:ln>
            <a:noFill/>
          </a:ln>
        </p:spPr>
      </p:pic>
      <p:sp>
        <p:nvSpPr>
          <p:cNvPr id="1260" name="Google Shape;1260;p105"/>
          <p:cNvSpPr txBox="1"/>
          <p:nvPr>
            <p:ph idx="1" type="body"/>
          </p:nvPr>
        </p:nvSpPr>
        <p:spPr>
          <a:xfrm>
            <a:off x="324000" y="2576593"/>
            <a:ext cx="6755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</a:t>
            </a:r>
            <a:r>
              <a:rPr lang="en-GB" sz="1800"/>
              <a:t>) Calculate the mean, mode and median of her times.</a:t>
            </a:r>
            <a:endParaRPr sz="1800"/>
          </a:p>
        </p:txBody>
      </p:sp>
      <p:sp>
        <p:nvSpPr>
          <p:cNvPr id="1261" name="Google Shape;1261;p105"/>
          <p:cNvSpPr txBox="1"/>
          <p:nvPr>
            <p:ph idx="1" type="body"/>
          </p:nvPr>
        </p:nvSpPr>
        <p:spPr>
          <a:xfrm>
            <a:off x="324000" y="3338600"/>
            <a:ext cx="8496000" cy="52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</a:t>
            </a:r>
            <a:r>
              <a:rPr lang="en-GB" sz="1800"/>
              <a:t>) Write a sentence explaining why these three averages alone do not inform you as to whether Aisha is improving.</a:t>
            </a:r>
            <a:endParaRPr sz="1800"/>
          </a:p>
        </p:txBody>
      </p:sp>
      <p:graphicFrame>
        <p:nvGraphicFramePr>
          <p:cNvPr id="1262" name="Google Shape;1262;p105"/>
          <p:cNvGraphicFramePr/>
          <p:nvPr/>
        </p:nvGraphicFramePr>
        <p:xfrm>
          <a:off x="325885" y="16228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1103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(sec)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6" name="Shape 1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7" name="Google Shape;1267;p10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2641" y="2040525"/>
            <a:ext cx="2988774" cy="2775148"/>
          </a:xfrm>
          <a:prstGeom prst="rect">
            <a:avLst/>
          </a:prstGeom>
          <a:noFill/>
          <a:ln>
            <a:noFill/>
          </a:ln>
        </p:spPr>
      </p:pic>
      <p:sp>
        <p:nvSpPr>
          <p:cNvPr id="1268" name="Google Shape;1268;p106"/>
          <p:cNvSpPr txBox="1"/>
          <p:nvPr>
            <p:ph idx="1" type="body"/>
          </p:nvPr>
        </p:nvSpPr>
        <p:spPr>
          <a:xfrm>
            <a:off x="324000" y="759300"/>
            <a:ext cx="4386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3)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/>
          </a:p>
        </p:txBody>
      </p:sp>
      <p:sp>
        <p:nvSpPr>
          <p:cNvPr id="1269" name="Google Shape;1269;p10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Recording and using data</a:t>
            </a:r>
            <a:endParaRPr/>
          </a:p>
        </p:txBody>
      </p:sp>
      <p:pic>
        <p:nvPicPr>
          <p:cNvPr id="1270" name="Google Shape;1270;p10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98145" y="808300"/>
            <a:ext cx="598629" cy="113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271" name="Google Shape;1271;p106"/>
          <p:cNvSpPr txBox="1"/>
          <p:nvPr>
            <p:ph idx="1" type="body"/>
          </p:nvPr>
        </p:nvSpPr>
        <p:spPr>
          <a:xfrm>
            <a:off x="324000" y="2061850"/>
            <a:ext cx="4824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</a:t>
            </a:r>
            <a:r>
              <a:rPr lang="en-GB" sz="1800"/>
              <a:t>) Populate the table of three-point moving averages (to the nearest whole number). The first one is done for you.</a:t>
            </a:r>
            <a:endParaRPr sz="1800"/>
          </a:p>
        </p:txBody>
      </p:sp>
      <p:sp>
        <p:nvSpPr>
          <p:cNvPr id="1272" name="Google Shape;1272;p106"/>
          <p:cNvSpPr txBox="1"/>
          <p:nvPr>
            <p:ph idx="1" type="body"/>
          </p:nvPr>
        </p:nvSpPr>
        <p:spPr>
          <a:xfrm>
            <a:off x="324000" y="3033800"/>
            <a:ext cx="4166700" cy="64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</a:t>
            </a:r>
            <a:r>
              <a:rPr lang="en-GB" sz="1800"/>
              <a:t>) Graph Aisha’s three-point moving averages and write a comment as to whether she is improving.</a:t>
            </a:r>
            <a:endParaRPr sz="1800"/>
          </a:p>
        </p:txBody>
      </p:sp>
      <p:graphicFrame>
        <p:nvGraphicFramePr>
          <p:cNvPr id="1273" name="Google Shape;1273;p106"/>
          <p:cNvGraphicFramePr/>
          <p:nvPr/>
        </p:nvGraphicFramePr>
        <p:xfrm>
          <a:off x="630685" y="81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1103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(sec)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✖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74" name="Google Shape;1274;p106"/>
          <p:cNvSpPr txBox="1"/>
          <p:nvPr>
            <p:ph idx="1" type="body"/>
          </p:nvPr>
        </p:nvSpPr>
        <p:spPr>
          <a:xfrm>
            <a:off x="324000" y="3982732"/>
            <a:ext cx="4615500" cy="64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</a:t>
            </a:r>
            <a:r>
              <a:rPr lang="en-GB" sz="1800"/>
              <a:t>) Use your three-point moving </a:t>
            </a:r>
            <a:r>
              <a:rPr lang="en-GB" sz="1800"/>
              <a:t>averages to make a prediction as to when Aisha might break the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r>
              <a:rPr lang="en-GB" sz="1800"/>
              <a:t> second barrier.</a:t>
            </a:r>
            <a:endParaRPr sz="1800"/>
          </a:p>
        </p:txBody>
      </p:sp>
      <p:sp>
        <p:nvSpPr>
          <p:cNvPr id="1275" name="Google Shape;1275;p106"/>
          <p:cNvSpPr txBox="1"/>
          <p:nvPr>
            <p:ph idx="4294967295" type="body"/>
          </p:nvPr>
        </p:nvSpPr>
        <p:spPr>
          <a:xfrm>
            <a:off x="8186919" y="4557793"/>
            <a:ext cx="381000" cy="2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Wk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76" name="Google Shape;1276;p106"/>
          <p:cNvSpPr txBox="1"/>
          <p:nvPr>
            <p:ph idx="4294967295" type="body"/>
          </p:nvPr>
        </p:nvSpPr>
        <p:spPr>
          <a:xfrm rot="-5400000">
            <a:off x="4625510" y="2988952"/>
            <a:ext cx="822900" cy="23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Time (s)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0" name="Shape 1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1" name="Google Shape;1281;p107"/>
          <p:cNvSpPr txBox="1"/>
          <p:nvPr>
            <p:ph idx="1" type="body"/>
          </p:nvPr>
        </p:nvSpPr>
        <p:spPr>
          <a:xfrm>
            <a:off x="324000" y="759300"/>
            <a:ext cx="8237700" cy="73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a) Jacob goes skateboarding and his watch records his b.p.m.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Write at least three sentences to describe Jacob’s skating session. Use words like ‘moderate intensity’ and ‘high intensity’.</a:t>
            </a:r>
            <a:endParaRPr sz="2000"/>
          </a:p>
        </p:txBody>
      </p:sp>
      <p:sp>
        <p:nvSpPr>
          <p:cNvPr id="1282" name="Google Shape;1282;p10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Recording and using data</a:t>
            </a:r>
            <a:endParaRPr/>
          </a:p>
        </p:txBody>
      </p:sp>
      <p:pic>
        <p:nvPicPr>
          <p:cNvPr id="1283" name="Google Shape;1283;p10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329949" y="1901644"/>
            <a:ext cx="1065501" cy="13124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4" name="Google Shape;1284;p10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62372" y="1881870"/>
            <a:ext cx="3716873" cy="2887802"/>
          </a:xfrm>
          <a:prstGeom prst="rect">
            <a:avLst/>
          </a:prstGeom>
          <a:noFill/>
          <a:ln>
            <a:noFill/>
          </a:ln>
        </p:spPr>
      </p:pic>
      <p:sp>
        <p:nvSpPr>
          <p:cNvPr id="1285" name="Google Shape;1285;p107"/>
          <p:cNvSpPr txBox="1"/>
          <p:nvPr>
            <p:ph idx="4294967295" type="body"/>
          </p:nvPr>
        </p:nvSpPr>
        <p:spPr>
          <a:xfrm>
            <a:off x="7826120" y="4550634"/>
            <a:ext cx="7722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(min)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6" name="Google Shape;1286;p107"/>
          <p:cNvSpPr txBox="1"/>
          <p:nvPr>
            <p:ph idx="4294967295" type="body"/>
          </p:nvPr>
        </p:nvSpPr>
        <p:spPr>
          <a:xfrm rot="-5400000">
            <a:off x="3548638" y="2041460"/>
            <a:ext cx="612900" cy="23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b.p.m.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87" name="Google Shape;1287;p107"/>
          <p:cNvSpPr txBox="1"/>
          <p:nvPr>
            <p:ph idx="1" type="body"/>
          </p:nvPr>
        </p:nvSpPr>
        <p:spPr>
          <a:xfrm>
            <a:off x="324000" y="3555672"/>
            <a:ext cx="8237700" cy="938100"/>
          </a:xfrm>
          <a:prstGeom prst="rect">
            <a:avLst/>
          </a:prstGeom>
          <a:solidFill>
            <a:srgbClr val="F2EEFA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You might have written: “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Jacob spent the first 20 minutes skating at a moderate intensity. He then had a period of rest. He finished with a period of high intensity where his heart rate was at its max”.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1" name="Shape 1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2" name="Google Shape;1292;p108"/>
          <p:cNvSpPr txBox="1"/>
          <p:nvPr>
            <p:ph idx="1" type="body"/>
          </p:nvPr>
        </p:nvSpPr>
        <p:spPr>
          <a:xfrm>
            <a:off x="324000" y="759300"/>
            <a:ext cx="3326700" cy="1160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1) b) Rank these three moments with a numerical value from the trainers’ RPE chart.</a:t>
            </a:r>
            <a:endParaRPr sz="2000"/>
          </a:p>
        </p:txBody>
      </p:sp>
      <p:sp>
        <p:nvSpPr>
          <p:cNvPr id="1293" name="Google Shape;1293;p10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Recording and using data</a:t>
            </a:r>
            <a:endParaRPr/>
          </a:p>
        </p:txBody>
      </p:sp>
      <p:pic>
        <p:nvPicPr>
          <p:cNvPr id="1294" name="Google Shape;1294;p10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8850" y="2191021"/>
            <a:ext cx="3051926" cy="2371174"/>
          </a:xfrm>
          <a:prstGeom prst="rect">
            <a:avLst/>
          </a:prstGeom>
          <a:noFill/>
          <a:ln>
            <a:noFill/>
          </a:ln>
        </p:spPr>
      </p:pic>
      <p:sp>
        <p:nvSpPr>
          <p:cNvPr id="1295" name="Google Shape;1295;p108"/>
          <p:cNvSpPr txBox="1"/>
          <p:nvPr>
            <p:ph idx="4294967295" type="body"/>
          </p:nvPr>
        </p:nvSpPr>
        <p:spPr>
          <a:xfrm>
            <a:off x="2902062" y="4550627"/>
            <a:ext cx="739200" cy="2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1800">
                <a:latin typeface="Times New Roman"/>
                <a:ea typeface="Times New Roman"/>
                <a:cs typeface="Times New Roman"/>
                <a:sym typeface="Times New Roman"/>
              </a:rPr>
              <a:t>T</a:t>
            </a: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 (min)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296" name="Google Shape;1296;p108"/>
          <p:cNvSpPr txBox="1"/>
          <p:nvPr>
            <p:ph idx="4294967295" type="body"/>
          </p:nvPr>
        </p:nvSpPr>
        <p:spPr>
          <a:xfrm rot="-5400000">
            <a:off x="85118" y="2350607"/>
            <a:ext cx="612900" cy="23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b.p.m.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graphicFrame>
        <p:nvGraphicFramePr>
          <p:cNvPr id="1297" name="Google Shape;1297;p108"/>
          <p:cNvGraphicFramePr/>
          <p:nvPr/>
        </p:nvGraphicFramePr>
        <p:xfrm>
          <a:off x="3847719" y="80817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505225"/>
                <a:gridCol w="927075"/>
                <a:gridCol w="3205825"/>
              </a:tblGrid>
              <a:tr h="307550">
                <a:tc gridSpan="3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accent4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RPE Chart </a:t>
                      </a:r>
                      <a:r>
                        <a:rPr lang="en-GB" sz="1600">
                          <a:solidFill>
                            <a:schemeClr val="accent4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(Rate of perceived exertion)</a:t>
                      </a:r>
                      <a:endParaRPr sz="1600">
                        <a:solidFill>
                          <a:schemeClr val="accent4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  <a:tr h="7387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Max effort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Impossible to continue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Out of breath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Unable to talk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Very hard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Hard to maintain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Can barely breathe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Speaking single words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7-8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Vigorous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Verge of uncomfortable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Short of breath, single sentences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Moderate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Could continue for hours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Breathing heavy, short conversation 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-</a:t>
                      </a: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Light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Easy to maintain for hours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Can maintain conversation easily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801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latin typeface="Lexend"/>
                          <a:ea typeface="Lexend"/>
                          <a:cs typeface="Lexend"/>
                          <a:sym typeface="Lexend"/>
                        </a:rPr>
                        <a:t>Very light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Anything other than sleeping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e.g. Sitting watching T.V.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98" name="Google Shape;1298;p108"/>
          <p:cNvSpPr/>
          <p:nvPr/>
        </p:nvSpPr>
        <p:spPr>
          <a:xfrm>
            <a:off x="1360926" y="2365147"/>
            <a:ext cx="520200" cy="300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9" name="Google Shape;1299;p108"/>
          <p:cNvSpPr/>
          <p:nvPr/>
        </p:nvSpPr>
        <p:spPr>
          <a:xfrm>
            <a:off x="2984496" y="1919450"/>
            <a:ext cx="520200" cy="300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0" name="Google Shape;1300;p108"/>
          <p:cNvSpPr/>
          <p:nvPr/>
        </p:nvSpPr>
        <p:spPr>
          <a:xfrm>
            <a:off x="2141600" y="3565688"/>
            <a:ext cx="460200" cy="300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1" name="Google Shape;1301;p108"/>
          <p:cNvSpPr txBox="1"/>
          <p:nvPr>
            <p:ph idx="1" type="body"/>
          </p:nvPr>
        </p:nvSpPr>
        <p:spPr>
          <a:xfrm>
            <a:off x="1238400" y="2366238"/>
            <a:ext cx="739200" cy="3003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4 to 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2" name="Google Shape;1302;p108"/>
          <p:cNvSpPr txBox="1"/>
          <p:nvPr>
            <p:ph idx="1" type="body"/>
          </p:nvPr>
        </p:nvSpPr>
        <p:spPr>
          <a:xfrm>
            <a:off x="2914800" y="1918563"/>
            <a:ext cx="739200" cy="3003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7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or 8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03" name="Google Shape;1303;p108"/>
          <p:cNvSpPr txBox="1"/>
          <p:nvPr>
            <p:ph idx="1" type="body"/>
          </p:nvPr>
        </p:nvSpPr>
        <p:spPr>
          <a:xfrm>
            <a:off x="2138513" y="3566388"/>
            <a:ext cx="460200" cy="30030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1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7" name="Shape 1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08" name="Google Shape;1308;p109"/>
          <p:cNvGraphicFramePr/>
          <p:nvPr/>
        </p:nvGraphicFramePr>
        <p:xfrm>
          <a:off x="600512" y="25372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791900"/>
                <a:gridCol w="2456675"/>
                <a:gridCol w="2221775"/>
                <a:gridCol w="2318125"/>
              </a:tblGrid>
              <a:tr h="205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Age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Moderate exercise min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High intensity starts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High intensity max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140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170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95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 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161.5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119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127.5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09" name="Google Shape;1309;p109"/>
          <p:cNvSpPr txBox="1"/>
          <p:nvPr>
            <p:ph idx="1" type="body"/>
          </p:nvPr>
        </p:nvSpPr>
        <p:spPr>
          <a:xfrm>
            <a:off x="324000" y="759300"/>
            <a:ext cx="7599900" cy="52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2) Sporty Sofia is filling in a target heart rate chart for older members of her family to use whilst exercising.</a:t>
            </a:r>
            <a:endParaRPr sz="1800"/>
          </a:p>
        </p:txBody>
      </p:sp>
      <p:sp>
        <p:nvSpPr>
          <p:cNvPr id="1310" name="Google Shape;1310;p10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Recording and using data</a:t>
            </a:r>
            <a:endParaRPr/>
          </a:p>
        </p:txBody>
      </p:sp>
      <p:sp>
        <p:nvSpPr>
          <p:cNvPr id="1311" name="Google Shape;1311;p109"/>
          <p:cNvSpPr txBox="1"/>
          <p:nvPr>
            <p:ph idx="4294967295" type="body"/>
          </p:nvPr>
        </p:nvSpPr>
        <p:spPr>
          <a:xfrm>
            <a:off x="247800" y="1330026"/>
            <a:ext cx="7362000" cy="32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1800"/>
              <a:t>Your maximum heart rate is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220 b.p.m.</a:t>
            </a:r>
            <a:r>
              <a:rPr lang="en-GB" sz="1800"/>
              <a:t> minus age</a:t>
            </a:r>
            <a:endParaRPr sz="1800"/>
          </a:p>
        </p:txBody>
      </p:sp>
      <p:sp>
        <p:nvSpPr>
          <p:cNvPr id="1312" name="Google Shape;1312;p109"/>
          <p:cNvSpPr txBox="1"/>
          <p:nvPr>
            <p:ph idx="4294967295" type="body"/>
          </p:nvPr>
        </p:nvSpPr>
        <p:spPr>
          <a:xfrm>
            <a:off x="247800" y="1653492"/>
            <a:ext cx="8572200" cy="32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1800"/>
              <a:t>Target heart rate for moderate exercise is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50 − 70%</a:t>
            </a:r>
            <a:r>
              <a:rPr lang="en-GB" sz="1800"/>
              <a:t> of maximum</a:t>
            </a:r>
            <a:endParaRPr sz="1800"/>
          </a:p>
        </p:txBody>
      </p:sp>
      <p:sp>
        <p:nvSpPr>
          <p:cNvPr id="1313" name="Google Shape;1313;p109"/>
          <p:cNvSpPr txBox="1"/>
          <p:nvPr>
            <p:ph idx="4294967295" type="body"/>
          </p:nvPr>
        </p:nvSpPr>
        <p:spPr>
          <a:xfrm>
            <a:off x="247800" y="1999971"/>
            <a:ext cx="8572200" cy="321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SzPts val="2200"/>
              <a:buChar char="●"/>
            </a:pPr>
            <a:r>
              <a:rPr lang="en-GB" sz="1800"/>
              <a:t>Target heart rate for high intensity exercise is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70 − 85%</a:t>
            </a:r>
            <a:r>
              <a:rPr lang="en-GB" sz="1800"/>
              <a:t> of maximum</a:t>
            </a:r>
            <a:endParaRPr sz="1800"/>
          </a:p>
        </p:txBody>
      </p:sp>
      <p:pic>
        <p:nvPicPr>
          <p:cNvPr id="1314" name="Google Shape;1314;p10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23824" y="815755"/>
            <a:ext cx="901142" cy="999679"/>
          </a:xfrm>
          <a:prstGeom prst="rect">
            <a:avLst/>
          </a:prstGeom>
          <a:noFill/>
          <a:ln>
            <a:noFill/>
          </a:ln>
        </p:spPr>
      </p:pic>
      <p:sp>
        <p:nvSpPr>
          <p:cNvPr id="1315" name="Google Shape;1315;p109"/>
          <p:cNvSpPr txBox="1"/>
          <p:nvPr>
            <p:ph idx="1" type="body"/>
          </p:nvPr>
        </p:nvSpPr>
        <p:spPr>
          <a:xfrm>
            <a:off x="324000" y="4575000"/>
            <a:ext cx="7526700" cy="24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Fill in the blanks in the table.</a:t>
            </a:r>
            <a:endParaRPr sz="1800"/>
          </a:p>
        </p:txBody>
      </p:sp>
      <p:graphicFrame>
        <p:nvGraphicFramePr>
          <p:cNvPr id="1316" name="Google Shape;1316;p109"/>
          <p:cNvGraphicFramePr/>
          <p:nvPr/>
        </p:nvGraphicFramePr>
        <p:xfrm>
          <a:off x="600512" y="25372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791900"/>
                <a:gridCol w="2456675"/>
                <a:gridCol w="2221775"/>
                <a:gridCol w="2318125"/>
              </a:tblGrid>
              <a:tr h="2056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Age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Moderate exercise min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High intensity starts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High intensity max</a:t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20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100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140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170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95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133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161.5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50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85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119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144.5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53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70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75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105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127.5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0" name="Shape 1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1" name="Google Shape;1321;p110"/>
          <p:cNvSpPr txBox="1"/>
          <p:nvPr>
            <p:ph idx="1" type="body"/>
          </p:nvPr>
        </p:nvSpPr>
        <p:spPr>
          <a:xfrm>
            <a:off x="324000" y="759300"/>
            <a:ext cx="8237700" cy="75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3) Aisha is trying to improve her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400</a:t>
            </a:r>
            <a:r>
              <a:rPr lang="en-GB" sz="2000"/>
              <a:t> metre time. Here are her best times over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r>
              <a:rPr lang="en-GB" sz="2000"/>
              <a:t> weeks of training.</a:t>
            </a:r>
            <a:endParaRPr sz="2000"/>
          </a:p>
        </p:txBody>
      </p:sp>
      <p:sp>
        <p:nvSpPr>
          <p:cNvPr id="1322" name="Google Shape;1322;p11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Recording and using data</a:t>
            </a:r>
            <a:endParaRPr/>
          </a:p>
        </p:txBody>
      </p:sp>
      <p:sp>
        <p:nvSpPr>
          <p:cNvPr id="1323" name="Google Shape;1323;p110"/>
          <p:cNvSpPr txBox="1"/>
          <p:nvPr/>
        </p:nvSpPr>
        <p:spPr>
          <a:xfrm>
            <a:off x="7255185" y="1298787"/>
            <a:ext cx="1560600" cy="313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Lexend"/>
                <a:ea typeface="Lexend"/>
                <a:cs typeface="Lexend"/>
                <a:sym typeface="Lexend"/>
              </a:rPr>
              <a:t>Athletic Aisha</a:t>
            </a:r>
            <a:endParaRPr sz="18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24" name="Google Shape;1324;p1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136050" y="1623492"/>
            <a:ext cx="660713" cy="1247574"/>
          </a:xfrm>
          <a:prstGeom prst="rect">
            <a:avLst/>
          </a:prstGeom>
          <a:noFill/>
          <a:ln>
            <a:noFill/>
          </a:ln>
        </p:spPr>
      </p:pic>
      <p:sp>
        <p:nvSpPr>
          <p:cNvPr id="1325" name="Google Shape;1325;p110"/>
          <p:cNvSpPr txBox="1"/>
          <p:nvPr>
            <p:ph idx="1" type="body"/>
          </p:nvPr>
        </p:nvSpPr>
        <p:spPr>
          <a:xfrm>
            <a:off x="324000" y="2576593"/>
            <a:ext cx="67557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a) Calculate the mean, mode and median of her times.</a:t>
            </a:r>
            <a:endParaRPr sz="1800"/>
          </a:p>
        </p:txBody>
      </p:sp>
      <p:sp>
        <p:nvSpPr>
          <p:cNvPr id="1326" name="Google Shape;1326;p110"/>
          <p:cNvSpPr txBox="1"/>
          <p:nvPr>
            <p:ph idx="1" type="body"/>
          </p:nvPr>
        </p:nvSpPr>
        <p:spPr>
          <a:xfrm>
            <a:off x="324000" y="3368773"/>
            <a:ext cx="8496000" cy="523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b) Write a sentence explaining why these three averages alone do not inform you as to whether Aisha is improving.</a:t>
            </a:r>
            <a:endParaRPr sz="1800"/>
          </a:p>
        </p:txBody>
      </p:sp>
      <p:graphicFrame>
        <p:nvGraphicFramePr>
          <p:cNvPr id="1327" name="Google Shape;1327;p110"/>
          <p:cNvGraphicFramePr/>
          <p:nvPr/>
        </p:nvGraphicFramePr>
        <p:xfrm>
          <a:off x="325885" y="162283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1103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(sec)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28" name="Google Shape;1328;p110"/>
          <p:cNvSpPr txBox="1"/>
          <p:nvPr>
            <p:ph idx="4294967295" type="body"/>
          </p:nvPr>
        </p:nvSpPr>
        <p:spPr>
          <a:xfrm>
            <a:off x="639075" y="2946087"/>
            <a:ext cx="17316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Mode: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70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sec</a:t>
            </a:r>
            <a:endParaRPr sz="1800"/>
          </a:p>
        </p:txBody>
      </p:sp>
      <p:sp>
        <p:nvSpPr>
          <p:cNvPr id="1329" name="Google Shape;1329;p110"/>
          <p:cNvSpPr txBox="1"/>
          <p:nvPr>
            <p:ph idx="4294967295" type="body"/>
          </p:nvPr>
        </p:nvSpPr>
        <p:spPr>
          <a:xfrm>
            <a:off x="2879048" y="2946093"/>
            <a:ext cx="20451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Median: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68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sec</a:t>
            </a:r>
            <a:endParaRPr sz="1800"/>
          </a:p>
        </p:txBody>
      </p:sp>
      <p:sp>
        <p:nvSpPr>
          <p:cNvPr id="1330" name="Google Shape;1330;p110"/>
          <p:cNvSpPr txBox="1"/>
          <p:nvPr>
            <p:ph idx="4294967295" type="body"/>
          </p:nvPr>
        </p:nvSpPr>
        <p:spPr>
          <a:xfrm>
            <a:off x="5241248" y="2946098"/>
            <a:ext cx="18090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Mean: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67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.9 sec</a:t>
            </a:r>
            <a:endParaRPr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31" name="Google Shape;1331;p110"/>
          <p:cNvSpPr txBox="1"/>
          <p:nvPr>
            <p:ph idx="4294967295" type="body"/>
          </p:nvPr>
        </p:nvSpPr>
        <p:spPr>
          <a:xfrm>
            <a:off x="334275" y="4001375"/>
            <a:ext cx="8496000" cy="3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You might have said, “These averages are calculated over the whole ten weeks. They give us important information but show nothing about progress over time.”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5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6" name="Google Shape;1336;p111"/>
          <p:cNvGraphicFramePr/>
          <p:nvPr/>
        </p:nvGraphicFramePr>
        <p:xfrm>
          <a:off x="630685" y="81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1103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(sec)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✖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37" name="Google Shape;1337;p111"/>
          <p:cNvGraphicFramePr/>
          <p:nvPr/>
        </p:nvGraphicFramePr>
        <p:xfrm>
          <a:off x="630685" y="81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1103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(sec)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✖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</a:t>
                      </a: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✖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338" name="Google Shape;1338;p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2641" y="2040525"/>
            <a:ext cx="2988774" cy="2775148"/>
          </a:xfrm>
          <a:prstGeom prst="rect">
            <a:avLst/>
          </a:prstGeom>
          <a:noFill/>
          <a:ln>
            <a:noFill/>
          </a:ln>
        </p:spPr>
      </p:pic>
      <p:sp>
        <p:nvSpPr>
          <p:cNvPr id="1339" name="Google Shape;1339;p111"/>
          <p:cNvSpPr txBox="1"/>
          <p:nvPr>
            <p:ph idx="1" type="body"/>
          </p:nvPr>
        </p:nvSpPr>
        <p:spPr>
          <a:xfrm>
            <a:off x="324000" y="759300"/>
            <a:ext cx="306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3)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/>
          </a:p>
        </p:txBody>
      </p:sp>
      <p:sp>
        <p:nvSpPr>
          <p:cNvPr id="1340" name="Google Shape;1340;p11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Recording and using data</a:t>
            </a:r>
            <a:endParaRPr/>
          </a:p>
        </p:txBody>
      </p:sp>
      <p:pic>
        <p:nvPicPr>
          <p:cNvPr id="1341" name="Google Shape;1341;p1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98145" y="808300"/>
            <a:ext cx="598629" cy="113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42" name="Google Shape;1342;p111"/>
          <p:cNvSpPr txBox="1"/>
          <p:nvPr>
            <p:ph idx="1" type="body"/>
          </p:nvPr>
        </p:nvSpPr>
        <p:spPr>
          <a:xfrm>
            <a:off x="324000" y="2061850"/>
            <a:ext cx="4824900" cy="32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c) Populate the table of three-point moving averages (to the nearest whole number). The first one is done for you.</a:t>
            </a:r>
            <a:endParaRPr sz="1800"/>
          </a:p>
        </p:txBody>
      </p:sp>
      <p:sp>
        <p:nvSpPr>
          <p:cNvPr id="1343" name="Google Shape;1343;p111"/>
          <p:cNvSpPr txBox="1"/>
          <p:nvPr>
            <p:ph idx="1" type="body"/>
          </p:nvPr>
        </p:nvSpPr>
        <p:spPr>
          <a:xfrm>
            <a:off x="324000" y="3033800"/>
            <a:ext cx="4166700" cy="64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d) Graph Aisha’s three-point moving averages and write a comment as to whether she is improving.</a:t>
            </a:r>
            <a:endParaRPr sz="1800"/>
          </a:p>
        </p:txBody>
      </p:sp>
      <p:pic>
        <p:nvPicPr>
          <p:cNvPr id="1344" name="Google Shape;1344;p1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205816" y="2044175"/>
            <a:ext cx="2980234" cy="2775148"/>
          </a:xfrm>
          <a:prstGeom prst="rect">
            <a:avLst/>
          </a:prstGeom>
          <a:noFill/>
          <a:ln>
            <a:noFill/>
          </a:ln>
        </p:spPr>
      </p:pic>
      <p:sp>
        <p:nvSpPr>
          <p:cNvPr id="1345" name="Google Shape;1345;p111"/>
          <p:cNvSpPr txBox="1"/>
          <p:nvPr>
            <p:ph idx="4294967295" type="body"/>
          </p:nvPr>
        </p:nvSpPr>
        <p:spPr>
          <a:xfrm>
            <a:off x="8186919" y="4557793"/>
            <a:ext cx="381000" cy="2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Wk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6" name="Google Shape;1346;p111"/>
          <p:cNvSpPr txBox="1"/>
          <p:nvPr>
            <p:ph idx="4294967295" type="body"/>
          </p:nvPr>
        </p:nvSpPr>
        <p:spPr>
          <a:xfrm rot="-5400000">
            <a:off x="4625510" y="2988952"/>
            <a:ext cx="822900" cy="23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Time (s)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47" name="Google Shape;1347;p111"/>
          <p:cNvSpPr txBox="1"/>
          <p:nvPr>
            <p:ph idx="4294967295" type="body"/>
          </p:nvPr>
        </p:nvSpPr>
        <p:spPr>
          <a:xfrm>
            <a:off x="334275" y="4020050"/>
            <a:ext cx="5134500" cy="645300"/>
          </a:xfrm>
          <a:prstGeom prst="rect">
            <a:avLst/>
          </a:prstGeom>
          <a:solidFill>
            <a:srgbClr val="F2EEFA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You might have said, “Aisha’s three-point moving averages are trending downwards; she is improving.”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1" name="Shape 1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52" name="Google Shape;1352;p112"/>
          <p:cNvGraphicFramePr/>
          <p:nvPr/>
        </p:nvGraphicFramePr>
        <p:xfrm>
          <a:off x="630685" y="81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1103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(sec)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✖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aphicFrame>
        <p:nvGraphicFramePr>
          <p:cNvPr id="1353" name="Google Shape;1353;p112"/>
          <p:cNvGraphicFramePr/>
          <p:nvPr/>
        </p:nvGraphicFramePr>
        <p:xfrm>
          <a:off x="630685" y="819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1103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  <a:gridCol w="567975"/>
              </a:tblGrid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Week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6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Time (sec)</a:t>
                      </a:r>
                      <a:endParaRPr sz="1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64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63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06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✖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70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latin typeface="Kalam"/>
                          <a:ea typeface="Kalam"/>
                          <a:cs typeface="Kalam"/>
                          <a:sym typeface="Kalam"/>
                        </a:rPr>
                        <a:t>70</a:t>
                      </a:r>
                      <a:endParaRPr sz="2000"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69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68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66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67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Kalam"/>
                          <a:ea typeface="Kalam"/>
                          <a:cs typeface="Kalam"/>
                          <a:sym typeface="Kalam"/>
                        </a:rPr>
                        <a:t>65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✖</a:t>
                      </a:r>
                      <a:endParaRPr sz="2000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354" name="Google Shape;1354;p1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02641" y="2040525"/>
            <a:ext cx="2988774" cy="2775148"/>
          </a:xfrm>
          <a:prstGeom prst="rect">
            <a:avLst/>
          </a:prstGeom>
          <a:noFill/>
          <a:ln>
            <a:noFill/>
          </a:ln>
        </p:spPr>
      </p:pic>
      <p:sp>
        <p:nvSpPr>
          <p:cNvPr id="1355" name="Google Shape;1355;p112"/>
          <p:cNvSpPr txBox="1"/>
          <p:nvPr>
            <p:ph idx="1" type="body"/>
          </p:nvPr>
        </p:nvSpPr>
        <p:spPr>
          <a:xfrm>
            <a:off x="324000" y="759300"/>
            <a:ext cx="306600" cy="38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3)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2000"/>
          </a:p>
        </p:txBody>
      </p:sp>
      <p:sp>
        <p:nvSpPr>
          <p:cNvPr id="1356" name="Google Shape;1356;p112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Recording and using data</a:t>
            </a:r>
            <a:endParaRPr/>
          </a:p>
        </p:txBody>
      </p:sp>
      <p:pic>
        <p:nvPicPr>
          <p:cNvPr id="1357" name="Google Shape;1357;p1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8198145" y="808300"/>
            <a:ext cx="598629" cy="113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8" name="Google Shape;1358;p112"/>
          <p:cNvSpPr txBox="1"/>
          <p:nvPr>
            <p:ph idx="1" type="body"/>
          </p:nvPr>
        </p:nvSpPr>
        <p:spPr>
          <a:xfrm>
            <a:off x="324000" y="2073385"/>
            <a:ext cx="4615500" cy="645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/>
              <a:t>e) Use your three-point moving averages to make a prediction as to when Aisha might break the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r>
              <a:rPr lang="en-GB" sz="1800"/>
              <a:t> second barrier.</a:t>
            </a:r>
            <a:endParaRPr sz="1800"/>
          </a:p>
        </p:txBody>
      </p:sp>
      <p:pic>
        <p:nvPicPr>
          <p:cNvPr id="1359" name="Google Shape;1359;p1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05816" y="2044175"/>
            <a:ext cx="2980234" cy="2775148"/>
          </a:xfrm>
          <a:prstGeom prst="rect">
            <a:avLst/>
          </a:prstGeom>
          <a:noFill/>
          <a:ln>
            <a:noFill/>
          </a:ln>
        </p:spPr>
      </p:pic>
      <p:sp>
        <p:nvSpPr>
          <p:cNvPr id="1360" name="Google Shape;1360;p112"/>
          <p:cNvSpPr txBox="1"/>
          <p:nvPr>
            <p:ph idx="4294967295" type="body"/>
          </p:nvPr>
        </p:nvSpPr>
        <p:spPr>
          <a:xfrm>
            <a:off x="8186919" y="4557793"/>
            <a:ext cx="381000" cy="2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Wk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1" name="Google Shape;1361;p112"/>
          <p:cNvSpPr txBox="1"/>
          <p:nvPr>
            <p:ph idx="4294967295" type="body"/>
          </p:nvPr>
        </p:nvSpPr>
        <p:spPr>
          <a:xfrm rot="-5400000">
            <a:off x="4625510" y="2988952"/>
            <a:ext cx="822900" cy="233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Times New Roman"/>
                <a:ea typeface="Times New Roman"/>
                <a:cs typeface="Times New Roman"/>
                <a:sym typeface="Times New Roman"/>
              </a:rPr>
              <a:t>Time (s)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362" name="Google Shape;1362;p112"/>
          <p:cNvSpPr txBox="1"/>
          <p:nvPr>
            <p:ph idx="4294967295" type="body"/>
          </p:nvPr>
        </p:nvSpPr>
        <p:spPr>
          <a:xfrm>
            <a:off x="334275" y="3025100"/>
            <a:ext cx="4246800" cy="1532700"/>
          </a:xfrm>
          <a:prstGeom prst="rect">
            <a:avLst/>
          </a:prstGeom>
          <a:solidFill>
            <a:srgbClr val="F2EEFA"/>
          </a:solidFill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latin typeface="Kalam"/>
                <a:ea typeface="Kalam"/>
                <a:cs typeface="Kalam"/>
                <a:sym typeface="Kalam"/>
              </a:rPr>
              <a:t>You might have said, “Aisha’s three-point moving averages are improving by approximately half a second per week. If this trend continues she should break the 60 second barrier in another ten weeks.”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6" name="Shape 1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7" name="Google Shape;1367;p113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Recording and using data</a:t>
            </a:r>
            <a:endParaRPr/>
          </a:p>
        </p:txBody>
      </p:sp>
      <p:sp>
        <p:nvSpPr>
          <p:cNvPr id="1368" name="Google Shape;1368;p113"/>
          <p:cNvSpPr txBox="1"/>
          <p:nvPr>
            <p:ph idx="2" type="title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data to plan </a:t>
            </a:r>
            <a:r>
              <a:rPr lang="en-GB"/>
              <a:t>training sessions</a:t>
            </a:r>
            <a:endParaRPr/>
          </a:p>
        </p:txBody>
      </p:sp>
      <p:sp>
        <p:nvSpPr>
          <p:cNvPr id="1369" name="Google Shape;1369;p113"/>
          <p:cNvSpPr txBox="1"/>
          <p:nvPr>
            <p:ph idx="3" type="title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Sports coaching</a:t>
            </a:r>
            <a:endParaRPr/>
          </a:p>
        </p:txBody>
      </p:sp>
      <p:pic>
        <p:nvPicPr>
          <p:cNvPr id="1370" name="Google Shape;1370;p1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9337" y="2991758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114"/>
          <p:cNvSpPr txBox="1"/>
          <p:nvPr>
            <p:ph idx="1" type="body"/>
          </p:nvPr>
        </p:nvSpPr>
        <p:spPr>
          <a:xfrm>
            <a:off x="324000" y="759300"/>
            <a:ext cx="8237700" cy="1007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Sports</a:t>
            </a:r>
            <a:r>
              <a:rPr lang="en-GB"/>
              <a:t> coaches use data to plan </a:t>
            </a:r>
            <a:r>
              <a:rPr lang="en-GB"/>
              <a:t>training</a:t>
            </a:r>
            <a:r>
              <a:rPr lang="en-GB"/>
              <a:t> sessions which fit the training needs of the athlete.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-GB"/>
              <a:t>Research</a:t>
            </a:r>
            <a:r>
              <a:rPr lang="en-GB"/>
              <a:t> has told us that different types of athletes have differing training needs so </a:t>
            </a:r>
            <a:r>
              <a:rPr lang="en-GB"/>
              <a:t>should</a:t>
            </a:r>
            <a:r>
              <a:rPr lang="en-GB"/>
              <a:t> be training differently.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/>
              <a:t>The train</a:t>
            </a:r>
            <a:r>
              <a:rPr lang="en-GB"/>
              <a:t>ing plan needs to meet the performance targets of the athlete.</a:t>
            </a:r>
            <a:endParaRPr/>
          </a:p>
        </p:txBody>
      </p:sp>
      <p:sp>
        <p:nvSpPr>
          <p:cNvPr id="1376" name="Google Shape;1376;p11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data to plan </a:t>
            </a:r>
            <a:r>
              <a:rPr lang="en-GB"/>
              <a:t>training sessions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0" name="Shape 1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1" name="Google Shape;1381;p11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data to plan </a:t>
            </a:r>
            <a:r>
              <a:rPr lang="en-GB"/>
              <a:t>training sessions</a:t>
            </a:r>
            <a:endParaRPr/>
          </a:p>
        </p:txBody>
      </p:sp>
      <p:graphicFrame>
        <p:nvGraphicFramePr>
          <p:cNvPr id="1382" name="Google Shape;1382;p115"/>
          <p:cNvGraphicFramePr/>
          <p:nvPr/>
        </p:nvGraphicFramePr>
        <p:xfrm>
          <a:off x="323988" y="8132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902100"/>
                <a:gridCol w="1014850"/>
                <a:gridCol w="1014850"/>
                <a:gridCol w="2275325"/>
                <a:gridCol w="2275325"/>
              </a:tblGrid>
              <a:tr h="42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Training Goal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Sets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Rep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Rest Period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Intensity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Endurance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3 - 4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12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Up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67%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leanness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3 - 6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- 12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67 - 85%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strength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- 6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minutes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85%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83" name="Google Shape;1383;p115"/>
          <p:cNvSpPr txBox="1"/>
          <p:nvPr>
            <p:ph idx="1" type="body"/>
          </p:nvPr>
        </p:nvSpPr>
        <p:spPr>
          <a:xfrm>
            <a:off x="324000" y="2588100"/>
            <a:ext cx="8237700" cy="443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/>
              <a:t>This table tells you how three different types of athletes should train.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7" name="Shape 1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8" name="Google Shape;1388;p11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data to plan </a:t>
            </a:r>
            <a:r>
              <a:rPr lang="en-GB"/>
              <a:t>training sessions</a:t>
            </a:r>
            <a:endParaRPr/>
          </a:p>
        </p:txBody>
      </p:sp>
      <p:graphicFrame>
        <p:nvGraphicFramePr>
          <p:cNvPr id="1389" name="Google Shape;1389;p116"/>
          <p:cNvGraphicFramePr/>
          <p:nvPr/>
        </p:nvGraphicFramePr>
        <p:xfrm>
          <a:off x="323988" y="8132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902100"/>
                <a:gridCol w="1014850"/>
                <a:gridCol w="1014850"/>
                <a:gridCol w="2275325"/>
                <a:gridCol w="2275325"/>
              </a:tblGrid>
              <a:tr h="42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Training Goal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Sets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Reps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Rest Period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Intensity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Endurance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3 - 4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12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Up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67%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leanness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3 - 6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6 - 12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67 - 85%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strength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4 - 6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minutes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85%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90" name="Google Shape;1390;p116"/>
          <p:cNvSpPr txBox="1"/>
          <p:nvPr>
            <p:ph idx="1" type="body"/>
          </p:nvPr>
        </p:nvSpPr>
        <p:spPr>
          <a:xfrm>
            <a:off x="324000" y="2575241"/>
            <a:ext cx="8237700" cy="7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‘Rep’ is short for ‘Repetition’; that is a single repetition of an exercise. Example, one press-up could be one ‘Rep’</a:t>
            </a:r>
            <a:endParaRPr sz="2000"/>
          </a:p>
        </p:txBody>
      </p:sp>
      <p:sp>
        <p:nvSpPr>
          <p:cNvPr id="1391" name="Google Shape;1391;p116"/>
          <p:cNvSpPr/>
          <p:nvPr/>
        </p:nvSpPr>
        <p:spPr>
          <a:xfrm>
            <a:off x="3322025" y="844250"/>
            <a:ext cx="847800" cy="345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2" name="Google Shape;1392;p116"/>
          <p:cNvSpPr txBox="1"/>
          <p:nvPr>
            <p:ph idx="1" type="body"/>
          </p:nvPr>
        </p:nvSpPr>
        <p:spPr>
          <a:xfrm>
            <a:off x="324000" y="3337241"/>
            <a:ext cx="8237700" cy="700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A </a:t>
            </a:r>
            <a:r>
              <a:rPr lang="en-GB" sz="2000"/>
              <a:t>‘Set’ is a collection of ‘Reps’. Example, ten press-ups could be one ‘Set’</a:t>
            </a:r>
            <a:endParaRPr sz="2000"/>
          </a:p>
        </p:txBody>
      </p:sp>
      <p:sp>
        <p:nvSpPr>
          <p:cNvPr id="1393" name="Google Shape;1393;p116"/>
          <p:cNvSpPr/>
          <p:nvPr/>
        </p:nvSpPr>
        <p:spPr>
          <a:xfrm>
            <a:off x="2305708" y="844250"/>
            <a:ext cx="847800" cy="345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4" name="Google Shape;1394;p116"/>
          <p:cNvSpPr/>
          <p:nvPr/>
        </p:nvSpPr>
        <p:spPr>
          <a:xfrm>
            <a:off x="4401684" y="844250"/>
            <a:ext cx="1979700" cy="345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5" name="Google Shape;1395;p116"/>
          <p:cNvSpPr txBox="1"/>
          <p:nvPr>
            <p:ph idx="1" type="body"/>
          </p:nvPr>
        </p:nvSpPr>
        <p:spPr>
          <a:xfrm>
            <a:off x="324000" y="4112100"/>
            <a:ext cx="8237700" cy="27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The</a:t>
            </a:r>
            <a:r>
              <a:rPr lang="en-GB" sz="2000"/>
              <a:t> ‘Rest Period’ is the time spent recovering between ‘Sets’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9" name="Shape 1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0" name="Google Shape;1400;p11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data to plan </a:t>
            </a:r>
            <a:r>
              <a:rPr lang="en-GB"/>
              <a:t>training sessions</a:t>
            </a:r>
            <a:endParaRPr/>
          </a:p>
        </p:txBody>
      </p:sp>
      <p:graphicFrame>
        <p:nvGraphicFramePr>
          <p:cNvPr id="1401" name="Google Shape;1401;p117"/>
          <p:cNvGraphicFramePr/>
          <p:nvPr/>
        </p:nvGraphicFramePr>
        <p:xfrm>
          <a:off x="323988" y="8132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902100"/>
                <a:gridCol w="1014850"/>
                <a:gridCol w="1014850"/>
                <a:gridCol w="2275325"/>
                <a:gridCol w="2275325"/>
              </a:tblGrid>
              <a:tr h="42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Training Goal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Sets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Reps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Rest Period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Intensity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Endurance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3 - 4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12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Up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67%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leanness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3 - 6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6 - 12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67 - 85%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strength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4 - 6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minutes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85%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02" name="Google Shape;1402;p117"/>
          <p:cNvSpPr txBox="1"/>
          <p:nvPr>
            <p:ph idx="1" type="body"/>
          </p:nvPr>
        </p:nvSpPr>
        <p:spPr>
          <a:xfrm>
            <a:off x="324000" y="2575245"/>
            <a:ext cx="8237700" cy="3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‘Intensity’ is how hard your body is working during an exercise</a:t>
            </a:r>
            <a:endParaRPr sz="2000"/>
          </a:p>
        </p:txBody>
      </p:sp>
      <p:sp>
        <p:nvSpPr>
          <p:cNvPr id="1403" name="Google Shape;1403;p117"/>
          <p:cNvSpPr/>
          <p:nvPr/>
        </p:nvSpPr>
        <p:spPr>
          <a:xfrm>
            <a:off x="6674825" y="844250"/>
            <a:ext cx="1979700" cy="3459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04" name="Google Shape;1404;p117"/>
          <p:cNvSpPr txBox="1"/>
          <p:nvPr>
            <p:ph idx="1" type="body"/>
          </p:nvPr>
        </p:nvSpPr>
        <p:spPr>
          <a:xfrm>
            <a:off x="324000" y="3032450"/>
            <a:ext cx="84825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‘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1RM</a:t>
            </a:r>
            <a:r>
              <a:rPr lang="en-GB" sz="2000"/>
              <a:t>’ is an abbreviation of ‘One Rep Max’, i.e. the maximum that can be achieved in one repetition of an </a:t>
            </a:r>
            <a:r>
              <a:rPr lang="en-GB" sz="2000"/>
              <a:t>exercise by an athlete</a:t>
            </a:r>
            <a:endParaRPr sz="2000"/>
          </a:p>
        </p:txBody>
      </p:sp>
      <p:grpSp>
        <p:nvGrpSpPr>
          <p:cNvPr id="1405" name="Google Shape;1405;p117"/>
          <p:cNvGrpSpPr/>
          <p:nvPr/>
        </p:nvGrpSpPr>
        <p:grpSpPr>
          <a:xfrm>
            <a:off x="7885925" y="1275734"/>
            <a:ext cx="753680" cy="1094773"/>
            <a:chOff x="7885925" y="1275734"/>
            <a:chExt cx="753680" cy="1094773"/>
          </a:xfrm>
        </p:grpSpPr>
        <p:sp>
          <p:nvSpPr>
            <p:cNvPr id="1406" name="Google Shape;1406;p117"/>
            <p:cNvSpPr/>
            <p:nvPr/>
          </p:nvSpPr>
          <p:spPr>
            <a:xfrm>
              <a:off x="7885925" y="1275734"/>
              <a:ext cx="627000" cy="3228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7" name="Google Shape;1407;p117"/>
            <p:cNvSpPr/>
            <p:nvPr/>
          </p:nvSpPr>
          <p:spPr>
            <a:xfrm>
              <a:off x="8012605" y="1669258"/>
              <a:ext cx="627000" cy="3228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08" name="Google Shape;1408;p117"/>
            <p:cNvSpPr/>
            <p:nvPr/>
          </p:nvSpPr>
          <p:spPr>
            <a:xfrm>
              <a:off x="7894974" y="2047707"/>
              <a:ext cx="627000" cy="322800"/>
            </a:xfrm>
            <a:prstGeom prst="roundRect">
              <a:avLst>
                <a:gd fmla="val 16667" name="adj"/>
              </a:avLst>
            </a:prstGeom>
            <a:noFill/>
            <a:ln cap="flat" cmpd="sng" w="38100">
              <a:solidFill>
                <a:schemeClr val="accent5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2" name="Shape 1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" name="Google Shape;1413;p11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data to plan </a:t>
            </a:r>
            <a:r>
              <a:rPr lang="en-GB"/>
              <a:t>training sessions</a:t>
            </a:r>
            <a:endParaRPr/>
          </a:p>
        </p:txBody>
      </p:sp>
      <p:graphicFrame>
        <p:nvGraphicFramePr>
          <p:cNvPr id="1414" name="Google Shape;1414;p118"/>
          <p:cNvGraphicFramePr/>
          <p:nvPr/>
        </p:nvGraphicFramePr>
        <p:xfrm>
          <a:off x="323988" y="8132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902100"/>
                <a:gridCol w="1014850"/>
                <a:gridCol w="1014850"/>
                <a:gridCol w="2275325"/>
                <a:gridCol w="2275325"/>
              </a:tblGrid>
              <a:tr h="42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Training Goal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Sets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Reps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Rest Period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Intensity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Endurance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3 - 4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12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Up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67%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leanness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3 - 6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6 - 12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67 - 85%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strength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4 - 6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minutes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85%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15" name="Google Shape;1415;p118"/>
          <p:cNvSpPr txBox="1"/>
          <p:nvPr>
            <p:ph idx="1" type="body"/>
          </p:nvPr>
        </p:nvSpPr>
        <p:spPr>
          <a:xfrm>
            <a:off x="324000" y="2575245"/>
            <a:ext cx="8237700" cy="3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A long distance runner might </a:t>
            </a:r>
            <a:r>
              <a:rPr lang="en-GB" sz="2000"/>
              <a:t>have</a:t>
            </a:r>
            <a:r>
              <a:rPr lang="en-GB" sz="2000"/>
              <a:t> the training goal of </a:t>
            </a:r>
            <a:r>
              <a:rPr lang="en-GB" sz="2000"/>
              <a:t>‘Endurance’</a:t>
            </a:r>
            <a:endParaRPr sz="2000"/>
          </a:p>
        </p:txBody>
      </p:sp>
      <p:sp>
        <p:nvSpPr>
          <p:cNvPr id="1416" name="Google Shape;1416;p118"/>
          <p:cNvSpPr/>
          <p:nvPr/>
        </p:nvSpPr>
        <p:spPr>
          <a:xfrm>
            <a:off x="389275" y="1262875"/>
            <a:ext cx="8341500" cy="33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7" name="Google Shape;1417;p118"/>
          <p:cNvSpPr/>
          <p:nvPr/>
        </p:nvSpPr>
        <p:spPr>
          <a:xfrm>
            <a:off x="389275" y="1656396"/>
            <a:ext cx="8341500" cy="33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8" name="Google Shape;1418;p118"/>
          <p:cNvSpPr/>
          <p:nvPr/>
        </p:nvSpPr>
        <p:spPr>
          <a:xfrm>
            <a:off x="389275" y="2050255"/>
            <a:ext cx="8341500" cy="33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19" name="Google Shape;1419;p118"/>
          <p:cNvSpPr txBox="1"/>
          <p:nvPr>
            <p:ph idx="1" type="body"/>
          </p:nvPr>
        </p:nvSpPr>
        <p:spPr>
          <a:xfrm>
            <a:off x="324000" y="3337245"/>
            <a:ext cx="8237700" cy="3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A decathlete might be training for ‘Muscle leanness’ because they need to </a:t>
            </a:r>
            <a:r>
              <a:rPr lang="en-GB" sz="2000"/>
              <a:t>perform</a:t>
            </a:r>
            <a:r>
              <a:rPr lang="en-GB" sz="2000"/>
              <a:t> a variety of athletic challenges</a:t>
            </a:r>
            <a:endParaRPr sz="2000"/>
          </a:p>
        </p:txBody>
      </p:sp>
      <p:sp>
        <p:nvSpPr>
          <p:cNvPr id="1420" name="Google Shape;1420;p118"/>
          <p:cNvSpPr txBox="1"/>
          <p:nvPr>
            <p:ph idx="1" type="body"/>
          </p:nvPr>
        </p:nvSpPr>
        <p:spPr>
          <a:xfrm>
            <a:off x="324000" y="4124963"/>
            <a:ext cx="8237700" cy="34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n-GB" sz="2000"/>
              <a:t>A weight lifter might be training for ‘Muscle strength’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119"/>
          <p:cNvSpPr txBox="1"/>
          <p:nvPr>
            <p:ph idx="1" type="body"/>
          </p:nvPr>
        </p:nvSpPr>
        <p:spPr>
          <a:xfrm>
            <a:off x="324000" y="2639550"/>
            <a:ext cx="8694900" cy="17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Someone with the training goal 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muscle strength</a:t>
            </a:r>
            <a:r>
              <a:rPr lang="en-GB" sz="2000"/>
              <a:t>    will typically do the fewest reps.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Someone with the training goal __________ will typically do the fewest sets.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Someone training at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70% </a:t>
            </a:r>
            <a:r>
              <a:rPr lang="en-GB" sz="2000"/>
              <a:t>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1RM</a:t>
            </a:r>
            <a:r>
              <a:rPr lang="en-GB" sz="2000"/>
              <a:t> is training towards ___________.</a:t>
            </a:r>
            <a:endParaRPr/>
          </a:p>
        </p:txBody>
      </p:sp>
      <p:sp>
        <p:nvSpPr>
          <p:cNvPr id="1426" name="Google Shape;1426;p11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data to plan </a:t>
            </a:r>
            <a:r>
              <a:rPr lang="en-GB"/>
              <a:t>training sessions</a:t>
            </a:r>
            <a:endParaRPr/>
          </a:p>
        </p:txBody>
      </p:sp>
      <p:graphicFrame>
        <p:nvGraphicFramePr>
          <p:cNvPr id="1427" name="Google Shape;1427;p119"/>
          <p:cNvGraphicFramePr/>
          <p:nvPr/>
        </p:nvGraphicFramePr>
        <p:xfrm>
          <a:off x="323988" y="8132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902100"/>
                <a:gridCol w="1014850"/>
                <a:gridCol w="1014850"/>
                <a:gridCol w="2275325"/>
                <a:gridCol w="2275325"/>
              </a:tblGrid>
              <a:tr h="42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Training Goal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Sets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Reps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Rest Period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Intensity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Endurance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3 - 4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12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Up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67%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leanness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3 - 6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6 - 12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67 - 85%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strength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4 - 6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minutes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85%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28" name="Google Shape;1428;p119"/>
          <p:cNvSpPr txBox="1"/>
          <p:nvPr>
            <p:ph idx="1" type="body"/>
          </p:nvPr>
        </p:nvSpPr>
        <p:spPr>
          <a:xfrm>
            <a:off x="324000" y="2648925"/>
            <a:ext cx="8694900" cy="17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Someone with the</a:t>
            </a:r>
            <a:r>
              <a:rPr lang="en-GB" sz="2000"/>
              <a:t> training goal ____________ will typically do the fewest reps.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Someone with the training goal __________ will typically do the fewest sets.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Someone training at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70% </a:t>
            </a:r>
            <a:r>
              <a:rPr lang="en-GB" sz="2000"/>
              <a:t>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1RM</a:t>
            </a:r>
            <a:r>
              <a:rPr lang="en-GB" sz="2000"/>
              <a:t> is training towards ___________.</a:t>
            </a:r>
            <a:endParaRPr/>
          </a:p>
        </p:txBody>
      </p:sp>
      <p:sp>
        <p:nvSpPr>
          <p:cNvPr id="1429" name="Google Shape;1429;p119"/>
          <p:cNvSpPr txBox="1"/>
          <p:nvPr>
            <p:ph idx="1" type="body"/>
          </p:nvPr>
        </p:nvSpPr>
        <p:spPr>
          <a:xfrm>
            <a:off x="324000" y="2639550"/>
            <a:ext cx="8694900" cy="17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Someone with the training goal 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muscle strength</a:t>
            </a:r>
            <a:r>
              <a:rPr lang="en-GB" sz="2000"/>
              <a:t>    will typically do the fewest reps.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Someone with the training goal    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endurance  </a:t>
            </a:r>
            <a:r>
              <a:rPr lang="en-GB" sz="2000"/>
              <a:t>   will typically do the fewest sets.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Someone training at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70% </a:t>
            </a:r>
            <a:r>
              <a:rPr lang="en-GB" sz="2000"/>
              <a:t>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1RM</a:t>
            </a:r>
            <a:r>
              <a:rPr lang="en-GB" sz="2000"/>
              <a:t> is training towards ___________.</a:t>
            </a:r>
            <a:endParaRPr/>
          </a:p>
        </p:txBody>
      </p:sp>
      <p:sp>
        <p:nvSpPr>
          <p:cNvPr id="1430" name="Google Shape;1430;p119"/>
          <p:cNvSpPr txBox="1"/>
          <p:nvPr>
            <p:ph idx="1" type="body"/>
          </p:nvPr>
        </p:nvSpPr>
        <p:spPr>
          <a:xfrm>
            <a:off x="324000" y="2639550"/>
            <a:ext cx="8694900" cy="174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Someone with the training goal 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muscle strength</a:t>
            </a:r>
            <a:r>
              <a:rPr lang="en-GB" sz="2000"/>
              <a:t>    will typically do the fewest reps.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Someone with the training goal    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endurance  </a:t>
            </a:r>
            <a:r>
              <a:rPr lang="en-GB" sz="2000"/>
              <a:t>   will typically do the fewest sets.</a:t>
            </a:r>
            <a:endParaRPr sz="2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/>
              <a:t>Someone training at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70% </a:t>
            </a:r>
            <a:r>
              <a:rPr lang="en-GB" sz="2000"/>
              <a:t>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1RM</a:t>
            </a:r>
            <a:r>
              <a:rPr lang="en-GB" sz="2000"/>
              <a:t> is training towards  </a:t>
            </a:r>
            <a:r>
              <a:rPr lang="en-GB" sz="2100">
                <a:latin typeface="Kalam"/>
                <a:ea typeface="Kalam"/>
                <a:cs typeface="Kalam"/>
                <a:sym typeface="Kalam"/>
              </a:rPr>
              <a:t>muscle leanness 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4" name="Shape 1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5" name="Google Shape;1435;p1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1819890" y="3690199"/>
            <a:ext cx="6681374" cy="113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36" name="Google Shape;1436;p12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data to plan </a:t>
            </a:r>
            <a:r>
              <a:rPr lang="en-GB"/>
              <a:t>training sessions</a:t>
            </a:r>
            <a:endParaRPr/>
          </a:p>
        </p:txBody>
      </p:sp>
      <p:graphicFrame>
        <p:nvGraphicFramePr>
          <p:cNvPr id="1437" name="Google Shape;1437;p120"/>
          <p:cNvGraphicFramePr/>
          <p:nvPr/>
        </p:nvGraphicFramePr>
        <p:xfrm>
          <a:off x="323988" y="8132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902100"/>
                <a:gridCol w="1014850"/>
                <a:gridCol w="1014850"/>
                <a:gridCol w="2275325"/>
                <a:gridCol w="2275325"/>
              </a:tblGrid>
              <a:tr h="42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Training Goal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Sets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Reps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Rest Period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Intensity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Endurance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3 - 4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12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Up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67%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leanness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3 - 6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6 - 12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67 - 85%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strength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4 - 6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minutes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85%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38" name="Google Shape;1438;p120"/>
          <p:cNvSpPr txBox="1"/>
          <p:nvPr>
            <p:ph idx="1" type="body"/>
          </p:nvPr>
        </p:nvSpPr>
        <p:spPr>
          <a:xfrm>
            <a:off x="324000" y="2498100"/>
            <a:ext cx="7135200" cy="1147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Lucas is putting together a training plan for his older sister who is trying to get into competitive powerlifting. Lucas’ sister is over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18</a:t>
            </a:r>
            <a:r>
              <a:rPr lang="en-GB" sz="2000"/>
              <a:t> so her body is fully developed, therefore she can </a:t>
            </a:r>
            <a:r>
              <a:rPr lang="en-GB" sz="2000"/>
              <a:t>train as suggested above for muscle strength.</a:t>
            </a:r>
            <a:endParaRPr sz="2000"/>
          </a:p>
        </p:txBody>
      </p:sp>
      <p:pic>
        <p:nvPicPr>
          <p:cNvPr id="1439" name="Google Shape;1439;p1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929968" y="2860053"/>
            <a:ext cx="890608" cy="999697"/>
          </a:xfrm>
          <a:prstGeom prst="rect">
            <a:avLst/>
          </a:prstGeom>
          <a:noFill/>
          <a:ln>
            <a:noFill/>
          </a:ln>
        </p:spPr>
      </p:pic>
      <p:sp>
        <p:nvSpPr>
          <p:cNvPr id="1440" name="Google Shape;1440;p120"/>
          <p:cNvSpPr txBox="1"/>
          <p:nvPr>
            <p:ph idx="1" type="body"/>
          </p:nvPr>
        </p:nvSpPr>
        <p:spPr>
          <a:xfrm>
            <a:off x="2001740" y="4098300"/>
            <a:ext cx="63573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are going to start with an easier plan for a month, then build up. Her current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1RM</a:t>
            </a:r>
            <a:r>
              <a:rPr lang="en-GB" sz="2000"/>
              <a:t> is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120 kg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4" name="Shape 1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5" name="Google Shape;1445;p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1819890" y="3690199"/>
            <a:ext cx="6681374" cy="113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6" name="Google Shape;1446;p12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data to plan </a:t>
            </a:r>
            <a:r>
              <a:rPr lang="en-GB"/>
              <a:t>training sessions</a:t>
            </a:r>
            <a:endParaRPr/>
          </a:p>
        </p:txBody>
      </p:sp>
      <p:graphicFrame>
        <p:nvGraphicFramePr>
          <p:cNvPr id="1447" name="Google Shape;1447;p121"/>
          <p:cNvGraphicFramePr/>
          <p:nvPr/>
        </p:nvGraphicFramePr>
        <p:xfrm>
          <a:off x="323988" y="8132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902100"/>
                <a:gridCol w="1014850"/>
                <a:gridCol w="1014850"/>
                <a:gridCol w="2275325"/>
                <a:gridCol w="2275325"/>
              </a:tblGrid>
              <a:tr h="42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Training Goal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Sets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Reps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Rest Period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Intensity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Endurance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3 - 4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12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Up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67%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leanness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3 - 6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6 - 12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67 - 85%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strength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4 - 6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minutes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85%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48" name="Google Shape;1448;p121"/>
          <p:cNvSpPr txBox="1"/>
          <p:nvPr>
            <p:ph idx="1" type="body"/>
          </p:nvPr>
        </p:nvSpPr>
        <p:spPr>
          <a:xfrm>
            <a:off x="324000" y="2828747"/>
            <a:ext cx="12951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Intensity:</a:t>
            </a:r>
            <a:endParaRPr sz="2000"/>
          </a:p>
        </p:txBody>
      </p:sp>
      <p:pic>
        <p:nvPicPr>
          <p:cNvPr id="1449" name="Google Shape;1449;p1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929968" y="2860053"/>
            <a:ext cx="890608" cy="999697"/>
          </a:xfrm>
          <a:prstGeom prst="rect">
            <a:avLst/>
          </a:prstGeom>
          <a:noFill/>
          <a:ln>
            <a:noFill/>
          </a:ln>
        </p:spPr>
      </p:pic>
      <p:sp>
        <p:nvSpPr>
          <p:cNvPr id="1450" name="Google Shape;1450;p121"/>
          <p:cNvSpPr txBox="1"/>
          <p:nvPr>
            <p:ph idx="1" type="body"/>
          </p:nvPr>
        </p:nvSpPr>
        <p:spPr>
          <a:xfrm>
            <a:off x="2001740" y="4098300"/>
            <a:ext cx="6357300" cy="613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We are going to start with an easier plan for a month, then build up. Her current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1RM</a:t>
            </a:r>
            <a:r>
              <a:rPr lang="en-GB" sz="2000"/>
              <a:t> is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120 kg</a:t>
            </a:r>
            <a:endParaRPr/>
          </a:p>
        </p:txBody>
      </p:sp>
      <p:sp>
        <p:nvSpPr>
          <p:cNvPr id="1451" name="Google Shape;1451;p121"/>
          <p:cNvSpPr txBox="1"/>
          <p:nvPr>
            <p:ph idx="1" type="body"/>
          </p:nvPr>
        </p:nvSpPr>
        <p:spPr>
          <a:xfrm>
            <a:off x="324000" y="3209747"/>
            <a:ext cx="14958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Sets/Reps</a:t>
            </a:r>
            <a:r>
              <a:rPr lang="en-GB" sz="2000"/>
              <a:t>:</a:t>
            </a:r>
            <a:endParaRPr sz="2000"/>
          </a:p>
        </p:txBody>
      </p:sp>
      <p:sp>
        <p:nvSpPr>
          <p:cNvPr id="1452" name="Google Shape;1452;p121"/>
          <p:cNvSpPr txBox="1"/>
          <p:nvPr>
            <p:ph idx="1" type="body"/>
          </p:nvPr>
        </p:nvSpPr>
        <p:spPr>
          <a:xfrm>
            <a:off x="2890293" y="2815823"/>
            <a:ext cx="26262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87.5% × 120 = 105 kg</a:t>
            </a:r>
            <a:endParaRPr sz="2000"/>
          </a:p>
        </p:txBody>
      </p:sp>
      <p:sp>
        <p:nvSpPr>
          <p:cNvPr id="1453" name="Google Shape;1453;p121"/>
          <p:cNvSpPr txBox="1"/>
          <p:nvPr>
            <p:ph idx="1" type="body"/>
          </p:nvPr>
        </p:nvSpPr>
        <p:spPr>
          <a:xfrm>
            <a:off x="2890298" y="3183897"/>
            <a:ext cx="19338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 </a:t>
            </a:r>
            <a:r>
              <a:rPr lang="en-GB" sz="2000"/>
              <a:t>s</a:t>
            </a:r>
            <a:r>
              <a:rPr lang="en-GB" sz="2000"/>
              <a:t>ets of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4 </a:t>
            </a:r>
            <a:r>
              <a:rPr lang="en-GB" sz="2000"/>
              <a:t>reps</a:t>
            </a:r>
            <a:endParaRPr sz="2000"/>
          </a:p>
        </p:txBody>
      </p:sp>
      <p:sp>
        <p:nvSpPr>
          <p:cNvPr id="1454" name="Google Shape;1454;p121"/>
          <p:cNvSpPr txBox="1"/>
          <p:nvPr>
            <p:ph idx="1" type="body"/>
          </p:nvPr>
        </p:nvSpPr>
        <p:spPr>
          <a:xfrm>
            <a:off x="324000" y="3602325"/>
            <a:ext cx="16779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Rest periods</a:t>
            </a:r>
            <a:r>
              <a:rPr lang="en-GB" sz="2000"/>
              <a:t>:</a:t>
            </a:r>
            <a:endParaRPr sz="2000"/>
          </a:p>
        </p:txBody>
      </p:sp>
      <p:sp>
        <p:nvSpPr>
          <p:cNvPr id="1455" name="Google Shape;1455;p121"/>
          <p:cNvSpPr txBox="1"/>
          <p:nvPr>
            <p:ph idx="1" type="body"/>
          </p:nvPr>
        </p:nvSpPr>
        <p:spPr>
          <a:xfrm>
            <a:off x="2890300" y="3576475"/>
            <a:ext cx="30579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minutes between sets</a:t>
            </a:r>
            <a:endParaRPr sz="2000"/>
          </a:p>
        </p:txBody>
      </p:sp>
      <p:sp>
        <p:nvSpPr>
          <p:cNvPr id="1456" name="Google Shape;1456;p121"/>
          <p:cNvSpPr txBox="1"/>
          <p:nvPr>
            <p:ph idx="1" type="body"/>
          </p:nvPr>
        </p:nvSpPr>
        <p:spPr>
          <a:xfrm>
            <a:off x="324000" y="2460675"/>
            <a:ext cx="27552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Starter plan: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457" name="Google Shape;1457;p121"/>
          <p:cNvSpPr/>
          <p:nvPr/>
        </p:nvSpPr>
        <p:spPr>
          <a:xfrm>
            <a:off x="389275" y="2050255"/>
            <a:ext cx="8341500" cy="33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1" name="Shape 1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2" name="Google Shape;1462;p1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0800000">
            <a:off x="1819890" y="3690199"/>
            <a:ext cx="6681374" cy="1137275"/>
          </a:xfrm>
          <a:prstGeom prst="rect">
            <a:avLst/>
          </a:prstGeom>
          <a:noFill/>
          <a:ln>
            <a:noFill/>
          </a:ln>
        </p:spPr>
      </p:pic>
      <p:sp>
        <p:nvSpPr>
          <p:cNvPr id="1463" name="Google Shape;1463;p1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data to plan </a:t>
            </a:r>
            <a:r>
              <a:rPr lang="en-GB"/>
              <a:t>training sessions</a:t>
            </a:r>
            <a:endParaRPr/>
          </a:p>
        </p:txBody>
      </p:sp>
      <p:graphicFrame>
        <p:nvGraphicFramePr>
          <p:cNvPr id="1464" name="Google Shape;1464;p122"/>
          <p:cNvGraphicFramePr/>
          <p:nvPr/>
        </p:nvGraphicFramePr>
        <p:xfrm>
          <a:off x="323988" y="8132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902100"/>
                <a:gridCol w="1014850"/>
                <a:gridCol w="1014850"/>
                <a:gridCol w="2275325"/>
                <a:gridCol w="2275325"/>
              </a:tblGrid>
              <a:tr h="42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Training Goal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Sets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Reps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Rest Period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Intensity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Endurance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3 - 4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12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Up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67%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leanness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3 - 6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6 - 12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67 - 85%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strength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4 - 6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minutes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85%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65" name="Google Shape;1465;p122"/>
          <p:cNvSpPr txBox="1"/>
          <p:nvPr>
            <p:ph idx="1" type="body"/>
          </p:nvPr>
        </p:nvSpPr>
        <p:spPr>
          <a:xfrm>
            <a:off x="324000" y="2828747"/>
            <a:ext cx="12951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Intensity:</a:t>
            </a:r>
            <a:endParaRPr sz="2000"/>
          </a:p>
        </p:txBody>
      </p:sp>
      <p:pic>
        <p:nvPicPr>
          <p:cNvPr id="1466" name="Google Shape;1466;p1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flipH="1">
            <a:off x="7929968" y="2860053"/>
            <a:ext cx="890608" cy="999697"/>
          </a:xfrm>
          <a:prstGeom prst="rect">
            <a:avLst/>
          </a:prstGeom>
          <a:noFill/>
          <a:ln>
            <a:noFill/>
          </a:ln>
        </p:spPr>
      </p:pic>
      <p:sp>
        <p:nvSpPr>
          <p:cNvPr id="1467" name="Google Shape;1467;p122"/>
          <p:cNvSpPr txBox="1"/>
          <p:nvPr>
            <p:ph idx="1" type="body"/>
          </p:nvPr>
        </p:nvSpPr>
        <p:spPr>
          <a:xfrm>
            <a:off x="2001750" y="4098300"/>
            <a:ext cx="6357300" cy="336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It’s been a month and she is training well. We are stepping up the tra</a:t>
            </a:r>
            <a:r>
              <a:rPr lang="en-GB" sz="2000"/>
              <a:t>ining plan.</a:t>
            </a:r>
            <a:endParaRPr/>
          </a:p>
        </p:txBody>
      </p:sp>
      <p:sp>
        <p:nvSpPr>
          <p:cNvPr id="1468" name="Google Shape;1468;p122"/>
          <p:cNvSpPr txBox="1"/>
          <p:nvPr>
            <p:ph idx="1" type="body"/>
          </p:nvPr>
        </p:nvSpPr>
        <p:spPr>
          <a:xfrm>
            <a:off x="324000" y="3209747"/>
            <a:ext cx="14958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Sets/Reps:</a:t>
            </a:r>
            <a:endParaRPr sz="2000"/>
          </a:p>
        </p:txBody>
      </p:sp>
      <p:sp>
        <p:nvSpPr>
          <p:cNvPr id="1469" name="Google Shape;1469;p122"/>
          <p:cNvSpPr txBox="1"/>
          <p:nvPr>
            <p:ph idx="1" type="body"/>
          </p:nvPr>
        </p:nvSpPr>
        <p:spPr>
          <a:xfrm>
            <a:off x="2890293" y="2815823"/>
            <a:ext cx="26262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87.5% × 120 = 105 kg</a:t>
            </a:r>
            <a:endParaRPr sz="2000"/>
          </a:p>
        </p:txBody>
      </p:sp>
      <p:sp>
        <p:nvSpPr>
          <p:cNvPr id="1470" name="Google Shape;1470;p122"/>
          <p:cNvSpPr txBox="1"/>
          <p:nvPr>
            <p:ph idx="1" type="body"/>
          </p:nvPr>
        </p:nvSpPr>
        <p:spPr>
          <a:xfrm>
            <a:off x="2890298" y="3183897"/>
            <a:ext cx="19338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sets of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4 </a:t>
            </a:r>
            <a:r>
              <a:rPr lang="en-GB" sz="2000"/>
              <a:t>reps</a:t>
            </a:r>
            <a:endParaRPr sz="2000"/>
          </a:p>
        </p:txBody>
      </p:sp>
      <p:sp>
        <p:nvSpPr>
          <p:cNvPr id="1471" name="Google Shape;1471;p122"/>
          <p:cNvSpPr txBox="1"/>
          <p:nvPr>
            <p:ph idx="1" type="body"/>
          </p:nvPr>
        </p:nvSpPr>
        <p:spPr>
          <a:xfrm>
            <a:off x="324000" y="3602325"/>
            <a:ext cx="16779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Rest periods:</a:t>
            </a:r>
            <a:endParaRPr sz="2000"/>
          </a:p>
        </p:txBody>
      </p:sp>
      <p:sp>
        <p:nvSpPr>
          <p:cNvPr id="1472" name="Google Shape;1472;p122"/>
          <p:cNvSpPr txBox="1"/>
          <p:nvPr>
            <p:ph idx="1" type="body"/>
          </p:nvPr>
        </p:nvSpPr>
        <p:spPr>
          <a:xfrm>
            <a:off x="2890300" y="3576475"/>
            <a:ext cx="30579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/>
              <a:t>minutes between sets</a:t>
            </a:r>
            <a:endParaRPr sz="2000"/>
          </a:p>
        </p:txBody>
      </p:sp>
      <p:sp>
        <p:nvSpPr>
          <p:cNvPr id="1473" name="Google Shape;1473;p122"/>
          <p:cNvSpPr txBox="1"/>
          <p:nvPr>
            <p:ph idx="1" type="body"/>
          </p:nvPr>
        </p:nvSpPr>
        <p:spPr>
          <a:xfrm>
            <a:off x="324000" y="2460675"/>
            <a:ext cx="27552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Improver</a:t>
            </a:r>
            <a:r>
              <a:rPr lang="en-GB" sz="2000">
                <a:solidFill>
                  <a:schemeClr val="accent5"/>
                </a:solidFill>
              </a:rPr>
              <a:t> plan: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474" name="Google Shape;1474;p122"/>
          <p:cNvSpPr/>
          <p:nvPr/>
        </p:nvSpPr>
        <p:spPr>
          <a:xfrm>
            <a:off x="389275" y="2050255"/>
            <a:ext cx="8341500" cy="33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8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p123"/>
          <p:cNvSpPr txBox="1"/>
          <p:nvPr>
            <p:ph idx="1" type="body"/>
          </p:nvPr>
        </p:nvSpPr>
        <p:spPr>
          <a:xfrm>
            <a:off x="2890298" y="2879097"/>
            <a:ext cx="19338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_</a:t>
            </a:r>
            <a:r>
              <a:rPr lang="en-GB" sz="2000"/>
              <a:t>_</a:t>
            </a:r>
            <a:r>
              <a:rPr lang="en-GB" sz="2000"/>
              <a:t>________</a:t>
            </a:r>
            <a:endParaRPr sz="2000"/>
          </a:p>
        </p:txBody>
      </p:sp>
      <p:graphicFrame>
        <p:nvGraphicFramePr>
          <p:cNvPr id="1480" name="Google Shape;1480;p123"/>
          <p:cNvGraphicFramePr/>
          <p:nvPr/>
        </p:nvGraphicFramePr>
        <p:xfrm>
          <a:off x="323988" y="8132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902100"/>
                <a:gridCol w="1014850"/>
                <a:gridCol w="1014850"/>
                <a:gridCol w="2275325"/>
                <a:gridCol w="2275325"/>
              </a:tblGrid>
              <a:tr h="42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Training Goal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Sets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Reps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Rest Period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Intensity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Endurance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3 - 4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12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Up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67%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leanness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3 - 6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6 - 12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67 - 85%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strength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4 - 6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minutes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85%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481" name="Google Shape;1481;p123"/>
          <p:cNvSpPr txBox="1"/>
          <p:nvPr>
            <p:ph idx="1" type="body"/>
          </p:nvPr>
        </p:nvSpPr>
        <p:spPr>
          <a:xfrm>
            <a:off x="2890298" y="3247173"/>
            <a:ext cx="19338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__________</a:t>
            </a:r>
            <a:endParaRPr sz="2000"/>
          </a:p>
        </p:txBody>
      </p:sp>
      <p:sp>
        <p:nvSpPr>
          <p:cNvPr id="1482" name="Google Shape;1482;p123"/>
          <p:cNvSpPr txBox="1"/>
          <p:nvPr>
            <p:ph idx="1" type="body"/>
          </p:nvPr>
        </p:nvSpPr>
        <p:spPr>
          <a:xfrm>
            <a:off x="2890298" y="3654020"/>
            <a:ext cx="1933800" cy="362100"/>
          </a:xfrm>
          <a:prstGeom prst="rect">
            <a:avLst/>
          </a:prstGeom>
          <a:noFill/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__________</a:t>
            </a:r>
            <a:endParaRPr sz="2000"/>
          </a:p>
        </p:txBody>
      </p:sp>
      <p:sp>
        <p:nvSpPr>
          <p:cNvPr id="1483" name="Google Shape;1483;p1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data to plan </a:t>
            </a:r>
            <a:r>
              <a:rPr lang="en-GB"/>
              <a:t>training sessions</a:t>
            </a:r>
            <a:endParaRPr/>
          </a:p>
        </p:txBody>
      </p:sp>
      <p:sp>
        <p:nvSpPr>
          <p:cNvPr id="1484" name="Google Shape;1484;p123"/>
          <p:cNvSpPr txBox="1"/>
          <p:nvPr>
            <p:ph idx="1" type="body"/>
          </p:nvPr>
        </p:nvSpPr>
        <p:spPr>
          <a:xfrm>
            <a:off x="324000" y="2828747"/>
            <a:ext cx="12951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Intensity:</a:t>
            </a:r>
            <a:endParaRPr sz="2000"/>
          </a:p>
        </p:txBody>
      </p:sp>
      <p:sp>
        <p:nvSpPr>
          <p:cNvPr id="1485" name="Google Shape;1485;p123"/>
          <p:cNvSpPr txBox="1"/>
          <p:nvPr>
            <p:ph idx="1" type="body"/>
          </p:nvPr>
        </p:nvSpPr>
        <p:spPr>
          <a:xfrm>
            <a:off x="324000" y="3209747"/>
            <a:ext cx="14958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Sets/Reps:</a:t>
            </a:r>
            <a:endParaRPr sz="2000"/>
          </a:p>
        </p:txBody>
      </p:sp>
      <p:sp>
        <p:nvSpPr>
          <p:cNvPr id="1486" name="Google Shape;1486;p123"/>
          <p:cNvSpPr txBox="1"/>
          <p:nvPr>
            <p:ph idx="1" type="body"/>
          </p:nvPr>
        </p:nvSpPr>
        <p:spPr>
          <a:xfrm>
            <a:off x="324000" y="3602325"/>
            <a:ext cx="16779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Rest periods:</a:t>
            </a:r>
            <a:endParaRPr sz="2000"/>
          </a:p>
        </p:txBody>
      </p:sp>
      <p:sp>
        <p:nvSpPr>
          <p:cNvPr id="1487" name="Google Shape;1487;p123"/>
          <p:cNvSpPr txBox="1"/>
          <p:nvPr>
            <p:ph idx="1" type="body"/>
          </p:nvPr>
        </p:nvSpPr>
        <p:spPr>
          <a:xfrm>
            <a:off x="324000" y="2460675"/>
            <a:ext cx="27552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Expert</a:t>
            </a:r>
            <a:r>
              <a:rPr lang="en-GB" sz="2000">
                <a:solidFill>
                  <a:schemeClr val="accent5"/>
                </a:solidFill>
              </a:rPr>
              <a:t> plan: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488" name="Google Shape;1488;p123"/>
          <p:cNvSpPr/>
          <p:nvPr/>
        </p:nvSpPr>
        <p:spPr>
          <a:xfrm>
            <a:off x="389275" y="2050255"/>
            <a:ext cx="8341500" cy="33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89" name="Google Shape;1489;p123"/>
          <p:cNvSpPr txBox="1"/>
          <p:nvPr>
            <p:ph idx="1" type="body"/>
          </p:nvPr>
        </p:nvSpPr>
        <p:spPr>
          <a:xfrm>
            <a:off x="324000" y="4096950"/>
            <a:ext cx="75234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What do you think an expert plan will look like for muscle strength development for someone with a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1RM</a:t>
            </a:r>
            <a:r>
              <a:rPr lang="en-GB" sz="2100"/>
              <a:t> of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120 kg</a:t>
            </a:r>
            <a:r>
              <a:rPr lang="en-GB" sz="2100"/>
              <a:t>?</a:t>
            </a:r>
            <a:endParaRPr sz="2100"/>
          </a:p>
        </p:txBody>
      </p:sp>
      <p:sp>
        <p:nvSpPr>
          <p:cNvPr id="1490" name="Google Shape;1490;p123"/>
          <p:cNvSpPr txBox="1"/>
          <p:nvPr>
            <p:ph idx="1" type="body"/>
          </p:nvPr>
        </p:nvSpPr>
        <p:spPr>
          <a:xfrm>
            <a:off x="5767325" y="2521257"/>
            <a:ext cx="3114600" cy="136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is not the only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solution but your solution should have included an increase in intensity/sets/reps and a reduction of rest time.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1" name="Google Shape;1491;p123"/>
          <p:cNvSpPr/>
          <p:nvPr/>
        </p:nvSpPr>
        <p:spPr>
          <a:xfrm>
            <a:off x="2858350" y="3107225"/>
            <a:ext cx="1863000" cy="1206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2" name="Google Shape;1492;p123"/>
          <p:cNvSpPr txBox="1"/>
          <p:nvPr>
            <p:ph idx="1" type="body"/>
          </p:nvPr>
        </p:nvSpPr>
        <p:spPr>
          <a:xfrm>
            <a:off x="2890300" y="2815825"/>
            <a:ext cx="24378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90% × 120 = 108 kg</a:t>
            </a:r>
            <a:endParaRPr sz="2000"/>
          </a:p>
        </p:txBody>
      </p:sp>
      <p:sp>
        <p:nvSpPr>
          <p:cNvPr id="1493" name="Google Shape;1493;p123"/>
          <p:cNvSpPr/>
          <p:nvPr/>
        </p:nvSpPr>
        <p:spPr>
          <a:xfrm>
            <a:off x="2880975" y="3461750"/>
            <a:ext cx="1810200" cy="1206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4" name="Google Shape;1494;p123"/>
          <p:cNvSpPr/>
          <p:nvPr/>
        </p:nvSpPr>
        <p:spPr>
          <a:xfrm>
            <a:off x="2884750" y="3866175"/>
            <a:ext cx="1810200" cy="120600"/>
          </a:xfrm>
          <a:prstGeom prst="rect">
            <a:avLst/>
          </a:prstGeom>
          <a:solidFill>
            <a:srgbClr val="E6F2F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5" name="Google Shape;1495;p123"/>
          <p:cNvSpPr txBox="1"/>
          <p:nvPr>
            <p:ph idx="1" type="body"/>
          </p:nvPr>
        </p:nvSpPr>
        <p:spPr>
          <a:xfrm>
            <a:off x="2890298" y="3183897"/>
            <a:ext cx="19338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sets of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reps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96" name="Google Shape;1496;p123"/>
          <p:cNvSpPr txBox="1"/>
          <p:nvPr>
            <p:ph idx="1" type="body"/>
          </p:nvPr>
        </p:nvSpPr>
        <p:spPr>
          <a:xfrm>
            <a:off x="2890300" y="3576475"/>
            <a:ext cx="26961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minutes between sets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01" name="Google Shape;1501;p124"/>
          <p:cNvGraphicFramePr/>
          <p:nvPr/>
        </p:nvGraphicFramePr>
        <p:xfrm>
          <a:off x="323988" y="8132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902100"/>
                <a:gridCol w="1014850"/>
                <a:gridCol w="1014850"/>
                <a:gridCol w="2275325"/>
                <a:gridCol w="2275325"/>
              </a:tblGrid>
              <a:tr h="42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Training Goal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Sets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Reps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Rest Period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Intensity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Endurance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3 - 4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12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Up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67%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leanness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3 - 6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6 - 12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67 - 85%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strength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4 - 6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minutes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85%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02" name="Google Shape;1502;p1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data to plan </a:t>
            </a:r>
            <a:r>
              <a:rPr lang="en-GB"/>
              <a:t>training sessions</a:t>
            </a:r>
            <a:endParaRPr/>
          </a:p>
        </p:txBody>
      </p:sp>
      <p:sp>
        <p:nvSpPr>
          <p:cNvPr id="1503" name="Google Shape;1503;p124"/>
          <p:cNvSpPr txBox="1"/>
          <p:nvPr>
            <p:ph idx="1" type="body"/>
          </p:nvPr>
        </p:nvSpPr>
        <p:spPr>
          <a:xfrm>
            <a:off x="324000" y="2828747"/>
            <a:ext cx="12951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Intensity:</a:t>
            </a:r>
            <a:endParaRPr sz="2000"/>
          </a:p>
        </p:txBody>
      </p:sp>
      <p:sp>
        <p:nvSpPr>
          <p:cNvPr id="1504" name="Google Shape;1504;p124"/>
          <p:cNvSpPr txBox="1"/>
          <p:nvPr>
            <p:ph idx="1" type="body"/>
          </p:nvPr>
        </p:nvSpPr>
        <p:spPr>
          <a:xfrm>
            <a:off x="324000" y="3209747"/>
            <a:ext cx="14958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Sets/Reps:</a:t>
            </a:r>
            <a:endParaRPr sz="2000"/>
          </a:p>
        </p:txBody>
      </p:sp>
      <p:sp>
        <p:nvSpPr>
          <p:cNvPr id="1505" name="Google Shape;1505;p124"/>
          <p:cNvSpPr txBox="1"/>
          <p:nvPr>
            <p:ph idx="1" type="body"/>
          </p:nvPr>
        </p:nvSpPr>
        <p:spPr>
          <a:xfrm>
            <a:off x="2890300" y="2815825"/>
            <a:ext cx="24378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110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% × 120 = 132 kg</a:t>
            </a:r>
            <a:endParaRPr sz="2000"/>
          </a:p>
        </p:txBody>
      </p:sp>
      <p:sp>
        <p:nvSpPr>
          <p:cNvPr id="1506" name="Google Shape;1506;p124"/>
          <p:cNvSpPr txBox="1"/>
          <p:nvPr>
            <p:ph idx="1" type="body"/>
          </p:nvPr>
        </p:nvSpPr>
        <p:spPr>
          <a:xfrm>
            <a:off x="2890298" y="3183897"/>
            <a:ext cx="19338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 </a:t>
            </a:r>
            <a:r>
              <a:rPr lang="en-GB" sz="2000"/>
              <a:t>sets of</a:t>
            </a:r>
            <a:r>
              <a:rPr lang="en-GB"/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/>
              <a:t> </a:t>
            </a:r>
            <a:r>
              <a:rPr lang="en-GB" sz="2000"/>
              <a:t>reps</a:t>
            </a:r>
            <a:endParaRPr sz="2000"/>
          </a:p>
        </p:txBody>
      </p:sp>
      <p:sp>
        <p:nvSpPr>
          <p:cNvPr id="1507" name="Google Shape;1507;p124"/>
          <p:cNvSpPr txBox="1"/>
          <p:nvPr>
            <p:ph idx="1" type="body"/>
          </p:nvPr>
        </p:nvSpPr>
        <p:spPr>
          <a:xfrm>
            <a:off x="324000" y="3602325"/>
            <a:ext cx="16779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Rest periods:</a:t>
            </a:r>
            <a:endParaRPr sz="2000"/>
          </a:p>
        </p:txBody>
      </p:sp>
      <p:sp>
        <p:nvSpPr>
          <p:cNvPr id="1508" name="Google Shape;1508;p124"/>
          <p:cNvSpPr txBox="1"/>
          <p:nvPr>
            <p:ph idx="1" type="body"/>
          </p:nvPr>
        </p:nvSpPr>
        <p:spPr>
          <a:xfrm>
            <a:off x="2890300" y="3576475"/>
            <a:ext cx="31485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90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 sz="2000"/>
              <a:t>seconds between sets</a:t>
            </a:r>
            <a:endParaRPr sz="2000"/>
          </a:p>
        </p:txBody>
      </p:sp>
      <p:sp>
        <p:nvSpPr>
          <p:cNvPr id="1509" name="Google Shape;1509;p124"/>
          <p:cNvSpPr txBox="1"/>
          <p:nvPr>
            <p:ph idx="1" type="body"/>
          </p:nvPr>
        </p:nvSpPr>
        <p:spPr>
          <a:xfrm>
            <a:off x="324000" y="2460675"/>
            <a:ext cx="27552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accent5"/>
                </a:solidFill>
              </a:rPr>
              <a:t>Expert plan:</a:t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1510" name="Google Shape;1510;p124"/>
          <p:cNvSpPr/>
          <p:nvPr/>
        </p:nvSpPr>
        <p:spPr>
          <a:xfrm>
            <a:off x="389275" y="2050255"/>
            <a:ext cx="8341500" cy="336000"/>
          </a:xfrm>
          <a:prstGeom prst="roundRect">
            <a:avLst>
              <a:gd fmla="val 16667" name="adj"/>
            </a:avLst>
          </a:prstGeom>
          <a:noFill/>
          <a:ln cap="flat" cmpd="sng" w="38100">
            <a:solidFill>
              <a:schemeClr val="accent5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11" name="Google Shape;1511;p124"/>
          <p:cNvSpPr txBox="1"/>
          <p:nvPr>
            <p:ph idx="1" type="body"/>
          </p:nvPr>
        </p:nvSpPr>
        <p:spPr>
          <a:xfrm>
            <a:off x="324000" y="4096950"/>
            <a:ext cx="7523400" cy="723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What do you think is wrong with this plan for muscle strength development for someone with a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1RM</a:t>
            </a:r>
            <a:r>
              <a:rPr lang="en-GB" sz="2100"/>
              <a:t> of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120 kg</a:t>
            </a:r>
            <a:r>
              <a:rPr lang="en-GB" sz="2100"/>
              <a:t>?</a:t>
            </a:r>
            <a:endParaRPr sz="2100"/>
          </a:p>
        </p:txBody>
      </p:sp>
      <p:sp>
        <p:nvSpPr>
          <p:cNvPr id="1512" name="Google Shape;1512;p124"/>
          <p:cNvSpPr txBox="1"/>
          <p:nvPr>
            <p:ph idx="1" type="body"/>
          </p:nvPr>
        </p:nvSpPr>
        <p:spPr>
          <a:xfrm>
            <a:off x="6263295" y="2813127"/>
            <a:ext cx="2080200" cy="29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Exceeds the max.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3" name="Google Shape;1513;p124"/>
          <p:cNvSpPr txBox="1"/>
          <p:nvPr>
            <p:ph idx="1" type="body"/>
          </p:nvPr>
        </p:nvSpPr>
        <p:spPr>
          <a:xfrm>
            <a:off x="6263295" y="3155357"/>
            <a:ext cx="2080200" cy="29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Reps should be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&lt;6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14" name="Google Shape;1514;p124"/>
          <p:cNvSpPr txBox="1"/>
          <p:nvPr>
            <p:ph idx="1" type="body"/>
          </p:nvPr>
        </p:nvSpPr>
        <p:spPr>
          <a:xfrm>
            <a:off x="6263301" y="3497583"/>
            <a:ext cx="2543100" cy="29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Min rest is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mins for muscle strength.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p125"/>
          <p:cNvSpPr txBox="1"/>
          <p:nvPr>
            <p:ph idx="1" type="body"/>
          </p:nvPr>
        </p:nvSpPr>
        <p:spPr>
          <a:xfrm>
            <a:off x="324000" y="2498975"/>
            <a:ext cx="8482500" cy="105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1) Sofia’s older brother is training for a heptathlon therefore he needs to develop muscle leanness. He is working on his bench press </a:t>
            </a:r>
            <a:r>
              <a:rPr lang="en-GB" sz="2100"/>
              <a:t>and has a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1RM</a:t>
            </a:r>
            <a:r>
              <a:rPr lang="en-GB" sz="2100"/>
              <a:t> of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80 kg. </a:t>
            </a:r>
            <a:r>
              <a:rPr lang="en-GB" sz="2100"/>
              <a:t>Create for him a:</a:t>
            </a:r>
            <a:endParaRPr/>
          </a:p>
        </p:txBody>
      </p:sp>
      <p:sp>
        <p:nvSpPr>
          <p:cNvPr id="1520" name="Google Shape;1520;p125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data to plan </a:t>
            </a:r>
            <a:r>
              <a:rPr lang="en-GB"/>
              <a:t>training sessions</a:t>
            </a:r>
            <a:endParaRPr/>
          </a:p>
        </p:txBody>
      </p:sp>
      <p:graphicFrame>
        <p:nvGraphicFramePr>
          <p:cNvPr id="1521" name="Google Shape;1521;p125"/>
          <p:cNvGraphicFramePr/>
          <p:nvPr/>
        </p:nvGraphicFramePr>
        <p:xfrm>
          <a:off x="323988" y="811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902100"/>
                <a:gridCol w="1014850"/>
                <a:gridCol w="1014850"/>
                <a:gridCol w="2275325"/>
                <a:gridCol w="2275325"/>
              </a:tblGrid>
              <a:tr h="42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Training Goal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Sets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Reps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Rest Period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Intensity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Endurance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3 - 4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12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Up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67%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leanness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3 - 6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6 - 12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67 - 85%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strength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4 - 6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minutes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85%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22" name="Google Shape;1522;p125"/>
          <p:cNvSpPr txBox="1"/>
          <p:nvPr>
            <p:ph idx="1" type="body"/>
          </p:nvPr>
        </p:nvSpPr>
        <p:spPr>
          <a:xfrm>
            <a:off x="324000" y="3641975"/>
            <a:ext cx="2044500" cy="2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a</a:t>
            </a:r>
            <a:r>
              <a:rPr lang="en-GB" sz="2100"/>
              <a:t>) Starter plan</a:t>
            </a:r>
            <a:endParaRPr/>
          </a:p>
        </p:txBody>
      </p:sp>
      <p:sp>
        <p:nvSpPr>
          <p:cNvPr id="1523" name="Google Shape;1523;p125"/>
          <p:cNvSpPr txBox="1"/>
          <p:nvPr>
            <p:ph idx="1" type="body"/>
          </p:nvPr>
        </p:nvSpPr>
        <p:spPr>
          <a:xfrm>
            <a:off x="324000" y="4060405"/>
            <a:ext cx="2419200" cy="2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b</a:t>
            </a:r>
            <a:r>
              <a:rPr lang="en-GB" sz="2100"/>
              <a:t>) Improver plan</a:t>
            </a:r>
            <a:endParaRPr/>
          </a:p>
        </p:txBody>
      </p:sp>
      <p:sp>
        <p:nvSpPr>
          <p:cNvPr id="1524" name="Google Shape;1524;p125"/>
          <p:cNvSpPr txBox="1"/>
          <p:nvPr>
            <p:ph idx="1" type="body"/>
          </p:nvPr>
        </p:nvSpPr>
        <p:spPr>
          <a:xfrm>
            <a:off x="324000" y="4481525"/>
            <a:ext cx="1902000" cy="2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c</a:t>
            </a:r>
            <a:r>
              <a:rPr lang="en-GB" sz="2100"/>
              <a:t>) Expert plan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8" name="Shape 1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9" name="Google Shape;1529;p126"/>
          <p:cNvSpPr txBox="1"/>
          <p:nvPr>
            <p:ph idx="1" type="body"/>
          </p:nvPr>
        </p:nvSpPr>
        <p:spPr>
          <a:xfrm>
            <a:off x="324000" y="3259635"/>
            <a:ext cx="8010600" cy="6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b</a:t>
            </a:r>
            <a:r>
              <a:rPr lang="en-GB" sz="2100"/>
              <a:t>) Someone tells you they did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r>
              <a:rPr lang="en-GB" sz="2100"/>
              <a:t> repetitions across all of their sets. What could their training goal be?</a:t>
            </a:r>
            <a:endParaRPr/>
          </a:p>
        </p:txBody>
      </p:sp>
      <p:sp>
        <p:nvSpPr>
          <p:cNvPr id="1530" name="Google Shape;1530;p126"/>
          <p:cNvSpPr txBox="1"/>
          <p:nvPr>
            <p:ph idx="1" type="body"/>
          </p:nvPr>
        </p:nvSpPr>
        <p:spPr>
          <a:xfrm>
            <a:off x="324000" y="2422775"/>
            <a:ext cx="8338200" cy="6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2</a:t>
            </a:r>
            <a:r>
              <a:rPr lang="en-GB" sz="2100"/>
              <a:t>) a) </a:t>
            </a:r>
            <a:r>
              <a:rPr lang="en-GB" sz="2100"/>
              <a:t>Someone with a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1RM</a:t>
            </a:r>
            <a:r>
              <a:rPr lang="en-GB" sz="2100"/>
              <a:t> of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125 kg </a:t>
            </a:r>
            <a:r>
              <a:rPr lang="en-GB" sz="2100"/>
              <a:t>in deadlifting is doing reps of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76 kg</a:t>
            </a:r>
            <a:r>
              <a:rPr lang="en-GB" sz="2100"/>
              <a:t>. What is their training goal?</a:t>
            </a:r>
            <a:endParaRPr/>
          </a:p>
        </p:txBody>
      </p:sp>
      <p:sp>
        <p:nvSpPr>
          <p:cNvPr id="1531" name="Google Shape;1531;p126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data to plan </a:t>
            </a:r>
            <a:r>
              <a:rPr lang="en-GB"/>
              <a:t>training sessions</a:t>
            </a:r>
            <a:endParaRPr/>
          </a:p>
        </p:txBody>
      </p:sp>
      <p:graphicFrame>
        <p:nvGraphicFramePr>
          <p:cNvPr id="1532" name="Google Shape;1532;p126"/>
          <p:cNvGraphicFramePr/>
          <p:nvPr/>
        </p:nvGraphicFramePr>
        <p:xfrm>
          <a:off x="323988" y="811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902100"/>
                <a:gridCol w="1014850"/>
                <a:gridCol w="1014850"/>
                <a:gridCol w="2275325"/>
                <a:gridCol w="2275325"/>
              </a:tblGrid>
              <a:tr h="42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Training Goal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Sets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Reps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Rest Period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Intensity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Endurance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3 - 4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12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Up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67%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leanness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3 - 6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6 - 12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67 - 85%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strength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4 - 6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minutes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85%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33" name="Google Shape;1533;p126"/>
          <p:cNvSpPr txBox="1"/>
          <p:nvPr>
            <p:ph idx="1" type="body"/>
          </p:nvPr>
        </p:nvSpPr>
        <p:spPr>
          <a:xfrm>
            <a:off x="324000" y="4086252"/>
            <a:ext cx="8482500" cy="6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100"/>
              <a:t>c) Someone tells you they are intensely training for muscle leanness and are deadlifting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136 kg</a:t>
            </a:r>
            <a:r>
              <a:rPr lang="en-GB" sz="2100"/>
              <a:t>. What is their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1RM</a:t>
            </a:r>
            <a:r>
              <a:rPr lang="en-GB" sz="2100"/>
              <a:t>?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7" name="Shape 1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8" name="Google Shape;1538;p127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data to plan </a:t>
            </a:r>
            <a:r>
              <a:rPr lang="en-GB"/>
              <a:t>training sessions</a:t>
            </a:r>
            <a:endParaRPr/>
          </a:p>
        </p:txBody>
      </p:sp>
      <p:graphicFrame>
        <p:nvGraphicFramePr>
          <p:cNvPr id="1539" name="Google Shape;1539;p127"/>
          <p:cNvGraphicFramePr/>
          <p:nvPr/>
        </p:nvGraphicFramePr>
        <p:xfrm>
          <a:off x="323988" y="811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902100"/>
                <a:gridCol w="1014850"/>
                <a:gridCol w="1014850"/>
                <a:gridCol w="2275325"/>
                <a:gridCol w="2275325"/>
              </a:tblGrid>
              <a:tr h="42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Training Goal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Sets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Reps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Rest Period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Intensity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Endurance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3 - 4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12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Up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67%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leanness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3 - 6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6 - 12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67 - 85%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strength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4 - 6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minutes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85%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40" name="Google Shape;1540;p127"/>
          <p:cNvSpPr txBox="1"/>
          <p:nvPr>
            <p:ph idx="1" type="body"/>
          </p:nvPr>
        </p:nvSpPr>
        <p:spPr>
          <a:xfrm>
            <a:off x="324000" y="3641975"/>
            <a:ext cx="2044500" cy="2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a) Starter plan</a:t>
            </a:r>
            <a:endParaRPr/>
          </a:p>
        </p:txBody>
      </p:sp>
      <p:sp>
        <p:nvSpPr>
          <p:cNvPr id="1541" name="Google Shape;1541;p127"/>
          <p:cNvSpPr txBox="1"/>
          <p:nvPr>
            <p:ph idx="1" type="body"/>
          </p:nvPr>
        </p:nvSpPr>
        <p:spPr>
          <a:xfrm>
            <a:off x="324000" y="4060405"/>
            <a:ext cx="2419200" cy="2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b) Improver plan</a:t>
            </a:r>
            <a:endParaRPr/>
          </a:p>
        </p:txBody>
      </p:sp>
      <p:sp>
        <p:nvSpPr>
          <p:cNvPr id="1542" name="Google Shape;1542;p127"/>
          <p:cNvSpPr txBox="1"/>
          <p:nvPr>
            <p:ph idx="1" type="body"/>
          </p:nvPr>
        </p:nvSpPr>
        <p:spPr>
          <a:xfrm>
            <a:off x="324000" y="4481525"/>
            <a:ext cx="1902000" cy="2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c) Expert plan</a:t>
            </a:r>
            <a:endParaRPr/>
          </a:p>
        </p:txBody>
      </p:sp>
      <p:sp>
        <p:nvSpPr>
          <p:cNvPr id="1543" name="Google Shape;1543;p127"/>
          <p:cNvSpPr txBox="1"/>
          <p:nvPr>
            <p:ph idx="1" type="body"/>
          </p:nvPr>
        </p:nvSpPr>
        <p:spPr>
          <a:xfrm>
            <a:off x="324000" y="2498975"/>
            <a:ext cx="8482500" cy="1050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1) Sofia’s older brother is training for a heptathlon therefore he needs to develop muscle leanness. He is working on his bench press and has a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1RM</a:t>
            </a:r>
            <a:r>
              <a:rPr lang="en-GB" sz="2100"/>
              <a:t> of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80 kg. </a:t>
            </a:r>
            <a:r>
              <a:rPr lang="en-GB" sz="2100"/>
              <a:t>Create for him a: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7" name="Shape 1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8" name="Google Shape;1548;p128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data to plan </a:t>
            </a:r>
            <a:r>
              <a:rPr lang="en-GB"/>
              <a:t>training sessions</a:t>
            </a:r>
            <a:endParaRPr/>
          </a:p>
        </p:txBody>
      </p:sp>
      <p:graphicFrame>
        <p:nvGraphicFramePr>
          <p:cNvPr id="1549" name="Google Shape;1549;p128"/>
          <p:cNvGraphicFramePr/>
          <p:nvPr/>
        </p:nvGraphicFramePr>
        <p:xfrm>
          <a:off x="323988" y="811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902100"/>
                <a:gridCol w="1014850"/>
                <a:gridCol w="1014850"/>
                <a:gridCol w="2275325"/>
                <a:gridCol w="2275325"/>
              </a:tblGrid>
              <a:tr h="42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Training Goal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Sets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Reps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Rest Period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Intensity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Endurance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3 - 4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12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Up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67%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leanness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3 - 6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6 - 12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67 - 85%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strength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4 - 6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minutes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85%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50" name="Google Shape;1550;p128"/>
          <p:cNvSpPr txBox="1"/>
          <p:nvPr>
            <p:ph idx="1" type="body"/>
          </p:nvPr>
        </p:nvSpPr>
        <p:spPr>
          <a:xfrm>
            <a:off x="2086843" y="2498975"/>
            <a:ext cx="2044500" cy="2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a) Starter plan</a:t>
            </a:r>
            <a:endParaRPr sz="2100"/>
          </a:p>
        </p:txBody>
      </p:sp>
      <p:sp>
        <p:nvSpPr>
          <p:cNvPr id="1551" name="Google Shape;1551;p128"/>
          <p:cNvSpPr txBox="1"/>
          <p:nvPr>
            <p:ph idx="1" type="body"/>
          </p:nvPr>
        </p:nvSpPr>
        <p:spPr>
          <a:xfrm>
            <a:off x="4384426" y="2498975"/>
            <a:ext cx="2419200" cy="2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b) Improver plan</a:t>
            </a:r>
            <a:endParaRPr sz="2100"/>
          </a:p>
        </p:txBody>
      </p:sp>
      <p:sp>
        <p:nvSpPr>
          <p:cNvPr id="1552" name="Google Shape;1552;p128"/>
          <p:cNvSpPr txBox="1"/>
          <p:nvPr>
            <p:ph idx="1" type="body"/>
          </p:nvPr>
        </p:nvSpPr>
        <p:spPr>
          <a:xfrm>
            <a:off x="6798320" y="2498975"/>
            <a:ext cx="1902000" cy="29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/>
              <a:t>c) Expert plan</a:t>
            </a:r>
            <a:endParaRPr sz="2100"/>
          </a:p>
        </p:txBody>
      </p:sp>
      <p:sp>
        <p:nvSpPr>
          <p:cNvPr id="1553" name="Google Shape;1553;p128"/>
          <p:cNvSpPr txBox="1"/>
          <p:nvPr>
            <p:ph idx="4294967295" type="body"/>
          </p:nvPr>
        </p:nvSpPr>
        <p:spPr>
          <a:xfrm>
            <a:off x="324000" y="2981147"/>
            <a:ext cx="12951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Intensity:</a:t>
            </a:r>
            <a:endParaRPr sz="1900"/>
          </a:p>
        </p:txBody>
      </p:sp>
      <p:sp>
        <p:nvSpPr>
          <p:cNvPr id="1554" name="Google Shape;1554;p128"/>
          <p:cNvSpPr txBox="1"/>
          <p:nvPr>
            <p:ph idx="4294967295" type="body"/>
          </p:nvPr>
        </p:nvSpPr>
        <p:spPr>
          <a:xfrm>
            <a:off x="324000" y="3375070"/>
            <a:ext cx="14958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Sets/Reps:</a:t>
            </a:r>
            <a:endParaRPr sz="1900"/>
          </a:p>
        </p:txBody>
      </p:sp>
      <p:sp>
        <p:nvSpPr>
          <p:cNvPr id="1555" name="Google Shape;1555;p128"/>
          <p:cNvSpPr txBox="1"/>
          <p:nvPr>
            <p:ph idx="4294967295" type="body"/>
          </p:nvPr>
        </p:nvSpPr>
        <p:spPr>
          <a:xfrm>
            <a:off x="2088183" y="2968225"/>
            <a:ext cx="21012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70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% × 80 = 56 kg</a:t>
            </a:r>
            <a:endParaRPr sz="2000"/>
          </a:p>
        </p:txBody>
      </p:sp>
      <p:sp>
        <p:nvSpPr>
          <p:cNvPr id="1556" name="Google Shape;1556;p128"/>
          <p:cNvSpPr txBox="1"/>
          <p:nvPr>
            <p:ph idx="4294967295" type="body"/>
          </p:nvPr>
        </p:nvSpPr>
        <p:spPr>
          <a:xfrm>
            <a:off x="2088188" y="3362143"/>
            <a:ext cx="19338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sets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reps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57" name="Google Shape;1557;p128"/>
          <p:cNvSpPr txBox="1"/>
          <p:nvPr>
            <p:ph idx="4294967295" type="body"/>
          </p:nvPr>
        </p:nvSpPr>
        <p:spPr>
          <a:xfrm>
            <a:off x="324000" y="3780575"/>
            <a:ext cx="15792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900"/>
              <a:t>Rest periods:</a:t>
            </a:r>
            <a:endParaRPr sz="1900"/>
          </a:p>
        </p:txBody>
      </p:sp>
      <p:sp>
        <p:nvSpPr>
          <p:cNvPr id="1558" name="Google Shape;1558;p128"/>
          <p:cNvSpPr txBox="1"/>
          <p:nvPr>
            <p:ph idx="4294967295" type="body"/>
          </p:nvPr>
        </p:nvSpPr>
        <p:spPr>
          <a:xfrm>
            <a:off x="2088190" y="3767645"/>
            <a:ext cx="12951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90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seconds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59" name="Google Shape;1559;p128"/>
          <p:cNvSpPr txBox="1"/>
          <p:nvPr>
            <p:ph idx="4294967295" type="body"/>
          </p:nvPr>
        </p:nvSpPr>
        <p:spPr>
          <a:xfrm>
            <a:off x="4387106" y="2968225"/>
            <a:ext cx="21012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75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% × 80 = 60 kg</a:t>
            </a:r>
            <a:endParaRPr sz="2000"/>
          </a:p>
        </p:txBody>
      </p:sp>
      <p:sp>
        <p:nvSpPr>
          <p:cNvPr id="1560" name="Google Shape;1560;p128"/>
          <p:cNvSpPr txBox="1"/>
          <p:nvPr>
            <p:ph idx="4294967295" type="body"/>
          </p:nvPr>
        </p:nvSpPr>
        <p:spPr>
          <a:xfrm>
            <a:off x="4387111" y="3362143"/>
            <a:ext cx="19338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sets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reps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1" name="Google Shape;1561;p128"/>
          <p:cNvSpPr txBox="1"/>
          <p:nvPr>
            <p:ph idx="4294967295" type="body"/>
          </p:nvPr>
        </p:nvSpPr>
        <p:spPr>
          <a:xfrm>
            <a:off x="4387113" y="3767645"/>
            <a:ext cx="12951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90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seconds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2" name="Google Shape;1562;p128"/>
          <p:cNvSpPr txBox="1"/>
          <p:nvPr>
            <p:ph idx="4294967295" type="body"/>
          </p:nvPr>
        </p:nvSpPr>
        <p:spPr>
          <a:xfrm>
            <a:off x="6825506" y="2968225"/>
            <a:ext cx="21012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75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% × 80 = 60 kg</a:t>
            </a:r>
            <a:endParaRPr sz="2000"/>
          </a:p>
        </p:txBody>
      </p:sp>
      <p:sp>
        <p:nvSpPr>
          <p:cNvPr id="1563" name="Google Shape;1563;p128"/>
          <p:cNvSpPr txBox="1"/>
          <p:nvPr>
            <p:ph idx="4294967295" type="body"/>
          </p:nvPr>
        </p:nvSpPr>
        <p:spPr>
          <a:xfrm>
            <a:off x="6825511" y="3362143"/>
            <a:ext cx="19338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6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sets of 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reps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4" name="Google Shape;1564;p128"/>
          <p:cNvSpPr txBox="1"/>
          <p:nvPr>
            <p:ph idx="4294967295" type="body"/>
          </p:nvPr>
        </p:nvSpPr>
        <p:spPr>
          <a:xfrm>
            <a:off x="6825513" y="3767645"/>
            <a:ext cx="1295100" cy="362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 sz="2000"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 seconds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65" name="Google Shape;1565;p128"/>
          <p:cNvSpPr txBox="1"/>
          <p:nvPr>
            <p:ph idx="4294967295" type="body"/>
          </p:nvPr>
        </p:nvSpPr>
        <p:spPr>
          <a:xfrm>
            <a:off x="324000" y="4184953"/>
            <a:ext cx="7733400" cy="74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This is not the only solution. Your solution should start at the easier ends of the bounds and progress to greater difficulty.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9" name="Shape 1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0" name="Google Shape;1570;p129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data to plan </a:t>
            </a:r>
            <a:r>
              <a:rPr lang="en-GB"/>
              <a:t>training sessions</a:t>
            </a:r>
            <a:endParaRPr/>
          </a:p>
        </p:txBody>
      </p:sp>
      <p:graphicFrame>
        <p:nvGraphicFramePr>
          <p:cNvPr id="1571" name="Google Shape;1571;p129"/>
          <p:cNvGraphicFramePr/>
          <p:nvPr/>
        </p:nvGraphicFramePr>
        <p:xfrm>
          <a:off x="323988" y="811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902100"/>
                <a:gridCol w="1014850"/>
                <a:gridCol w="1014850"/>
                <a:gridCol w="2275325"/>
                <a:gridCol w="2275325"/>
              </a:tblGrid>
              <a:tr h="42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Training Goal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Sets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Reps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Rest Period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Intensity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Endurance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3 - 4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12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Up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67%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leanness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3 - 6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6 - 12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67 - 85%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strength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4 - 6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minutes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85%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72" name="Google Shape;1572;p129"/>
          <p:cNvSpPr txBox="1"/>
          <p:nvPr>
            <p:ph idx="1" type="body"/>
          </p:nvPr>
        </p:nvSpPr>
        <p:spPr>
          <a:xfrm>
            <a:off x="324000" y="2498975"/>
            <a:ext cx="8338200" cy="6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2) a) Someone with a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1RM</a:t>
            </a:r>
            <a:r>
              <a:rPr lang="en-GB" sz="2100"/>
              <a:t> of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125 kg </a:t>
            </a:r>
            <a:r>
              <a:rPr lang="en-GB" sz="2100"/>
              <a:t>in deadlifting is doing reps of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76 kg</a:t>
            </a:r>
            <a:r>
              <a:rPr lang="en-GB" sz="2100"/>
              <a:t>. What is their training goal?</a:t>
            </a:r>
            <a:endParaRPr/>
          </a:p>
        </p:txBody>
      </p:sp>
      <p:sp>
        <p:nvSpPr>
          <p:cNvPr id="1573" name="Google Shape;1573;p129"/>
          <p:cNvSpPr txBox="1"/>
          <p:nvPr>
            <p:ph idx="4294967295" type="body"/>
          </p:nvPr>
        </p:nvSpPr>
        <p:spPr>
          <a:xfrm>
            <a:off x="3902725" y="3654025"/>
            <a:ext cx="3389700" cy="77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I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ntensity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&lt; 67% kg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therefore training for endurance.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76}{125}\times100=60.8\%&quot;&gt;&lt;mfrac&gt;&lt;mn&gt;76&lt;/mn&gt;&lt;mn&gt;125&lt;/mn&gt;&lt;/mfrac&gt;&lt;mo&gt;×&lt;/mo&gt;&lt;mn&gt;100&lt;/mn&gt;&lt;mo&gt;=&lt;/mo&gt;&lt;mn&gt;60.8&lt;/mn&gt;&lt;mi mathvariant=&quot;normal&quot;&gt;%&lt;/mi&gt;&lt;/math&gt;" id="1574" name="Google Shape;1574;p129" title="76 over 125 times 100 equals 60.8 percent sign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3375" y="3527477"/>
            <a:ext cx="2301250" cy="600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8" name="Shape 1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9" name="Google Shape;1579;p130"/>
          <p:cNvSpPr txBox="1"/>
          <p:nvPr>
            <p:ph idx="1" type="body"/>
          </p:nvPr>
        </p:nvSpPr>
        <p:spPr>
          <a:xfrm>
            <a:off x="324000" y="2497635"/>
            <a:ext cx="8010600" cy="6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b) Someone tells you they did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60</a:t>
            </a:r>
            <a:r>
              <a:rPr lang="en-GB" sz="2100"/>
              <a:t> repetitions across all of their sets. What could their training goal be?</a:t>
            </a:r>
            <a:endParaRPr/>
          </a:p>
        </p:txBody>
      </p:sp>
      <p:sp>
        <p:nvSpPr>
          <p:cNvPr id="1580" name="Google Shape;1580;p130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data to plan </a:t>
            </a:r>
            <a:r>
              <a:rPr lang="en-GB"/>
              <a:t>training sessions</a:t>
            </a:r>
            <a:endParaRPr/>
          </a:p>
        </p:txBody>
      </p:sp>
      <p:graphicFrame>
        <p:nvGraphicFramePr>
          <p:cNvPr id="1581" name="Google Shape;1581;p130"/>
          <p:cNvGraphicFramePr/>
          <p:nvPr/>
        </p:nvGraphicFramePr>
        <p:xfrm>
          <a:off x="323988" y="811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902100"/>
                <a:gridCol w="1014850"/>
                <a:gridCol w="1014850"/>
                <a:gridCol w="2275325"/>
                <a:gridCol w="2275325"/>
              </a:tblGrid>
              <a:tr h="42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Training Goal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Sets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Reps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Rest Period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Intensity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Endurance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3 - 4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12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Up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67%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leanness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3 - 6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6 - 12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67 - 85%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strength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4 - 6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minutes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85%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82" name="Google Shape;1582;p130"/>
          <p:cNvSpPr txBox="1"/>
          <p:nvPr>
            <p:ph idx="4294967295" type="body"/>
          </p:nvPr>
        </p:nvSpPr>
        <p:spPr>
          <a:xfrm>
            <a:off x="334250" y="3273027"/>
            <a:ext cx="5148900" cy="3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sets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15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reps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is training for endurance.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3" name="Google Shape;1583;p130"/>
          <p:cNvSpPr txBox="1"/>
          <p:nvPr>
            <p:ph idx="4294967295" type="body"/>
          </p:nvPr>
        </p:nvSpPr>
        <p:spPr>
          <a:xfrm>
            <a:off x="334250" y="3687594"/>
            <a:ext cx="5148900" cy="3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sets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20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reps is training for endurance.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4" name="Google Shape;1584;p130"/>
          <p:cNvSpPr txBox="1"/>
          <p:nvPr>
            <p:ph idx="4294967295" type="body"/>
          </p:nvPr>
        </p:nvSpPr>
        <p:spPr>
          <a:xfrm>
            <a:off x="334250" y="4102150"/>
            <a:ext cx="5781900" cy="3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sets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0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reps is training for muscle leanness.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5" name="Google Shape;1585;p130"/>
          <p:cNvSpPr txBox="1"/>
          <p:nvPr>
            <p:ph idx="4294967295" type="body"/>
          </p:nvPr>
        </p:nvSpPr>
        <p:spPr>
          <a:xfrm>
            <a:off x="334250" y="4516722"/>
            <a:ext cx="5781900" cy="3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sets of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12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reps is training for muscle leanness.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86" name="Google Shape;1586;p130"/>
          <p:cNvSpPr txBox="1"/>
          <p:nvPr>
            <p:ph idx="4294967295" type="body"/>
          </p:nvPr>
        </p:nvSpPr>
        <p:spPr>
          <a:xfrm>
            <a:off x="6394170" y="2928100"/>
            <a:ext cx="2473500" cy="978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6 × 5 = 30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is the max reps for muscle strength so this can not be that.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0" name="Shape 1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1" name="Google Shape;1591;p131"/>
          <p:cNvSpPr txBox="1"/>
          <p:nvPr>
            <p:ph type="title"/>
          </p:nvPr>
        </p:nvSpPr>
        <p:spPr>
          <a:xfrm>
            <a:off x="1479300" y="39650"/>
            <a:ext cx="68553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data to plan </a:t>
            </a:r>
            <a:r>
              <a:rPr lang="en-GB"/>
              <a:t>training sessions</a:t>
            </a:r>
            <a:endParaRPr/>
          </a:p>
        </p:txBody>
      </p:sp>
      <p:graphicFrame>
        <p:nvGraphicFramePr>
          <p:cNvPr id="1592" name="Google Shape;1592;p131"/>
          <p:cNvGraphicFramePr/>
          <p:nvPr/>
        </p:nvGraphicFramePr>
        <p:xfrm>
          <a:off x="323988" y="81188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{ABE62C34-9E0C-442D-BE69-825E03138A50}</a:tableStyleId>
              </a:tblPr>
              <a:tblGrid>
                <a:gridCol w="1902100"/>
                <a:gridCol w="1014850"/>
                <a:gridCol w="1014850"/>
                <a:gridCol w="2275325"/>
                <a:gridCol w="2275325"/>
              </a:tblGrid>
              <a:tr h="4248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Training Goal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Sets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Reps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Rest Period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Intensity</a:t>
                      </a:r>
                      <a:endParaRPr sz="1800"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Endurance</a:t>
                      </a:r>
                      <a:endParaRPr sz="1600"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3 - 4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12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Up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67%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leanness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3 - 6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6 - 12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30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90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seconds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67 - 85%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06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Muscle strength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4 - 6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&lt; 6</a:t>
                      </a:r>
                      <a:endParaRPr sz="2000">
                        <a:solidFill>
                          <a:schemeClr val="dk1"/>
                        </a:solidFill>
                        <a:latin typeface="Kalam"/>
                        <a:ea typeface="Kalam"/>
                        <a:cs typeface="Kalam"/>
                        <a:sym typeface="Kalam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to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5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minutes</a:t>
                      </a:r>
                      <a:endParaRPr sz="20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&gt; 85% </a:t>
                      </a:r>
                      <a:r>
                        <a:rPr lang="en-GB" sz="1800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of </a:t>
                      </a:r>
                      <a:r>
                        <a:rPr lang="en-GB" sz="20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1RM</a:t>
                      </a:r>
                      <a:endParaRPr/>
                    </a:p>
                  </a:txBody>
                  <a:tcPr marT="36000" marB="36000" marR="36000" marL="36000">
                    <a:lnL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93" name="Google Shape;1593;p131"/>
          <p:cNvSpPr txBox="1"/>
          <p:nvPr>
            <p:ph idx="1" type="body"/>
          </p:nvPr>
        </p:nvSpPr>
        <p:spPr>
          <a:xfrm>
            <a:off x="324000" y="2575175"/>
            <a:ext cx="8482500" cy="66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2100"/>
              <a:t>c) Someone tells you they are intensely training for muscle leanness and are deadlifting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136 kg</a:t>
            </a:r>
            <a:r>
              <a:rPr lang="en-GB" sz="2100"/>
              <a:t>. What is their </a:t>
            </a:r>
            <a:r>
              <a:rPr lang="en-GB" sz="2300">
                <a:latin typeface="Times New Roman"/>
                <a:ea typeface="Times New Roman"/>
                <a:cs typeface="Times New Roman"/>
                <a:sym typeface="Times New Roman"/>
              </a:rPr>
              <a:t>1RM</a:t>
            </a:r>
            <a:r>
              <a:rPr lang="en-GB" sz="2100"/>
              <a:t>?</a:t>
            </a:r>
            <a:endParaRPr/>
          </a:p>
        </p:txBody>
      </p:sp>
      <p:sp>
        <p:nvSpPr>
          <p:cNvPr id="1594" name="Google Shape;1594;p131"/>
          <p:cNvSpPr txBox="1"/>
          <p:nvPr>
            <p:ph idx="4294967295" type="body"/>
          </p:nvPr>
        </p:nvSpPr>
        <p:spPr>
          <a:xfrm>
            <a:off x="334250" y="3425425"/>
            <a:ext cx="8482500" cy="3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Kalam"/>
                <a:ea typeface="Kalam"/>
                <a:cs typeface="Kalam"/>
                <a:sym typeface="Kalam"/>
              </a:rPr>
              <a:t>Most intense level for muscle leanness is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85%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of their 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1RM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5" name="Google Shape;1595;p131"/>
          <p:cNvSpPr txBox="1"/>
          <p:nvPr>
            <p:ph idx="4294967295" type="body"/>
          </p:nvPr>
        </p:nvSpPr>
        <p:spPr>
          <a:xfrm>
            <a:off x="334250" y="3882625"/>
            <a:ext cx="3985800" cy="3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1RM × 0.85 = 136 kg </a:t>
            </a:r>
            <a:r>
              <a:rPr lang="en-GB">
                <a:latin typeface="Kalam"/>
                <a:ea typeface="Kalam"/>
                <a:cs typeface="Kalam"/>
                <a:sym typeface="Kalam"/>
              </a:rPr>
              <a:t>therefore… 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596" name="Google Shape;1596;p131"/>
          <p:cNvSpPr txBox="1"/>
          <p:nvPr>
            <p:ph idx="4294967295" type="body"/>
          </p:nvPr>
        </p:nvSpPr>
        <p:spPr>
          <a:xfrm>
            <a:off x="334250" y="4416025"/>
            <a:ext cx="3985800" cy="317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136 kg</a:t>
            </a:r>
            <a:r>
              <a:rPr lang="en-GB">
                <a:latin typeface="Times New Roman"/>
                <a:ea typeface="Times New Roman"/>
                <a:cs typeface="Times New Roman"/>
                <a:sym typeface="Times New Roman"/>
              </a:rPr>
              <a:t> ÷ 0.85 = 160 kg</a:t>
            </a:r>
            <a:endParaRPr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0" name="Shape 1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Google Shape;1601;p132"/>
          <p:cNvSpPr txBox="1"/>
          <p:nvPr>
            <p:ph idx="1" type="body"/>
          </p:nvPr>
        </p:nvSpPr>
        <p:spPr>
          <a:xfrm>
            <a:off x="324000" y="1080000"/>
            <a:ext cx="8113800" cy="224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Sports coaches</a:t>
            </a:r>
            <a:r>
              <a:rPr lang="en-GB"/>
              <a:t> use data to track performance of an athlete and demonstrate improvements.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They also use data to plan the training needs of an athlete to help their athletes improve.</a:t>
            </a:r>
            <a:endParaRPr/>
          </a:p>
        </p:txBody>
      </p:sp>
      <p:sp>
        <p:nvSpPr>
          <p:cNvPr id="1602" name="Google Shape;1602;p132"/>
          <p:cNvSpPr txBox="1"/>
          <p:nvPr>
            <p:ph type="title"/>
          </p:nvPr>
        </p:nvSpPr>
        <p:spPr>
          <a:xfrm>
            <a:off x="1684800" y="43825"/>
            <a:ext cx="5741400" cy="38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Sports coaching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6" name="Shape 1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" name="Google Shape;1607;p133"/>
          <p:cNvSpPr txBox="1"/>
          <p:nvPr>
            <p:ph idx="1" type="subTitle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© Oak National Academy 2024.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608" name="Google Shape;1608;p1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ak theme - September 2023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