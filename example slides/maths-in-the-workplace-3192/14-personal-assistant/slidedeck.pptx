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2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5129CA-157C-4FDC-AF1F-CC635A3FDBD2}">
  <a:tblStyle styleId="{0B5129CA-157C-4FDC-AF1F-CC635A3FDB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f4713ac2e2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f4713ac2e2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efd83f34a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efd83f34a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f4713ac2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f4713ac2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f4bf843c5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f4bf843c5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f51926b56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f51926b56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f51926b56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f51926b56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f4bf843c5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f4bf843c5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f4bf843c5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f4bf843c5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f4bf843c5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f4bf843c5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f4bf843c5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2f4bf843c5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f4bf843c5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f4bf843c5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f4bf843c5d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f4bf843c5d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f4bf843c5d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f4bf843c5d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f4bf843c5d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f4bf843c5d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2f4bf843c5d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2f4bf843c5d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22087a69d5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22087a69d5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2087a69d5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2087a69d5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2087a69d5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2087a69d5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22087a69d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22087a69d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2f51926b5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2f51926b5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f51926b56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f51926b56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2f4bf843c5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2f4bf843c5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2f4bf843c5d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2f4bf843c5d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22087a69d5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22087a69d5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f51926b56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f51926b56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2087a69d5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22087a69d5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2f4bf843c5d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2f4bf843c5d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22087a69d5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22087a69d5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2087a69d5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2087a69d5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f51926b56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f51926b56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2087a69d5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22087a69d5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30.png"/><Relationship Id="rId6" Type="http://schemas.openxmlformats.org/officeDocument/2006/relationships/image" Target="../media/image34.png"/><Relationship Id="rId7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76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3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76.png"/><Relationship Id="rId4" Type="http://schemas.openxmlformats.org/officeDocument/2006/relationships/image" Target="../media/image38.png"/><Relationship Id="rId9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46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76.png"/><Relationship Id="rId4" Type="http://schemas.openxmlformats.org/officeDocument/2006/relationships/image" Target="../media/image53.png"/><Relationship Id="rId11" Type="http://schemas.openxmlformats.org/officeDocument/2006/relationships/image" Target="../media/image37.png"/><Relationship Id="rId10" Type="http://schemas.openxmlformats.org/officeDocument/2006/relationships/image" Target="../media/image51.png"/><Relationship Id="rId9" Type="http://schemas.openxmlformats.org/officeDocument/2006/relationships/image" Target="../media/image42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6.png"/><Relationship Id="rId8" Type="http://schemas.openxmlformats.org/officeDocument/2006/relationships/image" Target="../media/image4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7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70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70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70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8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68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7" name="Google Shape;837;p7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74" Type="http://schemas.openxmlformats.org/officeDocument/2006/relationships/theme" Target="../theme/theme1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4.png"/><Relationship Id="rId4" Type="http://schemas.openxmlformats.org/officeDocument/2006/relationships/image" Target="../media/image72.png"/><Relationship Id="rId5" Type="http://schemas.openxmlformats.org/officeDocument/2006/relationships/image" Target="../media/image7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Personal assistant</a:t>
            </a:r>
            <a:endParaRPr/>
          </a:p>
        </p:txBody>
      </p:sp>
      <p:sp>
        <p:nvSpPr>
          <p:cNvPr id="844" name="Google Shape;844;p7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in the workplace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how maths is used by personal assistants.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7"/>
          <p:cNvSpPr txBox="1"/>
          <p:nvPr/>
        </p:nvSpPr>
        <p:spPr>
          <a:xfrm>
            <a:off x="383150" y="836400"/>
            <a:ext cx="84369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percentage is a proportion of a whole.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</a:t>
            </a:r>
            <a:endParaRPr/>
          </a:p>
        </p:txBody>
      </p:sp>
      <p:sp>
        <p:nvSpPr>
          <p:cNvPr id="865" name="Google Shape;865;p7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</a:t>
            </a:r>
            <a:endParaRPr/>
          </a:p>
        </p:txBody>
      </p:sp>
      <p:sp>
        <p:nvSpPr>
          <p:cNvPr id="866" name="Google Shape;866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Personal assistant</a:t>
            </a:r>
            <a:endParaRPr/>
          </a:p>
        </p:txBody>
      </p:sp>
      <p:pic>
        <p:nvPicPr>
          <p:cNvPr id="867" name="Google Shape;8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sp>
        <p:nvSpPr>
          <p:cNvPr id="873" name="Google Shape;873;p79"/>
          <p:cNvSpPr txBox="1"/>
          <p:nvPr>
            <p:ph idx="1" type="body"/>
          </p:nvPr>
        </p:nvSpPr>
        <p:spPr>
          <a:xfrm>
            <a:off x="324000" y="683100"/>
            <a:ext cx="8237700" cy="7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areas of maths do you think a personal assistant might use?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4" name="Google Shape;874;p79"/>
          <p:cNvSpPr txBox="1"/>
          <p:nvPr>
            <p:ph idx="1" type="body"/>
          </p:nvPr>
        </p:nvSpPr>
        <p:spPr>
          <a:xfrm>
            <a:off x="324000" y="1385825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Time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–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Organising meetings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–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Booking travel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–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Coordinating plans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Spreadsheets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Finance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–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Booking accommodation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–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Using discounts (percentages)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–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Budgets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5" name="Google Shape;875;p79"/>
          <p:cNvSpPr txBox="1"/>
          <p:nvPr/>
        </p:nvSpPr>
        <p:spPr>
          <a:xfrm>
            <a:off x="324000" y="4297200"/>
            <a:ext cx="800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During this lesson we will look at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some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these.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6" name="Google Shape;876;p79"/>
          <p:cNvGrpSpPr/>
          <p:nvPr/>
        </p:nvGrpSpPr>
        <p:grpSpPr>
          <a:xfrm>
            <a:off x="7141629" y="1003792"/>
            <a:ext cx="1365221" cy="1232417"/>
            <a:chOff x="152400" y="152400"/>
            <a:chExt cx="5360113" cy="4838701"/>
          </a:xfrm>
        </p:grpSpPr>
        <p:pic>
          <p:nvPicPr>
            <p:cNvPr id="877" name="Google Shape;877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5360113" cy="4838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8" name="Google Shape;878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395209">
              <a:off x="2661605" y="1902723"/>
              <a:ext cx="1221032" cy="633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9" name="Google Shape;879;p7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2341532">
              <a:off x="2372839" y="1705806"/>
              <a:ext cx="629517" cy="74396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80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personal </a:t>
            </a:r>
            <a:r>
              <a:rPr lang="en-GB"/>
              <a:t>assistant</a:t>
            </a:r>
            <a:r>
              <a:rPr lang="en-GB"/>
              <a:t> (PA) is organising attendance at a conference.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conference starts at 9 am.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they need to leave home before 6:30 am, they can spend the night before at a hotel close to the conference venue.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Using the following information on the next slide decide if they need a hotel room for the night before. </a:t>
            </a:r>
            <a:endParaRPr/>
          </a:p>
        </p:txBody>
      </p:sp>
      <p:sp>
        <p:nvSpPr>
          <p:cNvPr id="885" name="Google Shape;88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81"/>
          <p:cNvSpPr txBox="1"/>
          <p:nvPr>
            <p:ph idx="1" type="body"/>
          </p:nvPr>
        </p:nvSpPr>
        <p:spPr>
          <a:xfrm>
            <a:off x="324000" y="606900"/>
            <a:ext cx="5717400" cy="28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time taken to drive to train station A is 35 minutes.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conference is close to station 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time taken to walk from station H to the venue is 6 minutes.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Will the PA need to book a hotel for the night before the conference?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graphicFrame>
        <p:nvGraphicFramePr>
          <p:cNvPr id="892" name="Google Shape;892;p81"/>
          <p:cNvGraphicFramePr/>
          <p:nvPr/>
        </p:nvGraphicFramePr>
        <p:xfrm>
          <a:off x="6041525" y="75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382850"/>
                <a:gridCol w="747325"/>
                <a:gridCol w="747325"/>
                <a:gridCol w="747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0658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0747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3" name="Google Shape;893;p81"/>
          <p:cNvSpPr txBox="1"/>
          <p:nvPr>
            <p:ph idx="1" type="body"/>
          </p:nvPr>
        </p:nvSpPr>
        <p:spPr>
          <a:xfrm>
            <a:off x="324000" y="3399014"/>
            <a:ext cx="5717400" cy="3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Yes, they will.  To get to the venue for 9 am they need to catch the 0658 train from station A.  Therefore, they need to leave home at 0623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which is before 0630.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2"/>
          <p:cNvSpPr txBox="1"/>
          <p:nvPr>
            <p:ph idx="1" type="body"/>
          </p:nvPr>
        </p:nvSpPr>
        <p:spPr>
          <a:xfrm>
            <a:off x="324000" y="606900"/>
            <a:ext cx="5717400" cy="209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PA needs to let a client know the earliest time a meeting can start.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They need to travel from station B to station E.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It will take 20 minutes to get from station E to the venue of the meeting.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What is the earliest time the meeting can start?</a:t>
            </a:r>
            <a:endParaRPr sz="1900"/>
          </a:p>
        </p:txBody>
      </p:sp>
      <p:sp>
        <p:nvSpPr>
          <p:cNvPr id="899" name="Google Shape;899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graphicFrame>
        <p:nvGraphicFramePr>
          <p:cNvPr id="900" name="Google Shape;900;p82"/>
          <p:cNvGraphicFramePr/>
          <p:nvPr/>
        </p:nvGraphicFramePr>
        <p:xfrm>
          <a:off x="6090439" y="75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382850"/>
                <a:gridCol w="747325"/>
                <a:gridCol w="747325"/>
                <a:gridCol w="747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0658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0747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1" name="Google Shape;901;p82"/>
          <p:cNvSpPr txBox="1"/>
          <p:nvPr>
            <p:ph idx="1" type="body"/>
          </p:nvPr>
        </p:nvSpPr>
        <p:spPr>
          <a:xfrm>
            <a:off x="324000" y="2748421"/>
            <a:ext cx="5450400" cy="209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first train doesn’t stop at station E.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second train doesn’t stop at station B.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They will need to catch the 0855 train from station B which gets to station E at 0940.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Therefore, the earliest time the meeting can start is 10 am.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83"/>
          <p:cNvSpPr txBox="1"/>
          <p:nvPr>
            <p:ph idx="1" type="body"/>
          </p:nvPr>
        </p:nvSpPr>
        <p:spPr>
          <a:xfrm>
            <a:off x="324000" y="6069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The PA of a director is organising a morning of interviews for a new position at the company.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Each </a:t>
            </a:r>
            <a:r>
              <a:rPr lang="en-GB" sz="2100"/>
              <a:t>candidate</a:t>
            </a:r>
            <a:r>
              <a:rPr lang="en-GB" sz="2100"/>
              <a:t> needs to do the following: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15 minute welcome.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A tour of the company, can be done in a group or independently, and takes 45 minutes.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An interview, individually with the director, and takes 60 minutes.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A timed task, which can be split into two parts and takes </a:t>
            </a:r>
            <a:br>
              <a:rPr lang="en-GB" sz="2100"/>
            </a:br>
            <a:r>
              <a:rPr lang="en-GB" sz="2100"/>
              <a:t>1 hour 30 minutes.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A break of 15 minutes.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There are 3 candidates.</a:t>
            </a:r>
            <a:endParaRPr sz="2100"/>
          </a:p>
        </p:txBody>
      </p:sp>
      <p:sp>
        <p:nvSpPr>
          <p:cNvPr id="907" name="Google Shape;907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graphicFrame>
        <p:nvGraphicFramePr>
          <p:cNvPr id="913" name="Google Shape;913;p84"/>
          <p:cNvGraphicFramePr/>
          <p:nvPr/>
        </p:nvGraphicFramePr>
        <p:xfrm>
          <a:off x="380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WELCOME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4" name="Google Shape;914;p84"/>
          <p:cNvSpPr txBox="1"/>
          <p:nvPr/>
        </p:nvSpPr>
        <p:spPr>
          <a:xfrm>
            <a:off x="4824000" y="558105"/>
            <a:ext cx="3996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PA decides to use a spreadsheet it make rearranging the events easier.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use coloured blocks to make it easier to see if events overlap.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5" name="Google Shape;915;p84"/>
          <p:cNvGraphicFramePr/>
          <p:nvPr/>
        </p:nvGraphicFramePr>
        <p:xfrm>
          <a:off x="2666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16" name="Google Shape;916;p84"/>
          <p:cNvGrpSpPr/>
          <p:nvPr/>
        </p:nvGrpSpPr>
        <p:grpSpPr>
          <a:xfrm>
            <a:off x="5186125" y="3580955"/>
            <a:ext cx="461700" cy="1200442"/>
            <a:chOff x="5186125" y="3580955"/>
            <a:chExt cx="461700" cy="1200442"/>
          </a:xfrm>
        </p:grpSpPr>
        <p:sp>
          <p:nvSpPr>
            <p:cNvPr id="917" name="Google Shape;917;p84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8" name="Google Shape;918;p84"/>
            <p:cNvSpPr txBox="1"/>
            <p:nvPr/>
          </p:nvSpPr>
          <p:spPr>
            <a:xfrm rot="-5400000">
              <a:off x="4818025" y="3951598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9" name="Google Shape;919;p84"/>
          <p:cNvGrpSpPr/>
          <p:nvPr/>
        </p:nvGrpSpPr>
        <p:grpSpPr>
          <a:xfrm>
            <a:off x="5830013" y="3187052"/>
            <a:ext cx="469325" cy="1585042"/>
            <a:chOff x="5830013" y="3187052"/>
            <a:chExt cx="469325" cy="1585042"/>
          </a:xfrm>
        </p:grpSpPr>
        <p:sp>
          <p:nvSpPr>
            <p:cNvPr id="920" name="Google Shape;920;p84"/>
            <p:cNvSpPr/>
            <p:nvPr/>
          </p:nvSpPr>
          <p:spPr>
            <a:xfrm>
              <a:off x="5830013" y="3187052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1" name="Google Shape;921;p84"/>
            <p:cNvSpPr txBox="1"/>
            <p:nvPr/>
          </p:nvSpPr>
          <p:spPr>
            <a:xfrm rot="-5400000">
              <a:off x="5285338" y="3758094"/>
              <a:ext cx="1566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2" name="Google Shape;922;p84"/>
          <p:cNvGrpSpPr/>
          <p:nvPr/>
        </p:nvGrpSpPr>
        <p:grpSpPr>
          <a:xfrm>
            <a:off x="6481525" y="2404850"/>
            <a:ext cx="473775" cy="2351117"/>
            <a:chOff x="6481525" y="2404850"/>
            <a:chExt cx="473775" cy="2351117"/>
          </a:xfrm>
        </p:grpSpPr>
        <p:sp>
          <p:nvSpPr>
            <p:cNvPr id="923" name="Google Shape;923;p84"/>
            <p:cNvSpPr/>
            <p:nvPr/>
          </p:nvSpPr>
          <p:spPr>
            <a:xfrm>
              <a:off x="6500200" y="2404850"/>
              <a:ext cx="455100" cy="2346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4" name="Google Shape;924;p84"/>
            <p:cNvSpPr txBox="1"/>
            <p:nvPr/>
          </p:nvSpPr>
          <p:spPr>
            <a:xfrm rot="-5400000">
              <a:off x="5542975" y="3355717"/>
              <a:ext cx="233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TASK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5" name="Google Shape;925;p84"/>
          <p:cNvSpPr/>
          <p:nvPr/>
        </p:nvSpPr>
        <p:spPr>
          <a:xfrm>
            <a:off x="7137475" y="4320000"/>
            <a:ext cx="434400" cy="390900"/>
          </a:xfrm>
          <a:prstGeom prst="rect">
            <a:avLst/>
          </a:prstGeom>
          <a:solidFill>
            <a:srgbClr val="D02AA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graphicFrame>
        <p:nvGraphicFramePr>
          <p:cNvPr id="931" name="Google Shape;931;p85"/>
          <p:cNvGraphicFramePr/>
          <p:nvPr/>
        </p:nvGraphicFramePr>
        <p:xfrm>
          <a:off x="380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WELCOME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2" name="Google Shape;932;p85"/>
          <p:cNvSpPr txBox="1"/>
          <p:nvPr/>
        </p:nvSpPr>
        <p:spPr>
          <a:xfrm>
            <a:off x="4824000" y="558105"/>
            <a:ext cx="3996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should start with the interview as these need to be individually and are carried out by the same person and therefore cannot overlap.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3" name="Google Shape;933;p85"/>
          <p:cNvGraphicFramePr/>
          <p:nvPr/>
        </p:nvGraphicFramePr>
        <p:xfrm>
          <a:off x="2666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34" name="Google Shape;934;p85"/>
          <p:cNvGrpSpPr/>
          <p:nvPr/>
        </p:nvGrpSpPr>
        <p:grpSpPr>
          <a:xfrm>
            <a:off x="1099163" y="1708952"/>
            <a:ext cx="469325" cy="1568126"/>
            <a:chOff x="6052175" y="3110850"/>
            <a:chExt cx="469325" cy="1568126"/>
          </a:xfrm>
        </p:grpSpPr>
        <p:sp>
          <p:nvSpPr>
            <p:cNvPr id="935" name="Google Shape;935;p85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6" name="Google Shape;936;p85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7" name="Google Shape;937;p85"/>
          <p:cNvGrpSpPr/>
          <p:nvPr/>
        </p:nvGrpSpPr>
        <p:grpSpPr>
          <a:xfrm>
            <a:off x="1556363" y="2726694"/>
            <a:ext cx="469325" cy="1568126"/>
            <a:chOff x="6052175" y="3110850"/>
            <a:chExt cx="469325" cy="1568126"/>
          </a:xfrm>
        </p:grpSpPr>
        <p:sp>
          <p:nvSpPr>
            <p:cNvPr id="938" name="Google Shape;938;p85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9" name="Google Shape;939;p85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0" name="Google Shape;940;p85"/>
          <p:cNvGrpSpPr/>
          <p:nvPr/>
        </p:nvGrpSpPr>
        <p:grpSpPr>
          <a:xfrm>
            <a:off x="4295613" y="1945789"/>
            <a:ext cx="469325" cy="1568126"/>
            <a:chOff x="6052175" y="3110850"/>
            <a:chExt cx="469325" cy="1568126"/>
          </a:xfrm>
        </p:grpSpPr>
        <p:sp>
          <p:nvSpPr>
            <p:cNvPr id="941" name="Google Shape;941;p85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2" name="Google Shape;942;p85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3" name="Google Shape;943;p85"/>
          <p:cNvSpPr txBox="1"/>
          <p:nvPr/>
        </p:nvSpPr>
        <p:spPr>
          <a:xfrm>
            <a:off x="4824000" y="2310705"/>
            <a:ext cx="399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the interviews occur at these times?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4" name="Google Shape;944;p85"/>
          <p:cNvSpPr/>
          <p:nvPr/>
        </p:nvSpPr>
        <p:spPr>
          <a:xfrm>
            <a:off x="380500" y="2746200"/>
            <a:ext cx="2084400" cy="374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5"/>
          <p:cNvSpPr txBox="1"/>
          <p:nvPr/>
        </p:nvSpPr>
        <p:spPr>
          <a:xfrm>
            <a:off x="4824000" y="2996505"/>
            <a:ext cx="399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there is an overlap here.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46" name="Google Shape;946;p85"/>
          <p:cNvGrpSpPr/>
          <p:nvPr/>
        </p:nvGrpSpPr>
        <p:grpSpPr>
          <a:xfrm>
            <a:off x="5186125" y="3580955"/>
            <a:ext cx="461700" cy="1200442"/>
            <a:chOff x="5186125" y="3580955"/>
            <a:chExt cx="461700" cy="1200442"/>
          </a:xfrm>
        </p:grpSpPr>
        <p:sp>
          <p:nvSpPr>
            <p:cNvPr id="947" name="Google Shape;947;p85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8" name="Google Shape;948;p85"/>
            <p:cNvSpPr txBox="1"/>
            <p:nvPr/>
          </p:nvSpPr>
          <p:spPr>
            <a:xfrm rot="-5400000">
              <a:off x="4818025" y="3951598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9" name="Google Shape;949;p85"/>
          <p:cNvGrpSpPr/>
          <p:nvPr/>
        </p:nvGrpSpPr>
        <p:grpSpPr>
          <a:xfrm>
            <a:off x="5830013" y="3187052"/>
            <a:ext cx="469325" cy="1585042"/>
            <a:chOff x="5830013" y="3187052"/>
            <a:chExt cx="469325" cy="1585042"/>
          </a:xfrm>
        </p:grpSpPr>
        <p:sp>
          <p:nvSpPr>
            <p:cNvPr id="950" name="Google Shape;950;p85"/>
            <p:cNvSpPr/>
            <p:nvPr/>
          </p:nvSpPr>
          <p:spPr>
            <a:xfrm>
              <a:off x="5830013" y="3187052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1" name="Google Shape;951;p85"/>
            <p:cNvSpPr txBox="1"/>
            <p:nvPr/>
          </p:nvSpPr>
          <p:spPr>
            <a:xfrm rot="-5400000">
              <a:off x="5285338" y="3758094"/>
              <a:ext cx="1566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2" name="Google Shape;952;p85"/>
          <p:cNvGrpSpPr/>
          <p:nvPr/>
        </p:nvGrpSpPr>
        <p:grpSpPr>
          <a:xfrm>
            <a:off x="6481525" y="2404850"/>
            <a:ext cx="473775" cy="2351117"/>
            <a:chOff x="6481525" y="2404850"/>
            <a:chExt cx="473775" cy="2351117"/>
          </a:xfrm>
        </p:grpSpPr>
        <p:sp>
          <p:nvSpPr>
            <p:cNvPr id="953" name="Google Shape;953;p85"/>
            <p:cNvSpPr/>
            <p:nvPr/>
          </p:nvSpPr>
          <p:spPr>
            <a:xfrm>
              <a:off x="6500200" y="2404850"/>
              <a:ext cx="455100" cy="2346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85"/>
            <p:cNvSpPr txBox="1"/>
            <p:nvPr/>
          </p:nvSpPr>
          <p:spPr>
            <a:xfrm rot="-5400000">
              <a:off x="5542975" y="3355717"/>
              <a:ext cx="233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TASK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5" name="Google Shape;955;p85"/>
          <p:cNvSpPr/>
          <p:nvPr/>
        </p:nvSpPr>
        <p:spPr>
          <a:xfrm>
            <a:off x="7137475" y="4320000"/>
            <a:ext cx="434400" cy="390900"/>
          </a:xfrm>
          <a:prstGeom prst="rect">
            <a:avLst/>
          </a:prstGeom>
          <a:solidFill>
            <a:srgbClr val="D02AA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graphicFrame>
        <p:nvGraphicFramePr>
          <p:cNvPr id="961" name="Google Shape;961;p86"/>
          <p:cNvGraphicFramePr/>
          <p:nvPr/>
        </p:nvGraphicFramePr>
        <p:xfrm>
          <a:off x="380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WELCOME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2" name="Google Shape;962;p86"/>
          <p:cNvSpPr txBox="1"/>
          <p:nvPr/>
        </p:nvSpPr>
        <p:spPr>
          <a:xfrm>
            <a:off x="4824000" y="558105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schedule the interviews like this.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this okay?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3" name="Google Shape;963;p86"/>
          <p:cNvGraphicFramePr/>
          <p:nvPr/>
        </p:nvGraphicFramePr>
        <p:xfrm>
          <a:off x="2666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64" name="Google Shape;964;p86"/>
          <p:cNvGrpSpPr/>
          <p:nvPr/>
        </p:nvGrpSpPr>
        <p:grpSpPr>
          <a:xfrm>
            <a:off x="1099163" y="1556552"/>
            <a:ext cx="469325" cy="1568126"/>
            <a:chOff x="6052175" y="3110850"/>
            <a:chExt cx="469325" cy="1568126"/>
          </a:xfrm>
        </p:grpSpPr>
        <p:sp>
          <p:nvSpPr>
            <p:cNvPr id="965" name="Google Shape;965;p86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6" name="Google Shape;966;p86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7" name="Google Shape;967;p86"/>
          <p:cNvGrpSpPr/>
          <p:nvPr/>
        </p:nvGrpSpPr>
        <p:grpSpPr>
          <a:xfrm>
            <a:off x="1556363" y="3121265"/>
            <a:ext cx="469325" cy="1568126"/>
            <a:chOff x="6052175" y="3110850"/>
            <a:chExt cx="469325" cy="1568126"/>
          </a:xfrm>
        </p:grpSpPr>
        <p:sp>
          <p:nvSpPr>
            <p:cNvPr id="968" name="Google Shape;968;p86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9" name="Google Shape;969;p86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0" name="Google Shape;970;p86"/>
          <p:cNvGrpSpPr/>
          <p:nvPr/>
        </p:nvGrpSpPr>
        <p:grpSpPr>
          <a:xfrm>
            <a:off x="4288071" y="1168706"/>
            <a:ext cx="469325" cy="1568126"/>
            <a:chOff x="6052175" y="3110850"/>
            <a:chExt cx="469325" cy="1568126"/>
          </a:xfrm>
        </p:grpSpPr>
        <p:sp>
          <p:nvSpPr>
            <p:cNvPr id="971" name="Google Shape;971;p86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2" name="Google Shape;972;p86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3" name="Google Shape;973;p86"/>
          <p:cNvSpPr txBox="1"/>
          <p:nvPr/>
        </p:nvSpPr>
        <p:spPr>
          <a:xfrm>
            <a:off x="4824000" y="1624905"/>
            <a:ext cx="399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Yes, they now do not overlap.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4" name="Google Shape;974;p86"/>
          <p:cNvSpPr/>
          <p:nvPr/>
        </p:nvSpPr>
        <p:spPr>
          <a:xfrm>
            <a:off x="6534652" y="2165750"/>
            <a:ext cx="2251368" cy="2388582"/>
          </a:xfrm>
          <a:prstGeom prst="flowChartDocument">
            <a:avLst/>
          </a:prstGeom>
          <a:solidFill>
            <a:srgbClr val="F3EE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Please make sure I have a 30 minute break at some point between the interviews but not before 10:30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6"/>
          <p:cNvSpPr txBox="1"/>
          <p:nvPr/>
        </p:nvSpPr>
        <p:spPr>
          <a:xfrm>
            <a:off x="4824000" y="2158300"/>
            <a:ext cx="1710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PA finds this note on their desk.  What change should be made to the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schedule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graphicFrame>
        <p:nvGraphicFramePr>
          <p:cNvPr id="981" name="Google Shape;981;p87"/>
          <p:cNvGraphicFramePr/>
          <p:nvPr/>
        </p:nvGraphicFramePr>
        <p:xfrm>
          <a:off x="380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WELCOME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2" name="Google Shape;982;p87"/>
          <p:cNvSpPr txBox="1"/>
          <p:nvPr/>
        </p:nvSpPr>
        <p:spPr>
          <a:xfrm>
            <a:off x="4824000" y="558105"/>
            <a:ext cx="399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interview schedule okay now?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83" name="Google Shape;983;p87"/>
          <p:cNvGraphicFramePr/>
          <p:nvPr/>
        </p:nvGraphicFramePr>
        <p:xfrm>
          <a:off x="2666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4" name="Google Shape;984;p87"/>
          <p:cNvSpPr txBox="1"/>
          <p:nvPr/>
        </p:nvSpPr>
        <p:spPr>
          <a:xfrm>
            <a:off x="4824000" y="1396300"/>
            <a:ext cx="1710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Yes, the interviews do not overlap and the interviewer has a break from 11:15 until 11:45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5" name="Google Shape;985;p87"/>
          <p:cNvSpPr/>
          <p:nvPr/>
        </p:nvSpPr>
        <p:spPr>
          <a:xfrm>
            <a:off x="6534652" y="2165750"/>
            <a:ext cx="2251368" cy="2388582"/>
          </a:xfrm>
          <a:prstGeom prst="flowChartDocument">
            <a:avLst/>
          </a:prstGeom>
          <a:solidFill>
            <a:srgbClr val="F3EE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Please make sure I have a 30 minute break at some point between the interviews but not before 10:30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6" name="Google Shape;986;p87"/>
          <p:cNvGrpSpPr/>
          <p:nvPr/>
        </p:nvGrpSpPr>
        <p:grpSpPr>
          <a:xfrm>
            <a:off x="1099163" y="1556552"/>
            <a:ext cx="469325" cy="1568126"/>
            <a:chOff x="6052175" y="3110850"/>
            <a:chExt cx="469325" cy="1568126"/>
          </a:xfrm>
        </p:grpSpPr>
        <p:sp>
          <p:nvSpPr>
            <p:cNvPr id="987" name="Google Shape;987;p87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8" name="Google Shape;988;p87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9" name="Google Shape;989;p87"/>
          <p:cNvGrpSpPr/>
          <p:nvPr/>
        </p:nvGrpSpPr>
        <p:grpSpPr>
          <a:xfrm>
            <a:off x="1556363" y="3121265"/>
            <a:ext cx="469325" cy="1568126"/>
            <a:chOff x="6052175" y="3110850"/>
            <a:chExt cx="469325" cy="1568126"/>
          </a:xfrm>
        </p:grpSpPr>
        <p:sp>
          <p:nvSpPr>
            <p:cNvPr id="990" name="Google Shape;990;p87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1" name="Google Shape;991;p87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2" name="Google Shape;992;p87"/>
          <p:cNvGrpSpPr/>
          <p:nvPr/>
        </p:nvGrpSpPr>
        <p:grpSpPr>
          <a:xfrm>
            <a:off x="4288071" y="1930706"/>
            <a:ext cx="469325" cy="1568126"/>
            <a:chOff x="6052175" y="3110850"/>
            <a:chExt cx="469325" cy="1568126"/>
          </a:xfrm>
        </p:grpSpPr>
        <p:sp>
          <p:nvSpPr>
            <p:cNvPr id="993" name="Google Shape;993;p87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4" name="Google Shape;994;p87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graphicFrame>
        <p:nvGraphicFramePr>
          <p:cNvPr id="1000" name="Google Shape;1000;p88"/>
          <p:cNvGraphicFramePr/>
          <p:nvPr/>
        </p:nvGraphicFramePr>
        <p:xfrm>
          <a:off x="380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WELCOME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1" name="Google Shape;1001;p88"/>
          <p:cNvSpPr txBox="1"/>
          <p:nvPr/>
        </p:nvSpPr>
        <p:spPr>
          <a:xfrm>
            <a:off x="4824000" y="558105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tour is scheduled next as the task can be broken into two parts.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2" name="Google Shape;1002;p88"/>
          <p:cNvGraphicFramePr/>
          <p:nvPr/>
        </p:nvGraphicFramePr>
        <p:xfrm>
          <a:off x="2666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03" name="Google Shape;1003;p88"/>
          <p:cNvGrpSpPr/>
          <p:nvPr/>
        </p:nvGrpSpPr>
        <p:grpSpPr>
          <a:xfrm>
            <a:off x="2002316" y="1559780"/>
            <a:ext cx="461700" cy="1200445"/>
            <a:chOff x="5186138" y="3580955"/>
            <a:chExt cx="461700" cy="1200445"/>
          </a:xfrm>
        </p:grpSpPr>
        <p:sp>
          <p:nvSpPr>
            <p:cNvPr id="1004" name="Google Shape;1004;p88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5" name="Google Shape;1005;p88"/>
            <p:cNvSpPr txBox="1"/>
            <p:nvPr/>
          </p:nvSpPr>
          <p:spPr>
            <a:xfrm rot="-5400000">
              <a:off x="4818038" y="3951600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88"/>
          <p:cNvGrpSpPr/>
          <p:nvPr/>
        </p:nvGrpSpPr>
        <p:grpSpPr>
          <a:xfrm>
            <a:off x="1102988" y="3513838"/>
            <a:ext cx="461700" cy="1200442"/>
            <a:chOff x="5186125" y="3580955"/>
            <a:chExt cx="461700" cy="1200442"/>
          </a:xfrm>
        </p:grpSpPr>
        <p:sp>
          <p:nvSpPr>
            <p:cNvPr id="1007" name="Google Shape;1007;p88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8" name="Google Shape;1008;p88"/>
            <p:cNvSpPr txBox="1"/>
            <p:nvPr/>
          </p:nvSpPr>
          <p:spPr>
            <a:xfrm rot="-5400000">
              <a:off x="4818025" y="3951598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9" name="Google Shape;1009;p88"/>
          <p:cNvSpPr txBox="1"/>
          <p:nvPr/>
        </p:nvSpPr>
        <p:spPr>
          <a:xfrm>
            <a:off x="4824000" y="1777305"/>
            <a:ext cx="399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now the breaks of 15 minutes each.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8"/>
          <p:cNvSpPr/>
          <p:nvPr/>
        </p:nvSpPr>
        <p:spPr>
          <a:xfrm>
            <a:off x="1104434" y="3124675"/>
            <a:ext cx="461700" cy="390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8"/>
          <p:cNvSpPr/>
          <p:nvPr/>
        </p:nvSpPr>
        <p:spPr>
          <a:xfrm>
            <a:off x="1581392" y="2743675"/>
            <a:ext cx="434400" cy="390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8"/>
          <p:cNvSpPr/>
          <p:nvPr/>
        </p:nvSpPr>
        <p:spPr>
          <a:xfrm>
            <a:off x="2028684" y="2736133"/>
            <a:ext cx="434400" cy="390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3" name="Google Shape;1013;p88"/>
          <p:cNvGrpSpPr/>
          <p:nvPr/>
        </p:nvGrpSpPr>
        <p:grpSpPr>
          <a:xfrm>
            <a:off x="1099163" y="1556552"/>
            <a:ext cx="469325" cy="1568126"/>
            <a:chOff x="6052175" y="3110850"/>
            <a:chExt cx="469325" cy="1568126"/>
          </a:xfrm>
        </p:grpSpPr>
        <p:sp>
          <p:nvSpPr>
            <p:cNvPr id="1014" name="Google Shape;1014;p88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5" name="Google Shape;1015;p88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6" name="Google Shape;1016;p88"/>
          <p:cNvGrpSpPr/>
          <p:nvPr/>
        </p:nvGrpSpPr>
        <p:grpSpPr>
          <a:xfrm>
            <a:off x="1563904" y="3121265"/>
            <a:ext cx="466479" cy="1568135"/>
            <a:chOff x="6052175" y="3110850"/>
            <a:chExt cx="466479" cy="1568135"/>
          </a:xfrm>
        </p:grpSpPr>
        <p:sp>
          <p:nvSpPr>
            <p:cNvPr id="1017" name="Google Shape;1017;p88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8" name="Google Shape;1018;p88"/>
            <p:cNvSpPr txBox="1"/>
            <p:nvPr/>
          </p:nvSpPr>
          <p:spPr>
            <a:xfrm rot="-5400000">
              <a:off x="5504654" y="3664985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9" name="Google Shape;1019;p88"/>
          <p:cNvGrpSpPr/>
          <p:nvPr/>
        </p:nvGrpSpPr>
        <p:grpSpPr>
          <a:xfrm>
            <a:off x="4288071" y="1930706"/>
            <a:ext cx="469325" cy="1568126"/>
            <a:chOff x="6052175" y="3110850"/>
            <a:chExt cx="469325" cy="1568126"/>
          </a:xfrm>
        </p:grpSpPr>
        <p:sp>
          <p:nvSpPr>
            <p:cNvPr id="1020" name="Google Shape;1020;p88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1" name="Google Shape;1021;p88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2" name="Google Shape;1022;p88"/>
          <p:cNvGrpSpPr/>
          <p:nvPr/>
        </p:nvGrpSpPr>
        <p:grpSpPr>
          <a:xfrm>
            <a:off x="5186125" y="3580955"/>
            <a:ext cx="461700" cy="1200442"/>
            <a:chOff x="5186125" y="3580955"/>
            <a:chExt cx="461700" cy="1200442"/>
          </a:xfrm>
        </p:grpSpPr>
        <p:sp>
          <p:nvSpPr>
            <p:cNvPr id="1023" name="Google Shape;1023;p88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4" name="Google Shape;1024;p88"/>
            <p:cNvSpPr txBox="1"/>
            <p:nvPr/>
          </p:nvSpPr>
          <p:spPr>
            <a:xfrm rot="-5400000">
              <a:off x="4818025" y="3951598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25" name="Google Shape;1025;p88"/>
          <p:cNvSpPr/>
          <p:nvPr/>
        </p:nvSpPr>
        <p:spPr>
          <a:xfrm>
            <a:off x="7137475" y="4320000"/>
            <a:ext cx="434400" cy="390900"/>
          </a:xfrm>
          <a:prstGeom prst="rect">
            <a:avLst/>
          </a:prstGeom>
          <a:solidFill>
            <a:srgbClr val="D02AA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6" name="Google Shape;1026;p88"/>
          <p:cNvGrpSpPr/>
          <p:nvPr/>
        </p:nvGrpSpPr>
        <p:grpSpPr>
          <a:xfrm>
            <a:off x="1560188" y="1559780"/>
            <a:ext cx="461700" cy="1200442"/>
            <a:chOff x="5186125" y="3580955"/>
            <a:chExt cx="461700" cy="1200442"/>
          </a:xfrm>
        </p:grpSpPr>
        <p:sp>
          <p:nvSpPr>
            <p:cNvPr id="1027" name="Google Shape;1027;p88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8" name="Google Shape;1028;p88"/>
            <p:cNvSpPr txBox="1"/>
            <p:nvPr/>
          </p:nvSpPr>
          <p:spPr>
            <a:xfrm rot="-5400000">
              <a:off x="4818025" y="3951598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89"/>
          <p:cNvGrpSpPr/>
          <p:nvPr/>
        </p:nvGrpSpPr>
        <p:grpSpPr>
          <a:xfrm>
            <a:off x="6481525" y="2404850"/>
            <a:ext cx="473775" cy="2351117"/>
            <a:chOff x="6481525" y="2404850"/>
            <a:chExt cx="473775" cy="2351117"/>
          </a:xfrm>
        </p:grpSpPr>
        <p:sp>
          <p:nvSpPr>
            <p:cNvPr id="1034" name="Google Shape;1034;p89"/>
            <p:cNvSpPr/>
            <p:nvPr/>
          </p:nvSpPr>
          <p:spPr>
            <a:xfrm>
              <a:off x="6500200" y="2404850"/>
              <a:ext cx="455100" cy="2346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5" name="Google Shape;1035;p89"/>
            <p:cNvSpPr txBox="1"/>
            <p:nvPr/>
          </p:nvSpPr>
          <p:spPr>
            <a:xfrm rot="-5400000">
              <a:off x="5542975" y="3355717"/>
              <a:ext cx="233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TASK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6" name="Google Shape;1036;p89"/>
          <p:cNvSpPr/>
          <p:nvPr/>
        </p:nvSpPr>
        <p:spPr>
          <a:xfrm>
            <a:off x="1581392" y="2743675"/>
            <a:ext cx="434400" cy="390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graphicFrame>
        <p:nvGraphicFramePr>
          <p:cNvPr id="1038" name="Google Shape;1038;p89"/>
          <p:cNvGraphicFramePr/>
          <p:nvPr/>
        </p:nvGraphicFramePr>
        <p:xfrm>
          <a:off x="380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WELCOME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02A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D02A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9" name="Google Shape;1039;p89"/>
          <p:cNvSpPr txBox="1"/>
          <p:nvPr/>
        </p:nvSpPr>
        <p:spPr>
          <a:xfrm>
            <a:off x="4824000" y="558105"/>
            <a:ext cx="399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And, finally the task.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40" name="Google Shape;1040;p89"/>
          <p:cNvGraphicFramePr/>
          <p:nvPr/>
        </p:nvGraphicFramePr>
        <p:xfrm>
          <a:off x="2666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41" name="Google Shape;1041;p89"/>
          <p:cNvGrpSpPr/>
          <p:nvPr/>
        </p:nvGrpSpPr>
        <p:grpSpPr>
          <a:xfrm>
            <a:off x="3369600" y="1153738"/>
            <a:ext cx="473775" cy="2373742"/>
            <a:chOff x="6481525" y="2404850"/>
            <a:chExt cx="473775" cy="2373742"/>
          </a:xfrm>
        </p:grpSpPr>
        <p:sp>
          <p:nvSpPr>
            <p:cNvPr id="1042" name="Google Shape;1042;p89"/>
            <p:cNvSpPr/>
            <p:nvPr/>
          </p:nvSpPr>
          <p:spPr>
            <a:xfrm>
              <a:off x="6500200" y="2404850"/>
              <a:ext cx="455100" cy="2346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3" name="Google Shape;1043;p89"/>
            <p:cNvSpPr txBox="1"/>
            <p:nvPr/>
          </p:nvSpPr>
          <p:spPr>
            <a:xfrm rot="-5400000">
              <a:off x="5542975" y="3378342"/>
              <a:ext cx="233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TASK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4" name="Google Shape;1044;p89"/>
          <p:cNvGrpSpPr/>
          <p:nvPr/>
        </p:nvGrpSpPr>
        <p:grpSpPr>
          <a:xfrm>
            <a:off x="1990311" y="3136796"/>
            <a:ext cx="473775" cy="1568094"/>
            <a:chOff x="6481525" y="2404850"/>
            <a:chExt cx="473775" cy="2373742"/>
          </a:xfrm>
        </p:grpSpPr>
        <p:sp>
          <p:nvSpPr>
            <p:cNvPr id="1045" name="Google Shape;1045;p89"/>
            <p:cNvSpPr/>
            <p:nvPr/>
          </p:nvSpPr>
          <p:spPr>
            <a:xfrm>
              <a:off x="6500200" y="2404850"/>
              <a:ext cx="455100" cy="2346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6" name="Google Shape;1046;p89"/>
            <p:cNvSpPr txBox="1"/>
            <p:nvPr/>
          </p:nvSpPr>
          <p:spPr>
            <a:xfrm rot="-5400000">
              <a:off x="5542975" y="3378342"/>
              <a:ext cx="233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TASK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7" name="Google Shape;1047;p89"/>
          <p:cNvSpPr/>
          <p:nvPr/>
        </p:nvSpPr>
        <p:spPr>
          <a:xfrm>
            <a:off x="4304450" y="1152342"/>
            <a:ext cx="434400" cy="787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9"/>
          <p:cNvSpPr txBox="1"/>
          <p:nvPr/>
        </p:nvSpPr>
        <p:spPr>
          <a:xfrm>
            <a:off x="4824000" y="1091505"/>
            <a:ext cx="3996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director would like a 15 minute get together with all of the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candidates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at the end of the morning.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time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will the interview morning finish?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9"/>
          <p:cNvSpPr/>
          <p:nvPr/>
        </p:nvSpPr>
        <p:spPr>
          <a:xfrm>
            <a:off x="3381600" y="3506175"/>
            <a:ext cx="1357200" cy="3909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FAREWELL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9"/>
          <p:cNvSpPr txBox="1"/>
          <p:nvPr/>
        </p:nvSpPr>
        <p:spPr>
          <a:xfrm>
            <a:off x="4824000" y="3225105"/>
            <a:ext cx="399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morning finishes at 1:00 pm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51" name="Google Shape;1051;p89"/>
          <p:cNvGrpSpPr/>
          <p:nvPr/>
        </p:nvGrpSpPr>
        <p:grpSpPr>
          <a:xfrm>
            <a:off x="2002316" y="1559780"/>
            <a:ext cx="461700" cy="1200445"/>
            <a:chOff x="5186138" y="3580955"/>
            <a:chExt cx="461700" cy="1200445"/>
          </a:xfrm>
        </p:grpSpPr>
        <p:sp>
          <p:nvSpPr>
            <p:cNvPr id="1052" name="Google Shape;1052;p89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3" name="Google Shape;1053;p89"/>
            <p:cNvSpPr txBox="1"/>
            <p:nvPr/>
          </p:nvSpPr>
          <p:spPr>
            <a:xfrm rot="-5400000">
              <a:off x="4818038" y="3951600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4" name="Google Shape;1054;p89"/>
          <p:cNvGrpSpPr/>
          <p:nvPr/>
        </p:nvGrpSpPr>
        <p:grpSpPr>
          <a:xfrm>
            <a:off x="1102988" y="3513838"/>
            <a:ext cx="461700" cy="1200442"/>
            <a:chOff x="5186125" y="3580955"/>
            <a:chExt cx="461700" cy="1200442"/>
          </a:xfrm>
        </p:grpSpPr>
        <p:sp>
          <p:nvSpPr>
            <p:cNvPr id="1055" name="Google Shape;1055;p89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6" name="Google Shape;1056;p89"/>
            <p:cNvSpPr txBox="1"/>
            <p:nvPr/>
          </p:nvSpPr>
          <p:spPr>
            <a:xfrm rot="-5400000">
              <a:off x="4818025" y="3951598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7" name="Google Shape;1057;p89"/>
          <p:cNvSpPr/>
          <p:nvPr/>
        </p:nvSpPr>
        <p:spPr>
          <a:xfrm>
            <a:off x="1104434" y="3124675"/>
            <a:ext cx="461700" cy="390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8" name="Google Shape;1058;p89"/>
          <p:cNvGrpSpPr/>
          <p:nvPr/>
        </p:nvGrpSpPr>
        <p:grpSpPr>
          <a:xfrm>
            <a:off x="1099163" y="1556552"/>
            <a:ext cx="469325" cy="1568126"/>
            <a:chOff x="6052175" y="3110850"/>
            <a:chExt cx="469325" cy="1568126"/>
          </a:xfrm>
        </p:grpSpPr>
        <p:sp>
          <p:nvSpPr>
            <p:cNvPr id="1059" name="Google Shape;1059;p89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0" name="Google Shape;1060;p89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1" name="Google Shape;1061;p89"/>
          <p:cNvGrpSpPr/>
          <p:nvPr/>
        </p:nvGrpSpPr>
        <p:grpSpPr>
          <a:xfrm>
            <a:off x="1563904" y="3121265"/>
            <a:ext cx="466479" cy="1568135"/>
            <a:chOff x="6052175" y="3110850"/>
            <a:chExt cx="466479" cy="1568135"/>
          </a:xfrm>
        </p:grpSpPr>
        <p:sp>
          <p:nvSpPr>
            <p:cNvPr id="1062" name="Google Shape;1062;p89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3" name="Google Shape;1063;p89"/>
            <p:cNvSpPr txBox="1"/>
            <p:nvPr/>
          </p:nvSpPr>
          <p:spPr>
            <a:xfrm rot="-5400000">
              <a:off x="5504654" y="3664985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4" name="Google Shape;1064;p89"/>
          <p:cNvGrpSpPr/>
          <p:nvPr/>
        </p:nvGrpSpPr>
        <p:grpSpPr>
          <a:xfrm>
            <a:off x="4273475" y="1930700"/>
            <a:ext cx="476397" cy="1568125"/>
            <a:chOff x="6036267" y="3110848"/>
            <a:chExt cx="502475" cy="1568125"/>
          </a:xfrm>
        </p:grpSpPr>
        <p:sp>
          <p:nvSpPr>
            <p:cNvPr id="1065" name="Google Shape;1065;p89"/>
            <p:cNvSpPr/>
            <p:nvPr/>
          </p:nvSpPr>
          <p:spPr>
            <a:xfrm>
              <a:off x="6036267" y="3110848"/>
              <a:ext cx="4869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6" name="Google Shape;1066;p89"/>
            <p:cNvSpPr txBox="1"/>
            <p:nvPr/>
          </p:nvSpPr>
          <p:spPr>
            <a:xfrm rot="-5400000">
              <a:off x="5512143" y="3652373"/>
              <a:ext cx="1566300" cy="486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7" name="Google Shape;1067;p89"/>
          <p:cNvGrpSpPr/>
          <p:nvPr/>
        </p:nvGrpSpPr>
        <p:grpSpPr>
          <a:xfrm>
            <a:off x="1560188" y="1559780"/>
            <a:ext cx="461700" cy="1200442"/>
            <a:chOff x="5186125" y="3580955"/>
            <a:chExt cx="461700" cy="1200442"/>
          </a:xfrm>
        </p:grpSpPr>
        <p:sp>
          <p:nvSpPr>
            <p:cNvPr id="1068" name="Google Shape;1068;p89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9" name="Google Shape;1069;p89"/>
            <p:cNvSpPr txBox="1"/>
            <p:nvPr/>
          </p:nvSpPr>
          <p:spPr>
            <a:xfrm rot="-5400000">
              <a:off x="4818025" y="3951598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0" name="Google Shape;1070;p89"/>
          <p:cNvSpPr/>
          <p:nvPr/>
        </p:nvSpPr>
        <p:spPr>
          <a:xfrm>
            <a:off x="2028684" y="2736133"/>
            <a:ext cx="434400" cy="390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1" name="Google Shape;1071;p89"/>
          <p:cNvGrpSpPr/>
          <p:nvPr/>
        </p:nvGrpSpPr>
        <p:grpSpPr>
          <a:xfrm>
            <a:off x="3826800" y="1153738"/>
            <a:ext cx="473775" cy="2373742"/>
            <a:chOff x="6481525" y="2404850"/>
            <a:chExt cx="473775" cy="2373742"/>
          </a:xfrm>
        </p:grpSpPr>
        <p:sp>
          <p:nvSpPr>
            <p:cNvPr id="1072" name="Google Shape;1072;p89"/>
            <p:cNvSpPr/>
            <p:nvPr/>
          </p:nvSpPr>
          <p:spPr>
            <a:xfrm>
              <a:off x="6500200" y="2404850"/>
              <a:ext cx="455100" cy="2346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3" name="Google Shape;1073;p89"/>
            <p:cNvSpPr txBox="1"/>
            <p:nvPr/>
          </p:nvSpPr>
          <p:spPr>
            <a:xfrm rot="-5400000">
              <a:off x="5542975" y="3378342"/>
              <a:ext cx="233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TASK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8" name="Google Shape;1078;p90"/>
          <p:cNvGraphicFramePr/>
          <p:nvPr/>
        </p:nvGraphicFramePr>
        <p:xfrm>
          <a:off x="380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WELCOME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02A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D02A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9" name="Google Shape;1079;p90"/>
          <p:cNvSpPr txBox="1"/>
          <p:nvPr>
            <p:ph idx="1" type="body"/>
          </p:nvPr>
        </p:nvSpPr>
        <p:spPr>
          <a:xfrm>
            <a:off x="5037300" y="759300"/>
            <a:ext cx="3782700" cy="217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director decides that they would like each candidate to take the tour on their own rather than with another candidate and all the </a:t>
            </a:r>
            <a:r>
              <a:rPr lang="en-GB"/>
              <a:t>candidates</a:t>
            </a:r>
            <a:r>
              <a:rPr lang="en-GB"/>
              <a:t> need to have a break before 10:30.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Rewrite the schedule to take this into account.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Remember</a:t>
            </a:r>
            <a:r>
              <a:rPr lang="en-GB"/>
              <a:t> the task can be split into two parts.</a:t>
            </a:r>
            <a:endParaRPr/>
          </a:p>
        </p:txBody>
      </p:sp>
      <p:sp>
        <p:nvSpPr>
          <p:cNvPr id="1080" name="Google Shape;108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sp>
        <p:nvSpPr>
          <p:cNvPr id="1081" name="Google Shape;1081;p90"/>
          <p:cNvSpPr/>
          <p:nvPr/>
        </p:nvSpPr>
        <p:spPr>
          <a:xfrm>
            <a:off x="1581392" y="2743675"/>
            <a:ext cx="434400" cy="390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82" name="Google Shape;1082;p90"/>
          <p:cNvGraphicFramePr/>
          <p:nvPr/>
        </p:nvGraphicFramePr>
        <p:xfrm>
          <a:off x="2666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83" name="Google Shape;1083;p90"/>
          <p:cNvGrpSpPr/>
          <p:nvPr/>
        </p:nvGrpSpPr>
        <p:grpSpPr>
          <a:xfrm>
            <a:off x="3369600" y="1153738"/>
            <a:ext cx="473775" cy="2373742"/>
            <a:chOff x="6481525" y="2404850"/>
            <a:chExt cx="473775" cy="2373742"/>
          </a:xfrm>
        </p:grpSpPr>
        <p:sp>
          <p:nvSpPr>
            <p:cNvPr id="1084" name="Google Shape;1084;p90"/>
            <p:cNvSpPr/>
            <p:nvPr/>
          </p:nvSpPr>
          <p:spPr>
            <a:xfrm>
              <a:off x="6500200" y="2404850"/>
              <a:ext cx="455100" cy="2346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5" name="Google Shape;1085;p90"/>
            <p:cNvSpPr txBox="1"/>
            <p:nvPr/>
          </p:nvSpPr>
          <p:spPr>
            <a:xfrm rot="-5400000">
              <a:off x="5542975" y="3378342"/>
              <a:ext cx="233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TASK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6" name="Google Shape;1086;p90"/>
          <p:cNvGrpSpPr/>
          <p:nvPr/>
        </p:nvGrpSpPr>
        <p:grpSpPr>
          <a:xfrm>
            <a:off x="1990311" y="3136796"/>
            <a:ext cx="473775" cy="1568094"/>
            <a:chOff x="6481525" y="2404850"/>
            <a:chExt cx="473775" cy="2373742"/>
          </a:xfrm>
        </p:grpSpPr>
        <p:sp>
          <p:nvSpPr>
            <p:cNvPr id="1087" name="Google Shape;1087;p90"/>
            <p:cNvSpPr/>
            <p:nvPr/>
          </p:nvSpPr>
          <p:spPr>
            <a:xfrm>
              <a:off x="6500200" y="2404850"/>
              <a:ext cx="455100" cy="2346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8" name="Google Shape;1088;p90"/>
            <p:cNvSpPr txBox="1"/>
            <p:nvPr/>
          </p:nvSpPr>
          <p:spPr>
            <a:xfrm rot="-5400000">
              <a:off x="5542975" y="3378342"/>
              <a:ext cx="233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TASK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9" name="Google Shape;1089;p90"/>
          <p:cNvSpPr/>
          <p:nvPr/>
        </p:nvSpPr>
        <p:spPr>
          <a:xfrm>
            <a:off x="4304450" y="1152342"/>
            <a:ext cx="434400" cy="787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0"/>
          <p:cNvSpPr/>
          <p:nvPr/>
        </p:nvSpPr>
        <p:spPr>
          <a:xfrm>
            <a:off x="3381600" y="3506175"/>
            <a:ext cx="1357200" cy="3909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FAREWELL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1" name="Google Shape;1091;p90"/>
          <p:cNvGrpSpPr/>
          <p:nvPr/>
        </p:nvGrpSpPr>
        <p:grpSpPr>
          <a:xfrm>
            <a:off x="2002316" y="1559780"/>
            <a:ext cx="461700" cy="1200445"/>
            <a:chOff x="5186138" y="3580955"/>
            <a:chExt cx="461700" cy="1200445"/>
          </a:xfrm>
        </p:grpSpPr>
        <p:sp>
          <p:nvSpPr>
            <p:cNvPr id="1092" name="Google Shape;1092;p90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3" name="Google Shape;1093;p90"/>
            <p:cNvSpPr txBox="1"/>
            <p:nvPr/>
          </p:nvSpPr>
          <p:spPr>
            <a:xfrm rot="-5400000">
              <a:off x="4818038" y="3951600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4" name="Google Shape;1094;p90"/>
          <p:cNvGrpSpPr/>
          <p:nvPr/>
        </p:nvGrpSpPr>
        <p:grpSpPr>
          <a:xfrm>
            <a:off x="1102988" y="3513838"/>
            <a:ext cx="461700" cy="1200442"/>
            <a:chOff x="5186125" y="3580955"/>
            <a:chExt cx="461700" cy="1200442"/>
          </a:xfrm>
        </p:grpSpPr>
        <p:sp>
          <p:nvSpPr>
            <p:cNvPr id="1095" name="Google Shape;1095;p90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6" name="Google Shape;1096;p90"/>
            <p:cNvSpPr txBox="1"/>
            <p:nvPr/>
          </p:nvSpPr>
          <p:spPr>
            <a:xfrm rot="-5400000">
              <a:off x="4818025" y="3951598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7" name="Google Shape;1097;p90"/>
          <p:cNvSpPr/>
          <p:nvPr/>
        </p:nvSpPr>
        <p:spPr>
          <a:xfrm>
            <a:off x="1104434" y="3124675"/>
            <a:ext cx="461700" cy="390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8" name="Google Shape;1098;p90"/>
          <p:cNvGrpSpPr/>
          <p:nvPr/>
        </p:nvGrpSpPr>
        <p:grpSpPr>
          <a:xfrm>
            <a:off x="1099163" y="1556552"/>
            <a:ext cx="469325" cy="1568126"/>
            <a:chOff x="6052175" y="3110850"/>
            <a:chExt cx="469325" cy="1568126"/>
          </a:xfrm>
        </p:grpSpPr>
        <p:sp>
          <p:nvSpPr>
            <p:cNvPr id="1099" name="Google Shape;1099;p90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0" name="Google Shape;1100;p90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1" name="Google Shape;1101;p90"/>
          <p:cNvGrpSpPr/>
          <p:nvPr/>
        </p:nvGrpSpPr>
        <p:grpSpPr>
          <a:xfrm>
            <a:off x="1563904" y="3121265"/>
            <a:ext cx="466479" cy="1568135"/>
            <a:chOff x="6052175" y="3110850"/>
            <a:chExt cx="466479" cy="1568135"/>
          </a:xfrm>
        </p:grpSpPr>
        <p:sp>
          <p:nvSpPr>
            <p:cNvPr id="1102" name="Google Shape;1102;p90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90"/>
            <p:cNvSpPr txBox="1"/>
            <p:nvPr/>
          </p:nvSpPr>
          <p:spPr>
            <a:xfrm rot="-5400000">
              <a:off x="5504654" y="3664985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4" name="Google Shape;1104;p90"/>
          <p:cNvGrpSpPr/>
          <p:nvPr/>
        </p:nvGrpSpPr>
        <p:grpSpPr>
          <a:xfrm>
            <a:off x="4273475" y="1930700"/>
            <a:ext cx="476397" cy="1568125"/>
            <a:chOff x="6036267" y="3110848"/>
            <a:chExt cx="502475" cy="1568125"/>
          </a:xfrm>
        </p:grpSpPr>
        <p:sp>
          <p:nvSpPr>
            <p:cNvPr id="1105" name="Google Shape;1105;p90"/>
            <p:cNvSpPr/>
            <p:nvPr/>
          </p:nvSpPr>
          <p:spPr>
            <a:xfrm>
              <a:off x="6036267" y="3110848"/>
              <a:ext cx="4869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6" name="Google Shape;1106;p90"/>
            <p:cNvSpPr txBox="1"/>
            <p:nvPr/>
          </p:nvSpPr>
          <p:spPr>
            <a:xfrm rot="-5400000">
              <a:off x="5512143" y="3652373"/>
              <a:ext cx="1566300" cy="486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90"/>
          <p:cNvGrpSpPr/>
          <p:nvPr/>
        </p:nvGrpSpPr>
        <p:grpSpPr>
          <a:xfrm>
            <a:off x="1560188" y="1559780"/>
            <a:ext cx="461700" cy="1200442"/>
            <a:chOff x="5186125" y="3580955"/>
            <a:chExt cx="461700" cy="1200442"/>
          </a:xfrm>
        </p:grpSpPr>
        <p:sp>
          <p:nvSpPr>
            <p:cNvPr id="1108" name="Google Shape;1108;p90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9" name="Google Shape;1109;p90"/>
            <p:cNvSpPr txBox="1"/>
            <p:nvPr/>
          </p:nvSpPr>
          <p:spPr>
            <a:xfrm rot="-5400000">
              <a:off x="4818025" y="3951598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0" name="Google Shape;1110;p90"/>
          <p:cNvSpPr/>
          <p:nvPr/>
        </p:nvSpPr>
        <p:spPr>
          <a:xfrm>
            <a:off x="2028684" y="2736133"/>
            <a:ext cx="434400" cy="390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1" name="Google Shape;1111;p90"/>
          <p:cNvGrpSpPr/>
          <p:nvPr/>
        </p:nvGrpSpPr>
        <p:grpSpPr>
          <a:xfrm>
            <a:off x="3826800" y="1153738"/>
            <a:ext cx="473775" cy="2373742"/>
            <a:chOff x="6481525" y="2404850"/>
            <a:chExt cx="473775" cy="2373742"/>
          </a:xfrm>
        </p:grpSpPr>
        <p:sp>
          <p:nvSpPr>
            <p:cNvPr id="1112" name="Google Shape;1112;p90"/>
            <p:cNvSpPr/>
            <p:nvPr/>
          </p:nvSpPr>
          <p:spPr>
            <a:xfrm>
              <a:off x="6500200" y="2404850"/>
              <a:ext cx="455100" cy="2346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3" name="Google Shape;1113;p90"/>
            <p:cNvSpPr txBox="1"/>
            <p:nvPr/>
          </p:nvSpPr>
          <p:spPr>
            <a:xfrm rot="-5400000">
              <a:off x="5542975" y="3378342"/>
              <a:ext cx="233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TASK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8" name="Google Shape;1118;p91"/>
          <p:cNvGraphicFramePr/>
          <p:nvPr/>
        </p:nvGraphicFramePr>
        <p:xfrm>
          <a:off x="380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WELCOME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19" name="Google Shape;1119;p91"/>
          <p:cNvGrpSpPr/>
          <p:nvPr/>
        </p:nvGrpSpPr>
        <p:grpSpPr>
          <a:xfrm>
            <a:off x="1563904" y="3121265"/>
            <a:ext cx="466479" cy="1568135"/>
            <a:chOff x="6052175" y="3110850"/>
            <a:chExt cx="466479" cy="1568135"/>
          </a:xfrm>
        </p:grpSpPr>
        <p:sp>
          <p:nvSpPr>
            <p:cNvPr id="1120" name="Google Shape;1120;p91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1" name="Google Shape;1121;p91"/>
            <p:cNvSpPr txBox="1"/>
            <p:nvPr/>
          </p:nvSpPr>
          <p:spPr>
            <a:xfrm rot="-5400000">
              <a:off x="5504654" y="3664985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2" name="Google Shape;112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sp>
        <p:nvSpPr>
          <p:cNvPr id="1123" name="Google Shape;1123;p91"/>
          <p:cNvSpPr txBox="1"/>
          <p:nvPr>
            <p:ph idx="1" type="body"/>
          </p:nvPr>
        </p:nvSpPr>
        <p:spPr>
          <a:xfrm>
            <a:off x="5037300" y="759300"/>
            <a:ext cx="3782700" cy="217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director decides that they would like each candidate to take the tour on their own rather than with another candidate and all the candidates need to have a break before 10:30.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Rewrite the schedule to take this into account.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Remember the task can be split into two parts.</a:t>
            </a:r>
            <a:endParaRPr/>
          </a:p>
        </p:txBody>
      </p:sp>
      <p:graphicFrame>
        <p:nvGraphicFramePr>
          <p:cNvPr id="1124" name="Google Shape;1124;p91"/>
          <p:cNvGraphicFramePr/>
          <p:nvPr/>
        </p:nvGraphicFramePr>
        <p:xfrm>
          <a:off x="2666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18675"/>
                <a:gridCol w="455225"/>
                <a:gridCol w="455225"/>
                <a:gridCol w="455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25" name="Google Shape;1125;p91"/>
          <p:cNvGrpSpPr/>
          <p:nvPr/>
        </p:nvGrpSpPr>
        <p:grpSpPr>
          <a:xfrm>
            <a:off x="1567721" y="1560646"/>
            <a:ext cx="473775" cy="1200402"/>
            <a:chOff x="6481525" y="2404850"/>
            <a:chExt cx="473775" cy="2373742"/>
          </a:xfrm>
        </p:grpSpPr>
        <p:sp>
          <p:nvSpPr>
            <p:cNvPr id="1126" name="Google Shape;1126;p91"/>
            <p:cNvSpPr/>
            <p:nvPr/>
          </p:nvSpPr>
          <p:spPr>
            <a:xfrm>
              <a:off x="6500200" y="2404850"/>
              <a:ext cx="455100" cy="2346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7" name="Google Shape;1127;p91"/>
            <p:cNvSpPr txBox="1"/>
            <p:nvPr/>
          </p:nvSpPr>
          <p:spPr>
            <a:xfrm rot="-5400000">
              <a:off x="5542975" y="3378342"/>
              <a:ext cx="233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TASK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8" name="Google Shape;1128;p91"/>
          <p:cNvGrpSpPr/>
          <p:nvPr/>
        </p:nvGrpSpPr>
        <p:grpSpPr>
          <a:xfrm>
            <a:off x="3369600" y="1153738"/>
            <a:ext cx="473775" cy="2373742"/>
            <a:chOff x="6481525" y="2404850"/>
            <a:chExt cx="473775" cy="2373742"/>
          </a:xfrm>
        </p:grpSpPr>
        <p:sp>
          <p:nvSpPr>
            <p:cNvPr id="1129" name="Google Shape;1129;p91"/>
            <p:cNvSpPr/>
            <p:nvPr/>
          </p:nvSpPr>
          <p:spPr>
            <a:xfrm>
              <a:off x="6500200" y="2404850"/>
              <a:ext cx="455100" cy="2346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0" name="Google Shape;1130;p91"/>
            <p:cNvSpPr txBox="1"/>
            <p:nvPr/>
          </p:nvSpPr>
          <p:spPr>
            <a:xfrm rot="-5400000">
              <a:off x="5542975" y="3378342"/>
              <a:ext cx="233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TASK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1" name="Google Shape;1131;p91"/>
          <p:cNvSpPr/>
          <p:nvPr/>
        </p:nvSpPr>
        <p:spPr>
          <a:xfrm>
            <a:off x="3381600" y="3506175"/>
            <a:ext cx="1357200" cy="3909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FAREWELL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2" name="Google Shape;1132;p91"/>
          <p:cNvGrpSpPr/>
          <p:nvPr/>
        </p:nvGrpSpPr>
        <p:grpSpPr>
          <a:xfrm>
            <a:off x="1102988" y="3513838"/>
            <a:ext cx="461700" cy="1200442"/>
            <a:chOff x="5186125" y="3580955"/>
            <a:chExt cx="461700" cy="1200442"/>
          </a:xfrm>
        </p:grpSpPr>
        <p:sp>
          <p:nvSpPr>
            <p:cNvPr id="1133" name="Google Shape;1133;p91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4" name="Google Shape;1134;p91"/>
            <p:cNvSpPr txBox="1"/>
            <p:nvPr/>
          </p:nvSpPr>
          <p:spPr>
            <a:xfrm rot="-5400000">
              <a:off x="4818025" y="3951598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5" name="Google Shape;1135;p91"/>
          <p:cNvSpPr/>
          <p:nvPr/>
        </p:nvSpPr>
        <p:spPr>
          <a:xfrm>
            <a:off x="1104434" y="3124675"/>
            <a:ext cx="461700" cy="390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6" name="Google Shape;1136;p91"/>
          <p:cNvGrpSpPr/>
          <p:nvPr/>
        </p:nvGrpSpPr>
        <p:grpSpPr>
          <a:xfrm>
            <a:off x="1099163" y="1556552"/>
            <a:ext cx="469325" cy="1568126"/>
            <a:chOff x="6052175" y="3110850"/>
            <a:chExt cx="469325" cy="1568126"/>
          </a:xfrm>
        </p:grpSpPr>
        <p:sp>
          <p:nvSpPr>
            <p:cNvPr id="1137" name="Google Shape;1137;p91"/>
            <p:cNvSpPr/>
            <p:nvPr/>
          </p:nvSpPr>
          <p:spPr>
            <a:xfrm>
              <a:off x="6052175" y="3110850"/>
              <a:ext cx="4551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8" name="Google Shape;1138;p91"/>
            <p:cNvSpPr txBox="1"/>
            <p:nvPr/>
          </p:nvSpPr>
          <p:spPr>
            <a:xfrm rot="-5400000">
              <a:off x="5507500" y="3664976"/>
              <a:ext cx="1566300" cy="461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9" name="Google Shape;1139;p91"/>
          <p:cNvSpPr/>
          <p:nvPr/>
        </p:nvSpPr>
        <p:spPr>
          <a:xfrm>
            <a:off x="1581392" y="2743675"/>
            <a:ext cx="434400" cy="390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0" name="Google Shape;1140;p91"/>
          <p:cNvGrpSpPr/>
          <p:nvPr/>
        </p:nvGrpSpPr>
        <p:grpSpPr>
          <a:xfrm>
            <a:off x="1990311" y="3136796"/>
            <a:ext cx="473775" cy="1568094"/>
            <a:chOff x="6481525" y="2404850"/>
            <a:chExt cx="473775" cy="2373742"/>
          </a:xfrm>
        </p:grpSpPr>
        <p:sp>
          <p:nvSpPr>
            <p:cNvPr id="1141" name="Google Shape;1141;p91"/>
            <p:cNvSpPr/>
            <p:nvPr/>
          </p:nvSpPr>
          <p:spPr>
            <a:xfrm>
              <a:off x="6500200" y="2404850"/>
              <a:ext cx="455100" cy="2346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2" name="Google Shape;1142;p91"/>
            <p:cNvSpPr txBox="1"/>
            <p:nvPr/>
          </p:nvSpPr>
          <p:spPr>
            <a:xfrm rot="-5400000">
              <a:off x="5542975" y="3378342"/>
              <a:ext cx="233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TASK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3" name="Google Shape;1143;p91"/>
          <p:cNvSpPr/>
          <p:nvPr/>
        </p:nvSpPr>
        <p:spPr>
          <a:xfrm>
            <a:off x="2028684" y="2736133"/>
            <a:ext cx="434400" cy="390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4" name="Google Shape;1144;p91"/>
          <p:cNvGrpSpPr/>
          <p:nvPr/>
        </p:nvGrpSpPr>
        <p:grpSpPr>
          <a:xfrm>
            <a:off x="2002316" y="1559780"/>
            <a:ext cx="461700" cy="1200445"/>
            <a:chOff x="5186138" y="3580955"/>
            <a:chExt cx="461700" cy="1200445"/>
          </a:xfrm>
        </p:grpSpPr>
        <p:sp>
          <p:nvSpPr>
            <p:cNvPr id="1145" name="Google Shape;1145;p91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6" name="Google Shape;1146;p91"/>
            <p:cNvSpPr txBox="1"/>
            <p:nvPr/>
          </p:nvSpPr>
          <p:spPr>
            <a:xfrm rot="-5400000">
              <a:off x="4818038" y="3951600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7" name="Google Shape;1147;p91"/>
          <p:cNvSpPr/>
          <p:nvPr/>
        </p:nvSpPr>
        <p:spPr>
          <a:xfrm>
            <a:off x="4304450" y="1152342"/>
            <a:ext cx="434400" cy="787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8" name="Google Shape;1148;p91"/>
          <p:cNvGrpSpPr/>
          <p:nvPr/>
        </p:nvGrpSpPr>
        <p:grpSpPr>
          <a:xfrm>
            <a:off x="3832825" y="1152388"/>
            <a:ext cx="461700" cy="1200442"/>
            <a:chOff x="5186125" y="3580955"/>
            <a:chExt cx="461700" cy="1200442"/>
          </a:xfrm>
        </p:grpSpPr>
        <p:sp>
          <p:nvSpPr>
            <p:cNvPr id="1149" name="Google Shape;1149;p91"/>
            <p:cNvSpPr/>
            <p:nvPr/>
          </p:nvSpPr>
          <p:spPr>
            <a:xfrm>
              <a:off x="5190150" y="3580955"/>
              <a:ext cx="455100" cy="1173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0" name="Google Shape;1150;p91"/>
            <p:cNvSpPr txBox="1"/>
            <p:nvPr/>
          </p:nvSpPr>
          <p:spPr>
            <a:xfrm rot="-5400000">
              <a:off x="4818025" y="3951598"/>
              <a:ext cx="1197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TOUR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1" name="Google Shape;1151;p91"/>
          <p:cNvGrpSpPr/>
          <p:nvPr/>
        </p:nvGrpSpPr>
        <p:grpSpPr>
          <a:xfrm>
            <a:off x="3826800" y="2311895"/>
            <a:ext cx="473775" cy="1200402"/>
            <a:chOff x="6481525" y="2404850"/>
            <a:chExt cx="473775" cy="2373742"/>
          </a:xfrm>
        </p:grpSpPr>
        <p:sp>
          <p:nvSpPr>
            <p:cNvPr id="1152" name="Google Shape;1152;p91"/>
            <p:cNvSpPr/>
            <p:nvPr/>
          </p:nvSpPr>
          <p:spPr>
            <a:xfrm>
              <a:off x="6500200" y="2404850"/>
              <a:ext cx="455100" cy="2346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3" name="Google Shape;1153;p91"/>
            <p:cNvSpPr txBox="1"/>
            <p:nvPr/>
          </p:nvSpPr>
          <p:spPr>
            <a:xfrm rot="-5400000">
              <a:off x="5542975" y="3378342"/>
              <a:ext cx="233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TASK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4" name="Google Shape;1154;p91"/>
          <p:cNvGrpSpPr/>
          <p:nvPr/>
        </p:nvGrpSpPr>
        <p:grpSpPr>
          <a:xfrm>
            <a:off x="4311077" y="1930750"/>
            <a:ext cx="430523" cy="1568125"/>
            <a:chOff x="6036267" y="3110848"/>
            <a:chExt cx="497829" cy="1568125"/>
          </a:xfrm>
        </p:grpSpPr>
        <p:sp>
          <p:nvSpPr>
            <p:cNvPr id="1155" name="Google Shape;1155;p91"/>
            <p:cNvSpPr/>
            <p:nvPr/>
          </p:nvSpPr>
          <p:spPr>
            <a:xfrm>
              <a:off x="6036267" y="3110848"/>
              <a:ext cx="486900" cy="15579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6" name="Google Shape;1156;p91"/>
            <p:cNvSpPr txBox="1"/>
            <p:nvPr/>
          </p:nvSpPr>
          <p:spPr>
            <a:xfrm rot="-5400000">
              <a:off x="5505846" y="3650724"/>
              <a:ext cx="1566300" cy="490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4000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INTERVIEW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sp>
        <p:nvSpPr>
          <p:cNvPr id="1162" name="Google Shape;1162;p92"/>
          <p:cNvSpPr txBox="1"/>
          <p:nvPr>
            <p:ph idx="4294967295" type="body"/>
          </p:nvPr>
        </p:nvSpPr>
        <p:spPr>
          <a:xfrm>
            <a:off x="324000" y="606900"/>
            <a:ext cx="5717400" cy="23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1) </a:t>
            </a:r>
            <a:r>
              <a:rPr lang="en-GB" sz="1900"/>
              <a:t>The PA needs to let a client know the earliest time a meeting can start.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They need to travel from station C to station G.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It will take 20 minutes to get from station G to the venue of the meeting.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What is the earliest time the meeting can start?</a:t>
            </a:r>
            <a:r>
              <a:rPr lang="en-GB"/>
              <a:t>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63" name="Google Shape;1163;p92"/>
          <p:cNvGraphicFramePr/>
          <p:nvPr/>
        </p:nvGraphicFramePr>
        <p:xfrm>
          <a:off x="6090439" y="75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382850"/>
                <a:gridCol w="747325"/>
                <a:gridCol w="747325"/>
                <a:gridCol w="747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0658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0747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sp>
        <p:nvSpPr>
          <p:cNvPr id="1169" name="Google Shape;1169;p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2) You are a PA and are organising a morning of interviews. You may use the spreadsheet (next slide) to help you.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Each candidate needs to do the following: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15 minute welcome.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tour of the company, in pairs, which takes 30 minutes.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An interview, individually with the director, which takes 45 minutes.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timed task, which can be split into multiple parts and takes 60 minutes.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paired task, which takes 45 minutes.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break of 15 minutes with one other candidate, no earlier than 10:30.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director wants a 15 minute break after 2 interviews.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There are 4 candidates.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graphicFrame>
        <p:nvGraphicFramePr>
          <p:cNvPr id="1175" name="Google Shape;1175;p94"/>
          <p:cNvGraphicFramePr/>
          <p:nvPr/>
        </p:nvGraphicFramePr>
        <p:xfrm>
          <a:off x="380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51850"/>
                <a:gridCol w="476225"/>
                <a:gridCol w="476225"/>
                <a:gridCol w="476225"/>
                <a:gridCol w="476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6" name="Google Shape;1176;p94"/>
          <p:cNvGraphicFramePr/>
          <p:nvPr/>
        </p:nvGraphicFramePr>
        <p:xfrm>
          <a:off x="37333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51850"/>
                <a:gridCol w="476225"/>
                <a:gridCol w="476225"/>
                <a:gridCol w="476225"/>
                <a:gridCol w="476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sp>
        <p:nvSpPr>
          <p:cNvPr id="1182" name="Google Shape;1182;p95"/>
          <p:cNvSpPr txBox="1"/>
          <p:nvPr>
            <p:ph idx="4294967295" type="body"/>
          </p:nvPr>
        </p:nvSpPr>
        <p:spPr>
          <a:xfrm>
            <a:off x="324000" y="606900"/>
            <a:ext cx="5717400" cy="23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1) The PA needs to let a client know the earliest time a meeting can start.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They need to travel from station C to station G.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It will take 20 minutes to get from station G to the venue of the meeting.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What is the earliest time the meeting can start?</a:t>
            </a:r>
            <a:r>
              <a:rPr lang="en-GB"/>
              <a:t>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83" name="Google Shape;1183;p95"/>
          <p:cNvGraphicFramePr/>
          <p:nvPr/>
        </p:nvGraphicFramePr>
        <p:xfrm>
          <a:off x="6090439" y="75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382850"/>
                <a:gridCol w="747325"/>
                <a:gridCol w="747325"/>
                <a:gridCol w="747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0658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0747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4" name="Google Shape;1184;p95"/>
          <p:cNvSpPr txBox="1"/>
          <p:nvPr>
            <p:ph idx="4294967295" type="body"/>
          </p:nvPr>
        </p:nvSpPr>
        <p:spPr>
          <a:xfrm>
            <a:off x="324000" y="2748421"/>
            <a:ext cx="5450400" cy="209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first train doesn’t stop at station C.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second train doesn’t stop at station G.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They will need to catch the 0913 train from station C which gets to station G at 1010.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Therefore, the earliest time the meeting can start is 10:30 am.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sp>
        <p:nvSpPr>
          <p:cNvPr id="1190" name="Google Shape;1190;p96"/>
          <p:cNvSpPr txBox="1"/>
          <p:nvPr>
            <p:ph idx="1" type="body"/>
          </p:nvPr>
        </p:nvSpPr>
        <p:spPr>
          <a:xfrm>
            <a:off x="324000" y="71837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2) You are a PA and are organising a morning of interviews. You may use the spreadsheet (next slide) to help you.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Each candidate needs to do the following: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15 minute welcome.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tour of the company, in pairs, which takes 30 minutes.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An interview, individually with the director, which takes 45 minutes.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timed task, which can be split into multiple parts and takes 60 minutes.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paired task, which takes 45 minutes.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break of 15 minutes with one other candidate, no earlier than 10:30.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director wants a 15 minute break after 2 interviews.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There are 4 candidates.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graphicFrame>
        <p:nvGraphicFramePr>
          <p:cNvPr id="1196" name="Google Shape;1196;p97"/>
          <p:cNvGraphicFramePr/>
          <p:nvPr/>
        </p:nvGraphicFramePr>
        <p:xfrm>
          <a:off x="3805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51850"/>
                <a:gridCol w="476225"/>
                <a:gridCol w="476225"/>
                <a:gridCol w="476225"/>
                <a:gridCol w="476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WELCOME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I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  <a:tc v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 vMerge="1"/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I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 v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  <a:tc v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 v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I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7" name="Google Shape;1197;p97"/>
          <p:cNvGraphicFramePr/>
          <p:nvPr/>
        </p:nvGraphicFramePr>
        <p:xfrm>
          <a:off x="37333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{0B5129CA-157C-4FDC-AF1F-CC635A3FDBD2}</a:tableStyleId>
              </a:tblPr>
              <a:tblGrid>
                <a:gridCol w="751850"/>
                <a:gridCol w="476225"/>
                <a:gridCol w="476225"/>
                <a:gridCol w="476225"/>
                <a:gridCol w="4762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I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  <a:tc v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I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  <a:tc v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  <a:tc v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Farewell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8" name="Google Shape;1198;p97"/>
          <p:cNvSpPr txBox="1"/>
          <p:nvPr/>
        </p:nvSpPr>
        <p:spPr>
          <a:xfrm>
            <a:off x="6802700" y="829600"/>
            <a:ext cx="1779900" cy="17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Here is an example: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Key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 = interview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 = tour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TT = timed task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PT = paired task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 = break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9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</a:t>
            </a:r>
            <a:endParaRPr/>
          </a:p>
        </p:txBody>
      </p:sp>
      <p:sp>
        <p:nvSpPr>
          <p:cNvPr id="1204" name="Google Shape;1204;p9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</a:t>
            </a:r>
            <a:endParaRPr/>
          </a:p>
        </p:txBody>
      </p:sp>
      <p:sp>
        <p:nvSpPr>
          <p:cNvPr id="1205" name="Google Shape;1205;p9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Personal assistant</a:t>
            </a:r>
            <a:endParaRPr/>
          </a:p>
        </p:txBody>
      </p:sp>
      <p:pic>
        <p:nvPicPr>
          <p:cNvPr id="1206" name="Google Shape;120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</a:t>
            </a:r>
            <a:endParaRPr/>
          </a:p>
        </p:txBody>
      </p:sp>
      <p:sp>
        <p:nvSpPr>
          <p:cNvPr id="1212" name="Google Shape;1212;p99"/>
          <p:cNvSpPr txBox="1"/>
          <p:nvPr>
            <p:ph idx="1" type="body"/>
          </p:nvPr>
        </p:nvSpPr>
        <p:spPr>
          <a:xfrm>
            <a:off x="324000" y="683100"/>
            <a:ext cx="8496000" cy="85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 personal </a:t>
            </a:r>
            <a:r>
              <a:rPr lang="en-GB" sz="1900"/>
              <a:t>assistant</a:t>
            </a:r>
            <a:r>
              <a:rPr lang="en-GB" sz="1900"/>
              <a:t> needs to book accommodation for a 2 night stay.</a:t>
            </a:r>
            <a:endParaRPr sz="19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Which hotel should they choose?</a:t>
            </a:r>
            <a:endParaRPr sz="1900"/>
          </a:p>
        </p:txBody>
      </p:sp>
      <p:sp>
        <p:nvSpPr>
          <p:cNvPr id="1213" name="Google Shape;1213;p99"/>
          <p:cNvSpPr/>
          <p:nvPr/>
        </p:nvSpPr>
        <p:spPr>
          <a:xfrm>
            <a:off x="446950" y="1368825"/>
            <a:ext cx="2544000" cy="177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KIP HERE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£87 pn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99"/>
          <p:cNvSpPr/>
          <p:nvPr/>
        </p:nvSpPr>
        <p:spPr>
          <a:xfrm>
            <a:off x="3277987" y="1368825"/>
            <a:ext cx="2544000" cy="177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GET YOUR HEAD DOWN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£98 pn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 discount if you stay more than one night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99"/>
          <p:cNvSpPr/>
          <p:nvPr/>
        </p:nvSpPr>
        <p:spPr>
          <a:xfrm>
            <a:off x="6109024" y="1368825"/>
            <a:ext cx="2544000" cy="177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STAY AWAY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£91 pn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 discount on your second night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99"/>
          <p:cNvSpPr txBox="1"/>
          <p:nvPr>
            <p:ph idx="1" type="body"/>
          </p:nvPr>
        </p:nvSpPr>
        <p:spPr>
          <a:xfrm>
            <a:off x="446950" y="3246625"/>
            <a:ext cx="2544000" cy="12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KIP HERE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Total cost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= £87 × 2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= £174</a:t>
            </a:r>
            <a:endParaRPr sz="1800"/>
          </a:p>
        </p:txBody>
      </p:sp>
      <p:sp>
        <p:nvSpPr>
          <p:cNvPr id="1217" name="Google Shape;1217;p99"/>
          <p:cNvSpPr txBox="1"/>
          <p:nvPr>
            <p:ph idx="1" type="body"/>
          </p:nvPr>
        </p:nvSpPr>
        <p:spPr>
          <a:xfrm>
            <a:off x="3277975" y="3246614"/>
            <a:ext cx="2544000" cy="12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GET YOUR HEAD DOWN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Total cost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= 0.9 × (£98 × 2)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= £176.40</a:t>
            </a:r>
            <a:endParaRPr sz="1800"/>
          </a:p>
        </p:txBody>
      </p:sp>
      <p:sp>
        <p:nvSpPr>
          <p:cNvPr id="1218" name="Google Shape;1218;p99"/>
          <p:cNvSpPr txBox="1"/>
          <p:nvPr>
            <p:ph idx="1" type="body"/>
          </p:nvPr>
        </p:nvSpPr>
        <p:spPr>
          <a:xfrm>
            <a:off x="6109025" y="3246625"/>
            <a:ext cx="2544000" cy="12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STAY AWAY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Total cost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= £91 + 0.9 × £91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= £172.90</a:t>
            </a:r>
            <a:endParaRPr sz="1800"/>
          </a:p>
        </p:txBody>
      </p:sp>
      <p:pic>
        <p:nvPicPr>
          <p:cNvPr id="1219" name="Google Shape;121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808" y="2667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</a:t>
            </a:r>
            <a:endParaRPr/>
          </a:p>
        </p:txBody>
      </p:sp>
      <p:sp>
        <p:nvSpPr>
          <p:cNvPr id="1225" name="Google Shape;1225;p100"/>
          <p:cNvSpPr txBox="1"/>
          <p:nvPr>
            <p:ph idx="1" type="body"/>
          </p:nvPr>
        </p:nvSpPr>
        <p:spPr>
          <a:xfrm>
            <a:off x="324000" y="683100"/>
            <a:ext cx="8496000" cy="85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 personal assistant needs to book accommodation for a 3 night stay.</a:t>
            </a:r>
            <a:endParaRPr sz="1900"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Which hotel should they choose?</a:t>
            </a:r>
            <a:endParaRPr sz="1900"/>
          </a:p>
        </p:txBody>
      </p:sp>
      <p:sp>
        <p:nvSpPr>
          <p:cNvPr id="1226" name="Google Shape;1226;p100"/>
          <p:cNvSpPr/>
          <p:nvPr/>
        </p:nvSpPr>
        <p:spPr>
          <a:xfrm>
            <a:off x="446950" y="1292625"/>
            <a:ext cx="2544000" cy="177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KIP HERE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£90 pn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100"/>
          <p:cNvSpPr/>
          <p:nvPr/>
        </p:nvSpPr>
        <p:spPr>
          <a:xfrm>
            <a:off x="3277987" y="1292625"/>
            <a:ext cx="2544000" cy="177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GET YOUR HEAD DOWN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£98 pn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 discount if you stay more than two nights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100"/>
          <p:cNvSpPr/>
          <p:nvPr/>
        </p:nvSpPr>
        <p:spPr>
          <a:xfrm>
            <a:off x="6109024" y="1292625"/>
            <a:ext cx="2544000" cy="177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STAY AWAY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£99 pn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 discount on your second night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15% discount on your third night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100"/>
          <p:cNvSpPr txBox="1"/>
          <p:nvPr>
            <p:ph idx="1" type="body"/>
          </p:nvPr>
        </p:nvSpPr>
        <p:spPr>
          <a:xfrm>
            <a:off x="446950" y="3178409"/>
            <a:ext cx="2544000" cy="12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KIP HERE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cost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£90 × 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£270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0" name="Google Shape;1230;p100"/>
          <p:cNvSpPr txBox="1"/>
          <p:nvPr>
            <p:ph idx="1" type="body"/>
          </p:nvPr>
        </p:nvSpPr>
        <p:spPr>
          <a:xfrm>
            <a:off x="3277975" y="3178409"/>
            <a:ext cx="2729700" cy="12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GET YOUR HEAD DOWN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cost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0.9 × (£98 × 3)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£264.60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1" name="Google Shape;1231;p100"/>
          <p:cNvSpPr txBox="1"/>
          <p:nvPr>
            <p:ph idx="1" type="body"/>
          </p:nvPr>
        </p:nvSpPr>
        <p:spPr>
          <a:xfrm>
            <a:off x="6337625" y="3178409"/>
            <a:ext cx="2202000" cy="12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STAY AWAY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cost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£99 + 0.9 × £99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+ 0.85 × £99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£272.25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32" name="Google Shape;123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5983" y="2647839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01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employee needs to travel from London to attend a meeting in Manchester.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They would like to drive but will only be able to do this if it is cheaper than using a train.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Compare the costs of the 2 different ways of travel.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they drive they will be </a:t>
            </a:r>
            <a:r>
              <a:rPr lang="en-GB"/>
              <a:t>reimbursed</a:t>
            </a:r>
            <a:r>
              <a:rPr lang="en-GB"/>
              <a:t> at a rate of 45 p per mile.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they catch the train they will need to use a taxi to and from each train station.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taxis will cost £2.70 per mile.</a:t>
            </a:r>
            <a:endParaRPr/>
          </a:p>
        </p:txBody>
      </p:sp>
      <p:sp>
        <p:nvSpPr>
          <p:cNvPr id="1238" name="Google Shape;1238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02"/>
          <p:cNvSpPr txBox="1"/>
          <p:nvPr>
            <p:ph idx="1" type="body"/>
          </p:nvPr>
        </p:nvSpPr>
        <p:spPr>
          <a:xfrm>
            <a:off x="324000" y="6831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distance from London to Manchester is 210 miles.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Let’s start by calculating the cost of using a car.</a:t>
            </a:r>
            <a:endParaRPr/>
          </a:p>
        </p:txBody>
      </p:sp>
      <p:sp>
        <p:nvSpPr>
          <p:cNvPr id="1244" name="Google Shape;1244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</a:t>
            </a:r>
            <a:endParaRPr/>
          </a:p>
        </p:txBody>
      </p:sp>
      <p:sp>
        <p:nvSpPr>
          <p:cNvPr id="1245" name="Google Shape;1245;p102"/>
          <p:cNvSpPr txBox="1"/>
          <p:nvPr>
            <p:ph idx="1" type="body"/>
          </p:nvPr>
        </p:nvSpPr>
        <p:spPr>
          <a:xfrm>
            <a:off x="324000" y="15975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distance travelled = 2 × 210 = 420 miles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Cost of using a car = 420 × 0.45 = £189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And now using a train.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Cost of return ticket from London to Manchester = £115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Distance travelled in taxis = 28 miles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Cost of taxis = 28 × £2.70 = £75.60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Total cost of using the train = £115 + £75.60 = £190.60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They can drive to the meeting.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</a:t>
            </a:r>
            <a:endParaRPr/>
          </a:p>
        </p:txBody>
      </p:sp>
      <p:sp>
        <p:nvSpPr>
          <p:cNvPr id="1251" name="Google Shape;1251;p103"/>
          <p:cNvSpPr txBox="1"/>
          <p:nvPr>
            <p:ph idx="1" type="body"/>
          </p:nvPr>
        </p:nvSpPr>
        <p:spPr>
          <a:xfrm>
            <a:off x="324000" y="759300"/>
            <a:ext cx="8496000" cy="24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Calculate the difference in cost of travelling by car and train/taxis.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Mileage for car use = 45 p per mile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Mileage cost for taxis = £2.70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distance between Liverpool and Bristol is 180 miles.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Return train ticket £71.80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Miles travelled in taxis = 36 miles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52" name="Google Shape;1252;p103"/>
          <p:cNvSpPr txBox="1"/>
          <p:nvPr>
            <p:ph idx="1" type="body"/>
          </p:nvPr>
        </p:nvSpPr>
        <p:spPr>
          <a:xfrm>
            <a:off x="324000" y="3450450"/>
            <a:ext cx="84960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Using a car = 360 × 0.45 = £162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Train and taxis = 71.80 + 36 × 2.70 = £169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Using a car is cheaper by £7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</a:t>
            </a:r>
            <a:endParaRPr/>
          </a:p>
        </p:txBody>
      </p:sp>
      <p:sp>
        <p:nvSpPr>
          <p:cNvPr id="1258" name="Google Shape;1258;p104"/>
          <p:cNvSpPr txBox="1"/>
          <p:nvPr>
            <p:ph idx="4294967295" type="body"/>
          </p:nvPr>
        </p:nvSpPr>
        <p:spPr>
          <a:xfrm>
            <a:off x="324000" y="683100"/>
            <a:ext cx="8496000" cy="85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A personal assistant needs to book accommodation for a 3 night stay.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hotel should they choose?</a:t>
            </a:r>
            <a:endParaRPr sz="1800"/>
          </a:p>
        </p:txBody>
      </p:sp>
      <p:sp>
        <p:nvSpPr>
          <p:cNvPr id="1259" name="Google Shape;1259;p104"/>
          <p:cNvSpPr/>
          <p:nvPr/>
        </p:nvSpPr>
        <p:spPr>
          <a:xfrm>
            <a:off x="446950" y="1368825"/>
            <a:ext cx="2544000" cy="177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KIP HERE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£105 pn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104"/>
          <p:cNvSpPr/>
          <p:nvPr/>
        </p:nvSpPr>
        <p:spPr>
          <a:xfrm>
            <a:off x="3277987" y="1368825"/>
            <a:ext cx="2544000" cy="177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GET YOUR HEAD DOWN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£118 pn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 discount if you stay more than two nights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104"/>
          <p:cNvSpPr/>
          <p:nvPr/>
        </p:nvSpPr>
        <p:spPr>
          <a:xfrm>
            <a:off x="6109024" y="1368825"/>
            <a:ext cx="2544000" cy="177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STAY AWAY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£115 pn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 discount on your second night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15% discount on your third night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</a:t>
            </a:r>
            <a:endParaRPr/>
          </a:p>
        </p:txBody>
      </p:sp>
      <p:sp>
        <p:nvSpPr>
          <p:cNvPr id="1267" name="Google Shape;1267;p105"/>
          <p:cNvSpPr txBox="1"/>
          <p:nvPr>
            <p:ph idx="4294967295" type="body"/>
          </p:nvPr>
        </p:nvSpPr>
        <p:spPr>
          <a:xfrm>
            <a:off x="324000" y="759300"/>
            <a:ext cx="8496000" cy="24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Calculate the difference in cost of travelling by car and train/taxis.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Mileage for car use = 45 p per mile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Mileage cost for taxis = £2.70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distance between Exeter to Birmingham is 169 miles.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Return train ticket £108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Miles travelled in taxis = 16 miles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</a:t>
            </a:r>
            <a:endParaRPr/>
          </a:p>
        </p:txBody>
      </p:sp>
      <p:sp>
        <p:nvSpPr>
          <p:cNvPr id="1273" name="Google Shape;1273;p106"/>
          <p:cNvSpPr txBox="1"/>
          <p:nvPr>
            <p:ph idx="4294967295" type="body"/>
          </p:nvPr>
        </p:nvSpPr>
        <p:spPr>
          <a:xfrm>
            <a:off x="324000" y="683100"/>
            <a:ext cx="8496000" cy="85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A personal assistant needs to book accommodation for a 3 night stay.</a:t>
            </a:r>
            <a:endParaRPr sz="1800"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hotel should they choose?</a:t>
            </a:r>
            <a:endParaRPr sz="1800"/>
          </a:p>
        </p:txBody>
      </p:sp>
      <p:sp>
        <p:nvSpPr>
          <p:cNvPr id="1274" name="Google Shape;1274;p106"/>
          <p:cNvSpPr/>
          <p:nvPr/>
        </p:nvSpPr>
        <p:spPr>
          <a:xfrm>
            <a:off x="446950" y="1292625"/>
            <a:ext cx="2544000" cy="177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KIP HERE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£105 pn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106"/>
          <p:cNvSpPr/>
          <p:nvPr/>
        </p:nvSpPr>
        <p:spPr>
          <a:xfrm>
            <a:off x="3277987" y="1292625"/>
            <a:ext cx="2544000" cy="177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GET YOUR HEAD DOWN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£118 pn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 discount if you stay more than two nights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106"/>
          <p:cNvSpPr/>
          <p:nvPr/>
        </p:nvSpPr>
        <p:spPr>
          <a:xfrm>
            <a:off x="6109024" y="1292625"/>
            <a:ext cx="2544000" cy="177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STAY AWAY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£115 pn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 discount on your second night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15% discount on your third night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106"/>
          <p:cNvSpPr txBox="1"/>
          <p:nvPr>
            <p:ph idx="4294967295" type="body"/>
          </p:nvPr>
        </p:nvSpPr>
        <p:spPr>
          <a:xfrm>
            <a:off x="446950" y="3178409"/>
            <a:ext cx="2544000" cy="12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KIP HERE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cost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£105 × 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£315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8" name="Google Shape;1278;p106"/>
          <p:cNvSpPr txBox="1"/>
          <p:nvPr>
            <p:ph idx="4294967295" type="body"/>
          </p:nvPr>
        </p:nvSpPr>
        <p:spPr>
          <a:xfrm>
            <a:off x="3277975" y="3178409"/>
            <a:ext cx="2729700" cy="12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GET YOUR HEAD DOWN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cost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0.9 × (£118 × 3)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£318.60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9" name="Google Shape;1279;p106"/>
          <p:cNvSpPr txBox="1"/>
          <p:nvPr>
            <p:ph idx="4294967295" type="body"/>
          </p:nvPr>
        </p:nvSpPr>
        <p:spPr>
          <a:xfrm>
            <a:off x="6337625" y="3178409"/>
            <a:ext cx="2202000" cy="12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STAY AWAY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cost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£115 + 0.9 × £115 + 0.85 × £115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£316.25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80" name="Google Shape;1280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208" y="2623789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</a:t>
            </a:r>
            <a:endParaRPr/>
          </a:p>
        </p:txBody>
      </p:sp>
      <p:sp>
        <p:nvSpPr>
          <p:cNvPr id="1286" name="Google Shape;1286;p107"/>
          <p:cNvSpPr txBox="1"/>
          <p:nvPr>
            <p:ph idx="4294967295" type="body"/>
          </p:nvPr>
        </p:nvSpPr>
        <p:spPr>
          <a:xfrm>
            <a:off x="324000" y="759300"/>
            <a:ext cx="8496000" cy="24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</a:t>
            </a:r>
            <a:r>
              <a:rPr lang="en-GB" sz="2000"/>
              <a:t>Calculate the difference in cost of travelling by car and train/taxis.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Mileage for car use = 45 p per mile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Mileage cost for taxis = £2.70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distance between Exeter to Birmingham is 169 miles.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Return train ticket £108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Miles travelled in taxis = 16 miles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87" name="Google Shape;1287;p107"/>
          <p:cNvSpPr txBox="1"/>
          <p:nvPr>
            <p:ph idx="4294967295" type="body"/>
          </p:nvPr>
        </p:nvSpPr>
        <p:spPr>
          <a:xfrm>
            <a:off x="324000" y="3602850"/>
            <a:ext cx="84960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Using a car = 338 × 0.45 = £152.10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Train and taxis = 108 + 16 × 2.70 = £151.20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Using a train/taxi is cheaper by 90 pence.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08"/>
          <p:cNvSpPr txBox="1"/>
          <p:nvPr>
            <p:ph idx="1" type="body"/>
          </p:nvPr>
        </p:nvSpPr>
        <p:spPr>
          <a:xfrm>
            <a:off x="324000" y="8514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main areas of maths a personal assistant uses are time and money.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Time</a:t>
            </a:r>
            <a:endParaRPr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GB"/>
              <a:t>Organising meetings</a:t>
            </a:r>
            <a:endParaRPr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GB"/>
              <a:t>Booking travel </a:t>
            </a:r>
            <a:endParaRPr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GB"/>
              <a:t>Coordinating plans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Spreadsheets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Finance</a:t>
            </a:r>
            <a:endParaRPr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GB"/>
              <a:t>Booking accommodation</a:t>
            </a:r>
            <a:endParaRPr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GB"/>
              <a:t>Using discounts (percentages)</a:t>
            </a:r>
            <a:endParaRPr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-GB"/>
              <a:t>Budgets</a:t>
            </a:r>
            <a:endParaRPr/>
          </a:p>
        </p:txBody>
      </p:sp>
      <p:sp>
        <p:nvSpPr>
          <p:cNvPr id="1293" name="Google Shape;1293;p10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Personal assistant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0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99" name="Google Shape;1299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