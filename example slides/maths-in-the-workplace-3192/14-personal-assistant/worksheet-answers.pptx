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ACA5AD-1BC2-4289-B0EE-6BACAF0AB360}">
  <a:tblStyle styleId="{13ACA5AD-1BC2-4289-B0EE-6BACAF0AB3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125" y="1232750"/>
            <a:ext cx="66240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Time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625600"/>
            <a:ext cx="4291200" cy="16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PA needs to let a client know the earliest time a meeting can start.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need to travel from station C to station 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will take 20 minutes to get from station G to the venue of the meeting.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earliest time the meeting can start?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9" name="Google Shape;119;p12"/>
          <p:cNvGraphicFramePr/>
          <p:nvPr/>
        </p:nvGraphicFramePr>
        <p:xfrm>
          <a:off x="5015239" y="164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{13ACA5AD-1BC2-4289-B0EE-6BACAF0AB360}</a:tableStyleId>
              </a:tblPr>
              <a:tblGrid>
                <a:gridCol w="382850"/>
                <a:gridCol w="560250"/>
                <a:gridCol w="560250"/>
                <a:gridCol w="560250"/>
              </a:tblGrid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0658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0846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1026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2"/>
          <p:cNvSpPr txBox="1"/>
          <p:nvPr/>
        </p:nvSpPr>
        <p:spPr>
          <a:xfrm>
            <a:off x="468000" y="3244049"/>
            <a:ext cx="45069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first train doesn’t stop at station C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second train doesn’t stop at station 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will need to catch the 0913 train from station C which gets to station G at 1010.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Therefore, the earliest time the meeting can start is 10:30 am.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68000" y="454165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You are a PA and are organising a morning of interviews. You may use the spreadsheet 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below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to help you.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candidate needs to do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minute welcome.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tour of the company, in pairs, which takes 30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interview, individually with the director, which takes 45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timed task, which can be split into multiple parts and takes 60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paired task, which takes 45 minutes.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break of 15 minutes with one other candidate, no earlier than 10:30.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director wants a 15 minute break after 2 interviews.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4 candidates.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2" name="Google Shape;122;p12"/>
          <p:cNvGraphicFramePr/>
          <p:nvPr/>
        </p:nvGraphicFramePr>
        <p:xfrm>
          <a:off x="468000" y="73218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{13ACA5AD-1BC2-4289-B0EE-6BACAF0AB360}</a:tableStyleId>
              </a:tblPr>
              <a:tblGrid>
                <a:gridCol w="588700"/>
                <a:gridCol w="447450"/>
                <a:gridCol w="447450"/>
                <a:gridCol w="447450"/>
                <a:gridCol w="447450"/>
              </a:tblGrid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WELCOME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09:45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vMerge="1"/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/>
                    </a:solidFill>
                  </a:tcPr>
                </a:tc>
                <a:tc vMerge="1"/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 vMerge="1"/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2AA7"/>
                    </a:solidFill>
                  </a:tcPr>
                </a:tc>
              </a:tr>
              <a:tr h="26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" name="Google Shape;123;p12"/>
          <p:cNvGraphicFramePr/>
          <p:nvPr/>
        </p:nvGraphicFramePr>
        <p:xfrm>
          <a:off x="3147850" y="732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{13ACA5AD-1BC2-4289-B0EE-6BACAF0AB360}</a:tableStyleId>
              </a:tblPr>
              <a:tblGrid>
                <a:gridCol w="673100"/>
                <a:gridCol w="426350"/>
                <a:gridCol w="426350"/>
                <a:gridCol w="426350"/>
                <a:gridCol w="426350"/>
              </a:tblGrid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TT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PT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I</a:t>
                      </a:r>
                      <a:endParaRPr sz="1200">
                        <a:solidFill>
                          <a:srgbClr val="FFFFFF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  <a:tc vMerge="1"/>
                <a:tc vMerge="1"/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Farewell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12:45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13:00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2"/>
          <p:cNvSpPr txBox="1"/>
          <p:nvPr/>
        </p:nvSpPr>
        <p:spPr>
          <a:xfrm>
            <a:off x="5709525" y="7321825"/>
            <a:ext cx="1779900" cy="17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Here is an example: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Key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 = interview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 = tour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TT = timed task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PT = paired task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= break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Personal assistant</a:t>
            </a:r>
            <a:endParaRPr/>
          </a:p>
        </p:txBody>
      </p:sp>
      <p:sp>
        <p:nvSpPr>
          <p:cNvPr id="132" name="Google Shape;132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1" y="720000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Finance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68000" y="1221672"/>
            <a:ext cx="66240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personal assistant needs to book accommodation for a 3 night stay.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hotel should they choose?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563859" y="1756304"/>
            <a:ext cx="1983600" cy="1384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KIP HERE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£105 pn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2771108" y="1756304"/>
            <a:ext cx="1983600" cy="1384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GET YOUR HEAD DOWN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£118 pn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 discount if you stay more than two nights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4978358" y="1756304"/>
            <a:ext cx="1983600" cy="1384800"/>
          </a:xfrm>
          <a:prstGeom prst="roundRect">
            <a:avLst>
              <a:gd fmla="val 16667" name="adj"/>
            </a:avLst>
          </a:prstGeom>
          <a:solidFill>
            <a:srgbClr val="F0F0F0"/>
          </a:solidFill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STAY AWAY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£115 pn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 discount on your second night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15% discount on your third night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563859" y="3243363"/>
            <a:ext cx="19836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KIP HERE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cost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£105 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£315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2771099" y="3243363"/>
            <a:ext cx="21282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GET YOUR HEAD DOWN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cost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0.9 × (£118 × 3)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£318.60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5156589" y="3243363"/>
            <a:ext cx="1716900" cy="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STAY AWAY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cost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£115 + 0.9 × £115 + 0.85 × £115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£316.25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2" name="Google Shape;14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688" y="2794158"/>
            <a:ext cx="308746" cy="32675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468000" y="4781947"/>
            <a:ext cx="66240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difference in cost of travelling by car and train/taxis.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Mileage for car use = 45 p per mile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Mileage cost for taxis = £2.70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between Exeter to Birmingham is 169 miles.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Return train ticket £108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Miles travelled in taxis = 16 miles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468000" y="6998952"/>
            <a:ext cx="66240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Using a car = 338 × 0.45 = £152.10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Train and taxis = 108 + 16 × 2.70 = £151.20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Using a train/taxi is cheaper by 90 pence.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