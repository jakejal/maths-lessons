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1C64F6-623E-44C0-A2E3-4702E658C0CA}">
  <a:tblStyle styleId="{991C64F6-623E-44C0-A2E3-4702E658C0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Personal assistant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125" y="1232750"/>
            <a:ext cx="6624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Time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8000" y="1625600"/>
            <a:ext cx="4291200" cy="16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PA needs to let a client know the earliest time a meeting can start.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need to travel from station C to station 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 will take 20 minutes to get from station G to the venue of the meeting.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earliest time the meeting can start?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6" name="Google Shape;106;p12"/>
          <p:cNvGraphicFramePr/>
          <p:nvPr/>
        </p:nvGraphicFramePr>
        <p:xfrm>
          <a:off x="5015239" y="164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{991C64F6-623E-44C0-A2E3-4702E658C0CA}</a:tableStyleId>
              </a:tblPr>
              <a:tblGrid>
                <a:gridCol w="382850"/>
                <a:gridCol w="560250"/>
                <a:gridCol w="560250"/>
                <a:gridCol w="560250"/>
              </a:tblGrid>
              <a:tr h="2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0658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0747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0846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1026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" name="Google Shape;107;p12"/>
          <p:cNvSpPr txBox="1"/>
          <p:nvPr/>
        </p:nvSpPr>
        <p:spPr>
          <a:xfrm>
            <a:off x="468000" y="454165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You are a PA and are organising a morning of interviews. You may use the spreadsheet 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below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to help you.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candidate needs to do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minute welcome.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tour of the company, in pairs, which takes 30 minutes.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interview, individually with the director, which takes 45 minutes.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timed task, which can be split into multiple parts and takes 60 minutes.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paired task, which takes 45 minutes.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break of 15 minutes with one other candidate, no earlier than 10:30.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director wants a 15 minute break after 2 interviews.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4 candidates.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8" name="Google Shape;108;p12"/>
          <p:cNvGraphicFramePr/>
          <p:nvPr/>
        </p:nvGraphicFramePr>
        <p:xfrm>
          <a:off x="468000" y="73218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{991C64F6-623E-44C0-A2E3-4702E658C0CA}</a:tableStyleId>
              </a:tblPr>
              <a:tblGrid>
                <a:gridCol w="588700"/>
                <a:gridCol w="447450"/>
                <a:gridCol w="447450"/>
                <a:gridCol w="447450"/>
                <a:gridCol w="447450"/>
              </a:tblGrid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9" name="Google Shape;109;p12"/>
          <p:cNvGraphicFramePr/>
          <p:nvPr/>
        </p:nvGraphicFramePr>
        <p:xfrm>
          <a:off x="3147850" y="732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{991C64F6-623E-44C0-A2E3-4702E658C0CA}</a:tableStyleId>
              </a:tblPr>
              <a:tblGrid>
                <a:gridCol w="673100"/>
                <a:gridCol w="426350"/>
                <a:gridCol w="426350"/>
                <a:gridCol w="426350"/>
                <a:gridCol w="426350"/>
              </a:tblGrid>
              <a:tr h="2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0" name="Google Shape;110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Personal assistant</a:t>
            </a:r>
            <a:endParaRPr/>
          </a:p>
        </p:txBody>
      </p:sp>
      <p:sp>
        <p:nvSpPr>
          <p:cNvPr id="117" name="Google Shape;117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468001" y="720000"/>
            <a:ext cx="6245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Finance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468000" y="1221672"/>
            <a:ext cx="66240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personal assistant needs to book accommodation for a 3 night stay.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hotel should they choose?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563859" y="1756304"/>
            <a:ext cx="1983600" cy="13848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KIP HERE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£105 pn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2771108" y="1756304"/>
            <a:ext cx="1983600" cy="13848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GET YOUR HEAD DOWN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£118 pn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 discount if you stay more than two nights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4978358" y="1756304"/>
            <a:ext cx="1983600" cy="13848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STAY AWAY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£115 pn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 discount on your second night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15% discount on your third night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468000" y="4781947"/>
            <a:ext cx="6624000" cy="19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the difference in cost of travelling by car and train/taxis.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Mileage for car use = 45 p per mile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Mileage cost for taxis = £2.70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distance between Exeter to Birmingham is 169 miles.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Return train ticket £108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Miles travelled in taxis = 16 miles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