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C548B4-FE54-489A-ADB9-354D34FDCB15}">
  <a:tblStyle styleId="{48C548B4-FE54-489A-ADB9-354D34FDCB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0" y="1323900"/>
            <a:ext cx="6366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Measurements in interior design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747750"/>
            <a:ext cx="65451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Below are sketches of the walls in a room. (Not to scale)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2.5 litre tin of paint covers 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walls will need 2 coats of paint.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tins of paint are needed to paint the room?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528008" y="3962747"/>
            <a:ext cx="6485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area of walls requiring painting = 65.76 - 6.2838 = 59.4762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528000" y="4322688"/>
            <a:ext cx="64851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area requiring painting = 118.9524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Number of tins required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118.9524 ÷ 25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4.758…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 tins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1079820" y="2734665"/>
            <a:ext cx="2179200" cy="8928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3359332" y="2734665"/>
            <a:ext cx="2179200" cy="8928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5627746" y="2729820"/>
            <a:ext cx="1458000" cy="8928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walls this size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1237109" y="2993110"/>
            <a:ext cx="236100" cy="629400"/>
          </a:xfrm>
          <a:prstGeom prst="rect">
            <a:avLst/>
          </a:prstGeom>
          <a:solidFill>
            <a:srgbClr val="F0F0F0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4754855" y="2851911"/>
            <a:ext cx="726300" cy="297900"/>
          </a:xfrm>
          <a:prstGeom prst="rect">
            <a:avLst/>
          </a:prstGeom>
          <a:solidFill>
            <a:srgbClr val="F0F0F0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 rot="-5400000">
            <a:off x="1137144" y="3227420"/>
            <a:ext cx="4269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4754855" y="2891823"/>
            <a:ext cx="726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1027955" y="2718923"/>
            <a:ext cx="0" cy="91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" name="Google Shape;129;p12"/>
          <p:cNvSpPr txBox="1"/>
          <p:nvPr/>
        </p:nvSpPr>
        <p:spPr>
          <a:xfrm>
            <a:off x="467999" y="3017390"/>
            <a:ext cx="6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" name="Google Shape;130;p12"/>
          <p:cNvCxnSpPr/>
          <p:nvPr/>
        </p:nvCxnSpPr>
        <p:spPr>
          <a:xfrm rot="10800000">
            <a:off x="1086474" y="3695558"/>
            <a:ext cx="2151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" name="Google Shape;131;p12"/>
          <p:cNvSpPr txBox="1"/>
          <p:nvPr/>
        </p:nvSpPr>
        <p:spPr>
          <a:xfrm>
            <a:off x="1860534" y="3632897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" name="Google Shape;132;p12"/>
          <p:cNvCxnSpPr/>
          <p:nvPr/>
        </p:nvCxnSpPr>
        <p:spPr>
          <a:xfrm rot="10800000">
            <a:off x="3347557" y="3695558"/>
            <a:ext cx="219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" name="Google Shape;133;p12"/>
          <p:cNvSpPr txBox="1"/>
          <p:nvPr/>
        </p:nvSpPr>
        <p:spPr>
          <a:xfrm>
            <a:off x="4140047" y="3632897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" name="Google Shape;134;p12"/>
          <p:cNvCxnSpPr/>
          <p:nvPr/>
        </p:nvCxnSpPr>
        <p:spPr>
          <a:xfrm rot="10800000">
            <a:off x="5633999" y="3695558"/>
            <a:ext cx="14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5" name="Google Shape;135;p12"/>
          <p:cNvSpPr txBox="1"/>
          <p:nvPr/>
        </p:nvSpPr>
        <p:spPr>
          <a:xfrm>
            <a:off x="5781651" y="3632894"/>
            <a:ext cx="118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" name="Google Shape;136;p12"/>
          <p:cNvCxnSpPr/>
          <p:nvPr/>
        </p:nvCxnSpPr>
        <p:spPr>
          <a:xfrm>
            <a:off x="1507858" y="3007167"/>
            <a:ext cx="0" cy="60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" name="Google Shape;137;p12"/>
          <p:cNvSpPr txBox="1"/>
          <p:nvPr/>
        </p:nvSpPr>
        <p:spPr>
          <a:xfrm>
            <a:off x="1469617" y="3137370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1.98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" name="Google Shape;138;p12"/>
          <p:cNvCxnSpPr/>
          <p:nvPr/>
        </p:nvCxnSpPr>
        <p:spPr>
          <a:xfrm>
            <a:off x="4704551" y="2846911"/>
            <a:ext cx="0" cy="30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" name="Google Shape;139;p12"/>
          <p:cNvCxnSpPr/>
          <p:nvPr/>
        </p:nvCxnSpPr>
        <p:spPr>
          <a:xfrm rot="10800000">
            <a:off x="4764652" y="3215661"/>
            <a:ext cx="73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" name="Google Shape;140;p12"/>
          <p:cNvCxnSpPr/>
          <p:nvPr/>
        </p:nvCxnSpPr>
        <p:spPr>
          <a:xfrm rot="10800000">
            <a:off x="1247975" y="2924798"/>
            <a:ext cx="226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" name="Google Shape;141;p12"/>
          <p:cNvSpPr txBox="1"/>
          <p:nvPr/>
        </p:nvSpPr>
        <p:spPr>
          <a:xfrm>
            <a:off x="4807929" y="3115710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4140050" y="2824000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1.35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1057859" y="2636621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3423263" y="2851911"/>
            <a:ext cx="726300" cy="297900"/>
          </a:xfrm>
          <a:prstGeom prst="rect">
            <a:avLst/>
          </a:prstGeom>
          <a:solidFill>
            <a:srgbClr val="F0F0F0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3423263" y="2891823"/>
            <a:ext cx="726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" name="Google Shape;146;p12"/>
          <p:cNvCxnSpPr/>
          <p:nvPr/>
        </p:nvCxnSpPr>
        <p:spPr>
          <a:xfrm rot="10800000">
            <a:off x="3433059" y="3215661"/>
            <a:ext cx="73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" name="Google Shape;147;p12"/>
          <p:cNvSpPr txBox="1"/>
          <p:nvPr/>
        </p:nvSpPr>
        <p:spPr>
          <a:xfrm>
            <a:off x="3476337" y="3115710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" name="Google Shape;148;p12"/>
          <p:cNvCxnSpPr/>
          <p:nvPr/>
        </p:nvCxnSpPr>
        <p:spPr>
          <a:xfrm>
            <a:off x="4194968" y="2846911"/>
            <a:ext cx="0" cy="30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" name="Google Shape;149;p12"/>
          <p:cNvSpPr txBox="1"/>
          <p:nvPr/>
        </p:nvSpPr>
        <p:spPr>
          <a:xfrm>
            <a:off x="468125" y="5367825"/>
            <a:ext cx="6624000" cy="2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 interior designer wants to wallpaper a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is a sketch of the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width of a roll of wallpaper is 52 cm and the length of the roll is 10.5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rolls of wallpaper are needed to paper this wall?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3621918" y="6762252"/>
            <a:ext cx="2646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8.34 ÷ 0.52 = 16.038…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 lengths needed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10.5 ÷ 2.46 = 4.268…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lengths from each roll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 ÷ 4 = 4.25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rolls are needed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1271970" y="7001511"/>
            <a:ext cx="1796400" cy="10980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" name="Google Shape;152;p12"/>
          <p:cNvCxnSpPr/>
          <p:nvPr/>
        </p:nvCxnSpPr>
        <p:spPr>
          <a:xfrm>
            <a:off x="1216846" y="7000157"/>
            <a:ext cx="0" cy="110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" name="Google Shape;153;p12"/>
          <p:cNvCxnSpPr/>
          <p:nvPr/>
        </p:nvCxnSpPr>
        <p:spPr>
          <a:xfrm rot="10800000">
            <a:off x="1274124" y="8147715"/>
            <a:ext cx="179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" name="Google Shape;154;p12"/>
          <p:cNvSpPr txBox="1"/>
          <p:nvPr/>
        </p:nvSpPr>
        <p:spPr>
          <a:xfrm>
            <a:off x="468000" y="7367532"/>
            <a:ext cx="7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1829750" y="8119172"/>
            <a:ext cx="7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8.34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" name="Google Shape;156;p12"/>
          <p:cNvCxnSpPr/>
          <p:nvPr/>
        </p:nvCxnSpPr>
        <p:spPr>
          <a:xfrm>
            <a:off x="46530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  <p:sp>
        <p:nvSpPr>
          <p:cNvPr id="163" name="Google Shape;163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468000" y="720000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Finance in interior design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468000" y="1060425"/>
            <a:ext cx="4415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total area that needs painting in a house is 211.2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paint covers 16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 litre.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walls will need 2 coats of paint.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cost to paint the room, ensuring that there is minimum wastage.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13"/>
          <p:cNvGraphicFramePr/>
          <p:nvPr/>
        </p:nvGraphicFramePr>
        <p:xfrm>
          <a:off x="4953597" y="8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{48C548B4-FE54-489A-ADB9-354D34FDCB15}</a:tableStyleId>
              </a:tblPr>
              <a:tblGrid>
                <a:gridCol w="1230850"/>
                <a:gridCol w="907550"/>
              </a:tblGrid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tin (l)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13"/>
          <p:cNvSpPr txBox="1"/>
          <p:nvPr/>
        </p:nvSpPr>
        <p:spPr>
          <a:xfrm>
            <a:off x="468000" y="2560050"/>
            <a:ext cx="66240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Number of litres needed	= 211.2 × 2 ÷ 16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457200" lvl="0" marL="137160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26.4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137160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27 litres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closest you can get to 27 litres is 2 × 10 litres, 1 × 5 litres and 1 × 2.5 litres.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t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£130.99 + £85.99 + £45.49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£393.46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468000" y="4407522"/>
            <a:ext cx="5042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 need the following lengths of wood: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1.9 m, 6 × 1.7 m and 4 × 0.5 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cost of the wood with minimum wastage?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much wastage is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468000" y="6128780"/>
            <a:ext cx="6624000" cy="1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2.4 m makes 4 × 1.9 m lengths and 4 × 0.5 m lengths left over. 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3.6 m makes 6 × 1.7 m lengths.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£4.20 + 3 × £6.30 = £35.70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b)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0.6 m wastage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1" name="Google Shape;171;p13"/>
          <p:cNvGraphicFramePr/>
          <p:nvPr/>
        </p:nvGraphicFramePr>
        <p:xfrm>
          <a:off x="5147991" y="4407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{48C548B4-FE54-489A-ADB9-354D34FDCB15}</a:tableStyleId>
              </a:tblPr>
              <a:tblGrid>
                <a:gridCol w="1095300"/>
                <a:gridCol w="844175"/>
              </a:tblGrid>
              <a:tr h="187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