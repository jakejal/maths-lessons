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70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64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65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72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66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1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67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68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69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47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72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2688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FD39333-5DE2-4E6B-A8AE-7417B985FE2A}">
  <a:tblStyle styleId="{7FD39333-5DE2-4E6B-A8AE-7417B985FE2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688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9" name="Shape 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0" name="Google Shape;840;g279955a40ae_0_8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1" name="Google Shape;841;g279955a40ae_0_8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5" name="Shape 8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6" name="Google Shape;846;g279955a40ae_0_8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7" name="Google Shape;847;g279955a40ae_0_8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0" name="Shape 8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1" name="Google Shape;851;g279955a40ae_0_8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2" name="Google Shape;852;g279955a40ae_0_8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5" name="Shape 8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6" name="Google Shape;856;g2f401afc94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7" name="Google Shape;857;g2f401afc94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0" name="Shape 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1" name="Google Shape;861;g2efd83f318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2" name="Google Shape;862;g2efd83f318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8" name="Shape 8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9" name="Google Shape;869;g2f21802332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0" name="Google Shape;870;g2f21802332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7" name="Shape 8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8" name="Google Shape;878;g2f401afc942_0_8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9" name="Google Shape;879;g2f401afc942_0_8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4" name="Shape 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" name="Google Shape;885;g2f401afc942_0_8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6" name="Google Shape;886;g2f401afc942_0_8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0" name="Shape 8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1" name="Google Shape;891;g2f401afc942_0_12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2" name="Google Shape;892;g2f401afc942_0_12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4" name="Shape 9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5" name="Google Shape;915;g2f401afc942_0_12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6" name="Google Shape;916;g2f401afc942_0_12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0" name="Shape 9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" name="Google Shape;931;g2f401afc942_0_12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2" name="Google Shape;932;g2f401afc942_0_12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4" name="Shape 9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5" name="Google Shape;945;g2f401afc942_0_12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6" name="Google Shape;946;g2f401afc942_0_12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8" name="Shape 9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9" name="Google Shape;959;g2f401afc942_0_12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0" name="Google Shape;960;g2f401afc942_0_12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4" name="Shape 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5" name="Google Shape;985;g2f401afc942_0_13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6" name="Google Shape;986;g2f401afc942_0_13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1" name="Shape 9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2" name="Google Shape;992;g2f401afc942_0_9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3" name="Google Shape;993;g2f401afc942_0_9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4" name="Shape 10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5" name="Google Shape;1005;g2f401afc942_0_9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6" name="Google Shape;1006;g2f401afc942_0_9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9" name="Shape 10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0" name="Google Shape;1020;g2f401afc942_0_9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1" name="Google Shape;1021;g2f401afc942_0_9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5" name="Shape 10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6" name="Google Shape;1036;g2f401afc942_0_9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7" name="Google Shape;1037;g2f401afc942_0_9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1" name="Shape 10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2" name="Google Shape;1052;g2f401afc942_0_9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3" name="Google Shape;1053;g2f401afc942_0_9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7" name="Shape 10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8" name="Google Shape;1068;g2f401afc942_0_9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9" name="Google Shape;1069;g2f401afc942_0_9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9" name="Shape 10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0" name="Google Shape;1080;g2f401afc942_0_13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1" name="Google Shape;1081;g2f401afc942_0_13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3" name="Shape 1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4" name="Google Shape;1114;g2f46b947b8f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5" name="Google Shape;1115;g2f46b947b8f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4" name="Shape 1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5" name="Google Shape;1125;g2f401afc942_0_13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6" name="Google Shape;1126;g2f401afc942_0_13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0" name="Shape 1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1" name="Google Shape;1161;g2f401afc942_0_14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2" name="Google Shape;1162;g2f401afc942_0_14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2" name="Shape 1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3" name="Google Shape;1173;g2f401afc942_0_9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4" name="Google Shape;1174;g2f401afc942_0_9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0" name="Shape 1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1" name="Google Shape;1181;g2f401afc942_0_13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2" name="Google Shape;1182;g2f401afc942_0_13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9" name="Shape 1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0" name="Google Shape;1190;g2f401afc942_0_8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1" name="Google Shape;1191;g2f401afc942_0_8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4" name="Shape 1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5" name="Google Shape;1215;g2f401afc942_0_8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6" name="Google Shape;1216;g2f401afc942_0_8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3" name="Shape 1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4" name="Google Shape;1224;g2f4b949b6fb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5" name="Google Shape;1225;g2f4b949b6fb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6" name="Shape 1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7" name="Google Shape;1237;g2f4b949b6fb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8" name="Google Shape;1238;g2f4b949b6fb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6" name="Shape 1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7" name="Google Shape;1257;g2f401afc942_0_8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8" name="Google Shape;1258;g2f401afc942_0_8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5" name="Shape 1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6" name="Google Shape;1276;g2f401afc942_0_8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7" name="Google Shape;1277;g2f401afc942_0_8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2" name="Shape 1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3" name="Google Shape;1293;g2f4b949b6fb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4" name="Google Shape;1294;g2f4b949b6fb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0" name="Shape 1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1" name="Google Shape;1311;g2f4b949b6fb_0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2" name="Google Shape;1312;g2f4b949b6fb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3" name="Shape 1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4" name="Google Shape;1324;g2f4b949b6fb_0_1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5" name="Google Shape;1325;g2f4b949b6fb_0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1" name="Shape 1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2" name="Google Shape;1342;g2f4b949b6fb_0_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3" name="Google Shape;1343;g2f4b949b6fb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2" name="Shape 1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3" name="Google Shape;1353;g2f4b949b6fb_0_1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4" name="Google Shape;1354;g2f4b949b6fb_0_1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4" name="Shape 1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5" name="Google Shape;1365;g2f4b949b6fb_0_1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6" name="Google Shape;1366;g2f4b949b6fb_0_1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2" name="Shape 1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3" name="Google Shape;1373;g2207f0ffa9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4" name="Google Shape;1374;g2207f0ffa9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0" name="Shape 1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1" name="Google Shape;1381;g2207f0ffa9e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2" name="Google Shape;1382;g2207f0ffa9e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8" name="Shape 1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9" name="Google Shape;1389;g2207f0ffa9e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0" name="Google Shape;1390;g2207f0ffa9e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7" name="Shape 1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8" name="Google Shape;1398;g2207f0ffa9e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9" name="Google Shape;1399;g2207f0ffa9e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4" name="Shape 1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5" name="Google Shape;1405;g2207f0ffa9e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6" name="Google Shape;1406;g2207f0ffa9e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1" name="Shape 1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2" name="Google Shape;1412;g2207f0ffa9e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3" name="Google Shape;1413;g2207f0ffa9e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9" name="Shape 1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0" name="Google Shape;1420;g2207f0ffa9e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1" name="Google Shape;1421;g2207f0ffa9e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7" name="Shape 1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8" name="Google Shape;1428;g279955a40ae_0_8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9" name="Google Shape;1429;g279955a40ae_0_8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3" name="Shape 1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" name="Google Shape;1434;g279955a40ae_0_8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5" name="Google Shape;1435;g279955a40ae_0_8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9.png"/><Relationship Id="rId4" Type="http://schemas.openxmlformats.org/officeDocument/2006/relationships/image" Target="../media/image7.png"/><Relationship Id="rId5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9.png"/><Relationship Id="rId5" Type="http://schemas.openxmlformats.org/officeDocument/2006/relationships/image" Target="../media/image1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9.png"/><Relationship Id="rId5" Type="http://schemas.openxmlformats.org/officeDocument/2006/relationships/image" Target="../media/image8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9.png"/><Relationship Id="rId5" Type="http://schemas.openxmlformats.org/officeDocument/2006/relationships/image" Target="../media/image1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13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9.png"/><Relationship Id="rId5" Type="http://schemas.openxmlformats.org/officeDocument/2006/relationships/image" Target="../media/image14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8.png"/><Relationship Id="rId4" Type="http://schemas.openxmlformats.org/officeDocument/2006/relationships/image" Target="../media/image2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9.png"/><Relationship Id="rId5" Type="http://schemas.openxmlformats.org/officeDocument/2006/relationships/image" Target="../media/image16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15.png"/><Relationship Id="rId5" Type="http://schemas.openxmlformats.org/officeDocument/2006/relationships/image" Target="../media/image19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9.png"/><Relationship Id="rId5" Type="http://schemas.openxmlformats.org/officeDocument/2006/relationships/image" Target="../media/image24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25.png"/><Relationship Id="rId5" Type="http://schemas.openxmlformats.org/officeDocument/2006/relationships/image" Target="../media/image20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9.png"/><Relationship Id="rId4" Type="http://schemas.openxmlformats.org/officeDocument/2006/relationships/image" Target="../media/image27.png"/><Relationship Id="rId5" Type="http://schemas.openxmlformats.org/officeDocument/2006/relationships/image" Target="../media/image1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9.png"/><Relationship Id="rId4" Type="http://schemas.openxmlformats.org/officeDocument/2006/relationships/image" Target="../media/image27.png"/><Relationship Id="rId5" Type="http://schemas.openxmlformats.org/officeDocument/2006/relationships/image" Target="../media/image1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9.png"/><Relationship Id="rId5" Type="http://schemas.openxmlformats.org/officeDocument/2006/relationships/image" Target="../media/image28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image" Target="../media/image21.png"/><Relationship Id="rId5" Type="http://schemas.openxmlformats.org/officeDocument/2006/relationships/image" Target="../media/image26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9.png"/><Relationship Id="rId5" Type="http://schemas.openxmlformats.org/officeDocument/2006/relationships/image" Target="../media/image29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1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0.png"/><Relationship Id="rId3" Type="http://schemas.openxmlformats.org/officeDocument/2006/relationships/image" Target="../media/image34.png"/><Relationship Id="rId4" Type="http://schemas.openxmlformats.org/officeDocument/2006/relationships/image" Target="../media/image33.png"/><Relationship Id="rId5" Type="http://schemas.openxmlformats.org/officeDocument/2006/relationships/image" Target="../media/image32.png"/><Relationship Id="rId6" Type="http://schemas.openxmlformats.org/officeDocument/2006/relationships/image" Target="../media/image36.png"/><Relationship Id="rId7" Type="http://schemas.openxmlformats.org/officeDocument/2006/relationships/image" Target="../media/image43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37.png"/><Relationship Id="rId4" Type="http://schemas.openxmlformats.org/officeDocument/2006/relationships/image" Target="../media/image73.png"/><Relationship Id="rId5" Type="http://schemas.openxmlformats.org/officeDocument/2006/relationships/image" Target="../media/image39.png"/><Relationship Id="rId6" Type="http://schemas.openxmlformats.org/officeDocument/2006/relationships/image" Target="../media/image42.png"/><Relationship Id="rId7" Type="http://schemas.openxmlformats.org/officeDocument/2006/relationships/image" Target="../media/image35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73.png"/><Relationship Id="rId4" Type="http://schemas.openxmlformats.org/officeDocument/2006/relationships/image" Target="../media/image38.png"/><Relationship Id="rId9" Type="http://schemas.openxmlformats.org/officeDocument/2006/relationships/image" Target="../media/image35.png"/><Relationship Id="rId5" Type="http://schemas.openxmlformats.org/officeDocument/2006/relationships/image" Target="../media/image37.png"/><Relationship Id="rId6" Type="http://schemas.openxmlformats.org/officeDocument/2006/relationships/image" Target="../media/image45.png"/><Relationship Id="rId7" Type="http://schemas.openxmlformats.org/officeDocument/2006/relationships/image" Target="../media/image39.png"/><Relationship Id="rId8" Type="http://schemas.openxmlformats.org/officeDocument/2006/relationships/image" Target="../media/image42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73.png"/><Relationship Id="rId4" Type="http://schemas.openxmlformats.org/officeDocument/2006/relationships/image" Target="../media/image46.png"/><Relationship Id="rId11" Type="http://schemas.openxmlformats.org/officeDocument/2006/relationships/image" Target="../media/image35.png"/><Relationship Id="rId10" Type="http://schemas.openxmlformats.org/officeDocument/2006/relationships/image" Target="../media/image53.png"/><Relationship Id="rId9" Type="http://schemas.openxmlformats.org/officeDocument/2006/relationships/image" Target="../media/image42.png"/><Relationship Id="rId5" Type="http://schemas.openxmlformats.org/officeDocument/2006/relationships/image" Target="../media/image38.png"/><Relationship Id="rId6" Type="http://schemas.openxmlformats.org/officeDocument/2006/relationships/image" Target="../media/image37.png"/><Relationship Id="rId7" Type="http://schemas.openxmlformats.org/officeDocument/2006/relationships/image" Target="../media/image45.png"/><Relationship Id="rId8" Type="http://schemas.openxmlformats.org/officeDocument/2006/relationships/image" Target="../media/image39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9.png"/><Relationship Id="rId3" Type="http://schemas.openxmlformats.org/officeDocument/2006/relationships/image" Target="../media/image50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1.png"/><Relationship Id="rId3" Type="http://schemas.openxmlformats.org/officeDocument/2006/relationships/image" Target="../media/image50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2.png"/><Relationship Id="rId3" Type="http://schemas.openxmlformats.org/officeDocument/2006/relationships/image" Target="../media/image50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4.png"/><Relationship Id="rId3" Type="http://schemas.openxmlformats.org/officeDocument/2006/relationships/image" Target="../media/image50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9.png"/><Relationship Id="rId3" Type="http://schemas.openxmlformats.org/officeDocument/2006/relationships/image" Target="../media/image50.png"/><Relationship Id="rId4" Type="http://schemas.openxmlformats.org/officeDocument/2006/relationships/image" Target="../media/image56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1.png"/><Relationship Id="rId3" Type="http://schemas.openxmlformats.org/officeDocument/2006/relationships/image" Target="../media/image50.png"/><Relationship Id="rId4" Type="http://schemas.openxmlformats.org/officeDocument/2006/relationships/image" Target="../media/image56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2.png"/><Relationship Id="rId3" Type="http://schemas.openxmlformats.org/officeDocument/2006/relationships/image" Target="../media/image50.png"/><Relationship Id="rId4" Type="http://schemas.openxmlformats.org/officeDocument/2006/relationships/image" Target="../media/image56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4.png"/><Relationship Id="rId3" Type="http://schemas.openxmlformats.org/officeDocument/2006/relationships/image" Target="../media/image50.png"/><Relationship Id="rId4" Type="http://schemas.openxmlformats.org/officeDocument/2006/relationships/image" Target="../media/image56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7.png"/><Relationship Id="rId3" Type="http://schemas.openxmlformats.org/officeDocument/2006/relationships/image" Target="../media/image49.png"/><Relationship Id="rId4" Type="http://schemas.openxmlformats.org/officeDocument/2006/relationships/image" Target="../media/image56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1.png"/><Relationship Id="rId3" Type="http://schemas.openxmlformats.org/officeDocument/2006/relationships/image" Target="../media/image56.png"/><Relationship Id="rId4" Type="http://schemas.openxmlformats.org/officeDocument/2006/relationships/image" Target="../media/image57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2.png"/><Relationship Id="rId3" Type="http://schemas.openxmlformats.org/officeDocument/2006/relationships/image" Target="../media/image56.png"/><Relationship Id="rId4" Type="http://schemas.openxmlformats.org/officeDocument/2006/relationships/image" Target="../media/image57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4.png"/><Relationship Id="rId3" Type="http://schemas.openxmlformats.org/officeDocument/2006/relationships/image" Target="../media/image56.png"/><Relationship Id="rId4" Type="http://schemas.openxmlformats.org/officeDocument/2006/relationships/image" Target="../media/image57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9.png"/><Relationship Id="rId3" Type="http://schemas.openxmlformats.org/officeDocument/2006/relationships/image" Target="../media/image56.png"/><Relationship Id="rId4" Type="http://schemas.openxmlformats.org/officeDocument/2006/relationships/image" Target="../media/image63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1.png"/><Relationship Id="rId3" Type="http://schemas.openxmlformats.org/officeDocument/2006/relationships/image" Target="../media/image56.png"/><Relationship Id="rId4" Type="http://schemas.openxmlformats.org/officeDocument/2006/relationships/image" Target="../media/image63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2.png"/><Relationship Id="rId3" Type="http://schemas.openxmlformats.org/officeDocument/2006/relationships/image" Target="../media/image56.png"/><Relationship Id="rId4" Type="http://schemas.openxmlformats.org/officeDocument/2006/relationships/image" Target="../media/image63.pn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4.png"/><Relationship Id="rId3" Type="http://schemas.openxmlformats.org/officeDocument/2006/relationships/image" Target="../media/image56.png"/><Relationship Id="rId4" Type="http://schemas.openxmlformats.org/officeDocument/2006/relationships/image" Target="../media/image63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9.png"/><Relationship Id="rId3" Type="http://schemas.openxmlformats.org/officeDocument/2006/relationships/image" Target="../media/image56.png"/><Relationship Id="rId4" Type="http://schemas.openxmlformats.org/officeDocument/2006/relationships/image" Target="../media/image63.pn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1.png"/><Relationship Id="rId3" Type="http://schemas.openxmlformats.org/officeDocument/2006/relationships/image" Target="../media/image56.png"/><Relationship Id="rId4" Type="http://schemas.openxmlformats.org/officeDocument/2006/relationships/image" Target="../media/image63.pn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2.png"/><Relationship Id="rId3" Type="http://schemas.openxmlformats.org/officeDocument/2006/relationships/image" Target="../media/image56.png"/><Relationship Id="rId4" Type="http://schemas.openxmlformats.org/officeDocument/2006/relationships/image" Target="../media/image63.pn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4.png"/><Relationship Id="rId3" Type="http://schemas.openxmlformats.org/officeDocument/2006/relationships/image" Target="../media/image56.png"/><Relationship Id="rId4" Type="http://schemas.openxmlformats.org/officeDocument/2006/relationships/image" Target="../media/image63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9.png"/><Relationship Id="rId3" Type="http://schemas.openxmlformats.org/officeDocument/2006/relationships/image" Target="../media/image56.png"/><Relationship Id="rId4" Type="http://schemas.openxmlformats.org/officeDocument/2006/relationships/image" Target="../media/image63.png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1.png"/><Relationship Id="rId3" Type="http://schemas.openxmlformats.org/officeDocument/2006/relationships/image" Target="../media/image56.png"/><Relationship Id="rId4" Type="http://schemas.openxmlformats.org/officeDocument/2006/relationships/image" Target="../media/image63.png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2.png"/><Relationship Id="rId3" Type="http://schemas.openxmlformats.org/officeDocument/2006/relationships/image" Target="../media/image56.png"/><Relationship Id="rId4" Type="http://schemas.openxmlformats.org/officeDocument/2006/relationships/image" Target="../media/image63.png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4.png"/><Relationship Id="rId3" Type="http://schemas.openxmlformats.org/officeDocument/2006/relationships/image" Target="../media/image56.png"/><Relationship Id="rId4" Type="http://schemas.openxmlformats.org/officeDocument/2006/relationships/image" Target="../media/image63.png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9.png"/><Relationship Id="rId3" Type="http://schemas.openxmlformats.org/officeDocument/2006/relationships/image" Target="../media/image56.png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1.png"/><Relationship Id="rId3" Type="http://schemas.openxmlformats.org/officeDocument/2006/relationships/image" Target="../media/image56.png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2.png"/><Relationship Id="rId3" Type="http://schemas.openxmlformats.org/officeDocument/2006/relationships/image" Target="../media/image56.png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4.png"/><Relationship Id="rId3" Type="http://schemas.openxmlformats.org/officeDocument/2006/relationships/image" Target="../media/image56.png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9.png"/><Relationship Id="rId3" Type="http://schemas.openxmlformats.org/officeDocument/2006/relationships/image" Target="../media/image68.png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1.png"/><Relationship Id="rId3" Type="http://schemas.openxmlformats.org/officeDocument/2006/relationships/image" Target="../media/image68.png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2.png"/><Relationship Id="rId3" Type="http://schemas.openxmlformats.org/officeDocument/2006/relationships/image" Target="../media/image68.png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4.png"/><Relationship Id="rId3" Type="http://schemas.openxmlformats.org/officeDocument/2006/relationships/image" Target="../media/image68.png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9.png"/><Relationship Id="rId3" Type="http://schemas.openxmlformats.org/officeDocument/2006/relationships/image" Target="../media/image65.png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1.png"/><Relationship Id="rId3" Type="http://schemas.openxmlformats.org/officeDocument/2006/relationships/image" Target="../media/image65.png"/></Relationships>
</file>

<file path=ppt/slideLayouts/_rels/slideLayout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2.png"/><Relationship Id="rId3" Type="http://schemas.openxmlformats.org/officeDocument/2006/relationships/image" Target="../media/image65.png"/></Relationships>
</file>

<file path=ppt/slideLayouts/_rels/slideLayout6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4.png"/><Relationship Id="rId3" Type="http://schemas.openxmlformats.org/officeDocument/2006/relationships/image" Target="../media/image65.png"/></Relationships>
</file>

<file path=ppt/slideLayouts/_rels/slideLayout6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/Relationships>
</file>

<file path=ppt/slideLayouts/_rels/slideLayout6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/Relationships>
</file>

<file path=ppt/slideLayouts/_rels/slideLayout6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6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1.png"/></Relationships>
</file>

<file path=ppt/slideLayouts/_rels/slideLayout7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Art and design" showMasterSp="0">
  <p:cSld name="Title Slide 2_1">
    <p:bg>
      <p:bgPr>
        <a:solidFill>
          <a:srgbClr val="BEF2BD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1" name="Google Shape;11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" name="Google Shape;12;p2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13" name="Google Shape;13;p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" name="Google Shape;14;p2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5" name="Google Shape;15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360030">
            <a:off x="6753315" y="1132068"/>
            <a:ext cx="2063340" cy="164303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16;p2"/>
          <p:cNvPicPr preferRelativeResize="0"/>
          <p:nvPr/>
        </p:nvPicPr>
        <p:blipFill rotWithShape="1">
          <a:blip r:embed="rId5">
            <a:alphaModFix/>
          </a:blip>
          <a:srcRect b="0" l="6209" r="6209" t="0"/>
          <a:stretch/>
        </p:blipFill>
        <p:spPr>
          <a:xfrm>
            <a:off x="324000" y="4008600"/>
            <a:ext cx="1705150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Art and design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" name="Google Shape;18;p2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" name="Google Shape;19;p2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Biology" showMasterSp="0">
  <p:cSld name="Title Slide 2_1_1_1_1_1_1_1">
    <p:bg>
      <p:bgPr>
        <a:solidFill>
          <a:srgbClr val="BEF2BD"/>
        </a:solidFill>
      </p:bgPr>
    </p:bg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oogle Shape;21;p3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Google Shape;2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Biology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5" name="Google Shape;25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Google Shape;26;p3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" name="Google Shape;27;p3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hemistry" showMasterSp="0">
  <p:cSld name="Title Slide 2_1_1_1_1_1_1_1_1_1">
    <p:bg>
      <p:bgPr>
        <a:solidFill>
          <a:srgbClr val="BEF2BD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oogle Shape;29;p4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Chemistry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2" name="Google Shape;32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" name="Google Shape;33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4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" name="Google Shape;35;p4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itizenship" showMasterSp="0">
  <p:cSld name="Title Slide 2_1_1_1_1_1_1_1_1_1_1_5">
    <p:bg>
      <p:bgPr>
        <a:solidFill>
          <a:srgbClr val="BEF2BD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Google Shape;37;p5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45800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9" name="Google Shape;39;p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Citizenship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40" name="Google Shape;40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1" name="Google Shape;41;p5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42" name="Google Shape;42;p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" name="Google Shape;43;p5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44" name="Google Shape;44;p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60025">
            <a:off x="6945328" y="787504"/>
            <a:ext cx="1710318" cy="2052380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" name="Google Shape;46;p5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omputing" showMasterSp="0">
  <p:cSld name="Title Slide 2_1_1_1_1_1_1_1_1_1_1_3">
    <p:bg>
      <p:bgPr>
        <a:solidFill>
          <a:srgbClr val="BEF2BD"/>
        </a:solid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Google Shape;48;p6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8950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Computing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2" name="Google Shape;52;p6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53" name="Google Shape;53;p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" name="Google Shape;54;p6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55" name="Google Shape;55;p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59982">
            <a:off x="6923956" y="1273792"/>
            <a:ext cx="1784155" cy="1404547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6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" name="Google Shape;57;p6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Design and technology" showMasterSp="0">
  <p:cSld name="Title Slide 2_1_1_1_1_1_1_1_1_1_1_2">
    <p:bg>
      <p:bgPr>
        <a:solidFill>
          <a:srgbClr val="BEF2BD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7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2705850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1" name="Google Shape;61;p7"/>
          <p:cNvSpPr txBox="1"/>
          <p:nvPr/>
        </p:nvSpPr>
        <p:spPr>
          <a:xfrm>
            <a:off x="323850" y="3781525"/>
            <a:ext cx="2706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Design and technology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2" name="Google Shape;62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3" name="Google Shape;63;p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64" name="Google Shape;64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5" name="Google Shape;65;p7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66" name="Google Shape;66;p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62791">
            <a:off x="6884379" y="985388"/>
            <a:ext cx="1846116" cy="1852594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7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" name="Google Shape;68;p7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English" showMasterSp="0">
  <p:cSld name="Title Slide 2_1_2">
    <p:bg>
      <p:bgPr>
        <a:solidFill>
          <a:srgbClr val="BEF2BD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Google Shape;70;p8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English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" name="Google Shape;72;p8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73" name="Google Shape;73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8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6" name="Google Shape;76;p8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French" showMasterSp="0">
  <p:cSld name="Title Slide 2_1_1_1_1_1_1_1_1_1_1_1">
    <p:bg>
      <p:bgPr>
        <a:solidFill>
          <a:srgbClr val="BEF2BD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Google Shape;78;p9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772225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0" name="Google Shape;80;p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French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" name="Google Shape;81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2" name="Google Shape;82;p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83" name="Google Shape;83;p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4" name="Google Shape;84;p9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85" name="Google Shape;85;p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88119">
            <a:off x="6742284" y="969390"/>
            <a:ext cx="2161157" cy="1915295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9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9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ography" showMasterSp="0">
  <p:cSld name="Title Slide 2_1_1_1">
    <p:bg>
      <p:bgPr>
        <a:solidFill>
          <a:srgbClr val="BEF2BD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10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2" name="Google Shape;92;p1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Geography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3" name="Google Shape;93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0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" name="Google Shape;95;p10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rman" showMasterSp="0">
  <p:cSld name="Title Slide 2_1_1_1_1_1_1_1_1_1_1_1_1">
    <p:bg>
      <p:bgPr>
        <a:solidFill>
          <a:srgbClr val="BEF2BD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p11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916925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1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9" name="Google Shape;99;p11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German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0" name="Google Shape;100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1" name="Google Shape;101;p11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102" name="Google Shape;102;p1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3" name="Google Shape;103;p11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04" name="Google Shape;104;p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66027">
            <a:off x="6626180" y="831797"/>
            <a:ext cx="2331091" cy="2089577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1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1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History" showMasterSp="0">
  <p:cSld name="Title Slide 2_1_1_1_1_2">
    <p:bg>
      <p:bgPr>
        <a:solidFill>
          <a:srgbClr val="BEF2BD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12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2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0" name="Google Shape;110;p1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History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11" name="Google Shape;111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2" name="Google Shape;112;p12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113" name="Google Shape;113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4" name="Google Shape;114;p12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15" name="Google Shape;115;p1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6" name="Google Shape;116;p12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7" name="Google Shape;117;p12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aths" showMasterSp="0">
  <p:cSld name="Title Slide 2_1_1_2">
    <p:bg>
      <p:bgPr>
        <a:solidFill>
          <a:srgbClr val="BEF2BD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1" name="Google Shape;121;p1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Maths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2" name="Google Shape;122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13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3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5" name="Google Shape;125;p13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usic" showMasterSp="0">
  <p:cSld name="Title Slide 2_1_1_1_1_1">
    <p:bg>
      <p:bgPr>
        <a:solidFill>
          <a:srgbClr val="BEF2BD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Google Shape;127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9" name="Google Shape;129;p1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Music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0" name="Google Shape;130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14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4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3" name="Google Shape;133;p14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al education" showMasterSp="0">
  <p:cSld name="Title Slide 2_1_1_1_1_1_1_1_1_1_1_1_1_2">
    <p:bg>
      <p:bgPr>
        <a:solidFill>
          <a:srgbClr val="BEF2BD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oogle Shape;135;p15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2192950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7" name="Google Shape;137;p15"/>
          <p:cNvSpPr txBox="1"/>
          <p:nvPr/>
        </p:nvSpPr>
        <p:spPr>
          <a:xfrm>
            <a:off x="323850" y="3781525"/>
            <a:ext cx="2456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Physical education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8" name="Google Shape;13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9" name="Google Shape;139;p15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140" name="Google Shape;140;p1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1" name="Google Shape;141;p15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42" name="Google Shape;142;p15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" name="Google Shape;143;p15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44" name="Google Shape;144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75628">
            <a:off x="6551506" y="729991"/>
            <a:ext cx="2546513" cy="25464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s" showMasterSp="0">
  <p:cSld name="Title Slide 2_1_1_1_1_1_1_1_1_2">
    <p:bg>
      <p:bgPr>
        <a:solidFill>
          <a:srgbClr val="BEF2BD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16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48" name="Google Shape;148;p1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Physics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9" name="Google Shape;14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0" name="Google Shape;150;p16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151" name="Google Shape;151;p1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2" name="Google Shape;152;p16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53" name="Google Shape;153;p16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54" name="Google Shape;154;p16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5" name="Google Shape;155;p16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Relationships and health education" showMasterSp="0">
  <p:cSld name="Title Slide 2_1_1_1_1_1_1_1_1_1_1_7">
    <p:bg>
      <p:bgPr>
        <a:solidFill>
          <a:srgbClr val="BEF2BD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58" name="Google Shape;158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9" name="Google Shape;159;p1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160" name="Google Shape;160;p1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1" name="Google Shape;161;p17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62" name="Google Shape;162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360033">
            <a:off x="6814806" y="1250542"/>
            <a:ext cx="1965462" cy="1393693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7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" name="Google Shape;164;p17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65" name="Google Shape;165;p17"/>
          <p:cNvPicPr preferRelativeResize="0"/>
          <p:nvPr/>
        </p:nvPicPr>
        <p:blipFill rotWithShape="1">
          <a:blip r:embed="rId5">
            <a:alphaModFix/>
          </a:blip>
          <a:srcRect b="0" l="6209" r="6209" t="0"/>
          <a:stretch/>
        </p:blipFill>
        <p:spPr>
          <a:xfrm>
            <a:off x="324000" y="4008600"/>
            <a:ext cx="1360800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7"/>
          <p:cNvSpPr txBox="1"/>
          <p:nvPr/>
        </p:nvSpPr>
        <p:spPr>
          <a:xfrm>
            <a:off x="323850" y="3781525"/>
            <a:ext cx="4623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RHE (PSHE)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Relationships, sex and health education" showMasterSp="0">
  <p:cSld name="Title Slide 2_1_1_1_1_1_1_1_1_1_1_7_1">
    <p:bg>
      <p:bgPr>
        <a:solidFill>
          <a:srgbClr val="BEF2BD"/>
        </a:solid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69" name="Google Shape;169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0" name="Google Shape;170;p18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171" name="Google Shape;171;p1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2" name="Google Shape;172;p18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73" name="Google Shape;173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360033">
            <a:off x="6814806" y="1250542"/>
            <a:ext cx="1965462" cy="1393693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8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" name="Google Shape;175;p18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76" name="Google Shape;176;p18"/>
          <p:cNvPicPr preferRelativeResize="0"/>
          <p:nvPr/>
        </p:nvPicPr>
        <p:blipFill rotWithShape="1">
          <a:blip r:embed="rId5">
            <a:alphaModFix/>
          </a:blip>
          <a:srcRect b="0" l="6209" r="6209" t="0"/>
          <a:stretch/>
        </p:blipFill>
        <p:spPr>
          <a:xfrm>
            <a:off x="324000" y="4008600"/>
            <a:ext cx="1511900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18"/>
          <p:cNvSpPr txBox="1"/>
          <p:nvPr/>
        </p:nvSpPr>
        <p:spPr>
          <a:xfrm>
            <a:off x="323850" y="3781525"/>
            <a:ext cx="5087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RSHE (PSHE)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Religious education" showMasterSp="0">
  <p:cSld name="Title Slide 2_1_1_1_1_1_1_1_1_1_1_1_1_1">
    <p:bg>
      <p:bgPr>
        <a:solidFill>
          <a:srgbClr val="BEF2BD"/>
        </a:solidFill>
      </p:bgPr>
    </p:bg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9" name="Google Shape;179;p19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2271875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1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1" name="Google Shape;181;p19"/>
          <p:cNvSpPr txBox="1"/>
          <p:nvPr/>
        </p:nvSpPr>
        <p:spPr>
          <a:xfrm>
            <a:off x="323850" y="3781525"/>
            <a:ext cx="2798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Religious education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82" name="Google Shape;182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3" name="Google Shape;183;p1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184" name="Google Shape;184;p1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5" name="Google Shape;185;p19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86" name="Google Shape;186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60003">
            <a:off x="6754136" y="1062731"/>
            <a:ext cx="2012844" cy="1854018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19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" name="Google Shape;188;p19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cience" showMasterSp="0">
  <p:cSld name="Title Slide 2_1_1_1_1_1_1_2">
    <p:bg>
      <p:bgPr>
        <a:solidFill>
          <a:srgbClr val="BEF2BD"/>
        </a:soli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1" name="Google Shape;191;p2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Science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92" name="Google Shape;192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0"/>
          <p:cNvPicPr preferRelativeResize="0"/>
          <p:nvPr/>
        </p:nvPicPr>
        <p:blipFill rotWithShape="1">
          <a:blip r:embed="rId3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4" name="Google Shape;194;p20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195" name="Google Shape;195;p2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6" name="Google Shape;196;p20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97" name="Google Shape;197;p2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98" name="Google Shape;198;p20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" name="Google Shape;199;p20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panish" showMasterSp="0">
  <p:cSld name="Title Slide 2_1_1_1_1_1_1_1_1_1_1_1_2_1">
    <p:bg>
      <p:bgPr>
        <a:solidFill>
          <a:srgbClr val="BEF2BD"/>
        </a:solidFill>
      </p:bgPr>
    </p:bg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1" name="Google Shape;201;p21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90625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21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3" name="Google Shape;203;p21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Spanish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04" name="Google Shape;204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5" name="Google Shape;205;p21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206" name="Google Shape;206;p2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7" name="Google Shape;207;p21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208" name="Google Shape;208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60339">
            <a:off x="6714634" y="840073"/>
            <a:ext cx="2165107" cy="2173929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21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0" name="Google Shape;210;p21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1 Outcome">
  <p:cSld name="CUSTOM_5">
    <p:bg>
      <p:bgPr>
        <a:solidFill>
          <a:srgbClr val="BEF2BD"/>
        </a:solidFill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2" name="Google Shape;212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22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latin typeface="Lexend"/>
                <a:ea typeface="Lexend"/>
                <a:cs typeface="Lexend"/>
                <a:sym typeface="Lexend"/>
              </a:rPr>
              <a:t>Outcome</a:t>
            </a:r>
            <a:endParaRPr b="1"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4" name="Google Shape;214;p22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2 Hidden guidance slide">
  <p:cSld name="CUSTOM_1"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3"/>
          <p:cNvSpPr txBox="1"/>
          <p:nvPr/>
        </p:nvSpPr>
        <p:spPr>
          <a:xfrm>
            <a:off x="329775" y="9534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i="1"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7" name="Google Shape;217;p23"/>
          <p:cNvSpPr txBox="1"/>
          <p:nvPr/>
        </p:nvSpPr>
        <p:spPr>
          <a:xfrm>
            <a:off x="329775" y="629475"/>
            <a:ext cx="4241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b="1"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8" name="Google Shape;218;p23"/>
          <p:cNvSpPr txBox="1"/>
          <p:nvPr/>
        </p:nvSpPr>
        <p:spPr>
          <a:xfrm>
            <a:off x="4901925" y="629475"/>
            <a:ext cx="4012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b="1"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9" name="Google Shape;219;p23"/>
          <p:cNvSpPr txBox="1"/>
          <p:nvPr/>
        </p:nvSpPr>
        <p:spPr>
          <a:xfrm>
            <a:off x="329775" y="32059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20" name="Google Shape;220;p23"/>
          <p:cNvGrpSpPr/>
          <p:nvPr/>
        </p:nvGrpSpPr>
        <p:grpSpPr>
          <a:xfrm>
            <a:off x="2650916" y="1644417"/>
            <a:ext cx="1745270" cy="1430724"/>
            <a:chOff x="2642961" y="1644312"/>
            <a:chExt cx="1454634" cy="1195657"/>
          </a:xfrm>
        </p:grpSpPr>
        <p:pic>
          <p:nvPicPr>
            <p:cNvPr id="221" name="Google Shape;221;p23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222" name="Google Shape;222;p2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223" name="Google Shape;223;p2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224" name="Google Shape;224;p23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225" name="Google Shape;225;p23"/>
          <p:cNvPicPr preferRelativeResize="0"/>
          <p:nvPr/>
        </p:nvPicPr>
        <p:blipFill rotWithShape="1">
          <a:blip r:embed="rId6">
            <a:alphaModFix/>
          </a:blip>
          <a:srcRect b="5222" l="3910" r="0" t="0"/>
          <a:stretch/>
        </p:blipFill>
        <p:spPr>
          <a:xfrm>
            <a:off x="1328513" y="35697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2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98750" y="17780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227" name="Google Shape;227;p2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Teacher Guidance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">
  <p:cSld name="CUSTOM_3_1"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0" name="Google Shape;230;p24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24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3" name="Google Shape;233;p24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4" name="Google Shape;234;p24"/>
          <p:cNvSpPr txBox="1"/>
          <p:nvPr>
            <p:ph idx="3" type="subTitle"/>
          </p:nvPr>
        </p:nvSpPr>
        <p:spPr>
          <a:xfrm>
            <a:off x="324000" y="21054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5" name="Google Shape;235;p24"/>
          <p:cNvSpPr txBox="1"/>
          <p:nvPr>
            <p:ph idx="4" type="subTitle"/>
          </p:nvPr>
        </p:nvSpPr>
        <p:spPr>
          <a:xfrm>
            <a:off x="2699325" y="21054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6" name="Google Shape;236;p24"/>
          <p:cNvSpPr txBox="1"/>
          <p:nvPr>
            <p:ph idx="5" type="subTitle"/>
          </p:nvPr>
        </p:nvSpPr>
        <p:spPr>
          <a:xfrm>
            <a:off x="324000" y="3400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7" name="Google Shape;237;p24"/>
          <p:cNvSpPr txBox="1"/>
          <p:nvPr>
            <p:ph idx="6" type="subTitle"/>
          </p:nvPr>
        </p:nvSpPr>
        <p:spPr>
          <a:xfrm>
            <a:off x="2699325" y="3400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4)">
  <p:cSld name="CUSTOM_3_1_1"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40" name="Google Shape;240;p25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2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25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43" name="Google Shape;243;p25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44" name="Google Shape;244;p25"/>
          <p:cNvSpPr txBox="1"/>
          <p:nvPr>
            <p:ph idx="3" type="subTitle"/>
          </p:nvPr>
        </p:nvSpPr>
        <p:spPr>
          <a:xfrm>
            <a:off x="324000" y="1800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45" name="Google Shape;245;p25"/>
          <p:cNvSpPr txBox="1"/>
          <p:nvPr>
            <p:ph idx="4" type="subTitle"/>
          </p:nvPr>
        </p:nvSpPr>
        <p:spPr>
          <a:xfrm>
            <a:off x="2699325" y="1800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46" name="Google Shape;246;p25"/>
          <p:cNvSpPr txBox="1"/>
          <p:nvPr>
            <p:ph idx="5" type="subTitle"/>
          </p:nvPr>
        </p:nvSpPr>
        <p:spPr>
          <a:xfrm>
            <a:off x="324000" y="27912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47" name="Google Shape;247;p25"/>
          <p:cNvSpPr txBox="1"/>
          <p:nvPr>
            <p:ph idx="6" type="subTitle"/>
          </p:nvPr>
        </p:nvSpPr>
        <p:spPr>
          <a:xfrm>
            <a:off x="2699325" y="27912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48" name="Google Shape;248;p25"/>
          <p:cNvSpPr txBox="1"/>
          <p:nvPr>
            <p:ph idx="7" type="subTitle"/>
          </p:nvPr>
        </p:nvSpPr>
        <p:spPr>
          <a:xfrm>
            <a:off x="324000" y="3781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49" name="Google Shape;249;p25"/>
          <p:cNvSpPr txBox="1"/>
          <p:nvPr>
            <p:ph idx="8" type="subTitle"/>
          </p:nvPr>
        </p:nvSpPr>
        <p:spPr>
          <a:xfrm>
            <a:off x="2699325" y="3781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5)">
  <p:cSld name="CUSTOM_3_1_1_1"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52" name="Google Shape;252;p2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2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26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55" name="Google Shape;255;p26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56" name="Google Shape;256;p26"/>
          <p:cNvSpPr txBox="1"/>
          <p:nvPr>
            <p:ph idx="3" type="subTitle"/>
          </p:nvPr>
        </p:nvSpPr>
        <p:spPr>
          <a:xfrm>
            <a:off x="324000" y="24864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57" name="Google Shape;257;p26"/>
          <p:cNvSpPr txBox="1"/>
          <p:nvPr>
            <p:ph idx="4" type="subTitle"/>
          </p:nvPr>
        </p:nvSpPr>
        <p:spPr>
          <a:xfrm>
            <a:off x="2699325" y="24864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58" name="Google Shape;258;p26"/>
          <p:cNvSpPr txBox="1"/>
          <p:nvPr>
            <p:ph idx="5" type="subTitle"/>
          </p:nvPr>
        </p:nvSpPr>
        <p:spPr>
          <a:xfrm>
            <a:off x="324000" y="4162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59" name="Google Shape;259;p26"/>
          <p:cNvSpPr txBox="1"/>
          <p:nvPr>
            <p:ph idx="6" type="subTitle"/>
          </p:nvPr>
        </p:nvSpPr>
        <p:spPr>
          <a:xfrm>
            <a:off x="2699325" y="4162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60" name="Google Shape;260;p26"/>
          <p:cNvSpPr txBox="1"/>
          <p:nvPr>
            <p:ph idx="7" type="subTitle"/>
          </p:nvPr>
        </p:nvSpPr>
        <p:spPr>
          <a:xfrm>
            <a:off x="324000" y="16482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61" name="Google Shape;261;p26"/>
          <p:cNvSpPr txBox="1"/>
          <p:nvPr>
            <p:ph idx="8" type="subTitle"/>
          </p:nvPr>
        </p:nvSpPr>
        <p:spPr>
          <a:xfrm>
            <a:off x="2699325" y="16482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62" name="Google Shape;262;p26"/>
          <p:cNvSpPr txBox="1"/>
          <p:nvPr>
            <p:ph idx="9" type="subTitle"/>
          </p:nvPr>
        </p:nvSpPr>
        <p:spPr>
          <a:xfrm>
            <a:off x="324000" y="3324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63" name="Google Shape;263;p26"/>
          <p:cNvSpPr txBox="1"/>
          <p:nvPr>
            <p:ph idx="13" type="subTitle"/>
          </p:nvPr>
        </p:nvSpPr>
        <p:spPr>
          <a:xfrm>
            <a:off x="2699325" y="3324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p2, 2)">
  <p:cSld name="CUSTOM_3_1_1_1_1"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2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6" name="Google Shape;266;p27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27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27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69" name="Google Shape;269;p27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70" name="Google Shape;270;p27"/>
          <p:cNvSpPr txBox="1"/>
          <p:nvPr>
            <p:ph idx="3" type="subTitle"/>
          </p:nvPr>
        </p:nvSpPr>
        <p:spPr>
          <a:xfrm>
            <a:off x="324000" y="2562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71" name="Google Shape;271;p27"/>
          <p:cNvSpPr txBox="1"/>
          <p:nvPr>
            <p:ph idx="4" type="subTitle"/>
          </p:nvPr>
        </p:nvSpPr>
        <p:spPr>
          <a:xfrm>
            <a:off x="2699325" y="2562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2)">
  <p:cSld name="CUSTOM_3"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28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4" name="Google Shape;274;p28"/>
          <p:cNvPicPr preferRelativeResize="0"/>
          <p:nvPr/>
        </p:nvPicPr>
        <p:blipFill rotWithShape="1">
          <a:blip r:embed="rId2">
            <a:alphaModFix/>
          </a:blip>
          <a:srcRect b="3669" l="0" r="0" t="3678"/>
          <a:stretch/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275" name="Google Shape;275;p28"/>
          <p:cNvPicPr preferRelativeResize="0"/>
          <p:nvPr/>
        </p:nvPicPr>
        <p:blipFill rotWithShape="1">
          <a:blip r:embed="rId3">
            <a:alphaModFix/>
          </a:blip>
          <a:srcRect b="3669" l="0" r="0" t="3678"/>
          <a:stretch/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276" name="Google Shape;276;p28"/>
          <p:cNvPicPr preferRelativeResize="0"/>
          <p:nvPr/>
        </p:nvPicPr>
        <p:blipFill rotWithShape="1">
          <a:blip r:embed="rId4">
            <a:alphaModFix/>
          </a:blip>
          <a:srcRect b="0" l="74623" r="0" t="0"/>
          <a:stretch/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77" name="Google Shape;277;p28"/>
          <p:cNvCxnSpPr>
            <a:endCxn id="278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279" name="Google Shape;279;p2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28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81" name="Google Shape;281;p28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278" name="Google Shape;278;p2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282" name="Google Shape;282;p28"/>
          <p:cNvPicPr preferRelativeResize="0"/>
          <p:nvPr/>
        </p:nvPicPr>
        <p:blipFill rotWithShape="1">
          <a:blip r:embed="rId7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28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4" name="Google Shape;284;p28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3)">
  <p:cSld name="CUSTOM_3_2"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" name="Google Shape;286;p29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2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" name="Google Shape;288;p29"/>
          <p:cNvPicPr preferRelativeResize="0"/>
          <p:nvPr/>
        </p:nvPicPr>
        <p:blipFill rotWithShape="1">
          <a:blip r:embed="rId4">
            <a:alphaModFix/>
          </a:blip>
          <a:srcRect b="3669" l="0" r="0" t="3678"/>
          <a:stretch/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89" name="Google Shape;289;p2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29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2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92" name="Google Shape;292;p29"/>
          <p:cNvCxnSpPr>
            <a:endCxn id="293" idx="2"/>
          </p:cNvCxnSpPr>
          <p:nvPr/>
        </p:nvCxnSpPr>
        <p:spPr>
          <a:xfrm>
            <a:off x="647802" y="1841898"/>
            <a:ext cx="0" cy="23664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293" name="Google Shape;293;p2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294" name="Google Shape;294;p2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p29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96" name="Google Shape;296;p29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97" name="Google Shape;297;p29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298" name="Google Shape;298;p2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29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00" name="Google Shape;300;p29"/>
          <p:cNvPicPr preferRelativeResize="0"/>
          <p:nvPr/>
        </p:nvPicPr>
        <p:blipFill rotWithShape="1">
          <a:blip r:embed="rId9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Google Shape;301;p29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2" name="Google Shape;302;p29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4)">
  <p:cSld name="CUSTOM_4"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4" name="Google Shape;304;p30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5" name="Google Shape;305;p3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306" name="Google Shape;306;p30"/>
          <p:cNvPicPr preferRelativeResize="0"/>
          <p:nvPr/>
        </p:nvPicPr>
        <p:blipFill rotWithShape="1">
          <a:blip r:embed="rId4">
            <a:alphaModFix/>
          </a:blip>
          <a:srcRect b="4396" l="0" r="0" t="4387"/>
          <a:stretch/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307" name="Google Shape;307;p3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308" name="Google Shape;308;p30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309" name="Google Shape;309;p3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310" name="Google Shape;310;p30"/>
          <p:cNvPicPr preferRelativeResize="0"/>
          <p:nvPr/>
        </p:nvPicPr>
        <p:blipFill rotWithShape="1">
          <a:blip r:embed="rId6">
            <a:alphaModFix/>
          </a:blip>
          <a:srcRect b="3669" l="0" r="0" t="3678"/>
          <a:stretch/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311" name="Google Shape;311;p3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12" name="Google Shape;312;p30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313" name="Google Shape;313;p3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314" name="Google Shape;314;p3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315" name="Google Shape;315;p30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30"/>
          <p:cNvSpPr txBox="1"/>
          <p:nvPr>
            <p:ph type="title"/>
          </p:nvPr>
        </p:nvSpPr>
        <p:spPr>
          <a:xfrm>
            <a:off x="1224600" y="1466663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17" name="Google Shape;317;p30"/>
          <p:cNvSpPr txBox="1"/>
          <p:nvPr>
            <p:ph idx="2" type="title"/>
          </p:nvPr>
        </p:nvSpPr>
        <p:spPr>
          <a:xfrm>
            <a:off x="1224600" y="2285700"/>
            <a:ext cx="6850800" cy="57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18" name="Google Shape;318;p30"/>
          <p:cNvSpPr txBox="1"/>
          <p:nvPr>
            <p:ph idx="3" type="title"/>
          </p:nvPr>
        </p:nvSpPr>
        <p:spPr>
          <a:xfrm>
            <a:off x="1224600" y="3160338"/>
            <a:ext cx="6850800" cy="53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19" name="Google Shape;319;p30"/>
          <p:cNvSpPr txBox="1"/>
          <p:nvPr>
            <p:ph idx="4" type="title"/>
          </p:nvPr>
        </p:nvSpPr>
        <p:spPr>
          <a:xfrm>
            <a:off x="1224600" y="3971414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320" name="Google Shape;320;p30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321" name="Google Shape;321;p30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22" name="Google Shape;322;p30"/>
          <p:cNvPicPr preferRelativeResize="0"/>
          <p:nvPr/>
        </p:nvPicPr>
        <p:blipFill rotWithShape="1">
          <a:blip r:embed="rId11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23" name="Google Shape;323;p30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4" name="Google Shape;324;p30"/>
          <p:cNvSpPr txBox="1"/>
          <p:nvPr>
            <p:ph idx="5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0 Explanation blank - purple ">
  <p:cSld name="TITLE_AND_TWO_COLUMNS_1_1_6_2_1_4"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6" name="Google Shape;326;p3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327" name="Google Shape;327;p31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3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329" name="Google Shape;329;p3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30" name="Google Shape;330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31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0 Explanation blank - jade">
  <p:cSld name="TITLE_AND_TWO_COLUMNS_1_1_6_2_1_2"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3" name="Google Shape;333;p3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34" name="Google Shape;334;p3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3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336" name="Google Shape;336;p32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7" name="Google Shape;337;p3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38" name="Google Shape;338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0 Explanation blank - blue ">
  <p:cSld name="TITLE_AND_TWO_COLUMNS_1_1_6_2_2"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0" name="Google Shape;340;p3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41" name="Google Shape;341;p3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3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343" name="Google Shape;343;p33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4" name="Google Shape;344;p3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45" name="Google Shape;345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0 Explanation blank - pink ">
  <p:cSld name="TITLE_AND_TWO_COLUMNS_1_1_6_2_1_1"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7" name="Google Shape;347;p3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48" name="Google Shape;348;p3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3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350" name="Google Shape;350;p34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1" name="Google Shape;351;p3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52" name="Google Shape;352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35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55" name="Google Shape;355;p3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356" name="Google Shape;356;p3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35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58" name="Google Shape;358;p35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59" name="Google Shape;359;p35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60" name="Google Shape;360;p35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361" name="Google Shape;361;p3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62" name="Google Shape;362;p35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63" name="Google Shape;363;p35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364" name="Google Shape;364;p3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65" name="Google Shape;365;p35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36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68" name="Google Shape;368;p3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69" name="Google Shape;369;p3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36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71" name="Google Shape;371;p36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72" name="Google Shape;372;p3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73" name="Google Shape;373;p36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374" name="Google Shape;374;p3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5" name="Google Shape;375;p36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76" name="Google Shape;376;p36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377" name="Google Shape;377;p3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8" name="Google Shape;378;p36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37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81" name="Google Shape;381;p3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3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37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4" name="Google Shape;384;p37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5" name="Google Shape;385;p3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86" name="Google Shape;386;p37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387" name="Google Shape;387;p3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88" name="Google Shape;388;p37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89" name="Google Shape;389;p37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390" name="Google Shape;390;p3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1" name="Google Shape;391;p37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38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94" name="Google Shape;394;p3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95" name="Google Shape;395;p3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38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97" name="Google Shape;397;p38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98" name="Google Shape;398;p3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99" name="Google Shape;399;p38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400" name="Google Shape;400;p3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01" name="Google Shape;401;p38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02" name="Google Shape;402;p38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403" name="Google Shape;403;p3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04" name="Google Shape;404;p38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2 CfU true/false/why - purple">
  <p:cSld name="TITLE_AND_TWO_COLUMNS_1_1_9_1_3_1">
    <p:bg>
      <p:bgPr>
        <a:solidFill>
          <a:srgbClr val="F3EEFB"/>
        </a:solidFill>
      </p:bgPr>
    </p:bg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6" name="Google Shape;406;p3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29763" y="20853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7" name="Google Shape;407;p3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23988" y="20853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8" name="Google Shape;408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09" name="Google Shape;409;p3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39"/>
          <p:cNvSpPr txBox="1"/>
          <p:nvPr/>
        </p:nvSpPr>
        <p:spPr>
          <a:xfrm>
            <a:off x="3025325" y="21446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1" name="Google Shape;411;p39"/>
          <p:cNvSpPr txBox="1"/>
          <p:nvPr/>
        </p:nvSpPr>
        <p:spPr>
          <a:xfrm>
            <a:off x="5431100" y="21219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2" name="Google Shape;412;p39"/>
          <p:cNvSpPr txBox="1"/>
          <p:nvPr>
            <p:ph idx="1" type="subTitle"/>
          </p:nvPr>
        </p:nvSpPr>
        <p:spPr>
          <a:xfrm>
            <a:off x="324000" y="3577125"/>
            <a:ext cx="81093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Kalam"/>
              <a:buNone/>
              <a:defRPr sz="2200">
                <a:latin typeface="Kalam"/>
                <a:ea typeface="Kalam"/>
                <a:cs typeface="Kalam"/>
                <a:sym typeface="Kalam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13" name="Google Shape;413;p39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14" name="Google Shape;414;p39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415" name="Google Shape;415;p39"/>
          <p:cNvSpPr txBox="1"/>
          <p:nvPr/>
        </p:nvSpPr>
        <p:spPr>
          <a:xfrm>
            <a:off x="2454488" y="21754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6" name="Google Shape;416;p39"/>
          <p:cNvSpPr txBox="1"/>
          <p:nvPr/>
        </p:nvSpPr>
        <p:spPr>
          <a:xfrm>
            <a:off x="4848713" y="21754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417" name="Google Shape;417;p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18" name="Google Shape;418;p3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9" name="Google Shape;419;p3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2 CfU true/false/why - jade">
  <p:cSld name="TITLE_AND_TWO_COLUMNS_1_1_9_1_3_1_1_1">
    <p:bg>
      <p:bgPr>
        <a:solidFill>
          <a:srgbClr val="E6F2F2"/>
        </a:solidFill>
      </p:bgPr>
    </p:bg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1" name="Google Shape;421;p4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22" name="Google Shape;422;p4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23" name="Google Shape;423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24" name="Google Shape;424;p4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5" name="Google Shape;425;p4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26" name="Google Shape;426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9763" y="20853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27" name="Google Shape;427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3988" y="20853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428" name="Google Shape;428;p40"/>
          <p:cNvSpPr txBox="1"/>
          <p:nvPr/>
        </p:nvSpPr>
        <p:spPr>
          <a:xfrm>
            <a:off x="3025325" y="21446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9" name="Google Shape;429;p40"/>
          <p:cNvSpPr txBox="1"/>
          <p:nvPr/>
        </p:nvSpPr>
        <p:spPr>
          <a:xfrm>
            <a:off x="5431100" y="21219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30" name="Google Shape;430;p40"/>
          <p:cNvSpPr txBox="1"/>
          <p:nvPr>
            <p:ph idx="1" type="subTitle"/>
          </p:nvPr>
        </p:nvSpPr>
        <p:spPr>
          <a:xfrm>
            <a:off x="324000" y="3577125"/>
            <a:ext cx="81093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Kalam"/>
              <a:buNone/>
              <a:defRPr sz="2200">
                <a:latin typeface="Kalam"/>
                <a:ea typeface="Kalam"/>
                <a:cs typeface="Kalam"/>
                <a:sym typeface="Kalam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31" name="Google Shape;431;p40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32" name="Google Shape;432;p40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433" name="Google Shape;433;p40"/>
          <p:cNvSpPr txBox="1"/>
          <p:nvPr/>
        </p:nvSpPr>
        <p:spPr>
          <a:xfrm>
            <a:off x="2454488" y="21754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34" name="Google Shape;434;p40"/>
          <p:cNvSpPr txBox="1"/>
          <p:nvPr/>
        </p:nvSpPr>
        <p:spPr>
          <a:xfrm>
            <a:off x="4848713" y="21754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2 CfU true/false/why - blue">
  <p:cSld name="TITLE_AND_TWO_COLUMNS_1_1_9_1_3_2">
    <p:bg>
      <p:bgPr>
        <a:solidFill>
          <a:srgbClr val="EBEDFE"/>
        </a:solidFill>
      </p:bgPr>
    </p:bg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6" name="Google Shape;436;p4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37" name="Google Shape;437;p4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38" name="Google Shape;438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4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0" name="Google Shape;440;p4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41" name="Google Shape;441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9763" y="20853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42" name="Google Shape;442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3988" y="20853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443" name="Google Shape;443;p41"/>
          <p:cNvSpPr txBox="1"/>
          <p:nvPr/>
        </p:nvSpPr>
        <p:spPr>
          <a:xfrm>
            <a:off x="3025325" y="21446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4" name="Google Shape;444;p41"/>
          <p:cNvSpPr txBox="1"/>
          <p:nvPr/>
        </p:nvSpPr>
        <p:spPr>
          <a:xfrm>
            <a:off x="5431100" y="21219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5" name="Google Shape;445;p41"/>
          <p:cNvSpPr txBox="1"/>
          <p:nvPr>
            <p:ph idx="1" type="subTitle"/>
          </p:nvPr>
        </p:nvSpPr>
        <p:spPr>
          <a:xfrm>
            <a:off x="324000" y="3577125"/>
            <a:ext cx="81093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Kalam"/>
              <a:buNone/>
              <a:defRPr sz="2200">
                <a:latin typeface="Kalam"/>
                <a:ea typeface="Kalam"/>
                <a:cs typeface="Kalam"/>
                <a:sym typeface="Kalam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6" name="Google Shape;446;p41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7" name="Google Shape;447;p41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448" name="Google Shape;448;p41"/>
          <p:cNvSpPr txBox="1"/>
          <p:nvPr/>
        </p:nvSpPr>
        <p:spPr>
          <a:xfrm>
            <a:off x="2454488" y="21754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9" name="Google Shape;449;p41"/>
          <p:cNvSpPr txBox="1"/>
          <p:nvPr/>
        </p:nvSpPr>
        <p:spPr>
          <a:xfrm>
            <a:off x="4848713" y="21754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2 CfU true/false/why - pink">
  <p:cSld name="TITLE_AND_TWO_COLUMNS_1_1_9_1_3_1_1_1_1">
    <p:bg>
      <p:bgPr>
        <a:solidFill>
          <a:srgbClr val="FAEAF6"/>
        </a:solidFill>
      </p:bgPr>
    </p:bg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1" name="Google Shape;451;p4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52" name="Google Shape;452;p42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53" name="Google Shape;453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54" name="Google Shape;454;p4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5" name="Google Shape;455;p4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56" name="Google Shape;456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9763" y="20853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57" name="Google Shape;457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3988" y="20853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p42"/>
          <p:cNvSpPr txBox="1"/>
          <p:nvPr/>
        </p:nvSpPr>
        <p:spPr>
          <a:xfrm>
            <a:off x="3025325" y="21446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9" name="Google Shape;459;p42"/>
          <p:cNvSpPr txBox="1"/>
          <p:nvPr/>
        </p:nvSpPr>
        <p:spPr>
          <a:xfrm>
            <a:off x="5431100" y="21219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0" name="Google Shape;460;p42"/>
          <p:cNvSpPr txBox="1"/>
          <p:nvPr>
            <p:ph idx="1" type="subTitle"/>
          </p:nvPr>
        </p:nvSpPr>
        <p:spPr>
          <a:xfrm>
            <a:off x="324000" y="3577125"/>
            <a:ext cx="81093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Kalam"/>
              <a:buNone/>
              <a:defRPr sz="2200">
                <a:latin typeface="Kalam"/>
                <a:ea typeface="Kalam"/>
                <a:cs typeface="Kalam"/>
                <a:sym typeface="Kalam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1" name="Google Shape;461;p42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2" name="Google Shape;462;p42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463" name="Google Shape;463;p42"/>
          <p:cNvSpPr txBox="1"/>
          <p:nvPr/>
        </p:nvSpPr>
        <p:spPr>
          <a:xfrm>
            <a:off x="2454488" y="21754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4" name="Google Shape;464;p42"/>
          <p:cNvSpPr txBox="1"/>
          <p:nvPr/>
        </p:nvSpPr>
        <p:spPr>
          <a:xfrm>
            <a:off x="4848713" y="21754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6" name="Google Shape;466;p4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67" name="Google Shape;467;p4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8" name="Google Shape;468;p4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69" name="Google Shape;469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70" name="Google Shape;470;p4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71" name="Google Shape;471;p4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2" name="Google Shape;472;p43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73" name="Google Shape;473;p43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74" name="Google Shape;474;p43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75" name="Google Shape;475;p43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76" name="Google Shape;476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7" name="Google Shape;477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8" name="Google Shape;478;p43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79" name="Google Shape;479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80" name="Google Shape;480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81" name="Google Shape;481;p43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82" name="Google Shape;482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83" name="Google Shape;483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5" name="Google Shape;485;p4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86" name="Google Shape;486;p4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7" name="Google Shape;487;p4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88" name="Google Shape;488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89" name="Google Shape;489;p4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90" name="Google Shape;490;p4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91" name="Google Shape;491;p44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92" name="Google Shape;492;p44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93" name="Google Shape;493;p44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94" name="Google Shape;494;p44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95" name="Google Shape;495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6" name="Google Shape;496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7" name="Google Shape;497;p44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98" name="Google Shape;498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9" name="Google Shape;499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00" name="Google Shape;500;p44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501" name="Google Shape;501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02" name="Google Shape;502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4" name="Google Shape;504;p4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05" name="Google Shape;505;p4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6" name="Google Shape;506;p4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07" name="Google Shape;507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08" name="Google Shape;508;p4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9" name="Google Shape;509;p4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10" name="Google Shape;510;p45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1" name="Google Shape;511;p45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2" name="Google Shape;512;p45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13" name="Google Shape;513;p45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514" name="Google Shape;514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5" name="Google Shape;515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6" name="Google Shape;516;p45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517" name="Google Shape;517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8" name="Google Shape;518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9" name="Google Shape;519;p45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520" name="Google Shape;520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1" name="Google Shape;521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3" name="Google Shape;523;p4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24" name="Google Shape;524;p4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" name="Google Shape;525;p46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26" name="Google Shape;526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4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28" name="Google Shape;528;p46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9" name="Google Shape;529;p46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0" name="Google Shape;530;p46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1" name="Google Shape;531;p46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32" name="Google Shape;532;p46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533" name="Google Shape;533;p4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4" name="Google Shape;534;p4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5" name="Google Shape;535;p46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536" name="Google Shape;536;p4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7" name="Google Shape;537;p4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8" name="Google Shape;538;p46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539" name="Google Shape;539;p4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0" name="Google Shape;540;p4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2" name="Google Shape;542;p4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43" name="Google Shape;543;p4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4" name="Google Shape;544;p47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45" name="Google Shape;545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46" name="Google Shape;546;p4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47" name="Google Shape;547;p47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8" name="Google Shape;548;p47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49" name="Google Shape;549;p47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50" name="Google Shape;550;p47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51" name="Google Shape;551;p47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52" name="Google Shape;552;p47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53" name="Google Shape;553;p4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54" name="Google Shape;554;p4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55" name="Google Shape;555;p47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56" name="Google Shape;556;p4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57" name="Google Shape;557;p4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58" name="Google Shape;558;p47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59" name="Google Shape;559;p4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0" name="Google Shape;560;p4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1" name="Google Shape;561;p47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62" name="Google Shape;562;p4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3" name="Google Shape;563;p4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5" name="Google Shape;565;p4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66" name="Google Shape;566;p4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7" name="Google Shape;567;p48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68" name="Google Shape;568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69" name="Google Shape;569;p4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0" name="Google Shape;570;p48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1" name="Google Shape;571;p48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72" name="Google Shape;572;p48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73" name="Google Shape;573;p48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74" name="Google Shape;574;p48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75" name="Google Shape;575;p48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76" name="Google Shape;576;p4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7" name="Google Shape;577;p4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78" name="Google Shape;578;p48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79" name="Google Shape;579;p4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0" name="Google Shape;580;p4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1" name="Google Shape;581;p48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82" name="Google Shape;582;p4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3" name="Google Shape;583;p4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4" name="Google Shape;584;p48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85" name="Google Shape;585;p4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6" name="Google Shape;586;p4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587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8" name="Google Shape;588;p4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89" name="Google Shape;589;p4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0" name="Google Shape;590;p49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91" name="Google Shape;591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92" name="Google Shape;592;p4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93" name="Google Shape;593;p49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94" name="Google Shape;594;p49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95" name="Google Shape;595;p49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96" name="Google Shape;596;p49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97" name="Google Shape;597;p49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98" name="Google Shape;598;p49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99" name="Google Shape;599;p4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0" name="Google Shape;600;p4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01" name="Google Shape;601;p49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602" name="Google Shape;602;p4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3" name="Google Shape;603;p4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04" name="Google Shape;604;p49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605" name="Google Shape;605;p4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6" name="Google Shape;606;p4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07" name="Google Shape;607;p49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608" name="Google Shape;608;p4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9" name="Google Shape;609;p4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1" name="Google Shape;611;p5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12" name="Google Shape;612;p50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3" name="Google Shape;613;p50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14" name="Google Shape;614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15" name="Google Shape;615;p5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16" name="Google Shape;616;p50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17" name="Google Shape;617;p50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618" name="Google Shape;618;p50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619" name="Google Shape;619;p50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620" name="Google Shape;620;p50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621" name="Google Shape;621;p50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622" name="Google Shape;622;p5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3" name="Google Shape;623;p5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24" name="Google Shape;624;p50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625" name="Google Shape;625;p5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6" name="Google Shape;626;p5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27" name="Google Shape;627;p50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628" name="Google Shape;628;p5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9" name="Google Shape;629;p5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30" name="Google Shape;630;p50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631" name="Google Shape;631;p5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32" name="Google Shape;632;p5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633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4" name="Google Shape;634;p5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5" name="Google Shape;635;p5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6" name="Google Shape;636;p51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37" name="Google Shape;637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8" name="Google Shape;638;p5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9" name="Google Shape;639;p51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40" name="Google Shape;640;p51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41" name="Google Shape;641;p51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42" name="Google Shape;642;p51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643" name="Google Shape;643;p51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644" name="Google Shape;644;p5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45" name="Google Shape;645;p5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46" name="Google Shape;646;p51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47" name="Google Shape;647;p5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48" name="Google Shape;648;p5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49" name="Google Shape;649;p51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50" name="Google Shape;650;p5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51" name="Google Shape;651;p5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3" name="Google Shape;653;p5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4" name="Google Shape;654;p5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5" name="Google Shape;655;p5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56" name="Google Shape;656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7" name="Google Shape;657;p5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8" name="Google Shape;658;p5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59" name="Google Shape;659;p52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60" name="Google Shape;660;p52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61" name="Google Shape;661;p52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662" name="Google Shape;662;p52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663" name="Google Shape;663;p5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64" name="Google Shape;664;p5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65" name="Google Shape;665;p52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66" name="Google Shape;666;p5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67" name="Google Shape;667;p5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68" name="Google Shape;668;p52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69" name="Google Shape;669;p5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70" name="Google Shape;670;p5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67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2" name="Google Shape;672;p5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3" name="Google Shape;673;p5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4" name="Google Shape;674;p5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75" name="Google Shape;675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76" name="Google Shape;676;p5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7" name="Google Shape;677;p5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8" name="Google Shape;678;p53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79" name="Google Shape;679;p53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80" name="Google Shape;680;p53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681" name="Google Shape;681;p53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682" name="Google Shape;682;p5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83" name="Google Shape;683;p5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84" name="Google Shape;684;p53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85" name="Google Shape;685;p5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86" name="Google Shape;686;p5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87" name="Google Shape;687;p53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88" name="Google Shape;688;p5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89" name="Google Shape;689;p5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690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1" name="Google Shape;691;p5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2" name="Google Shape;692;p5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3" name="Google Shape;693;p5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94" name="Google Shape;694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95" name="Google Shape;695;p5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96" name="Google Shape;696;p5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97" name="Google Shape;697;p54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98" name="Google Shape;698;p54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99" name="Google Shape;699;p54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700" name="Google Shape;700;p54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701" name="Google Shape;701;p5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02" name="Google Shape;702;p5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703" name="Google Shape;703;p54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704" name="Google Shape;704;p5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05" name="Google Shape;705;p5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706" name="Google Shape;706;p54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707" name="Google Shape;707;p5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08" name="Google Shape;708;p5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709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0" name="Google Shape;710;p5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1" name="Google Shape;711;p5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2" name="Google Shape;712;p5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713" name="Google Shape;713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14" name="Google Shape;714;p5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5" name="Google Shape;715;p5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" name="Google Shape;717;p5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8" name="Google Shape;718;p5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9" name="Google Shape;719;p5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720" name="Google Shape;720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21" name="Google Shape;721;p5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2" name="Google Shape;722;p5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723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4" name="Google Shape;724;p5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25" name="Google Shape;725;p5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6" name="Google Shape;726;p5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727" name="Google Shape;727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28" name="Google Shape;728;p5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9" name="Google Shape;729;p5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730" name="Shape 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1" name="Google Shape;731;p5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32" name="Google Shape;732;p5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3" name="Google Shape;733;p5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734" name="Google Shape;734;p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35" name="Google Shape;735;p5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6" name="Google Shape;736;p5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7 Practice - purple ">
  <p:cSld name="TITLE_AND_TWO_COLUMNS_1_1_5_1_3_1_1">
    <p:spTree>
      <p:nvGrpSpPr>
        <p:cNvPr id="737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8" name="Google Shape;738;p5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39" name="Google Shape;739;p5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0" name="Google Shape;740;p5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741" name="Google Shape;741;p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42" name="Google Shape;742;p5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43" name="Google Shape;743;p59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44" name="Google Shape;744;p59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7 Practice - jade">
  <p:cSld name="TITLE_AND_TWO_COLUMNS_1_1_5_1_3_1_1_1_1">
    <p:spTree>
      <p:nvGrpSpPr>
        <p:cNvPr id="745" name="Shape 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6" name="Google Shape;746;p6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47" name="Google Shape;747;p6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8" name="Google Shape;748;p6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49" name="Google Shape;749;p6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50" name="Google Shape;750;p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51" name="Google Shape;751;p60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52" name="Google Shape;752;p60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7 Practice - blue ">
  <p:cSld name="TITLE_AND_TWO_COLUMNS_1_1_5_1_3_1_2">
    <p:spTree>
      <p:nvGrpSpPr>
        <p:cNvPr id="753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4" name="Google Shape;754;p6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55" name="Google Shape;755;p6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6" name="Google Shape;756;p6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57" name="Google Shape;757;p6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58" name="Google Shape;758;p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59" name="Google Shape;759;p61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60" name="Google Shape;760;p61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7 Practice - pink">
  <p:cSld name="TITLE_AND_TWO_COLUMNS_1_1_5_1_3_1_1_1_1_1">
    <p:spTree>
      <p:nvGrpSpPr>
        <p:cNvPr id="76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2" name="Google Shape;762;p6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63" name="Google Shape;763;p62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4" name="Google Shape;764;p6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65" name="Google Shape;765;p6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66" name="Google Shape;766;p6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67" name="Google Shape;767;p62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68" name="Google Shape;768;p62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769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0" name="Google Shape;770;p6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71" name="Google Shape;771;p6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2" name="Google Shape;772;p6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773" name="Google Shape;773;p6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74" name="Google Shape;774;p6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75" name="Google Shape;775;p63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76" name="Google Shape;776;p63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777" name="Shape 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8" name="Google Shape;778;p6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79" name="Google Shape;779;p6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0" name="Google Shape;780;p6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81" name="Google Shape;781;p6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82" name="Google Shape;782;p6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83" name="Google Shape;783;p64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84" name="Google Shape;784;p64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785" name="Shape 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6" name="Google Shape;786;p6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87" name="Google Shape;787;p6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8" name="Google Shape;788;p6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89" name="Google Shape;789;p6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90" name="Google Shape;790;p6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91" name="Google Shape;791;p65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2" name="Google Shape;792;p65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793" name="Shape 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94" name="Google Shape;794;p66"/>
          <p:cNvGrpSpPr/>
          <p:nvPr/>
        </p:nvGrpSpPr>
        <p:grpSpPr>
          <a:xfrm>
            <a:off x="0" y="1"/>
            <a:ext cx="9151202" cy="649234"/>
            <a:chOff x="0" y="1"/>
            <a:chExt cx="9151202" cy="649234"/>
          </a:xfrm>
        </p:grpSpPr>
        <p:pic>
          <p:nvPicPr>
            <p:cNvPr id="795" name="Google Shape;795;p66"/>
            <p:cNvPicPr preferRelativeResize="0"/>
            <p:nvPr/>
          </p:nvPicPr>
          <p:blipFill rotWithShape="1">
            <a:blip r:embed="rId2">
              <a:alphaModFix/>
            </a:blip>
            <a:srcRect b="1672" l="0" r="0" t="1662"/>
            <a:stretch/>
          </p:blipFill>
          <p:spPr>
            <a:xfrm>
              <a:off x="0" y="532525"/>
              <a:ext cx="9151202" cy="11670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96" name="Google Shape;796;p66"/>
            <p:cNvSpPr/>
            <p:nvPr/>
          </p:nvSpPr>
          <p:spPr>
            <a:xfrm>
              <a:off x="0" y="1"/>
              <a:ext cx="9144300" cy="540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97" name="Google Shape;797;p6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98" name="Google Shape;798;p6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99" name="Google Shape;799;p6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800" name="Google Shape;800;p66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1" name="Google Shape;801;p66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1">
  <p:cSld name="TITLE_AND_TWO_COLUMNS_1_1_5_1_2_1_1">
    <p:spTree>
      <p:nvGrpSpPr>
        <p:cNvPr id="802" name="Shape 8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3" name="Google Shape;803;p67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04" name="Google Shape;804;p67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05" name="Google Shape;805;p67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06" name="Google Shape;806;p67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7" name="Google Shape;807;p67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0" sz="20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2">
  <p:cSld name="TITLE_AND_TWO_COLUMNS_1_1_5_1_2">
    <p:spTree>
      <p:nvGrpSpPr>
        <p:cNvPr id="808" name="Shape 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9" name="Google Shape;809;p68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10" name="Google Shape;810;p68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11" name="Google Shape;811;p68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12" name="Google Shape;812;p68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13" name="Google Shape;813;p68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0" sz="20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3 Projectable quiz" showMasterSp="0">
  <p:cSld name="Title Slide 3_1">
    <p:bg>
      <p:bgPr>
        <a:solidFill>
          <a:schemeClr val="lt1"/>
        </a:solidFill>
      </p:bgPr>
    </p:bg>
    <p:spTree>
      <p:nvGrpSpPr>
        <p:cNvPr id="814" name="Shape 8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5" name="Google Shape;815;p6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816" name="Google Shape;816;p69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4 Items to copy-paste">
  <p:cSld name="CUSTOM_104_1_2_1_1">
    <p:spTree>
      <p:nvGrpSpPr>
        <p:cNvPr id="817" name="Shape 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8" name="Google Shape;818;p70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19" name="Google Shape;819;p70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0" name="Google Shape;820;p70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1" name="Google Shape;821;p70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2" name="Google Shape;822;p70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3" name="Google Shape;823;p70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4" name="Google Shape;824;p70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5" name="Google Shape;825;p70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6" name="Google Shape;826;p70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5 OGL">
  <p:cSld name="CUSTOM_5_1">
    <p:bg>
      <p:bgPr>
        <a:solidFill>
          <a:srgbClr val="BEF2BD"/>
        </a:solidFill>
      </p:bgPr>
    </p:bg>
    <p:spTree>
      <p:nvGrpSpPr>
        <p:cNvPr id="827" name="Shape 8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8" name="Google Shape;828;p7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829" name="Google Shape;829;p71"/>
          <p:cNvSpPr txBox="1"/>
          <p:nvPr>
            <p:ph idx="1" type="subTitle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6 Blank">
  <p:cSld name="CUSTOM_6">
    <p:spTree>
      <p:nvGrpSpPr>
        <p:cNvPr id="830" name="Shape 8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1" name="Google Shape;831;p72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 1">
  <p:cSld name="CUSTOM_3_1_2">
    <p:spTree>
      <p:nvGrpSpPr>
        <p:cNvPr id="832" name="Shape 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" name="Google Shape;833;p7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34" name="Google Shape;834;p73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35" name="Google Shape;835;p7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6" name="Google Shape;836;p73"/>
          <p:cNvSpPr txBox="1"/>
          <p:nvPr>
            <p:ph idx="1" type="subTitle"/>
          </p:nvPr>
        </p:nvSpPr>
        <p:spPr>
          <a:xfrm>
            <a:off x="323994" y="99364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37" name="Google Shape;837;p73"/>
          <p:cNvSpPr txBox="1"/>
          <p:nvPr>
            <p:ph idx="2" type="subTitle"/>
          </p:nvPr>
        </p:nvSpPr>
        <p:spPr>
          <a:xfrm>
            <a:off x="323994" y="223873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38" name="Google Shape;838;p73"/>
          <p:cNvSpPr txBox="1"/>
          <p:nvPr>
            <p:ph idx="3" type="subTitle"/>
          </p:nvPr>
        </p:nvSpPr>
        <p:spPr>
          <a:xfrm>
            <a:off x="323994" y="348382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39.xml"/><Relationship Id="rId42" Type="http://schemas.openxmlformats.org/officeDocument/2006/relationships/slideLayout" Target="../slideLayouts/slideLayout41.xml"/><Relationship Id="rId41" Type="http://schemas.openxmlformats.org/officeDocument/2006/relationships/slideLayout" Target="../slideLayouts/slideLayout40.xml"/><Relationship Id="rId44" Type="http://schemas.openxmlformats.org/officeDocument/2006/relationships/slideLayout" Target="../slideLayouts/slideLayout43.xml"/><Relationship Id="rId43" Type="http://schemas.openxmlformats.org/officeDocument/2006/relationships/slideLayout" Target="../slideLayouts/slideLayout42.xml"/><Relationship Id="rId46" Type="http://schemas.openxmlformats.org/officeDocument/2006/relationships/slideLayout" Target="../slideLayouts/slideLayout45.xml"/><Relationship Id="rId45" Type="http://schemas.openxmlformats.org/officeDocument/2006/relationships/slideLayout" Target="../slideLayouts/slideLayout44.xml"/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48" Type="http://schemas.openxmlformats.org/officeDocument/2006/relationships/slideLayout" Target="../slideLayouts/slideLayout47.xml"/><Relationship Id="rId47" Type="http://schemas.openxmlformats.org/officeDocument/2006/relationships/slideLayout" Target="../slideLayouts/slideLayout46.xml"/><Relationship Id="rId49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73" Type="http://schemas.openxmlformats.org/officeDocument/2006/relationships/slideLayout" Target="../slideLayouts/slideLayout72.xml"/><Relationship Id="rId72" Type="http://schemas.openxmlformats.org/officeDocument/2006/relationships/slideLayout" Target="../slideLayouts/slideLayout71.xml"/><Relationship Id="rId31" Type="http://schemas.openxmlformats.org/officeDocument/2006/relationships/slideLayout" Target="../slideLayouts/slideLayout30.xml"/><Relationship Id="rId30" Type="http://schemas.openxmlformats.org/officeDocument/2006/relationships/slideLayout" Target="../slideLayouts/slideLayout29.xml"/><Relationship Id="rId74" Type="http://schemas.openxmlformats.org/officeDocument/2006/relationships/theme" Target="../theme/theme1.xml"/><Relationship Id="rId33" Type="http://schemas.openxmlformats.org/officeDocument/2006/relationships/slideLayout" Target="../slideLayouts/slideLayout32.xml"/><Relationship Id="rId32" Type="http://schemas.openxmlformats.org/officeDocument/2006/relationships/slideLayout" Target="../slideLayouts/slideLayout31.xml"/><Relationship Id="rId35" Type="http://schemas.openxmlformats.org/officeDocument/2006/relationships/slideLayout" Target="../slideLayouts/slideLayout34.xml"/><Relationship Id="rId34" Type="http://schemas.openxmlformats.org/officeDocument/2006/relationships/slideLayout" Target="../slideLayouts/slideLayout33.xml"/><Relationship Id="rId71" Type="http://schemas.openxmlformats.org/officeDocument/2006/relationships/slideLayout" Target="../slideLayouts/slideLayout70.xml"/><Relationship Id="rId70" Type="http://schemas.openxmlformats.org/officeDocument/2006/relationships/slideLayout" Target="../slideLayouts/slideLayout69.xml"/><Relationship Id="rId37" Type="http://schemas.openxmlformats.org/officeDocument/2006/relationships/slideLayout" Target="../slideLayouts/slideLayout36.xml"/><Relationship Id="rId36" Type="http://schemas.openxmlformats.org/officeDocument/2006/relationships/slideLayout" Target="../slideLayouts/slideLayout35.xml"/><Relationship Id="rId39" Type="http://schemas.openxmlformats.org/officeDocument/2006/relationships/slideLayout" Target="../slideLayouts/slideLayout38.xml"/><Relationship Id="rId38" Type="http://schemas.openxmlformats.org/officeDocument/2006/relationships/slideLayout" Target="../slideLayouts/slideLayout37.xml"/><Relationship Id="rId62" Type="http://schemas.openxmlformats.org/officeDocument/2006/relationships/slideLayout" Target="../slideLayouts/slideLayout61.xml"/><Relationship Id="rId61" Type="http://schemas.openxmlformats.org/officeDocument/2006/relationships/slideLayout" Target="../slideLayouts/slideLayout60.xml"/><Relationship Id="rId20" Type="http://schemas.openxmlformats.org/officeDocument/2006/relationships/slideLayout" Target="../slideLayouts/slideLayout19.xml"/><Relationship Id="rId64" Type="http://schemas.openxmlformats.org/officeDocument/2006/relationships/slideLayout" Target="../slideLayouts/slideLayout63.xml"/><Relationship Id="rId63" Type="http://schemas.openxmlformats.org/officeDocument/2006/relationships/slideLayout" Target="../slideLayouts/slideLayout62.xml"/><Relationship Id="rId22" Type="http://schemas.openxmlformats.org/officeDocument/2006/relationships/slideLayout" Target="../slideLayouts/slideLayout21.xml"/><Relationship Id="rId66" Type="http://schemas.openxmlformats.org/officeDocument/2006/relationships/slideLayout" Target="../slideLayouts/slideLayout65.xml"/><Relationship Id="rId21" Type="http://schemas.openxmlformats.org/officeDocument/2006/relationships/slideLayout" Target="../slideLayouts/slideLayout20.xml"/><Relationship Id="rId65" Type="http://schemas.openxmlformats.org/officeDocument/2006/relationships/slideLayout" Target="../slideLayouts/slideLayout64.xml"/><Relationship Id="rId24" Type="http://schemas.openxmlformats.org/officeDocument/2006/relationships/slideLayout" Target="../slideLayouts/slideLayout23.xml"/><Relationship Id="rId68" Type="http://schemas.openxmlformats.org/officeDocument/2006/relationships/slideLayout" Target="../slideLayouts/slideLayout67.xml"/><Relationship Id="rId23" Type="http://schemas.openxmlformats.org/officeDocument/2006/relationships/slideLayout" Target="../slideLayouts/slideLayout22.xml"/><Relationship Id="rId67" Type="http://schemas.openxmlformats.org/officeDocument/2006/relationships/slideLayout" Target="../slideLayouts/slideLayout66.xml"/><Relationship Id="rId60" Type="http://schemas.openxmlformats.org/officeDocument/2006/relationships/slideLayout" Target="../slideLayouts/slideLayout59.xml"/><Relationship Id="rId26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24.xml"/><Relationship Id="rId69" Type="http://schemas.openxmlformats.org/officeDocument/2006/relationships/slideLayout" Target="../slideLayouts/slideLayout68.xml"/><Relationship Id="rId28" Type="http://schemas.openxmlformats.org/officeDocument/2006/relationships/slideLayout" Target="../slideLayouts/slideLayout27.xml"/><Relationship Id="rId27" Type="http://schemas.openxmlformats.org/officeDocument/2006/relationships/slideLayout" Target="../slideLayouts/slideLayout26.xml"/><Relationship Id="rId29" Type="http://schemas.openxmlformats.org/officeDocument/2006/relationships/slideLayout" Target="../slideLayouts/slideLayout28.xml"/><Relationship Id="rId51" Type="http://schemas.openxmlformats.org/officeDocument/2006/relationships/slideLayout" Target="../slideLayouts/slideLayout50.xml"/><Relationship Id="rId50" Type="http://schemas.openxmlformats.org/officeDocument/2006/relationships/slideLayout" Target="../slideLayouts/slideLayout49.xml"/><Relationship Id="rId53" Type="http://schemas.openxmlformats.org/officeDocument/2006/relationships/slideLayout" Target="../slideLayouts/slideLayout52.xml"/><Relationship Id="rId52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10.xml"/><Relationship Id="rId55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9.xml"/><Relationship Id="rId54" Type="http://schemas.openxmlformats.org/officeDocument/2006/relationships/slideLayout" Target="../slideLayouts/slideLayout53.xml"/><Relationship Id="rId13" Type="http://schemas.openxmlformats.org/officeDocument/2006/relationships/slideLayout" Target="../slideLayouts/slideLayout12.xml"/><Relationship Id="rId57" Type="http://schemas.openxmlformats.org/officeDocument/2006/relationships/slideLayout" Target="../slideLayouts/slideLayout56.xml"/><Relationship Id="rId12" Type="http://schemas.openxmlformats.org/officeDocument/2006/relationships/slideLayout" Target="../slideLayouts/slideLayout11.xml"/><Relationship Id="rId56" Type="http://schemas.openxmlformats.org/officeDocument/2006/relationships/slideLayout" Target="../slideLayouts/slideLayout55.xml"/><Relationship Id="rId15" Type="http://schemas.openxmlformats.org/officeDocument/2006/relationships/slideLayout" Target="../slideLayouts/slideLayout14.xml"/><Relationship Id="rId59" Type="http://schemas.openxmlformats.org/officeDocument/2006/relationships/slideLayout" Target="../slideLayouts/slideLayout58.xml"/><Relationship Id="rId14" Type="http://schemas.openxmlformats.org/officeDocument/2006/relationships/slideLayout" Target="../slideLayouts/slideLayout13.xml"/><Relationship Id="rId58" Type="http://schemas.openxmlformats.org/officeDocument/2006/relationships/slideLayout" Target="../slideLayouts/slideLayout57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61950" lvl="1" marL="9144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49250" lvl="3" marL="18288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8" name="Google Shape;8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  <p:sldLayoutId id="2147483671" r:id="rId25"/>
    <p:sldLayoutId id="2147483672" r:id="rId26"/>
    <p:sldLayoutId id="2147483673" r:id="rId27"/>
    <p:sldLayoutId id="2147483674" r:id="rId28"/>
    <p:sldLayoutId id="2147483675" r:id="rId29"/>
    <p:sldLayoutId id="2147483676" r:id="rId30"/>
    <p:sldLayoutId id="2147483677" r:id="rId31"/>
    <p:sldLayoutId id="2147483678" r:id="rId32"/>
    <p:sldLayoutId id="2147483679" r:id="rId33"/>
    <p:sldLayoutId id="2147483680" r:id="rId34"/>
    <p:sldLayoutId id="2147483681" r:id="rId35"/>
    <p:sldLayoutId id="2147483682" r:id="rId36"/>
    <p:sldLayoutId id="2147483683" r:id="rId37"/>
    <p:sldLayoutId id="2147483684" r:id="rId38"/>
    <p:sldLayoutId id="2147483685" r:id="rId39"/>
    <p:sldLayoutId id="2147483686" r:id="rId40"/>
    <p:sldLayoutId id="2147483687" r:id="rId41"/>
    <p:sldLayoutId id="2147483688" r:id="rId42"/>
    <p:sldLayoutId id="2147483689" r:id="rId43"/>
    <p:sldLayoutId id="2147483690" r:id="rId44"/>
    <p:sldLayoutId id="2147483691" r:id="rId45"/>
    <p:sldLayoutId id="2147483692" r:id="rId46"/>
    <p:sldLayoutId id="2147483693" r:id="rId47"/>
    <p:sldLayoutId id="2147483694" r:id="rId48"/>
    <p:sldLayoutId id="2147483695" r:id="rId49"/>
    <p:sldLayoutId id="2147483696" r:id="rId50"/>
    <p:sldLayoutId id="2147483697" r:id="rId51"/>
    <p:sldLayoutId id="2147483698" r:id="rId52"/>
    <p:sldLayoutId id="2147483699" r:id="rId53"/>
    <p:sldLayoutId id="2147483700" r:id="rId54"/>
    <p:sldLayoutId id="2147483701" r:id="rId55"/>
    <p:sldLayoutId id="2147483702" r:id="rId56"/>
    <p:sldLayoutId id="2147483703" r:id="rId57"/>
    <p:sldLayoutId id="2147483704" r:id="rId58"/>
    <p:sldLayoutId id="2147483705" r:id="rId59"/>
    <p:sldLayoutId id="2147483706" r:id="rId60"/>
    <p:sldLayoutId id="2147483707" r:id="rId61"/>
    <p:sldLayoutId id="2147483708" r:id="rId62"/>
    <p:sldLayoutId id="2147483709" r:id="rId63"/>
    <p:sldLayoutId id="2147483710" r:id="rId64"/>
    <p:sldLayoutId id="2147483711" r:id="rId65"/>
    <p:sldLayoutId id="2147483712" r:id="rId66"/>
    <p:sldLayoutId id="2147483713" r:id="rId67"/>
    <p:sldLayoutId id="2147483714" r:id="rId68"/>
    <p:sldLayoutId id="2147483715" r:id="rId69"/>
    <p:sldLayoutId id="2147483716" r:id="rId70"/>
    <p:sldLayoutId id="2147483717" r:id="rId71"/>
    <p:sldLayoutId id="2147483718" r:id="rId72"/>
    <p:sldLayoutId id="2147483719" r:id="rId7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support.thenational.academy/using-oaks-new-teaching-resources?utm_campaign=OakSlideDeck&amp;utm_medium=document&amp;utm_source=guide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8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8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69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5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9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9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3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3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6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0.xml"/><Relationship Id="rId2" Type="http://schemas.openxmlformats.org/officeDocument/2006/relationships/notesSlide" Target="../notesSlides/notesSlide47.xml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Relationship Id="rId5" Type="http://schemas.openxmlformats.org/officeDocument/2006/relationships/image" Target="../media/image7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2" name="Shape 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3" name="Google Shape;843;p7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Interior designer</a:t>
            </a:r>
            <a:endParaRPr/>
          </a:p>
        </p:txBody>
      </p:sp>
      <p:sp>
        <p:nvSpPr>
          <p:cNvPr id="844" name="Google Shape;844;p74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Maths in the workplace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848" name="Shape 8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" name="Google Shape;849;p75"/>
          <p:cNvSpPr txBox="1"/>
          <p:nvPr/>
        </p:nvSpPr>
        <p:spPr>
          <a:xfrm>
            <a:off x="4917900" y="956025"/>
            <a:ext cx="3661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 u="sng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How our teaching resources are designed for the classroom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3" name="Shape 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4" name="Google Shape;854;p76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 can understand how maths is used in interior design.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8" name="Shape 8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9" name="Google Shape;859;p77"/>
          <p:cNvSpPr txBox="1"/>
          <p:nvPr/>
        </p:nvSpPr>
        <p:spPr>
          <a:xfrm>
            <a:off x="383150" y="836400"/>
            <a:ext cx="8436900" cy="10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area is the size of the surface and states the number of unit squares needed to completely cover that surface. 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3" name="Shape 8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4" name="Google Shape;864;p78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Measurements in interior design</a:t>
            </a:r>
            <a:endParaRPr/>
          </a:p>
        </p:txBody>
      </p:sp>
      <p:sp>
        <p:nvSpPr>
          <p:cNvPr id="865" name="Google Shape;865;p78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Finance in interior design</a:t>
            </a:r>
            <a:endParaRPr/>
          </a:p>
        </p:txBody>
      </p:sp>
      <p:sp>
        <p:nvSpPr>
          <p:cNvPr id="866" name="Google Shape;866;p78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Interior designer</a:t>
            </a:r>
            <a:endParaRPr/>
          </a:p>
        </p:txBody>
      </p:sp>
      <p:pic>
        <p:nvPicPr>
          <p:cNvPr id="867" name="Google Shape;867;p7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5924" y="2063099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1" name="Shape 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2" name="Google Shape;872;p7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Measurements in </a:t>
            </a:r>
            <a:r>
              <a:rPr lang="en-GB"/>
              <a:t>interior design</a:t>
            </a:r>
            <a:endParaRPr/>
          </a:p>
        </p:txBody>
      </p:sp>
      <p:sp>
        <p:nvSpPr>
          <p:cNvPr id="873" name="Google Shape;873;p79"/>
          <p:cNvSpPr txBox="1"/>
          <p:nvPr>
            <p:ph idx="1" type="body"/>
          </p:nvPr>
        </p:nvSpPr>
        <p:spPr>
          <a:xfrm>
            <a:off x="324000" y="683100"/>
            <a:ext cx="8237700" cy="70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What areas of maths do you think an interior designer might use?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874" name="Google Shape;874;p79"/>
          <p:cNvSpPr txBox="1"/>
          <p:nvPr>
            <p:ph idx="1" type="body"/>
          </p:nvPr>
        </p:nvSpPr>
        <p:spPr>
          <a:xfrm>
            <a:off x="324000" y="1385825"/>
            <a:ext cx="38841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Font typeface="Kalam"/>
              <a:buChar char="●"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Area</a:t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Font typeface="Kalam"/>
              <a:buChar char="●"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Multiplication and division</a:t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Font typeface="Kalam"/>
              <a:buChar char="●"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Conversions</a:t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Font typeface="Kalam"/>
              <a:buChar char="●"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Proportion</a:t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Font typeface="Kalam"/>
              <a:buChar char="●"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Money</a:t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Font typeface="Kalam"/>
              <a:buChar char="●"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Measurements</a:t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Font typeface="Kalam"/>
              <a:buChar char="●"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Geometry</a:t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Font typeface="Kalam"/>
              <a:buChar char="●"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Scale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875" name="Google Shape;875;p79"/>
          <p:cNvSpPr txBox="1"/>
          <p:nvPr/>
        </p:nvSpPr>
        <p:spPr>
          <a:xfrm>
            <a:off x="324000" y="4297200"/>
            <a:ext cx="80049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During this lesson we will look at 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some</a:t>
            </a: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of these.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76" name="Google Shape;876;p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853569">
            <a:off x="5893175" y="1754358"/>
            <a:ext cx="2720429" cy="3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4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0" name="Shape 8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1" name="Google Shape;881;p80"/>
          <p:cNvSpPr txBox="1"/>
          <p:nvPr>
            <p:ph idx="1" type="body"/>
          </p:nvPr>
        </p:nvSpPr>
        <p:spPr>
          <a:xfrm>
            <a:off x="324000" y="759300"/>
            <a:ext cx="8237700" cy="124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One of the most </a:t>
            </a:r>
            <a:r>
              <a:rPr lang="en-GB"/>
              <a:t>important</a:t>
            </a:r>
            <a:r>
              <a:rPr lang="en-GB"/>
              <a:t> elements of interior design is accurate measurements.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Why do you think that is true?</a:t>
            </a:r>
            <a:endParaRPr/>
          </a:p>
        </p:txBody>
      </p:sp>
      <p:sp>
        <p:nvSpPr>
          <p:cNvPr id="882" name="Google Shape;882;p8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Measurements in interior design</a:t>
            </a:r>
            <a:endParaRPr/>
          </a:p>
        </p:txBody>
      </p:sp>
      <p:sp>
        <p:nvSpPr>
          <p:cNvPr id="883" name="Google Shape;883;p80"/>
          <p:cNvSpPr txBox="1"/>
          <p:nvPr>
            <p:ph idx="1" type="body"/>
          </p:nvPr>
        </p:nvSpPr>
        <p:spPr>
          <a:xfrm>
            <a:off x="324000" y="2207100"/>
            <a:ext cx="8237700" cy="124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If measurements are not accurate, then items of furniture may not fit in the space you intended them to go.</a:t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You may not buy enough floor or wall coverings.</a:t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The visual appearance of a room may not have the desired effect.</a:t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7" name="Shape 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Google Shape;888;p81"/>
          <p:cNvSpPr txBox="1"/>
          <p:nvPr>
            <p:ph idx="1" type="body"/>
          </p:nvPr>
        </p:nvSpPr>
        <p:spPr>
          <a:xfrm>
            <a:off x="324000" y="759300"/>
            <a:ext cx="8237700" cy="166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Conversion between different units of measure is also important.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Being able to convert between metric and imperial units of length or area is helpful but also converting using a scale.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Interior designers will </a:t>
            </a:r>
            <a:r>
              <a:rPr lang="en-GB"/>
              <a:t>often</a:t>
            </a:r>
            <a:r>
              <a:rPr lang="en-GB"/>
              <a:t> use scale drawings to consider positioning of items of furniture.</a:t>
            </a:r>
            <a:endParaRPr/>
          </a:p>
        </p:txBody>
      </p:sp>
      <p:sp>
        <p:nvSpPr>
          <p:cNvPr id="889" name="Google Shape;889;p8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Measurements in interior design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3" name="Shape 8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4" name="Google Shape;894;p82"/>
          <p:cNvSpPr txBox="1"/>
          <p:nvPr>
            <p:ph idx="1" type="body"/>
          </p:nvPr>
        </p:nvSpPr>
        <p:spPr>
          <a:xfrm>
            <a:off x="324000" y="759300"/>
            <a:ext cx="8237700" cy="90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Below are sketches of the walls in a room.</a:t>
            </a:r>
            <a:endParaRPr/>
          </a:p>
          <a:p>
            <a:pPr indent="0" lvl="0" marL="0" rtl="0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A 2.5 litre tin of paint covers 25 m</a:t>
            </a:r>
            <a:r>
              <a:rPr baseline="30000" lang="en-GB"/>
              <a:t>2</a:t>
            </a:r>
            <a:r>
              <a:rPr lang="en-GB"/>
              <a:t>.</a:t>
            </a:r>
            <a:endParaRPr/>
          </a:p>
          <a:p>
            <a:pPr indent="0" lvl="0" marL="0" rtl="0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The walls will need 2 coats of paint.</a:t>
            </a:r>
            <a:endParaRPr/>
          </a:p>
          <a:p>
            <a:pPr indent="0" lvl="0" marL="0" rtl="0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The dimensions of the door are 1.98 m by 76 cm.</a:t>
            </a:r>
            <a:endParaRPr/>
          </a:p>
          <a:p>
            <a:pPr indent="0" lvl="0" marL="0" rtl="0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The dimensions of the window are 1.5 m by 1.2 m.</a:t>
            </a:r>
            <a:endParaRPr/>
          </a:p>
          <a:p>
            <a:pPr indent="0" lvl="0" marL="0" rtl="0" algn="l">
              <a:lnSpc>
                <a:spcPct val="8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How many tins of paint are needed to paint the room?</a:t>
            </a:r>
            <a:endParaRPr/>
          </a:p>
        </p:txBody>
      </p:sp>
      <p:sp>
        <p:nvSpPr>
          <p:cNvPr id="895" name="Google Shape;895;p8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Measurements in interior design</a:t>
            </a:r>
            <a:endParaRPr/>
          </a:p>
        </p:txBody>
      </p:sp>
      <p:sp>
        <p:nvSpPr>
          <p:cNvPr id="896" name="Google Shape;896;p82"/>
          <p:cNvSpPr/>
          <p:nvPr/>
        </p:nvSpPr>
        <p:spPr>
          <a:xfrm>
            <a:off x="1101152" y="3349550"/>
            <a:ext cx="1634400" cy="8292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7" name="Google Shape;897;p82"/>
          <p:cNvSpPr/>
          <p:nvPr/>
        </p:nvSpPr>
        <p:spPr>
          <a:xfrm>
            <a:off x="3006152" y="3354039"/>
            <a:ext cx="1634400" cy="8292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8" name="Google Shape;898;p82"/>
          <p:cNvSpPr/>
          <p:nvPr/>
        </p:nvSpPr>
        <p:spPr>
          <a:xfrm>
            <a:off x="4957200" y="3349550"/>
            <a:ext cx="1410600" cy="8292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9" name="Google Shape;899;p82"/>
          <p:cNvSpPr/>
          <p:nvPr/>
        </p:nvSpPr>
        <p:spPr>
          <a:xfrm>
            <a:off x="1224750" y="3492716"/>
            <a:ext cx="300000" cy="6804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0" name="Google Shape;900;p82"/>
          <p:cNvSpPr/>
          <p:nvPr/>
        </p:nvSpPr>
        <p:spPr>
          <a:xfrm>
            <a:off x="3923541" y="3504650"/>
            <a:ext cx="610800" cy="3786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1" name="Google Shape;901;p82"/>
          <p:cNvSpPr txBox="1"/>
          <p:nvPr/>
        </p:nvSpPr>
        <p:spPr>
          <a:xfrm rot="-5400000">
            <a:off x="1097934" y="3676850"/>
            <a:ext cx="542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door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2" name="Google Shape;902;p82"/>
          <p:cNvSpPr txBox="1"/>
          <p:nvPr/>
        </p:nvSpPr>
        <p:spPr>
          <a:xfrm>
            <a:off x="3002925" y="3555350"/>
            <a:ext cx="859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window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903" name="Google Shape;903;p82"/>
          <p:cNvCxnSpPr/>
          <p:nvPr/>
        </p:nvCxnSpPr>
        <p:spPr>
          <a:xfrm>
            <a:off x="959067" y="3335709"/>
            <a:ext cx="0" cy="834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904" name="Google Shape;904;p82"/>
          <p:cNvSpPr txBox="1"/>
          <p:nvPr/>
        </p:nvSpPr>
        <p:spPr>
          <a:xfrm>
            <a:off x="247773" y="3486242"/>
            <a:ext cx="813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2.4 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5" name="Google Shape;905;p82"/>
          <p:cNvSpPr/>
          <p:nvPr/>
        </p:nvSpPr>
        <p:spPr>
          <a:xfrm>
            <a:off x="6798619" y="3349550"/>
            <a:ext cx="1410600" cy="8292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906" name="Google Shape;906;p82"/>
          <p:cNvCxnSpPr/>
          <p:nvPr/>
        </p:nvCxnSpPr>
        <p:spPr>
          <a:xfrm rot="10800000">
            <a:off x="1086125" y="4347700"/>
            <a:ext cx="16572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907" name="Google Shape;907;p82"/>
          <p:cNvSpPr txBox="1"/>
          <p:nvPr/>
        </p:nvSpPr>
        <p:spPr>
          <a:xfrm>
            <a:off x="1507572" y="4268104"/>
            <a:ext cx="939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3.78 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908" name="Google Shape;908;p82"/>
          <p:cNvCxnSpPr/>
          <p:nvPr/>
        </p:nvCxnSpPr>
        <p:spPr>
          <a:xfrm rot="10800000">
            <a:off x="2991125" y="4347700"/>
            <a:ext cx="16572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909" name="Google Shape;909;p82"/>
          <p:cNvSpPr txBox="1"/>
          <p:nvPr/>
        </p:nvSpPr>
        <p:spPr>
          <a:xfrm>
            <a:off x="3412572" y="4268104"/>
            <a:ext cx="939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3.78 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910" name="Google Shape;910;p82"/>
          <p:cNvCxnSpPr/>
          <p:nvPr/>
        </p:nvCxnSpPr>
        <p:spPr>
          <a:xfrm rot="10800000">
            <a:off x="4936350" y="4347700"/>
            <a:ext cx="1439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911" name="Google Shape;911;p82"/>
          <p:cNvSpPr txBox="1"/>
          <p:nvPr/>
        </p:nvSpPr>
        <p:spPr>
          <a:xfrm>
            <a:off x="5222835" y="4268104"/>
            <a:ext cx="939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2.72 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912" name="Google Shape;912;p82"/>
          <p:cNvCxnSpPr/>
          <p:nvPr/>
        </p:nvCxnSpPr>
        <p:spPr>
          <a:xfrm rot="10800000">
            <a:off x="6795220" y="4347700"/>
            <a:ext cx="1439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913" name="Google Shape;913;p82"/>
          <p:cNvSpPr txBox="1"/>
          <p:nvPr/>
        </p:nvSpPr>
        <p:spPr>
          <a:xfrm>
            <a:off x="7081705" y="4268104"/>
            <a:ext cx="939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2.72 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7" name="Shape 9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8" name="Google Shape;918;p8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Measurements in interior design</a:t>
            </a:r>
            <a:endParaRPr/>
          </a:p>
        </p:txBody>
      </p:sp>
      <p:sp>
        <p:nvSpPr>
          <p:cNvPr id="919" name="Google Shape;919;p83"/>
          <p:cNvSpPr txBox="1"/>
          <p:nvPr>
            <p:ph idx="1" type="body"/>
          </p:nvPr>
        </p:nvSpPr>
        <p:spPr>
          <a:xfrm>
            <a:off x="1473975" y="2774100"/>
            <a:ext cx="7346100" cy="204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Area of the wall = 2.72 × 2.4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                            = 6.528 m</a:t>
            </a:r>
            <a:r>
              <a:rPr baseline="30000" lang="en-GB"/>
              <a:t>2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Total area of the 2 walls   = 2 × 6.528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                                            = 13.056 m</a:t>
            </a:r>
            <a:r>
              <a:rPr baseline="30000" lang="en-GB"/>
              <a:t>2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cxnSp>
        <p:nvCxnSpPr>
          <p:cNvPr id="920" name="Google Shape;920;p83"/>
          <p:cNvCxnSpPr/>
          <p:nvPr/>
        </p:nvCxnSpPr>
        <p:spPr>
          <a:xfrm>
            <a:off x="959067" y="1202109"/>
            <a:ext cx="0" cy="834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921" name="Google Shape;921;p83"/>
          <p:cNvSpPr txBox="1"/>
          <p:nvPr/>
        </p:nvSpPr>
        <p:spPr>
          <a:xfrm>
            <a:off x="247773" y="1352642"/>
            <a:ext cx="813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2.4 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922" name="Google Shape;922;p83"/>
          <p:cNvCxnSpPr/>
          <p:nvPr/>
        </p:nvCxnSpPr>
        <p:spPr>
          <a:xfrm rot="10800000">
            <a:off x="1162425" y="2214100"/>
            <a:ext cx="14079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923" name="Google Shape;923;p83"/>
          <p:cNvSpPr txBox="1"/>
          <p:nvPr/>
        </p:nvSpPr>
        <p:spPr>
          <a:xfrm>
            <a:off x="1431372" y="2134504"/>
            <a:ext cx="939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2.72 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4" name="Google Shape;924;p83"/>
          <p:cNvSpPr/>
          <p:nvPr/>
        </p:nvSpPr>
        <p:spPr>
          <a:xfrm>
            <a:off x="1162325" y="1205400"/>
            <a:ext cx="1410600" cy="8292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925" name="Google Shape;925;p83"/>
          <p:cNvCxnSpPr/>
          <p:nvPr/>
        </p:nvCxnSpPr>
        <p:spPr>
          <a:xfrm>
            <a:off x="3702267" y="1202109"/>
            <a:ext cx="0" cy="834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926" name="Google Shape;926;p83"/>
          <p:cNvSpPr txBox="1"/>
          <p:nvPr/>
        </p:nvSpPr>
        <p:spPr>
          <a:xfrm>
            <a:off x="2990973" y="1352642"/>
            <a:ext cx="813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2.4 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927" name="Google Shape;927;p83"/>
          <p:cNvCxnSpPr/>
          <p:nvPr/>
        </p:nvCxnSpPr>
        <p:spPr>
          <a:xfrm rot="10800000">
            <a:off x="3905625" y="2214100"/>
            <a:ext cx="14079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928" name="Google Shape;928;p83"/>
          <p:cNvSpPr txBox="1"/>
          <p:nvPr/>
        </p:nvSpPr>
        <p:spPr>
          <a:xfrm>
            <a:off x="4174572" y="2134504"/>
            <a:ext cx="939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2.72 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9" name="Google Shape;929;p83"/>
          <p:cNvSpPr/>
          <p:nvPr/>
        </p:nvSpPr>
        <p:spPr>
          <a:xfrm>
            <a:off x="3905525" y="1205400"/>
            <a:ext cx="1410600" cy="8292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3" name="Shape 9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4" name="Google Shape;934;p84"/>
          <p:cNvSpPr txBox="1"/>
          <p:nvPr>
            <p:ph idx="1" type="body"/>
          </p:nvPr>
        </p:nvSpPr>
        <p:spPr>
          <a:xfrm>
            <a:off x="324000" y="759300"/>
            <a:ext cx="8237700" cy="37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The dimensions of the door are 1.98 m by 76 cm.</a:t>
            </a:r>
            <a:endParaRPr/>
          </a:p>
        </p:txBody>
      </p:sp>
      <p:sp>
        <p:nvSpPr>
          <p:cNvPr id="935" name="Google Shape;935;p8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Measurements in interior design</a:t>
            </a:r>
            <a:endParaRPr/>
          </a:p>
        </p:txBody>
      </p:sp>
      <p:sp>
        <p:nvSpPr>
          <p:cNvPr id="936" name="Google Shape;936;p84"/>
          <p:cNvSpPr/>
          <p:nvPr/>
        </p:nvSpPr>
        <p:spPr>
          <a:xfrm>
            <a:off x="1101152" y="1215950"/>
            <a:ext cx="1634400" cy="8292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7" name="Google Shape;937;p84"/>
          <p:cNvSpPr/>
          <p:nvPr/>
        </p:nvSpPr>
        <p:spPr>
          <a:xfrm>
            <a:off x="1224750" y="1359116"/>
            <a:ext cx="300000" cy="6804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8" name="Google Shape;938;p84"/>
          <p:cNvSpPr txBox="1"/>
          <p:nvPr/>
        </p:nvSpPr>
        <p:spPr>
          <a:xfrm rot="-5400000">
            <a:off x="1097934" y="1543250"/>
            <a:ext cx="542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door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939" name="Google Shape;939;p84"/>
          <p:cNvCxnSpPr/>
          <p:nvPr/>
        </p:nvCxnSpPr>
        <p:spPr>
          <a:xfrm>
            <a:off x="959067" y="1202109"/>
            <a:ext cx="0" cy="834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940" name="Google Shape;940;p84"/>
          <p:cNvSpPr txBox="1"/>
          <p:nvPr/>
        </p:nvSpPr>
        <p:spPr>
          <a:xfrm>
            <a:off x="247773" y="1352642"/>
            <a:ext cx="813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2.4 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941" name="Google Shape;941;p84"/>
          <p:cNvCxnSpPr/>
          <p:nvPr/>
        </p:nvCxnSpPr>
        <p:spPr>
          <a:xfrm rot="10800000">
            <a:off x="1086125" y="2214100"/>
            <a:ext cx="16572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942" name="Google Shape;942;p84"/>
          <p:cNvSpPr txBox="1"/>
          <p:nvPr/>
        </p:nvSpPr>
        <p:spPr>
          <a:xfrm>
            <a:off x="1507572" y="2134504"/>
            <a:ext cx="939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3.78 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3" name="Google Shape;943;p84"/>
          <p:cNvSpPr txBox="1"/>
          <p:nvPr>
            <p:ph idx="1" type="body"/>
          </p:nvPr>
        </p:nvSpPr>
        <p:spPr>
          <a:xfrm>
            <a:off x="324000" y="2588100"/>
            <a:ext cx="8237700" cy="223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Area of the wall (including the door) = 3.78 × 2.4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                                                               = 9.072 m</a:t>
            </a:r>
            <a:r>
              <a:rPr baseline="30000" lang="en-GB"/>
              <a:t>2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Area of the door  = 1.98 × 0.76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                               = 1.5048 m</a:t>
            </a:r>
            <a:r>
              <a:rPr baseline="30000" lang="en-GB"/>
              <a:t>2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Area needing to be painted = 9.072 − 1.5048 = 7.5672 m</a:t>
            </a:r>
            <a:r>
              <a:rPr baseline="30000" lang="en-GB"/>
              <a:t>2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7" name="Shape 9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8" name="Google Shape;948;p85"/>
          <p:cNvSpPr txBox="1"/>
          <p:nvPr>
            <p:ph idx="1" type="body"/>
          </p:nvPr>
        </p:nvSpPr>
        <p:spPr>
          <a:xfrm>
            <a:off x="324000" y="759300"/>
            <a:ext cx="8237700" cy="37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The dimensions of the window are 1.5 m by 1.2 m.</a:t>
            </a:r>
            <a:endParaRPr/>
          </a:p>
        </p:txBody>
      </p:sp>
      <p:sp>
        <p:nvSpPr>
          <p:cNvPr id="949" name="Google Shape;949;p8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Measurements in interior design</a:t>
            </a:r>
            <a:endParaRPr/>
          </a:p>
        </p:txBody>
      </p:sp>
      <p:sp>
        <p:nvSpPr>
          <p:cNvPr id="950" name="Google Shape;950;p85"/>
          <p:cNvSpPr txBox="1"/>
          <p:nvPr>
            <p:ph idx="1" type="body"/>
          </p:nvPr>
        </p:nvSpPr>
        <p:spPr>
          <a:xfrm>
            <a:off x="324000" y="2588100"/>
            <a:ext cx="8237700" cy="223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Area of the wall (including the window)  = 3.78 × 2.4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                                                                      = 9.072 m</a:t>
            </a:r>
            <a:r>
              <a:rPr baseline="30000" lang="en-GB"/>
              <a:t>2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Area of the window = 1.5 × 1.2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                                   = 1.8 m</a:t>
            </a:r>
            <a:r>
              <a:rPr baseline="30000" lang="en-GB"/>
              <a:t>2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Area needing to be painted = 9.072 − 1.8 = 7.272 m</a:t>
            </a:r>
            <a:r>
              <a:rPr baseline="30000" lang="en-GB"/>
              <a:t>2</a:t>
            </a:r>
            <a:endParaRPr/>
          </a:p>
        </p:txBody>
      </p:sp>
      <p:cxnSp>
        <p:nvCxnSpPr>
          <p:cNvPr id="951" name="Google Shape;951;p85"/>
          <p:cNvCxnSpPr/>
          <p:nvPr/>
        </p:nvCxnSpPr>
        <p:spPr>
          <a:xfrm>
            <a:off x="959067" y="1187025"/>
            <a:ext cx="0" cy="834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952" name="Google Shape;952;p85"/>
          <p:cNvSpPr txBox="1"/>
          <p:nvPr/>
        </p:nvSpPr>
        <p:spPr>
          <a:xfrm>
            <a:off x="247773" y="1352642"/>
            <a:ext cx="813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2.4 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953" name="Google Shape;953;p85"/>
          <p:cNvCxnSpPr/>
          <p:nvPr/>
        </p:nvCxnSpPr>
        <p:spPr>
          <a:xfrm rot="10800000">
            <a:off x="1162325" y="2214100"/>
            <a:ext cx="16572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954" name="Google Shape;954;p85"/>
          <p:cNvSpPr txBox="1"/>
          <p:nvPr/>
        </p:nvSpPr>
        <p:spPr>
          <a:xfrm>
            <a:off x="1583772" y="2134504"/>
            <a:ext cx="939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3.78 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5" name="Google Shape;955;p85"/>
          <p:cNvSpPr/>
          <p:nvPr/>
        </p:nvSpPr>
        <p:spPr>
          <a:xfrm>
            <a:off x="1165552" y="1186189"/>
            <a:ext cx="1634400" cy="8292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6" name="Google Shape;956;p85"/>
          <p:cNvSpPr/>
          <p:nvPr/>
        </p:nvSpPr>
        <p:spPr>
          <a:xfrm>
            <a:off x="2082941" y="1336800"/>
            <a:ext cx="610800" cy="3786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7" name="Google Shape;957;p85"/>
          <p:cNvSpPr txBox="1"/>
          <p:nvPr/>
        </p:nvSpPr>
        <p:spPr>
          <a:xfrm>
            <a:off x="1162325" y="1387500"/>
            <a:ext cx="859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window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1" name="Shape 9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" name="Google Shape;962;p86"/>
          <p:cNvSpPr txBox="1"/>
          <p:nvPr>
            <p:ph idx="1" type="body"/>
          </p:nvPr>
        </p:nvSpPr>
        <p:spPr>
          <a:xfrm>
            <a:off x="324000" y="683100"/>
            <a:ext cx="8237700" cy="90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Below are sketches of the walls in a room.</a:t>
            </a:r>
            <a:endParaRPr/>
          </a:p>
          <a:p>
            <a:pPr indent="0" lvl="0" marL="0" rtl="0" algn="l">
              <a:lnSpc>
                <a:spcPct val="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A 2.5 litre tin of paint covers 25 m</a:t>
            </a:r>
            <a:r>
              <a:rPr baseline="30000" lang="en-GB"/>
              <a:t>2</a:t>
            </a:r>
            <a:r>
              <a:rPr lang="en-GB"/>
              <a:t>.</a:t>
            </a:r>
            <a:endParaRPr/>
          </a:p>
          <a:p>
            <a:pPr indent="0" lvl="0" marL="0" rtl="0" algn="l">
              <a:lnSpc>
                <a:spcPct val="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The walls will need 2 coats of paint.</a:t>
            </a:r>
            <a:endParaRPr/>
          </a:p>
          <a:p>
            <a:pPr indent="0" lvl="0" marL="0" rtl="0" algn="l">
              <a:lnSpc>
                <a:spcPct val="5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How many tins of paint are needed to paint the room?</a:t>
            </a:r>
            <a:endParaRPr/>
          </a:p>
        </p:txBody>
      </p:sp>
      <p:sp>
        <p:nvSpPr>
          <p:cNvPr id="963" name="Google Shape;963;p8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Measurements in interior design</a:t>
            </a:r>
            <a:endParaRPr/>
          </a:p>
        </p:txBody>
      </p:sp>
      <p:sp>
        <p:nvSpPr>
          <p:cNvPr id="964" name="Google Shape;964;p86"/>
          <p:cNvSpPr/>
          <p:nvPr/>
        </p:nvSpPr>
        <p:spPr>
          <a:xfrm>
            <a:off x="1101152" y="1825550"/>
            <a:ext cx="1634400" cy="8292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5" name="Google Shape;965;p86"/>
          <p:cNvSpPr/>
          <p:nvPr/>
        </p:nvSpPr>
        <p:spPr>
          <a:xfrm>
            <a:off x="3006152" y="1830039"/>
            <a:ext cx="1634400" cy="8292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6" name="Google Shape;966;p86"/>
          <p:cNvSpPr/>
          <p:nvPr/>
        </p:nvSpPr>
        <p:spPr>
          <a:xfrm>
            <a:off x="4957200" y="1825550"/>
            <a:ext cx="1410600" cy="8292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7" name="Google Shape;967;p86"/>
          <p:cNvSpPr/>
          <p:nvPr/>
        </p:nvSpPr>
        <p:spPr>
          <a:xfrm>
            <a:off x="1224750" y="1968716"/>
            <a:ext cx="300000" cy="6804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8" name="Google Shape;968;p86"/>
          <p:cNvSpPr/>
          <p:nvPr/>
        </p:nvSpPr>
        <p:spPr>
          <a:xfrm>
            <a:off x="3549450" y="1980639"/>
            <a:ext cx="922500" cy="3786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9" name="Google Shape;969;p86"/>
          <p:cNvSpPr txBox="1"/>
          <p:nvPr/>
        </p:nvSpPr>
        <p:spPr>
          <a:xfrm rot="-5400000">
            <a:off x="1097934" y="2152850"/>
            <a:ext cx="542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door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0" name="Google Shape;970;p86"/>
          <p:cNvSpPr txBox="1"/>
          <p:nvPr/>
        </p:nvSpPr>
        <p:spPr>
          <a:xfrm>
            <a:off x="3549450" y="2031339"/>
            <a:ext cx="922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window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971" name="Google Shape;971;p86"/>
          <p:cNvCxnSpPr/>
          <p:nvPr/>
        </p:nvCxnSpPr>
        <p:spPr>
          <a:xfrm>
            <a:off x="959067" y="1811709"/>
            <a:ext cx="0" cy="834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972" name="Google Shape;972;p86"/>
          <p:cNvSpPr txBox="1"/>
          <p:nvPr/>
        </p:nvSpPr>
        <p:spPr>
          <a:xfrm>
            <a:off x="247773" y="1962242"/>
            <a:ext cx="813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2.4 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3" name="Google Shape;973;p86"/>
          <p:cNvSpPr/>
          <p:nvPr/>
        </p:nvSpPr>
        <p:spPr>
          <a:xfrm>
            <a:off x="6798619" y="1825550"/>
            <a:ext cx="1410600" cy="8292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974" name="Google Shape;974;p86"/>
          <p:cNvCxnSpPr/>
          <p:nvPr/>
        </p:nvCxnSpPr>
        <p:spPr>
          <a:xfrm rot="10800000">
            <a:off x="1086125" y="2823700"/>
            <a:ext cx="16572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975" name="Google Shape;975;p86"/>
          <p:cNvSpPr txBox="1"/>
          <p:nvPr/>
        </p:nvSpPr>
        <p:spPr>
          <a:xfrm>
            <a:off x="1507572" y="2744104"/>
            <a:ext cx="939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3.78 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976" name="Google Shape;976;p86"/>
          <p:cNvCxnSpPr/>
          <p:nvPr/>
        </p:nvCxnSpPr>
        <p:spPr>
          <a:xfrm rot="10800000">
            <a:off x="2991125" y="2823700"/>
            <a:ext cx="16572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977" name="Google Shape;977;p86"/>
          <p:cNvSpPr txBox="1"/>
          <p:nvPr/>
        </p:nvSpPr>
        <p:spPr>
          <a:xfrm>
            <a:off x="3412572" y="2744104"/>
            <a:ext cx="939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3.78 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978" name="Google Shape;978;p86"/>
          <p:cNvCxnSpPr/>
          <p:nvPr/>
        </p:nvCxnSpPr>
        <p:spPr>
          <a:xfrm rot="10800000">
            <a:off x="4936350" y="2823700"/>
            <a:ext cx="1439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979" name="Google Shape;979;p86"/>
          <p:cNvSpPr txBox="1"/>
          <p:nvPr/>
        </p:nvSpPr>
        <p:spPr>
          <a:xfrm>
            <a:off x="5222835" y="2744104"/>
            <a:ext cx="939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2.72 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980" name="Google Shape;980;p86"/>
          <p:cNvCxnSpPr/>
          <p:nvPr/>
        </p:nvCxnSpPr>
        <p:spPr>
          <a:xfrm rot="10800000">
            <a:off x="6795220" y="2823700"/>
            <a:ext cx="1439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981" name="Google Shape;981;p86"/>
          <p:cNvSpPr txBox="1"/>
          <p:nvPr/>
        </p:nvSpPr>
        <p:spPr>
          <a:xfrm>
            <a:off x="7081705" y="2744104"/>
            <a:ext cx="939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2.72 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2" name="Google Shape;982;p86"/>
          <p:cNvSpPr txBox="1"/>
          <p:nvPr>
            <p:ph idx="1" type="body"/>
          </p:nvPr>
        </p:nvSpPr>
        <p:spPr>
          <a:xfrm>
            <a:off x="324000" y="3197700"/>
            <a:ext cx="8237700" cy="34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/>
              <a:t>Total area requiring painting  = 2(7.5672 + 7.272 + 13.056)</a:t>
            </a:r>
            <a:endParaRPr sz="2100"/>
          </a:p>
          <a:p>
            <a:pPr indent="0" lvl="0" marL="0" rtl="0" algn="l">
              <a:lnSpc>
                <a:spcPct val="8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100"/>
              <a:t> </a:t>
            </a:r>
            <a:endParaRPr sz="2100"/>
          </a:p>
        </p:txBody>
      </p:sp>
      <p:sp>
        <p:nvSpPr>
          <p:cNvPr id="983" name="Google Shape;983;p86"/>
          <p:cNvSpPr txBox="1"/>
          <p:nvPr>
            <p:ph idx="1" type="body"/>
          </p:nvPr>
        </p:nvSpPr>
        <p:spPr>
          <a:xfrm>
            <a:off x="324000" y="3654900"/>
            <a:ext cx="8237700" cy="34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/>
              <a:t>Total area requiring painting  = 55.7904 m</a:t>
            </a:r>
            <a:r>
              <a:rPr baseline="30000" lang="en-GB" sz="2100"/>
              <a:t>2</a:t>
            </a:r>
            <a:endParaRPr sz="2100"/>
          </a:p>
          <a:p>
            <a:pPr indent="0" lvl="0" marL="0" rtl="0" algn="l">
              <a:lnSpc>
                <a:spcPct val="6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100"/>
              <a:t>Number of tins required          = 55.7904 ÷ 25</a:t>
            </a:r>
            <a:endParaRPr sz="2100"/>
          </a:p>
          <a:p>
            <a:pPr indent="0" lvl="0" marL="0" rtl="0" algn="l">
              <a:lnSpc>
                <a:spcPct val="6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100"/>
              <a:t>                                                   = 2.231…</a:t>
            </a:r>
            <a:endParaRPr sz="2100"/>
          </a:p>
          <a:p>
            <a:pPr indent="0" lvl="0" marL="0" rtl="0" algn="l">
              <a:lnSpc>
                <a:spcPct val="6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100"/>
              <a:t>Three tins are needed to paint the room. </a:t>
            </a:r>
            <a:endParaRPr sz="21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7" name="Shape 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8" name="Google Shape;988;p8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Measurements in interior design</a:t>
            </a:r>
            <a:endParaRPr/>
          </a:p>
        </p:txBody>
      </p:sp>
      <p:sp>
        <p:nvSpPr>
          <p:cNvPr id="989" name="Google Shape;989;p87"/>
          <p:cNvSpPr txBox="1"/>
          <p:nvPr>
            <p:ph idx="1" type="body"/>
          </p:nvPr>
        </p:nvSpPr>
        <p:spPr>
          <a:xfrm>
            <a:off x="324000" y="618433"/>
            <a:ext cx="8496000" cy="1677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An interior designer wants to paint the ceilings in a house.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The coverage is 12 m</a:t>
            </a:r>
            <a:r>
              <a:rPr baseline="30000" lang="en-GB" sz="2000"/>
              <a:t>2</a:t>
            </a:r>
            <a:r>
              <a:rPr lang="en-GB" sz="2000"/>
              <a:t> per litre and tubs are 10 litres.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Each ceiling will need 2 coats of paint.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The total area of ceilings to be painted is 88 m</a:t>
            </a:r>
            <a:r>
              <a:rPr baseline="30000" lang="en-GB" sz="2000"/>
              <a:t>2</a:t>
            </a:r>
            <a:r>
              <a:rPr lang="en-GB" sz="2000"/>
              <a:t>.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How many tubs of paint need to be purchased?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990" name="Google Shape;990;p87"/>
          <p:cNvSpPr txBox="1"/>
          <p:nvPr/>
        </p:nvSpPr>
        <p:spPr>
          <a:xfrm>
            <a:off x="431050" y="2814275"/>
            <a:ext cx="8388900" cy="208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Coverage of each tub = 10 × 12 = 120 m</a:t>
            </a:r>
            <a:r>
              <a:rPr baseline="30000"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Area needing painting = 2 × 88 = 176 m</a:t>
            </a:r>
            <a:r>
              <a:rPr baseline="30000"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Number of tubs needed   = 176 ÷ 120 = 1.466…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                           = 2 tubs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4" name="Shape 9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5" name="Google Shape;995;p8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Measurements in interior design</a:t>
            </a:r>
            <a:endParaRPr/>
          </a:p>
        </p:txBody>
      </p:sp>
      <p:sp>
        <p:nvSpPr>
          <p:cNvPr id="996" name="Google Shape;996;p88"/>
          <p:cNvSpPr txBox="1"/>
          <p:nvPr/>
        </p:nvSpPr>
        <p:spPr>
          <a:xfrm>
            <a:off x="6485625" y="4400000"/>
            <a:ext cx="2671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7" name="Google Shape;997;p88"/>
          <p:cNvSpPr txBox="1"/>
          <p:nvPr>
            <p:ph idx="1" type="body"/>
          </p:nvPr>
        </p:nvSpPr>
        <p:spPr>
          <a:xfrm>
            <a:off x="3369600" y="2740500"/>
            <a:ext cx="5450400" cy="1965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Area of the wall   = 5.48 × 2.4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                              = 13.152 m</a:t>
            </a:r>
            <a:r>
              <a:rPr baseline="30000" lang="en-GB" sz="2000"/>
              <a:t>2</a:t>
            </a:r>
            <a:endParaRPr baseline="30000" sz="20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Area covered by 1 roll of wallpaper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                              = 0.53 × 10.05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/>
              <a:t>                              = 5.3265 m</a:t>
            </a:r>
            <a:r>
              <a:rPr baseline="30000" lang="en-GB" sz="2000"/>
              <a:t>2</a:t>
            </a:r>
            <a:endParaRPr baseline="30000" sz="2000"/>
          </a:p>
        </p:txBody>
      </p:sp>
      <p:sp>
        <p:nvSpPr>
          <p:cNvPr id="998" name="Google Shape;998;p88"/>
          <p:cNvSpPr/>
          <p:nvPr/>
        </p:nvSpPr>
        <p:spPr>
          <a:xfrm>
            <a:off x="1028256" y="2809775"/>
            <a:ext cx="2254800" cy="13782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999" name="Google Shape;999;p88"/>
          <p:cNvCxnSpPr/>
          <p:nvPr/>
        </p:nvCxnSpPr>
        <p:spPr>
          <a:xfrm>
            <a:off x="959067" y="2808075"/>
            <a:ext cx="0" cy="1383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000" name="Google Shape;1000;p88"/>
          <p:cNvCxnSpPr/>
          <p:nvPr/>
        </p:nvCxnSpPr>
        <p:spPr>
          <a:xfrm rot="10800000">
            <a:off x="1033305" y="4248400"/>
            <a:ext cx="22452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001" name="Google Shape;1001;p88"/>
          <p:cNvSpPr txBox="1"/>
          <p:nvPr/>
        </p:nvSpPr>
        <p:spPr>
          <a:xfrm>
            <a:off x="247773" y="3269175"/>
            <a:ext cx="813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2.4 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2" name="Google Shape;1002;p88"/>
          <p:cNvSpPr txBox="1"/>
          <p:nvPr/>
        </p:nvSpPr>
        <p:spPr>
          <a:xfrm>
            <a:off x="1728337" y="4288775"/>
            <a:ext cx="939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5.48 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3" name="Google Shape;1003;p88"/>
          <p:cNvSpPr txBox="1"/>
          <p:nvPr>
            <p:ph idx="1" type="body"/>
          </p:nvPr>
        </p:nvSpPr>
        <p:spPr>
          <a:xfrm>
            <a:off x="324000" y="618433"/>
            <a:ext cx="8496000" cy="1677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An interior designer wants to wallpaper a wall.</a:t>
            </a:r>
            <a:endParaRPr sz="2000"/>
          </a:p>
          <a:p>
            <a:pPr indent="0" lvl="0" marL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Below is a sketch of the wall.</a:t>
            </a:r>
            <a:endParaRPr sz="2000"/>
          </a:p>
          <a:p>
            <a:pPr indent="0" lvl="0" marL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The width of a roll of wallpaper is 53 cm and the length of the roll is 10.05 m.</a:t>
            </a:r>
            <a:endParaRPr sz="2000"/>
          </a:p>
          <a:p>
            <a:pPr indent="0" lvl="0" marL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How many rolls of wallpaper are needed to paper this wall?</a:t>
            </a:r>
            <a:endParaRPr sz="2000"/>
          </a:p>
          <a:p>
            <a:pPr indent="0" lvl="0" marL="0" rtl="0" algn="l">
              <a:lnSpc>
                <a:spcPct val="8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7" name="Shape 10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8" name="Google Shape;1008;p89"/>
          <p:cNvSpPr txBox="1"/>
          <p:nvPr>
            <p:ph idx="1" type="body"/>
          </p:nvPr>
        </p:nvSpPr>
        <p:spPr>
          <a:xfrm>
            <a:off x="324000" y="618433"/>
            <a:ext cx="8496000" cy="1677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An interior designer wants to wallpaper a wall.</a:t>
            </a:r>
            <a:endParaRPr sz="2000"/>
          </a:p>
          <a:p>
            <a:pPr indent="0" lvl="0" marL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Below is a sketch of the wall.</a:t>
            </a:r>
            <a:endParaRPr sz="2000"/>
          </a:p>
          <a:p>
            <a:pPr indent="0" lvl="0" marL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The width of a roll of wallpaper is 53 cm and the length of the roll is 10.05 m.</a:t>
            </a:r>
            <a:endParaRPr sz="2000"/>
          </a:p>
          <a:p>
            <a:pPr indent="0" lvl="0" marL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How many rolls of wallpaper are needed to paper this wall?</a:t>
            </a:r>
            <a:endParaRPr sz="2000"/>
          </a:p>
          <a:p>
            <a:pPr indent="0" lvl="0" marL="0" rtl="0" algn="l">
              <a:lnSpc>
                <a:spcPct val="8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1009" name="Google Shape;1009;p8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Measurements in interior design</a:t>
            </a:r>
            <a:endParaRPr/>
          </a:p>
        </p:txBody>
      </p:sp>
      <p:sp>
        <p:nvSpPr>
          <p:cNvPr id="1010" name="Google Shape;1010;p89"/>
          <p:cNvSpPr txBox="1"/>
          <p:nvPr/>
        </p:nvSpPr>
        <p:spPr>
          <a:xfrm>
            <a:off x="6485625" y="4400000"/>
            <a:ext cx="2671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1" name="Google Shape;1011;p89"/>
          <p:cNvSpPr txBox="1"/>
          <p:nvPr>
            <p:ph idx="1" type="body"/>
          </p:nvPr>
        </p:nvSpPr>
        <p:spPr>
          <a:xfrm>
            <a:off x="3423525" y="2260225"/>
            <a:ext cx="5396400" cy="6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Area of the wall           = 13.152 m</a:t>
            </a:r>
            <a:r>
              <a:rPr baseline="30000" lang="en-GB" sz="2000"/>
              <a:t>2</a:t>
            </a:r>
            <a:endParaRPr baseline="30000" sz="2000"/>
          </a:p>
          <a:p>
            <a:pPr indent="0" lvl="0" marL="0" rtl="0" algn="l">
              <a:lnSpc>
                <a:spcPct val="7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/>
              <a:t>Area covered by 1 roll = 5.3265 m</a:t>
            </a:r>
            <a:r>
              <a:rPr baseline="30000" lang="en-GB" sz="2000"/>
              <a:t>2</a:t>
            </a:r>
            <a:endParaRPr baseline="30000" sz="2000"/>
          </a:p>
        </p:txBody>
      </p:sp>
      <p:sp>
        <p:nvSpPr>
          <p:cNvPr id="1012" name="Google Shape;1012;p89"/>
          <p:cNvSpPr txBox="1"/>
          <p:nvPr>
            <p:ph idx="1" type="body"/>
          </p:nvPr>
        </p:nvSpPr>
        <p:spPr>
          <a:xfrm>
            <a:off x="3423525" y="2928725"/>
            <a:ext cx="5396400" cy="11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Number of rolls needed</a:t>
            </a:r>
            <a:endParaRPr sz="2000"/>
          </a:p>
          <a:p>
            <a:pPr indent="0" lvl="0" marL="0" rtl="0" algn="l">
              <a:lnSpc>
                <a:spcPct val="6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= 13.152 ÷ 5.3265 = 2.469…</a:t>
            </a:r>
            <a:endParaRPr sz="2000"/>
          </a:p>
          <a:p>
            <a:pPr indent="0" lvl="0" marL="0" rtl="0" algn="l">
              <a:lnSpc>
                <a:spcPct val="6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= 3 rolls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Why is this not an appropriate way of calculating the number of rolls of wallpaper needed?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13" name="Google Shape;1013;p89"/>
          <p:cNvSpPr txBox="1"/>
          <p:nvPr>
            <p:ph idx="1" type="body"/>
          </p:nvPr>
        </p:nvSpPr>
        <p:spPr>
          <a:xfrm>
            <a:off x="3407050" y="2932950"/>
            <a:ext cx="5396400" cy="6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Because you would have joins in the lengths.  Each strip needs to be 2.4 m long.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14" name="Google Shape;1014;p89"/>
          <p:cNvSpPr/>
          <p:nvPr/>
        </p:nvSpPr>
        <p:spPr>
          <a:xfrm>
            <a:off x="1028256" y="2809775"/>
            <a:ext cx="2254800" cy="13782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15" name="Google Shape;1015;p89"/>
          <p:cNvCxnSpPr/>
          <p:nvPr/>
        </p:nvCxnSpPr>
        <p:spPr>
          <a:xfrm>
            <a:off x="959067" y="2808075"/>
            <a:ext cx="0" cy="1383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016" name="Google Shape;1016;p89"/>
          <p:cNvCxnSpPr/>
          <p:nvPr/>
        </p:nvCxnSpPr>
        <p:spPr>
          <a:xfrm rot="10800000">
            <a:off x="1033305" y="4248400"/>
            <a:ext cx="22452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017" name="Google Shape;1017;p89"/>
          <p:cNvSpPr txBox="1"/>
          <p:nvPr/>
        </p:nvSpPr>
        <p:spPr>
          <a:xfrm>
            <a:off x="247773" y="3269175"/>
            <a:ext cx="813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2.4 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8" name="Google Shape;1018;p89"/>
          <p:cNvSpPr txBox="1"/>
          <p:nvPr/>
        </p:nvSpPr>
        <p:spPr>
          <a:xfrm>
            <a:off x="1728337" y="4288775"/>
            <a:ext cx="939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5.48 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2" name="Shape 10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3" name="Google Shape;1023;p90"/>
          <p:cNvSpPr/>
          <p:nvPr/>
        </p:nvSpPr>
        <p:spPr>
          <a:xfrm>
            <a:off x="1028256" y="2809775"/>
            <a:ext cx="2254800" cy="13782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24" name="Google Shape;1024;p90"/>
          <p:cNvCxnSpPr/>
          <p:nvPr/>
        </p:nvCxnSpPr>
        <p:spPr>
          <a:xfrm>
            <a:off x="959067" y="2808075"/>
            <a:ext cx="0" cy="1383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025" name="Google Shape;1025;p90"/>
          <p:cNvCxnSpPr/>
          <p:nvPr/>
        </p:nvCxnSpPr>
        <p:spPr>
          <a:xfrm rot="10800000">
            <a:off x="1033305" y="4248400"/>
            <a:ext cx="22452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026" name="Google Shape;1026;p90"/>
          <p:cNvSpPr txBox="1"/>
          <p:nvPr/>
        </p:nvSpPr>
        <p:spPr>
          <a:xfrm>
            <a:off x="247773" y="3269175"/>
            <a:ext cx="813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2.4 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7" name="Google Shape;1027;p90"/>
          <p:cNvSpPr txBox="1"/>
          <p:nvPr/>
        </p:nvSpPr>
        <p:spPr>
          <a:xfrm>
            <a:off x="1728337" y="4288775"/>
            <a:ext cx="939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5.48 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8" name="Google Shape;1028;p9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Measurements in interior design</a:t>
            </a:r>
            <a:endParaRPr/>
          </a:p>
        </p:txBody>
      </p:sp>
      <p:sp>
        <p:nvSpPr>
          <p:cNvPr id="1029" name="Google Shape;1029;p90"/>
          <p:cNvSpPr txBox="1"/>
          <p:nvPr/>
        </p:nvSpPr>
        <p:spPr>
          <a:xfrm>
            <a:off x="6485625" y="4400000"/>
            <a:ext cx="2671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0" name="Google Shape;1030;p90"/>
          <p:cNvSpPr txBox="1"/>
          <p:nvPr>
            <p:ph idx="1" type="body"/>
          </p:nvPr>
        </p:nvSpPr>
        <p:spPr>
          <a:xfrm>
            <a:off x="3369600" y="2740500"/>
            <a:ext cx="5450400" cy="1965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How many widths of wallpaper are needed?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5.48 ÷ 0.53 = 10.33…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/>
              <a:t>11 widths of wallpaper are needed.</a:t>
            </a:r>
            <a:endParaRPr sz="2000"/>
          </a:p>
        </p:txBody>
      </p:sp>
      <p:grpSp>
        <p:nvGrpSpPr>
          <p:cNvPr id="1031" name="Google Shape;1031;p90"/>
          <p:cNvGrpSpPr/>
          <p:nvPr/>
        </p:nvGrpSpPr>
        <p:grpSpPr>
          <a:xfrm>
            <a:off x="1040790" y="3755375"/>
            <a:ext cx="2247998" cy="461700"/>
            <a:chOff x="1130286" y="3755375"/>
            <a:chExt cx="2822700" cy="461700"/>
          </a:xfrm>
        </p:grpSpPr>
        <p:cxnSp>
          <p:nvCxnSpPr>
            <p:cNvPr id="1032" name="Google Shape;1032;p90"/>
            <p:cNvCxnSpPr/>
            <p:nvPr/>
          </p:nvCxnSpPr>
          <p:spPr>
            <a:xfrm rot="10800000">
              <a:off x="1130286" y="4096000"/>
              <a:ext cx="28227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1033" name="Google Shape;1033;p90"/>
            <p:cNvSpPr txBox="1"/>
            <p:nvPr/>
          </p:nvSpPr>
          <p:spPr>
            <a:xfrm>
              <a:off x="1825621" y="3755375"/>
              <a:ext cx="16218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11 widths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034" name="Google Shape;1034;p90"/>
          <p:cNvSpPr txBox="1"/>
          <p:nvPr>
            <p:ph idx="1" type="body"/>
          </p:nvPr>
        </p:nvSpPr>
        <p:spPr>
          <a:xfrm>
            <a:off x="324000" y="618433"/>
            <a:ext cx="8496000" cy="1677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An interior designer wants to wallpaper a wall.</a:t>
            </a:r>
            <a:endParaRPr sz="2000"/>
          </a:p>
          <a:p>
            <a:pPr indent="0" lvl="0" marL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Below is a sketch of the wall.</a:t>
            </a:r>
            <a:endParaRPr sz="2000"/>
          </a:p>
          <a:p>
            <a:pPr indent="0" lvl="0" marL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The width of a roll of wallpaper is 53 cm and the length of the roll is 10.05 m.</a:t>
            </a:r>
            <a:endParaRPr sz="2000"/>
          </a:p>
          <a:p>
            <a:pPr indent="0" lvl="0" marL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How many rolls of wallpaper are needed to paper this wall?</a:t>
            </a:r>
            <a:endParaRPr sz="2000"/>
          </a:p>
          <a:p>
            <a:pPr indent="0" lvl="0" marL="0" rtl="0" algn="l">
              <a:lnSpc>
                <a:spcPct val="8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8" name="Shape 10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9" name="Google Shape;1039;p9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Measurements in interior design</a:t>
            </a:r>
            <a:endParaRPr/>
          </a:p>
        </p:txBody>
      </p:sp>
      <p:sp>
        <p:nvSpPr>
          <p:cNvPr id="1040" name="Google Shape;1040;p91"/>
          <p:cNvSpPr txBox="1"/>
          <p:nvPr/>
        </p:nvSpPr>
        <p:spPr>
          <a:xfrm>
            <a:off x="6485625" y="4400000"/>
            <a:ext cx="2671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1" name="Google Shape;1041;p91"/>
          <p:cNvSpPr txBox="1"/>
          <p:nvPr>
            <p:ph idx="1" type="body"/>
          </p:nvPr>
        </p:nvSpPr>
        <p:spPr>
          <a:xfrm>
            <a:off x="3369600" y="2740500"/>
            <a:ext cx="5450400" cy="1965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How many lengths of wallpaper can you get from each roll?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10.05 ÷ 2.4 = 4.1875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/>
              <a:t>4 lengths of wallpaper from each roll.</a:t>
            </a:r>
            <a:endParaRPr sz="2000"/>
          </a:p>
        </p:txBody>
      </p:sp>
      <p:sp>
        <p:nvSpPr>
          <p:cNvPr id="1042" name="Google Shape;1042;p91"/>
          <p:cNvSpPr txBox="1"/>
          <p:nvPr>
            <p:ph idx="1" type="body"/>
          </p:nvPr>
        </p:nvSpPr>
        <p:spPr>
          <a:xfrm>
            <a:off x="324000" y="618433"/>
            <a:ext cx="8496000" cy="1677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An interior designer wants to wallpaper a wall.</a:t>
            </a:r>
            <a:endParaRPr sz="2000"/>
          </a:p>
          <a:p>
            <a:pPr indent="0" lvl="0" marL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Below is a sketch of the wall.</a:t>
            </a:r>
            <a:endParaRPr sz="2000"/>
          </a:p>
          <a:p>
            <a:pPr indent="0" lvl="0" marL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The width of a roll of wallpaper is 53 cm and the length of the roll is 10.05 m.</a:t>
            </a:r>
            <a:endParaRPr sz="2000"/>
          </a:p>
          <a:p>
            <a:pPr indent="0" lvl="0" marL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How many rolls of wallpaper are needed to paper this wall?</a:t>
            </a:r>
            <a:endParaRPr sz="2000"/>
          </a:p>
          <a:p>
            <a:pPr indent="0" lvl="0" marL="0" rtl="0" algn="l">
              <a:lnSpc>
                <a:spcPct val="8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1043" name="Google Shape;1043;p91"/>
          <p:cNvSpPr/>
          <p:nvPr/>
        </p:nvSpPr>
        <p:spPr>
          <a:xfrm>
            <a:off x="1028256" y="2809775"/>
            <a:ext cx="2254800" cy="13782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44" name="Google Shape;1044;p91"/>
          <p:cNvCxnSpPr/>
          <p:nvPr/>
        </p:nvCxnSpPr>
        <p:spPr>
          <a:xfrm>
            <a:off x="959067" y="2808075"/>
            <a:ext cx="0" cy="1383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045" name="Google Shape;1045;p91"/>
          <p:cNvCxnSpPr/>
          <p:nvPr/>
        </p:nvCxnSpPr>
        <p:spPr>
          <a:xfrm rot="10800000">
            <a:off x="1033305" y="4248400"/>
            <a:ext cx="22452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046" name="Google Shape;1046;p91"/>
          <p:cNvSpPr txBox="1"/>
          <p:nvPr/>
        </p:nvSpPr>
        <p:spPr>
          <a:xfrm>
            <a:off x="247773" y="3269175"/>
            <a:ext cx="813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2.4 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7" name="Google Shape;1047;p91"/>
          <p:cNvSpPr txBox="1"/>
          <p:nvPr/>
        </p:nvSpPr>
        <p:spPr>
          <a:xfrm>
            <a:off x="1728337" y="4288775"/>
            <a:ext cx="939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5.48 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48" name="Google Shape;1048;p91"/>
          <p:cNvGrpSpPr/>
          <p:nvPr/>
        </p:nvGrpSpPr>
        <p:grpSpPr>
          <a:xfrm>
            <a:off x="1040790" y="3755375"/>
            <a:ext cx="2247998" cy="461700"/>
            <a:chOff x="1130286" y="3755375"/>
            <a:chExt cx="2822700" cy="461700"/>
          </a:xfrm>
        </p:grpSpPr>
        <p:cxnSp>
          <p:nvCxnSpPr>
            <p:cNvPr id="1049" name="Google Shape;1049;p91"/>
            <p:cNvCxnSpPr/>
            <p:nvPr/>
          </p:nvCxnSpPr>
          <p:spPr>
            <a:xfrm rot="10800000">
              <a:off x="1130286" y="4096000"/>
              <a:ext cx="28227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1050" name="Google Shape;1050;p91"/>
            <p:cNvSpPr txBox="1"/>
            <p:nvPr/>
          </p:nvSpPr>
          <p:spPr>
            <a:xfrm>
              <a:off x="1825621" y="3755375"/>
              <a:ext cx="16218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11 widths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4" name="Shape 10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5" name="Google Shape;1055;p9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Measurements in interior design</a:t>
            </a:r>
            <a:endParaRPr/>
          </a:p>
        </p:txBody>
      </p:sp>
      <p:sp>
        <p:nvSpPr>
          <p:cNvPr id="1056" name="Google Shape;1056;p92"/>
          <p:cNvSpPr txBox="1"/>
          <p:nvPr/>
        </p:nvSpPr>
        <p:spPr>
          <a:xfrm>
            <a:off x="6485625" y="4400000"/>
            <a:ext cx="2671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7" name="Google Shape;1057;p92"/>
          <p:cNvSpPr txBox="1"/>
          <p:nvPr>
            <p:ph idx="1" type="body"/>
          </p:nvPr>
        </p:nvSpPr>
        <p:spPr>
          <a:xfrm>
            <a:off x="3369600" y="2740500"/>
            <a:ext cx="5450400" cy="1965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How many rolls are needed?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11 ÷ 4 = 2.75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/>
              <a:t>3 rolls of wallpaper are needed.</a:t>
            </a:r>
            <a:br>
              <a:rPr lang="en-GB" sz="2000"/>
            </a:br>
            <a:r>
              <a:rPr lang="en-GB" sz="2000"/>
              <a:t>It is the same number as before, but this time we know we are being efficient and ensuring proper placement.</a:t>
            </a:r>
            <a:endParaRPr sz="2000"/>
          </a:p>
        </p:txBody>
      </p:sp>
      <p:sp>
        <p:nvSpPr>
          <p:cNvPr id="1058" name="Google Shape;1058;p92"/>
          <p:cNvSpPr txBox="1"/>
          <p:nvPr>
            <p:ph idx="1" type="body"/>
          </p:nvPr>
        </p:nvSpPr>
        <p:spPr>
          <a:xfrm>
            <a:off x="324000" y="618433"/>
            <a:ext cx="8496000" cy="1677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An interior designer wants to wallpaper a wall.</a:t>
            </a:r>
            <a:endParaRPr sz="2000"/>
          </a:p>
          <a:p>
            <a:pPr indent="0" lvl="0" marL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Below is a sketch of the wall.</a:t>
            </a:r>
            <a:endParaRPr sz="2000"/>
          </a:p>
          <a:p>
            <a:pPr indent="0" lvl="0" marL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The width of a roll of wallpaper is 53 cm and the length of the roll is 10.05 m.</a:t>
            </a:r>
            <a:endParaRPr sz="2000"/>
          </a:p>
          <a:p>
            <a:pPr indent="0" lvl="0" marL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How many rolls of wallpaper are needed to paper this wall?</a:t>
            </a:r>
            <a:endParaRPr sz="2000"/>
          </a:p>
          <a:p>
            <a:pPr indent="0" lvl="0" marL="0" rtl="0" algn="l">
              <a:lnSpc>
                <a:spcPct val="8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1059" name="Google Shape;1059;p92"/>
          <p:cNvSpPr/>
          <p:nvPr/>
        </p:nvSpPr>
        <p:spPr>
          <a:xfrm>
            <a:off x="1028256" y="2809775"/>
            <a:ext cx="2254800" cy="13782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60" name="Google Shape;1060;p92"/>
          <p:cNvCxnSpPr/>
          <p:nvPr/>
        </p:nvCxnSpPr>
        <p:spPr>
          <a:xfrm>
            <a:off x="959067" y="2808075"/>
            <a:ext cx="0" cy="1383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061" name="Google Shape;1061;p92"/>
          <p:cNvCxnSpPr/>
          <p:nvPr/>
        </p:nvCxnSpPr>
        <p:spPr>
          <a:xfrm rot="10800000">
            <a:off x="1033305" y="4248400"/>
            <a:ext cx="22452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062" name="Google Shape;1062;p92"/>
          <p:cNvSpPr txBox="1"/>
          <p:nvPr/>
        </p:nvSpPr>
        <p:spPr>
          <a:xfrm>
            <a:off x="247773" y="3269175"/>
            <a:ext cx="813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2.4 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3" name="Google Shape;1063;p92"/>
          <p:cNvSpPr txBox="1"/>
          <p:nvPr/>
        </p:nvSpPr>
        <p:spPr>
          <a:xfrm>
            <a:off x="1728337" y="4288775"/>
            <a:ext cx="939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5.48 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64" name="Google Shape;1064;p92"/>
          <p:cNvGrpSpPr/>
          <p:nvPr/>
        </p:nvGrpSpPr>
        <p:grpSpPr>
          <a:xfrm>
            <a:off x="1040790" y="3755375"/>
            <a:ext cx="2247998" cy="461700"/>
            <a:chOff x="1130286" y="3755375"/>
            <a:chExt cx="2822700" cy="461700"/>
          </a:xfrm>
        </p:grpSpPr>
        <p:cxnSp>
          <p:nvCxnSpPr>
            <p:cNvPr id="1065" name="Google Shape;1065;p92"/>
            <p:cNvCxnSpPr/>
            <p:nvPr/>
          </p:nvCxnSpPr>
          <p:spPr>
            <a:xfrm rot="10800000">
              <a:off x="1130286" y="4096000"/>
              <a:ext cx="28227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1066" name="Google Shape;1066;p92"/>
            <p:cNvSpPr txBox="1"/>
            <p:nvPr/>
          </p:nvSpPr>
          <p:spPr>
            <a:xfrm>
              <a:off x="1825621" y="3755375"/>
              <a:ext cx="16218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11 widths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0" name="Shape 10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1" name="Google Shape;1071;p9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Measurements in interior design</a:t>
            </a:r>
            <a:endParaRPr/>
          </a:p>
        </p:txBody>
      </p:sp>
      <p:sp>
        <p:nvSpPr>
          <p:cNvPr id="1072" name="Google Shape;1072;p93"/>
          <p:cNvSpPr txBox="1"/>
          <p:nvPr>
            <p:ph idx="1" type="body"/>
          </p:nvPr>
        </p:nvSpPr>
        <p:spPr>
          <a:xfrm>
            <a:off x="324000" y="618433"/>
            <a:ext cx="8496000" cy="1677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An interior designer wants to wallpaper a wall.</a:t>
            </a:r>
            <a:endParaRPr sz="2000"/>
          </a:p>
          <a:p>
            <a:pPr indent="0" lvl="0" marL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Below is a sketch of the wall.</a:t>
            </a:r>
            <a:endParaRPr sz="2000"/>
          </a:p>
          <a:p>
            <a:pPr indent="0" lvl="0" marL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The width of a roll of wallpaper is 50 cm and the length of the roll is 10 m.</a:t>
            </a:r>
            <a:endParaRPr sz="2000"/>
          </a:p>
          <a:p>
            <a:pPr indent="0" lvl="0" marL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How many rolls of wallpaper are needed to paper this wall?</a:t>
            </a:r>
            <a:endParaRPr sz="2000"/>
          </a:p>
          <a:p>
            <a:pPr indent="0" lvl="0" marL="0" rtl="0" algn="l">
              <a:lnSpc>
                <a:spcPct val="8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1073" name="Google Shape;1073;p93"/>
          <p:cNvSpPr txBox="1"/>
          <p:nvPr/>
        </p:nvSpPr>
        <p:spPr>
          <a:xfrm>
            <a:off x="247775" y="3269175"/>
            <a:ext cx="939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2.74 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4" name="Google Shape;1074;p93"/>
          <p:cNvSpPr txBox="1"/>
          <p:nvPr/>
        </p:nvSpPr>
        <p:spPr>
          <a:xfrm>
            <a:off x="1956937" y="4212575"/>
            <a:ext cx="939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5.62 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5" name="Google Shape;1075;p93"/>
          <p:cNvSpPr txBox="1"/>
          <p:nvPr/>
        </p:nvSpPr>
        <p:spPr>
          <a:xfrm>
            <a:off x="3596725" y="2814275"/>
            <a:ext cx="3321300" cy="18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5.62 ÷ 0.5 = 11.24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12 widths needed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10 ÷ 2.74 = 3.649… 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3 </a:t>
            </a: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lengths from each roll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12 ÷ 3 = 4 rolls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76" name="Google Shape;1076;p93"/>
          <p:cNvSpPr/>
          <p:nvPr/>
        </p:nvSpPr>
        <p:spPr>
          <a:xfrm>
            <a:off x="1179874" y="2809775"/>
            <a:ext cx="2254800" cy="13782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77" name="Google Shape;1077;p93"/>
          <p:cNvCxnSpPr/>
          <p:nvPr/>
        </p:nvCxnSpPr>
        <p:spPr>
          <a:xfrm>
            <a:off x="1110685" y="2808075"/>
            <a:ext cx="0" cy="1383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078" name="Google Shape;1078;p93"/>
          <p:cNvCxnSpPr/>
          <p:nvPr/>
        </p:nvCxnSpPr>
        <p:spPr>
          <a:xfrm rot="10800000">
            <a:off x="1184923" y="4248400"/>
            <a:ext cx="22452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2" name="Shape 10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3" name="Google Shape;1083;p94"/>
          <p:cNvSpPr/>
          <p:nvPr/>
        </p:nvSpPr>
        <p:spPr>
          <a:xfrm>
            <a:off x="1024950" y="1831705"/>
            <a:ext cx="2768100" cy="11340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4" name="Google Shape;1084;p94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Measurements in interior design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Measurements in interior design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Measurements in interior design</a:t>
            </a:r>
            <a:endParaRPr/>
          </a:p>
        </p:txBody>
      </p:sp>
      <p:sp>
        <p:nvSpPr>
          <p:cNvPr id="1085" name="Google Shape;1085;p94"/>
          <p:cNvSpPr txBox="1"/>
          <p:nvPr>
            <p:ph idx="1" type="body"/>
          </p:nvPr>
        </p:nvSpPr>
        <p:spPr>
          <a:xfrm>
            <a:off x="324000" y="583731"/>
            <a:ext cx="8237700" cy="116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1) </a:t>
            </a:r>
            <a:r>
              <a:rPr lang="en-GB" sz="2000"/>
              <a:t>Below are sketches of the walls in a room. (Not to scale)</a:t>
            </a:r>
            <a:endParaRPr sz="2000"/>
          </a:p>
          <a:p>
            <a:pPr indent="0" lvl="0" marL="0" rtl="0" algn="l">
              <a:lnSpc>
                <a:spcPct val="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A 2.5 litre tin of paint covers 25 m</a:t>
            </a:r>
            <a:r>
              <a:rPr baseline="30000" lang="en-GB" sz="2000"/>
              <a:t>2</a:t>
            </a:r>
            <a:r>
              <a:rPr lang="en-GB" sz="2000"/>
              <a:t>.</a:t>
            </a:r>
            <a:endParaRPr sz="2000"/>
          </a:p>
          <a:p>
            <a:pPr indent="0" lvl="0" marL="0" rtl="0" algn="l">
              <a:lnSpc>
                <a:spcPct val="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The walls will need 2 coats of paint.</a:t>
            </a:r>
            <a:endParaRPr sz="2000"/>
          </a:p>
          <a:p>
            <a:pPr indent="0" lvl="0" marL="0" rtl="0" algn="l">
              <a:lnSpc>
                <a:spcPct val="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How many tins of paint are needed to paint the room?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1086" name="Google Shape;1086;p94"/>
          <p:cNvSpPr/>
          <p:nvPr/>
        </p:nvSpPr>
        <p:spPr>
          <a:xfrm>
            <a:off x="3920550" y="1831705"/>
            <a:ext cx="2768100" cy="11340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7" name="Google Shape;1087;p94"/>
          <p:cNvSpPr/>
          <p:nvPr/>
        </p:nvSpPr>
        <p:spPr>
          <a:xfrm>
            <a:off x="6802050" y="1825550"/>
            <a:ext cx="1851900" cy="11340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 walls this size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8" name="Google Shape;1088;p94"/>
          <p:cNvSpPr/>
          <p:nvPr/>
        </p:nvSpPr>
        <p:spPr>
          <a:xfrm>
            <a:off x="1224750" y="2160001"/>
            <a:ext cx="300000" cy="7995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9" name="Google Shape;1089;p94"/>
          <p:cNvSpPr/>
          <p:nvPr/>
        </p:nvSpPr>
        <p:spPr>
          <a:xfrm>
            <a:off x="5693242" y="1980639"/>
            <a:ext cx="922500" cy="3786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0" name="Google Shape;1090;p94"/>
          <p:cNvSpPr txBox="1"/>
          <p:nvPr/>
        </p:nvSpPr>
        <p:spPr>
          <a:xfrm rot="-5400000">
            <a:off x="1097934" y="2457650"/>
            <a:ext cx="542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door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1" name="Google Shape;1091;p94"/>
          <p:cNvSpPr txBox="1"/>
          <p:nvPr/>
        </p:nvSpPr>
        <p:spPr>
          <a:xfrm>
            <a:off x="5693242" y="2031339"/>
            <a:ext cx="922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window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92" name="Google Shape;1092;p94"/>
          <p:cNvCxnSpPr/>
          <p:nvPr/>
        </p:nvCxnSpPr>
        <p:spPr>
          <a:xfrm>
            <a:off x="959067" y="1811709"/>
            <a:ext cx="0" cy="1165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093" name="Google Shape;1093;p94"/>
          <p:cNvSpPr txBox="1"/>
          <p:nvPr/>
        </p:nvSpPr>
        <p:spPr>
          <a:xfrm>
            <a:off x="247773" y="2190842"/>
            <a:ext cx="813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2.4 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94" name="Google Shape;1094;p94"/>
          <p:cNvCxnSpPr/>
          <p:nvPr/>
        </p:nvCxnSpPr>
        <p:spPr>
          <a:xfrm rot="10800000">
            <a:off x="1033300" y="3052300"/>
            <a:ext cx="27336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095" name="Google Shape;1095;p94"/>
          <p:cNvSpPr txBox="1"/>
          <p:nvPr/>
        </p:nvSpPr>
        <p:spPr>
          <a:xfrm>
            <a:off x="2016669" y="2972704"/>
            <a:ext cx="939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7.6 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96" name="Google Shape;1096;p94"/>
          <p:cNvCxnSpPr/>
          <p:nvPr/>
        </p:nvCxnSpPr>
        <p:spPr>
          <a:xfrm rot="10800000">
            <a:off x="3905675" y="3052300"/>
            <a:ext cx="27921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097" name="Google Shape;1097;p94"/>
          <p:cNvSpPr txBox="1"/>
          <p:nvPr/>
        </p:nvSpPr>
        <p:spPr>
          <a:xfrm>
            <a:off x="4912269" y="2972704"/>
            <a:ext cx="939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7.6 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98" name="Google Shape;1098;p94"/>
          <p:cNvCxnSpPr/>
          <p:nvPr/>
        </p:nvCxnSpPr>
        <p:spPr>
          <a:xfrm rot="10800000">
            <a:off x="6810150" y="3052300"/>
            <a:ext cx="18519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099" name="Google Shape;1099;p94"/>
          <p:cNvSpPr txBox="1"/>
          <p:nvPr/>
        </p:nvSpPr>
        <p:spPr>
          <a:xfrm>
            <a:off x="6997551" y="2972700"/>
            <a:ext cx="1508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6.1 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00" name="Google Shape;1100;p94"/>
          <p:cNvCxnSpPr/>
          <p:nvPr/>
        </p:nvCxnSpPr>
        <p:spPr>
          <a:xfrm>
            <a:off x="1568675" y="2177856"/>
            <a:ext cx="0" cy="7647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101" name="Google Shape;1101;p94"/>
          <p:cNvSpPr txBox="1"/>
          <p:nvPr/>
        </p:nvSpPr>
        <p:spPr>
          <a:xfrm>
            <a:off x="1520099" y="2343250"/>
            <a:ext cx="939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1.98 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02" name="Google Shape;1102;p94"/>
          <p:cNvCxnSpPr/>
          <p:nvPr/>
        </p:nvCxnSpPr>
        <p:spPr>
          <a:xfrm>
            <a:off x="5629342" y="1974288"/>
            <a:ext cx="0" cy="384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103" name="Google Shape;1103;p94"/>
          <p:cNvCxnSpPr/>
          <p:nvPr/>
        </p:nvCxnSpPr>
        <p:spPr>
          <a:xfrm rot="10800000">
            <a:off x="5705817" y="2442700"/>
            <a:ext cx="9339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104" name="Google Shape;1104;p94"/>
          <p:cNvCxnSpPr/>
          <p:nvPr/>
        </p:nvCxnSpPr>
        <p:spPr>
          <a:xfrm rot="10800000">
            <a:off x="1238650" y="2073225"/>
            <a:ext cx="2880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105" name="Google Shape;1105;p94"/>
          <p:cNvSpPr txBox="1"/>
          <p:nvPr/>
        </p:nvSpPr>
        <p:spPr>
          <a:xfrm>
            <a:off x="5760661" y="2315735"/>
            <a:ext cx="939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1.77 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6" name="Google Shape;1106;p94"/>
          <p:cNvSpPr txBox="1"/>
          <p:nvPr/>
        </p:nvSpPr>
        <p:spPr>
          <a:xfrm>
            <a:off x="4912275" y="1945200"/>
            <a:ext cx="769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1.35 </a:t>
            </a:r>
            <a:b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7" name="Google Shape;1107;p94"/>
          <p:cNvSpPr txBox="1"/>
          <p:nvPr/>
        </p:nvSpPr>
        <p:spPr>
          <a:xfrm>
            <a:off x="997055" y="1707162"/>
            <a:ext cx="939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76 cm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8" name="Google Shape;1108;p94"/>
          <p:cNvSpPr/>
          <p:nvPr/>
        </p:nvSpPr>
        <p:spPr>
          <a:xfrm>
            <a:off x="4001759" y="1980639"/>
            <a:ext cx="922500" cy="3786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9" name="Google Shape;1109;p94"/>
          <p:cNvSpPr txBox="1"/>
          <p:nvPr/>
        </p:nvSpPr>
        <p:spPr>
          <a:xfrm>
            <a:off x="4001759" y="2031339"/>
            <a:ext cx="922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window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10" name="Google Shape;1110;p94"/>
          <p:cNvCxnSpPr/>
          <p:nvPr/>
        </p:nvCxnSpPr>
        <p:spPr>
          <a:xfrm rot="10800000">
            <a:off x="4014334" y="2442700"/>
            <a:ext cx="9339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111" name="Google Shape;1111;p94"/>
          <p:cNvSpPr txBox="1"/>
          <p:nvPr/>
        </p:nvSpPr>
        <p:spPr>
          <a:xfrm>
            <a:off x="4069178" y="2315735"/>
            <a:ext cx="939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1.77 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12" name="Google Shape;1112;p94"/>
          <p:cNvCxnSpPr/>
          <p:nvPr/>
        </p:nvCxnSpPr>
        <p:spPr>
          <a:xfrm>
            <a:off x="4982033" y="1974288"/>
            <a:ext cx="0" cy="384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6" name="Shape 1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7" name="Google Shape;1117;p9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2) An interior designer wants to wallpaper a wall.</a:t>
            </a:r>
            <a:endParaRPr sz="2000"/>
          </a:p>
          <a:p>
            <a:pPr indent="0" lvl="0" marL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Below is a sketch of the wall.</a:t>
            </a:r>
            <a:endParaRPr sz="2000"/>
          </a:p>
          <a:p>
            <a:pPr indent="0" lvl="0" marL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The width of a roll of wallpaper is 52 cm and the length of the roll is 10.5 m.</a:t>
            </a:r>
            <a:endParaRPr sz="2000"/>
          </a:p>
          <a:p>
            <a:pPr indent="0" lvl="0" marL="0" rtl="0" algn="l">
              <a:lnSpc>
                <a:spcPct val="8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/>
              <a:t>How many rolls of wallpaper are needed to paper this wall?</a:t>
            </a:r>
            <a:endParaRPr/>
          </a:p>
        </p:txBody>
      </p:sp>
      <p:sp>
        <p:nvSpPr>
          <p:cNvPr id="1118" name="Google Shape;1118;p95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Measurements in interior design</a:t>
            </a:r>
            <a:endParaRPr/>
          </a:p>
        </p:txBody>
      </p:sp>
      <p:sp>
        <p:nvSpPr>
          <p:cNvPr id="1119" name="Google Shape;1119;p95"/>
          <p:cNvSpPr/>
          <p:nvPr/>
        </p:nvSpPr>
        <p:spPr>
          <a:xfrm>
            <a:off x="1256856" y="2809775"/>
            <a:ext cx="2254800" cy="13782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20" name="Google Shape;1120;p95"/>
          <p:cNvCxnSpPr/>
          <p:nvPr/>
        </p:nvCxnSpPr>
        <p:spPr>
          <a:xfrm>
            <a:off x="1187667" y="2808075"/>
            <a:ext cx="0" cy="1383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121" name="Google Shape;1121;p95"/>
          <p:cNvCxnSpPr/>
          <p:nvPr/>
        </p:nvCxnSpPr>
        <p:spPr>
          <a:xfrm rot="10800000">
            <a:off x="1259505" y="4248400"/>
            <a:ext cx="22476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122" name="Google Shape;1122;p95"/>
          <p:cNvSpPr txBox="1"/>
          <p:nvPr/>
        </p:nvSpPr>
        <p:spPr>
          <a:xfrm>
            <a:off x="247775" y="3269175"/>
            <a:ext cx="939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2.46 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3" name="Google Shape;1123;p95"/>
          <p:cNvSpPr txBox="1"/>
          <p:nvPr/>
        </p:nvSpPr>
        <p:spPr>
          <a:xfrm>
            <a:off x="1956937" y="4212575"/>
            <a:ext cx="939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8.34 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7" name="Shape 1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8" name="Google Shape;1128;p96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Measurements in interior design</a:t>
            </a:r>
            <a:endParaRPr/>
          </a:p>
        </p:txBody>
      </p:sp>
      <p:sp>
        <p:nvSpPr>
          <p:cNvPr id="1129" name="Google Shape;1129;p96"/>
          <p:cNvSpPr txBox="1"/>
          <p:nvPr>
            <p:ph idx="1" type="body"/>
          </p:nvPr>
        </p:nvSpPr>
        <p:spPr>
          <a:xfrm>
            <a:off x="324000" y="578069"/>
            <a:ext cx="8237700" cy="132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1) Below are sketches of the walls in a room. (Not to scale)</a:t>
            </a:r>
            <a:endParaRPr sz="2000"/>
          </a:p>
          <a:p>
            <a:pPr indent="0" lvl="0" marL="0" rtl="0" algn="l">
              <a:lnSpc>
                <a:spcPct val="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A 2.5 litre tin of paint covers 25 m</a:t>
            </a:r>
            <a:r>
              <a:rPr baseline="30000" lang="en-GB" sz="2000"/>
              <a:t>2</a:t>
            </a:r>
            <a:r>
              <a:rPr lang="en-GB" sz="2000"/>
              <a:t>.</a:t>
            </a:r>
            <a:endParaRPr sz="2000"/>
          </a:p>
          <a:p>
            <a:pPr indent="0" lvl="0" marL="0" rtl="0" algn="l">
              <a:lnSpc>
                <a:spcPct val="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The walls will need 2 coats of paint.</a:t>
            </a:r>
            <a:endParaRPr sz="2000"/>
          </a:p>
          <a:p>
            <a:pPr indent="0" lvl="0" marL="0" rtl="0" algn="l">
              <a:lnSpc>
                <a:spcPct val="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How many tins of paint are needed to paint the room?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1130" name="Google Shape;1130;p96"/>
          <p:cNvSpPr txBox="1"/>
          <p:nvPr>
            <p:ph idx="4294967295" type="body"/>
          </p:nvPr>
        </p:nvSpPr>
        <p:spPr>
          <a:xfrm>
            <a:off x="324000" y="3391702"/>
            <a:ext cx="8237700" cy="34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Total area of walls requiring painting = 65.76 - 6.2838 = 59.4762 m</a:t>
            </a:r>
            <a:r>
              <a:rPr baseline="30000" lang="en-GB" sz="2000">
                <a:latin typeface="Kalam"/>
                <a:ea typeface="Kalam"/>
                <a:cs typeface="Kalam"/>
                <a:sym typeface="Kalam"/>
              </a:rPr>
              <a:t>2</a:t>
            </a:r>
            <a:endParaRPr baseline="30000"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8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31" name="Google Shape;1131;p96"/>
          <p:cNvSpPr txBox="1"/>
          <p:nvPr>
            <p:ph idx="4294967295" type="body"/>
          </p:nvPr>
        </p:nvSpPr>
        <p:spPr>
          <a:xfrm>
            <a:off x="324000" y="3848893"/>
            <a:ext cx="8237700" cy="129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Total area requiring painting = 118.9524 m</a:t>
            </a:r>
            <a:endParaRPr baseline="30000"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Number of tins required     =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118.9524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÷ 25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                              = 4.758…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5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                              = 5 tins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32" name="Google Shape;1132;p96"/>
          <p:cNvSpPr/>
          <p:nvPr/>
        </p:nvSpPr>
        <p:spPr>
          <a:xfrm>
            <a:off x="1024950" y="1831705"/>
            <a:ext cx="2768100" cy="11340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33" name="Google Shape;1133;p96"/>
          <p:cNvSpPr/>
          <p:nvPr/>
        </p:nvSpPr>
        <p:spPr>
          <a:xfrm>
            <a:off x="3920550" y="1831705"/>
            <a:ext cx="2768100" cy="11340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34" name="Google Shape;1134;p96"/>
          <p:cNvSpPr/>
          <p:nvPr/>
        </p:nvSpPr>
        <p:spPr>
          <a:xfrm>
            <a:off x="6802050" y="1825550"/>
            <a:ext cx="1851900" cy="11340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 walls this size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35" name="Google Shape;1135;p96"/>
          <p:cNvSpPr/>
          <p:nvPr/>
        </p:nvSpPr>
        <p:spPr>
          <a:xfrm>
            <a:off x="1224750" y="2160001"/>
            <a:ext cx="300000" cy="7995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36" name="Google Shape;1136;p96"/>
          <p:cNvSpPr/>
          <p:nvPr/>
        </p:nvSpPr>
        <p:spPr>
          <a:xfrm>
            <a:off x="5693242" y="1980639"/>
            <a:ext cx="922500" cy="3786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37" name="Google Shape;1137;p96"/>
          <p:cNvSpPr txBox="1"/>
          <p:nvPr/>
        </p:nvSpPr>
        <p:spPr>
          <a:xfrm rot="-5400000">
            <a:off x="1097934" y="2457650"/>
            <a:ext cx="542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door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38" name="Google Shape;1138;p96"/>
          <p:cNvSpPr txBox="1"/>
          <p:nvPr/>
        </p:nvSpPr>
        <p:spPr>
          <a:xfrm>
            <a:off x="5693242" y="2031339"/>
            <a:ext cx="922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window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39" name="Google Shape;1139;p96"/>
          <p:cNvCxnSpPr/>
          <p:nvPr/>
        </p:nvCxnSpPr>
        <p:spPr>
          <a:xfrm>
            <a:off x="959067" y="1811709"/>
            <a:ext cx="0" cy="1165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140" name="Google Shape;1140;p96"/>
          <p:cNvSpPr txBox="1"/>
          <p:nvPr/>
        </p:nvSpPr>
        <p:spPr>
          <a:xfrm>
            <a:off x="247773" y="2190842"/>
            <a:ext cx="813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2.4 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41" name="Google Shape;1141;p96"/>
          <p:cNvCxnSpPr/>
          <p:nvPr/>
        </p:nvCxnSpPr>
        <p:spPr>
          <a:xfrm rot="10800000">
            <a:off x="1033300" y="3052300"/>
            <a:ext cx="27336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142" name="Google Shape;1142;p96"/>
          <p:cNvSpPr txBox="1"/>
          <p:nvPr/>
        </p:nvSpPr>
        <p:spPr>
          <a:xfrm>
            <a:off x="2016669" y="2972704"/>
            <a:ext cx="939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7.6 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43" name="Google Shape;1143;p96"/>
          <p:cNvCxnSpPr/>
          <p:nvPr/>
        </p:nvCxnSpPr>
        <p:spPr>
          <a:xfrm rot="10800000">
            <a:off x="3905675" y="3052300"/>
            <a:ext cx="27921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144" name="Google Shape;1144;p96"/>
          <p:cNvSpPr txBox="1"/>
          <p:nvPr/>
        </p:nvSpPr>
        <p:spPr>
          <a:xfrm>
            <a:off x="4912269" y="2972704"/>
            <a:ext cx="939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7.6 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45" name="Google Shape;1145;p96"/>
          <p:cNvCxnSpPr/>
          <p:nvPr/>
        </p:nvCxnSpPr>
        <p:spPr>
          <a:xfrm rot="10800000">
            <a:off x="6810150" y="3052300"/>
            <a:ext cx="18519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146" name="Google Shape;1146;p96"/>
          <p:cNvSpPr txBox="1"/>
          <p:nvPr/>
        </p:nvSpPr>
        <p:spPr>
          <a:xfrm>
            <a:off x="6997551" y="2972700"/>
            <a:ext cx="1508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6.1 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47" name="Google Shape;1147;p96"/>
          <p:cNvCxnSpPr/>
          <p:nvPr/>
        </p:nvCxnSpPr>
        <p:spPr>
          <a:xfrm>
            <a:off x="1568675" y="2177856"/>
            <a:ext cx="0" cy="7647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148" name="Google Shape;1148;p96"/>
          <p:cNvSpPr txBox="1"/>
          <p:nvPr/>
        </p:nvSpPr>
        <p:spPr>
          <a:xfrm>
            <a:off x="1520099" y="2343250"/>
            <a:ext cx="939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1.98 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49" name="Google Shape;1149;p96"/>
          <p:cNvCxnSpPr/>
          <p:nvPr/>
        </p:nvCxnSpPr>
        <p:spPr>
          <a:xfrm>
            <a:off x="5629342" y="1974288"/>
            <a:ext cx="0" cy="384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150" name="Google Shape;1150;p96"/>
          <p:cNvCxnSpPr/>
          <p:nvPr/>
        </p:nvCxnSpPr>
        <p:spPr>
          <a:xfrm rot="10800000">
            <a:off x="5705817" y="2442700"/>
            <a:ext cx="9339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151" name="Google Shape;1151;p96"/>
          <p:cNvCxnSpPr/>
          <p:nvPr/>
        </p:nvCxnSpPr>
        <p:spPr>
          <a:xfrm rot="10800000">
            <a:off x="1238650" y="2073225"/>
            <a:ext cx="2880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152" name="Google Shape;1152;p96"/>
          <p:cNvSpPr txBox="1"/>
          <p:nvPr/>
        </p:nvSpPr>
        <p:spPr>
          <a:xfrm>
            <a:off x="5760661" y="2315735"/>
            <a:ext cx="939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1.77 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53" name="Google Shape;1153;p96"/>
          <p:cNvSpPr txBox="1"/>
          <p:nvPr/>
        </p:nvSpPr>
        <p:spPr>
          <a:xfrm>
            <a:off x="4912275" y="1945200"/>
            <a:ext cx="769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1.35 </a:t>
            </a:r>
            <a:b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54" name="Google Shape;1154;p96"/>
          <p:cNvSpPr txBox="1"/>
          <p:nvPr/>
        </p:nvSpPr>
        <p:spPr>
          <a:xfrm>
            <a:off x="997055" y="1707162"/>
            <a:ext cx="939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76 cm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55" name="Google Shape;1155;p96"/>
          <p:cNvSpPr/>
          <p:nvPr/>
        </p:nvSpPr>
        <p:spPr>
          <a:xfrm>
            <a:off x="4001759" y="1980639"/>
            <a:ext cx="922500" cy="3786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56" name="Google Shape;1156;p96"/>
          <p:cNvSpPr txBox="1"/>
          <p:nvPr/>
        </p:nvSpPr>
        <p:spPr>
          <a:xfrm>
            <a:off x="4001759" y="2031339"/>
            <a:ext cx="922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window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57" name="Google Shape;1157;p96"/>
          <p:cNvCxnSpPr/>
          <p:nvPr/>
        </p:nvCxnSpPr>
        <p:spPr>
          <a:xfrm rot="10800000">
            <a:off x="4014334" y="2442700"/>
            <a:ext cx="9339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158" name="Google Shape;1158;p96"/>
          <p:cNvSpPr txBox="1"/>
          <p:nvPr/>
        </p:nvSpPr>
        <p:spPr>
          <a:xfrm>
            <a:off x="4069178" y="2315735"/>
            <a:ext cx="939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1.77 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59" name="Google Shape;1159;p96"/>
          <p:cNvCxnSpPr/>
          <p:nvPr/>
        </p:nvCxnSpPr>
        <p:spPr>
          <a:xfrm>
            <a:off x="4982033" y="1974288"/>
            <a:ext cx="0" cy="384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3" name="Shape 1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4" name="Google Shape;1164;p9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2) </a:t>
            </a:r>
            <a:r>
              <a:rPr lang="en-GB" sz="2000"/>
              <a:t>An interior designer wants to wallpaper a wall.</a:t>
            </a:r>
            <a:endParaRPr sz="2000"/>
          </a:p>
          <a:p>
            <a:pPr indent="0" lvl="0" marL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Below is a sketch of the wall.</a:t>
            </a:r>
            <a:endParaRPr sz="2000"/>
          </a:p>
          <a:p>
            <a:pPr indent="0" lvl="0" marL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The width of a roll of wallpaper is 52 cm and the length of the roll is 10.5 m.</a:t>
            </a:r>
            <a:endParaRPr sz="2000"/>
          </a:p>
          <a:p>
            <a:pPr indent="0" lvl="0" marL="0" rtl="0" algn="l">
              <a:lnSpc>
                <a:spcPct val="8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How many rolls of wallpaper are needed to paper this wall?</a:t>
            </a:r>
            <a:endParaRPr/>
          </a:p>
        </p:txBody>
      </p:sp>
      <p:sp>
        <p:nvSpPr>
          <p:cNvPr id="1165" name="Google Shape;1165;p97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Measurements in interior design</a:t>
            </a:r>
            <a:endParaRPr/>
          </a:p>
        </p:txBody>
      </p:sp>
      <p:sp>
        <p:nvSpPr>
          <p:cNvPr id="1166" name="Google Shape;1166;p97"/>
          <p:cNvSpPr txBox="1"/>
          <p:nvPr/>
        </p:nvSpPr>
        <p:spPr>
          <a:xfrm>
            <a:off x="4206325" y="2509475"/>
            <a:ext cx="3321300" cy="22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8.34</a:t>
            </a: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÷ 0.52 = 16.038…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17 lengths needed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10.5 ÷ 2.46 = 4.268…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4 lengths from each roll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17 ÷ 4 = </a:t>
            </a: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4.25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5 rolls are needed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67" name="Google Shape;1167;p97"/>
          <p:cNvSpPr/>
          <p:nvPr/>
        </p:nvSpPr>
        <p:spPr>
          <a:xfrm>
            <a:off x="1256856" y="2809775"/>
            <a:ext cx="2254800" cy="13782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68" name="Google Shape;1168;p97"/>
          <p:cNvCxnSpPr/>
          <p:nvPr/>
        </p:nvCxnSpPr>
        <p:spPr>
          <a:xfrm>
            <a:off x="1187667" y="2808075"/>
            <a:ext cx="0" cy="1383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169" name="Google Shape;1169;p97"/>
          <p:cNvCxnSpPr/>
          <p:nvPr/>
        </p:nvCxnSpPr>
        <p:spPr>
          <a:xfrm rot="10800000">
            <a:off x="1259505" y="4248400"/>
            <a:ext cx="22476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170" name="Google Shape;1170;p97"/>
          <p:cNvSpPr txBox="1"/>
          <p:nvPr/>
        </p:nvSpPr>
        <p:spPr>
          <a:xfrm>
            <a:off x="247775" y="3269175"/>
            <a:ext cx="939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2.46 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71" name="Google Shape;1171;p97"/>
          <p:cNvSpPr txBox="1"/>
          <p:nvPr/>
        </p:nvSpPr>
        <p:spPr>
          <a:xfrm>
            <a:off x="1956937" y="4212575"/>
            <a:ext cx="939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8.34 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5" name="Shape 1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6" name="Google Shape;1176;p98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Measurements in interior design</a:t>
            </a:r>
            <a:endParaRPr/>
          </a:p>
        </p:txBody>
      </p:sp>
      <p:sp>
        <p:nvSpPr>
          <p:cNvPr id="1177" name="Google Shape;1177;p98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Finance in interior design</a:t>
            </a:r>
            <a:endParaRPr/>
          </a:p>
        </p:txBody>
      </p:sp>
      <p:sp>
        <p:nvSpPr>
          <p:cNvPr id="1178" name="Google Shape;1178;p98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Interior designer</a:t>
            </a:r>
            <a:endParaRPr/>
          </a:p>
        </p:txBody>
      </p:sp>
      <p:pic>
        <p:nvPicPr>
          <p:cNvPr id="1179" name="Google Shape;1179;p9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0175" y="3016625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3" name="Shape 1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4" name="Google Shape;1184;p99"/>
          <p:cNvSpPr txBox="1"/>
          <p:nvPr>
            <p:ph idx="1" type="body"/>
          </p:nvPr>
        </p:nvSpPr>
        <p:spPr>
          <a:xfrm>
            <a:off x="324000" y="759300"/>
            <a:ext cx="5932800" cy="160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Earlier we calculated the total area that needed painting as 55.7904 m</a:t>
            </a:r>
            <a:r>
              <a:rPr baseline="30000" lang="en-GB"/>
              <a:t>2</a:t>
            </a:r>
            <a:r>
              <a:rPr lang="en-GB"/>
              <a:t>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This paint covers 16 m</a:t>
            </a:r>
            <a:r>
              <a:rPr baseline="30000" lang="en-GB"/>
              <a:t>2 </a:t>
            </a:r>
            <a:r>
              <a:rPr lang="en-GB"/>
              <a:t>per litre.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The walls will need 2 coats of paint.</a:t>
            </a:r>
            <a:endParaRPr/>
          </a:p>
        </p:txBody>
      </p:sp>
      <p:sp>
        <p:nvSpPr>
          <p:cNvPr id="1185" name="Google Shape;1185;p9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Finance</a:t>
            </a:r>
            <a:r>
              <a:rPr lang="en-GB"/>
              <a:t> in interior design</a:t>
            </a:r>
            <a:endParaRPr/>
          </a:p>
        </p:txBody>
      </p:sp>
      <p:graphicFrame>
        <p:nvGraphicFramePr>
          <p:cNvPr id="1186" name="Google Shape;1186;p99"/>
          <p:cNvGraphicFramePr/>
          <p:nvPr/>
        </p:nvGraphicFramePr>
        <p:xfrm>
          <a:off x="6167772" y="684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{7FD39333-5DE2-4E6B-A8AE-7417B985FE2A}</a:tableStyleId>
              </a:tblPr>
              <a:tblGrid>
                <a:gridCol w="1521225"/>
                <a:gridCol w="10540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Size of tin (l)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rgbClr val="E6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Cost (£)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rgbClr val="E6F2F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2.5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45.49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85.99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130.99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187" name="Google Shape;1187;p99"/>
          <p:cNvSpPr txBox="1"/>
          <p:nvPr>
            <p:ph idx="1" type="body"/>
          </p:nvPr>
        </p:nvSpPr>
        <p:spPr>
          <a:xfrm>
            <a:off x="324000" y="3467589"/>
            <a:ext cx="6512700" cy="90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Number of litres needed    = 2 × 55.7904 </a:t>
            </a:r>
            <a:r>
              <a:rPr lang="en-GB"/>
              <a:t>÷ 16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                                              </a:t>
            </a:r>
            <a:r>
              <a:rPr lang="en-GB"/>
              <a:t>= 6.9738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                                              = 7 litres</a:t>
            </a:r>
            <a:endParaRPr/>
          </a:p>
        </p:txBody>
      </p:sp>
      <p:sp>
        <p:nvSpPr>
          <p:cNvPr id="1188" name="Google Shape;1188;p99"/>
          <p:cNvSpPr txBox="1"/>
          <p:nvPr>
            <p:ph idx="1" type="body"/>
          </p:nvPr>
        </p:nvSpPr>
        <p:spPr>
          <a:xfrm>
            <a:off x="324000" y="2553189"/>
            <a:ext cx="8496000" cy="79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Calculate the cost to paint the room, ensuring that there is minimum wastage.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2" name="Shape 1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3" name="Google Shape;1193;p10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Finance in interior design</a:t>
            </a:r>
            <a:endParaRPr/>
          </a:p>
        </p:txBody>
      </p:sp>
      <p:sp>
        <p:nvSpPr>
          <p:cNvPr id="1194" name="Google Shape;1194;p100"/>
          <p:cNvSpPr txBox="1"/>
          <p:nvPr>
            <p:ph idx="1" type="body"/>
          </p:nvPr>
        </p:nvSpPr>
        <p:spPr>
          <a:xfrm>
            <a:off x="324000" y="653448"/>
            <a:ext cx="8237700" cy="43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Firstly, let’s calculate the cost per litre for each tin.</a:t>
            </a:r>
            <a:endParaRPr/>
          </a:p>
          <a:p>
            <a:pPr indent="0" lvl="0" marL="0" rtl="0" algn="l">
              <a:lnSpc>
                <a:spcPct val="7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We will need 7 litres.</a:t>
            </a:r>
            <a:endParaRPr/>
          </a:p>
        </p:txBody>
      </p:sp>
      <p:graphicFrame>
        <p:nvGraphicFramePr>
          <p:cNvPr id="1195" name="Google Shape;1195;p100"/>
          <p:cNvGraphicFramePr/>
          <p:nvPr/>
        </p:nvGraphicFramePr>
        <p:xfrm>
          <a:off x="1409700" y="1314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{7FD39333-5DE2-4E6B-A8AE-7417B985FE2A}</a:tableStyleId>
              </a:tblPr>
              <a:tblGrid>
                <a:gridCol w="1012850"/>
                <a:gridCol w="1210700"/>
              </a:tblGrid>
              <a:tr h="2360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Size (l)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0" marL="18000">
                    <a:solidFill>
                      <a:srgbClr val="E6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Cost (£)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0" marL="18000">
                    <a:solidFill>
                      <a:srgbClr val="E6F2F2"/>
                    </a:solidFill>
                  </a:tcPr>
                </a:tc>
              </a:tr>
              <a:tr h="2360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2.5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45.49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0" marL="18000"/>
                </a:tc>
              </a:tr>
              <a:tr h="2360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0" marL="18000"/>
                </a:tc>
              </a:tr>
            </a:tbl>
          </a:graphicData>
        </a:graphic>
      </p:graphicFrame>
      <p:sp>
        <p:nvSpPr>
          <p:cNvPr id="1196" name="Google Shape;1196;p100"/>
          <p:cNvSpPr/>
          <p:nvPr/>
        </p:nvSpPr>
        <p:spPr>
          <a:xfrm rot="5400000">
            <a:off x="3511600" y="1611000"/>
            <a:ext cx="335700" cy="699300"/>
          </a:xfrm>
          <a:prstGeom prst="arc">
            <a:avLst>
              <a:gd fmla="val 10729459" name="adj1"/>
              <a:gd fmla="val 472" name="adj2"/>
            </a:avLst>
          </a:prstGeom>
          <a:noFill/>
          <a:ln cap="flat" cmpd="sng" w="28575">
            <a:solidFill>
              <a:srgbClr val="037B7D"/>
            </a:solidFill>
            <a:prstDash val="solid"/>
            <a:round/>
            <a:headEnd len="sm" w="sm" type="none"/>
            <a:tailEnd len="sm" w="sm" type="triangl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7" name="Google Shape;1197;p100"/>
          <p:cNvSpPr/>
          <p:nvPr/>
        </p:nvSpPr>
        <p:spPr>
          <a:xfrm flipH="1" rot="-5400000">
            <a:off x="1190075" y="1665300"/>
            <a:ext cx="335700" cy="590700"/>
          </a:xfrm>
          <a:prstGeom prst="arc">
            <a:avLst>
              <a:gd fmla="val 10729459" name="adj1"/>
              <a:gd fmla="val 472" name="adj2"/>
            </a:avLst>
          </a:prstGeom>
          <a:noFill/>
          <a:ln cap="flat" cmpd="sng" w="28575">
            <a:solidFill>
              <a:srgbClr val="037B7D"/>
            </a:solidFill>
            <a:prstDash val="solid"/>
            <a:round/>
            <a:headEnd len="sm" w="sm" type="none"/>
            <a:tailEnd len="sm" w="sm" type="triangl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8" name="Google Shape;1198;p100"/>
          <p:cNvSpPr txBox="1"/>
          <p:nvPr>
            <p:ph idx="1" type="body"/>
          </p:nvPr>
        </p:nvSpPr>
        <p:spPr>
          <a:xfrm>
            <a:off x="453126" y="1791189"/>
            <a:ext cx="590700" cy="43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÷ 2.5</a:t>
            </a:r>
            <a:endParaRPr sz="1800"/>
          </a:p>
        </p:txBody>
      </p:sp>
      <p:sp>
        <p:nvSpPr>
          <p:cNvPr id="1199" name="Google Shape;1199;p100"/>
          <p:cNvSpPr txBox="1"/>
          <p:nvPr>
            <p:ph idx="1" type="body"/>
          </p:nvPr>
        </p:nvSpPr>
        <p:spPr>
          <a:xfrm>
            <a:off x="4081074" y="1791189"/>
            <a:ext cx="590700" cy="43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÷ 2.5</a:t>
            </a:r>
            <a:endParaRPr sz="1800"/>
          </a:p>
        </p:txBody>
      </p:sp>
      <p:sp>
        <p:nvSpPr>
          <p:cNvPr id="1200" name="Google Shape;1200;p100"/>
          <p:cNvSpPr txBox="1"/>
          <p:nvPr>
            <p:ph idx="1" type="body"/>
          </p:nvPr>
        </p:nvSpPr>
        <p:spPr>
          <a:xfrm>
            <a:off x="2439568" y="1943600"/>
            <a:ext cx="1193700" cy="43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18.196</a:t>
            </a:r>
            <a:endParaRPr sz="1800"/>
          </a:p>
        </p:txBody>
      </p:sp>
      <p:graphicFrame>
        <p:nvGraphicFramePr>
          <p:cNvPr id="1201" name="Google Shape;1201;p100"/>
          <p:cNvGraphicFramePr/>
          <p:nvPr/>
        </p:nvGraphicFramePr>
        <p:xfrm>
          <a:off x="1409700" y="2571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{7FD39333-5DE2-4E6B-A8AE-7417B985FE2A}</a:tableStyleId>
              </a:tblPr>
              <a:tblGrid>
                <a:gridCol w="1012850"/>
                <a:gridCol w="1210700"/>
              </a:tblGrid>
              <a:tr h="2360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Size (l)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0" marL="18000">
                    <a:solidFill>
                      <a:srgbClr val="E6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Cost (£)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0" marL="18000">
                    <a:solidFill>
                      <a:srgbClr val="E6F2F2"/>
                    </a:solidFill>
                  </a:tcPr>
                </a:tc>
              </a:tr>
              <a:tr h="2360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85.99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0" marL="18000"/>
                </a:tc>
              </a:tr>
              <a:tr h="2360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0" marL="18000"/>
                </a:tc>
              </a:tr>
            </a:tbl>
          </a:graphicData>
        </a:graphic>
      </p:graphicFrame>
      <p:sp>
        <p:nvSpPr>
          <p:cNvPr id="1202" name="Google Shape;1202;p100"/>
          <p:cNvSpPr/>
          <p:nvPr/>
        </p:nvSpPr>
        <p:spPr>
          <a:xfrm rot="5400000">
            <a:off x="3511600" y="2853474"/>
            <a:ext cx="335700" cy="699300"/>
          </a:xfrm>
          <a:prstGeom prst="arc">
            <a:avLst>
              <a:gd fmla="val 10729459" name="adj1"/>
              <a:gd fmla="val 472" name="adj2"/>
            </a:avLst>
          </a:prstGeom>
          <a:noFill/>
          <a:ln cap="flat" cmpd="sng" w="28575">
            <a:solidFill>
              <a:srgbClr val="037B7D"/>
            </a:solidFill>
            <a:prstDash val="solid"/>
            <a:round/>
            <a:headEnd len="sm" w="sm" type="none"/>
            <a:tailEnd len="sm" w="sm" type="triangl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3" name="Google Shape;1203;p100"/>
          <p:cNvSpPr/>
          <p:nvPr/>
        </p:nvSpPr>
        <p:spPr>
          <a:xfrm flipH="1" rot="-5400000">
            <a:off x="1190075" y="2907774"/>
            <a:ext cx="335700" cy="590700"/>
          </a:xfrm>
          <a:prstGeom prst="arc">
            <a:avLst>
              <a:gd fmla="val 10729459" name="adj1"/>
              <a:gd fmla="val 472" name="adj2"/>
            </a:avLst>
          </a:prstGeom>
          <a:noFill/>
          <a:ln cap="flat" cmpd="sng" w="28575">
            <a:solidFill>
              <a:srgbClr val="037B7D"/>
            </a:solidFill>
            <a:prstDash val="solid"/>
            <a:round/>
            <a:headEnd len="sm" w="sm" type="none"/>
            <a:tailEnd len="sm" w="sm" type="triangl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4" name="Google Shape;1204;p100"/>
          <p:cNvSpPr txBox="1"/>
          <p:nvPr>
            <p:ph idx="1" type="body"/>
          </p:nvPr>
        </p:nvSpPr>
        <p:spPr>
          <a:xfrm>
            <a:off x="605526" y="3033663"/>
            <a:ext cx="590700" cy="43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÷ 5</a:t>
            </a:r>
            <a:endParaRPr sz="1800"/>
          </a:p>
        </p:txBody>
      </p:sp>
      <p:sp>
        <p:nvSpPr>
          <p:cNvPr id="1205" name="Google Shape;1205;p100"/>
          <p:cNvSpPr txBox="1"/>
          <p:nvPr>
            <p:ph idx="1" type="body"/>
          </p:nvPr>
        </p:nvSpPr>
        <p:spPr>
          <a:xfrm>
            <a:off x="4081074" y="3033663"/>
            <a:ext cx="590700" cy="43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÷ 5</a:t>
            </a:r>
            <a:endParaRPr sz="1800"/>
          </a:p>
        </p:txBody>
      </p:sp>
      <p:sp>
        <p:nvSpPr>
          <p:cNvPr id="1206" name="Google Shape;1206;p100"/>
          <p:cNvSpPr txBox="1"/>
          <p:nvPr>
            <p:ph idx="1" type="body"/>
          </p:nvPr>
        </p:nvSpPr>
        <p:spPr>
          <a:xfrm>
            <a:off x="2439568" y="3162800"/>
            <a:ext cx="1193700" cy="43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17.198</a:t>
            </a:r>
            <a:endParaRPr sz="1800"/>
          </a:p>
        </p:txBody>
      </p:sp>
      <p:graphicFrame>
        <p:nvGraphicFramePr>
          <p:cNvPr id="1207" name="Google Shape;1207;p100"/>
          <p:cNvGraphicFramePr/>
          <p:nvPr/>
        </p:nvGraphicFramePr>
        <p:xfrm>
          <a:off x="1409700" y="3829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{7FD39333-5DE2-4E6B-A8AE-7417B985FE2A}</a:tableStyleId>
              </a:tblPr>
              <a:tblGrid>
                <a:gridCol w="1012850"/>
                <a:gridCol w="1210700"/>
              </a:tblGrid>
              <a:tr h="2360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Size (l)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0" marL="18000">
                    <a:solidFill>
                      <a:srgbClr val="E6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Cost (£)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0" marL="18000">
                    <a:solidFill>
                      <a:srgbClr val="E6F2F2"/>
                    </a:solidFill>
                  </a:tcPr>
                </a:tc>
              </a:tr>
              <a:tr h="2360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130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.99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0" marL="18000"/>
                </a:tc>
              </a:tr>
              <a:tr h="2360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0" marL="18000"/>
                </a:tc>
              </a:tr>
            </a:tbl>
          </a:graphicData>
        </a:graphic>
      </p:graphicFrame>
      <p:sp>
        <p:nvSpPr>
          <p:cNvPr id="1208" name="Google Shape;1208;p100"/>
          <p:cNvSpPr/>
          <p:nvPr/>
        </p:nvSpPr>
        <p:spPr>
          <a:xfrm rot="5400000">
            <a:off x="3511600" y="4125600"/>
            <a:ext cx="335700" cy="699300"/>
          </a:xfrm>
          <a:prstGeom prst="arc">
            <a:avLst>
              <a:gd fmla="val 10729459" name="adj1"/>
              <a:gd fmla="val 472" name="adj2"/>
            </a:avLst>
          </a:prstGeom>
          <a:noFill/>
          <a:ln cap="flat" cmpd="sng" w="28575">
            <a:solidFill>
              <a:srgbClr val="037B7D"/>
            </a:solidFill>
            <a:prstDash val="solid"/>
            <a:round/>
            <a:headEnd len="sm" w="sm" type="none"/>
            <a:tailEnd len="sm" w="sm" type="triangl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9" name="Google Shape;1209;p100"/>
          <p:cNvSpPr/>
          <p:nvPr/>
        </p:nvSpPr>
        <p:spPr>
          <a:xfrm flipH="1" rot="-5400000">
            <a:off x="1190075" y="4179900"/>
            <a:ext cx="335700" cy="590700"/>
          </a:xfrm>
          <a:prstGeom prst="arc">
            <a:avLst>
              <a:gd fmla="val 10729459" name="adj1"/>
              <a:gd fmla="val 472" name="adj2"/>
            </a:avLst>
          </a:prstGeom>
          <a:noFill/>
          <a:ln cap="flat" cmpd="sng" w="28575">
            <a:solidFill>
              <a:srgbClr val="037B7D"/>
            </a:solidFill>
            <a:prstDash val="solid"/>
            <a:round/>
            <a:headEnd len="sm" w="sm" type="none"/>
            <a:tailEnd len="sm" w="sm" type="triangl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0" name="Google Shape;1210;p100"/>
          <p:cNvSpPr txBox="1"/>
          <p:nvPr>
            <p:ph idx="1" type="body"/>
          </p:nvPr>
        </p:nvSpPr>
        <p:spPr>
          <a:xfrm>
            <a:off x="546221" y="4352337"/>
            <a:ext cx="590700" cy="43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÷ 10</a:t>
            </a:r>
            <a:endParaRPr sz="1800"/>
          </a:p>
        </p:txBody>
      </p:sp>
      <p:sp>
        <p:nvSpPr>
          <p:cNvPr id="1211" name="Google Shape;1211;p100"/>
          <p:cNvSpPr txBox="1"/>
          <p:nvPr>
            <p:ph idx="1" type="body"/>
          </p:nvPr>
        </p:nvSpPr>
        <p:spPr>
          <a:xfrm>
            <a:off x="4081074" y="4305789"/>
            <a:ext cx="590700" cy="43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÷ 10</a:t>
            </a:r>
            <a:endParaRPr sz="1800"/>
          </a:p>
        </p:txBody>
      </p:sp>
      <p:sp>
        <p:nvSpPr>
          <p:cNvPr id="1212" name="Google Shape;1212;p100"/>
          <p:cNvSpPr txBox="1"/>
          <p:nvPr>
            <p:ph idx="1" type="body"/>
          </p:nvPr>
        </p:nvSpPr>
        <p:spPr>
          <a:xfrm>
            <a:off x="2439568" y="4458200"/>
            <a:ext cx="1193700" cy="43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13.099</a:t>
            </a:r>
            <a:endParaRPr sz="1800"/>
          </a:p>
        </p:txBody>
      </p:sp>
      <p:sp>
        <p:nvSpPr>
          <p:cNvPr id="1213" name="Google Shape;1213;p100"/>
          <p:cNvSpPr txBox="1"/>
          <p:nvPr>
            <p:ph idx="1" type="body"/>
          </p:nvPr>
        </p:nvSpPr>
        <p:spPr>
          <a:xfrm>
            <a:off x="4824000" y="1064100"/>
            <a:ext cx="3890100" cy="174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10 litre tin is the best value for money.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But, this would leave wastage of roughly 3 litres.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What would be a better </a:t>
            </a:r>
            <a:r>
              <a:rPr lang="en-GB"/>
              <a:t>purchase</a:t>
            </a:r>
            <a:r>
              <a:rPr lang="en-GB"/>
              <a:t> with the least amount of wastage?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One 5 litre tin and one 2.5 litre tin although this does cost more.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7" name="Shape 1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" name="Google Shape;1218;p10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Finance in interior design</a:t>
            </a:r>
            <a:endParaRPr/>
          </a:p>
        </p:txBody>
      </p:sp>
      <p:sp>
        <p:nvSpPr>
          <p:cNvPr id="1219" name="Google Shape;1219;p101"/>
          <p:cNvSpPr txBox="1"/>
          <p:nvPr>
            <p:ph idx="1" type="body"/>
          </p:nvPr>
        </p:nvSpPr>
        <p:spPr>
          <a:xfrm>
            <a:off x="324000" y="759300"/>
            <a:ext cx="5722200" cy="166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Here is a table of prices for different lengths of wood.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Firstly, let’s calculate the cost per metre of wood to compare the prices.</a:t>
            </a:r>
            <a:endParaRPr/>
          </a:p>
        </p:txBody>
      </p:sp>
      <p:graphicFrame>
        <p:nvGraphicFramePr>
          <p:cNvPr id="1220" name="Google Shape;1220;p101"/>
          <p:cNvGraphicFramePr/>
          <p:nvPr/>
        </p:nvGraphicFramePr>
        <p:xfrm>
          <a:off x="6203600" y="69909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{7FD39333-5DE2-4E6B-A8AE-7417B985FE2A}</a:tableStyleId>
              </a:tblPr>
              <a:tblGrid>
                <a:gridCol w="1514575"/>
                <a:gridCol w="1016450"/>
              </a:tblGrid>
              <a:tr h="100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Length (mm)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Price (£)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F2F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2400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4.20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3000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5.25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3600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6.30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4200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7.35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4800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8.40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221" name="Google Shape;1221;p101"/>
          <p:cNvSpPr txBox="1"/>
          <p:nvPr>
            <p:ph idx="1" type="body"/>
          </p:nvPr>
        </p:nvSpPr>
        <p:spPr>
          <a:xfrm>
            <a:off x="324000" y="2511900"/>
            <a:ext cx="5722200" cy="166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What is 2400 mm in metres?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2400 ÷ 1000 = 2.4 m</a:t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Convert all the lengths into metres.</a:t>
            </a:r>
            <a:endParaRPr/>
          </a:p>
        </p:txBody>
      </p:sp>
      <p:graphicFrame>
        <p:nvGraphicFramePr>
          <p:cNvPr id="1222" name="Google Shape;1222;p101"/>
          <p:cNvGraphicFramePr/>
          <p:nvPr/>
        </p:nvGraphicFramePr>
        <p:xfrm>
          <a:off x="6203600" y="69909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{7FD39333-5DE2-4E6B-A8AE-7417B985FE2A}</a:tableStyleId>
              </a:tblPr>
              <a:tblGrid>
                <a:gridCol w="1514575"/>
                <a:gridCol w="1016450"/>
              </a:tblGrid>
              <a:tr h="100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Length (m)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Price (£)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F2F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2.4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4.20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5.25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3.6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6.30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4.2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7.35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4.8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8.40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6" name="Shape 1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7" name="Google Shape;1227;p10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Finance in interior design</a:t>
            </a:r>
            <a:endParaRPr/>
          </a:p>
        </p:txBody>
      </p:sp>
      <p:sp>
        <p:nvSpPr>
          <p:cNvPr id="1228" name="Google Shape;1228;p102"/>
          <p:cNvSpPr txBox="1"/>
          <p:nvPr>
            <p:ph idx="1" type="body"/>
          </p:nvPr>
        </p:nvSpPr>
        <p:spPr>
          <a:xfrm>
            <a:off x="324000" y="759300"/>
            <a:ext cx="5722200" cy="166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Here is a table of prices for different lengths of wood.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Firstly, let’s calculate the cost per metre of wood to compare the prices.</a:t>
            </a:r>
            <a:endParaRPr/>
          </a:p>
        </p:txBody>
      </p:sp>
      <p:graphicFrame>
        <p:nvGraphicFramePr>
          <p:cNvPr id="1229" name="Google Shape;1229;p102"/>
          <p:cNvGraphicFramePr/>
          <p:nvPr/>
        </p:nvGraphicFramePr>
        <p:xfrm>
          <a:off x="6203600" y="69909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{7FD39333-5DE2-4E6B-A8AE-7417B985FE2A}</a:tableStyleId>
              </a:tblPr>
              <a:tblGrid>
                <a:gridCol w="1514575"/>
                <a:gridCol w="1016450"/>
              </a:tblGrid>
              <a:tr h="100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Length (m)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Price (£)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F2F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2.4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4.20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5.25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3.6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6.30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4.2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7.35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4.8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8.40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30" name="Google Shape;1230;p102"/>
          <p:cNvGraphicFramePr/>
          <p:nvPr/>
        </p:nvGraphicFramePr>
        <p:xfrm>
          <a:off x="1409700" y="2457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{7FD39333-5DE2-4E6B-A8AE-7417B985FE2A}</a:tableStyleId>
              </a:tblPr>
              <a:tblGrid>
                <a:gridCol w="1260500"/>
                <a:gridCol w="963050"/>
              </a:tblGrid>
              <a:tr h="2360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Length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(m)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0" marL="18000">
                    <a:solidFill>
                      <a:srgbClr val="E6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Price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(£)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0" marL="18000">
                    <a:solidFill>
                      <a:srgbClr val="E6F2F2"/>
                    </a:solidFill>
                  </a:tcPr>
                </a:tc>
              </a:tr>
              <a:tr h="2360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2.4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4.20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0" marL="18000"/>
                </a:tc>
              </a:tr>
              <a:tr h="2360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0" marL="18000"/>
                </a:tc>
              </a:tr>
            </a:tbl>
          </a:graphicData>
        </a:graphic>
      </p:graphicFrame>
      <p:sp>
        <p:nvSpPr>
          <p:cNvPr id="1231" name="Google Shape;1231;p102"/>
          <p:cNvSpPr/>
          <p:nvPr/>
        </p:nvSpPr>
        <p:spPr>
          <a:xfrm rot="5400000">
            <a:off x="3511600" y="2754000"/>
            <a:ext cx="335700" cy="699300"/>
          </a:xfrm>
          <a:prstGeom prst="arc">
            <a:avLst>
              <a:gd fmla="val 10729459" name="adj1"/>
              <a:gd fmla="val 472" name="adj2"/>
            </a:avLst>
          </a:prstGeom>
          <a:noFill/>
          <a:ln cap="flat" cmpd="sng" w="28575">
            <a:solidFill>
              <a:srgbClr val="037B7D"/>
            </a:solidFill>
            <a:prstDash val="solid"/>
            <a:round/>
            <a:headEnd len="sm" w="sm" type="none"/>
            <a:tailEnd len="sm" w="sm" type="triangl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2" name="Google Shape;1232;p102"/>
          <p:cNvSpPr/>
          <p:nvPr/>
        </p:nvSpPr>
        <p:spPr>
          <a:xfrm flipH="1" rot="-5400000">
            <a:off x="1190075" y="2808300"/>
            <a:ext cx="335700" cy="590700"/>
          </a:xfrm>
          <a:prstGeom prst="arc">
            <a:avLst>
              <a:gd fmla="val 10729459" name="adj1"/>
              <a:gd fmla="val 472" name="adj2"/>
            </a:avLst>
          </a:prstGeom>
          <a:noFill/>
          <a:ln cap="flat" cmpd="sng" w="28575">
            <a:solidFill>
              <a:srgbClr val="037B7D"/>
            </a:solidFill>
            <a:prstDash val="solid"/>
            <a:round/>
            <a:headEnd len="sm" w="sm" type="none"/>
            <a:tailEnd len="sm" w="sm" type="triangl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3" name="Google Shape;1233;p102"/>
          <p:cNvSpPr txBox="1"/>
          <p:nvPr>
            <p:ph idx="1" type="body"/>
          </p:nvPr>
        </p:nvSpPr>
        <p:spPr>
          <a:xfrm>
            <a:off x="453126" y="2934189"/>
            <a:ext cx="590700" cy="43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÷ 2.4</a:t>
            </a:r>
            <a:endParaRPr sz="1800"/>
          </a:p>
        </p:txBody>
      </p:sp>
      <p:sp>
        <p:nvSpPr>
          <p:cNvPr id="1234" name="Google Shape;1234;p102"/>
          <p:cNvSpPr txBox="1"/>
          <p:nvPr>
            <p:ph idx="1" type="body"/>
          </p:nvPr>
        </p:nvSpPr>
        <p:spPr>
          <a:xfrm>
            <a:off x="4081074" y="2934189"/>
            <a:ext cx="590700" cy="43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÷ 2.4</a:t>
            </a:r>
            <a:endParaRPr sz="1800"/>
          </a:p>
        </p:txBody>
      </p:sp>
      <p:sp>
        <p:nvSpPr>
          <p:cNvPr id="1235" name="Google Shape;1235;p102"/>
          <p:cNvSpPr txBox="1"/>
          <p:nvPr>
            <p:ph idx="1" type="body"/>
          </p:nvPr>
        </p:nvSpPr>
        <p:spPr>
          <a:xfrm>
            <a:off x="2670200" y="3086600"/>
            <a:ext cx="963000" cy="30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1.75</a:t>
            </a:r>
            <a:endParaRPr sz="18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9" name="Shape 1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0" name="Google Shape;1240;p103"/>
          <p:cNvSpPr txBox="1"/>
          <p:nvPr>
            <p:ph idx="4294967295" type="body"/>
          </p:nvPr>
        </p:nvSpPr>
        <p:spPr>
          <a:xfrm>
            <a:off x="529326" y="3467589"/>
            <a:ext cx="590700" cy="43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÷ 3</a:t>
            </a:r>
            <a:endParaRPr sz="1800"/>
          </a:p>
        </p:txBody>
      </p:sp>
      <p:sp>
        <p:nvSpPr>
          <p:cNvPr id="1241" name="Google Shape;1241;p10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Finance in interior design</a:t>
            </a:r>
            <a:endParaRPr/>
          </a:p>
        </p:txBody>
      </p:sp>
      <p:sp>
        <p:nvSpPr>
          <p:cNvPr id="1242" name="Google Shape;1242;p103"/>
          <p:cNvSpPr txBox="1"/>
          <p:nvPr>
            <p:ph idx="1" type="subTitle"/>
          </p:nvPr>
        </p:nvSpPr>
        <p:spPr>
          <a:xfrm>
            <a:off x="337825" y="810000"/>
            <a:ext cx="3031800" cy="69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Calculate the cost per metre of the 3 metre length.</a:t>
            </a:r>
            <a:endParaRPr/>
          </a:p>
        </p:txBody>
      </p:sp>
      <p:sp>
        <p:nvSpPr>
          <p:cNvPr id="1243" name="Google Shape;1243;p103"/>
          <p:cNvSpPr txBox="1"/>
          <p:nvPr>
            <p:ph idx="2" type="subTitle"/>
          </p:nvPr>
        </p:nvSpPr>
        <p:spPr>
          <a:xfrm>
            <a:off x="5903950" y="810000"/>
            <a:ext cx="290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Calculate the cost per metre of the 3.6 metre length.</a:t>
            </a:r>
            <a:endParaRPr/>
          </a:p>
        </p:txBody>
      </p:sp>
      <p:graphicFrame>
        <p:nvGraphicFramePr>
          <p:cNvPr id="1244" name="Google Shape;1244;p103"/>
          <p:cNvGraphicFramePr/>
          <p:nvPr/>
        </p:nvGraphicFramePr>
        <p:xfrm>
          <a:off x="3369625" y="69909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{7FD39333-5DE2-4E6B-A8AE-7417B985FE2A}</a:tableStyleId>
              </a:tblPr>
              <a:tblGrid>
                <a:gridCol w="1416875"/>
                <a:gridCol w="987900"/>
              </a:tblGrid>
              <a:tr h="100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Length (m)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Price (£)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F2F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2.4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4.20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5.25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3.6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6.30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4.2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7.35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4.8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8.40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45" name="Google Shape;1245;p103"/>
          <p:cNvGraphicFramePr/>
          <p:nvPr/>
        </p:nvGraphicFramePr>
        <p:xfrm>
          <a:off x="1257300" y="2990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{7FD39333-5DE2-4E6B-A8AE-7417B985FE2A}</a:tableStyleId>
              </a:tblPr>
              <a:tblGrid>
                <a:gridCol w="1260500"/>
                <a:gridCol w="963050"/>
              </a:tblGrid>
              <a:tr h="2360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Length (m)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0" marL="18000">
                    <a:solidFill>
                      <a:srgbClr val="E6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Price (£)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0" marL="18000">
                    <a:solidFill>
                      <a:srgbClr val="E6F2F2"/>
                    </a:solidFill>
                  </a:tcPr>
                </a:tc>
              </a:tr>
              <a:tr h="2360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5.25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0" marL="18000"/>
                </a:tc>
              </a:tr>
              <a:tr h="2360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0" marL="18000"/>
                </a:tc>
              </a:tr>
            </a:tbl>
          </a:graphicData>
        </a:graphic>
      </p:graphicFrame>
      <p:sp>
        <p:nvSpPr>
          <p:cNvPr id="1246" name="Google Shape;1246;p103"/>
          <p:cNvSpPr/>
          <p:nvPr/>
        </p:nvSpPr>
        <p:spPr>
          <a:xfrm rot="5400000">
            <a:off x="3359200" y="3287400"/>
            <a:ext cx="335700" cy="699300"/>
          </a:xfrm>
          <a:prstGeom prst="arc">
            <a:avLst>
              <a:gd fmla="val 10729459" name="adj1"/>
              <a:gd fmla="val 472" name="adj2"/>
            </a:avLst>
          </a:prstGeom>
          <a:noFill/>
          <a:ln cap="flat" cmpd="sng" w="28575">
            <a:solidFill>
              <a:srgbClr val="037B7D"/>
            </a:solidFill>
            <a:prstDash val="solid"/>
            <a:round/>
            <a:headEnd len="sm" w="sm" type="none"/>
            <a:tailEnd len="sm" w="sm" type="triangl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7" name="Google Shape;1247;p103"/>
          <p:cNvSpPr/>
          <p:nvPr/>
        </p:nvSpPr>
        <p:spPr>
          <a:xfrm flipH="1" rot="-5400000">
            <a:off x="1037675" y="3341700"/>
            <a:ext cx="335700" cy="590700"/>
          </a:xfrm>
          <a:prstGeom prst="arc">
            <a:avLst>
              <a:gd fmla="val 10729459" name="adj1"/>
              <a:gd fmla="val 472" name="adj2"/>
            </a:avLst>
          </a:prstGeom>
          <a:noFill/>
          <a:ln cap="flat" cmpd="sng" w="28575">
            <a:solidFill>
              <a:srgbClr val="037B7D"/>
            </a:solidFill>
            <a:prstDash val="solid"/>
            <a:round/>
            <a:headEnd len="sm" w="sm" type="none"/>
            <a:tailEnd len="sm" w="sm" type="triangl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8" name="Google Shape;1248;p103"/>
          <p:cNvSpPr txBox="1"/>
          <p:nvPr>
            <p:ph idx="4294967295" type="body"/>
          </p:nvPr>
        </p:nvSpPr>
        <p:spPr>
          <a:xfrm>
            <a:off x="3928674" y="3467589"/>
            <a:ext cx="590700" cy="43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÷ 3</a:t>
            </a:r>
            <a:endParaRPr sz="1800"/>
          </a:p>
        </p:txBody>
      </p:sp>
      <p:sp>
        <p:nvSpPr>
          <p:cNvPr id="1249" name="Google Shape;1249;p103"/>
          <p:cNvSpPr txBox="1"/>
          <p:nvPr>
            <p:ph idx="4294967295" type="body"/>
          </p:nvPr>
        </p:nvSpPr>
        <p:spPr>
          <a:xfrm>
            <a:off x="2517800" y="3620000"/>
            <a:ext cx="963000" cy="30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1.75</a:t>
            </a:r>
            <a:endParaRPr sz="1800"/>
          </a:p>
        </p:txBody>
      </p:sp>
      <p:sp>
        <p:nvSpPr>
          <p:cNvPr id="1250" name="Google Shape;1250;p103"/>
          <p:cNvSpPr txBox="1"/>
          <p:nvPr>
            <p:ph idx="4294967295" type="body"/>
          </p:nvPr>
        </p:nvSpPr>
        <p:spPr>
          <a:xfrm>
            <a:off x="4940940" y="3820025"/>
            <a:ext cx="963000" cy="43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÷ 3.6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graphicFrame>
        <p:nvGraphicFramePr>
          <p:cNvPr id="1251" name="Google Shape;1251;p103"/>
          <p:cNvGraphicFramePr/>
          <p:nvPr/>
        </p:nvGraphicFramePr>
        <p:xfrm>
          <a:off x="5905500" y="2990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{7FD39333-5DE2-4E6B-A8AE-7417B985FE2A}</a:tableStyleId>
              </a:tblPr>
              <a:tblGrid>
                <a:gridCol w="922350"/>
                <a:gridCol w="820175"/>
              </a:tblGrid>
              <a:tr h="2360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Length (m)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0" marL="18000">
                    <a:solidFill>
                      <a:srgbClr val="E6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Price (£)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0" marL="18000">
                    <a:solidFill>
                      <a:srgbClr val="E6F2F2"/>
                    </a:solidFill>
                  </a:tcPr>
                </a:tc>
              </a:tr>
              <a:tr h="2360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3.6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6.30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0" marL="18000"/>
                </a:tc>
              </a:tr>
              <a:tr h="2360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1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0" marL="18000"/>
                </a:tc>
              </a:tr>
            </a:tbl>
          </a:graphicData>
        </a:graphic>
      </p:graphicFrame>
      <p:sp>
        <p:nvSpPr>
          <p:cNvPr id="1252" name="Google Shape;1252;p103"/>
          <p:cNvSpPr/>
          <p:nvPr/>
        </p:nvSpPr>
        <p:spPr>
          <a:xfrm rot="5400000">
            <a:off x="7550200" y="3639825"/>
            <a:ext cx="335700" cy="699300"/>
          </a:xfrm>
          <a:prstGeom prst="arc">
            <a:avLst>
              <a:gd fmla="val 10729459" name="adj1"/>
              <a:gd fmla="val 472" name="adj2"/>
            </a:avLst>
          </a:prstGeom>
          <a:noFill/>
          <a:ln cap="flat" cmpd="sng" w="28575">
            <a:solidFill>
              <a:srgbClr val="037B7D"/>
            </a:solidFill>
            <a:prstDash val="solid"/>
            <a:round/>
            <a:headEnd len="sm" w="sm" type="none"/>
            <a:tailEnd len="sm" w="sm" type="triangl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53" name="Google Shape;1253;p103"/>
          <p:cNvSpPr/>
          <p:nvPr/>
        </p:nvSpPr>
        <p:spPr>
          <a:xfrm flipH="1" rot="-5400000">
            <a:off x="5685875" y="3694125"/>
            <a:ext cx="335700" cy="590700"/>
          </a:xfrm>
          <a:prstGeom prst="arc">
            <a:avLst>
              <a:gd fmla="val 10729459" name="adj1"/>
              <a:gd fmla="val 472" name="adj2"/>
            </a:avLst>
          </a:prstGeom>
          <a:noFill/>
          <a:ln cap="flat" cmpd="sng" w="28575">
            <a:solidFill>
              <a:srgbClr val="037B7D"/>
            </a:solidFill>
            <a:prstDash val="solid"/>
            <a:round/>
            <a:headEnd len="sm" w="sm" type="none"/>
            <a:tailEnd len="sm" w="sm" type="triangl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54" name="Google Shape;1254;p103"/>
          <p:cNvSpPr txBox="1"/>
          <p:nvPr>
            <p:ph idx="4294967295" type="body"/>
          </p:nvPr>
        </p:nvSpPr>
        <p:spPr>
          <a:xfrm>
            <a:off x="8119676" y="3820025"/>
            <a:ext cx="963000" cy="43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÷ 3.6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55" name="Google Shape;1255;p103"/>
          <p:cNvSpPr txBox="1"/>
          <p:nvPr>
            <p:ph idx="4294967295" type="body"/>
          </p:nvPr>
        </p:nvSpPr>
        <p:spPr>
          <a:xfrm>
            <a:off x="6827873" y="3996250"/>
            <a:ext cx="820200" cy="30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1.75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9" name="Shape 1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0" name="Google Shape;1260;p10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Finance in interior design</a:t>
            </a:r>
            <a:endParaRPr/>
          </a:p>
        </p:txBody>
      </p:sp>
      <p:sp>
        <p:nvSpPr>
          <p:cNvPr id="1261" name="Google Shape;1261;p104"/>
          <p:cNvSpPr txBox="1"/>
          <p:nvPr>
            <p:ph idx="1" type="body"/>
          </p:nvPr>
        </p:nvSpPr>
        <p:spPr>
          <a:xfrm>
            <a:off x="324000" y="606900"/>
            <a:ext cx="8237700" cy="129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It appears that the cost per metre is the same no matter the length of wood you buy.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Let’s just check the last 2 </a:t>
            </a:r>
            <a:r>
              <a:rPr lang="en-GB"/>
              <a:t>lengths to be sure.</a:t>
            </a:r>
            <a:endParaRPr/>
          </a:p>
        </p:txBody>
      </p:sp>
      <p:sp>
        <p:nvSpPr>
          <p:cNvPr id="1262" name="Google Shape;1262;p104"/>
          <p:cNvSpPr txBox="1"/>
          <p:nvPr>
            <p:ph idx="1" type="body"/>
          </p:nvPr>
        </p:nvSpPr>
        <p:spPr>
          <a:xfrm>
            <a:off x="340874" y="2553189"/>
            <a:ext cx="590700" cy="43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÷ 4.2</a:t>
            </a:r>
            <a:endParaRPr sz="1800"/>
          </a:p>
        </p:txBody>
      </p:sp>
      <p:graphicFrame>
        <p:nvGraphicFramePr>
          <p:cNvPr id="1263" name="Google Shape;1263;p104"/>
          <p:cNvGraphicFramePr/>
          <p:nvPr/>
        </p:nvGraphicFramePr>
        <p:xfrm>
          <a:off x="1257300" y="2076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{7FD39333-5DE2-4E6B-A8AE-7417B985FE2A}</a:tableStyleId>
              </a:tblPr>
              <a:tblGrid>
                <a:gridCol w="1260500"/>
                <a:gridCol w="963050"/>
              </a:tblGrid>
              <a:tr h="2360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Length (m)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0" marL="18000">
                    <a:solidFill>
                      <a:srgbClr val="E6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Price (£)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0" marL="18000">
                    <a:solidFill>
                      <a:srgbClr val="E6F2F2"/>
                    </a:solidFill>
                  </a:tcPr>
                </a:tc>
              </a:tr>
              <a:tr h="2360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4.2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7.35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0" marL="18000"/>
                </a:tc>
              </a:tr>
              <a:tr h="2360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0" marL="18000"/>
                </a:tc>
              </a:tr>
            </a:tbl>
          </a:graphicData>
        </a:graphic>
      </p:graphicFrame>
      <p:sp>
        <p:nvSpPr>
          <p:cNvPr id="1264" name="Google Shape;1264;p104"/>
          <p:cNvSpPr/>
          <p:nvPr/>
        </p:nvSpPr>
        <p:spPr>
          <a:xfrm rot="5400000">
            <a:off x="3359200" y="2373000"/>
            <a:ext cx="335700" cy="699300"/>
          </a:xfrm>
          <a:prstGeom prst="arc">
            <a:avLst>
              <a:gd fmla="val 10729459" name="adj1"/>
              <a:gd fmla="val 472" name="adj2"/>
            </a:avLst>
          </a:prstGeom>
          <a:noFill/>
          <a:ln cap="flat" cmpd="sng" w="28575">
            <a:solidFill>
              <a:srgbClr val="037B7D"/>
            </a:solidFill>
            <a:prstDash val="solid"/>
            <a:round/>
            <a:headEnd len="sm" w="sm" type="none"/>
            <a:tailEnd len="sm" w="sm" type="triangl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5" name="Google Shape;1265;p104"/>
          <p:cNvSpPr/>
          <p:nvPr/>
        </p:nvSpPr>
        <p:spPr>
          <a:xfrm flipH="1" rot="-5400000">
            <a:off x="1037675" y="2427300"/>
            <a:ext cx="335700" cy="590700"/>
          </a:xfrm>
          <a:prstGeom prst="arc">
            <a:avLst>
              <a:gd fmla="val 10729459" name="adj1"/>
              <a:gd fmla="val 472" name="adj2"/>
            </a:avLst>
          </a:prstGeom>
          <a:noFill/>
          <a:ln cap="flat" cmpd="sng" w="28575">
            <a:solidFill>
              <a:srgbClr val="037B7D"/>
            </a:solidFill>
            <a:prstDash val="solid"/>
            <a:round/>
            <a:headEnd len="sm" w="sm" type="none"/>
            <a:tailEnd len="sm" w="sm" type="triangl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6" name="Google Shape;1266;p104"/>
          <p:cNvSpPr txBox="1"/>
          <p:nvPr>
            <p:ph idx="1" type="body"/>
          </p:nvPr>
        </p:nvSpPr>
        <p:spPr>
          <a:xfrm>
            <a:off x="3928674" y="2553189"/>
            <a:ext cx="590700" cy="43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÷ 4.2</a:t>
            </a:r>
            <a:endParaRPr sz="1800"/>
          </a:p>
        </p:txBody>
      </p:sp>
      <p:sp>
        <p:nvSpPr>
          <p:cNvPr id="1267" name="Google Shape;1267;p104"/>
          <p:cNvSpPr txBox="1"/>
          <p:nvPr>
            <p:ph idx="1" type="body"/>
          </p:nvPr>
        </p:nvSpPr>
        <p:spPr>
          <a:xfrm>
            <a:off x="2517800" y="2705600"/>
            <a:ext cx="963000" cy="30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1.75</a:t>
            </a:r>
            <a:endParaRPr sz="1800"/>
          </a:p>
        </p:txBody>
      </p:sp>
      <p:sp>
        <p:nvSpPr>
          <p:cNvPr id="1268" name="Google Shape;1268;p104"/>
          <p:cNvSpPr txBox="1"/>
          <p:nvPr>
            <p:ph idx="1" type="body"/>
          </p:nvPr>
        </p:nvSpPr>
        <p:spPr>
          <a:xfrm>
            <a:off x="4674170" y="2553189"/>
            <a:ext cx="590700" cy="43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÷ 4.8</a:t>
            </a:r>
            <a:endParaRPr sz="1800"/>
          </a:p>
        </p:txBody>
      </p:sp>
      <p:graphicFrame>
        <p:nvGraphicFramePr>
          <p:cNvPr id="1269" name="Google Shape;1269;p104"/>
          <p:cNvGraphicFramePr/>
          <p:nvPr/>
        </p:nvGraphicFramePr>
        <p:xfrm>
          <a:off x="5600700" y="2076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{7FD39333-5DE2-4E6B-A8AE-7417B985FE2A}</a:tableStyleId>
              </a:tblPr>
              <a:tblGrid>
                <a:gridCol w="1260500"/>
                <a:gridCol w="963050"/>
              </a:tblGrid>
              <a:tr h="2360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Length (m)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0" marL="18000">
                    <a:solidFill>
                      <a:srgbClr val="E6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Price (£)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0" marL="18000">
                    <a:solidFill>
                      <a:srgbClr val="E6F2F2"/>
                    </a:solidFill>
                  </a:tcPr>
                </a:tc>
              </a:tr>
              <a:tr h="2360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4.8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8.40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0" marL="18000"/>
                </a:tc>
              </a:tr>
              <a:tr h="2360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0" marL="18000"/>
                </a:tc>
              </a:tr>
            </a:tbl>
          </a:graphicData>
        </a:graphic>
      </p:graphicFrame>
      <p:sp>
        <p:nvSpPr>
          <p:cNvPr id="1270" name="Google Shape;1270;p104"/>
          <p:cNvSpPr/>
          <p:nvPr/>
        </p:nvSpPr>
        <p:spPr>
          <a:xfrm rot="5400000">
            <a:off x="7702600" y="2373000"/>
            <a:ext cx="335700" cy="699300"/>
          </a:xfrm>
          <a:prstGeom prst="arc">
            <a:avLst>
              <a:gd fmla="val 10729459" name="adj1"/>
              <a:gd fmla="val 472" name="adj2"/>
            </a:avLst>
          </a:prstGeom>
          <a:noFill/>
          <a:ln cap="flat" cmpd="sng" w="28575">
            <a:solidFill>
              <a:srgbClr val="037B7D"/>
            </a:solidFill>
            <a:prstDash val="solid"/>
            <a:round/>
            <a:headEnd len="sm" w="sm" type="none"/>
            <a:tailEnd len="sm" w="sm" type="triangl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1" name="Google Shape;1271;p104"/>
          <p:cNvSpPr/>
          <p:nvPr/>
        </p:nvSpPr>
        <p:spPr>
          <a:xfrm flipH="1" rot="-5400000">
            <a:off x="5381075" y="2427300"/>
            <a:ext cx="335700" cy="590700"/>
          </a:xfrm>
          <a:prstGeom prst="arc">
            <a:avLst>
              <a:gd fmla="val 10729459" name="adj1"/>
              <a:gd fmla="val 472" name="adj2"/>
            </a:avLst>
          </a:prstGeom>
          <a:noFill/>
          <a:ln cap="flat" cmpd="sng" w="28575">
            <a:solidFill>
              <a:srgbClr val="037B7D"/>
            </a:solidFill>
            <a:prstDash val="solid"/>
            <a:round/>
            <a:headEnd len="sm" w="sm" type="none"/>
            <a:tailEnd len="sm" w="sm" type="triangl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2" name="Google Shape;1272;p104"/>
          <p:cNvSpPr txBox="1"/>
          <p:nvPr>
            <p:ph idx="1" type="body"/>
          </p:nvPr>
        </p:nvSpPr>
        <p:spPr>
          <a:xfrm>
            <a:off x="8272074" y="2553189"/>
            <a:ext cx="590700" cy="43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÷ 4.8</a:t>
            </a:r>
            <a:endParaRPr sz="1800"/>
          </a:p>
        </p:txBody>
      </p:sp>
      <p:sp>
        <p:nvSpPr>
          <p:cNvPr id="1273" name="Google Shape;1273;p104"/>
          <p:cNvSpPr txBox="1"/>
          <p:nvPr>
            <p:ph idx="1" type="body"/>
          </p:nvPr>
        </p:nvSpPr>
        <p:spPr>
          <a:xfrm>
            <a:off x="6861200" y="2705600"/>
            <a:ext cx="963000" cy="30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1.75</a:t>
            </a:r>
            <a:endParaRPr sz="1800"/>
          </a:p>
        </p:txBody>
      </p:sp>
      <p:sp>
        <p:nvSpPr>
          <p:cNvPr id="1274" name="Google Shape;1274;p104"/>
          <p:cNvSpPr txBox="1"/>
          <p:nvPr>
            <p:ph idx="1" type="body"/>
          </p:nvPr>
        </p:nvSpPr>
        <p:spPr>
          <a:xfrm>
            <a:off x="324000" y="3197700"/>
            <a:ext cx="8237700" cy="129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cost per metre is the same for each length of wood.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In this situation you would definitely want to keep the wastage to a minimum as there is not a value for money benefit in buying longer lengths of wood.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8" name="Shape 1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9" name="Google Shape;1279;p10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Finance in interior design</a:t>
            </a:r>
            <a:endParaRPr/>
          </a:p>
        </p:txBody>
      </p:sp>
      <p:sp>
        <p:nvSpPr>
          <p:cNvPr id="1280" name="Google Shape;1280;p105"/>
          <p:cNvSpPr txBox="1"/>
          <p:nvPr>
            <p:ph idx="1" type="body"/>
          </p:nvPr>
        </p:nvSpPr>
        <p:spPr>
          <a:xfrm>
            <a:off x="324000" y="606900"/>
            <a:ext cx="6152100" cy="126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An interior designer wants to construct two of these bookshelves in an alcove.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Below is a sketch of the book shelf.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/>
              <a:t>Calculate the cost of wood ensuring minimum wastage.</a:t>
            </a:r>
            <a:endParaRPr sz="2000"/>
          </a:p>
        </p:txBody>
      </p:sp>
      <p:grpSp>
        <p:nvGrpSpPr>
          <p:cNvPr id="1281" name="Google Shape;1281;p105"/>
          <p:cNvGrpSpPr/>
          <p:nvPr/>
        </p:nvGrpSpPr>
        <p:grpSpPr>
          <a:xfrm>
            <a:off x="1210700" y="2277697"/>
            <a:ext cx="2311450" cy="2582225"/>
            <a:chOff x="1210700" y="2277697"/>
            <a:chExt cx="2311450" cy="2582225"/>
          </a:xfrm>
        </p:grpSpPr>
        <p:sp>
          <p:nvSpPr>
            <p:cNvPr id="1282" name="Google Shape;1282;p105"/>
            <p:cNvSpPr/>
            <p:nvPr/>
          </p:nvSpPr>
          <p:spPr>
            <a:xfrm>
              <a:off x="1851450" y="2279872"/>
              <a:ext cx="1670700" cy="2157300"/>
            </a:xfrm>
            <a:prstGeom prst="rect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283" name="Google Shape;1283;p105"/>
            <p:cNvCxnSpPr/>
            <p:nvPr/>
          </p:nvCxnSpPr>
          <p:spPr>
            <a:xfrm>
              <a:off x="1749850" y="2277697"/>
              <a:ext cx="0" cy="21573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1284" name="Google Shape;1284;p105"/>
            <p:cNvCxnSpPr/>
            <p:nvPr/>
          </p:nvCxnSpPr>
          <p:spPr>
            <a:xfrm>
              <a:off x="1851450" y="2694472"/>
              <a:ext cx="1658400" cy="0"/>
            </a:xfrm>
            <a:prstGeom prst="straightConnector1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85" name="Google Shape;1285;p105"/>
            <p:cNvCxnSpPr/>
            <p:nvPr/>
          </p:nvCxnSpPr>
          <p:spPr>
            <a:xfrm>
              <a:off x="1851450" y="3227872"/>
              <a:ext cx="1658400" cy="0"/>
            </a:xfrm>
            <a:prstGeom prst="straightConnector1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86" name="Google Shape;1286;p105"/>
            <p:cNvCxnSpPr/>
            <p:nvPr/>
          </p:nvCxnSpPr>
          <p:spPr>
            <a:xfrm>
              <a:off x="1851450" y="4066072"/>
              <a:ext cx="1658400" cy="0"/>
            </a:xfrm>
            <a:prstGeom prst="straightConnector1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287" name="Google Shape;1287;p105"/>
            <p:cNvSpPr txBox="1"/>
            <p:nvPr/>
          </p:nvSpPr>
          <p:spPr>
            <a:xfrm>
              <a:off x="1210700" y="3102822"/>
              <a:ext cx="6153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2 m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288" name="Google Shape;1288;p105"/>
            <p:cNvCxnSpPr/>
            <p:nvPr/>
          </p:nvCxnSpPr>
          <p:spPr>
            <a:xfrm>
              <a:off x="1851450" y="4523272"/>
              <a:ext cx="16584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1289" name="Google Shape;1289;p105"/>
            <p:cNvSpPr txBox="1"/>
            <p:nvPr/>
          </p:nvSpPr>
          <p:spPr>
            <a:xfrm>
              <a:off x="2357775" y="4398222"/>
              <a:ext cx="8697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1.</a:t>
              </a: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2 m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aphicFrame>
        <p:nvGraphicFramePr>
          <p:cNvPr id="1290" name="Google Shape;1290;p105"/>
          <p:cNvGraphicFramePr/>
          <p:nvPr/>
        </p:nvGraphicFramePr>
        <p:xfrm>
          <a:off x="6521600" y="73869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{7FD39333-5DE2-4E6B-A8AE-7417B985FE2A}</a:tableStyleId>
              </a:tblPr>
              <a:tblGrid>
                <a:gridCol w="1298000"/>
                <a:gridCol w="1000400"/>
              </a:tblGrid>
              <a:tr h="100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Length (m)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Price (£)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F2F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2.4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4.20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5.25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3.6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6.30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4.2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7.35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4.8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8.40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1291" name="Google Shape;1291;p105"/>
          <p:cNvSpPr txBox="1"/>
          <p:nvPr/>
        </p:nvSpPr>
        <p:spPr>
          <a:xfrm>
            <a:off x="3567775" y="3118075"/>
            <a:ext cx="52521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Would it be sensible to start with the longer or shorter lengths?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The longer lengths because ‘off cuts’ may be usable for the shorter lengths.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5" name="Shape 1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6" name="Google Shape;1296;p10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Finance in interior design</a:t>
            </a:r>
            <a:endParaRPr/>
          </a:p>
        </p:txBody>
      </p:sp>
      <p:sp>
        <p:nvSpPr>
          <p:cNvPr id="1297" name="Google Shape;1297;p106"/>
          <p:cNvSpPr txBox="1"/>
          <p:nvPr/>
        </p:nvSpPr>
        <p:spPr>
          <a:xfrm>
            <a:off x="324000" y="738700"/>
            <a:ext cx="6380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Two bookshelves are required.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8" name="Google Shape;1298;p106"/>
          <p:cNvSpPr txBox="1"/>
          <p:nvPr/>
        </p:nvSpPr>
        <p:spPr>
          <a:xfrm>
            <a:off x="2887200" y="1210900"/>
            <a:ext cx="3776400" cy="26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How can we make four 2 m lengths?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Buy: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Kalam"/>
              <a:buChar char="●"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Four 2.4 m lengths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Kalam"/>
              <a:buChar char="●"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Four 3 m lengths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Kalam"/>
              <a:buChar char="●"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Four 3.6 m lengths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Kalam"/>
              <a:buChar char="●"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Two 4.2 m lengths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Kalam"/>
              <a:buChar char="●"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Two 4.8 m lengths 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99" name="Google Shape;1299;p106"/>
          <p:cNvSpPr txBox="1"/>
          <p:nvPr/>
        </p:nvSpPr>
        <p:spPr>
          <a:xfrm>
            <a:off x="2863100" y="3887000"/>
            <a:ext cx="5025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But which produces the least wastage?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graphicFrame>
        <p:nvGraphicFramePr>
          <p:cNvPr id="1300" name="Google Shape;1300;p106"/>
          <p:cNvGraphicFramePr/>
          <p:nvPr/>
        </p:nvGraphicFramePr>
        <p:xfrm>
          <a:off x="6521600" y="73869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{7FD39333-5DE2-4E6B-A8AE-7417B985FE2A}</a:tableStyleId>
              </a:tblPr>
              <a:tblGrid>
                <a:gridCol w="1298000"/>
                <a:gridCol w="1000400"/>
              </a:tblGrid>
              <a:tr h="100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Length (m)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Price (£)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F2F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2.4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4.20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5.25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3.6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6.30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4.2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7.35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4.8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8.40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pSp>
        <p:nvGrpSpPr>
          <p:cNvPr id="1301" name="Google Shape;1301;p106"/>
          <p:cNvGrpSpPr/>
          <p:nvPr/>
        </p:nvGrpSpPr>
        <p:grpSpPr>
          <a:xfrm>
            <a:off x="324000" y="1393997"/>
            <a:ext cx="2311450" cy="2582225"/>
            <a:chOff x="1210700" y="2277697"/>
            <a:chExt cx="2311450" cy="2582225"/>
          </a:xfrm>
        </p:grpSpPr>
        <p:sp>
          <p:nvSpPr>
            <p:cNvPr id="1302" name="Google Shape;1302;p106"/>
            <p:cNvSpPr/>
            <p:nvPr/>
          </p:nvSpPr>
          <p:spPr>
            <a:xfrm>
              <a:off x="1851450" y="2279872"/>
              <a:ext cx="1670700" cy="2157300"/>
            </a:xfrm>
            <a:prstGeom prst="rect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303" name="Google Shape;1303;p106"/>
            <p:cNvCxnSpPr/>
            <p:nvPr/>
          </p:nvCxnSpPr>
          <p:spPr>
            <a:xfrm>
              <a:off x="1749850" y="2277697"/>
              <a:ext cx="0" cy="21573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1304" name="Google Shape;1304;p106"/>
            <p:cNvCxnSpPr/>
            <p:nvPr/>
          </p:nvCxnSpPr>
          <p:spPr>
            <a:xfrm>
              <a:off x="1851450" y="2694472"/>
              <a:ext cx="1658400" cy="0"/>
            </a:xfrm>
            <a:prstGeom prst="straightConnector1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05" name="Google Shape;1305;p106"/>
            <p:cNvCxnSpPr/>
            <p:nvPr/>
          </p:nvCxnSpPr>
          <p:spPr>
            <a:xfrm>
              <a:off x="1851450" y="3227872"/>
              <a:ext cx="1658400" cy="0"/>
            </a:xfrm>
            <a:prstGeom prst="straightConnector1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06" name="Google Shape;1306;p106"/>
            <p:cNvCxnSpPr/>
            <p:nvPr/>
          </p:nvCxnSpPr>
          <p:spPr>
            <a:xfrm>
              <a:off x="1851450" y="4066072"/>
              <a:ext cx="1658400" cy="0"/>
            </a:xfrm>
            <a:prstGeom prst="straightConnector1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307" name="Google Shape;1307;p106"/>
            <p:cNvSpPr txBox="1"/>
            <p:nvPr/>
          </p:nvSpPr>
          <p:spPr>
            <a:xfrm>
              <a:off x="1210700" y="3102822"/>
              <a:ext cx="6153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2 m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308" name="Google Shape;1308;p106"/>
            <p:cNvCxnSpPr/>
            <p:nvPr/>
          </p:nvCxnSpPr>
          <p:spPr>
            <a:xfrm>
              <a:off x="1851450" y="4523272"/>
              <a:ext cx="16584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1309" name="Google Shape;1309;p106"/>
            <p:cNvSpPr txBox="1"/>
            <p:nvPr/>
          </p:nvSpPr>
          <p:spPr>
            <a:xfrm>
              <a:off x="2357775" y="4398222"/>
              <a:ext cx="8697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1.2 m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3" name="Shape 1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4" name="Google Shape;1314;p107"/>
          <p:cNvSpPr/>
          <p:nvPr/>
        </p:nvSpPr>
        <p:spPr>
          <a:xfrm>
            <a:off x="461250" y="2485543"/>
            <a:ext cx="5251800" cy="360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15" name="Google Shape;1315;p10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Finance in interior design</a:t>
            </a:r>
            <a:endParaRPr/>
          </a:p>
        </p:txBody>
      </p:sp>
      <p:sp>
        <p:nvSpPr>
          <p:cNvPr id="1316" name="Google Shape;1316;p107"/>
          <p:cNvSpPr txBox="1"/>
          <p:nvPr/>
        </p:nvSpPr>
        <p:spPr>
          <a:xfrm>
            <a:off x="324000" y="1363300"/>
            <a:ext cx="5932800" cy="22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Let’s consider wastage for each: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●"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Four 2.4 m lengths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●"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Four 3 m lengths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●"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Four 3.6 m lengths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●"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Two 4.2 m lengths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●"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Two 4.8 m lengths 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17" name="Google Shape;1317;p107"/>
          <p:cNvSpPr txBox="1"/>
          <p:nvPr/>
        </p:nvSpPr>
        <p:spPr>
          <a:xfrm>
            <a:off x="3369600" y="1705075"/>
            <a:ext cx="3025200" cy="19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Four 0.4 m lengths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Four 1 m lengths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Four 1.6 m lengths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Two 0.2 m lengths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Two 0.8 m lengths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18" name="Google Shape;1318;p107"/>
          <p:cNvSpPr/>
          <p:nvPr/>
        </p:nvSpPr>
        <p:spPr>
          <a:xfrm>
            <a:off x="461250" y="2854525"/>
            <a:ext cx="5251800" cy="360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19" name="Google Shape;1319;p107"/>
          <p:cNvSpPr txBox="1"/>
          <p:nvPr/>
        </p:nvSpPr>
        <p:spPr>
          <a:xfrm>
            <a:off x="324000" y="3625900"/>
            <a:ext cx="7684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Produces the least wastage.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20" name="Google Shape;1320;p107"/>
          <p:cNvSpPr txBox="1"/>
          <p:nvPr/>
        </p:nvSpPr>
        <p:spPr>
          <a:xfrm>
            <a:off x="324000" y="4083100"/>
            <a:ext cx="8496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However, the ‘off cuts’ here can be used for the horizontal lengths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321" name="Google Shape;1321;p107"/>
          <p:cNvGraphicFramePr/>
          <p:nvPr/>
        </p:nvGraphicFramePr>
        <p:xfrm>
          <a:off x="6521600" y="73869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{7FD39333-5DE2-4E6B-A8AE-7417B985FE2A}</a:tableStyleId>
              </a:tblPr>
              <a:tblGrid>
                <a:gridCol w="1298000"/>
                <a:gridCol w="1000400"/>
              </a:tblGrid>
              <a:tr h="100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Length (m)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Price (£)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F2F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2.4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4.20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5.25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3.6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6.30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4.2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7.35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4.8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8.40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1322" name="Google Shape;1322;p107"/>
          <p:cNvSpPr txBox="1"/>
          <p:nvPr/>
        </p:nvSpPr>
        <p:spPr>
          <a:xfrm>
            <a:off x="324000" y="738700"/>
            <a:ext cx="6380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Two bookshelves are required.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6" name="Shape 1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7" name="Google Shape;1327;p10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Finance in interior design</a:t>
            </a:r>
            <a:endParaRPr/>
          </a:p>
        </p:txBody>
      </p:sp>
      <p:sp>
        <p:nvSpPr>
          <p:cNvPr id="1328" name="Google Shape;1328;p108"/>
          <p:cNvSpPr txBox="1"/>
          <p:nvPr/>
        </p:nvSpPr>
        <p:spPr>
          <a:xfrm>
            <a:off x="2887200" y="1210900"/>
            <a:ext cx="3776400" cy="26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How can we make ten 1.2 m lengths?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Buy: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Kalam"/>
              <a:buChar char="●"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Five 2.4 m lengths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Kalam"/>
              <a:buChar char="●"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Five 3 m lengths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Kalam"/>
              <a:buChar char="●"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Four 3.6 m lengths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Kalam"/>
              <a:buChar char="●"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Four 4.2 m lengths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Kalam"/>
              <a:buChar char="●"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Three 4.8 m lengths 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29" name="Google Shape;1329;p108"/>
          <p:cNvSpPr txBox="1"/>
          <p:nvPr/>
        </p:nvSpPr>
        <p:spPr>
          <a:xfrm>
            <a:off x="2863100" y="3887000"/>
            <a:ext cx="5025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But which produces the least wastage?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graphicFrame>
        <p:nvGraphicFramePr>
          <p:cNvPr id="1330" name="Google Shape;1330;p108"/>
          <p:cNvGraphicFramePr/>
          <p:nvPr/>
        </p:nvGraphicFramePr>
        <p:xfrm>
          <a:off x="6521600" y="73869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{7FD39333-5DE2-4E6B-A8AE-7417B985FE2A}</a:tableStyleId>
              </a:tblPr>
              <a:tblGrid>
                <a:gridCol w="1298000"/>
                <a:gridCol w="1000400"/>
              </a:tblGrid>
              <a:tr h="100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Length (m)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Price (£)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F2F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2.4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4.20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5.25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3.6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6.30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4.2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7.35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4.8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8.40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pSp>
        <p:nvGrpSpPr>
          <p:cNvPr id="1331" name="Google Shape;1331;p108"/>
          <p:cNvGrpSpPr/>
          <p:nvPr/>
        </p:nvGrpSpPr>
        <p:grpSpPr>
          <a:xfrm>
            <a:off x="324000" y="1393997"/>
            <a:ext cx="2311450" cy="2582225"/>
            <a:chOff x="1210700" y="2277697"/>
            <a:chExt cx="2311450" cy="2582225"/>
          </a:xfrm>
        </p:grpSpPr>
        <p:sp>
          <p:nvSpPr>
            <p:cNvPr id="1332" name="Google Shape;1332;p108"/>
            <p:cNvSpPr/>
            <p:nvPr/>
          </p:nvSpPr>
          <p:spPr>
            <a:xfrm>
              <a:off x="1851450" y="2279872"/>
              <a:ext cx="1670700" cy="2157300"/>
            </a:xfrm>
            <a:prstGeom prst="rect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333" name="Google Shape;1333;p108"/>
            <p:cNvCxnSpPr/>
            <p:nvPr/>
          </p:nvCxnSpPr>
          <p:spPr>
            <a:xfrm>
              <a:off x="1749850" y="2277697"/>
              <a:ext cx="0" cy="21573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1334" name="Google Shape;1334;p108"/>
            <p:cNvCxnSpPr/>
            <p:nvPr/>
          </p:nvCxnSpPr>
          <p:spPr>
            <a:xfrm>
              <a:off x="1851450" y="2694472"/>
              <a:ext cx="1658400" cy="0"/>
            </a:xfrm>
            <a:prstGeom prst="straightConnector1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35" name="Google Shape;1335;p108"/>
            <p:cNvCxnSpPr/>
            <p:nvPr/>
          </p:nvCxnSpPr>
          <p:spPr>
            <a:xfrm>
              <a:off x="1851450" y="3227872"/>
              <a:ext cx="1658400" cy="0"/>
            </a:xfrm>
            <a:prstGeom prst="straightConnector1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36" name="Google Shape;1336;p108"/>
            <p:cNvCxnSpPr/>
            <p:nvPr/>
          </p:nvCxnSpPr>
          <p:spPr>
            <a:xfrm>
              <a:off x="1851450" y="4066072"/>
              <a:ext cx="1658400" cy="0"/>
            </a:xfrm>
            <a:prstGeom prst="straightConnector1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337" name="Google Shape;1337;p108"/>
            <p:cNvSpPr txBox="1"/>
            <p:nvPr/>
          </p:nvSpPr>
          <p:spPr>
            <a:xfrm>
              <a:off x="1210700" y="3102822"/>
              <a:ext cx="6153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2 m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338" name="Google Shape;1338;p108"/>
            <p:cNvCxnSpPr/>
            <p:nvPr/>
          </p:nvCxnSpPr>
          <p:spPr>
            <a:xfrm>
              <a:off x="1851450" y="4523272"/>
              <a:ext cx="16584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1339" name="Google Shape;1339;p108"/>
            <p:cNvSpPr txBox="1"/>
            <p:nvPr/>
          </p:nvSpPr>
          <p:spPr>
            <a:xfrm>
              <a:off x="2357775" y="4398222"/>
              <a:ext cx="8697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1.2 m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340" name="Google Shape;1340;p108"/>
          <p:cNvSpPr txBox="1"/>
          <p:nvPr/>
        </p:nvSpPr>
        <p:spPr>
          <a:xfrm>
            <a:off x="324000" y="738700"/>
            <a:ext cx="6380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Two bookshelves are required.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4" name="Shape 1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5" name="Google Shape;1345;p109"/>
          <p:cNvSpPr txBox="1"/>
          <p:nvPr/>
        </p:nvSpPr>
        <p:spPr>
          <a:xfrm>
            <a:off x="324000" y="1363300"/>
            <a:ext cx="5932800" cy="22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Let’s consider wastage for each: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●"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Five 2.4 m lengths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●"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Five 3 m lengths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●"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Four 3.6 m lengths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●"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Four 4.2 m lengths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●"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Three 4.8 m lengths 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6" name="Google Shape;1346;p10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Finance in interior design</a:t>
            </a:r>
            <a:endParaRPr/>
          </a:p>
        </p:txBody>
      </p:sp>
      <p:sp>
        <p:nvSpPr>
          <p:cNvPr id="1347" name="Google Shape;1347;p109"/>
          <p:cNvSpPr txBox="1"/>
          <p:nvPr/>
        </p:nvSpPr>
        <p:spPr>
          <a:xfrm>
            <a:off x="3369600" y="1705075"/>
            <a:ext cx="3025200" cy="19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Zero wastage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Five 0.6 m lengths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One 2.4 m length 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Four 0.6 m lengths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One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2.4 m length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8" name="Google Shape;1348;p109"/>
          <p:cNvSpPr/>
          <p:nvPr/>
        </p:nvSpPr>
        <p:spPr>
          <a:xfrm>
            <a:off x="461250" y="1787725"/>
            <a:ext cx="5313300" cy="360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9" name="Google Shape;1349;p109"/>
          <p:cNvSpPr txBox="1"/>
          <p:nvPr/>
        </p:nvSpPr>
        <p:spPr>
          <a:xfrm>
            <a:off x="324000" y="3549700"/>
            <a:ext cx="84960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There would be zero wastage as each length can be cut exactly into 2 lengths each 1.2 metres in length.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Let’s take a look now at using ‘off cuts’ of the longer lengths.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350" name="Google Shape;1350;p109"/>
          <p:cNvGraphicFramePr/>
          <p:nvPr/>
        </p:nvGraphicFramePr>
        <p:xfrm>
          <a:off x="6521600" y="73869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{7FD39333-5DE2-4E6B-A8AE-7417B985FE2A}</a:tableStyleId>
              </a:tblPr>
              <a:tblGrid>
                <a:gridCol w="1298000"/>
                <a:gridCol w="1000400"/>
              </a:tblGrid>
              <a:tr h="100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Length (m)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Price (£)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F2F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2.4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4.20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5.25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3.6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6.30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4.2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7.35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4.8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8.40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1351" name="Google Shape;1351;p109"/>
          <p:cNvSpPr txBox="1"/>
          <p:nvPr/>
        </p:nvSpPr>
        <p:spPr>
          <a:xfrm>
            <a:off x="324000" y="738700"/>
            <a:ext cx="6380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Two bookshelves are required.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5" name="Shape 1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6" name="Google Shape;1356;p11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Finance in interior design</a:t>
            </a:r>
            <a:endParaRPr/>
          </a:p>
        </p:txBody>
      </p:sp>
      <p:sp>
        <p:nvSpPr>
          <p:cNvPr id="1357" name="Google Shape;1357;p110"/>
          <p:cNvSpPr txBox="1"/>
          <p:nvPr/>
        </p:nvSpPr>
        <p:spPr>
          <a:xfrm>
            <a:off x="2872825" y="2831300"/>
            <a:ext cx="3928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Produces the least wastage.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58" name="Google Shape;1358;p110"/>
          <p:cNvSpPr txBox="1"/>
          <p:nvPr/>
        </p:nvSpPr>
        <p:spPr>
          <a:xfrm>
            <a:off x="2872825" y="2480323"/>
            <a:ext cx="2306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Usable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‘off cuts’.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359" name="Google Shape;1359;p110"/>
          <p:cNvGraphicFramePr/>
          <p:nvPr/>
        </p:nvGraphicFramePr>
        <p:xfrm>
          <a:off x="357650" y="195916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{7FD39333-5DE2-4E6B-A8AE-7417B985FE2A}</a:tableStyleId>
              </a:tblPr>
              <a:tblGrid>
                <a:gridCol w="1331700"/>
                <a:gridCol w="1246575"/>
              </a:tblGrid>
              <a:tr h="100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Purchased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Length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Wastage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F2F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 × 3.6 m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× 1.6 m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× 4.2 m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× 0.2 m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1360" name="Google Shape;1360;p110"/>
          <p:cNvSpPr/>
          <p:nvPr/>
        </p:nvSpPr>
        <p:spPr>
          <a:xfrm>
            <a:off x="357650" y="2513809"/>
            <a:ext cx="4700400" cy="360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61" name="Google Shape;1361;p110"/>
          <p:cNvSpPr txBox="1"/>
          <p:nvPr>
            <p:ph idx="1" type="body"/>
          </p:nvPr>
        </p:nvSpPr>
        <p:spPr>
          <a:xfrm>
            <a:off x="324000" y="606900"/>
            <a:ext cx="6468000" cy="126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Wood required: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4 × 2 m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/>
              <a:t>10 × 1.2 m</a:t>
            </a:r>
            <a:endParaRPr sz="2000"/>
          </a:p>
        </p:txBody>
      </p:sp>
      <p:sp>
        <p:nvSpPr>
          <p:cNvPr id="1362" name="Google Shape;1362;p110"/>
          <p:cNvSpPr txBox="1"/>
          <p:nvPr>
            <p:ph idx="1" type="body"/>
          </p:nvPr>
        </p:nvSpPr>
        <p:spPr>
          <a:xfrm>
            <a:off x="324000" y="3350100"/>
            <a:ext cx="8496000" cy="126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These ‘off cuts’ can be used for four of the 1.2 m lengths.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How many 1.2 m lengths are still required?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10 − 4 = 6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graphicFrame>
        <p:nvGraphicFramePr>
          <p:cNvPr id="1363" name="Google Shape;1363;p110"/>
          <p:cNvGraphicFramePr/>
          <p:nvPr/>
        </p:nvGraphicFramePr>
        <p:xfrm>
          <a:off x="6521600" y="73869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{7FD39333-5DE2-4E6B-A8AE-7417B985FE2A}</a:tableStyleId>
              </a:tblPr>
              <a:tblGrid>
                <a:gridCol w="1298000"/>
                <a:gridCol w="1000400"/>
              </a:tblGrid>
              <a:tr h="100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Length (m)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Price (£)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F2F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2.4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4.20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5.25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3.6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6.30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4.2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7.35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4.8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8.40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7" name="Shape 1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8" name="Google Shape;1368;p111"/>
          <p:cNvSpPr txBox="1"/>
          <p:nvPr/>
        </p:nvSpPr>
        <p:spPr>
          <a:xfrm>
            <a:off x="324000" y="1363300"/>
            <a:ext cx="6350400" cy="15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What is the best way to purchase the above?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Either three 2.4 m lengths or two 3.6 m lengths.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Both of these produce zero wastage and both options result in the same price to pay.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69" name="Google Shape;1369;p11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Finance in interior design</a:t>
            </a:r>
            <a:endParaRPr/>
          </a:p>
        </p:txBody>
      </p:sp>
      <p:sp>
        <p:nvSpPr>
          <p:cNvPr id="1370" name="Google Shape;1370;p111"/>
          <p:cNvSpPr txBox="1"/>
          <p:nvPr/>
        </p:nvSpPr>
        <p:spPr>
          <a:xfrm>
            <a:off x="324000" y="639475"/>
            <a:ext cx="63804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Wood still required: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6 × 1.2 m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371" name="Google Shape;1371;p111"/>
          <p:cNvGraphicFramePr/>
          <p:nvPr/>
        </p:nvGraphicFramePr>
        <p:xfrm>
          <a:off x="6521600" y="73869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{7FD39333-5DE2-4E6B-A8AE-7417B985FE2A}</a:tableStyleId>
              </a:tblPr>
              <a:tblGrid>
                <a:gridCol w="1298000"/>
                <a:gridCol w="1000400"/>
              </a:tblGrid>
              <a:tr h="100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Length (m)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Price (£)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F2F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2.4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4.20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5.25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3.6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6.30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4.2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7.35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4.8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8.40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5" name="Shape 1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6" name="Google Shape;1376;p11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Finance in interior design</a:t>
            </a:r>
            <a:endParaRPr/>
          </a:p>
        </p:txBody>
      </p:sp>
      <p:sp>
        <p:nvSpPr>
          <p:cNvPr id="1377" name="Google Shape;1377;p112"/>
          <p:cNvSpPr txBox="1"/>
          <p:nvPr/>
        </p:nvSpPr>
        <p:spPr>
          <a:xfrm>
            <a:off x="324000" y="1761830"/>
            <a:ext cx="81507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We can either buy 2 × 4.2 m and 5 × 2.4 m lengths or 4 × 3.6 m and 2 × 3.6 m lengths.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78" name="Google Shape;1378;p112"/>
          <p:cNvSpPr txBox="1"/>
          <p:nvPr>
            <p:ph idx="1" type="body"/>
          </p:nvPr>
        </p:nvSpPr>
        <p:spPr>
          <a:xfrm>
            <a:off x="324000" y="606900"/>
            <a:ext cx="6468000" cy="126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Wood required:</a:t>
            </a:r>
            <a:endParaRPr sz="2000"/>
          </a:p>
          <a:p>
            <a:pPr indent="0" lvl="0" marL="0" rtl="0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4 × 2 m</a:t>
            </a:r>
            <a:endParaRPr sz="2000"/>
          </a:p>
          <a:p>
            <a:pPr indent="0" lvl="0" marL="0" rtl="0" algn="l">
              <a:lnSpc>
                <a:spcPct val="8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/>
              <a:t>10 × 1.2 m</a:t>
            </a:r>
            <a:endParaRPr sz="2000"/>
          </a:p>
        </p:txBody>
      </p:sp>
      <p:sp>
        <p:nvSpPr>
          <p:cNvPr id="1379" name="Google Shape;1379;p112"/>
          <p:cNvSpPr txBox="1"/>
          <p:nvPr/>
        </p:nvSpPr>
        <p:spPr>
          <a:xfrm>
            <a:off x="324000" y="2635300"/>
            <a:ext cx="8496000" cy="22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first option 2 × 4.2 m makes 4 × 2 m lengths and 0.4 m wastage and 5 × 2.4 m makes 10 × 1.2 m lengths with zero wastage.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second option 4 × 3.6 m makes 4 × 2 m lengths and 4 × 1.6 m wastage, 4 ×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 1.6 m which makes 4 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× 1.2 m lengths with 1.6 m wastage and 2 × 3.6 m makes 6 × 1.2 m lengths with zero wastage.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Therefore, the first option has the minimum wastage.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3" name="Shape 1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4" name="Google Shape;1384;p113"/>
          <p:cNvSpPr txBox="1"/>
          <p:nvPr/>
        </p:nvSpPr>
        <p:spPr>
          <a:xfrm>
            <a:off x="324000" y="1591900"/>
            <a:ext cx="6350400" cy="24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Cost of option 1   = 2 × £7.35 + 5 × £4.20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                   = £35.70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457200" lvl="0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Would you expect option 2 to cost less, the same or more than option 1? Justify your answer.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85" name="Google Shape;1385;p11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Finance in interior design</a:t>
            </a:r>
            <a:endParaRPr/>
          </a:p>
        </p:txBody>
      </p:sp>
      <p:sp>
        <p:nvSpPr>
          <p:cNvPr id="1386" name="Google Shape;1386;p113"/>
          <p:cNvSpPr txBox="1"/>
          <p:nvPr/>
        </p:nvSpPr>
        <p:spPr>
          <a:xfrm>
            <a:off x="324000" y="639475"/>
            <a:ext cx="63804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Calculate the cost of option 1: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 × 4.2 m lengths and 5 × 2.4 m lengths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387" name="Google Shape;1387;p113"/>
          <p:cNvGraphicFramePr/>
          <p:nvPr/>
        </p:nvGraphicFramePr>
        <p:xfrm>
          <a:off x="6521600" y="73869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{7FD39333-5DE2-4E6B-A8AE-7417B985FE2A}</a:tableStyleId>
              </a:tblPr>
              <a:tblGrid>
                <a:gridCol w="1298000"/>
                <a:gridCol w="1000400"/>
              </a:tblGrid>
              <a:tr h="100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Length (m)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Price (£)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F2F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2.4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4.20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5.25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3.6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6.30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4.2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7.35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4.8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8.40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1" name="Shape 1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" name="Google Shape;1392;p114"/>
          <p:cNvSpPr txBox="1"/>
          <p:nvPr>
            <p:ph idx="1" type="body"/>
          </p:nvPr>
        </p:nvSpPr>
        <p:spPr>
          <a:xfrm>
            <a:off x="324000" y="759300"/>
            <a:ext cx="6468000" cy="764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Calculate the cost of option 2: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4 × 3.6 m lengths and 2 × 3.6 m lengths</a:t>
            </a:r>
            <a:endParaRPr sz="23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 sz="2100"/>
          </a:p>
        </p:txBody>
      </p:sp>
      <p:sp>
        <p:nvSpPr>
          <p:cNvPr id="1393" name="Google Shape;1393;p11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Finance in interior design</a:t>
            </a:r>
            <a:endParaRPr/>
          </a:p>
        </p:txBody>
      </p:sp>
      <p:sp>
        <p:nvSpPr>
          <p:cNvPr id="1394" name="Google Shape;1394;p114"/>
          <p:cNvSpPr txBox="1"/>
          <p:nvPr>
            <p:ph idx="1" type="body"/>
          </p:nvPr>
        </p:nvSpPr>
        <p:spPr>
          <a:xfrm>
            <a:off x="324000" y="2967000"/>
            <a:ext cx="8496000" cy="143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>
                <a:latin typeface="Kalam"/>
                <a:ea typeface="Kalam"/>
                <a:cs typeface="Kalam"/>
                <a:sym typeface="Kalam"/>
              </a:rPr>
              <a:t>It </a:t>
            </a:r>
            <a:r>
              <a:rPr lang="en-GB" sz="2100">
                <a:latin typeface="Kalam"/>
                <a:ea typeface="Kalam"/>
                <a:cs typeface="Kalam"/>
                <a:sym typeface="Kalam"/>
              </a:rPr>
              <a:t>costs more.</a:t>
            </a:r>
            <a:r>
              <a:rPr lang="en-GB" sz="2100">
                <a:latin typeface="Kalam"/>
                <a:ea typeface="Kalam"/>
                <a:cs typeface="Kalam"/>
                <a:sym typeface="Kalam"/>
              </a:rPr>
              <a:t> Since the price per metre was the same </a:t>
            </a:r>
            <a:r>
              <a:rPr lang="en-GB" sz="2100">
                <a:latin typeface="Kalam"/>
                <a:ea typeface="Kalam"/>
                <a:cs typeface="Kalam"/>
                <a:sym typeface="Kalam"/>
              </a:rPr>
              <a:t>for</a:t>
            </a:r>
            <a:r>
              <a:rPr lang="en-GB" sz="2100">
                <a:latin typeface="Kalam"/>
                <a:ea typeface="Kalam"/>
                <a:cs typeface="Kalam"/>
                <a:sym typeface="Kalam"/>
              </a:rPr>
              <a:t> all lengths, it makes </a:t>
            </a:r>
            <a:r>
              <a:rPr lang="en-GB" sz="2100">
                <a:latin typeface="Kalam"/>
                <a:ea typeface="Kalam"/>
                <a:cs typeface="Kalam"/>
                <a:sym typeface="Kalam"/>
              </a:rPr>
              <a:t>sense</a:t>
            </a:r>
            <a:r>
              <a:rPr lang="en-GB" sz="2100">
                <a:latin typeface="Kalam"/>
                <a:ea typeface="Kalam"/>
                <a:cs typeface="Kalam"/>
                <a:sym typeface="Kalam"/>
              </a:rPr>
              <a:t> that the option with the minimum wastage is the cheapest.</a:t>
            </a:r>
            <a:endParaRPr sz="2100">
              <a:latin typeface="Kalam"/>
              <a:ea typeface="Kalam"/>
              <a:cs typeface="Kalam"/>
              <a:sym typeface="Kalam"/>
            </a:endParaRPr>
          </a:p>
        </p:txBody>
      </p:sp>
      <p:graphicFrame>
        <p:nvGraphicFramePr>
          <p:cNvPr id="1395" name="Google Shape;1395;p114"/>
          <p:cNvGraphicFramePr/>
          <p:nvPr/>
        </p:nvGraphicFramePr>
        <p:xfrm>
          <a:off x="6521600" y="73869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{7FD39333-5DE2-4E6B-A8AE-7417B985FE2A}</a:tableStyleId>
              </a:tblPr>
              <a:tblGrid>
                <a:gridCol w="1298000"/>
                <a:gridCol w="1000400"/>
              </a:tblGrid>
              <a:tr h="100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Length (m)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Price (£)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F2F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2.4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4.20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5.25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3.6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6.30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4.2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7.35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4.8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8.40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1396" name="Google Shape;1396;p114"/>
          <p:cNvSpPr txBox="1"/>
          <p:nvPr/>
        </p:nvSpPr>
        <p:spPr>
          <a:xfrm>
            <a:off x="324000" y="1591900"/>
            <a:ext cx="6350400" cy="9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Cost of option 2   = 4 × £6.30 + 2 × £6.30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                    = £37.80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0" name="Shape 1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1" name="Google Shape;1401;p115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Finance in interior design</a:t>
            </a:r>
            <a:endParaRPr/>
          </a:p>
        </p:txBody>
      </p:sp>
      <p:sp>
        <p:nvSpPr>
          <p:cNvPr id="1402" name="Google Shape;1402;p115"/>
          <p:cNvSpPr txBox="1"/>
          <p:nvPr>
            <p:ph idx="1" type="body"/>
          </p:nvPr>
        </p:nvSpPr>
        <p:spPr>
          <a:xfrm>
            <a:off x="324000" y="759300"/>
            <a:ext cx="59673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1) </a:t>
            </a:r>
            <a:r>
              <a:rPr lang="en-GB"/>
              <a:t>The total area that needs painting in a house is 211.2 m</a:t>
            </a:r>
            <a:r>
              <a:rPr baseline="30000" lang="en-GB"/>
              <a:t>2</a:t>
            </a:r>
            <a:r>
              <a:rPr lang="en-GB"/>
              <a:t>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The paint covers 16 m</a:t>
            </a:r>
            <a:r>
              <a:rPr baseline="30000" lang="en-GB"/>
              <a:t>2 </a:t>
            </a:r>
            <a:r>
              <a:rPr lang="en-GB"/>
              <a:t>per litre.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The walls will need 2 coats of paint.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Calculate the cost to paint the room, ensuring that there is minimum wastage.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403" name="Google Shape;1403;p115"/>
          <p:cNvGraphicFramePr/>
          <p:nvPr/>
        </p:nvGraphicFramePr>
        <p:xfrm>
          <a:off x="6291172" y="684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{7FD39333-5DE2-4E6B-A8AE-7417B985FE2A}</a:tableStyleId>
              </a:tblPr>
              <a:tblGrid>
                <a:gridCol w="1411300"/>
                <a:gridCol w="10406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Size of tin (l)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rgbClr val="E6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Cost (£)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rgbClr val="E6F2F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2.5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45.49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85.99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130.99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7" name="Shape 1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8" name="Google Shape;1408;p116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Finance in interior design</a:t>
            </a:r>
            <a:endParaRPr/>
          </a:p>
        </p:txBody>
      </p:sp>
      <p:sp>
        <p:nvSpPr>
          <p:cNvPr id="1409" name="Google Shape;1409;p116"/>
          <p:cNvSpPr txBox="1"/>
          <p:nvPr>
            <p:ph idx="4294967295" type="body"/>
          </p:nvPr>
        </p:nvSpPr>
        <p:spPr>
          <a:xfrm>
            <a:off x="324000" y="759300"/>
            <a:ext cx="6468000" cy="1812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/>
              <a:t>2) I need the following lengths of wood:</a:t>
            </a:r>
            <a:endParaRPr sz="21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100"/>
              <a:t>4 × 1.9 m, 6 × 1.7 m and 4 × 0.5 m </a:t>
            </a:r>
            <a:endParaRPr sz="21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100"/>
              <a:t>a) </a:t>
            </a:r>
            <a:r>
              <a:rPr lang="en-GB" sz="2100"/>
              <a:t>What is the cost of the wood with minimum wastage?</a:t>
            </a:r>
            <a:endParaRPr sz="21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100"/>
              <a:t>b) How much wastage is there?</a:t>
            </a:r>
            <a:endParaRPr sz="2100"/>
          </a:p>
        </p:txBody>
      </p:sp>
      <p:graphicFrame>
        <p:nvGraphicFramePr>
          <p:cNvPr id="1410" name="Google Shape;1410;p116"/>
          <p:cNvGraphicFramePr/>
          <p:nvPr/>
        </p:nvGraphicFramePr>
        <p:xfrm>
          <a:off x="6521600" y="73869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{7FD39333-5DE2-4E6B-A8AE-7417B985FE2A}</a:tableStyleId>
              </a:tblPr>
              <a:tblGrid>
                <a:gridCol w="1298000"/>
                <a:gridCol w="1000400"/>
              </a:tblGrid>
              <a:tr h="100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Length (m)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Price (£)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F2F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2.4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4.20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5.25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3.6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6.30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4.2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7.35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4.8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8.40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4" name="Shape 1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5" name="Google Shape;1415;p117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Finance in interior design</a:t>
            </a:r>
            <a:endParaRPr/>
          </a:p>
        </p:txBody>
      </p:sp>
      <p:sp>
        <p:nvSpPr>
          <p:cNvPr id="1416" name="Google Shape;1416;p117"/>
          <p:cNvSpPr txBox="1"/>
          <p:nvPr>
            <p:ph idx="1" type="body"/>
          </p:nvPr>
        </p:nvSpPr>
        <p:spPr>
          <a:xfrm>
            <a:off x="324000" y="608686"/>
            <a:ext cx="5932800" cy="239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1) </a:t>
            </a:r>
            <a:r>
              <a:rPr lang="en-GB" sz="2000"/>
              <a:t>T</a:t>
            </a:r>
            <a:r>
              <a:rPr lang="en-GB" sz="2000"/>
              <a:t>he total area that needs painting in a house is 211.2 m</a:t>
            </a:r>
            <a:r>
              <a:rPr baseline="30000" lang="en-GB" sz="2000"/>
              <a:t>2</a:t>
            </a:r>
            <a:r>
              <a:rPr lang="en-GB" sz="2000"/>
              <a:t>.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The paint covers 16 m</a:t>
            </a:r>
            <a:r>
              <a:rPr baseline="30000" lang="en-GB" sz="2000"/>
              <a:t>2 </a:t>
            </a:r>
            <a:r>
              <a:rPr lang="en-GB" sz="2000"/>
              <a:t>per litre.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The walls will need 2 coats of paint.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/>
              <a:t>Calculate the cost to paint the room, ensuring that there is minimum wastage.</a:t>
            </a:r>
            <a:endParaRPr sz="2000"/>
          </a:p>
        </p:txBody>
      </p:sp>
      <p:graphicFrame>
        <p:nvGraphicFramePr>
          <p:cNvPr id="1417" name="Google Shape;1417;p117"/>
          <p:cNvGraphicFramePr/>
          <p:nvPr/>
        </p:nvGraphicFramePr>
        <p:xfrm>
          <a:off x="6291172" y="684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{7FD39333-5DE2-4E6B-A8AE-7417B985FE2A}</a:tableStyleId>
              </a:tblPr>
              <a:tblGrid>
                <a:gridCol w="1411300"/>
                <a:gridCol w="10406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Size of tin (l)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rgbClr val="E6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Cost (£)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rgbClr val="E6F2F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2.5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45.49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85.99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130.99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1418" name="Google Shape;1418;p117"/>
          <p:cNvSpPr txBox="1"/>
          <p:nvPr>
            <p:ph idx="1" type="body"/>
          </p:nvPr>
        </p:nvSpPr>
        <p:spPr>
          <a:xfrm>
            <a:off x="324000" y="2920186"/>
            <a:ext cx="8496000" cy="207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latin typeface="Kalam"/>
                <a:ea typeface="Kalam"/>
                <a:cs typeface="Kalam"/>
                <a:sym typeface="Kalam"/>
              </a:rPr>
              <a:t>Number of litres needed	= 211.2 × 2 ÷ 16</a:t>
            </a:r>
            <a:endParaRPr sz="1900">
              <a:latin typeface="Kalam"/>
              <a:ea typeface="Kalam"/>
              <a:cs typeface="Kalam"/>
              <a:sym typeface="Kalam"/>
            </a:endParaRPr>
          </a:p>
          <a:p>
            <a:pPr indent="0" lvl="0" marL="2743200" rtl="0" algn="l">
              <a:lnSpc>
                <a:spcPct val="6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900">
                <a:latin typeface="Kalam"/>
                <a:ea typeface="Kalam"/>
                <a:cs typeface="Kalam"/>
                <a:sym typeface="Kalam"/>
              </a:rPr>
              <a:t>= 26.4 </a:t>
            </a:r>
            <a:endParaRPr sz="1900">
              <a:latin typeface="Kalam"/>
              <a:ea typeface="Kalam"/>
              <a:cs typeface="Kalam"/>
              <a:sym typeface="Kalam"/>
            </a:endParaRPr>
          </a:p>
          <a:p>
            <a:pPr indent="0" lvl="0" marL="2743200" rtl="0" algn="l">
              <a:lnSpc>
                <a:spcPct val="6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900">
                <a:latin typeface="Kalam"/>
                <a:ea typeface="Kalam"/>
                <a:cs typeface="Kalam"/>
                <a:sym typeface="Kalam"/>
              </a:rPr>
              <a:t>= 27 litres</a:t>
            </a:r>
            <a:endParaRPr sz="19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6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900">
                <a:latin typeface="Kalam"/>
                <a:ea typeface="Kalam"/>
                <a:cs typeface="Kalam"/>
                <a:sym typeface="Kalam"/>
              </a:rPr>
              <a:t>The closest you can get to 27 litres is 2 × 10 litres, 1 × 5 litres and 1 × 2.5 litres.</a:t>
            </a:r>
            <a:endParaRPr sz="19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6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900">
                <a:latin typeface="Kalam"/>
                <a:ea typeface="Kalam"/>
                <a:cs typeface="Kalam"/>
                <a:sym typeface="Kalam"/>
              </a:rPr>
              <a:t>Cost = 2 × £130.99 + £85.99 + £45.49</a:t>
            </a:r>
            <a:endParaRPr sz="19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6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900">
                <a:latin typeface="Kalam"/>
                <a:ea typeface="Kalam"/>
                <a:cs typeface="Kalam"/>
                <a:sym typeface="Kalam"/>
              </a:rPr>
              <a:t>      = £393.46  </a:t>
            </a:r>
            <a:endParaRPr sz="190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2" name="Shape 1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" name="Google Shape;1423;p118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Finance in interior design</a:t>
            </a:r>
            <a:endParaRPr/>
          </a:p>
        </p:txBody>
      </p:sp>
      <p:sp>
        <p:nvSpPr>
          <p:cNvPr id="1424" name="Google Shape;1424;p118"/>
          <p:cNvSpPr txBox="1"/>
          <p:nvPr>
            <p:ph idx="4294967295" type="body"/>
          </p:nvPr>
        </p:nvSpPr>
        <p:spPr>
          <a:xfrm>
            <a:off x="324000" y="759300"/>
            <a:ext cx="6468000" cy="1812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/>
              <a:t>2) </a:t>
            </a:r>
            <a:r>
              <a:rPr lang="en-GB" sz="2100"/>
              <a:t>I need the following lengths of wood:</a:t>
            </a:r>
            <a:endParaRPr sz="21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100"/>
              <a:t>4 × 1.9 m, 6 × 1.7 m and 4 × 0.5 m </a:t>
            </a:r>
            <a:endParaRPr sz="21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100"/>
              <a:t>a) </a:t>
            </a:r>
            <a:r>
              <a:rPr lang="en-GB" sz="2100"/>
              <a:t>What is the cost of the wood with minimum wastage?</a:t>
            </a:r>
            <a:endParaRPr sz="21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100"/>
              <a:t>b) How much wastage is there?</a:t>
            </a:r>
            <a:endParaRPr sz="2100"/>
          </a:p>
        </p:txBody>
      </p:sp>
      <p:sp>
        <p:nvSpPr>
          <p:cNvPr id="1425" name="Google Shape;1425;p118"/>
          <p:cNvSpPr txBox="1"/>
          <p:nvPr>
            <p:ph idx="4294967295" type="body"/>
          </p:nvPr>
        </p:nvSpPr>
        <p:spPr>
          <a:xfrm>
            <a:off x="324000" y="2967000"/>
            <a:ext cx="8496000" cy="143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Kalam"/>
                <a:ea typeface="Kalam"/>
                <a:cs typeface="Kalam"/>
                <a:sym typeface="Kalam"/>
              </a:rPr>
              <a:t>4 × 2.4 m makes 4 × 1.9 m lengths and 4 × 0.5 m lengths left over.  </a:t>
            </a:r>
            <a:br>
              <a:rPr lang="en-GB" sz="2100">
                <a:latin typeface="Kalam"/>
                <a:ea typeface="Kalam"/>
                <a:cs typeface="Kalam"/>
                <a:sym typeface="Kalam"/>
              </a:rPr>
            </a:br>
            <a:r>
              <a:rPr lang="en-GB" sz="2100">
                <a:latin typeface="Kalam"/>
                <a:ea typeface="Kalam"/>
                <a:cs typeface="Kalam"/>
                <a:sym typeface="Kalam"/>
              </a:rPr>
              <a:t>3 × 3.6 m makes 6 × 1.7 m lengths.</a:t>
            </a:r>
            <a:endParaRPr sz="21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100">
                <a:latin typeface="Kalam"/>
                <a:ea typeface="Kalam"/>
                <a:cs typeface="Kalam"/>
                <a:sym typeface="Kalam"/>
              </a:rPr>
              <a:t>a) </a:t>
            </a:r>
            <a:r>
              <a:rPr lang="en-GB" sz="2100">
                <a:latin typeface="Kalam"/>
                <a:ea typeface="Kalam"/>
                <a:cs typeface="Kalam"/>
                <a:sym typeface="Kalam"/>
              </a:rPr>
              <a:t>4 × £4.20 + 3 × £6.30 = £35.70</a:t>
            </a:r>
            <a:endParaRPr sz="21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100">
                <a:latin typeface="Kalam"/>
                <a:ea typeface="Kalam"/>
                <a:cs typeface="Kalam"/>
                <a:sym typeface="Kalam"/>
              </a:rPr>
              <a:t>b) 0.6 m wastage</a:t>
            </a:r>
            <a:endParaRPr sz="2100">
              <a:latin typeface="Kalam"/>
              <a:ea typeface="Kalam"/>
              <a:cs typeface="Kalam"/>
              <a:sym typeface="Kalam"/>
            </a:endParaRPr>
          </a:p>
        </p:txBody>
      </p:sp>
      <p:graphicFrame>
        <p:nvGraphicFramePr>
          <p:cNvPr id="1426" name="Google Shape;1426;p118"/>
          <p:cNvGraphicFramePr/>
          <p:nvPr/>
        </p:nvGraphicFramePr>
        <p:xfrm>
          <a:off x="6521600" y="73869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{7FD39333-5DE2-4E6B-A8AE-7417B985FE2A}</a:tableStyleId>
              </a:tblPr>
              <a:tblGrid>
                <a:gridCol w="1298000"/>
                <a:gridCol w="1000400"/>
              </a:tblGrid>
              <a:tr h="100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Length (m)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Price (£)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F2F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2.4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4.20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5.25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3.6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6.30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4.2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7.35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4.8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8.40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0" name="Shape 1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1" name="Google Shape;1431;p119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An interior designer uses many different areas of maths.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Two examples are calculating the number of tins of paint required to </a:t>
            </a:r>
            <a:r>
              <a:rPr lang="en-GB"/>
              <a:t>complete a job and the number of rolls of wallpaper required to complete a job.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Often an interior designer will want to consider keeping wastage of materials to a minimum, unless they may be able to use the materials on another job.</a:t>
            </a:r>
            <a:endParaRPr/>
          </a:p>
        </p:txBody>
      </p:sp>
      <p:sp>
        <p:nvSpPr>
          <p:cNvPr id="1432" name="Google Shape;1432;p119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Interior designer</a:t>
            </a:r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6" name="Shape 1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7" name="Google Shape;1437;p120"/>
          <p:cNvSpPr txBox="1"/>
          <p:nvPr>
            <p:ph idx="1" type="subTitle"/>
          </p:nvPr>
        </p:nvSpPr>
        <p:spPr>
          <a:xfrm>
            <a:off x="661775" y="1129425"/>
            <a:ext cx="7351200" cy="2358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© Oak National Academy 2024.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Produced in partnership with Mathematics in Education and Industry.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Licensed on the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Open Government Licence v3.0</a:t>
            </a:r>
            <a:r>
              <a:rPr lang="en-GB"/>
              <a:t>, except where otherwise stated. See </a:t>
            </a:r>
            <a:r>
              <a:rPr lang="en-GB" u="sng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and conditions</a:t>
            </a:r>
            <a:r>
              <a:rPr lang="en-GB"/>
              <a:t>.</a:t>
            </a:r>
            <a:endParaRPr/>
          </a:p>
        </p:txBody>
      </p:sp>
      <p:pic>
        <p:nvPicPr>
          <p:cNvPr id="1438" name="Google Shape;1438;p1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42100" y="3453600"/>
            <a:ext cx="652800" cy="32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ak theme - September 2023">
  <a:themeElements>
    <a:clrScheme name="Simple Light">
      <a:dk1>
        <a:srgbClr val="000000"/>
      </a:dk1>
      <a:lt1>
        <a:srgbClr val="FFFFFF"/>
      </a:lt1>
      <a:dk2>
        <a:srgbClr val="808080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