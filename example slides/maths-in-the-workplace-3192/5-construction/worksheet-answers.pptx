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CDEF67-E243-4A85-85CE-2D17D5599539}">
  <a:tblStyle styleId="{AACDEF67-E243-4A85-85CE-2D17D55995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90521e28f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90521e28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7998" y="127910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formulae in the construction industry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735230"/>
            <a:ext cx="66240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are the front and side elevations of a shed.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builder needs to replace the rafters of the shed.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long are the rafters?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542468" y="2904122"/>
            <a:ext cx="1926900" cy="18918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" name="Google Shape;120;p12"/>
          <p:cNvCxnSpPr/>
          <p:nvPr/>
        </p:nvCxnSpPr>
        <p:spPr>
          <a:xfrm>
            <a:off x="537825" y="3414167"/>
            <a:ext cx="1929000" cy="141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2"/>
          <p:cNvCxnSpPr/>
          <p:nvPr/>
        </p:nvCxnSpPr>
        <p:spPr>
          <a:xfrm>
            <a:off x="3346674" y="3428159"/>
            <a:ext cx="4500" cy="13725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2"/>
          <p:cNvCxnSpPr/>
          <p:nvPr/>
        </p:nvCxnSpPr>
        <p:spPr>
          <a:xfrm>
            <a:off x="5662364" y="3428159"/>
            <a:ext cx="4500" cy="13725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2"/>
          <p:cNvCxnSpPr/>
          <p:nvPr/>
        </p:nvCxnSpPr>
        <p:spPr>
          <a:xfrm>
            <a:off x="3346674" y="4795866"/>
            <a:ext cx="23277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2"/>
          <p:cNvCxnSpPr/>
          <p:nvPr/>
        </p:nvCxnSpPr>
        <p:spPr>
          <a:xfrm flipH="1" rot="10800000">
            <a:off x="3342031" y="2917466"/>
            <a:ext cx="1164000" cy="51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2"/>
          <p:cNvCxnSpPr/>
          <p:nvPr/>
        </p:nvCxnSpPr>
        <p:spPr>
          <a:xfrm>
            <a:off x="4495274" y="2916706"/>
            <a:ext cx="1174200" cy="5205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2"/>
          <p:cNvCxnSpPr/>
          <p:nvPr/>
        </p:nvCxnSpPr>
        <p:spPr>
          <a:xfrm>
            <a:off x="2558789" y="2910072"/>
            <a:ext cx="0" cy="1882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7" name="Google Shape;127;p12"/>
          <p:cNvCxnSpPr/>
          <p:nvPr/>
        </p:nvCxnSpPr>
        <p:spPr>
          <a:xfrm>
            <a:off x="530554" y="4915196"/>
            <a:ext cx="1944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8" name="Google Shape;128;p12"/>
          <p:cNvCxnSpPr/>
          <p:nvPr/>
        </p:nvCxnSpPr>
        <p:spPr>
          <a:xfrm>
            <a:off x="3346680" y="4915196"/>
            <a:ext cx="2326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5759782" y="3432742"/>
            <a:ext cx="0" cy="13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30" name="Google Shape;130;p12"/>
          <p:cNvSpPr txBox="1"/>
          <p:nvPr/>
        </p:nvSpPr>
        <p:spPr>
          <a:xfrm>
            <a:off x="1294888" y="4932455"/>
            <a:ext cx="5370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2581618" y="3768276"/>
            <a:ext cx="6480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4366816" y="4932464"/>
            <a:ext cx="39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5890365" y="3952087"/>
            <a:ext cx="5370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2111556" y="5691341"/>
            <a:ext cx="192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2.062 m (3 d.p.)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Q=0.02^2\times\pi\times10\times3600\\&amp;#13;&amp;#10;Q=45.24\ \text{m}^3\ \text{per hour (2 d.p.)}\end{array}&quot;&gt;&lt;mtable columnalign=&quot;left&quot; columnspacing=&quot;1em&quot; rowspacing=&quot;4pt&quot;&gt;&lt;mtr&gt;&lt;mtd&gt;&lt;mi&gt;Q&lt;/mi&gt;&lt;mo&gt;=&lt;/mo&gt;&lt;msup&gt;&lt;mn&gt;0.02&lt;/mn&gt;&lt;mn&gt;2&lt;/mn&gt;&lt;/msup&gt;&lt;mo&gt;×&lt;/mo&gt;&lt;mi&gt;π&lt;/mi&gt;&lt;mo&gt;×&lt;/mo&gt;&lt;mn&gt;10&lt;/mn&gt;&lt;mo&gt;×&lt;/mo&gt;&lt;mn&gt;3600&lt;/mn&gt;&lt;/mtd&gt;&lt;/mtr&gt;&lt;mtr&gt;&lt;mtd&gt;&lt;mi&gt;Q&lt;/mi&gt;&lt;mo&gt;=&lt;/mo&gt;&lt;mn&gt;45.24&lt;/mn&gt;&lt;mtext&gt;&lt;/mtext&gt;&lt;msup&gt;&lt;mtext&gt;m&lt;/mtext&gt;&lt;mn&gt;3&lt;/mn&gt;&lt;/msup&gt;&lt;mtext&gt;&lt;/mtext&gt;&lt;mtext&gt;per hour (2 d.p.)&lt;/mtext&gt;&lt;/mtd&gt;&lt;/mtr&gt;&lt;/mtable&gt;&lt;/math&gt;" id="135" name="Google Shape;135;p12" title="2 lines Line 1: Q equals 0.02 squared times pi times 10 times 3600 Line 2: Q equals 45.24 m cubed per hour open paren 2 d period p period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9117307"/>
            <a:ext cx="2534573" cy="52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 txBox="1"/>
          <p:nvPr/>
        </p:nvSpPr>
        <p:spPr>
          <a:xfrm>
            <a:off x="468000" y="8205100"/>
            <a:ext cx="66240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Water runs through a cylindrical pipe at a velocity of 10 m/s.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diameter of the pipe is 40 mm.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flow rate in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hour?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468000" y="7908643"/>
            <a:ext cx="66240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1373825" y="7835800"/>
            <a:ext cx="555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flow rate,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flow area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velocity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464775" y="5368200"/>
            <a:ext cx="6627300" cy="19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BTU = volume of the room × allowance for heat loss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the dimensions of a bedroom.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4.6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	= 2.6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Height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BTU.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4.6 × 2.6 × 2.4 × 108 = 3100.032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bedroom will have one radiator.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size should be installed?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600 × 600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5" name="Google Shape;145;p13"/>
          <p:cNvGraphicFramePr/>
          <p:nvPr/>
        </p:nvGraphicFramePr>
        <p:xfrm>
          <a:off x="5087726" y="536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{AACDEF67-E243-4A85-85CE-2D17D5599539}</a:tableStyleId>
              </a:tblPr>
              <a:tblGrid>
                <a:gridCol w="1082725"/>
                <a:gridCol w="896900"/>
              </a:tblGrid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Allowance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Bathroom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Dining 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Hallway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Kitchen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Living room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" name="Google Shape;146;p13"/>
          <p:cNvGraphicFramePr/>
          <p:nvPr/>
        </p:nvGraphicFramePr>
        <p:xfrm>
          <a:off x="4800076" y="7572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{AACDEF67-E243-4A85-85CE-2D17D5599539}</a:tableStyleId>
              </a:tblPr>
              <a:tblGrid>
                <a:gridCol w="808650"/>
                <a:gridCol w="808650"/>
                <a:gridCol w="674700"/>
              </a:tblGrid>
              <a:tr h="3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(mm)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 (mm)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BTU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6556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7" name="Google Shape;147;p13"/>
          <p:cNvCxnSpPr/>
          <p:nvPr/>
        </p:nvCxnSpPr>
        <p:spPr>
          <a:xfrm>
            <a:off x="473176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3"/>
          <p:cNvSpPr txBox="1"/>
          <p:nvPr/>
        </p:nvSpPr>
        <p:spPr>
          <a:xfrm>
            <a:off x="468000" y="1366103"/>
            <a:ext cx="66240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voltage of electricity in UK households is 230 volts.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electrician needs to install a 2.15 kW electric oven.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Circuits are available in 6, 10, 16, 20, 32, 40, 50 and 63 amps.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circuit should be installed?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468000" y="941193"/>
            <a:ext cx="66240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1270825" y="838475"/>
            <a:ext cx="5821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power (watts) 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current (amps)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voltage (volts)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468000" y="2562118"/>
            <a:ext cx="63225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2150 ÷ 230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9.35 amps (2 d.p.)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10 amp circuit should be installed.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sp>
        <p:nvSpPr>
          <p:cNvPr id="159" name="Google Shape;159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468000" y="6438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Costing in the construction industry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468000" y="1066200"/>
            <a:ext cx="6624000" cy="89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table shows the prices and lengths wood is sold 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cheapest price for purchasing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Twenty 1 m lengths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3000 mm length produces three 1 m lengths.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3000 mm lengths + 1 × 2400 mm length will give twenty 1 m lengths at a cost of £35.70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Fifteen 1.8 m lengths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3600 mm length produces two 1.8 m lengths.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 × 3600 mm lengths + 1 × 2400 mm length will give fifteen 1.8 m lengths at a cost of £48.30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3 different ways to buy 600 1.2 m lengths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300 × 2400 mm length = £1260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200 × 3600 mm length = £1260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150 × 4800 mm length = £1260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Why are there 3 different ways for part (c)?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Because the 2400 mm, 3600 mm &amp; 4800 mm lengths each produce no wastage and the cost per metre of wood is the same for all three.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3" name="Google Shape;163;p14"/>
          <p:cNvGraphicFramePr/>
          <p:nvPr/>
        </p:nvGraphicFramePr>
        <p:xfrm>
          <a:off x="5193975" y="1066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{AACDEF67-E243-4A85-85CE-2D17D5599539}</a:tableStyleId>
              </a:tblPr>
              <a:tblGrid>
                <a:gridCol w="995725"/>
                <a:gridCol w="645925"/>
              </a:tblGrid>
              <a:tr h="13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