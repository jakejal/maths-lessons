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D03FD8-EA1D-438E-8BCE-506EE1D697D3}">
  <a:tblStyle styleId="{9CD03FD8-EA1D-438E-8BCE-506EE1D697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f3fb2e82e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f3fb2e82e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eff7bdca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eff7bdca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20c7106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20c7106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f20c710688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f20c710688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f20c710688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f20c710688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f20c710688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f20c710688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20c710688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f20c710688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f20c710688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f20c710688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f20c710688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f20c710688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f2636d31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f2636d31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f2636d31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f2636d31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f20c710688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f20c710688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f2636d31f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f2636d31f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f2636d31f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f2636d31f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f2636d31f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f2636d31f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f20c710688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f20c710688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f20c710688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f20c710688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f20c710688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f20c710688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f20c710688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f20c710688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f20c710688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f20c710688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f2636d31f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f2636d31f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f2636d31f9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f2636d31f9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f20c710688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f20c710688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f20c71068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f20c71068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f20c710688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f20c710688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f2636d31f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f2636d31f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f2636d31f9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f2636d31f9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f2636d31f9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f2636d31f9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056305298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3056305298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f2636d31f9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f2636d31f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f2636d31f9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f2636d31f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f2636d31f9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f2636d31f9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056305298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056305298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f2636d31f9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f2636d31f9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f20c710688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f20c710688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f20c710688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f20c710688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f20c710688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f20c710688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f20c710688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f20c710688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f20c710688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f20c710688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f20c710688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f20c710688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056305298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3056305298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f20c710688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f20c710688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056305298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056305298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2f2636d31f9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2f2636d31f9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f3fb2e82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f3fb2e82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056305298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056305298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056305298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3056305298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056305298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056305298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056305298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056305298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4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8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82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42.png"/><Relationship Id="rId6" Type="http://schemas.openxmlformats.org/officeDocument/2006/relationships/image" Target="../media/image50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82.png"/><Relationship Id="rId4" Type="http://schemas.openxmlformats.org/officeDocument/2006/relationships/image" Target="../media/image45.png"/><Relationship Id="rId11" Type="http://schemas.openxmlformats.org/officeDocument/2006/relationships/image" Target="../media/image35.png"/><Relationship Id="rId10" Type="http://schemas.openxmlformats.org/officeDocument/2006/relationships/image" Target="../media/image48.png"/><Relationship Id="rId9" Type="http://schemas.openxmlformats.org/officeDocument/2006/relationships/image" Target="../media/image41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4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7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7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7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7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7" name="Google Shape;837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9.png"/><Relationship Id="rId4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sp>
        <p:nvSpPr>
          <p:cNvPr id="844" name="Google Shape;844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in the construction industry.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7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front elevation of a solid is the view of it from the front.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side elevation of a solid is the view of it from the side.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is the size of the surface and states the number of unit squares needed to completely cover that surface.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865" name="Google Shape;865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866" name="Google Shape;86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873" name="Google Shape;873;p79"/>
          <p:cNvSpPr txBox="1"/>
          <p:nvPr>
            <p:ph idx="1" type="body"/>
          </p:nvPr>
        </p:nvSpPr>
        <p:spPr>
          <a:xfrm>
            <a:off x="324000" y="683100"/>
            <a:ext cx="8237700" cy="7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areas of maths do you think a construction worker might use?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9"/>
          <p:cNvSpPr txBox="1"/>
          <p:nvPr>
            <p:ph idx="1" type="body"/>
          </p:nvPr>
        </p:nvSpPr>
        <p:spPr>
          <a:xfrm>
            <a:off x="324000" y="1385819"/>
            <a:ext cx="3242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Area &amp; volume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Plans &amp; elevations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Ratio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Percentages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Money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Measures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Proportion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Formulae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Standard form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9"/>
          <p:cNvSpPr txBox="1"/>
          <p:nvPr/>
        </p:nvSpPr>
        <p:spPr>
          <a:xfrm>
            <a:off x="324000" y="4297200"/>
            <a:ext cx="80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During this lesson we will look at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some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these.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6" name="Google Shape;87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300170">
            <a:off x="7493199" y="986407"/>
            <a:ext cx="362600" cy="10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3454" y="1288325"/>
            <a:ext cx="738171" cy="10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581038">
            <a:off x="5628500" y="1775158"/>
            <a:ext cx="2720433" cy="3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You might find it hard to believe that many formulae are used in the construction industry.</a:t>
            </a:r>
            <a:br>
              <a:rPr lang="en-GB" sz="1900"/>
            </a:br>
            <a:r>
              <a:rPr lang="en-GB" sz="1900"/>
              <a:t>Can you think of any formulae that might be used?</a:t>
            </a:r>
            <a:endParaRPr sz="1900"/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324000" y="1749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are some examples of formulae that the construction industry</a:t>
            </a:r>
            <a:br>
              <a:rPr lang="en-GB" sz="1900"/>
            </a:br>
            <a:r>
              <a:rPr lang="en-GB" sz="1900"/>
              <a:t>uses: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Total concrete quantity = volume of concrete × 1.54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Slope (as a percentage) = (vertical distance ÷ horizontal distance) × 100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Number of bricks = (wall volume × 1000) ÷ (brick volume + mortar volume)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Height = 2.304 × pressure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Ohm’s Law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Joule’s Law</a:t>
            </a:r>
            <a:endParaRPr sz="1900"/>
          </a:p>
        </p:txBody>
      </p:sp>
      <p:sp>
        <p:nvSpPr>
          <p:cNvPr id="886" name="Google Shape;886;p80"/>
          <p:cNvSpPr txBox="1"/>
          <p:nvPr/>
        </p:nvSpPr>
        <p:spPr>
          <a:xfrm>
            <a:off x="4040725" y="4000890"/>
            <a:ext cx="44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type of construction worker do you think uses these formulae?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80"/>
          <p:cNvSpPr/>
          <p:nvPr/>
        </p:nvSpPr>
        <p:spPr>
          <a:xfrm>
            <a:off x="344550" y="2549025"/>
            <a:ext cx="8389800" cy="141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80"/>
          <p:cNvSpPr txBox="1"/>
          <p:nvPr/>
        </p:nvSpPr>
        <p:spPr>
          <a:xfrm>
            <a:off x="4040725" y="4512600"/>
            <a:ext cx="1197000" cy="307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builder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894" name="Google Shape;894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You might find it hard to believe that many formulae are used in the construction industry.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Can you think of any formulae that might be used?</a:t>
            </a:r>
            <a:endParaRPr sz="1900"/>
          </a:p>
        </p:txBody>
      </p:sp>
      <p:sp>
        <p:nvSpPr>
          <p:cNvPr id="895" name="Google Shape;895;p81"/>
          <p:cNvSpPr txBox="1"/>
          <p:nvPr>
            <p:ph idx="1" type="body"/>
          </p:nvPr>
        </p:nvSpPr>
        <p:spPr>
          <a:xfrm>
            <a:off x="324000" y="1749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are some examples of formulae that the construction industry uses: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Total concrete quantity = volume of concrete × 1.54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Slope (as a percentage) = (vertical distance ÷ horizontal distance) × 100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Number of bricks = (wall volume × 1000) ÷ (brick volume + mortar volume)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Height = 2.304 × pressure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Ohm’s Law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Joule’s Law</a:t>
            </a:r>
            <a:endParaRPr sz="1900"/>
          </a:p>
        </p:txBody>
      </p:sp>
      <p:sp>
        <p:nvSpPr>
          <p:cNvPr id="896" name="Google Shape;896;p81"/>
          <p:cNvSpPr txBox="1"/>
          <p:nvPr/>
        </p:nvSpPr>
        <p:spPr>
          <a:xfrm>
            <a:off x="4040725" y="3924690"/>
            <a:ext cx="44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type of construction worker do you think uses these formulae?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81"/>
          <p:cNvSpPr/>
          <p:nvPr/>
        </p:nvSpPr>
        <p:spPr>
          <a:xfrm>
            <a:off x="344550" y="3987650"/>
            <a:ext cx="34194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81"/>
          <p:cNvSpPr txBox="1"/>
          <p:nvPr/>
        </p:nvSpPr>
        <p:spPr>
          <a:xfrm>
            <a:off x="4040725" y="4512600"/>
            <a:ext cx="1351200" cy="307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plumber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904" name="Google Shape;904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You might find it hard to believe that many formulae are used in the construction industry.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Can you think of any formulae that might be used?</a:t>
            </a:r>
            <a:endParaRPr sz="1900"/>
          </a:p>
        </p:txBody>
      </p:sp>
      <p:sp>
        <p:nvSpPr>
          <p:cNvPr id="905" name="Google Shape;905;p82"/>
          <p:cNvSpPr txBox="1"/>
          <p:nvPr>
            <p:ph idx="1" type="body"/>
          </p:nvPr>
        </p:nvSpPr>
        <p:spPr>
          <a:xfrm>
            <a:off x="324000" y="1749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are some examples of formulae that the construction industry uses: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Total concrete quantity = volume of concrete × 1.54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Slope (as a percentage) = (vertical distance ÷ horizontal distance) × 100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Number of bricks = (wall volume × 1000) ÷ (brick volume + mortar volume)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Height = 2.304 × pressure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Ohm’s Law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Joule’s Law</a:t>
            </a:r>
            <a:endParaRPr sz="1900"/>
          </a:p>
        </p:txBody>
      </p:sp>
      <p:sp>
        <p:nvSpPr>
          <p:cNvPr id="906" name="Google Shape;906;p82"/>
          <p:cNvSpPr txBox="1"/>
          <p:nvPr/>
        </p:nvSpPr>
        <p:spPr>
          <a:xfrm>
            <a:off x="4040725" y="3924690"/>
            <a:ext cx="44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type of construction worker do you think uses these formulae?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82"/>
          <p:cNvSpPr/>
          <p:nvPr/>
        </p:nvSpPr>
        <p:spPr>
          <a:xfrm>
            <a:off x="344550" y="4263625"/>
            <a:ext cx="1931700" cy="556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/>
        </p:nvSpPr>
        <p:spPr>
          <a:xfrm>
            <a:off x="4040725" y="4512600"/>
            <a:ext cx="1810500" cy="307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electrician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3"/>
          <p:cNvSpPr txBox="1"/>
          <p:nvPr/>
        </p:nvSpPr>
        <p:spPr>
          <a:xfrm>
            <a:off x="2216480" y="3181400"/>
            <a:ext cx="4707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 =                 +    </a:t>
            </a:r>
            <a:endParaRPr sz="22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83"/>
          <p:cNvSpPr txBox="1"/>
          <p:nvPr>
            <p:ph idx="1" type="body"/>
          </p:nvPr>
        </p:nvSpPr>
        <p:spPr>
          <a:xfrm>
            <a:off x="324000" y="759300"/>
            <a:ext cx="8237700" cy="24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another example of a formula used by builders.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Length of rafter</a:t>
            </a:r>
            <a:r>
              <a:rPr baseline="30000" lang="en-GB"/>
              <a:t>2</a:t>
            </a:r>
            <a:r>
              <a:rPr lang="en-GB"/>
              <a:t> = Rise of rafter</a:t>
            </a:r>
            <a:r>
              <a:rPr baseline="30000" lang="en-GB"/>
              <a:t>2</a:t>
            </a:r>
            <a:r>
              <a:rPr lang="en-GB"/>
              <a:t> + run of rafter</a:t>
            </a:r>
            <a:r>
              <a:rPr baseline="30000" lang="en-GB"/>
              <a:t>2</a:t>
            </a:r>
            <a:endParaRPr/>
          </a:p>
        </p:txBody>
      </p:sp>
      <p:sp>
        <p:nvSpPr>
          <p:cNvPr id="915" name="Google Shape;91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916" name="Google Shape;916;p83"/>
          <p:cNvSpPr/>
          <p:nvPr/>
        </p:nvSpPr>
        <p:spPr>
          <a:xfrm flipH="1">
            <a:off x="2028425" y="1193950"/>
            <a:ext cx="2542800" cy="1199400"/>
          </a:xfrm>
          <a:prstGeom prst="rtTriangl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83"/>
          <p:cNvCxnSpPr/>
          <p:nvPr/>
        </p:nvCxnSpPr>
        <p:spPr>
          <a:xfrm>
            <a:off x="4571225" y="2393350"/>
            <a:ext cx="2542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83"/>
          <p:cNvCxnSpPr>
            <a:stCxn id="916" idx="0"/>
          </p:cNvCxnSpPr>
          <p:nvPr/>
        </p:nvCxnSpPr>
        <p:spPr>
          <a:xfrm>
            <a:off x="4571225" y="1193950"/>
            <a:ext cx="3258000" cy="1528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83"/>
          <p:cNvCxnSpPr>
            <a:stCxn id="916" idx="0"/>
          </p:cNvCxnSpPr>
          <p:nvPr/>
        </p:nvCxnSpPr>
        <p:spPr>
          <a:xfrm flipH="1">
            <a:off x="1584425" y="1193950"/>
            <a:ext cx="2986800" cy="140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83"/>
          <p:cNvCxnSpPr>
            <a:stCxn id="916" idx="0"/>
            <a:endCxn id="916" idx="4"/>
          </p:cNvCxnSpPr>
          <p:nvPr/>
        </p:nvCxnSpPr>
        <p:spPr>
          <a:xfrm flipH="1">
            <a:off x="2028425" y="1193950"/>
            <a:ext cx="2542800" cy="1199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83"/>
          <p:cNvSpPr/>
          <p:nvPr/>
        </p:nvSpPr>
        <p:spPr>
          <a:xfrm>
            <a:off x="4325766" y="2136341"/>
            <a:ext cx="251100" cy="251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3"/>
          <p:cNvSpPr txBox="1"/>
          <p:nvPr/>
        </p:nvSpPr>
        <p:spPr>
          <a:xfrm>
            <a:off x="1331825" y="1531725"/>
            <a:ext cx="201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of rafter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3"/>
          <p:cNvSpPr txBox="1"/>
          <p:nvPr/>
        </p:nvSpPr>
        <p:spPr>
          <a:xfrm>
            <a:off x="2469052" y="2423050"/>
            <a:ext cx="163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 of rafter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83"/>
          <p:cNvSpPr txBox="1"/>
          <p:nvPr/>
        </p:nvSpPr>
        <p:spPr>
          <a:xfrm>
            <a:off x="4605707" y="1657736"/>
            <a:ext cx="108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Rise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rafter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83"/>
          <p:cNvSpPr txBox="1"/>
          <p:nvPr/>
        </p:nvSpPr>
        <p:spPr>
          <a:xfrm>
            <a:off x="324003" y="3454400"/>
            <a:ext cx="59328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this look familiar?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Pythagoras’ theorem.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/>
        </p:nvSpPr>
        <p:spPr>
          <a:xfrm>
            <a:off x="3369601" y="2126450"/>
            <a:ext cx="20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83"/>
          <p:cNvSpPr txBox="1"/>
          <p:nvPr/>
        </p:nvSpPr>
        <p:spPr>
          <a:xfrm>
            <a:off x="5046400" y="3194550"/>
            <a:ext cx="320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aseline="30000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83"/>
          <p:cNvSpPr txBox="1"/>
          <p:nvPr/>
        </p:nvSpPr>
        <p:spPr>
          <a:xfrm>
            <a:off x="4347076" y="1715425"/>
            <a:ext cx="20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83"/>
          <p:cNvSpPr txBox="1"/>
          <p:nvPr/>
        </p:nvSpPr>
        <p:spPr>
          <a:xfrm>
            <a:off x="2917475" y="3181400"/>
            <a:ext cx="320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aseline="30000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83"/>
          <p:cNvSpPr txBox="1"/>
          <p:nvPr/>
        </p:nvSpPr>
        <p:spPr>
          <a:xfrm>
            <a:off x="3395126" y="1715425"/>
            <a:ext cx="20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5" name="Google Shape;935;p84"/>
          <p:cNvCxnSpPr/>
          <p:nvPr/>
        </p:nvCxnSpPr>
        <p:spPr>
          <a:xfrm>
            <a:off x="5338125" y="2064650"/>
            <a:ext cx="0" cy="64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84"/>
          <p:cNvSpPr txBox="1"/>
          <p:nvPr>
            <p:ph idx="1" type="body"/>
          </p:nvPr>
        </p:nvSpPr>
        <p:spPr>
          <a:xfrm>
            <a:off x="324000" y="6069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 front and side elevations of	 a shed.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builder needs to replace the rafters of the shed.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are the rafters?</a:t>
            </a:r>
            <a:endParaRPr/>
          </a:p>
        </p:txBody>
      </p:sp>
      <p:sp>
        <p:nvSpPr>
          <p:cNvPr id="937" name="Google Shape;93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938" name="Google Shape;938;p84"/>
          <p:cNvSpPr/>
          <p:nvPr/>
        </p:nvSpPr>
        <p:spPr>
          <a:xfrm>
            <a:off x="416610" y="2060550"/>
            <a:ext cx="2396400" cy="2352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84"/>
          <p:cNvCxnSpPr/>
          <p:nvPr/>
        </p:nvCxnSpPr>
        <p:spPr>
          <a:xfrm>
            <a:off x="410835" y="2694850"/>
            <a:ext cx="23988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84"/>
          <p:cNvCxnSpPr/>
          <p:nvPr/>
        </p:nvCxnSpPr>
        <p:spPr>
          <a:xfrm>
            <a:off x="3903960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84"/>
          <p:cNvCxnSpPr/>
          <p:nvPr/>
        </p:nvCxnSpPr>
        <p:spPr>
          <a:xfrm>
            <a:off x="6783785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84"/>
          <p:cNvCxnSpPr/>
          <p:nvPr/>
        </p:nvCxnSpPr>
        <p:spPr>
          <a:xfrm>
            <a:off x="3903960" y="4413150"/>
            <a:ext cx="289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84"/>
          <p:cNvCxnSpPr/>
          <p:nvPr/>
        </p:nvCxnSpPr>
        <p:spPr>
          <a:xfrm flipH="1" rot="10800000">
            <a:off x="3898185" y="2077200"/>
            <a:ext cx="1447500" cy="64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84"/>
          <p:cNvCxnSpPr/>
          <p:nvPr/>
        </p:nvCxnSpPr>
        <p:spPr>
          <a:xfrm>
            <a:off x="5332375" y="2076200"/>
            <a:ext cx="1460400" cy="64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84"/>
          <p:cNvCxnSpPr/>
          <p:nvPr/>
        </p:nvCxnSpPr>
        <p:spPr>
          <a:xfrm>
            <a:off x="2924135" y="2067950"/>
            <a:ext cx="0" cy="23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6" name="Google Shape;946;p84"/>
          <p:cNvCxnSpPr/>
          <p:nvPr/>
        </p:nvCxnSpPr>
        <p:spPr>
          <a:xfrm>
            <a:off x="401792" y="4561550"/>
            <a:ext cx="241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7" name="Google Shape;947;p84"/>
          <p:cNvCxnSpPr/>
          <p:nvPr/>
        </p:nvCxnSpPr>
        <p:spPr>
          <a:xfrm>
            <a:off x="3903967" y="4561550"/>
            <a:ext cx="289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8" name="Google Shape;948;p84"/>
          <p:cNvCxnSpPr/>
          <p:nvPr/>
        </p:nvCxnSpPr>
        <p:spPr>
          <a:xfrm>
            <a:off x="6904935" y="2717950"/>
            <a:ext cx="0" cy="169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9" name="Google Shape;949;p84"/>
          <p:cNvSpPr txBox="1"/>
          <p:nvPr/>
        </p:nvSpPr>
        <p:spPr>
          <a:xfrm>
            <a:off x="1352330" y="45830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4"/>
          <p:cNvSpPr txBox="1"/>
          <p:nvPr/>
        </p:nvSpPr>
        <p:spPr>
          <a:xfrm>
            <a:off x="2952525" y="3135225"/>
            <a:ext cx="8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2.31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4"/>
          <p:cNvSpPr txBox="1"/>
          <p:nvPr/>
        </p:nvSpPr>
        <p:spPr>
          <a:xfrm>
            <a:off x="5020219" y="4583025"/>
            <a:ext cx="8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4"/>
          <p:cNvSpPr txBox="1"/>
          <p:nvPr/>
        </p:nvSpPr>
        <p:spPr>
          <a:xfrm>
            <a:off x="7067330" y="33638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1.8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84"/>
          <p:cNvCxnSpPr/>
          <p:nvPr/>
        </p:nvCxnSpPr>
        <p:spPr>
          <a:xfrm rot="10800000">
            <a:off x="5324571" y="2711878"/>
            <a:ext cx="1448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84"/>
          <p:cNvSpPr/>
          <p:nvPr/>
        </p:nvSpPr>
        <p:spPr>
          <a:xfrm>
            <a:off x="5338150" y="2571750"/>
            <a:ext cx="144000" cy="134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5" name="Google Shape;955;p84"/>
          <p:cNvCxnSpPr/>
          <p:nvPr/>
        </p:nvCxnSpPr>
        <p:spPr>
          <a:xfrm>
            <a:off x="5332375" y="2064650"/>
            <a:ext cx="1458900" cy="651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6" name="Google Shape;956;p84"/>
          <p:cNvSpPr txBox="1"/>
          <p:nvPr/>
        </p:nvSpPr>
        <p:spPr>
          <a:xfrm>
            <a:off x="5406775" y="2932000"/>
            <a:ext cx="1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2.38 ÷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7" name="Google Shape;957;p84"/>
          <p:cNvGrpSpPr/>
          <p:nvPr/>
        </p:nvGrpSpPr>
        <p:grpSpPr>
          <a:xfrm>
            <a:off x="5123876" y="2063117"/>
            <a:ext cx="1266788" cy="931483"/>
            <a:chOff x="5123876" y="2063117"/>
            <a:chExt cx="1266788" cy="931483"/>
          </a:xfrm>
        </p:grpSpPr>
        <p:sp>
          <p:nvSpPr>
            <p:cNvPr id="958" name="Google Shape;958;p84"/>
            <p:cNvSpPr txBox="1"/>
            <p:nvPr/>
          </p:nvSpPr>
          <p:spPr>
            <a:xfrm>
              <a:off x="5871926" y="272370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9" name="Google Shape;959;p84"/>
            <p:cNvSpPr txBox="1"/>
            <p:nvPr/>
          </p:nvSpPr>
          <p:spPr>
            <a:xfrm>
              <a:off x="5123876" y="230085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0" name="Google Shape;960;p84"/>
            <p:cNvSpPr txBox="1"/>
            <p:nvPr/>
          </p:nvSpPr>
          <p:spPr>
            <a:xfrm>
              <a:off x="6182164" y="2063117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61" name="Google Shape;961;p84"/>
          <p:cNvSpPr txBox="1"/>
          <p:nvPr/>
        </p:nvSpPr>
        <p:spPr>
          <a:xfrm>
            <a:off x="5406775" y="2932000"/>
            <a:ext cx="8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1.19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4"/>
          <p:cNvSpPr txBox="1"/>
          <p:nvPr/>
        </p:nvSpPr>
        <p:spPr>
          <a:xfrm>
            <a:off x="3961546" y="2655815"/>
            <a:ext cx="145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2.31 − 1.8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4"/>
          <p:cNvSpPr txBox="1"/>
          <p:nvPr/>
        </p:nvSpPr>
        <p:spPr>
          <a:xfrm>
            <a:off x="3961546" y="2655815"/>
            <a:ext cx="9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0.51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4" name="Google Shape;964;p84"/>
          <p:cNvCxnSpPr/>
          <p:nvPr/>
        </p:nvCxnSpPr>
        <p:spPr>
          <a:xfrm>
            <a:off x="5339575" y="2760525"/>
            <a:ext cx="1440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5" name="Google Shape;965;p84"/>
          <p:cNvCxnSpPr/>
          <p:nvPr/>
        </p:nvCxnSpPr>
        <p:spPr>
          <a:xfrm>
            <a:off x="5292525" y="2119250"/>
            <a:ext cx="0" cy="59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6" name="Google Shape;966;p84"/>
          <p:cNvCxnSpPr/>
          <p:nvPr/>
        </p:nvCxnSpPr>
        <p:spPr>
          <a:xfrm>
            <a:off x="5347125" y="1991025"/>
            <a:ext cx="1493400" cy="671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1" name="Google Shape;971;p85"/>
          <p:cNvCxnSpPr/>
          <p:nvPr/>
        </p:nvCxnSpPr>
        <p:spPr>
          <a:xfrm>
            <a:off x="1075516" y="2438650"/>
            <a:ext cx="0" cy="145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85"/>
          <p:cNvSpPr txBox="1"/>
          <p:nvPr>
            <p:ph idx="1" type="body"/>
          </p:nvPr>
        </p:nvSpPr>
        <p:spPr>
          <a:xfrm>
            <a:off x="324000" y="6069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builder wants to know the length of the rafters so they can order the wood.</a:t>
            </a:r>
            <a:endParaRPr/>
          </a:p>
        </p:txBody>
      </p:sp>
      <p:sp>
        <p:nvSpPr>
          <p:cNvPr id="973" name="Google Shape;97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cxnSp>
        <p:nvCxnSpPr>
          <p:cNvPr id="974" name="Google Shape;974;p85"/>
          <p:cNvCxnSpPr/>
          <p:nvPr/>
        </p:nvCxnSpPr>
        <p:spPr>
          <a:xfrm rot="10800000">
            <a:off x="1075225" y="3888400"/>
            <a:ext cx="261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85"/>
          <p:cNvSpPr/>
          <p:nvPr/>
        </p:nvSpPr>
        <p:spPr>
          <a:xfrm>
            <a:off x="1075550" y="3646826"/>
            <a:ext cx="258900" cy="246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85"/>
          <p:cNvCxnSpPr/>
          <p:nvPr/>
        </p:nvCxnSpPr>
        <p:spPr>
          <a:xfrm>
            <a:off x="1065175" y="2438650"/>
            <a:ext cx="2607600" cy="1437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7" name="Google Shape;977;p85"/>
          <p:cNvGrpSpPr/>
          <p:nvPr/>
        </p:nvGrpSpPr>
        <p:grpSpPr>
          <a:xfrm>
            <a:off x="780476" y="2868142"/>
            <a:ext cx="1813500" cy="1343958"/>
            <a:chOff x="5123876" y="2029942"/>
            <a:chExt cx="1813500" cy="1343958"/>
          </a:xfrm>
        </p:grpSpPr>
        <p:sp>
          <p:nvSpPr>
            <p:cNvPr id="978" name="Google Shape;978;p85"/>
            <p:cNvSpPr txBox="1"/>
            <p:nvPr/>
          </p:nvSpPr>
          <p:spPr>
            <a:xfrm>
              <a:off x="6444176" y="310300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9" name="Google Shape;979;p85"/>
            <p:cNvSpPr txBox="1"/>
            <p:nvPr/>
          </p:nvSpPr>
          <p:spPr>
            <a:xfrm>
              <a:off x="5123876" y="230085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0" name="Google Shape;980;p85"/>
            <p:cNvSpPr txBox="1"/>
            <p:nvPr/>
          </p:nvSpPr>
          <p:spPr>
            <a:xfrm>
              <a:off x="6728876" y="2029942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81" name="Google Shape;981;p85"/>
          <p:cNvSpPr txBox="1"/>
          <p:nvPr/>
        </p:nvSpPr>
        <p:spPr>
          <a:xfrm>
            <a:off x="4320007" y="1625100"/>
            <a:ext cx="11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1.19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85"/>
          <p:cNvSpPr txBox="1"/>
          <p:nvPr/>
        </p:nvSpPr>
        <p:spPr>
          <a:xfrm>
            <a:off x="4320002" y="2054440"/>
            <a:ext cx="14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0.51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85"/>
          <p:cNvSpPr txBox="1"/>
          <p:nvPr/>
        </p:nvSpPr>
        <p:spPr>
          <a:xfrm>
            <a:off x="4320007" y="2539500"/>
            <a:ext cx="29499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1.19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+ 0.51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1.6762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85"/>
          <p:cNvSpPr txBox="1"/>
          <p:nvPr/>
        </p:nvSpPr>
        <p:spPr>
          <a:xfrm>
            <a:off x="4396200" y="4444500"/>
            <a:ext cx="232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1.295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(3 d.p.)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5" name="Google Shape;985;p85"/>
          <p:cNvCxnSpPr/>
          <p:nvPr/>
        </p:nvCxnSpPr>
        <p:spPr>
          <a:xfrm>
            <a:off x="1069911" y="3957091"/>
            <a:ext cx="2610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6" name="Google Shape;986;p85"/>
          <p:cNvCxnSpPr/>
          <p:nvPr/>
        </p:nvCxnSpPr>
        <p:spPr>
          <a:xfrm>
            <a:off x="993700" y="2425548"/>
            <a:ext cx="0" cy="1458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7" name="Google Shape;987;p85"/>
          <p:cNvCxnSpPr/>
          <p:nvPr/>
        </p:nvCxnSpPr>
        <p:spPr>
          <a:xfrm>
            <a:off x="1065173" y="2362991"/>
            <a:ext cx="2698200" cy="1475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begin{array}{l}c=\sqrt{1.6762}\end{array}&quot;&gt;&lt;mtable columnalign=&quot;left&quot; columnspacing=&quot;1em&quot; rowspacing=&quot;4pt&quot;&gt;&lt;mtr&gt;&lt;mtd&gt;&lt;mi&gt;c&lt;/mi&gt;&lt;mo&gt;=&lt;/mo&gt;&lt;msqrt&gt;&lt;mn&gt;1.6762&lt;/mn&gt;&lt;/msqrt&gt;&lt;/mtd&gt;&lt;/mtr&gt;&lt;/mtable&gt;&lt;/math&gt;" id="988" name="Google Shape;988;p85" title="1 lines Line 1: c equals the square root of 1.67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968" y="4022149"/>
            <a:ext cx="1329875" cy="3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3" name="Google Shape;993;p86"/>
          <p:cNvCxnSpPr/>
          <p:nvPr/>
        </p:nvCxnSpPr>
        <p:spPr>
          <a:xfrm>
            <a:off x="5338125" y="2064650"/>
            <a:ext cx="0" cy="64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86"/>
          <p:cNvSpPr txBox="1"/>
          <p:nvPr>
            <p:ph idx="1" type="body"/>
          </p:nvPr>
        </p:nvSpPr>
        <p:spPr>
          <a:xfrm>
            <a:off x="324000" y="606900"/>
            <a:ext cx="8237700" cy="14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 front and side elevations of	 a shed.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builder needs to replace the rafters of the shed.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are the rafters?</a:t>
            </a:r>
            <a:endParaRPr/>
          </a:p>
        </p:txBody>
      </p:sp>
      <p:sp>
        <p:nvSpPr>
          <p:cNvPr id="995" name="Google Shape;99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996" name="Google Shape;996;p86"/>
          <p:cNvSpPr/>
          <p:nvPr/>
        </p:nvSpPr>
        <p:spPr>
          <a:xfrm>
            <a:off x="416610" y="2060550"/>
            <a:ext cx="2396400" cy="2352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7" name="Google Shape;997;p86"/>
          <p:cNvCxnSpPr/>
          <p:nvPr/>
        </p:nvCxnSpPr>
        <p:spPr>
          <a:xfrm>
            <a:off x="410835" y="2694850"/>
            <a:ext cx="23988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86"/>
          <p:cNvCxnSpPr/>
          <p:nvPr/>
        </p:nvCxnSpPr>
        <p:spPr>
          <a:xfrm>
            <a:off x="3903960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86"/>
          <p:cNvCxnSpPr/>
          <p:nvPr/>
        </p:nvCxnSpPr>
        <p:spPr>
          <a:xfrm>
            <a:off x="6783785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86"/>
          <p:cNvCxnSpPr/>
          <p:nvPr/>
        </p:nvCxnSpPr>
        <p:spPr>
          <a:xfrm>
            <a:off x="3903960" y="4413150"/>
            <a:ext cx="289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86"/>
          <p:cNvCxnSpPr/>
          <p:nvPr/>
        </p:nvCxnSpPr>
        <p:spPr>
          <a:xfrm flipH="1" rot="10800000">
            <a:off x="3898185" y="2077200"/>
            <a:ext cx="1447500" cy="64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86"/>
          <p:cNvCxnSpPr/>
          <p:nvPr/>
        </p:nvCxnSpPr>
        <p:spPr>
          <a:xfrm>
            <a:off x="5332375" y="2076200"/>
            <a:ext cx="1460400" cy="64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86"/>
          <p:cNvCxnSpPr/>
          <p:nvPr/>
        </p:nvCxnSpPr>
        <p:spPr>
          <a:xfrm>
            <a:off x="2924135" y="2067950"/>
            <a:ext cx="0" cy="23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04" name="Google Shape;1004;p86"/>
          <p:cNvCxnSpPr/>
          <p:nvPr/>
        </p:nvCxnSpPr>
        <p:spPr>
          <a:xfrm>
            <a:off x="401792" y="4561550"/>
            <a:ext cx="241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05" name="Google Shape;1005;p86"/>
          <p:cNvCxnSpPr/>
          <p:nvPr/>
        </p:nvCxnSpPr>
        <p:spPr>
          <a:xfrm>
            <a:off x="3903967" y="4561550"/>
            <a:ext cx="289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006" name="Google Shape;1006;p86"/>
          <p:cNvCxnSpPr/>
          <p:nvPr/>
        </p:nvCxnSpPr>
        <p:spPr>
          <a:xfrm>
            <a:off x="6904935" y="2717950"/>
            <a:ext cx="0" cy="169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07" name="Google Shape;1007;p86"/>
          <p:cNvSpPr txBox="1"/>
          <p:nvPr/>
        </p:nvSpPr>
        <p:spPr>
          <a:xfrm>
            <a:off x="1352330" y="45830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.3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6"/>
          <p:cNvSpPr txBox="1"/>
          <p:nvPr/>
        </p:nvSpPr>
        <p:spPr>
          <a:xfrm>
            <a:off x="2952525" y="3135225"/>
            <a:ext cx="8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6"/>
          <p:cNvSpPr txBox="1"/>
          <p:nvPr/>
        </p:nvSpPr>
        <p:spPr>
          <a:xfrm>
            <a:off x="5020219" y="4583025"/>
            <a:ext cx="8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6"/>
          <p:cNvSpPr txBox="1"/>
          <p:nvPr/>
        </p:nvSpPr>
        <p:spPr>
          <a:xfrm>
            <a:off x="7067330" y="33638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6"/>
          <p:cNvSpPr/>
          <p:nvPr/>
        </p:nvSpPr>
        <p:spPr>
          <a:xfrm>
            <a:off x="5338150" y="2571750"/>
            <a:ext cx="144000" cy="134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2" name="Google Shape;1012;p86"/>
          <p:cNvCxnSpPr/>
          <p:nvPr/>
        </p:nvCxnSpPr>
        <p:spPr>
          <a:xfrm>
            <a:off x="5332375" y="2064650"/>
            <a:ext cx="1458900" cy="651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86"/>
          <p:cNvSpPr txBox="1"/>
          <p:nvPr/>
        </p:nvSpPr>
        <p:spPr>
          <a:xfrm>
            <a:off x="5406775" y="2932000"/>
            <a:ext cx="157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3.2 ÷ 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14" name="Google Shape;1014;p86"/>
          <p:cNvGrpSpPr/>
          <p:nvPr/>
        </p:nvGrpSpPr>
        <p:grpSpPr>
          <a:xfrm>
            <a:off x="5123876" y="2063117"/>
            <a:ext cx="1266788" cy="931483"/>
            <a:chOff x="5123876" y="2063117"/>
            <a:chExt cx="1266788" cy="931483"/>
          </a:xfrm>
        </p:grpSpPr>
        <p:sp>
          <p:nvSpPr>
            <p:cNvPr id="1015" name="Google Shape;1015;p86"/>
            <p:cNvSpPr txBox="1"/>
            <p:nvPr/>
          </p:nvSpPr>
          <p:spPr>
            <a:xfrm>
              <a:off x="5871926" y="272370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p86"/>
            <p:cNvSpPr txBox="1"/>
            <p:nvPr/>
          </p:nvSpPr>
          <p:spPr>
            <a:xfrm>
              <a:off x="5123876" y="230085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p86"/>
            <p:cNvSpPr txBox="1"/>
            <p:nvPr/>
          </p:nvSpPr>
          <p:spPr>
            <a:xfrm>
              <a:off x="6182164" y="2063117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8" name="Google Shape;1018;p86"/>
          <p:cNvSpPr txBox="1"/>
          <p:nvPr/>
        </p:nvSpPr>
        <p:spPr>
          <a:xfrm>
            <a:off x="5406775" y="2932000"/>
            <a:ext cx="80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1.6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6"/>
          <p:cNvSpPr txBox="1"/>
          <p:nvPr/>
        </p:nvSpPr>
        <p:spPr>
          <a:xfrm>
            <a:off x="3961550" y="2655825"/>
            <a:ext cx="15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2.4 − 2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0" name="Google Shape;1020;p86"/>
          <p:cNvSpPr txBox="1"/>
          <p:nvPr/>
        </p:nvSpPr>
        <p:spPr>
          <a:xfrm>
            <a:off x="3961546" y="2655815"/>
            <a:ext cx="9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21" name="Google Shape;1021;p86"/>
          <p:cNvGrpSpPr/>
          <p:nvPr/>
        </p:nvGrpSpPr>
        <p:grpSpPr>
          <a:xfrm>
            <a:off x="5292525" y="1991025"/>
            <a:ext cx="1548000" cy="769500"/>
            <a:chOff x="5292525" y="1991025"/>
            <a:chExt cx="1548000" cy="769500"/>
          </a:xfrm>
        </p:grpSpPr>
        <p:cxnSp>
          <p:nvCxnSpPr>
            <p:cNvPr id="1022" name="Google Shape;1022;p86"/>
            <p:cNvCxnSpPr/>
            <p:nvPr/>
          </p:nvCxnSpPr>
          <p:spPr>
            <a:xfrm rot="10800000">
              <a:off x="5324571" y="2711878"/>
              <a:ext cx="14487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3" name="Google Shape;1023;p86"/>
            <p:cNvCxnSpPr/>
            <p:nvPr/>
          </p:nvCxnSpPr>
          <p:spPr>
            <a:xfrm>
              <a:off x="5339575" y="2760525"/>
              <a:ext cx="1440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4" name="Google Shape;1024;p86"/>
            <p:cNvCxnSpPr/>
            <p:nvPr/>
          </p:nvCxnSpPr>
          <p:spPr>
            <a:xfrm>
              <a:off x="5292525" y="2119250"/>
              <a:ext cx="0" cy="5988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5" name="Google Shape;1025;p86"/>
            <p:cNvCxnSpPr/>
            <p:nvPr/>
          </p:nvCxnSpPr>
          <p:spPr>
            <a:xfrm>
              <a:off x="5347125" y="1991025"/>
              <a:ext cx="1493400" cy="6711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builder wants to know the length of the rafters so they can order the wood.</a:t>
            </a:r>
            <a:endParaRPr/>
          </a:p>
        </p:txBody>
      </p:sp>
      <p:sp>
        <p:nvSpPr>
          <p:cNvPr id="1031" name="Google Shape;103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32" name="Google Shape;1032;p87"/>
          <p:cNvSpPr txBox="1"/>
          <p:nvPr/>
        </p:nvSpPr>
        <p:spPr>
          <a:xfrm>
            <a:off x="4320007" y="1625100"/>
            <a:ext cx="11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1.6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3" name="Google Shape;1033;p87"/>
          <p:cNvSpPr txBox="1"/>
          <p:nvPr/>
        </p:nvSpPr>
        <p:spPr>
          <a:xfrm>
            <a:off x="4320002" y="2054440"/>
            <a:ext cx="14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0.4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87"/>
          <p:cNvSpPr txBox="1"/>
          <p:nvPr/>
        </p:nvSpPr>
        <p:spPr>
          <a:xfrm>
            <a:off x="4320007" y="2539500"/>
            <a:ext cx="29499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1.6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+ 0.4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2.72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5" name="Google Shape;1035;p87"/>
          <p:cNvSpPr txBox="1"/>
          <p:nvPr/>
        </p:nvSpPr>
        <p:spPr>
          <a:xfrm>
            <a:off x="4396201" y="4444500"/>
            <a:ext cx="216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1.65 m (2 d.p.)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36" name="Google Shape;1036;p87"/>
          <p:cNvCxnSpPr/>
          <p:nvPr/>
        </p:nvCxnSpPr>
        <p:spPr>
          <a:xfrm>
            <a:off x="1075516" y="2438650"/>
            <a:ext cx="0" cy="145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87"/>
          <p:cNvCxnSpPr/>
          <p:nvPr/>
        </p:nvCxnSpPr>
        <p:spPr>
          <a:xfrm rot="10800000">
            <a:off x="1075225" y="3888400"/>
            <a:ext cx="2612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87"/>
          <p:cNvSpPr/>
          <p:nvPr/>
        </p:nvSpPr>
        <p:spPr>
          <a:xfrm>
            <a:off x="1075550" y="3646826"/>
            <a:ext cx="258900" cy="246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9" name="Google Shape;1039;p87"/>
          <p:cNvCxnSpPr/>
          <p:nvPr/>
        </p:nvCxnSpPr>
        <p:spPr>
          <a:xfrm>
            <a:off x="1065175" y="2438650"/>
            <a:ext cx="2607600" cy="1437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0" name="Google Shape;1040;p87"/>
          <p:cNvGrpSpPr/>
          <p:nvPr/>
        </p:nvGrpSpPr>
        <p:grpSpPr>
          <a:xfrm>
            <a:off x="780476" y="2868142"/>
            <a:ext cx="1813500" cy="1343958"/>
            <a:chOff x="5123876" y="2029942"/>
            <a:chExt cx="1813500" cy="1343958"/>
          </a:xfrm>
        </p:grpSpPr>
        <p:sp>
          <p:nvSpPr>
            <p:cNvPr id="1041" name="Google Shape;1041;p87"/>
            <p:cNvSpPr txBox="1"/>
            <p:nvPr/>
          </p:nvSpPr>
          <p:spPr>
            <a:xfrm>
              <a:off x="6444176" y="310300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2" name="Google Shape;1042;p87"/>
            <p:cNvSpPr txBox="1"/>
            <p:nvPr/>
          </p:nvSpPr>
          <p:spPr>
            <a:xfrm>
              <a:off x="5123876" y="2300850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87"/>
            <p:cNvSpPr txBox="1"/>
            <p:nvPr/>
          </p:nvSpPr>
          <p:spPr>
            <a:xfrm>
              <a:off x="6728876" y="2029942"/>
              <a:ext cx="208500" cy="2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i="1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044" name="Google Shape;1044;p87"/>
          <p:cNvCxnSpPr/>
          <p:nvPr/>
        </p:nvCxnSpPr>
        <p:spPr>
          <a:xfrm>
            <a:off x="1069911" y="3957091"/>
            <a:ext cx="2610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5" name="Google Shape;1045;p87"/>
          <p:cNvCxnSpPr/>
          <p:nvPr/>
        </p:nvCxnSpPr>
        <p:spPr>
          <a:xfrm>
            <a:off x="993700" y="2425548"/>
            <a:ext cx="0" cy="1458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6" name="Google Shape;1046;p87"/>
          <p:cNvCxnSpPr/>
          <p:nvPr/>
        </p:nvCxnSpPr>
        <p:spPr>
          <a:xfrm>
            <a:off x="1065173" y="2362991"/>
            <a:ext cx="2698200" cy="1475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begin{array}{l}c=\sqrt{2.72}\end{array}&quot;&gt;&lt;mtable columnalign=&quot;left&quot; columnspacing=&quot;1em&quot; rowspacing=&quot;4pt&quot;&gt;&lt;mtr&gt;&lt;mtd&gt;&lt;mi&gt;c&lt;/mi&gt;&lt;mo&gt;=&lt;/mo&gt;&lt;msqrt&gt;&lt;mn&gt;2.72&lt;/mn&gt;&lt;/msqrt&gt;&lt;/mtd&gt;&lt;/mtr&gt;&lt;/mtable&gt;&lt;/math&gt;" id="1047" name="Google Shape;1047;p87" title="1 lines Line 1: c equals the square root of 2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323" y="4059850"/>
            <a:ext cx="982523" cy="2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53" name="Google Shape;1053;p88"/>
          <p:cNvSpPr txBox="1"/>
          <p:nvPr>
            <p:ph idx="1" type="body"/>
          </p:nvPr>
        </p:nvSpPr>
        <p:spPr>
          <a:xfrm>
            <a:off x="324000" y="22071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 runs through a cylindrical pipe at a velocity of 10 m/s.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diameter of the pipe is 25 mm.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flow rate </a:t>
            </a:r>
            <a:r>
              <a:rPr lang="en-GB"/>
              <a:t>in m</a:t>
            </a:r>
            <a:r>
              <a:rPr baseline="30000" lang="en-GB"/>
              <a:t>3</a:t>
            </a:r>
            <a:r>
              <a:rPr lang="en-GB"/>
              <a:t> per hour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88"/>
          <p:cNvSpPr txBox="1"/>
          <p:nvPr>
            <p:ph idx="1" type="body"/>
          </p:nvPr>
        </p:nvSpPr>
        <p:spPr>
          <a:xfrm>
            <a:off x="324000" y="36549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shape is the flow area?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circle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88"/>
          <p:cNvSpPr txBox="1"/>
          <p:nvPr>
            <p:ph idx="1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Plumbers use the formula below to calculate a flow rate.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56" name="Google Shape;1056;p88"/>
          <p:cNvSpPr txBox="1"/>
          <p:nvPr/>
        </p:nvSpPr>
        <p:spPr>
          <a:xfrm>
            <a:off x="1684800" y="1169200"/>
            <a:ext cx="6922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A\ =\ \pi\times\left(\frac{0.025}{2}\right)^2\\&amp;#13;&amp;#10;A=4.9\times10^{-4}\text{ m}^2\end{array}&quot;&gt;&lt;mtable columnalign=&quot;left&quot; columnspacing=&quot;1em&quot; rowspacing=&quot;4pt&quot;&gt;&lt;mtr&gt;&lt;mtd&gt;&lt;mi&gt;A&lt;/mi&gt;&lt;mtext&gt;&lt;/mtext&gt;&lt;mo&gt;=&lt;/mo&gt;&lt;mtext&gt;&lt;/mtext&gt;&lt;mi&gt;π&lt;/mi&gt;&lt;mo&gt;×&lt;/mo&gt;&lt;msup&gt;&lt;mrow data-mjx-texclass=&quot;INNER&quot;&gt;&lt;mo data-mjx-texclass=&quot;OPEN&quot;&gt;(&lt;/mo&gt;&lt;mfrac&gt;&lt;mn&gt;0.025&lt;/mn&gt;&lt;mn&gt;2&lt;/mn&gt;&lt;/mfrac&gt;&lt;mo data-mjx-texclass=&quot;CLOSE&quot;&gt;)&lt;/mo&gt;&lt;/mrow&gt;&lt;mn&gt;2&lt;/mn&gt;&lt;/msup&gt;&lt;/mtd&gt;&lt;/mtr&gt;&lt;mtr&gt;&lt;mtd&gt;&lt;mi&gt;A&lt;/mi&gt;&lt;mo&gt;=&lt;/mo&gt;&lt;mn&gt;4.9&lt;/mn&gt;&lt;mo&gt;×&lt;/mo&gt;&lt;msup&gt;&lt;mn&gt;10&lt;/mn&gt;&lt;mrow data-mjx-texclass=&quot;ORD&quot;&gt;&lt;mo&gt;−&lt;/mo&gt;&lt;mn&gt;4&lt;/mn&gt;&lt;/mrow&gt;&lt;/msup&gt;&lt;msup&gt;&lt;mtext&gt; m&lt;/mtext&gt;&lt;mn&gt;2&lt;/mn&gt;&lt;/msup&gt;&lt;/mtd&gt;&lt;/mtr&gt;&lt;/mtable&gt;&lt;/math&gt;" id="1061" name="Google Shape;1061;p89" title="2 lines Line 1: A equals pi times open paren 0.025 over 2 close paren squared Line 2: A equals 4.9 times 10 to the negative 4 power m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59" y="3967496"/>
            <a:ext cx="2236344" cy="8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63" name="Google Shape;1063;p89"/>
          <p:cNvSpPr txBox="1"/>
          <p:nvPr>
            <p:ph idx="1" type="body"/>
          </p:nvPr>
        </p:nvSpPr>
        <p:spPr>
          <a:xfrm>
            <a:off x="324000" y="22071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 runs through a cylindrical pipe at a velocity of 10 m/s.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diameter of the pipe is 25 mm.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flow rate </a:t>
            </a:r>
            <a:r>
              <a:rPr lang="en-GB"/>
              <a:t>in m</a:t>
            </a:r>
            <a:r>
              <a:rPr baseline="30000" lang="en-GB"/>
              <a:t>3</a:t>
            </a:r>
            <a:r>
              <a:rPr lang="en-GB"/>
              <a:t> per hour</a:t>
            </a:r>
            <a:r>
              <a:rPr lang="en-GB"/>
              <a:t>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89"/>
          <p:cNvSpPr txBox="1"/>
          <p:nvPr>
            <p:ph idx="1" type="body"/>
          </p:nvPr>
        </p:nvSpPr>
        <p:spPr>
          <a:xfrm>
            <a:off x="324000" y="3654900"/>
            <a:ext cx="8496000" cy="3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area of the cross-section of the pipe to 2 s.f.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89"/>
          <p:cNvSpPr txBox="1"/>
          <p:nvPr>
            <p:ph idx="1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Plumbers use the formula below to calculate a flow rate.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66" name="Google Shape;1066;p89"/>
          <p:cNvSpPr txBox="1"/>
          <p:nvPr/>
        </p:nvSpPr>
        <p:spPr>
          <a:xfrm>
            <a:off x="1684800" y="1169200"/>
            <a:ext cx="6922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90"/>
          <p:cNvSpPr txBox="1"/>
          <p:nvPr>
            <p:ph idx="1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Plumbers use the formula below to calculate a flow rate.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72" name="Google Shape;107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73" name="Google Shape;1073;p90"/>
          <p:cNvSpPr txBox="1"/>
          <p:nvPr>
            <p:ph idx="1" type="body"/>
          </p:nvPr>
        </p:nvSpPr>
        <p:spPr>
          <a:xfrm>
            <a:off x="324000" y="22071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 runs through a cylindrical pipe at a velocity of 10 m/s.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= 4.9 × 10</a:t>
            </a:r>
            <a:r>
              <a:rPr baseline="30000" lang="en-GB"/>
              <a:t>−4</a:t>
            </a:r>
            <a:r>
              <a:rPr lang="en-GB"/>
              <a:t> m</a:t>
            </a:r>
            <a:r>
              <a:rPr baseline="30000" lang="en-GB"/>
              <a:t>2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flow rate (to </a:t>
            </a:r>
            <a:r>
              <a:rPr lang="en-GB"/>
              <a:t>2 d.p.) </a:t>
            </a:r>
            <a:r>
              <a:rPr lang="en-GB"/>
              <a:t>in m</a:t>
            </a:r>
            <a:r>
              <a:rPr baseline="30000" lang="en-GB"/>
              <a:t>3</a:t>
            </a:r>
            <a:r>
              <a:rPr lang="en-GB"/>
              <a:t> per hour?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0"/>
          <p:cNvSpPr txBox="1"/>
          <p:nvPr/>
        </p:nvSpPr>
        <p:spPr>
          <a:xfrm>
            <a:off x="1684800" y="1169200"/>
            <a:ext cx="69228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Q=4.9\times10^{-4}\times10\times3600\\&amp;#13;&amp;#10;Q=17.67\ \text{m}^{3\ }\text{per hour}\end{array}&quot;&gt;&lt;mtable columnalign=&quot;left&quot; columnspacing=&quot;1em&quot; rowspacing=&quot;4pt&quot;&gt;&lt;mtr&gt;&lt;mtd&gt;&lt;mi&gt;Q&lt;/mi&gt;&lt;mo&gt;=&lt;/mo&gt;&lt;mn&gt;4.9&lt;/mn&gt;&lt;mo&gt;×&lt;/mo&gt;&lt;msup&gt;&lt;mn&gt;10&lt;/mn&gt;&lt;mrow data-mjx-texclass=&quot;ORD&quot;&gt;&lt;mo&gt;−&lt;/mo&gt;&lt;mn&gt;4&lt;/mn&gt;&lt;/mrow&gt;&lt;/msup&gt;&lt;mo&gt;×&lt;/mo&gt;&lt;mn&gt;10&lt;/mn&gt;&lt;mo&gt;×&lt;/mo&gt;&lt;mn&gt;3600&lt;/mn&gt;&lt;/mtd&gt;&lt;/mtr&gt;&lt;mtr&gt;&lt;mtd&gt;&lt;mi&gt;Q&lt;/mi&gt;&lt;mo&gt;=&lt;/mo&gt;&lt;mn&gt;17.67&lt;/mn&gt;&lt;mtext&gt;&lt;/mtext&gt;&lt;msup&gt;&lt;mtext&gt;m&lt;/mtext&gt;&lt;mrow data-mjx-texclass=&quot;ORD&quot;&gt;&lt;mn&gt;3&lt;/mn&gt;&lt;mtext&gt;&lt;/mtext&gt;&lt;/mrow&gt;&lt;/msup&gt;&lt;mtext&gt;per hour&lt;/mtext&gt;&lt;/mtd&gt;&lt;/mtr&gt;&lt;/mtable&gt;&lt;/math&gt;" id="1075" name="Google Shape;1075;p90" title="2 lines Line 1: Q equals 4.9 times 10 to the negative 4 power times 10 times 3600 Line 2: Q equals 17.67 m raised to the 3 power per hou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3793924"/>
            <a:ext cx="4143425" cy="9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81" name="Google Shape;1081;p91"/>
          <p:cNvSpPr txBox="1"/>
          <p:nvPr>
            <p:ph idx="4294967295" type="body"/>
          </p:nvPr>
        </p:nvSpPr>
        <p:spPr>
          <a:xfrm>
            <a:off x="324000" y="6069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Plumbers use the formula below to calculate a flow rate.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2000"/>
          </a:p>
        </p:txBody>
      </p:sp>
      <p:sp>
        <p:nvSpPr>
          <p:cNvPr id="1082" name="Google Shape;1082;p91"/>
          <p:cNvSpPr txBox="1"/>
          <p:nvPr/>
        </p:nvSpPr>
        <p:spPr>
          <a:xfrm>
            <a:off x="1434375" y="959137"/>
            <a:ext cx="7173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1"/>
          <p:cNvSpPr txBox="1"/>
          <p:nvPr>
            <p:ph idx="4294967295" type="body"/>
          </p:nvPr>
        </p:nvSpPr>
        <p:spPr>
          <a:xfrm>
            <a:off x="324000" y="1749900"/>
            <a:ext cx="82836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Water runs through a cylindrical pipe of diameter 32 mm at a velocity of 10 m/s.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Which of the following is the correct calculation for the flow rate in m</a:t>
            </a:r>
            <a:r>
              <a:rPr baseline="30000" lang="en-GB" sz="2000"/>
              <a:t>3</a:t>
            </a:r>
            <a:r>
              <a:rPr lang="en-GB" sz="2000"/>
              <a:t> per hour?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begin{array}{l}Q=0.032^2\times\pi\times10\times3600\\&amp;#13;&amp;#10;Q=0.016^2\times\pi\times10\times3600\\&amp;#13;&amp;#10;Q=16^2\times\pi\times10\times3600\end{array}&quot;&gt;&lt;mtable columnalign=&quot;left&quot; columnspacing=&quot;1em&quot; rowspacing=&quot;4pt&quot;&gt;&lt;mtr&gt;&lt;mtd&gt;&lt;mi&gt;Q&lt;/mi&gt;&lt;mo&gt;=&lt;/mo&gt;&lt;msup&gt;&lt;mn&gt;0.032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0.016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16&lt;/mn&gt;&lt;mn&gt;2&lt;/mn&gt;&lt;/msup&gt;&lt;mo&gt;×&lt;/mo&gt;&lt;mi&gt;π&lt;/mi&gt;&lt;mo&gt;×&lt;/mo&gt;&lt;mn&gt;10&lt;/mn&gt;&lt;mo&gt;×&lt;/mo&gt;&lt;mn&gt;3600&lt;/mn&gt;&lt;/mtd&gt;&lt;/mtr&gt;&lt;/mtable&gt;&lt;/math&gt;" id="1084" name="Google Shape;1084;p91" title="3 lines Line 1: Q equals 0.032 squared times pi times 10 times 3600 Line 2: Q equals 0.016 squared times pi times 10 times 3600 Line 3: Q equals 16 squared times pi times 10 times 3600"/>
          <p:cNvPicPr preferRelativeResize="0"/>
          <p:nvPr/>
        </p:nvPicPr>
        <p:blipFill rotWithShape="1">
          <a:blip r:embed="rId3">
            <a:alphaModFix/>
          </a:blip>
          <a:srcRect b="31970" l="0" r="0" t="31391"/>
          <a:stretch/>
        </p:blipFill>
        <p:spPr>
          <a:xfrm>
            <a:off x="3307163" y="3614548"/>
            <a:ext cx="2573425" cy="33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Q=0.032^2\times\pi\times10\times3600\\&amp;#13;&amp;#10;Q=0.016^2\times\pi\times10\times3600\\&amp;#13;&amp;#10;Q=16^2\times\pi\times10\times3600\end{array}&quot;&gt;&lt;mtable columnalign=&quot;left&quot; columnspacing=&quot;1em&quot; rowspacing=&quot;4pt&quot;&gt;&lt;mtr&gt;&lt;mtd&gt;&lt;mi&gt;Q&lt;/mi&gt;&lt;mo&gt;=&lt;/mo&gt;&lt;msup&gt;&lt;mn&gt;0.032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0.016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16&lt;/mn&gt;&lt;mn&gt;2&lt;/mn&gt;&lt;/msup&gt;&lt;mo&gt;×&lt;/mo&gt;&lt;mi&gt;π&lt;/mi&gt;&lt;mo&gt;×&lt;/mo&gt;&lt;mn&gt;10&lt;/mn&gt;&lt;mo&gt;×&lt;/mo&gt;&lt;mn&gt;3600&lt;/mn&gt;&lt;/mtd&gt;&lt;/mtr&gt;&lt;/mtable&gt;&lt;/math&gt;" id="1085" name="Google Shape;1085;p91" title="3 lines Line 1: Q equals 0.032 squared times pi times 10 times 3600 Line 2: Q equals 0.016 squared times pi times 10 times 3600 Line 3: Q equals 16 squared times pi times 10 times 3600"/>
          <p:cNvPicPr preferRelativeResize="0"/>
          <p:nvPr/>
        </p:nvPicPr>
        <p:blipFill rotWithShape="1">
          <a:blip r:embed="rId3">
            <a:alphaModFix/>
          </a:blip>
          <a:srcRect b="0" l="0" r="0" t="65283"/>
          <a:stretch/>
        </p:blipFill>
        <p:spPr>
          <a:xfrm>
            <a:off x="6290325" y="3623211"/>
            <a:ext cx="2573425" cy="31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Q=0.032^2\times\pi\times10\times3600\\&amp;#13;&amp;#10;Q=0.016^2\times\pi\times10\times3600\\&amp;#13;&amp;#10;Q=16^2\times\pi\times10\times3600\end{array}&quot;&gt;&lt;mtable columnalign=&quot;left&quot; columnspacing=&quot;1em&quot; rowspacing=&quot;4pt&quot;&gt;&lt;mtr&gt;&lt;mtd&gt;&lt;mi&gt;Q&lt;/mi&gt;&lt;mo&gt;=&lt;/mo&gt;&lt;msup&gt;&lt;mn&gt;0.032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0.016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sup&gt;&lt;mn&gt;16&lt;/mn&gt;&lt;mn&gt;2&lt;/mn&gt;&lt;/msup&gt;&lt;mo&gt;×&lt;/mo&gt;&lt;mi&gt;π&lt;/mi&gt;&lt;mo&gt;×&lt;/mo&gt;&lt;mn&gt;10&lt;/mn&gt;&lt;mo&gt;×&lt;/mo&gt;&lt;mn&gt;3600&lt;/mn&gt;&lt;/mtd&gt;&lt;/mtr&gt;&lt;/mtable&gt;&lt;/math&gt;" id="1086" name="Google Shape;1086;p91" title="3 lines Line 1: Q equals 0.032 squared times pi times 10 times 3600 Line 2: Q equals 0.016 squared times pi times 10 times 3600 Line 3: Q equals 16 squared times pi times 10 times 3600"/>
          <p:cNvPicPr preferRelativeResize="0"/>
          <p:nvPr/>
        </p:nvPicPr>
        <p:blipFill rotWithShape="1">
          <a:blip r:embed="rId3">
            <a:alphaModFix/>
          </a:blip>
          <a:srcRect b="68606" l="0" r="0" t="0"/>
          <a:stretch/>
        </p:blipFill>
        <p:spPr>
          <a:xfrm>
            <a:off x="324000" y="3638199"/>
            <a:ext cx="2573425" cy="2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158" y="4166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Electricians use Ohm’s law to determine the voltage, resistance or current of an electric circuit.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/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/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also use this formula to calculate power.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/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/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93" name="Google Shape;109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2061900" y="1550202"/>
            <a:ext cx="65457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voltage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(volts)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resistance (ohms)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2061900" y="3150402"/>
            <a:ext cx="65457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power (watts) 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voltage (volts)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93"/>
          <p:cNvSpPr txBox="1"/>
          <p:nvPr>
            <p:ph idx="1" type="body"/>
          </p:nvPr>
        </p:nvSpPr>
        <p:spPr>
          <a:xfrm>
            <a:off x="324000" y="759300"/>
            <a:ext cx="8237700" cy="16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120 volt, 20 amp circuit is used to supply lamp posts for a car park.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</a:t>
            </a:r>
            <a:r>
              <a:rPr lang="en-GB"/>
              <a:t>many</a:t>
            </a:r>
            <a:r>
              <a:rPr lang="en-GB"/>
              <a:t> lamp posts can be safely installed if the bulbs are 400 watts?</a:t>
            </a:r>
            <a:endParaRPr/>
          </a:p>
        </p:txBody>
      </p:sp>
      <p:sp>
        <p:nvSpPr>
          <p:cNvPr id="1101" name="Google Shape;110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02" name="Google Shape;1102;p93"/>
          <p:cNvSpPr txBox="1"/>
          <p:nvPr>
            <p:ph idx="1" type="body"/>
          </p:nvPr>
        </p:nvSpPr>
        <p:spPr>
          <a:xfrm>
            <a:off x="324000" y="2511900"/>
            <a:ext cx="3150600" cy="13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 = I × V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2400 </a:t>
            </a:r>
            <a:r>
              <a:rPr lang="en-GB"/>
              <a:t>watts</a:t>
            </a:r>
            <a:endParaRPr/>
          </a:p>
        </p:txBody>
      </p:sp>
      <p:sp>
        <p:nvSpPr>
          <p:cNvPr id="1103" name="Google Shape;1103;p93"/>
          <p:cNvSpPr txBox="1"/>
          <p:nvPr>
            <p:ph idx="1" type="body"/>
          </p:nvPr>
        </p:nvSpPr>
        <p:spPr>
          <a:xfrm>
            <a:off x="3445800" y="4422025"/>
            <a:ext cx="20886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= 6 lamp posts</a:t>
            </a:r>
            <a:endParaRPr/>
          </a:p>
        </p:txBody>
      </p:sp>
      <p:sp>
        <p:nvSpPr>
          <p:cNvPr id="1104" name="Google Shape;1104;p93"/>
          <p:cNvSpPr txBox="1"/>
          <p:nvPr>
            <p:ph idx="1" type="body"/>
          </p:nvPr>
        </p:nvSpPr>
        <p:spPr>
          <a:xfrm>
            <a:off x="3425325" y="4035900"/>
            <a:ext cx="4450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2400 ÷ 400</a:t>
            </a:r>
            <a:endParaRPr/>
          </a:p>
        </p:txBody>
      </p:sp>
      <p:sp>
        <p:nvSpPr>
          <p:cNvPr id="1105" name="Google Shape;1105;p93"/>
          <p:cNvSpPr txBox="1"/>
          <p:nvPr>
            <p:ph idx="1" type="body"/>
          </p:nvPr>
        </p:nvSpPr>
        <p:spPr>
          <a:xfrm>
            <a:off x="324000" y="4035900"/>
            <a:ext cx="3150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lamp posts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4"/>
          <p:cNvSpPr txBox="1"/>
          <p:nvPr>
            <p:ph idx="1" type="body"/>
          </p:nvPr>
        </p:nvSpPr>
        <p:spPr>
          <a:xfrm>
            <a:off x="324000" y="759300"/>
            <a:ext cx="82377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Generally power is given in kilowatts (kW).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power of a kettle is 2 kW.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watts is this?</a:t>
            </a:r>
            <a:endParaRPr/>
          </a:p>
        </p:txBody>
      </p:sp>
      <p:sp>
        <p:nvSpPr>
          <p:cNvPr id="1111" name="Google Shape;111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12" name="Google Shape;1112;p94"/>
          <p:cNvSpPr txBox="1"/>
          <p:nvPr>
            <p:ph idx="1" type="body"/>
          </p:nvPr>
        </p:nvSpPr>
        <p:spPr>
          <a:xfrm>
            <a:off x="324000" y="2359500"/>
            <a:ext cx="82377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watts are in a kilowatt?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prefix kilo represents 1000.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power of the kettle?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power of the kettle is 2000 watts.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95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 the power of the following household appliances in watts.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Shower = 8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Water tank heater = 3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Light bulb = 60 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Vacuum cleaner = 0.9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Fan heater = 2.4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Hairdryer = 2.2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Microwave = 1.5 kW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19" name="Google Shape;1119;p95"/>
          <p:cNvSpPr txBox="1"/>
          <p:nvPr>
            <p:ph idx="1" type="body"/>
          </p:nvPr>
        </p:nvSpPr>
        <p:spPr>
          <a:xfrm>
            <a:off x="4548600" y="1597500"/>
            <a:ext cx="265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8000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3000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900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2400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2200 W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1500 W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96"/>
          <p:cNvSpPr txBox="1"/>
          <p:nvPr>
            <p:ph idx="1" type="body"/>
          </p:nvPr>
        </p:nvSpPr>
        <p:spPr>
          <a:xfrm>
            <a:off x="324000" y="759300"/>
            <a:ext cx="82377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voltage of </a:t>
            </a:r>
            <a:r>
              <a:rPr lang="en-GB"/>
              <a:t>electricity</a:t>
            </a:r>
            <a:r>
              <a:rPr lang="en-GB"/>
              <a:t> in UK </a:t>
            </a:r>
            <a:r>
              <a:rPr lang="en-GB"/>
              <a:t>households</a:t>
            </a:r>
            <a:r>
              <a:rPr lang="en-GB"/>
              <a:t> is 230 volts.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electrician needs to install a 8 kW shower.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Circuits are available in 6, 10, 16, 20, 32, 40, 50 and 63 amps.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circuit should be installed?</a:t>
            </a:r>
            <a:endParaRPr/>
          </a:p>
        </p:txBody>
      </p:sp>
      <p:sp>
        <p:nvSpPr>
          <p:cNvPr id="1125" name="Google Shape;112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26" name="Google Shape;1126;p96"/>
          <p:cNvSpPr txBox="1"/>
          <p:nvPr>
            <p:ph idx="1" type="body"/>
          </p:nvPr>
        </p:nvSpPr>
        <p:spPr>
          <a:xfrm>
            <a:off x="324000" y="2588100"/>
            <a:ext cx="82377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8000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230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8000 ÷ 230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34.8 amps (1 d.p.)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40 amp circuit should be installed.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7"/>
          <p:cNvSpPr txBox="1"/>
          <p:nvPr>
            <p:ph idx="1" type="body"/>
          </p:nvPr>
        </p:nvSpPr>
        <p:spPr>
          <a:xfrm>
            <a:off x="324000" y="613500"/>
            <a:ext cx="84960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voltage of electricity in UK households is 230 volts.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An electrician is testing a 2 kW kettle for a fault.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manufacturer’s information shows the resistance of the kettle as 25 ohms.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Is the kettle faulty?</a:t>
            </a:r>
            <a:endParaRPr sz="2000"/>
          </a:p>
        </p:txBody>
      </p:sp>
      <p:sp>
        <p:nvSpPr>
          <p:cNvPr id="1132" name="Google Shape;113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33" name="Google Shape;1133;p97"/>
          <p:cNvSpPr txBox="1"/>
          <p:nvPr>
            <p:ph idx="1" type="body"/>
          </p:nvPr>
        </p:nvSpPr>
        <p:spPr>
          <a:xfrm>
            <a:off x="324000" y="2541975"/>
            <a:ext cx="31452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2000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230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i="1"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(2000 ÷ 230) amps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97"/>
          <p:cNvSpPr txBox="1"/>
          <p:nvPr>
            <p:ph idx="1" type="body"/>
          </p:nvPr>
        </p:nvSpPr>
        <p:spPr>
          <a:xfrm>
            <a:off x="3642675" y="2176933"/>
            <a:ext cx="5011200" cy="13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230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(2000 ÷ 230)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230 ÷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(2000 ÷ 230)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R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26.45 ohms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is close to the expected value. Therefore it is unlikely that the kettle is faulty.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8"/>
          <p:cNvSpPr txBox="1"/>
          <p:nvPr>
            <p:ph idx="1" type="subTitle"/>
          </p:nvPr>
        </p:nvSpPr>
        <p:spPr>
          <a:xfrm>
            <a:off x="324000" y="3114750"/>
            <a:ext cx="81093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I</a:t>
            </a:r>
            <a:r>
              <a:rPr lang="en-GB"/>
              <a:t> = 1500 ÷ 230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/>
              <a:t>I</a:t>
            </a:r>
            <a:r>
              <a:rPr lang="en-GB"/>
              <a:t> = 6.52 amps (2 d.p.)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current is higher than 6 amps. Therefore, a 6 amp circuit is not sufficient.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41" name="Google Shape;1141;p98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voltage of electricity in UK households is 230 volts therefore a</a:t>
            </a:r>
            <a:r>
              <a:rPr lang="en-GB"/>
              <a:t> 6 amp circuit should be installed for a 1.5 kW microwave. </a:t>
            </a:r>
            <a:endParaRPr/>
          </a:p>
        </p:txBody>
      </p:sp>
      <p:pic>
        <p:nvPicPr>
          <p:cNvPr id="1142" name="Google Shape;114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847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8"/>
          <p:cNvSpPr txBox="1"/>
          <p:nvPr/>
        </p:nvSpPr>
        <p:spPr>
          <a:xfrm>
            <a:off x="7459200" y="613500"/>
            <a:ext cx="1350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9"/>
          <p:cNvSpPr txBox="1"/>
          <p:nvPr>
            <p:ph idx="1" type="body"/>
          </p:nvPr>
        </p:nvSpPr>
        <p:spPr>
          <a:xfrm>
            <a:off x="324000" y="606900"/>
            <a:ext cx="84960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plumber will use a formula to calculate the most appropriate size of radiators required for a room.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This is based on the size of the room, temperature the room needs to be heated to and the areas where heat is lost, e.g. windows.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Below is the formula to calculate BTU (British Thermal Units).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BTU = volume of the roo</a:t>
            </a:r>
            <a:r>
              <a:rPr lang="en-GB" sz="2000"/>
              <a:t>m </a:t>
            </a:r>
            <a:r>
              <a:rPr lang="en-GB" sz="2000"/>
              <a:t>× allowance for heat loss</a:t>
            </a:r>
            <a:endParaRPr sz="2000"/>
          </a:p>
        </p:txBody>
      </p:sp>
      <p:sp>
        <p:nvSpPr>
          <p:cNvPr id="1149" name="Google Shape;114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graphicFrame>
        <p:nvGraphicFramePr>
          <p:cNvPr id="1150" name="Google Shape;1150;p99"/>
          <p:cNvGraphicFramePr/>
          <p:nvPr/>
        </p:nvGraphicFramePr>
        <p:xfrm>
          <a:off x="419100" y="283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412325"/>
                <a:gridCol w="117837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00"/>
          <p:cNvSpPr txBox="1"/>
          <p:nvPr>
            <p:ph idx="1" type="body"/>
          </p:nvPr>
        </p:nvSpPr>
        <p:spPr>
          <a:xfrm>
            <a:off x="324000" y="3197700"/>
            <a:ext cx="8496000" cy="3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BTU = volume of the room × allowance for heat loss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BTU = 7.6 × 6.3 × 2.3 × 135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BTU = 15 000 (2 s.f.)</a:t>
            </a:r>
            <a:endParaRPr/>
          </a:p>
        </p:txBody>
      </p:sp>
      <p:sp>
        <p:nvSpPr>
          <p:cNvPr id="1156" name="Google Shape;115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graphicFrame>
        <p:nvGraphicFramePr>
          <p:cNvPr id="1157" name="Google Shape;1157;p100"/>
          <p:cNvGraphicFramePr/>
          <p:nvPr/>
        </p:nvGraphicFramePr>
        <p:xfrm>
          <a:off x="6134100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412325"/>
                <a:gridCol w="117837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8" name="Google Shape;1158;p100"/>
          <p:cNvSpPr txBox="1"/>
          <p:nvPr>
            <p:ph idx="1" type="body"/>
          </p:nvPr>
        </p:nvSpPr>
        <p:spPr>
          <a:xfrm>
            <a:off x="324000" y="835500"/>
            <a:ext cx="5810100" cy="17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Below are the dimensions of a living room.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Length	= 7.6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Width		= 6.3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Height		= 2.3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Calculate the BTU.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1"/>
          <p:cNvSpPr txBox="1"/>
          <p:nvPr>
            <p:ph idx="1" type="body"/>
          </p:nvPr>
        </p:nvSpPr>
        <p:spPr>
          <a:xfrm>
            <a:off x="324000" y="759300"/>
            <a:ext cx="57546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required BTU for the living room is 15 000.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are the most appropriate radiators for this room?</a:t>
            </a:r>
            <a:endParaRPr sz="2000"/>
          </a:p>
        </p:txBody>
      </p:sp>
      <p:sp>
        <p:nvSpPr>
          <p:cNvPr id="1164" name="Google Shape;116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graphicFrame>
        <p:nvGraphicFramePr>
          <p:cNvPr id="1165" name="Google Shape;1165;p101"/>
          <p:cNvGraphicFramePr/>
          <p:nvPr/>
        </p:nvGraphicFramePr>
        <p:xfrm>
          <a:off x="6078500" y="69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914025"/>
                <a:gridCol w="914025"/>
                <a:gridCol w="76262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6" name="Google Shape;1166;p101"/>
          <p:cNvSpPr txBox="1"/>
          <p:nvPr>
            <p:ph idx="1" type="body"/>
          </p:nvPr>
        </p:nvSpPr>
        <p:spPr>
          <a:xfrm>
            <a:off x="324000" y="2207100"/>
            <a:ext cx="84960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Assume the room will have 2 radiators.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15 000 ÷ 2 = 7500 BTU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 of the 600 × 1400 are the most appropriate for the size of the </a:t>
            </a:r>
            <a:r>
              <a:rPr lang="en-GB" sz="2000"/>
              <a:t>living</a:t>
            </a:r>
            <a:r>
              <a:rPr lang="en-GB" sz="2000"/>
              <a:t> room.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(This way we use radiators of the same size.)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72" name="Google Shape;1172;p102"/>
          <p:cNvSpPr txBox="1"/>
          <p:nvPr>
            <p:ph idx="1" type="body"/>
          </p:nvPr>
        </p:nvSpPr>
        <p:spPr>
          <a:xfrm>
            <a:off x="324000" y="759300"/>
            <a:ext cx="57546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required BTU for a kitchen is 3208.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size of radiator should be used?</a:t>
            </a:r>
            <a:endParaRPr sz="2000"/>
          </a:p>
        </p:txBody>
      </p:sp>
      <p:graphicFrame>
        <p:nvGraphicFramePr>
          <p:cNvPr id="1173" name="Google Shape;1173;p102"/>
          <p:cNvGraphicFramePr/>
          <p:nvPr/>
        </p:nvGraphicFramePr>
        <p:xfrm>
          <a:off x="6078500" y="69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914025"/>
                <a:gridCol w="914025"/>
                <a:gridCol w="76262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4" name="Google Shape;117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502" y="1369800"/>
            <a:ext cx="28235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180" name="Google Shape;1180;p103"/>
          <p:cNvSpPr txBox="1"/>
          <p:nvPr>
            <p:ph idx="4294967295" type="body"/>
          </p:nvPr>
        </p:nvSpPr>
        <p:spPr>
          <a:xfrm>
            <a:off x="324000" y="6069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Here are the front and side elevations of a shed.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builder needs to replace the rafters of the shed.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are the rafters?</a:t>
            </a:r>
            <a:endParaRPr/>
          </a:p>
        </p:txBody>
      </p:sp>
      <p:sp>
        <p:nvSpPr>
          <p:cNvPr id="1181" name="Google Shape;1181;p103"/>
          <p:cNvSpPr/>
          <p:nvPr/>
        </p:nvSpPr>
        <p:spPr>
          <a:xfrm>
            <a:off x="416610" y="2060550"/>
            <a:ext cx="2396400" cy="2352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2" name="Google Shape;1182;p103"/>
          <p:cNvCxnSpPr/>
          <p:nvPr/>
        </p:nvCxnSpPr>
        <p:spPr>
          <a:xfrm>
            <a:off x="410835" y="2694850"/>
            <a:ext cx="23988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103"/>
          <p:cNvCxnSpPr/>
          <p:nvPr/>
        </p:nvCxnSpPr>
        <p:spPr>
          <a:xfrm>
            <a:off x="3903960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103"/>
          <p:cNvCxnSpPr/>
          <p:nvPr/>
        </p:nvCxnSpPr>
        <p:spPr>
          <a:xfrm>
            <a:off x="6783785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103"/>
          <p:cNvCxnSpPr/>
          <p:nvPr/>
        </p:nvCxnSpPr>
        <p:spPr>
          <a:xfrm>
            <a:off x="3903960" y="4413150"/>
            <a:ext cx="289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103"/>
          <p:cNvCxnSpPr/>
          <p:nvPr/>
        </p:nvCxnSpPr>
        <p:spPr>
          <a:xfrm flipH="1" rot="10800000">
            <a:off x="3898185" y="2077200"/>
            <a:ext cx="1447500" cy="64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103"/>
          <p:cNvCxnSpPr/>
          <p:nvPr/>
        </p:nvCxnSpPr>
        <p:spPr>
          <a:xfrm>
            <a:off x="5332375" y="2076200"/>
            <a:ext cx="1460400" cy="64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103"/>
          <p:cNvCxnSpPr/>
          <p:nvPr/>
        </p:nvCxnSpPr>
        <p:spPr>
          <a:xfrm>
            <a:off x="2924135" y="2067950"/>
            <a:ext cx="0" cy="23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89" name="Google Shape;1189;p103"/>
          <p:cNvCxnSpPr/>
          <p:nvPr/>
        </p:nvCxnSpPr>
        <p:spPr>
          <a:xfrm>
            <a:off x="401792" y="4561550"/>
            <a:ext cx="241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90" name="Google Shape;1190;p103"/>
          <p:cNvCxnSpPr/>
          <p:nvPr/>
        </p:nvCxnSpPr>
        <p:spPr>
          <a:xfrm>
            <a:off x="3903967" y="4561550"/>
            <a:ext cx="289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191" name="Google Shape;1191;p103"/>
          <p:cNvCxnSpPr/>
          <p:nvPr/>
        </p:nvCxnSpPr>
        <p:spPr>
          <a:xfrm>
            <a:off x="6904935" y="2717950"/>
            <a:ext cx="0" cy="169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92" name="Google Shape;1192;p103"/>
          <p:cNvSpPr txBox="1"/>
          <p:nvPr/>
        </p:nvSpPr>
        <p:spPr>
          <a:xfrm>
            <a:off x="1352330" y="45830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2.8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103"/>
          <p:cNvSpPr txBox="1"/>
          <p:nvPr/>
        </p:nvSpPr>
        <p:spPr>
          <a:xfrm>
            <a:off x="2952525" y="3135225"/>
            <a:ext cx="8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103"/>
          <p:cNvSpPr txBox="1"/>
          <p:nvPr/>
        </p:nvSpPr>
        <p:spPr>
          <a:xfrm>
            <a:off x="5172622" y="4583025"/>
            <a:ext cx="49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103"/>
          <p:cNvSpPr txBox="1"/>
          <p:nvPr/>
        </p:nvSpPr>
        <p:spPr>
          <a:xfrm>
            <a:off x="7067330" y="33638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01" name="Google Shape;1201;p104"/>
          <p:cNvSpPr txBox="1"/>
          <p:nvPr>
            <p:ph idx="4294967295" type="body"/>
          </p:nvPr>
        </p:nvSpPr>
        <p:spPr>
          <a:xfrm>
            <a:off x="324000" y="15975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 runs through a cylindrical pipe at a velocity of 10 m/s.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diameter of the pipe is 40 mm.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flow rate in m</a:t>
            </a:r>
            <a:r>
              <a:rPr baseline="30000" lang="en-GB"/>
              <a:t>3</a:t>
            </a:r>
            <a:r>
              <a:rPr lang="en-GB"/>
              <a:t> per hour?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04"/>
          <p:cNvSpPr txBox="1"/>
          <p:nvPr>
            <p:ph idx="4294967295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03" name="Google Shape;1203;p104"/>
          <p:cNvSpPr txBox="1"/>
          <p:nvPr/>
        </p:nvSpPr>
        <p:spPr>
          <a:xfrm>
            <a:off x="2253175" y="665870"/>
            <a:ext cx="63543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09" name="Google Shape;1209;p105"/>
          <p:cNvSpPr txBox="1"/>
          <p:nvPr>
            <p:ph idx="4294967295" type="body"/>
          </p:nvPr>
        </p:nvSpPr>
        <p:spPr>
          <a:xfrm>
            <a:off x="324000" y="15975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voltage of electricity in UK households is 230 volts.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electrician needs to install a 2.15 kW electric oven.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Circuits are available in 6, 10, 16, 20, 32, 40, 50 and 63 amps.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circuit should be installed?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05"/>
          <p:cNvSpPr txBox="1"/>
          <p:nvPr>
            <p:ph idx="4294967295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11" name="Google Shape;1211;p105"/>
          <p:cNvSpPr txBox="1"/>
          <p:nvPr/>
        </p:nvSpPr>
        <p:spPr>
          <a:xfrm>
            <a:off x="2253175" y="665870"/>
            <a:ext cx="63543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power (watts) 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voltage (volts)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06"/>
          <p:cNvSpPr txBox="1"/>
          <p:nvPr>
            <p:ph idx="4294967295" type="body"/>
          </p:nvPr>
        </p:nvSpPr>
        <p:spPr>
          <a:xfrm>
            <a:off x="324000" y="606900"/>
            <a:ext cx="6191100" cy="17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BTU = volume of the room × allowance for heat loss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Below are the dimensions of a bedroom.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Length	= 4.6 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Width	= 2.6 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Height	= 2.4 m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Calculate the BTU.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bedroom will have one radiator.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size should be installed?</a:t>
            </a:r>
            <a:endParaRPr sz="1800"/>
          </a:p>
        </p:txBody>
      </p:sp>
      <p:sp>
        <p:nvSpPr>
          <p:cNvPr id="1217" name="Google Shape;1217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graphicFrame>
        <p:nvGraphicFramePr>
          <p:cNvPr id="1218" name="Google Shape;1218;p106"/>
          <p:cNvGraphicFramePr/>
          <p:nvPr/>
        </p:nvGraphicFramePr>
        <p:xfrm>
          <a:off x="6515100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262400"/>
                <a:gridCol w="1045750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9" name="Google Shape;1219;p106"/>
          <p:cNvGraphicFramePr/>
          <p:nvPr/>
        </p:nvGraphicFramePr>
        <p:xfrm>
          <a:off x="5773700" y="25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914025"/>
                <a:gridCol w="914025"/>
                <a:gridCol w="76262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25" name="Google Shape;1225;p107"/>
          <p:cNvSpPr txBox="1"/>
          <p:nvPr>
            <p:ph idx="4294967295" type="body"/>
          </p:nvPr>
        </p:nvSpPr>
        <p:spPr>
          <a:xfrm>
            <a:off x="324000" y="606900"/>
            <a:ext cx="82377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Here are the front and side elevations of a shed.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builder needs to replace the rafters of the shed.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long are the rafters?</a:t>
            </a:r>
            <a:endParaRPr/>
          </a:p>
        </p:txBody>
      </p:sp>
      <p:sp>
        <p:nvSpPr>
          <p:cNvPr id="1226" name="Google Shape;1226;p107"/>
          <p:cNvSpPr/>
          <p:nvPr/>
        </p:nvSpPr>
        <p:spPr>
          <a:xfrm>
            <a:off x="416610" y="2060550"/>
            <a:ext cx="2396400" cy="2352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7" name="Google Shape;1227;p107"/>
          <p:cNvCxnSpPr/>
          <p:nvPr/>
        </p:nvCxnSpPr>
        <p:spPr>
          <a:xfrm>
            <a:off x="410835" y="2694850"/>
            <a:ext cx="23988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107"/>
          <p:cNvCxnSpPr/>
          <p:nvPr/>
        </p:nvCxnSpPr>
        <p:spPr>
          <a:xfrm>
            <a:off x="3903960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107"/>
          <p:cNvCxnSpPr/>
          <p:nvPr/>
        </p:nvCxnSpPr>
        <p:spPr>
          <a:xfrm>
            <a:off x="6783785" y="2712250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107"/>
          <p:cNvCxnSpPr/>
          <p:nvPr/>
        </p:nvCxnSpPr>
        <p:spPr>
          <a:xfrm>
            <a:off x="3903960" y="4413150"/>
            <a:ext cx="289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107"/>
          <p:cNvCxnSpPr/>
          <p:nvPr/>
        </p:nvCxnSpPr>
        <p:spPr>
          <a:xfrm flipH="1" rot="10800000">
            <a:off x="3898185" y="2077200"/>
            <a:ext cx="1447500" cy="64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107"/>
          <p:cNvCxnSpPr/>
          <p:nvPr/>
        </p:nvCxnSpPr>
        <p:spPr>
          <a:xfrm>
            <a:off x="5332375" y="2076200"/>
            <a:ext cx="1460400" cy="64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107"/>
          <p:cNvCxnSpPr/>
          <p:nvPr/>
        </p:nvCxnSpPr>
        <p:spPr>
          <a:xfrm>
            <a:off x="2924135" y="2067950"/>
            <a:ext cx="0" cy="23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34" name="Google Shape;1234;p107"/>
          <p:cNvCxnSpPr/>
          <p:nvPr/>
        </p:nvCxnSpPr>
        <p:spPr>
          <a:xfrm>
            <a:off x="401792" y="4561550"/>
            <a:ext cx="241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35" name="Google Shape;1235;p107"/>
          <p:cNvCxnSpPr/>
          <p:nvPr/>
        </p:nvCxnSpPr>
        <p:spPr>
          <a:xfrm>
            <a:off x="3903967" y="4561550"/>
            <a:ext cx="289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36" name="Google Shape;1236;p107"/>
          <p:cNvCxnSpPr/>
          <p:nvPr/>
        </p:nvCxnSpPr>
        <p:spPr>
          <a:xfrm>
            <a:off x="6904935" y="2717950"/>
            <a:ext cx="0" cy="169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37" name="Google Shape;1237;p107"/>
          <p:cNvSpPr txBox="1"/>
          <p:nvPr/>
        </p:nvSpPr>
        <p:spPr>
          <a:xfrm>
            <a:off x="1352330" y="45830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107"/>
          <p:cNvSpPr txBox="1"/>
          <p:nvPr/>
        </p:nvSpPr>
        <p:spPr>
          <a:xfrm>
            <a:off x="2952525" y="3135225"/>
            <a:ext cx="8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107"/>
          <p:cNvSpPr txBox="1"/>
          <p:nvPr/>
        </p:nvSpPr>
        <p:spPr>
          <a:xfrm>
            <a:off x="5172622" y="4583025"/>
            <a:ext cx="49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107"/>
          <p:cNvSpPr txBox="1"/>
          <p:nvPr/>
        </p:nvSpPr>
        <p:spPr>
          <a:xfrm>
            <a:off x="7067330" y="3363814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107"/>
          <p:cNvSpPr txBox="1"/>
          <p:nvPr/>
        </p:nvSpPr>
        <p:spPr>
          <a:xfrm>
            <a:off x="6044975" y="2001300"/>
            <a:ext cx="239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2.062 m (3 d.p.)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Q=0.02^2\times\pi\times10\times3600\\&amp;#13;&amp;#10;Q=45.24\ \text{m}^3\ \text{per hour (2 d.p.)}\end{array}&quot;&gt;&lt;mtable columnalign=&quot;left&quot; columnspacing=&quot;1em&quot; rowspacing=&quot;4pt&quot;&gt;&lt;mtr&gt;&lt;mtd&gt;&lt;mi&gt;Q&lt;/mi&gt;&lt;mo&gt;=&lt;/mo&gt;&lt;msup&gt;&lt;mn&gt;0.02&lt;/mn&gt;&lt;mn&gt;2&lt;/mn&gt;&lt;/msup&gt;&lt;mo&gt;×&lt;/mo&gt;&lt;mi&gt;π&lt;/mi&gt;&lt;mo&gt;×&lt;/mo&gt;&lt;mn&gt;10&lt;/mn&gt;&lt;mo&gt;×&lt;/mo&gt;&lt;mn&gt;3600&lt;/mn&gt;&lt;/mtd&gt;&lt;/mtr&gt;&lt;mtr&gt;&lt;mtd&gt;&lt;mi&gt;Q&lt;/mi&gt;&lt;mo&gt;=&lt;/mo&gt;&lt;mn&gt;45.24&lt;/mn&gt;&lt;mtext&gt;&lt;/mtext&gt;&lt;msup&gt;&lt;mtext&gt;m&lt;/mtext&gt;&lt;mn&gt;3&lt;/mn&gt;&lt;/msup&gt;&lt;mtext&gt;&lt;/mtext&gt;&lt;mtext&gt;per hour (2 d.p.)&lt;/mtext&gt;&lt;/mtd&gt;&lt;/mtr&gt;&lt;/mtable&gt;&lt;/math&gt;" id="1246" name="Google Shape;1246;p108" title="2 lines Line 1: Q equals 0.02 squared times pi times 10 times 3600 Line 2: Q equals 45.24 m cubed per hour open paren 2 d period p period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46" y="2947225"/>
            <a:ext cx="3804713" cy="7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48" name="Google Shape;1248;p108"/>
          <p:cNvSpPr txBox="1"/>
          <p:nvPr>
            <p:ph idx="4294967295" type="body"/>
          </p:nvPr>
        </p:nvSpPr>
        <p:spPr>
          <a:xfrm>
            <a:off x="324000" y="15975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Water runs through a cylindrical pipe at a velocity of 10 m/s.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diameter of the pipe is 40 mm.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flow rate in m</a:t>
            </a:r>
            <a:r>
              <a:rPr baseline="30000" lang="en-GB"/>
              <a:t>3</a:t>
            </a:r>
            <a:r>
              <a:rPr lang="en-GB"/>
              <a:t> per hour?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08"/>
          <p:cNvSpPr txBox="1"/>
          <p:nvPr>
            <p:ph idx="4294967295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50" name="Google Shape;1250;p108"/>
          <p:cNvSpPr txBox="1"/>
          <p:nvPr/>
        </p:nvSpPr>
        <p:spPr>
          <a:xfrm>
            <a:off x="2253175" y="665870"/>
            <a:ext cx="63543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rate,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flow area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velocity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56" name="Google Shape;1256;p109"/>
          <p:cNvSpPr txBox="1"/>
          <p:nvPr>
            <p:ph idx="4294967295" type="body"/>
          </p:nvPr>
        </p:nvSpPr>
        <p:spPr>
          <a:xfrm>
            <a:off x="324000" y="15975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voltage of electricity in UK households is 230 volts.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An electrician needs to install a 2.15 kW electric oven.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Circuits are available in 6, 10, 16, 20, 32, 40, 50 and 63 amps.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circuit should be installed?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09"/>
          <p:cNvSpPr txBox="1"/>
          <p:nvPr>
            <p:ph idx="4294967295" type="body"/>
          </p:nvPr>
        </p:nvSpPr>
        <p:spPr>
          <a:xfrm>
            <a:off x="324000" y="759300"/>
            <a:ext cx="8496000" cy="9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258" name="Google Shape;1258;p109"/>
          <p:cNvSpPr txBox="1"/>
          <p:nvPr/>
        </p:nvSpPr>
        <p:spPr>
          <a:xfrm>
            <a:off x="2253175" y="665870"/>
            <a:ext cx="63543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power (watts) ,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current (amps) and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voltage (volts)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109"/>
          <p:cNvSpPr txBox="1"/>
          <p:nvPr>
            <p:ph idx="4294967295" type="subTitle"/>
          </p:nvPr>
        </p:nvSpPr>
        <p:spPr>
          <a:xfrm>
            <a:off x="324000" y="34247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2150 ÷ 230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9.35 amps (2 d.p.)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10 amp circuit should be installed.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10"/>
          <p:cNvSpPr txBox="1"/>
          <p:nvPr>
            <p:ph idx="4294967295" type="body"/>
          </p:nvPr>
        </p:nvSpPr>
        <p:spPr>
          <a:xfrm>
            <a:off x="324000" y="606900"/>
            <a:ext cx="6191100" cy="17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BTU = volume of the room × allowance for heat loss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Below are the dimensions of a bedroom.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Length	= 4.6 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Width	= 2.6 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Height	= 2.4 m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Calculate the BTU.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4.6 × 2.6 × 2.4 × 108 = 3100.032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GB" sz="1800"/>
              <a:t>The bedroom will have one radiator.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Which size should be installed?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600 × 600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5" name="Google Shape;1265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graphicFrame>
        <p:nvGraphicFramePr>
          <p:cNvPr id="1266" name="Google Shape;1266;p110"/>
          <p:cNvGraphicFramePr/>
          <p:nvPr/>
        </p:nvGraphicFramePr>
        <p:xfrm>
          <a:off x="6515100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262400"/>
                <a:gridCol w="1045750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Allowance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Bathroom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Dining 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Hallway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Kitchen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Living room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7" name="Google Shape;1267;p110"/>
          <p:cNvGraphicFramePr/>
          <p:nvPr/>
        </p:nvGraphicFramePr>
        <p:xfrm>
          <a:off x="5773700" y="25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914025"/>
                <a:gridCol w="914025"/>
                <a:gridCol w="762625"/>
              </a:tblGrid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BTU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2184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4372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7649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18000" marL="1800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formulae in the construction industry</a:t>
            </a:r>
            <a:endParaRPr/>
          </a:p>
        </p:txBody>
      </p:sp>
      <p:sp>
        <p:nvSpPr>
          <p:cNvPr id="1273" name="Google Shape;1273;p11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274" name="Google Shape;1274;p11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  <p:pic>
        <p:nvPicPr>
          <p:cNvPr id="1275" name="Google Shape;127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25" y="299356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12"/>
          <p:cNvSpPr txBox="1"/>
          <p:nvPr>
            <p:ph idx="1" type="body"/>
          </p:nvPr>
        </p:nvSpPr>
        <p:spPr>
          <a:xfrm>
            <a:off x="324000" y="613547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go back to the previous problem where </a:t>
            </a:r>
            <a:r>
              <a:rPr lang="en-GB"/>
              <a:t>the</a:t>
            </a:r>
            <a:r>
              <a:rPr lang="en-GB"/>
              <a:t> builder was replacing the rafters of the shed.</a:t>
            </a:r>
            <a:endParaRPr/>
          </a:p>
        </p:txBody>
      </p:sp>
      <p:sp>
        <p:nvSpPr>
          <p:cNvPr id="1281" name="Google Shape;1281;p112"/>
          <p:cNvSpPr/>
          <p:nvPr/>
        </p:nvSpPr>
        <p:spPr>
          <a:xfrm>
            <a:off x="416610" y="1416197"/>
            <a:ext cx="2396400" cy="23526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2" name="Google Shape;1282;p112"/>
          <p:cNvCxnSpPr/>
          <p:nvPr/>
        </p:nvCxnSpPr>
        <p:spPr>
          <a:xfrm>
            <a:off x="410835" y="2050497"/>
            <a:ext cx="23988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112"/>
          <p:cNvCxnSpPr/>
          <p:nvPr/>
        </p:nvCxnSpPr>
        <p:spPr>
          <a:xfrm>
            <a:off x="3903960" y="2067897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112"/>
          <p:cNvCxnSpPr/>
          <p:nvPr/>
        </p:nvCxnSpPr>
        <p:spPr>
          <a:xfrm>
            <a:off x="6783785" y="2067897"/>
            <a:ext cx="5700" cy="1706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112"/>
          <p:cNvCxnSpPr/>
          <p:nvPr/>
        </p:nvCxnSpPr>
        <p:spPr>
          <a:xfrm>
            <a:off x="3903960" y="3768797"/>
            <a:ext cx="2894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112"/>
          <p:cNvCxnSpPr/>
          <p:nvPr/>
        </p:nvCxnSpPr>
        <p:spPr>
          <a:xfrm flipH="1" rot="10800000">
            <a:off x="3898185" y="1432847"/>
            <a:ext cx="1447500" cy="64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112"/>
          <p:cNvCxnSpPr/>
          <p:nvPr/>
        </p:nvCxnSpPr>
        <p:spPr>
          <a:xfrm>
            <a:off x="5332375" y="1431847"/>
            <a:ext cx="1460400" cy="64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112"/>
          <p:cNvCxnSpPr/>
          <p:nvPr/>
        </p:nvCxnSpPr>
        <p:spPr>
          <a:xfrm>
            <a:off x="2924135" y="1423597"/>
            <a:ext cx="0" cy="234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89" name="Google Shape;1289;p112"/>
          <p:cNvCxnSpPr/>
          <p:nvPr/>
        </p:nvCxnSpPr>
        <p:spPr>
          <a:xfrm>
            <a:off x="401792" y="3917197"/>
            <a:ext cx="241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90" name="Google Shape;1290;p112"/>
          <p:cNvCxnSpPr/>
          <p:nvPr/>
        </p:nvCxnSpPr>
        <p:spPr>
          <a:xfrm>
            <a:off x="3903967" y="3917197"/>
            <a:ext cx="289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291" name="Google Shape;1291;p112"/>
          <p:cNvCxnSpPr/>
          <p:nvPr/>
        </p:nvCxnSpPr>
        <p:spPr>
          <a:xfrm>
            <a:off x="6904935" y="2073597"/>
            <a:ext cx="0" cy="169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92" name="Google Shape;1292;p112"/>
          <p:cNvSpPr txBox="1"/>
          <p:nvPr/>
        </p:nvSpPr>
        <p:spPr>
          <a:xfrm>
            <a:off x="1352330" y="3938660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1.3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112"/>
          <p:cNvSpPr txBox="1"/>
          <p:nvPr/>
        </p:nvSpPr>
        <p:spPr>
          <a:xfrm>
            <a:off x="2952525" y="2490872"/>
            <a:ext cx="8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2.31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112"/>
          <p:cNvSpPr txBox="1"/>
          <p:nvPr/>
        </p:nvSpPr>
        <p:spPr>
          <a:xfrm>
            <a:off x="5020219" y="3938672"/>
            <a:ext cx="8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2.38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12"/>
          <p:cNvSpPr txBox="1"/>
          <p:nvPr/>
        </p:nvSpPr>
        <p:spPr>
          <a:xfrm>
            <a:off x="7067330" y="2719460"/>
            <a:ext cx="667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1.8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6" name="Google Shape;1296;p112"/>
          <p:cNvCxnSpPr/>
          <p:nvPr/>
        </p:nvCxnSpPr>
        <p:spPr>
          <a:xfrm>
            <a:off x="5446085" y="1356647"/>
            <a:ext cx="1379100" cy="59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297" name="Google Shape;1297;p112"/>
          <p:cNvSpPr txBox="1"/>
          <p:nvPr/>
        </p:nvSpPr>
        <p:spPr>
          <a:xfrm>
            <a:off x="6152923" y="1424072"/>
            <a:ext cx="91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1.295 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12"/>
          <p:cNvSpPr txBox="1"/>
          <p:nvPr>
            <p:ph idx="1" type="body"/>
          </p:nvPr>
        </p:nvSpPr>
        <p:spPr>
          <a:xfrm>
            <a:off x="324000" y="4358928"/>
            <a:ext cx="8237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need to replace 8 rafters.</a:t>
            </a:r>
            <a:endParaRPr/>
          </a:p>
        </p:txBody>
      </p:sp>
      <p:sp>
        <p:nvSpPr>
          <p:cNvPr id="1299" name="Google Shape;1299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13"/>
          <p:cNvSpPr txBox="1"/>
          <p:nvPr>
            <p:ph idx="1" type="body"/>
          </p:nvPr>
        </p:nvSpPr>
        <p:spPr>
          <a:xfrm>
            <a:off x="324000" y="759300"/>
            <a:ext cx="5879700" cy="20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table shows the lengths and prices the wood is sold 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rafter is 1.295 m in length.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will it cost to purchase the wood? </a:t>
            </a:r>
            <a:endParaRPr/>
          </a:p>
        </p:txBody>
      </p:sp>
      <p:sp>
        <p:nvSpPr>
          <p:cNvPr id="1305" name="Google Shape;1305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graphicFrame>
        <p:nvGraphicFramePr>
          <p:cNvPr id="1306" name="Google Shape;1306;p113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7" name="Google Shape;1307;p113"/>
          <p:cNvSpPr txBox="1"/>
          <p:nvPr>
            <p:ph idx="1" type="body"/>
          </p:nvPr>
        </p:nvSpPr>
        <p:spPr>
          <a:xfrm>
            <a:off x="324000" y="2892900"/>
            <a:ext cx="8496000" cy="20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just find the total </a:t>
            </a:r>
            <a:r>
              <a:rPr lang="en-GB"/>
              <a:t>length</a:t>
            </a:r>
            <a:r>
              <a:rPr lang="en-GB"/>
              <a:t> of the 8 rafters and use this length?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full lengths of each rafter need to be one piece.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Let’s calculate the number of rafters we can make from each </a:t>
            </a:r>
            <a:r>
              <a:rPr lang="en-GB"/>
              <a:t>length</a:t>
            </a:r>
            <a:r>
              <a:rPr lang="en-GB"/>
              <a:t> of wood.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14"/>
          <p:cNvSpPr txBox="1"/>
          <p:nvPr>
            <p:ph idx="1" type="body"/>
          </p:nvPr>
        </p:nvSpPr>
        <p:spPr>
          <a:xfrm>
            <a:off x="324000" y="759300"/>
            <a:ext cx="5879700" cy="20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table shows the lengths and prices the wood is sold 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rafter is 1.295 m in length.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will it cost to purchase the wood? </a:t>
            </a:r>
            <a:endParaRPr/>
          </a:p>
        </p:txBody>
      </p:sp>
      <p:sp>
        <p:nvSpPr>
          <p:cNvPr id="1313" name="Google Shape;1313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graphicFrame>
        <p:nvGraphicFramePr>
          <p:cNvPr id="1314" name="Google Shape;1314;p114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5" name="Google Shape;1315;p114"/>
          <p:cNvSpPr txBox="1"/>
          <p:nvPr>
            <p:ph idx="1" type="body"/>
          </p:nvPr>
        </p:nvSpPr>
        <p:spPr>
          <a:xfrm>
            <a:off x="324000" y="2892900"/>
            <a:ext cx="84960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Firstly, we need to make sure all of our measurements are in the same units.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Let’s convert them all into </a:t>
            </a:r>
            <a:r>
              <a:rPr lang="en-GB"/>
              <a:t>millimetres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15"/>
          <p:cNvSpPr txBox="1"/>
          <p:nvPr>
            <p:ph idx="1" type="body"/>
          </p:nvPr>
        </p:nvSpPr>
        <p:spPr>
          <a:xfrm>
            <a:off x="324000" y="759300"/>
            <a:ext cx="5879700" cy="20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table shows the lengths and prices the wood is sold 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rafter is 1295 mm in length.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will it cost to purchase the wood? </a:t>
            </a:r>
            <a:endParaRPr/>
          </a:p>
        </p:txBody>
      </p:sp>
      <p:sp>
        <p:nvSpPr>
          <p:cNvPr id="1321" name="Google Shape;1321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22" name="Google Shape;1322;p115"/>
          <p:cNvSpPr txBox="1"/>
          <p:nvPr>
            <p:ph idx="1" type="body"/>
          </p:nvPr>
        </p:nvSpPr>
        <p:spPr>
          <a:xfrm>
            <a:off x="324000" y="2892900"/>
            <a:ext cx="84960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2400 ÷ 1295 = 1.85… → 1 rafter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30</a:t>
            </a:r>
            <a:r>
              <a:rPr lang="en-GB"/>
              <a:t>00 ÷ 1295 = 2.31…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3600 ÷ 1295 = 2.77…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4200 ÷ 1295 = 3.24…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4800 ÷ 1295 = 3.70…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23" name="Google Shape;1323;p115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29" name="Google Shape;1329;p116"/>
          <p:cNvSpPr txBox="1"/>
          <p:nvPr>
            <p:ph idx="1" type="body"/>
          </p:nvPr>
        </p:nvSpPr>
        <p:spPr>
          <a:xfrm>
            <a:off x="324000" y="683100"/>
            <a:ext cx="54504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2400 ÷ 1295 = 1.85… → 1 rafter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3000 ÷ 1295 = 2.31…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3600 ÷ 1295 = 2.77…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4200 ÷ 1295 = 3.24…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4800 ÷ 1295 = 3.70…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0" name="Google Shape;1330;p116"/>
          <p:cNvSpPr txBox="1"/>
          <p:nvPr>
            <p:ph idx="1" type="body"/>
          </p:nvPr>
        </p:nvSpPr>
        <p:spPr>
          <a:xfrm>
            <a:off x="324000" y="2878400"/>
            <a:ext cx="8496000" cy="7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I am buying 2 rafters, which would be better value for money, the 3000 mm </a:t>
            </a:r>
            <a:r>
              <a:rPr lang="en-GB"/>
              <a:t>length</a:t>
            </a:r>
            <a:r>
              <a:rPr lang="en-GB"/>
              <a:t> or the 3600 mm length?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116"/>
          <p:cNvSpPr txBox="1"/>
          <p:nvPr>
            <p:ph idx="1" type="body"/>
          </p:nvPr>
        </p:nvSpPr>
        <p:spPr>
          <a:xfrm>
            <a:off x="324000" y="3780001"/>
            <a:ext cx="8496000" cy="6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3000 mm length.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32" name="Google Shape;1332;p116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38" name="Google Shape;1338;p117"/>
          <p:cNvSpPr txBox="1"/>
          <p:nvPr>
            <p:ph idx="1" type="body"/>
          </p:nvPr>
        </p:nvSpPr>
        <p:spPr>
          <a:xfrm>
            <a:off x="324000" y="683100"/>
            <a:ext cx="54504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2400 ÷ 1295 = 1.85… → 1 rafter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3000 ÷ 1295 = 2.31…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trike="sngStrike"/>
              <a:t>3600 ÷ 1295 = 2.77… → 2 rafters</a:t>
            </a:r>
            <a:endParaRPr strike="sngStrike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4200 ÷ 1295 = 3.24…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4800 ÷ 1295 = 3.70…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117"/>
          <p:cNvSpPr txBox="1"/>
          <p:nvPr>
            <p:ph idx="1" type="body"/>
          </p:nvPr>
        </p:nvSpPr>
        <p:spPr>
          <a:xfrm>
            <a:off x="324000" y="2878397"/>
            <a:ext cx="84960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I am buying 3 rafters, which would be better value for money, the 4200 mm length or the 4800 mm length?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40" name="Google Shape;1340;p117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1" name="Google Shape;1341;p117"/>
          <p:cNvSpPr txBox="1"/>
          <p:nvPr/>
        </p:nvSpPr>
        <p:spPr>
          <a:xfrm>
            <a:off x="324000" y="3780000"/>
            <a:ext cx="300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4200 mm length.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47" name="Google Shape;1347;p118"/>
          <p:cNvSpPr txBox="1"/>
          <p:nvPr>
            <p:ph idx="1" type="body"/>
          </p:nvPr>
        </p:nvSpPr>
        <p:spPr>
          <a:xfrm>
            <a:off x="324000" y="683100"/>
            <a:ext cx="54504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2400 ÷ 1295 = 1.85… → 1 rafter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3000 ÷ 1295 = 2.31…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trike="sngStrike"/>
              <a:t>3600 ÷ 1295 = 2.77… → 2 rafters</a:t>
            </a:r>
            <a:endParaRPr strike="sngStrike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4200 ÷ 1295 = 3.24…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trike="sngStrike"/>
              <a:t>4800 ÷ 1295 = 3.70… → 3 rafters</a:t>
            </a:r>
            <a:endParaRPr strike="sngStrike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118"/>
          <p:cNvSpPr txBox="1"/>
          <p:nvPr>
            <p:ph idx="1" type="body"/>
          </p:nvPr>
        </p:nvSpPr>
        <p:spPr>
          <a:xfrm>
            <a:off x="324000" y="2892900"/>
            <a:ext cx="84960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my options for buying 8 rafters?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9" name="Google Shape;1349;p118"/>
          <p:cNvSpPr txBox="1"/>
          <p:nvPr>
            <p:ph idx="1" type="body"/>
          </p:nvPr>
        </p:nvSpPr>
        <p:spPr>
          <a:xfrm>
            <a:off x="324000" y="3347000"/>
            <a:ext cx="8496000" cy="11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 × 3 rafters (1 spare)					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3 rafters + 1 × 2 rafters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other options but one of these will be the most cost effective. Can you spot why?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50" name="Google Shape;1350;p118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56" name="Google Shape;1356;p119"/>
          <p:cNvSpPr txBox="1"/>
          <p:nvPr>
            <p:ph idx="1" type="body"/>
          </p:nvPr>
        </p:nvSpPr>
        <p:spPr>
          <a:xfrm>
            <a:off x="324000" y="683100"/>
            <a:ext cx="5450400" cy="12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2400 ÷ 1295 = 1.85… → 1 rafter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3000 ÷ 1295 = 2.31… → 2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trike="sngStrike"/>
              <a:t>3600 ÷ 1295 = 2.77… → 2 rafters</a:t>
            </a:r>
            <a:endParaRPr strike="sngStrike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4200 ÷ 1295 = 3.24… → 3 rafters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trike="sngStrike"/>
              <a:t>4800 ÷ 1295 = 3.70… → 3 rafters</a:t>
            </a:r>
            <a:endParaRPr strike="sngStrike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119"/>
          <p:cNvSpPr txBox="1"/>
          <p:nvPr>
            <p:ph idx="1" type="body"/>
          </p:nvPr>
        </p:nvSpPr>
        <p:spPr>
          <a:xfrm>
            <a:off x="324000" y="2892900"/>
            <a:ext cx="84960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my options for buying 8 rafters?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119"/>
          <p:cNvSpPr txBox="1"/>
          <p:nvPr>
            <p:ph idx="1" type="body"/>
          </p:nvPr>
        </p:nvSpPr>
        <p:spPr>
          <a:xfrm>
            <a:off x="324000" y="3347000"/>
            <a:ext cx="8496000" cy="11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× 3 rafters (1 spare)                Cost = £22.05		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 × 3 rafters + 1 × 2 rafters        Cost = £19.95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59" name="Google Shape;1359;p119"/>
          <p:cNvGraphicFramePr/>
          <p:nvPr/>
        </p:nvGraphicFramePr>
        <p:xfrm>
          <a:off x="62036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514575"/>
                <a:gridCol w="10164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strike="sng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800" strike="sng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0" name="Google Shape;1360;p119"/>
          <p:cNvSpPr/>
          <p:nvPr/>
        </p:nvSpPr>
        <p:spPr>
          <a:xfrm>
            <a:off x="324300" y="3733175"/>
            <a:ext cx="5932500" cy="331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2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 rafters can be cut from the 3000 mm length with no wastage.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need to buy 4 of these. 4 × 5.25 = £21</a:t>
            </a:r>
            <a:endParaRPr/>
          </a:p>
        </p:txBody>
      </p:sp>
      <p:sp>
        <p:nvSpPr>
          <p:cNvPr id="1366" name="Google Shape;1366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67" name="Google Shape;1367;p120"/>
          <p:cNvSpPr txBox="1"/>
          <p:nvPr>
            <p:ph idx="2" type="subTitle"/>
          </p:nvPr>
        </p:nvSpPr>
        <p:spPr>
          <a:xfrm>
            <a:off x="324000" y="1080000"/>
            <a:ext cx="6014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/>
              <a:t>cheapest</a:t>
            </a:r>
            <a:r>
              <a:rPr lang="en-GB"/>
              <a:t> way of making 8 rafters each of length 1.5 m is £21.</a:t>
            </a:r>
            <a:endParaRPr/>
          </a:p>
        </p:txBody>
      </p:sp>
      <p:graphicFrame>
        <p:nvGraphicFramePr>
          <p:cNvPr id="1368" name="Google Shape;1368;p120"/>
          <p:cNvGraphicFramePr/>
          <p:nvPr/>
        </p:nvGraphicFramePr>
        <p:xfrm>
          <a:off x="64322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69" name="Google Shape;136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83" y="2081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75" name="Google Shape;1375;p121"/>
          <p:cNvSpPr txBox="1"/>
          <p:nvPr>
            <p:ph idx="1" type="body"/>
          </p:nvPr>
        </p:nvSpPr>
        <p:spPr>
          <a:xfrm>
            <a:off x="324000" y="759300"/>
            <a:ext cx="60936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</a:t>
            </a:r>
            <a:r>
              <a:rPr lang="en-GB" sz="2100"/>
              <a:t>This table shows the prices and lengths wood is sold in.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Calculate the cheapest price for purchasing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Twenty 1 m lengths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Fifteen 1.8 m lengths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3 different ways to buy 600 1.2 m lengths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d) Why are there 3 different ways for part (c)?</a:t>
            </a:r>
            <a:endParaRPr sz="2100"/>
          </a:p>
        </p:txBody>
      </p:sp>
      <p:graphicFrame>
        <p:nvGraphicFramePr>
          <p:cNvPr id="1376" name="Google Shape;1376;p121"/>
          <p:cNvGraphicFramePr/>
          <p:nvPr/>
        </p:nvGraphicFramePr>
        <p:xfrm>
          <a:off x="65084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82" name="Google Shape;1382;p122"/>
          <p:cNvSpPr txBox="1"/>
          <p:nvPr>
            <p:ph idx="1" type="body"/>
          </p:nvPr>
        </p:nvSpPr>
        <p:spPr>
          <a:xfrm>
            <a:off x="324000" y="759300"/>
            <a:ext cx="5932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This table shows the prices and lengths wood is sold in.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Calculate the cheapest price for purchasing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Twenty 1 m lengths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3000 mm length produces three 1 m lengths.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 × 3000 mm lengths + 1 × 2400 mm length will give twenty 1 m lengths at a cost of £35.70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83" name="Google Shape;1383;p122"/>
          <p:cNvGraphicFramePr/>
          <p:nvPr/>
        </p:nvGraphicFramePr>
        <p:xfrm>
          <a:off x="65084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89" name="Google Shape;1389;p123"/>
          <p:cNvSpPr txBox="1"/>
          <p:nvPr>
            <p:ph idx="1" type="body"/>
          </p:nvPr>
        </p:nvSpPr>
        <p:spPr>
          <a:xfrm>
            <a:off x="324000" y="759300"/>
            <a:ext cx="5932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This table shows the prices and lengths wood is sold in.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Calculate the cheapest price for purchasing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Fifteen 1.8 m lengths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3600 mm length produces two 1.8 m lengths.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7 × 3600 mm lengths + 1 × 2400 mm length will give fifteen 1.8 m lengths at a cost of £48.30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90" name="Google Shape;1390;p123"/>
          <p:cNvGraphicFramePr/>
          <p:nvPr/>
        </p:nvGraphicFramePr>
        <p:xfrm>
          <a:off x="65084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2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396" name="Google Shape;1396;p124"/>
          <p:cNvSpPr txBox="1"/>
          <p:nvPr>
            <p:ph idx="1" type="body"/>
          </p:nvPr>
        </p:nvSpPr>
        <p:spPr>
          <a:xfrm>
            <a:off x="324000" y="759300"/>
            <a:ext cx="5932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This table shows the prices and lengths wood is sold in.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Calculate the cheapest price for purchasing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3 different ways to buy 600 1.2 m lengths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300 × 2400 mm length = £1260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200 × 3600 mm length = £1260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 × 4800 mm length = £1260</a:t>
            </a:r>
            <a:endParaRPr sz="2100"/>
          </a:p>
        </p:txBody>
      </p:sp>
      <p:graphicFrame>
        <p:nvGraphicFramePr>
          <p:cNvPr id="1397" name="Google Shape;1397;p124"/>
          <p:cNvGraphicFramePr/>
          <p:nvPr/>
        </p:nvGraphicFramePr>
        <p:xfrm>
          <a:off x="65084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Costing in the construction industry</a:t>
            </a:r>
            <a:endParaRPr/>
          </a:p>
        </p:txBody>
      </p:sp>
      <p:sp>
        <p:nvSpPr>
          <p:cNvPr id="1403" name="Google Shape;1403;p125"/>
          <p:cNvSpPr txBox="1"/>
          <p:nvPr>
            <p:ph idx="1" type="body"/>
          </p:nvPr>
        </p:nvSpPr>
        <p:spPr>
          <a:xfrm>
            <a:off x="324000" y="759300"/>
            <a:ext cx="61056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This table shows the prices and lengths wood is sold in.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Calculate the cheapest price for purchasing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d) Why are there 3 different ways for part (c)?</a:t>
            </a:r>
            <a:endParaRPr sz="2100"/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Because the 2400 mm, 3600 mm &amp; 4800 mm lengths each produce no wastage and the cost per metre of wood is the same for all three.</a:t>
            </a:r>
            <a:endParaRPr/>
          </a:p>
        </p:txBody>
      </p:sp>
      <p:graphicFrame>
        <p:nvGraphicFramePr>
          <p:cNvPr id="1404" name="Google Shape;1404;p125"/>
          <p:cNvGraphicFramePr/>
          <p:nvPr/>
        </p:nvGraphicFramePr>
        <p:xfrm>
          <a:off x="6508400" y="699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{9CD03FD8-EA1D-438E-8BCE-506EE1D697D3}</a:tableStyleId>
              </a:tblPr>
              <a:tblGrid>
                <a:gridCol w="1352400"/>
                <a:gridCol w="8773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Price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£4.20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£8.40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2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Many areas of the construction industry use formulae.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Units and </a:t>
            </a:r>
            <a:r>
              <a:rPr lang="en-GB"/>
              <a:t>accurate</a:t>
            </a:r>
            <a:r>
              <a:rPr lang="en-GB"/>
              <a:t> measurements are essential to ensure things like safety.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Costing is another really important factor of the construction industry.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Wastage is also considered when purchasing materials for jobs.</a:t>
            </a:r>
            <a:endParaRPr/>
          </a:p>
        </p:txBody>
      </p:sp>
      <p:sp>
        <p:nvSpPr>
          <p:cNvPr id="1410" name="Google Shape;1410;p12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2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6" name="Google Shape;1416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