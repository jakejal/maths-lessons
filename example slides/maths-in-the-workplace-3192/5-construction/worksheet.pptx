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3D93338-8A70-4605-81AE-B2AAEC946CB3}">
  <a:tblStyle styleId="{C3D93338-8A70-4605-81AE-B2AAEC946C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090c2d1833_0_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090c2d183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Construction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467998" y="1279100"/>
            <a:ext cx="6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Using formulae in the construction industry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468000" y="1735230"/>
            <a:ext cx="66240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Here are the front and side elevations of a shed.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builder needs to replace the rafters of the shed.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long are the rafters?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2"/>
          <p:cNvSpPr/>
          <p:nvPr/>
        </p:nvSpPr>
        <p:spPr>
          <a:xfrm>
            <a:off x="542468" y="2904122"/>
            <a:ext cx="1926900" cy="18918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" name="Google Shape;107;p12"/>
          <p:cNvCxnSpPr/>
          <p:nvPr/>
        </p:nvCxnSpPr>
        <p:spPr>
          <a:xfrm>
            <a:off x="537825" y="3414167"/>
            <a:ext cx="1929000" cy="141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2"/>
          <p:cNvCxnSpPr/>
          <p:nvPr/>
        </p:nvCxnSpPr>
        <p:spPr>
          <a:xfrm>
            <a:off x="3346674" y="3428159"/>
            <a:ext cx="4500" cy="13725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12"/>
          <p:cNvCxnSpPr/>
          <p:nvPr/>
        </p:nvCxnSpPr>
        <p:spPr>
          <a:xfrm>
            <a:off x="5662364" y="3428159"/>
            <a:ext cx="4500" cy="13725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2"/>
          <p:cNvCxnSpPr/>
          <p:nvPr/>
        </p:nvCxnSpPr>
        <p:spPr>
          <a:xfrm>
            <a:off x="3346674" y="4795866"/>
            <a:ext cx="23277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2"/>
          <p:cNvCxnSpPr/>
          <p:nvPr/>
        </p:nvCxnSpPr>
        <p:spPr>
          <a:xfrm flipH="1" rot="10800000">
            <a:off x="3342031" y="2917466"/>
            <a:ext cx="1164000" cy="5199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12"/>
          <p:cNvCxnSpPr/>
          <p:nvPr/>
        </p:nvCxnSpPr>
        <p:spPr>
          <a:xfrm>
            <a:off x="4495274" y="2916706"/>
            <a:ext cx="1174200" cy="5205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12"/>
          <p:cNvCxnSpPr/>
          <p:nvPr/>
        </p:nvCxnSpPr>
        <p:spPr>
          <a:xfrm>
            <a:off x="2558789" y="2910072"/>
            <a:ext cx="0" cy="1882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14" name="Google Shape;114;p12"/>
          <p:cNvCxnSpPr/>
          <p:nvPr/>
        </p:nvCxnSpPr>
        <p:spPr>
          <a:xfrm>
            <a:off x="530554" y="4915196"/>
            <a:ext cx="1944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15" name="Google Shape;115;p12"/>
          <p:cNvCxnSpPr/>
          <p:nvPr/>
        </p:nvCxnSpPr>
        <p:spPr>
          <a:xfrm>
            <a:off x="3346680" y="4915196"/>
            <a:ext cx="2326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16" name="Google Shape;116;p12"/>
          <p:cNvCxnSpPr/>
          <p:nvPr/>
        </p:nvCxnSpPr>
        <p:spPr>
          <a:xfrm>
            <a:off x="5759782" y="3432742"/>
            <a:ext cx="0" cy="1363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17" name="Google Shape;117;p12"/>
          <p:cNvSpPr txBox="1"/>
          <p:nvPr/>
        </p:nvSpPr>
        <p:spPr>
          <a:xfrm>
            <a:off x="1294888" y="4932455"/>
            <a:ext cx="5370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2.8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2"/>
          <p:cNvSpPr txBox="1"/>
          <p:nvPr/>
        </p:nvSpPr>
        <p:spPr>
          <a:xfrm>
            <a:off x="2581618" y="3768276"/>
            <a:ext cx="6480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2"/>
          <p:cNvSpPr txBox="1"/>
          <p:nvPr/>
        </p:nvSpPr>
        <p:spPr>
          <a:xfrm>
            <a:off x="4366816" y="4932464"/>
            <a:ext cx="39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5890365" y="3952087"/>
            <a:ext cx="5370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468000" y="8205100"/>
            <a:ext cx="66240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Water runs through a cylindrical pipe at a velocity of 10 m/s.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diameter of the pipe is 40 mm.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flow rate in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per hour?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" name="Google Shape;122;p12"/>
          <p:cNvSpPr txBox="1"/>
          <p:nvPr/>
        </p:nvSpPr>
        <p:spPr>
          <a:xfrm>
            <a:off x="468000" y="7908643"/>
            <a:ext cx="6624000" cy="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2"/>
          <p:cNvSpPr txBox="1"/>
          <p:nvPr/>
        </p:nvSpPr>
        <p:spPr>
          <a:xfrm>
            <a:off x="1373825" y="7835800"/>
            <a:ext cx="555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flow rate,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flow area and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velocity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Construction</a:t>
            </a:r>
            <a:endParaRPr/>
          </a:p>
        </p:txBody>
      </p:sp>
      <p:sp>
        <p:nvSpPr>
          <p:cNvPr id="129" name="Google Shape;129;p13"/>
          <p:cNvSpPr txBox="1"/>
          <p:nvPr/>
        </p:nvSpPr>
        <p:spPr>
          <a:xfrm>
            <a:off x="464775" y="5368200"/>
            <a:ext cx="6627300" cy="19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BTU = volume of the room × allowance for heat loss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Below are the dimensions of a bedroom.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Length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4.6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Width	= 2.6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Height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2.4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BTU.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bedroom will have one radiator.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size should be installed?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30" name="Google Shape;130;p13"/>
          <p:cNvGraphicFramePr/>
          <p:nvPr/>
        </p:nvGraphicFramePr>
        <p:xfrm>
          <a:off x="5087726" y="536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{C3D93338-8A70-4605-81AE-B2AAEC946CB3}</a:tableStyleId>
              </a:tblPr>
              <a:tblGrid>
                <a:gridCol w="1082725"/>
                <a:gridCol w="896900"/>
              </a:tblGrid>
              <a:tr h="16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Room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Allowance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6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Bathroom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121.5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Bedroom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Dining room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Hallway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Kitchen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Living room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1" name="Google Shape;131;p13"/>
          <p:cNvGraphicFramePr/>
          <p:nvPr/>
        </p:nvGraphicFramePr>
        <p:xfrm>
          <a:off x="4800076" y="75725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{C3D93338-8A70-4605-81AE-B2AAEC946CB3}</a:tableStyleId>
              </a:tblPr>
              <a:tblGrid>
                <a:gridCol w="808650"/>
                <a:gridCol w="808650"/>
                <a:gridCol w="674700"/>
              </a:tblGrid>
              <a:tr h="30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Height (mm)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Width (mm)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BTU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2184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4372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5464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6556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7649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8744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32" name="Google Shape;132;p13"/>
          <p:cNvCxnSpPr/>
          <p:nvPr/>
        </p:nvCxnSpPr>
        <p:spPr>
          <a:xfrm>
            <a:off x="473176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13"/>
          <p:cNvSpPr txBox="1"/>
          <p:nvPr/>
        </p:nvSpPr>
        <p:spPr>
          <a:xfrm>
            <a:off x="468000" y="1366103"/>
            <a:ext cx="6624000" cy="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voltage of electricity in UK households is 230 volts.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 electrician needs to install a 2.15 kW electric oven.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Circuits are available in 6, 10, 16, 20, 32, 40, 50 and 63 amps.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circuit should be installed?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468000" y="941193"/>
            <a:ext cx="6624000" cy="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1270825" y="838475"/>
            <a:ext cx="58212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power (watts) 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current (amps) and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voltage (volts)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42" name="Google Shape;142;p14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Construction</a:t>
            </a:r>
            <a:endParaRPr/>
          </a:p>
        </p:txBody>
      </p:sp>
      <p:sp>
        <p:nvSpPr>
          <p:cNvPr id="143" name="Google Shape;143;p14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468000" y="6438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B: Costing in the construction industry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468000" y="1066200"/>
            <a:ext cx="6624000" cy="89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This table shows the prices and lengths wood is sold in.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cheapest price for purchasing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Twenty 1 m lengths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Fifteen 1.8 m lengths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3 different ways to buy 600 1.2 m lengths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Why are there 3 different ways for part (c)?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47" name="Google Shape;147;p14"/>
          <p:cNvGraphicFramePr/>
          <p:nvPr/>
        </p:nvGraphicFramePr>
        <p:xfrm>
          <a:off x="5193975" y="10661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{C3D93338-8A70-4605-81AE-B2AAEC946CB3}</a:tableStyleId>
              </a:tblPr>
              <a:tblGrid>
                <a:gridCol w="995725"/>
                <a:gridCol w="645925"/>
              </a:tblGrid>
              <a:tr h="134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(mm)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28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£4.20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£5.25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£6.30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£7.35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£8.40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