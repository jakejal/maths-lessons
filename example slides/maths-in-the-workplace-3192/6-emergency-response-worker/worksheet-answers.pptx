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b0e0e92e6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b0e0e92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10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\left(360\right)+30=21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360&lt;/mn&gt;&lt;mo data-mjx-texclass=&quot;CLOSE&quot;&gt;)&lt;/mo&gt;&lt;/mrow&gt;&lt;mo&gt;+&lt;/mo&gt;&lt;mn&gt;30&lt;/mn&gt;&lt;mo&gt;=&lt;/mo&gt;&lt;mn&gt;210&lt;/mn&gt;&lt;/math&gt;" id="117" name="Google Shape;117;p12" title="t equals one half times 360 plus 30 equals 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627" y="3129086"/>
            <a:ext cx="1996800" cy="41675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2"/>
          <p:cNvSpPr txBox="1"/>
          <p:nvPr/>
        </p:nvSpPr>
        <p:spPr>
          <a:xfrm>
            <a:off x="468000" y="1702708"/>
            <a:ext cx="662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A firefighter enters the building with their gauge reading like so. At what bar should they turn around and start exiting?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76001" y="1294025"/>
            <a:ext cx="6237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Uses of formulas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" name="Google Shape;12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008" y="2358325"/>
            <a:ext cx="1645904" cy="143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21" name="Google Shape;121;p12" title="t equals one half b plus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6487" y="2544100"/>
            <a:ext cx="1104260" cy="41675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 txBox="1"/>
          <p:nvPr/>
        </p:nvSpPr>
        <p:spPr>
          <a:xfrm>
            <a:off x="5043175" y="3228200"/>
            <a:ext cx="1881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should turn around at 210 bar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76000" y="3853350"/>
            <a:ext cx="6615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firefighter has an estimated turn-around pressure of 160 bar. How many bar of pressure did they have when they entered?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24" name="Google Shape;124;p12" title="t equals one half b plus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0154" y="4202201"/>
            <a:ext cx="1204548" cy="454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30\ =\ \frac{1}{2}b&quot;&gt;&lt;mn&gt;130&lt;/mn&gt;&lt;mtext&gt;&lt;/mtext&gt;&lt;mo&gt;=&lt;/mo&gt;&lt;mtext&gt;&lt;/mtext&gt;&lt;mfrac&gt;&lt;mn&gt;1&lt;/mn&gt;&lt;mn&gt;2&lt;/mn&gt;&lt;/mfrac&gt;&lt;mi&gt;b&lt;/mi&gt;&lt;/math&gt;" id="125" name="Google Shape;125;p12" title="130 equals one half 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0917" y="4773131"/>
            <a:ext cx="1645900" cy="454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73458" y="5399686"/>
            <a:ext cx="978913" cy="45461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 txBox="1"/>
          <p:nvPr/>
        </p:nvSpPr>
        <p:spPr>
          <a:xfrm>
            <a:off x="2265436" y="5958834"/>
            <a:ext cx="8478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260 = </a:t>
            </a:r>
            <a:r>
              <a:rPr i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4140000" y="6025925"/>
            <a:ext cx="2952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entered with 260 bar of pressure.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\left(240\right)+30=15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240&lt;/mn&gt;&lt;mo data-mjx-texclass=&quot;CLOSE&quot;&gt;)&lt;/mo&gt;&lt;/mrow&gt;&lt;mo&gt;+&lt;/mo&gt;&lt;mn&gt;30&lt;/mn&gt;&lt;mo&gt;=&lt;/mo&gt;&lt;mn&gt;150&lt;/mn&gt;&lt;/math&gt;" id="129" name="Google Shape;129;p12" title="t equals one half times 240 plus 30 equals 1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0675" y="7127856"/>
            <a:ext cx="2298749" cy="47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 txBox="1"/>
          <p:nvPr/>
        </p:nvSpPr>
        <p:spPr>
          <a:xfrm>
            <a:off x="468000" y="6328250"/>
            <a:ext cx="662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the difference in turn-around pressures between entering with 240 bar and entering with 300 bar?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31" name="Google Shape;131;p12" title="t equals one half b plus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5683" y="6515075"/>
            <a:ext cx="1270083" cy="47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/>
        </p:nvSpPr>
        <p:spPr>
          <a:xfrm>
            <a:off x="469325" y="6843747"/>
            <a:ext cx="20685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240 bar of pressure: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\left(300\right)+30=18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300&lt;/mn&gt;&lt;mo data-mjx-texclass=&quot;CLOSE&quot;&gt;)&lt;/mo&gt;&lt;/mrow&gt;&lt;mo&gt;+&lt;/mo&gt;&lt;mn&gt;30&lt;/mn&gt;&lt;mo&gt;=&lt;/mo&gt;&lt;mn&gt;180&lt;/mn&gt;&lt;/math&gt;" id="133" name="Google Shape;133;p12" title="t equals one half times 300 plus 30 equals 1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16904" y="7126563"/>
            <a:ext cx="2298776" cy="47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2"/>
          <p:cNvSpPr txBox="1"/>
          <p:nvPr/>
        </p:nvSpPr>
        <p:spPr>
          <a:xfrm>
            <a:off x="3775409" y="6843747"/>
            <a:ext cx="20685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 bar of pressure: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69325" y="7743949"/>
            <a:ext cx="49599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180 − 150 = 30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difference in turn-around is 30 bar of pressure.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472400" y="8293128"/>
            <a:ext cx="65559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Why do you think the formula includes + 30 instead of just being                 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b&quot;&gt;&lt;mi&gt;t&lt;/mi&gt;&lt;mtext&gt;&lt;/mtext&gt;&lt;mo&gt;=&lt;/mo&gt;&lt;mtext&gt;&lt;/mtext&gt;&lt;mfrac&gt;&lt;mn&gt;1&lt;/mn&gt;&lt;mn&gt;2&lt;/mn&gt;&lt;/mfrac&gt;&lt;mi&gt;b&lt;/mi&gt;&lt;/math&gt;" id="137" name="Google Shape;137;p12" title="t equals one half b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77366" y="8227567"/>
            <a:ext cx="483300" cy="2996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2"/>
          <p:cNvSpPr txBox="1"/>
          <p:nvPr/>
        </p:nvSpPr>
        <p:spPr>
          <a:xfrm>
            <a:off x="473712" y="8632414"/>
            <a:ext cx="66147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“If the formula were            firefighters would turn around after using exactly half their air.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they exerted more effort exiting (e.g. if they were carrying someone) they would not have sufficient air to get out safely.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Having +30 in the formula gives them a small safety buffer”.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b&quot;&gt;&lt;mi&gt;t&lt;/mi&gt;&lt;mtext&gt;&lt;/mtext&gt;&lt;mo&gt;=&lt;/mo&gt;&lt;mtext&gt;&lt;/mtext&gt;&lt;mfrac&gt;&lt;mn&gt;1&lt;/mn&gt;&lt;mn&gt;2&lt;/mn&gt;&lt;/mfrac&gt;&lt;mi&gt;b&lt;/mi&gt;&lt;/math&gt;" id="139" name="Google Shape;139;p12" title="t equals one half b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53142" y="8583618"/>
            <a:ext cx="483300" cy="299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\left(197\right)\left(0.8\right)}&quot;&gt;&lt;mi&gt;s&lt;/mi&gt;&lt;mo&gt;=&lt;/mo&gt;&lt;msqrt&gt;&lt;mn&gt;30&lt;/mn&gt;&lt;mrow data-mjx-texclass=&quot;INNER&quot;&gt;&lt;mo data-mjx-texclass=&quot;OPEN&quot;&gt;(&lt;/mo&gt;&lt;mn&gt;197&lt;/mn&gt;&lt;mo data-mjx-texclass=&quot;CLOSE&quot;&gt;)&lt;/mo&gt;&lt;/mrow&gt;&lt;mrow data-mjx-texclass=&quot;INNER&quot;&gt;&lt;mo data-mjx-texclass=&quot;OPEN&quot;&gt;(&lt;/mo&gt;&lt;mn&gt;0.8&lt;/mn&gt;&lt;mo data-mjx-texclass=&quot;CLOSE&quot;&gt;)&lt;/mo&gt;&lt;/mrow&gt;&lt;/msqrt&gt;&lt;/math&gt;" id="145" name="Google Shape;145;p13" title="s equals the square root of 30 times 197 times 0.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976" y="2053724"/>
            <a:ext cx="1599744" cy="2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469450" y="720000"/>
            <a:ext cx="6588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You are a police officer investigating an accident. Use the formula to calculate the speed of this car on a dry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546" y="1380820"/>
            <a:ext cx="1004890" cy="475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034" y="1380820"/>
            <a:ext cx="1004890" cy="475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3"/>
          <p:cNvCxnSpPr/>
          <p:nvPr/>
        </p:nvCxnSpPr>
        <p:spPr>
          <a:xfrm>
            <a:off x="4021778" y="1884620"/>
            <a:ext cx="0" cy="33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3"/>
          <p:cNvCxnSpPr/>
          <p:nvPr/>
        </p:nvCxnSpPr>
        <p:spPr>
          <a:xfrm>
            <a:off x="6860081" y="1884620"/>
            <a:ext cx="0" cy="33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3"/>
          <p:cNvCxnSpPr/>
          <p:nvPr/>
        </p:nvCxnSpPr>
        <p:spPr>
          <a:xfrm>
            <a:off x="4042500" y="2046903"/>
            <a:ext cx="2796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" name="Google Shape;152;p13"/>
          <p:cNvSpPr/>
          <p:nvPr/>
        </p:nvSpPr>
        <p:spPr>
          <a:xfrm flipH="1" rot="10800000">
            <a:off x="4021917" y="1845169"/>
            <a:ext cx="2837978" cy="80606"/>
          </a:xfrm>
          <a:custGeom>
            <a:rect b="b" l="l" r="r" t="t"/>
            <a:pathLst>
              <a:path extrusionOk="0" h="4156" w="130302">
                <a:moveTo>
                  <a:pt x="0" y="3275"/>
                </a:moveTo>
                <a:cubicBezTo>
                  <a:pt x="3977" y="892"/>
                  <a:pt x="9671" y="1393"/>
                  <a:pt x="13907" y="3275"/>
                </a:cubicBezTo>
                <a:cubicBezTo>
                  <a:pt x="16148" y="4271"/>
                  <a:pt x="18415" y="-96"/>
                  <a:pt x="20765" y="608"/>
                </a:cubicBezTo>
                <a:cubicBezTo>
                  <a:pt x="24797" y="1817"/>
                  <a:pt x="28955" y="2703"/>
                  <a:pt x="33147" y="3085"/>
                </a:cubicBezTo>
                <a:cubicBezTo>
                  <a:pt x="42191" y="3909"/>
                  <a:pt x="51885" y="280"/>
                  <a:pt x="60389" y="3466"/>
                </a:cubicBezTo>
                <a:cubicBezTo>
                  <a:pt x="62368" y="4208"/>
                  <a:pt x="63630" y="-261"/>
                  <a:pt x="65723" y="37"/>
                </a:cubicBezTo>
                <a:cubicBezTo>
                  <a:pt x="66961" y="214"/>
                  <a:pt x="66028" y="3748"/>
                  <a:pt x="67247" y="3466"/>
                </a:cubicBezTo>
                <a:cubicBezTo>
                  <a:pt x="68998" y="3061"/>
                  <a:pt x="70065" y="998"/>
                  <a:pt x="71819" y="608"/>
                </a:cubicBezTo>
                <a:cubicBezTo>
                  <a:pt x="72713" y="409"/>
                  <a:pt x="72648" y="2298"/>
                  <a:pt x="73343" y="2894"/>
                </a:cubicBezTo>
                <a:cubicBezTo>
                  <a:pt x="74624" y="3992"/>
                  <a:pt x="76428" y="1367"/>
                  <a:pt x="78105" y="1180"/>
                </a:cubicBezTo>
                <a:cubicBezTo>
                  <a:pt x="79358" y="1040"/>
                  <a:pt x="79703" y="3656"/>
                  <a:pt x="80963" y="3656"/>
                </a:cubicBezTo>
                <a:cubicBezTo>
                  <a:pt x="82814" y="3656"/>
                  <a:pt x="84264" y="1376"/>
                  <a:pt x="86106" y="1561"/>
                </a:cubicBezTo>
                <a:cubicBezTo>
                  <a:pt x="88763" y="1827"/>
                  <a:pt x="91149" y="4739"/>
                  <a:pt x="93726" y="4037"/>
                </a:cubicBezTo>
                <a:cubicBezTo>
                  <a:pt x="98894" y="2629"/>
                  <a:pt x="104215" y="590"/>
                  <a:pt x="109538" y="1180"/>
                </a:cubicBezTo>
                <a:cubicBezTo>
                  <a:pt x="116436" y="1944"/>
                  <a:pt x="123568" y="4383"/>
                  <a:pt x="130302" y="27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" name="Google Shape;153;p13"/>
          <p:cNvSpPr txBox="1"/>
          <p:nvPr/>
        </p:nvSpPr>
        <p:spPr>
          <a:xfrm>
            <a:off x="5048211" y="2042275"/>
            <a:ext cx="706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197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54" name="Google Shape;154;p13" title="s equals the square root of 30 d 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075" y="1417199"/>
            <a:ext cx="935895" cy="2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 txBox="1"/>
          <p:nvPr/>
        </p:nvSpPr>
        <p:spPr>
          <a:xfrm>
            <a:off x="468002" y="1839307"/>
            <a:ext cx="7374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= 197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468016" y="2183608"/>
            <a:ext cx="7374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0.8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1990307" y="2481235"/>
            <a:ext cx="22839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68.8 mph (to 1 d.p.)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468000" y="2908725"/>
            <a:ext cx="6624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a car were travelling 70 mph on a wet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how long would you expect the skid mark to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59" name="Google Shape;159;p13" title="s equals the square root of 30 d 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2451" y="3413451"/>
            <a:ext cx="994110" cy="264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0=\sqrt{12d}&quot;&gt;&lt;mn&gt;70&lt;/mn&gt;&lt;mo&gt;=&lt;/mo&gt;&lt;msqrt&gt;&lt;mn&gt;12&lt;/mn&gt;&lt;mi&gt;d&lt;/mi&gt;&lt;/msqrt&gt;&lt;/math&gt;" id="160" name="Google Shape;160;p13" title="70 equals the square root of 12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1860" y="4273982"/>
            <a:ext cx="1031190" cy="274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70\right)=\sqrt{30d\left(0.4\right)}&quot;&gt;&lt;mrow data-mjx-texclass=&quot;INNER&quot;&gt;&lt;mo data-mjx-texclass=&quot;OPEN&quot;&gt;(&lt;/mo&gt;&lt;mn&gt;70&lt;/mn&gt;&lt;mo data-mjx-texclass=&quot;CLOSE&quot;&gt;)&lt;/mo&gt;&lt;/mrow&gt;&lt;mo&gt;=&lt;/mo&gt;&lt;msqrt&gt;&lt;mn&gt;30&lt;/mn&gt;&lt;mi&gt;d&lt;/mi&gt;&lt;mrow data-mjx-texclass=&quot;INNER&quot;&gt;&lt;mo data-mjx-texclass=&quot;OPEN&quot;&gt;(&lt;/mo&gt;&lt;mn&gt;0.4&lt;/mn&gt;&lt;mo data-mjx-texclass=&quot;CLOSE&quot;&gt;)&lt;/mo&gt;&lt;/mrow&gt;&lt;/msqrt&gt;&lt;/math&gt;" id="161" name="Google Shape;161;p13" title="70 equals the square root of 30 d of 0.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5596" y="3859505"/>
            <a:ext cx="1639200" cy="27443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3"/>
          <p:cNvSpPr txBox="1"/>
          <p:nvPr/>
        </p:nvSpPr>
        <p:spPr>
          <a:xfrm>
            <a:off x="1726259" y="4632687"/>
            <a:ext cx="1176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4900 = 12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2003526" y="5005409"/>
            <a:ext cx="2289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408.3 feet (to 1 d.p.)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8">
            <a:alphaModFix/>
          </a:blip>
          <a:srcRect b="43690" l="0" r="57905" t="0"/>
          <a:stretch/>
        </p:blipFill>
        <p:spPr>
          <a:xfrm>
            <a:off x="3229218" y="5934247"/>
            <a:ext cx="3233326" cy="723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468000" y="5344700"/>
            <a:ext cx="66192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Lucas has used the formula incorrectly to calculate the speed of a car with a skid mark of 60 feet on a dry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). Explain his error to him and correct his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3450" y="6318488"/>
            <a:ext cx="2073428" cy="1121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67" name="Google Shape;167;p13" title="s equals the square root of 30 d 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50" y="5953847"/>
            <a:ext cx="946399" cy="251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6293193" y="6174571"/>
            <a:ext cx="798807" cy="89666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3315752" y="5948202"/>
            <a:ext cx="29814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calculator tells me their speed was 262.9 mph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800666" y="5930552"/>
            <a:ext cx="704100" cy="27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624700" y="6647015"/>
            <a:ext cx="1315800" cy="24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2844009" y="6774531"/>
            <a:ext cx="37923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“The vinculum should group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”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2844009" y="7334538"/>
            <a:ext cx="31146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“The car was travelling 37.9 mph”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468000" y="7553275"/>
            <a:ext cx="66240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police officer investigating an accident in a 20 mph zone with a dry concrete surface 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declares, “The length of the marks were 20 feet to the nearest 10 feet”.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they cannot round like this when investigating this accident.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75" name="Google Shape;175;p13" title="s equals the square root of 30 d 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50" y="8491601"/>
            <a:ext cx="1031200" cy="27403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3"/>
          <p:cNvSpPr txBox="1"/>
          <p:nvPr/>
        </p:nvSpPr>
        <p:spPr>
          <a:xfrm>
            <a:off x="1951812" y="8432991"/>
            <a:ext cx="51402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said: “By rounding to the nearest 10 the actual length falls in the bounds 15 ≤ d &lt; 25 which makes the bounds for the speed…”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30\left(15\right)\left(0.8\right)}\le s&amp;lt;\sqrt{30\left(25\right)\left(0.8\right)}&quot;&gt;&lt;msqrt&gt;&lt;mn&gt;30&lt;/mn&gt;&lt;mrow data-mjx-texclass=&quot;INNER&quot;&gt;&lt;mo data-mjx-texclass=&quot;OPEN&quot;&gt;(&lt;/mo&gt;&lt;mn&gt;15&lt;/mn&gt;&lt;mo data-mjx-texclass=&quot;CLOSE&quot;&gt;)&lt;/mo&gt;&lt;/mrow&gt;&lt;mrow data-mjx-texclass=&quot;INNER&quot;&gt;&lt;mo data-mjx-texclass=&quot;OPEN&quot;&gt;(&lt;/mo&gt;&lt;mn&gt;0.8&lt;/mn&gt;&lt;mo data-mjx-texclass=&quot;CLOSE&quot;&gt;)&lt;/mo&gt;&lt;/mrow&gt;&lt;/msqrt&gt;&lt;mo&gt;≤&lt;/mo&gt;&lt;mi&gt;s&lt;/mi&gt;&lt;mo&gt;&amp;lt;&lt;/mo&gt;&lt;msqrt&gt;&lt;mn&gt;30&lt;/mn&gt;&lt;mrow data-mjx-texclass=&quot;INNER&quot;&gt;&lt;mo data-mjx-texclass=&quot;OPEN&quot;&gt;(&lt;/mo&gt;&lt;mn&gt;25&lt;/mn&gt;&lt;mo data-mjx-texclass=&quot;CLOSE&quot;&gt;)&lt;/mo&gt;&lt;/mrow&gt;&lt;mrow data-mjx-texclass=&quot;INNER&quot;&gt;&lt;mo data-mjx-texclass=&quot;OPEN&quot;&gt;(&lt;/mo&gt;&lt;mn&gt;0.8&lt;/mn&gt;&lt;mo data-mjx-texclass=&quot;CLOSE&quot;&gt;)&lt;/mo&gt;&lt;/mrow&gt;&lt;/msqrt&gt;&lt;/math&gt;" id="177" name="Google Shape;177;p13" title="the square root of 30 times 15 times 0.8 is less than or equal to s is less than the square root of 30 times 25 times 0.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66375" y="8962849"/>
            <a:ext cx="2981401" cy="25515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3"/>
          <p:cNvSpPr txBox="1"/>
          <p:nvPr/>
        </p:nvSpPr>
        <p:spPr>
          <a:xfrm>
            <a:off x="2826175" y="9302702"/>
            <a:ext cx="1545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19.0 ≤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24.5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468000" y="9607103"/>
            <a:ext cx="6444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“We cannot prove whether this driver was obeying the speed limit or not.”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0" name="Google Shape;180;p13"/>
          <p:cNvCxnSpPr/>
          <p:nvPr/>
        </p:nvCxnSpPr>
        <p:spPr>
          <a:xfrm>
            <a:off x="4723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sp>
        <p:nvSpPr>
          <p:cNvPr id="188" name="Google Shape;188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475456" y="4402925"/>
            <a:ext cx="66165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“Response times to life-threatening calls are improving whereas non life-threatening response times are getting worse.”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475449" y="643800"/>
            <a:ext cx="6228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Uses of data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66" y="1592293"/>
            <a:ext cx="4855955" cy="267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/>
          <p:nvPr/>
        </p:nvSpPr>
        <p:spPr>
          <a:xfrm>
            <a:off x="468000" y="1051586"/>
            <a:ext cx="6412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 ambulance station records their average response times to emergency calls one year. What patterns do you see in this data?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507754" y="4916100"/>
            <a:ext cx="6584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regional fire service records the reasons for house fires over a year and produces this chart. What advice would you give this fire service? Write at least three sentences.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51" y="5623966"/>
            <a:ext cx="5312612" cy="246390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 txBox="1"/>
          <p:nvPr/>
        </p:nvSpPr>
        <p:spPr>
          <a:xfrm>
            <a:off x="467993" y="8129305"/>
            <a:ext cx="23748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462950" y="8324150"/>
            <a:ext cx="6616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fire engines need to be adequately stocked with the correct gear to tackle cooking appliance fires as these account for more than half of the house fires.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462950" y="8763825"/>
            <a:ext cx="6616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Appliances (cooking and domestic) account for around three quarters of fires. This fire service might consider extra training for firefighters on these types of fires. Additionally they might consider a public campaign to help raise awareness of what causes these types of fires and what can be done to prevent them.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